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gaat niet over genezen maar over terugkomen. Zes Belgische voetklinieken, honderdvierenveertig patiënten, achttien maanden per patiënt. Ik neem u mee langs het waarom, de meting en het traject. Onderbreek me gerust.</a:t>
            </a:r>
          </a:p>
          <a:p/>
          <a:p>
            <a:r>
              <a:t>PRESENTATIETIP</a:t>
            </a:r>
          </a:p>
          <a:p>
            <a:r>
              <a:t>Het beeld draagt deze dia, dus de foto moet raak zijn. Zet hem in beeld\stock\, draai verwerk_stock.py, en vervang het kader met rechtsklik en Afbeelding wijzigen.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stip is een patiënt. Vierentwintig daarvan komen uit úw kliniek, twaalf in elke arm. Zes keer vierentwintig is honderdvierenveertig. Blijft één centrum achter, dan haalt de studie het niet.</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één. Ik geef u vier cijfers. Na het vierde weet u waarom deze studie twee normen heeft in plaats van één, en waarom niemand die tot nu toe samen gehaald heeft.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Veertig procent krijgt binnen één jaar een nieuw ulcus. Na vijf jaar is dat vijfenzestig. En de sterfte ligt tweeënhalf keer hoger dan bij diabetes zonder ulcus — na een amputatie zelfs boven de zeventig procent. Dit is geen wondprobleem. Dit is een overlevingsprobleem.</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dan het cijfer dat het onverdraaglijk maakt. Driekwart van deze ulcera is in principe te voorkomen. Toch komt veertig procent binnen het jaar terug. Dat gat tussen wat kan en wat gebeurt — daar gaat deze studie over.</a:t>
            </a:r>
          </a:p>
          <a:p/>
          <a:p>
            <a:r>
              <a:t>PRESENTATIETIP</a:t>
            </a:r>
          </a:p>
          <a:p>
            <a:r>
              <a:t>Zeg dit traag en zwijg dan twee tellen. Dit is de enige dia in blok 1 waar de zaal niet leest maar luistert.</a:t>
            </a:r>
          </a:p>
          <a:p/>
          <a:p>
            <a:r>
              <a:t>INTERACTIE</a:t>
            </a:r>
          </a:p>
          <a:p>
            <a:r>
              <a:t>Geen. De stilte doet het werk.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Belasting is een product, geen optelsom. Piekdruk maal activiteit maal draagtijd. Eén factor op nul maakt het hele product nul. Een perfecte zool in de kast beschermt niets.</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Daarom doen wij het anders. Geen drie losse maatregelen, maar één dienst met twee normen: de zool moet de druk hálen, én hij moet gedragen wórden. Beide gemeten, beide bijgestuurd, en beide door uw eigen team. Dat is nog nooit samen getoetst.</a:t>
            </a:r>
          </a:p>
          <a:p/>
          <a:p>
            <a:r>
              <a:t>PRESENTATIETIP</a:t>
            </a:r>
          </a:p>
          <a:p>
            <a:r>
              <a:t>Dit is de kanteldia. Alles ervoor is het probleem, alles erna is de uitvoering. Zeg met zoveel woorden dat dit nog nooit samen getoetst is.</a:t>
            </a:r>
          </a:p>
          <a:p/>
          <a:p>
            <a:r>
              <a:t>INTERACTIE</a:t>
            </a:r>
          </a:p>
          <a:p>
            <a:r>
              <a:t>Vraag welke van de twee normen zij het moeilijkst achten. Het antwoord is bijna altijd de tweede.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sensor geeft een cijfer. Dit is de baseline, blootsvoets: driehonderdtwaalf kilopascal onder metatarsaal twee-drie. Drie metingen per voet, waar de software één beeld van maakt. Hiertegen wordt alles afgezet.</a:t>
            </a:r>
          </a:p>
          <a:p/>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na aanpassing. Honderdzesentachtig kilopascal: veertig procent lager én onder de tweehonderd. De norm geldt per doelregio. Haalt u ze niet, dan past u aan en meet u opnieuw.</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Even stilstaan. Het doel is niet minder belasting. Het doel is belasting op een plek die het aankan. Dat is de hele interventie.</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negen visites over achttien maanden. De eerste drie liggen dicht op elkaar. Daarna is het ritme elke drie maanden — hetzelfde ritme als de controle die deze patiënten toch al krijgen.</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vier: de toestellen en de regels. De instellingen, het gesprek, en de vier dingen die vastliggen.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toestellen, drie taken. De pedar meet druk, de Orthotimer meet of de zool gedragen is, de MoveMonitor meet hoeveel er gestapt wordt. Alleen de pedar bedient u bij elke meting; de andere twee plaatst u één keer en leest u uit.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Zo klein is de sensor: negen bij dertien millimeter. Hij zit in de zool, meet alleen temperatuur, en de patiënt merkt er niets van. Noem hem tegenover de patiënt gewoon "uw sensor".</a:t>
            </a:r>
          </a:p>
          <a:p/>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plaatshouder.png"/>
          <p:cNvPicPr>
            <a:picLocks noChangeAspect="1"/>
          </p:cNvPicPr>
          <p:nvPr/>
        </p:nvPicPr>
        <p:blipFill>
          <a:blip r:embed="rId2"/>
          <a:stretch>
            <a:fillRect/>
          </a:stretch>
        </p:blipFill>
        <p:spPr>
          <a:xfrm>
            <a:off x="0" y="-380990"/>
            <a:ext cx="12191695" cy="7619809"/>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rk.png"/>
          <p:cNvPicPr>
            <a:picLocks noChangeAspect="1"/>
          </p:cNvPicPr>
          <p:nvPr/>
        </p:nvPicPr>
        <p:blipFill>
          <a:blip r:embed="rId3"/>
          <a:stretch>
            <a:fillRect/>
          </a:stretch>
        </p:blipFill>
        <p:spPr>
          <a:xfrm>
            <a:off x="647087" y="609584"/>
            <a:ext cx="801273" cy="92707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Waarom deze studie er is</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 draagtijd op 12</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15</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 zo</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15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STERFTE NA AMPUTATIE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15</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6200" b="1">
                <a:solidFill>
                  <a:srgbClr val="04182A"/>
                </a:solidFill>
                <a:latin typeface="Segoe UI"/>
              </a:rPr>
              <a:t>Driekwart is te voorkomen.</a:t>
            </a:r>
          </a:p>
          <a:p>
            <a:pPr algn="l">
              <a:lnSpc>
                <a:spcPct val="106000"/>
              </a:lnSpc>
              <a:spcBef>
                <a:spcPts val="500"/>
              </a:spcBef>
            </a:pPr>
            <a:r>
              <a:rPr sz="6200" b="1">
                <a:solidFill>
                  <a:srgbClr val="04182A"/>
                </a:solidFill>
                <a:latin typeface="Segoe UI"/>
              </a:rPr>
              <a:t>Veertig procent komt terug.</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gat is waar deze studie over gaat.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15</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PARADISE ANDERS DOET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Eén dienst, geen drie losse maatregelen</a:t>
            </a:r>
          </a:p>
        </p:txBody>
      </p:sp>
      <p:sp>
        <p:nvSpPr>
          <p:cNvPr id="5" name="Rounded Rectangle 4"/>
          <p:cNvSpPr/>
          <p:nvPr/>
        </p:nvSpPr>
        <p:spPr>
          <a:xfrm>
            <a:off x="634984" y="2031949"/>
            <a:ext cx="5384538" cy="364480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De zool háált de norm</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&lt; 200 kPa óf 25% lager</a:t>
            </a:r>
          </a:p>
        </p:txBody>
      </p:sp>
      <p:sp>
        <p:nvSpPr>
          <p:cNvPr id="10" name="TextBox 9"/>
          <p:cNvSpPr txBox="1"/>
          <p:nvPr/>
        </p:nvSpPr>
        <p:spPr>
          <a:xfrm>
            <a:off x="888977"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Gemeten bij de aflevering, in drie condities.</a:t>
            </a:r>
          </a:p>
          <a:p>
            <a:pPr algn="l">
              <a:lnSpc>
                <a:spcPct val="132000"/>
              </a:lnSpc>
              <a:spcBef>
                <a:spcPts val="1200"/>
              </a:spcBef>
            </a:pPr>
            <a:r>
              <a:rPr sz="1450" b="0">
                <a:solidFill>
                  <a:srgbClr val="8FB6D0"/>
                </a:solidFill>
                <a:latin typeface="Segoe UI"/>
              </a:rPr>
              <a:t>Aangepast tot de norm gehaald is in elk van de drie doelregio's.</a:t>
            </a:r>
          </a:p>
          <a:p>
            <a:pPr algn="l">
              <a:lnSpc>
                <a:spcPct val="132000"/>
              </a:lnSpc>
              <a:spcBef>
                <a:spcPts val="1200"/>
              </a:spcBef>
            </a:pPr>
            <a:r>
              <a:rPr sz="1450" b="0">
                <a:solidFill>
                  <a:srgbClr val="8FB6D0"/>
                </a:solidFill>
                <a:latin typeface="Segoe UI"/>
              </a:rPr>
              <a:t>Herhaald op maand 6, 12 en 18.</a:t>
            </a:r>
          </a:p>
        </p:txBody>
      </p:sp>
      <p:sp>
        <p:nvSpPr>
          <p:cNvPr id="11" name="Rounded Rectangle 10"/>
          <p:cNvSpPr/>
          <p:nvPr/>
        </p:nvSpPr>
        <p:spPr>
          <a:xfrm>
            <a:off x="6171918" y="2031949"/>
            <a:ext cx="5384538" cy="364480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En hij wórdt gedragen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80% van zijn eigen activiteitenprofiel</a:t>
            </a:r>
          </a:p>
        </p:txBody>
      </p:sp>
      <p:sp>
        <p:nvSpPr>
          <p:cNvPr id="16" name="TextBox 15"/>
          <p:cNvSpPr txBox="1"/>
          <p:nvPr/>
        </p:nvSpPr>
        <p:spPr>
          <a:xfrm>
            <a:off x="6425912"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Een sensor in de zool meet de draagtijd, continu.</a:t>
            </a:r>
          </a:p>
          <a:p>
            <a:pPr algn="l">
              <a:lnSpc>
                <a:spcPct val="132000"/>
              </a:lnSpc>
              <a:spcBef>
                <a:spcPts val="1200"/>
              </a:spcBef>
            </a:pPr>
            <a:r>
              <a:rPr sz="1450" b="0">
                <a:solidFill>
                  <a:srgbClr val="8FB6D0"/>
                </a:solidFill>
                <a:latin typeface="Segoe UI"/>
              </a:rPr>
              <a:t>Elke drie maanden uitgelezen en samen bekeken.</a:t>
            </a:r>
          </a:p>
          <a:p>
            <a:pPr algn="l">
              <a:lnSpc>
                <a:spcPct val="132000"/>
              </a:lnSpc>
              <a:spcBef>
                <a:spcPts val="1200"/>
              </a:spcBef>
            </a:pPr>
            <a:r>
              <a:rPr sz="1450" b="0">
                <a:solidFill>
                  <a:srgbClr val="8FB6D0"/>
                </a:solidFill>
                <a:latin typeface="Segoe UI"/>
              </a:rPr>
              <a:t>Vijf gesprekken die op die data staan, niet op goede raad.</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15</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15</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15</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Niet minder belasting.</a:t>
            </a:r>
          </a:p>
          <a:p>
            <a:pPr algn="l">
              <a:lnSpc>
                <a:spcPct val="106000"/>
              </a:lnSpc>
              <a:spcBef>
                <a:spcPts val="500"/>
              </a:spcBef>
            </a:pPr>
            <a:r>
              <a:rPr sz="7200" b="1">
                <a:solidFill>
                  <a:srgbClr val="04182A"/>
                </a:solidFill>
                <a:latin typeface="Segoe UI"/>
              </a:rPr>
              <a:t>Belasting op een plek die het aankan.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is de hele interventie.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15</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Toestellen en regels</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15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15</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15</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15</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