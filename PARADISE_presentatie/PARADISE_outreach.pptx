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PARADISE gaat niet over genezen maar over terugkomen. Zes Belgische voetklinieken, honderdvierenveertig patiënten, achttien maanden per patiënt. Ik neem u mee langs het waarom, de meting en het traject. Onderbreek me gerust.</a:t>
            </a:r>
          </a:p>
          <a:p/>
          <a:p>
            <a:r>
              <a:t>PRESENTATIETIP</a:t>
            </a:r>
          </a:p>
          <a:p>
            <a:r>
              <a:t>Het beeld draagt deze dia. Wilt u een ander beeld: zet het in beeld\stock\, draai verwerk_stock.py en zet de bestandsnaam hier. Liggend, koele tonen, en rustig onderaan — daar staat de titel.</a:t>
            </a:r>
          </a:p>
          <a:p/>
          <a:p>
            <a:r>
              <a:t>INTERACTIE</a:t>
            </a:r>
          </a:p>
          <a:p>
            <a:r>
              <a:t>Laat de dia staan terwijl de zaal binnenkomt. Zeg pas iets als iedereen zit.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stip is een patiënt. Vierentwintig daarvan komen uit úw kliniek, twaalf in elke arm. Zes keer vierentwintig is honderdvierenveertig. Blijft één centrum achter, dan haalt de studie het niet.</a:t>
            </a:r>
          </a:p>
          <a:p/>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één. Ik geef u vier cijfers. Na het vierde weet u waarom deze studie twee normen heeft in plaats van één, en waarom niemand die tot nu toe samen gehaald heeft.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Veertig procent krijgt binnen één jaar een nieuw ulcus. Na vijf jaar is dat vijfenzestig. En de sterfte ligt tweeënhalf keer hoger dan bij diabetes zonder ulcus — na een majeure amputatie zelfs boven de zeventig procent. Dit is geen wondprobleem. Dit is een overlevingsprobleem.</a:t>
            </a:r>
          </a:p>
          <a:p/>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Waar die cijfers vandaan komen, ziet u hier. Elk punt is een cohort; de lijn erdoorheen is de trend. Na één jaar veertig procent, na vijf jaar vijfenzestig. Het risico verdwijnt niet, het stapelt op.</a:t>
            </a:r>
          </a:p>
          <a:p/>
          <a:p>
            <a:r>
              <a:t>PRESENTATIETIP</a:t>
            </a:r>
          </a:p>
          <a:p>
            <a:r>
              <a:t>De vorige dia noemt de cijfers; deze laat zien waar ze vandaan komen. Wijs de trendlijn aan, niet de losse punten.</a:t>
            </a:r>
          </a:p>
          <a:p/>
          <a:p>
            <a:r>
              <a:t>INTERACTIE</a:t>
            </a:r>
          </a:p>
          <a:p>
            <a:r>
              <a:t>Geen. Laat de spreiding het werk doen.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En dan het cijfer dat het onverdraaglijk maakt. Driekwart van deze ulcera is in principe te voorkomen. Toch komt veertig procent binnen het jaar terug. Dat gat tussen wat kan en wat gebeurt — daar gaat deze studie over.</a:t>
            </a:r>
          </a:p>
          <a:p/>
          <a:p>
            <a:r>
              <a:t>PRESENTATIETIP</a:t>
            </a:r>
          </a:p>
          <a:p>
            <a:r>
              <a:t>Zeg dit traag en zwijg dan twee tellen. Dit is de enige dia in blok 1 waar de zaal niet leest maar luistert.</a:t>
            </a:r>
          </a:p>
          <a:p/>
          <a:p>
            <a:r>
              <a:t>INTERACTIE</a:t>
            </a:r>
          </a:p>
          <a:p>
            <a:r>
              <a:t>Geen. De stilte doet het werk.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Belasting is een product, geen optelsom. Piekdruk maal activiteit maal draagtijd. Eén factor op nul maakt het hele product nul. Een perfecte zool in de kast beschermt niets.</a:t>
            </a:r>
          </a:p>
          <a:p/>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Daarom doen wij het anders. Geen drie losse maatregelen, maar één dienst met twee normen: de zool moet de druk hálen, én hij moet gedragen wórden. Beide gemeten, beide bijgestuurd, en beide door uw eigen team. Dat is nog nooit samen getoetst.</a:t>
            </a:r>
          </a:p>
          <a:p/>
          <a:p>
            <a:r>
              <a:t>PRESENTATIETIP</a:t>
            </a:r>
          </a:p>
          <a:p>
            <a:r>
              <a:t>Dit is de kanteldia. Alles ervoor is het probleem, alles erna is de uitvoering. Zeg met zoveel woorden dat dit nog nooit samen getoetst is.</a:t>
            </a:r>
          </a:p>
          <a:p/>
          <a:p>
            <a:r>
              <a:t>INTERACTIE</a:t>
            </a:r>
          </a:p>
          <a:p>
            <a:r>
              <a:t>Vraag welke van de twee normen zij het moeilijkst achten. Het antwoord is bijna altijd de tweede.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Elke sensor geeft een cijfer. Dit is de baseline, in de schoen: driehonderdtwaalf kilopascal onder metatarsaal twee-drie. Drie loopproeven per voet, waarvan de middelste twaalf passen tellen. Hiertegen wordt alles afgezet.</a:t>
            </a:r>
          </a:p>
          <a:p/>
          <a:p>
            <a:r>
              <a:t>PRESENTATIETIP</a:t>
            </a:r>
          </a:p>
          <a:p>
            <a:r>
              <a:t>De meest gemaakte fout is één loopproef per voet. Het protocol vraagt er drie, en het gemiddelde telt.</a:t>
            </a:r>
          </a:p>
          <a:p/>
          <a:p>
            <a:r>
              <a:t>INTERACTIE</a:t>
            </a:r>
          </a:p>
          <a:p>
            <a:r>
              <a:t>Vraag wie er vandaag al in de schoen meet.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Zelfde voet, na aanpassing. Honderdzesentachtig kilopascal: veertig procent lager én onder de tweehonderd. De norm geldt per doelregio. Haalt u ze niet, dan past u aan en meet u opnieuw.</a:t>
            </a:r>
          </a:p>
          <a:p/>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Even stilstaan. Het doel is niet minder belasting. Het doel is belasting op een plek die het aankan. Dat is de hele interventie.</a:t>
            </a:r>
          </a:p>
          <a:p/>
          <a:p>
            <a:r>
              <a:t>PRESENTATIETIP</a:t>
            </a:r>
          </a:p>
          <a:p>
            <a:r>
              <a:t>Zeg deze twee zinnen en zwijg dan. Laat de dia staan tot iemand ongemakkelijk wordt. Dit is het enige moment in blok 2 waarop de zaal niets te lezen heeft.</a:t>
            </a:r>
          </a:p>
          <a:p/>
          <a:p>
            <a:r>
              <a:t>INTERACTIE</a:t>
            </a:r>
          </a:p>
          <a:p>
            <a:r>
              <a:t>Geen. Bewust geen.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Screening en negen visites over achttien maanden. De eerste drie liggen dicht op elkaar. Daarna is het ritme elke drie maanden — hetzelfde ritme als de controle die deze patiënten toch al krijgen.</a:t>
            </a:r>
          </a:p>
          <a:p/>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Blok vier: de toestellen en de regels. De instellingen, het gesprek, en de vier dingen die vastliggen.</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Drie toestellen, drie taken. De pedar meet druk, de Orthotimer meet of de zool gedragen is, de MoveMonitor meet hoeveel er gestapt wordt. Alleen de pedar bedient u bij elke meting; de andere twee plaatst u één keer en leest u uit.</a:t>
            </a:r>
          </a:p>
          <a:p/>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Zo klein is de sensor: negen bij dertien millimeter. Hij zit in de zool, meet alleen temperatuur, en de patiënt merkt er niets van. Noem hem tegenover de patiënt gewoon "uw sensor".</a:t>
            </a:r>
          </a:p>
          <a:p/>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Tot slot: wie u aanspreekt. Praktische vragen — inclusies, metingen, formulieren, sensoren — komen bij mij. Wetenschappelijke vragen en afspraken op het niveau van uw centrum bij professor Deschamps. Dank u wel.</a:t>
            </a:r>
          </a:p>
          <a:p/>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WAT U ZEGT</a:t>
            </a:r>
          </a:p>
          <a:p>
            <a:r>
              <a:t>Deze dia laat u staan tijdens de vragen. Alles wat u genoemd hebt, staat hier met nummer en citaat, in dezelfde nummering als het protocolmanuscript.</a:t>
            </a:r>
          </a:p>
          <a:p/>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fotokader" descr="titel_voetonderzoek.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radise_merk.png"/>
          <p:cNvPicPr>
            <a:picLocks noChangeAspect="1"/>
          </p:cNvPicPr>
          <p:nvPr/>
        </p:nvPicPr>
        <p:blipFill>
          <a:blip r:embed="rId3"/>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anchor="t" lIns="0" rIns="0" tIns="0" bIns="0">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anchor="t" lIns="0" rIns="0" tIns="0" bIns="0">
            <a:spAutoFit/>
          </a:bodyPr>
          <a:lstStyle/>
          <a:p>
            <a:pPr algn="l">
              <a:lnSpc>
                <a:spcPct val="125000"/>
              </a:lnSpc>
            </a:pPr>
            <a:r>
              <a:rPr sz="2800" b="1">
                <a:solidFill>
                  <a:srgbClr val="52BDEC"/>
                </a:solidFill>
                <a:latin typeface="Segoe UI"/>
              </a:rPr>
              <a:t>Waarom deze studie er is</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uleuven.png"/>
          <p:cNvPicPr>
            <a:picLocks noChangeAspect="1"/>
          </p:cNvPicPr>
          <p:nvPr/>
        </p:nvPicPr>
        <p:blipFill>
          <a:blip r:embed="rId4"/>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vub.png"/>
          <p:cNvPicPr>
            <a:picLocks noChangeAspect="1"/>
          </p:cNvPicPr>
          <p:nvPr/>
        </p:nvPicPr>
        <p:blipFill>
          <a:blip r:embed="rId5"/>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anchor="t" lIns="0" rIns="0" tIns="0" bIns="0">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6" name="TextBox 155"/>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het eindpunt behaald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TextBox 167"/>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TextBox 169"/>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TextBox 173"/>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17</a:t>
            </a:r>
          </a:p>
        </p:txBody>
      </p:sp>
      <p:pic>
        <p:nvPicPr>
          <p:cNvPr id="17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17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RISICO NA GENEZING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Twee derde recidiveert binnen vijf jaar</a:t>
            </a:r>
          </a:p>
        </p:txBody>
      </p:sp>
      <p:sp>
        <p:nvSpPr>
          <p:cNvPr id="5" name="TextBox 4"/>
          <p:cNvSpPr txBox="1"/>
          <p:nvPr/>
        </p:nvSpPr>
        <p:spPr>
          <a:xfrm>
            <a:off x="634984" y="2489137"/>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1 JAAR</a:t>
            </a:r>
          </a:p>
        </p:txBody>
      </p:sp>
      <p:sp>
        <p:nvSpPr>
          <p:cNvPr id="6" name="TextBox 5"/>
          <p:cNvSpPr txBox="1"/>
          <p:nvPr/>
        </p:nvSpPr>
        <p:spPr>
          <a:xfrm>
            <a:off x="634984" y="2717732"/>
            <a:ext cx="4063898" cy="939776"/>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40%</a:t>
            </a:r>
          </a:p>
        </p:txBody>
      </p:sp>
      <p:sp>
        <p:nvSpPr>
          <p:cNvPr id="7" name="TextBox 6"/>
          <p:cNvSpPr txBox="1"/>
          <p:nvPr/>
        </p:nvSpPr>
        <p:spPr>
          <a:xfrm>
            <a:off x="634984" y="4038499"/>
            <a:ext cx="4063898" cy="228594"/>
          </a:xfrm>
          <a:prstGeom prst="rect">
            <a:avLst/>
          </a:prstGeom>
          <a:noFill/>
        </p:spPr>
        <p:txBody>
          <a:bodyPr wrap="square" anchor="t" lIns="0" rIns="0" tIns="0" bIns="0">
            <a:spAutoFit/>
          </a:bodyPr>
          <a:lstStyle/>
          <a:p>
            <a:pPr algn="l">
              <a:lnSpc>
                <a:spcPct val="125000"/>
              </a:lnSpc>
            </a:pPr>
            <a:r>
              <a:rPr sz="1100" b="1" spc="160">
                <a:solidFill>
                  <a:srgbClr val="8FB6D0"/>
                </a:solidFill>
                <a:latin typeface="Consolas"/>
              </a:rPr>
              <a:t>NA 5 JAAR</a:t>
            </a:r>
          </a:p>
        </p:txBody>
      </p:sp>
      <p:sp>
        <p:nvSpPr>
          <p:cNvPr id="8" name="TextBox 7"/>
          <p:cNvSpPr txBox="1"/>
          <p:nvPr/>
        </p:nvSpPr>
        <p:spPr>
          <a:xfrm>
            <a:off x="634984" y="4267093"/>
            <a:ext cx="4063898" cy="939776"/>
          </a:xfrm>
          <a:prstGeom prst="rect">
            <a:avLst/>
          </a:prstGeom>
          <a:noFill/>
        </p:spPr>
        <p:txBody>
          <a:bodyPr wrap="square" anchor="t" lIns="0" rIns="0" tIns="0" bIns="0">
            <a:spAutoFit/>
          </a:bodyPr>
          <a:lstStyle/>
          <a:p>
            <a:pPr algn="l">
              <a:lnSpc>
                <a:spcPct val="100000"/>
              </a:lnSpc>
            </a:pPr>
            <a:r>
              <a:rPr sz="5400" b="1">
                <a:solidFill>
                  <a:srgbClr val="FF7A00"/>
                </a:solidFill>
                <a:latin typeface="Segoe UI"/>
              </a:rPr>
              <a:t>65%</a:t>
            </a:r>
          </a:p>
        </p:txBody>
      </p:sp>
      <p:sp>
        <p:nvSpPr>
          <p:cNvPr id="9" name="TextBox 8"/>
          <p:cNvSpPr txBox="1"/>
          <p:nvPr/>
        </p:nvSpPr>
        <p:spPr>
          <a:xfrm>
            <a:off x="5587860" y="1777955"/>
            <a:ext cx="5968850" cy="279393"/>
          </a:xfrm>
          <a:prstGeom prst="rect">
            <a:avLst/>
          </a:prstGeom>
          <a:noFill/>
        </p:spPr>
        <p:txBody>
          <a:bodyPr wrap="square" anchor="t" lIns="0" rIns="0" tIns="0" bIns="0">
            <a:spAutoFit/>
          </a:bodyPr>
          <a:lstStyle/>
          <a:p>
            <a:pPr algn="l">
              <a:lnSpc>
                <a:spcPct val="125000"/>
              </a:lnSpc>
            </a:pPr>
            <a:r>
              <a:rPr sz="1300" b="0">
                <a:solidFill>
                  <a:srgbClr val="8FB6D0"/>
                </a:solidFill>
                <a:latin typeface="Segoe UI"/>
              </a:rPr>
              <a:t>Incidentie van recidief tegenover follow-upduur</a:t>
            </a:r>
          </a:p>
        </p:txBody>
      </p:sp>
      <p:sp>
        <p:nvSpPr>
          <p:cNvPr id="10" name="Rounded Rectangle 9"/>
          <p:cNvSpPr/>
          <p:nvPr/>
        </p:nvSpPr>
        <p:spPr>
          <a:xfrm>
            <a:off x="5587860" y="2133546"/>
            <a:ext cx="5968850" cy="4063898"/>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cidief_curve.png"/>
          <p:cNvPicPr>
            <a:picLocks noChangeAspect="1"/>
          </p:cNvPicPr>
          <p:nvPr/>
        </p:nvPicPr>
        <p:blipFill>
          <a:blip r:embed="rId2"/>
          <a:stretch>
            <a:fillRect/>
          </a:stretch>
        </p:blipFill>
        <p:spPr>
          <a:xfrm>
            <a:off x="5748364" y="2285942"/>
            <a:ext cx="5647842" cy="3860703"/>
          </a:xfrm>
          <a:prstGeom prst="rect">
            <a:avLst/>
          </a:prstGeom>
        </p:spPr>
      </p:pic>
      <p:sp>
        <p:nvSpPr>
          <p:cNvPr id="12" name="TextBox 11"/>
          <p:cNvSpPr txBox="1"/>
          <p:nvPr/>
        </p:nvSpPr>
        <p:spPr>
          <a:xfrm>
            <a:off x="634984" y="6273643"/>
            <a:ext cx="9524761" cy="203194"/>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Gepoolde data uit negen prospectieve studies, één retrospectieve studie en de controlegroepen van negen RCT’s</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17</a:t>
            </a: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5" name="TextBox 1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voorkomen.jpg"/>
          <p:cNvPicPr>
            <a:picLocks noChangeAspect="1"/>
          </p:cNvPicPr>
          <p:nvPr/>
        </p:nvPicPr>
        <p:blipFill>
          <a:blip r:embed="rId2"/>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 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17</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14 · van Netten 2018   |   16 · Hulshof 2025</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Eén dienst, geen drie losse maatregelen</a:t>
            </a: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88977"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8977"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Gemeten bij de aflevering.</a:t>
            </a:r>
          </a:p>
          <a:p>
            <a:pPr algn="l">
              <a:lnSpc>
                <a:spcPct val="132000"/>
              </a:lnSpc>
              <a:spcBef>
                <a:spcPts val="1200"/>
              </a:spcBef>
            </a:pPr>
            <a:r>
              <a:rPr sz="1450" b="0">
                <a:solidFill>
                  <a:srgbClr val="8FB6D0"/>
                </a:solidFill>
                <a:latin typeface="Segoe UI"/>
              </a:rPr>
              <a:t>Aangepast tot de norm gehaald is in elk van de drie doelregio's.</a:t>
            </a:r>
          </a:p>
          <a:p>
            <a:pPr algn="l">
              <a:lnSpc>
                <a:spcPct val="132000"/>
              </a:lnSpc>
              <a:spcBef>
                <a:spcPts val="1200"/>
              </a:spcBef>
            </a:pPr>
            <a:r>
              <a:rPr sz="1450" b="0">
                <a:solidFill>
                  <a:srgbClr val="8FB6D0"/>
                </a:solidFill>
                <a:latin typeface="Segoe UI"/>
              </a:rPr>
              <a:t>Herhaald op maand 6, 12 en 18.</a:t>
            </a: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25912" y="2247843"/>
            <a:ext cx="1269968" cy="380990"/>
          </a:xfrm>
          <a:prstGeom prst="rect">
            <a:avLst/>
          </a:prstGeom>
          <a:noFill/>
        </p:spPr>
        <p:txBody>
          <a:bodyPr wrap="square" anchor="t" lIns="0" rIns="0" tIns="0" bIns="0">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anchor="t" lIns="0" rIns="0" tIns="0" bIns="0">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5912" y="3632109"/>
            <a:ext cx="4876551" cy="304792"/>
          </a:xfrm>
          <a:prstGeom prst="rect">
            <a:avLst/>
          </a:prstGeom>
          <a:noFill/>
        </p:spPr>
        <p:txBody>
          <a:bodyPr wrap="square" anchor="t" lIns="0" rIns="0" tIns="0" bIns="0">
            <a:spAutoFit/>
          </a:bodyPr>
          <a:lstStyle/>
          <a:p>
            <a:pPr algn="ctr">
              <a:lnSpc>
                <a:spcPct val="125000"/>
              </a:lnSpc>
            </a:pPr>
            <a:r>
              <a:rPr sz="1800" b="1">
                <a:solidFill>
                  <a:srgbClr val="52BDEC"/>
                </a:solidFill>
                <a:latin typeface="Consolas"/>
              </a:rPr>
              <a:t>80% van het eigen activiteitenprofiel</a:t>
            </a:r>
          </a:p>
        </p:txBody>
      </p:sp>
      <p:sp>
        <p:nvSpPr>
          <p:cNvPr id="16" name="TextBox 15"/>
          <p:cNvSpPr txBox="1"/>
          <p:nvPr/>
        </p:nvSpPr>
        <p:spPr>
          <a:xfrm>
            <a:off x="6425912" y="4165495"/>
            <a:ext cx="4876551" cy="1516382"/>
          </a:xfrm>
          <a:prstGeom prst="rect">
            <a:avLst/>
          </a:prstGeom>
          <a:noFill/>
        </p:spPr>
        <p:txBody>
          <a:bodyPr wrap="square" anchor="t" lIns="0" rIns="0" tIns="0" bIns="0">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sz="1450" b="0">
                <a:solidFill>
                  <a:srgbClr val="8FB6D0"/>
                </a:solidFill>
                <a:latin typeface="Segoe UI"/>
              </a:rPr>
              <a:t>Vijf gesprekken die op die data steunen.</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17</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pedar®-sensorinsole in de schoen geplaatst, drie loopproeven uitgevoerd.</a:t>
            </a:r>
          </a:p>
          <a:p>
            <a:pPr algn="l">
              <a:lnSpc>
                <a:spcPct val="135000"/>
              </a:lnSpc>
              <a:spcBef>
                <a:spcPts val="1200"/>
              </a:spcBef>
            </a:pPr>
            <a:r>
              <a:rPr sz="1700" b="0">
                <a:solidFill>
                  <a:srgbClr val="8FB6D0"/>
                </a:solidFill>
                <a:latin typeface="Segoe UI"/>
              </a:rPr>
              <a:t>De middelste twaalf passen per voet geanalyseerd; daaruit berekent de software de gemiddelde piekdruk per voet.</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17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17</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knal_belasting.jpg"/>
          <p:cNvPicPr>
            <a:picLocks noChangeAspect="1"/>
          </p:cNvPicPr>
          <p:nvPr/>
        </p:nvPicPr>
        <p:blipFill>
          <a:blip r:embed="rId2"/>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knal"/>
          <p:cNvSpPr txBox="1"/>
          <p:nvPr/>
        </p:nvSpPr>
        <p:spPr>
          <a:xfrm>
            <a:off x="952476" y="1523961"/>
            <a:ext cx="10286742" cy="4190895"/>
          </a:xfrm>
          <a:prstGeom prst="rect">
            <a:avLst/>
          </a:prstGeom>
          <a:noFill/>
        </p:spPr>
        <p:txBody>
          <a:bodyPr wrap="square" anchor="t" lIns="0" rIns="0" tIns="0" bIns="0">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17</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anchor="t" lIns="0" rIns="0" tIns="0" bIns="0">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ectietitel"/>
          <p:cNvSpPr txBox="1"/>
          <p:nvPr/>
        </p:nvSpPr>
        <p:spPr>
          <a:xfrm>
            <a:off x="634984" y="3555911"/>
            <a:ext cx="8889777" cy="1015974"/>
          </a:xfrm>
          <a:prstGeom prst="rect">
            <a:avLst/>
          </a:prstGeom>
          <a:noFill/>
        </p:spPr>
        <p:txBody>
          <a:bodyPr wrap="square" anchor="t" lIns="0" rIns="0" tIns="0" bIns="0">
            <a:spAutoFit/>
          </a:bodyPr>
          <a:lstStyle/>
          <a:p>
            <a:pPr algn="l">
              <a:lnSpc>
                <a:spcPct val="125000"/>
              </a:lnSpc>
            </a:pPr>
            <a:r>
              <a:rPr sz="7600" b="1">
                <a:solidFill>
                  <a:srgbClr val="F2F8FC"/>
                </a:solidFill>
                <a:latin typeface="Segoe UI"/>
              </a:rPr>
              <a:t>Toestellen en regels</a:t>
            </a:r>
          </a:p>
        </p:txBody>
      </p:sp>
      <p:sp>
        <p:nvSpPr>
          <p:cNvPr id="8" name="TextBox 7"/>
          <p:cNvSpPr txBox="1"/>
          <p:nvPr/>
        </p:nvSpPr>
        <p:spPr>
          <a:xfrm>
            <a:off x="660383" y="4825879"/>
            <a:ext cx="8254793" cy="507987"/>
          </a:xfrm>
          <a:prstGeom prst="rect">
            <a:avLst/>
          </a:prstGeom>
          <a:noFill/>
        </p:spPr>
        <p:txBody>
          <a:bodyPr wrap="square" anchor="t" lIns="0" rIns="0" tIns="0" bIns="0">
            <a:spAutoFit/>
          </a:bodyPr>
          <a:lstStyle/>
          <a:p>
            <a:pPr algn="l">
              <a:lnSpc>
                <a:spcPct val="125000"/>
              </a:lnSpc>
            </a:pPr>
            <a:r>
              <a:rPr sz="2300" b="0">
                <a:solidFill>
                  <a:srgbClr val="8FB6D0"/>
                </a:solidFill>
                <a:latin typeface="Segoe UI Light"/>
              </a:rPr>
              <a:t>De instellingen, het gesprek, en de vier regels die vastliggen.</a:t>
            </a: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879553"/>
          </a:xfrm>
          <a:prstGeom prst="rect">
            <a:avLst/>
          </a:prstGeom>
          <a:noFill/>
        </p:spPr>
        <p:txBody>
          <a:bodyPr wrap="square" anchor="t" lIns="0" rIns="0" tIns="0" bIns="0">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Zeroing voor elke meting</a:t>
            </a:r>
          </a:p>
          <a:p>
            <a:pPr algn="l">
              <a:lnSpc>
                <a:spcPct val="130000"/>
              </a:lnSpc>
              <a:spcBef>
                <a:spcPts val="1000"/>
              </a:spcBef>
            </a:pPr>
            <a:r>
              <a:rPr sz="13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241966" y="3632109"/>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558786"/>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241966" y="5714857"/>
            <a:ext cx="3060496"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17</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17</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9" name="TextBox 8"/>
          <p:cNvSpPr txBox="1"/>
          <p:nvPr/>
        </p:nvSpPr>
        <p:spPr>
          <a:xfrm>
            <a:off x="634984" y="6629234"/>
            <a:ext cx="10921726" cy="177795"/>
          </a:xfrm>
          <a:prstGeom prst="rect">
            <a:avLst/>
          </a:prstGeom>
          <a:noFill/>
        </p:spPr>
        <p:txBody>
          <a:bodyPr wrap="square" anchor="t" lIns="0" rIns="0" tIns="0" bIns="0">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17</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14</a:t>
            </a:r>
          </a:p>
        </p:txBody>
      </p:sp>
      <p:sp>
        <p:nvSpPr>
          <p:cNvPr id="14" name="TextBox 13"/>
          <p:cNvSpPr txBox="1"/>
          <p:nvPr/>
        </p:nvSpPr>
        <p:spPr>
          <a:xfrm>
            <a:off x="965175"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van Netten JJ et al. Clin Biomech. 2018;53:86–92.</a:t>
            </a:r>
          </a:p>
        </p:txBody>
      </p:sp>
      <p:sp>
        <p:nvSpPr>
          <p:cNvPr id="15" name="TextBox 14"/>
          <p:cNvSpPr txBox="1"/>
          <p:nvPr/>
        </p:nvSpPr>
        <p:spPr>
          <a:xfrm>
            <a:off x="6171918" y="185415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16</a:t>
            </a:r>
          </a:p>
        </p:txBody>
      </p:sp>
      <p:sp>
        <p:nvSpPr>
          <p:cNvPr id="16" name="TextBox 15"/>
          <p:cNvSpPr txBox="1"/>
          <p:nvPr/>
        </p:nvSpPr>
        <p:spPr>
          <a:xfrm>
            <a:off x="6502110" y="185415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Hulshof CM et al. Diabet Med. 2025;42:e70099.</a:t>
            </a:r>
          </a:p>
        </p:txBody>
      </p:sp>
      <p:sp>
        <p:nvSpPr>
          <p:cNvPr id="17" name="TextBox 16"/>
          <p:cNvSpPr txBox="1"/>
          <p:nvPr/>
        </p:nvSpPr>
        <p:spPr>
          <a:xfrm>
            <a:off x="6171918" y="218847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17</a:t>
            </a:r>
          </a:p>
        </p:txBody>
      </p:sp>
      <p:sp>
        <p:nvSpPr>
          <p:cNvPr id="18" name="TextBox 17"/>
          <p:cNvSpPr txBox="1"/>
          <p:nvPr/>
        </p:nvSpPr>
        <p:spPr>
          <a:xfrm>
            <a:off x="6502110" y="218847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Waaijman R et al. Diabetes Care. 2014;37(6):1697–705.</a:t>
            </a:r>
          </a:p>
        </p:txBody>
      </p:sp>
      <p:sp>
        <p:nvSpPr>
          <p:cNvPr id="19" name="TextBox 18"/>
          <p:cNvSpPr txBox="1"/>
          <p:nvPr/>
        </p:nvSpPr>
        <p:spPr>
          <a:xfrm>
            <a:off x="6171918" y="2522786"/>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18</a:t>
            </a:r>
          </a:p>
        </p:txBody>
      </p:sp>
      <p:sp>
        <p:nvSpPr>
          <p:cNvPr id="20" name="TextBox 19"/>
          <p:cNvSpPr txBox="1"/>
          <p:nvPr/>
        </p:nvSpPr>
        <p:spPr>
          <a:xfrm>
            <a:off x="6502110" y="2522786"/>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Lutjeboer T et al. J Rehabil Med. 2018;50(10):920–6.</a:t>
            </a:r>
          </a:p>
        </p:txBody>
      </p:sp>
      <p:sp>
        <p:nvSpPr>
          <p:cNvPr id="21" name="TextBox 20"/>
          <p:cNvSpPr txBox="1"/>
          <p:nvPr/>
        </p:nvSpPr>
        <p:spPr>
          <a:xfrm>
            <a:off x="6171918" y="2857103"/>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20</a:t>
            </a:r>
          </a:p>
        </p:txBody>
      </p:sp>
      <p:sp>
        <p:nvSpPr>
          <p:cNvPr id="22" name="TextBox 21"/>
          <p:cNvSpPr txBox="1"/>
          <p:nvPr/>
        </p:nvSpPr>
        <p:spPr>
          <a:xfrm>
            <a:off x="6502110" y="2857103"/>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Morbach S et al. Diabetes Metab Res Rev. 2016;32(Suppl 1):318–25.</a:t>
            </a:r>
          </a:p>
        </p:txBody>
      </p:sp>
      <p:sp>
        <p:nvSpPr>
          <p:cNvPr id="23" name="TextBox 22"/>
          <p:cNvSpPr txBox="1"/>
          <p:nvPr/>
        </p:nvSpPr>
        <p:spPr>
          <a:xfrm>
            <a:off x="6171918" y="3191420"/>
            <a:ext cx="279393" cy="190495"/>
          </a:xfrm>
          <a:prstGeom prst="rect">
            <a:avLst/>
          </a:prstGeom>
          <a:noFill/>
        </p:spPr>
        <p:txBody>
          <a:bodyPr wrap="square" anchor="t" lIns="0" rIns="0" tIns="0" bIns="0">
            <a:spAutoFit/>
          </a:bodyPr>
          <a:lstStyle/>
          <a:p>
            <a:pPr algn="r">
              <a:lnSpc>
                <a:spcPct val="125000"/>
              </a:lnSpc>
            </a:pPr>
            <a:r>
              <a:rPr sz="1200" b="1">
                <a:solidFill>
                  <a:srgbClr val="52BDEC"/>
                </a:solidFill>
                <a:latin typeface="Consolas"/>
              </a:rPr>
              <a:t>27</a:t>
            </a:r>
          </a:p>
        </p:txBody>
      </p:sp>
      <p:sp>
        <p:nvSpPr>
          <p:cNvPr id="24" name="TextBox 23"/>
          <p:cNvSpPr txBox="1"/>
          <p:nvPr/>
        </p:nvSpPr>
        <p:spPr>
          <a:xfrm>
            <a:off x="6502110" y="3191420"/>
            <a:ext cx="5054346" cy="296217"/>
          </a:xfrm>
          <a:prstGeom prst="rect">
            <a:avLst/>
          </a:prstGeom>
          <a:noFill/>
        </p:spPr>
        <p:txBody>
          <a:bodyPr wrap="square" anchor="t" lIns="0" rIns="0" tIns="0" bIns="0">
            <a:spAutoFit/>
          </a:bodyPr>
          <a:lstStyle/>
          <a:p>
            <a:pPr algn="l">
              <a:lnSpc>
                <a:spcPct val="132000"/>
              </a:lnSpc>
            </a:pPr>
            <a:r>
              <a:rPr sz="1200" b="0">
                <a:solidFill>
                  <a:srgbClr val="8FB6D0"/>
                </a:solidFill>
                <a:latin typeface="Segoe UI"/>
              </a:rPr>
              <a:t>Zwaferink JBJ et al. Sensors. 2024;24(6):1795.</a:t>
            </a:r>
          </a:p>
        </p:txBody>
      </p:sp>
      <p:sp>
        <p:nvSpPr>
          <p:cNvPr id="25" name="TextBox 24"/>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De nummering volgt die van het protocolmanuscript.</a:t>
            </a:r>
          </a:p>
        </p:txBody>
      </p:sp>
      <p:sp>
        <p:nvSpPr>
          <p:cNvPr id="26" name="TextBox 2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17</a:t>
            </a:r>
          </a:p>
        </p:txBody>
      </p:sp>
      <p:pic>
        <p:nvPicPr>
          <p:cNvPr id="2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p:transition xmlns:p14="http://schemas.microsoft.com/office/powerpoint/2010/main" spd="slow" p14:dur="900">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