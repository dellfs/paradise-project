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PARADISE gaat niet over genezen maar over terugkomen. Zes Belgische voetklinieken, honderdvierenveertig patiënten, achttien maanden per patiënt. Ik neem u mee langs het waarom, de meting en het traject. Onderbreek me gerust.</a:t>
            </a:r>
          </a:p>
          <a:p/>
          <a:p>
            <a:r>
              <a:t>PRESENTATIETIP</a:t>
            </a:r>
          </a:p>
          <a:p>
            <a:r>
              <a:t>Het beeld draagt deze dia, dus de foto moet raak zijn. Zet hem in beeld\stock\, draai verwerk_stock.py, en vervang het kader met rechtsklik en Afbeelding wijzigen. Liggend, koele tonen, en rustig onderaan — daar staat de titel.</a:t>
            </a:r>
          </a:p>
          <a:p/>
          <a:p>
            <a:r>
              <a:t>INTERACTIE</a:t>
            </a:r>
          </a:p>
          <a:p>
            <a:r>
              <a:t>Laat de dia staan terwijl de zaal binnenkomt. Zeg pas iets als iedereen zit.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Elke stip is een patiënt. Vierentwintig daarvan komen uit úw kliniek, twaalf in elke arm. Zes keer vierentwintig is honderdvierenveertig. Blijft één centrum achter, dan haalt de studie het niet.</a:t>
            </a:r>
          </a:p>
          <a:p/>
          <a:p>
            <a:r>
              <a:t>PRESENTATIETIP</a:t>
            </a:r>
          </a:p>
          <a:p>
            <a:r>
              <a:t>Wijs hun eigen centrum aan: 24 van die 144 stippen zijn van hen. Zes keer 24 is 144 — als één centrum achterblijft, haalt de studie het niet.</a:t>
            </a:r>
          </a:p>
          <a:p/>
          <a:p>
            <a:r>
              <a:t>INTERACTIE</a:t>
            </a:r>
          </a:p>
          <a:p>
            <a:r>
              <a:t>Vraag of ze de andere vijf centra kennen. Het maakt van zes losse klinieken één netwerk.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één. Ik geef u vier cijfers. Na het vierde weet u waarom deze studie twee normen heeft in plaats van één, en waarom niemand die tot nu toe samen gehaald heeft.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Veertig procent krijgt binnen één jaar een nieuw ulcus. Na vijf jaar is dat vijfenzestig. En de sterfte ligt tweeënhalf keer hoger dan bij diabetes zonder ulcus — na een amputatie zelfs boven de zeventig procent. Dit is geen wondprobleem. Dit is een overlevingsprobleem.</a:t>
            </a:r>
          </a:p>
          <a:p/>
          <a:p>
            <a:r>
              <a:t>PRESENTATIETIP</a:t>
            </a:r>
          </a:p>
          <a:p>
            <a:r>
              <a:t>Dit is het probleem waar de hele studie op staat. Eén dia, dan door.</a:t>
            </a:r>
          </a:p>
          <a:p/>
          <a:p>
            <a:r>
              <a:t>INTERACTIE</a:t>
            </a:r>
          </a:p>
          <a:p>
            <a:r>
              <a:t>Geen. Dit is context, geen discussie.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En dan het cijfer dat het onverdraaglijk maakt. Driekwart van deze ulcera is in principe te voorkomen. Toch komt veertig procent binnen het jaar terug. Dat gat tussen wat kan en wat gebeurt — daar gaat deze studie over.</a:t>
            </a:r>
          </a:p>
          <a:p/>
          <a:p>
            <a:r>
              <a:t>PRESENTATIETIP</a:t>
            </a:r>
          </a:p>
          <a:p>
            <a:r>
              <a:t>Zeg dit traag en zwijg dan twee tellen. Dit is de enige dia in blok 1 waar de zaal niet leest maar luistert.</a:t>
            </a:r>
          </a:p>
          <a:p/>
          <a:p>
            <a:r>
              <a:t>INTERACTIE</a:t>
            </a:r>
          </a:p>
          <a:p>
            <a:r>
              <a:t>Geen. De stilte doet het werk.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Belasting is een product, geen optelsom. Piekdruk maal activiteit maal draagtijd. Eén factor op nul maakt het hele product nul. Een perfecte zool in de kast beschermt niets.</a:t>
            </a:r>
          </a:p>
          <a:p/>
          <a:p>
            <a:r>
              <a:t>PRESENTATIETIP</a:t>
            </a:r>
          </a:p>
          <a:p>
            <a:r>
              <a:t>Dit is het scharnier van blok 1. Wie dit snapt, snapt waarom de meting én de sensor allebei moeten kloppen.</a:t>
            </a:r>
          </a:p>
          <a:p/>
          <a:p>
            <a:r>
              <a:t>INTERACTIE</a:t>
            </a:r>
          </a:p>
          <a:p>
            <a:r>
              <a:t>Morph: de drie tegels komen samen uit één punt.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Daarom doen wij het anders. Geen drie losse maatregelen, maar één dienst met twee normen: de zool moet de druk hálen, én hij moet gedragen wórden. Beide gemeten, beide bijgestuurd, en beide door uw eigen team. Dat is nog nooit samen getoetst.</a:t>
            </a:r>
          </a:p>
          <a:p/>
          <a:p>
            <a:r>
              <a:t>PRESENTATIETIP</a:t>
            </a:r>
          </a:p>
          <a:p>
            <a:r>
              <a:t>Dit is de kanteldia. Alles ervoor is het probleem, alles erna is de uitvoering. Zeg met zoveel woorden dat dit nog nooit samen getoetst is.</a:t>
            </a:r>
          </a:p>
          <a:p/>
          <a:p>
            <a:r>
              <a:t>INTERACTIE</a:t>
            </a:r>
          </a:p>
          <a:p>
            <a:r>
              <a:t>Vraag welke van de twee normen zij het moeilijkst achten. Het antwoord is bijna altijd de tweede.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Elke sensor geeft een cijfer. Dit is de baseline, blootsvoets: driehonderdtwaalf kilopascal onder metatarsaal twee-drie. Drie metingen per voet, waar de software één beeld van maakt. Hiertegen wordt alles afgezet.</a:t>
            </a:r>
          </a:p>
          <a:p/>
          <a:p>
            <a:r>
              <a:t>PRESENTATIETIP</a:t>
            </a:r>
          </a:p>
          <a:p>
            <a:r>
              <a:t>De meest gemaakte fout is één meting per voet. Het protocol vraagt er drie, en het gemiddelde telt.</a:t>
            </a:r>
          </a:p>
          <a:p/>
          <a:p>
            <a:r>
              <a:t>INTERACTIE</a:t>
            </a:r>
          </a:p>
          <a:p>
            <a:r>
              <a:t>Vraag wie al blootsvoets gemeten heeft met sensoren op de voet.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Zelfde voet, na aanpassing. Honderdzesentachtig kilopascal: veertig procent lager én onder de tweehonderd. De norm geldt per doelregio. Haalt u ze niet, dan past u aan en meet u opnieuw.</a:t>
            </a:r>
          </a:p>
          <a:p/>
          <a:p>
            <a:r>
              <a:t>PRESENTATIETIP</a:t>
            </a:r>
          </a:p>
          <a:p>
            <a:r>
              <a:t>Zeg expliciet: "óf". Twee wegen naar dezelfde norm, geen dubbele eis. En de vergelijking gebeurt per regio, niet over de hele voet.</a:t>
            </a:r>
          </a:p>
          <a:p/>
          <a:p>
            <a:r>
              <a:t>INTERACTIE</a:t>
            </a:r>
          </a:p>
          <a:p>
            <a:r>
              <a:t>Vraag de pedorthisten hoeveel aanpassingsrondes realistisch zijn.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Even stilstaan. Het doel is niet minder belasting. Het doel is belasting op een plek die het aankan. Dat is de hele interventie.</a:t>
            </a:r>
          </a:p>
          <a:p/>
          <a:p>
            <a:r>
              <a:t>PRESENTATIETIP</a:t>
            </a:r>
          </a:p>
          <a:p>
            <a:r>
              <a:t>Zeg deze twee zinnen en zwijg dan. Laat de dia staan tot iemand ongemakkelijk wordt. Dit is het enige moment in blok 2 waarop de zaal niets te lezen heeft.</a:t>
            </a:r>
          </a:p>
          <a:p/>
          <a:p>
            <a:r>
              <a:t>INTERACTIE</a:t>
            </a:r>
          </a:p>
          <a:p>
            <a:r>
              <a:t>Geen. Bewust geen.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Screening en negen visites over achttien maanden. De eerste drie liggen dicht op elkaar. Daarna is het ritme elke drie maanden — hetzelfde ritme als de controle die deze patiënten toch al krijgen.</a:t>
            </a:r>
          </a:p>
          <a:p/>
          <a:p>
            <a:r>
              <a:t>PRESENTATIETIP</a:t>
            </a:r>
          </a:p>
          <a:p>
            <a:r>
              <a:t>Geef eerst het overzicht. De volgende dia's lopen elk moment af.</a:t>
            </a:r>
          </a:p>
          <a:p/>
          <a:p>
            <a:r>
              <a:t>INTERACTIE</a:t>
            </a:r>
          </a:p>
          <a:p>
            <a:r>
              <a:t>Geen. De detaildia's komen hierna.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vier: de toestellen en de regels. De instellingen, het gesprek, en de vier dingen die vastliggen.</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Drie toestellen, drie taken. De pedar meet druk, de Orthotimer meet of de zool gedragen is, de MoveMonitor meet hoeveel er gestapt wordt. Alleen de pedar bedient u bij elke meting; de andere twee plaatst u één keer en leest u uit.</a:t>
            </a:r>
          </a:p>
          <a:p/>
          <a:p>
            <a:r>
              <a:t>PRESENTATIETIP</a:t>
            </a:r>
          </a:p>
          <a:p>
            <a:r>
              <a:t>Benoem dat de Orthotimer géén GPS, microfoon of camera heeft. Die vraag komt gegarandeerd.</a:t>
            </a:r>
          </a:p>
          <a:p/>
          <a:p>
            <a:r>
              <a:t>INTERACTIE</a:t>
            </a:r>
          </a:p>
          <a:p>
            <a:r>
              <a:t>Laat de toestellen rondgaan. Fysiek werkt beter dan een dia.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Zo klein is de sensor: negen bij dertien millimeter. Hij zit in de zool, meet alleen temperatuur, en de patiënt merkt er niets van. Noem hem tegenover de patiënt gewoon "uw sensor".</a:t>
            </a:r>
          </a:p>
          <a:p/>
          <a:p>
            <a:r>
              <a:t>PRESENTATIETIP</a:t>
            </a:r>
          </a:p>
          <a:p>
            <a:r>
              <a:t>Laat deze dia even staan zonder te praten. De sensor is fysiek zo klein dat het beeld het argument al maakt.</a:t>
            </a:r>
          </a:p>
          <a:p/>
          <a:p>
            <a:r>
              <a:t>INTERACTIE</a:t>
            </a:r>
          </a:p>
          <a:p>
            <a:r>
              <a:t>Geef er een door de zaal terwijl u praat.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Tot slot: wie u aanspreekt. Praktische vragen — inclusies, metingen, formulieren, sensoren — komen bij mij. Wetenschappelijke vragen en afspraken op het niveau van uw centrum bij professor Deschamps. Dank u wel.</a:t>
            </a:r>
          </a:p>
          <a:p/>
          <a:p>
            <a:r>
              <a:t>PRESENTATIETIP</a:t>
            </a:r>
          </a:p>
          <a:p>
            <a:r>
              <a:t>Laat deze dia staan tijdens het napraten. Zeg erbij dat kleine dingen ook mogen — een sensor die niet uitleest is geen domme vraag.</a:t>
            </a:r>
          </a:p>
          <a:p/>
          <a:p>
            <a:r>
              <a:t>INTERACTIE</a:t>
            </a:r>
          </a:p>
          <a:p>
            <a:r>
              <a:t>Loop rond terwijl de dia staat. Wie een vraag heeft, komt naar het gezicht dat op het scherm staat.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Deze dia laat u staan tijdens de vragen. Alles wat u genoemd hebt, staat hier met nummer en citaat, in dezelfde nummering als het protocolmanuscript.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fotokader" descr="plaatshouder.png"/>
          <p:cNvPicPr>
            <a:picLocks noChangeAspect="1"/>
          </p:cNvPicPr>
          <p:nvPr/>
        </p:nvPicPr>
        <p:blipFill>
          <a:blip r:embed="rId2"/>
          <a:stretch>
            <a:fillRect/>
          </a:stretch>
        </p:blipFill>
        <p:spPr>
          <a:xfrm>
            <a:off x="0" y="-380990"/>
            <a:ext cx="12191695" cy="7619809"/>
          </a:xfrm>
          <a:prstGeom prst="rect">
            <a:avLst/>
          </a:prstGeom>
        </p:spPr>
      </p:pic>
      <p:sp>
        <p:nvSpPr>
          <p:cNvPr id="4" name="Rectangle 3"/>
          <p:cNvSpPr/>
          <p:nvPr/>
        </p:nvSpPr>
        <p:spPr>
          <a:xfrm>
            <a:off x="0" y="0"/>
            <a:ext cx="12191695" cy="6857828"/>
          </a:xfrm>
          <a:prstGeom prst="rect">
            <a:avLst/>
          </a:prstGeom>
          <a:gradFill rotWithShape="1">
            <a:gsLst>
              <a:gs pos="0">
                <a:srgbClr val="04182A">
                  <a:alpha val="10000"/>
                </a:srgbClr>
              </a:gs>
              <a:gs pos="62000">
                <a:srgbClr val="04182A">
                  <a:alpha val="96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rk.png"/>
          <p:cNvPicPr>
            <a:picLocks noChangeAspect="1"/>
          </p:cNvPicPr>
          <p:nvPr/>
        </p:nvPicPr>
        <p:blipFill>
          <a:blip r:embed="rId3"/>
          <a:stretch>
            <a:fillRect/>
          </a:stretch>
        </p:blipFill>
        <p:spPr>
          <a:xfrm>
            <a:off x="647087" y="609584"/>
            <a:ext cx="801273" cy="927076"/>
          </a:xfrm>
          <a:prstGeom prst="rect">
            <a:avLst/>
          </a:prstGeom>
        </p:spPr>
      </p:pic>
      <p:sp>
        <p:nvSpPr>
          <p:cNvPr id="6" name="hero"/>
          <p:cNvSpPr txBox="1"/>
          <p:nvPr/>
        </p:nvSpPr>
        <p:spPr>
          <a:xfrm>
            <a:off x="634984" y="3848003"/>
            <a:ext cx="8889777" cy="1650958"/>
          </a:xfrm>
          <a:prstGeom prst="rect">
            <a:avLst/>
          </a:prstGeom>
          <a:noFill/>
        </p:spPr>
        <p:txBody>
          <a:bodyPr wrap="none" anchor="t" lIns="0" rIns="0" tIns="0" bIns="0">
            <a:spAutoFit/>
          </a:bodyPr>
          <a:lstStyle/>
          <a:p>
            <a:pPr algn="l">
              <a:lnSpc>
                <a:spcPct val="90000"/>
              </a:lnSpc>
            </a:pPr>
            <a:r>
              <a:rPr sz="12400" b="1">
                <a:solidFill>
                  <a:srgbClr val="F2F8FC"/>
                </a:solidFill>
                <a:latin typeface="Segoe UI"/>
              </a:rPr>
              <a:t>PARADISE</a:t>
            </a:r>
          </a:p>
        </p:txBody>
      </p:sp>
      <p:sp>
        <p:nvSpPr>
          <p:cNvPr id="7" name="TextBox 6"/>
          <p:cNvSpPr txBox="1"/>
          <p:nvPr/>
        </p:nvSpPr>
        <p:spPr>
          <a:xfrm>
            <a:off x="673083" y="5397365"/>
            <a:ext cx="8889777" cy="380990"/>
          </a:xfrm>
          <a:prstGeom prst="rect">
            <a:avLst/>
          </a:prstGeom>
          <a:noFill/>
        </p:spPr>
        <p:txBody>
          <a:bodyPr wrap="square" anchor="t" lIns="0" rIns="0" tIns="0" bIns="0">
            <a:spAutoFit/>
          </a:bodyPr>
          <a:lstStyle/>
          <a:p>
            <a:pPr algn="l">
              <a:lnSpc>
                <a:spcPct val="125000"/>
              </a:lnSpc>
            </a:pPr>
            <a:r>
              <a:rPr sz="2800" b="1">
                <a:solidFill>
                  <a:srgbClr val="52BDEC"/>
                </a:solidFill>
                <a:latin typeface="Segoe UI"/>
              </a:rPr>
              <a:t>Waarom deze studie er is</a:t>
            </a:r>
          </a:p>
        </p:txBody>
      </p:sp>
      <p:sp>
        <p:nvSpPr>
          <p:cNvPr id="8" name="Rectangle 7"/>
          <p:cNvSpPr/>
          <p:nvPr/>
        </p:nvSpPr>
        <p:spPr>
          <a:xfrm>
            <a:off x="634984" y="587995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4984" y="6045048"/>
            <a:ext cx="1685893"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leuven.png"/>
          <p:cNvPicPr>
            <a:picLocks noChangeAspect="1"/>
          </p:cNvPicPr>
          <p:nvPr/>
        </p:nvPicPr>
        <p:blipFill>
          <a:blip r:embed="rId4"/>
          <a:stretch>
            <a:fillRect/>
          </a:stretch>
        </p:blipFill>
        <p:spPr>
          <a:xfrm>
            <a:off x="787380" y="6152996"/>
            <a:ext cx="1381100" cy="393690"/>
          </a:xfrm>
          <a:prstGeom prst="rect">
            <a:avLst/>
          </a:prstGeom>
        </p:spPr>
      </p:pic>
      <p:sp>
        <p:nvSpPr>
          <p:cNvPr id="11" name="Rounded Rectangle 10"/>
          <p:cNvSpPr/>
          <p:nvPr/>
        </p:nvSpPr>
        <p:spPr>
          <a:xfrm>
            <a:off x="2574870" y="6045048"/>
            <a:ext cx="1420884"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ub.png"/>
          <p:cNvPicPr>
            <a:picLocks noChangeAspect="1"/>
          </p:cNvPicPr>
          <p:nvPr/>
        </p:nvPicPr>
        <p:blipFill>
          <a:blip r:embed="rId5"/>
          <a:stretch>
            <a:fillRect/>
          </a:stretch>
        </p:blipFill>
        <p:spPr>
          <a:xfrm>
            <a:off x="2727267" y="6152996"/>
            <a:ext cx="1116092" cy="393690"/>
          </a:xfrm>
          <a:prstGeom prst="rect">
            <a:avLst/>
          </a:prstGeom>
        </p:spPr>
      </p:pic>
      <p:sp>
        <p:nvSpPr>
          <p:cNvPr id="13" name="TextBox 12"/>
          <p:cNvSpPr txBox="1"/>
          <p:nvPr/>
        </p:nvSpPr>
        <p:spPr>
          <a:xfrm>
            <a:off x="4249749" y="6095847"/>
            <a:ext cx="2158946" cy="253993"/>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FWO</a:t>
            </a:r>
          </a:p>
        </p:txBody>
      </p:sp>
      <p:sp>
        <p:nvSpPr>
          <p:cNvPr id="14" name="TextBox 13"/>
          <p:cNvSpPr txBox="1"/>
          <p:nvPr/>
        </p:nvSpPr>
        <p:spPr>
          <a:xfrm>
            <a:off x="4262449" y="6349841"/>
            <a:ext cx="2666933" cy="215894"/>
          </a:xfrm>
          <a:prstGeom prst="rect">
            <a:avLst/>
          </a:prstGeom>
          <a:noFill/>
        </p:spPr>
        <p:txBody>
          <a:bodyPr wrap="square" anchor="t" lIns="0" rIns="0" tIns="0" bIns="0">
            <a:spAutoFit/>
          </a:bodyPr>
          <a:lstStyle/>
          <a:p>
            <a:pPr algn="l">
              <a:lnSpc>
                <a:spcPct val="125000"/>
              </a:lnSpc>
            </a:pPr>
            <a:r>
              <a:rPr sz="1200" b="0">
                <a:solidFill>
                  <a:srgbClr val="8FB6D0"/>
                </a:solidFill>
                <a:latin typeface="Consolas"/>
              </a:rPr>
              <a:t>TBM T000226N</a:t>
            </a:r>
          </a:p>
        </p:txBody>
      </p:sp>
      <p:sp>
        <p:nvSpPr>
          <p:cNvPr id="15" name="TextBox 14"/>
          <p:cNvSpPr txBox="1"/>
          <p:nvPr/>
        </p:nvSpPr>
        <p:spPr>
          <a:xfrm>
            <a:off x="7111822" y="6565735"/>
            <a:ext cx="4571885" cy="190495"/>
          </a:xfrm>
          <a:prstGeom prst="rect">
            <a:avLst/>
          </a:prstGeom>
          <a:noFill/>
        </p:spPr>
        <p:txBody>
          <a:bodyPr wrap="none" anchor="t" lIns="0" rIns="0" tIns="0" bIns="0">
            <a:spAutoFit/>
          </a:bodyPr>
          <a:lstStyle/>
          <a:p>
            <a:pPr algn="r">
              <a:lnSpc>
                <a:spcPct val="125000"/>
              </a:lnSpc>
            </a:pPr>
            <a:r>
              <a:rPr sz="1100" b="0">
                <a:solidFill>
                  <a:srgbClr val="8FB6D0"/>
                </a:solidFill>
                <a:latin typeface="Consolas"/>
              </a:rPr>
              <a:t>Protocolversie 1.0 · 17 mei 2026 · S71769</a:t>
            </a:r>
          </a:p>
        </p:txBody>
      </p:sp>
    </p:spTree>
  </p:cSld>
  <p:clrMapOvr>
    <a:masterClrMapping/>
  </p:clrMapOvr>
  <p:transition xmlns:p14="http://schemas.microsoft.com/office/powerpoint/2010/main" spd="slow" p14:dur="90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WE STAAN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144 patiënten, 24 per centrum</a:t>
            </a:r>
          </a:p>
        </p:txBody>
      </p:sp>
      <p:sp>
        <p:nvSpPr>
          <p:cNvPr id="5" name="Oval 4"/>
          <p:cNvSpPr/>
          <p:nvPr/>
        </p:nvSpPr>
        <p:spPr>
          <a:xfrm>
            <a:off x="634984"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6278"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7572"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58866"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0015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4145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8274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32404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56533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80662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4792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8921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051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7180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01309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5439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9568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3698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97827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1956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46086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70215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4345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18474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4984"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76278"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17572"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358866"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60015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84145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08274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32404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6533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80662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04792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8921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53051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77180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01309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25439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49568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3698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97827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21956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46086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70215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94345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18474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34984"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76278"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17572"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358866"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60015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84145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08274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32404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56533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80662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04792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28921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53051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77180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01309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25439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49568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73698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97827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21956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46086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70215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94345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18474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34984"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76278"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117572"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358866"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60015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84145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08274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32404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56533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80662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04792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28921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53051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77180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01309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25439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449568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73698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97827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521956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546086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570215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594345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618474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34984"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76278"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117572"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358866"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60015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84145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08274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32404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56533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80662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04792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28921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53051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77180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01309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25439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49568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73698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97827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521956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546086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570215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94345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618474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634984"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876278"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117572"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358866"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60015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84145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08274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32404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256533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80662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04792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28921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53051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77180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01309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425439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49568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73698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97827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21956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546086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70215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594345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618474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34984" y="3301917"/>
            <a:ext cx="2539936" cy="253993"/>
          </a:xfrm>
          <a:prstGeom prst="rect">
            <a:avLst/>
          </a:prstGeom>
          <a:noFill/>
        </p:spPr>
        <p:txBody>
          <a:bodyPr wrap="square" anchor="t" lIns="0" rIns="0" tIns="0" bIns="0">
            <a:spAutoFit/>
          </a:bodyPr>
          <a:lstStyle/>
          <a:p>
            <a:pPr algn="l">
              <a:lnSpc>
                <a:spcPct val="125000"/>
              </a:lnSpc>
            </a:pPr>
            <a:r>
              <a:rPr sz="1300" b="1" spc="140">
                <a:solidFill>
                  <a:srgbClr val="52BDEC"/>
                </a:solidFill>
                <a:latin typeface="Consolas"/>
              </a:rPr>
              <a:t>72 PARADISE</a:t>
            </a:r>
          </a:p>
        </p:txBody>
      </p:sp>
      <p:sp>
        <p:nvSpPr>
          <p:cNvPr id="150" name="TextBox 149"/>
          <p:cNvSpPr txBox="1"/>
          <p:nvPr/>
        </p:nvSpPr>
        <p:spPr>
          <a:xfrm>
            <a:off x="2412939" y="3301917"/>
            <a:ext cx="2539936" cy="253993"/>
          </a:xfrm>
          <a:prstGeom prst="rect">
            <a:avLst/>
          </a:prstGeom>
          <a:noFill/>
        </p:spPr>
        <p:txBody>
          <a:bodyPr wrap="square" anchor="t" lIns="0" rIns="0" tIns="0" bIns="0">
            <a:spAutoFit/>
          </a:bodyPr>
          <a:lstStyle/>
          <a:p>
            <a:pPr algn="l">
              <a:lnSpc>
                <a:spcPct val="125000"/>
              </a:lnSpc>
            </a:pPr>
            <a:r>
              <a:rPr sz="1300" b="1" spc="140">
                <a:solidFill>
                  <a:srgbClr val="FF7A00"/>
                </a:solidFill>
                <a:latin typeface="Consolas"/>
              </a:rPr>
              <a:t>72 GEBRUIKELIJKE ZORG</a:t>
            </a:r>
          </a:p>
        </p:txBody>
      </p:sp>
      <p:sp>
        <p:nvSpPr>
          <p:cNvPr id="151" name="TextBox 150"/>
          <p:cNvSpPr txBox="1"/>
          <p:nvPr/>
        </p:nvSpPr>
        <p:spPr>
          <a:xfrm>
            <a:off x="6857828" y="1816054"/>
            <a:ext cx="4698882" cy="1587460"/>
          </a:xfrm>
          <a:prstGeom prst="rect">
            <a:avLst/>
          </a:prstGeom>
          <a:noFill/>
        </p:spPr>
        <p:txBody>
          <a:bodyPr wrap="square" anchor="t" lIns="0" rIns="0" tIns="0" bIns="0">
            <a:spAutoFit/>
          </a:bodyPr>
          <a:lstStyle/>
          <a:p>
            <a:pPr algn="l">
              <a:lnSpc>
                <a:spcPct val="130000"/>
              </a:lnSpc>
            </a:pPr>
            <a:r>
              <a:rPr sz="3000" b="1">
                <a:solidFill>
                  <a:srgbClr val="F2F8FC"/>
                </a:solidFill>
                <a:latin typeface="Segoe UI"/>
              </a:rPr>
              <a:t>Elke stip is een patiënt die u zelf includeert.</a:t>
            </a:r>
          </a:p>
          <a:p>
            <a:pPr algn="l">
              <a:lnSpc>
                <a:spcPct val="130000"/>
              </a:lnSpc>
              <a:spcBef>
                <a:spcPts val="500"/>
              </a:spcBef>
            </a:pPr>
            <a:r>
              <a:rPr sz="3000" b="1">
                <a:solidFill>
                  <a:srgbClr val="F2F8FC"/>
                </a:solidFill>
                <a:latin typeface="Segoe UI"/>
              </a:rPr>
              <a:t>24 per kliniek.</a:t>
            </a:r>
          </a:p>
        </p:txBody>
      </p:sp>
      <p:sp>
        <p:nvSpPr>
          <p:cNvPr id="152" name="Rounded Rectangle 151"/>
          <p:cNvSpPr/>
          <p:nvPr/>
        </p:nvSpPr>
        <p:spPr>
          <a:xfrm>
            <a:off x="634984"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825479"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PER CENTRUM</a:t>
            </a:r>
          </a:p>
        </p:txBody>
      </p:sp>
      <p:sp>
        <p:nvSpPr>
          <p:cNvPr id="154" name="TextBox 153"/>
          <p:cNvSpPr txBox="1"/>
          <p:nvPr/>
        </p:nvSpPr>
        <p:spPr>
          <a:xfrm>
            <a:off x="825479"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24 deelnemers — 12 PARADISE en 12 gebruikelijke zorg</a:t>
            </a:r>
          </a:p>
        </p:txBody>
      </p:sp>
      <p:sp>
        <p:nvSpPr>
          <p:cNvPr id="155" name="Rounded Rectangle 154"/>
          <p:cNvSpPr/>
          <p:nvPr/>
        </p:nvSpPr>
        <p:spPr>
          <a:xfrm>
            <a:off x="6171918"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362413"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CONTROLEGROEP</a:t>
            </a:r>
          </a:p>
        </p:txBody>
      </p:sp>
      <p:sp>
        <p:nvSpPr>
          <p:cNvPr id="157" name="TextBox 156"/>
          <p:cNvSpPr txBox="1"/>
          <p:nvPr/>
        </p:nvSpPr>
        <p:spPr>
          <a:xfrm>
            <a:off x="6362413"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Gebruikelijke zorg, onveranderd</a:t>
            </a:r>
          </a:p>
        </p:txBody>
      </p:sp>
      <p:sp>
        <p:nvSpPr>
          <p:cNvPr id="158" name="Rounded Rectangle 157"/>
          <p:cNvSpPr/>
          <p:nvPr/>
        </p:nvSpPr>
        <p:spPr>
          <a:xfrm>
            <a:off x="634984"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825479"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CO-PRIMAIR</a:t>
            </a:r>
          </a:p>
        </p:txBody>
      </p:sp>
      <p:sp>
        <p:nvSpPr>
          <p:cNvPr id="160" name="TextBox 159"/>
          <p:cNvSpPr txBox="1"/>
          <p:nvPr/>
        </p:nvSpPr>
        <p:spPr>
          <a:xfrm>
            <a:off x="825479"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Recidief op 18 maanden, draagtijd op 12</a:t>
            </a:r>
          </a:p>
        </p:txBody>
      </p:sp>
      <p:sp>
        <p:nvSpPr>
          <p:cNvPr id="161" name="Rounded Rectangle 160"/>
          <p:cNvSpPr/>
          <p:nvPr/>
        </p:nvSpPr>
        <p:spPr>
          <a:xfrm>
            <a:off x="6171918"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362413"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POSITIEF</a:t>
            </a:r>
          </a:p>
        </p:txBody>
      </p:sp>
      <p:sp>
        <p:nvSpPr>
          <p:cNvPr id="163" name="TextBox 162"/>
          <p:cNvSpPr txBox="1"/>
          <p:nvPr/>
        </p:nvSpPr>
        <p:spPr>
          <a:xfrm>
            <a:off x="6362413"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Alleen als béíde eindpunten halen</a:t>
            </a:r>
          </a:p>
        </p:txBody>
      </p:sp>
      <p:sp>
        <p:nvSpPr>
          <p:cNvPr id="164" name="Rectangle 163"/>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634984" y="5575160"/>
            <a:ext cx="5714857" cy="215894"/>
          </a:xfrm>
          <a:prstGeom prst="rect">
            <a:avLst/>
          </a:prstGeom>
          <a:noFill/>
        </p:spPr>
        <p:txBody>
          <a:bodyPr wrap="square" anchor="t" lIns="0" rIns="0" tIns="0" bIns="0">
            <a:spAutoFit/>
          </a:bodyPr>
          <a:lstStyle/>
          <a:p>
            <a:pPr algn="l">
              <a:lnSpc>
                <a:spcPct val="125000"/>
              </a:lnSpc>
            </a:pPr>
            <a:r>
              <a:rPr sz="1200" b="1" spc="140">
                <a:solidFill>
                  <a:srgbClr val="8FB6D0"/>
                </a:solidFill>
                <a:latin typeface="Consolas"/>
              </a:rPr>
              <a:t>DE ZES DEELNEMENDE VOETKLINIEKEN</a:t>
            </a:r>
          </a:p>
        </p:txBody>
      </p:sp>
      <p:sp>
        <p:nvSpPr>
          <p:cNvPr id="166" name="Rounded Rectangle 165"/>
          <p:cNvSpPr/>
          <p:nvPr/>
        </p:nvSpPr>
        <p:spPr>
          <a:xfrm>
            <a:off x="634984"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634984"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AZORG</a:t>
            </a:r>
          </a:p>
        </p:txBody>
      </p:sp>
      <p:sp>
        <p:nvSpPr>
          <p:cNvPr id="168" name="Rounded Rectangle 167"/>
          <p:cNvSpPr/>
          <p:nvPr/>
        </p:nvSpPr>
        <p:spPr>
          <a:xfrm>
            <a:off x="2463738"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2463738"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Sint-Jan Brugge</a:t>
            </a:r>
          </a:p>
        </p:txBody>
      </p:sp>
      <p:sp>
        <p:nvSpPr>
          <p:cNvPr id="170" name="Rounded Rectangle 169"/>
          <p:cNvSpPr/>
          <p:nvPr/>
        </p:nvSpPr>
        <p:spPr>
          <a:xfrm>
            <a:off x="4292492"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4292492"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Groeninge</a:t>
            </a:r>
          </a:p>
        </p:txBody>
      </p:sp>
      <p:sp>
        <p:nvSpPr>
          <p:cNvPr id="172" name="Rounded Rectangle 171"/>
          <p:cNvSpPr/>
          <p:nvPr/>
        </p:nvSpPr>
        <p:spPr>
          <a:xfrm>
            <a:off x="6121246"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121246"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Gent</a:t>
            </a:r>
          </a:p>
        </p:txBody>
      </p:sp>
      <p:sp>
        <p:nvSpPr>
          <p:cNvPr id="174" name="Rounded Rectangle 173"/>
          <p:cNvSpPr/>
          <p:nvPr/>
        </p:nvSpPr>
        <p:spPr>
          <a:xfrm>
            <a:off x="7950001"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7950001"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Leuven</a:t>
            </a:r>
          </a:p>
        </p:txBody>
      </p:sp>
      <p:sp>
        <p:nvSpPr>
          <p:cNvPr id="176" name="Rounded Rectangle 175"/>
          <p:cNvSpPr/>
          <p:nvPr/>
        </p:nvSpPr>
        <p:spPr>
          <a:xfrm>
            <a:off x="9778755"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9778755"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Antwerpen</a:t>
            </a:r>
          </a:p>
        </p:txBody>
      </p:sp>
      <p:sp>
        <p:nvSpPr>
          <p:cNvPr id="178" name="TextBox 17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02 / 16</a:t>
            </a:r>
          </a:p>
        </p:txBody>
      </p:sp>
      <p:pic>
        <p:nvPicPr>
          <p:cNvPr id="179"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80" name="TextBox 179"/>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20 · Morbach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571485" y="-444488"/>
            <a:ext cx="5714857" cy="2920926"/>
          </a:xfrm>
          <a:prstGeom prst="rect">
            <a:avLst/>
          </a:prstGeom>
          <a:noFill/>
        </p:spPr>
        <p:txBody>
          <a:bodyPr wrap="none" anchor="t" lIns="0" rIns="0" tIns="0" bIns="0">
            <a:spAutoFit/>
          </a:bodyPr>
          <a:lstStyle/>
          <a:p>
            <a:pPr algn="l">
              <a:lnSpc>
                <a:spcPct val="82000"/>
              </a:lnSpc>
            </a:pPr>
            <a:r>
              <a:rPr sz="26000" b="1">
                <a:gradFill>
                  <a:gsLst>
                    <a:gs pos="0">
                      <a:srgbClr val="52BDEC"/>
                    </a:gs>
                    <a:gs pos="100000">
                      <a:srgbClr val="FF7A00"/>
                    </a:gs>
                  </a:gsLst>
                  <a:lin ang="2700000" scaled="0"/>
                </a:gradFill>
                <a:latin typeface="Segoe UI"/>
              </a:rPr>
              <a:t>01</a:t>
            </a:r>
          </a:p>
        </p:txBody>
      </p:sp>
      <p:sp>
        <p:nvSpPr>
          <p:cNvPr id="5"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Waarom zo</a:t>
            </a:r>
          </a:p>
        </p:txBody>
      </p:sp>
      <p:sp>
        <p:nvSpPr>
          <p:cNvPr id="6" name="TextBox 5"/>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Vier cijfers verklaren waarom er twee normen zijn.</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03 / 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FF7A00">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FF7A00"/>
                </a:solidFill>
                <a:latin typeface="Segoe UI"/>
              </a:rPr>
              <a:t>40</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FF7A00"/>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krijgt binnen een jaar</a:t>
            </a:r>
          </a:p>
          <a:p>
            <a:pPr algn="l">
              <a:lnSpc>
                <a:spcPct val="120000"/>
              </a:lnSpc>
              <a:spcBef>
                <a:spcPts val="500"/>
              </a:spcBef>
            </a:pPr>
            <a:r>
              <a:rPr sz="3200" b="1">
                <a:solidFill>
                  <a:srgbClr val="F2F8FC"/>
                </a:solidFill>
                <a:latin typeface="Segoe UI"/>
              </a:rPr>
              <a:t>een nieuw ulcus</a:t>
            </a:r>
          </a:p>
        </p:txBody>
      </p:sp>
      <p:sp>
        <p:nvSpPr>
          <p:cNvPr id="7" name="Rounded Rectangle 6"/>
          <p:cNvSpPr/>
          <p:nvPr/>
        </p:nvSpPr>
        <p:spPr>
          <a:xfrm>
            <a:off x="8017563" y="1142971"/>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0758" y="1320766"/>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65%</a:t>
            </a:r>
          </a:p>
        </p:txBody>
      </p:sp>
      <p:sp>
        <p:nvSpPr>
          <p:cNvPr id="9" name="TextBox 8"/>
          <p:cNvSpPr txBox="1"/>
          <p:nvPr/>
        </p:nvSpPr>
        <p:spPr>
          <a:xfrm>
            <a:off x="8233458" y="1930351"/>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NA VIJF JAAR</a:t>
            </a:r>
          </a:p>
        </p:txBody>
      </p:sp>
      <p:sp>
        <p:nvSpPr>
          <p:cNvPr id="10" name="Rounded Rectangle 9"/>
          <p:cNvSpPr/>
          <p:nvPr/>
        </p:nvSpPr>
        <p:spPr>
          <a:xfrm>
            <a:off x="8017563" y="2514537"/>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0758" y="2692332"/>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2,5×</a:t>
            </a:r>
          </a:p>
        </p:txBody>
      </p:sp>
      <p:sp>
        <p:nvSpPr>
          <p:cNvPr id="12" name="TextBox 11"/>
          <p:cNvSpPr txBox="1"/>
          <p:nvPr/>
        </p:nvSpPr>
        <p:spPr>
          <a:xfrm>
            <a:off x="8233458" y="3301917"/>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HOGERE STERFTE</a:t>
            </a:r>
          </a:p>
        </p:txBody>
      </p:sp>
      <p:sp>
        <p:nvSpPr>
          <p:cNvPr id="13" name="Rounded Rectangle 12"/>
          <p:cNvSpPr/>
          <p:nvPr/>
        </p:nvSpPr>
        <p:spPr>
          <a:xfrm>
            <a:off x="8017563" y="3886102"/>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0758" y="4063898"/>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&gt; 70%</a:t>
            </a:r>
          </a:p>
        </p:txBody>
      </p:sp>
      <p:sp>
        <p:nvSpPr>
          <p:cNvPr id="15" name="TextBox 14"/>
          <p:cNvSpPr txBox="1"/>
          <p:nvPr/>
        </p:nvSpPr>
        <p:spPr>
          <a:xfrm>
            <a:off x="8233458" y="4673483"/>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STERFTE NA AMPUTATIE</a:t>
            </a:r>
          </a:p>
        </p:txBody>
      </p:sp>
      <p:sp>
        <p:nvSpPr>
          <p:cNvPr id="16" name="TextBox 15"/>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Armstrong, Boulton &amp; Bus · N Engl J Med 2017</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04 / 16</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7828"/>
          </a:xfrm>
          <a:prstGeom prst="rect">
            <a:avLst/>
          </a:prstGeom>
          <a:gradFill rotWithShape="1">
            <a:gsLst>
              <a:gs pos="0">
                <a:srgbClr val="FF7A00"/>
              </a:gs>
              <a:gs pos="100000">
                <a:srgbClr val="FF7A00"/>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6200" b="1">
                <a:solidFill>
                  <a:srgbClr val="04182A"/>
                </a:solidFill>
                <a:latin typeface="Segoe UI"/>
              </a:rPr>
              <a:t>Driekwart is te voorkomen.</a:t>
            </a:r>
          </a:p>
          <a:p>
            <a:pPr algn="l">
              <a:lnSpc>
                <a:spcPct val="106000"/>
              </a:lnSpc>
              <a:spcBef>
                <a:spcPts val="500"/>
              </a:spcBef>
            </a:pPr>
            <a:r>
              <a:rPr sz="6200" b="1">
                <a:solidFill>
                  <a:srgbClr val="04182A"/>
                </a:solidFill>
                <a:latin typeface="Segoe UI"/>
              </a:rPr>
              <a:t>Veertig procent komt terug.</a:t>
            </a:r>
          </a:p>
        </p:txBody>
      </p:sp>
      <p:sp>
        <p:nvSpPr>
          <p:cNvPr id="5" name="TextBox 4"/>
          <p:cNvSpPr txBox="1"/>
          <p:nvPr/>
        </p:nvSpPr>
        <p:spPr>
          <a:xfrm>
            <a:off x="977875" y="6006949"/>
            <a:ext cx="9524761" cy="279393"/>
          </a:xfrm>
          <a:prstGeom prst="rect">
            <a:avLst/>
          </a:prstGeom>
          <a:noFill/>
        </p:spPr>
        <p:txBody>
          <a:bodyPr wrap="square" anchor="t" lIns="0" rIns="0" tIns="0" bIns="0">
            <a:spAutoFit/>
          </a:bodyPr>
          <a:lstStyle/>
          <a:p>
            <a:pPr algn="l">
              <a:lnSpc>
                <a:spcPct val="125000"/>
              </a:lnSpc>
            </a:pPr>
            <a:r>
              <a:rPr sz="1700" b="0">
                <a:solidFill>
                  <a:srgbClr val="04182A"/>
                </a:solidFill>
                <a:latin typeface="Consolas"/>
              </a:rPr>
              <a:t>Dat gat is waar deze studie over gaat.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MECHANISME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Belasting is een product,</a:t>
            </a:r>
          </a:p>
          <a:p>
            <a:pPr algn="l">
              <a:lnSpc>
                <a:spcPct val="110000"/>
              </a:lnSpc>
              <a:spcBef>
                <a:spcPts val="500"/>
              </a:spcBef>
            </a:pPr>
            <a:r>
              <a:rPr sz="4000" b="1">
                <a:solidFill>
                  <a:srgbClr val="F2F8FC"/>
                </a:solidFill>
                <a:latin typeface="Segoe UI"/>
              </a:rPr>
              <a:t>geen optelsom</a:t>
            </a:r>
          </a:p>
        </p:txBody>
      </p:sp>
      <p:sp>
        <p:nvSpPr>
          <p:cNvPr id="5" name="Rounded Rectangle 4"/>
          <p:cNvSpPr/>
          <p:nvPr/>
        </p:nvSpPr>
        <p:spPr>
          <a:xfrm>
            <a:off x="634984"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47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Piekdruk</a:t>
            </a:r>
          </a:p>
        </p:txBody>
      </p:sp>
      <p:sp>
        <p:nvSpPr>
          <p:cNvPr id="7" name="TextBox 6"/>
          <p:cNvSpPr txBox="1"/>
          <p:nvPr/>
        </p:nvSpPr>
        <p:spPr>
          <a:xfrm>
            <a:off x="82547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per stap</a:t>
            </a:r>
          </a:p>
        </p:txBody>
      </p:sp>
      <p:sp>
        <p:nvSpPr>
          <p:cNvPr id="8" name="Rounded Rectangle 7"/>
          <p:cNvSpPr/>
          <p:nvPr/>
        </p:nvSpPr>
        <p:spPr>
          <a:xfrm>
            <a:off x="825479"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47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BIJGESTUURD</a:t>
            </a:r>
          </a:p>
        </p:txBody>
      </p:sp>
      <p:sp>
        <p:nvSpPr>
          <p:cNvPr id="10" name="TextBox 9"/>
          <p:cNvSpPr txBox="1"/>
          <p:nvPr/>
        </p:nvSpPr>
        <p:spPr>
          <a:xfrm>
            <a:off x="3869085"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1" name="Rounded Rectangle 10"/>
          <p:cNvSpPr/>
          <p:nvPr/>
        </p:nvSpPr>
        <p:spPr>
          <a:xfrm>
            <a:off x="432627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676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Activiteit</a:t>
            </a:r>
          </a:p>
        </p:txBody>
      </p:sp>
      <p:sp>
        <p:nvSpPr>
          <p:cNvPr id="13" name="TextBox 12"/>
          <p:cNvSpPr txBox="1"/>
          <p:nvPr/>
        </p:nvSpPr>
        <p:spPr>
          <a:xfrm>
            <a:off x="451676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stappen per dag</a:t>
            </a:r>
          </a:p>
        </p:txBody>
      </p:sp>
      <p:sp>
        <p:nvSpPr>
          <p:cNvPr id="14" name="Rounded Rectangle 13"/>
          <p:cNvSpPr/>
          <p:nvPr/>
        </p:nvSpPr>
        <p:spPr>
          <a:xfrm>
            <a:off x="4516769" y="3797205"/>
            <a:ext cx="1015974"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676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8FB6D0"/>
                </a:solidFill>
                <a:latin typeface="Consolas"/>
              </a:rPr>
              <a:t>GEMETEN</a:t>
            </a:r>
          </a:p>
        </p:txBody>
      </p:sp>
      <p:sp>
        <p:nvSpPr>
          <p:cNvPr id="16" name="TextBox 15"/>
          <p:cNvSpPr txBox="1"/>
          <p:nvPr/>
        </p:nvSpPr>
        <p:spPr>
          <a:xfrm>
            <a:off x="7560374"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7" name="Rounded Rectangle 16"/>
          <p:cNvSpPr/>
          <p:nvPr/>
        </p:nvSpPr>
        <p:spPr>
          <a:xfrm>
            <a:off x="801756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8058"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Draagtijd</a:t>
            </a:r>
          </a:p>
        </p:txBody>
      </p:sp>
      <p:sp>
        <p:nvSpPr>
          <p:cNvPr id="19" name="TextBox 18"/>
          <p:cNvSpPr txBox="1"/>
          <p:nvPr/>
        </p:nvSpPr>
        <p:spPr>
          <a:xfrm>
            <a:off x="8208058"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wérd hij gedragen</a:t>
            </a:r>
          </a:p>
        </p:txBody>
      </p:sp>
      <p:sp>
        <p:nvSpPr>
          <p:cNvPr id="20" name="Rounded Rectangle 19"/>
          <p:cNvSpPr/>
          <p:nvPr/>
        </p:nvSpPr>
        <p:spPr>
          <a:xfrm>
            <a:off x="8208058"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8058"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BIJGESTUURD</a:t>
            </a:r>
          </a:p>
        </p:txBody>
      </p:sp>
      <p:sp>
        <p:nvSpPr>
          <p:cNvPr id="22" name="TextBox 21"/>
          <p:cNvSpPr txBox="1"/>
          <p:nvPr/>
        </p:nvSpPr>
        <p:spPr>
          <a:xfrm>
            <a:off x="634984" y="4889377"/>
            <a:ext cx="10921726" cy="571485"/>
          </a:xfrm>
          <a:prstGeom prst="rect">
            <a:avLst/>
          </a:prstGeom>
          <a:noFill/>
        </p:spPr>
        <p:txBody>
          <a:bodyPr wrap="square" anchor="t" lIns="0" rIns="0" tIns="0" bIns="0">
            <a:spAutoFit/>
          </a:bodyPr>
          <a:lstStyle/>
          <a:p>
            <a:pPr algn="l">
              <a:lnSpc>
                <a:spcPct val="140000"/>
              </a:lnSpc>
            </a:pPr>
            <a:r>
              <a:rPr sz="2000" b="0">
                <a:solidFill>
                  <a:srgbClr val="8FB6D0"/>
                </a:solidFill>
                <a:latin typeface="Segoe UI"/>
              </a:rPr>
              <a:t>Eén factor op nul maakt het product nul. Daarom heeft PARADISE twee normen: een druknorm én een draagtijdnorm.</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06 / 16</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14 · van Netten 2018   |   16 · Hulshof 2025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PARADISE ANDERS DOET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Eén dienst, geen drie losse maatregelen</a:t>
            </a:r>
          </a:p>
        </p:txBody>
      </p:sp>
      <p:sp>
        <p:nvSpPr>
          <p:cNvPr id="5" name="Rounded Rectangle 4"/>
          <p:cNvSpPr/>
          <p:nvPr/>
        </p:nvSpPr>
        <p:spPr>
          <a:xfrm>
            <a:off x="634984"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977"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De zool háált de norm</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&lt; 200 kPa óf 25% lager</a:t>
            </a:r>
          </a:p>
        </p:txBody>
      </p:sp>
      <p:sp>
        <p:nvSpPr>
          <p:cNvPr id="10" name="TextBox 9"/>
          <p:cNvSpPr txBox="1"/>
          <p:nvPr/>
        </p:nvSpPr>
        <p:spPr>
          <a:xfrm>
            <a:off x="888977"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Gemeten bij de aflevering, in drie condities.</a:t>
            </a:r>
          </a:p>
          <a:p>
            <a:pPr algn="l">
              <a:lnSpc>
                <a:spcPct val="132000"/>
              </a:lnSpc>
              <a:spcBef>
                <a:spcPts val="1200"/>
              </a:spcBef>
            </a:pPr>
            <a:r>
              <a:rPr sz="1450" b="0">
                <a:solidFill>
                  <a:srgbClr val="8FB6D0"/>
                </a:solidFill>
                <a:latin typeface="Segoe UI"/>
              </a:rPr>
              <a:t>Aangepast tot de norm gehaald is in elk van de drie doelregio's.</a:t>
            </a:r>
          </a:p>
          <a:p>
            <a:pPr algn="l">
              <a:lnSpc>
                <a:spcPct val="132000"/>
              </a:lnSpc>
              <a:spcBef>
                <a:spcPts val="1200"/>
              </a:spcBef>
            </a:pPr>
            <a:r>
              <a:rPr sz="1450" b="0">
                <a:solidFill>
                  <a:srgbClr val="8FB6D0"/>
                </a:solidFill>
                <a:latin typeface="Segoe UI"/>
              </a:rPr>
              <a:t>Herhaald op maand 6, 12 en 18.</a:t>
            </a:r>
          </a:p>
        </p:txBody>
      </p:sp>
      <p:sp>
        <p:nvSpPr>
          <p:cNvPr id="11" name="Rounded Rectangle 10"/>
          <p:cNvSpPr/>
          <p:nvPr/>
        </p:nvSpPr>
        <p:spPr>
          <a:xfrm>
            <a:off x="6171918"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912"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En hij wórdt gedragen</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912"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80% van zijn eigen activiteitenprofiel</a:t>
            </a:r>
          </a:p>
        </p:txBody>
      </p:sp>
      <p:sp>
        <p:nvSpPr>
          <p:cNvPr id="16" name="TextBox 15"/>
          <p:cNvSpPr txBox="1"/>
          <p:nvPr/>
        </p:nvSpPr>
        <p:spPr>
          <a:xfrm>
            <a:off x="6425912"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Een sensor in de zool meet de draagtijd, continu.</a:t>
            </a:r>
          </a:p>
          <a:p>
            <a:pPr algn="l">
              <a:lnSpc>
                <a:spcPct val="132000"/>
              </a:lnSpc>
              <a:spcBef>
                <a:spcPts val="1200"/>
              </a:spcBef>
            </a:pPr>
            <a:r>
              <a:rPr sz="1450" b="0">
                <a:solidFill>
                  <a:srgbClr val="8FB6D0"/>
                </a:solidFill>
                <a:latin typeface="Segoe UI"/>
              </a:rPr>
              <a:t>Elke drie maanden uitgelezen en samen bekeken.</a:t>
            </a:r>
          </a:p>
          <a:p>
            <a:pPr algn="l">
              <a:lnSpc>
                <a:spcPct val="132000"/>
              </a:lnSpc>
              <a:spcBef>
                <a:spcPts val="1200"/>
              </a:spcBef>
            </a:pPr>
            <a:r>
              <a:rPr sz="1450" b="0">
                <a:solidFill>
                  <a:srgbClr val="8FB6D0"/>
                </a:solidFill>
                <a:latin typeface="Segoe UI"/>
              </a:rPr>
              <a:t>Vijf gesprekken die op die data staan, niet op goede raad.</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07 / 16</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   |   17 · Waaijman 2014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BASELINE · BLOOTSVOETS</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Elke sensor een cijfer</a:t>
            </a:r>
          </a:p>
        </p:txBody>
      </p:sp>
      <p:sp>
        <p:nvSpPr>
          <p:cNvPr id="5" name="!!p00_07"/>
          <p:cNvSpPr/>
          <p:nvPr/>
        </p:nvSpPr>
        <p:spPr>
          <a:xfrm>
            <a:off x="1585505" y="5645727"/>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A7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3BA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2191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668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E3F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54B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54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34A1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E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E4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4DB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4DB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42A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3A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1F8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97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45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16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049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145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1561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25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0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35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B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7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51B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2E9D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A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62B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FFB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F4D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9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5DB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DBC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FF8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FFA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1C8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36A4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9CC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FFD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FFA9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876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7D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BDC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FFB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F7D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85C3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4FB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0F44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D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1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20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FF7A00"/>
                </a:solidFill>
                <a:latin typeface="Segoe UI"/>
              </a:rPr>
              <a:t>312</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FF7A00"/>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piekdruk op metatarsaal 2-3</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Norm:  &lt; 200 kPa   óf   ≥ 25% lager</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Baseline meet u blootsvoets: de sensoren gaan met dubbelzijdige tape rechtstreeks op de voet, daarover een standaardkous.</a:t>
            </a:r>
          </a:p>
          <a:p>
            <a:pPr algn="l">
              <a:lnSpc>
                <a:spcPct val="135000"/>
              </a:lnSpc>
              <a:spcBef>
                <a:spcPts val="1200"/>
              </a:spcBef>
            </a:pPr>
            <a:r>
              <a:rPr sz="1700" b="0">
                <a:solidFill>
                  <a:srgbClr val="8FB6D0"/>
                </a:solidFill>
                <a:latin typeface="Segoe UI"/>
              </a:rPr>
              <a:t>Drie metingen per voet, links en rechts apart. Daaruit berekent de software één gemiddeld piekdrukbeeld.</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09 · Meting plantaire druk, baseline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08 / 16</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   |   27 · Zwaferink 2024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NA OPTIMALISATIE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Wanneer is het goed genoeg</a:t>
            </a:r>
          </a:p>
        </p:txBody>
      </p:sp>
      <p:sp>
        <p:nvSpPr>
          <p:cNvPr id="5" name="!!p00_07"/>
          <p:cNvSpPr/>
          <p:nvPr/>
        </p:nvSpPr>
        <p:spPr>
          <a:xfrm>
            <a:off x="1585505" y="5645727"/>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32A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5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38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39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2796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37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3A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6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C8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97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F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7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2B9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9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76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309E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A7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66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26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2A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34A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2B9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30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44B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38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4DB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1C88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4CB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4CB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1E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43A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40A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2C9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7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B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82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C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82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52BDEC"/>
                </a:solidFill>
                <a:latin typeface="Segoe UI"/>
              </a:rPr>
              <a:t>186</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52BDEC"/>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piekdruk in de doelregio na aanpassing</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40% lager  ·  onder 200 kPa  ·  beide criteria gehaald</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De norm geldt per doelregio: piekdruk onder 200 kPa óf minstens 25% lager dan de baselinemeting van diezelfde regio.</a:t>
            </a:r>
          </a:p>
          <a:p>
            <a:pPr algn="l">
              <a:lnSpc>
                <a:spcPct val="135000"/>
              </a:lnSpc>
              <a:spcBef>
                <a:spcPts val="1200"/>
              </a:spcBef>
            </a:pPr>
            <a:r>
              <a:rPr sz="1700" b="0">
                <a:solidFill>
                  <a:srgbClr val="8FB6D0"/>
                </a:solidFill>
                <a:latin typeface="Segoe UI"/>
              </a:rPr>
              <a:t>Haalt u de norm niet, dan past u aan en meet u opnieuw. Het formulier voorziet twee extra ontlastingstests.</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24 · Meting drukherverdeling voetorthese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09 / 16</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7828"/>
          </a:xfrm>
          <a:prstGeom prst="rect">
            <a:avLst/>
          </a:prstGeom>
          <a:gradFill rotWithShape="1">
            <a:gsLst>
              <a:gs pos="0">
                <a:srgbClr val="FF7A00"/>
              </a:gs>
              <a:gs pos="100000">
                <a:srgbClr val="FF7A00"/>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7200" b="1">
                <a:solidFill>
                  <a:srgbClr val="04182A"/>
                </a:solidFill>
                <a:latin typeface="Segoe UI"/>
              </a:rPr>
              <a:t>Niet minder belasting.</a:t>
            </a:r>
          </a:p>
          <a:p>
            <a:pPr algn="l">
              <a:lnSpc>
                <a:spcPct val="106000"/>
              </a:lnSpc>
              <a:spcBef>
                <a:spcPts val="500"/>
              </a:spcBef>
            </a:pPr>
            <a:r>
              <a:rPr sz="7200" b="1">
                <a:solidFill>
                  <a:srgbClr val="04182A"/>
                </a:solidFill>
                <a:latin typeface="Segoe UI"/>
              </a:rPr>
              <a:t>Belasting op een plek die het aankan.</a:t>
            </a:r>
          </a:p>
        </p:txBody>
      </p:sp>
      <p:sp>
        <p:nvSpPr>
          <p:cNvPr id="5" name="TextBox 4"/>
          <p:cNvSpPr txBox="1"/>
          <p:nvPr/>
        </p:nvSpPr>
        <p:spPr>
          <a:xfrm>
            <a:off x="977875" y="6006949"/>
            <a:ext cx="9524761" cy="279393"/>
          </a:xfrm>
          <a:prstGeom prst="rect">
            <a:avLst/>
          </a:prstGeom>
          <a:noFill/>
        </p:spPr>
        <p:txBody>
          <a:bodyPr wrap="square" anchor="t" lIns="0" rIns="0" tIns="0" bIns="0">
            <a:spAutoFit/>
          </a:bodyPr>
          <a:lstStyle/>
          <a:p>
            <a:pPr algn="l">
              <a:lnSpc>
                <a:spcPct val="125000"/>
              </a:lnSpc>
            </a:pPr>
            <a:r>
              <a:rPr sz="1700" b="0">
                <a:solidFill>
                  <a:srgbClr val="04182A"/>
                </a:solidFill>
                <a:latin typeface="Consolas"/>
              </a:rPr>
              <a:t>Dat is de hele interventie.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355591"/>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TRAJECT</a:t>
            </a:r>
          </a:p>
        </p:txBody>
      </p:sp>
      <p:sp>
        <p:nvSpPr>
          <p:cNvPr id="4" name="!!sectietitel"/>
          <p:cNvSpPr txBox="1"/>
          <p:nvPr/>
        </p:nvSpPr>
        <p:spPr>
          <a:xfrm>
            <a:off x="634984" y="609584"/>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Screening plus negen visites</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and0"/>
          <p:cNvSpPr txBox="1"/>
          <p:nvPr/>
        </p:nvSpPr>
        <p:spPr>
          <a:xfrm>
            <a:off x="634984" y="2133546"/>
            <a:ext cx="1092172" cy="279393"/>
          </a:xfrm>
          <a:prstGeom prst="rect">
            <a:avLst/>
          </a:prstGeom>
          <a:noFill/>
        </p:spPr>
        <p:txBody>
          <a:bodyPr wrap="square" anchor="t" lIns="0" rIns="0" tIns="0" bIns="0">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geschiktheid</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and1"/>
          <p:cNvSpPr txBox="1"/>
          <p:nvPr/>
        </p:nvSpPr>
        <p:spPr>
          <a:xfrm>
            <a:off x="1727156"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loting</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and2"/>
          <p:cNvSpPr txBox="1"/>
          <p:nvPr/>
        </p:nvSpPr>
        <p:spPr>
          <a:xfrm>
            <a:off x="2819329"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and3"/>
          <p:cNvSpPr txBox="1"/>
          <p:nvPr/>
        </p:nvSpPr>
        <p:spPr>
          <a:xfrm>
            <a:off x="391150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zool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and4"/>
          <p:cNvSpPr txBox="1"/>
          <p:nvPr/>
        </p:nvSpPr>
        <p:spPr>
          <a:xfrm>
            <a:off x="5003674"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aand5"/>
          <p:cNvSpPr txBox="1"/>
          <p:nvPr/>
        </p:nvSpPr>
        <p:spPr>
          <a:xfrm>
            <a:off x="6095847"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and6"/>
          <p:cNvSpPr txBox="1"/>
          <p:nvPr/>
        </p:nvSpPr>
        <p:spPr>
          <a:xfrm>
            <a:off x="7188020"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and7"/>
          <p:cNvSpPr txBox="1"/>
          <p:nvPr/>
        </p:nvSpPr>
        <p:spPr>
          <a:xfrm>
            <a:off x="828019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aand8"/>
          <p:cNvSpPr txBox="1"/>
          <p:nvPr/>
        </p:nvSpPr>
        <p:spPr>
          <a:xfrm>
            <a:off x="9372365"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aand9"/>
          <p:cNvSpPr txBox="1"/>
          <p:nvPr/>
        </p:nvSpPr>
        <p:spPr>
          <a:xfrm>
            <a:off x="10464538"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 + einde</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878"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meetmoment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90815"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begeleiding</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0751"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start en afronding</a:t>
            </a:r>
          </a:p>
        </p:txBody>
      </p:sp>
      <p:sp>
        <p:nvSpPr>
          <p:cNvPr id="43" name="!!camera"/>
          <p:cNvSpPr txBox="1"/>
          <p:nvPr/>
        </p:nvSpPr>
        <p:spPr>
          <a:xfrm>
            <a:off x="634984" y="4711582"/>
            <a:ext cx="2031949" cy="1460463"/>
          </a:xfrm>
          <a:prstGeom prst="rect">
            <a:avLst/>
          </a:prstGeom>
          <a:noFill/>
        </p:spPr>
        <p:txBody>
          <a:bodyPr wrap="none" anchor="t" lIns="0" rIns="0" tIns="0" bIns="0">
            <a:spAutoFit/>
          </a:bodyPr>
          <a:lstStyle/>
          <a:p>
            <a:pPr algn="l">
              <a:lnSpc>
                <a:spcPct val="100000"/>
              </a:lnSpc>
            </a:pPr>
            <a:r>
              <a:rPr sz="9600" b="1">
                <a:solidFill>
                  <a:srgbClr val="52BDEC"/>
                </a:solidFill>
                <a:latin typeface="Segoe UI"/>
              </a:rPr>
              <a:t>18</a:t>
            </a:r>
          </a:p>
        </p:txBody>
      </p:sp>
      <p:sp>
        <p:nvSpPr>
          <p:cNvPr id="44" name="TextBox 43"/>
          <p:cNvSpPr txBox="1"/>
          <p:nvPr/>
        </p:nvSpPr>
        <p:spPr>
          <a:xfrm>
            <a:off x="2539936" y="4813179"/>
            <a:ext cx="8889777" cy="419089"/>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maanden, van screening tot afronding</a:t>
            </a:r>
          </a:p>
        </p:txBody>
      </p:sp>
      <p:sp>
        <p:nvSpPr>
          <p:cNvPr id="45" name="TextBox 44"/>
          <p:cNvSpPr txBox="1"/>
          <p:nvPr/>
        </p:nvSpPr>
        <p:spPr>
          <a:xfrm>
            <a:off x="2552636" y="5283067"/>
            <a:ext cx="8889777" cy="952476"/>
          </a:xfrm>
          <a:prstGeom prst="rect">
            <a:avLst/>
          </a:prstGeom>
          <a:noFill/>
        </p:spPr>
        <p:txBody>
          <a:bodyPr wrap="square" anchor="t" lIns="0" rIns="0" tIns="0" bIns="0">
            <a:spAutoFit/>
          </a:bodyPr>
          <a:lstStyle/>
          <a:p>
            <a:pPr algn="l">
              <a:lnSpc>
                <a:spcPct val="140000"/>
              </a:lnSpc>
            </a:pPr>
            <a:r>
              <a:rPr sz="1800" b="0">
                <a:solidFill>
                  <a:srgbClr val="8FB6D0"/>
                </a:solidFill>
                <a:latin typeface="Segoe UI"/>
              </a:rPr>
              <a:t>Visite 0 tot 2 liggen dicht op elkaar: toestemming, baseline, en de zool binnen de maand. Daarna is het ritme elke drie maanden, hetzelfde ritme als de controle die deze patiënten al krijgen.</a:t>
            </a:r>
          </a:p>
        </p:txBody>
      </p:sp>
      <p:sp>
        <p:nvSpPr>
          <p:cNvPr id="46" name="TextBox 4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11 / 16</a:t>
            </a:r>
          </a:p>
        </p:txBody>
      </p:sp>
      <p:pic>
        <p:nvPicPr>
          <p:cNvPr id="4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571485" y="-444488"/>
            <a:ext cx="5714857" cy="2920926"/>
          </a:xfrm>
          <a:prstGeom prst="rect">
            <a:avLst/>
          </a:prstGeom>
          <a:noFill/>
        </p:spPr>
        <p:txBody>
          <a:bodyPr wrap="none" anchor="t" lIns="0" rIns="0" tIns="0" bIns="0">
            <a:spAutoFit/>
          </a:bodyPr>
          <a:lstStyle/>
          <a:p>
            <a:pPr algn="l">
              <a:lnSpc>
                <a:spcPct val="82000"/>
              </a:lnSpc>
            </a:pPr>
            <a:r>
              <a:rPr sz="26000" b="1">
                <a:gradFill>
                  <a:gsLst>
                    <a:gs pos="0">
                      <a:srgbClr val="52BDEC"/>
                    </a:gs>
                    <a:gs pos="100000">
                      <a:srgbClr val="FF7A00"/>
                    </a:gs>
                  </a:gsLst>
                  <a:lin ang="2700000" scaled="0"/>
                </a:gradFill>
                <a:latin typeface="Segoe UI"/>
              </a:rPr>
              <a:t>02</a:t>
            </a:r>
          </a:p>
        </p:txBody>
      </p:sp>
      <p:sp>
        <p:nvSpPr>
          <p:cNvPr id="5"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Toestellen en regels</a:t>
            </a:r>
          </a:p>
        </p:txBody>
      </p:sp>
      <p:sp>
        <p:nvSpPr>
          <p:cNvPr id="6" name="TextBox 5"/>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De instellingen, het gesprek, en de vier regels die vastliggen.</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12 / 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TECHNIEK</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Drie toestellen</a:t>
            </a:r>
          </a:p>
        </p:txBody>
      </p:sp>
      <p:sp>
        <p:nvSpPr>
          <p:cNvPr id="5" name="Rounded Rectangle 4"/>
          <p:cNvSpPr/>
          <p:nvPr/>
        </p:nvSpPr>
        <p:spPr>
          <a:xfrm>
            <a:off x="634984" y="1968450"/>
            <a:ext cx="5384538" cy="400039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dar.png"/>
          <p:cNvPicPr>
            <a:picLocks noChangeAspect="1"/>
          </p:cNvPicPr>
          <p:nvPr/>
        </p:nvPicPr>
        <p:blipFill>
          <a:blip r:embed="rId2"/>
          <a:stretch>
            <a:fillRect/>
          </a:stretch>
        </p:blipFill>
        <p:spPr>
          <a:xfrm>
            <a:off x="2344719" y="2184345"/>
            <a:ext cx="1965067" cy="1663658"/>
          </a:xfrm>
          <a:prstGeom prst="rect">
            <a:avLst/>
          </a:prstGeom>
        </p:spPr>
      </p:pic>
      <p:sp>
        <p:nvSpPr>
          <p:cNvPr id="7" name="TextBox 6"/>
          <p:cNvSpPr txBox="1"/>
          <p:nvPr/>
        </p:nvSpPr>
        <p:spPr>
          <a:xfrm>
            <a:off x="914377" y="3975000"/>
            <a:ext cx="2412939" cy="444488"/>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Novel pedar</a:t>
            </a:r>
          </a:p>
        </p:txBody>
      </p:sp>
      <p:sp>
        <p:nvSpPr>
          <p:cNvPr id="8" name="TextBox 7"/>
          <p:cNvSpPr txBox="1"/>
          <p:nvPr/>
        </p:nvSpPr>
        <p:spPr>
          <a:xfrm>
            <a:off x="927076" y="4444888"/>
            <a:ext cx="2412939" cy="228594"/>
          </a:xfrm>
          <a:prstGeom prst="rect">
            <a:avLst/>
          </a:prstGeom>
          <a:noFill/>
        </p:spPr>
        <p:txBody>
          <a:bodyPr wrap="square" anchor="t" lIns="0" rIns="0" tIns="0" bIns="0">
            <a:spAutoFit/>
          </a:bodyPr>
          <a:lstStyle/>
          <a:p>
            <a:pPr algn="l">
              <a:lnSpc>
                <a:spcPct val="125000"/>
              </a:lnSpc>
            </a:pPr>
            <a:r>
              <a:rPr sz="1250" b="1" spc="160">
                <a:solidFill>
                  <a:srgbClr val="52BDEC"/>
                </a:solidFill>
                <a:latin typeface="Consolas"/>
              </a:rPr>
              <a:t>DRUK</a:t>
            </a:r>
          </a:p>
        </p:txBody>
      </p:sp>
      <p:sp>
        <p:nvSpPr>
          <p:cNvPr id="9" name="TextBox 8"/>
          <p:cNvSpPr txBox="1"/>
          <p:nvPr/>
        </p:nvSpPr>
        <p:spPr>
          <a:xfrm>
            <a:off x="914377" y="4660783"/>
            <a:ext cx="2412939" cy="380990"/>
          </a:xfrm>
          <a:prstGeom prst="rect">
            <a:avLst/>
          </a:prstGeom>
          <a:noFill/>
        </p:spPr>
        <p:txBody>
          <a:bodyPr wrap="square" anchor="t" lIns="0" rIns="0" tIns="0" bIns="0">
            <a:spAutoFit/>
          </a:bodyPr>
          <a:lstStyle/>
          <a:p>
            <a:pPr algn="l">
              <a:lnSpc>
                <a:spcPct val="100000"/>
              </a:lnSpc>
            </a:pPr>
            <a:r>
              <a:rPr sz="2400" b="1">
                <a:solidFill>
                  <a:srgbClr val="52BDEC"/>
                </a:solidFill>
                <a:latin typeface="Segoe UI"/>
              </a:rPr>
              <a:t>8  voetregio's</a:t>
            </a:r>
          </a:p>
        </p:txBody>
      </p:sp>
      <p:sp>
        <p:nvSpPr>
          <p:cNvPr id="10" name="TextBox 9"/>
          <p:cNvSpPr txBox="1"/>
          <p:nvPr/>
        </p:nvSpPr>
        <p:spPr>
          <a:xfrm>
            <a:off x="914377" y="5079873"/>
            <a:ext cx="2412939" cy="253993"/>
          </a:xfrm>
          <a:prstGeom prst="rect">
            <a:avLst/>
          </a:prstGeom>
          <a:noFill/>
        </p:spPr>
        <p:txBody>
          <a:bodyPr wrap="square" anchor="t" lIns="0" rIns="0" tIns="0" bIns="0">
            <a:spAutoFit/>
          </a:bodyPr>
          <a:lstStyle/>
          <a:p>
            <a:pPr algn="l">
              <a:lnSpc>
                <a:spcPct val="125000"/>
              </a:lnSpc>
            </a:pPr>
            <a:r>
              <a:rPr sz="1300" b="1" spc="130">
                <a:solidFill>
                  <a:srgbClr val="FF7A00"/>
                </a:solidFill>
                <a:latin typeface="Consolas"/>
              </a:rPr>
              <a:t>UW TEAM MEET</a:t>
            </a:r>
          </a:p>
        </p:txBody>
      </p:sp>
      <p:sp>
        <p:nvSpPr>
          <p:cNvPr id="11" name="TextBox 10"/>
          <p:cNvSpPr txBox="1"/>
          <p:nvPr/>
        </p:nvSpPr>
        <p:spPr>
          <a:xfrm>
            <a:off x="3479713" y="3975000"/>
            <a:ext cx="2260416" cy="1879553"/>
          </a:xfrm>
          <a:prstGeom prst="rect">
            <a:avLst/>
          </a:prstGeom>
          <a:noFill/>
        </p:spPr>
        <p:txBody>
          <a:bodyPr wrap="square" anchor="t" lIns="0" rIns="0" tIns="0" bIns="0">
            <a:spAutoFit/>
          </a:bodyPr>
          <a:lstStyle/>
          <a:p>
            <a:pPr algn="l">
              <a:lnSpc>
                <a:spcPct val="130000"/>
              </a:lnSpc>
            </a:pPr>
            <a:r>
              <a:rPr sz="1150" b="0">
                <a:solidFill>
                  <a:srgbClr val="8FB6D0"/>
                </a:solidFill>
                <a:latin typeface="Segoe UI"/>
              </a:rPr>
              <a:t>Blootsvoets met tape, en in de schoen met en zonder zool</a:t>
            </a:r>
          </a:p>
          <a:p>
            <a:pPr algn="l">
              <a:lnSpc>
                <a:spcPct val="130000"/>
              </a:lnSpc>
              <a:spcBef>
                <a:spcPts val="1000"/>
              </a:spcBef>
            </a:pPr>
            <a:r>
              <a:rPr sz="1150" b="0">
                <a:solidFill>
                  <a:srgbClr val="8FB6D0"/>
                </a:solidFill>
                <a:latin typeface="Segoe UI"/>
              </a:rPr>
              <a:t>Trublu-kalibratie minstens elke drie maanden</a:t>
            </a:r>
          </a:p>
          <a:p>
            <a:pPr algn="l">
              <a:lnSpc>
                <a:spcPct val="130000"/>
              </a:lnSpc>
              <a:spcBef>
                <a:spcPts val="1000"/>
              </a:spcBef>
            </a:pPr>
            <a:r>
              <a:rPr sz="1150" b="0">
                <a:solidFill>
                  <a:srgbClr val="8FB6D0"/>
                </a:solidFill>
                <a:latin typeface="Segoe UI"/>
              </a:rPr>
              <a:t>De F-Scan GO is een aparte meting van het studieteam</a:t>
            </a:r>
          </a:p>
        </p:txBody>
      </p:sp>
      <p:sp>
        <p:nvSpPr>
          <p:cNvPr id="12" name="Rounded Rectangle 11"/>
          <p:cNvSpPr/>
          <p:nvPr/>
        </p:nvSpPr>
        <p:spPr>
          <a:xfrm>
            <a:off x="6171918" y="1968450"/>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24314" y="2120846"/>
            <a:ext cx="172715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orthotimer.png"/>
          <p:cNvPicPr>
            <a:picLocks noChangeAspect="1"/>
          </p:cNvPicPr>
          <p:nvPr/>
        </p:nvPicPr>
        <p:blipFill>
          <a:blip r:embed="rId3"/>
          <a:stretch>
            <a:fillRect/>
          </a:stretch>
        </p:blipFill>
        <p:spPr>
          <a:xfrm>
            <a:off x="6387813" y="2629374"/>
            <a:ext cx="1600159" cy="595804"/>
          </a:xfrm>
          <a:prstGeom prst="rect">
            <a:avLst/>
          </a:prstGeom>
        </p:spPr>
      </p:pic>
      <p:sp>
        <p:nvSpPr>
          <p:cNvPr id="15" name="TextBox 14"/>
          <p:cNvSpPr txBox="1"/>
          <p:nvPr/>
        </p:nvSpPr>
        <p:spPr>
          <a:xfrm>
            <a:off x="8241966" y="2133546"/>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Orthotimer</a:t>
            </a:r>
          </a:p>
        </p:txBody>
      </p:sp>
      <p:sp>
        <p:nvSpPr>
          <p:cNvPr id="16" name="TextBox 15"/>
          <p:cNvSpPr txBox="1"/>
          <p:nvPr/>
        </p:nvSpPr>
        <p:spPr>
          <a:xfrm>
            <a:off x="8254666" y="2501837"/>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DRAAGTIJD</a:t>
            </a:r>
          </a:p>
        </p:txBody>
      </p:sp>
      <p:sp>
        <p:nvSpPr>
          <p:cNvPr id="17" name="TextBox 16"/>
          <p:cNvSpPr txBox="1"/>
          <p:nvPr/>
        </p:nvSpPr>
        <p:spPr>
          <a:xfrm>
            <a:off x="8241966" y="2705032"/>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15  minuten</a:t>
            </a:r>
          </a:p>
        </p:txBody>
      </p:sp>
      <p:sp>
        <p:nvSpPr>
          <p:cNvPr id="18" name="TextBox 17"/>
          <p:cNvSpPr txBox="1"/>
          <p:nvPr/>
        </p:nvSpPr>
        <p:spPr>
          <a:xfrm>
            <a:off x="8241966" y="3047923"/>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In de zool, 9 × 13 × 4,5 mm</a:t>
            </a:r>
          </a:p>
          <a:p>
            <a:pPr algn="l">
              <a:lnSpc>
                <a:spcPct val="128000"/>
              </a:lnSpc>
              <a:spcBef>
                <a:spcPts val="600"/>
              </a:spcBef>
            </a:pPr>
            <a:r>
              <a:rPr sz="1400" b="0">
                <a:solidFill>
                  <a:srgbClr val="8FB6D0"/>
                </a:solidFill>
                <a:latin typeface="Segoe UI"/>
              </a:rPr>
              <a:t>Batterij 100 dagen</a:t>
            </a:r>
          </a:p>
        </p:txBody>
      </p:sp>
      <p:sp>
        <p:nvSpPr>
          <p:cNvPr id="19" name="TextBox 18"/>
          <p:cNvSpPr txBox="1"/>
          <p:nvPr/>
        </p:nvSpPr>
        <p:spPr>
          <a:xfrm>
            <a:off x="8241966" y="3632109"/>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HEET: UW SENSOR</a:t>
            </a:r>
          </a:p>
        </p:txBody>
      </p:sp>
      <p:sp>
        <p:nvSpPr>
          <p:cNvPr id="20" name="Rounded Rectangle 19"/>
          <p:cNvSpPr/>
          <p:nvPr/>
        </p:nvSpPr>
        <p:spPr>
          <a:xfrm>
            <a:off x="6171918" y="4051198"/>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314" y="4203594"/>
            <a:ext cx="1727156" cy="1612859"/>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ovemonitor.png"/>
          <p:cNvPicPr>
            <a:picLocks noChangeAspect="1"/>
          </p:cNvPicPr>
          <p:nvPr/>
        </p:nvPicPr>
        <p:blipFill>
          <a:blip r:embed="rId4"/>
          <a:stretch>
            <a:fillRect/>
          </a:stretch>
        </p:blipFill>
        <p:spPr>
          <a:xfrm>
            <a:off x="6387813" y="4567176"/>
            <a:ext cx="1600159" cy="885697"/>
          </a:xfrm>
          <a:prstGeom prst="rect">
            <a:avLst/>
          </a:prstGeom>
        </p:spPr>
      </p:pic>
      <p:sp>
        <p:nvSpPr>
          <p:cNvPr id="23" name="TextBox 22"/>
          <p:cNvSpPr txBox="1"/>
          <p:nvPr/>
        </p:nvSpPr>
        <p:spPr>
          <a:xfrm>
            <a:off x="8241966" y="4216294"/>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MoveMonitor</a:t>
            </a:r>
          </a:p>
        </p:txBody>
      </p:sp>
      <p:sp>
        <p:nvSpPr>
          <p:cNvPr id="24" name="TextBox 23"/>
          <p:cNvSpPr txBox="1"/>
          <p:nvPr/>
        </p:nvSpPr>
        <p:spPr>
          <a:xfrm>
            <a:off x="8254666" y="4584585"/>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ACTIVITEIT</a:t>
            </a:r>
          </a:p>
        </p:txBody>
      </p:sp>
      <p:sp>
        <p:nvSpPr>
          <p:cNvPr id="25" name="TextBox 24"/>
          <p:cNvSpPr txBox="1"/>
          <p:nvPr/>
        </p:nvSpPr>
        <p:spPr>
          <a:xfrm>
            <a:off x="8241966" y="4787780"/>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7  dagen</a:t>
            </a:r>
          </a:p>
        </p:txBody>
      </p:sp>
      <p:sp>
        <p:nvSpPr>
          <p:cNvPr id="26" name="TextBox 25"/>
          <p:cNvSpPr txBox="1"/>
          <p:nvPr/>
        </p:nvSpPr>
        <p:spPr>
          <a:xfrm>
            <a:off x="8241966" y="5130671"/>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Om het middel, op de onderrug</a:t>
            </a:r>
          </a:p>
          <a:p>
            <a:pPr algn="l">
              <a:lnSpc>
                <a:spcPct val="128000"/>
              </a:lnSpc>
              <a:spcBef>
                <a:spcPts val="600"/>
              </a:spcBef>
            </a:pPr>
            <a:r>
              <a:rPr sz="1400" b="0">
                <a:solidFill>
                  <a:srgbClr val="8FB6D0"/>
                </a:solidFill>
                <a:latin typeface="Segoe UI"/>
              </a:rPr>
              <a:t>Baseline en 6 maanden</a:t>
            </a:r>
          </a:p>
        </p:txBody>
      </p:sp>
      <p:sp>
        <p:nvSpPr>
          <p:cNvPr id="27" name="TextBox 26"/>
          <p:cNvSpPr txBox="1"/>
          <p:nvPr/>
        </p:nvSpPr>
        <p:spPr>
          <a:xfrm>
            <a:off x="8241966" y="5714857"/>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ZET DE NORM PER PATIËNT</a:t>
            </a:r>
          </a:p>
        </p:txBody>
      </p:sp>
      <p:sp>
        <p:nvSpPr>
          <p:cNvPr id="28" name="TextBox 2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13 / 16</a:t>
            </a:r>
          </a:p>
        </p:txBody>
      </p:sp>
      <p:pic>
        <p:nvPicPr>
          <p:cNvPr id="29" name="merk" descr="merk.png"/>
          <p:cNvPicPr>
            <a:picLocks noChangeAspect="1"/>
          </p:cNvPicPr>
          <p:nvPr/>
        </p:nvPicPr>
        <p:blipFill>
          <a:blip r:embed="rId5"/>
          <a:stretch>
            <a:fillRect/>
          </a:stretch>
        </p:blipFill>
        <p:spPr>
          <a:xfrm>
            <a:off x="11094166" y="368290"/>
            <a:ext cx="417101" cy="482587"/>
          </a:xfrm>
          <a:prstGeom prst="rect">
            <a:avLst/>
          </a:prstGeom>
        </p:spPr>
      </p:pic>
      <p:sp>
        <p:nvSpPr>
          <p:cNvPr id="30" name="TextBox 29"/>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sensor_vol.png"/>
          <p:cNvPicPr>
            <a:picLocks noChangeAspect="1"/>
          </p:cNvPicPr>
          <p:nvPr/>
        </p:nvPicPr>
        <p:blipFill>
          <a:blip r:embed="rId2"/>
          <a:stretch>
            <a:fillRect/>
          </a:stretch>
        </p:blipFill>
        <p:spPr>
          <a:xfrm>
            <a:off x="-3671362" y="0"/>
            <a:ext cx="19534420"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000"/>
                </a:srgbClr>
              </a:gs>
              <a:gs pos="100000">
                <a:srgbClr val="04182A">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4984" y="4482987"/>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SENSOR IN HET ECHT</a:t>
            </a:r>
          </a:p>
        </p:txBody>
      </p:sp>
      <p:sp>
        <p:nvSpPr>
          <p:cNvPr id="6" name="!!sectietitel"/>
          <p:cNvSpPr txBox="1"/>
          <p:nvPr/>
        </p:nvSpPr>
        <p:spPr>
          <a:xfrm>
            <a:off x="634984" y="4787780"/>
            <a:ext cx="9524761" cy="1523961"/>
          </a:xfrm>
          <a:prstGeom prst="rect">
            <a:avLst/>
          </a:prstGeom>
          <a:noFill/>
        </p:spPr>
        <p:txBody>
          <a:bodyPr wrap="square" anchor="t" lIns="0" rIns="0" tIns="0" bIns="0">
            <a:spAutoFit/>
          </a:bodyPr>
          <a:lstStyle/>
          <a:p>
            <a:pPr algn="l">
              <a:lnSpc>
                <a:spcPct val="115000"/>
              </a:lnSpc>
            </a:pPr>
            <a:r>
              <a:rPr sz="4400" b="1">
                <a:solidFill>
                  <a:srgbClr val="F2F8FC"/>
                </a:solidFill>
                <a:latin typeface="Segoe UI"/>
              </a:rPr>
              <a:t>Negen bij dertien millimeter.</a:t>
            </a:r>
          </a:p>
          <a:p>
            <a:pPr algn="l">
              <a:lnSpc>
                <a:spcPct val="115000"/>
              </a:lnSpc>
              <a:spcBef>
                <a:spcPts val="500"/>
              </a:spcBef>
            </a:pPr>
            <a:r>
              <a:rPr sz="4400" b="1">
                <a:solidFill>
                  <a:srgbClr val="F2F8FC"/>
                </a:solidFill>
                <a:latin typeface="Segoe UI"/>
              </a:rPr>
              <a:t>Meer merkt de patiënt niet.</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14 / 16</a:t>
            </a:r>
          </a:p>
        </p:txBody>
      </p:sp>
      <p:pic>
        <p:nvPicPr>
          <p:cNvPr id="8"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9" name="TextBox 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WIE U AANSPREEKT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Voor als er iets misloopt</a:t>
            </a:r>
          </a:p>
        </p:txBody>
      </p:sp>
      <p:sp>
        <p:nvSpPr>
          <p:cNvPr id="5" name="Rounded Rectangle 4"/>
          <p:cNvSpPr/>
          <p:nvPr/>
        </p:nvSpPr>
        <p:spPr>
          <a:xfrm>
            <a:off x="634984" y="1904952"/>
            <a:ext cx="3174920" cy="393690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ortret" descr="janou.png"/>
          <p:cNvPicPr>
            <a:picLocks noChangeAspect="1"/>
          </p:cNvPicPr>
          <p:nvPr/>
        </p:nvPicPr>
        <p:blipFill>
          <a:blip r:embed="rId2"/>
          <a:stretch>
            <a:fillRect/>
          </a:stretch>
        </p:blipFill>
        <p:spPr>
          <a:xfrm>
            <a:off x="777502" y="2006549"/>
            <a:ext cx="2889883" cy="3733706"/>
          </a:xfrm>
          <a:prstGeom prst="rect">
            <a:avLst/>
          </a:prstGeom>
        </p:spPr>
      </p:pic>
      <p:sp>
        <p:nvSpPr>
          <p:cNvPr id="7" name="Rectangle 6"/>
          <p:cNvSpPr/>
          <p:nvPr/>
        </p:nvSpPr>
        <p:spPr>
          <a:xfrm>
            <a:off x="4317892" y="1904952"/>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17892" y="2070048"/>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Janou De Buyser</a:t>
            </a:r>
          </a:p>
        </p:txBody>
      </p:sp>
      <p:sp>
        <p:nvSpPr>
          <p:cNvPr id="9" name="TextBox 8"/>
          <p:cNvSpPr txBox="1"/>
          <p:nvPr/>
        </p:nvSpPr>
        <p:spPr>
          <a:xfrm>
            <a:off x="4330591" y="2539936"/>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DOCTORAATSONDERZOEKER · DAGELIJKSE OPVOLGING</a:t>
            </a:r>
          </a:p>
        </p:txBody>
      </p:sp>
      <p:sp>
        <p:nvSpPr>
          <p:cNvPr id="10" name="TextBox 9"/>
          <p:cNvSpPr txBox="1"/>
          <p:nvPr/>
        </p:nvSpPr>
        <p:spPr>
          <a:xfrm>
            <a:off x="4317892" y="2857428"/>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Uw eerste aanspreekpunt: inclusies, metingen, formulieren, sensoren en alles wat in de praktijk vastloopt.</a:t>
            </a:r>
          </a:p>
        </p:txBody>
      </p:sp>
      <p:sp>
        <p:nvSpPr>
          <p:cNvPr id="11" name="TextBox 10"/>
          <p:cNvSpPr txBox="1"/>
          <p:nvPr/>
        </p:nvSpPr>
        <p:spPr>
          <a:xfrm>
            <a:off x="4317892"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janou.debuyser@kuleuven.be</a:t>
            </a:r>
          </a:p>
        </p:txBody>
      </p:sp>
      <p:sp>
        <p:nvSpPr>
          <p:cNvPr id="12" name="TextBox 11"/>
          <p:cNvSpPr txBox="1"/>
          <p:nvPr/>
        </p:nvSpPr>
        <p:spPr>
          <a:xfrm>
            <a:off x="7873803"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Spoorwegstraat 12 · Brugge</a:t>
            </a:r>
          </a:p>
        </p:txBody>
      </p:sp>
      <p:sp>
        <p:nvSpPr>
          <p:cNvPr id="13" name="Rectangle 12"/>
          <p:cNvSpPr/>
          <p:nvPr/>
        </p:nvSpPr>
        <p:spPr>
          <a:xfrm>
            <a:off x="4317892" y="3873403"/>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17892" y="4038499"/>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prof. dr. Kevin Deschamps</a:t>
            </a:r>
          </a:p>
        </p:txBody>
      </p:sp>
      <p:sp>
        <p:nvSpPr>
          <p:cNvPr id="15" name="TextBox 14"/>
          <p:cNvSpPr txBox="1"/>
          <p:nvPr/>
        </p:nvSpPr>
        <p:spPr>
          <a:xfrm>
            <a:off x="4330591" y="4508387"/>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PROMOTOR</a:t>
            </a:r>
          </a:p>
        </p:txBody>
      </p:sp>
      <p:sp>
        <p:nvSpPr>
          <p:cNvPr id="16" name="TextBox 15"/>
          <p:cNvSpPr txBox="1"/>
          <p:nvPr/>
        </p:nvSpPr>
        <p:spPr>
          <a:xfrm>
            <a:off x="4317892" y="4825879"/>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Wetenschappelijke vragen, de opzet van de studie en afspraken op het niveau van uw centrum.</a:t>
            </a:r>
          </a:p>
        </p:txBody>
      </p:sp>
      <p:sp>
        <p:nvSpPr>
          <p:cNvPr id="17" name="TextBox 16"/>
          <p:cNvSpPr txBox="1"/>
          <p:nvPr/>
        </p:nvSpPr>
        <p:spPr>
          <a:xfrm>
            <a:off x="4317892"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Revalidatiewetenschappen</a:t>
            </a:r>
          </a:p>
        </p:txBody>
      </p:sp>
      <p:sp>
        <p:nvSpPr>
          <p:cNvPr id="18" name="TextBox 17"/>
          <p:cNvSpPr txBox="1"/>
          <p:nvPr/>
        </p:nvSpPr>
        <p:spPr>
          <a:xfrm>
            <a:off x="7873803"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KU Leuven · Campus Brugge</a:t>
            </a:r>
          </a:p>
        </p:txBody>
      </p:sp>
      <p:sp>
        <p:nvSpPr>
          <p:cNvPr id="19" name="Rectangle 18"/>
          <p:cNvSpPr/>
          <p:nvPr/>
        </p:nvSpPr>
        <p:spPr>
          <a:xfrm>
            <a:off x="634984" y="596885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6108547"/>
            <a:ext cx="10921726" cy="380990"/>
          </a:xfrm>
          <a:prstGeom prst="rect">
            <a:avLst/>
          </a:prstGeom>
          <a:noFill/>
        </p:spPr>
        <p:txBody>
          <a:bodyPr wrap="square" anchor="t" lIns="0" rIns="0" tIns="0" bIns="0">
            <a:spAutoFit/>
          </a:bodyPr>
          <a:lstStyle/>
          <a:p>
            <a:pPr algn="l">
              <a:lnSpc>
                <a:spcPct val="135000"/>
              </a:lnSpc>
            </a:pPr>
            <a:r>
              <a:rPr sz="1300" b="0">
                <a:solidFill>
                  <a:srgbClr val="8FB6D0"/>
                </a:solidFill>
                <a:latin typeface="Segoe UI"/>
              </a:rPr>
              <a:t>Consortium: KU Leuven — Revalidatiewetenschappen (Musculoskeletal Research Group) en Volksgezondheid en Eerstelijnszorg · Vrije Universiteit Brussel — Geneeskunde en Farmacie. Co-promotoren: Fabienne Dobbels, Maaike Fobelets en Koen Putman.</a:t>
            </a:r>
          </a:p>
        </p:txBody>
      </p:sp>
      <p:sp>
        <p:nvSpPr>
          <p:cNvPr id="21" name="TextBox 2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15 / 16</a:t>
            </a:r>
          </a:p>
        </p:txBody>
      </p:sp>
      <p:pic>
        <p:nvPicPr>
          <p:cNvPr id="22"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DE CIJFERS VANDAAN KOMEN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Referenties</a:t>
            </a:r>
          </a:p>
        </p:txBody>
      </p:sp>
      <p:sp>
        <p:nvSpPr>
          <p:cNvPr id="5" name="TextBox 4"/>
          <p:cNvSpPr txBox="1"/>
          <p:nvPr/>
        </p:nvSpPr>
        <p:spPr>
          <a:xfrm>
            <a:off x="634984" y="18541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a:t>
            </a:r>
          </a:p>
        </p:txBody>
      </p:sp>
      <p:sp>
        <p:nvSpPr>
          <p:cNvPr id="6" name="TextBox 5"/>
          <p:cNvSpPr txBox="1"/>
          <p:nvPr/>
        </p:nvSpPr>
        <p:spPr>
          <a:xfrm>
            <a:off x="965175" y="18541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Armstrong DG et al. N Engl J Med. 2017;376(24):2367–75.</a:t>
            </a:r>
          </a:p>
        </p:txBody>
      </p:sp>
      <p:sp>
        <p:nvSpPr>
          <p:cNvPr id="7" name="TextBox 6"/>
          <p:cNvSpPr txBox="1"/>
          <p:nvPr/>
        </p:nvSpPr>
        <p:spPr>
          <a:xfrm>
            <a:off x="634984" y="218847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5</a:t>
            </a:r>
          </a:p>
        </p:txBody>
      </p:sp>
      <p:sp>
        <p:nvSpPr>
          <p:cNvPr id="8" name="TextBox 7"/>
          <p:cNvSpPr txBox="1"/>
          <p:nvPr/>
        </p:nvSpPr>
        <p:spPr>
          <a:xfrm>
            <a:off x="965175" y="218847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Metab Res Rev. 2016;32(Suppl 1):195–200.</a:t>
            </a:r>
          </a:p>
        </p:txBody>
      </p:sp>
      <p:sp>
        <p:nvSpPr>
          <p:cNvPr id="9" name="TextBox 8"/>
          <p:cNvSpPr txBox="1"/>
          <p:nvPr/>
        </p:nvSpPr>
        <p:spPr>
          <a:xfrm>
            <a:off x="634984" y="252278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6</a:t>
            </a:r>
          </a:p>
        </p:txBody>
      </p:sp>
      <p:sp>
        <p:nvSpPr>
          <p:cNvPr id="10" name="TextBox 9"/>
          <p:cNvSpPr txBox="1"/>
          <p:nvPr/>
        </p:nvSpPr>
        <p:spPr>
          <a:xfrm>
            <a:off x="965175" y="252278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Care. 2011;34(7):1595–600.</a:t>
            </a:r>
          </a:p>
        </p:txBody>
      </p:sp>
      <p:sp>
        <p:nvSpPr>
          <p:cNvPr id="11" name="TextBox 10"/>
          <p:cNvSpPr txBox="1"/>
          <p:nvPr/>
        </p:nvSpPr>
        <p:spPr>
          <a:xfrm>
            <a:off x="634984" y="285710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7</a:t>
            </a:r>
          </a:p>
        </p:txBody>
      </p:sp>
      <p:sp>
        <p:nvSpPr>
          <p:cNvPr id="12" name="TextBox 11"/>
          <p:cNvSpPr txBox="1"/>
          <p:nvPr/>
        </p:nvSpPr>
        <p:spPr>
          <a:xfrm>
            <a:off x="965175" y="285710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Metab Res Rev. 2020;36(S1):e3237.</a:t>
            </a:r>
          </a:p>
        </p:txBody>
      </p:sp>
      <p:sp>
        <p:nvSpPr>
          <p:cNvPr id="13" name="TextBox 12"/>
          <p:cNvSpPr txBox="1"/>
          <p:nvPr/>
        </p:nvSpPr>
        <p:spPr>
          <a:xfrm>
            <a:off x="634984" y="319142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14</a:t>
            </a:r>
          </a:p>
        </p:txBody>
      </p:sp>
      <p:sp>
        <p:nvSpPr>
          <p:cNvPr id="14" name="TextBox 13"/>
          <p:cNvSpPr txBox="1"/>
          <p:nvPr/>
        </p:nvSpPr>
        <p:spPr>
          <a:xfrm>
            <a:off x="965175" y="319142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van Netten JJ et al. Clin Biomech. 2018;53:86–92.</a:t>
            </a:r>
          </a:p>
        </p:txBody>
      </p:sp>
      <p:sp>
        <p:nvSpPr>
          <p:cNvPr id="15" name="TextBox 14"/>
          <p:cNvSpPr txBox="1"/>
          <p:nvPr/>
        </p:nvSpPr>
        <p:spPr>
          <a:xfrm>
            <a:off x="6171918" y="18541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16</a:t>
            </a:r>
          </a:p>
        </p:txBody>
      </p:sp>
      <p:sp>
        <p:nvSpPr>
          <p:cNvPr id="16" name="TextBox 15"/>
          <p:cNvSpPr txBox="1"/>
          <p:nvPr/>
        </p:nvSpPr>
        <p:spPr>
          <a:xfrm>
            <a:off x="6502110" y="18541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Hulshof CM et al. Diabet Med. 2025;42:e70099.</a:t>
            </a:r>
          </a:p>
        </p:txBody>
      </p:sp>
      <p:sp>
        <p:nvSpPr>
          <p:cNvPr id="17" name="TextBox 16"/>
          <p:cNvSpPr txBox="1"/>
          <p:nvPr/>
        </p:nvSpPr>
        <p:spPr>
          <a:xfrm>
            <a:off x="6171918" y="218847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17</a:t>
            </a:r>
          </a:p>
        </p:txBody>
      </p:sp>
      <p:sp>
        <p:nvSpPr>
          <p:cNvPr id="18" name="TextBox 17"/>
          <p:cNvSpPr txBox="1"/>
          <p:nvPr/>
        </p:nvSpPr>
        <p:spPr>
          <a:xfrm>
            <a:off x="6502110" y="218847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Waaijman R et al. Diabetes Care. 2014;37(6):1697–705.</a:t>
            </a:r>
          </a:p>
        </p:txBody>
      </p:sp>
      <p:sp>
        <p:nvSpPr>
          <p:cNvPr id="19" name="TextBox 18"/>
          <p:cNvSpPr txBox="1"/>
          <p:nvPr/>
        </p:nvSpPr>
        <p:spPr>
          <a:xfrm>
            <a:off x="6171918" y="252278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18</a:t>
            </a:r>
          </a:p>
        </p:txBody>
      </p:sp>
      <p:sp>
        <p:nvSpPr>
          <p:cNvPr id="20" name="TextBox 19"/>
          <p:cNvSpPr txBox="1"/>
          <p:nvPr/>
        </p:nvSpPr>
        <p:spPr>
          <a:xfrm>
            <a:off x="6502110" y="252278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Lutjeboer T et al. J Rehabil Med. 2018;50(10):920–6.</a:t>
            </a:r>
          </a:p>
        </p:txBody>
      </p:sp>
      <p:sp>
        <p:nvSpPr>
          <p:cNvPr id="21" name="TextBox 20"/>
          <p:cNvSpPr txBox="1"/>
          <p:nvPr/>
        </p:nvSpPr>
        <p:spPr>
          <a:xfrm>
            <a:off x="6171918" y="285710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20</a:t>
            </a:r>
          </a:p>
        </p:txBody>
      </p:sp>
      <p:sp>
        <p:nvSpPr>
          <p:cNvPr id="22" name="TextBox 21"/>
          <p:cNvSpPr txBox="1"/>
          <p:nvPr/>
        </p:nvSpPr>
        <p:spPr>
          <a:xfrm>
            <a:off x="6502110" y="285710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Morbach S et al. Diabetes Metab Res Rev. 2016;32(Suppl 1):318–25.</a:t>
            </a:r>
          </a:p>
        </p:txBody>
      </p:sp>
      <p:sp>
        <p:nvSpPr>
          <p:cNvPr id="23" name="TextBox 22"/>
          <p:cNvSpPr txBox="1"/>
          <p:nvPr/>
        </p:nvSpPr>
        <p:spPr>
          <a:xfrm>
            <a:off x="6171918" y="319142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27</a:t>
            </a:r>
          </a:p>
        </p:txBody>
      </p:sp>
      <p:sp>
        <p:nvSpPr>
          <p:cNvPr id="24" name="TextBox 23"/>
          <p:cNvSpPr txBox="1"/>
          <p:nvPr/>
        </p:nvSpPr>
        <p:spPr>
          <a:xfrm>
            <a:off x="6502110" y="319142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Zwaferink JBJ et al. Sensors. 2024;24(6):1795.</a:t>
            </a:r>
          </a:p>
        </p:txBody>
      </p:sp>
      <p:sp>
        <p:nvSpPr>
          <p:cNvPr id="25" name="TextBox 24"/>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De nummering volgt die van het protocolmanuscript.</a:t>
            </a:r>
          </a:p>
        </p:txBody>
      </p:sp>
      <p:sp>
        <p:nvSpPr>
          <p:cNvPr id="26" name="TextBox 2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16 / 16</a:t>
            </a:r>
          </a:p>
        </p:txBody>
      </p:sp>
      <p:pic>
        <p:nvPicPr>
          <p:cNvPr id="2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p:transition xmlns:p14="http://schemas.microsoft.com/office/powerpoint/2010/main" spd="slow" p14:dur="9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