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Registreren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invoeren in REDCap,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REDCap</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38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Screening vóór de toestemming: beoordeel de in- en exclusiecriteria en noteer de patiënt op de identificatielijst.</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patiënt geschikt, overloop dan de informatie- en toestemmingsformulieren en laat tekenen.</a:t>
            </a:r>
          </a:p>
        </p:txBody>
      </p:sp>
      <p:sp>
        <p:nvSpPr>
          <p:cNvPr id="14" name="Oval 13"/>
          <p:cNvSpPr/>
          <p:nvPr/>
        </p:nvSpPr>
        <p:spPr>
          <a:xfrm>
            <a:off x="634984" y="35076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5076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49495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Visite 0: bevestig de geschiktheid met het baselineformulier.</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De PI opent de volgende verzegelde envelop en deelt de patiënt in. Pas dan is bekend in welke arm hij zit.</a:t>
            </a:r>
          </a:p>
        </p:txBody>
      </p:sp>
      <p:sp>
        <p:nvSpPr>
          <p:cNvPr id="20" name="Oval 19"/>
          <p:cNvSpPr/>
          <p:nvPr/>
        </p:nvSpPr>
        <p:spPr>
          <a:xfrm>
            <a:off x="634984" y="450648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50648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49378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Niet geschikt? Noteer de reden. Ook dat is studiedata.</a:t>
            </a:r>
          </a:p>
        </p:txBody>
      </p:sp>
      <p:sp>
        <p:nvSpPr>
          <p:cNvPr id="23" name="TextBox 22"/>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4" name="Rounded Rectangle 23"/>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00</a:t>
            </a:r>
          </a:p>
        </p:txBody>
      </p:sp>
      <p:sp>
        <p:nvSpPr>
          <p:cNvPr id="26" name="TextBox 25"/>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Identificatielijst</a:t>
            </a:r>
          </a:p>
        </p:txBody>
      </p:sp>
      <p:sp>
        <p:nvSpPr>
          <p:cNvPr id="27" name="Rounded Rectangle 26"/>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01</a:t>
            </a:r>
          </a:p>
        </p:txBody>
      </p:sp>
      <p:sp>
        <p:nvSpPr>
          <p:cNvPr id="29" name="TextBox 28"/>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Screening</a:t>
            </a:r>
          </a:p>
        </p:txBody>
      </p:sp>
      <p:sp>
        <p:nvSpPr>
          <p:cNvPr id="30" name="Rounded Rectangle 29"/>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02</a:t>
            </a:r>
          </a:p>
        </p:txBody>
      </p:sp>
      <p:sp>
        <p:nvSpPr>
          <p:cNvPr id="32" name="TextBox 31"/>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Toestemming</a:t>
            </a:r>
          </a:p>
        </p:txBody>
      </p:sp>
      <p:sp>
        <p:nvSpPr>
          <p:cNvPr id="33" name="Rounded Rectangle 32"/>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06</a:t>
            </a:r>
          </a:p>
        </p:txBody>
      </p:sp>
      <p:sp>
        <p:nvSpPr>
          <p:cNvPr id="35" name="TextBox 34"/>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Geschiktheid</a:t>
            </a:r>
          </a:p>
        </p:txBody>
      </p:sp>
      <p:sp>
        <p:nvSpPr>
          <p:cNvPr id="36" name="Rounded Rectangle 35"/>
          <p:cNvSpPr/>
          <p:nvPr/>
        </p:nvSpPr>
        <p:spPr>
          <a:xfrm>
            <a:off x="7492812" y="3149521"/>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46806" y="3301917"/>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8" name="TextBox 37"/>
          <p:cNvSpPr txBox="1"/>
          <p:nvPr/>
        </p:nvSpPr>
        <p:spPr>
          <a:xfrm>
            <a:off x="7746806" y="3568610"/>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De volgorde ligt vast: screenen, tekenen, geschiktheid bevestigen, dan pas loten. Vul geen enkel ander formulier in voordat de patiënt getekend heeft.</a:t>
            </a:r>
          </a:p>
        </p:txBody>
      </p:sp>
      <p:sp>
        <p:nvSpPr>
          <p:cNvPr id="39" name="TextBox 38"/>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Demografie en voorgeschiedenis, inclusief nierfunctie, eGFR, hartaandoening en diabetesmedicatie.</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Voet- en schoeiselscreening, en klasseer een eventueel ulcus.</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Drukmeting blootsvoets: drie metingen per voet.</a:t>
            </a:r>
          </a:p>
        </p:txBody>
      </p:sp>
      <p:sp>
        <p:nvSpPr>
          <p:cNvPr id="17" name="Oval 16"/>
          <p:cNvSpPr/>
          <p:nvPr/>
        </p:nvSpPr>
        <p:spPr>
          <a:xfrm>
            <a:off x="634984" y="367274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67274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66004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Bepaal de drie doelregio's en schrijf de zool voor, mét die regio's op het voorschrift.</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28360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Vragenlijsten vóór het educatiegesprek: NAFF en HLS-EU-6. Daarna tevredenheid, schoeiselgebruik en EQ-5D-5L.</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SEBIA stap 1: educatie op maat, voordoen, en de patiënt het zelf laten uitvoeren. Leg dat vast in het logboek.</a:t>
            </a:r>
          </a:p>
        </p:txBody>
      </p:sp>
      <p:sp>
        <p:nvSpPr>
          <p:cNvPr id="26" name="Oval 25"/>
          <p:cNvSpPr/>
          <p:nvPr/>
        </p:nvSpPr>
        <p:spPr>
          <a:xfrm>
            <a:off x="634984" y="550531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50531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492612"/>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de MoveMonitor mee voor zeven dagen en registreer het toestelnummer.</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07</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Demografie</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08</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 en schoeisel</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09</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Drukmeting</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10</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Voorschrift CMFO</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12</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Tevredenheid</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13</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Schoeiselgebruik</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14</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NAFF</a:t>
            </a:r>
          </a:p>
        </p:txBody>
      </p:sp>
      <p:sp>
        <p:nvSpPr>
          <p:cNvPr id="51" name="Rounded Rectangle 50"/>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15</a:t>
            </a:r>
          </a:p>
        </p:txBody>
      </p:sp>
      <p:sp>
        <p:nvSpPr>
          <p:cNvPr id="53" name="TextBox 52"/>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HLS-EU-6</a:t>
            </a:r>
          </a:p>
        </p:txBody>
      </p:sp>
      <p:sp>
        <p:nvSpPr>
          <p:cNvPr id="54" name="Rounded Rectangle 53"/>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16</a:t>
            </a:r>
          </a:p>
        </p:txBody>
      </p:sp>
      <p:sp>
        <p:nvSpPr>
          <p:cNvPr id="56" name="TextBox 55"/>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Educatieboekje</a:t>
            </a:r>
          </a:p>
        </p:txBody>
      </p:sp>
      <p:sp>
        <p:nvSpPr>
          <p:cNvPr id="57" name="Rounded Rectangle 56"/>
          <p:cNvSpPr/>
          <p:nvPr/>
        </p:nvSpPr>
        <p:spPr>
          <a:xfrm>
            <a:off x="9588260"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77158"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18</a:t>
            </a:r>
          </a:p>
        </p:txBody>
      </p:sp>
      <p:sp>
        <p:nvSpPr>
          <p:cNvPr id="59" name="TextBox 58"/>
          <p:cNvSpPr txBox="1"/>
          <p:nvPr/>
        </p:nvSpPr>
        <p:spPr>
          <a:xfrm>
            <a:off x="10045448"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Logboek educatie</a:t>
            </a:r>
          </a:p>
        </p:txBody>
      </p:sp>
      <p:sp>
        <p:nvSpPr>
          <p:cNvPr id="60" name="Rounded Rectangle 59"/>
          <p:cNvSpPr/>
          <p:nvPr/>
        </p:nvSpPr>
        <p:spPr>
          <a:xfrm>
            <a:off x="7492812" y="4000399"/>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1710" y="4070248"/>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19</a:t>
            </a:r>
          </a:p>
        </p:txBody>
      </p:sp>
      <p:sp>
        <p:nvSpPr>
          <p:cNvPr id="62" name="TextBox 61"/>
          <p:cNvSpPr txBox="1"/>
          <p:nvPr/>
        </p:nvSpPr>
        <p:spPr>
          <a:xfrm>
            <a:off x="7950001" y="4082947"/>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MoveMonitor</a:t>
            </a:r>
          </a:p>
        </p:txBody>
      </p:sp>
      <p:sp>
        <p:nvSpPr>
          <p:cNvPr id="63" name="Rounded Rectangle 62"/>
          <p:cNvSpPr/>
          <p:nvPr/>
        </p:nvSpPr>
        <p:spPr>
          <a:xfrm>
            <a:off x="9588260" y="4000399"/>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77158" y="4070248"/>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20</a:t>
            </a:r>
          </a:p>
        </p:txBody>
      </p:sp>
      <p:sp>
        <p:nvSpPr>
          <p:cNvPr id="65" name="TextBox 64"/>
          <p:cNvSpPr txBox="1"/>
          <p:nvPr/>
        </p:nvSpPr>
        <p:spPr>
          <a:xfrm>
            <a:off x="10045448" y="4082947"/>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MoveMonitor</a:t>
            </a:r>
          </a:p>
        </p:txBody>
      </p:sp>
      <p:sp>
        <p:nvSpPr>
          <p:cNvPr id="66" name="Rounded Rectangle 65"/>
          <p:cNvSpPr/>
          <p:nvPr/>
        </p:nvSpPr>
        <p:spPr>
          <a:xfrm>
            <a:off x="7492812" y="4343291"/>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81710" y="4413139"/>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68" name="TextBox 67"/>
          <p:cNvSpPr txBox="1"/>
          <p:nvPr/>
        </p:nvSpPr>
        <p:spPr>
          <a:xfrm>
            <a:off x="7950001" y="4425839"/>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69" name="Rounded Rectangle 68"/>
          <p:cNvSpPr/>
          <p:nvPr/>
        </p:nvSpPr>
        <p:spPr>
          <a:xfrm>
            <a:off x="9588260" y="4343291"/>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77158" y="4413139"/>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48</a:t>
            </a:r>
          </a:p>
        </p:txBody>
      </p:sp>
      <p:sp>
        <p:nvSpPr>
          <p:cNvPr id="71" name="TextBox 70"/>
          <p:cNvSpPr txBox="1"/>
          <p:nvPr/>
        </p:nvSpPr>
        <p:spPr>
          <a:xfrm>
            <a:off x="10045448" y="4425839"/>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Voetzorgfolder</a:t>
            </a:r>
          </a:p>
        </p:txBody>
      </p:sp>
      <p:sp>
        <p:nvSpPr>
          <p:cNvPr id="72" name="Rounded Rectangle 71"/>
          <p:cNvSpPr/>
          <p:nvPr/>
        </p:nvSpPr>
        <p:spPr>
          <a:xfrm>
            <a:off x="7492812" y="4863978"/>
            <a:ext cx="4063898" cy="140585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746806" y="5016374"/>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74" name="TextBox 73"/>
          <p:cNvSpPr txBox="1"/>
          <p:nvPr/>
        </p:nvSpPr>
        <p:spPr>
          <a:xfrm>
            <a:off x="7746806" y="5283067"/>
            <a:ext cx="3555911" cy="847068"/>
          </a:xfrm>
          <a:prstGeom prst="rect">
            <a:avLst/>
          </a:prstGeom>
          <a:noFill/>
        </p:spPr>
        <p:txBody>
          <a:bodyPr wrap="square" anchor="t" lIns="0" rIns="0" tIns="0" bIns="0">
            <a:spAutoFit/>
          </a:bodyPr>
          <a:lstStyle/>
          <a:p>
            <a:pPr algn="l">
              <a:lnSpc>
                <a:spcPct val="135000"/>
              </a:lnSpc>
            </a:pPr>
            <a:r>
              <a:rPr sz="10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75" name="TextBox 7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studiemedewerker registreert</a:t>
            </a:r>
          </a:p>
        </p:txBody>
      </p:sp>
      <p:sp>
        <p:nvSpPr>
          <p:cNvPr id="76" name="TextBox 7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38</a:t>
            </a:r>
          </a:p>
        </p:txBody>
      </p:sp>
      <p:pic>
        <p:nvPicPr>
          <p:cNvPr id="7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Lever de zool af. Controleer de pasvorm in het bínnenschoeisel én het búitenschoeisel, en neem de foto's.</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Meet de drukherverdeling en toets de norm per doelregio.</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Niet gehaald? Pas aan en meet opnieuw. Is ze gehaald, laat dan een tweede, identiek paar maken.</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Plaats en activeer de Orthotimer in de zool en registreer het toestelnummer.</a:t>
            </a:r>
          </a:p>
        </p:txBody>
      </p:sp>
      <p:sp>
        <p:nvSpPr>
          <p:cNvPr id="20" name="Oval 19"/>
          <p:cNvSpPr/>
          <p:nvPr/>
        </p:nvSpPr>
        <p:spPr>
          <a:xfrm>
            <a:off x="634984" y="450648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50648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49378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MoveMonitor terug en registreer de teruggave.</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SEBIA stap 2: bespreek het activiteitenprofiel, doe de teach-back en geef de sensorfolder mee.</a:t>
            </a:r>
          </a:p>
        </p:txBody>
      </p:sp>
      <p:sp>
        <p:nvSpPr>
          <p:cNvPr id="26" name="Oval 25"/>
          <p:cNvSpPr/>
          <p:nvPr/>
        </p:nvSpPr>
        <p:spPr>
          <a:xfrm>
            <a:off x="634984" y="550531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50531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49261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Bevraag de overtuigingen en gewoontes rond schoeisel.</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23</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Aanpassing</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24b</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Opvolgtool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Orthotimer</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26</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Overtuigingen</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27</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Teruggave MoveMon.</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28</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Activiteitsprofiel</a:t>
            </a:r>
          </a:p>
        </p:txBody>
      </p:sp>
      <p:sp>
        <p:nvSpPr>
          <p:cNvPr id="51" name="Rounded Rectangle 50"/>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29</a:t>
            </a:r>
          </a:p>
        </p:txBody>
      </p:sp>
      <p:sp>
        <p:nvSpPr>
          <p:cNvPr id="53" name="TextBox 52"/>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Teach-back</a:t>
            </a:r>
          </a:p>
        </p:txBody>
      </p:sp>
      <p:sp>
        <p:nvSpPr>
          <p:cNvPr id="54" name="Rounded Rectangle 53"/>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30</a:t>
            </a:r>
          </a:p>
        </p:txBody>
      </p:sp>
      <p:sp>
        <p:nvSpPr>
          <p:cNvPr id="56" name="TextBox 55"/>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Sensorfolder</a:t>
            </a:r>
          </a:p>
        </p:txBody>
      </p:sp>
      <p:sp>
        <p:nvSpPr>
          <p:cNvPr id="57" name="Rounded Rectangle 56"/>
          <p:cNvSpPr/>
          <p:nvPr/>
        </p:nvSpPr>
        <p:spPr>
          <a:xfrm>
            <a:off x="7492812" y="4178195"/>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746806" y="4330591"/>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9" name="TextBox 58"/>
          <p:cNvSpPr txBox="1"/>
          <p:nvPr/>
        </p:nvSpPr>
        <p:spPr>
          <a:xfrm>
            <a:off x="7746806" y="4597285"/>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60" name="TextBox 5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38</a:t>
            </a:r>
          </a:p>
        </p:txBody>
      </p:sp>
      <p:pic>
        <p:nvPicPr>
          <p:cNvPr id="6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Voet- en schoeiselscreening, zoals bij de baseline.</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Bevraag de therapietrouw, lees de Orthotimer uit en bespreek de uitdraai niet-veroordelend.</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beide paren zolen. Het paar dat onderhoud nodig heeft gaat naar de pedorthist, deklaag inbegrepen.</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Vervang zool of sensor als dat nodig is en leg dat vast.</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28360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vragenlijsten af: levenskwaliteit, medische consumptie en productiviteit.</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een tweede week MoveMonitor.</a:t>
            </a:r>
          </a:p>
        </p:txBody>
      </p:sp>
      <p:sp>
        <p:nvSpPr>
          <p:cNvPr id="26" name="TextBox 25"/>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7" name="Rounded Rectangle 26"/>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08</a:t>
            </a:r>
          </a:p>
        </p:txBody>
      </p:sp>
      <p:sp>
        <p:nvSpPr>
          <p:cNvPr id="29" name="TextBox 28"/>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 en schoeisel</a:t>
            </a:r>
          </a:p>
        </p:txBody>
      </p:sp>
      <p:sp>
        <p:nvSpPr>
          <p:cNvPr id="30" name="Rounded Rectangle 29"/>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31</a:t>
            </a:r>
          </a:p>
        </p:txBody>
      </p:sp>
      <p:sp>
        <p:nvSpPr>
          <p:cNvPr id="32" name="TextBox 31"/>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Therapietrouw</a:t>
            </a:r>
          </a:p>
        </p:txBody>
      </p:sp>
      <p:sp>
        <p:nvSpPr>
          <p:cNvPr id="33" name="Rounded Rectangle 32"/>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a:t>
            </a:r>
          </a:p>
        </p:txBody>
      </p:sp>
      <p:sp>
        <p:nvSpPr>
          <p:cNvPr id="35" name="TextBox 34"/>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Uitlezing sensor</a:t>
            </a:r>
          </a:p>
        </p:txBody>
      </p:sp>
      <p:sp>
        <p:nvSpPr>
          <p:cNvPr id="36" name="Rounded Rectangle 35"/>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32</a:t>
            </a:r>
          </a:p>
        </p:txBody>
      </p:sp>
      <p:sp>
        <p:nvSpPr>
          <p:cNvPr id="38" name="TextBox 37"/>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Feedback</a:t>
            </a:r>
          </a:p>
        </p:txBody>
      </p:sp>
      <p:sp>
        <p:nvSpPr>
          <p:cNvPr id="39" name="Rounded Rectangle 38"/>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33</a:t>
            </a:r>
          </a:p>
        </p:txBody>
      </p:sp>
      <p:sp>
        <p:nvSpPr>
          <p:cNvPr id="41" name="TextBox 40"/>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Vervanging</a:t>
            </a:r>
          </a:p>
        </p:txBody>
      </p:sp>
      <p:sp>
        <p:nvSpPr>
          <p:cNvPr id="42" name="Rounded Rectangle 41"/>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44" name="TextBox 43"/>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45" name="Rounded Rectangle 44"/>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34</a:t>
            </a:r>
          </a:p>
        </p:txBody>
      </p:sp>
      <p:sp>
        <p:nvSpPr>
          <p:cNvPr id="47" name="TextBox 46"/>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iMCQ</a:t>
            </a:r>
          </a:p>
        </p:txBody>
      </p:sp>
      <p:sp>
        <p:nvSpPr>
          <p:cNvPr id="48" name="Rounded Rectangle 47"/>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35</a:t>
            </a:r>
          </a:p>
        </p:txBody>
      </p:sp>
      <p:sp>
        <p:nvSpPr>
          <p:cNvPr id="50" name="TextBox 49"/>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iPCQ</a:t>
            </a:r>
          </a:p>
        </p:txBody>
      </p:sp>
      <p:sp>
        <p:nvSpPr>
          <p:cNvPr id="51" name="Rounded Rectangle 50"/>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45b</a:t>
            </a:r>
          </a:p>
        </p:txBody>
      </p:sp>
      <p:sp>
        <p:nvSpPr>
          <p:cNvPr id="53" name="TextBox 52"/>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Kostendagboek</a:t>
            </a:r>
          </a:p>
        </p:txBody>
      </p:sp>
      <p:sp>
        <p:nvSpPr>
          <p:cNvPr id="54" name="Rounded Rectangle 53"/>
          <p:cNvSpPr/>
          <p:nvPr/>
        </p:nvSpPr>
        <p:spPr>
          <a:xfrm>
            <a:off x="7492812" y="4178195"/>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46806" y="4330591"/>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6" name="TextBox 55"/>
          <p:cNvSpPr txBox="1"/>
          <p:nvPr/>
        </p:nvSpPr>
        <p:spPr>
          <a:xfrm>
            <a:off x="7746806" y="4597285"/>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57" name="TextBox 5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58" name="TextBox 5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38</a:t>
            </a:r>
          </a:p>
        </p:txBody>
      </p:sp>
      <p:pic>
        <p:nvPicPr>
          <p:cNvPr id="5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Herhaal de drukmeting in de drie condities en toets opnieuw per doelregio.</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Ligt de piekdruk boven 200 kPa, of is er nog winst haalbaar, pas dan opnieuw aan volgens dezelfde procedure.</a:t>
            </a:r>
          </a:p>
        </p:txBody>
      </p:sp>
      <p:sp>
        <p:nvSpPr>
          <p:cNvPr id="14" name="Oval 13"/>
          <p:cNvSpPr/>
          <p:nvPr/>
        </p:nvSpPr>
        <p:spPr>
          <a:xfrm>
            <a:off x="634984" y="35076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5076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494952"/>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18 ook de tevredenheidsschaal opnieuw afnemen, zodat de verandering tegenover baseline gemeten kan worden.</a:t>
            </a:r>
          </a:p>
        </p:txBody>
      </p:sp>
      <p:sp>
        <p:nvSpPr>
          <p:cNvPr id="17" name="TextBox 16"/>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18" name="Rounded Rectangle 17"/>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20" name="TextBox 19"/>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21" name="Rounded Rectangle 20"/>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24b</a:t>
            </a:r>
          </a:p>
        </p:txBody>
      </p:sp>
      <p:sp>
        <p:nvSpPr>
          <p:cNvPr id="23" name="TextBox 22"/>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Opvolgtool</a:t>
            </a:r>
          </a:p>
        </p:txBody>
      </p:sp>
      <p:sp>
        <p:nvSpPr>
          <p:cNvPr id="24" name="Rounded Rectangle 23"/>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12</a:t>
            </a:r>
          </a:p>
        </p:txBody>
      </p:sp>
      <p:sp>
        <p:nvSpPr>
          <p:cNvPr id="26" name="TextBox 25"/>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Tevredenheid — maand 18</a:t>
            </a:r>
          </a:p>
        </p:txBody>
      </p:sp>
      <p:sp>
        <p:nvSpPr>
          <p:cNvPr id="27" name="Rounded Rectangle 26"/>
          <p:cNvSpPr/>
          <p:nvPr/>
        </p:nvSpPr>
        <p:spPr>
          <a:xfrm>
            <a:off x="7492812" y="3149521"/>
            <a:ext cx="4063898" cy="143157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46806" y="3301917"/>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9" name="TextBox 28"/>
          <p:cNvSpPr txBox="1"/>
          <p:nvPr/>
        </p:nvSpPr>
        <p:spPr>
          <a:xfrm>
            <a:off x="7746806" y="3568610"/>
            <a:ext cx="3555911" cy="872785"/>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Drie extra meetmomenten, niet twee. Maand 18 telt mee: beide co-primaire uitkomsten worden op achttien maanden geëvalueerd.</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REDCap</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Instructie plus een testomgeving om in te oefenen</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38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38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38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REDCap,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38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