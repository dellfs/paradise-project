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U hoeft niemand meer te overtuigen: de centra zitten al in het consortium. Zeg dat expliciet in de eerste zin, dan weet de zaal dat dit een werksessie is en geen pitch.</a:t>
            </a:r>
          </a:p>
          <a:p/>
          <a:p>
            <a:r>
              <a:t>INTERACTIE</a:t>
            </a:r>
          </a:p>
          <a:p>
            <a:r>
              <a:t>Vraag wie vandaag voor het eerst van de studie hoort. Dat bepaalt hoeveel tijd u aan blok 1 besteedt.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Loop de zes titels traag door. Dit is de belofte van de dag en het is ook precies de bekwaamheidscheck op het eind.</a:t>
            </a:r>
          </a:p>
          <a:p/>
          <a:p>
            <a:r>
              <a:t>INTERACTIE</a:t>
            </a:r>
          </a:p>
          <a:p>
            <a:r>
              <a:t>Laat iedereen op een blad de zes overschrijven en aanduiden welke ze al beheersen. Op het eind vullen ze dat opnieuw in.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Blok 3 is het langste en het belangrijkste. Plan uw tijd zo dat u daar niet doorheen moet jagen.</a:t>
            </a:r>
          </a:p>
          <a:p/>
          <a:p>
            <a:r>
              <a:t>INTERACTIE</a:t>
            </a:r>
          </a:p>
          <a:p>
            <a:r>
              <a:t>Vraag of iemand een blok wil ruilen van plaats. Wie kiest, luistert beter.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Wijs hun eigen centrum aan: 24 van die 144 stippen zijn van hen. Zes keer 24 is 144 — als één centrum achterblijft, haalt de studie het niet.</a:t>
            </a:r>
          </a:p>
          <a:p/>
          <a:p>
            <a:r>
              <a:t>INTERACTIE</a:t>
            </a:r>
          </a:p>
          <a:p>
            <a:r>
              <a:t>Vraag of ze de andere vijf centra kennen. Het maakt van zes losse klinieken één netwerk.</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Dit is het probleem waar de hele studie op staat. Eén dia, dan door.</a:t>
            </a:r>
          </a:p>
          <a:p/>
          <a:p>
            <a:r>
              <a:t>INTERACTIE</a:t>
            </a:r>
          </a:p>
          <a:p>
            <a:r>
              <a:t>Geen. Dit is context, geen discussie.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Hier komt de tweede norm vandaan. Zonder deze dia is 80% draagtijd een willekeurig getal.</a:t>
            </a:r>
          </a:p>
          <a:p/>
          <a:p>
            <a:r>
              <a:t>INTERACTIE</a:t>
            </a:r>
          </a:p>
          <a:p>
            <a:r>
              <a:t>Geen.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Binnenshuis wordt het schoeisel het minst gedragen, en juist daar worden veel stappen gezet. Dat is uw belangrijkste gesprekspunt bij SEBIA.</a:t>
            </a:r>
          </a:p>
          <a:p/>
          <a:p>
            <a:r>
              <a:t>INTERACTIE</a:t>
            </a:r>
          </a:p>
          <a:p>
            <a:r>
              <a:t>Vraag wat zij schatten bij hun eigen patiënten.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Dit is het scharnier van blok 1. Wie dit snapt, snapt waarom de meting én de sensor allebei moeten kloppen.</a:t>
            </a:r>
          </a:p>
          <a:p/>
          <a:p>
            <a:r>
              <a:t>INTERACTIE</a:t>
            </a:r>
          </a:p>
          <a:p>
            <a:r>
              <a:t>Morph: de drie tegels komen samen uit één punt.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De meest gemaakte fout is één meting per voet. Het protocol vraagt er drie, en het gemiddelde telt.</a:t>
            </a:r>
          </a:p>
          <a:p/>
          <a:p>
            <a:r>
              <a:t>INTERACTIE</a:t>
            </a:r>
          </a:p>
          <a:p>
            <a:r>
              <a:t>Vraag wie al blootsvoets gemeten heeft met sensoren op de voet.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Uit deze acht kiest u er drie om te ontlasten: de regio met de ulcusvoorgeschiedenis, plus één of twee met de hoogste piekdruk. Die drie legt u vast — daarop wordt de norm getoetst.</a:t>
            </a:r>
          </a:p>
          <a:p/>
          <a:p>
            <a:r>
              <a:t>INTERACTIE</a:t>
            </a:r>
          </a:p>
          <a:p>
            <a:r>
              <a:t>Laat ze op deze dia aanwijzen welke drie zij zouden kiezen.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Zeg expliciet: "óf". Twee wegen naar dezelfde norm, geen dubbele eis. En de vergelijking gebeurt per regio, niet over de hele voet.</a:t>
            </a:r>
          </a:p>
          <a:p/>
          <a:p>
            <a:r>
              <a:t>INTERACTIE</a:t>
            </a:r>
          </a:p>
          <a:p>
            <a:r>
              <a:t>Vraag de pedorthisten hoeveel aanpassingsrondes realistisch zijn.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Dit is de dia waar in de praktijk de meeste fouten gemaakt worden. Loop de drie condities traag door en benoem dat conditie 2 vaak vergeten wordt. Dezelfde drie condities komen terug op maand 6, 12 en 18.</a:t>
            </a:r>
          </a:p>
          <a:p/>
          <a:p>
            <a:r>
              <a:t>INTERACTIE</a:t>
            </a:r>
          </a:p>
          <a:p>
            <a:r>
              <a:t>Vraag: "wie meet er vandaag al in de schoen zonder zool?"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Geef eerst het overzicht. De volgende dia's lopen elk moment af.</a:t>
            </a:r>
          </a:p>
          <a:p/>
          <a:p>
            <a:r>
              <a:t>INTERACTIE</a:t>
            </a:r>
          </a:p>
          <a:p>
            <a:r>
              <a:t>Geen. De detaildia's komen hierna.</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Benadruk dat de loting door de PI gebeurt met verzegelde enveloppen, vier blokken van zes per centrum. Niemand kiest zelf.</a:t>
            </a:r>
          </a:p>
          <a:p/>
          <a:p>
            <a:r>
              <a:t>INTERACTIE</a:t>
            </a:r>
          </a:p>
          <a:p>
            <a:r>
              <a:t>Deel het screeningsformulier uit en laat ze het invullen voor een patiënt die ze vorige week zagen.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Benadruk dat de loting door de PI gebeurt met verzegelde enveloppen, vier blokken van zes per centrum. Niemand kiest zelf.</a:t>
            </a:r>
          </a:p>
          <a:p/>
          <a:p>
            <a:r>
              <a:t>INTERACTIE</a:t>
            </a:r>
          </a:p>
          <a:p>
            <a:r>
              <a:t>Deel het screeningsformulier uit en laat ze het invullen voor een patiënt die ze vorige week zagen.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Twee criteria worden het vaakst gemist: de resectie mag niet de eerste metatarsaalkop betreffen, en een enkel-voetorthese sluit uit omdat de sensoren er niet in passen.</a:t>
            </a:r>
          </a:p>
          <a:p/>
          <a:p>
            <a:r>
              <a:t>INTERACTIE</a:t>
            </a:r>
          </a:p>
          <a:p>
            <a:r>
              <a:t>Vraag per criterium of het in hun patiëntenbestand vaak voorkomt.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Dit bezoek loopt uit. Zeg hoeveel tijd u ervoor moet inplannen en waarom de volgorde vastligt.</a:t>
            </a:r>
          </a:p>
          <a:p/>
          <a:p>
            <a:r>
              <a:t>INTERACTIE</a:t>
            </a:r>
          </a:p>
          <a:p>
            <a:r>
              <a:t>Laat ze in duo's de volgorde van de handelingen leggen met de formulieren op tafel.</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Dit bezoek loopt uit. Zeg hoeveel tijd u ervoor moet inplannen en waarom de volgorde vastligt.</a:t>
            </a:r>
          </a:p>
          <a:p/>
          <a:p>
            <a:r>
              <a:t>INTERACTIE</a:t>
            </a:r>
          </a:p>
          <a:p>
            <a:r>
              <a:t>Laat ze in duo's de volgorde van de handelingen leggen met de formulieren op tafel.</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Plan hier de meeste tijd van de sessie voor. Dit bezoek bepaalt of de primaire uitkomst bruikbaar wordt.</a:t>
            </a:r>
          </a:p>
          <a:p/>
          <a:p>
            <a:r>
              <a:t>INTERACTIE</a:t>
            </a:r>
          </a:p>
          <a:p>
            <a:r>
              <a:t>Demonstreer het plaatsen en activeren van een Orthotimer op een losse zool.</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Plan hier de meeste tijd van de sessie voor. Dit bezoek bepaalt of de primaire uitkomst bruikbaar wordt.</a:t>
            </a:r>
          </a:p>
          <a:p/>
          <a:p>
            <a:r>
              <a:t>INTERACTIE</a:t>
            </a:r>
          </a:p>
          <a:p>
            <a:r>
              <a:t>Demonstreer het plaatsen en activeren van een Orthotimer op een losse zool.</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Dit zijn zes identieke bezoeken. Zeg dat expliciet: het ritme is elke drie maanden en de handelingen zijn elke keer dezelfde.</a:t>
            </a:r>
          </a:p>
          <a:p/>
          <a:p>
            <a:r>
              <a:t>INTERACTIE</a:t>
            </a:r>
          </a:p>
          <a:p>
            <a:r>
              <a:t>Vraag hoe zij een gemiste afspraak in de praktijk opvangen.</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Dit zijn zes identieke bezoeken. Zeg dat expliciet: het ritme is elke drie maanden en de handelingen zijn elke keer dezelfde.</a:t>
            </a:r>
          </a:p>
          <a:p/>
          <a:p>
            <a:r>
              <a:t>INTERACTIE</a:t>
            </a:r>
          </a:p>
          <a:p>
            <a:r>
              <a:t>Vraag hoe zij een gemiste afspraak in de praktijk opvangen.</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Dit is de dia die het vaakst vergeten wordt bij het inplannen. Zet de drie data nu al in de agenda van de patiënt.</a:t>
            </a:r>
          </a:p>
          <a:p/>
          <a:p>
            <a:r>
              <a:t>INTERACTIE</a:t>
            </a:r>
          </a:p>
          <a:p>
            <a:r>
              <a:t>Laat elk centrum benoemen wie de drukmeting op maand 18 zal doen.</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Dit is de dia die het vaakst vergeten wordt bij het inplannen. Zet de drie data nu al in de agenda van de patiënt.</a:t>
            </a:r>
          </a:p>
          <a:p/>
          <a:p>
            <a:r>
              <a:t>INTERACTIE</a:t>
            </a:r>
          </a:p>
          <a:p>
            <a:r>
              <a:t>Laat elk centrum benoemen wie de drukmeting op maand 18 zal doen.</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Sluit blok 3 hiermee af. De zaal herkent de dia van het begin.</a:t>
            </a:r>
          </a:p>
          <a:p/>
          <a:p>
            <a:r>
              <a:t>INTERACTIE</a:t>
            </a:r>
          </a:p>
          <a:p>
            <a:r>
              <a:t>Vraag welk moment hun het meest zorgen baart.</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p/>
          <a:p>
            <a:r>
              <a:t>INTERACTIE</a:t>
            </a:r>
          </a:p>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Benoem dat de Orthotimer géén GPS, microfoon of camera heeft. Die vraag komt gegarandeerd.</a:t>
            </a:r>
          </a:p>
          <a:p/>
          <a:p>
            <a:r>
              <a:t>INTERACTIE</a:t>
            </a:r>
          </a:p>
          <a:p>
            <a:r>
              <a:t>Laat de toestellen rondgaan. Fysiek werkt beter dan een dia.</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Laat deze dia even staan zonder te praten. De sensor is fysiek zo klein dat het beeld het argument al maakt.</a:t>
            </a:r>
          </a:p>
          <a:p/>
          <a:p>
            <a:r>
              <a:t>INTERACTIE</a:t>
            </a:r>
          </a:p>
          <a:p>
            <a:r>
              <a:t>Geef er een door de zaal terwijl u praat.</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Dit is de dia voor de pedorthisten. Benadruk dat de zool anders is in een orthopedische schoen dan in een confectieschoen, en dat de pasvorm in bínnen- én buitenschoeisel apart beoordeeld wordt.</a:t>
            </a:r>
          </a:p>
          <a:p/>
          <a:p>
            <a:r>
              <a:t>INTERACTIE</a:t>
            </a:r>
          </a:p>
          <a:p>
            <a:r>
              <a:t>Vraag of deze opbouw afwijkt van wat ze vandaag maken. Waar het afwijkt, noteer dat: het is input voor de procesevaluatie.</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Dit is de dia waar de meeste vragen op komen. Neem de tijd voor de uren per dag: dat is de brug tussen de MoveMonitor en de Orthotimer.</a:t>
            </a:r>
          </a:p>
          <a:p/>
          <a:p>
            <a:r>
              <a:t>INTERACTIE</a:t>
            </a:r>
          </a:p>
          <a:p>
            <a:r>
              <a:t>Laat iemand de instellingen voordoen op een testsensor.</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Vermeld dat een ongebruikt toestel elke drie maanden opgeladen moet worden, anders zakt de batterijprestatie.</a:t>
            </a:r>
          </a:p>
          <a:p/>
          <a:p>
            <a:r>
              <a:t>INTERACTIE</a:t>
            </a:r>
          </a:p>
          <a:p>
            <a:r>
              <a:t>Vraag wie de toestellen in hun centrum beheert. Dat moet één persoon zijn.</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Het script begint met toestemming vragen voor het gesprek zelf, en duurt twintig tot dertig minuten. Wie nee zegt, krijgt de brochure mee en een nieuwe afspraak.</a:t>
            </a:r>
          </a:p>
          <a:p/>
          <a:p>
            <a:r>
              <a:t>INTERACTIE</a:t>
            </a:r>
          </a:p>
          <a:p>
            <a:r>
              <a:t>Rollenspel van twee minuten met een vrijwilliger uit de zaal.</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Dit is de dia waar u stilvalt. Geen haast. Vraag of het helder is voordat u doorgaat.</a:t>
            </a:r>
          </a:p>
          <a:p/>
          <a:p>
            <a:r>
              <a:t>INTERACTIE</a:t>
            </a:r>
          </a:p>
          <a:p>
            <a:r>
              <a:t>Laat iemand het in eigen woorden herhalen. Zo weet u of het zit.</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Dit is de dia die de zaal ontspant én scherpt. Zeg het zinnetje onderaan letterlijk.</a:t>
            </a:r>
          </a:p>
          <a:p/>
          <a:p>
            <a:r>
              <a:t>INTERACTIE</a:t>
            </a:r>
          </a:p>
          <a:p>
            <a:r>
              <a:t>Vraag of iemand een situatie kan bedenken waarvan hij niet weet of het gemeld moet worden. Bespreek er twee.</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Kijk elke groep aan bij hun rij. Namen noemen als u ze kent.</a:t>
            </a:r>
          </a:p>
          <a:p/>
          <a:p>
            <a:r>
              <a:t>INTERACTIE</a:t>
            </a:r>
          </a:p>
          <a:p>
            <a:r>
              <a:t>Vraag per rij: "herkenbaar, of mis ik iets?" Pas de taakverdeling ter plekke aan als dat nodig is.</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Het cijfer rechts ontspant de zaal. Zeg het expliciet en wacht even.</a:t>
            </a:r>
          </a:p>
          <a:p/>
          <a:p>
            <a:r>
              <a:t>INTERACTIE</a:t>
            </a:r>
          </a:p>
          <a:p>
            <a:r>
              <a:t>Geen.</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Sla over wat al gevraagd is. Deze dia is een vangnet, geen programma.</a:t>
            </a:r>
          </a:p>
          <a:p/>
          <a:p>
            <a:r>
              <a:t>INTERACTIE</a:t>
            </a:r>
          </a:p>
          <a:p>
            <a:r>
              <a:t>Toon hem alleen als de vragen opdrogen.</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Laat dit stil invullen. Iemand die twijfelt zegt dat niet hardop in een volle zaal, wel op papier.</a:t>
            </a:r>
          </a:p>
          <a:p/>
          <a:p>
            <a:r>
              <a:t>INTERACTIE</a:t>
            </a:r>
          </a:p>
          <a:p>
            <a:r>
              <a:t>Verzamel de blaadjes. Waar drie of meer mensen dezelfde handeling aanvinken, plant u een extra sessie.</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Laat het register rondgaan tijdens deze dia, niet erna. Anders vertrekt de helft zonder te tekenen.</a:t>
            </a:r>
          </a:p>
          <a:p/>
          <a:p>
            <a:r>
              <a:t>INTERACTIE</a:t>
            </a:r>
          </a:p>
          <a:p>
            <a:r>
              <a:t>Tel hardop hoeveel handtekeningen u nodig hebt en hoeveel er al staan.</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PRESENTATIETIP</a:t>
            </a:r>
          </a:p>
          <a:p>
            <a:r>
              <a:t>Laat deze dia staan tijdens het napraten. Zeg erbij dat kleine dingen ook mogen — een sensor die niet uitleest is geen domme vraag.</a:t>
            </a:r>
          </a:p>
          <a:p/>
          <a:p>
            <a:r>
              <a:t>INTERACTIE</a:t>
            </a:r>
          </a:p>
          <a:p>
            <a:r>
              <a:t>Loop rond terwijl de dia staat. Wie een vraag heeft, komt naar het gezicht dat op het scherm staat.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3.png"/><Relationship Id="rId6"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3.png"/><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3.png"/><Relationship Id="rId4" Type="http://schemas.openxmlformats.org/officeDocument/2006/relationships/notesSlide" Target="../notesSlides/notesSlide6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34984" y="952476"/>
            <a:ext cx="10921726" cy="2984425"/>
          </a:xfrm>
          <a:prstGeom prst="roundRect">
            <a:avLst>
              <a:gd name="adj" fmla="val 4500"/>
            </a:avLst>
          </a:prstGeom>
          <a:solidFill>
            <a:srgbClr val="0A2A44">
              <a:alpha val="60000"/>
            </a:srgbClr>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ro"/>
          <p:cNvSpPr txBox="1"/>
          <p:nvPr/>
        </p:nvSpPr>
        <p:spPr>
          <a:xfrm>
            <a:off x="952476" y="1308067"/>
            <a:ext cx="8889777" cy="1714457"/>
          </a:xfrm>
          <a:prstGeom prst="rect">
            <a:avLst/>
          </a:prstGeom>
          <a:noFill/>
        </p:spPr>
        <p:txBody>
          <a:bodyPr wrap="square" anchor="t" lIns="0" rIns="0" tIns="0" bIns="0">
            <a:spAutoFit/>
          </a:bodyPr>
          <a:lstStyle/>
          <a:p>
            <a:pPr algn="l">
              <a:lnSpc>
                <a:spcPct val="92000"/>
              </a:lnSpc>
            </a:pPr>
            <a:r>
              <a:rPr sz="11000" b="1">
                <a:solidFill>
                  <a:srgbClr val="F2F8FC"/>
                </a:solidFill>
                <a:latin typeface="Segoe UI"/>
              </a:rPr>
              <a:t>PARADISE</a:t>
            </a:r>
          </a:p>
        </p:txBody>
      </p:sp>
      <p:sp>
        <p:nvSpPr>
          <p:cNvPr id="5" name="TextBox 4"/>
          <p:cNvSpPr txBox="1"/>
          <p:nvPr/>
        </p:nvSpPr>
        <p:spPr>
          <a:xfrm>
            <a:off x="990575" y="2806629"/>
            <a:ext cx="7619809" cy="571485"/>
          </a:xfrm>
          <a:prstGeom prst="rect">
            <a:avLst/>
          </a:prstGeom>
          <a:noFill/>
        </p:spPr>
        <p:txBody>
          <a:bodyPr wrap="square" anchor="t" lIns="0" rIns="0" tIns="0" bIns="0">
            <a:spAutoFit/>
          </a:bodyPr>
          <a:lstStyle/>
          <a:p>
            <a:pPr algn="l">
              <a:lnSpc>
                <a:spcPct val="125000"/>
              </a:lnSpc>
            </a:pPr>
            <a:r>
              <a:rPr sz="3600" b="1">
                <a:solidFill>
                  <a:srgbClr val="52BDEC"/>
                </a:solidFill>
                <a:latin typeface="Segoe UI"/>
              </a:rPr>
              <a:t>Opleidingssessie</a:t>
            </a:r>
          </a:p>
        </p:txBody>
      </p:sp>
      <p:sp>
        <p:nvSpPr>
          <p:cNvPr id="6" name="TextBox 5"/>
          <p:cNvSpPr txBox="1"/>
          <p:nvPr/>
        </p:nvSpPr>
        <p:spPr>
          <a:xfrm>
            <a:off x="990575" y="3505112"/>
            <a:ext cx="8254793" cy="444488"/>
          </a:xfrm>
          <a:prstGeom prst="rect">
            <a:avLst/>
          </a:prstGeom>
          <a:noFill/>
        </p:spPr>
        <p:txBody>
          <a:bodyPr wrap="square" anchor="t" lIns="0" rIns="0" tIns="0" bIns="0">
            <a:spAutoFit/>
          </a:bodyPr>
          <a:lstStyle/>
          <a:p>
            <a:pPr algn="l">
              <a:lnSpc>
                <a:spcPct val="125000"/>
              </a:lnSpc>
            </a:pPr>
            <a:r>
              <a:rPr sz="1800" b="0">
                <a:solidFill>
                  <a:srgbClr val="8FB6D0"/>
                </a:solidFill>
                <a:latin typeface="Segoe UI Light"/>
              </a:rPr>
              <a:t>Zo voert u het protocol uit — bezoek per bezoek, formulier per formulier</a:t>
            </a:r>
          </a:p>
        </p:txBody>
      </p:sp>
      <p:sp>
        <p:nvSpPr>
          <p:cNvPr id="7" name="Rounded Rectangle 6"/>
          <p:cNvSpPr/>
          <p:nvPr/>
        </p:nvSpPr>
        <p:spPr>
          <a:xfrm>
            <a:off x="634984" y="4063898"/>
            <a:ext cx="3538893" cy="1269968"/>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0878" y="4267093"/>
            <a:ext cx="3157903" cy="736581"/>
          </a:xfrm>
          <a:prstGeom prst="rect">
            <a:avLst/>
          </a:prstGeom>
          <a:noFill/>
        </p:spPr>
        <p:txBody>
          <a:bodyPr wrap="square" anchor="t" lIns="0" rIns="0" tIns="0" bIns="0">
            <a:spAutoFit/>
          </a:bodyPr>
          <a:lstStyle/>
          <a:p>
            <a:pPr algn="l">
              <a:lnSpc>
                <a:spcPct val="100000"/>
              </a:lnSpc>
            </a:pPr>
            <a:r>
              <a:rPr sz="5400" b="1">
                <a:solidFill>
                  <a:srgbClr val="52BDEC"/>
                </a:solidFill>
                <a:latin typeface="Segoe UI"/>
              </a:rPr>
              <a:t>6</a:t>
            </a:r>
          </a:p>
        </p:txBody>
      </p:sp>
      <p:sp>
        <p:nvSpPr>
          <p:cNvPr id="9" name="TextBox 8"/>
          <p:cNvSpPr txBox="1"/>
          <p:nvPr/>
        </p:nvSpPr>
        <p:spPr>
          <a:xfrm>
            <a:off x="863578" y="4965575"/>
            <a:ext cx="3157903" cy="253993"/>
          </a:xfrm>
          <a:prstGeom prst="rect">
            <a:avLst/>
          </a:prstGeom>
          <a:noFill/>
        </p:spPr>
        <p:txBody>
          <a:bodyPr wrap="square" anchor="t" lIns="0" rIns="0" tIns="0" bIns="0">
            <a:spAutoFit/>
          </a:bodyPr>
          <a:lstStyle/>
          <a:p>
            <a:pPr algn="l">
              <a:lnSpc>
                <a:spcPct val="125000"/>
              </a:lnSpc>
            </a:pPr>
            <a:r>
              <a:rPr sz="1400" b="0" spc="140">
                <a:solidFill>
                  <a:srgbClr val="8FB6D0"/>
                </a:solidFill>
                <a:latin typeface="Consolas"/>
              </a:rPr>
              <a:t>CENTRA</a:t>
            </a:r>
          </a:p>
        </p:txBody>
      </p:sp>
      <p:sp>
        <p:nvSpPr>
          <p:cNvPr id="10" name="Rounded Rectangle 9"/>
          <p:cNvSpPr/>
          <p:nvPr/>
        </p:nvSpPr>
        <p:spPr>
          <a:xfrm>
            <a:off x="4326273" y="4063898"/>
            <a:ext cx="3538893" cy="1269968"/>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2168" y="4267093"/>
            <a:ext cx="3157903" cy="736581"/>
          </a:xfrm>
          <a:prstGeom prst="rect">
            <a:avLst/>
          </a:prstGeom>
          <a:noFill/>
        </p:spPr>
        <p:txBody>
          <a:bodyPr wrap="square" anchor="t" lIns="0" rIns="0" tIns="0" bIns="0">
            <a:spAutoFit/>
          </a:bodyPr>
          <a:lstStyle/>
          <a:p>
            <a:pPr algn="l">
              <a:lnSpc>
                <a:spcPct val="100000"/>
              </a:lnSpc>
            </a:pPr>
            <a:r>
              <a:rPr sz="5400" b="1">
                <a:solidFill>
                  <a:srgbClr val="52BDEC"/>
                </a:solidFill>
                <a:latin typeface="Segoe UI"/>
              </a:rPr>
              <a:t>24</a:t>
            </a:r>
          </a:p>
        </p:txBody>
      </p:sp>
      <p:sp>
        <p:nvSpPr>
          <p:cNvPr id="12" name="TextBox 11"/>
          <p:cNvSpPr txBox="1"/>
          <p:nvPr/>
        </p:nvSpPr>
        <p:spPr>
          <a:xfrm>
            <a:off x="4554868" y="4965575"/>
            <a:ext cx="3157903" cy="253993"/>
          </a:xfrm>
          <a:prstGeom prst="rect">
            <a:avLst/>
          </a:prstGeom>
          <a:noFill/>
        </p:spPr>
        <p:txBody>
          <a:bodyPr wrap="square" anchor="t" lIns="0" rIns="0" tIns="0" bIns="0">
            <a:spAutoFit/>
          </a:bodyPr>
          <a:lstStyle/>
          <a:p>
            <a:pPr algn="l">
              <a:lnSpc>
                <a:spcPct val="125000"/>
              </a:lnSpc>
            </a:pPr>
            <a:r>
              <a:rPr sz="1400" b="0" spc="140">
                <a:solidFill>
                  <a:srgbClr val="8FB6D0"/>
                </a:solidFill>
                <a:latin typeface="Consolas"/>
              </a:rPr>
              <a:t>INCLUSIES PER CENTRUM</a:t>
            </a:r>
          </a:p>
        </p:txBody>
      </p:sp>
      <p:sp>
        <p:nvSpPr>
          <p:cNvPr id="13" name="Rounded Rectangle 12"/>
          <p:cNvSpPr/>
          <p:nvPr/>
        </p:nvSpPr>
        <p:spPr>
          <a:xfrm>
            <a:off x="8017563" y="4063898"/>
            <a:ext cx="3538893" cy="1269968"/>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33458" y="4267093"/>
            <a:ext cx="3157903" cy="736581"/>
          </a:xfrm>
          <a:prstGeom prst="rect">
            <a:avLst/>
          </a:prstGeom>
          <a:noFill/>
        </p:spPr>
        <p:txBody>
          <a:bodyPr wrap="square" anchor="t" lIns="0" rIns="0" tIns="0" bIns="0">
            <a:spAutoFit/>
          </a:bodyPr>
          <a:lstStyle/>
          <a:p>
            <a:pPr algn="l">
              <a:lnSpc>
                <a:spcPct val="100000"/>
              </a:lnSpc>
            </a:pPr>
            <a:r>
              <a:rPr sz="5400" b="1">
                <a:solidFill>
                  <a:srgbClr val="52BDEC"/>
                </a:solidFill>
                <a:latin typeface="Segoe UI"/>
              </a:rPr>
              <a:t>18</a:t>
            </a:r>
          </a:p>
        </p:txBody>
      </p:sp>
      <p:sp>
        <p:nvSpPr>
          <p:cNvPr id="15" name="TextBox 14"/>
          <p:cNvSpPr txBox="1"/>
          <p:nvPr/>
        </p:nvSpPr>
        <p:spPr>
          <a:xfrm>
            <a:off x="8246157" y="4965575"/>
            <a:ext cx="3157903" cy="253993"/>
          </a:xfrm>
          <a:prstGeom prst="rect">
            <a:avLst/>
          </a:prstGeom>
          <a:noFill/>
        </p:spPr>
        <p:txBody>
          <a:bodyPr wrap="square" anchor="t" lIns="0" rIns="0" tIns="0" bIns="0">
            <a:spAutoFit/>
          </a:bodyPr>
          <a:lstStyle/>
          <a:p>
            <a:pPr algn="l">
              <a:lnSpc>
                <a:spcPct val="125000"/>
              </a:lnSpc>
            </a:pPr>
            <a:r>
              <a:rPr sz="1400" b="0" spc="140">
                <a:solidFill>
                  <a:srgbClr val="8FB6D0"/>
                </a:solidFill>
                <a:latin typeface="Consolas"/>
              </a:rPr>
              <a:t>MAANDEN</a:t>
            </a:r>
          </a:p>
        </p:txBody>
      </p:sp>
      <p:sp>
        <p:nvSpPr>
          <p:cNvPr id="16" name="Rectangle 15"/>
          <p:cNvSpPr/>
          <p:nvPr/>
        </p:nvSpPr>
        <p:spPr>
          <a:xfrm>
            <a:off x="634984" y="5549761"/>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34984" y="5714857"/>
            <a:ext cx="1685893" cy="609584"/>
          </a:xfrm>
          <a:prstGeom prst="roundRect">
            <a:avLst>
              <a:gd name="adj" fmla="val 4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kuleuven.png"/>
          <p:cNvPicPr>
            <a:picLocks noChangeAspect="1"/>
          </p:cNvPicPr>
          <p:nvPr/>
        </p:nvPicPr>
        <p:blipFill>
          <a:blip r:embed="rId2"/>
          <a:stretch>
            <a:fillRect/>
          </a:stretch>
        </p:blipFill>
        <p:spPr>
          <a:xfrm>
            <a:off x="787380" y="5822804"/>
            <a:ext cx="1381100" cy="393690"/>
          </a:xfrm>
          <a:prstGeom prst="rect">
            <a:avLst/>
          </a:prstGeom>
        </p:spPr>
      </p:pic>
      <p:sp>
        <p:nvSpPr>
          <p:cNvPr id="19" name="Rounded Rectangle 18"/>
          <p:cNvSpPr/>
          <p:nvPr/>
        </p:nvSpPr>
        <p:spPr>
          <a:xfrm>
            <a:off x="2574870" y="5714857"/>
            <a:ext cx="1420884" cy="609584"/>
          </a:xfrm>
          <a:prstGeom prst="roundRect">
            <a:avLst>
              <a:gd name="adj" fmla="val 4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vub.png"/>
          <p:cNvPicPr>
            <a:picLocks noChangeAspect="1"/>
          </p:cNvPicPr>
          <p:nvPr/>
        </p:nvPicPr>
        <p:blipFill>
          <a:blip r:embed="rId3"/>
          <a:stretch>
            <a:fillRect/>
          </a:stretch>
        </p:blipFill>
        <p:spPr>
          <a:xfrm>
            <a:off x="2727267" y="5822804"/>
            <a:ext cx="1116092" cy="393690"/>
          </a:xfrm>
          <a:prstGeom prst="rect">
            <a:avLst/>
          </a:prstGeom>
        </p:spPr>
      </p:pic>
      <p:sp>
        <p:nvSpPr>
          <p:cNvPr id="21" name="TextBox 20"/>
          <p:cNvSpPr txBox="1"/>
          <p:nvPr/>
        </p:nvSpPr>
        <p:spPr>
          <a:xfrm>
            <a:off x="4249749" y="5765655"/>
            <a:ext cx="2158946" cy="253993"/>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FWO</a:t>
            </a:r>
          </a:p>
        </p:txBody>
      </p:sp>
      <p:sp>
        <p:nvSpPr>
          <p:cNvPr id="22" name="TextBox 21"/>
          <p:cNvSpPr txBox="1"/>
          <p:nvPr/>
        </p:nvSpPr>
        <p:spPr>
          <a:xfrm>
            <a:off x="4262449" y="6019649"/>
            <a:ext cx="2666933" cy="215894"/>
          </a:xfrm>
          <a:prstGeom prst="rect">
            <a:avLst/>
          </a:prstGeom>
          <a:noFill/>
        </p:spPr>
        <p:txBody>
          <a:bodyPr wrap="square" anchor="t" lIns="0" rIns="0" tIns="0" bIns="0">
            <a:spAutoFit/>
          </a:bodyPr>
          <a:lstStyle/>
          <a:p>
            <a:pPr algn="l">
              <a:lnSpc>
                <a:spcPct val="125000"/>
              </a:lnSpc>
            </a:pPr>
            <a:r>
              <a:rPr sz="1200" b="0">
                <a:solidFill>
                  <a:srgbClr val="8FB6D0"/>
                </a:solidFill>
                <a:latin typeface="Consolas"/>
              </a:rPr>
              <a:t>TBM T000226N</a:t>
            </a:r>
          </a:p>
        </p:txBody>
      </p:sp>
      <p:sp>
        <p:nvSpPr>
          <p:cNvPr id="23" name="TextBox 22"/>
          <p:cNvSpPr txBox="1"/>
          <p:nvPr/>
        </p:nvSpPr>
        <p:spPr>
          <a:xfrm>
            <a:off x="634984" y="6489537"/>
            <a:ext cx="9524761"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Opleiding studiepersoneel · protocolversie 1.0 · 17 mei 2026 · S71769</a:t>
            </a:r>
          </a:p>
        </p:txBody>
      </p:sp>
      <p:pic>
        <p:nvPicPr>
          <p:cNvPr id="24" name="merk" descr="merk.png"/>
          <p:cNvPicPr>
            <a:picLocks noChangeAspect="1"/>
          </p:cNvPicPr>
          <p:nvPr/>
        </p:nvPicPr>
        <p:blipFill>
          <a:blip r:embed="rId4"/>
          <a:stretch>
            <a:fillRect/>
          </a:stretch>
        </p:blipFill>
        <p:spPr>
          <a:xfrm>
            <a:off x="9590513" y="1244568"/>
            <a:ext cx="1646451" cy="1904952"/>
          </a:xfrm>
          <a:prstGeom prst="rect">
            <a:avLst/>
          </a:prstGeom>
        </p:spPr>
      </p:pic>
    </p:spTree>
  </p:cSld>
  <p:clrMapOvr>
    <a:masterClrMapping/>
  </p:clrMapOvr>
  <p:transition xmlns:p14="http://schemas.microsoft.com/office/powerpoint/2010/main" spd="slow" p14:dur="900">
    <p:fade/>
  </p:transition>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WAAROM U HIER ZIT</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Na vandaag kunt u dit zelf</a:t>
            </a:r>
          </a:p>
        </p:txBody>
      </p:sp>
      <p:sp>
        <p:nvSpPr>
          <p:cNvPr id="5" name="Rectangle 4"/>
          <p:cNvSpPr/>
          <p:nvPr/>
        </p:nvSpPr>
        <p:spPr>
          <a:xfrm>
            <a:off x="634984" y="1828754"/>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634984" y="1968450"/>
            <a:ext cx="241293" cy="2412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4984" y="1968450"/>
            <a:ext cx="241293" cy="2412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1</a:t>
            </a:r>
          </a:p>
        </p:txBody>
      </p:sp>
      <p:sp>
        <p:nvSpPr>
          <p:cNvPr id="8" name="TextBox 7"/>
          <p:cNvSpPr txBox="1"/>
          <p:nvPr/>
        </p:nvSpPr>
        <p:spPr>
          <a:xfrm>
            <a:off x="1003274" y="1943051"/>
            <a:ext cx="4825879" cy="3047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Screenen</a:t>
            </a:r>
          </a:p>
        </p:txBody>
      </p:sp>
      <p:sp>
        <p:nvSpPr>
          <p:cNvPr id="9" name="TextBox 8"/>
          <p:cNvSpPr txBox="1"/>
          <p:nvPr/>
        </p:nvSpPr>
        <p:spPr>
          <a:xfrm>
            <a:off x="1003274" y="2273243"/>
            <a:ext cx="4825879" cy="507987"/>
          </a:xfrm>
          <a:prstGeom prst="rect">
            <a:avLst/>
          </a:prstGeom>
          <a:noFill/>
        </p:spPr>
        <p:txBody>
          <a:bodyPr wrap="square" anchor="t" lIns="0" rIns="0" tIns="0" bIns="0">
            <a:spAutoFit/>
          </a:bodyPr>
          <a:lstStyle/>
          <a:p>
            <a:pPr algn="l">
              <a:lnSpc>
                <a:spcPct val="130000"/>
              </a:lnSpc>
            </a:pPr>
            <a:r>
              <a:rPr sz="1450" b="0">
                <a:solidFill>
                  <a:srgbClr val="8FB6D0"/>
                </a:solidFill>
                <a:latin typeface="Segoe UI"/>
              </a:rPr>
              <a:t>beoordelen of een patiënt in aanmerking komt, en de screening vastleggen vóór de toestemming</a:t>
            </a:r>
          </a:p>
        </p:txBody>
      </p:sp>
      <p:sp>
        <p:nvSpPr>
          <p:cNvPr id="10" name="Rectangle 9"/>
          <p:cNvSpPr/>
          <p:nvPr/>
        </p:nvSpPr>
        <p:spPr>
          <a:xfrm>
            <a:off x="6349841" y="1828754"/>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349841" y="1968450"/>
            <a:ext cx="241293" cy="2412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49841" y="1968450"/>
            <a:ext cx="241293" cy="2412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2</a:t>
            </a:r>
          </a:p>
        </p:txBody>
      </p:sp>
      <p:sp>
        <p:nvSpPr>
          <p:cNvPr id="13" name="TextBox 12"/>
          <p:cNvSpPr txBox="1"/>
          <p:nvPr/>
        </p:nvSpPr>
        <p:spPr>
          <a:xfrm>
            <a:off x="6718132" y="1943051"/>
            <a:ext cx="4825879" cy="3047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Meten</a:t>
            </a:r>
          </a:p>
        </p:txBody>
      </p:sp>
      <p:sp>
        <p:nvSpPr>
          <p:cNvPr id="14" name="TextBox 13"/>
          <p:cNvSpPr txBox="1"/>
          <p:nvPr/>
        </p:nvSpPr>
        <p:spPr>
          <a:xfrm>
            <a:off x="6718132" y="2273243"/>
            <a:ext cx="4825879" cy="507987"/>
          </a:xfrm>
          <a:prstGeom prst="rect">
            <a:avLst/>
          </a:prstGeom>
          <a:noFill/>
        </p:spPr>
        <p:txBody>
          <a:bodyPr wrap="square" anchor="t" lIns="0" rIns="0" tIns="0" bIns="0">
            <a:spAutoFit/>
          </a:bodyPr>
          <a:lstStyle/>
          <a:p>
            <a:pPr algn="l">
              <a:lnSpc>
                <a:spcPct val="130000"/>
              </a:lnSpc>
            </a:pPr>
            <a:r>
              <a:rPr sz="1450" b="0">
                <a:solidFill>
                  <a:srgbClr val="8FB6D0"/>
                </a:solidFill>
                <a:latin typeface="Segoe UI"/>
              </a:rPr>
              <a:t>een drukmeting uitvoeren die aan het protocol voldoet, en de drie doelregio's bepalen</a:t>
            </a:r>
          </a:p>
        </p:txBody>
      </p:sp>
      <p:sp>
        <p:nvSpPr>
          <p:cNvPr id="15" name="Rectangle 14"/>
          <p:cNvSpPr/>
          <p:nvPr/>
        </p:nvSpPr>
        <p:spPr>
          <a:xfrm>
            <a:off x="634984" y="2793930"/>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34984" y="2933626"/>
            <a:ext cx="241293" cy="2412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4984" y="2933626"/>
            <a:ext cx="241293" cy="2412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3</a:t>
            </a:r>
          </a:p>
        </p:txBody>
      </p:sp>
      <p:sp>
        <p:nvSpPr>
          <p:cNvPr id="18" name="TextBox 17"/>
          <p:cNvSpPr txBox="1"/>
          <p:nvPr/>
        </p:nvSpPr>
        <p:spPr>
          <a:xfrm>
            <a:off x="1003274" y="2908227"/>
            <a:ext cx="4825879" cy="3047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Optimaliseren</a:t>
            </a:r>
          </a:p>
        </p:txBody>
      </p:sp>
      <p:sp>
        <p:nvSpPr>
          <p:cNvPr id="19" name="TextBox 18"/>
          <p:cNvSpPr txBox="1"/>
          <p:nvPr/>
        </p:nvSpPr>
        <p:spPr>
          <a:xfrm>
            <a:off x="1003274" y="3238419"/>
            <a:ext cx="4825879" cy="507987"/>
          </a:xfrm>
          <a:prstGeom prst="rect">
            <a:avLst/>
          </a:prstGeom>
          <a:noFill/>
        </p:spPr>
        <p:txBody>
          <a:bodyPr wrap="square" anchor="t" lIns="0" rIns="0" tIns="0" bIns="0">
            <a:spAutoFit/>
          </a:bodyPr>
          <a:lstStyle/>
          <a:p>
            <a:pPr algn="l">
              <a:lnSpc>
                <a:spcPct val="130000"/>
              </a:lnSpc>
            </a:pPr>
            <a:r>
              <a:rPr sz="1450" b="0">
                <a:solidFill>
                  <a:srgbClr val="8FB6D0"/>
                </a:solidFill>
                <a:latin typeface="Segoe UI"/>
              </a:rPr>
              <a:t>de zool aanpassen tot de norm gehaald is, en vastleggen wat u aangepast hebt</a:t>
            </a:r>
          </a:p>
        </p:txBody>
      </p:sp>
      <p:sp>
        <p:nvSpPr>
          <p:cNvPr id="20" name="Rectangle 19"/>
          <p:cNvSpPr/>
          <p:nvPr/>
        </p:nvSpPr>
        <p:spPr>
          <a:xfrm>
            <a:off x="6349841" y="2793930"/>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349841" y="2933626"/>
            <a:ext cx="241293" cy="2412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9841" y="2933626"/>
            <a:ext cx="241293" cy="2412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4</a:t>
            </a:r>
          </a:p>
        </p:txBody>
      </p:sp>
      <p:sp>
        <p:nvSpPr>
          <p:cNvPr id="23" name="TextBox 22"/>
          <p:cNvSpPr txBox="1"/>
          <p:nvPr/>
        </p:nvSpPr>
        <p:spPr>
          <a:xfrm>
            <a:off x="6718132" y="2908227"/>
            <a:ext cx="4825879" cy="3047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Uitlezen</a:t>
            </a:r>
          </a:p>
        </p:txBody>
      </p:sp>
      <p:sp>
        <p:nvSpPr>
          <p:cNvPr id="24" name="TextBox 23"/>
          <p:cNvSpPr txBox="1"/>
          <p:nvPr/>
        </p:nvSpPr>
        <p:spPr>
          <a:xfrm>
            <a:off x="6718132" y="3238419"/>
            <a:ext cx="4825879" cy="507987"/>
          </a:xfrm>
          <a:prstGeom prst="rect">
            <a:avLst/>
          </a:prstGeom>
          <a:noFill/>
        </p:spPr>
        <p:txBody>
          <a:bodyPr wrap="square" anchor="t" lIns="0" rIns="0" tIns="0" bIns="0">
            <a:spAutoFit/>
          </a:bodyPr>
          <a:lstStyle/>
          <a:p>
            <a:pPr algn="l">
              <a:lnSpc>
                <a:spcPct val="130000"/>
              </a:lnSpc>
            </a:pPr>
            <a:r>
              <a:rPr sz="1450" b="0">
                <a:solidFill>
                  <a:srgbClr val="8FB6D0"/>
                </a:solidFill>
                <a:latin typeface="Segoe UI"/>
              </a:rPr>
              <a:t>de Orthotimer en de MoveMonitor correct instellen, uitlezen en terugkoppelen</a:t>
            </a:r>
          </a:p>
        </p:txBody>
      </p:sp>
      <p:sp>
        <p:nvSpPr>
          <p:cNvPr id="25" name="Rectangle 24"/>
          <p:cNvSpPr/>
          <p:nvPr/>
        </p:nvSpPr>
        <p:spPr>
          <a:xfrm>
            <a:off x="634984" y="3759106"/>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34984" y="3898802"/>
            <a:ext cx="241293" cy="2412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4984" y="3898802"/>
            <a:ext cx="241293" cy="2412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5</a:t>
            </a:r>
          </a:p>
        </p:txBody>
      </p:sp>
      <p:sp>
        <p:nvSpPr>
          <p:cNvPr id="28" name="TextBox 27"/>
          <p:cNvSpPr txBox="1"/>
          <p:nvPr/>
        </p:nvSpPr>
        <p:spPr>
          <a:xfrm>
            <a:off x="1003274" y="3873403"/>
            <a:ext cx="4825879" cy="3047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Begeleiden</a:t>
            </a:r>
          </a:p>
        </p:txBody>
      </p:sp>
      <p:sp>
        <p:nvSpPr>
          <p:cNvPr id="29" name="TextBox 28"/>
          <p:cNvSpPr txBox="1"/>
          <p:nvPr/>
        </p:nvSpPr>
        <p:spPr>
          <a:xfrm>
            <a:off x="1003274" y="4203594"/>
            <a:ext cx="4825879" cy="507987"/>
          </a:xfrm>
          <a:prstGeom prst="rect">
            <a:avLst/>
          </a:prstGeom>
          <a:noFill/>
        </p:spPr>
        <p:txBody>
          <a:bodyPr wrap="square" anchor="t" lIns="0" rIns="0" tIns="0" bIns="0">
            <a:spAutoFit/>
          </a:bodyPr>
          <a:lstStyle/>
          <a:p>
            <a:pPr algn="l">
              <a:lnSpc>
                <a:spcPct val="130000"/>
              </a:lnSpc>
            </a:pPr>
            <a:r>
              <a:rPr sz="1450" b="0">
                <a:solidFill>
                  <a:srgbClr val="8FB6D0"/>
                </a:solidFill>
                <a:latin typeface="Segoe UI"/>
              </a:rPr>
              <a:t>een SEBIA-gesprek voeren, inclusief teach-back</a:t>
            </a:r>
          </a:p>
        </p:txBody>
      </p:sp>
      <p:sp>
        <p:nvSpPr>
          <p:cNvPr id="30" name="Rectangle 29"/>
          <p:cNvSpPr/>
          <p:nvPr/>
        </p:nvSpPr>
        <p:spPr>
          <a:xfrm>
            <a:off x="6349841" y="3759106"/>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6349841" y="3898802"/>
            <a:ext cx="241293" cy="2412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49841" y="3898802"/>
            <a:ext cx="241293" cy="2412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6</a:t>
            </a:r>
          </a:p>
        </p:txBody>
      </p:sp>
      <p:sp>
        <p:nvSpPr>
          <p:cNvPr id="33" name="TextBox 32"/>
          <p:cNvSpPr txBox="1"/>
          <p:nvPr/>
        </p:nvSpPr>
        <p:spPr>
          <a:xfrm>
            <a:off x="6718132" y="3873403"/>
            <a:ext cx="4825879" cy="3047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Registreren</a:t>
            </a:r>
          </a:p>
        </p:txBody>
      </p:sp>
      <p:sp>
        <p:nvSpPr>
          <p:cNvPr id="34" name="TextBox 33"/>
          <p:cNvSpPr txBox="1"/>
          <p:nvPr/>
        </p:nvSpPr>
        <p:spPr>
          <a:xfrm>
            <a:off x="6718132" y="4203594"/>
            <a:ext cx="4825879" cy="507987"/>
          </a:xfrm>
          <a:prstGeom prst="rect">
            <a:avLst/>
          </a:prstGeom>
          <a:noFill/>
        </p:spPr>
        <p:txBody>
          <a:bodyPr wrap="square" anchor="t" lIns="0" rIns="0" tIns="0" bIns="0">
            <a:spAutoFit/>
          </a:bodyPr>
          <a:lstStyle/>
          <a:p>
            <a:pPr algn="l">
              <a:lnSpc>
                <a:spcPct val="130000"/>
              </a:lnSpc>
            </a:pPr>
            <a:r>
              <a:rPr sz="1450" b="0">
                <a:solidFill>
                  <a:srgbClr val="8FB6D0"/>
                </a:solidFill>
                <a:latin typeface="Segoe UI"/>
              </a:rPr>
              <a:t>invoeren in REDCap, en weten wat u meldt als er iets afwijkt</a:t>
            </a:r>
          </a:p>
        </p:txBody>
      </p:sp>
      <p:sp>
        <p:nvSpPr>
          <p:cNvPr id="35" name="Rounded Rectangle 34"/>
          <p:cNvSpPr/>
          <p:nvPr/>
        </p:nvSpPr>
        <p:spPr>
          <a:xfrm>
            <a:off x="634984" y="4851278"/>
            <a:ext cx="10921726" cy="736581"/>
          </a:xfrm>
          <a:prstGeom prst="roundRect">
            <a:avLst>
              <a:gd name="adj" fmla="val 4500"/>
            </a:avLst>
          </a:prstGeom>
          <a:solidFill>
            <a:srgbClr val="0A2A44"/>
          </a:solidFill>
          <a:ln w="9525">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52476" y="5029074"/>
            <a:ext cx="10286742" cy="444488"/>
          </a:xfrm>
          <a:prstGeom prst="rect">
            <a:avLst/>
          </a:prstGeom>
          <a:noFill/>
        </p:spPr>
        <p:txBody>
          <a:bodyPr wrap="square" anchor="t" lIns="0" rIns="0" tIns="0" bIns="0">
            <a:spAutoFit/>
          </a:bodyPr>
          <a:lstStyle/>
          <a:p>
            <a:pPr algn="l">
              <a:lnSpc>
                <a:spcPct val="140000"/>
              </a:lnSpc>
            </a:pPr>
            <a:r>
              <a:rPr sz="1900" b="0">
                <a:solidFill>
                  <a:srgbClr val="F2F8FC"/>
                </a:solidFill>
                <a:latin typeface="Segoe UI"/>
              </a:rPr>
              <a:t>Wie een van deze zes niet aandurft na vandaag, moet dat zeggen. Daar is deze sessie voor.</a:t>
            </a:r>
          </a:p>
        </p:txBody>
      </p:sp>
      <p:sp>
        <p:nvSpPr>
          <p:cNvPr id="37" name="TextBox 3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02 / 66</a:t>
            </a:r>
          </a:p>
        </p:txBody>
      </p:sp>
      <p:pic>
        <p:nvPicPr>
          <p:cNvPr id="38"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PROGRAMMA VAN VANDAAG</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Vier blokken</a:t>
            </a:r>
          </a:p>
        </p:txBody>
      </p:sp>
      <p:sp>
        <p:nvSpPr>
          <p:cNvPr id="5" name="Rounded Rectangle 4"/>
          <p:cNvSpPr/>
          <p:nvPr/>
        </p:nvSpPr>
        <p:spPr>
          <a:xfrm>
            <a:off x="634984" y="2158946"/>
            <a:ext cx="2616071" cy="3047923"/>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5479" y="2412939"/>
            <a:ext cx="2235080" cy="419089"/>
          </a:xfrm>
          <a:prstGeom prst="rect">
            <a:avLst/>
          </a:prstGeom>
          <a:noFill/>
        </p:spPr>
        <p:txBody>
          <a:bodyPr wrap="square" anchor="t" lIns="0" rIns="0" tIns="0" bIns="0">
            <a:spAutoFit/>
          </a:bodyPr>
          <a:lstStyle/>
          <a:p>
            <a:pPr algn="l">
              <a:lnSpc>
                <a:spcPct val="125000"/>
              </a:lnSpc>
            </a:pPr>
            <a:r>
              <a:rPr sz="2800" b="1">
                <a:solidFill>
                  <a:srgbClr val="52BDEC"/>
                </a:solidFill>
                <a:latin typeface="Consolas"/>
              </a:rPr>
              <a:t>01</a:t>
            </a:r>
          </a:p>
        </p:txBody>
      </p:sp>
      <p:sp>
        <p:nvSpPr>
          <p:cNvPr id="7" name="TextBox 6"/>
          <p:cNvSpPr txBox="1"/>
          <p:nvPr/>
        </p:nvSpPr>
        <p:spPr>
          <a:xfrm>
            <a:off x="825479" y="2959026"/>
            <a:ext cx="2235080" cy="761980"/>
          </a:xfrm>
          <a:prstGeom prst="rect">
            <a:avLst/>
          </a:prstGeom>
          <a:noFill/>
        </p:spPr>
        <p:txBody>
          <a:bodyPr wrap="square" anchor="t" lIns="0" rIns="0" tIns="0" bIns="0">
            <a:spAutoFit/>
          </a:bodyPr>
          <a:lstStyle/>
          <a:p>
            <a:pPr algn="l">
              <a:lnSpc>
                <a:spcPct val="115000"/>
              </a:lnSpc>
            </a:pPr>
            <a:r>
              <a:rPr sz="2300" b="1">
                <a:solidFill>
                  <a:srgbClr val="F2F8FC"/>
                </a:solidFill>
                <a:latin typeface="Segoe UI"/>
              </a:rPr>
              <a:t>Waarom zo</a:t>
            </a:r>
          </a:p>
        </p:txBody>
      </p:sp>
      <p:sp>
        <p:nvSpPr>
          <p:cNvPr id="8" name="TextBox 7"/>
          <p:cNvSpPr txBox="1"/>
          <p:nvPr/>
        </p:nvSpPr>
        <p:spPr>
          <a:xfrm>
            <a:off x="825479" y="3848003"/>
            <a:ext cx="2235080" cy="1142971"/>
          </a:xfrm>
          <a:prstGeom prst="rect">
            <a:avLst/>
          </a:prstGeom>
          <a:noFill/>
        </p:spPr>
        <p:txBody>
          <a:bodyPr wrap="square" anchor="t" lIns="0" rIns="0" tIns="0" bIns="0">
            <a:spAutoFit/>
          </a:bodyPr>
          <a:lstStyle/>
          <a:p>
            <a:pPr algn="l">
              <a:lnSpc>
                <a:spcPct val="135000"/>
              </a:lnSpc>
            </a:pPr>
            <a:r>
              <a:rPr sz="1500" b="0">
                <a:solidFill>
                  <a:srgbClr val="8FB6D0"/>
                </a:solidFill>
                <a:latin typeface="Segoe UI"/>
              </a:rPr>
              <a:t>De vier cijfers achter de twee normen</a:t>
            </a:r>
          </a:p>
        </p:txBody>
      </p:sp>
      <p:sp>
        <p:nvSpPr>
          <p:cNvPr id="9" name="Rounded Rectangle 8"/>
          <p:cNvSpPr/>
          <p:nvPr/>
        </p:nvSpPr>
        <p:spPr>
          <a:xfrm>
            <a:off x="3403451" y="2158946"/>
            <a:ext cx="2616071" cy="3047923"/>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93946" y="2412939"/>
            <a:ext cx="2235080" cy="419089"/>
          </a:xfrm>
          <a:prstGeom prst="rect">
            <a:avLst/>
          </a:prstGeom>
          <a:noFill/>
        </p:spPr>
        <p:txBody>
          <a:bodyPr wrap="square" anchor="t" lIns="0" rIns="0" tIns="0" bIns="0">
            <a:spAutoFit/>
          </a:bodyPr>
          <a:lstStyle/>
          <a:p>
            <a:pPr algn="l">
              <a:lnSpc>
                <a:spcPct val="125000"/>
              </a:lnSpc>
            </a:pPr>
            <a:r>
              <a:rPr sz="2800" b="1">
                <a:solidFill>
                  <a:srgbClr val="52BDEC"/>
                </a:solidFill>
                <a:latin typeface="Consolas"/>
              </a:rPr>
              <a:t>02</a:t>
            </a:r>
          </a:p>
        </p:txBody>
      </p:sp>
      <p:sp>
        <p:nvSpPr>
          <p:cNvPr id="11" name="TextBox 10"/>
          <p:cNvSpPr txBox="1"/>
          <p:nvPr/>
        </p:nvSpPr>
        <p:spPr>
          <a:xfrm>
            <a:off x="3593946" y="2959026"/>
            <a:ext cx="2235080" cy="761980"/>
          </a:xfrm>
          <a:prstGeom prst="rect">
            <a:avLst/>
          </a:prstGeom>
          <a:noFill/>
        </p:spPr>
        <p:txBody>
          <a:bodyPr wrap="square" anchor="t" lIns="0" rIns="0" tIns="0" bIns="0">
            <a:spAutoFit/>
          </a:bodyPr>
          <a:lstStyle/>
          <a:p>
            <a:pPr algn="l">
              <a:lnSpc>
                <a:spcPct val="115000"/>
              </a:lnSpc>
            </a:pPr>
            <a:r>
              <a:rPr sz="2300" b="1">
                <a:solidFill>
                  <a:srgbClr val="F2F8FC"/>
                </a:solidFill>
                <a:latin typeface="Segoe UI"/>
              </a:rPr>
              <a:t>De meting</a:t>
            </a:r>
          </a:p>
        </p:txBody>
      </p:sp>
      <p:sp>
        <p:nvSpPr>
          <p:cNvPr id="12" name="TextBox 11"/>
          <p:cNvSpPr txBox="1"/>
          <p:nvPr/>
        </p:nvSpPr>
        <p:spPr>
          <a:xfrm>
            <a:off x="3593946" y="3848003"/>
            <a:ext cx="2235080" cy="1142971"/>
          </a:xfrm>
          <a:prstGeom prst="rect">
            <a:avLst/>
          </a:prstGeom>
          <a:noFill/>
        </p:spPr>
        <p:txBody>
          <a:bodyPr wrap="square" anchor="t" lIns="0" rIns="0" tIns="0" bIns="0">
            <a:spAutoFit/>
          </a:bodyPr>
          <a:lstStyle/>
          <a:p>
            <a:pPr algn="l">
              <a:lnSpc>
                <a:spcPct val="135000"/>
              </a:lnSpc>
            </a:pPr>
            <a:r>
              <a:rPr sz="1500" b="0">
                <a:solidFill>
                  <a:srgbClr val="8FB6D0"/>
                </a:solidFill>
                <a:latin typeface="Segoe UI"/>
              </a:rPr>
              <a:t>Drukmeting, doelregio's en de norm</a:t>
            </a:r>
          </a:p>
        </p:txBody>
      </p:sp>
      <p:sp>
        <p:nvSpPr>
          <p:cNvPr id="13" name="Rounded Rectangle 12"/>
          <p:cNvSpPr/>
          <p:nvPr/>
        </p:nvSpPr>
        <p:spPr>
          <a:xfrm>
            <a:off x="6171918" y="2158946"/>
            <a:ext cx="2616071" cy="3047923"/>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62413" y="2412939"/>
            <a:ext cx="2235080" cy="419089"/>
          </a:xfrm>
          <a:prstGeom prst="rect">
            <a:avLst/>
          </a:prstGeom>
          <a:noFill/>
        </p:spPr>
        <p:txBody>
          <a:bodyPr wrap="square" anchor="t" lIns="0" rIns="0" tIns="0" bIns="0">
            <a:spAutoFit/>
          </a:bodyPr>
          <a:lstStyle/>
          <a:p>
            <a:pPr algn="l">
              <a:lnSpc>
                <a:spcPct val="125000"/>
              </a:lnSpc>
            </a:pPr>
            <a:r>
              <a:rPr sz="2800" b="1">
                <a:solidFill>
                  <a:srgbClr val="52BDEC"/>
                </a:solidFill>
                <a:latin typeface="Consolas"/>
              </a:rPr>
              <a:t>03</a:t>
            </a:r>
          </a:p>
        </p:txBody>
      </p:sp>
      <p:sp>
        <p:nvSpPr>
          <p:cNvPr id="15" name="TextBox 14"/>
          <p:cNvSpPr txBox="1"/>
          <p:nvPr/>
        </p:nvSpPr>
        <p:spPr>
          <a:xfrm>
            <a:off x="6362413" y="2959026"/>
            <a:ext cx="2235080" cy="761980"/>
          </a:xfrm>
          <a:prstGeom prst="rect">
            <a:avLst/>
          </a:prstGeom>
          <a:noFill/>
        </p:spPr>
        <p:txBody>
          <a:bodyPr wrap="square" anchor="t" lIns="0" rIns="0" tIns="0" bIns="0">
            <a:spAutoFit/>
          </a:bodyPr>
          <a:lstStyle/>
          <a:p>
            <a:pPr algn="l">
              <a:lnSpc>
                <a:spcPct val="115000"/>
              </a:lnSpc>
            </a:pPr>
            <a:r>
              <a:rPr sz="2300" b="1">
                <a:solidFill>
                  <a:srgbClr val="F2F8FC"/>
                </a:solidFill>
                <a:latin typeface="Segoe UI"/>
              </a:rPr>
              <a:t>Het traject</a:t>
            </a:r>
          </a:p>
        </p:txBody>
      </p:sp>
      <p:sp>
        <p:nvSpPr>
          <p:cNvPr id="16" name="TextBox 15"/>
          <p:cNvSpPr txBox="1"/>
          <p:nvPr/>
        </p:nvSpPr>
        <p:spPr>
          <a:xfrm>
            <a:off x="6362413" y="3848003"/>
            <a:ext cx="2235080" cy="1142971"/>
          </a:xfrm>
          <a:prstGeom prst="rect">
            <a:avLst/>
          </a:prstGeom>
          <a:noFill/>
        </p:spPr>
        <p:txBody>
          <a:bodyPr wrap="square" anchor="t" lIns="0" rIns="0" tIns="0" bIns="0">
            <a:spAutoFit/>
          </a:bodyPr>
          <a:lstStyle/>
          <a:p>
            <a:pPr algn="l">
              <a:lnSpc>
                <a:spcPct val="135000"/>
              </a:lnSpc>
            </a:pPr>
            <a:r>
              <a:rPr sz="1500" b="0">
                <a:solidFill>
                  <a:srgbClr val="8FB6D0"/>
                </a:solidFill>
                <a:latin typeface="Segoe UI"/>
              </a:rPr>
              <a:t>Bezoek per bezoek, met de formulieren</a:t>
            </a:r>
          </a:p>
        </p:txBody>
      </p:sp>
      <p:sp>
        <p:nvSpPr>
          <p:cNvPr id="17" name="Rounded Rectangle 16"/>
          <p:cNvSpPr/>
          <p:nvPr/>
        </p:nvSpPr>
        <p:spPr>
          <a:xfrm>
            <a:off x="8940385" y="2158946"/>
            <a:ext cx="2616071" cy="3047923"/>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30881" y="2412939"/>
            <a:ext cx="2235080" cy="419089"/>
          </a:xfrm>
          <a:prstGeom prst="rect">
            <a:avLst/>
          </a:prstGeom>
          <a:noFill/>
        </p:spPr>
        <p:txBody>
          <a:bodyPr wrap="square" anchor="t" lIns="0" rIns="0" tIns="0" bIns="0">
            <a:spAutoFit/>
          </a:bodyPr>
          <a:lstStyle/>
          <a:p>
            <a:pPr algn="l">
              <a:lnSpc>
                <a:spcPct val="125000"/>
              </a:lnSpc>
            </a:pPr>
            <a:r>
              <a:rPr sz="2800" b="1">
                <a:solidFill>
                  <a:srgbClr val="52BDEC"/>
                </a:solidFill>
                <a:latin typeface="Consolas"/>
              </a:rPr>
              <a:t>04</a:t>
            </a:r>
          </a:p>
        </p:txBody>
      </p:sp>
      <p:sp>
        <p:nvSpPr>
          <p:cNvPr id="19" name="TextBox 18"/>
          <p:cNvSpPr txBox="1"/>
          <p:nvPr/>
        </p:nvSpPr>
        <p:spPr>
          <a:xfrm>
            <a:off x="9130881" y="2959026"/>
            <a:ext cx="2235080" cy="761980"/>
          </a:xfrm>
          <a:prstGeom prst="rect">
            <a:avLst/>
          </a:prstGeom>
          <a:noFill/>
        </p:spPr>
        <p:txBody>
          <a:bodyPr wrap="square" anchor="t" lIns="0" rIns="0" tIns="0" bIns="0">
            <a:spAutoFit/>
          </a:bodyPr>
          <a:lstStyle/>
          <a:p>
            <a:pPr algn="l">
              <a:lnSpc>
                <a:spcPct val="115000"/>
              </a:lnSpc>
            </a:pPr>
            <a:r>
              <a:rPr sz="2300" b="1">
                <a:solidFill>
                  <a:srgbClr val="F2F8FC"/>
                </a:solidFill>
                <a:latin typeface="Segoe UI"/>
              </a:rPr>
              <a:t>Toestellen en regels</a:t>
            </a:r>
          </a:p>
        </p:txBody>
      </p:sp>
      <p:sp>
        <p:nvSpPr>
          <p:cNvPr id="20" name="TextBox 19"/>
          <p:cNvSpPr txBox="1"/>
          <p:nvPr/>
        </p:nvSpPr>
        <p:spPr>
          <a:xfrm>
            <a:off x="9130881" y="3848003"/>
            <a:ext cx="2235080" cy="1142971"/>
          </a:xfrm>
          <a:prstGeom prst="rect">
            <a:avLst/>
          </a:prstGeom>
          <a:noFill/>
        </p:spPr>
        <p:txBody>
          <a:bodyPr wrap="square" anchor="t" lIns="0" rIns="0" tIns="0" bIns="0">
            <a:spAutoFit/>
          </a:bodyPr>
          <a:lstStyle/>
          <a:p>
            <a:pPr algn="l">
              <a:lnSpc>
                <a:spcPct val="135000"/>
              </a:lnSpc>
            </a:pPr>
            <a:r>
              <a:rPr sz="1500" b="0">
                <a:solidFill>
                  <a:srgbClr val="8FB6D0"/>
                </a:solidFill>
                <a:latin typeface="Segoe UI"/>
              </a:rPr>
              <a:t>SOP's, SEBIA, blindering, REDCap</a:t>
            </a:r>
          </a:p>
        </p:txBody>
      </p:sp>
      <p:sp>
        <p:nvSpPr>
          <p:cNvPr id="21" name="TextBox 2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03 / 66</a:t>
            </a:r>
          </a:p>
        </p:txBody>
      </p:sp>
      <p:pic>
        <p:nvPicPr>
          <p:cNvPr id="22"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WAAR WE STAAN</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144 patiënten, 24 per centrum</a:t>
            </a:r>
          </a:p>
        </p:txBody>
      </p:sp>
      <p:sp>
        <p:nvSpPr>
          <p:cNvPr id="5" name="Oval 4"/>
          <p:cNvSpPr/>
          <p:nvPr/>
        </p:nvSpPr>
        <p:spPr>
          <a:xfrm>
            <a:off x="634984"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6278"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117572"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358866"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60015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184145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208274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232404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256533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280662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304792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28921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353051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377180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401309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425439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449568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473698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497827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521956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546086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570215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594345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618474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634984"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76278"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117572"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358866"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60015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84145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208274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232404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256533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280662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304792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328921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353051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377180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401309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425439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449568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473698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497827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521956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546086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570215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594345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618474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634984"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876278"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1117572"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1358866"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160015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184145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208274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232404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256533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Oval 61"/>
          <p:cNvSpPr/>
          <p:nvPr/>
        </p:nvSpPr>
        <p:spPr>
          <a:xfrm>
            <a:off x="280662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val 62"/>
          <p:cNvSpPr/>
          <p:nvPr/>
        </p:nvSpPr>
        <p:spPr>
          <a:xfrm>
            <a:off x="304792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Oval 63"/>
          <p:cNvSpPr/>
          <p:nvPr/>
        </p:nvSpPr>
        <p:spPr>
          <a:xfrm>
            <a:off x="328921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Oval 64"/>
          <p:cNvSpPr/>
          <p:nvPr/>
        </p:nvSpPr>
        <p:spPr>
          <a:xfrm>
            <a:off x="353051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Oval 65"/>
          <p:cNvSpPr/>
          <p:nvPr/>
        </p:nvSpPr>
        <p:spPr>
          <a:xfrm>
            <a:off x="377180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Oval 66"/>
          <p:cNvSpPr/>
          <p:nvPr/>
        </p:nvSpPr>
        <p:spPr>
          <a:xfrm>
            <a:off x="401309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Oval 67"/>
          <p:cNvSpPr/>
          <p:nvPr/>
        </p:nvSpPr>
        <p:spPr>
          <a:xfrm>
            <a:off x="425439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Oval 68"/>
          <p:cNvSpPr/>
          <p:nvPr/>
        </p:nvSpPr>
        <p:spPr>
          <a:xfrm>
            <a:off x="449568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Oval 69"/>
          <p:cNvSpPr/>
          <p:nvPr/>
        </p:nvSpPr>
        <p:spPr>
          <a:xfrm>
            <a:off x="473698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Oval 70"/>
          <p:cNvSpPr/>
          <p:nvPr/>
        </p:nvSpPr>
        <p:spPr>
          <a:xfrm>
            <a:off x="497827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Oval 71"/>
          <p:cNvSpPr/>
          <p:nvPr/>
        </p:nvSpPr>
        <p:spPr>
          <a:xfrm>
            <a:off x="521956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Oval 72"/>
          <p:cNvSpPr/>
          <p:nvPr/>
        </p:nvSpPr>
        <p:spPr>
          <a:xfrm>
            <a:off x="546086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Oval 73"/>
          <p:cNvSpPr/>
          <p:nvPr/>
        </p:nvSpPr>
        <p:spPr>
          <a:xfrm>
            <a:off x="570215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Oval 74"/>
          <p:cNvSpPr/>
          <p:nvPr/>
        </p:nvSpPr>
        <p:spPr>
          <a:xfrm>
            <a:off x="594345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Oval 75"/>
          <p:cNvSpPr/>
          <p:nvPr/>
        </p:nvSpPr>
        <p:spPr>
          <a:xfrm>
            <a:off x="618474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Oval 76"/>
          <p:cNvSpPr/>
          <p:nvPr/>
        </p:nvSpPr>
        <p:spPr>
          <a:xfrm>
            <a:off x="634984"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Oval 77"/>
          <p:cNvSpPr/>
          <p:nvPr/>
        </p:nvSpPr>
        <p:spPr>
          <a:xfrm>
            <a:off x="876278"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Oval 78"/>
          <p:cNvSpPr/>
          <p:nvPr/>
        </p:nvSpPr>
        <p:spPr>
          <a:xfrm>
            <a:off x="1117572"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Oval 79"/>
          <p:cNvSpPr/>
          <p:nvPr/>
        </p:nvSpPr>
        <p:spPr>
          <a:xfrm>
            <a:off x="1358866"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160015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Oval 81"/>
          <p:cNvSpPr/>
          <p:nvPr/>
        </p:nvSpPr>
        <p:spPr>
          <a:xfrm>
            <a:off x="184145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Oval 82"/>
          <p:cNvSpPr/>
          <p:nvPr/>
        </p:nvSpPr>
        <p:spPr>
          <a:xfrm>
            <a:off x="208274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Oval 83"/>
          <p:cNvSpPr/>
          <p:nvPr/>
        </p:nvSpPr>
        <p:spPr>
          <a:xfrm>
            <a:off x="232404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Oval 84"/>
          <p:cNvSpPr/>
          <p:nvPr/>
        </p:nvSpPr>
        <p:spPr>
          <a:xfrm>
            <a:off x="256533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Oval 85"/>
          <p:cNvSpPr/>
          <p:nvPr/>
        </p:nvSpPr>
        <p:spPr>
          <a:xfrm>
            <a:off x="280662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304792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Oval 87"/>
          <p:cNvSpPr/>
          <p:nvPr/>
        </p:nvSpPr>
        <p:spPr>
          <a:xfrm>
            <a:off x="328921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Oval 88"/>
          <p:cNvSpPr/>
          <p:nvPr/>
        </p:nvSpPr>
        <p:spPr>
          <a:xfrm>
            <a:off x="353051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Oval 89"/>
          <p:cNvSpPr/>
          <p:nvPr/>
        </p:nvSpPr>
        <p:spPr>
          <a:xfrm>
            <a:off x="377180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Oval 90"/>
          <p:cNvSpPr/>
          <p:nvPr/>
        </p:nvSpPr>
        <p:spPr>
          <a:xfrm>
            <a:off x="401309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Oval 91"/>
          <p:cNvSpPr/>
          <p:nvPr/>
        </p:nvSpPr>
        <p:spPr>
          <a:xfrm>
            <a:off x="425439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Oval 92"/>
          <p:cNvSpPr/>
          <p:nvPr/>
        </p:nvSpPr>
        <p:spPr>
          <a:xfrm>
            <a:off x="449568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Oval 93"/>
          <p:cNvSpPr/>
          <p:nvPr/>
        </p:nvSpPr>
        <p:spPr>
          <a:xfrm>
            <a:off x="473698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Oval 94"/>
          <p:cNvSpPr/>
          <p:nvPr/>
        </p:nvSpPr>
        <p:spPr>
          <a:xfrm>
            <a:off x="497827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Oval 95"/>
          <p:cNvSpPr/>
          <p:nvPr/>
        </p:nvSpPr>
        <p:spPr>
          <a:xfrm>
            <a:off x="521956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Oval 96"/>
          <p:cNvSpPr/>
          <p:nvPr/>
        </p:nvSpPr>
        <p:spPr>
          <a:xfrm>
            <a:off x="546086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Oval 97"/>
          <p:cNvSpPr/>
          <p:nvPr/>
        </p:nvSpPr>
        <p:spPr>
          <a:xfrm>
            <a:off x="570215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Oval 98"/>
          <p:cNvSpPr/>
          <p:nvPr/>
        </p:nvSpPr>
        <p:spPr>
          <a:xfrm>
            <a:off x="594345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Oval 99"/>
          <p:cNvSpPr/>
          <p:nvPr/>
        </p:nvSpPr>
        <p:spPr>
          <a:xfrm>
            <a:off x="618474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Oval 100"/>
          <p:cNvSpPr/>
          <p:nvPr/>
        </p:nvSpPr>
        <p:spPr>
          <a:xfrm>
            <a:off x="634984"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Oval 101"/>
          <p:cNvSpPr/>
          <p:nvPr/>
        </p:nvSpPr>
        <p:spPr>
          <a:xfrm>
            <a:off x="876278"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Oval 102"/>
          <p:cNvSpPr/>
          <p:nvPr/>
        </p:nvSpPr>
        <p:spPr>
          <a:xfrm>
            <a:off x="1117572"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Oval 103"/>
          <p:cNvSpPr/>
          <p:nvPr/>
        </p:nvSpPr>
        <p:spPr>
          <a:xfrm>
            <a:off x="1358866"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Oval 104"/>
          <p:cNvSpPr/>
          <p:nvPr/>
        </p:nvSpPr>
        <p:spPr>
          <a:xfrm>
            <a:off x="160015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Oval 105"/>
          <p:cNvSpPr/>
          <p:nvPr/>
        </p:nvSpPr>
        <p:spPr>
          <a:xfrm>
            <a:off x="184145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Oval 106"/>
          <p:cNvSpPr/>
          <p:nvPr/>
        </p:nvSpPr>
        <p:spPr>
          <a:xfrm>
            <a:off x="208274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Oval 107"/>
          <p:cNvSpPr/>
          <p:nvPr/>
        </p:nvSpPr>
        <p:spPr>
          <a:xfrm>
            <a:off x="232404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Oval 108"/>
          <p:cNvSpPr/>
          <p:nvPr/>
        </p:nvSpPr>
        <p:spPr>
          <a:xfrm>
            <a:off x="256533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Oval 109"/>
          <p:cNvSpPr/>
          <p:nvPr/>
        </p:nvSpPr>
        <p:spPr>
          <a:xfrm>
            <a:off x="280662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Oval 110"/>
          <p:cNvSpPr/>
          <p:nvPr/>
        </p:nvSpPr>
        <p:spPr>
          <a:xfrm>
            <a:off x="304792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Oval 111"/>
          <p:cNvSpPr/>
          <p:nvPr/>
        </p:nvSpPr>
        <p:spPr>
          <a:xfrm>
            <a:off x="328921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Oval 112"/>
          <p:cNvSpPr/>
          <p:nvPr/>
        </p:nvSpPr>
        <p:spPr>
          <a:xfrm>
            <a:off x="353051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Oval 113"/>
          <p:cNvSpPr/>
          <p:nvPr/>
        </p:nvSpPr>
        <p:spPr>
          <a:xfrm>
            <a:off x="377180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Oval 114"/>
          <p:cNvSpPr/>
          <p:nvPr/>
        </p:nvSpPr>
        <p:spPr>
          <a:xfrm>
            <a:off x="401309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Oval 115"/>
          <p:cNvSpPr/>
          <p:nvPr/>
        </p:nvSpPr>
        <p:spPr>
          <a:xfrm>
            <a:off x="425439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Oval 116"/>
          <p:cNvSpPr/>
          <p:nvPr/>
        </p:nvSpPr>
        <p:spPr>
          <a:xfrm>
            <a:off x="449568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Oval 117"/>
          <p:cNvSpPr/>
          <p:nvPr/>
        </p:nvSpPr>
        <p:spPr>
          <a:xfrm>
            <a:off x="473698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Oval 118"/>
          <p:cNvSpPr/>
          <p:nvPr/>
        </p:nvSpPr>
        <p:spPr>
          <a:xfrm>
            <a:off x="497827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Oval 119"/>
          <p:cNvSpPr/>
          <p:nvPr/>
        </p:nvSpPr>
        <p:spPr>
          <a:xfrm>
            <a:off x="521956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Oval 120"/>
          <p:cNvSpPr/>
          <p:nvPr/>
        </p:nvSpPr>
        <p:spPr>
          <a:xfrm>
            <a:off x="546086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Oval 121"/>
          <p:cNvSpPr/>
          <p:nvPr/>
        </p:nvSpPr>
        <p:spPr>
          <a:xfrm>
            <a:off x="570215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Oval 122"/>
          <p:cNvSpPr/>
          <p:nvPr/>
        </p:nvSpPr>
        <p:spPr>
          <a:xfrm>
            <a:off x="594345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Oval 123"/>
          <p:cNvSpPr/>
          <p:nvPr/>
        </p:nvSpPr>
        <p:spPr>
          <a:xfrm>
            <a:off x="618474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Oval 124"/>
          <p:cNvSpPr/>
          <p:nvPr/>
        </p:nvSpPr>
        <p:spPr>
          <a:xfrm>
            <a:off x="634984"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Oval 125"/>
          <p:cNvSpPr/>
          <p:nvPr/>
        </p:nvSpPr>
        <p:spPr>
          <a:xfrm>
            <a:off x="876278"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Oval 126"/>
          <p:cNvSpPr/>
          <p:nvPr/>
        </p:nvSpPr>
        <p:spPr>
          <a:xfrm>
            <a:off x="1117572"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Oval 127"/>
          <p:cNvSpPr/>
          <p:nvPr/>
        </p:nvSpPr>
        <p:spPr>
          <a:xfrm>
            <a:off x="1358866"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Oval 128"/>
          <p:cNvSpPr/>
          <p:nvPr/>
        </p:nvSpPr>
        <p:spPr>
          <a:xfrm>
            <a:off x="160015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Oval 129"/>
          <p:cNvSpPr/>
          <p:nvPr/>
        </p:nvSpPr>
        <p:spPr>
          <a:xfrm>
            <a:off x="184145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Oval 130"/>
          <p:cNvSpPr/>
          <p:nvPr/>
        </p:nvSpPr>
        <p:spPr>
          <a:xfrm>
            <a:off x="208274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Oval 131"/>
          <p:cNvSpPr/>
          <p:nvPr/>
        </p:nvSpPr>
        <p:spPr>
          <a:xfrm>
            <a:off x="232404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Oval 132"/>
          <p:cNvSpPr/>
          <p:nvPr/>
        </p:nvSpPr>
        <p:spPr>
          <a:xfrm>
            <a:off x="256533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Oval 133"/>
          <p:cNvSpPr/>
          <p:nvPr/>
        </p:nvSpPr>
        <p:spPr>
          <a:xfrm>
            <a:off x="280662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Oval 134"/>
          <p:cNvSpPr/>
          <p:nvPr/>
        </p:nvSpPr>
        <p:spPr>
          <a:xfrm>
            <a:off x="304792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Oval 135"/>
          <p:cNvSpPr/>
          <p:nvPr/>
        </p:nvSpPr>
        <p:spPr>
          <a:xfrm>
            <a:off x="328921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Oval 136"/>
          <p:cNvSpPr/>
          <p:nvPr/>
        </p:nvSpPr>
        <p:spPr>
          <a:xfrm>
            <a:off x="353051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Oval 137"/>
          <p:cNvSpPr/>
          <p:nvPr/>
        </p:nvSpPr>
        <p:spPr>
          <a:xfrm>
            <a:off x="377180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Oval 138"/>
          <p:cNvSpPr/>
          <p:nvPr/>
        </p:nvSpPr>
        <p:spPr>
          <a:xfrm>
            <a:off x="401309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Oval 139"/>
          <p:cNvSpPr/>
          <p:nvPr/>
        </p:nvSpPr>
        <p:spPr>
          <a:xfrm>
            <a:off x="425439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Oval 140"/>
          <p:cNvSpPr/>
          <p:nvPr/>
        </p:nvSpPr>
        <p:spPr>
          <a:xfrm>
            <a:off x="449568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Oval 141"/>
          <p:cNvSpPr/>
          <p:nvPr/>
        </p:nvSpPr>
        <p:spPr>
          <a:xfrm>
            <a:off x="473698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Oval 142"/>
          <p:cNvSpPr/>
          <p:nvPr/>
        </p:nvSpPr>
        <p:spPr>
          <a:xfrm>
            <a:off x="497827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Oval 143"/>
          <p:cNvSpPr/>
          <p:nvPr/>
        </p:nvSpPr>
        <p:spPr>
          <a:xfrm>
            <a:off x="521956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Oval 144"/>
          <p:cNvSpPr/>
          <p:nvPr/>
        </p:nvSpPr>
        <p:spPr>
          <a:xfrm>
            <a:off x="546086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Oval 145"/>
          <p:cNvSpPr/>
          <p:nvPr/>
        </p:nvSpPr>
        <p:spPr>
          <a:xfrm>
            <a:off x="570215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Oval 146"/>
          <p:cNvSpPr/>
          <p:nvPr/>
        </p:nvSpPr>
        <p:spPr>
          <a:xfrm>
            <a:off x="594345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Oval 147"/>
          <p:cNvSpPr/>
          <p:nvPr/>
        </p:nvSpPr>
        <p:spPr>
          <a:xfrm>
            <a:off x="618474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TextBox 148"/>
          <p:cNvSpPr txBox="1"/>
          <p:nvPr/>
        </p:nvSpPr>
        <p:spPr>
          <a:xfrm>
            <a:off x="634984" y="3301917"/>
            <a:ext cx="2539936" cy="253993"/>
          </a:xfrm>
          <a:prstGeom prst="rect">
            <a:avLst/>
          </a:prstGeom>
          <a:noFill/>
        </p:spPr>
        <p:txBody>
          <a:bodyPr wrap="square" anchor="t" lIns="0" rIns="0" tIns="0" bIns="0">
            <a:spAutoFit/>
          </a:bodyPr>
          <a:lstStyle/>
          <a:p>
            <a:pPr algn="l">
              <a:lnSpc>
                <a:spcPct val="125000"/>
              </a:lnSpc>
            </a:pPr>
            <a:r>
              <a:rPr sz="1300" b="1" spc="140">
                <a:solidFill>
                  <a:srgbClr val="52BDEC"/>
                </a:solidFill>
                <a:latin typeface="Consolas"/>
              </a:rPr>
              <a:t>72 PARADISE</a:t>
            </a:r>
          </a:p>
        </p:txBody>
      </p:sp>
      <p:sp>
        <p:nvSpPr>
          <p:cNvPr id="150" name="TextBox 149"/>
          <p:cNvSpPr txBox="1"/>
          <p:nvPr/>
        </p:nvSpPr>
        <p:spPr>
          <a:xfrm>
            <a:off x="2412939" y="3301917"/>
            <a:ext cx="2539936" cy="253993"/>
          </a:xfrm>
          <a:prstGeom prst="rect">
            <a:avLst/>
          </a:prstGeom>
          <a:noFill/>
        </p:spPr>
        <p:txBody>
          <a:bodyPr wrap="square" anchor="t" lIns="0" rIns="0" tIns="0" bIns="0">
            <a:spAutoFit/>
          </a:bodyPr>
          <a:lstStyle/>
          <a:p>
            <a:pPr algn="l">
              <a:lnSpc>
                <a:spcPct val="125000"/>
              </a:lnSpc>
            </a:pPr>
            <a:r>
              <a:rPr sz="1300" b="1" spc="140">
                <a:solidFill>
                  <a:srgbClr val="FF7A00"/>
                </a:solidFill>
                <a:latin typeface="Consolas"/>
              </a:rPr>
              <a:t>72 GEBRUIKELIJKE ZORG</a:t>
            </a:r>
          </a:p>
        </p:txBody>
      </p:sp>
      <p:sp>
        <p:nvSpPr>
          <p:cNvPr id="151" name="TextBox 150"/>
          <p:cNvSpPr txBox="1"/>
          <p:nvPr/>
        </p:nvSpPr>
        <p:spPr>
          <a:xfrm>
            <a:off x="6857828" y="1816054"/>
            <a:ext cx="4698882" cy="1587460"/>
          </a:xfrm>
          <a:prstGeom prst="rect">
            <a:avLst/>
          </a:prstGeom>
          <a:noFill/>
        </p:spPr>
        <p:txBody>
          <a:bodyPr wrap="square" anchor="t" lIns="0" rIns="0" tIns="0" bIns="0">
            <a:spAutoFit/>
          </a:bodyPr>
          <a:lstStyle/>
          <a:p>
            <a:pPr algn="l">
              <a:lnSpc>
                <a:spcPct val="130000"/>
              </a:lnSpc>
            </a:pPr>
            <a:r>
              <a:rPr sz="3000" b="1">
                <a:solidFill>
                  <a:srgbClr val="F2F8FC"/>
                </a:solidFill>
                <a:latin typeface="Segoe UI"/>
              </a:rPr>
              <a:t>Elke stip is een patiënt die u zelf includeert.</a:t>
            </a:r>
          </a:p>
          <a:p>
            <a:pPr algn="l">
              <a:lnSpc>
                <a:spcPct val="130000"/>
              </a:lnSpc>
              <a:spcBef>
                <a:spcPts val="500"/>
              </a:spcBef>
            </a:pPr>
            <a:r>
              <a:rPr sz="3000" b="1">
                <a:solidFill>
                  <a:srgbClr val="F2F8FC"/>
                </a:solidFill>
                <a:latin typeface="Segoe UI"/>
              </a:rPr>
              <a:t>24 per kliniek.</a:t>
            </a:r>
          </a:p>
        </p:txBody>
      </p:sp>
      <p:sp>
        <p:nvSpPr>
          <p:cNvPr id="152" name="Rounded Rectangle 151"/>
          <p:cNvSpPr/>
          <p:nvPr/>
        </p:nvSpPr>
        <p:spPr>
          <a:xfrm>
            <a:off x="634984" y="373370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TextBox 152"/>
          <p:cNvSpPr txBox="1"/>
          <p:nvPr/>
        </p:nvSpPr>
        <p:spPr>
          <a:xfrm>
            <a:off x="825479" y="384800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PER CENTRUM</a:t>
            </a:r>
          </a:p>
        </p:txBody>
      </p:sp>
      <p:sp>
        <p:nvSpPr>
          <p:cNvPr id="154" name="TextBox 153"/>
          <p:cNvSpPr txBox="1"/>
          <p:nvPr/>
        </p:nvSpPr>
        <p:spPr>
          <a:xfrm>
            <a:off x="825479" y="408929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24 deelnemers — 12 PARADISE en 12 gebruikelijke zorg</a:t>
            </a:r>
          </a:p>
        </p:txBody>
      </p:sp>
      <p:sp>
        <p:nvSpPr>
          <p:cNvPr id="155" name="Rounded Rectangle 154"/>
          <p:cNvSpPr/>
          <p:nvPr/>
        </p:nvSpPr>
        <p:spPr>
          <a:xfrm>
            <a:off x="6171918" y="373370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TextBox 155"/>
          <p:cNvSpPr txBox="1"/>
          <p:nvPr/>
        </p:nvSpPr>
        <p:spPr>
          <a:xfrm>
            <a:off x="6362413" y="384800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CONTROLEGROEP</a:t>
            </a:r>
          </a:p>
        </p:txBody>
      </p:sp>
      <p:sp>
        <p:nvSpPr>
          <p:cNvPr id="157" name="TextBox 156"/>
          <p:cNvSpPr txBox="1"/>
          <p:nvPr/>
        </p:nvSpPr>
        <p:spPr>
          <a:xfrm>
            <a:off x="6362413" y="408929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Gebruikelijke zorg, onveranderd</a:t>
            </a:r>
          </a:p>
        </p:txBody>
      </p:sp>
      <p:sp>
        <p:nvSpPr>
          <p:cNvPr id="158" name="Rounded Rectangle 157"/>
          <p:cNvSpPr/>
          <p:nvPr/>
        </p:nvSpPr>
        <p:spPr>
          <a:xfrm>
            <a:off x="634984" y="453378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TextBox 158"/>
          <p:cNvSpPr txBox="1"/>
          <p:nvPr/>
        </p:nvSpPr>
        <p:spPr>
          <a:xfrm>
            <a:off x="825479" y="464808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CO-PRIMAIR</a:t>
            </a:r>
          </a:p>
        </p:txBody>
      </p:sp>
      <p:sp>
        <p:nvSpPr>
          <p:cNvPr id="160" name="TextBox 159"/>
          <p:cNvSpPr txBox="1"/>
          <p:nvPr/>
        </p:nvSpPr>
        <p:spPr>
          <a:xfrm>
            <a:off x="825479" y="488937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Recidief én draagtijd, beide op 18 maanden</a:t>
            </a:r>
          </a:p>
        </p:txBody>
      </p:sp>
      <p:sp>
        <p:nvSpPr>
          <p:cNvPr id="161" name="Rounded Rectangle 160"/>
          <p:cNvSpPr/>
          <p:nvPr/>
        </p:nvSpPr>
        <p:spPr>
          <a:xfrm>
            <a:off x="6171918" y="453378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TextBox 161"/>
          <p:cNvSpPr txBox="1"/>
          <p:nvPr/>
        </p:nvSpPr>
        <p:spPr>
          <a:xfrm>
            <a:off x="6362413" y="4648083"/>
            <a:ext cx="5003547" cy="215894"/>
          </a:xfrm>
          <a:prstGeom prst="rect">
            <a:avLst/>
          </a:prstGeom>
          <a:noFill/>
        </p:spPr>
        <p:txBody>
          <a:bodyPr wrap="square" anchor="t" lIns="0" rIns="0" tIns="0" bIns="0">
            <a:spAutoFit/>
          </a:bodyPr>
          <a:lstStyle/>
          <a:p>
            <a:pPr algn="l">
              <a:lnSpc>
                <a:spcPct val="125000"/>
              </a:lnSpc>
            </a:pPr>
            <a:r>
              <a:rPr sz="1200" b="1" spc="140">
                <a:solidFill>
                  <a:srgbClr val="52BDEC"/>
                </a:solidFill>
                <a:latin typeface="Consolas"/>
              </a:rPr>
              <a:t>POSITIEF</a:t>
            </a:r>
          </a:p>
        </p:txBody>
      </p:sp>
      <p:sp>
        <p:nvSpPr>
          <p:cNvPr id="163" name="TextBox 162"/>
          <p:cNvSpPr txBox="1"/>
          <p:nvPr/>
        </p:nvSpPr>
        <p:spPr>
          <a:xfrm>
            <a:off x="6362413" y="4889377"/>
            <a:ext cx="5003547" cy="292092"/>
          </a:xfrm>
          <a:prstGeom prst="rect">
            <a:avLst/>
          </a:prstGeom>
          <a:noFill/>
        </p:spPr>
        <p:txBody>
          <a:bodyPr wrap="square" anchor="t" lIns="0" rIns="0" tIns="0" bIns="0">
            <a:spAutoFit/>
          </a:bodyPr>
          <a:lstStyle/>
          <a:p>
            <a:pPr algn="l">
              <a:lnSpc>
                <a:spcPct val="125000"/>
              </a:lnSpc>
            </a:pPr>
            <a:r>
              <a:rPr sz="1550" b="0">
                <a:solidFill>
                  <a:srgbClr val="F2F8FC"/>
                </a:solidFill>
                <a:latin typeface="Segoe UI"/>
              </a:rPr>
              <a:t>Alleen als béíde eindpunten halen</a:t>
            </a:r>
          </a:p>
        </p:txBody>
      </p:sp>
      <p:sp>
        <p:nvSpPr>
          <p:cNvPr id="164" name="Rectangle 163"/>
          <p:cNvSpPr/>
          <p:nvPr/>
        </p:nvSpPr>
        <p:spPr>
          <a:xfrm>
            <a:off x="634984" y="544816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TextBox 164"/>
          <p:cNvSpPr txBox="1"/>
          <p:nvPr/>
        </p:nvSpPr>
        <p:spPr>
          <a:xfrm>
            <a:off x="634984" y="5575160"/>
            <a:ext cx="5714857" cy="215894"/>
          </a:xfrm>
          <a:prstGeom prst="rect">
            <a:avLst/>
          </a:prstGeom>
          <a:noFill/>
        </p:spPr>
        <p:txBody>
          <a:bodyPr wrap="square" anchor="t" lIns="0" rIns="0" tIns="0" bIns="0">
            <a:spAutoFit/>
          </a:bodyPr>
          <a:lstStyle/>
          <a:p>
            <a:pPr algn="l">
              <a:lnSpc>
                <a:spcPct val="125000"/>
              </a:lnSpc>
            </a:pPr>
            <a:r>
              <a:rPr sz="1200" b="1" spc="140">
                <a:solidFill>
                  <a:srgbClr val="8FB6D0"/>
                </a:solidFill>
                <a:latin typeface="Consolas"/>
              </a:rPr>
              <a:t>DE ZES DEELNEMENDE VOETKLINIEKEN</a:t>
            </a:r>
          </a:p>
        </p:txBody>
      </p:sp>
      <p:sp>
        <p:nvSpPr>
          <p:cNvPr id="166" name="Rounded Rectangle 165"/>
          <p:cNvSpPr/>
          <p:nvPr/>
        </p:nvSpPr>
        <p:spPr>
          <a:xfrm>
            <a:off x="634984"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TextBox 166"/>
          <p:cNvSpPr txBox="1"/>
          <p:nvPr/>
        </p:nvSpPr>
        <p:spPr>
          <a:xfrm>
            <a:off x="634984"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AZORG</a:t>
            </a:r>
          </a:p>
        </p:txBody>
      </p:sp>
      <p:sp>
        <p:nvSpPr>
          <p:cNvPr id="168" name="Rounded Rectangle 167"/>
          <p:cNvSpPr/>
          <p:nvPr/>
        </p:nvSpPr>
        <p:spPr>
          <a:xfrm>
            <a:off x="2463738"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TextBox 168"/>
          <p:cNvSpPr txBox="1"/>
          <p:nvPr/>
        </p:nvSpPr>
        <p:spPr>
          <a:xfrm>
            <a:off x="2463738"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AZ Sint-Jan Brugge</a:t>
            </a:r>
          </a:p>
        </p:txBody>
      </p:sp>
      <p:sp>
        <p:nvSpPr>
          <p:cNvPr id="170" name="Rounded Rectangle 169"/>
          <p:cNvSpPr/>
          <p:nvPr/>
        </p:nvSpPr>
        <p:spPr>
          <a:xfrm>
            <a:off x="4292492"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TextBox 170"/>
          <p:cNvSpPr txBox="1"/>
          <p:nvPr/>
        </p:nvSpPr>
        <p:spPr>
          <a:xfrm>
            <a:off x="4292492"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AZ Groeninge</a:t>
            </a:r>
          </a:p>
        </p:txBody>
      </p:sp>
      <p:sp>
        <p:nvSpPr>
          <p:cNvPr id="172" name="Rounded Rectangle 171"/>
          <p:cNvSpPr/>
          <p:nvPr/>
        </p:nvSpPr>
        <p:spPr>
          <a:xfrm>
            <a:off x="6121246"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TextBox 172"/>
          <p:cNvSpPr txBox="1"/>
          <p:nvPr/>
        </p:nvSpPr>
        <p:spPr>
          <a:xfrm>
            <a:off x="6121246"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UZ Gent</a:t>
            </a:r>
          </a:p>
        </p:txBody>
      </p:sp>
      <p:sp>
        <p:nvSpPr>
          <p:cNvPr id="174" name="Rounded Rectangle 173"/>
          <p:cNvSpPr/>
          <p:nvPr/>
        </p:nvSpPr>
        <p:spPr>
          <a:xfrm>
            <a:off x="7950001"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TextBox 174"/>
          <p:cNvSpPr txBox="1"/>
          <p:nvPr/>
        </p:nvSpPr>
        <p:spPr>
          <a:xfrm>
            <a:off x="7950001"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UZ Leuven</a:t>
            </a:r>
          </a:p>
        </p:txBody>
      </p:sp>
      <p:sp>
        <p:nvSpPr>
          <p:cNvPr id="176" name="Rounded Rectangle 175"/>
          <p:cNvSpPr/>
          <p:nvPr/>
        </p:nvSpPr>
        <p:spPr>
          <a:xfrm>
            <a:off x="9778755"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TextBox 176"/>
          <p:cNvSpPr txBox="1"/>
          <p:nvPr/>
        </p:nvSpPr>
        <p:spPr>
          <a:xfrm>
            <a:off x="9778755" y="5975200"/>
            <a:ext cx="1752556" cy="215894"/>
          </a:xfrm>
          <a:prstGeom prst="rect">
            <a:avLst/>
          </a:prstGeom>
          <a:noFill/>
        </p:spPr>
        <p:txBody>
          <a:bodyPr wrap="none" anchor="t" lIns="0" rIns="0" tIns="0" bIns="0">
            <a:spAutoFit/>
          </a:bodyPr>
          <a:lstStyle/>
          <a:p>
            <a:pPr algn="ctr">
              <a:lnSpc>
                <a:spcPct val="125000"/>
              </a:lnSpc>
            </a:pPr>
            <a:r>
              <a:rPr sz="1300" b="1">
                <a:solidFill>
                  <a:srgbClr val="F2F8FC"/>
                </a:solidFill>
                <a:latin typeface="Segoe UI"/>
              </a:rPr>
              <a:t>UZ Antwerpen</a:t>
            </a:r>
          </a:p>
        </p:txBody>
      </p:sp>
      <p:sp>
        <p:nvSpPr>
          <p:cNvPr id="178" name="TextBox 177"/>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04 / 66</a:t>
            </a:r>
          </a:p>
        </p:txBody>
      </p:sp>
      <p:pic>
        <p:nvPicPr>
          <p:cNvPr id="179"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merkgroot" descr="merk.png"/>
          <p:cNvPicPr>
            <a:picLocks noChangeAspect="1"/>
          </p:cNvPicPr>
          <p:nvPr/>
        </p:nvPicPr>
        <p:blipFill>
          <a:blip r:embed="rId2">
            <a:alphaModFix amt="14000"/>
          </a:blip>
          <a:stretch>
            <a:fillRect/>
          </a:stretch>
        </p:blipFill>
        <p:spPr>
          <a:xfrm>
            <a:off x="6857828" y="-738820"/>
            <a:ext cx="6984825" cy="8081476"/>
          </a:xfrm>
          <a:prstGeom prst="rect">
            <a:avLst/>
          </a:prstGeom>
        </p:spPr>
      </p:pic>
      <p:sp>
        <p:nvSpPr>
          <p:cNvPr id="4" name="hero"/>
          <p:cNvSpPr txBox="1"/>
          <p:nvPr/>
        </p:nvSpPr>
        <p:spPr>
          <a:xfrm>
            <a:off x="634984" y="1854153"/>
            <a:ext cx="4444888" cy="2031949"/>
          </a:xfrm>
          <a:prstGeom prst="rect">
            <a:avLst/>
          </a:prstGeom>
          <a:noFill/>
        </p:spPr>
        <p:txBody>
          <a:bodyPr wrap="square" anchor="t" lIns="0" rIns="0" tIns="0" bIns="0">
            <a:spAutoFit/>
          </a:bodyPr>
          <a:lstStyle/>
          <a:p>
            <a:pPr algn="l">
              <a:lnSpc>
                <a:spcPct val="90000"/>
              </a:lnSpc>
            </a:pPr>
            <a:r>
              <a:rPr sz="15000" b="1">
                <a:gradFill>
                  <a:gsLst>
                    <a:gs pos="0">
                      <a:srgbClr val="52BDEC"/>
                    </a:gs>
                    <a:gs pos="100000">
                      <a:srgbClr val="FF7A00"/>
                    </a:gs>
                  </a:gsLst>
                  <a:lin ang="2700000" scaled="0"/>
                </a:gradFill>
                <a:latin typeface="Segoe UI"/>
              </a:rPr>
              <a:t>01</a:t>
            </a:r>
          </a:p>
        </p:txBody>
      </p:sp>
      <p:sp>
        <p:nvSpPr>
          <p:cNvPr id="5" name="sectietitel"/>
          <p:cNvSpPr txBox="1"/>
          <p:nvPr/>
        </p:nvSpPr>
        <p:spPr>
          <a:xfrm>
            <a:off x="634984" y="3975000"/>
            <a:ext cx="8889777" cy="888977"/>
          </a:xfrm>
          <a:prstGeom prst="rect">
            <a:avLst/>
          </a:prstGeom>
          <a:noFill/>
        </p:spPr>
        <p:txBody>
          <a:bodyPr wrap="square" anchor="t" lIns="0" rIns="0" tIns="0" bIns="0">
            <a:spAutoFit/>
          </a:bodyPr>
          <a:lstStyle/>
          <a:p>
            <a:pPr algn="l">
              <a:lnSpc>
                <a:spcPct val="125000"/>
              </a:lnSpc>
            </a:pPr>
            <a:r>
              <a:rPr sz="5600" b="1">
                <a:solidFill>
                  <a:srgbClr val="F2F8FC"/>
                </a:solidFill>
                <a:latin typeface="Segoe UI"/>
              </a:rPr>
              <a:t>Waarom zo</a:t>
            </a:r>
          </a:p>
        </p:txBody>
      </p:sp>
      <p:sp>
        <p:nvSpPr>
          <p:cNvPr id="6" name="TextBox 5"/>
          <p:cNvSpPr txBox="1"/>
          <p:nvPr/>
        </p:nvSpPr>
        <p:spPr>
          <a:xfrm>
            <a:off x="660383" y="4990975"/>
            <a:ext cx="8254793" cy="507987"/>
          </a:xfrm>
          <a:prstGeom prst="rect">
            <a:avLst/>
          </a:prstGeom>
          <a:noFill/>
        </p:spPr>
        <p:txBody>
          <a:bodyPr wrap="square" anchor="t" lIns="0" rIns="0" tIns="0" bIns="0">
            <a:spAutoFit/>
          </a:bodyPr>
          <a:lstStyle/>
          <a:p>
            <a:pPr algn="l">
              <a:lnSpc>
                <a:spcPct val="125000"/>
              </a:lnSpc>
            </a:pPr>
            <a:r>
              <a:rPr sz="2100" b="0">
                <a:solidFill>
                  <a:srgbClr val="8FB6D0"/>
                </a:solidFill>
                <a:latin typeface="Segoe UI Light"/>
              </a:rPr>
              <a:t>Vier cijfers verklaren waarom er twee normen zijn.</a:t>
            </a:r>
          </a:p>
        </p:txBody>
      </p:sp>
      <p:sp>
        <p:nvSpPr>
          <p:cNvPr id="7" name="TextBox 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05 / 66</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15974" y="253993"/>
            <a:ext cx="5206869" cy="5206869"/>
          </a:xfrm>
          <a:prstGeom prst="ellipse">
            <a:avLst/>
          </a:prstGeom>
          <a:solidFill>
            <a:srgbClr val="FF7A00">
              <a:alpha val="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ro"/>
          <p:cNvSpPr txBox="1"/>
          <p:nvPr/>
        </p:nvSpPr>
        <p:spPr>
          <a:xfrm>
            <a:off x="380990" y="761980"/>
            <a:ext cx="7619809" cy="3301917"/>
          </a:xfrm>
          <a:prstGeom prst="rect">
            <a:avLst/>
          </a:prstGeom>
          <a:noFill/>
        </p:spPr>
        <p:txBody>
          <a:bodyPr wrap="square" anchor="t" lIns="0" rIns="0" tIns="0" bIns="0">
            <a:spAutoFit/>
          </a:bodyPr>
          <a:lstStyle/>
          <a:p>
            <a:pPr algn="l">
              <a:lnSpc>
                <a:spcPct val="82000"/>
              </a:lnSpc>
            </a:pPr>
            <a:r>
              <a:rPr sz="25000" b="1">
                <a:solidFill>
                  <a:srgbClr val="FF7A00"/>
                </a:solidFill>
                <a:latin typeface="Segoe UI"/>
              </a:rPr>
              <a:t>40</a:t>
            </a:r>
          </a:p>
        </p:txBody>
      </p:sp>
      <p:sp>
        <p:nvSpPr>
          <p:cNvPr id="5" name="TextBox 4"/>
          <p:cNvSpPr txBox="1"/>
          <p:nvPr/>
        </p:nvSpPr>
        <p:spPr>
          <a:xfrm>
            <a:off x="4444888" y="1320766"/>
            <a:ext cx="1523961" cy="1015974"/>
          </a:xfrm>
          <a:prstGeom prst="rect">
            <a:avLst/>
          </a:prstGeom>
          <a:noFill/>
        </p:spPr>
        <p:txBody>
          <a:bodyPr wrap="square" anchor="t" lIns="0" rIns="0" tIns="0" bIns="0">
            <a:spAutoFit/>
          </a:bodyPr>
          <a:lstStyle/>
          <a:p>
            <a:pPr algn="l">
              <a:lnSpc>
                <a:spcPct val="125000"/>
              </a:lnSpc>
            </a:pPr>
            <a:r>
              <a:rPr sz="7600" b="1">
                <a:solidFill>
                  <a:srgbClr val="FF7A00"/>
                </a:solidFill>
                <a:latin typeface="Segoe UI Light"/>
              </a:rPr>
              <a:t>%</a:t>
            </a:r>
          </a:p>
        </p:txBody>
      </p:sp>
      <p:sp>
        <p:nvSpPr>
          <p:cNvPr id="6" name="TextBox 5"/>
          <p:cNvSpPr txBox="1"/>
          <p:nvPr/>
        </p:nvSpPr>
        <p:spPr>
          <a:xfrm>
            <a:off x="660383" y="3975000"/>
            <a:ext cx="5460863" cy="1269968"/>
          </a:xfrm>
          <a:prstGeom prst="rect">
            <a:avLst/>
          </a:prstGeom>
          <a:noFill/>
        </p:spPr>
        <p:txBody>
          <a:bodyPr wrap="square" anchor="t" lIns="0" rIns="0" tIns="0" bIns="0">
            <a:spAutoFit/>
          </a:bodyPr>
          <a:lstStyle/>
          <a:p>
            <a:pPr algn="l">
              <a:lnSpc>
                <a:spcPct val="120000"/>
              </a:lnSpc>
            </a:pPr>
            <a:r>
              <a:rPr sz="3200" b="1">
                <a:solidFill>
                  <a:srgbClr val="F2F8FC"/>
                </a:solidFill>
                <a:latin typeface="Segoe UI"/>
              </a:rPr>
              <a:t>krijgt binnen een jaar</a:t>
            </a:r>
          </a:p>
          <a:p>
            <a:pPr algn="l">
              <a:lnSpc>
                <a:spcPct val="120000"/>
              </a:lnSpc>
              <a:spcBef>
                <a:spcPts val="500"/>
              </a:spcBef>
            </a:pPr>
            <a:r>
              <a:rPr sz="3200" b="1">
                <a:solidFill>
                  <a:srgbClr val="F2F8FC"/>
                </a:solidFill>
                <a:latin typeface="Segoe UI"/>
              </a:rPr>
              <a:t>een nieuw ulcus</a:t>
            </a:r>
          </a:p>
        </p:txBody>
      </p:sp>
      <p:sp>
        <p:nvSpPr>
          <p:cNvPr id="7" name="Rounded Rectangle 6"/>
          <p:cNvSpPr/>
          <p:nvPr/>
        </p:nvSpPr>
        <p:spPr>
          <a:xfrm>
            <a:off x="8017563" y="1142971"/>
            <a:ext cx="3538893" cy="120646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0758" y="1320766"/>
            <a:ext cx="3157903" cy="609584"/>
          </a:xfrm>
          <a:prstGeom prst="rect">
            <a:avLst/>
          </a:prstGeom>
          <a:noFill/>
        </p:spPr>
        <p:txBody>
          <a:bodyPr wrap="square" anchor="t" lIns="0" rIns="0" tIns="0" bIns="0">
            <a:spAutoFit/>
          </a:bodyPr>
          <a:lstStyle/>
          <a:p>
            <a:pPr algn="l">
              <a:lnSpc>
                <a:spcPct val="100000"/>
              </a:lnSpc>
            </a:pPr>
            <a:r>
              <a:rPr sz="4200" b="1">
                <a:solidFill>
                  <a:srgbClr val="F2F8FC"/>
                </a:solidFill>
                <a:latin typeface="Segoe UI"/>
              </a:rPr>
              <a:t>60%</a:t>
            </a:r>
          </a:p>
        </p:txBody>
      </p:sp>
      <p:sp>
        <p:nvSpPr>
          <p:cNvPr id="9" name="TextBox 8"/>
          <p:cNvSpPr txBox="1"/>
          <p:nvPr/>
        </p:nvSpPr>
        <p:spPr>
          <a:xfrm>
            <a:off x="8233458" y="1930351"/>
            <a:ext cx="3157903" cy="253993"/>
          </a:xfrm>
          <a:prstGeom prst="rect">
            <a:avLst/>
          </a:prstGeom>
          <a:noFill/>
        </p:spPr>
        <p:txBody>
          <a:bodyPr wrap="square" anchor="t" lIns="0" rIns="0" tIns="0" bIns="0">
            <a:spAutoFit/>
          </a:bodyPr>
          <a:lstStyle/>
          <a:p>
            <a:pPr algn="l">
              <a:lnSpc>
                <a:spcPct val="125000"/>
              </a:lnSpc>
            </a:pPr>
            <a:r>
              <a:rPr sz="1350" b="0" spc="130">
                <a:solidFill>
                  <a:srgbClr val="8FB6D0"/>
                </a:solidFill>
                <a:latin typeface="Consolas"/>
              </a:rPr>
              <a:t>NA DRIE JAAR</a:t>
            </a:r>
          </a:p>
        </p:txBody>
      </p:sp>
      <p:sp>
        <p:nvSpPr>
          <p:cNvPr id="10" name="Rounded Rectangle 9"/>
          <p:cNvSpPr/>
          <p:nvPr/>
        </p:nvSpPr>
        <p:spPr>
          <a:xfrm>
            <a:off x="8017563" y="2514537"/>
            <a:ext cx="3538893" cy="120646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0758" y="2692332"/>
            <a:ext cx="3157903" cy="609584"/>
          </a:xfrm>
          <a:prstGeom prst="rect">
            <a:avLst/>
          </a:prstGeom>
          <a:noFill/>
        </p:spPr>
        <p:txBody>
          <a:bodyPr wrap="square" anchor="t" lIns="0" rIns="0" tIns="0" bIns="0">
            <a:spAutoFit/>
          </a:bodyPr>
          <a:lstStyle/>
          <a:p>
            <a:pPr algn="l">
              <a:lnSpc>
                <a:spcPct val="100000"/>
              </a:lnSpc>
            </a:pPr>
            <a:r>
              <a:rPr sz="4200" b="1">
                <a:solidFill>
                  <a:srgbClr val="F2F8FC"/>
                </a:solidFill>
                <a:latin typeface="Segoe UI"/>
              </a:rPr>
              <a:t>65%</a:t>
            </a:r>
          </a:p>
        </p:txBody>
      </p:sp>
      <p:sp>
        <p:nvSpPr>
          <p:cNvPr id="12" name="TextBox 11"/>
          <p:cNvSpPr txBox="1"/>
          <p:nvPr/>
        </p:nvSpPr>
        <p:spPr>
          <a:xfrm>
            <a:off x="8233458" y="3301917"/>
            <a:ext cx="3157903" cy="253993"/>
          </a:xfrm>
          <a:prstGeom prst="rect">
            <a:avLst/>
          </a:prstGeom>
          <a:noFill/>
        </p:spPr>
        <p:txBody>
          <a:bodyPr wrap="square" anchor="t" lIns="0" rIns="0" tIns="0" bIns="0">
            <a:spAutoFit/>
          </a:bodyPr>
          <a:lstStyle/>
          <a:p>
            <a:pPr algn="l">
              <a:lnSpc>
                <a:spcPct val="125000"/>
              </a:lnSpc>
            </a:pPr>
            <a:r>
              <a:rPr sz="1350" b="0" spc="130">
                <a:solidFill>
                  <a:srgbClr val="8FB6D0"/>
                </a:solidFill>
                <a:latin typeface="Consolas"/>
              </a:rPr>
              <a:t>NA VIJF JAAR</a:t>
            </a:r>
          </a:p>
        </p:txBody>
      </p:sp>
      <p:sp>
        <p:nvSpPr>
          <p:cNvPr id="13" name="Rounded Rectangle 12"/>
          <p:cNvSpPr/>
          <p:nvPr/>
        </p:nvSpPr>
        <p:spPr>
          <a:xfrm>
            <a:off x="8017563" y="3886102"/>
            <a:ext cx="3538893" cy="120646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0758" y="4063898"/>
            <a:ext cx="3157903" cy="609584"/>
          </a:xfrm>
          <a:prstGeom prst="rect">
            <a:avLst/>
          </a:prstGeom>
          <a:noFill/>
        </p:spPr>
        <p:txBody>
          <a:bodyPr wrap="square" anchor="t" lIns="0" rIns="0" tIns="0" bIns="0">
            <a:spAutoFit/>
          </a:bodyPr>
          <a:lstStyle/>
          <a:p>
            <a:pPr algn="l">
              <a:lnSpc>
                <a:spcPct val="100000"/>
              </a:lnSpc>
            </a:pPr>
            <a:r>
              <a:rPr sz="4200" b="1">
                <a:solidFill>
                  <a:srgbClr val="F2F8FC"/>
                </a:solidFill>
                <a:latin typeface="Segoe UI"/>
              </a:rPr>
              <a:t>2,5×</a:t>
            </a:r>
          </a:p>
        </p:txBody>
      </p:sp>
      <p:sp>
        <p:nvSpPr>
          <p:cNvPr id="15" name="TextBox 14"/>
          <p:cNvSpPr txBox="1"/>
          <p:nvPr/>
        </p:nvSpPr>
        <p:spPr>
          <a:xfrm>
            <a:off x="8233458" y="4673483"/>
            <a:ext cx="3157903" cy="253993"/>
          </a:xfrm>
          <a:prstGeom prst="rect">
            <a:avLst/>
          </a:prstGeom>
          <a:noFill/>
        </p:spPr>
        <p:txBody>
          <a:bodyPr wrap="square" anchor="t" lIns="0" rIns="0" tIns="0" bIns="0">
            <a:spAutoFit/>
          </a:bodyPr>
          <a:lstStyle/>
          <a:p>
            <a:pPr algn="l">
              <a:lnSpc>
                <a:spcPct val="125000"/>
              </a:lnSpc>
            </a:pPr>
            <a:r>
              <a:rPr sz="1350" b="0" spc="130">
                <a:solidFill>
                  <a:srgbClr val="8FB6D0"/>
                </a:solidFill>
                <a:latin typeface="Consolas"/>
              </a:rPr>
              <a:t>HOGERE STERFTE</a:t>
            </a:r>
          </a:p>
        </p:txBody>
      </p:sp>
      <p:sp>
        <p:nvSpPr>
          <p:cNvPr id="16" name="TextBox 15"/>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Armstrong, Boulton &amp; Bus · N Engl J Med 2017</a:t>
            </a:r>
          </a:p>
        </p:txBody>
      </p:sp>
      <p:sp>
        <p:nvSpPr>
          <p:cNvPr id="17" name="TextBox 1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06 / 66</a:t>
            </a:r>
          </a:p>
        </p:txBody>
      </p:sp>
      <p:pic>
        <p:nvPicPr>
          <p:cNvPr id="18"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DEZELFDE SCHOEN, TWEE UITKOMSTEN</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Waarom druk alléén niet volstaat</a:t>
            </a:r>
          </a:p>
        </p:txBody>
      </p:sp>
      <p:sp>
        <p:nvSpPr>
          <p:cNvPr id="5" name="Rectangle 4"/>
          <p:cNvSpPr/>
          <p:nvPr/>
        </p:nvSpPr>
        <p:spPr>
          <a:xfrm>
            <a:off x="634984" y="1828754"/>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1993850"/>
            <a:ext cx="3809904" cy="317492"/>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Iedereen</a:t>
            </a:r>
          </a:p>
        </p:txBody>
      </p:sp>
      <p:sp>
        <p:nvSpPr>
          <p:cNvPr id="7" name="TextBox 6"/>
          <p:cNvSpPr txBox="1"/>
          <p:nvPr/>
        </p:nvSpPr>
        <p:spPr>
          <a:xfrm>
            <a:off x="647683" y="2349441"/>
            <a:ext cx="3809904"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intention-to-treat</a:t>
            </a:r>
          </a:p>
        </p:txBody>
      </p:sp>
      <p:sp>
        <p:nvSpPr>
          <p:cNvPr id="8" name="TextBox 7"/>
          <p:cNvSpPr txBox="1"/>
          <p:nvPr/>
        </p:nvSpPr>
        <p:spPr>
          <a:xfrm>
            <a:off x="634984" y="2768530"/>
            <a:ext cx="2031949" cy="215894"/>
          </a:xfrm>
          <a:prstGeom prst="rect">
            <a:avLst/>
          </a:prstGeom>
          <a:noFill/>
        </p:spPr>
        <p:txBody>
          <a:bodyPr wrap="square" anchor="t" lIns="0" rIns="0" tIns="0" bIns="0">
            <a:spAutoFit/>
          </a:bodyPr>
          <a:lstStyle/>
          <a:p>
            <a:pPr algn="l">
              <a:lnSpc>
                <a:spcPct val="125000"/>
              </a:lnSpc>
            </a:pPr>
            <a:r>
              <a:rPr sz="1400" b="0">
                <a:solidFill>
                  <a:srgbClr val="8FB6D0"/>
                </a:solidFill>
                <a:latin typeface="Consolas"/>
              </a:rPr>
              <a:t>Gewone maatzool</a:t>
            </a:r>
          </a:p>
        </p:txBody>
      </p:sp>
      <p:sp>
        <p:nvSpPr>
          <p:cNvPr id="9" name="Rounded Rectangle 8"/>
          <p:cNvSpPr/>
          <p:nvPr/>
        </p:nvSpPr>
        <p:spPr>
          <a:xfrm>
            <a:off x="2793930" y="2717732"/>
            <a:ext cx="6857828" cy="292092"/>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2793930" y="2717732"/>
            <a:ext cx="6062320" cy="292092"/>
          </a:xfrm>
          <a:prstGeom prst="roundRect">
            <a:avLst>
              <a:gd name="adj" fmla="val 50000"/>
            </a:avLst>
          </a:prstGeom>
          <a:solidFill>
            <a:srgbClr val="8FB6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905752" y="2692332"/>
            <a:ext cx="1396965" cy="342891"/>
          </a:xfrm>
          <a:prstGeom prst="rect">
            <a:avLst/>
          </a:prstGeom>
          <a:noFill/>
        </p:spPr>
        <p:txBody>
          <a:bodyPr wrap="square" anchor="t" lIns="0" rIns="0" tIns="0" bIns="0">
            <a:spAutoFit/>
          </a:bodyPr>
          <a:lstStyle/>
          <a:p>
            <a:pPr algn="l">
              <a:lnSpc>
                <a:spcPct val="125000"/>
              </a:lnSpc>
            </a:pPr>
            <a:r>
              <a:rPr sz="2700" b="1">
                <a:solidFill>
                  <a:srgbClr val="8FB6D0"/>
                </a:solidFill>
                <a:latin typeface="Segoe UI"/>
              </a:rPr>
              <a:t>44,2%</a:t>
            </a:r>
          </a:p>
        </p:txBody>
      </p:sp>
      <p:sp>
        <p:nvSpPr>
          <p:cNvPr id="12" name="TextBox 11"/>
          <p:cNvSpPr txBox="1"/>
          <p:nvPr/>
        </p:nvSpPr>
        <p:spPr>
          <a:xfrm>
            <a:off x="634984" y="3187620"/>
            <a:ext cx="2031949" cy="215894"/>
          </a:xfrm>
          <a:prstGeom prst="rect">
            <a:avLst/>
          </a:prstGeom>
          <a:noFill/>
        </p:spPr>
        <p:txBody>
          <a:bodyPr wrap="square" anchor="t" lIns="0" rIns="0" tIns="0" bIns="0">
            <a:spAutoFit/>
          </a:bodyPr>
          <a:lstStyle/>
          <a:p>
            <a:pPr algn="l">
              <a:lnSpc>
                <a:spcPct val="125000"/>
              </a:lnSpc>
            </a:pPr>
            <a:r>
              <a:rPr sz="1400" b="0">
                <a:solidFill>
                  <a:srgbClr val="8FB6D0"/>
                </a:solidFill>
                <a:latin typeface="Consolas"/>
              </a:rPr>
              <a:t>Drukgeoptimaliseerd</a:t>
            </a:r>
          </a:p>
        </p:txBody>
      </p:sp>
      <p:sp>
        <p:nvSpPr>
          <p:cNvPr id="13" name="Rounded Rectangle 12"/>
          <p:cNvSpPr/>
          <p:nvPr/>
        </p:nvSpPr>
        <p:spPr>
          <a:xfrm>
            <a:off x="2793930" y="3136821"/>
            <a:ext cx="6857828" cy="292092"/>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2793930" y="3136821"/>
            <a:ext cx="5321674" cy="292092"/>
          </a:xfrm>
          <a:prstGeom prst="roundRect">
            <a:avLst>
              <a:gd name="adj" fmla="val 50000"/>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905752" y="3111422"/>
            <a:ext cx="1396965" cy="342891"/>
          </a:xfrm>
          <a:prstGeom prst="rect">
            <a:avLst/>
          </a:prstGeom>
          <a:noFill/>
        </p:spPr>
        <p:txBody>
          <a:bodyPr wrap="square" anchor="t" lIns="0" rIns="0" tIns="0" bIns="0">
            <a:spAutoFit/>
          </a:bodyPr>
          <a:lstStyle/>
          <a:p>
            <a:pPr algn="l">
              <a:lnSpc>
                <a:spcPct val="125000"/>
              </a:lnSpc>
            </a:pPr>
            <a:r>
              <a:rPr sz="2700" b="1">
                <a:solidFill>
                  <a:srgbClr val="FF7A00"/>
                </a:solidFill>
                <a:latin typeface="Segoe UI"/>
              </a:rPr>
              <a:t>38,8%</a:t>
            </a:r>
          </a:p>
        </p:txBody>
      </p:sp>
      <p:sp>
        <p:nvSpPr>
          <p:cNvPr id="16" name="TextBox 15"/>
          <p:cNvSpPr txBox="1"/>
          <p:nvPr/>
        </p:nvSpPr>
        <p:spPr>
          <a:xfrm>
            <a:off x="634984" y="3568610"/>
            <a:ext cx="5714857" cy="279393"/>
          </a:xfrm>
          <a:prstGeom prst="rect">
            <a:avLst/>
          </a:prstGeom>
          <a:noFill/>
        </p:spPr>
        <p:txBody>
          <a:bodyPr wrap="square" anchor="t" lIns="0" rIns="0" tIns="0" bIns="0">
            <a:spAutoFit/>
          </a:bodyPr>
          <a:lstStyle/>
          <a:p>
            <a:pPr algn="l">
              <a:lnSpc>
                <a:spcPct val="125000"/>
              </a:lnSpc>
            </a:pPr>
            <a:r>
              <a:rPr sz="1800" b="1">
                <a:solidFill>
                  <a:srgbClr val="FF7A00"/>
                </a:solidFill>
                <a:latin typeface="Segoe UI"/>
              </a:rPr>
              <a:t>Geen verschil — p = 0,48</a:t>
            </a:r>
          </a:p>
        </p:txBody>
      </p:sp>
      <p:sp>
        <p:nvSpPr>
          <p:cNvPr id="17" name="Rectangle 16"/>
          <p:cNvSpPr/>
          <p:nvPr/>
        </p:nvSpPr>
        <p:spPr>
          <a:xfrm>
            <a:off x="634984" y="4089297"/>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4984" y="4254393"/>
            <a:ext cx="3809904" cy="317492"/>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Wie hem droeg</a:t>
            </a:r>
          </a:p>
        </p:txBody>
      </p:sp>
      <p:sp>
        <p:nvSpPr>
          <p:cNvPr id="19" name="TextBox 18"/>
          <p:cNvSpPr txBox="1"/>
          <p:nvPr/>
        </p:nvSpPr>
        <p:spPr>
          <a:xfrm>
            <a:off x="647683" y="4609984"/>
            <a:ext cx="3809904"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 80% van de stappen</a:t>
            </a:r>
          </a:p>
        </p:txBody>
      </p:sp>
      <p:sp>
        <p:nvSpPr>
          <p:cNvPr id="20" name="TextBox 19"/>
          <p:cNvSpPr txBox="1"/>
          <p:nvPr/>
        </p:nvSpPr>
        <p:spPr>
          <a:xfrm>
            <a:off x="634984" y="5029074"/>
            <a:ext cx="2031949" cy="215894"/>
          </a:xfrm>
          <a:prstGeom prst="rect">
            <a:avLst/>
          </a:prstGeom>
          <a:noFill/>
        </p:spPr>
        <p:txBody>
          <a:bodyPr wrap="square" anchor="t" lIns="0" rIns="0" tIns="0" bIns="0">
            <a:spAutoFit/>
          </a:bodyPr>
          <a:lstStyle/>
          <a:p>
            <a:pPr algn="l">
              <a:lnSpc>
                <a:spcPct val="125000"/>
              </a:lnSpc>
            </a:pPr>
            <a:r>
              <a:rPr sz="1400" b="0">
                <a:solidFill>
                  <a:srgbClr val="8FB6D0"/>
                </a:solidFill>
                <a:latin typeface="Consolas"/>
              </a:rPr>
              <a:t>Gewone maatzool</a:t>
            </a:r>
          </a:p>
        </p:txBody>
      </p:sp>
      <p:sp>
        <p:nvSpPr>
          <p:cNvPr id="21" name="Rounded Rectangle 20"/>
          <p:cNvSpPr/>
          <p:nvPr/>
        </p:nvSpPr>
        <p:spPr>
          <a:xfrm>
            <a:off x="2793930" y="4978275"/>
            <a:ext cx="6857828" cy="292092"/>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2793930" y="4978275"/>
            <a:ext cx="6556084" cy="292092"/>
          </a:xfrm>
          <a:prstGeom prst="roundRect">
            <a:avLst>
              <a:gd name="adj" fmla="val 50000"/>
            </a:avLst>
          </a:prstGeom>
          <a:solidFill>
            <a:srgbClr val="8FB6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905752" y="4952876"/>
            <a:ext cx="1396965" cy="342891"/>
          </a:xfrm>
          <a:prstGeom prst="rect">
            <a:avLst/>
          </a:prstGeom>
          <a:noFill/>
        </p:spPr>
        <p:txBody>
          <a:bodyPr wrap="square" anchor="t" lIns="0" rIns="0" tIns="0" bIns="0">
            <a:spAutoFit/>
          </a:bodyPr>
          <a:lstStyle/>
          <a:p>
            <a:pPr algn="l">
              <a:lnSpc>
                <a:spcPct val="125000"/>
              </a:lnSpc>
            </a:pPr>
            <a:r>
              <a:rPr sz="2700" b="1">
                <a:solidFill>
                  <a:srgbClr val="8FB6D0"/>
                </a:solidFill>
                <a:latin typeface="Segoe UI"/>
              </a:rPr>
              <a:t>47,8%</a:t>
            </a:r>
          </a:p>
        </p:txBody>
      </p:sp>
      <p:sp>
        <p:nvSpPr>
          <p:cNvPr id="24" name="TextBox 23"/>
          <p:cNvSpPr txBox="1"/>
          <p:nvPr/>
        </p:nvSpPr>
        <p:spPr>
          <a:xfrm>
            <a:off x="634984" y="5448163"/>
            <a:ext cx="2031949" cy="215894"/>
          </a:xfrm>
          <a:prstGeom prst="rect">
            <a:avLst/>
          </a:prstGeom>
          <a:noFill/>
        </p:spPr>
        <p:txBody>
          <a:bodyPr wrap="square" anchor="t" lIns="0" rIns="0" tIns="0" bIns="0">
            <a:spAutoFit/>
          </a:bodyPr>
          <a:lstStyle/>
          <a:p>
            <a:pPr algn="l">
              <a:lnSpc>
                <a:spcPct val="125000"/>
              </a:lnSpc>
            </a:pPr>
            <a:r>
              <a:rPr sz="1400" b="0">
                <a:solidFill>
                  <a:srgbClr val="8FB6D0"/>
                </a:solidFill>
                <a:latin typeface="Consolas"/>
              </a:rPr>
              <a:t>Drukgeoptimaliseerd</a:t>
            </a:r>
          </a:p>
        </p:txBody>
      </p:sp>
      <p:sp>
        <p:nvSpPr>
          <p:cNvPr id="25" name="Rounded Rectangle 24"/>
          <p:cNvSpPr/>
          <p:nvPr/>
        </p:nvSpPr>
        <p:spPr>
          <a:xfrm>
            <a:off x="2793930" y="5397365"/>
            <a:ext cx="6857828" cy="292092"/>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2793930" y="5397365"/>
            <a:ext cx="3524923" cy="292092"/>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905752" y="5371965"/>
            <a:ext cx="1396965" cy="342891"/>
          </a:xfrm>
          <a:prstGeom prst="rect">
            <a:avLst/>
          </a:prstGeom>
          <a:noFill/>
        </p:spPr>
        <p:txBody>
          <a:bodyPr wrap="square" anchor="t" lIns="0" rIns="0" tIns="0" bIns="0">
            <a:spAutoFit/>
          </a:bodyPr>
          <a:lstStyle/>
          <a:p>
            <a:pPr algn="l">
              <a:lnSpc>
                <a:spcPct val="125000"/>
              </a:lnSpc>
            </a:pPr>
            <a:r>
              <a:rPr sz="2700" b="1">
                <a:solidFill>
                  <a:srgbClr val="52BDEC"/>
                </a:solidFill>
                <a:latin typeface="Segoe UI"/>
              </a:rPr>
              <a:t>25,7%</a:t>
            </a:r>
          </a:p>
        </p:txBody>
      </p:sp>
      <p:sp>
        <p:nvSpPr>
          <p:cNvPr id="28" name="TextBox 27"/>
          <p:cNvSpPr txBox="1"/>
          <p:nvPr/>
        </p:nvSpPr>
        <p:spPr>
          <a:xfrm>
            <a:off x="634984" y="5829154"/>
            <a:ext cx="5714857" cy="279393"/>
          </a:xfrm>
          <a:prstGeom prst="rect">
            <a:avLst/>
          </a:prstGeom>
          <a:noFill/>
        </p:spPr>
        <p:txBody>
          <a:bodyPr wrap="square" anchor="t" lIns="0" rIns="0" tIns="0" bIns="0">
            <a:spAutoFit/>
          </a:bodyPr>
          <a:lstStyle/>
          <a:p>
            <a:pPr algn="l">
              <a:lnSpc>
                <a:spcPct val="125000"/>
              </a:lnSpc>
            </a:pPr>
            <a:r>
              <a:rPr sz="1800" b="1">
                <a:solidFill>
                  <a:srgbClr val="52BDEC"/>
                </a:solidFill>
                <a:latin typeface="Segoe UI"/>
              </a:rPr>
              <a:t>Bijna gehalveerd — p = 0,045</a:t>
            </a:r>
          </a:p>
        </p:txBody>
      </p:sp>
      <p:sp>
        <p:nvSpPr>
          <p:cNvPr id="29" name="TextBox 28"/>
          <p:cNvSpPr txBox="1"/>
          <p:nvPr/>
        </p:nvSpPr>
        <p:spPr>
          <a:xfrm>
            <a:off x="5714857" y="5930751"/>
            <a:ext cx="5841853" cy="380990"/>
          </a:xfrm>
          <a:prstGeom prst="rect">
            <a:avLst/>
          </a:prstGeom>
          <a:noFill/>
        </p:spPr>
        <p:txBody>
          <a:bodyPr wrap="square" anchor="t" lIns="0" rIns="0" tIns="0" bIns="0">
            <a:spAutoFit/>
          </a:bodyPr>
          <a:lstStyle/>
          <a:p>
            <a:pPr algn="r">
              <a:lnSpc>
                <a:spcPct val="125000"/>
              </a:lnSpc>
            </a:pPr>
            <a:r>
              <a:rPr sz="2400" b="1">
                <a:solidFill>
                  <a:srgbClr val="F2F8FC"/>
                </a:solidFill>
                <a:latin typeface="Segoe UI"/>
              </a:rPr>
              <a:t>Daarom meten we niet alleen druk, maar ook draagtijd.</a:t>
            </a:r>
          </a:p>
        </p:txBody>
      </p:sp>
      <p:sp>
        <p:nvSpPr>
          <p:cNvPr id="30" name="TextBox 29"/>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Bus et al. · Diabetes Care 2013 · DIAFOS, 171 deelnemers</a:t>
            </a:r>
          </a:p>
        </p:txBody>
      </p:sp>
      <p:sp>
        <p:nvSpPr>
          <p:cNvPr id="31" name="TextBox 3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07 / 66</a:t>
            </a:r>
          </a:p>
        </p:txBody>
      </p:sp>
      <p:pic>
        <p:nvPicPr>
          <p:cNvPr id="32"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15974" y="253993"/>
            <a:ext cx="5206869" cy="5206869"/>
          </a:xfrm>
          <a:prstGeom prst="ellipse">
            <a:avLst/>
          </a:prstGeom>
          <a:solidFill>
            <a:srgbClr val="52BDEC">
              <a:alpha val="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ro"/>
          <p:cNvSpPr txBox="1"/>
          <p:nvPr/>
        </p:nvSpPr>
        <p:spPr>
          <a:xfrm>
            <a:off x="380990" y="761980"/>
            <a:ext cx="7619809" cy="3301917"/>
          </a:xfrm>
          <a:prstGeom prst="rect">
            <a:avLst/>
          </a:prstGeom>
          <a:noFill/>
        </p:spPr>
        <p:txBody>
          <a:bodyPr wrap="square" anchor="t" lIns="0" rIns="0" tIns="0" bIns="0">
            <a:spAutoFit/>
          </a:bodyPr>
          <a:lstStyle/>
          <a:p>
            <a:pPr algn="l">
              <a:lnSpc>
                <a:spcPct val="82000"/>
              </a:lnSpc>
            </a:pPr>
            <a:r>
              <a:rPr sz="25000" b="1">
                <a:solidFill>
                  <a:srgbClr val="52BDEC"/>
                </a:solidFill>
                <a:latin typeface="Segoe UI"/>
              </a:rPr>
              <a:t>71</a:t>
            </a:r>
          </a:p>
        </p:txBody>
      </p:sp>
      <p:sp>
        <p:nvSpPr>
          <p:cNvPr id="5" name="TextBox 4"/>
          <p:cNvSpPr txBox="1"/>
          <p:nvPr/>
        </p:nvSpPr>
        <p:spPr>
          <a:xfrm>
            <a:off x="4444888" y="1320766"/>
            <a:ext cx="1523961" cy="1015974"/>
          </a:xfrm>
          <a:prstGeom prst="rect">
            <a:avLst/>
          </a:prstGeom>
          <a:noFill/>
        </p:spPr>
        <p:txBody>
          <a:bodyPr wrap="square" anchor="t" lIns="0" rIns="0" tIns="0" bIns="0">
            <a:spAutoFit/>
          </a:bodyPr>
          <a:lstStyle/>
          <a:p>
            <a:pPr algn="l">
              <a:lnSpc>
                <a:spcPct val="125000"/>
              </a:lnSpc>
            </a:pPr>
            <a:r>
              <a:rPr sz="7600" b="1">
                <a:solidFill>
                  <a:srgbClr val="52BDEC"/>
                </a:solidFill>
                <a:latin typeface="Segoe UI Light"/>
              </a:rPr>
              <a:t>%</a:t>
            </a:r>
          </a:p>
        </p:txBody>
      </p:sp>
      <p:sp>
        <p:nvSpPr>
          <p:cNvPr id="6" name="TextBox 5"/>
          <p:cNvSpPr txBox="1"/>
          <p:nvPr/>
        </p:nvSpPr>
        <p:spPr>
          <a:xfrm>
            <a:off x="660383" y="3975000"/>
            <a:ext cx="5460863" cy="1269968"/>
          </a:xfrm>
          <a:prstGeom prst="rect">
            <a:avLst/>
          </a:prstGeom>
          <a:noFill/>
        </p:spPr>
        <p:txBody>
          <a:bodyPr wrap="square" anchor="t" lIns="0" rIns="0" tIns="0" bIns="0">
            <a:spAutoFit/>
          </a:bodyPr>
          <a:lstStyle/>
          <a:p>
            <a:pPr algn="l">
              <a:lnSpc>
                <a:spcPct val="120000"/>
              </a:lnSpc>
            </a:pPr>
            <a:r>
              <a:rPr sz="3200" b="1">
                <a:solidFill>
                  <a:srgbClr val="F2F8FC"/>
                </a:solidFill>
                <a:latin typeface="Segoe UI"/>
              </a:rPr>
              <a:t>draagtijd — gemeten,</a:t>
            </a:r>
          </a:p>
          <a:p>
            <a:pPr algn="l">
              <a:lnSpc>
                <a:spcPct val="120000"/>
              </a:lnSpc>
              <a:spcBef>
                <a:spcPts val="500"/>
              </a:spcBef>
            </a:pPr>
            <a:r>
              <a:rPr sz="3200" b="1">
                <a:solidFill>
                  <a:srgbClr val="F2F8FC"/>
                </a:solidFill>
                <a:latin typeface="Segoe UI"/>
              </a:rPr>
              <a:t>niet gevraagd</a:t>
            </a:r>
          </a:p>
        </p:txBody>
      </p:sp>
      <p:sp>
        <p:nvSpPr>
          <p:cNvPr id="7" name="TextBox 6"/>
          <p:cNvSpPr txBox="1"/>
          <p:nvPr/>
        </p:nvSpPr>
        <p:spPr>
          <a:xfrm>
            <a:off x="6349841" y="1904952"/>
            <a:ext cx="5079873" cy="228594"/>
          </a:xfrm>
          <a:prstGeom prst="rect">
            <a:avLst/>
          </a:prstGeom>
          <a:noFill/>
        </p:spPr>
        <p:txBody>
          <a:bodyPr wrap="square" anchor="t" lIns="0" rIns="0" tIns="0" bIns="0">
            <a:spAutoFit/>
          </a:bodyPr>
          <a:lstStyle/>
          <a:p>
            <a:pPr algn="l">
              <a:lnSpc>
                <a:spcPct val="125000"/>
              </a:lnSpc>
            </a:pPr>
            <a:r>
              <a:rPr sz="1300" b="0" spc="140">
                <a:solidFill>
                  <a:srgbClr val="8FB6D0"/>
                </a:solidFill>
                <a:latin typeface="Consolas"/>
              </a:rPr>
              <a:t>DRAAGTIJD TEGENOVER DE NORM VAN 80%</a:t>
            </a:r>
          </a:p>
        </p:txBody>
      </p:sp>
      <p:sp>
        <p:nvSpPr>
          <p:cNvPr id="8" name="TextBox 7"/>
          <p:cNvSpPr txBox="1"/>
          <p:nvPr/>
        </p:nvSpPr>
        <p:spPr>
          <a:xfrm>
            <a:off x="6349841" y="2222444"/>
            <a:ext cx="1650958" cy="228594"/>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Gemiddeld</a:t>
            </a:r>
          </a:p>
        </p:txBody>
      </p:sp>
      <p:sp>
        <p:nvSpPr>
          <p:cNvPr id="9" name="Rounded Rectangle 8"/>
          <p:cNvSpPr/>
          <p:nvPr/>
        </p:nvSpPr>
        <p:spPr>
          <a:xfrm>
            <a:off x="6349841" y="2489137"/>
            <a:ext cx="4444888" cy="253993"/>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349841" y="2489137"/>
            <a:ext cx="3155871" cy="253993"/>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21726" y="2463738"/>
            <a:ext cx="698482" cy="279393"/>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71%</a:t>
            </a:r>
          </a:p>
        </p:txBody>
      </p:sp>
      <p:sp>
        <p:nvSpPr>
          <p:cNvPr id="12" name="TextBox 11"/>
          <p:cNvSpPr txBox="1"/>
          <p:nvPr/>
        </p:nvSpPr>
        <p:spPr>
          <a:xfrm>
            <a:off x="6349841" y="2971725"/>
            <a:ext cx="1650958" cy="228594"/>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Thuis</a:t>
            </a:r>
          </a:p>
        </p:txBody>
      </p:sp>
      <p:sp>
        <p:nvSpPr>
          <p:cNvPr id="13" name="Rounded Rectangle 12"/>
          <p:cNvSpPr/>
          <p:nvPr/>
        </p:nvSpPr>
        <p:spPr>
          <a:xfrm>
            <a:off x="6349841" y="3238419"/>
            <a:ext cx="4444888" cy="253993"/>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349841" y="3238419"/>
            <a:ext cx="2711382" cy="253993"/>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21726" y="3213019"/>
            <a:ext cx="698482" cy="279393"/>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61%</a:t>
            </a:r>
          </a:p>
        </p:txBody>
      </p:sp>
      <p:sp>
        <p:nvSpPr>
          <p:cNvPr id="16" name="TextBox 15"/>
          <p:cNvSpPr txBox="1"/>
          <p:nvPr/>
        </p:nvSpPr>
        <p:spPr>
          <a:xfrm>
            <a:off x="6349841" y="3721006"/>
            <a:ext cx="1650958" cy="228594"/>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Buitenshuis</a:t>
            </a:r>
          </a:p>
        </p:txBody>
      </p:sp>
      <p:sp>
        <p:nvSpPr>
          <p:cNvPr id="17" name="Rounded Rectangle 16"/>
          <p:cNvSpPr/>
          <p:nvPr/>
        </p:nvSpPr>
        <p:spPr>
          <a:xfrm>
            <a:off x="6349841" y="3987700"/>
            <a:ext cx="4444888" cy="253993"/>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6349841" y="3987700"/>
            <a:ext cx="3867053" cy="253993"/>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21726" y="3962300"/>
            <a:ext cx="698482" cy="279393"/>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87%</a:t>
            </a:r>
          </a:p>
        </p:txBody>
      </p:sp>
      <p:sp>
        <p:nvSpPr>
          <p:cNvPr id="20" name="Rectangle 19"/>
          <p:cNvSpPr/>
          <p:nvPr/>
        </p:nvSpPr>
        <p:spPr>
          <a:xfrm>
            <a:off x="9905752" y="2184345"/>
            <a:ext cx="19049" cy="2209744"/>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270768" y="4470288"/>
            <a:ext cx="1269968" cy="228594"/>
          </a:xfrm>
          <a:prstGeom prst="rect">
            <a:avLst/>
          </a:prstGeom>
          <a:noFill/>
        </p:spPr>
        <p:txBody>
          <a:bodyPr wrap="square" anchor="t" lIns="0" rIns="0" tIns="0" bIns="0">
            <a:spAutoFit/>
          </a:bodyPr>
          <a:lstStyle/>
          <a:p>
            <a:pPr algn="ctr">
              <a:lnSpc>
                <a:spcPct val="125000"/>
              </a:lnSpc>
            </a:pPr>
            <a:r>
              <a:rPr sz="1300" b="1">
                <a:solidFill>
                  <a:srgbClr val="FF7A00"/>
                </a:solidFill>
                <a:latin typeface="Consolas"/>
              </a:rPr>
              <a:t>norm 80%</a:t>
            </a:r>
          </a:p>
        </p:txBody>
      </p:sp>
      <p:sp>
        <p:nvSpPr>
          <p:cNvPr id="22" name="TextBox 21"/>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Waaijman et al. · Diabetes Care 2013 · 107 patiënten</a:t>
            </a:r>
          </a:p>
        </p:txBody>
      </p:sp>
      <p:sp>
        <p:nvSpPr>
          <p:cNvPr id="23" name="TextBox 2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08 / 66</a:t>
            </a:r>
          </a:p>
        </p:txBody>
      </p:sp>
      <p:pic>
        <p:nvPicPr>
          <p:cNvPr id="2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HET MECHANISME</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Belasting is een product,</a:t>
            </a:r>
          </a:p>
          <a:p>
            <a:pPr algn="l">
              <a:lnSpc>
                <a:spcPct val="110000"/>
              </a:lnSpc>
              <a:spcBef>
                <a:spcPts val="500"/>
              </a:spcBef>
            </a:pPr>
            <a:r>
              <a:rPr sz="4000" b="1">
                <a:solidFill>
                  <a:srgbClr val="F2F8FC"/>
                </a:solidFill>
                <a:latin typeface="Segoe UI"/>
              </a:rPr>
              <a:t>geen optelsom</a:t>
            </a:r>
          </a:p>
        </p:txBody>
      </p:sp>
      <p:sp>
        <p:nvSpPr>
          <p:cNvPr id="5" name="Rounded Rectangle 4"/>
          <p:cNvSpPr/>
          <p:nvPr/>
        </p:nvSpPr>
        <p:spPr>
          <a:xfrm>
            <a:off x="634984" y="2539936"/>
            <a:ext cx="3284899" cy="1968450"/>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5479" y="2768530"/>
            <a:ext cx="2903909" cy="419089"/>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Piekdruk</a:t>
            </a:r>
          </a:p>
        </p:txBody>
      </p:sp>
      <p:sp>
        <p:nvSpPr>
          <p:cNvPr id="7" name="TextBox 6"/>
          <p:cNvSpPr txBox="1"/>
          <p:nvPr/>
        </p:nvSpPr>
        <p:spPr>
          <a:xfrm>
            <a:off x="825479" y="3200319"/>
            <a:ext cx="2903909" cy="355591"/>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per stap</a:t>
            </a:r>
          </a:p>
        </p:txBody>
      </p:sp>
      <p:sp>
        <p:nvSpPr>
          <p:cNvPr id="8" name="Rounded Rectangle 7"/>
          <p:cNvSpPr/>
          <p:nvPr/>
        </p:nvSpPr>
        <p:spPr>
          <a:xfrm>
            <a:off x="825479" y="3797205"/>
            <a:ext cx="1015974" cy="279393"/>
          </a:xfrm>
          <a:prstGeom prst="roundRect">
            <a:avLst>
              <a:gd name="adj" fmla="val 45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5479" y="3873403"/>
            <a:ext cx="1015974" cy="203194"/>
          </a:xfrm>
          <a:prstGeom prst="rect">
            <a:avLst/>
          </a:prstGeom>
          <a:noFill/>
        </p:spPr>
        <p:txBody>
          <a:bodyPr wrap="square" anchor="t" lIns="0" rIns="0" tIns="0" bIns="0">
            <a:spAutoFit/>
          </a:bodyPr>
          <a:lstStyle/>
          <a:p>
            <a:pPr algn="ctr">
              <a:lnSpc>
                <a:spcPct val="125000"/>
              </a:lnSpc>
            </a:pPr>
            <a:r>
              <a:rPr sz="1100" b="1" spc="120">
                <a:solidFill>
                  <a:srgbClr val="04182A"/>
                </a:solidFill>
                <a:latin typeface="Consolas"/>
              </a:rPr>
              <a:t>BIJGESTUURD</a:t>
            </a:r>
          </a:p>
        </p:txBody>
      </p:sp>
      <p:sp>
        <p:nvSpPr>
          <p:cNvPr id="10" name="TextBox 9"/>
          <p:cNvSpPr txBox="1"/>
          <p:nvPr/>
        </p:nvSpPr>
        <p:spPr>
          <a:xfrm>
            <a:off x="3869085" y="3251118"/>
            <a:ext cx="406389" cy="571485"/>
          </a:xfrm>
          <a:prstGeom prst="rect">
            <a:avLst/>
          </a:prstGeom>
          <a:noFill/>
        </p:spPr>
        <p:txBody>
          <a:bodyPr wrap="square" anchor="t" lIns="0" rIns="0" tIns="0" bIns="0">
            <a:spAutoFit/>
          </a:bodyPr>
          <a:lstStyle/>
          <a:p>
            <a:pPr algn="ctr">
              <a:lnSpc>
                <a:spcPct val="125000"/>
              </a:lnSpc>
            </a:pPr>
            <a:r>
              <a:rPr sz="3400" b="0">
                <a:solidFill>
                  <a:srgbClr val="8FB6D0"/>
                </a:solidFill>
                <a:latin typeface="Segoe UI Light"/>
              </a:rPr>
              <a:t>×</a:t>
            </a:r>
          </a:p>
        </p:txBody>
      </p:sp>
      <p:sp>
        <p:nvSpPr>
          <p:cNvPr id="11" name="Rounded Rectangle 10"/>
          <p:cNvSpPr/>
          <p:nvPr/>
        </p:nvSpPr>
        <p:spPr>
          <a:xfrm>
            <a:off x="4326273" y="2539936"/>
            <a:ext cx="3284899" cy="1968450"/>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16769" y="2768530"/>
            <a:ext cx="2903909" cy="419089"/>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Activiteit</a:t>
            </a:r>
          </a:p>
        </p:txBody>
      </p:sp>
      <p:sp>
        <p:nvSpPr>
          <p:cNvPr id="13" name="TextBox 12"/>
          <p:cNvSpPr txBox="1"/>
          <p:nvPr/>
        </p:nvSpPr>
        <p:spPr>
          <a:xfrm>
            <a:off x="4516769" y="3200319"/>
            <a:ext cx="2903909" cy="355591"/>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stappen per dag</a:t>
            </a:r>
          </a:p>
        </p:txBody>
      </p:sp>
      <p:sp>
        <p:nvSpPr>
          <p:cNvPr id="14" name="Rounded Rectangle 13"/>
          <p:cNvSpPr/>
          <p:nvPr/>
        </p:nvSpPr>
        <p:spPr>
          <a:xfrm>
            <a:off x="4516769" y="3797205"/>
            <a:ext cx="1015974" cy="279393"/>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16769" y="3873403"/>
            <a:ext cx="1015974" cy="203194"/>
          </a:xfrm>
          <a:prstGeom prst="rect">
            <a:avLst/>
          </a:prstGeom>
          <a:noFill/>
        </p:spPr>
        <p:txBody>
          <a:bodyPr wrap="square" anchor="t" lIns="0" rIns="0" tIns="0" bIns="0">
            <a:spAutoFit/>
          </a:bodyPr>
          <a:lstStyle/>
          <a:p>
            <a:pPr algn="ctr">
              <a:lnSpc>
                <a:spcPct val="125000"/>
              </a:lnSpc>
            </a:pPr>
            <a:r>
              <a:rPr sz="1100" b="1" spc="120">
                <a:solidFill>
                  <a:srgbClr val="8FB6D0"/>
                </a:solidFill>
                <a:latin typeface="Consolas"/>
              </a:rPr>
              <a:t>GEMETEN</a:t>
            </a:r>
          </a:p>
        </p:txBody>
      </p:sp>
      <p:sp>
        <p:nvSpPr>
          <p:cNvPr id="16" name="TextBox 15"/>
          <p:cNvSpPr txBox="1"/>
          <p:nvPr/>
        </p:nvSpPr>
        <p:spPr>
          <a:xfrm>
            <a:off x="7560374" y="3251118"/>
            <a:ext cx="406389" cy="571485"/>
          </a:xfrm>
          <a:prstGeom prst="rect">
            <a:avLst/>
          </a:prstGeom>
          <a:noFill/>
        </p:spPr>
        <p:txBody>
          <a:bodyPr wrap="square" anchor="t" lIns="0" rIns="0" tIns="0" bIns="0">
            <a:spAutoFit/>
          </a:bodyPr>
          <a:lstStyle/>
          <a:p>
            <a:pPr algn="ctr">
              <a:lnSpc>
                <a:spcPct val="125000"/>
              </a:lnSpc>
            </a:pPr>
            <a:r>
              <a:rPr sz="3400" b="0">
                <a:solidFill>
                  <a:srgbClr val="8FB6D0"/>
                </a:solidFill>
                <a:latin typeface="Segoe UI Light"/>
              </a:rPr>
              <a:t>×</a:t>
            </a:r>
          </a:p>
        </p:txBody>
      </p:sp>
      <p:sp>
        <p:nvSpPr>
          <p:cNvPr id="17" name="Rounded Rectangle 16"/>
          <p:cNvSpPr/>
          <p:nvPr/>
        </p:nvSpPr>
        <p:spPr>
          <a:xfrm>
            <a:off x="8017563" y="2539936"/>
            <a:ext cx="3284899" cy="1968450"/>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08058" y="2768530"/>
            <a:ext cx="2903909" cy="419089"/>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Draagtijd</a:t>
            </a:r>
          </a:p>
        </p:txBody>
      </p:sp>
      <p:sp>
        <p:nvSpPr>
          <p:cNvPr id="19" name="TextBox 18"/>
          <p:cNvSpPr txBox="1"/>
          <p:nvPr/>
        </p:nvSpPr>
        <p:spPr>
          <a:xfrm>
            <a:off x="8208058" y="3200319"/>
            <a:ext cx="2903909" cy="355591"/>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wérd hij gedragen</a:t>
            </a:r>
          </a:p>
        </p:txBody>
      </p:sp>
      <p:sp>
        <p:nvSpPr>
          <p:cNvPr id="20" name="Rounded Rectangle 19"/>
          <p:cNvSpPr/>
          <p:nvPr/>
        </p:nvSpPr>
        <p:spPr>
          <a:xfrm>
            <a:off x="8208058" y="3797205"/>
            <a:ext cx="1015974" cy="279393"/>
          </a:xfrm>
          <a:prstGeom prst="roundRect">
            <a:avLst>
              <a:gd name="adj" fmla="val 45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08058" y="3873403"/>
            <a:ext cx="1015974" cy="203194"/>
          </a:xfrm>
          <a:prstGeom prst="rect">
            <a:avLst/>
          </a:prstGeom>
          <a:noFill/>
        </p:spPr>
        <p:txBody>
          <a:bodyPr wrap="square" anchor="t" lIns="0" rIns="0" tIns="0" bIns="0">
            <a:spAutoFit/>
          </a:bodyPr>
          <a:lstStyle/>
          <a:p>
            <a:pPr algn="ctr">
              <a:lnSpc>
                <a:spcPct val="125000"/>
              </a:lnSpc>
            </a:pPr>
            <a:r>
              <a:rPr sz="1100" b="1" spc="120">
                <a:solidFill>
                  <a:srgbClr val="04182A"/>
                </a:solidFill>
                <a:latin typeface="Consolas"/>
              </a:rPr>
              <a:t>BIJGESTUURD</a:t>
            </a:r>
          </a:p>
        </p:txBody>
      </p:sp>
      <p:sp>
        <p:nvSpPr>
          <p:cNvPr id="22" name="TextBox 21"/>
          <p:cNvSpPr txBox="1"/>
          <p:nvPr/>
        </p:nvSpPr>
        <p:spPr>
          <a:xfrm>
            <a:off x="634984" y="4889377"/>
            <a:ext cx="10921726" cy="571485"/>
          </a:xfrm>
          <a:prstGeom prst="rect">
            <a:avLst/>
          </a:prstGeom>
          <a:noFill/>
        </p:spPr>
        <p:txBody>
          <a:bodyPr wrap="square" anchor="t" lIns="0" rIns="0" tIns="0" bIns="0">
            <a:spAutoFit/>
          </a:bodyPr>
          <a:lstStyle/>
          <a:p>
            <a:pPr algn="l">
              <a:lnSpc>
                <a:spcPct val="140000"/>
              </a:lnSpc>
            </a:pPr>
            <a:r>
              <a:rPr sz="2000" b="0">
                <a:solidFill>
                  <a:srgbClr val="8FB6D0"/>
                </a:solidFill>
                <a:latin typeface="Segoe UI"/>
              </a:rPr>
              <a:t>Eén factor op nul maakt het product nul. Daarom heeft PARADISE twee normen: een druknorm én een draagtijdnorm.</a:t>
            </a:r>
          </a:p>
        </p:txBody>
      </p:sp>
      <p:sp>
        <p:nvSpPr>
          <p:cNvPr id="23" name="TextBox 2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09 / 66</a:t>
            </a:r>
          </a:p>
        </p:txBody>
      </p:sp>
      <p:pic>
        <p:nvPicPr>
          <p:cNvPr id="2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merkgroot" descr="merk.png"/>
          <p:cNvPicPr>
            <a:picLocks noChangeAspect="1"/>
          </p:cNvPicPr>
          <p:nvPr/>
        </p:nvPicPr>
        <p:blipFill>
          <a:blip r:embed="rId2">
            <a:alphaModFix amt="14000"/>
          </a:blip>
          <a:stretch>
            <a:fillRect/>
          </a:stretch>
        </p:blipFill>
        <p:spPr>
          <a:xfrm>
            <a:off x="6857828" y="-738820"/>
            <a:ext cx="6984825" cy="8081476"/>
          </a:xfrm>
          <a:prstGeom prst="rect">
            <a:avLst/>
          </a:prstGeom>
        </p:spPr>
      </p:pic>
      <p:sp>
        <p:nvSpPr>
          <p:cNvPr id="4" name="hero"/>
          <p:cNvSpPr txBox="1"/>
          <p:nvPr/>
        </p:nvSpPr>
        <p:spPr>
          <a:xfrm>
            <a:off x="634984" y="1854153"/>
            <a:ext cx="4444888" cy="2031949"/>
          </a:xfrm>
          <a:prstGeom prst="rect">
            <a:avLst/>
          </a:prstGeom>
          <a:noFill/>
        </p:spPr>
        <p:txBody>
          <a:bodyPr wrap="square" anchor="t" lIns="0" rIns="0" tIns="0" bIns="0">
            <a:spAutoFit/>
          </a:bodyPr>
          <a:lstStyle/>
          <a:p>
            <a:pPr algn="l">
              <a:lnSpc>
                <a:spcPct val="90000"/>
              </a:lnSpc>
            </a:pPr>
            <a:r>
              <a:rPr sz="15000" b="1">
                <a:gradFill>
                  <a:gsLst>
                    <a:gs pos="0">
                      <a:srgbClr val="52BDEC"/>
                    </a:gs>
                    <a:gs pos="100000">
                      <a:srgbClr val="FF7A00"/>
                    </a:gs>
                  </a:gsLst>
                  <a:lin ang="2700000" scaled="0"/>
                </a:gradFill>
                <a:latin typeface="Segoe UI"/>
              </a:rPr>
              <a:t>02</a:t>
            </a:r>
          </a:p>
        </p:txBody>
      </p:sp>
      <p:sp>
        <p:nvSpPr>
          <p:cNvPr id="5" name="sectietitel"/>
          <p:cNvSpPr txBox="1"/>
          <p:nvPr/>
        </p:nvSpPr>
        <p:spPr>
          <a:xfrm>
            <a:off x="634984" y="3975000"/>
            <a:ext cx="8889777" cy="888977"/>
          </a:xfrm>
          <a:prstGeom prst="rect">
            <a:avLst/>
          </a:prstGeom>
          <a:noFill/>
        </p:spPr>
        <p:txBody>
          <a:bodyPr wrap="square" anchor="t" lIns="0" rIns="0" tIns="0" bIns="0">
            <a:spAutoFit/>
          </a:bodyPr>
          <a:lstStyle/>
          <a:p>
            <a:pPr algn="l">
              <a:lnSpc>
                <a:spcPct val="125000"/>
              </a:lnSpc>
            </a:pPr>
            <a:r>
              <a:rPr sz="5600" b="1">
                <a:solidFill>
                  <a:srgbClr val="F2F8FC"/>
                </a:solidFill>
                <a:latin typeface="Segoe UI"/>
              </a:rPr>
              <a:t>De meting</a:t>
            </a:r>
          </a:p>
        </p:txBody>
      </p:sp>
      <p:sp>
        <p:nvSpPr>
          <p:cNvPr id="6" name="TextBox 5"/>
          <p:cNvSpPr txBox="1"/>
          <p:nvPr/>
        </p:nvSpPr>
        <p:spPr>
          <a:xfrm>
            <a:off x="660383" y="4990975"/>
            <a:ext cx="8254793" cy="507987"/>
          </a:xfrm>
          <a:prstGeom prst="rect">
            <a:avLst/>
          </a:prstGeom>
          <a:noFill/>
        </p:spPr>
        <p:txBody>
          <a:bodyPr wrap="square" anchor="t" lIns="0" rIns="0" tIns="0" bIns="0">
            <a:spAutoFit/>
          </a:bodyPr>
          <a:lstStyle/>
          <a:p>
            <a:pPr algn="l">
              <a:lnSpc>
                <a:spcPct val="125000"/>
              </a:lnSpc>
            </a:pPr>
            <a:r>
              <a:rPr sz="2100" b="0">
                <a:solidFill>
                  <a:srgbClr val="8FB6D0"/>
                </a:solidFill>
                <a:latin typeface="Segoe UI Light"/>
              </a:rPr>
              <a:t>Wat u meet, hoe u het meet, en wanneer het goed genoeg is.</a:t>
            </a:r>
          </a:p>
        </p:txBody>
      </p:sp>
      <p:sp>
        <p:nvSpPr>
          <p:cNvPr id="7" name="TextBox 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10 / 66</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BASELINE · BLOOTSVOETS</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Elke sensor een cijfer</a:t>
            </a:r>
          </a:p>
        </p:txBody>
      </p:sp>
      <p:sp>
        <p:nvSpPr>
          <p:cNvPr id="5" name="!!p00_07"/>
          <p:cNvSpPr/>
          <p:nvPr/>
        </p:nvSpPr>
        <p:spPr>
          <a:xfrm>
            <a:off x="1585505" y="5645727"/>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00_08"/>
          <p:cNvSpPr/>
          <p:nvPr/>
        </p:nvSpPr>
        <p:spPr>
          <a:xfrm>
            <a:off x="1744251" y="5645727"/>
            <a:ext cx="99157" cy="99157"/>
          </a:xfrm>
          <a:prstGeom prst="roundRect">
            <a:avLst>
              <a:gd name="adj" fmla="val 30000"/>
            </a:avLst>
          </a:prstGeom>
          <a:solidFill>
            <a:srgbClr val="2897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00_09"/>
          <p:cNvSpPr/>
          <p:nvPr/>
        </p:nvSpPr>
        <p:spPr>
          <a:xfrm>
            <a:off x="1902997" y="5645727"/>
            <a:ext cx="99157" cy="99157"/>
          </a:xfrm>
          <a:prstGeom prst="roundRect">
            <a:avLst>
              <a:gd name="adj" fmla="val 30000"/>
            </a:avLst>
          </a:prstGeom>
          <a:solidFill>
            <a:srgbClr val="2897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p00_10"/>
          <p:cNvSpPr/>
          <p:nvPr/>
        </p:nvSpPr>
        <p:spPr>
          <a:xfrm>
            <a:off x="2061743" y="5645727"/>
            <a:ext cx="99157" cy="99157"/>
          </a:xfrm>
          <a:prstGeom prst="roundRect">
            <a:avLst>
              <a:gd name="adj" fmla="val 30000"/>
            </a:avLst>
          </a:prstGeom>
          <a:solidFill>
            <a:srgbClr val="1A7C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p01_06"/>
          <p:cNvSpPr/>
          <p:nvPr/>
        </p:nvSpPr>
        <p:spPr>
          <a:xfrm>
            <a:off x="1426759" y="5530427"/>
            <a:ext cx="99157" cy="99157"/>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p01_07"/>
          <p:cNvSpPr/>
          <p:nvPr/>
        </p:nvSpPr>
        <p:spPr>
          <a:xfrm>
            <a:off x="1585505" y="5530427"/>
            <a:ext cx="99157" cy="99157"/>
          </a:xfrm>
          <a:prstGeom prst="roundRect">
            <a:avLst>
              <a:gd name="adj" fmla="val 30000"/>
            </a:avLst>
          </a:prstGeom>
          <a:solidFill>
            <a:srgbClr val="21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01_08"/>
          <p:cNvSpPr/>
          <p:nvPr/>
        </p:nvSpPr>
        <p:spPr>
          <a:xfrm>
            <a:off x="1744251" y="5530427"/>
            <a:ext cx="99157" cy="99157"/>
          </a:xfrm>
          <a:prstGeom prst="roundRect">
            <a:avLst>
              <a:gd name="adj" fmla="val 30000"/>
            </a:avLst>
          </a:prstGeom>
          <a:solidFill>
            <a:srgbClr val="3BA9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p01_09"/>
          <p:cNvSpPr/>
          <p:nvPr/>
        </p:nvSpPr>
        <p:spPr>
          <a:xfrm>
            <a:off x="1902997" y="5530427"/>
            <a:ext cx="99157" cy="99157"/>
          </a:xfrm>
          <a:prstGeom prst="roundRect">
            <a:avLst>
              <a:gd name="adj" fmla="val 30000"/>
            </a:avLst>
          </a:prstGeom>
          <a:solidFill>
            <a:srgbClr val="3BA8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p01_10"/>
          <p:cNvSpPr/>
          <p:nvPr/>
        </p:nvSpPr>
        <p:spPr>
          <a:xfrm>
            <a:off x="2061743" y="5530427"/>
            <a:ext cx="99157" cy="99157"/>
          </a:xfrm>
          <a:prstGeom prst="roundRect">
            <a:avLst>
              <a:gd name="adj" fmla="val 30000"/>
            </a:avLst>
          </a:prstGeom>
          <a:solidFill>
            <a:srgbClr val="2191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01_11"/>
          <p:cNvSpPr/>
          <p:nvPr/>
        </p:nvSpPr>
        <p:spPr>
          <a:xfrm>
            <a:off x="2220489" y="5530427"/>
            <a:ext cx="99157" cy="99157"/>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02_05"/>
          <p:cNvSpPr/>
          <p:nvPr/>
        </p:nvSpPr>
        <p:spPr>
          <a:xfrm>
            <a:off x="1268013" y="5415127"/>
            <a:ext cx="99157" cy="99157"/>
          </a:xfrm>
          <a:prstGeom prst="roundRect">
            <a:avLst>
              <a:gd name="adj" fmla="val 30000"/>
            </a:avLst>
          </a:prstGeom>
          <a:solidFill>
            <a:srgbClr val="0D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02_06"/>
          <p:cNvSpPr/>
          <p:nvPr/>
        </p:nvSpPr>
        <p:spPr>
          <a:xfrm>
            <a:off x="1426759" y="5415127"/>
            <a:ext cx="99157" cy="99157"/>
          </a:xfrm>
          <a:prstGeom prst="roundRect">
            <a:avLst>
              <a:gd name="adj" fmla="val 30000"/>
            </a:avLst>
          </a:prstGeom>
          <a:solidFill>
            <a:srgbClr val="1669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02_07"/>
          <p:cNvSpPr/>
          <p:nvPr/>
        </p:nvSpPr>
        <p:spPr>
          <a:xfrm>
            <a:off x="1585505" y="5415127"/>
            <a:ext cx="99157" cy="99157"/>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02_08"/>
          <p:cNvSpPr/>
          <p:nvPr/>
        </p:nvSpPr>
        <p:spPr>
          <a:xfrm>
            <a:off x="1744251" y="5415127"/>
            <a:ext cx="99157" cy="99157"/>
          </a:xfrm>
          <a:prstGeom prst="roundRect">
            <a:avLst>
              <a:gd name="adj" fmla="val 30000"/>
            </a:avLst>
          </a:prstGeom>
          <a:solidFill>
            <a:srgbClr val="4AB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p02_09"/>
          <p:cNvSpPr/>
          <p:nvPr/>
        </p:nvSpPr>
        <p:spPr>
          <a:xfrm>
            <a:off x="1902997" y="5415127"/>
            <a:ext cx="99157" cy="99157"/>
          </a:xfrm>
          <a:prstGeom prst="roundRect">
            <a:avLst>
              <a:gd name="adj" fmla="val 30000"/>
            </a:avLst>
          </a:prstGeom>
          <a:solidFill>
            <a:srgbClr val="4AB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p02_10"/>
          <p:cNvSpPr/>
          <p:nvPr/>
        </p:nvSpPr>
        <p:spPr>
          <a:xfrm>
            <a:off x="2061743" y="5415127"/>
            <a:ext cx="99157" cy="99157"/>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p02_11"/>
          <p:cNvSpPr/>
          <p:nvPr/>
        </p:nvSpPr>
        <p:spPr>
          <a:xfrm>
            <a:off x="2220489" y="5415127"/>
            <a:ext cx="99157" cy="99157"/>
          </a:xfrm>
          <a:prstGeom prst="roundRect">
            <a:avLst>
              <a:gd name="adj" fmla="val 30000"/>
            </a:avLst>
          </a:prstGeom>
          <a:solidFill>
            <a:srgbClr val="1668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p02_12"/>
          <p:cNvSpPr/>
          <p:nvPr/>
        </p:nvSpPr>
        <p:spPr>
          <a:xfrm>
            <a:off x="2379235" y="5415127"/>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p03_05"/>
          <p:cNvSpPr/>
          <p:nvPr/>
        </p:nvSpPr>
        <p:spPr>
          <a:xfrm>
            <a:off x="1268013" y="5299828"/>
            <a:ext cx="99157" cy="99157"/>
          </a:xfrm>
          <a:prstGeom prst="roundRect">
            <a:avLst>
              <a:gd name="adj" fmla="val 30000"/>
            </a:avLst>
          </a:prstGeom>
          <a:solidFill>
            <a:srgbClr val="0E3F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p03_06"/>
          <p:cNvSpPr/>
          <p:nvPr/>
        </p:nvSpPr>
        <p:spPr>
          <a:xfrm>
            <a:off x="1426759" y="5299828"/>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03_07"/>
          <p:cNvSpPr/>
          <p:nvPr/>
        </p:nvSpPr>
        <p:spPr>
          <a:xfrm>
            <a:off x="1585505" y="5299828"/>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p03_08"/>
          <p:cNvSpPr/>
          <p:nvPr/>
        </p:nvSpPr>
        <p:spPr>
          <a:xfrm>
            <a:off x="1744251" y="5299828"/>
            <a:ext cx="99157" cy="99157"/>
          </a:xfrm>
          <a:prstGeom prst="roundRect">
            <a:avLst>
              <a:gd name="adj" fmla="val 30000"/>
            </a:avLst>
          </a:prstGeom>
          <a:solidFill>
            <a:srgbClr val="54BD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p03_09"/>
          <p:cNvSpPr/>
          <p:nvPr/>
        </p:nvSpPr>
        <p:spPr>
          <a:xfrm>
            <a:off x="1902997" y="5299828"/>
            <a:ext cx="99157" cy="99157"/>
          </a:xfrm>
          <a:prstGeom prst="roundRect">
            <a:avLst>
              <a:gd name="adj" fmla="val 30000"/>
            </a:avLst>
          </a:prstGeom>
          <a:solidFill>
            <a:srgbClr val="54B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p03_10"/>
          <p:cNvSpPr/>
          <p:nvPr/>
        </p:nvSpPr>
        <p:spPr>
          <a:xfrm>
            <a:off x="2061743" y="5299828"/>
            <a:ext cx="99157" cy="99157"/>
          </a:xfrm>
          <a:prstGeom prst="roundRect">
            <a:avLst>
              <a:gd name="adj" fmla="val 30000"/>
            </a:avLst>
          </a:prstGeom>
          <a:solidFill>
            <a:srgbClr val="34A1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p03_11"/>
          <p:cNvSpPr/>
          <p:nvPr/>
        </p:nvSpPr>
        <p:spPr>
          <a:xfrm>
            <a:off x="2220489" y="5299828"/>
            <a:ext cx="99157" cy="99157"/>
          </a:xfrm>
          <a:prstGeom prst="roundRect">
            <a:avLst>
              <a:gd name="adj" fmla="val 30000"/>
            </a:avLst>
          </a:prstGeom>
          <a:solidFill>
            <a:srgbClr val="176F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p03_12"/>
          <p:cNvSpPr/>
          <p:nvPr/>
        </p:nvSpPr>
        <p:spPr>
          <a:xfrm>
            <a:off x="2379235" y="5299828"/>
            <a:ext cx="99157" cy="99157"/>
          </a:xfrm>
          <a:prstGeom prst="roundRect">
            <a:avLst>
              <a:gd name="adj" fmla="val 30000"/>
            </a:avLst>
          </a:prstGeom>
          <a:solidFill>
            <a:srgbClr val="0E3D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p04_05"/>
          <p:cNvSpPr/>
          <p:nvPr/>
        </p:nvSpPr>
        <p:spPr>
          <a:xfrm>
            <a:off x="1268013" y="5184528"/>
            <a:ext cx="99157" cy="99157"/>
          </a:xfrm>
          <a:prstGeom prst="roundRect">
            <a:avLst>
              <a:gd name="adj" fmla="val 30000"/>
            </a:avLst>
          </a:prstGeom>
          <a:solidFill>
            <a:srgbClr val="0E41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04_06"/>
          <p:cNvSpPr/>
          <p:nvPr/>
        </p:nvSpPr>
        <p:spPr>
          <a:xfrm>
            <a:off x="1426759" y="5184528"/>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p04_07"/>
          <p:cNvSpPr/>
          <p:nvPr/>
        </p:nvSpPr>
        <p:spPr>
          <a:xfrm>
            <a:off x="1585505" y="5184528"/>
            <a:ext cx="99157" cy="99157"/>
          </a:xfrm>
          <a:prstGeom prst="roundRect">
            <a:avLst>
              <a:gd name="adj" fmla="val 30000"/>
            </a:avLst>
          </a:prstGeom>
          <a:solidFill>
            <a:srgbClr val="35A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p04_08"/>
          <p:cNvSpPr/>
          <p:nvPr/>
        </p:nvSpPr>
        <p:spPr>
          <a:xfrm>
            <a:off x="1744251" y="5184528"/>
            <a:ext cx="99157" cy="99157"/>
          </a:xfrm>
          <a:prstGeom prst="roundRect">
            <a:avLst>
              <a:gd name="adj" fmla="val 30000"/>
            </a:avLst>
          </a:prstGeom>
          <a:solidFill>
            <a:srgbClr val="57B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p04_09"/>
          <p:cNvSpPr/>
          <p:nvPr/>
        </p:nvSpPr>
        <p:spPr>
          <a:xfrm>
            <a:off x="1902997" y="5184528"/>
            <a:ext cx="99157" cy="99157"/>
          </a:xfrm>
          <a:prstGeom prst="roundRect">
            <a:avLst>
              <a:gd name="adj" fmla="val 30000"/>
            </a:avLst>
          </a:prstGeom>
          <a:solidFill>
            <a:srgbClr val="57B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p04_10"/>
          <p:cNvSpPr/>
          <p:nvPr/>
        </p:nvSpPr>
        <p:spPr>
          <a:xfrm>
            <a:off x="2061743" y="5184528"/>
            <a:ext cx="99157" cy="99157"/>
          </a:xfrm>
          <a:prstGeom prst="roundRect">
            <a:avLst>
              <a:gd name="adj" fmla="val 30000"/>
            </a:avLst>
          </a:prstGeom>
          <a:solidFill>
            <a:srgbClr val="35A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p04_11"/>
          <p:cNvSpPr/>
          <p:nvPr/>
        </p:nvSpPr>
        <p:spPr>
          <a:xfrm>
            <a:off x="2220489" y="5184528"/>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p04_12"/>
          <p:cNvSpPr/>
          <p:nvPr/>
        </p:nvSpPr>
        <p:spPr>
          <a:xfrm>
            <a:off x="2379235" y="5184528"/>
            <a:ext cx="99157" cy="99157"/>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p05_05"/>
          <p:cNvSpPr/>
          <p:nvPr/>
        </p:nvSpPr>
        <p:spPr>
          <a:xfrm>
            <a:off x="1268013" y="5069228"/>
            <a:ext cx="99157" cy="99157"/>
          </a:xfrm>
          <a:prstGeom prst="roundRect">
            <a:avLst>
              <a:gd name="adj" fmla="val 30000"/>
            </a:avLst>
          </a:prstGeom>
          <a:solidFill>
            <a:srgbClr val="0E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p05_06"/>
          <p:cNvSpPr/>
          <p:nvPr/>
        </p:nvSpPr>
        <p:spPr>
          <a:xfrm>
            <a:off x="1426759" y="5069228"/>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p05_07"/>
          <p:cNvSpPr/>
          <p:nvPr/>
        </p:nvSpPr>
        <p:spPr>
          <a:xfrm>
            <a:off x="1585505" y="5069228"/>
            <a:ext cx="99157" cy="99157"/>
          </a:xfrm>
          <a:prstGeom prst="roundRect">
            <a:avLst>
              <a:gd name="adj" fmla="val 30000"/>
            </a:avLst>
          </a:prstGeom>
          <a:solidFill>
            <a:srgbClr val="31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p05_08"/>
          <p:cNvSpPr/>
          <p:nvPr/>
        </p:nvSpPr>
        <p:spPr>
          <a:xfrm>
            <a:off x="1744251" y="5069228"/>
            <a:ext cx="99157" cy="99157"/>
          </a:xfrm>
          <a:prstGeom prst="roundRect">
            <a:avLst>
              <a:gd name="adj" fmla="val 30000"/>
            </a:avLst>
          </a:prstGeom>
          <a:solidFill>
            <a:srgbClr val="4DB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p05_09"/>
          <p:cNvSpPr/>
          <p:nvPr/>
        </p:nvSpPr>
        <p:spPr>
          <a:xfrm>
            <a:off x="1902997" y="5069228"/>
            <a:ext cx="99157" cy="99157"/>
          </a:xfrm>
          <a:prstGeom prst="roundRect">
            <a:avLst>
              <a:gd name="adj" fmla="val 30000"/>
            </a:avLst>
          </a:prstGeom>
          <a:solidFill>
            <a:srgbClr val="4DB9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p05_10"/>
          <p:cNvSpPr/>
          <p:nvPr/>
        </p:nvSpPr>
        <p:spPr>
          <a:xfrm>
            <a:off x="2061743" y="5069228"/>
            <a:ext cx="99157" cy="99157"/>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p05_11"/>
          <p:cNvSpPr/>
          <p:nvPr/>
        </p:nvSpPr>
        <p:spPr>
          <a:xfrm>
            <a:off x="2220489" y="5069228"/>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p05_12"/>
          <p:cNvSpPr/>
          <p:nvPr/>
        </p:nvSpPr>
        <p:spPr>
          <a:xfrm>
            <a:off x="2379235" y="5069228"/>
            <a:ext cx="99157" cy="99157"/>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p06_05"/>
          <p:cNvSpPr/>
          <p:nvPr/>
        </p:nvSpPr>
        <p:spPr>
          <a:xfrm>
            <a:off x="1268013" y="4953928"/>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p06_06"/>
          <p:cNvSpPr/>
          <p:nvPr/>
        </p:nvSpPr>
        <p:spPr>
          <a:xfrm>
            <a:off x="1426759" y="4953928"/>
            <a:ext cx="99157" cy="99157"/>
          </a:xfrm>
          <a:prstGeom prst="roundRect">
            <a:avLst>
              <a:gd name="adj" fmla="val 30000"/>
            </a:avLst>
          </a:prstGeom>
          <a:solidFill>
            <a:srgbClr val="166A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p06_07"/>
          <p:cNvSpPr/>
          <p:nvPr/>
        </p:nvSpPr>
        <p:spPr>
          <a:xfrm>
            <a:off x="1585505" y="4953928"/>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p06_08"/>
          <p:cNvSpPr/>
          <p:nvPr/>
        </p:nvSpPr>
        <p:spPr>
          <a:xfrm>
            <a:off x="1744251" y="4953928"/>
            <a:ext cx="99157" cy="99157"/>
          </a:xfrm>
          <a:prstGeom prst="roundRect">
            <a:avLst>
              <a:gd name="adj" fmla="val 30000"/>
            </a:avLst>
          </a:prstGeom>
          <a:solidFill>
            <a:srgbClr val="41A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p06_09"/>
          <p:cNvSpPr/>
          <p:nvPr/>
        </p:nvSpPr>
        <p:spPr>
          <a:xfrm>
            <a:off x="1902997" y="4953928"/>
            <a:ext cx="99157" cy="99157"/>
          </a:xfrm>
          <a:prstGeom prst="roundRect">
            <a:avLst>
              <a:gd name="adj" fmla="val 30000"/>
            </a:avLst>
          </a:prstGeom>
          <a:solidFill>
            <a:srgbClr val="42AE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p06_10"/>
          <p:cNvSpPr/>
          <p:nvPr/>
        </p:nvSpPr>
        <p:spPr>
          <a:xfrm>
            <a:off x="2061743" y="4953928"/>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p06_11"/>
          <p:cNvSpPr/>
          <p:nvPr/>
        </p:nvSpPr>
        <p:spPr>
          <a:xfrm>
            <a:off x="2220489" y="4953928"/>
            <a:ext cx="99157" cy="99157"/>
          </a:xfrm>
          <a:prstGeom prst="roundRect">
            <a:avLst>
              <a:gd name="adj" fmla="val 30000"/>
            </a:avLst>
          </a:prstGeom>
          <a:solidFill>
            <a:srgbClr val="17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p06_12"/>
          <p:cNvSpPr/>
          <p:nvPr/>
        </p:nvSpPr>
        <p:spPr>
          <a:xfrm>
            <a:off x="2379235" y="4953928"/>
            <a:ext cx="99157" cy="99157"/>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p07_05"/>
          <p:cNvSpPr/>
          <p:nvPr/>
        </p:nvSpPr>
        <p:spPr>
          <a:xfrm>
            <a:off x="1268013" y="4838629"/>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p07_06"/>
          <p:cNvSpPr/>
          <p:nvPr/>
        </p:nvSpPr>
        <p:spPr>
          <a:xfrm>
            <a:off x="1426759" y="4838629"/>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p07_07"/>
          <p:cNvSpPr/>
          <p:nvPr/>
        </p:nvSpPr>
        <p:spPr>
          <a:xfrm>
            <a:off x="1585505" y="4838629"/>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p07_08"/>
          <p:cNvSpPr/>
          <p:nvPr/>
        </p:nvSpPr>
        <p:spPr>
          <a:xfrm>
            <a:off x="1744251" y="4838629"/>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p07_09"/>
          <p:cNvSpPr/>
          <p:nvPr/>
        </p:nvSpPr>
        <p:spPr>
          <a:xfrm>
            <a:off x="1902997" y="4838629"/>
            <a:ext cx="99157" cy="99157"/>
          </a:xfrm>
          <a:prstGeom prst="roundRect">
            <a:avLst>
              <a:gd name="adj" fmla="val 30000"/>
            </a:avLst>
          </a:prstGeom>
          <a:solidFill>
            <a:srgbClr val="33A1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p07_10"/>
          <p:cNvSpPr/>
          <p:nvPr/>
        </p:nvSpPr>
        <p:spPr>
          <a:xfrm>
            <a:off x="2061743" y="4838629"/>
            <a:ext cx="99157" cy="99157"/>
          </a:xfrm>
          <a:prstGeom prst="roundRect">
            <a:avLst>
              <a:gd name="adj" fmla="val 30000"/>
            </a:avLst>
          </a:prstGeom>
          <a:solidFill>
            <a:srgbClr val="1F8F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p07_11"/>
          <p:cNvSpPr/>
          <p:nvPr/>
        </p:nvSpPr>
        <p:spPr>
          <a:xfrm>
            <a:off x="2220489" y="4838629"/>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p07_12"/>
          <p:cNvSpPr/>
          <p:nvPr/>
        </p:nvSpPr>
        <p:spPr>
          <a:xfrm>
            <a:off x="2379235" y="4838629"/>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p08_05"/>
          <p:cNvSpPr/>
          <p:nvPr/>
        </p:nvSpPr>
        <p:spPr>
          <a:xfrm>
            <a:off x="1268013" y="4723329"/>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p08_06"/>
          <p:cNvSpPr/>
          <p:nvPr/>
        </p:nvSpPr>
        <p:spPr>
          <a:xfrm>
            <a:off x="1426759" y="4723329"/>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p08_07"/>
          <p:cNvSpPr/>
          <p:nvPr/>
        </p:nvSpPr>
        <p:spPr>
          <a:xfrm>
            <a:off x="1585505" y="4723329"/>
            <a:ext cx="99157" cy="99157"/>
          </a:xfrm>
          <a:prstGeom prst="roundRect">
            <a:avLst>
              <a:gd name="adj" fmla="val 30000"/>
            </a:avLst>
          </a:prstGeom>
          <a:solidFill>
            <a:srgbClr val="197B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p08_08"/>
          <p:cNvSpPr/>
          <p:nvPr/>
        </p:nvSpPr>
        <p:spPr>
          <a:xfrm>
            <a:off x="1744251" y="4723329"/>
            <a:ext cx="99157" cy="99157"/>
          </a:xfrm>
          <a:prstGeom prst="roundRect">
            <a:avLst>
              <a:gd name="adj" fmla="val 30000"/>
            </a:avLst>
          </a:prstGeom>
          <a:solidFill>
            <a:srgbClr val="23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p08_09"/>
          <p:cNvSpPr/>
          <p:nvPr/>
        </p:nvSpPr>
        <p:spPr>
          <a:xfrm>
            <a:off x="1902997" y="4723329"/>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p08_10"/>
          <p:cNvSpPr/>
          <p:nvPr/>
        </p:nvSpPr>
        <p:spPr>
          <a:xfrm>
            <a:off x="2061743" y="4723329"/>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p08_11"/>
          <p:cNvSpPr/>
          <p:nvPr/>
        </p:nvSpPr>
        <p:spPr>
          <a:xfrm>
            <a:off x="2220489" y="4723329"/>
            <a:ext cx="99157" cy="99157"/>
          </a:xfrm>
          <a:prstGeom prst="roundRect">
            <a:avLst>
              <a:gd name="adj" fmla="val 30000"/>
            </a:avLst>
          </a:prstGeom>
          <a:solidFill>
            <a:srgbClr val="145E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p08_12"/>
          <p:cNvSpPr/>
          <p:nvPr/>
        </p:nvSpPr>
        <p:spPr>
          <a:xfrm>
            <a:off x="2379235" y="4723329"/>
            <a:ext cx="99157" cy="99157"/>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p09_05"/>
          <p:cNvSpPr/>
          <p:nvPr/>
        </p:nvSpPr>
        <p:spPr>
          <a:xfrm>
            <a:off x="1268013" y="4608029"/>
            <a:ext cx="99157" cy="99157"/>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p09_06"/>
          <p:cNvSpPr/>
          <p:nvPr/>
        </p:nvSpPr>
        <p:spPr>
          <a:xfrm>
            <a:off x="1426759" y="4608029"/>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p09_07"/>
          <p:cNvSpPr/>
          <p:nvPr/>
        </p:nvSpPr>
        <p:spPr>
          <a:xfrm>
            <a:off x="1585505" y="4608029"/>
            <a:ext cx="99157" cy="99157"/>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p09_08"/>
          <p:cNvSpPr/>
          <p:nvPr/>
        </p:nvSpPr>
        <p:spPr>
          <a:xfrm>
            <a:off x="1744251" y="4608029"/>
            <a:ext cx="99157" cy="99157"/>
          </a:xfrm>
          <a:prstGeom prst="roundRect">
            <a:avLst>
              <a:gd name="adj" fmla="val 30000"/>
            </a:avLst>
          </a:prstGeom>
          <a:solidFill>
            <a:srgbClr val="1B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p09_09"/>
          <p:cNvSpPr/>
          <p:nvPr/>
        </p:nvSpPr>
        <p:spPr>
          <a:xfrm>
            <a:off x="1902997" y="4608029"/>
            <a:ext cx="99157" cy="99157"/>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p09_10"/>
          <p:cNvSpPr/>
          <p:nvPr/>
        </p:nvSpPr>
        <p:spPr>
          <a:xfrm>
            <a:off x="2061743" y="4608029"/>
            <a:ext cx="99157" cy="99157"/>
          </a:xfrm>
          <a:prstGeom prst="roundRect">
            <a:avLst>
              <a:gd name="adj" fmla="val 30000"/>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p09_11"/>
          <p:cNvSpPr/>
          <p:nvPr/>
        </p:nvSpPr>
        <p:spPr>
          <a:xfrm>
            <a:off x="2220489" y="4608029"/>
            <a:ext cx="99157" cy="99157"/>
          </a:xfrm>
          <a:prstGeom prst="roundRect">
            <a:avLst>
              <a:gd name="adj" fmla="val 30000"/>
            </a:avLst>
          </a:prstGeom>
          <a:solidFill>
            <a:srgbClr val="13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p09_12"/>
          <p:cNvSpPr/>
          <p:nvPr/>
        </p:nvSpPr>
        <p:spPr>
          <a:xfrm>
            <a:off x="2379235" y="4608029"/>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p10_06"/>
          <p:cNvSpPr/>
          <p:nvPr/>
        </p:nvSpPr>
        <p:spPr>
          <a:xfrm>
            <a:off x="1426759" y="4492729"/>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p10_07"/>
          <p:cNvSpPr/>
          <p:nvPr/>
        </p:nvSpPr>
        <p:spPr>
          <a:xfrm>
            <a:off x="1585505" y="4492729"/>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p10_08"/>
          <p:cNvSpPr/>
          <p:nvPr/>
        </p:nvSpPr>
        <p:spPr>
          <a:xfrm>
            <a:off x="1744251" y="4492729"/>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p10_09"/>
          <p:cNvSpPr/>
          <p:nvPr/>
        </p:nvSpPr>
        <p:spPr>
          <a:xfrm>
            <a:off x="1902997" y="4492729"/>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p10_10"/>
          <p:cNvSpPr/>
          <p:nvPr/>
        </p:nvSpPr>
        <p:spPr>
          <a:xfrm>
            <a:off x="2061743" y="4492729"/>
            <a:ext cx="99157" cy="99157"/>
          </a:xfrm>
          <a:prstGeom prst="roundRect">
            <a:avLst>
              <a:gd name="adj" fmla="val 30000"/>
            </a:avLst>
          </a:prstGeom>
          <a:solidFill>
            <a:srgbClr val="16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p10_11"/>
          <p:cNvSpPr/>
          <p:nvPr/>
        </p:nvSpPr>
        <p:spPr>
          <a:xfrm>
            <a:off x="2220489" y="4492729"/>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p10_12"/>
          <p:cNvSpPr/>
          <p:nvPr/>
        </p:nvSpPr>
        <p:spPr>
          <a:xfrm>
            <a:off x="2379235" y="4492729"/>
            <a:ext cx="99157" cy="99157"/>
          </a:xfrm>
          <a:prstGeom prst="roundRect">
            <a:avLst>
              <a:gd name="adj" fmla="val 30000"/>
            </a:avLst>
          </a:prstGeom>
          <a:solidFill>
            <a:srgbClr val="0F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p11_06"/>
          <p:cNvSpPr/>
          <p:nvPr/>
        </p:nvSpPr>
        <p:spPr>
          <a:xfrm>
            <a:off x="1426759" y="4377430"/>
            <a:ext cx="99157" cy="99157"/>
          </a:xfrm>
          <a:prstGeom prst="roundRect">
            <a:avLst>
              <a:gd name="adj" fmla="val 30000"/>
            </a:avLst>
          </a:prstGeom>
          <a:solidFill>
            <a:srgbClr val="0F43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p11_07"/>
          <p:cNvSpPr/>
          <p:nvPr/>
        </p:nvSpPr>
        <p:spPr>
          <a:xfrm>
            <a:off x="1585505" y="4377430"/>
            <a:ext cx="99157" cy="99157"/>
          </a:xfrm>
          <a:prstGeom prst="roundRect">
            <a:avLst>
              <a:gd name="adj" fmla="val 30000"/>
            </a:avLst>
          </a:prstGeom>
          <a:solidFill>
            <a:srgbClr val="125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p11_08"/>
          <p:cNvSpPr/>
          <p:nvPr/>
        </p:nvSpPr>
        <p:spPr>
          <a:xfrm>
            <a:off x="1744251" y="4377430"/>
            <a:ext cx="99157" cy="99157"/>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p11_09"/>
          <p:cNvSpPr/>
          <p:nvPr/>
        </p:nvSpPr>
        <p:spPr>
          <a:xfrm>
            <a:off x="1902997" y="4377430"/>
            <a:ext cx="99157" cy="99157"/>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p11_10"/>
          <p:cNvSpPr/>
          <p:nvPr/>
        </p:nvSpPr>
        <p:spPr>
          <a:xfrm>
            <a:off x="2061743" y="4377430"/>
            <a:ext cx="99157" cy="99157"/>
          </a:xfrm>
          <a:prstGeom prst="roundRect">
            <a:avLst>
              <a:gd name="adj" fmla="val 30000"/>
            </a:avLst>
          </a:prstGeom>
          <a:solidFill>
            <a:srgbClr val="15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p11_11"/>
          <p:cNvSpPr/>
          <p:nvPr/>
        </p:nvSpPr>
        <p:spPr>
          <a:xfrm>
            <a:off x="2220489" y="4377430"/>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p11_12"/>
          <p:cNvSpPr/>
          <p:nvPr/>
        </p:nvSpPr>
        <p:spPr>
          <a:xfrm>
            <a:off x="2379235" y="4377430"/>
            <a:ext cx="99157" cy="99157"/>
          </a:xfrm>
          <a:prstGeom prst="roundRect">
            <a:avLst>
              <a:gd name="adj" fmla="val 30000"/>
            </a:avLst>
          </a:prstGeom>
          <a:solidFill>
            <a:srgbClr val="0F45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p12_06"/>
          <p:cNvSpPr/>
          <p:nvPr/>
        </p:nvSpPr>
        <p:spPr>
          <a:xfrm>
            <a:off x="1426759" y="4262130"/>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p12_07"/>
          <p:cNvSpPr/>
          <p:nvPr/>
        </p:nvSpPr>
        <p:spPr>
          <a:xfrm>
            <a:off x="1585505" y="4262130"/>
            <a:ext cx="99157" cy="99157"/>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p12_08"/>
          <p:cNvSpPr/>
          <p:nvPr/>
        </p:nvSpPr>
        <p:spPr>
          <a:xfrm>
            <a:off x="1744251" y="4262130"/>
            <a:ext cx="99157" cy="99157"/>
          </a:xfrm>
          <a:prstGeom prst="roundRect">
            <a:avLst>
              <a:gd name="adj" fmla="val 30000"/>
            </a:avLst>
          </a:prstGeom>
          <a:solidFill>
            <a:srgbClr val="13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p12_09"/>
          <p:cNvSpPr/>
          <p:nvPr/>
        </p:nvSpPr>
        <p:spPr>
          <a:xfrm>
            <a:off x="1902997" y="4262130"/>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p12_10"/>
          <p:cNvSpPr/>
          <p:nvPr/>
        </p:nvSpPr>
        <p:spPr>
          <a:xfrm>
            <a:off x="2061743" y="42621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p12_11"/>
          <p:cNvSpPr/>
          <p:nvPr/>
        </p:nvSpPr>
        <p:spPr>
          <a:xfrm>
            <a:off x="2220489" y="4262130"/>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p12_12"/>
          <p:cNvSpPr/>
          <p:nvPr/>
        </p:nvSpPr>
        <p:spPr>
          <a:xfrm>
            <a:off x="2379235" y="4262130"/>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p13_06"/>
          <p:cNvSpPr/>
          <p:nvPr/>
        </p:nvSpPr>
        <p:spPr>
          <a:xfrm>
            <a:off x="1426759" y="4146830"/>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p13_07"/>
          <p:cNvSpPr/>
          <p:nvPr/>
        </p:nvSpPr>
        <p:spPr>
          <a:xfrm>
            <a:off x="1585505" y="4146830"/>
            <a:ext cx="99157" cy="99157"/>
          </a:xfrm>
          <a:prstGeom prst="roundRect">
            <a:avLst>
              <a:gd name="adj" fmla="val 30000"/>
            </a:avLst>
          </a:prstGeom>
          <a:solidFill>
            <a:srgbClr val="104B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p13_08"/>
          <p:cNvSpPr/>
          <p:nvPr/>
        </p:nvSpPr>
        <p:spPr>
          <a:xfrm>
            <a:off x="1744251" y="4146830"/>
            <a:ext cx="99157" cy="99157"/>
          </a:xfrm>
          <a:prstGeom prst="roundRect">
            <a:avLst>
              <a:gd name="adj" fmla="val 30000"/>
            </a:avLst>
          </a:prstGeom>
          <a:solidFill>
            <a:srgbClr val="1358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p13_09"/>
          <p:cNvSpPr/>
          <p:nvPr/>
        </p:nvSpPr>
        <p:spPr>
          <a:xfrm>
            <a:off x="1902997" y="4146830"/>
            <a:ext cx="99157" cy="99157"/>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p13_10"/>
          <p:cNvSpPr/>
          <p:nvPr/>
        </p:nvSpPr>
        <p:spPr>
          <a:xfrm>
            <a:off x="2061743" y="41468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p13_11"/>
          <p:cNvSpPr/>
          <p:nvPr/>
        </p:nvSpPr>
        <p:spPr>
          <a:xfrm>
            <a:off x="2220489" y="4146830"/>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p13_12"/>
          <p:cNvSpPr/>
          <p:nvPr/>
        </p:nvSpPr>
        <p:spPr>
          <a:xfrm>
            <a:off x="2379235" y="4146830"/>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p14_06"/>
          <p:cNvSpPr/>
          <p:nvPr/>
        </p:nvSpPr>
        <p:spPr>
          <a:xfrm>
            <a:off x="1426759" y="4031530"/>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p14_07"/>
          <p:cNvSpPr/>
          <p:nvPr/>
        </p:nvSpPr>
        <p:spPr>
          <a:xfrm>
            <a:off x="1585505" y="4031530"/>
            <a:ext cx="99157" cy="99157"/>
          </a:xfrm>
          <a:prstGeom prst="roundRect">
            <a:avLst>
              <a:gd name="adj" fmla="val 30000"/>
            </a:avLst>
          </a:prstGeom>
          <a:solidFill>
            <a:srgbClr val="1049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p14_08"/>
          <p:cNvSpPr/>
          <p:nvPr/>
        </p:nvSpPr>
        <p:spPr>
          <a:xfrm>
            <a:off x="1744251" y="4031530"/>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p14_09"/>
          <p:cNvSpPr/>
          <p:nvPr/>
        </p:nvSpPr>
        <p:spPr>
          <a:xfrm>
            <a:off x="1902997" y="4031530"/>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p14_10"/>
          <p:cNvSpPr/>
          <p:nvPr/>
        </p:nvSpPr>
        <p:spPr>
          <a:xfrm>
            <a:off x="2061743" y="40315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p14_11"/>
          <p:cNvSpPr/>
          <p:nvPr/>
        </p:nvSpPr>
        <p:spPr>
          <a:xfrm>
            <a:off x="2220489" y="4031530"/>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p14_12"/>
          <p:cNvSpPr/>
          <p:nvPr/>
        </p:nvSpPr>
        <p:spPr>
          <a:xfrm>
            <a:off x="2379235" y="4031530"/>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p15_07"/>
          <p:cNvSpPr/>
          <p:nvPr/>
        </p:nvSpPr>
        <p:spPr>
          <a:xfrm>
            <a:off x="1585505" y="3916231"/>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p15_08"/>
          <p:cNvSpPr/>
          <p:nvPr/>
        </p:nvSpPr>
        <p:spPr>
          <a:xfrm>
            <a:off x="1744251" y="3916231"/>
            <a:ext cx="99157" cy="99157"/>
          </a:xfrm>
          <a:prstGeom prst="roundRect">
            <a:avLst>
              <a:gd name="adj" fmla="val 30000"/>
            </a:avLst>
          </a:prstGeom>
          <a:solidFill>
            <a:srgbClr val="125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p15_09"/>
          <p:cNvSpPr/>
          <p:nvPr/>
        </p:nvSpPr>
        <p:spPr>
          <a:xfrm>
            <a:off x="1902997" y="3916231"/>
            <a:ext cx="99157" cy="99157"/>
          </a:xfrm>
          <a:prstGeom prst="roundRect">
            <a:avLst>
              <a:gd name="adj" fmla="val 30000"/>
            </a:avLst>
          </a:prstGeom>
          <a:solidFill>
            <a:srgbClr val="145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p15_10"/>
          <p:cNvSpPr/>
          <p:nvPr/>
        </p:nvSpPr>
        <p:spPr>
          <a:xfrm>
            <a:off x="2061743" y="3916231"/>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p15_11"/>
          <p:cNvSpPr/>
          <p:nvPr/>
        </p:nvSpPr>
        <p:spPr>
          <a:xfrm>
            <a:off x="2220489" y="3916231"/>
            <a:ext cx="99157" cy="99157"/>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p15_12"/>
          <p:cNvSpPr/>
          <p:nvPr/>
        </p:nvSpPr>
        <p:spPr>
          <a:xfrm>
            <a:off x="2379235" y="3916231"/>
            <a:ext cx="99157" cy="99157"/>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p15_13"/>
          <p:cNvSpPr/>
          <p:nvPr/>
        </p:nvSpPr>
        <p:spPr>
          <a:xfrm>
            <a:off x="2537981" y="3916231"/>
            <a:ext cx="99157" cy="99157"/>
          </a:xfrm>
          <a:prstGeom prst="roundRect">
            <a:avLst>
              <a:gd name="adj" fmla="val 30000"/>
            </a:avLst>
          </a:prstGeom>
          <a:solidFill>
            <a:srgbClr val="0D3C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p16_07"/>
          <p:cNvSpPr/>
          <p:nvPr/>
        </p:nvSpPr>
        <p:spPr>
          <a:xfrm>
            <a:off x="1585505" y="3800931"/>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p16_08"/>
          <p:cNvSpPr/>
          <p:nvPr/>
        </p:nvSpPr>
        <p:spPr>
          <a:xfrm>
            <a:off x="1744251" y="3800931"/>
            <a:ext cx="99157" cy="99157"/>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p16_09"/>
          <p:cNvSpPr/>
          <p:nvPr/>
        </p:nvSpPr>
        <p:spPr>
          <a:xfrm>
            <a:off x="1902997" y="3800931"/>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p16_10"/>
          <p:cNvSpPr/>
          <p:nvPr/>
        </p:nvSpPr>
        <p:spPr>
          <a:xfrm>
            <a:off x="2061743" y="3800931"/>
            <a:ext cx="99157" cy="99157"/>
          </a:xfrm>
          <a:prstGeom prst="roundRect">
            <a:avLst>
              <a:gd name="adj" fmla="val 30000"/>
            </a:avLst>
          </a:prstGeom>
          <a:solidFill>
            <a:srgbClr val="1561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p16_11"/>
          <p:cNvSpPr/>
          <p:nvPr/>
        </p:nvSpPr>
        <p:spPr>
          <a:xfrm>
            <a:off x="2220489" y="3800931"/>
            <a:ext cx="99157" cy="99157"/>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p16_12"/>
          <p:cNvSpPr/>
          <p:nvPr/>
        </p:nvSpPr>
        <p:spPr>
          <a:xfrm>
            <a:off x="2379235" y="3800931"/>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p16_13"/>
          <p:cNvSpPr/>
          <p:nvPr/>
        </p:nvSpPr>
        <p:spPr>
          <a:xfrm>
            <a:off x="2537981" y="3800931"/>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p17_07"/>
          <p:cNvSpPr/>
          <p:nvPr/>
        </p:nvSpPr>
        <p:spPr>
          <a:xfrm>
            <a:off x="1585505" y="3685631"/>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p17_08"/>
          <p:cNvSpPr/>
          <p:nvPr/>
        </p:nvSpPr>
        <p:spPr>
          <a:xfrm>
            <a:off x="1744251" y="3685631"/>
            <a:ext cx="99157" cy="99157"/>
          </a:xfrm>
          <a:prstGeom prst="roundRect">
            <a:avLst>
              <a:gd name="adj" fmla="val 30000"/>
            </a:avLst>
          </a:prstGeom>
          <a:solidFill>
            <a:srgbClr val="1251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p17_09"/>
          <p:cNvSpPr/>
          <p:nvPr/>
        </p:nvSpPr>
        <p:spPr>
          <a:xfrm>
            <a:off x="1902997" y="3685631"/>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p17_10"/>
          <p:cNvSpPr/>
          <p:nvPr/>
        </p:nvSpPr>
        <p:spPr>
          <a:xfrm>
            <a:off x="2061743" y="3685631"/>
            <a:ext cx="99157" cy="99157"/>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p17_11"/>
          <p:cNvSpPr/>
          <p:nvPr/>
        </p:nvSpPr>
        <p:spPr>
          <a:xfrm>
            <a:off x="2220489" y="3685631"/>
            <a:ext cx="99157" cy="99157"/>
          </a:xfrm>
          <a:prstGeom prst="roundRect">
            <a:avLst>
              <a:gd name="adj" fmla="val 30000"/>
            </a:avLst>
          </a:prstGeom>
          <a:solidFill>
            <a:srgbClr val="13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p17_12"/>
          <p:cNvSpPr/>
          <p:nvPr/>
        </p:nvSpPr>
        <p:spPr>
          <a:xfrm>
            <a:off x="2379235" y="3685631"/>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p17_13"/>
          <p:cNvSpPr/>
          <p:nvPr/>
        </p:nvSpPr>
        <p:spPr>
          <a:xfrm>
            <a:off x="2537981" y="3685631"/>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p18_06"/>
          <p:cNvSpPr/>
          <p:nvPr/>
        </p:nvSpPr>
        <p:spPr>
          <a:xfrm>
            <a:off x="1426759" y="3570331"/>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p18_07"/>
          <p:cNvSpPr/>
          <p:nvPr/>
        </p:nvSpPr>
        <p:spPr>
          <a:xfrm>
            <a:off x="1585505" y="3570331"/>
            <a:ext cx="99157" cy="99157"/>
          </a:xfrm>
          <a:prstGeom prst="roundRect">
            <a:avLst>
              <a:gd name="adj" fmla="val 30000"/>
            </a:avLst>
          </a:prstGeom>
          <a:solidFill>
            <a:srgbClr val="104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p18_08"/>
          <p:cNvSpPr/>
          <p:nvPr/>
        </p:nvSpPr>
        <p:spPr>
          <a:xfrm>
            <a:off x="1744251" y="3570331"/>
            <a:ext cx="99157" cy="99157"/>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p18_09"/>
          <p:cNvSpPr/>
          <p:nvPr/>
        </p:nvSpPr>
        <p:spPr>
          <a:xfrm>
            <a:off x="1902997" y="3570331"/>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p18_10"/>
          <p:cNvSpPr/>
          <p:nvPr/>
        </p:nvSpPr>
        <p:spPr>
          <a:xfrm>
            <a:off x="2061743" y="3570331"/>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p18_11"/>
          <p:cNvSpPr/>
          <p:nvPr/>
        </p:nvSpPr>
        <p:spPr>
          <a:xfrm>
            <a:off x="2220489" y="3570331"/>
            <a:ext cx="99157" cy="99157"/>
          </a:xfrm>
          <a:prstGeom prst="roundRect">
            <a:avLst>
              <a:gd name="adj" fmla="val 30000"/>
            </a:avLst>
          </a:prstGeom>
          <a:solidFill>
            <a:srgbClr val="1359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p18_12"/>
          <p:cNvSpPr/>
          <p:nvPr/>
        </p:nvSpPr>
        <p:spPr>
          <a:xfrm>
            <a:off x="2379235" y="3570331"/>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p18_13"/>
          <p:cNvSpPr/>
          <p:nvPr/>
        </p:nvSpPr>
        <p:spPr>
          <a:xfrm>
            <a:off x="2537981" y="3570331"/>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p19_06"/>
          <p:cNvSpPr/>
          <p:nvPr/>
        </p:nvSpPr>
        <p:spPr>
          <a:xfrm>
            <a:off x="1426759" y="3455032"/>
            <a:ext cx="99157" cy="99157"/>
          </a:xfrm>
          <a:prstGeom prst="roundRect">
            <a:avLst>
              <a:gd name="adj" fmla="val 30000"/>
            </a:avLst>
          </a:prstGeom>
          <a:solidFill>
            <a:srgbClr val="0F4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p19_07"/>
          <p:cNvSpPr/>
          <p:nvPr/>
        </p:nvSpPr>
        <p:spPr>
          <a:xfrm>
            <a:off x="1585505" y="3455032"/>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p19_08"/>
          <p:cNvSpPr/>
          <p:nvPr/>
        </p:nvSpPr>
        <p:spPr>
          <a:xfrm>
            <a:off x="1744251" y="3455032"/>
            <a:ext cx="99157" cy="99157"/>
          </a:xfrm>
          <a:prstGeom prst="roundRect">
            <a:avLst>
              <a:gd name="adj" fmla="val 30000"/>
            </a:avLst>
          </a:prstGeom>
          <a:solidFill>
            <a:srgbClr val="135B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p19_09"/>
          <p:cNvSpPr/>
          <p:nvPr/>
        </p:nvSpPr>
        <p:spPr>
          <a:xfrm>
            <a:off x="1902997" y="3455032"/>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p19_10"/>
          <p:cNvSpPr/>
          <p:nvPr/>
        </p:nvSpPr>
        <p:spPr>
          <a:xfrm>
            <a:off x="2061743" y="3455032"/>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p19_11"/>
          <p:cNvSpPr/>
          <p:nvPr/>
        </p:nvSpPr>
        <p:spPr>
          <a:xfrm>
            <a:off x="2220489" y="3455032"/>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p19_12"/>
          <p:cNvSpPr/>
          <p:nvPr/>
        </p:nvSpPr>
        <p:spPr>
          <a:xfrm>
            <a:off x="2379235" y="3455032"/>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p19_13"/>
          <p:cNvSpPr/>
          <p:nvPr/>
        </p:nvSpPr>
        <p:spPr>
          <a:xfrm>
            <a:off x="2537981" y="3455032"/>
            <a:ext cx="99157" cy="99157"/>
          </a:xfrm>
          <a:prstGeom prst="roundRect">
            <a:avLst>
              <a:gd name="adj" fmla="val 30000"/>
            </a:avLst>
          </a:prstGeom>
          <a:solidFill>
            <a:srgbClr val="0F4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p20_06"/>
          <p:cNvSpPr/>
          <p:nvPr/>
        </p:nvSpPr>
        <p:spPr>
          <a:xfrm>
            <a:off x="1426759" y="3339732"/>
            <a:ext cx="99157" cy="99157"/>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p20_07"/>
          <p:cNvSpPr/>
          <p:nvPr/>
        </p:nvSpPr>
        <p:spPr>
          <a:xfrm>
            <a:off x="1585505" y="3339732"/>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p20_08"/>
          <p:cNvSpPr/>
          <p:nvPr/>
        </p:nvSpPr>
        <p:spPr>
          <a:xfrm>
            <a:off x="1744251" y="3339732"/>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p20_09"/>
          <p:cNvSpPr/>
          <p:nvPr/>
        </p:nvSpPr>
        <p:spPr>
          <a:xfrm>
            <a:off x="1902997" y="3339732"/>
            <a:ext cx="99157" cy="99157"/>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p20_10"/>
          <p:cNvSpPr/>
          <p:nvPr/>
        </p:nvSpPr>
        <p:spPr>
          <a:xfrm>
            <a:off x="2061743" y="3339732"/>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p20_11"/>
          <p:cNvSpPr/>
          <p:nvPr/>
        </p:nvSpPr>
        <p:spPr>
          <a:xfrm>
            <a:off x="2220489" y="3339732"/>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p20_12"/>
          <p:cNvSpPr/>
          <p:nvPr/>
        </p:nvSpPr>
        <p:spPr>
          <a:xfrm>
            <a:off x="2379235" y="3339732"/>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p20_13"/>
          <p:cNvSpPr/>
          <p:nvPr/>
        </p:nvSpPr>
        <p:spPr>
          <a:xfrm>
            <a:off x="2537981" y="3339732"/>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p21_05"/>
          <p:cNvSpPr/>
          <p:nvPr/>
        </p:nvSpPr>
        <p:spPr>
          <a:xfrm>
            <a:off x="1268013" y="3224432"/>
            <a:ext cx="99157" cy="99157"/>
          </a:xfrm>
          <a:prstGeom prst="roundRect">
            <a:avLst>
              <a:gd name="adj" fmla="val 30000"/>
            </a:avLst>
          </a:prstGeom>
          <a:solidFill>
            <a:srgbClr val="1358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p21_06"/>
          <p:cNvSpPr/>
          <p:nvPr/>
        </p:nvSpPr>
        <p:spPr>
          <a:xfrm>
            <a:off x="1426759" y="3224432"/>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p21_07"/>
          <p:cNvSpPr/>
          <p:nvPr/>
        </p:nvSpPr>
        <p:spPr>
          <a:xfrm>
            <a:off x="1585505" y="3224432"/>
            <a:ext cx="99157" cy="99157"/>
          </a:xfrm>
          <a:prstGeom prst="roundRect">
            <a:avLst>
              <a:gd name="adj" fmla="val 30000"/>
            </a:avLst>
          </a:prstGeom>
          <a:solidFill>
            <a:srgbClr val="2B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p21_08"/>
          <p:cNvSpPr/>
          <p:nvPr/>
        </p:nvSpPr>
        <p:spPr>
          <a:xfrm>
            <a:off x="1744251" y="3224432"/>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p21_09"/>
          <p:cNvSpPr/>
          <p:nvPr/>
        </p:nvSpPr>
        <p:spPr>
          <a:xfrm>
            <a:off x="1902997" y="3224432"/>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p21_10"/>
          <p:cNvSpPr/>
          <p:nvPr/>
        </p:nvSpPr>
        <p:spPr>
          <a:xfrm>
            <a:off x="2061743" y="3224432"/>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p21_11"/>
          <p:cNvSpPr/>
          <p:nvPr/>
        </p:nvSpPr>
        <p:spPr>
          <a:xfrm>
            <a:off x="2220489" y="3224432"/>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p21_12"/>
          <p:cNvSpPr/>
          <p:nvPr/>
        </p:nvSpPr>
        <p:spPr>
          <a:xfrm>
            <a:off x="2379235" y="3224432"/>
            <a:ext cx="99157" cy="99157"/>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p21_13"/>
          <p:cNvSpPr/>
          <p:nvPr/>
        </p:nvSpPr>
        <p:spPr>
          <a:xfrm>
            <a:off x="2537981" y="3224432"/>
            <a:ext cx="99157" cy="99157"/>
          </a:xfrm>
          <a:prstGeom prst="roundRect">
            <a:avLst>
              <a:gd name="adj" fmla="val 30000"/>
            </a:avLst>
          </a:prstGeom>
          <a:solidFill>
            <a:srgbClr val="166A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p22_05"/>
          <p:cNvSpPr/>
          <p:nvPr/>
        </p:nvSpPr>
        <p:spPr>
          <a:xfrm>
            <a:off x="1268013" y="3109132"/>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p22_06"/>
          <p:cNvSpPr/>
          <p:nvPr/>
        </p:nvSpPr>
        <p:spPr>
          <a:xfrm>
            <a:off x="1426759" y="3109132"/>
            <a:ext cx="99157" cy="99157"/>
          </a:xfrm>
          <a:prstGeom prst="roundRect">
            <a:avLst>
              <a:gd name="adj" fmla="val 30000"/>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p22_07"/>
          <p:cNvSpPr/>
          <p:nvPr/>
        </p:nvSpPr>
        <p:spPr>
          <a:xfrm>
            <a:off x="1585505" y="3109132"/>
            <a:ext cx="99157" cy="99157"/>
          </a:xfrm>
          <a:prstGeom prst="roundRect">
            <a:avLst>
              <a:gd name="adj" fmla="val 30000"/>
            </a:avLst>
          </a:prstGeom>
          <a:solidFill>
            <a:srgbClr val="70C1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p22_08"/>
          <p:cNvSpPr/>
          <p:nvPr/>
        </p:nvSpPr>
        <p:spPr>
          <a:xfrm>
            <a:off x="1744251" y="3109132"/>
            <a:ext cx="99157" cy="99157"/>
          </a:xfrm>
          <a:prstGeom prst="roundRect">
            <a:avLst>
              <a:gd name="adj" fmla="val 30000"/>
            </a:avLst>
          </a:prstGeom>
          <a:solidFill>
            <a:srgbClr val="51BC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p22_09"/>
          <p:cNvSpPr/>
          <p:nvPr/>
        </p:nvSpPr>
        <p:spPr>
          <a:xfrm>
            <a:off x="1902997" y="3109132"/>
            <a:ext cx="99157" cy="99157"/>
          </a:xfrm>
          <a:prstGeom prst="roundRect">
            <a:avLst>
              <a:gd name="adj" fmla="val 30000"/>
            </a:avLst>
          </a:prstGeom>
          <a:solidFill>
            <a:srgbClr val="1B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p22_10"/>
          <p:cNvSpPr/>
          <p:nvPr/>
        </p:nvSpPr>
        <p:spPr>
          <a:xfrm>
            <a:off x="2061743" y="3109132"/>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p22_11"/>
          <p:cNvSpPr/>
          <p:nvPr/>
        </p:nvSpPr>
        <p:spPr>
          <a:xfrm>
            <a:off x="2220489" y="3109132"/>
            <a:ext cx="99157" cy="99157"/>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p22_12"/>
          <p:cNvSpPr/>
          <p:nvPr/>
        </p:nvSpPr>
        <p:spPr>
          <a:xfrm>
            <a:off x="2379235" y="3109132"/>
            <a:ext cx="99157" cy="99157"/>
          </a:xfrm>
          <a:prstGeom prst="roundRect">
            <a:avLst>
              <a:gd name="adj" fmla="val 30000"/>
            </a:avLst>
          </a:prstGeom>
          <a:solidFill>
            <a:srgbClr val="2E9D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p22_13"/>
          <p:cNvSpPr/>
          <p:nvPr/>
        </p:nvSpPr>
        <p:spPr>
          <a:xfrm>
            <a:off x="2537981" y="3109132"/>
            <a:ext cx="99157" cy="99157"/>
          </a:xfrm>
          <a:prstGeom prst="roundRect">
            <a:avLst>
              <a:gd name="adj" fmla="val 30000"/>
            </a:avLst>
          </a:prstGeom>
          <a:solidFill>
            <a:srgbClr val="1A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p23_04"/>
          <p:cNvSpPr/>
          <p:nvPr/>
        </p:nvSpPr>
        <p:spPr>
          <a:xfrm>
            <a:off x="1109267" y="2993833"/>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p23_05"/>
          <p:cNvSpPr/>
          <p:nvPr/>
        </p:nvSpPr>
        <p:spPr>
          <a:xfrm>
            <a:off x="1268013" y="2993833"/>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p23_06"/>
          <p:cNvSpPr/>
          <p:nvPr/>
        </p:nvSpPr>
        <p:spPr>
          <a:xfrm>
            <a:off x="1426759" y="2993833"/>
            <a:ext cx="99157" cy="99157"/>
          </a:xfrm>
          <a:prstGeom prst="roundRect">
            <a:avLst>
              <a:gd name="adj" fmla="val 30000"/>
            </a:avLst>
          </a:prstGeom>
          <a:solidFill>
            <a:srgbClr val="62BF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p23_07"/>
          <p:cNvSpPr/>
          <p:nvPr/>
        </p:nvSpPr>
        <p:spPr>
          <a:xfrm>
            <a:off x="1585505" y="2993833"/>
            <a:ext cx="99157" cy="99157"/>
          </a:xfrm>
          <a:prstGeom prst="roundRect">
            <a:avLst>
              <a:gd name="adj" fmla="val 30000"/>
            </a:avLst>
          </a:prstGeom>
          <a:solidFill>
            <a:srgbClr val="FFBE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p23_08"/>
          <p:cNvSpPr/>
          <p:nvPr/>
        </p:nvSpPr>
        <p:spPr>
          <a:xfrm>
            <a:off x="1744251" y="2993833"/>
            <a:ext cx="99157" cy="99157"/>
          </a:xfrm>
          <a:prstGeom prst="roundRect">
            <a:avLst>
              <a:gd name="adj" fmla="val 30000"/>
            </a:avLst>
          </a:prstGeom>
          <a:solidFill>
            <a:srgbClr val="F4D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p23_09"/>
          <p:cNvSpPr/>
          <p:nvPr/>
        </p:nvSpPr>
        <p:spPr>
          <a:xfrm>
            <a:off x="1902997" y="2993833"/>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p23_10"/>
          <p:cNvSpPr/>
          <p:nvPr/>
        </p:nvSpPr>
        <p:spPr>
          <a:xfrm>
            <a:off x="2061743" y="2993833"/>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p23_11"/>
          <p:cNvSpPr/>
          <p:nvPr/>
        </p:nvSpPr>
        <p:spPr>
          <a:xfrm>
            <a:off x="2220489" y="2993833"/>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p23_12"/>
          <p:cNvSpPr/>
          <p:nvPr/>
        </p:nvSpPr>
        <p:spPr>
          <a:xfrm>
            <a:off x="2379235" y="2993833"/>
            <a:ext cx="99157" cy="99157"/>
          </a:xfrm>
          <a:prstGeom prst="roundRect">
            <a:avLst>
              <a:gd name="adj" fmla="val 30000"/>
            </a:avLst>
          </a:prstGeom>
          <a:solidFill>
            <a:srgbClr val="39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p23_13"/>
          <p:cNvSpPr/>
          <p:nvPr/>
        </p:nvSpPr>
        <p:spPr>
          <a:xfrm>
            <a:off x="2537981" y="2993833"/>
            <a:ext cx="99157" cy="99157"/>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p23_14"/>
          <p:cNvSpPr/>
          <p:nvPr/>
        </p:nvSpPr>
        <p:spPr>
          <a:xfrm>
            <a:off x="2696727" y="2993833"/>
            <a:ext cx="99157" cy="99157"/>
          </a:xfrm>
          <a:prstGeom prst="roundRect">
            <a:avLst>
              <a:gd name="adj" fmla="val 30000"/>
            </a:avLst>
          </a:prstGeom>
          <a:solidFill>
            <a:srgbClr val="0F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p24_04"/>
          <p:cNvSpPr/>
          <p:nvPr/>
        </p:nvSpPr>
        <p:spPr>
          <a:xfrm>
            <a:off x="1109267" y="2878533"/>
            <a:ext cx="99157" cy="99157"/>
          </a:xfrm>
          <a:prstGeom prst="roundRect">
            <a:avLst>
              <a:gd name="adj" fmla="val 30000"/>
            </a:avLst>
          </a:prstGeom>
          <a:solidFill>
            <a:srgbClr val="22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p24_05"/>
          <p:cNvSpPr/>
          <p:nvPr/>
        </p:nvSpPr>
        <p:spPr>
          <a:xfrm>
            <a:off x="1268013" y="2878533"/>
            <a:ext cx="99157" cy="99157"/>
          </a:xfrm>
          <a:prstGeom prst="roundRect">
            <a:avLst>
              <a:gd name="adj" fmla="val 30000"/>
            </a:avLst>
          </a:prstGeom>
          <a:solidFill>
            <a:srgbClr val="5DBE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 name="!!p24_06"/>
          <p:cNvSpPr/>
          <p:nvPr/>
        </p:nvSpPr>
        <p:spPr>
          <a:xfrm>
            <a:off x="1426759" y="2878533"/>
            <a:ext cx="99157" cy="99157"/>
          </a:xfrm>
          <a:prstGeom prst="roundRect">
            <a:avLst>
              <a:gd name="adj" fmla="val 30000"/>
            </a:avLst>
          </a:prstGeom>
          <a:solidFill>
            <a:srgbClr val="DBCE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p24_07"/>
          <p:cNvSpPr/>
          <p:nvPr/>
        </p:nvSpPr>
        <p:spPr>
          <a:xfrm>
            <a:off x="1585505" y="2878533"/>
            <a:ext cx="99157" cy="99157"/>
          </a:xfrm>
          <a:prstGeom prst="roundRect">
            <a:avLst>
              <a:gd name="adj" fmla="val 30000"/>
            </a:avLst>
          </a:prstGeom>
          <a:solidFill>
            <a:srgbClr val="FF89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p24_08"/>
          <p:cNvSpPr/>
          <p:nvPr/>
        </p:nvSpPr>
        <p:spPr>
          <a:xfrm>
            <a:off x="1744251" y="2878533"/>
            <a:ext cx="99157" cy="99157"/>
          </a:xfrm>
          <a:prstGeom prst="roundRect">
            <a:avLst>
              <a:gd name="adj" fmla="val 30000"/>
            </a:avLst>
          </a:prstGeom>
          <a:solidFill>
            <a:srgbClr val="FFA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p24_09"/>
          <p:cNvSpPr/>
          <p:nvPr/>
        </p:nvSpPr>
        <p:spPr>
          <a:xfrm>
            <a:off x="1902997" y="2878533"/>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p24_10"/>
          <p:cNvSpPr/>
          <p:nvPr/>
        </p:nvSpPr>
        <p:spPr>
          <a:xfrm>
            <a:off x="2061743" y="2878533"/>
            <a:ext cx="99157" cy="99157"/>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p24_11"/>
          <p:cNvSpPr/>
          <p:nvPr/>
        </p:nvSpPr>
        <p:spPr>
          <a:xfrm>
            <a:off x="2220489" y="2878533"/>
            <a:ext cx="99157" cy="99157"/>
          </a:xfrm>
          <a:prstGeom prst="roundRect">
            <a:avLst>
              <a:gd name="adj" fmla="val 30000"/>
            </a:avLst>
          </a:prstGeom>
          <a:solidFill>
            <a:srgbClr val="1C88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p24_12"/>
          <p:cNvSpPr/>
          <p:nvPr/>
        </p:nvSpPr>
        <p:spPr>
          <a:xfrm>
            <a:off x="2379235" y="2878533"/>
            <a:ext cx="99157" cy="99157"/>
          </a:xfrm>
          <a:prstGeom prst="roundRect">
            <a:avLst>
              <a:gd name="adj" fmla="val 30000"/>
            </a:avLst>
          </a:prstGeom>
          <a:solidFill>
            <a:srgbClr val="36A4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p24_13"/>
          <p:cNvSpPr/>
          <p:nvPr/>
        </p:nvSpPr>
        <p:spPr>
          <a:xfrm>
            <a:off x="2537981" y="2878533"/>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p24_14"/>
          <p:cNvSpPr/>
          <p:nvPr/>
        </p:nvSpPr>
        <p:spPr>
          <a:xfrm>
            <a:off x="2696727" y="2878533"/>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p25_04"/>
          <p:cNvSpPr/>
          <p:nvPr/>
        </p:nvSpPr>
        <p:spPr>
          <a:xfrm>
            <a:off x="1109267" y="2763233"/>
            <a:ext cx="99157" cy="99157"/>
          </a:xfrm>
          <a:prstGeom prst="roundRect">
            <a:avLst>
              <a:gd name="adj" fmla="val 30000"/>
            </a:avLst>
          </a:prstGeom>
          <a:solidFill>
            <a:srgbClr val="2E9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p25_05"/>
          <p:cNvSpPr/>
          <p:nvPr/>
        </p:nvSpPr>
        <p:spPr>
          <a:xfrm>
            <a:off x="1268013" y="2763233"/>
            <a:ext cx="99157" cy="99157"/>
          </a:xfrm>
          <a:prstGeom prst="roundRect">
            <a:avLst>
              <a:gd name="adj" fmla="val 30000"/>
            </a:avLst>
          </a:prstGeom>
          <a:solidFill>
            <a:srgbClr val="9CC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p25_06"/>
          <p:cNvSpPr/>
          <p:nvPr/>
        </p:nvSpPr>
        <p:spPr>
          <a:xfrm>
            <a:off x="1426759" y="2763233"/>
            <a:ext cx="99157" cy="99157"/>
          </a:xfrm>
          <a:prstGeom prst="roundRect">
            <a:avLst>
              <a:gd name="adj" fmla="val 30000"/>
            </a:avLst>
          </a:prstGeom>
          <a:solidFill>
            <a:srgbClr val="FFD1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p25_07"/>
          <p:cNvSpPr/>
          <p:nvPr/>
        </p:nvSpPr>
        <p:spPr>
          <a:xfrm>
            <a:off x="1585505" y="2763233"/>
            <a:ext cx="99157" cy="99157"/>
          </a:xfrm>
          <a:prstGeom prst="roundRect">
            <a:avLst>
              <a:gd name="adj" fmla="val 30000"/>
            </a:avLst>
          </a:prstGeom>
          <a:solidFill>
            <a:srgbClr val="FF84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p25_08"/>
          <p:cNvSpPr/>
          <p:nvPr/>
        </p:nvSpPr>
        <p:spPr>
          <a:xfrm>
            <a:off x="1744251" y="2763233"/>
            <a:ext cx="99157" cy="99157"/>
          </a:xfrm>
          <a:prstGeom prst="roundRect">
            <a:avLst>
              <a:gd name="adj" fmla="val 30000"/>
            </a:avLst>
          </a:prstGeom>
          <a:solidFill>
            <a:srgbClr val="FFA9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p25_09"/>
          <p:cNvSpPr/>
          <p:nvPr/>
        </p:nvSpPr>
        <p:spPr>
          <a:xfrm>
            <a:off x="1902997" y="2763233"/>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p25_10"/>
          <p:cNvSpPr/>
          <p:nvPr/>
        </p:nvSpPr>
        <p:spPr>
          <a:xfrm>
            <a:off x="2061743" y="2763233"/>
            <a:ext cx="99157" cy="99157"/>
          </a:xfrm>
          <a:prstGeom prst="roundRect">
            <a:avLst>
              <a:gd name="adj" fmla="val 30000"/>
            </a:avLst>
          </a:prstGeom>
          <a:solidFill>
            <a:srgbClr val="13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p25_11"/>
          <p:cNvSpPr/>
          <p:nvPr/>
        </p:nvSpPr>
        <p:spPr>
          <a:xfrm>
            <a:off x="2220489" y="2763233"/>
            <a:ext cx="99157" cy="99157"/>
          </a:xfrm>
          <a:prstGeom prst="roundRect">
            <a:avLst>
              <a:gd name="adj" fmla="val 30000"/>
            </a:avLst>
          </a:prstGeom>
          <a:solidFill>
            <a:srgbClr val="1876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p25_12"/>
          <p:cNvSpPr/>
          <p:nvPr/>
        </p:nvSpPr>
        <p:spPr>
          <a:xfrm>
            <a:off x="2379235" y="2763233"/>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 name="!!p25_13"/>
          <p:cNvSpPr/>
          <p:nvPr/>
        </p:nvSpPr>
        <p:spPr>
          <a:xfrm>
            <a:off x="2537981" y="2763233"/>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p25_14"/>
          <p:cNvSpPr/>
          <p:nvPr/>
        </p:nvSpPr>
        <p:spPr>
          <a:xfrm>
            <a:off x="2696727" y="2763233"/>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p26_03"/>
          <p:cNvSpPr/>
          <p:nvPr/>
        </p:nvSpPr>
        <p:spPr>
          <a:xfrm>
            <a:off x="950521" y="2647933"/>
            <a:ext cx="99157" cy="99157"/>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p26_04"/>
          <p:cNvSpPr/>
          <p:nvPr/>
        </p:nvSpPr>
        <p:spPr>
          <a:xfrm>
            <a:off x="1109267" y="2647933"/>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p26_05"/>
          <p:cNvSpPr/>
          <p:nvPr/>
        </p:nvSpPr>
        <p:spPr>
          <a:xfrm>
            <a:off x="1268013" y="2647933"/>
            <a:ext cx="99157" cy="99157"/>
          </a:xfrm>
          <a:prstGeom prst="roundRect">
            <a:avLst>
              <a:gd name="adj" fmla="val 30000"/>
            </a:avLst>
          </a:prstGeom>
          <a:solidFill>
            <a:srgbClr val="7DC2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 name="!!p26_06"/>
          <p:cNvSpPr/>
          <p:nvPr/>
        </p:nvSpPr>
        <p:spPr>
          <a:xfrm>
            <a:off x="1426759" y="2647933"/>
            <a:ext cx="99157" cy="99157"/>
          </a:xfrm>
          <a:prstGeom prst="roundRect">
            <a:avLst>
              <a:gd name="adj" fmla="val 30000"/>
            </a:avLst>
          </a:prstGeom>
          <a:solidFill>
            <a:srgbClr val="BDCA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 name="!!p26_07"/>
          <p:cNvSpPr/>
          <p:nvPr/>
        </p:nvSpPr>
        <p:spPr>
          <a:xfrm>
            <a:off x="1585505" y="2647933"/>
            <a:ext cx="99157" cy="99157"/>
          </a:xfrm>
          <a:prstGeom prst="roundRect">
            <a:avLst>
              <a:gd name="adj" fmla="val 30000"/>
            </a:avLst>
          </a:prstGeom>
          <a:solidFill>
            <a:srgbClr val="FFB3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 name="!!p26_08"/>
          <p:cNvSpPr/>
          <p:nvPr/>
        </p:nvSpPr>
        <p:spPr>
          <a:xfrm>
            <a:off x="1744251" y="2647933"/>
            <a:ext cx="99157" cy="99157"/>
          </a:xfrm>
          <a:prstGeom prst="roundRect">
            <a:avLst>
              <a:gd name="adj" fmla="val 30000"/>
            </a:avLst>
          </a:prstGeom>
          <a:solidFill>
            <a:srgbClr val="F7D1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p26_09"/>
          <p:cNvSpPr/>
          <p:nvPr/>
        </p:nvSpPr>
        <p:spPr>
          <a:xfrm>
            <a:off x="1902997" y="2647933"/>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 name="!!p26_10"/>
          <p:cNvSpPr/>
          <p:nvPr/>
        </p:nvSpPr>
        <p:spPr>
          <a:xfrm>
            <a:off x="2061743" y="2647933"/>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 name="!!p26_11"/>
          <p:cNvSpPr/>
          <p:nvPr/>
        </p:nvSpPr>
        <p:spPr>
          <a:xfrm>
            <a:off x="2220489" y="2647933"/>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 name="!!p26_12"/>
          <p:cNvSpPr/>
          <p:nvPr/>
        </p:nvSpPr>
        <p:spPr>
          <a:xfrm>
            <a:off x="2379235" y="2647933"/>
            <a:ext cx="99157" cy="99157"/>
          </a:xfrm>
          <a:prstGeom prst="roundRect">
            <a:avLst>
              <a:gd name="adj" fmla="val 30000"/>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 name="!!p26_13"/>
          <p:cNvSpPr/>
          <p:nvPr/>
        </p:nvSpPr>
        <p:spPr>
          <a:xfrm>
            <a:off x="2537981" y="2647933"/>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 name="!!p26_14"/>
          <p:cNvSpPr/>
          <p:nvPr/>
        </p:nvSpPr>
        <p:spPr>
          <a:xfrm>
            <a:off x="2696727" y="2647933"/>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 name="!!p27_03"/>
          <p:cNvSpPr/>
          <p:nvPr/>
        </p:nvSpPr>
        <p:spPr>
          <a:xfrm>
            <a:off x="950521" y="25326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 name="!!p27_04"/>
          <p:cNvSpPr/>
          <p:nvPr/>
        </p:nvSpPr>
        <p:spPr>
          <a:xfrm>
            <a:off x="1109267" y="2532634"/>
            <a:ext cx="99157" cy="99157"/>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 name="!!p27_05"/>
          <p:cNvSpPr/>
          <p:nvPr/>
        </p:nvSpPr>
        <p:spPr>
          <a:xfrm>
            <a:off x="1268013" y="2532634"/>
            <a:ext cx="99157" cy="99157"/>
          </a:xfrm>
          <a:prstGeom prst="roundRect">
            <a:avLst>
              <a:gd name="adj" fmla="val 30000"/>
            </a:avLst>
          </a:prstGeom>
          <a:solidFill>
            <a:srgbClr val="40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 name="!!p27_06"/>
          <p:cNvSpPr/>
          <p:nvPr/>
        </p:nvSpPr>
        <p:spPr>
          <a:xfrm>
            <a:off x="1426759" y="2532634"/>
            <a:ext cx="99157" cy="99157"/>
          </a:xfrm>
          <a:prstGeom prst="roundRect">
            <a:avLst>
              <a:gd name="adj" fmla="val 30000"/>
            </a:avLst>
          </a:prstGeom>
          <a:solidFill>
            <a:srgbClr val="48B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 name="!!p27_07"/>
          <p:cNvSpPr/>
          <p:nvPr/>
        </p:nvSpPr>
        <p:spPr>
          <a:xfrm>
            <a:off x="1585505" y="2532634"/>
            <a:ext cx="99157" cy="99157"/>
          </a:xfrm>
          <a:prstGeom prst="roundRect">
            <a:avLst>
              <a:gd name="adj" fmla="val 30000"/>
            </a:avLst>
          </a:prstGeom>
          <a:solidFill>
            <a:srgbClr val="85C3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 name="!!p27_08"/>
          <p:cNvSpPr/>
          <p:nvPr/>
        </p:nvSpPr>
        <p:spPr>
          <a:xfrm>
            <a:off x="1744251" y="2532634"/>
            <a:ext cx="99157" cy="99157"/>
          </a:xfrm>
          <a:prstGeom prst="roundRect">
            <a:avLst>
              <a:gd name="adj" fmla="val 30000"/>
            </a:avLst>
          </a:prstGeom>
          <a:solidFill>
            <a:srgbClr val="4FB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 name="!!p27_09"/>
          <p:cNvSpPr/>
          <p:nvPr/>
        </p:nvSpPr>
        <p:spPr>
          <a:xfrm>
            <a:off x="1902997" y="2532634"/>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p27_10"/>
          <p:cNvSpPr/>
          <p:nvPr/>
        </p:nvSpPr>
        <p:spPr>
          <a:xfrm>
            <a:off x="2061743" y="2532634"/>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 name="!!p27_11"/>
          <p:cNvSpPr/>
          <p:nvPr/>
        </p:nvSpPr>
        <p:spPr>
          <a:xfrm>
            <a:off x="2220489" y="2532634"/>
            <a:ext cx="99157" cy="99157"/>
          </a:xfrm>
          <a:prstGeom prst="roundRect">
            <a:avLst>
              <a:gd name="adj" fmla="val 30000"/>
            </a:avLst>
          </a:prstGeom>
          <a:solidFill>
            <a:srgbClr val="0F45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 name="!!p27_12"/>
          <p:cNvSpPr/>
          <p:nvPr/>
        </p:nvSpPr>
        <p:spPr>
          <a:xfrm>
            <a:off x="2379235" y="2532634"/>
            <a:ext cx="99157" cy="99157"/>
          </a:xfrm>
          <a:prstGeom prst="roundRect">
            <a:avLst>
              <a:gd name="adj" fmla="val 30000"/>
            </a:avLst>
          </a:prstGeom>
          <a:solidFill>
            <a:srgbClr val="1150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p27_13"/>
          <p:cNvSpPr/>
          <p:nvPr/>
        </p:nvSpPr>
        <p:spPr>
          <a:xfrm>
            <a:off x="2537981" y="2532634"/>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p27_14"/>
          <p:cNvSpPr/>
          <p:nvPr/>
        </p:nvSpPr>
        <p:spPr>
          <a:xfrm>
            <a:off x="2696727" y="25326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 name="!!p28_03"/>
          <p:cNvSpPr/>
          <p:nvPr/>
        </p:nvSpPr>
        <p:spPr>
          <a:xfrm>
            <a:off x="950521" y="24173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 name="!!p28_04"/>
          <p:cNvSpPr/>
          <p:nvPr/>
        </p:nvSpPr>
        <p:spPr>
          <a:xfrm>
            <a:off x="1109267" y="2417334"/>
            <a:ext cx="99157" cy="99157"/>
          </a:xfrm>
          <a:prstGeom prst="roundRect">
            <a:avLst>
              <a:gd name="adj" fmla="val 30000"/>
            </a:avLst>
          </a:prstGeom>
          <a:solidFill>
            <a:srgbClr val="1460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 name="!!p28_05"/>
          <p:cNvSpPr/>
          <p:nvPr/>
        </p:nvSpPr>
        <p:spPr>
          <a:xfrm>
            <a:off x="1268013" y="2417334"/>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 name="!!p28_06"/>
          <p:cNvSpPr/>
          <p:nvPr/>
        </p:nvSpPr>
        <p:spPr>
          <a:xfrm>
            <a:off x="1426759" y="2417334"/>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 name="!!p28_07"/>
          <p:cNvSpPr/>
          <p:nvPr/>
        </p:nvSpPr>
        <p:spPr>
          <a:xfrm>
            <a:off x="1585505" y="2417334"/>
            <a:ext cx="99157" cy="99157"/>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 name="!!p28_08"/>
          <p:cNvSpPr/>
          <p:nvPr/>
        </p:nvSpPr>
        <p:spPr>
          <a:xfrm>
            <a:off x="1744251" y="2417334"/>
            <a:ext cx="99157" cy="99157"/>
          </a:xfrm>
          <a:prstGeom prst="roundRect">
            <a:avLst>
              <a:gd name="adj" fmla="val 30000"/>
            </a:avLst>
          </a:prstGeom>
          <a:solidFill>
            <a:srgbClr val="1F8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 name="!!p28_09"/>
          <p:cNvSpPr/>
          <p:nvPr/>
        </p:nvSpPr>
        <p:spPr>
          <a:xfrm>
            <a:off x="1902997" y="2417334"/>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 name="!!p28_10"/>
          <p:cNvSpPr/>
          <p:nvPr/>
        </p:nvSpPr>
        <p:spPr>
          <a:xfrm>
            <a:off x="2061743" y="2417334"/>
            <a:ext cx="99157" cy="99157"/>
          </a:xfrm>
          <a:prstGeom prst="roundRect">
            <a:avLst>
              <a:gd name="adj" fmla="val 30000"/>
            </a:avLst>
          </a:prstGeom>
          <a:solidFill>
            <a:srgbClr val="0C38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 name="!!p28_11"/>
          <p:cNvSpPr/>
          <p:nvPr/>
        </p:nvSpPr>
        <p:spPr>
          <a:xfrm>
            <a:off x="2220489" y="2417334"/>
            <a:ext cx="99157" cy="99157"/>
          </a:xfrm>
          <a:prstGeom prst="roundRect">
            <a:avLst>
              <a:gd name="adj" fmla="val 30000"/>
            </a:avLst>
          </a:prstGeom>
          <a:solidFill>
            <a:srgbClr val="0C37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 name="!!p28_12"/>
          <p:cNvSpPr/>
          <p:nvPr/>
        </p:nvSpPr>
        <p:spPr>
          <a:xfrm>
            <a:off x="2379235" y="2417334"/>
            <a:ext cx="99157" cy="99157"/>
          </a:xfrm>
          <a:prstGeom prst="roundRect">
            <a:avLst>
              <a:gd name="adj" fmla="val 30000"/>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 name="!!p28_13"/>
          <p:cNvSpPr/>
          <p:nvPr/>
        </p:nvSpPr>
        <p:spPr>
          <a:xfrm>
            <a:off x="2537981" y="24173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p28_14"/>
          <p:cNvSpPr/>
          <p:nvPr/>
        </p:nvSpPr>
        <p:spPr>
          <a:xfrm>
            <a:off x="2696727" y="2417334"/>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 name="!!p29_03"/>
          <p:cNvSpPr/>
          <p:nvPr/>
        </p:nvSpPr>
        <p:spPr>
          <a:xfrm>
            <a:off x="950521" y="23020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p29_04"/>
          <p:cNvSpPr/>
          <p:nvPr/>
        </p:nvSpPr>
        <p:spPr>
          <a:xfrm>
            <a:off x="1109267" y="2302034"/>
            <a:ext cx="99157" cy="99157"/>
          </a:xfrm>
          <a:prstGeom prst="roundRect">
            <a:avLst>
              <a:gd name="adj" fmla="val 30000"/>
            </a:avLst>
          </a:prstGeom>
          <a:solidFill>
            <a:srgbClr val="0F44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 name="!!p29_05"/>
          <p:cNvSpPr/>
          <p:nvPr/>
        </p:nvSpPr>
        <p:spPr>
          <a:xfrm>
            <a:off x="1268013" y="2302034"/>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 name="!!p29_06"/>
          <p:cNvSpPr/>
          <p:nvPr/>
        </p:nvSpPr>
        <p:spPr>
          <a:xfrm>
            <a:off x="1426759" y="2302034"/>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 name="!!p29_07"/>
          <p:cNvSpPr/>
          <p:nvPr/>
        </p:nvSpPr>
        <p:spPr>
          <a:xfrm>
            <a:off x="1585505" y="2302034"/>
            <a:ext cx="99157" cy="99157"/>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 name="!!p29_08"/>
          <p:cNvSpPr/>
          <p:nvPr/>
        </p:nvSpPr>
        <p:spPr>
          <a:xfrm>
            <a:off x="1744251" y="2302034"/>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 name="!!p29_09"/>
          <p:cNvSpPr/>
          <p:nvPr/>
        </p:nvSpPr>
        <p:spPr>
          <a:xfrm>
            <a:off x="1902997" y="2302034"/>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3" name="!!p29_10"/>
          <p:cNvSpPr/>
          <p:nvPr/>
        </p:nvSpPr>
        <p:spPr>
          <a:xfrm>
            <a:off x="2061743" y="2302034"/>
            <a:ext cx="99157" cy="99157"/>
          </a:xfrm>
          <a:prstGeom prst="roundRect">
            <a:avLst>
              <a:gd name="adj" fmla="val 30000"/>
            </a:avLst>
          </a:prstGeom>
          <a:solidFill>
            <a:srgbClr val="0B3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p29_11"/>
          <p:cNvSpPr/>
          <p:nvPr/>
        </p:nvSpPr>
        <p:spPr>
          <a:xfrm>
            <a:off x="2220489" y="2302034"/>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5" name="!!p29_12"/>
          <p:cNvSpPr/>
          <p:nvPr/>
        </p:nvSpPr>
        <p:spPr>
          <a:xfrm>
            <a:off x="2379235" y="2302034"/>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6" name="!!p29_13"/>
          <p:cNvSpPr/>
          <p:nvPr/>
        </p:nvSpPr>
        <p:spPr>
          <a:xfrm>
            <a:off x="2537981" y="2302034"/>
            <a:ext cx="99157" cy="99157"/>
          </a:xfrm>
          <a:prstGeom prst="roundRect">
            <a:avLst>
              <a:gd name="adj" fmla="val 30000"/>
            </a:avLst>
          </a:prstGeom>
          <a:solidFill>
            <a:srgbClr val="0A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7" name="!!p30_03"/>
          <p:cNvSpPr/>
          <p:nvPr/>
        </p:nvSpPr>
        <p:spPr>
          <a:xfrm>
            <a:off x="950521" y="2186734"/>
            <a:ext cx="99157" cy="99157"/>
          </a:xfrm>
          <a:prstGeom prst="roundRect">
            <a:avLst>
              <a:gd name="adj" fmla="val 30000"/>
            </a:avLst>
          </a:prstGeom>
          <a:solidFill>
            <a:srgbClr val="0B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8" name="!!p30_04"/>
          <p:cNvSpPr/>
          <p:nvPr/>
        </p:nvSpPr>
        <p:spPr>
          <a:xfrm>
            <a:off x="1109267" y="2186734"/>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9" name="!!p30_05"/>
          <p:cNvSpPr/>
          <p:nvPr/>
        </p:nvSpPr>
        <p:spPr>
          <a:xfrm>
            <a:off x="1268013" y="2186734"/>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0" name="!!p30_06"/>
          <p:cNvSpPr/>
          <p:nvPr/>
        </p:nvSpPr>
        <p:spPr>
          <a:xfrm>
            <a:off x="1426759" y="2186734"/>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1" name="!!p30_07"/>
          <p:cNvSpPr/>
          <p:nvPr/>
        </p:nvSpPr>
        <p:spPr>
          <a:xfrm>
            <a:off x="1585505" y="2186734"/>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2" name="!!p30_08"/>
          <p:cNvSpPr/>
          <p:nvPr/>
        </p:nvSpPr>
        <p:spPr>
          <a:xfrm>
            <a:off x="1744251" y="21867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3" name="!!p30_09"/>
          <p:cNvSpPr/>
          <p:nvPr/>
        </p:nvSpPr>
        <p:spPr>
          <a:xfrm>
            <a:off x="1902997" y="21867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4" name="!!p30_10"/>
          <p:cNvSpPr/>
          <p:nvPr/>
        </p:nvSpPr>
        <p:spPr>
          <a:xfrm>
            <a:off x="2061743" y="21867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5" name="!!p30_11"/>
          <p:cNvSpPr/>
          <p:nvPr/>
        </p:nvSpPr>
        <p:spPr>
          <a:xfrm>
            <a:off x="2220489" y="2186734"/>
            <a:ext cx="99157" cy="99157"/>
          </a:xfrm>
          <a:prstGeom prst="roundRect">
            <a:avLst>
              <a:gd name="adj" fmla="val 30000"/>
            </a:avLst>
          </a:prstGeom>
          <a:solidFill>
            <a:srgbClr val="0B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6" name="!!p30_12"/>
          <p:cNvSpPr/>
          <p:nvPr/>
        </p:nvSpPr>
        <p:spPr>
          <a:xfrm>
            <a:off x="2379235" y="2186734"/>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7" name="!!p30_13"/>
          <p:cNvSpPr/>
          <p:nvPr/>
        </p:nvSpPr>
        <p:spPr>
          <a:xfrm>
            <a:off x="2537981" y="2186734"/>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8" name="!!p31_03"/>
          <p:cNvSpPr/>
          <p:nvPr/>
        </p:nvSpPr>
        <p:spPr>
          <a:xfrm>
            <a:off x="950521" y="2071435"/>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9" name="!!p31_04"/>
          <p:cNvSpPr/>
          <p:nvPr/>
        </p:nvSpPr>
        <p:spPr>
          <a:xfrm>
            <a:off x="1109267" y="2071435"/>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0" name="!!p31_05"/>
          <p:cNvSpPr/>
          <p:nvPr/>
        </p:nvSpPr>
        <p:spPr>
          <a:xfrm>
            <a:off x="1268013" y="2071435"/>
            <a:ext cx="99157" cy="99157"/>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1" name="!!p31_06"/>
          <p:cNvSpPr/>
          <p:nvPr/>
        </p:nvSpPr>
        <p:spPr>
          <a:xfrm>
            <a:off x="1426759" y="2071435"/>
            <a:ext cx="99157" cy="99157"/>
          </a:xfrm>
          <a:prstGeom prst="roundRect">
            <a:avLst>
              <a:gd name="adj" fmla="val 30000"/>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2" name="!!p31_07"/>
          <p:cNvSpPr/>
          <p:nvPr/>
        </p:nvSpPr>
        <p:spPr>
          <a:xfrm>
            <a:off x="1585505" y="2071435"/>
            <a:ext cx="99157" cy="99157"/>
          </a:xfrm>
          <a:prstGeom prst="roundRect">
            <a:avLst>
              <a:gd name="adj" fmla="val 30000"/>
            </a:avLst>
          </a:prstGeom>
          <a:solidFill>
            <a:srgbClr val="0B3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3" name="!!p31_08"/>
          <p:cNvSpPr/>
          <p:nvPr/>
        </p:nvSpPr>
        <p:spPr>
          <a:xfrm>
            <a:off x="1744251" y="2071435"/>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4" name="!!p31_09"/>
          <p:cNvSpPr/>
          <p:nvPr/>
        </p:nvSpPr>
        <p:spPr>
          <a:xfrm>
            <a:off x="1902997" y="2071435"/>
            <a:ext cx="99157" cy="99157"/>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5" name="!!p31_10"/>
          <p:cNvSpPr/>
          <p:nvPr/>
        </p:nvSpPr>
        <p:spPr>
          <a:xfrm>
            <a:off x="2061743" y="2071435"/>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6" name="!!p31_11"/>
          <p:cNvSpPr/>
          <p:nvPr/>
        </p:nvSpPr>
        <p:spPr>
          <a:xfrm>
            <a:off x="2220489" y="2071435"/>
            <a:ext cx="99157" cy="99157"/>
          </a:xfrm>
          <a:prstGeom prst="roundRect">
            <a:avLst>
              <a:gd name="adj" fmla="val 30000"/>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7" name="!!p31_12"/>
          <p:cNvSpPr/>
          <p:nvPr/>
        </p:nvSpPr>
        <p:spPr>
          <a:xfrm>
            <a:off x="2379235" y="20714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8" name="!!p31_13"/>
          <p:cNvSpPr/>
          <p:nvPr/>
        </p:nvSpPr>
        <p:spPr>
          <a:xfrm>
            <a:off x="2537981" y="2071435"/>
            <a:ext cx="99157" cy="99157"/>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9" name="!!p32_03"/>
          <p:cNvSpPr/>
          <p:nvPr/>
        </p:nvSpPr>
        <p:spPr>
          <a:xfrm>
            <a:off x="950521" y="1956135"/>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0" name="!!p32_04"/>
          <p:cNvSpPr/>
          <p:nvPr/>
        </p:nvSpPr>
        <p:spPr>
          <a:xfrm>
            <a:off x="1109267" y="1956135"/>
            <a:ext cx="99157" cy="99157"/>
          </a:xfrm>
          <a:prstGeom prst="roundRect">
            <a:avLst>
              <a:gd name="adj" fmla="val 30000"/>
            </a:avLst>
          </a:prstGeom>
          <a:solidFill>
            <a:srgbClr val="15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1" name="!!p32_05"/>
          <p:cNvSpPr/>
          <p:nvPr/>
        </p:nvSpPr>
        <p:spPr>
          <a:xfrm>
            <a:off x="1268013" y="1956135"/>
            <a:ext cx="99157" cy="99157"/>
          </a:xfrm>
          <a:prstGeom prst="roundRect">
            <a:avLst>
              <a:gd name="adj" fmla="val 30000"/>
            </a:avLst>
          </a:prstGeom>
          <a:solidFill>
            <a:srgbClr val="176D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2" name="!!p32_06"/>
          <p:cNvSpPr/>
          <p:nvPr/>
        </p:nvSpPr>
        <p:spPr>
          <a:xfrm>
            <a:off x="1426759" y="1956135"/>
            <a:ext cx="99157" cy="99157"/>
          </a:xfrm>
          <a:prstGeom prst="roundRect">
            <a:avLst>
              <a:gd name="adj" fmla="val 30000"/>
            </a:avLst>
          </a:prstGeom>
          <a:solidFill>
            <a:srgbClr val="0D3C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3" name="!!p32_07"/>
          <p:cNvSpPr/>
          <p:nvPr/>
        </p:nvSpPr>
        <p:spPr>
          <a:xfrm>
            <a:off x="1585505" y="1956135"/>
            <a:ext cx="99157" cy="99157"/>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4" name="!!p32_08"/>
          <p:cNvSpPr/>
          <p:nvPr/>
        </p:nvSpPr>
        <p:spPr>
          <a:xfrm>
            <a:off x="1744251" y="1956135"/>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5" name="!!p32_09"/>
          <p:cNvSpPr/>
          <p:nvPr/>
        </p:nvSpPr>
        <p:spPr>
          <a:xfrm>
            <a:off x="1902997" y="1956135"/>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6" name="!!p32_10"/>
          <p:cNvSpPr/>
          <p:nvPr/>
        </p:nvSpPr>
        <p:spPr>
          <a:xfrm>
            <a:off x="2061743" y="1956135"/>
            <a:ext cx="99157" cy="99157"/>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7" name="!!p32_11"/>
          <p:cNvSpPr/>
          <p:nvPr/>
        </p:nvSpPr>
        <p:spPr>
          <a:xfrm>
            <a:off x="2220489" y="19561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8" name="!!p32_12"/>
          <p:cNvSpPr/>
          <p:nvPr/>
        </p:nvSpPr>
        <p:spPr>
          <a:xfrm>
            <a:off x="2379235" y="19561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9" name="!!p33_03"/>
          <p:cNvSpPr/>
          <p:nvPr/>
        </p:nvSpPr>
        <p:spPr>
          <a:xfrm>
            <a:off x="950521" y="1840835"/>
            <a:ext cx="99157" cy="99157"/>
          </a:xfrm>
          <a:prstGeom prst="roundRect">
            <a:avLst>
              <a:gd name="adj" fmla="val 30000"/>
            </a:avLst>
          </a:prstGeom>
          <a:solidFill>
            <a:srgbClr val="0D38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0" name="!!p33_04"/>
          <p:cNvSpPr/>
          <p:nvPr/>
        </p:nvSpPr>
        <p:spPr>
          <a:xfrm>
            <a:off x="1109267" y="1840835"/>
            <a:ext cx="99157" cy="99157"/>
          </a:xfrm>
          <a:prstGeom prst="roundRect">
            <a:avLst>
              <a:gd name="adj" fmla="val 30000"/>
            </a:avLst>
          </a:prstGeom>
          <a:solidFill>
            <a:srgbClr val="1B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1" name="!!p33_05"/>
          <p:cNvSpPr/>
          <p:nvPr/>
        </p:nvSpPr>
        <p:spPr>
          <a:xfrm>
            <a:off x="1268013" y="1840835"/>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2" name="!!p33_06"/>
          <p:cNvSpPr/>
          <p:nvPr/>
        </p:nvSpPr>
        <p:spPr>
          <a:xfrm>
            <a:off x="1426759" y="1840835"/>
            <a:ext cx="99157" cy="99157"/>
          </a:xfrm>
          <a:prstGeom prst="roundRect">
            <a:avLst>
              <a:gd name="adj" fmla="val 30000"/>
            </a:avLst>
          </a:prstGeom>
          <a:solidFill>
            <a:srgbClr val="0F44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3" name="!!p33_07"/>
          <p:cNvSpPr/>
          <p:nvPr/>
        </p:nvSpPr>
        <p:spPr>
          <a:xfrm>
            <a:off x="1585505" y="1840835"/>
            <a:ext cx="99157" cy="99157"/>
          </a:xfrm>
          <a:prstGeom prst="roundRect">
            <a:avLst>
              <a:gd name="adj" fmla="val 30000"/>
            </a:avLst>
          </a:prstGeom>
          <a:solidFill>
            <a:srgbClr val="0A31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4" name="!!p33_08"/>
          <p:cNvSpPr/>
          <p:nvPr/>
        </p:nvSpPr>
        <p:spPr>
          <a:xfrm>
            <a:off x="1744251" y="1840835"/>
            <a:ext cx="99157" cy="99157"/>
          </a:xfrm>
          <a:prstGeom prst="roundRect">
            <a:avLst>
              <a:gd name="adj" fmla="val 30000"/>
            </a:avLst>
          </a:prstGeom>
          <a:solidFill>
            <a:srgbClr val="0A2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5" name="!!p33_09"/>
          <p:cNvSpPr/>
          <p:nvPr/>
        </p:nvSpPr>
        <p:spPr>
          <a:xfrm>
            <a:off x="1902997" y="18408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6" name="!!p33_10"/>
          <p:cNvSpPr/>
          <p:nvPr/>
        </p:nvSpPr>
        <p:spPr>
          <a:xfrm>
            <a:off x="2061743" y="1840835"/>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7" name="!!p33_11"/>
          <p:cNvSpPr/>
          <p:nvPr/>
        </p:nvSpPr>
        <p:spPr>
          <a:xfrm>
            <a:off x="2220489" y="18408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8" name="!!p33_12"/>
          <p:cNvSpPr/>
          <p:nvPr/>
        </p:nvSpPr>
        <p:spPr>
          <a:xfrm>
            <a:off x="2379235" y="1840835"/>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9" name="!!p34_03"/>
          <p:cNvSpPr/>
          <p:nvPr/>
        </p:nvSpPr>
        <p:spPr>
          <a:xfrm>
            <a:off x="950521" y="1725535"/>
            <a:ext cx="99157" cy="99157"/>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0" name="!!p34_04"/>
          <p:cNvSpPr/>
          <p:nvPr/>
        </p:nvSpPr>
        <p:spPr>
          <a:xfrm>
            <a:off x="1109267" y="1725535"/>
            <a:ext cx="99157" cy="99157"/>
          </a:xfrm>
          <a:prstGeom prst="roundRect">
            <a:avLst>
              <a:gd name="adj" fmla="val 30000"/>
            </a:avLst>
          </a:prstGeom>
          <a:solidFill>
            <a:srgbClr val="20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1" name="!!p34_05"/>
          <p:cNvSpPr/>
          <p:nvPr/>
        </p:nvSpPr>
        <p:spPr>
          <a:xfrm>
            <a:off x="1268013" y="1725535"/>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2" name="!!p34_06"/>
          <p:cNvSpPr/>
          <p:nvPr/>
        </p:nvSpPr>
        <p:spPr>
          <a:xfrm>
            <a:off x="1426759" y="1725535"/>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3" name="!!p34_07"/>
          <p:cNvSpPr/>
          <p:nvPr/>
        </p:nvSpPr>
        <p:spPr>
          <a:xfrm>
            <a:off x="1585505" y="1725535"/>
            <a:ext cx="99157" cy="99157"/>
          </a:xfrm>
          <a:prstGeom prst="roundRect">
            <a:avLst>
              <a:gd name="adj" fmla="val 30000"/>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4" name="!!p34_08"/>
          <p:cNvSpPr/>
          <p:nvPr/>
        </p:nvSpPr>
        <p:spPr>
          <a:xfrm>
            <a:off x="1744251" y="1725535"/>
            <a:ext cx="99157" cy="99157"/>
          </a:xfrm>
          <a:prstGeom prst="roundRect">
            <a:avLst>
              <a:gd name="adj" fmla="val 30000"/>
            </a:avLst>
          </a:prstGeom>
          <a:solidFill>
            <a:srgbClr val="0A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5" name="!!p34_09"/>
          <p:cNvSpPr/>
          <p:nvPr/>
        </p:nvSpPr>
        <p:spPr>
          <a:xfrm>
            <a:off x="1902997" y="17255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6" name="!!p34_10"/>
          <p:cNvSpPr/>
          <p:nvPr/>
        </p:nvSpPr>
        <p:spPr>
          <a:xfrm>
            <a:off x="2061743" y="1725535"/>
            <a:ext cx="99157" cy="99157"/>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7" name="!!p34_11"/>
          <p:cNvSpPr/>
          <p:nvPr/>
        </p:nvSpPr>
        <p:spPr>
          <a:xfrm>
            <a:off x="2220489" y="1725535"/>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8" name="!!p35_04"/>
          <p:cNvSpPr/>
          <p:nvPr/>
        </p:nvSpPr>
        <p:spPr>
          <a:xfrm>
            <a:off x="1109267" y="1610236"/>
            <a:ext cx="99157" cy="99157"/>
          </a:xfrm>
          <a:prstGeom prst="roundRect">
            <a:avLst>
              <a:gd name="adj" fmla="val 30000"/>
            </a:avLst>
          </a:prstGeom>
          <a:solidFill>
            <a:srgbClr val="1B83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9" name="!!p35_05"/>
          <p:cNvSpPr/>
          <p:nvPr/>
        </p:nvSpPr>
        <p:spPr>
          <a:xfrm>
            <a:off x="1268013" y="1610236"/>
            <a:ext cx="99157" cy="99157"/>
          </a:xfrm>
          <a:prstGeom prst="roundRect">
            <a:avLst>
              <a:gd name="adj" fmla="val 30000"/>
            </a:avLst>
          </a:prstGeom>
          <a:solidFill>
            <a:srgbClr val="1D8B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0" name="!!p35_06"/>
          <p:cNvSpPr/>
          <p:nvPr/>
        </p:nvSpPr>
        <p:spPr>
          <a:xfrm>
            <a:off x="1426759" y="1610236"/>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1" name="!!p35_07"/>
          <p:cNvSpPr/>
          <p:nvPr/>
        </p:nvSpPr>
        <p:spPr>
          <a:xfrm>
            <a:off x="1585505" y="1610236"/>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2" name="!!p35_08"/>
          <p:cNvSpPr/>
          <p:nvPr/>
        </p:nvSpPr>
        <p:spPr>
          <a:xfrm>
            <a:off x="1744251" y="1610236"/>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3" name="!!p35_09"/>
          <p:cNvSpPr/>
          <p:nvPr/>
        </p:nvSpPr>
        <p:spPr>
          <a:xfrm>
            <a:off x="1902997" y="1610236"/>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4" name="!!p35_10"/>
          <p:cNvSpPr/>
          <p:nvPr/>
        </p:nvSpPr>
        <p:spPr>
          <a:xfrm>
            <a:off x="2061743" y="1610236"/>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5" name="!!p35_11"/>
          <p:cNvSpPr/>
          <p:nvPr/>
        </p:nvSpPr>
        <p:spPr>
          <a:xfrm>
            <a:off x="2220489" y="1610236"/>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6" name="!!p36_04"/>
          <p:cNvSpPr/>
          <p:nvPr/>
        </p:nvSpPr>
        <p:spPr>
          <a:xfrm>
            <a:off x="1109267" y="1494936"/>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7" name="!!p36_05"/>
          <p:cNvSpPr/>
          <p:nvPr/>
        </p:nvSpPr>
        <p:spPr>
          <a:xfrm>
            <a:off x="1268013" y="1494936"/>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8" name="!!p36_06"/>
          <p:cNvSpPr/>
          <p:nvPr/>
        </p:nvSpPr>
        <p:spPr>
          <a:xfrm>
            <a:off x="1426759" y="1494936"/>
            <a:ext cx="99157" cy="99157"/>
          </a:xfrm>
          <a:prstGeom prst="roundRect">
            <a:avLst>
              <a:gd name="adj" fmla="val 30000"/>
            </a:avLst>
          </a:prstGeom>
          <a:solidFill>
            <a:srgbClr val="0C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9" name="!!p36_07"/>
          <p:cNvSpPr/>
          <p:nvPr/>
        </p:nvSpPr>
        <p:spPr>
          <a:xfrm>
            <a:off x="1585505" y="1494936"/>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0" name="!!p36_08"/>
          <p:cNvSpPr/>
          <p:nvPr/>
        </p:nvSpPr>
        <p:spPr>
          <a:xfrm>
            <a:off x="1744251" y="1494936"/>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1" name="!!p36_09"/>
          <p:cNvSpPr/>
          <p:nvPr/>
        </p:nvSpPr>
        <p:spPr>
          <a:xfrm>
            <a:off x="1902997" y="1494936"/>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2" name="!!p36_10"/>
          <p:cNvSpPr/>
          <p:nvPr/>
        </p:nvSpPr>
        <p:spPr>
          <a:xfrm>
            <a:off x="2061743" y="1494936"/>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3" name="!!p37_04"/>
          <p:cNvSpPr/>
          <p:nvPr/>
        </p:nvSpPr>
        <p:spPr>
          <a:xfrm>
            <a:off x="1109267" y="1379636"/>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4" name="!!p37_05"/>
          <p:cNvSpPr/>
          <p:nvPr/>
        </p:nvSpPr>
        <p:spPr>
          <a:xfrm>
            <a:off x="1268013" y="1379636"/>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5" name="!!p37_06"/>
          <p:cNvSpPr/>
          <p:nvPr/>
        </p:nvSpPr>
        <p:spPr>
          <a:xfrm>
            <a:off x="1426759" y="1379636"/>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6" name="!!p37_07"/>
          <p:cNvSpPr/>
          <p:nvPr/>
        </p:nvSpPr>
        <p:spPr>
          <a:xfrm>
            <a:off x="1585505" y="1379636"/>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7" name="!!p37_08"/>
          <p:cNvSpPr/>
          <p:nvPr/>
        </p:nvSpPr>
        <p:spPr>
          <a:xfrm>
            <a:off x="1744251" y="1379636"/>
            <a:ext cx="99157" cy="99157"/>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8" name="!!p37_09"/>
          <p:cNvSpPr/>
          <p:nvPr/>
        </p:nvSpPr>
        <p:spPr>
          <a:xfrm>
            <a:off x="1902997" y="1379636"/>
            <a:ext cx="99157" cy="99157"/>
          </a:xfrm>
          <a:prstGeom prst="roundRect">
            <a:avLst>
              <a:gd name="adj" fmla="val 30000"/>
            </a:avLst>
          </a:prstGeom>
          <a:solidFill>
            <a:srgbClr val="08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9" name="Rectangle 328"/>
          <p:cNvSpPr/>
          <p:nvPr/>
        </p:nvSpPr>
        <p:spPr>
          <a:xfrm>
            <a:off x="920726" y="5905352"/>
            <a:ext cx="38099" cy="101597"/>
          </a:xfrm>
          <a:prstGeom prst="rect">
            <a:avLst/>
          </a:prstGeom>
          <a:solidFill>
            <a:srgbClr val="051D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0" name="Rectangle 329"/>
          <p:cNvSpPr/>
          <p:nvPr/>
        </p:nvSpPr>
        <p:spPr>
          <a:xfrm>
            <a:off x="952476" y="5905352"/>
            <a:ext cx="38099" cy="101597"/>
          </a:xfrm>
          <a:prstGeom prst="rect">
            <a:avLst/>
          </a:prstGeom>
          <a:solidFill>
            <a:srgbClr val="062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1" name="Rectangle 330"/>
          <p:cNvSpPr/>
          <p:nvPr/>
        </p:nvSpPr>
        <p:spPr>
          <a:xfrm>
            <a:off x="984225" y="5905352"/>
            <a:ext cx="38099" cy="101597"/>
          </a:xfrm>
          <a:prstGeom prst="rect">
            <a:avLst/>
          </a:prstGeom>
          <a:solidFill>
            <a:srgbClr val="07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2" name="Rectangle 331"/>
          <p:cNvSpPr/>
          <p:nvPr/>
        </p:nvSpPr>
        <p:spPr>
          <a:xfrm>
            <a:off x="1015974" y="5905352"/>
            <a:ext cx="38099" cy="101597"/>
          </a:xfrm>
          <a:prstGeom prst="rect">
            <a:avLst/>
          </a:prstGeom>
          <a:solidFill>
            <a:srgbClr val="0826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3" name="Rectangle 332"/>
          <p:cNvSpPr/>
          <p:nvPr/>
        </p:nvSpPr>
        <p:spPr>
          <a:xfrm>
            <a:off x="1047723" y="5905352"/>
            <a:ext cx="38099" cy="101597"/>
          </a:xfrm>
          <a:prstGeom prst="rect">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4" name="Rectangle 333"/>
          <p:cNvSpPr/>
          <p:nvPr/>
        </p:nvSpPr>
        <p:spPr>
          <a:xfrm>
            <a:off x="1079473" y="5905352"/>
            <a:ext cx="38099" cy="101597"/>
          </a:xfrm>
          <a:prstGeom prst="rect">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5" name="Rectangle 334"/>
          <p:cNvSpPr/>
          <p:nvPr/>
        </p:nvSpPr>
        <p:spPr>
          <a:xfrm>
            <a:off x="1111222" y="5905352"/>
            <a:ext cx="38099" cy="101597"/>
          </a:xfrm>
          <a:prstGeom prst="rect">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6" name="Rectangle 335"/>
          <p:cNvSpPr/>
          <p:nvPr/>
        </p:nvSpPr>
        <p:spPr>
          <a:xfrm>
            <a:off x="1142971" y="5905352"/>
            <a:ext cx="38099" cy="101597"/>
          </a:xfrm>
          <a:prstGeom prst="rect">
            <a:avLst/>
          </a:prstGeom>
          <a:solidFill>
            <a:srgbClr val="0B3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7" name="Rectangle 336"/>
          <p:cNvSpPr/>
          <p:nvPr/>
        </p:nvSpPr>
        <p:spPr>
          <a:xfrm>
            <a:off x="1174720" y="5905352"/>
            <a:ext cx="38099" cy="101597"/>
          </a:xfrm>
          <a:prstGeom prst="rect">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8" name="Rectangle 337"/>
          <p:cNvSpPr/>
          <p:nvPr/>
        </p:nvSpPr>
        <p:spPr>
          <a:xfrm>
            <a:off x="1206469" y="5905352"/>
            <a:ext cx="38099" cy="101597"/>
          </a:xfrm>
          <a:prstGeom prst="rect">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9" name="Rectangle 338"/>
          <p:cNvSpPr/>
          <p:nvPr/>
        </p:nvSpPr>
        <p:spPr>
          <a:xfrm>
            <a:off x="1238219" y="5905352"/>
            <a:ext cx="38099" cy="101597"/>
          </a:xfrm>
          <a:prstGeom prst="rect">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0" name="Rectangle 339"/>
          <p:cNvSpPr/>
          <p:nvPr/>
        </p:nvSpPr>
        <p:spPr>
          <a:xfrm>
            <a:off x="1269968" y="5905352"/>
            <a:ext cx="38099" cy="101597"/>
          </a:xfrm>
          <a:prstGeom prst="rect">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1" name="Rectangle 340"/>
          <p:cNvSpPr/>
          <p:nvPr/>
        </p:nvSpPr>
        <p:spPr>
          <a:xfrm>
            <a:off x="1301717" y="5905352"/>
            <a:ext cx="38099" cy="101597"/>
          </a:xfrm>
          <a:prstGeom prst="rect">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2" name="Rectangle 341"/>
          <p:cNvSpPr/>
          <p:nvPr/>
        </p:nvSpPr>
        <p:spPr>
          <a:xfrm>
            <a:off x="1333466" y="5905352"/>
            <a:ext cx="38099" cy="101597"/>
          </a:xfrm>
          <a:prstGeom prst="rect">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3" name="Rectangle 342"/>
          <p:cNvSpPr/>
          <p:nvPr/>
        </p:nvSpPr>
        <p:spPr>
          <a:xfrm>
            <a:off x="1365215" y="5905352"/>
            <a:ext cx="38099" cy="101597"/>
          </a:xfrm>
          <a:prstGeom prst="rect">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4" name="Rectangle 343"/>
          <p:cNvSpPr/>
          <p:nvPr/>
        </p:nvSpPr>
        <p:spPr>
          <a:xfrm>
            <a:off x="1396965" y="5905352"/>
            <a:ext cx="38099" cy="101597"/>
          </a:xfrm>
          <a:prstGeom prst="rect">
            <a:avLst/>
          </a:prstGeom>
          <a:solidFill>
            <a:srgbClr val="166B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5" name="Rectangle 344"/>
          <p:cNvSpPr/>
          <p:nvPr/>
        </p:nvSpPr>
        <p:spPr>
          <a:xfrm>
            <a:off x="1428714" y="5905352"/>
            <a:ext cx="38099" cy="101597"/>
          </a:xfrm>
          <a:prstGeom prst="rect">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6" name="Rectangle 345"/>
          <p:cNvSpPr/>
          <p:nvPr/>
        </p:nvSpPr>
        <p:spPr>
          <a:xfrm>
            <a:off x="1460463" y="5905352"/>
            <a:ext cx="38099" cy="101597"/>
          </a:xfrm>
          <a:prstGeom prst="rect">
            <a:avLst/>
          </a:prstGeom>
          <a:solidFill>
            <a:srgbClr val="1A7C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7" name="Rectangle 346"/>
          <p:cNvSpPr/>
          <p:nvPr/>
        </p:nvSpPr>
        <p:spPr>
          <a:xfrm>
            <a:off x="1492212" y="5905352"/>
            <a:ext cx="38099" cy="101597"/>
          </a:xfrm>
          <a:prstGeom prst="rect">
            <a:avLst/>
          </a:prstGeom>
          <a:solidFill>
            <a:srgbClr val="1C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8" name="Rectangle 347"/>
          <p:cNvSpPr/>
          <p:nvPr/>
        </p:nvSpPr>
        <p:spPr>
          <a:xfrm>
            <a:off x="1523961" y="5905352"/>
            <a:ext cx="38099" cy="101597"/>
          </a:xfrm>
          <a:prstGeom prst="rect">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9" name="Rectangle 348"/>
          <p:cNvSpPr/>
          <p:nvPr/>
        </p:nvSpPr>
        <p:spPr>
          <a:xfrm>
            <a:off x="1555711" y="5905352"/>
            <a:ext cx="38099" cy="101597"/>
          </a:xfrm>
          <a:prstGeom prst="rect">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0" name="Rectangle 349"/>
          <p:cNvSpPr/>
          <p:nvPr/>
        </p:nvSpPr>
        <p:spPr>
          <a:xfrm>
            <a:off x="1587460" y="5905352"/>
            <a:ext cx="38099" cy="101597"/>
          </a:xfrm>
          <a:prstGeom prst="rect">
            <a:avLst/>
          </a:prstGeom>
          <a:solidFill>
            <a:srgbClr val="2998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1" name="Rectangle 350"/>
          <p:cNvSpPr/>
          <p:nvPr/>
        </p:nvSpPr>
        <p:spPr>
          <a:xfrm>
            <a:off x="1619209" y="5905352"/>
            <a:ext cx="38099" cy="101597"/>
          </a:xfrm>
          <a:prstGeom prst="rect">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2" name="Rectangle 351"/>
          <p:cNvSpPr/>
          <p:nvPr/>
        </p:nvSpPr>
        <p:spPr>
          <a:xfrm>
            <a:off x="1650958" y="5905352"/>
            <a:ext cx="38099" cy="101597"/>
          </a:xfrm>
          <a:prstGeom prst="rect">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3" name="Rectangle 352"/>
          <p:cNvSpPr/>
          <p:nvPr/>
        </p:nvSpPr>
        <p:spPr>
          <a:xfrm>
            <a:off x="1682707" y="5905352"/>
            <a:ext cx="38099" cy="101597"/>
          </a:xfrm>
          <a:prstGeom prst="rect">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4" name="Rectangle 353"/>
          <p:cNvSpPr/>
          <p:nvPr/>
        </p:nvSpPr>
        <p:spPr>
          <a:xfrm>
            <a:off x="1714457" y="5905352"/>
            <a:ext cx="38099" cy="101597"/>
          </a:xfrm>
          <a:prstGeom prst="rect">
            <a:avLst/>
          </a:prstGeom>
          <a:solidFill>
            <a:srgbClr val="3F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5" name="Rectangle 354"/>
          <p:cNvSpPr/>
          <p:nvPr/>
        </p:nvSpPr>
        <p:spPr>
          <a:xfrm>
            <a:off x="1746206" y="5905352"/>
            <a:ext cx="38099" cy="101597"/>
          </a:xfrm>
          <a:prstGeom prst="rect">
            <a:avLst/>
          </a:prstGeom>
          <a:solidFill>
            <a:srgbClr val="45B1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6" name="Rectangle 355"/>
          <p:cNvSpPr/>
          <p:nvPr/>
        </p:nvSpPr>
        <p:spPr>
          <a:xfrm>
            <a:off x="1777955" y="5905352"/>
            <a:ext cx="38099" cy="101597"/>
          </a:xfrm>
          <a:prstGeom prst="rect">
            <a:avLst/>
          </a:prstGeom>
          <a:solidFill>
            <a:srgbClr val="4BB6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7" name="Rectangle 356"/>
          <p:cNvSpPr/>
          <p:nvPr/>
        </p:nvSpPr>
        <p:spPr>
          <a:xfrm>
            <a:off x="1809704" y="5905352"/>
            <a:ext cx="38099" cy="101597"/>
          </a:xfrm>
          <a:prstGeom prst="rect">
            <a:avLst/>
          </a:prstGeom>
          <a:solidFill>
            <a:srgbClr val="50B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8" name="Rectangle 357"/>
          <p:cNvSpPr/>
          <p:nvPr/>
        </p:nvSpPr>
        <p:spPr>
          <a:xfrm>
            <a:off x="1841453" y="5905352"/>
            <a:ext cx="38099" cy="101597"/>
          </a:xfrm>
          <a:prstGeom prst="rect">
            <a:avLst/>
          </a:prstGeom>
          <a:solidFill>
            <a:srgbClr val="60BF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9" name="Rectangle 358"/>
          <p:cNvSpPr/>
          <p:nvPr/>
        </p:nvSpPr>
        <p:spPr>
          <a:xfrm>
            <a:off x="1873203" y="5905352"/>
            <a:ext cx="38099" cy="101597"/>
          </a:xfrm>
          <a:prstGeom prst="rect">
            <a:avLst/>
          </a:prstGeom>
          <a:solidFill>
            <a:srgbClr val="75C1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0" name="Rectangle 359"/>
          <p:cNvSpPr/>
          <p:nvPr/>
        </p:nvSpPr>
        <p:spPr>
          <a:xfrm>
            <a:off x="1904952" y="5905352"/>
            <a:ext cx="38099" cy="101597"/>
          </a:xfrm>
          <a:prstGeom prst="rect">
            <a:avLst/>
          </a:prstGeom>
          <a:solidFill>
            <a:srgbClr val="8AC4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1" name="Rectangle 360"/>
          <p:cNvSpPr/>
          <p:nvPr/>
        </p:nvSpPr>
        <p:spPr>
          <a:xfrm>
            <a:off x="1936701" y="5905352"/>
            <a:ext cx="38099" cy="101597"/>
          </a:xfrm>
          <a:prstGeom prst="rect">
            <a:avLst/>
          </a:prstGeom>
          <a:solidFill>
            <a:srgbClr val="9F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2" name="Rectangle 361"/>
          <p:cNvSpPr/>
          <p:nvPr/>
        </p:nvSpPr>
        <p:spPr>
          <a:xfrm>
            <a:off x="1968450" y="5905352"/>
            <a:ext cx="38099" cy="101597"/>
          </a:xfrm>
          <a:prstGeom prst="rect">
            <a:avLst/>
          </a:prstGeom>
          <a:solidFill>
            <a:srgbClr val="B4C9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3" name="Rectangle 362"/>
          <p:cNvSpPr/>
          <p:nvPr/>
        </p:nvSpPr>
        <p:spPr>
          <a:xfrm>
            <a:off x="2000199" y="5905352"/>
            <a:ext cx="38099" cy="101597"/>
          </a:xfrm>
          <a:prstGeom prst="rect">
            <a:avLst/>
          </a:prstGeom>
          <a:solidFill>
            <a:srgbClr val="C9CB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4" name="Rectangle 363"/>
          <p:cNvSpPr/>
          <p:nvPr/>
        </p:nvSpPr>
        <p:spPr>
          <a:xfrm>
            <a:off x="2031949" y="5905352"/>
            <a:ext cx="38099" cy="101597"/>
          </a:xfrm>
          <a:prstGeom prst="rect">
            <a:avLst/>
          </a:prstGeom>
          <a:solidFill>
            <a:srgbClr val="DECE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5" name="Rectangle 364"/>
          <p:cNvSpPr/>
          <p:nvPr/>
        </p:nvSpPr>
        <p:spPr>
          <a:xfrm>
            <a:off x="2063698" y="5905352"/>
            <a:ext cx="38099" cy="101597"/>
          </a:xfrm>
          <a:prstGeom prst="rect">
            <a:avLst/>
          </a:prstGeom>
          <a:solidFill>
            <a:srgbClr val="F3D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6" name="Rectangle 365"/>
          <p:cNvSpPr/>
          <p:nvPr/>
        </p:nvSpPr>
        <p:spPr>
          <a:xfrm>
            <a:off x="2095447" y="5905352"/>
            <a:ext cx="38099" cy="101597"/>
          </a:xfrm>
          <a:prstGeom prst="rect">
            <a:avLst/>
          </a:prstGeom>
          <a:solidFill>
            <a:srgbClr val="FFCF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7" name="Rectangle 366"/>
          <p:cNvSpPr/>
          <p:nvPr/>
        </p:nvSpPr>
        <p:spPr>
          <a:xfrm>
            <a:off x="2127196" y="5905352"/>
            <a:ext cx="38099" cy="101597"/>
          </a:xfrm>
          <a:prstGeom prst="rect">
            <a:avLst/>
          </a:prstGeom>
          <a:solidFill>
            <a:srgbClr val="FFC6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8" name="Rectangle 367"/>
          <p:cNvSpPr/>
          <p:nvPr/>
        </p:nvSpPr>
        <p:spPr>
          <a:xfrm>
            <a:off x="2158946" y="5905352"/>
            <a:ext cx="38099" cy="101597"/>
          </a:xfrm>
          <a:prstGeom prst="rect">
            <a:avLst/>
          </a:prstGeom>
          <a:solidFill>
            <a:srgbClr val="FFBE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9" name="Rectangle 368"/>
          <p:cNvSpPr/>
          <p:nvPr/>
        </p:nvSpPr>
        <p:spPr>
          <a:xfrm>
            <a:off x="2190695" y="5905352"/>
            <a:ext cx="38099" cy="101597"/>
          </a:xfrm>
          <a:prstGeom prst="rect">
            <a:avLst/>
          </a:prstGeom>
          <a:solidFill>
            <a:srgbClr val="FFB6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0" name="Rectangle 369"/>
          <p:cNvSpPr/>
          <p:nvPr/>
        </p:nvSpPr>
        <p:spPr>
          <a:xfrm>
            <a:off x="2222444" y="5905352"/>
            <a:ext cx="38099" cy="101597"/>
          </a:xfrm>
          <a:prstGeom prst="rect">
            <a:avLst/>
          </a:prstGeom>
          <a:solidFill>
            <a:srgbClr val="FFAD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1" name="Rectangle 370"/>
          <p:cNvSpPr/>
          <p:nvPr/>
        </p:nvSpPr>
        <p:spPr>
          <a:xfrm>
            <a:off x="2254193" y="5905352"/>
            <a:ext cx="38099" cy="101597"/>
          </a:xfrm>
          <a:prstGeom prst="rect">
            <a:avLst/>
          </a:prstGeom>
          <a:solidFill>
            <a:srgbClr val="FFA5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2" name="Rectangle 371"/>
          <p:cNvSpPr/>
          <p:nvPr/>
        </p:nvSpPr>
        <p:spPr>
          <a:xfrm>
            <a:off x="2285942" y="5905352"/>
            <a:ext cx="38099" cy="101597"/>
          </a:xfrm>
          <a:prstGeom prst="rect">
            <a:avLst/>
          </a:prstGeom>
          <a:solidFill>
            <a:srgbClr val="FF9D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3" name="Rectangle 372"/>
          <p:cNvSpPr/>
          <p:nvPr/>
        </p:nvSpPr>
        <p:spPr>
          <a:xfrm>
            <a:off x="2317692" y="5905352"/>
            <a:ext cx="38099" cy="101597"/>
          </a:xfrm>
          <a:prstGeom prst="rect">
            <a:avLst/>
          </a:prstGeom>
          <a:solidFill>
            <a:srgbClr val="FF9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4" name="Rectangle 373"/>
          <p:cNvSpPr/>
          <p:nvPr/>
        </p:nvSpPr>
        <p:spPr>
          <a:xfrm>
            <a:off x="2349441" y="5905352"/>
            <a:ext cx="38099" cy="101597"/>
          </a:xfrm>
          <a:prstGeom prst="rect">
            <a:avLst/>
          </a:prstGeom>
          <a:solidFill>
            <a:srgbClr val="FF8C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5" name="Rectangle 374"/>
          <p:cNvSpPr/>
          <p:nvPr/>
        </p:nvSpPr>
        <p:spPr>
          <a:xfrm>
            <a:off x="2381190" y="5905352"/>
            <a:ext cx="38099" cy="101597"/>
          </a:xfrm>
          <a:prstGeom prst="rect">
            <a:avLst/>
          </a:prstGeom>
          <a:solidFill>
            <a:srgbClr val="FF84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6" name="Rectangle 375"/>
          <p:cNvSpPr/>
          <p:nvPr/>
        </p:nvSpPr>
        <p:spPr>
          <a:xfrm>
            <a:off x="2412939" y="5905352"/>
            <a:ext cx="38099" cy="101597"/>
          </a:xfrm>
          <a:prstGeom prst="rect">
            <a:avLst/>
          </a:prstGeom>
          <a:solidFill>
            <a:srgbClr val="FF7C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7" name="Rectangle 376"/>
          <p:cNvSpPr/>
          <p:nvPr/>
        </p:nvSpPr>
        <p:spPr>
          <a:xfrm>
            <a:off x="2444688" y="5905352"/>
            <a:ext cx="38099" cy="101597"/>
          </a:xfrm>
          <a:prstGeom prst="rect">
            <a:avLst/>
          </a:prstGeom>
          <a:solidFill>
            <a:srgbClr val="FD750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8" name="Rectangle 377"/>
          <p:cNvSpPr/>
          <p:nvPr/>
        </p:nvSpPr>
        <p:spPr>
          <a:xfrm>
            <a:off x="2476438" y="5905352"/>
            <a:ext cx="38099" cy="101597"/>
          </a:xfrm>
          <a:prstGeom prst="rect">
            <a:avLst/>
          </a:prstGeom>
          <a:solidFill>
            <a:srgbClr val="FB6F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9" name="Rectangle 378"/>
          <p:cNvSpPr/>
          <p:nvPr/>
        </p:nvSpPr>
        <p:spPr>
          <a:xfrm>
            <a:off x="2508187" y="5905352"/>
            <a:ext cx="38099" cy="101597"/>
          </a:xfrm>
          <a:prstGeom prst="rect">
            <a:avLst/>
          </a:prstGeom>
          <a:solidFill>
            <a:srgbClr val="FA69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0" name="Rectangle 379"/>
          <p:cNvSpPr/>
          <p:nvPr/>
        </p:nvSpPr>
        <p:spPr>
          <a:xfrm>
            <a:off x="2539936" y="5905352"/>
            <a:ext cx="38099" cy="101597"/>
          </a:xfrm>
          <a:prstGeom prst="rect">
            <a:avLst/>
          </a:prstGeom>
          <a:solidFill>
            <a:srgbClr val="F863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1" name="Rectangle 380"/>
          <p:cNvSpPr/>
          <p:nvPr/>
        </p:nvSpPr>
        <p:spPr>
          <a:xfrm>
            <a:off x="2571685" y="5905352"/>
            <a:ext cx="38099" cy="101597"/>
          </a:xfrm>
          <a:prstGeom prst="rect">
            <a:avLst/>
          </a:prstGeom>
          <a:solidFill>
            <a:srgbClr val="F65D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2" name="Rectangle 381"/>
          <p:cNvSpPr/>
          <p:nvPr/>
        </p:nvSpPr>
        <p:spPr>
          <a:xfrm>
            <a:off x="2603434" y="5905352"/>
            <a:ext cx="38099" cy="101597"/>
          </a:xfrm>
          <a:prstGeom prst="rect">
            <a:avLst/>
          </a:prstGeom>
          <a:solidFill>
            <a:srgbClr val="F457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3" name="Rectangle 382"/>
          <p:cNvSpPr/>
          <p:nvPr/>
        </p:nvSpPr>
        <p:spPr>
          <a:xfrm>
            <a:off x="2635184" y="5905352"/>
            <a:ext cx="38099" cy="101597"/>
          </a:xfrm>
          <a:prstGeom prst="rect">
            <a:avLst/>
          </a:prstGeom>
          <a:solidFill>
            <a:srgbClr val="F25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4" name="Rectangle 383"/>
          <p:cNvSpPr/>
          <p:nvPr/>
        </p:nvSpPr>
        <p:spPr>
          <a:xfrm>
            <a:off x="2666933" y="5905352"/>
            <a:ext cx="38099" cy="101597"/>
          </a:xfrm>
          <a:prstGeom prst="rect">
            <a:avLst/>
          </a:prstGeom>
          <a:solidFill>
            <a:srgbClr val="F04B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5" name="Rectangle 384"/>
          <p:cNvSpPr/>
          <p:nvPr/>
        </p:nvSpPr>
        <p:spPr>
          <a:xfrm>
            <a:off x="2698682" y="5905352"/>
            <a:ext cx="38099" cy="101597"/>
          </a:xfrm>
          <a:prstGeom prst="rect">
            <a:avLst/>
          </a:prstGeom>
          <a:solidFill>
            <a:srgbClr val="EE4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6" name="Rectangle 385"/>
          <p:cNvSpPr/>
          <p:nvPr/>
        </p:nvSpPr>
        <p:spPr>
          <a:xfrm>
            <a:off x="2730431" y="5905352"/>
            <a:ext cx="38099" cy="101597"/>
          </a:xfrm>
          <a:prstGeom prst="rect">
            <a:avLst/>
          </a:prstGeom>
          <a:solidFill>
            <a:srgbClr val="EC3F1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7" name="Rectangle 386"/>
          <p:cNvSpPr/>
          <p:nvPr/>
        </p:nvSpPr>
        <p:spPr>
          <a:xfrm>
            <a:off x="2762180" y="5905352"/>
            <a:ext cx="38099" cy="101597"/>
          </a:xfrm>
          <a:prstGeom prst="rect">
            <a:avLst/>
          </a:prstGeom>
          <a:solidFill>
            <a:srgbClr val="EA3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8" name="Rectangle 387"/>
          <p:cNvSpPr/>
          <p:nvPr/>
        </p:nvSpPr>
        <p:spPr>
          <a:xfrm>
            <a:off x="2793930" y="5905352"/>
            <a:ext cx="38099" cy="101597"/>
          </a:xfrm>
          <a:prstGeom prst="rect">
            <a:avLst/>
          </a:prstGeom>
          <a:solidFill>
            <a:srgbClr val="E833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9" name="TextBox 388"/>
          <p:cNvSpPr txBox="1"/>
          <p:nvPr/>
        </p:nvSpPr>
        <p:spPr>
          <a:xfrm>
            <a:off x="539736"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0</a:t>
            </a:r>
          </a:p>
        </p:txBody>
      </p:sp>
      <p:sp>
        <p:nvSpPr>
          <p:cNvPr id="390" name="TextBox 389"/>
          <p:cNvSpPr txBox="1"/>
          <p:nvPr/>
        </p:nvSpPr>
        <p:spPr>
          <a:xfrm>
            <a:off x="1492212"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200</a:t>
            </a:r>
          </a:p>
        </p:txBody>
      </p:sp>
      <p:sp>
        <p:nvSpPr>
          <p:cNvPr id="391" name="TextBox 390"/>
          <p:cNvSpPr txBox="1"/>
          <p:nvPr/>
        </p:nvSpPr>
        <p:spPr>
          <a:xfrm>
            <a:off x="2444688"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400</a:t>
            </a:r>
          </a:p>
        </p:txBody>
      </p:sp>
      <p:sp>
        <p:nvSpPr>
          <p:cNvPr id="392" name="TextBox 391"/>
          <p:cNvSpPr txBox="1"/>
          <p:nvPr/>
        </p:nvSpPr>
        <p:spPr>
          <a:xfrm>
            <a:off x="2978075" y="5892652"/>
            <a:ext cx="1269968" cy="190495"/>
          </a:xfrm>
          <a:prstGeom prst="rect">
            <a:avLst/>
          </a:prstGeom>
          <a:noFill/>
        </p:spPr>
        <p:txBody>
          <a:bodyPr wrap="square" anchor="t" lIns="0" rIns="0" tIns="0" bIns="0">
            <a:spAutoFit/>
          </a:bodyPr>
          <a:lstStyle/>
          <a:p>
            <a:pPr algn="l">
              <a:lnSpc>
                <a:spcPct val="125000"/>
              </a:lnSpc>
            </a:pPr>
            <a:r>
              <a:rPr sz="1100" b="0">
                <a:solidFill>
                  <a:srgbClr val="8FB6D0"/>
                </a:solidFill>
                <a:latin typeface="Consolas"/>
              </a:rPr>
              <a:t>kPa</a:t>
            </a:r>
          </a:p>
        </p:txBody>
      </p:sp>
      <p:sp>
        <p:nvSpPr>
          <p:cNvPr id="393" name="!!piek"/>
          <p:cNvSpPr txBox="1"/>
          <p:nvPr/>
        </p:nvSpPr>
        <p:spPr>
          <a:xfrm>
            <a:off x="3555911" y="1587460"/>
            <a:ext cx="4444888" cy="1904952"/>
          </a:xfrm>
          <a:prstGeom prst="rect">
            <a:avLst/>
          </a:prstGeom>
          <a:noFill/>
        </p:spPr>
        <p:txBody>
          <a:bodyPr wrap="none" anchor="t" lIns="0" rIns="0" tIns="0" bIns="0">
            <a:spAutoFit/>
          </a:bodyPr>
          <a:lstStyle/>
          <a:p>
            <a:pPr algn="l">
              <a:lnSpc>
                <a:spcPct val="90000"/>
              </a:lnSpc>
            </a:pPr>
            <a:r>
              <a:rPr sz="15000" b="1">
                <a:solidFill>
                  <a:srgbClr val="FF7A00"/>
                </a:solidFill>
                <a:latin typeface="Segoe UI"/>
              </a:rPr>
              <a:t>312</a:t>
            </a:r>
          </a:p>
        </p:txBody>
      </p:sp>
      <p:sp>
        <p:nvSpPr>
          <p:cNvPr id="394" name="!!eenheid"/>
          <p:cNvSpPr txBox="1"/>
          <p:nvPr/>
        </p:nvSpPr>
        <p:spPr>
          <a:xfrm>
            <a:off x="6857828" y="1904952"/>
            <a:ext cx="1269968" cy="507987"/>
          </a:xfrm>
          <a:prstGeom prst="rect">
            <a:avLst/>
          </a:prstGeom>
          <a:noFill/>
        </p:spPr>
        <p:txBody>
          <a:bodyPr wrap="square" anchor="t" lIns="0" rIns="0" tIns="0" bIns="0">
            <a:spAutoFit/>
          </a:bodyPr>
          <a:lstStyle/>
          <a:p>
            <a:pPr algn="l">
              <a:lnSpc>
                <a:spcPct val="125000"/>
              </a:lnSpc>
            </a:pPr>
            <a:r>
              <a:rPr sz="4400" b="1">
                <a:solidFill>
                  <a:srgbClr val="FF7A00"/>
                </a:solidFill>
                <a:latin typeface="Segoe UI Light"/>
              </a:rPr>
              <a:t>kPa</a:t>
            </a:r>
          </a:p>
        </p:txBody>
      </p:sp>
      <p:sp>
        <p:nvSpPr>
          <p:cNvPr id="395" name="!!plek"/>
          <p:cNvSpPr txBox="1"/>
          <p:nvPr/>
        </p:nvSpPr>
        <p:spPr>
          <a:xfrm>
            <a:off x="3581310" y="3352716"/>
            <a:ext cx="7619809" cy="380990"/>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piekdruk op metatarsaal 2-3</a:t>
            </a:r>
          </a:p>
        </p:txBody>
      </p:sp>
      <p:sp>
        <p:nvSpPr>
          <p:cNvPr id="396" name="!!norm"/>
          <p:cNvSpPr/>
          <p:nvPr/>
        </p:nvSpPr>
        <p:spPr>
          <a:xfrm>
            <a:off x="3555911" y="3924201"/>
            <a:ext cx="8000799" cy="609584"/>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7" name="!!normtekst"/>
          <p:cNvSpPr txBox="1"/>
          <p:nvPr/>
        </p:nvSpPr>
        <p:spPr>
          <a:xfrm>
            <a:off x="3555911" y="4101997"/>
            <a:ext cx="8000799" cy="292092"/>
          </a:xfrm>
          <a:prstGeom prst="rect">
            <a:avLst/>
          </a:prstGeom>
          <a:noFill/>
        </p:spPr>
        <p:txBody>
          <a:bodyPr wrap="square" anchor="t" lIns="0" rIns="0" tIns="0" bIns="0">
            <a:spAutoFit/>
          </a:bodyPr>
          <a:lstStyle/>
          <a:p>
            <a:pPr algn="ctr">
              <a:lnSpc>
                <a:spcPct val="125000"/>
              </a:lnSpc>
            </a:pPr>
            <a:r>
              <a:rPr sz="2200" b="1">
                <a:solidFill>
                  <a:srgbClr val="FF7A00"/>
                </a:solidFill>
                <a:latin typeface="Consolas"/>
              </a:rPr>
              <a:t>Norm:  &lt; 200 kPa   óf   ≥ 25% lager</a:t>
            </a:r>
          </a:p>
        </p:txBody>
      </p:sp>
      <p:sp>
        <p:nvSpPr>
          <p:cNvPr id="398" name="TextBox 397"/>
          <p:cNvSpPr txBox="1"/>
          <p:nvPr/>
        </p:nvSpPr>
        <p:spPr>
          <a:xfrm>
            <a:off x="3555911" y="4825879"/>
            <a:ext cx="8000799" cy="1269968"/>
          </a:xfrm>
          <a:prstGeom prst="rect">
            <a:avLst/>
          </a:prstGeom>
          <a:noFill/>
        </p:spPr>
        <p:txBody>
          <a:bodyPr wrap="square" anchor="t" lIns="0" rIns="0" tIns="0" bIns="0">
            <a:spAutoFit/>
          </a:bodyPr>
          <a:lstStyle/>
          <a:p>
            <a:pPr algn="l">
              <a:lnSpc>
                <a:spcPct val="135000"/>
              </a:lnSpc>
            </a:pPr>
            <a:r>
              <a:rPr sz="1700" b="0">
                <a:solidFill>
                  <a:srgbClr val="8FB6D0"/>
                </a:solidFill>
                <a:latin typeface="Segoe UI"/>
              </a:rPr>
              <a:t>Baseline meet u blootsvoets: de sensoren gaan met dubbelzijdige tape rechtstreeks op de voet, daarover een standaardkous.</a:t>
            </a:r>
          </a:p>
          <a:p>
            <a:pPr algn="l">
              <a:lnSpc>
                <a:spcPct val="135000"/>
              </a:lnSpc>
              <a:spcBef>
                <a:spcPts val="1200"/>
              </a:spcBef>
            </a:pPr>
            <a:r>
              <a:rPr sz="1700" b="0">
                <a:solidFill>
                  <a:srgbClr val="8FB6D0"/>
                </a:solidFill>
                <a:latin typeface="Segoe UI"/>
              </a:rPr>
              <a:t>Drie metingen per voet, links en rechts apart. Daaruit berekent de software één gemiddeld piekdrukbeeld.</a:t>
            </a:r>
          </a:p>
        </p:txBody>
      </p:sp>
      <p:sp>
        <p:nvSpPr>
          <p:cNvPr id="399" name="TextBox 398"/>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eCRF-document 09 · Meting plantaire druk, baseline</a:t>
            </a:r>
          </a:p>
        </p:txBody>
      </p:sp>
      <p:sp>
        <p:nvSpPr>
          <p:cNvPr id="400" name="TextBox 39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11 / 66</a:t>
            </a:r>
          </a:p>
        </p:txBody>
      </p:sp>
      <p:pic>
        <p:nvPicPr>
          <p:cNvPr id="401"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p00_07"/>
          <p:cNvSpPr/>
          <p:nvPr/>
        </p:nvSpPr>
        <p:spPr>
          <a:xfrm>
            <a:off x="2426905" y="12636782"/>
            <a:ext cx="257810" cy="257810"/>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p00_08"/>
          <p:cNvSpPr/>
          <p:nvPr/>
        </p:nvSpPr>
        <p:spPr>
          <a:xfrm>
            <a:off x="2839645" y="12636782"/>
            <a:ext cx="257810" cy="257810"/>
          </a:xfrm>
          <a:prstGeom prst="roundRect">
            <a:avLst>
              <a:gd name="adj" fmla="val 30000"/>
            </a:avLst>
          </a:prstGeom>
          <a:solidFill>
            <a:srgbClr val="2897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p00_09"/>
          <p:cNvSpPr/>
          <p:nvPr/>
        </p:nvSpPr>
        <p:spPr>
          <a:xfrm>
            <a:off x="3252385" y="12636782"/>
            <a:ext cx="257810" cy="257810"/>
          </a:xfrm>
          <a:prstGeom prst="roundRect">
            <a:avLst>
              <a:gd name="adj" fmla="val 30000"/>
            </a:avLst>
          </a:prstGeom>
          <a:solidFill>
            <a:srgbClr val="2897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00_10"/>
          <p:cNvSpPr/>
          <p:nvPr/>
        </p:nvSpPr>
        <p:spPr>
          <a:xfrm>
            <a:off x="3665125" y="12636782"/>
            <a:ext cx="257810" cy="257810"/>
          </a:xfrm>
          <a:prstGeom prst="roundRect">
            <a:avLst>
              <a:gd name="adj" fmla="val 30000"/>
            </a:avLst>
          </a:prstGeom>
          <a:solidFill>
            <a:srgbClr val="1A7C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01_06"/>
          <p:cNvSpPr/>
          <p:nvPr/>
        </p:nvSpPr>
        <p:spPr>
          <a:xfrm>
            <a:off x="2014166" y="12337002"/>
            <a:ext cx="257810" cy="257810"/>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p01_07"/>
          <p:cNvSpPr/>
          <p:nvPr/>
        </p:nvSpPr>
        <p:spPr>
          <a:xfrm>
            <a:off x="2426905" y="12337002"/>
            <a:ext cx="257810" cy="257810"/>
          </a:xfrm>
          <a:prstGeom prst="roundRect">
            <a:avLst>
              <a:gd name="adj" fmla="val 30000"/>
            </a:avLst>
          </a:prstGeom>
          <a:solidFill>
            <a:srgbClr val="21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p01_08"/>
          <p:cNvSpPr/>
          <p:nvPr/>
        </p:nvSpPr>
        <p:spPr>
          <a:xfrm>
            <a:off x="2839645" y="12337002"/>
            <a:ext cx="257810" cy="257810"/>
          </a:xfrm>
          <a:prstGeom prst="roundRect">
            <a:avLst>
              <a:gd name="adj" fmla="val 30000"/>
            </a:avLst>
          </a:prstGeom>
          <a:solidFill>
            <a:srgbClr val="3BA9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p01_09"/>
          <p:cNvSpPr/>
          <p:nvPr/>
        </p:nvSpPr>
        <p:spPr>
          <a:xfrm>
            <a:off x="3252385" y="12337002"/>
            <a:ext cx="257810" cy="257810"/>
          </a:xfrm>
          <a:prstGeom prst="roundRect">
            <a:avLst>
              <a:gd name="adj" fmla="val 30000"/>
            </a:avLst>
          </a:prstGeom>
          <a:solidFill>
            <a:srgbClr val="3BA8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01_10"/>
          <p:cNvSpPr/>
          <p:nvPr/>
        </p:nvSpPr>
        <p:spPr>
          <a:xfrm>
            <a:off x="3665125" y="12337002"/>
            <a:ext cx="257810" cy="257810"/>
          </a:xfrm>
          <a:prstGeom prst="roundRect">
            <a:avLst>
              <a:gd name="adj" fmla="val 30000"/>
            </a:avLst>
          </a:prstGeom>
          <a:solidFill>
            <a:srgbClr val="2191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p01_11"/>
          <p:cNvSpPr/>
          <p:nvPr/>
        </p:nvSpPr>
        <p:spPr>
          <a:xfrm>
            <a:off x="4077864" y="12337002"/>
            <a:ext cx="257810" cy="257810"/>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p02_05"/>
          <p:cNvSpPr/>
          <p:nvPr/>
        </p:nvSpPr>
        <p:spPr>
          <a:xfrm>
            <a:off x="1601426" y="12037223"/>
            <a:ext cx="257810" cy="257810"/>
          </a:xfrm>
          <a:prstGeom prst="roundRect">
            <a:avLst>
              <a:gd name="adj" fmla="val 30000"/>
            </a:avLst>
          </a:prstGeom>
          <a:solidFill>
            <a:srgbClr val="0D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02_06"/>
          <p:cNvSpPr/>
          <p:nvPr/>
        </p:nvSpPr>
        <p:spPr>
          <a:xfrm>
            <a:off x="2014166" y="12037223"/>
            <a:ext cx="257810" cy="257810"/>
          </a:xfrm>
          <a:prstGeom prst="roundRect">
            <a:avLst>
              <a:gd name="adj" fmla="val 30000"/>
            </a:avLst>
          </a:prstGeom>
          <a:solidFill>
            <a:srgbClr val="1669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02_07"/>
          <p:cNvSpPr/>
          <p:nvPr/>
        </p:nvSpPr>
        <p:spPr>
          <a:xfrm>
            <a:off x="2426905" y="12037223"/>
            <a:ext cx="257810" cy="257810"/>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02_08"/>
          <p:cNvSpPr/>
          <p:nvPr/>
        </p:nvSpPr>
        <p:spPr>
          <a:xfrm>
            <a:off x="2839645" y="12037223"/>
            <a:ext cx="257810" cy="257810"/>
          </a:xfrm>
          <a:prstGeom prst="roundRect">
            <a:avLst>
              <a:gd name="adj" fmla="val 30000"/>
            </a:avLst>
          </a:prstGeom>
          <a:solidFill>
            <a:srgbClr val="4AB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02_09"/>
          <p:cNvSpPr/>
          <p:nvPr/>
        </p:nvSpPr>
        <p:spPr>
          <a:xfrm>
            <a:off x="3252385" y="12037223"/>
            <a:ext cx="257810" cy="257810"/>
          </a:xfrm>
          <a:prstGeom prst="roundRect">
            <a:avLst>
              <a:gd name="adj" fmla="val 30000"/>
            </a:avLst>
          </a:prstGeom>
          <a:solidFill>
            <a:srgbClr val="4AB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02_10"/>
          <p:cNvSpPr/>
          <p:nvPr/>
        </p:nvSpPr>
        <p:spPr>
          <a:xfrm>
            <a:off x="3665125" y="12037223"/>
            <a:ext cx="257810" cy="257810"/>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p02_11"/>
          <p:cNvSpPr/>
          <p:nvPr/>
        </p:nvSpPr>
        <p:spPr>
          <a:xfrm>
            <a:off x="4077864" y="12037223"/>
            <a:ext cx="257810" cy="257810"/>
          </a:xfrm>
          <a:prstGeom prst="roundRect">
            <a:avLst>
              <a:gd name="adj" fmla="val 30000"/>
            </a:avLst>
          </a:prstGeom>
          <a:solidFill>
            <a:srgbClr val="1668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p02_12"/>
          <p:cNvSpPr/>
          <p:nvPr/>
        </p:nvSpPr>
        <p:spPr>
          <a:xfrm>
            <a:off x="4490604" y="12037223"/>
            <a:ext cx="257810" cy="257810"/>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p03_05"/>
          <p:cNvSpPr/>
          <p:nvPr/>
        </p:nvSpPr>
        <p:spPr>
          <a:xfrm>
            <a:off x="1601426" y="11737444"/>
            <a:ext cx="257810" cy="257810"/>
          </a:xfrm>
          <a:prstGeom prst="roundRect">
            <a:avLst>
              <a:gd name="adj" fmla="val 30000"/>
            </a:avLst>
          </a:prstGeom>
          <a:solidFill>
            <a:srgbClr val="0E3F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p03_06"/>
          <p:cNvSpPr/>
          <p:nvPr/>
        </p:nvSpPr>
        <p:spPr>
          <a:xfrm>
            <a:off x="2014166" y="11737444"/>
            <a:ext cx="257810" cy="257810"/>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p03_07"/>
          <p:cNvSpPr/>
          <p:nvPr/>
        </p:nvSpPr>
        <p:spPr>
          <a:xfrm>
            <a:off x="2426905" y="11737444"/>
            <a:ext cx="257810" cy="257810"/>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p03_08"/>
          <p:cNvSpPr/>
          <p:nvPr/>
        </p:nvSpPr>
        <p:spPr>
          <a:xfrm>
            <a:off x="2839645" y="11737444"/>
            <a:ext cx="257810" cy="257810"/>
          </a:xfrm>
          <a:prstGeom prst="roundRect">
            <a:avLst>
              <a:gd name="adj" fmla="val 30000"/>
            </a:avLst>
          </a:prstGeom>
          <a:solidFill>
            <a:srgbClr val="54BD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03_09"/>
          <p:cNvSpPr/>
          <p:nvPr/>
        </p:nvSpPr>
        <p:spPr>
          <a:xfrm>
            <a:off x="3252385" y="11737444"/>
            <a:ext cx="257810" cy="257810"/>
          </a:xfrm>
          <a:prstGeom prst="roundRect">
            <a:avLst>
              <a:gd name="adj" fmla="val 30000"/>
            </a:avLst>
          </a:prstGeom>
          <a:solidFill>
            <a:srgbClr val="54B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p03_10"/>
          <p:cNvSpPr/>
          <p:nvPr/>
        </p:nvSpPr>
        <p:spPr>
          <a:xfrm>
            <a:off x="3665125" y="11737444"/>
            <a:ext cx="257810" cy="257810"/>
          </a:xfrm>
          <a:prstGeom prst="roundRect">
            <a:avLst>
              <a:gd name="adj" fmla="val 30000"/>
            </a:avLst>
          </a:prstGeom>
          <a:solidFill>
            <a:srgbClr val="34A1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p03_11"/>
          <p:cNvSpPr/>
          <p:nvPr/>
        </p:nvSpPr>
        <p:spPr>
          <a:xfrm>
            <a:off x="4077864" y="11737444"/>
            <a:ext cx="257810" cy="257810"/>
          </a:xfrm>
          <a:prstGeom prst="roundRect">
            <a:avLst>
              <a:gd name="adj" fmla="val 30000"/>
            </a:avLst>
          </a:prstGeom>
          <a:solidFill>
            <a:srgbClr val="176F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p03_12"/>
          <p:cNvSpPr/>
          <p:nvPr/>
        </p:nvSpPr>
        <p:spPr>
          <a:xfrm>
            <a:off x="4490604" y="11737444"/>
            <a:ext cx="257810" cy="257810"/>
          </a:xfrm>
          <a:prstGeom prst="roundRect">
            <a:avLst>
              <a:gd name="adj" fmla="val 30000"/>
            </a:avLst>
          </a:prstGeom>
          <a:solidFill>
            <a:srgbClr val="0E3D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p04_05"/>
          <p:cNvSpPr/>
          <p:nvPr/>
        </p:nvSpPr>
        <p:spPr>
          <a:xfrm>
            <a:off x="1601426" y="11437664"/>
            <a:ext cx="257810" cy="257810"/>
          </a:xfrm>
          <a:prstGeom prst="roundRect">
            <a:avLst>
              <a:gd name="adj" fmla="val 30000"/>
            </a:avLst>
          </a:prstGeom>
          <a:solidFill>
            <a:srgbClr val="0E41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p04_06"/>
          <p:cNvSpPr/>
          <p:nvPr/>
        </p:nvSpPr>
        <p:spPr>
          <a:xfrm>
            <a:off x="2014166" y="11437664"/>
            <a:ext cx="257810" cy="257810"/>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p04_07"/>
          <p:cNvSpPr/>
          <p:nvPr/>
        </p:nvSpPr>
        <p:spPr>
          <a:xfrm>
            <a:off x="2426905" y="11437664"/>
            <a:ext cx="257810" cy="257810"/>
          </a:xfrm>
          <a:prstGeom prst="roundRect">
            <a:avLst>
              <a:gd name="adj" fmla="val 30000"/>
            </a:avLst>
          </a:prstGeom>
          <a:solidFill>
            <a:srgbClr val="35A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04_08"/>
          <p:cNvSpPr/>
          <p:nvPr/>
        </p:nvSpPr>
        <p:spPr>
          <a:xfrm>
            <a:off x="2839645" y="11437664"/>
            <a:ext cx="257810" cy="257810"/>
          </a:xfrm>
          <a:prstGeom prst="roundRect">
            <a:avLst>
              <a:gd name="adj" fmla="val 30000"/>
            </a:avLst>
          </a:prstGeom>
          <a:solidFill>
            <a:srgbClr val="57B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p04_09"/>
          <p:cNvSpPr/>
          <p:nvPr/>
        </p:nvSpPr>
        <p:spPr>
          <a:xfrm>
            <a:off x="3252385" y="11437664"/>
            <a:ext cx="257810" cy="257810"/>
          </a:xfrm>
          <a:prstGeom prst="roundRect">
            <a:avLst>
              <a:gd name="adj" fmla="val 30000"/>
            </a:avLst>
          </a:prstGeom>
          <a:solidFill>
            <a:srgbClr val="57B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p04_10"/>
          <p:cNvSpPr/>
          <p:nvPr/>
        </p:nvSpPr>
        <p:spPr>
          <a:xfrm>
            <a:off x="3665125" y="11437664"/>
            <a:ext cx="257810" cy="257810"/>
          </a:xfrm>
          <a:prstGeom prst="roundRect">
            <a:avLst>
              <a:gd name="adj" fmla="val 30000"/>
            </a:avLst>
          </a:prstGeom>
          <a:solidFill>
            <a:srgbClr val="35A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p04_11"/>
          <p:cNvSpPr/>
          <p:nvPr/>
        </p:nvSpPr>
        <p:spPr>
          <a:xfrm>
            <a:off x="4077864" y="11437664"/>
            <a:ext cx="257810" cy="257810"/>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p04_12"/>
          <p:cNvSpPr/>
          <p:nvPr/>
        </p:nvSpPr>
        <p:spPr>
          <a:xfrm>
            <a:off x="4490604" y="11437664"/>
            <a:ext cx="257810" cy="257810"/>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p05_05"/>
          <p:cNvSpPr/>
          <p:nvPr/>
        </p:nvSpPr>
        <p:spPr>
          <a:xfrm>
            <a:off x="1601426" y="11137885"/>
            <a:ext cx="257810" cy="257810"/>
          </a:xfrm>
          <a:prstGeom prst="roundRect">
            <a:avLst>
              <a:gd name="adj" fmla="val 30000"/>
            </a:avLst>
          </a:prstGeom>
          <a:solidFill>
            <a:srgbClr val="0E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p05_06"/>
          <p:cNvSpPr/>
          <p:nvPr/>
        </p:nvSpPr>
        <p:spPr>
          <a:xfrm>
            <a:off x="2014166" y="11137885"/>
            <a:ext cx="257810" cy="257810"/>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p05_07"/>
          <p:cNvSpPr/>
          <p:nvPr/>
        </p:nvSpPr>
        <p:spPr>
          <a:xfrm>
            <a:off x="2426905" y="11137885"/>
            <a:ext cx="257810" cy="257810"/>
          </a:xfrm>
          <a:prstGeom prst="roundRect">
            <a:avLst>
              <a:gd name="adj" fmla="val 30000"/>
            </a:avLst>
          </a:prstGeom>
          <a:solidFill>
            <a:srgbClr val="31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p05_08"/>
          <p:cNvSpPr/>
          <p:nvPr/>
        </p:nvSpPr>
        <p:spPr>
          <a:xfrm>
            <a:off x="2839645" y="11137885"/>
            <a:ext cx="257810" cy="257810"/>
          </a:xfrm>
          <a:prstGeom prst="roundRect">
            <a:avLst>
              <a:gd name="adj" fmla="val 30000"/>
            </a:avLst>
          </a:prstGeom>
          <a:solidFill>
            <a:srgbClr val="4DB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p05_09"/>
          <p:cNvSpPr/>
          <p:nvPr/>
        </p:nvSpPr>
        <p:spPr>
          <a:xfrm>
            <a:off x="3252385" y="11137885"/>
            <a:ext cx="257810" cy="257810"/>
          </a:xfrm>
          <a:prstGeom prst="roundRect">
            <a:avLst>
              <a:gd name="adj" fmla="val 30000"/>
            </a:avLst>
          </a:prstGeom>
          <a:solidFill>
            <a:srgbClr val="4DB9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p05_10"/>
          <p:cNvSpPr/>
          <p:nvPr/>
        </p:nvSpPr>
        <p:spPr>
          <a:xfrm>
            <a:off x="3665125" y="11137885"/>
            <a:ext cx="257810" cy="257810"/>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p05_11"/>
          <p:cNvSpPr/>
          <p:nvPr/>
        </p:nvSpPr>
        <p:spPr>
          <a:xfrm>
            <a:off x="4077864" y="11137885"/>
            <a:ext cx="257810" cy="257810"/>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p05_12"/>
          <p:cNvSpPr/>
          <p:nvPr/>
        </p:nvSpPr>
        <p:spPr>
          <a:xfrm>
            <a:off x="4490604" y="11137885"/>
            <a:ext cx="257810" cy="257810"/>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p06_05"/>
          <p:cNvSpPr/>
          <p:nvPr/>
        </p:nvSpPr>
        <p:spPr>
          <a:xfrm>
            <a:off x="1601426" y="10838106"/>
            <a:ext cx="257810" cy="257810"/>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p06_06"/>
          <p:cNvSpPr/>
          <p:nvPr/>
        </p:nvSpPr>
        <p:spPr>
          <a:xfrm>
            <a:off x="2014166" y="10838106"/>
            <a:ext cx="257810" cy="257810"/>
          </a:xfrm>
          <a:prstGeom prst="roundRect">
            <a:avLst>
              <a:gd name="adj" fmla="val 30000"/>
            </a:avLst>
          </a:prstGeom>
          <a:solidFill>
            <a:srgbClr val="166A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p06_07"/>
          <p:cNvSpPr/>
          <p:nvPr/>
        </p:nvSpPr>
        <p:spPr>
          <a:xfrm>
            <a:off x="2426905" y="10838106"/>
            <a:ext cx="257810" cy="257810"/>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p06_08"/>
          <p:cNvSpPr/>
          <p:nvPr/>
        </p:nvSpPr>
        <p:spPr>
          <a:xfrm>
            <a:off x="2839645" y="10838106"/>
            <a:ext cx="257810" cy="257810"/>
          </a:xfrm>
          <a:prstGeom prst="roundRect">
            <a:avLst>
              <a:gd name="adj" fmla="val 30000"/>
            </a:avLst>
          </a:prstGeom>
          <a:solidFill>
            <a:srgbClr val="41A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p06_09"/>
          <p:cNvSpPr/>
          <p:nvPr/>
        </p:nvSpPr>
        <p:spPr>
          <a:xfrm>
            <a:off x="3252385" y="10838106"/>
            <a:ext cx="257810" cy="257810"/>
          </a:xfrm>
          <a:prstGeom prst="roundRect">
            <a:avLst>
              <a:gd name="adj" fmla="val 30000"/>
            </a:avLst>
          </a:prstGeom>
          <a:solidFill>
            <a:srgbClr val="42AE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p06_10"/>
          <p:cNvSpPr/>
          <p:nvPr/>
        </p:nvSpPr>
        <p:spPr>
          <a:xfrm>
            <a:off x="3665125" y="10838106"/>
            <a:ext cx="257810" cy="257810"/>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p06_11"/>
          <p:cNvSpPr/>
          <p:nvPr/>
        </p:nvSpPr>
        <p:spPr>
          <a:xfrm>
            <a:off x="4077864" y="10838106"/>
            <a:ext cx="257810" cy="257810"/>
          </a:xfrm>
          <a:prstGeom prst="roundRect">
            <a:avLst>
              <a:gd name="adj" fmla="val 30000"/>
            </a:avLst>
          </a:prstGeom>
          <a:solidFill>
            <a:srgbClr val="17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p06_12"/>
          <p:cNvSpPr/>
          <p:nvPr/>
        </p:nvSpPr>
        <p:spPr>
          <a:xfrm>
            <a:off x="4490604" y="10838106"/>
            <a:ext cx="257810" cy="257810"/>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p07_05"/>
          <p:cNvSpPr/>
          <p:nvPr/>
        </p:nvSpPr>
        <p:spPr>
          <a:xfrm>
            <a:off x="1601426" y="10538326"/>
            <a:ext cx="257810" cy="257810"/>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p07_06"/>
          <p:cNvSpPr/>
          <p:nvPr/>
        </p:nvSpPr>
        <p:spPr>
          <a:xfrm>
            <a:off x="2014166" y="10538326"/>
            <a:ext cx="257810" cy="257810"/>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p07_07"/>
          <p:cNvSpPr/>
          <p:nvPr/>
        </p:nvSpPr>
        <p:spPr>
          <a:xfrm>
            <a:off x="2426905" y="10538326"/>
            <a:ext cx="257810" cy="257810"/>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p07_08"/>
          <p:cNvSpPr/>
          <p:nvPr/>
        </p:nvSpPr>
        <p:spPr>
          <a:xfrm>
            <a:off x="2839645" y="10538326"/>
            <a:ext cx="257810" cy="257810"/>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p07_09"/>
          <p:cNvSpPr/>
          <p:nvPr/>
        </p:nvSpPr>
        <p:spPr>
          <a:xfrm>
            <a:off x="3252385" y="10538326"/>
            <a:ext cx="257810" cy="257810"/>
          </a:xfrm>
          <a:prstGeom prst="roundRect">
            <a:avLst>
              <a:gd name="adj" fmla="val 30000"/>
            </a:avLst>
          </a:prstGeom>
          <a:solidFill>
            <a:srgbClr val="33A1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p07_10"/>
          <p:cNvSpPr/>
          <p:nvPr/>
        </p:nvSpPr>
        <p:spPr>
          <a:xfrm>
            <a:off x="3665125" y="10538326"/>
            <a:ext cx="257810" cy="257810"/>
          </a:xfrm>
          <a:prstGeom prst="roundRect">
            <a:avLst>
              <a:gd name="adj" fmla="val 30000"/>
            </a:avLst>
          </a:prstGeom>
          <a:solidFill>
            <a:srgbClr val="1F8F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p07_11"/>
          <p:cNvSpPr/>
          <p:nvPr/>
        </p:nvSpPr>
        <p:spPr>
          <a:xfrm>
            <a:off x="4077864" y="10538326"/>
            <a:ext cx="257810" cy="257810"/>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p07_12"/>
          <p:cNvSpPr/>
          <p:nvPr/>
        </p:nvSpPr>
        <p:spPr>
          <a:xfrm>
            <a:off x="4490604" y="10538326"/>
            <a:ext cx="257810" cy="257810"/>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p08_05"/>
          <p:cNvSpPr/>
          <p:nvPr/>
        </p:nvSpPr>
        <p:spPr>
          <a:xfrm>
            <a:off x="1601426" y="10238547"/>
            <a:ext cx="257810" cy="257810"/>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p08_06"/>
          <p:cNvSpPr/>
          <p:nvPr/>
        </p:nvSpPr>
        <p:spPr>
          <a:xfrm>
            <a:off x="2014166" y="10238547"/>
            <a:ext cx="257810" cy="257810"/>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p08_07"/>
          <p:cNvSpPr/>
          <p:nvPr/>
        </p:nvSpPr>
        <p:spPr>
          <a:xfrm>
            <a:off x="2426905" y="10238547"/>
            <a:ext cx="257810" cy="257810"/>
          </a:xfrm>
          <a:prstGeom prst="roundRect">
            <a:avLst>
              <a:gd name="adj" fmla="val 30000"/>
            </a:avLst>
          </a:prstGeom>
          <a:solidFill>
            <a:srgbClr val="197B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p08_08"/>
          <p:cNvSpPr/>
          <p:nvPr/>
        </p:nvSpPr>
        <p:spPr>
          <a:xfrm>
            <a:off x="2839645" y="10238547"/>
            <a:ext cx="257810" cy="257810"/>
          </a:xfrm>
          <a:prstGeom prst="roundRect">
            <a:avLst>
              <a:gd name="adj" fmla="val 30000"/>
            </a:avLst>
          </a:prstGeom>
          <a:solidFill>
            <a:srgbClr val="23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p08_09"/>
          <p:cNvSpPr/>
          <p:nvPr/>
        </p:nvSpPr>
        <p:spPr>
          <a:xfrm>
            <a:off x="3252385" y="10238547"/>
            <a:ext cx="257810" cy="257810"/>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p08_10"/>
          <p:cNvSpPr/>
          <p:nvPr/>
        </p:nvSpPr>
        <p:spPr>
          <a:xfrm>
            <a:off x="3665125" y="10238547"/>
            <a:ext cx="257810" cy="257810"/>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p08_11"/>
          <p:cNvSpPr/>
          <p:nvPr/>
        </p:nvSpPr>
        <p:spPr>
          <a:xfrm>
            <a:off x="4077864" y="10238547"/>
            <a:ext cx="257810" cy="257810"/>
          </a:xfrm>
          <a:prstGeom prst="roundRect">
            <a:avLst>
              <a:gd name="adj" fmla="val 30000"/>
            </a:avLst>
          </a:prstGeom>
          <a:solidFill>
            <a:srgbClr val="145E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p08_12"/>
          <p:cNvSpPr/>
          <p:nvPr/>
        </p:nvSpPr>
        <p:spPr>
          <a:xfrm>
            <a:off x="4490604" y="10238547"/>
            <a:ext cx="257810" cy="257810"/>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p09_05"/>
          <p:cNvSpPr/>
          <p:nvPr/>
        </p:nvSpPr>
        <p:spPr>
          <a:xfrm>
            <a:off x="1601426" y="9938768"/>
            <a:ext cx="257810" cy="257810"/>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p09_06"/>
          <p:cNvSpPr/>
          <p:nvPr/>
        </p:nvSpPr>
        <p:spPr>
          <a:xfrm>
            <a:off x="2014166" y="9938768"/>
            <a:ext cx="257810" cy="257810"/>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p09_07"/>
          <p:cNvSpPr/>
          <p:nvPr/>
        </p:nvSpPr>
        <p:spPr>
          <a:xfrm>
            <a:off x="2426905" y="9938768"/>
            <a:ext cx="257810" cy="257810"/>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p09_08"/>
          <p:cNvSpPr/>
          <p:nvPr/>
        </p:nvSpPr>
        <p:spPr>
          <a:xfrm>
            <a:off x="2839645" y="9938768"/>
            <a:ext cx="257810" cy="257810"/>
          </a:xfrm>
          <a:prstGeom prst="roundRect">
            <a:avLst>
              <a:gd name="adj" fmla="val 30000"/>
            </a:avLst>
          </a:prstGeom>
          <a:solidFill>
            <a:srgbClr val="1B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p09_09"/>
          <p:cNvSpPr/>
          <p:nvPr/>
        </p:nvSpPr>
        <p:spPr>
          <a:xfrm>
            <a:off x="3252385" y="9938768"/>
            <a:ext cx="257810" cy="257810"/>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p09_10"/>
          <p:cNvSpPr/>
          <p:nvPr/>
        </p:nvSpPr>
        <p:spPr>
          <a:xfrm>
            <a:off x="3665125" y="9938768"/>
            <a:ext cx="257810" cy="257810"/>
          </a:xfrm>
          <a:prstGeom prst="roundRect">
            <a:avLst>
              <a:gd name="adj" fmla="val 30000"/>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p09_11"/>
          <p:cNvSpPr/>
          <p:nvPr/>
        </p:nvSpPr>
        <p:spPr>
          <a:xfrm>
            <a:off x="4077864" y="9938768"/>
            <a:ext cx="257810" cy="257810"/>
          </a:xfrm>
          <a:prstGeom prst="roundRect">
            <a:avLst>
              <a:gd name="adj" fmla="val 30000"/>
            </a:avLst>
          </a:prstGeom>
          <a:solidFill>
            <a:srgbClr val="13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p09_12"/>
          <p:cNvSpPr/>
          <p:nvPr/>
        </p:nvSpPr>
        <p:spPr>
          <a:xfrm>
            <a:off x="4490604" y="9938768"/>
            <a:ext cx="257810" cy="257810"/>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p10_06"/>
          <p:cNvSpPr/>
          <p:nvPr/>
        </p:nvSpPr>
        <p:spPr>
          <a:xfrm>
            <a:off x="2014166" y="9638988"/>
            <a:ext cx="257810" cy="257810"/>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p10_07"/>
          <p:cNvSpPr/>
          <p:nvPr/>
        </p:nvSpPr>
        <p:spPr>
          <a:xfrm>
            <a:off x="2426905" y="9638988"/>
            <a:ext cx="257810" cy="257810"/>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p10_08"/>
          <p:cNvSpPr/>
          <p:nvPr/>
        </p:nvSpPr>
        <p:spPr>
          <a:xfrm>
            <a:off x="2839645" y="9638988"/>
            <a:ext cx="257810" cy="257810"/>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p10_09"/>
          <p:cNvSpPr/>
          <p:nvPr/>
        </p:nvSpPr>
        <p:spPr>
          <a:xfrm>
            <a:off x="3252385" y="9638988"/>
            <a:ext cx="257810" cy="257810"/>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p10_10"/>
          <p:cNvSpPr/>
          <p:nvPr/>
        </p:nvSpPr>
        <p:spPr>
          <a:xfrm>
            <a:off x="3665125" y="9638988"/>
            <a:ext cx="257810" cy="257810"/>
          </a:xfrm>
          <a:prstGeom prst="roundRect">
            <a:avLst>
              <a:gd name="adj" fmla="val 30000"/>
            </a:avLst>
          </a:prstGeom>
          <a:solidFill>
            <a:srgbClr val="16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p10_11"/>
          <p:cNvSpPr/>
          <p:nvPr/>
        </p:nvSpPr>
        <p:spPr>
          <a:xfrm>
            <a:off x="4077864" y="9638988"/>
            <a:ext cx="257810" cy="257810"/>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p10_12"/>
          <p:cNvSpPr/>
          <p:nvPr/>
        </p:nvSpPr>
        <p:spPr>
          <a:xfrm>
            <a:off x="4490604" y="9638988"/>
            <a:ext cx="257810" cy="257810"/>
          </a:xfrm>
          <a:prstGeom prst="roundRect">
            <a:avLst>
              <a:gd name="adj" fmla="val 30000"/>
            </a:avLst>
          </a:prstGeom>
          <a:solidFill>
            <a:srgbClr val="0F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p11_06"/>
          <p:cNvSpPr/>
          <p:nvPr/>
        </p:nvSpPr>
        <p:spPr>
          <a:xfrm>
            <a:off x="2014166" y="9339209"/>
            <a:ext cx="257810" cy="257810"/>
          </a:xfrm>
          <a:prstGeom prst="roundRect">
            <a:avLst>
              <a:gd name="adj" fmla="val 30000"/>
            </a:avLst>
          </a:prstGeom>
          <a:solidFill>
            <a:srgbClr val="0F43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p11_07"/>
          <p:cNvSpPr/>
          <p:nvPr/>
        </p:nvSpPr>
        <p:spPr>
          <a:xfrm>
            <a:off x="2426905" y="9339209"/>
            <a:ext cx="257810" cy="257810"/>
          </a:xfrm>
          <a:prstGeom prst="roundRect">
            <a:avLst>
              <a:gd name="adj" fmla="val 30000"/>
            </a:avLst>
          </a:prstGeom>
          <a:solidFill>
            <a:srgbClr val="125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p11_08"/>
          <p:cNvSpPr/>
          <p:nvPr/>
        </p:nvSpPr>
        <p:spPr>
          <a:xfrm>
            <a:off x="2839645" y="9339209"/>
            <a:ext cx="257810" cy="257810"/>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p11_09"/>
          <p:cNvSpPr/>
          <p:nvPr/>
        </p:nvSpPr>
        <p:spPr>
          <a:xfrm>
            <a:off x="3252385" y="9339209"/>
            <a:ext cx="257810" cy="257810"/>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p11_10"/>
          <p:cNvSpPr/>
          <p:nvPr/>
        </p:nvSpPr>
        <p:spPr>
          <a:xfrm>
            <a:off x="3665125" y="9339209"/>
            <a:ext cx="257810" cy="257810"/>
          </a:xfrm>
          <a:prstGeom prst="roundRect">
            <a:avLst>
              <a:gd name="adj" fmla="val 30000"/>
            </a:avLst>
          </a:prstGeom>
          <a:solidFill>
            <a:srgbClr val="15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p11_11"/>
          <p:cNvSpPr/>
          <p:nvPr/>
        </p:nvSpPr>
        <p:spPr>
          <a:xfrm>
            <a:off x="4077864" y="9339209"/>
            <a:ext cx="257810" cy="257810"/>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p11_12"/>
          <p:cNvSpPr/>
          <p:nvPr/>
        </p:nvSpPr>
        <p:spPr>
          <a:xfrm>
            <a:off x="4490604" y="9339209"/>
            <a:ext cx="257810" cy="257810"/>
          </a:xfrm>
          <a:prstGeom prst="roundRect">
            <a:avLst>
              <a:gd name="adj" fmla="val 30000"/>
            </a:avLst>
          </a:prstGeom>
          <a:solidFill>
            <a:srgbClr val="0F45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p12_06"/>
          <p:cNvSpPr/>
          <p:nvPr/>
        </p:nvSpPr>
        <p:spPr>
          <a:xfrm>
            <a:off x="2014166" y="9039430"/>
            <a:ext cx="257810" cy="257810"/>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p12_07"/>
          <p:cNvSpPr/>
          <p:nvPr/>
        </p:nvSpPr>
        <p:spPr>
          <a:xfrm>
            <a:off x="2426905" y="9039430"/>
            <a:ext cx="257810" cy="257810"/>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p12_08"/>
          <p:cNvSpPr/>
          <p:nvPr/>
        </p:nvSpPr>
        <p:spPr>
          <a:xfrm>
            <a:off x="2839645" y="9039430"/>
            <a:ext cx="257810" cy="257810"/>
          </a:xfrm>
          <a:prstGeom prst="roundRect">
            <a:avLst>
              <a:gd name="adj" fmla="val 30000"/>
            </a:avLst>
          </a:prstGeom>
          <a:solidFill>
            <a:srgbClr val="13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p12_09"/>
          <p:cNvSpPr/>
          <p:nvPr/>
        </p:nvSpPr>
        <p:spPr>
          <a:xfrm>
            <a:off x="3252385" y="9039430"/>
            <a:ext cx="257810" cy="257810"/>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p12_10"/>
          <p:cNvSpPr/>
          <p:nvPr/>
        </p:nvSpPr>
        <p:spPr>
          <a:xfrm>
            <a:off x="3665125" y="9039430"/>
            <a:ext cx="257810" cy="257810"/>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p12_11"/>
          <p:cNvSpPr/>
          <p:nvPr/>
        </p:nvSpPr>
        <p:spPr>
          <a:xfrm>
            <a:off x="4077864" y="9039430"/>
            <a:ext cx="257810" cy="257810"/>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p12_12"/>
          <p:cNvSpPr/>
          <p:nvPr/>
        </p:nvSpPr>
        <p:spPr>
          <a:xfrm>
            <a:off x="4490604" y="9039430"/>
            <a:ext cx="257810" cy="257810"/>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p13_06"/>
          <p:cNvSpPr/>
          <p:nvPr/>
        </p:nvSpPr>
        <p:spPr>
          <a:xfrm>
            <a:off x="2014166" y="8739650"/>
            <a:ext cx="257810" cy="257810"/>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p13_07"/>
          <p:cNvSpPr/>
          <p:nvPr/>
        </p:nvSpPr>
        <p:spPr>
          <a:xfrm>
            <a:off x="2426905" y="8739650"/>
            <a:ext cx="257810" cy="257810"/>
          </a:xfrm>
          <a:prstGeom prst="roundRect">
            <a:avLst>
              <a:gd name="adj" fmla="val 30000"/>
            </a:avLst>
          </a:prstGeom>
          <a:solidFill>
            <a:srgbClr val="104B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p13_08"/>
          <p:cNvSpPr/>
          <p:nvPr/>
        </p:nvSpPr>
        <p:spPr>
          <a:xfrm>
            <a:off x="2839645" y="8739650"/>
            <a:ext cx="257810" cy="257810"/>
          </a:xfrm>
          <a:prstGeom prst="roundRect">
            <a:avLst>
              <a:gd name="adj" fmla="val 30000"/>
            </a:avLst>
          </a:prstGeom>
          <a:solidFill>
            <a:srgbClr val="1358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p13_09"/>
          <p:cNvSpPr/>
          <p:nvPr/>
        </p:nvSpPr>
        <p:spPr>
          <a:xfrm>
            <a:off x="3252385" y="8739650"/>
            <a:ext cx="257810" cy="257810"/>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p13_10"/>
          <p:cNvSpPr/>
          <p:nvPr/>
        </p:nvSpPr>
        <p:spPr>
          <a:xfrm>
            <a:off x="3665125" y="8739650"/>
            <a:ext cx="257810" cy="257810"/>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p13_11"/>
          <p:cNvSpPr/>
          <p:nvPr/>
        </p:nvSpPr>
        <p:spPr>
          <a:xfrm>
            <a:off x="4077864" y="8739650"/>
            <a:ext cx="257810" cy="257810"/>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p13_12"/>
          <p:cNvSpPr/>
          <p:nvPr/>
        </p:nvSpPr>
        <p:spPr>
          <a:xfrm>
            <a:off x="4490604" y="8739650"/>
            <a:ext cx="257810" cy="257810"/>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p14_06"/>
          <p:cNvSpPr/>
          <p:nvPr/>
        </p:nvSpPr>
        <p:spPr>
          <a:xfrm>
            <a:off x="2014166" y="8439871"/>
            <a:ext cx="257810" cy="257810"/>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p14_07"/>
          <p:cNvSpPr/>
          <p:nvPr/>
        </p:nvSpPr>
        <p:spPr>
          <a:xfrm>
            <a:off x="2426905" y="8439871"/>
            <a:ext cx="257810" cy="257810"/>
          </a:xfrm>
          <a:prstGeom prst="roundRect">
            <a:avLst>
              <a:gd name="adj" fmla="val 30000"/>
            </a:avLst>
          </a:prstGeom>
          <a:solidFill>
            <a:srgbClr val="1049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p14_08"/>
          <p:cNvSpPr/>
          <p:nvPr/>
        </p:nvSpPr>
        <p:spPr>
          <a:xfrm>
            <a:off x="2839645" y="8439871"/>
            <a:ext cx="257810" cy="257810"/>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p14_09"/>
          <p:cNvSpPr/>
          <p:nvPr/>
        </p:nvSpPr>
        <p:spPr>
          <a:xfrm>
            <a:off x="3252385" y="8439871"/>
            <a:ext cx="257810" cy="257810"/>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p14_10"/>
          <p:cNvSpPr/>
          <p:nvPr/>
        </p:nvSpPr>
        <p:spPr>
          <a:xfrm>
            <a:off x="3665125" y="8439871"/>
            <a:ext cx="257810" cy="257810"/>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p14_11"/>
          <p:cNvSpPr/>
          <p:nvPr/>
        </p:nvSpPr>
        <p:spPr>
          <a:xfrm>
            <a:off x="4077864" y="8439871"/>
            <a:ext cx="257810" cy="257810"/>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p14_12"/>
          <p:cNvSpPr/>
          <p:nvPr/>
        </p:nvSpPr>
        <p:spPr>
          <a:xfrm>
            <a:off x="4490604" y="8439871"/>
            <a:ext cx="257810" cy="257810"/>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p15_07"/>
          <p:cNvSpPr/>
          <p:nvPr/>
        </p:nvSpPr>
        <p:spPr>
          <a:xfrm>
            <a:off x="2426905" y="8140092"/>
            <a:ext cx="257810" cy="257810"/>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p15_08"/>
          <p:cNvSpPr/>
          <p:nvPr/>
        </p:nvSpPr>
        <p:spPr>
          <a:xfrm>
            <a:off x="2839645" y="8140092"/>
            <a:ext cx="257810" cy="257810"/>
          </a:xfrm>
          <a:prstGeom prst="roundRect">
            <a:avLst>
              <a:gd name="adj" fmla="val 30000"/>
            </a:avLst>
          </a:prstGeom>
          <a:solidFill>
            <a:srgbClr val="125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p15_09"/>
          <p:cNvSpPr/>
          <p:nvPr/>
        </p:nvSpPr>
        <p:spPr>
          <a:xfrm>
            <a:off x="3252385" y="8140092"/>
            <a:ext cx="257810" cy="257810"/>
          </a:xfrm>
          <a:prstGeom prst="roundRect">
            <a:avLst>
              <a:gd name="adj" fmla="val 30000"/>
            </a:avLst>
          </a:prstGeom>
          <a:solidFill>
            <a:srgbClr val="145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p15_10"/>
          <p:cNvSpPr/>
          <p:nvPr/>
        </p:nvSpPr>
        <p:spPr>
          <a:xfrm>
            <a:off x="3665125" y="8140092"/>
            <a:ext cx="257810" cy="257810"/>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p15_11"/>
          <p:cNvSpPr/>
          <p:nvPr/>
        </p:nvSpPr>
        <p:spPr>
          <a:xfrm>
            <a:off x="4077864" y="8140092"/>
            <a:ext cx="257810" cy="257810"/>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p15_12"/>
          <p:cNvSpPr/>
          <p:nvPr/>
        </p:nvSpPr>
        <p:spPr>
          <a:xfrm>
            <a:off x="4490604" y="8140092"/>
            <a:ext cx="257810" cy="257810"/>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p15_13"/>
          <p:cNvSpPr/>
          <p:nvPr/>
        </p:nvSpPr>
        <p:spPr>
          <a:xfrm>
            <a:off x="4903344" y="8140092"/>
            <a:ext cx="257810" cy="257810"/>
          </a:xfrm>
          <a:prstGeom prst="roundRect">
            <a:avLst>
              <a:gd name="adj" fmla="val 30000"/>
            </a:avLst>
          </a:prstGeom>
          <a:solidFill>
            <a:srgbClr val="0D3C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p16_07"/>
          <p:cNvSpPr/>
          <p:nvPr/>
        </p:nvSpPr>
        <p:spPr>
          <a:xfrm>
            <a:off x="2426905" y="7840312"/>
            <a:ext cx="257810" cy="257810"/>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p16_08"/>
          <p:cNvSpPr/>
          <p:nvPr/>
        </p:nvSpPr>
        <p:spPr>
          <a:xfrm>
            <a:off x="2839645" y="7840312"/>
            <a:ext cx="257810" cy="257810"/>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p16_09"/>
          <p:cNvSpPr/>
          <p:nvPr/>
        </p:nvSpPr>
        <p:spPr>
          <a:xfrm>
            <a:off x="3252385" y="7840312"/>
            <a:ext cx="257810" cy="257810"/>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p16_10"/>
          <p:cNvSpPr/>
          <p:nvPr/>
        </p:nvSpPr>
        <p:spPr>
          <a:xfrm>
            <a:off x="3665125" y="7840312"/>
            <a:ext cx="257810" cy="257810"/>
          </a:xfrm>
          <a:prstGeom prst="roundRect">
            <a:avLst>
              <a:gd name="adj" fmla="val 30000"/>
            </a:avLst>
          </a:prstGeom>
          <a:solidFill>
            <a:srgbClr val="1561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p16_11"/>
          <p:cNvSpPr/>
          <p:nvPr/>
        </p:nvSpPr>
        <p:spPr>
          <a:xfrm>
            <a:off x="4077864" y="7840312"/>
            <a:ext cx="257810" cy="257810"/>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p16_12"/>
          <p:cNvSpPr/>
          <p:nvPr/>
        </p:nvSpPr>
        <p:spPr>
          <a:xfrm>
            <a:off x="4490604" y="7840312"/>
            <a:ext cx="257810" cy="257810"/>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p16_13"/>
          <p:cNvSpPr/>
          <p:nvPr/>
        </p:nvSpPr>
        <p:spPr>
          <a:xfrm>
            <a:off x="4903344" y="7840312"/>
            <a:ext cx="257810" cy="257810"/>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p17_07"/>
          <p:cNvSpPr/>
          <p:nvPr/>
        </p:nvSpPr>
        <p:spPr>
          <a:xfrm>
            <a:off x="2426905" y="7540533"/>
            <a:ext cx="257810" cy="257810"/>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p17_08"/>
          <p:cNvSpPr/>
          <p:nvPr/>
        </p:nvSpPr>
        <p:spPr>
          <a:xfrm>
            <a:off x="2839645" y="7540533"/>
            <a:ext cx="257810" cy="257810"/>
          </a:xfrm>
          <a:prstGeom prst="roundRect">
            <a:avLst>
              <a:gd name="adj" fmla="val 30000"/>
            </a:avLst>
          </a:prstGeom>
          <a:solidFill>
            <a:srgbClr val="1251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p17_09"/>
          <p:cNvSpPr/>
          <p:nvPr/>
        </p:nvSpPr>
        <p:spPr>
          <a:xfrm>
            <a:off x="3252385" y="7540533"/>
            <a:ext cx="257810" cy="257810"/>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p17_10"/>
          <p:cNvSpPr/>
          <p:nvPr/>
        </p:nvSpPr>
        <p:spPr>
          <a:xfrm>
            <a:off x="3665125" y="7540533"/>
            <a:ext cx="257810" cy="257810"/>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p17_11"/>
          <p:cNvSpPr/>
          <p:nvPr/>
        </p:nvSpPr>
        <p:spPr>
          <a:xfrm>
            <a:off x="4077864" y="7540533"/>
            <a:ext cx="257810" cy="257810"/>
          </a:xfrm>
          <a:prstGeom prst="roundRect">
            <a:avLst>
              <a:gd name="adj" fmla="val 30000"/>
            </a:avLst>
          </a:prstGeom>
          <a:solidFill>
            <a:srgbClr val="13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p17_12"/>
          <p:cNvSpPr/>
          <p:nvPr/>
        </p:nvSpPr>
        <p:spPr>
          <a:xfrm>
            <a:off x="4490604" y="7540533"/>
            <a:ext cx="257810" cy="257810"/>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p17_13"/>
          <p:cNvSpPr/>
          <p:nvPr/>
        </p:nvSpPr>
        <p:spPr>
          <a:xfrm>
            <a:off x="4903344" y="7540533"/>
            <a:ext cx="257810" cy="257810"/>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p18_06"/>
          <p:cNvSpPr/>
          <p:nvPr/>
        </p:nvSpPr>
        <p:spPr>
          <a:xfrm>
            <a:off x="2014166" y="7240754"/>
            <a:ext cx="257810" cy="257810"/>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p18_07"/>
          <p:cNvSpPr/>
          <p:nvPr/>
        </p:nvSpPr>
        <p:spPr>
          <a:xfrm>
            <a:off x="2426905" y="7240754"/>
            <a:ext cx="257810" cy="257810"/>
          </a:xfrm>
          <a:prstGeom prst="roundRect">
            <a:avLst>
              <a:gd name="adj" fmla="val 30000"/>
            </a:avLst>
          </a:prstGeom>
          <a:solidFill>
            <a:srgbClr val="104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p18_08"/>
          <p:cNvSpPr/>
          <p:nvPr/>
        </p:nvSpPr>
        <p:spPr>
          <a:xfrm>
            <a:off x="2839645" y="7240754"/>
            <a:ext cx="257810" cy="257810"/>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p18_09"/>
          <p:cNvSpPr/>
          <p:nvPr/>
        </p:nvSpPr>
        <p:spPr>
          <a:xfrm>
            <a:off x="3252385" y="7240754"/>
            <a:ext cx="257810" cy="257810"/>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p18_10"/>
          <p:cNvSpPr/>
          <p:nvPr/>
        </p:nvSpPr>
        <p:spPr>
          <a:xfrm>
            <a:off x="3665125" y="7240754"/>
            <a:ext cx="257810" cy="257810"/>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p18_11"/>
          <p:cNvSpPr/>
          <p:nvPr/>
        </p:nvSpPr>
        <p:spPr>
          <a:xfrm>
            <a:off x="4077864" y="7240754"/>
            <a:ext cx="257810" cy="257810"/>
          </a:xfrm>
          <a:prstGeom prst="roundRect">
            <a:avLst>
              <a:gd name="adj" fmla="val 30000"/>
            </a:avLst>
          </a:prstGeom>
          <a:solidFill>
            <a:srgbClr val="1359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p18_12"/>
          <p:cNvSpPr/>
          <p:nvPr/>
        </p:nvSpPr>
        <p:spPr>
          <a:xfrm>
            <a:off x="4490604" y="7240754"/>
            <a:ext cx="257810" cy="257810"/>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p18_13"/>
          <p:cNvSpPr/>
          <p:nvPr/>
        </p:nvSpPr>
        <p:spPr>
          <a:xfrm>
            <a:off x="4903344" y="7240754"/>
            <a:ext cx="257810" cy="257810"/>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p19_06"/>
          <p:cNvSpPr/>
          <p:nvPr/>
        </p:nvSpPr>
        <p:spPr>
          <a:xfrm>
            <a:off x="2014166" y="6940974"/>
            <a:ext cx="257810" cy="257810"/>
          </a:xfrm>
          <a:prstGeom prst="roundRect">
            <a:avLst>
              <a:gd name="adj" fmla="val 30000"/>
            </a:avLst>
          </a:prstGeom>
          <a:solidFill>
            <a:srgbClr val="0F4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p19_07"/>
          <p:cNvSpPr/>
          <p:nvPr/>
        </p:nvSpPr>
        <p:spPr>
          <a:xfrm>
            <a:off x="2426905" y="6940974"/>
            <a:ext cx="257810" cy="257810"/>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p19_08"/>
          <p:cNvSpPr/>
          <p:nvPr/>
        </p:nvSpPr>
        <p:spPr>
          <a:xfrm>
            <a:off x="2839645" y="6940974"/>
            <a:ext cx="257810" cy="257810"/>
          </a:xfrm>
          <a:prstGeom prst="roundRect">
            <a:avLst>
              <a:gd name="adj" fmla="val 30000"/>
            </a:avLst>
          </a:prstGeom>
          <a:solidFill>
            <a:srgbClr val="135B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p19_09"/>
          <p:cNvSpPr/>
          <p:nvPr/>
        </p:nvSpPr>
        <p:spPr>
          <a:xfrm>
            <a:off x="3252385" y="6940974"/>
            <a:ext cx="257810" cy="257810"/>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p19_10"/>
          <p:cNvSpPr/>
          <p:nvPr/>
        </p:nvSpPr>
        <p:spPr>
          <a:xfrm>
            <a:off x="3665125" y="6940974"/>
            <a:ext cx="257810" cy="257810"/>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p19_11"/>
          <p:cNvSpPr/>
          <p:nvPr/>
        </p:nvSpPr>
        <p:spPr>
          <a:xfrm>
            <a:off x="4077864" y="6940974"/>
            <a:ext cx="257810" cy="257810"/>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p19_12"/>
          <p:cNvSpPr/>
          <p:nvPr/>
        </p:nvSpPr>
        <p:spPr>
          <a:xfrm>
            <a:off x="4490604" y="6940974"/>
            <a:ext cx="257810" cy="257810"/>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p19_13"/>
          <p:cNvSpPr/>
          <p:nvPr/>
        </p:nvSpPr>
        <p:spPr>
          <a:xfrm>
            <a:off x="4903344" y="6940974"/>
            <a:ext cx="257810" cy="257810"/>
          </a:xfrm>
          <a:prstGeom prst="roundRect">
            <a:avLst>
              <a:gd name="adj" fmla="val 30000"/>
            </a:avLst>
          </a:prstGeom>
          <a:solidFill>
            <a:srgbClr val="0F4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p20_06"/>
          <p:cNvSpPr/>
          <p:nvPr/>
        </p:nvSpPr>
        <p:spPr>
          <a:xfrm>
            <a:off x="2014166" y="6641195"/>
            <a:ext cx="257810" cy="257810"/>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p20_07"/>
          <p:cNvSpPr/>
          <p:nvPr/>
        </p:nvSpPr>
        <p:spPr>
          <a:xfrm>
            <a:off x="2426905" y="6641195"/>
            <a:ext cx="257810" cy="257810"/>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p20_08"/>
          <p:cNvSpPr/>
          <p:nvPr/>
        </p:nvSpPr>
        <p:spPr>
          <a:xfrm>
            <a:off x="2839645" y="6641195"/>
            <a:ext cx="257810" cy="257810"/>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p20_09"/>
          <p:cNvSpPr/>
          <p:nvPr/>
        </p:nvSpPr>
        <p:spPr>
          <a:xfrm>
            <a:off x="3252385" y="6641195"/>
            <a:ext cx="257810" cy="257810"/>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p20_10"/>
          <p:cNvSpPr/>
          <p:nvPr/>
        </p:nvSpPr>
        <p:spPr>
          <a:xfrm>
            <a:off x="3665125" y="6641195"/>
            <a:ext cx="257810" cy="257810"/>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p20_11"/>
          <p:cNvSpPr/>
          <p:nvPr/>
        </p:nvSpPr>
        <p:spPr>
          <a:xfrm>
            <a:off x="4077864" y="6641195"/>
            <a:ext cx="257810" cy="257810"/>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p20_12"/>
          <p:cNvSpPr/>
          <p:nvPr/>
        </p:nvSpPr>
        <p:spPr>
          <a:xfrm>
            <a:off x="4490604" y="6641195"/>
            <a:ext cx="257810" cy="257810"/>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p20_13"/>
          <p:cNvSpPr/>
          <p:nvPr/>
        </p:nvSpPr>
        <p:spPr>
          <a:xfrm>
            <a:off x="4903344" y="6641195"/>
            <a:ext cx="257810" cy="257810"/>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p21_05"/>
          <p:cNvSpPr/>
          <p:nvPr/>
        </p:nvSpPr>
        <p:spPr>
          <a:xfrm>
            <a:off x="1601426" y="6341416"/>
            <a:ext cx="257810" cy="257810"/>
          </a:xfrm>
          <a:prstGeom prst="roundRect">
            <a:avLst>
              <a:gd name="adj" fmla="val 30000"/>
            </a:avLst>
          </a:prstGeom>
          <a:solidFill>
            <a:srgbClr val="1358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p21_06"/>
          <p:cNvSpPr/>
          <p:nvPr/>
        </p:nvSpPr>
        <p:spPr>
          <a:xfrm>
            <a:off x="2014166" y="6341416"/>
            <a:ext cx="257810" cy="257810"/>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p21_07"/>
          <p:cNvSpPr/>
          <p:nvPr/>
        </p:nvSpPr>
        <p:spPr>
          <a:xfrm>
            <a:off x="2426905" y="6341416"/>
            <a:ext cx="257810" cy="257810"/>
          </a:xfrm>
          <a:prstGeom prst="roundRect">
            <a:avLst>
              <a:gd name="adj" fmla="val 30000"/>
            </a:avLst>
          </a:prstGeom>
          <a:solidFill>
            <a:srgbClr val="2B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p21_08"/>
          <p:cNvSpPr/>
          <p:nvPr/>
        </p:nvSpPr>
        <p:spPr>
          <a:xfrm>
            <a:off x="2839645" y="6341416"/>
            <a:ext cx="257810" cy="257810"/>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p21_09"/>
          <p:cNvSpPr/>
          <p:nvPr/>
        </p:nvSpPr>
        <p:spPr>
          <a:xfrm>
            <a:off x="3252385" y="6341416"/>
            <a:ext cx="257810" cy="257810"/>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p21_10"/>
          <p:cNvSpPr/>
          <p:nvPr/>
        </p:nvSpPr>
        <p:spPr>
          <a:xfrm>
            <a:off x="3665125" y="6341416"/>
            <a:ext cx="257810" cy="257810"/>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p21_11"/>
          <p:cNvSpPr/>
          <p:nvPr/>
        </p:nvSpPr>
        <p:spPr>
          <a:xfrm>
            <a:off x="4077864" y="6341416"/>
            <a:ext cx="257810" cy="257810"/>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p21_12"/>
          <p:cNvSpPr/>
          <p:nvPr/>
        </p:nvSpPr>
        <p:spPr>
          <a:xfrm>
            <a:off x="4490604" y="6341416"/>
            <a:ext cx="257810" cy="257810"/>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p21_13"/>
          <p:cNvSpPr/>
          <p:nvPr/>
        </p:nvSpPr>
        <p:spPr>
          <a:xfrm>
            <a:off x="4903344" y="6341416"/>
            <a:ext cx="257810" cy="257810"/>
          </a:xfrm>
          <a:prstGeom prst="roundRect">
            <a:avLst>
              <a:gd name="adj" fmla="val 30000"/>
            </a:avLst>
          </a:prstGeom>
          <a:solidFill>
            <a:srgbClr val="166A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p22_05"/>
          <p:cNvSpPr/>
          <p:nvPr/>
        </p:nvSpPr>
        <p:spPr>
          <a:xfrm>
            <a:off x="1601426" y="6041636"/>
            <a:ext cx="257810" cy="257810"/>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p22_06"/>
          <p:cNvSpPr/>
          <p:nvPr/>
        </p:nvSpPr>
        <p:spPr>
          <a:xfrm>
            <a:off x="2014166" y="6041636"/>
            <a:ext cx="257810" cy="257810"/>
          </a:xfrm>
          <a:prstGeom prst="roundRect">
            <a:avLst>
              <a:gd name="adj" fmla="val 30000"/>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p22_07"/>
          <p:cNvSpPr/>
          <p:nvPr/>
        </p:nvSpPr>
        <p:spPr>
          <a:xfrm>
            <a:off x="2426905" y="6041636"/>
            <a:ext cx="257810" cy="257810"/>
          </a:xfrm>
          <a:prstGeom prst="roundRect">
            <a:avLst>
              <a:gd name="adj" fmla="val 30000"/>
            </a:avLst>
          </a:prstGeom>
          <a:solidFill>
            <a:srgbClr val="70C1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p22_08"/>
          <p:cNvSpPr/>
          <p:nvPr/>
        </p:nvSpPr>
        <p:spPr>
          <a:xfrm>
            <a:off x="2839645" y="6041636"/>
            <a:ext cx="257810" cy="257810"/>
          </a:xfrm>
          <a:prstGeom prst="roundRect">
            <a:avLst>
              <a:gd name="adj" fmla="val 30000"/>
            </a:avLst>
          </a:prstGeom>
          <a:solidFill>
            <a:srgbClr val="51BC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p22_09"/>
          <p:cNvSpPr/>
          <p:nvPr/>
        </p:nvSpPr>
        <p:spPr>
          <a:xfrm>
            <a:off x="3252385" y="6041636"/>
            <a:ext cx="257810" cy="257810"/>
          </a:xfrm>
          <a:prstGeom prst="roundRect">
            <a:avLst>
              <a:gd name="adj" fmla="val 30000"/>
            </a:avLst>
          </a:prstGeom>
          <a:solidFill>
            <a:srgbClr val="1B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p22_10"/>
          <p:cNvSpPr/>
          <p:nvPr/>
        </p:nvSpPr>
        <p:spPr>
          <a:xfrm>
            <a:off x="3665125" y="6041636"/>
            <a:ext cx="257810" cy="257810"/>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p22_11"/>
          <p:cNvSpPr/>
          <p:nvPr/>
        </p:nvSpPr>
        <p:spPr>
          <a:xfrm>
            <a:off x="4077864" y="6041636"/>
            <a:ext cx="257810" cy="257810"/>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p22_12"/>
          <p:cNvSpPr/>
          <p:nvPr/>
        </p:nvSpPr>
        <p:spPr>
          <a:xfrm>
            <a:off x="4490604" y="6041636"/>
            <a:ext cx="257810" cy="257810"/>
          </a:xfrm>
          <a:prstGeom prst="roundRect">
            <a:avLst>
              <a:gd name="adj" fmla="val 30000"/>
            </a:avLst>
          </a:prstGeom>
          <a:solidFill>
            <a:srgbClr val="2E9D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p22_13"/>
          <p:cNvSpPr/>
          <p:nvPr/>
        </p:nvSpPr>
        <p:spPr>
          <a:xfrm>
            <a:off x="4903344" y="6041636"/>
            <a:ext cx="257810" cy="257810"/>
          </a:xfrm>
          <a:prstGeom prst="roundRect">
            <a:avLst>
              <a:gd name="adj" fmla="val 30000"/>
            </a:avLst>
          </a:prstGeom>
          <a:solidFill>
            <a:srgbClr val="1A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p23_04"/>
          <p:cNvSpPr/>
          <p:nvPr/>
        </p:nvSpPr>
        <p:spPr>
          <a:xfrm>
            <a:off x="1188686" y="5741857"/>
            <a:ext cx="257810" cy="257810"/>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p23_05"/>
          <p:cNvSpPr/>
          <p:nvPr/>
        </p:nvSpPr>
        <p:spPr>
          <a:xfrm>
            <a:off x="1601426" y="5741857"/>
            <a:ext cx="257810" cy="257810"/>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p23_06"/>
          <p:cNvSpPr/>
          <p:nvPr/>
        </p:nvSpPr>
        <p:spPr>
          <a:xfrm>
            <a:off x="2014166" y="5741857"/>
            <a:ext cx="257810" cy="257810"/>
          </a:xfrm>
          <a:prstGeom prst="roundRect">
            <a:avLst>
              <a:gd name="adj" fmla="val 30000"/>
            </a:avLst>
          </a:prstGeom>
          <a:solidFill>
            <a:srgbClr val="62BF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p23_07"/>
          <p:cNvSpPr/>
          <p:nvPr/>
        </p:nvSpPr>
        <p:spPr>
          <a:xfrm>
            <a:off x="2426905" y="5741857"/>
            <a:ext cx="257810" cy="257810"/>
          </a:xfrm>
          <a:prstGeom prst="roundRect">
            <a:avLst>
              <a:gd name="adj" fmla="val 30000"/>
            </a:avLst>
          </a:prstGeom>
          <a:solidFill>
            <a:srgbClr val="FFBE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p23_08"/>
          <p:cNvSpPr/>
          <p:nvPr/>
        </p:nvSpPr>
        <p:spPr>
          <a:xfrm>
            <a:off x="2839645" y="5741857"/>
            <a:ext cx="257810" cy="257810"/>
          </a:xfrm>
          <a:prstGeom prst="roundRect">
            <a:avLst>
              <a:gd name="adj" fmla="val 30000"/>
            </a:avLst>
          </a:prstGeom>
          <a:solidFill>
            <a:srgbClr val="F4D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p23_09"/>
          <p:cNvSpPr/>
          <p:nvPr/>
        </p:nvSpPr>
        <p:spPr>
          <a:xfrm>
            <a:off x="3252385" y="5741857"/>
            <a:ext cx="257810" cy="257810"/>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p23_10"/>
          <p:cNvSpPr/>
          <p:nvPr/>
        </p:nvSpPr>
        <p:spPr>
          <a:xfrm>
            <a:off x="3665125" y="5741857"/>
            <a:ext cx="257810" cy="257810"/>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p23_11"/>
          <p:cNvSpPr/>
          <p:nvPr/>
        </p:nvSpPr>
        <p:spPr>
          <a:xfrm>
            <a:off x="4077864" y="5741857"/>
            <a:ext cx="257810" cy="257810"/>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p23_12"/>
          <p:cNvSpPr/>
          <p:nvPr/>
        </p:nvSpPr>
        <p:spPr>
          <a:xfrm>
            <a:off x="4490604" y="5741857"/>
            <a:ext cx="257810" cy="257810"/>
          </a:xfrm>
          <a:prstGeom prst="roundRect">
            <a:avLst>
              <a:gd name="adj" fmla="val 30000"/>
            </a:avLst>
          </a:prstGeom>
          <a:solidFill>
            <a:srgbClr val="39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p23_13"/>
          <p:cNvSpPr/>
          <p:nvPr/>
        </p:nvSpPr>
        <p:spPr>
          <a:xfrm>
            <a:off x="4903344" y="5741857"/>
            <a:ext cx="257810" cy="257810"/>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p23_14"/>
          <p:cNvSpPr/>
          <p:nvPr/>
        </p:nvSpPr>
        <p:spPr>
          <a:xfrm>
            <a:off x="5316083" y="5741857"/>
            <a:ext cx="257810" cy="257810"/>
          </a:xfrm>
          <a:prstGeom prst="roundRect">
            <a:avLst>
              <a:gd name="adj" fmla="val 30000"/>
            </a:avLst>
          </a:prstGeom>
          <a:solidFill>
            <a:srgbClr val="0F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p24_04"/>
          <p:cNvSpPr/>
          <p:nvPr/>
        </p:nvSpPr>
        <p:spPr>
          <a:xfrm>
            <a:off x="1188686" y="5442077"/>
            <a:ext cx="257810" cy="257810"/>
          </a:xfrm>
          <a:prstGeom prst="roundRect">
            <a:avLst>
              <a:gd name="adj" fmla="val 30000"/>
            </a:avLst>
          </a:prstGeom>
          <a:solidFill>
            <a:srgbClr val="22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p24_05"/>
          <p:cNvSpPr/>
          <p:nvPr/>
        </p:nvSpPr>
        <p:spPr>
          <a:xfrm>
            <a:off x="1601426" y="5442077"/>
            <a:ext cx="257810" cy="257810"/>
          </a:xfrm>
          <a:prstGeom prst="roundRect">
            <a:avLst>
              <a:gd name="adj" fmla="val 30000"/>
            </a:avLst>
          </a:prstGeom>
          <a:solidFill>
            <a:srgbClr val="5DBE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p24_06"/>
          <p:cNvSpPr/>
          <p:nvPr/>
        </p:nvSpPr>
        <p:spPr>
          <a:xfrm>
            <a:off x="2014166" y="5442077"/>
            <a:ext cx="257810" cy="257810"/>
          </a:xfrm>
          <a:prstGeom prst="roundRect">
            <a:avLst>
              <a:gd name="adj" fmla="val 30000"/>
            </a:avLst>
          </a:prstGeom>
          <a:solidFill>
            <a:srgbClr val="DBCE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p24_07"/>
          <p:cNvSpPr/>
          <p:nvPr/>
        </p:nvSpPr>
        <p:spPr>
          <a:xfrm>
            <a:off x="2426905" y="5442077"/>
            <a:ext cx="257810" cy="257810"/>
          </a:xfrm>
          <a:prstGeom prst="roundRect">
            <a:avLst>
              <a:gd name="adj" fmla="val 30000"/>
            </a:avLst>
          </a:prstGeom>
          <a:solidFill>
            <a:srgbClr val="FF89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 name="!!p24_08"/>
          <p:cNvSpPr/>
          <p:nvPr/>
        </p:nvSpPr>
        <p:spPr>
          <a:xfrm>
            <a:off x="2839645" y="5442077"/>
            <a:ext cx="257810" cy="257810"/>
          </a:xfrm>
          <a:prstGeom prst="roundRect">
            <a:avLst>
              <a:gd name="adj" fmla="val 30000"/>
            </a:avLst>
          </a:prstGeom>
          <a:solidFill>
            <a:srgbClr val="FFA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p24_09"/>
          <p:cNvSpPr/>
          <p:nvPr/>
        </p:nvSpPr>
        <p:spPr>
          <a:xfrm>
            <a:off x="3252385" y="5442077"/>
            <a:ext cx="257810" cy="257810"/>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p24_10"/>
          <p:cNvSpPr/>
          <p:nvPr/>
        </p:nvSpPr>
        <p:spPr>
          <a:xfrm>
            <a:off x="3665125" y="5442077"/>
            <a:ext cx="257810" cy="257810"/>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p24_11"/>
          <p:cNvSpPr/>
          <p:nvPr/>
        </p:nvSpPr>
        <p:spPr>
          <a:xfrm>
            <a:off x="4077864" y="5442077"/>
            <a:ext cx="257810" cy="257810"/>
          </a:xfrm>
          <a:prstGeom prst="roundRect">
            <a:avLst>
              <a:gd name="adj" fmla="val 30000"/>
            </a:avLst>
          </a:prstGeom>
          <a:solidFill>
            <a:srgbClr val="1C88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p24_12"/>
          <p:cNvSpPr/>
          <p:nvPr/>
        </p:nvSpPr>
        <p:spPr>
          <a:xfrm>
            <a:off x="4490604" y="5442077"/>
            <a:ext cx="257810" cy="257810"/>
          </a:xfrm>
          <a:prstGeom prst="roundRect">
            <a:avLst>
              <a:gd name="adj" fmla="val 30000"/>
            </a:avLst>
          </a:prstGeom>
          <a:solidFill>
            <a:srgbClr val="36A4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p24_13"/>
          <p:cNvSpPr/>
          <p:nvPr/>
        </p:nvSpPr>
        <p:spPr>
          <a:xfrm>
            <a:off x="4903344" y="5442077"/>
            <a:ext cx="257810" cy="257810"/>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p24_14"/>
          <p:cNvSpPr/>
          <p:nvPr/>
        </p:nvSpPr>
        <p:spPr>
          <a:xfrm>
            <a:off x="5316083" y="5442077"/>
            <a:ext cx="257810" cy="257810"/>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p25_04"/>
          <p:cNvSpPr/>
          <p:nvPr/>
        </p:nvSpPr>
        <p:spPr>
          <a:xfrm>
            <a:off x="1188686" y="5142298"/>
            <a:ext cx="257810" cy="257810"/>
          </a:xfrm>
          <a:prstGeom prst="roundRect">
            <a:avLst>
              <a:gd name="adj" fmla="val 30000"/>
            </a:avLst>
          </a:prstGeom>
          <a:solidFill>
            <a:srgbClr val="2E9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p25_05"/>
          <p:cNvSpPr/>
          <p:nvPr/>
        </p:nvSpPr>
        <p:spPr>
          <a:xfrm>
            <a:off x="1601426" y="5142298"/>
            <a:ext cx="257810" cy="257810"/>
          </a:xfrm>
          <a:prstGeom prst="roundRect">
            <a:avLst>
              <a:gd name="adj" fmla="val 30000"/>
            </a:avLst>
          </a:prstGeom>
          <a:solidFill>
            <a:srgbClr val="9CC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p25_06"/>
          <p:cNvSpPr/>
          <p:nvPr/>
        </p:nvSpPr>
        <p:spPr>
          <a:xfrm>
            <a:off x="2014166" y="5142298"/>
            <a:ext cx="257810" cy="257810"/>
          </a:xfrm>
          <a:prstGeom prst="roundRect">
            <a:avLst>
              <a:gd name="adj" fmla="val 30000"/>
            </a:avLst>
          </a:prstGeom>
          <a:solidFill>
            <a:srgbClr val="FFD1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p25_07"/>
          <p:cNvSpPr/>
          <p:nvPr/>
        </p:nvSpPr>
        <p:spPr>
          <a:xfrm>
            <a:off x="2426905" y="5142298"/>
            <a:ext cx="257810" cy="257810"/>
          </a:xfrm>
          <a:prstGeom prst="roundRect">
            <a:avLst>
              <a:gd name="adj" fmla="val 30000"/>
            </a:avLst>
          </a:prstGeom>
          <a:solidFill>
            <a:srgbClr val="FF84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p25_08"/>
          <p:cNvSpPr/>
          <p:nvPr/>
        </p:nvSpPr>
        <p:spPr>
          <a:xfrm>
            <a:off x="2839645" y="5142298"/>
            <a:ext cx="257810" cy="257810"/>
          </a:xfrm>
          <a:prstGeom prst="roundRect">
            <a:avLst>
              <a:gd name="adj" fmla="val 30000"/>
            </a:avLst>
          </a:prstGeom>
          <a:solidFill>
            <a:srgbClr val="FFA9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p25_09"/>
          <p:cNvSpPr/>
          <p:nvPr/>
        </p:nvSpPr>
        <p:spPr>
          <a:xfrm>
            <a:off x="3252385" y="5142298"/>
            <a:ext cx="257810" cy="257810"/>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p25_10"/>
          <p:cNvSpPr/>
          <p:nvPr/>
        </p:nvSpPr>
        <p:spPr>
          <a:xfrm>
            <a:off x="3665125" y="5142298"/>
            <a:ext cx="257810" cy="257810"/>
          </a:xfrm>
          <a:prstGeom prst="roundRect">
            <a:avLst>
              <a:gd name="adj" fmla="val 30000"/>
            </a:avLst>
          </a:prstGeom>
          <a:solidFill>
            <a:srgbClr val="13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p25_11"/>
          <p:cNvSpPr/>
          <p:nvPr/>
        </p:nvSpPr>
        <p:spPr>
          <a:xfrm>
            <a:off x="4077864" y="5142298"/>
            <a:ext cx="257810" cy="257810"/>
          </a:xfrm>
          <a:prstGeom prst="roundRect">
            <a:avLst>
              <a:gd name="adj" fmla="val 30000"/>
            </a:avLst>
          </a:prstGeom>
          <a:solidFill>
            <a:srgbClr val="1876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p25_12"/>
          <p:cNvSpPr/>
          <p:nvPr/>
        </p:nvSpPr>
        <p:spPr>
          <a:xfrm>
            <a:off x="4490604" y="5142298"/>
            <a:ext cx="257810" cy="257810"/>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p25_13"/>
          <p:cNvSpPr/>
          <p:nvPr/>
        </p:nvSpPr>
        <p:spPr>
          <a:xfrm>
            <a:off x="4903344" y="5142298"/>
            <a:ext cx="257810" cy="257810"/>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p25_14"/>
          <p:cNvSpPr/>
          <p:nvPr/>
        </p:nvSpPr>
        <p:spPr>
          <a:xfrm>
            <a:off x="5316083" y="5142298"/>
            <a:ext cx="257810" cy="257810"/>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 name="!!p26_03"/>
          <p:cNvSpPr/>
          <p:nvPr/>
        </p:nvSpPr>
        <p:spPr>
          <a:xfrm>
            <a:off x="775947" y="4842519"/>
            <a:ext cx="257810" cy="257810"/>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p26_04"/>
          <p:cNvSpPr/>
          <p:nvPr/>
        </p:nvSpPr>
        <p:spPr>
          <a:xfrm>
            <a:off x="1188686" y="4842519"/>
            <a:ext cx="257810" cy="257810"/>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p26_05"/>
          <p:cNvSpPr/>
          <p:nvPr/>
        </p:nvSpPr>
        <p:spPr>
          <a:xfrm>
            <a:off x="1601426" y="4842519"/>
            <a:ext cx="257810" cy="257810"/>
          </a:xfrm>
          <a:prstGeom prst="roundRect">
            <a:avLst>
              <a:gd name="adj" fmla="val 30000"/>
            </a:avLst>
          </a:prstGeom>
          <a:solidFill>
            <a:srgbClr val="7DC2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p26_06"/>
          <p:cNvSpPr/>
          <p:nvPr/>
        </p:nvSpPr>
        <p:spPr>
          <a:xfrm>
            <a:off x="2014166" y="4842519"/>
            <a:ext cx="257810" cy="257810"/>
          </a:xfrm>
          <a:prstGeom prst="roundRect">
            <a:avLst>
              <a:gd name="adj" fmla="val 30000"/>
            </a:avLst>
          </a:prstGeom>
          <a:solidFill>
            <a:srgbClr val="BDCA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p26_07"/>
          <p:cNvSpPr/>
          <p:nvPr/>
        </p:nvSpPr>
        <p:spPr>
          <a:xfrm>
            <a:off x="2426905" y="4842519"/>
            <a:ext cx="257810" cy="257810"/>
          </a:xfrm>
          <a:prstGeom prst="roundRect">
            <a:avLst>
              <a:gd name="adj" fmla="val 30000"/>
            </a:avLst>
          </a:prstGeom>
          <a:solidFill>
            <a:srgbClr val="FFB3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 name="!!p26_08"/>
          <p:cNvSpPr/>
          <p:nvPr/>
        </p:nvSpPr>
        <p:spPr>
          <a:xfrm>
            <a:off x="2839645" y="4842519"/>
            <a:ext cx="257810" cy="257810"/>
          </a:xfrm>
          <a:prstGeom prst="roundRect">
            <a:avLst>
              <a:gd name="adj" fmla="val 30000"/>
            </a:avLst>
          </a:prstGeom>
          <a:solidFill>
            <a:srgbClr val="F7D1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 name="!!p26_09"/>
          <p:cNvSpPr/>
          <p:nvPr/>
        </p:nvSpPr>
        <p:spPr>
          <a:xfrm>
            <a:off x="3252385" y="4842519"/>
            <a:ext cx="257810" cy="257810"/>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 name="!!p26_10"/>
          <p:cNvSpPr/>
          <p:nvPr/>
        </p:nvSpPr>
        <p:spPr>
          <a:xfrm>
            <a:off x="3665125" y="4842519"/>
            <a:ext cx="257810" cy="257810"/>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p26_11"/>
          <p:cNvSpPr/>
          <p:nvPr/>
        </p:nvSpPr>
        <p:spPr>
          <a:xfrm>
            <a:off x="4077864" y="4842519"/>
            <a:ext cx="257810" cy="257810"/>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 name="!!p26_12"/>
          <p:cNvSpPr/>
          <p:nvPr/>
        </p:nvSpPr>
        <p:spPr>
          <a:xfrm>
            <a:off x="4490604" y="4842519"/>
            <a:ext cx="257810" cy="257810"/>
          </a:xfrm>
          <a:prstGeom prst="roundRect">
            <a:avLst>
              <a:gd name="adj" fmla="val 30000"/>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 name="!!p26_13"/>
          <p:cNvSpPr/>
          <p:nvPr/>
        </p:nvSpPr>
        <p:spPr>
          <a:xfrm>
            <a:off x="4903344" y="4842519"/>
            <a:ext cx="257810" cy="257810"/>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 name="!!p26_14"/>
          <p:cNvSpPr/>
          <p:nvPr/>
        </p:nvSpPr>
        <p:spPr>
          <a:xfrm>
            <a:off x="5316083" y="4842519"/>
            <a:ext cx="257810" cy="257810"/>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 name="!!p27_03"/>
          <p:cNvSpPr/>
          <p:nvPr/>
        </p:nvSpPr>
        <p:spPr>
          <a:xfrm>
            <a:off x="775947" y="4542739"/>
            <a:ext cx="257810" cy="257810"/>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 name="!!p27_04"/>
          <p:cNvSpPr/>
          <p:nvPr/>
        </p:nvSpPr>
        <p:spPr>
          <a:xfrm>
            <a:off x="1188686" y="4542739"/>
            <a:ext cx="257810" cy="257810"/>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 name="!!p27_05"/>
          <p:cNvSpPr/>
          <p:nvPr/>
        </p:nvSpPr>
        <p:spPr>
          <a:xfrm>
            <a:off x="1601426" y="4542739"/>
            <a:ext cx="257810" cy="257810"/>
          </a:xfrm>
          <a:prstGeom prst="roundRect">
            <a:avLst>
              <a:gd name="adj" fmla="val 30000"/>
            </a:avLst>
          </a:prstGeom>
          <a:solidFill>
            <a:srgbClr val="40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 name="!!p27_06"/>
          <p:cNvSpPr/>
          <p:nvPr/>
        </p:nvSpPr>
        <p:spPr>
          <a:xfrm>
            <a:off x="2014166" y="4542739"/>
            <a:ext cx="257810" cy="257810"/>
          </a:xfrm>
          <a:prstGeom prst="roundRect">
            <a:avLst>
              <a:gd name="adj" fmla="val 30000"/>
            </a:avLst>
          </a:prstGeom>
          <a:solidFill>
            <a:srgbClr val="48B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 name="!!p27_07"/>
          <p:cNvSpPr/>
          <p:nvPr/>
        </p:nvSpPr>
        <p:spPr>
          <a:xfrm>
            <a:off x="2426905" y="4542739"/>
            <a:ext cx="257810" cy="257810"/>
          </a:xfrm>
          <a:prstGeom prst="roundRect">
            <a:avLst>
              <a:gd name="adj" fmla="val 30000"/>
            </a:avLst>
          </a:prstGeom>
          <a:solidFill>
            <a:srgbClr val="85C3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 name="!!p27_08"/>
          <p:cNvSpPr/>
          <p:nvPr/>
        </p:nvSpPr>
        <p:spPr>
          <a:xfrm>
            <a:off x="2839645" y="4542739"/>
            <a:ext cx="257810" cy="257810"/>
          </a:xfrm>
          <a:prstGeom prst="roundRect">
            <a:avLst>
              <a:gd name="adj" fmla="val 30000"/>
            </a:avLst>
          </a:prstGeom>
          <a:solidFill>
            <a:srgbClr val="4FB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 name="!!p27_09"/>
          <p:cNvSpPr/>
          <p:nvPr/>
        </p:nvSpPr>
        <p:spPr>
          <a:xfrm>
            <a:off x="3252385" y="4542739"/>
            <a:ext cx="257810" cy="257810"/>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 name="!!p27_10"/>
          <p:cNvSpPr/>
          <p:nvPr/>
        </p:nvSpPr>
        <p:spPr>
          <a:xfrm>
            <a:off x="3665125" y="4542739"/>
            <a:ext cx="257810" cy="257810"/>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 name="!!p27_11"/>
          <p:cNvSpPr/>
          <p:nvPr/>
        </p:nvSpPr>
        <p:spPr>
          <a:xfrm>
            <a:off x="4077864" y="4542739"/>
            <a:ext cx="257810" cy="257810"/>
          </a:xfrm>
          <a:prstGeom prst="roundRect">
            <a:avLst>
              <a:gd name="adj" fmla="val 30000"/>
            </a:avLst>
          </a:prstGeom>
          <a:solidFill>
            <a:srgbClr val="0F45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p27_12"/>
          <p:cNvSpPr/>
          <p:nvPr/>
        </p:nvSpPr>
        <p:spPr>
          <a:xfrm>
            <a:off x="4490604" y="4542739"/>
            <a:ext cx="257810" cy="257810"/>
          </a:xfrm>
          <a:prstGeom prst="roundRect">
            <a:avLst>
              <a:gd name="adj" fmla="val 30000"/>
            </a:avLst>
          </a:prstGeom>
          <a:solidFill>
            <a:srgbClr val="1150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 name="!!p27_13"/>
          <p:cNvSpPr/>
          <p:nvPr/>
        </p:nvSpPr>
        <p:spPr>
          <a:xfrm>
            <a:off x="4903344" y="4542739"/>
            <a:ext cx="257810" cy="257810"/>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 name="!!p27_14"/>
          <p:cNvSpPr/>
          <p:nvPr/>
        </p:nvSpPr>
        <p:spPr>
          <a:xfrm>
            <a:off x="5316083" y="4542739"/>
            <a:ext cx="257810" cy="257810"/>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p28_03"/>
          <p:cNvSpPr/>
          <p:nvPr/>
        </p:nvSpPr>
        <p:spPr>
          <a:xfrm>
            <a:off x="775947" y="4242960"/>
            <a:ext cx="257810" cy="257810"/>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p28_04"/>
          <p:cNvSpPr/>
          <p:nvPr/>
        </p:nvSpPr>
        <p:spPr>
          <a:xfrm>
            <a:off x="1188686" y="4242960"/>
            <a:ext cx="257810" cy="257810"/>
          </a:xfrm>
          <a:prstGeom prst="roundRect">
            <a:avLst>
              <a:gd name="adj" fmla="val 30000"/>
            </a:avLst>
          </a:prstGeom>
          <a:solidFill>
            <a:srgbClr val="1460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 name="!!p28_05"/>
          <p:cNvSpPr/>
          <p:nvPr/>
        </p:nvSpPr>
        <p:spPr>
          <a:xfrm>
            <a:off x="1601426" y="4242960"/>
            <a:ext cx="257810" cy="257810"/>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 name="!!p28_06"/>
          <p:cNvSpPr/>
          <p:nvPr/>
        </p:nvSpPr>
        <p:spPr>
          <a:xfrm>
            <a:off x="2014166" y="4242960"/>
            <a:ext cx="257810" cy="257810"/>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 name="!!p28_07"/>
          <p:cNvSpPr/>
          <p:nvPr/>
        </p:nvSpPr>
        <p:spPr>
          <a:xfrm>
            <a:off x="2426905" y="4242960"/>
            <a:ext cx="257810" cy="257810"/>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 name="!!p28_08"/>
          <p:cNvSpPr/>
          <p:nvPr/>
        </p:nvSpPr>
        <p:spPr>
          <a:xfrm>
            <a:off x="2839645" y="4242960"/>
            <a:ext cx="257810" cy="257810"/>
          </a:xfrm>
          <a:prstGeom prst="roundRect">
            <a:avLst>
              <a:gd name="adj" fmla="val 30000"/>
            </a:avLst>
          </a:prstGeom>
          <a:solidFill>
            <a:srgbClr val="1F8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 name="!!p28_09"/>
          <p:cNvSpPr/>
          <p:nvPr/>
        </p:nvSpPr>
        <p:spPr>
          <a:xfrm>
            <a:off x="3252385" y="4242960"/>
            <a:ext cx="257810" cy="257810"/>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 name="!!p28_10"/>
          <p:cNvSpPr/>
          <p:nvPr/>
        </p:nvSpPr>
        <p:spPr>
          <a:xfrm>
            <a:off x="3665125" y="4242960"/>
            <a:ext cx="257810" cy="257810"/>
          </a:xfrm>
          <a:prstGeom prst="roundRect">
            <a:avLst>
              <a:gd name="adj" fmla="val 30000"/>
            </a:avLst>
          </a:prstGeom>
          <a:solidFill>
            <a:srgbClr val="0C38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 name="!!p28_11"/>
          <p:cNvSpPr/>
          <p:nvPr/>
        </p:nvSpPr>
        <p:spPr>
          <a:xfrm>
            <a:off x="4077864" y="4242960"/>
            <a:ext cx="257810" cy="257810"/>
          </a:xfrm>
          <a:prstGeom prst="roundRect">
            <a:avLst>
              <a:gd name="adj" fmla="val 30000"/>
            </a:avLst>
          </a:prstGeom>
          <a:solidFill>
            <a:srgbClr val="0C37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 name="!!p28_12"/>
          <p:cNvSpPr/>
          <p:nvPr/>
        </p:nvSpPr>
        <p:spPr>
          <a:xfrm>
            <a:off x="4490604" y="4242960"/>
            <a:ext cx="257810" cy="257810"/>
          </a:xfrm>
          <a:prstGeom prst="roundRect">
            <a:avLst>
              <a:gd name="adj" fmla="val 30000"/>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 name="!!p28_13"/>
          <p:cNvSpPr/>
          <p:nvPr/>
        </p:nvSpPr>
        <p:spPr>
          <a:xfrm>
            <a:off x="4903344" y="4242960"/>
            <a:ext cx="257810" cy="257810"/>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 name="!!p28_14"/>
          <p:cNvSpPr/>
          <p:nvPr/>
        </p:nvSpPr>
        <p:spPr>
          <a:xfrm>
            <a:off x="5316083" y="4242960"/>
            <a:ext cx="257810" cy="257810"/>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 name="!!p29_03"/>
          <p:cNvSpPr/>
          <p:nvPr/>
        </p:nvSpPr>
        <p:spPr>
          <a:xfrm>
            <a:off x="775947" y="3943181"/>
            <a:ext cx="257810" cy="257810"/>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p29_04"/>
          <p:cNvSpPr/>
          <p:nvPr/>
        </p:nvSpPr>
        <p:spPr>
          <a:xfrm>
            <a:off x="1188686" y="3943181"/>
            <a:ext cx="257810" cy="257810"/>
          </a:xfrm>
          <a:prstGeom prst="roundRect">
            <a:avLst>
              <a:gd name="adj" fmla="val 30000"/>
            </a:avLst>
          </a:prstGeom>
          <a:solidFill>
            <a:srgbClr val="0F44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 name="!!p29_05"/>
          <p:cNvSpPr/>
          <p:nvPr/>
        </p:nvSpPr>
        <p:spPr>
          <a:xfrm>
            <a:off x="1601426" y="3943181"/>
            <a:ext cx="257810" cy="257810"/>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p29_06"/>
          <p:cNvSpPr/>
          <p:nvPr/>
        </p:nvSpPr>
        <p:spPr>
          <a:xfrm>
            <a:off x="2014166" y="3943181"/>
            <a:ext cx="257810" cy="257810"/>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 name="!!p29_07"/>
          <p:cNvSpPr/>
          <p:nvPr/>
        </p:nvSpPr>
        <p:spPr>
          <a:xfrm>
            <a:off x="2426905" y="3943181"/>
            <a:ext cx="257810" cy="257810"/>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 name="!!p29_08"/>
          <p:cNvSpPr/>
          <p:nvPr/>
        </p:nvSpPr>
        <p:spPr>
          <a:xfrm>
            <a:off x="2839645" y="3943181"/>
            <a:ext cx="257810" cy="257810"/>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 name="!!p29_09"/>
          <p:cNvSpPr/>
          <p:nvPr/>
        </p:nvSpPr>
        <p:spPr>
          <a:xfrm>
            <a:off x="3252385" y="3943181"/>
            <a:ext cx="257810" cy="257810"/>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 name="!!p29_10"/>
          <p:cNvSpPr/>
          <p:nvPr/>
        </p:nvSpPr>
        <p:spPr>
          <a:xfrm>
            <a:off x="3665125" y="3943181"/>
            <a:ext cx="257810" cy="257810"/>
          </a:xfrm>
          <a:prstGeom prst="roundRect">
            <a:avLst>
              <a:gd name="adj" fmla="val 30000"/>
            </a:avLst>
          </a:prstGeom>
          <a:solidFill>
            <a:srgbClr val="0B3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 name="!!p29_11"/>
          <p:cNvSpPr/>
          <p:nvPr/>
        </p:nvSpPr>
        <p:spPr>
          <a:xfrm>
            <a:off x="4077864" y="3943181"/>
            <a:ext cx="257810" cy="257810"/>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3" name="!!p29_12"/>
          <p:cNvSpPr/>
          <p:nvPr/>
        </p:nvSpPr>
        <p:spPr>
          <a:xfrm>
            <a:off x="4490604" y="3943181"/>
            <a:ext cx="257810" cy="257810"/>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p29_13"/>
          <p:cNvSpPr/>
          <p:nvPr/>
        </p:nvSpPr>
        <p:spPr>
          <a:xfrm>
            <a:off x="4903344" y="3943181"/>
            <a:ext cx="257810" cy="257810"/>
          </a:xfrm>
          <a:prstGeom prst="roundRect">
            <a:avLst>
              <a:gd name="adj" fmla="val 30000"/>
            </a:avLst>
          </a:prstGeom>
          <a:solidFill>
            <a:srgbClr val="0A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5" name="!!p30_03"/>
          <p:cNvSpPr/>
          <p:nvPr/>
        </p:nvSpPr>
        <p:spPr>
          <a:xfrm>
            <a:off x="775947" y="3643401"/>
            <a:ext cx="257810" cy="257810"/>
          </a:xfrm>
          <a:prstGeom prst="roundRect">
            <a:avLst>
              <a:gd name="adj" fmla="val 30000"/>
            </a:avLst>
          </a:prstGeom>
          <a:solidFill>
            <a:srgbClr val="0B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6" name="!!p30_04"/>
          <p:cNvSpPr/>
          <p:nvPr/>
        </p:nvSpPr>
        <p:spPr>
          <a:xfrm>
            <a:off x="1188686" y="3643401"/>
            <a:ext cx="257810" cy="257810"/>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7" name="!!p30_05"/>
          <p:cNvSpPr/>
          <p:nvPr/>
        </p:nvSpPr>
        <p:spPr>
          <a:xfrm>
            <a:off x="1601426" y="3643401"/>
            <a:ext cx="257810" cy="257810"/>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8" name="!!p30_06"/>
          <p:cNvSpPr/>
          <p:nvPr/>
        </p:nvSpPr>
        <p:spPr>
          <a:xfrm>
            <a:off x="2014166" y="3643401"/>
            <a:ext cx="257810" cy="257810"/>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9" name="!!p30_07"/>
          <p:cNvSpPr/>
          <p:nvPr/>
        </p:nvSpPr>
        <p:spPr>
          <a:xfrm>
            <a:off x="2426905" y="3643401"/>
            <a:ext cx="257810" cy="257810"/>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0" name="!!p30_08"/>
          <p:cNvSpPr/>
          <p:nvPr/>
        </p:nvSpPr>
        <p:spPr>
          <a:xfrm>
            <a:off x="2839645" y="3643401"/>
            <a:ext cx="257810" cy="257810"/>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1" name="!!p30_09"/>
          <p:cNvSpPr/>
          <p:nvPr/>
        </p:nvSpPr>
        <p:spPr>
          <a:xfrm>
            <a:off x="3252385" y="3643401"/>
            <a:ext cx="257810" cy="257810"/>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2" name="!!p30_10"/>
          <p:cNvSpPr/>
          <p:nvPr/>
        </p:nvSpPr>
        <p:spPr>
          <a:xfrm>
            <a:off x="3665125" y="3643401"/>
            <a:ext cx="257810" cy="257810"/>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3" name="!!p30_11"/>
          <p:cNvSpPr/>
          <p:nvPr/>
        </p:nvSpPr>
        <p:spPr>
          <a:xfrm>
            <a:off x="4077864" y="3643401"/>
            <a:ext cx="257810" cy="257810"/>
          </a:xfrm>
          <a:prstGeom prst="roundRect">
            <a:avLst>
              <a:gd name="adj" fmla="val 30000"/>
            </a:avLst>
          </a:prstGeom>
          <a:solidFill>
            <a:srgbClr val="0B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4" name="!!p30_12"/>
          <p:cNvSpPr/>
          <p:nvPr/>
        </p:nvSpPr>
        <p:spPr>
          <a:xfrm>
            <a:off x="4490604" y="3643401"/>
            <a:ext cx="257810" cy="257810"/>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5" name="!!p30_13"/>
          <p:cNvSpPr/>
          <p:nvPr/>
        </p:nvSpPr>
        <p:spPr>
          <a:xfrm>
            <a:off x="4903344" y="3643401"/>
            <a:ext cx="257810" cy="257810"/>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6" name="!!p31_03"/>
          <p:cNvSpPr/>
          <p:nvPr/>
        </p:nvSpPr>
        <p:spPr>
          <a:xfrm>
            <a:off x="775947" y="3343622"/>
            <a:ext cx="257810" cy="257810"/>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7" name="!!p31_04"/>
          <p:cNvSpPr/>
          <p:nvPr/>
        </p:nvSpPr>
        <p:spPr>
          <a:xfrm>
            <a:off x="1188686" y="3343622"/>
            <a:ext cx="257810" cy="257810"/>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8" name="!!p31_05"/>
          <p:cNvSpPr/>
          <p:nvPr/>
        </p:nvSpPr>
        <p:spPr>
          <a:xfrm>
            <a:off x="1601426" y="3343622"/>
            <a:ext cx="257810" cy="257810"/>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9" name="!!p31_06"/>
          <p:cNvSpPr/>
          <p:nvPr/>
        </p:nvSpPr>
        <p:spPr>
          <a:xfrm>
            <a:off x="2014166" y="3343622"/>
            <a:ext cx="257810" cy="257810"/>
          </a:xfrm>
          <a:prstGeom prst="roundRect">
            <a:avLst>
              <a:gd name="adj" fmla="val 30000"/>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0" name="!!p31_07"/>
          <p:cNvSpPr/>
          <p:nvPr/>
        </p:nvSpPr>
        <p:spPr>
          <a:xfrm>
            <a:off x="2426905" y="3343622"/>
            <a:ext cx="257810" cy="257810"/>
          </a:xfrm>
          <a:prstGeom prst="roundRect">
            <a:avLst>
              <a:gd name="adj" fmla="val 30000"/>
            </a:avLst>
          </a:prstGeom>
          <a:solidFill>
            <a:srgbClr val="0B3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1" name="!!p31_08"/>
          <p:cNvSpPr/>
          <p:nvPr/>
        </p:nvSpPr>
        <p:spPr>
          <a:xfrm>
            <a:off x="2839645" y="3343622"/>
            <a:ext cx="257810" cy="257810"/>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2" name="!!p31_09"/>
          <p:cNvSpPr/>
          <p:nvPr/>
        </p:nvSpPr>
        <p:spPr>
          <a:xfrm>
            <a:off x="3252385" y="3343622"/>
            <a:ext cx="257810" cy="257810"/>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3" name="!!p31_10"/>
          <p:cNvSpPr/>
          <p:nvPr/>
        </p:nvSpPr>
        <p:spPr>
          <a:xfrm>
            <a:off x="3665125" y="3343622"/>
            <a:ext cx="257810" cy="257810"/>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4" name="!!p31_11"/>
          <p:cNvSpPr/>
          <p:nvPr/>
        </p:nvSpPr>
        <p:spPr>
          <a:xfrm>
            <a:off x="4077864" y="3343622"/>
            <a:ext cx="257810" cy="257810"/>
          </a:xfrm>
          <a:prstGeom prst="roundRect">
            <a:avLst>
              <a:gd name="adj" fmla="val 30000"/>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5" name="!!p31_12"/>
          <p:cNvSpPr/>
          <p:nvPr/>
        </p:nvSpPr>
        <p:spPr>
          <a:xfrm>
            <a:off x="4490604" y="3343622"/>
            <a:ext cx="257810" cy="257810"/>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6" name="!!p31_13"/>
          <p:cNvSpPr/>
          <p:nvPr/>
        </p:nvSpPr>
        <p:spPr>
          <a:xfrm>
            <a:off x="4903344" y="3343622"/>
            <a:ext cx="257810" cy="257810"/>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7" name="!!p32_03"/>
          <p:cNvSpPr/>
          <p:nvPr/>
        </p:nvSpPr>
        <p:spPr>
          <a:xfrm>
            <a:off x="775947" y="3043843"/>
            <a:ext cx="257810" cy="257810"/>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8" name="!!p32_04"/>
          <p:cNvSpPr/>
          <p:nvPr/>
        </p:nvSpPr>
        <p:spPr>
          <a:xfrm>
            <a:off x="1188686" y="3043843"/>
            <a:ext cx="257810" cy="257810"/>
          </a:xfrm>
          <a:prstGeom prst="roundRect">
            <a:avLst>
              <a:gd name="adj" fmla="val 30000"/>
            </a:avLst>
          </a:prstGeom>
          <a:solidFill>
            <a:srgbClr val="15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9" name="!!p32_05"/>
          <p:cNvSpPr/>
          <p:nvPr/>
        </p:nvSpPr>
        <p:spPr>
          <a:xfrm>
            <a:off x="1601426" y="3043843"/>
            <a:ext cx="257810" cy="257810"/>
          </a:xfrm>
          <a:prstGeom prst="roundRect">
            <a:avLst>
              <a:gd name="adj" fmla="val 30000"/>
            </a:avLst>
          </a:prstGeom>
          <a:solidFill>
            <a:srgbClr val="176D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0" name="!!p32_06"/>
          <p:cNvSpPr/>
          <p:nvPr/>
        </p:nvSpPr>
        <p:spPr>
          <a:xfrm>
            <a:off x="2014166" y="3043843"/>
            <a:ext cx="257810" cy="257810"/>
          </a:xfrm>
          <a:prstGeom prst="roundRect">
            <a:avLst>
              <a:gd name="adj" fmla="val 30000"/>
            </a:avLst>
          </a:prstGeom>
          <a:solidFill>
            <a:srgbClr val="0D3C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1" name="!!p32_07"/>
          <p:cNvSpPr/>
          <p:nvPr/>
        </p:nvSpPr>
        <p:spPr>
          <a:xfrm>
            <a:off x="2426905" y="3043843"/>
            <a:ext cx="257810" cy="257810"/>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2" name="!!p32_08"/>
          <p:cNvSpPr/>
          <p:nvPr/>
        </p:nvSpPr>
        <p:spPr>
          <a:xfrm>
            <a:off x="2839645" y="3043843"/>
            <a:ext cx="257810" cy="257810"/>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3" name="!!p32_09"/>
          <p:cNvSpPr/>
          <p:nvPr/>
        </p:nvSpPr>
        <p:spPr>
          <a:xfrm>
            <a:off x="3252385" y="3043843"/>
            <a:ext cx="257810" cy="257810"/>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4" name="!!p32_10"/>
          <p:cNvSpPr/>
          <p:nvPr/>
        </p:nvSpPr>
        <p:spPr>
          <a:xfrm>
            <a:off x="3665125" y="3043843"/>
            <a:ext cx="257810" cy="257810"/>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5" name="!!p32_11"/>
          <p:cNvSpPr/>
          <p:nvPr/>
        </p:nvSpPr>
        <p:spPr>
          <a:xfrm>
            <a:off x="4077864" y="3043843"/>
            <a:ext cx="257810" cy="257810"/>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6" name="!!p32_12"/>
          <p:cNvSpPr/>
          <p:nvPr/>
        </p:nvSpPr>
        <p:spPr>
          <a:xfrm>
            <a:off x="4490604" y="3043843"/>
            <a:ext cx="257810" cy="257810"/>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7" name="!!p33_03"/>
          <p:cNvSpPr/>
          <p:nvPr/>
        </p:nvSpPr>
        <p:spPr>
          <a:xfrm>
            <a:off x="775947" y="2744063"/>
            <a:ext cx="257810" cy="257810"/>
          </a:xfrm>
          <a:prstGeom prst="roundRect">
            <a:avLst>
              <a:gd name="adj" fmla="val 30000"/>
            </a:avLst>
          </a:prstGeom>
          <a:solidFill>
            <a:srgbClr val="0D38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8" name="!!p33_04"/>
          <p:cNvSpPr/>
          <p:nvPr/>
        </p:nvSpPr>
        <p:spPr>
          <a:xfrm>
            <a:off x="1188686" y="2744063"/>
            <a:ext cx="257810" cy="257810"/>
          </a:xfrm>
          <a:prstGeom prst="roundRect">
            <a:avLst>
              <a:gd name="adj" fmla="val 30000"/>
            </a:avLst>
          </a:prstGeom>
          <a:solidFill>
            <a:srgbClr val="1B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9" name="!!p33_05"/>
          <p:cNvSpPr/>
          <p:nvPr/>
        </p:nvSpPr>
        <p:spPr>
          <a:xfrm>
            <a:off x="1601426" y="2744063"/>
            <a:ext cx="257810" cy="257810"/>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0" name="!!p33_06"/>
          <p:cNvSpPr/>
          <p:nvPr/>
        </p:nvSpPr>
        <p:spPr>
          <a:xfrm>
            <a:off x="2014166" y="2744063"/>
            <a:ext cx="257810" cy="257810"/>
          </a:xfrm>
          <a:prstGeom prst="roundRect">
            <a:avLst>
              <a:gd name="adj" fmla="val 30000"/>
            </a:avLst>
          </a:prstGeom>
          <a:solidFill>
            <a:srgbClr val="0F44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1" name="!!p33_07"/>
          <p:cNvSpPr/>
          <p:nvPr/>
        </p:nvSpPr>
        <p:spPr>
          <a:xfrm>
            <a:off x="2426905" y="2744063"/>
            <a:ext cx="257810" cy="257810"/>
          </a:xfrm>
          <a:prstGeom prst="roundRect">
            <a:avLst>
              <a:gd name="adj" fmla="val 30000"/>
            </a:avLst>
          </a:prstGeom>
          <a:solidFill>
            <a:srgbClr val="0A31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2" name="!!p33_08"/>
          <p:cNvSpPr/>
          <p:nvPr/>
        </p:nvSpPr>
        <p:spPr>
          <a:xfrm>
            <a:off x="2839645" y="2744063"/>
            <a:ext cx="257810" cy="257810"/>
          </a:xfrm>
          <a:prstGeom prst="roundRect">
            <a:avLst>
              <a:gd name="adj" fmla="val 30000"/>
            </a:avLst>
          </a:prstGeom>
          <a:solidFill>
            <a:srgbClr val="0A2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3" name="!!p33_09"/>
          <p:cNvSpPr/>
          <p:nvPr/>
        </p:nvSpPr>
        <p:spPr>
          <a:xfrm>
            <a:off x="3252385" y="2744063"/>
            <a:ext cx="257810" cy="257810"/>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4" name="!!p33_10"/>
          <p:cNvSpPr/>
          <p:nvPr/>
        </p:nvSpPr>
        <p:spPr>
          <a:xfrm>
            <a:off x="3665125" y="2744063"/>
            <a:ext cx="257810" cy="257810"/>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5" name="!!p33_11"/>
          <p:cNvSpPr/>
          <p:nvPr/>
        </p:nvSpPr>
        <p:spPr>
          <a:xfrm>
            <a:off x="4077864" y="2744063"/>
            <a:ext cx="257810" cy="257810"/>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6" name="!!p33_12"/>
          <p:cNvSpPr/>
          <p:nvPr/>
        </p:nvSpPr>
        <p:spPr>
          <a:xfrm>
            <a:off x="4490604" y="2744063"/>
            <a:ext cx="257810" cy="257810"/>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7" name="!!p34_03"/>
          <p:cNvSpPr/>
          <p:nvPr/>
        </p:nvSpPr>
        <p:spPr>
          <a:xfrm>
            <a:off x="775947" y="2444284"/>
            <a:ext cx="257810" cy="257810"/>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8" name="!!p34_04"/>
          <p:cNvSpPr/>
          <p:nvPr/>
        </p:nvSpPr>
        <p:spPr>
          <a:xfrm>
            <a:off x="1188686" y="2444284"/>
            <a:ext cx="257810" cy="257810"/>
          </a:xfrm>
          <a:prstGeom prst="roundRect">
            <a:avLst>
              <a:gd name="adj" fmla="val 30000"/>
            </a:avLst>
          </a:prstGeom>
          <a:solidFill>
            <a:srgbClr val="20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9" name="!!p34_05"/>
          <p:cNvSpPr/>
          <p:nvPr/>
        </p:nvSpPr>
        <p:spPr>
          <a:xfrm>
            <a:off x="1601426" y="2444284"/>
            <a:ext cx="257810" cy="257810"/>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0" name="!!p34_06"/>
          <p:cNvSpPr/>
          <p:nvPr/>
        </p:nvSpPr>
        <p:spPr>
          <a:xfrm>
            <a:off x="2014166" y="2444284"/>
            <a:ext cx="257810" cy="257810"/>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1" name="!!p34_07"/>
          <p:cNvSpPr/>
          <p:nvPr/>
        </p:nvSpPr>
        <p:spPr>
          <a:xfrm>
            <a:off x="2426905" y="2444284"/>
            <a:ext cx="257810" cy="257810"/>
          </a:xfrm>
          <a:prstGeom prst="roundRect">
            <a:avLst>
              <a:gd name="adj" fmla="val 30000"/>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2" name="!!p34_08"/>
          <p:cNvSpPr/>
          <p:nvPr/>
        </p:nvSpPr>
        <p:spPr>
          <a:xfrm>
            <a:off x="2839645" y="2444284"/>
            <a:ext cx="257810" cy="257810"/>
          </a:xfrm>
          <a:prstGeom prst="roundRect">
            <a:avLst>
              <a:gd name="adj" fmla="val 30000"/>
            </a:avLst>
          </a:prstGeom>
          <a:solidFill>
            <a:srgbClr val="0A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3" name="!!p34_09"/>
          <p:cNvSpPr/>
          <p:nvPr/>
        </p:nvSpPr>
        <p:spPr>
          <a:xfrm>
            <a:off x="3252385" y="2444284"/>
            <a:ext cx="257810" cy="257810"/>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4" name="!!p34_10"/>
          <p:cNvSpPr/>
          <p:nvPr/>
        </p:nvSpPr>
        <p:spPr>
          <a:xfrm>
            <a:off x="3665125" y="2444284"/>
            <a:ext cx="257810" cy="257810"/>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5" name="!!p34_11"/>
          <p:cNvSpPr/>
          <p:nvPr/>
        </p:nvSpPr>
        <p:spPr>
          <a:xfrm>
            <a:off x="4077864" y="2444284"/>
            <a:ext cx="257810" cy="257810"/>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6" name="!!p35_04"/>
          <p:cNvSpPr/>
          <p:nvPr/>
        </p:nvSpPr>
        <p:spPr>
          <a:xfrm>
            <a:off x="1188686" y="2144505"/>
            <a:ext cx="257810" cy="257810"/>
          </a:xfrm>
          <a:prstGeom prst="roundRect">
            <a:avLst>
              <a:gd name="adj" fmla="val 30000"/>
            </a:avLst>
          </a:prstGeom>
          <a:solidFill>
            <a:srgbClr val="1B83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7" name="!!p35_05"/>
          <p:cNvSpPr/>
          <p:nvPr/>
        </p:nvSpPr>
        <p:spPr>
          <a:xfrm>
            <a:off x="1601426" y="2144505"/>
            <a:ext cx="257810" cy="257810"/>
          </a:xfrm>
          <a:prstGeom prst="roundRect">
            <a:avLst>
              <a:gd name="adj" fmla="val 30000"/>
            </a:avLst>
          </a:prstGeom>
          <a:solidFill>
            <a:srgbClr val="1D8B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8" name="!!p35_06"/>
          <p:cNvSpPr/>
          <p:nvPr/>
        </p:nvSpPr>
        <p:spPr>
          <a:xfrm>
            <a:off x="2014166" y="2144505"/>
            <a:ext cx="257810" cy="257810"/>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9" name="!!p35_07"/>
          <p:cNvSpPr/>
          <p:nvPr/>
        </p:nvSpPr>
        <p:spPr>
          <a:xfrm>
            <a:off x="2426905" y="2144505"/>
            <a:ext cx="257810" cy="257810"/>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0" name="!!p35_08"/>
          <p:cNvSpPr/>
          <p:nvPr/>
        </p:nvSpPr>
        <p:spPr>
          <a:xfrm>
            <a:off x="2839645" y="2144505"/>
            <a:ext cx="257810" cy="257810"/>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1" name="!!p35_09"/>
          <p:cNvSpPr/>
          <p:nvPr/>
        </p:nvSpPr>
        <p:spPr>
          <a:xfrm>
            <a:off x="3252385" y="2144505"/>
            <a:ext cx="257810" cy="257810"/>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2" name="!!p35_10"/>
          <p:cNvSpPr/>
          <p:nvPr/>
        </p:nvSpPr>
        <p:spPr>
          <a:xfrm>
            <a:off x="3665125" y="2144505"/>
            <a:ext cx="257810" cy="257810"/>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3" name="!!p35_11"/>
          <p:cNvSpPr/>
          <p:nvPr/>
        </p:nvSpPr>
        <p:spPr>
          <a:xfrm>
            <a:off x="4077864" y="2144505"/>
            <a:ext cx="257810" cy="257810"/>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4" name="!!p36_04"/>
          <p:cNvSpPr/>
          <p:nvPr/>
        </p:nvSpPr>
        <p:spPr>
          <a:xfrm>
            <a:off x="1188686" y="1844725"/>
            <a:ext cx="257810" cy="257810"/>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5" name="!!p36_05"/>
          <p:cNvSpPr/>
          <p:nvPr/>
        </p:nvSpPr>
        <p:spPr>
          <a:xfrm>
            <a:off x="1601426" y="1844725"/>
            <a:ext cx="257810" cy="257810"/>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6" name="!!p36_06"/>
          <p:cNvSpPr/>
          <p:nvPr/>
        </p:nvSpPr>
        <p:spPr>
          <a:xfrm>
            <a:off x="2014166" y="1844725"/>
            <a:ext cx="257810" cy="257810"/>
          </a:xfrm>
          <a:prstGeom prst="roundRect">
            <a:avLst>
              <a:gd name="adj" fmla="val 30000"/>
            </a:avLst>
          </a:prstGeom>
          <a:solidFill>
            <a:srgbClr val="0C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7" name="!!p36_07"/>
          <p:cNvSpPr/>
          <p:nvPr/>
        </p:nvSpPr>
        <p:spPr>
          <a:xfrm>
            <a:off x="2426905" y="1844725"/>
            <a:ext cx="257810" cy="257810"/>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8" name="!!p36_08"/>
          <p:cNvSpPr/>
          <p:nvPr/>
        </p:nvSpPr>
        <p:spPr>
          <a:xfrm>
            <a:off x="2839645" y="1844725"/>
            <a:ext cx="257810" cy="257810"/>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9" name="!!p36_09"/>
          <p:cNvSpPr/>
          <p:nvPr/>
        </p:nvSpPr>
        <p:spPr>
          <a:xfrm>
            <a:off x="3252385" y="1844725"/>
            <a:ext cx="257810" cy="257810"/>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0" name="!!p36_10"/>
          <p:cNvSpPr/>
          <p:nvPr/>
        </p:nvSpPr>
        <p:spPr>
          <a:xfrm>
            <a:off x="3665125" y="1844725"/>
            <a:ext cx="257810" cy="257810"/>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1" name="!!p37_04"/>
          <p:cNvSpPr/>
          <p:nvPr/>
        </p:nvSpPr>
        <p:spPr>
          <a:xfrm>
            <a:off x="1188686" y="1544946"/>
            <a:ext cx="257810" cy="257810"/>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2" name="!!p37_05"/>
          <p:cNvSpPr/>
          <p:nvPr/>
        </p:nvSpPr>
        <p:spPr>
          <a:xfrm>
            <a:off x="1601426" y="1544946"/>
            <a:ext cx="257810" cy="257810"/>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3" name="!!p37_06"/>
          <p:cNvSpPr/>
          <p:nvPr/>
        </p:nvSpPr>
        <p:spPr>
          <a:xfrm>
            <a:off x="2014166" y="1544946"/>
            <a:ext cx="257810" cy="257810"/>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4" name="!!p37_07"/>
          <p:cNvSpPr/>
          <p:nvPr/>
        </p:nvSpPr>
        <p:spPr>
          <a:xfrm>
            <a:off x="2426905" y="1544946"/>
            <a:ext cx="257810" cy="257810"/>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5" name="!!p37_08"/>
          <p:cNvSpPr/>
          <p:nvPr/>
        </p:nvSpPr>
        <p:spPr>
          <a:xfrm>
            <a:off x="2839645" y="1544946"/>
            <a:ext cx="257810" cy="257810"/>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6" name="!!p37_09"/>
          <p:cNvSpPr/>
          <p:nvPr/>
        </p:nvSpPr>
        <p:spPr>
          <a:xfrm>
            <a:off x="3252385" y="1544946"/>
            <a:ext cx="257810" cy="257810"/>
          </a:xfrm>
          <a:prstGeom prst="roundRect">
            <a:avLst>
              <a:gd name="adj" fmla="val 30000"/>
            </a:avLst>
          </a:prstGeom>
          <a:solidFill>
            <a:srgbClr val="08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7" name="TextBox 326"/>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INZOOMEN OP DE VOORVOET</a:t>
            </a:r>
          </a:p>
        </p:txBody>
      </p:sp>
      <p:sp>
        <p:nvSpPr>
          <p:cNvPr id="328"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Acht regio's, drie doelregio's</a:t>
            </a:r>
          </a:p>
        </p:txBody>
      </p:sp>
      <p:sp>
        <p:nvSpPr>
          <p:cNvPr id="329" name="Oval 328"/>
          <p:cNvSpPr/>
          <p:nvPr/>
        </p:nvSpPr>
        <p:spPr>
          <a:xfrm>
            <a:off x="1549361" y="5029582"/>
            <a:ext cx="279393" cy="279393"/>
          </a:xfrm>
          <a:prstGeom prst="ellipse">
            <a:avLst/>
          </a:prstGeom>
          <a:solidFill>
            <a:srgbClr val="04182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0" name="TextBox 329"/>
          <p:cNvSpPr txBox="1"/>
          <p:nvPr/>
        </p:nvSpPr>
        <p:spPr>
          <a:xfrm>
            <a:off x="1549361" y="5029582"/>
            <a:ext cx="279393" cy="279393"/>
          </a:xfrm>
          <a:prstGeom prst="rect">
            <a:avLst/>
          </a:prstGeom>
          <a:noFill/>
        </p:spPr>
        <p:txBody>
          <a:bodyPr wrap="square" anchor="ctr" lIns="0" rIns="0" tIns="0" bIns="0">
            <a:spAutoFit/>
          </a:bodyPr>
          <a:lstStyle/>
          <a:p>
            <a:pPr algn="ctr">
              <a:lnSpc>
                <a:spcPct val="100000"/>
              </a:lnSpc>
            </a:pPr>
            <a:r>
              <a:rPr sz="1500" b="1">
                <a:solidFill>
                  <a:srgbClr val="FFFFFF"/>
                </a:solidFill>
                <a:latin typeface="Consolas"/>
              </a:rPr>
              <a:t>1</a:t>
            </a:r>
          </a:p>
        </p:txBody>
      </p:sp>
      <p:sp>
        <p:nvSpPr>
          <p:cNvPr id="331" name="Rectangle 330"/>
          <p:cNvSpPr/>
          <p:nvPr/>
        </p:nvSpPr>
        <p:spPr>
          <a:xfrm>
            <a:off x="6349841" y="1904952"/>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2" name="Oval 331"/>
          <p:cNvSpPr/>
          <p:nvPr/>
        </p:nvSpPr>
        <p:spPr>
          <a:xfrm>
            <a:off x="6349841" y="2070048"/>
            <a:ext cx="253993" cy="2539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3" name="TextBox 332"/>
          <p:cNvSpPr txBox="1"/>
          <p:nvPr/>
        </p:nvSpPr>
        <p:spPr>
          <a:xfrm>
            <a:off x="6349841" y="2070048"/>
            <a:ext cx="253993" cy="2539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1</a:t>
            </a:r>
          </a:p>
        </p:txBody>
      </p:sp>
      <p:sp>
        <p:nvSpPr>
          <p:cNvPr id="334" name="TextBox 333"/>
          <p:cNvSpPr txBox="1"/>
          <p:nvPr/>
        </p:nvSpPr>
        <p:spPr>
          <a:xfrm>
            <a:off x="6756231" y="2044648"/>
            <a:ext cx="4825879" cy="279393"/>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Metatarsaal 1</a:t>
            </a:r>
          </a:p>
        </p:txBody>
      </p:sp>
      <p:sp>
        <p:nvSpPr>
          <p:cNvPr id="335" name="TextBox 334"/>
          <p:cNvSpPr txBox="1"/>
          <p:nvPr/>
        </p:nvSpPr>
        <p:spPr>
          <a:xfrm>
            <a:off x="6768930" y="2311342"/>
            <a:ext cx="4825879" cy="253993"/>
          </a:xfrm>
          <a:prstGeom prst="rect">
            <a:avLst/>
          </a:prstGeom>
          <a:noFill/>
        </p:spPr>
        <p:txBody>
          <a:bodyPr wrap="square" anchor="t" lIns="0" rIns="0" tIns="0" bIns="0">
            <a:spAutoFit/>
          </a:bodyPr>
          <a:lstStyle/>
          <a:p>
            <a:pPr algn="l">
              <a:lnSpc>
                <a:spcPct val="125000"/>
              </a:lnSpc>
            </a:pPr>
            <a:r>
              <a:rPr sz="1450" b="0">
                <a:solidFill>
                  <a:srgbClr val="8FB6D0"/>
                </a:solidFill>
                <a:latin typeface="Segoe UI"/>
              </a:rPr>
              <a:t>onder de grote teen — tweede meest getroffen plek</a:t>
            </a:r>
          </a:p>
        </p:txBody>
      </p:sp>
      <p:sp>
        <p:nvSpPr>
          <p:cNvPr id="336" name="Oval 335"/>
          <p:cNvSpPr/>
          <p:nvPr/>
        </p:nvSpPr>
        <p:spPr>
          <a:xfrm>
            <a:off x="2589465" y="5257414"/>
            <a:ext cx="279393" cy="279393"/>
          </a:xfrm>
          <a:prstGeom prst="ellipse">
            <a:avLst/>
          </a:prstGeom>
          <a:solidFill>
            <a:srgbClr val="04182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7" name="TextBox 336"/>
          <p:cNvSpPr txBox="1"/>
          <p:nvPr/>
        </p:nvSpPr>
        <p:spPr>
          <a:xfrm>
            <a:off x="2589465" y="5257414"/>
            <a:ext cx="279393" cy="279393"/>
          </a:xfrm>
          <a:prstGeom prst="rect">
            <a:avLst/>
          </a:prstGeom>
          <a:noFill/>
        </p:spPr>
        <p:txBody>
          <a:bodyPr wrap="square" anchor="ctr" lIns="0" rIns="0" tIns="0" bIns="0">
            <a:spAutoFit/>
          </a:bodyPr>
          <a:lstStyle/>
          <a:p>
            <a:pPr algn="ctr">
              <a:lnSpc>
                <a:spcPct val="100000"/>
              </a:lnSpc>
            </a:pPr>
            <a:r>
              <a:rPr sz="1500" b="1">
                <a:solidFill>
                  <a:srgbClr val="FFFFFF"/>
                </a:solidFill>
                <a:latin typeface="Consolas"/>
              </a:rPr>
              <a:t>2</a:t>
            </a:r>
          </a:p>
        </p:txBody>
      </p:sp>
      <p:sp>
        <p:nvSpPr>
          <p:cNvPr id="338" name="Rectangle 337"/>
          <p:cNvSpPr/>
          <p:nvPr/>
        </p:nvSpPr>
        <p:spPr>
          <a:xfrm>
            <a:off x="6349841" y="2641533"/>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9" name="Oval 338"/>
          <p:cNvSpPr/>
          <p:nvPr/>
        </p:nvSpPr>
        <p:spPr>
          <a:xfrm>
            <a:off x="6349841" y="2806629"/>
            <a:ext cx="253993" cy="2539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0" name="TextBox 339"/>
          <p:cNvSpPr txBox="1"/>
          <p:nvPr/>
        </p:nvSpPr>
        <p:spPr>
          <a:xfrm>
            <a:off x="6349841" y="2806629"/>
            <a:ext cx="253993" cy="2539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2</a:t>
            </a:r>
          </a:p>
        </p:txBody>
      </p:sp>
      <p:sp>
        <p:nvSpPr>
          <p:cNvPr id="341" name="TextBox 340"/>
          <p:cNvSpPr txBox="1"/>
          <p:nvPr/>
        </p:nvSpPr>
        <p:spPr>
          <a:xfrm>
            <a:off x="6756231" y="2781230"/>
            <a:ext cx="4825879" cy="279393"/>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Metatarsaal 2-3</a:t>
            </a:r>
          </a:p>
        </p:txBody>
      </p:sp>
      <p:sp>
        <p:nvSpPr>
          <p:cNvPr id="342" name="TextBox 341"/>
          <p:cNvSpPr txBox="1"/>
          <p:nvPr/>
        </p:nvSpPr>
        <p:spPr>
          <a:xfrm>
            <a:off x="6768930" y="3047923"/>
            <a:ext cx="4825879" cy="253993"/>
          </a:xfrm>
          <a:prstGeom prst="rect">
            <a:avLst/>
          </a:prstGeom>
          <a:noFill/>
        </p:spPr>
        <p:txBody>
          <a:bodyPr wrap="square" anchor="t" lIns="0" rIns="0" tIns="0" bIns="0">
            <a:spAutoFit/>
          </a:bodyPr>
          <a:lstStyle/>
          <a:p>
            <a:pPr algn="l">
              <a:lnSpc>
                <a:spcPct val="125000"/>
              </a:lnSpc>
            </a:pPr>
            <a:r>
              <a:rPr sz="1450" b="0">
                <a:solidFill>
                  <a:srgbClr val="8FB6D0"/>
                </a:solidFill>
                <a:latin typeface="Segoe UI"/>
              </a:rPr>
              <a:t>de hete plek op deze meting, en de klassieke ulcusplek</a:t>
            </a:r>
          </a:p>
        </p:txBody>
      </p:sp>
      <p:sp>
        <p:nvSpPr>
          <p:cNvPr id="343" name="Oval 342"/>
          <p:cNvSpPr/>
          <p:nvPr/>
        </p:nvSpPr>
        <p:spPr>
          <a:xfrm>
            <a:off x="4521086" y="5599163"/>
            <a:ext cx="279393" cy="279393"/>
          </a:xfrm>
          <a:prstGeom prst="ellipse">
            <a:avLst/>
          </a:prstGeom>
          <a:solidFill>
            <a:srgbClr val="04182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4" name="TextBox 343"/>
          <p:cNvSpPr txBox="1"/>
          <p:nvPr/>
        </p:nvSpPr>
        <p:spPr>
          <a:xfrm>
            <a:off x="4521086" y="5599163"/>
            <a:ext cx="279393" cy="279393"/>
          </a:xfrm>
          <a:prstGeom prst="rect">
            <a:avLst/>
          </a:prstGeom>
          <a:noFill/>
        </p:spPr>
        <p:txBody>
          <a:bodyPr wrap="square" anchor="ctr" lIns="0" rIns="0" tIns="0" bIns="0">
            <a:spAutoFit/>
          </a:bodyPr>
          <a:lstStyle/>
          <a:p>
            <a:pPr algn="ctr">
              <a:lnSpc>
                <a:spcPct val="100000"/>
              </a:lnSpc>
            </a:pPr>
            <a:r>
              <a:rPr sz="1500" b="1">
                <a:solidFill>
                  <a:srgbClr val="FFFFFF"/>
                </a:solidFill>
                <a:latin typeface="Consolas"/>
              </a:rPr>
              <a:t>3</a:t>
            </a:r>
          </a:p>
        </p:txBody>
      </p:sp>
      <p:sp>
        <p:nvSpPr>
          <p:cNvPr id="345" name="Rectangle 344"/>
          <p:cNvSpPr/>
          <p:nvPr/>
        </p:nvSpPr>
        <p:spPr>
          <a:xfrm>
            <a:off x="6349841" y="3378115"/>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6" name="Oval 345"/>
          <p:cNvSpPr/>
          <p:nvPr/>
        </p:nvSpPr>
        <p:spPr>
          <a:xfrm>
            <a:off x="6349841" y="3543211"/>
            <a:ext cx="253993" cy="2539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7" name="TextBox 346"/>
          <p:cNvSpPr txBox="1"/>
          <p:nvPr/>
        </p:nvSpPr>
        <p:spPr>
          <a:xfrm>
            <a:off x="6349841" y="3543211"/>
            <a:ext cx="253993" cy="2539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3</a:t>
            </a:r>
          </a:p>
        </p:txBody>
      </p:sp>
      <p:sp>
        <p:nvSpPr>
          <p:cNvPr id="348" name="TextBox 347"/>
          <p:cNvSpPr txBox="1"/>
          <p:nvPr/>
        </p:nvSpPr>
        <p:spPr>
          <a:xfrm>
            <a:off x="6756231" y="3517812"/>
            <a:ext cx="4825879" cy="279393"/>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Metatarsaal 4-5</a:t>
            </a:r>
          </a:p>
        </p:txBody>
      </p:sp>
      <p:sp>
        <p:nvSpPr>
          <p:cNvPr id="349" name="TextBox 348"/>
          <p:cNvSpPr txBox="1"/>
          <p:nvPr/>
        </p:nvSpPr>
        <p:spPr>
          <a:xfrm>
            <a:off x="6768930" y="3784505"/>
            <a:ext cx="4825879" cy="253993"/>
          </a:xfrm>
          <a:prstGeom prst="rect">
            <a:avLst/>
          </a:prstGeom>
          <a:noFill/>
        </p:spPr>
        <p:txBody>
          <a:bodyPr wrap="square" anchor="t" lIns="0" rIns="0" tIns="0" bIns="0">
            <a:spAutoFit/>
          </a:bodyPr>
          <a:lstStyle/>
          <a:p>
            <a:pPr algn="l">
              <a:lnSpc>
                <a:spcPct val="125000"/>
              </a:lnSpc>
            </a:pPr>
            <a:r>
              <a:rPr sz="1450" b="0">
                <a:solidFill>
                  <a:srgbClr val="8FB6D0"/>
                </a:solidFill>
                <a:latin typeface="Segoe UI"/>
              </a:rPr>
              <a:t>laterale voorvoet, meestal lagere druk</a:t>
            </a:r>
          </a:p>
        </p:txBody>
      </p:sp>
      <p:sp>
        <p:nvSpPr>
          <p:cNvPr id="350" name="Oval 349"/>
          <p:cNvSpPr/>
          <p:nvPr/>
        </p:nvSpPr>
        <p:spPr>
          <a:xfrm>
            <a:off x="1400774" y="2409510"/>
            <a:ext cx="279393" cy="279393"/>
          </a:xfrm>
          <a:prstGeom prst="ellipse">
            <a:avLst/>
          </a:prstGeom>
          <a:solidFill>
            <a:srgbClr val="04182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1" name="TextBox 350"/>
          <p:cNvSpPr txBox="1"/>
          <p:nvPr/>
        </p:nvSpPr>
        <p:spPr>
          <a:xfrm>
            <a:off x="1400774" y="2409510"/>
            <a:ext cx="279393" cy="279393"/>
          </a:xfrm>
          <a:prstGeom prst="rect">
            <a:avLst/>
          </a:prstGeom>
          <a:noFill/>
        </p:spPr>
        <p:txBody>
          <a:bodyPr wrap="square" anchor="ctr" lIns="0" rIns="0" tIns="0" bIns="0">
            <a:spAutoFit/>
          </a:bodyPr>
          <a:lstStyle/>
          <a:p>
            <a:pPr algn="ctr">
              <a:lnSpc>
                <a:spcPct val="100000"/>
              </a:lnSpc>
            </a:pPr>
            <a:r>
              <a:rPr sz="1500" b="1">
                <a:solidFill>
                  <a:srgbClr val="FFFFFF"/>
                </a:solidFill>
                <a:latin typeface="Consolas"/>
              </a:rPr>
              <a:t>4</a:t>
            </a:r>
          </a:p>
        </p:txBody>
      </p:sp>
      <p:sp>
        <p:nvSpPr>
          <p:cNvPr id="352" name="Rectangle 351"/>
          <p:cNvSpPr/>
          <p:nvPr/>
        </p:nvSpPr>
        <p:spPr>
          <a:xfrm>
            <a:off x="6349841" y="4114697"/>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3" name="Oval 352"/>
          <p:cNvSpPr/>
          <p:nvPr/>
        </p:nvSpPr>
        <p:spPr>
          <a:xfrm>
            <a:off x="6349841" y="4279793"/>
            <a:ext cx="253993" cy="2539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4" name="TextBox 353"/>
          <p:cNvSpPr txBox="1"/>
          <p:nvPr/>
        </p:nvSpPr>
        <p:spPr>
          <a:xfrm>
            <a:off x="6349841" y="4279793"/>
            <a:ext cx="253993" cy="2539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4</a:t>
            </a:r>
          </a:p>
        </p:txBody>
      </p:sp>
      <p:sp>
        <p:nvSpPr>
          <p:cNvPr id="355" name="TextBox 354"/>
          <p:cNvSpPr txBox="1"/>
          <p:nvPr/>
        </p:nvSpPr>
        <p:spPr>
          <a:xfrm>
            <a:off x="6756231" y="4254393"/>
            <a:ext cx="4825879" cy="279393"/>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Hallux</a:t>
            </a:r>
          </a:p>
        </p:txBody>
      </p:sp>
      <p:sp>
        <p:nvSpPr>
          <p:cNvPr id="356" name="TextBox 355"/>
          <p:cNvSpPr txBox="1"/>
          <p:nvPr/>
        </p:nvSpPr>
        <p:spPr>
          <a:xfrm>
            <a:off x="6768930" y="4521086"/>
            <a:ext cx="4825879" cy="253993"/>
          </a:xfrm>
          <a:prstGeom prst="rect">
            <a:avLst/>
          </a:prstGeom>
          <a:noFill/>
        </p:spPr>
        <p:txBody>
          <a:bodyPr wrap="square" anchor="t" lIns="0" rIns="0" tIns="0" bIns="0">
            <a:spAutoFit/>
          </a:bodyPr>
          <a:lstStyle/>
          <a:p>
            <a:pPr algn="l">
              <a:lnSpc>
                <a:spcPct val="125000"/>
              </a:lnSpc>
            </a:pPr>
            <a:r>
              <a:rPr sz="1450" b="0">
                <a:solidFill>
                  <a:srgbClr val="8FB6D0"/>
                </a:solidFill>
                <a:latin typeface="Segoe UI"/>
              </a:rPr>
              <a:t>apart bekeken, niet meer samengeteld met de tenen</a:t>
            </a:r>
          </a:p>
        </p:txBody>
      </p:sp>
      <p:sp>
        <p:nvSpPr>
          <p:cNvPr id="357" name="Oval 356"/>
          <p:cNvSpPr/>
          <p:nvPr/>
        </p:nvSpPr>
        <p:spPr>
          <a:xfrm>
            <a:off x="3406689" y="2523426"/>
            <a:ext cx="279393" cy="279393"/>
          </a:xfrm>
          <a:prstGeom prst="ellipse">
            <a:avLst/>
          </a:prstGeom>
          <a:solidFill>
            <a:srgbClr val="04182A"/>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8" name="TextBox 357"/>
          <p:cNvSpPr txBox="1"/>
          <p:nvPr/>
        </p:nvSpPr>
        <p:spPr>
          <a:xfrm>
            <a:off x="3406689" y="2523426"/>
            <a:ext cx="279393" cy="279393"/>
          </a:xfrm>
          <a:prstGeom prst="rect">
            <a:avLst/>
          </a:prstGeom>
          <a:noFill/>
        </p:spPr>
        <p:txBody>
          <a:bodyPr wrap="square" anchor="ctr" lIns="0" rIns="0" tIns="0" bIns="0">
            <a:spAutoFit/>
          </a:bodyPr>
          <a:lstStyle/>
          <a:p>
            <a:pPr algn="ctr">
              <a:lnSpc>
                <a:spcPct val="100000"/>
              </a:lnSpc>
            </a:pPr>
            <a:r>
              <a:rPr sz="1500" b="1">
                <a:solidFill>
                  <a:srgbClr val="FFFFFF"/>
                </a:solidFill>
                <a:latin typeface="Consolas"/>
              </a:rPr>
              <a:t>5</a:t>
            </a:r>
          </a:p>
        </p:txBody>
      </p:sp>
      <p:sp>
        <p:nvSpPr>
          <p:cNvPr id="359" name="Rectangle 358"/>
          <p:cNvSpPr/>
          <p:nvPr/>
        </p:nvSpPr>
        <p:spPr>
          <a:xfrm>
            <a:off x="6349841" y="4851278"/>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0" name="Oval 359"/>
          <p:cNvSpPr/>
          <p:nvPr/>
        </p:nvSpPr>
        <p:spPr>
          <a:xfrm>
            <a:off x="6349841" y="5016374"/>
            <a:ext cx="253993" cy="253993"/>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1" name="TextBox 360"/>
          <p:cNvSpPr txBox="1"/>
          <p:nvPr/>
        </p:nvSpPr>
        <p:spPr>
          <a:xfrm>
            <a:off x="6349841" y="5016374"/>
            <a:ext cx="253993" cy="253993"/>
          </a:xfrm>
          <a:prstGeom prst="rect">
            <a:avLst/>
          </a:prstGeom>
          <a:noFill/>
        </p:spPr>
        <p:txBody>
          <a:bodyPr wrap="square" anchor="ctr" lIns="0" rIns="0" tIns="0" bIns="0">
            <a:spAutoFit/>
          </a:bodyPr>
          <a:lstStyle/>
          <a:p>
            <a:pPr algn="ctr">
              <a:lnSpc>
                <a:spcPct val="100000"/>
              </a:lnSpc>
            </a:pPr>
            <a:r>
              <a:rPr sz="1500" b="1">
                <a:solidFill>
                  <a:srgbClr val="52BDEC"/>
                </a:solidFill>
                <a:latin typeface="Consolas"/>
              </a:rPr>
              <a:t>5</a:t>
            </a:r>
          </a:p>
        </p:txBody>
      </p:sp>
      <p:sp>
        <p:nvSpPr>
          <p:cNvPr id="362" name="TextBox 361"/>
          <p:cNvSpPr txBox="1"/>
          <p:nvPr/>
        </p:nvSpPr>
        <p:spPr>
          <a:xfrm>
            <a:off x="6756231" y="4990975"/>
            <a:ext cx="4825879" cy="279393"/>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Tenen 2-5</a:t>
            </a:r>
          </a:p>
        </p:txBody>
      </p:sp>
      <p:sp>
        <p:nvSpPr>
          <p:cNvPr id="363" name="TextBox 362"/>
          <p:cNvSpPr txBox="1"/>
          <p:nvPr/>
        </p:nvSpPr>
        <p:spPr>
          <a:xfrm>
            <a:off x="6768930" y="5257668"/>
            <a:ext cx="4825879" cy="253993"/>
          </a:xfrm>
          <a:prstGeom prst="rect">
            <a:avLst/>
          </a:prstGeom>
          <a:noFill/>
        </p:spPr>
        <p:txBody>
          <a:bodyPr wrap="square" anchor="t" lIns="0" rIns="0" tIns="0" bIns="0">
            <a:spAutoFit/>
          </a:bodyPr>
          <a:lstStyle/>
          <a:p>
            <a:pPr algn="l">
              <a:lnSpc>
                <a:spcPct val="125000"/>
              </a:lnSpc>
            </a:pPr>
            <a:r>
              <a:rPr sz="1450" b="0">
                <a:solidFill>
                  <a:srgbClr val="8FB6D0"/>
                </a:solidFill>
                <a:latin typeface="Segoe UI"/>
              </a:rPr>
              <a:t>eigen regio sinds de laatste maskerversie</a:t>
            </a:r>
          </a:p>
        </p:txBody>
      </p:sp>
      <p:sp>
        <p:nvSpPr>
          <p:cNvPr id="364" name="TextBox 363"/>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Acht regio's via Multimask · hiel en mediale en laterale middenvoet vallen buiten beeld</a:t>
            </a:r>
          </a:p>
        </p:txBody>
      </p:sp>
      <p:sp>
        <p:nvSpPr>
          <p:cNvPr id="365" name="TextBox 364"/>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12 / 66</a:t>
            </a:r>
          </a:p>
        </p:txBody>
      </p:sp>
      <p:pic>
        <p:nvPicPr>
          <p:cNvPr id="366"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NA OPTIMALISATIE</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Wanneer is het goed genoeg</a:t>
            </a:r>
          </a:p>
        </p:txBody>
      </p:sp>
      <p:sp>
        <p:nvSpPr>
          <p:cNvPr id="5" name="!!p00_07"/>
          <p:cNvSpPr/>
          <p:nvPr/>
        </p:nvSpPr>
        <p:spPr>
          <a:xfrm>
            <a:off x="1585505" y="5645727"/>
            <a:ext cx="99157" cy="99157"/>
          </a:xfrm>
          <a:prstGeom prst="roundRect">
            <a:avLst>
              <a:gd name="adj" fmla="val 30000"/>
            </a:avLst>
          </a:prstGeom>
          <a:solidFill>
            <a:srgbClr val="145C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p00_08"/>
          <p:cNvSpPr/>
          <p:nvPr/>
        </p:nvSpPr>
        <p:spPr>
          <a:xfrm>
            <a:off x="1744251" y="5645727"/>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p00_09"/>
          <p:cNvSpPr/>
          <p:nvPr/>
        </p:nvSpPr>
        <p:spPr>
          <a:xfrm>
            <a:off x="1902997" y="5645727"/>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p00_10"/>
          <p:cNvSpPr/>
          <p:nvPr/>
        </p:nvSpPr>
        <p:spPr>
          <a:xfrm>
            <a:off x="2061743" y="5645727"/>
            <a:ext cx="99157" cy="99157"/>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p01_06"/>
          <p:cNvSpPr/>
          <p:nvPr/>
        </p:nvSpPr>
        <p:spPr>
          <a:xfrm>
            <a:off x="1426759" y="5530427"/>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p01_07"/>
          <p:cNvSpPr/>
          <p:nvPr/>
        </p:nvSpPr>
        <p:spPr>
          <a:xfrm>
            <a:off x="1585505" y="5530427"/>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01_08"/>
          <p:cNvSpPr/>
          <p:nvPr/>
        </p:nvSpPr>
        <p:spPr>
          <a:xfrm>
            <a:off x="1744251" y="5530427"/>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p01_09"/>
          <p:cNvSpPr/>
          <p:nvPr/>
        </p:nvSpPr>
        <p:spPr>
          <a:xfrm>
            <a:off x="1902997" y="5530427"/>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p01_10"/>
          <p:cNvSpPr/>
          <p:nvPr/>
        </p:nvSpPr>
        <p:spPr>
          <a:xfrm>
            <a:off x="2061743" y="5530427"/>
            <a:ext cx="99157" cy="99157"/>
          </a:xfrm>
          <a:prstGeom prst="roundRect">
            <a:avLst>
              <a:gd name="adj" fmla="val 30000"/>
            </a:avLst>
          </a:prstGeom>
          <a:solidFill>
            <a:srgbClr val="176F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01_11"/>
          <p:cNvSpPr/>
          <p:nvPr/>
        </p:nvSpPr>
        <p:spPr>
          <a:xfrm>
            <a:off x="2220489" y="5530427"/>
            <a:ext cx="99157" cy="99157"/>
          </a:xfrm>
          <a:prstGeom prst="roundRect">
            <a:avLst>
              <a:gd name="adj" fmla="val 30000"/>
            </a:avLst>
          </a:prstGeom>
          <a:solidFill>
            <a:srgbClr val="104B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02_05"/>
          <p:cNvSpPr/>
          <p:nvPr/>
        </p:nvSpPr>
        <p:spPr>
          <a:xfrm>
            <a:off x="1268013" y="5415127"/>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02_06"/>
          <p:cNvSpPr/>
          <p:nvPr/>
        </p:nvSpPr>
        <p:spPr>
          <a:xfrm>
            <a:off x="1426759" y="5415127"/>
            <a:ext cx="99157" cy="99157"/>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02_07"/>
          <p:cNvSpPr/>
          <p:nvPr/>
        </p:nvSpPr>
        <p:spPr>
          <a:xfrm>
            <a:off x="1585505" y="5415127"/>
            <a:ext cx="99157" cy="99157"/>
          </a:xfrm>
          <a:prstGeom prst="roundRect">
            <a:avLst>
              <a:gd name="adj" fmla="val 30000"/>
            </a:avLst>
          </a:prstGeom>
          <a:solidFill>
            <a:srgbClr val="1B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02_08"/>
          <p:cNvSpPr/>
          <p:nvPr/>
        </p:nvSpPr>
        <p:spPr>
          <a:xfrm>
            <a:off x="1744251" y="5415127"/>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p02_09"/>
          <p:cNvSpPr/>
          <p:nvPr/>
        </p:nvSpPr>
        <p:spPr>
          <a:xfrm>
            <a:off x="1902997" y="5415127"/>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p02_10"/>
          <p:cNvSpPr/>
          <p:nvPr/>
        </p:nvSpPr>
        <p:spPr>
          <a:xfrm>
            <a:off x="2061743" y="5415127"/>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p02_11"/>
          <p:cNvSpPr/>
          <p:nvPr/>
        </p:nvSpPr>
        <p:spPr>
          <a:xfrm>
            <a:off x="2220489" y="5415127"/>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p02_12"/>
          <p:cNvSpPr/>
          <p:nvPr/>
        </p:nvSpPr>
        <p:spPr>
          <a:xfrm>
            <a:off x="2379235" y="5415127"/>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p03_05"/>
          <p:cNvSpPr/>
          <p:nvPr/>
        </p:nvSpPr>
        <p:spPr>
          <a:xfrm>
            <a:off x="1268013" y="5299828"/>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p03_06"/>
          <p:cNvSpPr/>
          <p:nvPr/>
        </p:nvSpPr>
        <p:spPr>
          <a:xfrm>
            <a:off x="1426759" y="5299828"/>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03_07"/>
          <p:cNvSpPr/>
          <p:nvPr/>
        </p:nvSpPr>
        <p:spPr>
          <a:xfrm>
            <a:off x="1585505" y="5299828"/>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p03_08"/>
          <p:cNvSpPr/>
          <p:nvPr/>
        </p:nvSpPr>
        <p:spPr>
          <a:xfrm>
            <a:off x="1744251" y="5299828"/>
            <a:ext cx="99157" cy="99157"/>
          </a:xfrm>
          <a:prstGeom prst="roundRect">
            <a:avLst>
              <a:gd name="adj" fmla="val 30000"/>
            </a:avLst>
          </a:prstGeom>
          <a:solidFill>
            <a:srgbClr val="32A0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p03_09"/>
          <p:cNvSpPr/>
          <p:nvPr/>
        </p:nvSpPr>
        <p:spPr>
          <a:xfrm>
            <a:off x="1902997" y="5299828"/>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p03_10"/>
          <p:cNvSpPr/>
          <p:nvPr/>
        </p:nvSpPr>
        <p:spPr>
          <a:xfrm>
            <a:off x="2061743" y="5299828"/>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p03_11"/>
          <p:cNvSpPr/>
          <p:nvPr/>
        </p:nvSpPr>
        <p:spPr>
          <a:xfrm>
            <a:off x="2220489" y="5299828"/>
            <a:ext cx="99157" cy="99157"/>
          </a:xfrm>
          <a:prstGeom prst="roundRect">
            <a:avLst>
              <a:gd name="adj" fmla="val 30000"/>
            </a:avLst>
          </a:prstGeom>
          <a:solidFill>
            <a:srgbClr val="15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p03_12"/>
          <p:cNvSpPr/>
          <p:nvPr/>
        </p:nvSpPr>
        <p:spPr>
          <a:xfrm>
            <a:off x="2379235" y="5299828"/>
            <a:ext cx="99157" cy="99157"/>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p04_05"/>
          <p:cNvSpPr/>
          <p:nvPr/>
        </p:nvSpPr>
        <p:spPr>
          <a:xfrm>
            <a:off x="1268013" y="5184528"/>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04_06"/>
          <p:cNvSpPr/>
          <p:nvPr/>
        </p:nvSpPr>
        <p:spPr>
          <a:xfrm>
            <a:off x="1426759" y="5184528"/>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p04_07"/>
          <p:cNvSpPr/>
          <p:nvPr/>
        </p:nvSpPr>
        <p:spPr>
          <a:xfrm>
            <a:off x="1585505" y="5184528"/>
            <a:ext cx="99157" cy="99157"/>
          </a:xfrm>
          <a:prstGeom prst="roundRect">
            <a:avLst>
              <a:gd name="adj" fmla="val 30000"/>
            </a:avLst>
          </a:prstGeom>
          <a:solidFill>
            <a:srgbClr val="22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p04_08"/>
          <p:cNvSpPr/>
          <p:nvPr/>
        </p:nvSpPr>
        <p:spPr>
          <a:xfrm>
            <a:off x="1744251" y="5184528"/>
            <a:ext cx="99157" cy="99157"/>
          </a:xfrm>
          <a:prstGeom prst="roundRect">
            <a:avLst>
              <a:gd name="adj" fmla="val 30000"/>
            </a:avLst>
          </a:prstGeom>
          <a:solidFill>
            <a:srgbClr val="38A5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p04_09"/>
          <p:cNvSpPr/>
          <p:nvPr/>
        </p:nvSpPr>
        <p:spPr>
          <a:xfrm>
            <a:off x="1902997" y="5184528"/>
            <a:ext cx="99157" cy="99157"/>
          </a:xfrm>
          <a:prstGeom prst="roundRect">
            <a:avLst>
              <a:gd name="adj" fmla="val 30000"/>
            </a:avLst>
          </a:prstGeom>
          <a:solidFill>
            <a:srgbClr val="39A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p04_10"/>
          <p:cNvSpPr/>
          <p:nvPr/>
        </p:nvSpPr>
        <p:spPr>
          <a:xfrm>
            <a:off x="2061743" y="5184528"/>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p04_11"/>
          <p:cNvSpPr/>
          <p:nvPr/>
        </p:nvSpPr>
        <p:spPr>
          <a:xfrm>
            <a:off x="2220489" y="5184528"/>
            <a:ext cx="99157" cy="99157"/>
          </a:xfrm>
          <a:prstGeom prst="roundRect">
            <a:avLst>
              <a:gd name="adj" fmla="val 30000"/>
            </a:avLst>
          </a:prstGeom>
          <a:solidFill>
            <a:srgbClr val="1669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p04_12"/>
          <p:cNvSpPr/>
          <p:nvPr/>
        </p:nvSpPr>
        <p:spPr>
          <a:xfrm>
            <a:off x="2379235" y="5184528"/>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p05_05"/>
          <p:cNvSpPr/>
          <p:nvPr/>
        </p:nvSpPr>
        <p:spPr>
          <a:xfrm>
            <a:off x="1268013" y="5069228"/>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p05_06"/>
          <p:cNvSpPr/>
          <p:nvPr/>
        </p:nvSpPr>
        <p:spPr>
          <a:xfrm>
            <a:off x="1426759" y="5069228"/>
            <a:ext cx="99157" cy="99157"/>
          </a:xfrm>
          <a:prstGeom prst="roundRect">
            <a:avLst>
              <a:gd name="adj" fmla="val 30000"/>
            </a:avLst>
          </a:prstGeom>
          <a:solidFill>
            <a:srgbClr val="1667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p05_07"/>
          <p:cNvSpPr/>
          <p:nvPr/>
        </p:nvSpPr>
        <p:spPr>
          <a:xfrm>
            <a:off x="1585505" y="5069228"/>
            <a:ext cx="99157" cy="99157"/>
          </a:xfrm>
          <a:prstGeom prst="roundRect">
            <a:avLst>
              <a:gd name="adj" fmla="val 30000"/>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p05_08"/>
          <p:cNvSpPr/>
          <p:nvPr/>
        </p:nvSpPr>
        <p:spPr>
          <a:xfrm>
            <a:off x="1744251" y="5069228"/>
            <a:ext cx="99157" cy="99157"/>
          </a:xfrm>
          <a:prstGeom prst="roundRect">
            <a:avLst>
              <a:gd name="adj" fmla="val 30000"/>
            </a:avLst>
          </a:prstGeom>
          <a:solidFill>
            <a:srgbClr val="3A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p05_09"/>
          <p:cNvSpPr/>
          <p:nvPr/>
        </p:nvSpPr>
        <p:spPr>
          <a:xfrm>
            <a:off x="1902997" y="5069228"/>
            <a:ext cx="99157" cy="99157"/>
          </a:xfrm>
          <a:prstGeom prst="roundRect">
            <a:avLst>
              <a:gd name="adj" fmla="val 30000"/>
            </a:avLst>
          </a:prstGeom>
          <a:solidFill>
            <a:srgbClr val="3BA8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p05_10"/>
          <p:cNvSpPr/>
          <p:nvPr/>
        </p:nvSpPr>
        <p:spPr>
          <a:xfrm>
            <a:off x="2061743" y="5069228"/>
            <a:ext cx="99157" cy="99157"/>
          </a:xfrm>
          <a:prstGeom prst="roundRect">
            <a:avLst>
              <a:gd name="adj" fmla="val 30000"/>
            </a:avLst>
          </a:prstGeom>
          <a:solidFill>
            <a:srgbClr val="2796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p05_11"/>
          <p:cNvSpPr/>
          <p:nvPr/>
        </p:nvSpPr>
        <p:spPr>
          <a:xfrm>
            <a:off x="2220489" y="5069228"/>
            <a:ext cx="99157" cy="99157"/>
          </a:xfrm>
          <a:prstGeom prst="roundRect">
            <a:avLst>
              <a:gd name="adj" fmla="val 30000"/>
            </a:avLst>
          </a:prstGeom>
          <a:solidFill>
            <a:srgbClr val="176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p05_12"/>
          <p:cNvSpPr/>
          <p:nvPr/>
        </p:nvSpPr>
        <p:spPr>
          <a:xfrm>
            <a:off x="2379235" y="5069228"/>
            <a:ext cx="99157" cy="99157"/>
          </a:xfrm>
          <a:prstGeom prst="roundRect">
            <a:avLst>
              <a:gd name="adj" fmla="val 30000"/>
            </a:avLst>
          </a:prstGeom>
          <a:solidFill>
            <a:srgbClr val="0F43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p06_05"/>
          <p:cNvSpPr/>
          <p:nvPr/>
        </p:nvSpPr>
        <p:spPr>
          <a:xfrm>
            <a:off x="1268013" y="4953928"/>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p06_06"/>
          <p:cNvSpPr/>
          <p:nvPr/>
        </p:nvSpPr>
        <p:spPr>
          <a:xfrm>
            <a:off x="1426759" y="4953928"/>
            <a:ext cx="99157" cy="99157"/>
          </a:xfrm>
          <a:prstGeom prst="roundRect">
            <a:avLst>
              <a:gd name="adj" fmla="val 30000"/>
            </a:avLst>
          </a:prstGeom>
          <a:solidFill>
            <a:srgbClr val="16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p06_07"/>
          <p:cNvSpPr/>
          <p:nvPr/>
        </p:nvSpPr>
        <p:spPr>
          <a:xfrm>
            <a:off x="1585505" y="4953928"/>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p06_08"/>
          <p:cNvSpPr/>
          <p:nvPr/>
        </p:nvSpPr>
        <p:spPr>
          <a:xfrm>
            <a:off x="1744251" y="4953928"/>
            <a:ext cx="99157" cy="99157"/>
          </a:xfrm>
          <a:prstGeom prst="roundRect">
            <a:avLst>
              <a:gd name="adj" fmla="val 30000"/>
            </a:avLst>
          </a:prstGeom>
          <a:solidFill>
            <a:srgbClr val="37A5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p06_09"/>
          <p:cNvSpPr/>
          <p:nvPr/>
        </p:nvSpPr>
        <p:spPr>
          <a:xfrm>
            <a:off x="1902997" y="4953928"/>
            <a:ext cx="99157" cy="99157"/>
          </a:xfrm>
          <a:prstGeom prst="roundRect">
            <a:avLst>
              <a:gd name="adj" fmla="val 30000"/>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p06_10"/>
          <p:cNvSpPr/>
          <p:nvPr/>
        </p:nvSpPr>
        <p:spPr>
          <a:xfrm>
            <a:off x="2061743" y="4953928"/>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p06_11"/>
          <p:cNvSpPr/>
          <p:nvPr/>
        </p:nvSpPr>
        <p:spPr>
          <a:xfrm>
            <a:off x="2220489" y="4953928"/>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p06_12"/>
          <p:cNvSpPr/>
          <p:nvPr/>
        </p:nvSpPr>
        <p:spPr>
          <a:xfrm>
            <a:off x="2379235" y="4953928"/>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p07_05"/>
          <p:cNvSpPr/>
          <p:nvPr/>
        </p:nvSpPr>
        <p:spPr>
          <a:xfrm>
            <a:off x="1268013" y="4838629"/>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p07_06"/>
          <p:cNvSpPr/>
          <p:nvPr/>
        </p:nvSpPr>
        <p:spPr>
          <a:xfrm>
            <a:off x="1426759" y="4838629"/>
            <a:ext cx="99157" cy="99157"/>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p07_07"/>
          <p:cNvSpPr/>
          <p:nvPr/>
        </p:nvSpPr>
        <p:spPr>
          <a:xfrm>
            <a:off x="1585505" y="4838629"/>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p07_08"/>
          <p:cNvSpPr/>
          <p:nvPr/>
        </p:nvSpPr>
        <p:spPr>
          <a:xfrm>
            <a:off x="1744251" y="4838629"/>
            <a:ext cx="99157" cy="99157"/>
          </a:xfrm>
          <a:prstGeom prst="roundRect">
            <a:avLst>
              <a:gd name="adj" fmla="val 30000"/>
            </a:avLst>
          </a:prstGeom>
          <a:solidFill>
            <a:srgbClr val="33A1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p07_09"/>
          <p:cNvSpPr/>
          <p:nvPr/>
        </p:nvSpPr>
        <p:spPr>
          <a:xfrm>
            <a:off x="1902997" y="4838629"/>
            <a:ext cx="99157" cy="99157"/>
          </a:xfrm>
          <a:prstGeom prst="roundRect">
            <a:avLst>
              <a:gd name="adj" fmla="val 30000"/>
            </a:avLst>
          </a:prstGeom>
          <a:solidFill>
            <a:srgbClr val="36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p07_10"/>
          <p:cNvSpPr/>
          <p:nvPr/>
        </p:nvSpPr>
        <p:spPr>
          <a:xfrm>
            <a:off x="2061743" y="4838629"/>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p07_11"/>
          <p:cNvSpPr/>
          <p:nvPr/>
        </p:nvSpPr>
        <p:spPr>
          <a:xfrm>
            <a:off x="2220489" y="4838629"/>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p07_12"/>
          <p:cNvSpPr/>
          <p:nvPr/>
        </p:nvSpPr>
        <p:spPr>
          <a:xfrm>
            <a:off x="2379235" y="4838629"/>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p08_05"/>
          <p:cNvSpPr/>
          <p:nvPr/>
        </p:nvSpPr>
        <p:spPr>
          <a:xfrm>
            <a:off x="1268013" y="4723329"/>
            <a:ext cx="99157" cy="99157"/>
          </a:xfrm>
          <a:prstGeom prst="roundRect">
            <a:avLst>
              <a:gd name="adj" fmla="val 30000"/>
            </a:avLst>
          </a:prstGeom>
          <a:solidFill>
            <a:srgbClr val="0E3D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p08_06"/>
          <p:cNvSpPr/>
          <p:nvPr/>
        </p:nvSpPr>
        <p:spPr>
          <a:xfrm>
            <a:off x="1426759" y="4723329"/>
            <a:ext cx="99157" cy="99157"/>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p08_07"/>
          <p:cNvSpPr/>
          <p:nvPr/>
        </p:nvSpPr>
        <p:spPr>
          <a:xfrm>
            <a:off x="1585505" y="4723329"/>
            <a:ext cx="99157" cy="99157"/>
          </a:xfrm>
          <a:prstGeom prst="roundRect">
            <a:avLst>
              <a:gd name="adj" fmla="val 30000"/>
            </a:avLst>
          </a:prstGeom>
          <a:solidFill>
            <a:srgbClr val="1C86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p08_08"/>
          <p:cNvSpPr/>
          <p:nvPr/>
        </p:nvSpPr>
        <p:spPr>
          <a:xfrm>
            <a:off x="1744251" y="4723329"/>
            <a:ext cx="99157" cy="99157"/>
          </a:xfrm>
          <a:prstGeom prst="roundRect">
            <a:avLst>
              <a:gd name="adj" fmla="val 30000"/>
            </a:avLst>
          </a:prstGeom>
          <a:solidFill>
            <a:srgbClr val="2C9B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p08_09"/>
          <p:cNvSpPr/>
          <p:nvPr/>
        </p:nvSpPr>
        <p:spPr>
          <a:xfrm>
            <a:off x="1902997" y="4723329"/>
            <a:ext cx="99157" cy="99157"/>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p08_10"/>
          <p:cNvSpPr/>
          <p:nvPr/>
        </p:nvSpPr>
        <p:spPr>
          <a:xfrm>
            <a:off x="2061743" y="4723329"/>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p08_11"/>
          <p:cNvSpPr/>
          <p:nvPr/>
        </p:nvSpPr>
        <p:spPr>
          <a:xfrm>
            <a:off x="2220489" y="4723329"/>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p08_12"/>
          <p:cNvSpPr/>
          <p:nvPr/>
        </p:nvSpPr>
        <p:spPr>
          <a:xfrm>
            <a:off x="2379235" y="4723329"/>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p09_05"/>
          <p:cNvSpPr/>
          <p:nvPr/>
        </p:nvSpPr>
        <p:spPr>
          <a:xfrm>
            <a:off x="1268013" y="4608029"/>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p09_06"/>
          <p:cNvSpPr/>
          <p:nvPr/>
        </p:nvSpPr>
        <p:spPr>
          <a:xfrm>
            <a:off x="1426759" y="4608029"/>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p09_07"/>
          <p:cNvSpPr/>
          <p:nvPr/>
        </p:nvSpPr>
        <p:spPr>
          <a:xfrm>
            <a:off x="1585505" y="4608029"/>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p09_08"/>
          <p:cNvSpPr/>
          <p:nvPr/>
        </p:nvSpPr>
        <p:spPr>
          <a:xfrm>
            <a:off x="1744251" y="4608029"/>
            <a:ext cx="99157" cy="99157"/>
          </a:xfrm>
          <a:prstGeom prst="roundRect">
            <a:avLst>
              <a:gd name="adj" fmla="val 30000"/>
            </a:avLst>
          </a:prstGeom>
          <a:solidFill>
            <a:srgbClr val="2695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p09_09"/>
          <p:cNvSpPr/>
          <p:nvPr/>
        </p:nvSpPr>
        <p:spPr>
          <a:xfrm>
            <a:off x="1902997" y="4608029"/>
            <a:ext cx="99157" cy="99157"/>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p09_10"/>
          <p:cNvSpPr/>
          <p:nvPr/>
        </p:nvSpPr>
        <p:spPr>
          <a:xfrm>
            <a:off x="2061743" y="4608029"/>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p09_11"/>
          <p:cNvSpPr/>
          <p:nvPr/>
        </p:nvSpPr>
        <p:spPr>
          <a:xfrm>
            <a:off x="2220489" y="4608029"/>
            <a:ext cx="99157" cy="99157"/>
          </a:xfrm>
          <a:prstGeom prst="roundRect">
            <a:avLst>
              <a:gd name="adj" fmla="val 30000"/>
            </a:avLst>
          </a:prstGeom>
          <a:solidFill>
            <a:srgbClr val="19799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p09_12"/>
          <p:cNvSpPr/>
          <p:nvPr/>
        </p:nvSpPr>
        <p:spPr>
          <a:xfrm>
            <a:off x="2379235" y="4608029"/>
            <a:ext cx="99157" cy="99157"/>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p10_06"/>
          <p:cNvSpPr/>
          <p:nvPr/>
        </p:nvSpPr>
        <p:spPr>
          <a:xfrm>
            <a:off x="1426759" y="4492729"/>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p10_07"/>
          <p:cNvSpPr/>
          <p:nvPr/>
        </p:nvSpPr>
        <p:spPr>
          <a:xfrm>
            <a:off x="1585505" y="4492729"/>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p10_08"/>
          <p:cNvSpPr/>
          <p:nvPr/>
        </p:nvSpPr>
        <p:spPr>
          <a:xfrm>
            <a:off x="1744251" y="4492729"/>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p10_09"/>
          <p:cNvSpPr/>
          <p:nvPr/>
        </p:nvSpPr>
        <p:spPr>
          <a:xfrm>
            <a:off x="1902997" y="4492729"/>
            <a:ext cx="99157" cy="99157"/>
          </a:xfrm>
          <a:prstGeom prst="roundRect">
            <a:avLst>
              <a:gd name="adj" fmla="val 30000"/>
            </a:avLst>
          </a:prstGeom>
          <a:solidFill>
            <a:srgbClr val="2A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p10_10"/>
          <p:cNvSpPr/>
          <p:nvPr/>
        </p:nvSpPr>
        <p:spPr>
          <a:xfrm>
            <a:off x="2061743" y="4492729"/>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p10_11"/>
          <p:cNvSpPr/>
          <p:nvPr/>
        </p:nvSpPr>
        <p:spPr>
          <a:xfrm>
            <a:off x="2220489" y="4492729"/>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p10_12"/>
          <p:cNvSpPr/>
          <p:nvPr/>
        </p:nvSpPr>
        <p:spPr>
          <a:xfrm>
            <a:off x="2379235" y="4492729"/>
            <a:ext cx="99157" cy="99157"/>
          </a:xfrm>
          <a:prstGeom prst="roundRect">
            <a:avLst>
              <a:gd name="adj" fmla="val 30000"/>
            </a:avLst>
          </a:prstGeom>
          <a:solidFill>
            <a:srgbClr val="145C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p11_06"/>
          <p:cNvSpPr/>
          <p:nvPr/>
        </p:nvSpPr>
        <p:spPr>
          <a:xfrm>
            <a:off x="1426759" y="4377430"/>
            <a:ext cx="99157" cy="99157"/>
          </a:xfrm>
          <a:prstGeom prst="roundRect">
            <a:avLst>
              <a:gd name="adj" fmla="val 30000"/>
            </a:avLst>
          </a:prstGeom>
          <a:solidFill>
            <a:srgbClr val="1252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p11_07"/>
          <p:cNvSpPr/>
          <p:nvPr/>
        </p:nvSpPr>
        <p:spPr>
          <a:xfrm>
            <a:off x="1585505" y="4377430"/>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p11_08"/>
          <p:cNvSpPr/>
          <p:nvPr/>
        </p:nvSpPr>
        <p:spPr>
          <a:xfrm>
            <a:off x="1744251" y="4377430"/>
            <a:ext cx="99157" cy="99157"/>
          </a:xfrm>
          <a:prstGeom prst="roundRect">
            <a:avLst>
              <a:gd name="adj" fmla="val 30000"/>
            </a:avLst>
          </a:prstGeom>
          <a:solidFill>
            <a:srgbClr val="1F8E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p11_09"/>
          <p:cNvSpPr/>
          <p:nvPr/>
        </p:nvSpPr>
        <p:spPr>
          <a:xfrm>
            <a:off x="1902997" y="4377430"/>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p11_10"/>
          <p:cNvSpPr/>
          <p:nvPr/>
        </p:nvSpPr>
        <p:spPr>
          <a:xfrm>
            <a:off x="2061743" y="4377430"/>
            <a:ext cx="99157" cy="99157"/>
          </a:xfrm>
          <a:prstGeom prst="roundRect">
            <a:avLst>
              <a:gd name="adj" fmla="val 30000"/>
            </a:avLst>
          </a:prstGeom>
          <a:solidFill>
            <a:srgbClr val="2695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p11_11"/>
          <p:cNvSpPr/>
          <p:nvPr/>
        </p:nvSpPr>
        <p:spPr>
          <a:xfrm>
            <a:off x="2220489" y="4377430"/>
            <a:ext cx="99157" cy="99157"/>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p11_12"/>
          <p:cNvSpPr/>
          <p:nvPr/>
        </p:nvSpPr>
        <p:spPr>
          <a:xfrm>
            <a:off x="2379235" y="43774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p12_06"/>
          <p:cNvSpPr/>
          <p:nvPr/>
        </p:nvSpPr>
        <p:spPr>
          <a:xfrm>
            <a:off x="1426759" y="4262130"/>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p12_07"/>
          <p:cNvSpPr/>
          <p:nvPr/>
        </p:nvSpPr>
        <p:spPr>
          <a:xfrm>
            <a:off x="1585505" y="4262130"/>
            <a:ext cx="99157" cy="99157"/>
          </a:xfrm>
          <a:prstGeom prst="roundRect">
            <a:avLst>
              <a:gd name="adj" fmla="val 30000"/>
            </a:avLst>
          </a:prstGeom>
          <a:solidFill>
            <a:srgbClr val="176E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p12_08"/>
          <p:cNvSpPr/>
          <p:nvPr/>
        </p:nvSpPr>
        <p:spPr>
          <a:xfrm>
            <a:off x="1744251" y="4262130"/>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p12_09"/>
          <p:cNvSpPr/>
          <p:nvPr/>
        </p:nvSpPr>
        <p:spPr>
          <a:xfrm>
            <a:off x="1902997" y="4262130"/>
            <a:ext cx="99157" cy="99157"/>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p12_10"/>
          <p:cNvSpPr/>
          <p:nvPr/>
        </p:nvSpPr>
        <p:spPr>
          <a:xfrm>
            <a:off x="2061743" y="4262130"/>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p12_11"/>
          <p:cNvSpPr/>
          <p:nvPr/>
        </p:nvSpPr>
        <p:spPr>
          <a:xfrm>
            <a:off x="2220489" y="4262130"/>
            <a:ext cx="99157" cy="99157"/>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p12_12"/>
          <p:cNvSpPr/>
          <p:nvPr/>
        </p:nvSpPr>
        <p:spPr>
          <a:xfrm>
            <a:off x="2379235" y="4262130"/>
            <a:ext cx="99157" cy="99157"/>
          </a:xfrm>
          <a:prstGeom prst="roundRect">
            <a:avLst>
              <a:gd name="adj" fmla="val 30000"/>
            </a:avLst>
          </a:prstGeom>
          <a:solidFill>
            <a:srgbClr val="17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p13_06"/>
          <p:cNvSpPr/>
          <p:nvPr/>
        </p:nvSpPr>
        <p:spPr>
          <a:xfrm>
            <a:off x="1426759" y="4146830"/>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p13_07"/>
          <p:cNvSpPr/>
          <p:nvPr/>
        </p:nvSpPr>
        <p:spPr>
          <a:xfrm>
            <a:off x="1585505" y="4146830"/>
            <a:ext cx="99157" cy="99157"/>
          </a:xfrm>
          <a:prstGeom prst="roundRect">
            <a:avLst>
              <a:gd name="adj" fmla="val 30000"/>
            </a:avLst>
          </a:prstGeom>
          <a:solidFill>
            <a:srgbClr val="176D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p13_08"/>
          <p:cNvSpPr/>
          <p:nvPr/>
        </p:nvSpPr>
        <p:spPr>
          <a:xfrm>
            <a:off x="1744251" y="4146830"/>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p13_09"/>
          <p:cNvSpPr/>
          <p:nvPr/>
        </p:nvSpPr>
        <p:spPr>
          <a:xfrm>
            <a:off x="1902997" y="4146830"/>
            <a:ext cx="99157" cy="99157"/>
          </a:xfrm>
          <a:prstGeom prst="roundRect">
            <a:avLst>
              <a:gd name="adj" fmla="val 30000"/>
            </a:avLst>
          </a:prstGeom>
          <a:solidFill>
            <a:srgbClr val="2B9A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4" name="!!p13_10"/>
          <p:cNvSpPr/>
          <p:nvPr/>
        </p:nvSpPr>
        <p:spPr>
          <a:xfrm>
            <a:off x="2061743" y="4146830"/>
            <a:ext cx="99157" cy="99157"/>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p13_11"/>
          <p:cNvSpPr/>
          <p:nvPr/>
        </p:nvSpPr>
        <p:spPr>
          <a:xfrm>
            <a:off x="2220489" y="4146830"/>
            <a:ext cx="99157" cy="99157"/>
          </a:xfrm>
          <a:prstGeom prst="roundRect">
            <a:avLst>
              <a:gd name="adj" fmla="val 30000"/>
            </a:avLst>
          </a:prstGeom>
          <a:solidFill>
            <a:srgbClr val="21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p13_12"/>
          <p:cNvSpPr/>
          <p:nvPr/>
        </p:nvSpPr>
        <p:spPr>
          <a:xfrm>
            <a:off x="2379235" y="4146830"/>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p14_06"/>
          <p:cNvSpPr/>
          <p:nvPr/>
        </p:nvSpPr>
        <p:spPr>
          <a:xfrm>
            <a:off x="1426759" y="4031530"/>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p14_07"/>
          <p:cNvSpPr/>
          <p:nvPr/>
        </p:nvSpPr>
        <p:spPr>
          <a:xfrm>
            <a:off x="1585505" y="4031530"/>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p14_08"/>
          <p:cNvSpPr/>
          <p:nvPr/>
        </p:nvSpPr>
        <p:spPr>
          <a:xfrm>
            <a:off x="1744251" y="4031530"/>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p14_09"/>
          <p:cNvSpPr/>
          <p:nvPr/>
        </p:nvSpPr>
        <p:spPr>
          <a:xfrm>
            <a:off x="1902997" y="4031530"/>
            <a:ext cx="99157" cy="99157"/>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p14_10"/>
          <p:cNvSpPr/>
          <p:nvPr/>
        </p:nvSpPr>
        <p:spPr>
          <a:xfrm>
            <a:off x="2061743" y="4031530"/>
            <a:ext cx="99157" cy="99157"/>
          </a:xfrm>
          <a:prstGeom prst="roundRect">
            <a:avLst>
              <a:gd name="adj" fmla="val 30000"/>
            </a:avLst>
          </a:prstGeom>
          <a:solidFill>
            <a:srgbClr val="309E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p14_11"/>
          <p:cNvSpPr/>
          <p:nvPr/>
        </p:nvSpPr>
        <p:spPr>
          <a:xfrm>
            <a:off x="2220489" y="4031530"/>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p14_12"/>
          <p:cNvSpPr/>
          <p:nvPr/>
        </p:nvSpPr>
        <p:spPr>
          <a:xfrm>
            <a:off x="2379235" y="4031530"/>
            <a:ext cx="99157" cy="99157"/>
          </a:xfrm>
          <a:prstGeom prst="roundRect">
            <a:avLst>
              <a:gd name="adj" fmla="val 30000"/>
            </a:avLst>
          </a:prstGeom>
          <a:solidFill>
            <a:srgbClr val="1978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p15_07"/>
          <p:cNvSpPr/>
          <p:nvPr/>
        </p:nvSpPr>
        <p:spPr>
          <a:xfrm>
            <a:off x="1585505" y="3916231"/>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5" name="!!p15_08"/>
          <p:cNvSpPr/>
          <p:nvPr/>
        </p:nvSpPr>
        <p:spPr>
          <a:xfrm>
            <a:off x="1744251" y="3916231"/>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p15_09"/>
          <p:cNvSpPr/>
          <p:nvPr/>
        </p:nvSpPr>
        <p:spPr>
          <a:xfrm>
            <a:off x="1902997" y="3916231"/>
            <a:ext cx="99157" cy="99157"/>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7" name="!!p15_10"/>
          <p:cNvSpPr/>
          <p:nvPr/>
        </p:nvSpPr>
        <p:spPr>
          <a:xfrm>
            <a:off x="2061743" y="3916231"/>
            <a:ext cx="99157" cy="99157"/>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p15_11"/>
          <p:cNvSpPr/>
          <p:nvPr/>
        </p:nvSpPr>
        <p:spPr>
          <a:xfrm>
            <a:off x="2220489" y="3916231"/>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p15_12"/>
          <p:cNvSpPr/>
          <p:nvPr/>
        </p:nvSpPr>
        <p:spPr>
          <a:xfrm>
            <a:off x="2379235" y="3916231"/>
            <a:ext cx="99157" cy="99157"/>
          </a:xfrm>
          <a:prstGeom prst="roundRect">
            <a:avLst>
              <a:gd name="adj" fmla="val 30000"/>
            </a:avLst>
          </a:prstGeom>
          <a:solidFill>
            <a:srgbClr val="1A7B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p15_13"/>
          <p:cNvSpPr/>
          <p:nvPr/>
        </p:nvSpPr>
        <p:spPr>
          <a:xfrm>
            <a:off x="2537981" y="3916231"/>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p16_07"/>
          <p:cNvSpPr/>
          <p:nvPr/>
        </p:nvSpPr>
        <p:spPr>
          <a:xfrm>
            <a:off x="1585505" y="3800931"/>
            <a:ext cx="99157" cy="99157"/>
          </a:xfrm>
          <a:prstGeom prst="roundRect">
            <a:avLst>
              <a:gd name="adj" fmla="val 30000"/>
            </a:avLst>
          </a:prstGeom>
          <a:solidFill>
            <a:srgbClr val="176C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p16_08"/>
          <p:cNvSpPr/>
          <p:nvPr/>
        </p:nvSpPr>
        <p:spPr>
          <a:xfrm>
            <a:off x="1744251" y="3800931"/>
            <a:ext cx="99157" cy="99157"/>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p16_09"/>
          <p:cNvSpPr/>
          <p:nvPr/>
        </p:nvSpPr>
        <p:spPr>
          <a:xfrm>
            <a:off x="1902997" y="3800931"/>
            <a:ext cx="99157" cy="99157"/>
          </a:xfrm>
          <a:prstGeom prst="roundRect">
            <a:avLst>
              <a:gd name="adj" fmla="val 30000"/>
            </a:avLst>
          </a:prstGeom>
          <a:solidFill>
            <a:srgbClr val="2C9B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4" name="!!p16_10"/>
          <p:cNvSpPr/>
          <p:nvPr/>
        </p:nvSpPr>
        <p:spPr>
          <a:xfrm>
            <a:off x="2061743" y="3800931"/>
            <a:ext cx="99157" cy="99157"/>
          </a:xfrm>
          <a:prstGeom prst="roundRect">
            <a:avLst>
              <a:gd name="adj" fmla="val 30000"/>
            </a:avLst>
          </a:prstGeom>
          <a:solidFill>
            <a:srgbClr val="309E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p16_11"/>
          <p:cNvSpPr/>
          <p:nvPr/>
        </p:nvSpPr>
        <p:spPr>
          <a:xfrm>
            <a:off x="2220489" y="3800931"/>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6" name="!!p16_12"/>
          <p:cNvSpPr/>
          <p:nvPr/>
        </p:nvSpPr>
        <p:spPr>
          <a:xfrm>
            <a:off x="2379235" y="3800931"/>
            <a:ext cx="99157" cy="99157"/>
          </a:xfrm>
          <a:prstGeom prst="roundRect">
            <a:avLst>
              <a:gd name="adj" fmla="val 30000"/>
            </a:avLst>
          </a:prstGeom>
          <a:solidFill>
            <a:srgbClr val="1A7D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p16_13"/>
          <p:cNvSpPr/>
          <p:nvPr/>
        </p:nvSpPr>
        <p:spPr>
          <a:xfrm>
            <a:off x="2537981" y="3800931"/>
            <a:ext cx="99157" cy="99157"/>
          </a:xfrm>
          <a:prstGeom prst="roundRect">
            <a:avLst>
              <a:gd name="adj" fmla="val 30000"/>
            </a:avLst>
          </a:prstGeom>
          <a:solidFill>
            <a:srgbClr val="1359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8" name="!!p17_07"/>
          <p:cNvSpPr/>
          <p:nvPr/>
        </p:nvSpPr>
        <p:spPr>
          <a:xfrm>
            <a:off x="1585505" y="3685631"/>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p17_08"/>
          <p:cNvSpPr/>
          <p:nvPr/>
        </p:nvSpPr>
        <p:spPr>
          <a:xfrm>
            <a:off x="1744251" y="3685631"/>
            <a:ext cx="99157" cy="99157"/>
          </a:xfrm>
          <a:prstGeom prst="roundRect">
            <a:avLst>
              <a:gd name="adj" fmla="val 30000"/>
            </a:avLst>
          </a:prstGeom>
          <a:solidFill>
            <a:srgbClr val="1D8B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0" name="!!p17_09"/>
          <p:cNvSpPr/>
          <p:nvPr/>
        </p:nvSpPr>
        <p:spPr>
          <a:xfrm>
            <a:off x="1902997" y="3685631"/>
            <a:ext cx="99157" cy="99157"/>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p17_10"/>
          <p:cNvSpPr/>
          <p:nvPr/>
        </p:nvSpPr>
        <p:spPr>
          <a:xfrm>
            <a:off x="2061743" y="3685631"/>
            <a:ext cx="99157" cy="99157"/>
          </a:xfrm>
          <a:prstGeom prst="roundRect">
            <a:avLst>
              <a:gd name="adj" fmla="val 30000"/>
            </a:avLst>
          </a:prstGeom>
          <a:solidFill>
            <a:srgbClr val="2E9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2" name="!!p17_11"/>
          <p:cNvSpPr/>
          <p:nvPr/>
        </p:nvSpPr>
        <p:spPr>
          <a:xfrm>
            <a:off x="2220489" y="3685631"/>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3" name="!!p17_12"/>
          <p:cNvSpPr/>
          <p:nvPr/>
        </p:nvSpPr>
        <p:spPr>
          <a:xfrm>
            <a:off x="2379235" y="3685631"/>
            <a:ext cx="99157" cy="99157"/>
          </a:xfrm>
          <a:prstGeom prst="roundRect">
            <a:avLst>
              <a:gd name="adj" fmla="val 30000"/>
            </a:avLst>
          </a:prstGeom>
          <a:solidFill>
            <a:srgbClr val="1A7F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4" name="!!p17_13"/>
          <p:cNvSpPr/>
          <p:nvPr/>
        </p:nvSpPr>
        <p:spPr>
          <a:xfrm>
            <a:off x="2537981" y="3685631"/>
            <a:ext cx="99157" cy="99157"/>
          </a:xfrm>
          <a:prstGeom prst="roundRect">
            <a:avLst>
              <a:gd name="adj" fmla="val 30000"/>
            </a:avLst>
          </a:prstGeom>
          <a:solidFill>
            <a:srgbClr val="135B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5" name="!!p18_06"/>
          <p:cNvSpPr/>
          <p:nvPr/>
        </p:nvSpPr>
        <p:spPr>
          <a:xfrm>
            <a:off x="1426759" y="3570331"/>
            <a:ext cx="99157" cy="99157"/>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6" name="!!p18_07"/>
          <p:cNvSpPr/>
          <p:nvPr/>
        </p:nvSpPr>
        <p:spPr>
          <a:xfrm>
            <a:off x="1585505" y="3570331"/>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7" name="!!p18_08"/>
          <p:cNvSpPr/>
          <p:nvPr/>
        </p:nvSpPr>
        <p:spPr>
          <a:xfrm>
            <a:off x="1744251" y="3570331"/>
            <a:ext cx="99157" cy="99157"/>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8" name="!!p18_09"/>
          <p:cNvSpPr/>
          <p:nvPr/>
        </p:nvSpPr>
        <p:spPr>
          <a:xfrm>
            <a:off x="1902997" y="3570331"/>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9" name="!!p18_10"/>
          <p:cNvSpPr/>
          <p:nvPr/>
        </p:nvSpPr>
        <p:spPr>
          <a:xfrm>
            <a:off x="2061743" y="3570331"/>
            <a:ext cx="99157" cy="99157"/>
          </a:xfrm>
          <a:prstGeom prst="roundRect">
            <a:avLst>
              <a:gd name="adj" fmla="val 30000"/>
            </a:avLst>
          </a:prstGeom>
          <a:solidFill>
            <a:srgbClr val="2A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0" name="!!p18_11"/>
          <p:cNvSpPr/>
          <p:nvPr/>
        </p:nvSpPr>
        <p:spPr>
          <a:xfrm>
            <a:off x="2220489" y="3570331"/>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1" name="!!p18_12"/>
          <p:cNvSpPr/>
          <p:nvPr/>
        </p:nvSpPr>
        <p:spPr>
          <a:xfrm>
            <a:off x="2379235" y="3570331"/>
            <a:ext cx="99157" cy="99157"/>
          </a:xfrm>
          <a:prstGeom prst="roundRect">
            <a:avLst>
              <a:gd name="adj" fmla="val 30000"/>
            </a:avLst>
          </a:prstGeom>
          <a:solidFill>
            <a:srgbClr val="1B82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2" name="!!p18_13"/>
          <p:cNvSpPr/>
          <p:nvPr/>
        </p:nvSpPr>
        <p:spPr>
          <a:xfrm>
            <a:off x="2537981" y="3570331"/>
            <a:ext cx="99157" cy="99157"/>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3" name="!!p19_06"/>
          <p:cNvSpPr/>
          <p:nvPr/>
        </p:nvSpPr>
        <p:spPr>
          <a:xfrm>
            <a:off x="1426759" y="3455032"/>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4" name="!!p19_07"/>
          <p:cNvSpPr/>
          <p:nvPr/>
        </p:nvSpPr>
        <p:spPr>
          <a:xfrm>
            <a:off x="1585505" y="3455032"/>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5" name="!!p19_08"/>
          <p:cNvSpPr/>
          <p:nvPr/>
        </p:nvSpPr>
        <p:spPr>
          <a:xfrm>
            <a:off x="1744251" y="3455032"/>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6" name="!!p19_09"/>
          <p:cNvSpPr/>
          <p:nvPr/>
        </p:nvSpPr>
        <p:spPr>
          <a:xfrm>
            <a:off x="1902997" y="3455032"/>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p19_10"/>
          <p:cNvSpPr/>
          <p:nvPr/>
        </p:nvSpPr>
        <p:spPr>
          <a:xfrm>
            <a:off x="2061743" y="3455032"/>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8" name="!!p19_11"/>
          <p:cNvSpPr/>
          <p:nvPr/>
        </p:nvSpPr>
        <p:spPr>
          <a:xfrm>
            <a:off x="2220489" y="3455032"/>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9" name="!!p19_12"/>
          <p:cNvSpPr/>
          <p:nvPr/>
        </p:nvSpPr>
        <p:spPr>
          <a:xfrm>
            <a:off x="2379235" y="3455032"/>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0" name="!!p19_13"/>
          <p:cNvSpPr/>
          <p:nvPr/>
        </p:nvSpPr>
        <p:spPr>
          <a:xfrm>
            <a:off x="2537981" y="3455032"/>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p20_06"/>
          <p:cNvSpPr/>
          <p:nvPr/>
        </p:nvSpPr>
        <p:spPr>
          <a:xfrm>
            <a:off x="1426759" y="3339732"/>
            <a:ext cx="99157" cy="99157"/>
          </a:xfrm>
          <a:prstGeom prst="roundRect">
            <a:avLst>
              <a:gd name="adj" fmla="val 30000"/>
            </a:avLst>
          </a:prstGeom>
          <a:solidFill>
            <a:srgbClr val="1668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2" name="!!p20_07"/>
          <p:cNvSpPr/>
          <p:nvPr/>
        </p:nvSpPr>
        <p:spPr>
          <a:xfrm>
            <a:off x="1585505" y="3339732"/>
            <a:ext cx="99157" cy="99157"/>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3" name="!!p20_08"/>
          <p:cNvSpPr/>
          <p:nvPr/>
        </p:nvSpPr>
        <p:spPr>
          <a:xfrm>
            <a:off x="1744251" y="3339732"/>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p20_09"/>
          <p:cNvSpPr/>
          <p:nvPr/>
        </p:nvSpPr>
        <p:spPr>
          <a:xfrm>
            <a:off x="1902997" y="3339732"/>
            <a:ext cx="99157" cy="99157"/>
          </a:xfrm>
          <a:prstGeom prst="roundRect">
            <a:avLst>
              <a:gd name="adj" fmla="val 30000"/>
            </a:avLst>
          </a:prstGeom>
          <a:solidFill>
            <a:srgbClr val="23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p20_10"/>
          <p:cNvSpPr/>
          <p:nvPr/>
        </p:nvSpPr>
        <p:spPr>
          <a:xfrm>
            <a:off x="2061743" y="3339732"/>
            <a:ext cx="99157" cy="99157"/>
          </a:xfrm>
          <a:prstGeom prst="roundRect">
            <a:avLst>
              <a:gd name="adj" fmla="val 30000"/>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p20_11"/>
          <p:cNvSpPr/>
          <p:nvPr/>
        </p:nvSpPr>
        <p:spPr>
          <a:xfrm>
            <a:off x="2220489" y="3339732"/>
            <a:ext cx="99157" cy="99157"/>
          </a:xfrm>
          <a:prstGeom prst="roundRect">
            <a:avLst>
              <a:gd name="adj" fmla="val 30000"/>
            </a:avLst>
          </a:prstGeom>
          <a:solidFill>
            <a:srgbClr val="26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7" name="!!p20_12"/>
          <p:cNvSpPr/>
          <p:nvPr/>
        </p:nvSpPr>
        <p:spPr>
          <a:xfrm>
            <a:off x="2379235" y="3339732"/>
            <a:ext cx="99157" cy="99157"/>
          </a:xfrm>
          <a:prstGeom prst="roundRect">
            <a:avLst>
              <a:gd name="adj" fmla="val 30000"/>
            </a:avLst>
          </a:prstGeom>
          <a:solidFill>
            <a:srgbClr val="21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p20_13"/>
          <p:cNvSpPr/>
          <p:nvPr/>
        </p:nvSpPr>
        <p:spPr>
          <a:xfrm>
            <a:off x="2537981" y="3339732"/>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p21_05"/>
          <p:cNvSpPr/>
          <p:nvPr/>
        </p:nvSpPr>
        <p:spPr>
          <a:xfrm>
            <a:off x="1268013" y="3224432"/>
            <a:ext cx="99157" cy="99157"/>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0" name="!!p21_06"/>
          <p:cNvSpPr/>
          <p:nvPr/>
        </p:nvSpPr>
        <p:spPr>
          <a:xfrm>
            <a:off x="1426759" y="3224432"/>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p21_07"/>
          <p:cNvSpPr/>
          <p:nvPr/>
        </p:nvSpPr>
        <p:spPr>
          <a:xfrm>
            <a:off x="1585505" y="3224432"/>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p21_08"/>
          <p:cNvSpPr/>
          <p:nvPr/>
        </p:nvSpPr>
        <p:spPr>
          <a:xfrm>
            <a:off x="1744251" y="3224432"/>
            <a:ext cx="99157" cy="99157"/>
          </a:xfrm>
          <a:prstGeom prst="roundRect">
            <a:avLst>
              <a:gd name="adj" fmla="val 30000"/>
            </a:avLst>
          </a:prstGeom>
          <a:solidFill>
            <a:srgbClr val="2A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p21_09"/>
          <p:cNvSpPr/>
          <p:nvPr/>
        </p:nvSpPr>
        <p:spPr>
          <a:xfrm>
            <a:off x="1902997" y="3224432"/>
            <a:ext cx="99157" cy="99157"/>
          </a:xfrm>
          <a:prstGeom prst="roundRect">
            <a:avLst>
              <a:gd name="adj" fmla="val 30000"/>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p21_10"/>
          <p:cNvSpPr/>
          <p:nvPr/>
        </p:nvSpPr>
        <p:spPr>
          <a:xfrm>
            <a:off x="2061743" y="3224432"/>
            <a:ext cx="99157" cy="99157"/>
          </a:xfrm>
          <a:prstGeom prst="roundRect">
            <a:avLst>
              <a:gd name="adj" fmla="val 30000"/>
            </a:avLst>
          </a:prstGeom>
          <a:solidFill>
            <a:srgbClr val="21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p21_11"/>
          <p:cNvSpPr/>
          <p:nvPr/>
        </p:nvSpPr>
        <p:spPr>
          <a:xfrm>
            <a:off x="2220489" y="3224432"/>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6" name="!!p21_12"/>
          <p:cNvSpPr/>
          <p:nvPr/>
        </p:nvSpPr>
        <p:spPr>
          <a:xfrm>
            <a:off x="2379235" y="3224432"/>
            <a:ext cx="99157" cy="99157"/>
          </a:xfrm>
          <a:prstGeom prst="roundRect">
            <a:avLst>
              <a:gd name="adj" fmla="val 30000"/>
            </a:avLst>
          </a:prstGeom>
          <a:solidFill>
            <a:srgbClr val="2A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p21_13"/>
          <p:cNvSpPr/>
          <p:nvPr/>
        </p:nvSpPr>
        <p:spPr>
          <a:xfrm>
            <a:off x="2537981" y="3224432"/>
            <a:ext cx="99157" cy="99157"/>
          </a:xfrm>
          <a:prstGeom prst="roundRect">
            <a:avLst>
              <a:gd name="adj" fmla="val 30000"/>
            </a:avLst>
          </a:prstGeom>
          <a:solidFill>
            <a:srgbClr val="1A7B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p22_05"/>
          <p:cNvSpPr/>
          <p:nvPr/>
        </p:nvSpPr>
        <p:spPr>
          <a:xfrm>
            <a:off x="1268013" y="3109132"/>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9" name="!!p22_06"/>
          <p:cNvSpPr/>
          <p:nvPr/>
        </p:nvSpPr>
        <p:spPr>
          <a:xfrm>
            <a:off x="1426759" y="3109132"/>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0" name="!!p22_07"/>
          <p:cNvSpPr/>
          <p:nvPr/>
        </p:nvSpPr>
        <p:spPr>
          <a:xfrm>
            <a:off x="1585505" y="3109132"/>
            <a:ext cx="99157" cy="99157"/>
          </a:xfrm>
          <a:prstGeom prst="roundRect">
            <a:avLst>
              <a:gd name="adj" fmla="val 30000"/>
            </a:avLst>
          </a:prstGeom>
          <a:solidFill>
            <a:srgbClr val="34A2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p22_08"/>
          <p:cNvSpPr/>
          <p:nvPr/>
        </p:nvSpPr>
        <p:spPr>
          <a:xfrm>
            <a:off x="1744251" y="3109132"/>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2" name="!!p22_09"/>
          <p:cNvSpPr/>
          <p:nvPr/>
        </p:nvSpPr>
        <p:spPr>
          <a:xfrm>
            <a:off x="1902997" y="3109132"/>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3" name="!!p22_10"/>
          <p:cNvSpPr/>
          <p:nvPr/>
        </p:nvSpPr>
        <p:spPr>
          <a:xfrm>
            <a:off x="2061743" y="3109132"/>
            <a:ext cx="99157" cy="99157"/>
          </a:xfrm>
          <a:prstGeom prst="roundRect">
            <a:avLst>
              <a:gd name="adj" fmla="val 30000"/>
            </a:avLst>
          </a:prstGeom>
          <a:solidFill>
            <a:srgbClr val="1F8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 name="!!p22_11"/>
          <p:cNvSpPr/>
          <p:nvPr/>
        </p:nvSpPr>
        <p:spPr>
          <a:xfrm>
            <a:off x="2220489" y="3109132"/>
            <a:ext cx="99157" cy="99157"/>
          </a:xfrm>
          <a:prstGeom prst="roundRect">
            <a:avLst>
              <a:gd name="adj" fmla="val 30000"/>
            </a:avLst>
          </a:prstGeom>
          <a:solidFill>
            <a:srgbClr val="2B99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5" name="!!p22_12"/>
          <p:cNvSpPr/>
          <p:nvPr/>
        </p:nvSpPr>
        <p:spPr>
          <a:xfrm>
            <a:off x="2379235" y="3109132"/>
            <a:ext cx="99157" cy="99157"/>
          </a:xfrm>
          <a:prstGeom prst="roundRect">
            <a:avLst>
              <a:gd name="adj" fmla="val 30000"/>
            </a:avLst>
          </a:prstGeom>
          <a:solidFill>
            <a:srgbClr val="30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6" name="!!p22_13"/>
          <p:cNvSpPr/>
          <p:nvPr/>
        </p:nvSpPr>
        <p:spPr>
          <a:xfrm>
            <a:off x="2537981" y="3109132"/>
            <a:ext cx="99157" cy="99157"/>
          </a:xfrm>
          <a:prstGeom prst="roundRect">
            <a:avLst>
              <a:gd name="adj" fmla="val 30000"/>
            </a:avLst>
          </a:prstGeom>
          <a:solidFill>
            <a:srgbClr val="1C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7" name="!!p23_04"/>
          <p:cNvSpPr/>
          <p:nvPr/>
        </p:nvSpPr>
        <p:spPr>
          <a:xfrm>
            <a:off x="1109267" y="2993833"/>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8" name="!!p23_05"/>
          <p:cNvSpPr/>
          <p:nvPr/>
        </p:nvSpPr>
        <p:spPr>
          <a:xfrm>
            <a:off x="1268013" y="2993833"/>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9" name="!!p23_06"/>
          <p:cNvSpPr/>
          <p:nvPr/>
        </p:nvSpPr>
        <p:spPr>
          <a:xfrm>
            <a:off x="1426759" y="2993833"/>
            <a:ext cx="99157" cy="99157"/>
          </a:xfrm>
          <a:prstGeom prst="roundRect">
            <a:avLst>
              <a:gd name="adj" fmla="val 30000"/>
            </a:avLst>
          </a:prstGeom>
          <a:solidFill>
            <a:srgbClr val="3A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p23_07"/>
          <p:cNvSpPr/>
          <p:nvPr/>
        </p:nvSpPr>
        <p:spPr>
          <a:xfrm>
            <a:off x="1585505" y="2993833"/>
            <a:ext cx="99157" cy="99157"/>
          </a:xfrm>
          <a:prstGeom prst="roundRect">
            <a:avLst>
              <a:gd name="adj" fmla="val 30000"/>
            </a:avLst>
          </a:prstGeom>
          <a:solidFill>
            <a:srgbClr val="44B0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1" name="!!p23_08"/>
          <p:cNvSpPr/>
          <p:nvPr/>
        </p:nvSpPr>
        <p:spPr>
          <a:xfrm>
            <a:off x="1744251" y="2993833"/>
            <a:ext cx="99157" cy="99157"/>
          </a:xfrm>
          <a:prstGeom prst="roundRect">
            <a:avLst>
              <a:gd name="adj" fmla="val 30000"/>
            </a:avLst>
          </a:prstGeom>
          <a:solidFill>
            <a:srgbClr val="3DAA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2" name="!!p23_09"/>
          <p:cNvSpPr/>
          <p:nvPr/>
        </p:nvSpPr>
        <p:spPr>
          <a:xfrm>
            <a:off x="1902997" y="2993833"/>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3" name="!!p23_10"/>
          <p:cNvSpPr/>
          <p:nvPr/>
        </p:nvSpPr>
        <p:spPr>
          <a:xfrm>
            <a:off x="2061743" y="2993833"/>
            <a:ext cx="99157" cy="99157"/>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4" name="!!p23_11"/>
          <p:cNvSpPr/>
          <p:nvPr/>
        </p:nvSpPr>
        <p:spPr>
          <a:xfrm>
            <a:off x="2220489" y="2993833"/>
            <a:ext cx="99157" cy="99157"/>
          </a:xfrm>
          <a:prstGeom prst="roundRect">
            <a:avLst>
              <a:gd name="adj" fmla="val 30000"/>
            </a:avLst>
          </a:prstGeom>
          <a:solidFill>
            <a:srgbClr val="2998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5" name="!!p23_12"/>
          <p:cNvSpPr/>
          <p:nvPr/>
        </p:nvSpPr>
        <p:spPr>
          <a:xfrm>
            <a:off x="2379235" y="2993833"/>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6" name="!!p23_13"/>
          <p:cNvSpPr/>
          <p:nvPr/>
        </p:nvSpPr>
        <p:spPr>
          <a:xfrm>
            <a:off x="2537981" y="2993833"/>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7" name="!!p23_14"/>
          <p:cNvSpPr/>
          <p:nvPr/>
        </p:nvSpPr>
        <p:spPr>
          <a:xfrm>
            <a:off x="2696727" y="2993833"/>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8" name="!!p24_04"/>
          <p:cNvSpPr/>
          <p:nvPr/>
        </p:nvSpPr>
        <p:spPr>
          <a:xfrm>
            <a:off x="1109267" y="2878533"/>
            <a:ext cx="99157" cy="99157"/>
          </a:xfrm>
          <a:prstGeom prst="roundRect">
            <a:avLst>
              <a:gd name="adj" fmla="val 30000"/>
            </a:avLst>
          </a:prstGeom>
          <a:solidFill>
            <a:srgbClr val="1A7F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9" name="!!p24_05"/>
          <p:cNvSpPr/>
          <p:nvPr/>
        </p:nvSpPr>
        <p:spPr>
          <a:xfrm>
            <a:off x="1268013" y="2878533"/>
            <a:ext cx="99157" cy="99157"/>
          </a:xfrm>
          <a:prstGeom prst="roundRect">
            <a:avLst>
              <a:gd name="adj" fmla="val 30000"/>
            </a:avLst>
          </a:prstGeom>
          <a:solidFill>
            <a:srgbClr val="38A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0" name="!!p24_06"/>
          <p:cNvSpPr/>
          <p:nvPr/>
        </p:nvSpPr>
        <p:spPr>
          <a:xfrm>
            <a:off x="1426759" y="2878533"/>
            <a:ext cx="99157" cy="99157"/>
          </a:xfrm>
          <a:prstGeom prst="roundRect">
            <a:avLst>
              <a:gd name="adj" fmla="val 30000"/>
            </a:avLst>
          </a:prstGeom>
          <a:solidFill>
            <a:srgbClr val="48B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1" name="!!p24_07"/>
          <p:cNvSpPr/>
          <p:nvPr/>
        </p:nvSpPr>
        <p:spPr>
          <a:xfrm>
            <a:off x="1585505" y="2878533"/>
            <a:ext cx="99157" cy="99157"/>
          </a:xfrm>
          <a:prstGeom prst="roundRect">
            <a:avLst>
              <a:gd name="adj" fmla="val 30000"/>
            </a:avLst>
          </a:prstGeom>
          <a:solidFill>
            <a:srgbClr val="4DB8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2" name="!!p24_08"/>
          <p:cNvSpPr/>
          <p:nvPr/>
        </p:nvSpPr>
        <p:spPr>
          <a:xfrm>
            <a:off x="1744251" y="2878533"/>
            <a:ext cx="99157" cy="99157"/>
          </a:xfrm>
          <a:prstGeom prst="roundRect">
            <a:avLst>
              <a:gd name="adj" fmla="val 30000"/>
            </a:avLst>
          </a:prstGeom>
          <a:solidFill>
            <a:srgbClr val="41A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3" name="!!p24_09"/>
          <p:cNvSpPr/>
          <p:nvPr/>
        </p:nvSpPr>
        <p:spPr>
          <a:xfrm>
            <a:off x="1902997" y="2878533"/>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4" name="!!p24_10"/>
          <p:cNvSpPr/>
          <p:nvPr/>
        </p:nvSpPr>
        <p:spPr>
          <a:xfrm>
            <a:off x="2061743" y="2878533"/>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5" name="!!p24_11"/>
          <p:cNvSpPr/>
          <p:nvPr/>
        </p:nvSpPr>
        <p:spPr>
          <a:xfrm>
            <a:off x="2220489" y="2878533"/>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6" name="!!p24_12"/>
          <p:cNvSpPr/>
          <p:nvPr/>
        </p:nvSpPr>
        <p:spPr>
          <a:xfrm>
            <a:off x="2379235" y="2878533"/>
            <a:ext cx="99157" cy="99157"/>
          </a:xfrm>
          <a:prstGeom prst="roundRect">
            <a:avLst>
              <a:gd name="adj" fmla="val 30000"/>
            </a:avLst>
          </a:prstGeom>
          <a:solidFill>
            <a:srgbClr val="2C9B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7" name="!!p24_13"/>
          <p:cNvSpPr/>
          <p:nvPr/>
        </p:nvSpPr>
        <p:spPr>
          <a:xfrm>
            <a:off x="2537981" y="2878533"/>
            <a:ext cx="99157" cy="99157"/>
          </a:xfrm>
          <a:prstGeom prst="roundRect">
            <a:avLst>
              <a:gd name="adj" fmla="val 30000"/>
            </a:avLst>
          </a:prstGeom>
          <a:solidFill>
            <a:srgbClr val="1B82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8" name="!!p24_14"/>
          <p:cNvSpPr/>
          <p:nvPr/>
        </p:nvSpPr>
        <p:spPr>
          <a:xfrm>
            <a:off x="2696727" y="2878533"/>
            <a:ext cx="99157" cy="99157"/>
          </a:xfrm>
          <a:prstGeom prst="roundRect">
            <a:avLst>
              <a:gd name="adj" fmla="val 30000"/>
            </a:avLst>
          </a:prstGeom>
          <a:solidFill>
            <a:srgbClr val="0F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9" name="!!p25_04"/>
          <p:cNvSpPr/>
          <p:nvPr/>
        </p:nvSpPr>
        <p:spPr>
          <a:xfrm>
            <a:off x="1109267" y="2763233"/>
            <a:ext cx="99157" cy="99157"/>
          </a:xfrm>
          <a:prstGeom prst="roundRect">
            <a:avLst>
              <a:gd name="adj" fmla="val 30000"/>
            </a:avLst>
          </a:prstGeom>
          <a:solidFill>
            <a:srgbClr val="1C88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0" name="!!p25_05"/>
          <p:cNvSpPr/>
          <p:nvPr/>
        </p:nvSpPr>
        <p:spPr>
          <a:xfrm>
            <a:off x="1268013" y="2763233"/>
            <a:ext cx="99157" cy="99157"/>
          </a:xfrm>
          <a:prstGeom prst="roundRect">
            <a:avLst>
              <a:gd name="adj" fmla="val 30000"/>
            </a:avLst>
          </a:prstGeom>
          <a:solidFill>
            <a:srgbClr val="40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1" name="!!p25_06"/>
          <p:cNvSpPr/>
          <p:nvPr/>
        </p:nvSpPr>
        <p:spPr>
          <a:xfrm>
            <a:off x="1426759" y="2763233"/>
            <a:ext cx="99157" cy="99157"/>
          </a:xfrm>
          <a:prstGeom prst="roundRect">
            <a:avLst>
              <a:gd name="adj" fmla="val 30000"/>
            </a:avLst>
          </a:prstGeom>
          <a:solidFill>
            <a:srgbClr val="4CB7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2" name="!!p25_07"/>
          <p:cNvSpPr/>
          <p:nvPr/>
        </p:nvSpPr>
        <p:spPr>
          <a:xfrm>
            <a:off x="1585505" y="2763233"/>
            <a:ext cx="99157" cy="99157"/>
          </a:xfrm>
          <a:prstGeom prst="roundRect">
            <a:avLst>
              <a:gd name="adj" fmla="val 30000"/>
            </a:avLst>
          </a:prstGeom>
          <a:solidFill>
            <a:srgbClr val="4CB8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p25_08"/>
          <p:cNvSpPr/>
          <p:nvPr/>
        </p:nvSpPr>
        <p:spPr>
          <a:xfrm>
            <a:off x="1744251" y="2763233"/>
            <a:ext cx="99157" cy="99157"/>
          </a:xfrm>
          <a:prstGeom prst="roundRect">
            <a:avLst>
              <a:gd name="adj" fmla="val 30000"/>
            </a:avLst>
          </a:prstGeom>
          <a:solidFill>
            <a:srgbClr val="3DAA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p25_09"/>
          <p:cNvSpPr/>
          <p:nvPr/>
        </p:nvSpPr>
        <p:spPr>
          <a:xfrm>
            <a:off x="1902997" y="2763233"/>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p25_10"/>
          <p:cNvSpPr/>
          <p:nvPr/>
        </p:nvSpPr>
        <p:spPr>
          <a:xfrm>
            <a:off x="2061743" y="2763233"/>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6" name="!!p25_11"/>
          <p:cNvSpPr/>
          <p:nvPr/>
        </p:nvSpPr>
        <p:spPr>
          <a:xfrm>
            <a:off x="2220489" y="2763233"/>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7" name="!!p25_12"/>
          <p:cNvSpPr/>
          <p:nvPr/>
        </p:nvSpPr>
        <p:spPr>
          <a:xfrm>
            <a:off x="2379235" y="2763233"/>
            <a:ext cx="99157" cy="99157"/>
          </a:xfrm>
          <a:prstGeom prst="roundRect">
            <a:avLst>
              <a:gd name="adj" fmla="val 30000"/>
            </a:avLst>
          </a:prstGeom>
          <a:solidFill>
            <a:srgbClr val="1E8E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8" name="!!p25_13"/>
          <p:cNvSpPr/>
          <p:nvPr/>
        </p:nvSpPr>
        <p:spPr>
          <a:xfrm>
            <a:off x="2537981" y="2763233"/>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9" name="!!p25_14"/>
          <p:cNvSpPr/>
          <p:nvPr/>
        </p:nvSpPr>
        <p:spPr>
          <a:xfrm>
            <a:off x="2696727" y="2763233"/>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0" name="!!p26_03"/>
          <p:cNvSpPr/>
          <p:nvPr/>
        </p:nvSpPr>
        <p:spPr>
          <a:xfrm>
            <a:off x="950521" y="2647933"/>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1" name="!!p26_04"/>
          <p:cNvSpPr/>
          <p:nvPr/>
        </p:nvSpPr>
        <p:spPr>
          <a:xfrm>
            <a:off x="1109267" y="2647933"/>
            <a:ext cx="99157" cy="99157"/>
          </a:xfrm>
          <a:prstGeom prst="roundRect">
            <a:avLst>
              <a:gd name="adj" fmla="val 30000"/>
            </a:avLst>
          </a:prstGeom>
          <a:solidFill>
            <a:srgbClr val="1B83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2" name="!!p26_05"/>
          <p:cNvSpPr/>
          <p:nvPr/>
        </p:nvSpPr>
        <p:spPr>
          <a:xfrm>
            <a:off x="1268013" y="2647933"/>
            <a:ext cx="99157" cy="99157"/>
          </a:xfrm>
          <a:prstGeom prst="roundRect">
            <a:avLst>
              <a:gd name="adj" fmla="val 30000"/>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3" name="!!p26_06"/>
          <p:cNvSpPr/>
          <p:nvPr/>
        </p:nvSpPr>
        <p:spPr>
          <a:xfrm>
            <a:off x="1426759" y="2647933"/>
            <a:ext cx="99157" cy="99157"/>
          </a:xfrm>
          <a:prstGeom prst="roundRect">
            <a:avLst>
              <a:gd name="adj" fmla="val 30000"/>
            </a:avLst>
          </a:prstGeom>
          <a:solidFill>
            <a:srgbClr val="43AF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4" name="!!p26_07"/>
          <p:cNvSpPr/>
          <p:nvPr/>
        </p:nvSpPr>
        <p:spPr>
          <a:xfrm>
            <a:off x="1585505" y="2647933"/>
            <a:ext cx="99157" cy="99157"/>
          </a:xfrm>
          <a:prstGeom prst="roundRect">
            <a:avLst>
              <a:gd name="adj" fmla="val 30000"/>
            </a:avLst>
          </a:prstGeom>
          <a:solidFill>
            <a:srgbClr val="40AD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5" name="!!p26_08"/>
          <p:cNvSpPr/>
          <p:nvPr/>
        </p:nvSpPr>
        <p:spPr>
          <a:xfrm>
            <a:off x="1744251" y="2647933"/>
            <a:ext cx="99157" cy="99157"/>
          </a:xfrm>
          <a:prstGeom prst="roundRect">
            <a:avLst>
              <a:gd name="adj" fmla="val 30000"/>
            </a:avLst>
          </a:prstGeom>
          <a:solidFill>
            <a:srgbClr val="31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6" name="!!p26_09"/>
          <p:cNvSpPr/>
          <p:nvPr/>
        </p:nvSpPr>
        <p:spPr>
          <a:xfrm>
            <a:off x="1902997" y="2647933"/>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7" name="!!p26_10"/>
          <p:cNvSpPr/>
          <p:nvPr/>
        </p:nvSpPr>
        <p:spPr>
          <a:xfrm>
            <a:off x="2061743" y="2647933"/>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8" name="!!p26_11"/>
          <p:cNvSpPr/>
          <p:nvPr/>
        </p:nvSpPr>
        <p:spPr>
          <a:xfrm>
            <a:off x="2220489" y="2647933"/>
            <a:ext cx="99157" cy="99157"/>
          </a:xfrm>
          <a:prstGeom prst="roundRect">
            <a:avLst>
              <a:gd name="adj" fmla="val 30000"/>
            </a:avLst>
          </a:prstGeom>
          <a:solidFill>
            <a:srgbClr val="1669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9" name="!!p26_12"/>
          <p:cNvSpPr/>
          <p:nvPr/>
        </p:nvSpPr>
        <p:spPr>
          <a:xfrm>
            <a:off x="2379235" y="2647933"/>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0" name="!!p26_13"/>
          <p:cNvSpPr/>
          <p:nvPr/>
        </p:nvSpPr>
        <p:spPr>
          <a:xfrm>
            <a:off x="2537981" y="2647933"/>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1" name="!!p26_14"/>
          <p:cNvSpPr/>
          <p:nvPr/>
        </p:nvSpPr>
        <p:spPr>
          <a:xfrm>
            <a:off x="2696727" y="2647933"/>
            <a:ext cx="99157" cy="99157"/>
          </a:xfrm>
          <a:prstGeom prst="roundRect">
            <a:avLst>
              <a:gd name="adj" fmla="val 30000"/>
            </a:avLst>
          </a:prstGeom>
          <a:solidFill>
            <a:srgbClr val="0C38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 name="!!p27_03"/>
          <p:cNvSpPr/>
          <p:nvPr/>
        </p:nvSpPr>
        <p:spPr>
          <a:xfrm>
            <a:off x="950521" y="25326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 name="!!p27_04"/>
          <p:cNvSpPr/>
          <p:nvPr/>
        </p:nvSpPr>
        <p:spPr>
          <a:xfrm>
            <a:off x="1109267" y="2532634"/>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 name="!!p27_05"/>
          <p:cNvSpPr/>
          <p:nvPr/>
        </p:nvSpPr>
        <p:spPr>
          <a:xfrm>
            <a:off x="1268013" y="2532634"/>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 name="!!p27_06"/>
          <p:cNvSpPr/>
          <p:nvPr/>
        </p:nvSpPr>
        <p:spPr>
          <a:xfrm>
            <a:off x="1426759" y="2532634"/>
            <a:ext cx="99157" cy="99157"/>
          </a:xfrm>
          <a:prstGeom prst="roundRect">
            <a:avLst>
              <a:gd name="adj" fmla="val 30000"/>
            </a:avLst>
          </a:prstGeom>
          <a:solidFill>
            <a:srgbClr val="309E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6" name="!!p27_07"/>
          <p:cNvSpPr/>
          <p:nvPr/>
        </p:nvSpPr>
        <p:spPr>
          <a:xfrm>
            <a:off x="1585505" y="2532634"/>
            <a:ext cx="99157" cy="99157"/>
          </a:xfrm>
          <a:prstGeom prst="roundRect">
            <a:avLst>
              <a:gd name="adj" fmla="val 30000"/>
            </a:avLst>
          </a:prstGeom>
          <a:solidFill>
            <a:srgbClr val="2C9A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 name="!!p27_08"/>
          <p:cNvSpPr/>
          <p:nvPr/>
        </p:nvSpPr>
        <p:spPr>
          <a:xfrm>
            <a:off x="1744251" y="2532634"/>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 name="!!p27_09"/>
          <p:cNvSpPr/>
          <p:nvPr/>
        </p:nvSpPr>
        <p:spPr>
          <a:xfrm>
            <a:off x="1902997" y="2532634"/>
            <a:ext cx="99157" cy="99157"/>
          </a:xfrm>
          <a:prstGeom prst="roundRect">
            <a:avLst>
              <a:gd name="adj" fmla="val 30000"/>
            </a:avLst>
          </a:prstGeom>
          <a:solidFill>
            <a:srgbClr val="1667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p27_10"/>
          <p:cNvSpPr/>
          <p:nvPr/>
        </p:nvSpPr>
        <p:spPr>
          <a:xfrm>
            <a:off x="2061743" y="2532634"/>
            <a:ext cx="99157" cy="99157"/>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0" name="!!p27_11"/>
          <p:cNvSpPr/>
          <p:nvPr/>
        </p:nvSpPr>
        <p:spPr>
          <a:xfrm>
            <a:off x="2220489" y="2532634"/>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1" name="!!p27_12"/>
          <p:cNvSpPr/>
          <p:nvPr/>
        </p:nvSpPr>
        <p:spPr>
          <a:xfrm>
            <a:off x="2379235" y="2532634"/>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p27_13"/>
          <p:cNvSpPr/>
          <p:nvPr/>
        </p:nvSpPr>
        <p:spPr>
          <a:xfrm>
            <a:off x="2537981" y="2532634"/>
            <a:ext cx="99157" cy="99157"/>
          </a:xfrm>
          <a:prstGeom prst="roundRect">
            <a:avLst>
              <a:gd name="adj" fmla="val 30000"/>
            </a:avLst>
          </a:prstGeom>
          <a:solidFill>
            <a:srgbClr val="0F44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p27_14"/>
          <p:cNvSpPr/>
          <p:nvPr/>
        </p:nvSpPr>
        <p:spPr>
          <a:xfrm>
            <a:off x="2696727" y="2532634"/>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 name="!!p28_03"/>
          <p:cNvSpPr/>
          <p:nvPr/>
        </p:nvSpPr>
        <p:spPr>
          <a:xfrm>
            <a:off x="950521" y="2417334"/>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 name="!!p28_04"/>
          <p:cNvSpPr/>
          <p:nvPr/>
        </p:nvSpPr>
        <p:spPr>
          <a:xfrm>
            <a:off x="1109267" y="2417334"/>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6" name="!!p28_05"/>
          <p:cNvSpPr/>
          <p:nvPr/>
        </p:nvSpPr>
        <p:spPr>
          <a:xfrm>
            <a:off x="1268013" y="2417334"/>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 name="!!p28_06"/>
          <p:cNvSpPr/>
          <p:nvPr/>
        </p:nvSpPr>
        <p:spPr>
          <a:xfrm>
            <a:off x="1426759" y="2417334"/>
            <a:ext cx="99157" cy="99157"/>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 name="!!p28_07"/>
          <p:cNvSpPr/>
          <p:nvPr/>
        </p:nvSpPr>
        <p:spPr>
          <a:xfrm>
            <a:off x="1585505" y="2417334"/>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 name="!!p28_08"/>
          <p:cNvSpPr/>
          <p:nvPr/>
        </p:nvSpPr>
        <p:spPr>
          <a:xfrm>
            <a:off x="1744251" y="2417334"/>
            <a:ext cx="99157" cy="99157"/>
          </a:xfrm>
          <a:prstGeom prst="roundRect">
            <a:avLst>
              <a:gd name="adj" fmla="val 30000"/>
            </a:avLst>
          </a:prstGeom>
          <a:solidFill>
            <a:srgbClr val="176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0" name="!!p28_09"/>
          <p:cNvSpPr/>
          <p:nvPr/>
        </p:nvSpPr>
        <p:spPr>
          <a:xfrm>
            <a:off x="1902997" y="2417334"/>
            <a:ext cx="99157" cy="99157"/>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1" name="!!p28_10"/>
          <p:cNvSpPr/>
          <p:nvPr/>
        </p:nvSpPr>
        <p:spPr>
          <a:xfrm>
            <a:off x="2061743" y="2417334"/>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 name="!!p28_11"/>
          <p:cNvSpPr/>
          <p:nvPr/>
        </p:nvSpPr>
        <p:spPr>
          <a:xfrm>
            <a:off x="2220489" y="2417334"/>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 name="!!p28_12"/>
          <p:cNvSpPr/>
          <p:nvPr/>
        </p:nvSpPr>
        <p:spPr>
          <a:xfrm>
            <a:off x="2379235" y="2417334"/>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 name="!!p28_13"/>
          <p:cNvSpPr/>
          <p:nvPr/>
        </p:nvSpPr>
        <p:spPr>
          <a:xfrm>
            <a:off x="2537981" y="2417334"/>
            <a:ext cx="99157" cy="99157"/>
          </a:xfrm>
          <a:prstGeom prst="roundRect">
            <a:avLst>
              <a:gd name="adj" fmla="val 30000"/>
            </a:avLst>
          </a:prstGeom>
          <a:solidFill>
            <a:srgbClr val="0C37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p28_14"/>
          <p:cNvSpPr/>
          <p:nvPr/>
        </p:nvSpPr>
        <p:spPr>
          <a:xfrm>
            <a:off x="2696727" y="2417334"/>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6" name="!!p29_03"/>
          <p:cNvSpPr/>
          <p:nvPr/>
        </p:nvSpPr>
        <p:spPr>
          <a:xfrm>
            <a:off x="950521" y="2302034"/>
            <a:ext cx="99157" cy="99157"/>
          </a:xfrm>
          <a:prstGeom prst="roundRect">
            <a:avLst>
              <a:gd name="adj" fmla="val 30000"/>
            </a:avLst>
          </a:prstGeom>
          <a:solidFill>
            <a:srgbClr val="0B3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p29_04"/>
          <p:cNvSpPr/>
          <p:nvPr/>
        </p:nvSpPr>
        <p:spPr>
          <a:xfrm>
            <a:off x="1109267" y="2302034"/>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 name="!!p29_05"/>
          <p:cNvSpPr/>
          <p:nvPr/>
        </p:nvSpPr>
        <p:spPr>
          <a:xfrm>
            <a:off x="1268013" y="2302034"/>
            <a:ext cx="99157" cy="99157"/>
          </a:xfrm>
          <a:prstGeom prst="roundRect">
            <a:avLst>
              <a:gd name="adj" fmla="val 30000"/>
            </a:avLst>
          </a:prstGeom>
          <a:solidFill>
            <a:srgbClr val="1460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 name="!!p29_06"/>
          <p:cNvSpPr/>
          <p:nvPr/>
        </p:nvSpPr>
        <p:spPr>
          <a:xfrm>
            <a:off x="1426759" y="2302034"/>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0" name="!!p29_07"/>
          <p:cNvSpPr/>
          <p:nvPr/>
        </p:nvSpPr>
        <p:spPr>
          <a:xfrm>
            <a:off x="1585505" y="2302034"/>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1" name="!!p29_08"/>
          <p:cNvSpPr/>
          <p:nvPr/>
        </p:nvSpPr>
        <p:spPr>
          <a:xfrm>
            <a:off x="1744251" y="2302034"/>
            <a:ext cx="99157" cy="99157"/>
          </a:xfrm>
          <a:prstGeom prst="roundRect">
            <a:avLst>
              <a:gd name="adj" fmla="val 30000"/>
            </a:avLst>
          </a:prstGeom>
          <a:solidFill>
            <a:srgbClr val="1150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 name="!!p29_09"/>
          <p:cNvSpPr/>
          <p:nvPr/>
        </p:nvSpPr>
        <p:spPr>
          <a:xfrm>
            <a:off x="1902997" y="2302034"/>
            <a:ext cx="99157" cy="99157"/>
          </a:xfrm>
          <a:prstGeom prst="roundRect">
            <a:avLst>
              <a:gd name="adj" fmla="val 30000"/>
            </a:avLst>
          </a:prstGeom>
          <a:solidFill>
            <a:srgbClr val="0D3D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3" name="!!p29_10"/>
          <p:cNvSpPr/>
          <p:nvPr/>
        </p:nvSpPr>
        <p:spPr>
          <a:xfrm>
            <a:off x="2061743" y="2302034"/>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p29_11"/>
          <p:cNvSpPr/>
          <p:nvPr/>
        </p:nvSpPr>
        <p:spPr>
          <a:xfrm>
            <a:off x="2220489" y="2302034"/>
            <a:ext cx="99157" cy="99157"/>
          </a:xfrm>
          <a:prstGeom prst="roundRect">
            <a:avLst>
              <a:gd name="adj" fmla="val 30000"/>
            </a:avLst>
          </a:prstGeom>
          <a:solidFill>
            <a:srgbClr val="0C3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5" name="!!p29_12"/>
          <p:cNvSpPr/>
          <p:nvPr/>
        </p:nvSpPr>
        <p:spPr>
          <a:xfrm>
            <a:off x="2379235" y="2302034"/>
            <a:ext cx="99157" cy="99157"/>
          </a:xfrm>
          <a:prstGeom prst="roundRect">
            <a:avLst>
              <a:gd name="adj" fmla="val 30000"/>
            </a:avLst>
          </a:prstGeom>
          <a:solidFill>
            <a:srgbClr val="0B34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6" name="!!p29_13"/>
          <p:cNvSpPr/>
          <p:nvPr/>
        </p:nvSpPr>
        <p:spPr>
          <a:xfrm>
            <a:off x="2537981" y="2302034"/>
            <a:ext cx="99157" cy="99157"/>
          </a:xfrm>
          <a:prstGeom prst="roundRect">
            <a:avLst>
              <a:gd name="adj" fmla="val 30000"/>
            </a:avLst>
          </a:prstGeom>
          <a:solidFill>
            <a:srgbClr val="0B3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7" name="!!p30_03"/>
          <p:cNvSpPr/>
          <p:nvPr/>
        </p:nvSpPr>
        <p:spPr>
          <a:xfrm>
            <a:off x="950521" y="2186734"/>
            <a:ext cx="99157" cy="99157"/>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8" name="!!p30_04"/>
          <p:cNvSpPr/>
          <p:nvPr/>
        </p:nvSpPr>
        <p:spPr>
          <a:xfrm>
            <a:off x="1109267" y="2186734"/>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9" name="!!p30_05"/>
          <p:cNvSpPr/>
          <p:nvPr/>
        </p:nvSpPr>
        <p:spPr>
          <a:xfrm>
            <a:off x="1268013" y="2186734"/>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0" name="!!p30_06"/>
          <p:cNvSpPr/>
          <p:nvPr/>
        </p:nvSpPr>
        <p:spPr>
          <a:xfrm>
            <a:off x="1426759" y="2186734"/>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1" name="!!p30_07"/>
          <p:cNvSpPr/>
          <p:nvPr/>
        </p:nvSpPr>
        <p:spPr>
          <a:xfrm>
            <a:off x="1585505" y="2186734"/>
            <a:ext cx="99157" cy="99157"/>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2" name="!!p30_08"/>
          <p:cNvSpPr/>
          <p:nvPr/>
        </p:nvSpPr>
        <p:spPr>
          <a:xfrm>
            <a:off x="1744251" y="21867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3" name="!!p30_09"/>
          <p:cNvSpPr/>
          <p:nvPr/>
        </p:nvSpPr>
        <p:spPr>
          <a:xfrm>
            <a:off x="1902997" y="21867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4" name="!!p30_10"/>
          <p:cNvSpPr/>
          <p:nvPr/>
        </p:nvSpPr>
        <p:spPr>
          <a:xfrm>
            <a:off x="2061743" y="21867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5" name="!!p30_11"/>
          <p:cNvSpPr/>
          <p:nvPr/>
        </p:nvSpPr>
        <p:spPr>
          <a:xfrm>
            <a:off x="2220489" y="2186734"/>
            <a:ext cx="99157" cy="99157"/>
          </a:xfrm>
          <a:prstGeom prst="roundRect">
            <a:avLst>
              <a:gd name="adj" fmla="val 30000"/>
            </a:avLst>
          </a:prstGeom>
          <a:solidFill>
            <a:srgbClr val="0A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6" name="!!p30_12"/>
          <p:cNvSpPr/>
          <p:nvPr/>
        </p:nvSpPr>
        <p:spPr>
          <a:xfrm>
            <a:off x="2379235" y="2186734"/>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7" name="!!p30_13"/>
          <p:cNvSpPr/>
          <p:nvPr/>
        </p:nvSpPr>
        <p:spPr>
          <a:xfrm>
            <a:off x="2537981" y="2186734"/>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8" name="!!p31_03"/>
          <p:cNvSpPr/>
          <p:nvPr/>
        </p:nvSpPr>
        <p:spPr>
          <a:xfrm>
            <a:off x="950521" y="2071435"/>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9" name="!!p31_04"/>
          <p:cNvSpPr/>
          <p:nvPr/>
        </p:nvSpPr>
        <p:spPr>
          <a:xfrm>
            <a:off x="1109267" y="2071435"/>
            <a:ext cx="99157" cy="99157"/>
          </a:xfrm>
          <a:prstGeom prst="roundRect">
            <a:avLst>
              <a:gd name="adj" fmla="val 30000"/>
            </a:avLst>
          </a:prstGeom>
          <a:solidFill>
            <a:srgbClr val="0F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0" name="!!p31_05"/>
          <p:cNvSpPr/>
          <p:nvPr/>
        </p:nvSpPr>
        <p:spPr>
          <a:xfrm>
            <a:off x="1268013" y="2071435"/>
            <a:ext cx="99157" cy="99157"/>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1" name="!!p31_06"/>
          <p:cNvSpPr/>
          <p:nvPr/>
        </p:nvSpPr>
        <p:spPr>
          <a:xfrm>
            <a:off x="1426759" y="2071435"/>
            <a:ext cx="99157" cy="99157"/>
          </a:xfrm>
          <a:prstGeom prst="roundRect">
            <a:avLst>
              <a:gd name="adj" fmla="val 30000"/>
            </a:avLst>
          </a:prstGeom>
          <a:solidFill>
            <a:srgbClr val="0E3D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2" name="!!p31_07"/>
          <p:cNvSpPr/>
          <p:nvPr/>
        </p:nvSpPr>
        <p:spPr>
          <a:xfrm>
            <a:off x="1585505" y="2071435"/>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3" name="!!p31_08"/>
          <p:cNvSpPr/>
          <p:nvPr/>
        </p:nvSpPr>
        <p:spPr>
          <a:xfrm>
            <a:off x="1744251" y="2071435"/>
            <a:ext cx="99157" cy="99157"/>
          </a:xfrm>
          <a:prstGeom prst="roundRect">
            <a:avLst>
              <a:gd name="adj" fmla="val 30000"/>
            </a:avLst>
          </a:prstGeom>
          <a:solidFill>
            <a:srgbClr val="0B34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4" name="!!p31_09"/>
          <p:cNvSpPr/>
          <p:nvPr/>
        </p:nvSpPr>
        <p:spPr>
          <a:xfrm>
            <a:off x="1902997" y="2071435"/>
            <a:ext cx="99157" cy="99157"/>
          </a:xfrm>
          <a:prstGeom prst="roundRect">
            <a:avLst>
              <a:gd name="adj" fmla="val 30000"/>
            </a:avLst>
          </a:prstGeom>
          <a:solidFill>
            <a:srgbClr val="0B3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5" name="!!p31_10"/>
          <p:cNvSpPr/>
          <p:nvPr/>
        </p:nvSpPr>
        <p:spPr>
          <a:xfrm>
            <a:off x="2061743" y="2071435"/>
            <a:ext cx="99157" cy="99157"/>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6" name="!!p31_11"/>
          <p:cNvSpPr/>
          <p:nvPr/>
        </p:nvSpPr>
        <p:spPr>
          <a:xfrm>
            <a:off x="2220489" y="2071435"/>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7" name="!!p31_12"/>
          <p:cNvSpPr/>
          <p:nvPr/>
        </p:nvSpPr>
        <p:spPr>
          <a:xfrm>
            <a:off x="2379235" y="20714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8" name="!!p31_13"/>
          <p:cNvSpPr/>
          <p:nvPr/>
        </p:nvSpPr>
        <p:spPr>
          <a:xfrm>
            <a:off x="2537981" y="2071435"/>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9" name="!!p32_03"/>
          <p:cNvSpPr/>
          <p:nvPr/>
        </p:nvSpPr>
        <p:spPr>
          <a:xfrm>
            <a:off x="950521" y="1956135"/>
            <a:ext cx="99157" cy="99157"/>
          </a:xfrm>
          <a:prstGeom prst="roundRect">
            <a:avLst>
              <a:gd name="adj" fmla="val 30000"/>
            </a:avLst>
          </a:prstGeom>
          <a:solidFill>
            <a:srgbClr val="0B3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0" name="!!p32_04"/>
          <p:cNvSpPr/>
          <p:nvPr/>
        </p:nvSpPr>
        <p:spPr>
          <a:xfrm>
            <a:off x="1109267" y="1956135"/>
            <a:ext cx="99157" cy="99157"/>
          </a:xfrm>
          <a:prstGeom prst="roundRect">
            <a:avLst>
              <a:gd name="adj" fmla="val 30000"/>
            </a:avLst>
          </a:prstGeom>
          <a:solidFill>
            <a:srgbClr val="1358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1" name="!!p32_05"/>
          <p:cNvSpPr/>
          <p:nvPr/>
        </p:nvSpPr>
        <p:spPr>
          <a:xfrm>
            <a:off x="1268013" y="1956135"/>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2" name="!!p32_06"/>
          <p:cNvSpPr/>
          <p:nvPr/>
        </p:nvSpPr>
        <p:spPr>
          <a:xfrm>
            <a:off x="1426759" y="1956135"/>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3" name="!!p32_07"/>
          <p:cNvSpPr/>
          <p:nvPr/>
        </p:nvSpPr>
        <p:spPr>
          <a:xfrm>
            <a:off x="1585505" y="1956135"/>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4" name="!!p32_08"/>
          <p:cNvSpPr/>
          <p:nvPr/>
        </p:nvSpPr>
        <p:spPr>
          <a:xfrm>
            <a:off x="1744251" y="1956135"/>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5" name="!!p32_09"/>
          <p:cNvSpPr/>
          <p:nvPr/>
        </p:nvSpPr>
        <p:spPr>
          <a:xfrm>
            <a:off x="1902997" y="19561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6" name="!!p32_10"/>
          <p:cNvSpPr/>
          <p:nvPr/>
        </p:nvSpPr>
        <p:spPr>
          <a:xfrm>
            <a:off x="2061743" y="19561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7" name="!!p32_11"/>
          <p:cNvSpPr/>
          <p:nvPr/>
        </p:nvSpPr>
        <p:spPr>
          <a:xfrm>
            <a:off x="2220489" y="1956135"/>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8" name="!!p32_12"/>
          <p:cNvSpPr/>
          <p:nvPr/>
        </p:nvSpPr>
        <p:spPr>
          <a:xfrm>
            <a:off x="2379235" y="1956135"/>
            <a:ext cx="99157" cy="99157"/>
          </a:xfrm>
          <a:prstGeom prst="roundRect">
            <a:avLst>
              <a:gd name="adj" fmla="val 30000"/>
            </a:avLst>
          </a:prstGeom>
          <a:solidFill>
            <a:srgbClr val="092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9" name="!!p33_03"/>
          <p:cNvSpPr/>
          <p:nvPr/>
        </p:nvSpPr>
        <p:spPr>
          <a:xfrm>
            <a:off x="950521" y="1840835"/>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0" name="!!p33_04"/>
          <p:cNvSpPr/>
          <p:nvPr/>
        </p:nvSpPr>
        <p:spPr>
          <a:xfrm>
            <a:off x="1109267" y="1840835"/>
            <a:ext cx="99157" cy="99157"/>
          </a:xfrm>
          <a:prstGeom prst="roundRect">
            <a:avLst>
              <a:gd name="adj" fmla="val 30000"/>
            </a:avLst>
          </a:prstGeom>
          <a:solidFill>
            <a:srgbClr val="1669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1" name="!!p33_05"/>
          <p:cNvSpPr/>
          <p:nvPr/>
        </p:nvSpPr>
        <p:spPr>
          <a:xfrm>
            <a:off x="1268013" y="1840835"/>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2" name="!!p33_06"/>
          <p:cNvSpPr/>
          <p:nvPr/>
        </p:nvSpPr>
        <p:spPr>
          <a:xfrm>
            <a:off x="1426759" y="1840835"/>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3" name="!!p33_07"/>
          <p:cNvSpPr/>
          <p:nvPr/>
        </p:nvSpPr>
        <p:spPr>
          <a:xfrm>
            <a:off x="1585505" y="1840835"/>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4" name="!!p33_08"/>
          <p:cNvSpPr/>
          <p:nvPr/>
        </p:nvSpPr>
        <p:spPr>
          <a:xfrm>
            <a:off x="1744251" y="1840835"/>
            <a:ext cx="99157" cy="99157"/>
          </a:xfrm>
          <a:prstGeom prst="roundRect">
            <a:avLst>
              <a:gd name="adj" fmla="val 30000"/>
            </a:avLst>
          </a:prstGeom>
          <a:solidFill>
            <a:srgbClr val="0A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5" name="!!p33_09"/>
          <p:cNvSpPr/>
          <p:nvPr/>
        </p:nvSpPr>
        <p:spPr>
          <a:xfrm>
            <a:off x="1902997" y="1840835"/>
            <a:ext cx="99157" cy="99157"/>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6" name="!!p33_10"/>
          <p:cNvSpPr/>
          <p:nvPr/>
        </p:nvSpPr>
        <p:spPr>
          <a:xfrm>
            <a:off x="2061743" y="1840835"/>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7" name="!!p33_11"/>
          <p:cNvSpPr/>
          <p:nvPr/>
        </p:nvSpPr>
        <p:spPr>
          <a:xfrm>
            <a:off x="2220489" y="1840835"/>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8" name="!!p33_12"/>
          <p:cNvSpPr/>
          <p:nvPr/>
        </p:nvSpPr>
        <p:spPr>
          <a:xfrm>
            <a:off x="2379235" y="1840835"/>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9" name="!!p34_03"/>
          <p:cNvSpPr/>
          <p:nvPr/>
        </p:nvSpPr>
        <p:spPr>
          <a:xfrm>
            <a:off x="950521" y="1725535"/>
            <a:ext cx="99157" cy="99157"/>
          </a:xfrm>
          <a:prstGeom prst="roundRect">
            <a:avLst>
              <a:gd name="adj" fmla="val 30000"/>
            </a:avLst>
          </a:prstGeom>
          <a:solidFill>
            <a:srgbClr val="0C37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0" name="!!p34_04"/>
          <p:cNvSpPr/>
          <p:nvPr/>
        </p:nvSpPr>
        <p:spPr>
          <a:xfrm>
            <a:off x="1109267" y="1725535"/>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1" name="!!p34_05"/>
          <p:cNvSpPr/>
          <p:nvPr/>
        </p:nvSpPr>
        <p:spPr>
          <a:xfrm>
            <a:off x="1268013" y="1725535"/>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2" name="!!p34_06"/>
          <p:cNvSpPr/>
          <p:nvPr/>
        </p:nvSpPr>
        <p:spPr>
          <a:xfrm>
            <a:off x="1426759" y="1725535"/>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3" name="!!p34_07"/>
          <p:cNvSpPr/>
          <p:nvPr/>
        </p:nvSpPr>
        <p:spPr>
          <a:xfrm>
            <a:off x="1585505" y="1725535"/>
            <a:ext cx="99157" cy="99157"/>
          </a:xfrm>
          <a:prstGeom prst="roundRect">
            <a:avLst>
              <a:gd name="adj" fmla="val 30000"/>
            </a:avLst>
          </a:prstGeom>
          <a:solidFill>
            <a:srgbClr val="0A2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4" name="!!p34_08"/>
          <p:cNvSpPr/>
          <p:nvPr/>
        </p:nvSpPr>
        <p:spPr>
          <a:xfrm>
            <a:off x="1744251" y="1725535"/>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5" name="!!p34_09"/>
          <p:cNvSpPr/>
          <p:nvPr/>
        </p:nvSpPr>
        <p:spPr>
          <a:xfrm>
            <a:off x="1902997" y="1725535"/>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6" name="!!p34_10"/>
          <p:cNvSpPr/>
          <p:nvPr/>
        </p:nvSpPr>
        <p:spPr>
          <a:xfrm>
            <a:off x="2061743" y="1725535"/>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7" name="!!p34_11"/>
          <p:cNvSpPr/>
          <p:nvPr/>
        </p:nvSpPr>
        <p:spPr>
          <a:xfrm>
            <a:off x="2220489" y="1725535"/>
            <a:ext cx="99157" cy="99157"/>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8" name="!!p35_04"/>
          <p:cNvSpPr/>
          <p:nvPr/>
        </p:nvSpPr>
        <p:spPr>
          <a:xfrm>
            <a:off x="1109267" y="1610236"/>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9" name="!!p35_05"/>
          <p:cNvSpPr/>
          <p:nvPr/>
        </p:nvSpPr>
        <p:spPr>
          <a:xfrm>
            <a:off x="1268013" y="1610236"/>
            <a:ext cx="99157" cy="99157"/>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0" name="!!p35_06"/>
          <p:cNvSpPr/>
          <p:nvPr/>
        </p:nvSpPr>
        <p:spPr>
          <a:xfrm>
            <a:off x="1426759" y="1610236"/>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1" name="!!p35_07"/>
          <p:cNvSpPr/>
          <p:nvPr/>
        </p:nvSpPr>
        <p:spPr>
          <a:xfrm>
            <a:off x="1585505" y="1610236"/>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2" name="!!p35_08"/>
          <p:cNvSpPr/>
          <p:nvPr/>
        </p:nvSpPr>
        <p:spPr>
          <a:xfrm>
            <a:off x="1744251" y="1610236"/>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3" name="!!p35_09"/>
          <p:cNvSpPr/>
          <p:nvPr/>
        </p:nvSpPr>
        <p:spPr>
          <a:xfrm>
            <a:off x="1902997" y="1610236"/>
            <a:ext cx="99157" cy="99157"/>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4" name="!!p35_10"/>
          <p:cNvSpPr/>
          <p:nvPr/>
        </p:nvSpPr>
        <p:spPr>
          <a:xfrm>
            <a:off x="2061743" y="1610236"/>
            <a:ext cx="99157" cy="99157"/>
          </a:xfrm>
          <a:prstGeom prst="roundRect">
            <a:avLst>
              <a:gd name="adj" fmla="val 30000"/>
            </a:avLst>
          </a:prstGeom>
          <a:solidFill>
            <a:srgbClr val="08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5" name="!!p35_11"/>
          <p:cNvSpPr/>
          <p:nvPr/>
        </p:nvSpPr>
        <p:spPr>
          <a:xfrm>
            <a:off x="2220489" y="1610236"/>
            <a:ext cx="99157" cy="99157"/>
          </a:xfrm>
          <a:prstGeom prst="roundRect">
            <a:avLst>
              <a:gd name="adj" fmla="val 30000"/>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6" name="!!p36_04"/>
          <p:cNvSpPr/>
          <p:nvPr/>
        </p:nvSpPr>
        <p:spPr>
          <a:xfrm>
            <a:off x="1109267" y="1494936"/>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7" name="!!p36_05"/>
          <p:cNvSpPr/>
          <p:nvPr/>
        </p:nvSpPr>
        <p:spPr>
          <a:xfrm>
            <a:off x="1268013" y="1494936"/>
            <a:ext cx="99157" cy="99157"/>
          </a:xfrm>
          <a:prstGeom prst="roundRect">
            <a:avLst>
              <a:gd name="adj" fmla="val 30000"/>
            </a:avLst>
          </a:prstGeom>
          <a:solidFill>
            <a:srgbClr val="1252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8" name="!!p36_06"/>
          <p:cNvSpPr/>
          <p:nvPr/>
        </p:nvSpPr>
        <p:spPr>
          <a:xfrm>
            <a:off x="1426759" y="1494936"/>
            <a:ext cx="99157" cy="99157"/>
          </a:xfrm>
          <a:prstGeom prst="roundRect">
            <a:avLst>
              <a:gd name="adj" fmla="val 30000"/>
            </a:avLst>
          </a:prstGeom>
          <a:solidFill>
            <a:srgbClr val="0C3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9" name="!!p36_07"/>
          <p:cNvSpPr/>
          <p:nvPr/>
        </p:nvSpPr>
        <p:spPr>
          <a:xfrm>
            <a:off x="1585505" y="1494936"/>
            <a:ext cx="99157" cy="99157"/>
          </a:xfrm>
          <a:prstGeom prst="roundRect">
            <a:avLst>
              <a:gd name="adj" fmla="val 30000"/>
            </a:avLst>
          </a:prstGeom>
          <a:solidFill>
            <a:srgbClr val="092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0" name="!!p36_08"/>
          <p:cNvSpPr/>
          <p:nvPr/>
        </p:nvSpPr>
        <p:spPr>
          <a:xfrm>
            <a:off x="1744251" y="1494936"/>
            <a:ext cx="99157" cy="99157"/>
          </a:xfrm>
          <a:prstGeom prst="roundRect">
            <a:avLst>
              <a:gd name="adj" fmla="val 30000"/>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1" name="!!p36_09"/>
          <p:cNvSpPr/>
          <p:nvPr/>
        </p:nvSpPr>
        <p:spPr>
          <a:xfrm>
            <a:off x="1902997" y="1494936"/>
            <a:ext cx="99157" cy="99157"/>
          </a:xfrm>
          <a:prstGeom prst="roundRect">
            <a:avLst>
              <a:gd name="adj" fmla="val 30000"/>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2" name="!!p36_10"/>
          <p:cNvSpPr/>
          <p:nvPr/>
        </p:nvSpPr>
        <p:spPr>
          <a:xfrm>
            <a:off x="2061743" y="1494936"/>
            <a:ext cx="99157" cy="99157"/>
          </a:xfrm>
          <a:prstGeom prst="roundRect">
            <a:avLst>
              <a:gd name="adj" fmla="val 30000"/>
            </a:avLst>
          </a:prstGeom>
          <a:solidFill>
            <a:srgbClr val="082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3" name="!!p37_04"/>
          <p:cNvSpPr/>
          <p:nvPr/>
        </p:nvSpPr>
        <p:spPr>
          <a:xfrm>
            <a:off x="1109267" y="1379636"/>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4" name="!!p37_05"/>
          <p:cNvSpPr/>
          <p:nvPr/>
        </p:nvSpPr>
        <p:spPr>
          <a:xfrm>
            <a:off x="1268013" y="1379636"/>
            <a:ext cx="99157" cy="99157"/>
          </a:xfrm>
          <a:prstGeom prst="roundRect">
            <a:avLst>
              <a:gd name="adj" fmla="val 30000"/>
            </a:avLst>
          </a:prstGeom>
          <a:solidFill>
            <a:srgbClr val="0C38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5" name="!!p37_06"/>
          <p:cNvSpPr/>
          <p:nvPr/>
        </p:nvSpPr>
        <p:spPr>
          <a:xfrm>
            <a:off x="1426759" y="1379636"/>
            <a:ext cx="99157" cy="99157"/>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6" name="!!p37_07"/>
          <p:cNvSpPr/>
          <p:nvPr/>
        </p:nvSpPr>
        <p:spPr>
          <a:xfrm>
            <a:off x="1585505" y="1379636"/>
            <a:ext cx="99157" cy="99157"/>
          </a:xfrm>
          <a:prstGeom prst="roundRect">
            <a:avLst>
              <a:gd name="adj" fmla="val 30000"/>
            </a:avLst>
          </a:prstGeom>
          <a:solidFill>
            <a:srgbClr val="082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7" name="!!p37_08"/>
          <p:cNvSpPr/>
          <p:nvPr/>
        </p:nvSpPr>
        <p:spPr>
          <a:xfrm>
            <a:off x="1744251" y="1379636"/>
            <a:ext cx="99157" cy="99157"/>
          </a:xfrm>
          <a:prstGeom prst="roundRect">
            <a:avLst>
              <a:gd name="adj" fmla="val 30000"/>
            </a:avLst>
          </a:prstGeom>
          <a:solidFill>
            <a:srgbClr val="0828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8" name="!!p37_09"/>
          <p:cNvSpPr/>
          <p:nvPr/>
        </p:nvSpPr>
        <p:spPr>
          <a:xfrm>
            <a:off x="1902997" y="1379636"/>
            <a:ext cx="99157" cy="99157"/>
          </a:xfrm>
          <a:prstGeom prst="roundRect">
            <a:avLst>
              <a:gd name="adj" fmla="val 30000"/>
            </a:avLst>
          </a:prstGeom>
          <a:solidFill>
            <a:srgbClr val="0828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9" name="Rectangle 328"/>
          <p:cNvSpPr/>
          <p:nvPr/>
        </p:nvSpPr>
        <p:spPr>
          <a:xfrm>
            <a:off x="920726" y="5905352"/>
            <a:ext cx="38099" cy="101597"/>
          </a:xfrm>
          <a:prstGeom prst="rect">
            <a:avLst/>
          </a:prstGeom>
          <a:solidFill>
            <a:srgbClr val="051D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0" name="Rectangle 329"/>
          <p:cNvSpPr/>
          <p:nvPr/>
        </p:nvSpPr>
        <p:spPr>
          <a:xfrm>
            <a:off x="952476" y="5905352"/>
            <a:ext cx="38099" cy="101597"/>
          </a:xfrm>
          <a:prstGeom prst="rect">
            <a:avLst/>
          </a:prstGeom>
          <a:solidFill>
            <a:srgbClr val="062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1" name="Rectangle 330"/>
          <p:cNvSpPr/>
          <p:nvPr/>
        </p:nvSpPr>
        <p:spPr>
          <a:xfrm>
            <a:off x="984225" y="5905352"/>
            <a:ext cx="38099" cy="101597"/>
          </a:xfrm>
          <a:prstGeom prst="rect">
            <a:avLst/>
          </a:prstGeom>
          <a:solidFill>
            <a:srgbClr val="07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2" name="Rectangle 331"/>
          <p:cNvSpPr/>
          <p:nvPr/>
        </p:nvSpPr>
        <p:spPr>
          <a:xfrm>
            <a:off x="1015974" y="5905352"/>
            <a:ext cx="38099" cy="101597"/>
          </a:xfrm>
          <a:prstGeom prst="rect">
            <a:avLst/>
          </a:prstGeom>
          <a:solidFill>
            <a:srgbClr val="0826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3" name="Rectangle 332"/>
          <p:cNvSpPr/>
          <p:nvPr/>
        </p:nvSpPr>
        <p:spPr>
          <a:xfrm>
            <a:off x="1047723" y="5905352"/>
            <a:ext cx="38099" cy="101597"/>
          </a:xfrm>
          <a:prstGeom prst="rect">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4" name="Rectangle 333"/>
          <p:cNvSpPr/>
          <p:nvPr/>
        </p:nvSpPr>
        <p:spPr>
          <a:xfrm>
            <a:off x="1079473" y="5905352"/>
            <a:ext cx="38099" cy="101597"/>
          </a:xfrm>
          <a:prstGeom prst="rect">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5" name="Rectangle 334"/>
          <p:cNvSpPr/>
          <p:nvPr/>
        </p:nvSpPr>
        <p:spPr>
          <a:xfrm>
            <a:off x="1111222" y="5905352"/>
            <a:ext cx="38099" cy="101597"/>
          </a:xfrm>
          <a:prstGeom prst="rect">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6" name="Rectangle 335"/>
          <p:cNvSpPr/>
          <p:nvPr/>
        </p:nvSpPr>
        <p:spPr>
          <a:xfrm>
            <a:off x="1142971" y="5905352"/>
            <a:ext cx="38099" cy="101597"/>
          </a:xfrm>
          <a:prstGeom prst="rect">
            <a:avLst/>
          </a:prstGeom>
          <a:solidFill>
            <a:srgbClr val="0B3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7" name="Rectangle 336"/>
          <p:cNvSpPr/>
          <p:nvPr/>
        </p:nvSpPr>
        <p:spPr>
          <a:xfrm>
            <a:off x="1174720" y="5905352"/>
            <a:ext cx="38099" cy="101597"/>
          </a:xfrm>
          <a:prstGeom prst="rect">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8" name="Rectangle 337"/>
          <p:cNvSpPr/>
          <p:nvPr/>
        </p:nvSpPr>
        <p:spPr>
          <a:xfrm>
            <a:off x="1206469" y="5905352"/>
            <a:ext cx="38099" cy="101597"/>
          </a:xfrm>
          <a:prstGeom prst="rect">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9" name="Rectangle 338"/>
          <p:cNvSpPr/>
          <p:nvPr/>
        </p:nvSpPr>
        <p:spPr>
          <a:xfrm>
            <a:off x="1238219" y="5905352"/>
            <a:ext cx="38099" cy="101597"/>
          </a:xfrm>
          <a:prstGeom prst="rect">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0" name="Rectangle 339"/>
          <p:cNvSpPr/>
          <p:nvPr/>
        </p:nvSpPr>
        <p:spPr>
          <a:xfrm>
            <a:off x="1269968" y="5905352"/>
            <a:ext cx="38099" cy="101597"/>
          </a:xfrm>
          <a:prstGeom prst="rect">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1" name="Rectangle 340"/>
          <p:cNvSpPr/>
          <p:nvPr/>
        </p:nvSpPr>
        <p:spPr>
          <a:xfrm>
            <a:off x="1301717" y="5905352"/>
            <a:ext cx="38099" cy="101597"/>
          </a:xfrm>
          <a:prstGeom prst="rect">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2" name="Rectangle 341"/>
          <p:cNvSpPr/>
          <p:nvPr/>
        </p:nvSpPr>
        <p:spPr>
          <a:xfrm>
            <a:off x="1333466" y="5905352"/>
            <a:ext cx="38099" cy="101597"/>
          </a:xfrm>
          <a:prstGeom prst="rect">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3" name="Rectangle 342"/>
          <p:cNvSpPr/>
          <p:nvPr/>
        </p:nvSpPr>
        <p:spPr>
          <a:xfrm>
            <a:off x="1365215" y="5905352"/>
            <a:ext cx="38099" cy="101597"/>
          </a:xfrm>
          <a:prstGeom prst="rect">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4" name="Rectangle 343"/>
          <p:cNvSpPr/>
          <p:nvPr/>
        </p:nvSpPr>
        <p:spPr>
          <a:xfrm>
            <a:off x="1396965" y="5905352"/>
            <a:ext cx="38099" cy="101597"/>
          </a:xfrm>
          <a:prstGeom prst="rect">
            <a:avLst/>
          </a:prstGeom>
          <a:solidFill>
            <a:srgbClr val="166B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5" name="Rectangle 344"/>
          <p:cNvSpPr/>
          <p:nvPr/>
        </p:nvSpPr>
        <p:spPr>
          <a:xfrm>
            <a:off x="1428714" y="5905352"/>
            <a:ext cx="38099" cy="101597"/>
          </a:xfrm>
          <a:prstGeom prst="rect">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6" name="Rectangle 345"/>
          <p:cNvSpPr/>
          <p:nvPr/>
        </p:nvSpPr>
        <p:spPr>
          <a:xfrm>
            <a:off x="1460463" y="5905352"/>
            <a:ext cx="38099" cy="101597"/>
          </a:xfrm>
          <a:prstGeom prst="rect">
            <a:avLst/>
          </a:prstGeom>
          <a:solidFill>
            <a:srgbClr val="1A7C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7" name="Rectangle 346"/>
          <p:cNvSpPr/>
          <p:nvPr/>
        </p:nvSpPr>
        <p:spPr>
          <a:xfrm>
            <a:off x="1492212" y="5905352"/>
            <a:ext cx="38099" cy="101597"/>
          </a:xfrm>
          <a:prstGeom prst="rect">
            <a:avLst/>
          </a:prstGeom>
          <a:solidFill>
            <a:srgbClr val="1C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8" name="Rectangle 347"/>
          <p:cNvSpPr/>
          <p:nvPr/>
        </p:nvSpPr>
        <p:spPr>
          <a:xfrm>
            <a:off x="1523961" y="5905352"/>
            <a:ext cx="38099" cy="101597"/>
          </a:xfrm>
          <a:prstGeom prst="rect">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9" name="Rectangle 348"/>
          <p:cNvSpPr/>
          <p:nvPr/>
        </p:nvSpPr>
        <p:spPr>
          <a:xfrm>
            <a:off x="1555711" y="5905352"/>
            <a:ext cx="38099" cy="101597"/>
          </a:xfrm>
          <a:prstGeom prst="rect">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0" name="Rectangle 349"/>
          <p:cNvSpPr/>
          <p:nvPr/>
        </p:nvSpPr>
        <p:spPr>
          <a:xfrm>
            <a:off x="1587460" y="5905352"/>
            <a:ext cx="38099" cy="101597"/>
          </a:xfrm>
          <a:prstGeom prst="rect">
            <a:avLst/>
          </a:prstGeom>
          <a:solidFill>
            <a:srgbClr val="2998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1" name="Rectangle 350"/>
          <p:cNvSpPr/>
          <p:nvPr/>
        </p:nvSpPr>
        <p:spPr>
          <a:xfrm>
            <a:off x="1619209" y="5905352"/>
            <a:ext cx="38099" cy="101597"/>
          </a:xfrm>
          <a:prstGeom prst="rect">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2" name="Rectangle 351"/>
          <p:cNvSpPr/>
          <p:nvPr/>
        </p:nvSpPr>
        <p:spPr>
          <a:xfrm>
            <a:off x="1650958" y="5905352"/>
            <a:ext cx="38099" cy="101597"/>
          </a:xfrm>
          <a:prstGeom prst="rect">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3" name="Rectangle 352"/>
          <p:cNvSpPr/>
          <p:nvPr/>
        </p:nvSpPr>
        <p:spPr>
          <a:xfrm>
            <a:off x="1682707" y="5905352"/>
            <a:ext cx="38099" cy="101597"/>
          </a:xfrm>
          <a:prstGeom prst="rect">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4" name="Rectangle 353"/>
          <p:cNvSpPr/>
          <p:nvPr/>
        </p:nvSpPr>
        <p:spPr>
          <a:xfrm>
            <a:off x="1714457" y="5905352"/>
            <a:ext cx="38099" cy="101597"/>
          </a:xfrm>
          <a:prstGeom prst="rect">
            <a:avLst/>
          </a:prstGeom>
          <a:solidFill>
            <a:srgbClr val="3F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5" name="Rectangle 354"/>
          <p:cNvSpPr/>
          <p:nvPr/>
        </p:nvSpPr>
        <p:spPr>
          <a:xfrm>
            <a:off x="1746206" y="5905352"/>
            <a:ext cx="38099" cy="101597"/>
          </a:xfrm>
          <a:prstGeom prst="rect">
            <a:avLst/>
          </a:prstGeom>
          <a:solidFill>
            <a:srgbClr val="45B1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6" name="Rectangle 355"/>
          <p:cNvSpPr/>
          <p:nvPr/>
        </p:nvSpPr>
        <p:spPr>
          <a:xfrm>
            <a:off x="1777955" y="5905352"/>
            <a:ext cx="38099" cy="101597"/>
          </a:xfrm>
          <a:prstGeom prst="rect">
            <a:avLst/>
          </a:prstGeom>
          <a:solidFill>
            <a:srgbClr val="4BB6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7" name="Rectangle 356"/>
          <p:cNvSpPr/>
          <p:nvPr/>
        </p:nvSpPr>
        <p:spPr>
          <a:xfrm>
            <a:off x="1809704" y="5905352"/>
            <a:ext cx="38099" cy="101597"/>
          </a:xfrm>
          <a:prstGeom prst="rect">
            <a:avLst/>
          </a:prstGeom>
          <a:solidFill>
            <a:srgbClr val="50B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8" name="Rectangle 357"/>
          <p:cNvSpPr/>
          <p:nvPr/>
        </p:nvSpPr>
        <p:spPr>
          <a:xfrm>
            <a:off x="1841453" y="5905352"/>
            <a:ext cx="38099" cy="101597"/>
          </a:xfrm>
          <a:prstGeom prst="rect">
            <a:avLst/>
          </a:prstGeom>
          <a:solidFill>
            <a:srgbClr val="60BF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9" name="Rectangle 358"/>
          <p:cNvSpPr/>
          <p:nvPr/>
        </p:nvSpPr>
        <p:spPr>
          <a:xfrm>
            <a:off x="1873203" y="5905352"/>
            <a:ext cx="38099" cy="101597"/>
          </a:xfrm>
          <a:prstGeom prst="rect">
            <a:avLst/>
          </a:prstGeom>
          <a:solidFill>
            <a:srgbClr val="75C1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0" name="Rectangle 359"/>
          <p:cNvSpPr/>
          <p:nvPr/>
        </p:nvSpPr>
        <p:spPr>
          <a:xfrm>
            <a:off x="1904952" y="5905352"/>
            <a:ext cx="38099" cy="101597"/>
          </a:xfrm>
          <a:prstGeom prst="rect">
            <a:avLst/>
          </a:prstGeom>
          <a:solidFill>
            <a:srgbClr val="8AC4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1" name="Rectangle 360"/>
          <p:cNvSpPr/>
          <p:nvPr/>
        </p:nvSpPr>
        <p:spPr>
          <a:xfrm>
            <a:off x="1936701" y="5905352"/>
            <a:ext cx="38099" cy="101597"/>
          </a:xfrm>
          <a:prstGeom prst="rect">
            <a:avLst/>
          </a:prstGeom>
          <a:solidFill>
            <a:srgbClr val="9F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2" name="Rectangle 361"/>
          <p:cNvSpPr/>
          <p:nvPr/>
        </p:nvSpPr>
        <p:spPr>
          <a:xfrm>
            <a:off x="1968450" y="5905352"/>
            <a:ext cx="38099" cy="101597"/>
          </a:xfrm>
          <a:prstGeom prst="rect">
            <a:avLst/>
          </a:prstGeom>
          <a:solidFill>
            <a:srgbClr val="B4C9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3" name="Rectangle 362"/>
          <p:cNvSpPr/>
          <p:nvPr/>
        </p:nvSpPr>
        <p:spPr>
          <a:xfrm>
            <a:off x="2000199" y="5905352"/>
            <a:ext cx="38099" cy="101597"/>
          </a:xfrm>
          <a:prstGeom prst="rect">
            <a:avLst/>
          </a:prstGeom>
          <a:solidFill>
            <a:srgbClr val="C9CB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4" name="Rectangle 363"/>
          <p:cNvSpPr/>
          <p:nvPr/>
        </p:nvSpPr>
        <p:spPr>
          <a:xfrm>
            <a:off x="2031949" y="5905352"/>
            <a:ext cx="38099" cy="101597"/>
          </a:xfrm>
          <a:prstGeom prst="rect">
            <a:avLst/>
          </a:prstGeom>
          <a:solidFill>
            <a:srgbClr val="DECE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5" name="Rectangle 364"/>
          <p:cNvSpPr/>
          <p:nvPr/>
        </p:nvSpPr>
        <p:spPr>
          <a:xfrm>
            <a:off x="2063698" y="5905352"/>
            <a:ext cx="38099" cy="101597"/>
          </a:xfrm>
          <a:prstGeom prst="rect">
            <a:avLst/>
          </a:prstGeom>
          <a:solidFill>
            <a:srgbClr val="F3D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6" name="Rectangle 365"/>
          <p:cNvSpPr/>
          <p:nvPr/>
        </p:nvSpPr>
        <p:spPr>
          <a:xfrm>
            <a:off x="2095447" y="5905352"/>
            <a:ext cx="38099" cy="101597"/>
          </a:xfrm>
          <a:prstGeom prst="rect">
            <a:avLst/>
          </a:prstGeom>
          <a:solidFill>
            <a:srgbClr val="FFCF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7" name="Rectangle 366"/>
          <p:cNvSpPr/>
          <p:nvPr/>
        </p:nvSpPr>
        <p:spPr>
          <a:xfrm>
            <a:off x="2127196" y="5905352"/>
            <a:ext cx="38099" cy="101597"/>
          </a:xfrm>
          <a:prstGeom prst="rect">
            <a:avLst/>
          </a:prstGeom>
          <a:solidFill>
            <a:srgbClr val="FFC6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8" name="Rectangle 367"/>
          <p:cNvSpPr/>
          <p:nvPr/>
        </p:nvSpPr>
        <p:spPr>
          <a:xfrm>
            <a:off x="2158946" y="5905352"/>
            <a:ext cx="38099" cy="101597"/>
          </a:xfrm>
          <a:prstGeom prst="rect">
            <a:avLst/>
          </a:prstGeom>
          <a:solidFill>
            <a:srgbClr val="FFBE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9" name="Rectangle 368"/>
          <p:cNvSpPr/>
          <p:nvPr/>
        </p:nvSpPr>
        <p:spPr>
          <a:xfrm>
            <a:off x="2190695" y="5905352"/>
            <a:ext cx="38099" cy="101597"/>
          </a:xfrm>
          <a:prstGeom prst="rect">
            <a:avLst/>
          </a:prstGeom>
          <a:solidFill>
            <a:srgbClr val="FFB6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0" name="Rectangle 369"/>
          <p:cNvSpPr/>
          <p:nvPr/>
        </p:nvSpPr>
        <p:spPr>
          <a:xfrm>
            <a:off x="2222444" y="5905352"/>
            <a:ext cx="38099" cy="101597"/>
          </a:xfrm>
          <a:prstGeom prst="rect">
            <a:avLst/>
          </a:prstGeom>
          <a:solidFill>
            <a:srgbClr val="FFAD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1" name="Rectangle 370"/>
          <p:cNvSpPr/>
          <p:nvPr/>
        </p:nvSpPr>
        <p:spPr>
          <a:xfrm>
            <a:off x="2254193" y="5905352"/>
            <a:ext cx="38099" cy="101597"/>
          </a:xfrm>
          <a:prstGeom prst="rect">
            <a:avLst/>
          </a:prstGeom>
          <a:solidFill>
            <a:srgbClr val="FFA5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2" name="Rectangle 371"/>
          <p:cNvSpPr/>
          <p:nvPr/>
        </p:nvSpPr>
        <p:spPr>
          <a:xfrm>
            <a:off x="2285942" y="5905352"/>
            <a:ext cx="38099" cy="101597"/>
          </a:xfrm>
          <a:prstGeom prst="rect">
            <a:avLst/>
          </a:prstGeom>
          <a:solidFill>
            <a:srgbClr val="FF9D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3" name="Rectangle 372"/>
          <p:cNvSpPr/>
          <p:nvPr/>
        </p:nvSpPr>
        <p:spPr>
          <a:xfrm>
            <a:off x="2317692" y="5905352"/>
            <a:ext cx="38099" cy="101597"/>
          </a:xfrm>
          <a:prstGeom prst="rect">
            <a:avLst/>
          </a:prstGeom>
          <a:solidFill>
            <a:srgbClr val="FF9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4" name="Rectangle 373"/>
          <p:cNvSpPr/>
          <p:nvPr/>
        </p:nvSpPr>
        <p:spPr>
          <a:xfrm>
            <a:off x="2349441" y="5905352"/>
            <a:ext cx="38099" cy="101597"/>
          </a:xfrm>
          <a:prstGeom prst="rect">
            <a:avLst/>
          </a:prstGeom>
          <a:solidFill>
            <a:srgbClr val="FF8C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5" name="Rectangle 374"/>
          <p:cNvSpPr/>
          <p:nvPr/>
        </p:nvSpPr>
        <p:spPr>
          <a:xfrm>
            <a:off x="2381190" y="5905352"/>
            <a:ext cx="38099" cy="101597"/>
          </a:xfrm>
          <a:prstGeom prst="rect">
            <a:avLst/>
          </a:prstGeom>
          <a:solidFill>
            <a:srgbClr val="FF84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6" name="Rectangle 375"/>
          <p:cNvSpPr/>
          <p:nvPr/>
        </p:nvSpPr>
        <p:spPr>
          <a:xfrm>
            <a:off x="2412939" y="5905352"/>
            <a:ext cx="38099" cy="101597"/>
          </a:xfrm>
          <a:prstGeom prst="rect">
            <a:avLst/>
          </a:prstGeom>
          <a:solidFill>
            <a:srgbClr val="FF7C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7" name="Rectangle 376"/>
          <p:cNvSpPr/>
          <p:nvPr/>
        </p:nvSpPr>
        <p:spPr>
          <a:xfrm>
            <a:off x="2444688" y="5905352"/>
            <a:ext cx="38099" cy="101597"/>
          </a:xfrm>
          <a:prstGeom prst="rect">
            <a:avLst/>
          </a:prstGeom>
          <a:solidFill>
            <a:srgbClr val="FD750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8" name="Rectangle 377"/>
          <p:cNvSpPr/>
          <p:nvPr/>
        </p:nvSpPr>
        <p:spPr>
          <a:xfrm>
            <a:off x="2476438" y="5905352"/>
            <a:ext cx="38099" cy="101597"/>
          </a:xfrm>
          <a:prstGeom prst="rect">
            <a:avLst/>
          </a:prstGeom>
          <a:solidFill>
            <a:srgbClr val="FB6F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9" name="Rectangle 378"/>
          <p:cNvSpPr/>
          <p:nvPr/>
        </p:nvSpPr>
        <p:spPr>
          <a:xfrm>
            <a:off x="2508187" y="5905352"/>
            <a:ext cx="38099" cy="101597"/>
          </a:xfrm>
          <a:prstGeom prst="rect">
            <a:avLst/>
          </a:prstGeom>
          <a:solidFill>
            <a:srgbClr val="FA69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0" name="Rectangle 379"/>
          <p:cNvSpPr/>
          <p:nvPr/>
        </p:nvSpPr>
        <p:spPr>
          <a:xfrm>
            <a:off x="2539936" y="5905352"/>
            <a:ext cx="38099" cy="101597"/>
          </a:xfrm>
          <a:prstGeom prst="rect">
            <a:avLst/>
          </a:prstGeom>
          <a:solidFill>
            <a:srgbClr val="F863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1" name="Rectangle 380"/>
          <p:cNvSpPr/>
          <p:nvPr/>
        </p:nvSpPr>
        <p:spPr>
          <a:xfrm>
            <a:off x="2571685" y="5905352"/>
            <a:ext cx="38099" cy="101597"/>
          </a:xfrm>
          <a:prstGeom prst="rect">
            <a:avLst/>
          </a:prstGeom>
          <a:solidFill>
            <a:srgbClr val="F65D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2" name="Rectangle 381"/>
          <p:cNvSpPr/>
          <p:nvPr/>
        </p:nvSpPr>
        <p:spPr>
          <a:xfrm>
            <a:off x="2603434" y="5905352"/>
            <a:ext cx="38099" cy="101597"/>
          </a:xfrm>
          <a:prstGeom prst="rect">
            <a:avLst/>
          </a:prstGeom>
          <a:solidFill>
            <a:srgbClr val="F457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3" name="Rectangle 382"/>
          <p:cNvSpPr/>
          <p:nvPr/>
        </p:nvSpPr>
        <p:spPr>
          <a:xfrm>
            <a:off x="2635184" y="5905352"/>
            <a:ext cx="38099" cy="101597"/>
          </a:xfrm>
          <a:prstGeom prst="rect">
            <a:avLst/>
          </a:prstGeom>
          <a:solidFill>
            <a:srgbClr val="F25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4" name="Rectangle 383"/>
          <p:cNvSpPr/>
          <p:nvPr/>
        </p:nvSpPr>
        <p:spPr>
          <a:xfrm>
            <a:off x="2666933" y="5905352"/>
            <a:ext cx="38099" cy="101597"/>
          </a:xfrm>
          <a:prstGeom prst="rect">
            <a:avLst/>
          </a:prstGeom>
          <a:solidFill>
            <a:srgbClr val="F04B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5" name="Rectangle 384"/>
          <p:cNvSpPr/>
          <p:nvPr/>
        </p:nvSpPr>
        <p:spPr>
          <a:xfrm>
            <a:off x="2698682" y="5905352"/>
            <a:ext cx="38099" cy="101597"/>
          </a:xfrm>
          <a:prstGeom prst="rect">
            <a:avLst/>
          </a:prstGeom>
          <a:solidFill>
            <a:srgbClr val="EE4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6" name="Rectangle 385"/>
          <p:cNvSpPr/>
          <p:nvPr/>
        </p:nvSpPr>
        <p:spPr>
          <a:xfrm>
            <a:off x="2730431" y="5905352"/>
            <a:ext cx="38099" cy="101597"/>
          </a:xfrm>
          <a:prstGeom prst="rect">
            <a:avLst/>
          </a:prstGeom>
          <a:solidFill>
            <a:srgbClr val="EC3F1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7" name="Rectangle 386"/>
          <p:cNvSpPr/>
          <p:nvPr/>
        </p:nvSpPr>
        <p:spPr>
          <a:xfrm>
            <a:off x="2762180" y="5905352"/>
            <a:ext cx="38099" cy="101597"/>
          </a:xfrm>
          <a:prstGeom prst="rect">
            <a:avLst/>
          </a:prstGeom>
          <a:solidFill>
            <a:srgbClr val="EA3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8" name="Rectangle 387"/>
          <p:cNvSpPr/>
          <p:nvPr/>
        </p:nvSpPr>
        <p:spPr>
          <a:xfrm>
            <a:off x="2793930" y="5905352"/>
            <a:ext cx="38099" cy="101597"/>
          </a:xfrm>
          <a:prstGeom prst="rect">
            <a:avLst/>
          </a:prstGeom>
          <a:solidFill>
            <a:srgbClr val="E833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9" name="TextBox 388"/>
          <p:cNvSpPr txBox="1"/>
          <p:nvPr/>
        </p:nvSpPr>
        <p:spPr>
          <a:xfrm>
            <a:off x="539736"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0</a:t>
            </a:r>
          </a:p>
        </p:txBody>
      </p:sp>
      <p:sp>
        <p:nvSpPr>
          <p:cNvPr id="390" name="TextBox 389"/>
          <p:cNvSpPr txBox="1"/>
          <p:nvPr/>
        </p:nvSpPr>
        <p:spPr>
          <a:xfrm>
            <a:off x="1492212"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200</a:t>
            </a:r>
          </a:p>
        </p:txBody>
      </p:sp>
      <p:sp>
        <p:nvSpPr>
          <p:cNvPr id="391" name="TextBox 390"/>
          <p:cNvSpPr txBox="1"/>
          <p:nvPr/>
        </p:nvSpPr>
        <p:spPr>
          <a:xfrm>
            <a:off x="2444688" y="6070448"/>
            <a:ext cx="761980" cy="190495"/>
          </a:xfrm>
          <a:prstGeom prst="rect">
            <a:avLst/>
          </a:prstGeom>
          <a:noFill/>
        </p:spPr>
        <p:txBody>
          <a:bodyPr wrap="square" anchor="t" lIns="0" rIns="0" tIns="0" bIns="0">
            <a:spAutoFit/>
          </a:bodyPr>
          <a:lstStyle/>
          <a:p>
            <a:pPr algn="ctr">
              <a:lnSpc>
                <a:spcPct val="125000"/>
              </a:lnSpc>
            </a:pPr>
            <a:r>
              <a:rPr sz="1100" b="0">
                <a:solidFill>
                  <a:srgbClr val="8FB6D0"/>
                </a:solidFill>
                <a:latin typeface="Consolas"/>
              </a:rPr>
              <a:t>400</a:t>
            </a:r>
          </a:p>
        </p:txBody>
      </p:sp>
      <p:sp>
        <p:nvSpPr>
          <p:cNvPr id="392" name="TextBox 391"/>
          <p:cNvSpPr txBox="1"/>
          <p:nvPr/>
        </p:nvSpPr>
        <p:spPr>
          <a:xfrm>
            <a:off x="2978075" y="5892652"/>
            <a:ext cx="1269968" cy="190495"/>
          </a:xfrm>
          <a:prstGeom prst="rect">
            <a:avLst/>
          </a:prstGeom>
          <a:noFill/>
        </p:spPr>
        <p:txBody>
          <a:bodyPr wrap="square" anchor="t" lIns="0" rIns="0" tIns="0" bIns="0">
            <a:spAutoFit/>
          </a:bodyPr>
          <a:lstStyle/>
          <a:p>
            <a:pPr algn="l">
              <a:lnSpc>
                <a:spcPct val="125000"/>
              </a:lnSpc>
            </a:pPr>
            <a:r>
              <a:rPr sz="1100" b="0">
                <a:solidFill>
                  <a:srgbClr val="8FB6D0"/>
                </a:solidFill>
                <a:latin typeface="Consolas"/>
              </a:rPr>
              <a:t>kPa</a:t>
            </a:r>
          </a:p>
        </p:txBody>
      </p:sp>
      <p:sp>
        <p:nvSpPr>
          <p:cNvPr id="393" name="!!piek"/>
          <p:cNvSpPr txBox="1"/>
          <p:nvPr/>
        </p:nvSpPr>
        <p:spPr>
          <a:xfrm>
            <a:off x="3555911" y="1587460"/>
            <a:ext cx="4444888" cy="1904952"/>
          </a:xfrm>
          <a:prstGeom prst="rect">
            <a:avLst/>
          </a:prstGeom>
          <a:noFill/>
        </p:spPr>
        <p:txBody>
          <a:bodyPr wrap="none" anchor="t" lIns="0" rIns="0" tIns="0" bIns="0">
            <a:spAutoFit/>
          </a:bodyPr>
          <a:lstStyle/>
          <a:p>
            <a:pPr algn="l">
              <a:lnSpc>
                <a:spcPct val="90000"/>
              </a:lnSpc>
            </a:pPr>
            <a:r>
              <a:rPr sz="15000" b="1">
                <a:solidFill>
                  <a:srgbClr val="52BDEC"/>
                </a:solidFill>
                <a:latin typeface="Segoe UI"/>
              </a:rPr>
              <a:t>186</a:t>
            </a:r>
          </a:p>
        </p:txBody>
      </p:sp>
      <p:sp>
        <p:nvSpPr>
          <p:cNvPr id="394" name="!!eenheid"/>
          <p:cNvSpPr txBox="1"/>
          <p:nvPr/>
        </p:nvSpPr>
        <p:spPr>
          <a:xfrm>
            <a:off x="6857828" y="1904952"/>
            <a:ext cx="1269968" cy="507987"/>
          </a:xfrm>
          <a:prstGeom prst="rect">
            <a:avLst/>
          </a:prstGeom>
          <a:noFill/>
        </p:spPr>
        <p:txBody>
          <a:bodyPr wrap="square" anchor="t" lIns="0" rIns="0" tIns="0" bIns="0">
            <a:spAutoFit/>
          </a:bodyPr>
          <a:lstStyle/>
          <a:p>
            <a:pPr algn="l">
              <a:lnSpc>
                <a:spcPct val="125000"/>
              </a:lnSpc>
            </a:pPr>
            <a:r>
              <a:rPr sz="4400" b="1">
                <a:solidFill>
                  <a:srgbClr val="52BDEC"/>
                </a:solidFill>
                <a:latin typeface="Segoe UI Light"/>
              </a:rPr>
              <a:t>kPa</a:t>
            </a:r>
          </a:p>
        </p:txBody>
      </p:sp>
      <p:sp>
        <p:nvSpPr>
          <p:cNvPr id="395" name="!!plek"/>
          <p:cNvSpPr txBox="1"/>
          <p:nvPr/>
        </p:nvSpPr>
        <p:spPr>
          <a:xfrm>
            <a:off x="3581310" y="3352716"/>
            <a:ext cx="7619809" cy="380990"/>
          </a:xfrm>
          <a:prstGeom prst="rect">
            <a:avLst/>
          </a:prstGeom>
          <a:noFill/>
        </p:spPr>
        <p:txBody>
          <a:bodyPr wrap="square" anchor="t" lIns="0" rIns="0" tIns="0" bIns="0">
            <a:spAutoFit/>
          </a:bodyPr>
          <a:lstStyle/>
          <a:p>
            <a:pPr algn="l">
              <a:lnSpc>
                <a:spcPct val="125000"/>
              </a:lnSpc>
            </a:pPr>
            <a:r>
              <a:rPr sz="2200" b="1">
                <a:solidFill>
                  <a:srgbClr val="F2F8FC"/>
                </a:solidFill>
                <a:latin typeface="Segoe UI"/>
              </a:rPr>
              <a:t>piekdruk in de doelregio na aanpassing</a:t>
            </a:r>
          </a:p>
        </p:txBody>
      </p:sp>
      <p:sp>
        <p:nvSpPr>
          <p:cNvPr id="396" name="!!norm"/>
          <p:cNvSpPr/>
          <p:nvPr/>
        </p:nvSpPr>
        <p:spPr>
          <a:xfrm>
            <a:off x="3555911" y="3924201"/>
            <a:ext cx="8000799" cy="609584"/>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7" name="!!normtekst"/>
          <p:cNvSpPr txBox="1"/>
          <p:nvPr/>
        </p:nvSpPr>
        <p:spPr>
          <a:xfrm>
            <a:off x="3555911" y="4101997"/>
            <a:ext cx="8000799" cy="292092"/>
          </a:xfrm>
          <a:prstGeom prst="rect">
            <a:avLst/>
          </a:prstGeom>
          <a:noFill/>
        </p:spPr>
        <p:txBody>
          <a:bodyPr wrap="square" anchor="t" lIns="0" rIns="0" tIns="0" bIns="0">
            <a:spAutoFit/>
          </a:bodyPr>
          <a:lstStyle/>
          <a:p>
            <a:pPr algn="ctr">
              <a:lnSpc>
                <a:spcPct val="125000"/>
              </a:lnSpc>
            </a:pPr>
            <a:r>
              <a:rPr sz="2200" b="1">
                <a:solidFill>
                  <a:srgbClr val="FF7A00"/>
                </a:solidFill>
                <a:latin typeface="Consolas"/>
              </a:rPr>
              <a:t>40% lager  ·  onder 200 kPa  ·  beide criteria gehaald</a:t>
            </a:r>
          </a:p>
        </p:txBody>
      </p:sp>
      <p:sp>
        <p:nvSpPr>
          <p:cNvPr id="398" name="TextBox 397"/>
          <p:cNvSpPr txBox="1"/>
          <p:nvPr/>
        </p:nvSpPr>
        <p:spPr>
          <a:xfrm>
            <a:off x="3555911" y="4825879"/>
            <a:ext cx="8000799" cy="1269968"/>
          </a:xfrm>
          <a:prstGeom prst="rect">
            <a:avLst/>
          </a:prstGeom>
          <a:noFill/>
        </p:spPr>
        <p:txBody>
          <a:bodyPr wrap="square" anchor="t" lIns="0" rIns="0" tIns="0" bIns="0">
            <a:spAutoFit/>
          </a:bodyPr>
          <a:lstStyle/>
          <a:p>
            <a:pPr algn="l">
              <a:lnSpc>
                <a:spcPct val="135000"/>
              </a:lnSpc>
            </a:pPr>
            <a:r>
              <a:rPr sz="1700" b="0">
                <a:solidFill>
                  <a:srgbClr val="8FB6D0"/>
                </a:solidFill>
                <a:latin typeface="Segoe UI"/>
              </a:rPr>
              <a:t>De norm geldt per doelregio: piekdruk onder 200 kPa óf minstens 25% lager dan de baselinemeting van diezelfde regio.</a:t>
            </a:r>
          </a:p>
          <a:p>
            <a:pPr algn="l">
              <a:lnSpc>
                <a:spcPct val="135000"/>
              </a:lnSpc>
              <a:spcBef>
                <a:spcPts val="1200"/>
              </a:spcBef>
            </a:pPr>
            <a:r>
              <a:rPr sz="1700" b="0">
                <a:solidFill>
                  <a:srgbClr val="8FB6D0"/>
                </a:solidFill>
                <a:latin typeface="Segoe UI"/>
              </a:rPr>
              <a:t>Haalt u de norm niet, dan past u aan en meet u opnieuw. Het formulier voorziet twee extra ontlastingstests.</a:t>
            </a:r>
          </a:p>
        </p:txBody>
      </p:sp>
      <p:sp>
        <p:nvSpPr>
          <p:cNvPr id="399" name="TextBox 398"/>
          <p:cNvSpPr txBox="1"/>
          <p:nvPr/>
        </p:nvSpPr>
        <p:spPr>
          <a:xfrm>
            <a:off x="634984" y="6387940"/>
            <a:ext cx="8889777"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eCRF-document 24 · Meting drukherverdeling voetorthese</a:t>
            </a:r>
          </a:p>
        </p:txBody>
      </p:sp>
      <p:sp>
        <p:nvSpPr>
          <p:cNvPr id="400" name="TextBox 39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13 / 66</a:t>
            </a:r>
          </a:p>
        </p:txBody>
      </p:sp>
      <p:pic>
        <p:nvPicPr>
          <p:cNvPr id="401"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HET MEETPROTOCOL</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Drie condities bij de aflevering</a:t>
            </a:r>
          </a:p>
        </p:txBody>
      </p:sp>
      <p:sp>
        <p:nvSpPr>
          <p:cNvPr id="5" name="Rounded Rectangle 4"/>
          <p:cNvSpPr/>
          <p:nvPr/>
        </p:nvSpPr>
        <p:spPr>
          <a:xfrm>
            <a:off x="634984" y="1854153"/>
            <a:ext cx="10921726" cy="965175"/>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39776" y="2070048"/>
            <a:ext cx="761980" cy="444488"/>
          </a:xfrm>
          <a:prstGeom prst="rect">
            <a:avLst/>
          </a:prstGeom>
          <a:noFill/>
        </p:spPr>
        <p:txBody>
          <a:bodyPr wrap="square" anchor="t" lIns="0" rIns="0" tIns="0" bIns="0">
            <a:spAutoFit/>
          </a:bodyPr>
          <a:lstStyle/>
          <a:p>
            <a:pPr algn="l">
              <a:lnSpc>
                <a:spcPct val="125000"/>
              </a:lnSpc>
            </a:pPr>
            <a:r>
              <a:rPr sz="3400" b="1">
                <a:solidFill>
                  <a:srgbClr val="52BDEC"/>
                </a:solidFill>
                <a:latin typeface="Consolas"/>
              </a:rPr>
              <a:t>01</a:t>
            </a:r>
          </a:p>
        </p:txBody>
      </p:sp>
      <p:sp>
        <p:nvSpPr>
          <p:cNvPr id="7" name="TextBox 6"/>
          <p:cNvSpPr txBox="1"/>
          <p:nvPr/>
        </p:nvSpPr>
        <p:spPr>
          <a:xfrm>
            <a:off x="1904952" y="2044648"/>
            <a:ext cx="3936901" cy="342891"/>
          </a:xfrm>
          <a:prstGeom prst="rect">
            <a:avLst/>
          </a:prstGeom>
          <a:noFill/>
        </p:spPr>
        <p:txBody>
          <a:bodyPr wrap="square" anchor="t" lIns="0" rIns="0" tIns="0" bIns="0">
            <a:spAutoFit/>
          </a:bodyPr>
          <a:lstStyle/>
          <a:p>
            <a:pPr algn="l">
              <a:lnSpc>
                <a:spcPct val="125000"/>
              </a:lnSpc>
            </a:pPr>
            <a:r>
              <a:rPr sz="2400" b="1">
                <a:solidFill>
                  <a:srgbClr val="F2F8FC"/>
                </a:solidFill>
                <a:latin typeface="Segoe UI"/>
              </a:rPr>
              <a:t>Blootsvoets</a:t>
            </a:r>
          </a:p>
        </p:txBody>
      </p:sp>
      <p:sp>
        <p:nvSpPr>
          <p:cNvPr id="8" name="TextBox 7"/>
          <p:cNvSpPr txBox="1"/>
          <p:nvPr/>
        </p:nvSpPr>
        <p:spPr>
          <a:xfrm>
            <a:off x="6095847" y="2044648"/>
            <a:ext cx="5156071" cy="634984"/>
          </a:xfrm>
          <a:prstGeom prst="rect">
            <a:avLst/>
          </a:prstGeom>
          <a:noFill/>
        </p:spPr>
        <p:txBody>
          <a:bodyPr wrap="square" anchor="t" lIns="0" rIns="0" tIns="0" bIns="0">
            <a:spAutoFit/>
          </a:bodyPr>
          <a:lstStyle/>
          <a:p>
            <a:pPr algn="l">
              <a:lnSpc>
                <a:spcPct val="132000"/>
              </a:lnSpc>
            </a:pPr>
            <a:r>
              <a:rPr sz="1550" b="0">
                <a:solidFill>
                  <a:srgbClr val="8FB6D0"/>
                </a:solidFill>
                <a:latin typeface="Segoe UI"/>
              </a:rPr>
              <a:t>Sensoren met dubbelzijdige tape op de voet, standaardkous erover. Dit is het referentiebeeld.</a:t>
            </a:r>
          </a:p>
        </p:txBody>
      </p:sp>
      <p:sp>
        <p:nvSpPr>
          <p:cNvPr id="9" name="Rounded Rectangle 8"/>
          <p:cNvSpPr/>
          <p:nvPr/>
        </p:nvSpPr>
        <p:spPr>
          <a:xfrm>
            <a:off x="634984" y="2971725"/>
            <a:ext cx="10921726" cy="965175"/>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9776" y="3187620"/>
            <a:ext cx="761980" cy="444488"/>
          </a:xfrm>
          <a:prstGeom prst="rect">
            <a:avLst/>
          </a:prstGeom>
          <a:noFill/>
        </p:spPr>
        <p:txBody>
          <a:bodyPr wrap="square" anchor="t" lIns="0" rIns="0" tIns="0" bIns="0">
            <a:spAutoFit/>
          </a:bodyPr>
          <a:lstStyle/>
          <a:p>
            <a:pPr algn="l">
              <a:lnSpc>
                <a:spcPct val="125000"/>
              </a:lnSpc>
            </a:pPr>
            <a:r>
              <a:rPr sz="3400" b="1">
                <a:solidFill>
                  <a:srgbClr val="52BDEC"/>
                </a:solidFill>
                <a:latin typeface="Consolas"/>
              </a:rPr>
              <a:t>02</a:t>
            </a:r>
          </a:p>
        </p:txBody>
      </p:sp>
      <p:sp>
        <p:nvSpPr>
          <p:cNvPr id="11" name="TextBox 10"/>
          <p:cNvSpPr txBox="1"/>
          <p:nvPr/>
        </p:nvSpPr>
        <p:spPr>
          <a:xfrm>
            <a:off x="1904952" y="3162220"/>
            <a:ext cx="3936901" cy="342891"/>
          </a:xfrm>
          <a:prstGeom prst="rect">
            <a:avLst/>
          </a:prstGeom>
          <a:noFill/>
        </p:spPr>
        <p:txBody>
          <a:bodyPr wrap="square" anchor="t" lIns="0" rIns="0" tIns="0" bIns="0">
            <a:spAutoFit/>
          </a:bodyPr>
          <a:lstStyle/>
          <a:p>
            <a:pPr algn="l">
              <a:lnSpc>
                <a:spcPct val="125000"/>
              </a:lnSpc>
            </a:pPr>
            <a:r>
              <a:rPr sz="2400" b="1">
                <a:solidFill>
                  <a:srgbClr val="F2F8FC"/>
                </a:solidFill>
                <a:latin typeface="Segoe UI"/>
              </a:rPr>
              <a:t>In de schoen, zónder de zool</a:t>
            </a:r>
          </a:p>
        </p:txBody>
      </p:sp>
      <p:sp>
        <p:nvSpPr>
          <p:cNvPr id="12" name="TextBox 11"/>
          <p:cNvSpPr txBox="1"/>
          <p:nvPr/>
        </p:nvSpPr>
        <p:spPr>
          <a:xfrm>
            <a:off x="6095847" y="3162220"/>
            <a:ext cx="5156071" cy="634984"/>
          </a:xfrm>
          <a:prstGeom prst="rect">
            <a:avLst/>
          </a:prstGeom>
          <a:noFill/>
        </p:spPr>
        <p:txBody>
          <a:bodyPr wrap="square" anchor="t" lIns="0" rIns="0" tIns="0" bIns="0">
            <a:spAutoFit/>
          </a:bodyPr>
          <a:lstStyle/>
          <a:p>
            <a:pPr algn="l">
              <a:lnSpc>
                <a:spcPct val="132000"/>
              </a:lnSpc>
            </a:pPr>
            <a:r>
              <a:rPr sz="1550" b="0">
                <a:solidFill>
                  <a:srgbClr val="8FB6D0"/>
                </a:solidFill>
                <a:latin typeface="Segoe UI"/>
              </a:rPr>
              <a:t>Toont wat het schoeisel alleen doet. Dit is de vergelijking die laat zien of de zool iets toevoegt.</a:t>
            </a:r>
          </a:p>
        </p:txBody>
      </p:sp>
      <p:sp>
        <p:nvSpPr>
          <p:cNvPr id="13" name="Rounded Rectangle 12"/>
          <p:cNvSpPr/>
          <p:nvPr/>
        </p:nvSpPr>
        <p:spPr>
          <a:xfrm>
            <a:off x="634984" y="4089297"/>
            <a:ext cx="10921726" cy="965175"/>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39776" y="4305192"/>
            <a:ext cx="761980" cy="444488"/>
          </a:xfrm>
          <a:prstGeom prst="rect">
            <a:avLst/>
          </a:prstGeom>
          <a:noFill/>
        </p:spPr>
        <p:txBody>
          <a:bodyPr wrap="square" anchor="t" lIns="0" rIns="0" tIns="0" bIns="0">
            <a:spAutoFit/>
          </a:bodyPr>
          <a:lstStyle/>
          <a:p>
            <a:pPr algn="l">
              <a:lnSpc>
                <a:spcPct val="125000"/>
              </a:lnSpc>
            </a:pPr>
            <a:r>
              <a:rPr sz="3400" b="1">
                <a:solidFill>
                  <a:srgbClr val="52BDEC"/>
                </a:solidFill>
                <a:latin typeface="Consolas"/>
              </a:rPr>
              <a:t>03</a:t>
            </a:r>
          </a:p>
        </p:txBody>
      </p:sp>
      <p:sp>
        <p:nvSpPr>
          <p:cNvPr id="15" name="TextBox 14"/>
          <p:cNvSpPr txBox="1"/>
          <p:nvPr/>
        </p:nvSpPr>
        <p:spPr>
          <a:xfrm>
            <a:off x="1904952" y="4279793"/>
            <a:ext cx="3936901" cy="342891"/>
          </a:xfrm>
          <a:prstGeom prst="rect">
            <a:avLst/>
          </a:prstGeom>
          <a:noFill/>
        </p:spPr>
        <p:txBody>
          <a:bodyPr wrap="square" anchor="t" lIns="0" rIns="0" tIns="0" bIns="0">
            <a:spAutoFit/>
          </a:bodyPr>
          <a:lstStyle/>
          <a:p>
            <a:pPr algn="l">
              <a:lnSpc>
                <a:spcPct val="125000"/>
              </a:lnSpc>
            </a:pPr>
            <a:r>
              <a:rPr sz="2400" b="1">
                <a:solidFill>
                  <a:srgbClr val="F2F8FC"/>
                </a:solidFill>
                <a:latin typeface="Segoe UI"/>
              </a:rPr>
              <a:t>In de schoen, mét de zool</a:t>
            </a:r>
          </a:p>
        </p:txBody>
      </p:sp>
      <p:sp>
        <p:nvSpPr>
          <p:cNvPr id="16" name="TextBox 15"/>
          <p:cNvSpPr txBox="1"/>
          <p:nvPr/>
        </p:nvSpPr>
        <p:spPr>
          <a:xfrm>
            <a:off x="6095847" y="4279793"/>
            <a:ext cx="5156071" cy="634984"/>
          </a:xfrm>
          <a:prstGeom prst="rect">
            <a:avLst/>
          </a:prstGeom>
          <a:noFill/>
        </p:spPr>
        <p:txBody>
          <a:bodyPr wrap="square" anchor="t" lIns="0" rIns="0" tIns="0" bIns="0">
            <a:spAutoFit/>
          </a:bodyPr>
          <a:lstStyle/>
          <a:p>
            <a:pPr algn="l">
              <a:lnSpc>
                <a:spcPct val="132000"/>
              </a:lnSpc>
            </a:pPr>
            <a:r>
              <a:rPr sz="1550" b="0">
                <a:solidFill>
                  <a:srgbClr val="8FB6D0"/>
                </a:solidFill>
                <a:latin typeface="Segoe UI"/>
              </a:rPr>
              <a:t>De meting waarop de norm getoetst wordt, per doelregio.</a:t>
            </a:r>
          </a:p>
        </p:txBody>
      </p:sp>
      <p:sp>
        <p:nvSpPr>
          <p:cNvPr id="17" name="TextBox 16"/>
          <p:cNvSpPr txBox="1"/>
          <p:nvPr/>
        </p:nvSpPr>
        <p:spPr>
          <a:xfrm>
            <a:off x="634984" y="5384665"/>
            <a:ext cx="10921726" cy="571485"/>
          </a:xfrm>
          <a:prstGeom prst="rect">
            <a:avLst/>
          </a:prstGeom>
          <a:noFill/>
        </p:spPr>
        <p:txBody>
          <a:bodyPr wrap="square" anchor="t" lIns="0" rIns="0" tIns="0" bIns="0">
            <a:spAutoFit/>
          </a:bodyPr>
          <a:lstStyle/>
          <a:p>
            <a:pPr algn="l">
              <a:lnSpc>
                <a:spcPct val="140000"/>
              </a:lnSpc>
            </a:pPr>
            <a:r>
              <a:rPr sz="1900" b="1">
                <a:solidFill>
                  <a:srgbClr val="FF7A00"/>
                </a:solidFill>
                <a:latin typeface="Segoe UI"/>
              </a:rPr>
              <a:t>Alle drie de condities staan op hetzelfde formulier. Slaat u er één over, dan is de vergelijking onbruikbaar.</a:t>
            </a:r>
          </a:p>
        </p:txBody>
      </p:sp>
      <p:sp>
        <p:nvSpPr>
          <p:cNvPr id="18" name="TextBox 17"/>
          <p:cNvSpPr txBox="1"/>
          <p:nvPr/>
        </p:nvSpPr>
        <p:spPr>
          <a:xfrm>
            <a:off x="634984" y="6387940"/>
            <a:ext cx="9524761" cy="190495"/>
          </a:xfrm>
          <a:prstGeom prst="rect">
            <a:avLst/>
          </a:prstGeom>
          <a:noFill/>
        </p:spPr>
        <p:txBody>
          <a:bodyPr wrap="square" anchor="t" lIns="0" rIns="0" tIns="0" bIns="0">
            <a:spAutoFit/>
          </a:bodyPr>
          <a:lstStyle/>
          <a:p>
            <a:pPr algn="l">
              <a:lnSpc>
                <a:spcPct val="125000"/>
              </a:lnSpc>
            </a:pPr>
            <a:r>
              <a:rPr sz="1150" b="0">
                <a:solidFill>
                  <a:srgbClr val="8FB6D0"/>
                </a:solidFill>
                <a:latin typeface="Consolas"/>
              </a:rPr>
              <a:t>eCRF-document 24 · de norm wordt per doelregio getoetst, niet over de hele voet</a:t>
            </a:r>
          </a:p>
        </p:txBody>
      </p:sp>
      <p:sp>
        <p:nvSpPr>
          <p:cNvPr id="19" name="TextBox 18"/>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14 / 66</a:t>
            </a:r>
          </a:p>
        </p:txBody>
      </p:sp>
      <p:pic>
        <p:nvPicPr>
          <p:cNvPr id="20"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merkgroot" descr="merk.png"/>
          <p:cNvPicPr>
            <a:picLocks noChangeAspect="1"/>
          </p:cNvPicPr>
          <p:nvPr/>
        </p:nvPicPr>
        <p:blipFill>
          <a:blip r:embed="rId2">
            <a:alphaModFix amt="14000"/>
          </a:blip>
          <a:stretch>
            <a:fillRect/>
          </a:stretch>
        </p:blipFill>
        <p:spPr>
          <a:xfrm>
            <a:off x="6857828" y="-738820"/>
            <a:ext cx="6984825" cy="8081476"/>
          </a:xfrm>
          <a:prstGeom prst="rect">
            <a:avLst/>
          </a:prstGeom>
        </p:spPr>
      </p:pic>
      <p:sp>
        <p:nvSpPr>
          <p:cNvPr id="4" name="hero"/>
          <p:cNvSpPr txBox="1"/>
          <p:nvPr/>
        </p:nvSpPr>
        <p:spPr>
          <a:xfrm>
            <a:off x="634984" y="1854153"/>
            <a:ext cx="4444888" cy="2031949"/>
          </a:xfrm>
          <a:prstGeom prst="rect">
            <a:avLst/>
          </a:prstGeom>
          <a:noFill/>
        </p:spPr>
        <p:txBody>
          <a:bodyPr wrap="square" anchor="t" lIns="0" rIns="0" tIns="0" bIns="0">
            <a:spAutoFit/>
          </a:bodyPr>
          <a:lstStyle/>
          <a:p>
            <a:pPr algn="l">
              <a:lnSpc>
                <a:spcPct val="90000"/>
              </a:lnSpc>
            </a:pPr>
            <a:r>
              <a:rPr sz="15000" b="1">
                <a:gradFill>
                  <a:gsLst>
                    <a:gs pos="0">
                      <a:srgbClr val="52BDEC"/>
                    </a:gs>
                    <a:gs pos="100000">
                      <a:srgbClr val="FF7A00"/>
                    </a:gs>
                  </a:gsLst>
                  <a:lin ang="2700000" scaled="0"/>
                </a:gradFill>
                <a:latin typeface="Segoe UI"/>
              </a:rPr>
              <a:t>03</a:t>
            </a:r>
          </a:p>
        </p:txBody>
      </p:sp>
      <p:sp>
        <p:nvSpPr>
          <p:cNvPr id="5" name="sectietitel"/>
          <p:cNvSpPr txBox="1"/>
          <p:nvPr/>
        </p:nvSpPr>
        <p:spPr>
          <a:xfrm>
            <a:off x="634984" y="3975000"/>
            <a:ext cx="8889777" cy="888977"/>
          </a:xfrm>
          <a:prstGeom prst="rect">
            <a:avLst/>
          </a:prstGeom>
          <a:noFill/>
        </p:spPr>
        <p:txBody>
          <a:bodyPr wrap="square" anchor="t" lIns="0" rIns="0" tIns="0" bIns="0">
            <a:spAutoFit/>
          </a:bodyPr>
          <a:lstStyle/>
          <a:p>
            <a:pPr algn="l">
              <a:lnSpc>
                <a:spcPct val="125000"/>
              </a:lnSpc>
            </a:pPr>
            <a:r>
              <a:rPr sz="5600" b="1">
                <a:solidFill>
                  <a:srgbClr val="F2F8FC"/>
                </a:solidFill>
                <a:latin typeface="Segoe UI"/>
              </a:rPr>
              <a:t>Het traject</a:t>
            </a:r>
          </a:p>
        </p:txBody>
      </p:sp>
      <p:sp>
        <p:nvSpPr>
          <p:cNvPr id="6" name="TextBox 5"/>
          <p:cNvSpPr txBox="1"/>
          <p:nvPr/>
        </p:nvSpPr>
        <p:spPr>
          <a:xfrm>
            <a:off x="660383" y="4990975"/>
            <a:ext cx="8254793" cy="507987"/>
          </a:xfrm>
          <a:prstGeom prst="rect">
            <a:avLst/>
          </a:prstGeom>
          <a:noFill/>
        </p:spPr>
        <p:txBody>
          <a:bodyPr wrap="square" anchor="t" lIns="0" rIns="0" tIns="0" bIns="0">
            <a:spAutoFit/>
          </a:bodyPr>
          <a:lstStyle/>
          <a:p>
            <a:pPr algn="l">
              <a:lnSpc>
                <a:spcPct val="125000"/>
              </a:lnSpc>
            </a:pPr>
            <a:r>
              <a:rPr sz="2100" b="0">
                <a:solidFill>
                  <a:srgbClr val="8FB6D0"/>
                </a:solidFill>
                <a:latin typeface="Segoe UI Light"/>
              </a:rPr>
              <a:t>Negen contactmomenten. Per moment: wat u doet en wat u invult.</a:t>
            </a:r>
          </a:p>
        </p:txBody>
      </p:sp>
      <p:sp>
        <p:nvSpPr>
          <p:cNvPr id="7" name="TextBox 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15 / 66</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355591"/>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HET TRAJECT</a:t>
            </a:r>
          </a:p>
        </p:txBody>
      </p:sp>
      <p:sp>
        <p:nvSpPr>
          <p:cNvPr id="4" name="!!sectietitel"/>
          <p:cNvSpPr txBox="1"/>
          <p:nvPr/>
        </p:nvSpPr>
        <p:spPr>
          <a:xfrm>
            <a:off x="634984" y="609584"/>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Screening plus negen visites</a:t>
            </a:r>
          </a:p>
        </p:txBody>
      </p:sp>
      <p:sp>
        <p:nvSpPr>
          <p:cNvPr id="5" name="!!band"/>
          <p:cNvSpPr/>
          <p:nvPr/>
        </p:nvSpPr>
        <p:spPr>
          <a:xfrm>
            <a:off x="0" y="1206469"/>
            <a:ext cx="12191695" cy="3301917"/>
          </a:xfrm>
          <a:prstGeom prst="rect">
            <a:avLst/>
          </a:prstGeom>
          <a:solidFill>
            <a:srgbClr val="0A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as"/>
          <p:cNvSpPr/>
          <p:nvPr/>
        </p:nvSpPr>
        <p:spPr>
          <a:xfrm>
            <a:off x="634984" y="2920926"/>
            <a:ext cx="1092172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tip0"/>
          <p:cNvSpPr/>
          <p:nvPr/>
        </p:nvSpPr>
        <p:spPr>
          <a:xfrm>
            <a:off x="1085822"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maand0"/>
          <p:cNvSpPr txBox="1"/>
          <p:nvPr/>
        </p:nvSpPr>
        <p:spPr>
          <a:xfrm>
            <a:off x="634984" y="2133546"/>
            <a:ext cx="1092172" cy="279393"/>
          </a:xfrm>
          <a:prstGeom prst="rect">
            <a:avLst/>
          </a:prstGeom>
          <a:noFill/>
        </p:spPr>
        <p:txBody>
          <a:bodyPr wrap="square" anchor="t" lIns="0" rIns="0" tIns="0" bIns="0">
            <a:spAutoFit/>
          </a:bodyPr>
          <a:lstStyle/>
          <a:p>
            <a:pPr algn="ctr">
              <a:lnSpc>
                <a:spcPct val="125000"/>
              </a:lnSpc>
            </a:pPr>
            <a:r>
              <a:rPr sz="1500" b="1">
                <a:solidFill>
                  <a:srgbClr val="F2F8FC"/>
                </a:solidFill>
                <a:latin typeface="Consolas"/>
              </a:rPr>
              <a:t>Screen</a:t>
            </a:r>
          </a:p>
        </p:txBody>
      </p:sp>
      <p:sp>
        <p:nvSpPr>
          <p:cNvPr id="9" name="!!taak0"/>
          <p:cNvSpPr txBox="1"/>
          <p:nvPr/>
        </p:nvSpPr>
        <p:spPr>
          <a:xfrm>
            <a:off x="698482"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geschiktheid</a:t>
            </a:r>
          </a:p>
        </p:txBody>
      </p:sp>
      <p:sp>
        <p:nvSpPr>
          <p:cNvPr id="10" name="!!stip1"/>
          <p:cNvSpPr/>
          <p:nvPr/>
        </p:nvSpPr>
        <p:spPr>
          <a:xfrm>
            <a:off x="2177995"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maand1"/>
          <p:cNvSpPr txBox="1"/>
          <p:nvPr/>
        </p:nvSpPr>
        <p:spPr>
          <a:xfrm>
            <a:off x="1727156"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V0</a:t>
            </a:r>
          </a:p>
        </p:txBody>
      </p:sp>
      <p:sp>
        <p:nvSpPr>
          <p:cNvPr id="12" name="!!taak1"/>
          <p:cNvSpPr txBox="1"/>
          <p:nvPr/>
        </p:nvSpPr>
        <p:spPr>
          <a:xfrm>
            <a:off x="1790655"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loting</a:t>
            </a:r>
          </a:p>
        </p:txBody>
      </p:sp>
      <p:sp>
        <p:nvSpPr>
          <p:cNvPr id="13" name="!!stip2"/>
          <p:cNvSpPr/>
          <p:nvPr/>
        </p:nvSpPr>
        <p:spPr>
          <a:xfrm>
            <a:off x="3289217"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maand2"/>
          <p:cNvSpPr txBox="1"/>
          <p:nvPr/>
        </p:nvSpPr>
        <p:spPr>
          <a:xfrm>
            <a:off x="2819329"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V1</a:t>
            </a:r>
          </a:p>
        </p:txBody>
      </p:sp>
      <p:sp>
        <p:nvSpPr>
          <p:cNvPr id="15" name="!!taak2"/>
          <p:cNvSpPr txBox="1"/>
          <p:nvPr/>
        </p:nvSpPr>
        <p:spPr>
          <a:xfrm>
            <a:off x="2882827"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baseline</a:t>
            </a:r>
          </a:p>
        </p:txBody>
      </p:sp>
      <p:sp>
        <p:nvSpPr>
          <p:cNvPr id="16" name="!!stip3"/>
          <p:cNvSpPr/>
          <p:nvPr/>
        </p:nvSpPr>
        <p:spPr>
          <a:xfrm>
            <a:off x="4381390"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maand3"/>
          <p:cNvSpPr txBox="1"/>
          <p:nvPr/>
        </p:nvSpPr>
        <p:spPr>
          <a:xfrm>
            <a:off x="3911502"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V2</a:t>
            </a:r>
          </a:p>
        </p:txBody>
      </p:sp>
      <p:sp>
        <p:nvSpPr>
          <p:cNvPr id="18" name="!!taak3"/>
          <p:cNvSpPr txBox="1"/>
          <p:nvPr/>
        </p:nvSpPr>
        <p:spPr>
          <a:xfrm>
            <a:off x="3975000"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zool + sensor</a:t>
            </a:r>
          </a:p>
        </p:txBody>
      </p:sp>
      <p:sp>
        <p:nvSpPr>
          <p:cNvPr id="19" name="!!stip4"/>
          <p:cNvSpPr/>
          <p:nvPr/>
        </p:nvSpPr>
        <p:spPr>
          <a:xfrm>
            <a:off x="5473563"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maand4"/>
          <p:cNvSpPr txBox="1"/>
          <p:nvPr/>
        </p:nvSpPr>
        <p:spPr>
          <a:xfrm>
            <a:off x="5003674"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M3</a:t>
            </a:r>
          </a:p>
        </p:txBody>
      </p:sp>
      <p:sp>
        <p:nvSpPr>
          <p:cNvPr id="21" name="!!taak4"/>
          <p:cNvSpPr txBox="1"/>
          <p:nvPr/>
        </p:nvSpPr>
        <p:spPr>
          <a:xfrm>
            <a:off x="5067173"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22" name="!!stip5"/>
          <p:cNvSpPr/>
          <p:nvPr/>
        </p:nvSpPr>
        <p:spPr>
          <a:xfrm>
            <a:off x="6565735"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maand5"/>
          <p:cNvSpPr txBox="1"/>
          <p:nvPr/>
        </p:nvSpPr>
        <p:spPr>
          <a:xfrm>
            <a:off x="6095847"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M6</a:t>
            </a:r>
          </a:p>
        </p:txBody>
      </p:sp>
      <p:sp>
        <p:nvSpPr>
          <p:cNvPr id="24" name="!!taak5"/>
          <p:cNvSpPr txBox="1"/>
          <p:nvPr/>
        </p:nvSpPr>
        <p:spPr>
          <a:xfrm>
            <a:off x="6159346"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a:t>
            </a:r>
          </a:p>
        </p:txBody>
      </p:sp>
      <p:sp>
        <p:nvSpPr>
          <p:cNvPr id="25" name="!!stip6"/>
          <p:cNvSpPr/>
          <p:nvPr/>
        </p:nvSpPr>
        <p:spPr>
          <a:xfrm>
            <a:off x="7657908"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maand6"/>
          <p:cNvSpPr txBox="1"/>
          <p:nvPr/>
        </p:nvSpPr>
        <p:spPr>
          <a:xfrm>
            <a:off x="7188020"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M9</a:t>
            </a:r>
          </a:p>
        </p:txBody>
      </p:sp>
      <p:sp>
        <p:nvSpPr>
          <p:cNvPr id="27" name="!!taak6"/>
          <p:cNvSpPr txBox="1"/>
          <p:nvPr/>
        </p:nvSpPr>
        <p:spPr>
          <a:xfrm>
            <a:off x="7251518"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28" name="!!stip7"/>
          <p:cNvSpPr/>
          <p:nvPr/>
        </p:nvSpPr>
        <p:spPr>
          <a:xfrm>
            <a:off x="8750081"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maand7"/>
          <p:cNvSpPr txBox="1"/>
          <p:nvPr/>
        </p:nvSpPr>
        <p:spPr>
          <a:xfrm>
            <a:off x="8280192"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M12</a:t>
            </a:r>
          </a:p>
        </p:txBody>
      </p:sp>
      <p:sp>
        <p:nvSpPr>
          <p:cNvPr id="30" name="!!taak7"/>
          <p:cNvSpPr txBox="1"/>
          <p:nvPr/>
        </p:nvSpPr>
        <p:spPr>
          <a:xfrm>
            <a:off x="8343691"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a:t>
            </a:r>
          </a:p>
        </p:txBody>
      </p:sp>
      <p:sp>
        <p:nvSpPr>
          <p:cNvPr id="31" name="!!stip8"/>
          <p:cNvSpPr/>
          <p:nvPr/>
        </p:nvSpPr>
        <p:spPr>
          <a:xfrm>
            <a:off x="9842253"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maand8"/>
          <p:cNvSpPr txBox="1"/>
          <p:nvPr/>
        </p:nvSpPr>
        <p:spPr>
          <a:xfrm>
            <a:off x="9372365"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M15</a:t>
            </a:r>
          </a:p>
        </p:txBody>
      </p:sp>
      <p:sp>
        <p:nvSpPr>
          <p:cNvPr id="33" name="!!taak8"/>
          <p:cNvSpPr txBox="1"/>
          <p:nvPr/>
        </p:nvSpPr>
        <p:spPr>
          <a:xfrm>
            <a:off x="9435864"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34" name="!!stip9"/>
          <p:cNvSpPr/>
          <p:nvPr/>
        </p:nvSpPr>
        <p:spPr>
          <a:xfrm>
            <a:off x="10915377"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maand9"/>
          <p:cNvSpPr txBox="1"/>
          <p:nvPr/>
        </p:nvSpPr>
        <p:spPr>
          <a:xfrm>
            <a:off x="10464538"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M18</a:t>
            </a:r>
          </a:p>
        </p:txBody>
      </p:sp>
      <p:sp>
        <p:nvSpPr>
          <p:cNvPr id="36" name="!!taak9"/>
          <p:cNvSpPr txBox="1"/>
          <p:nvPr/>
        </p:nvSpPr>
        <p:spPr>
          <a:xfrm>
            <a:off x="10528036"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 + einde</a:t>
            </a:r>
          </a:p>
        </p:txBody>
      </p:sp>
      <p:sp>
        <p:nvSpPr>
          <p:cNvPr id="37" name="Oval 36"/>
          <p:cNvSpPr/>
          <p:nvPr/>
        </p:nvSpPr>
        <p:spPr>
          <a:xfrm>
            <a:off x="660383" y="4013099"/>
            <a:ext cx="114297" cy="114297"/>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50878"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meetmoment</a:t>
            </a:r>
          </a:p>
        </p:txBody>
      </p:sp>
      <p:sp>
        <p:nvSpPr>
          <p:cNvPr id="39" name="Oval 38"/>
          <p:cNvSpPr/>
          <p:nvPr/>
        </p:nvSpPr>
        <p:spPr>
          <a:xfrm>
            <a:off x="3200319" y="4013099"/>
            <a:ext cx="114297" cy="114297"/>
          </a:xfrm>
          <a:prstGeom prst="ellipse">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390815"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begeleiding</a:t>
            </a:r>
          </a:p>
        </p:txBody>
      </p:sp>
      <p:sp>
        <p:nvSpPr>
          <p:cNvPr id="41" name="Oval 40"/>
          <p:cNvSpPr/>
          <p:nvPr/>
        </p:nvSpPr>
        <p:spPr>
          <a:xfrm>
            <a:off x="5740256" y="4013099"/>
            <a:ext cx="114297" cy="114297"/>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930751"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start en afronding</a:t>
            </a:r>
          </a:p>
        </p:txBody>
      </p:sp>
      <p:sp>
        <p:nvSpPr>
          <p:cNvPr id="43" name="!!camera"/>
          <p:cNvSpPr txBox="1"/>
          <p:nvPr/>
        </p:nvSpPr>
        <p:spPr>
          <a:xfrm>
            <a:off x="634984" y="4711582"/>
            <a:ext cx="2031949" cy="1460463"/>
          </a:xfrm>
          <a:prstGeom prst="rect">
            <a:avLst/>
          </a:prstGeom>
          <a:noFill/>
        </p:spPr>
        <p:txBody>
          <a:bodyPr wrap="none" anchor="t" lIns="0" rIns="0" tIns="0" bIns="0">
            <a:spAutoFit/>
          </a:bodyPr>
          <a:lstStyle/>
          <a:p>
            <a:pPr algn="l">
              <a:lnSpc>
                <a:spcPct val="100000"/>
              </a:lnSpc>
            </a:pPr>
            <a:r>
              <a:rPr sz="9600" b="1">
                <a:solidFill>
                  <a:srgbClr val="52BDEC"/>
                </a:solidFill>
                <a:latin typeface="Segoe UI"/>
              </a:rPr>
              <a:t>18</a:t>
            </a:r>
          </a:p>
        </p:txBody>
      </p:sp>
      <p:sp>
        <p:nvSpPr>
          <p:cNvPr id="44" name="TextBox 43"/>
          <p:cNvSpPr txBox="1"/>
          <p:nvPr/>
        </p:nvSpPr>
        <p:spPr>
          <a:xfrm>
            <a:off x="2539936" y="4813179"/>
            <a:ext cx="8889777" cy="419089"/>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maanden, van screening tot afronding</a:t>
            </a:r>
          </a:p>
        </p:txBody>
      </p:sp>
      <p:sp>
        <p:nvSpPr>
          <p:cNvPr id="45" name="TextBox 44"/>
          <p:cNvSpPr txBox="1"/>
          <p:nvPr/>
        </p:nvSpPr>
        <p:spPr>
          <a:xfrm>
            <a:off x="2552636" y="5283067"/>
            <a:ext cx="8889777" cy="952476"/>
          </a:xfrm>
          <a:prstGeom prst="rect">
            <a:avLst/>
          </a:prstGeom>
          <a:noFill/>
        </p:spPr>
        <p:txBody>
          <a:bodyPr wrap="square" anchor="t" lIns="0" rIns="0" tIns="0" bIns="0">
            <a:spAutoFit/>
          </a:bodyPr>
          <a:lstStyle/>
          <a:p>
            <a:pPr algn="l">
              <a:lnSpc>
                <a:spcPct val="140000"/>
              </a:lnSpc>
            </a:pPr>
            <a:r>
              <a:rPr sz="1800" b="0">
                <a:solidFill>
                  <a:srgbClr val="8FB6D0"/>
                </a:solidFill>
                <a:latin typeface="Segoe UI"/>
              </a:rPr>
              <a:t>Visite 0 tot 2 liggen dicht op elkaar: toestemming, baseline, en de zool binnen de maand. Daarna is het ritme elke drie maanden, hetzelfde ritme als de controle die deze patiënten al krijgen.</a:t>
            </a:r>
          </a:p>
        </p:txBody>
      </p:sp>
      <p:sp>
        <p:nvSpPr>
          <p:cNvPr id="46" name="TextBox 45"/>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16 / 66</a:t>
            </a:r>
          </a:p>
        </p:txBody>
      </p:sp>
      <p:pic>
        <p:nvPicPr>
          <p:cNvPr id="47"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7492812" y="1142971"/>
            <a:ext cx="4825879" cy="4825879"/>
          </a:xfrm>
          <a:prstGeom prst="ellipse">
            <a:avLst/>
          </a:prstGeom>
          <a:solidFill>
            <a:srgbClr val="52BDEC">
              <a:alpha val="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SCREENING EN VISITE 0</a:t>
            </a:r>
          </a:p>
        </p:txBody>
      </p:sp>
      <p:sp>
        <p:nvSpPr>
          <p:cNvPr id="5" name="!!sectietitel"/>
          <p:cNvSpPr txBox="1"/>
          <p:nvPr/>
        </p:nvSpPr>
        <p:spPr>
          <a:xfrm>
            <a:off x="634984" y="1904952"/>
            <a:ext cx="6984825" cy="1818594"/>
          </a:xfrm>
          <a:prstGeom prst="rect">
            <a:avLst/>
          </a:prstGeom>
          <a:noFill/>
        </p:spPr>
        <p:txBody>
          <a:bodyPr wrap="square" anchor="t" lIns="0" rIns="0" tIns="0" bIns="0">
            <a:spAutoFit/>
          </a:bodyPr>
          <a:lstStyle/>
          <a:p>
            <a:pPr algn="l">
              <a:lnSpc>
                <a:spcPct val="110000"/>
              </a:lnSpc>
            </a:pPr>
            <a:r>
              <a:rPr sz="5600" b="1">
                <a:solidFill>
                  <a:srgbClr val="F2F8FC"/>
                </a:solidFill>
                <a:latin typeface="Segoe UI"/>
              </a:rPr>
              <a:t>Geschiktheid, toestemming, loting</a:t>
            </a:r>
          </a:p>
        </p:txBody>
      </p:sp>
      <p:sp>
        <p:nvSpPr>
          <p:cNvPr id="6" name="Rounded Rectangle 5"/>
          <p:cNvSpPr/>
          <p:nvPr/>
        </p:nvSpPr>
        <p:spPr>
          <a:xfrm>
            <a:off x="634984" y="4002939"/>
            <a:ext cx="3555911" cy="304792"/>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4984" y="4079138"/>
            <a:ext cx="3555911" cy="215894"/>
          </a:xfrm>
          <a:prstGeom prst="rect">
            <a:avLst/>
          </a:prstGeom>
          <a:noFill/>
        </p:spPr>
        <p:txBody>
          <a:bodyPr wrap="square" anchor="t" lIns="0" rIns="0" tIns="0" bIns="0">
            <a:spAutoFit/>
          </a:bodyPr>
          <a:lstStyle/>
          <a:p>
            <a:pPr algn="ctr">
              <a:lnSpc>
                <a:spcPct val="125000"/>
              </a:lnSpc>
            </a:pPr>
            <a:r>
              <a:rPr sz="1400" b="1">
                <a:solidFill>
                  <a:srgbClr val="52BDEC"/>
                </a:solidFill>
                <a:latin typeface="Consolas"/>
              </a:rPr>
              <a:t>Kort · in het gewone consult</a:t>
            </a:r>
          </a:p>
        </p:txBody>
      </p:sp>
      <p:sp>
        <p:nvSpPr>
          <p:cNvPr id="8" name="TextBox 7"/>
          <p:cNvSpPr txBox="1"/>
          <p:nvPr/>
        </p:nvSpPr>
        <p:spPr>
          <a:xfrm>
            <a:off x="8000799" y="3555911"/>
            <a:ext cx="1650958" cy="825479"/>
          </a:xfrm>
          <a:prstGeom prst="rect">
            <a:avLst/>
          </a:prstGeom>
          <a:noFill/>
        </p:spPr>
        <p:txBody>
          <a:bodyPr wrap="square" anchor="t" lIns="0" rIns="0" tIns="0" bIns="0">
            <a:spAutoFit/>
          </a:bodyPr>
          <a:lstStyle/>
          <a:p>
            <a:pPr algn="l">
              <a:lnSpc>
                <a:spcPct val="100000"/>
              </a:lnSpc>
            </a:pPr>
            <a:r>
              <a:rPr sz="6400" b="1">
                <a:solidFill>
                  <a:srgbClr val="52BDEC"/>
                </a:solidFill>
                <a:latin typeface="Segoe UI"/>
              </a:rPr>
              <a:t>5</a:t>
            </a:r>
          </a:p>
        </p:txBody>
      </p:sp>
      <p:sp>
        <p:nvSpPr>
          <p:cNvPr id="9" name="TextBox 8"/>
          <p:cNvSpPr txBox="1"/>
          <p:nvPr/>
        </p:nvSpPr>
        <p:spPr>
          <a:xfrm>
            <a:off x="8013499" y="4381390"/>
            <a:ext cx="1650958" cy="253993"/>
          </a:xfrm>
          <a:prstGeom prst="rect">
            <a:avLst/>
          </a:prstGeom>
          <a:noFill/>
        </p:spPr>
        <p:txBody>
          <a:bodyPr wrap="square" anchor="t" lIns="0" rIns="0" tIns="0" bIns="0">
            <a:spAutoFit/>
          </a:bodyPr>
          <a:lstStyle/>
          <a:p>
            <a:pPr algn="l">
              <a:lnSpc>
                <a:spcPct val="125000"/>
              </a:lnSpc>
            </a:pPr>
            <a:r>
              <a:rPr sz="1350" b="0" spc="140">
                <a:solidFill>
                  <a:srgbClr val="8FB6D0"/>
                </a:solidFill>
                <a:latin typeface="Consolas"/>
              </a:rPr>
              <a:t>HANDELINGEN</a:t>
            </a:r>
          </a:p>
        </p:txBody>
      </p:sp>
      <p:sp>
        <p:nvSpPr>
          <p:cNvPr id="10" name="TextBox 9"/>
          <p:cNvSpPr txBox="1"/>
          <p:nvPr/>
        </p:nvSpPr>
        <p:spPr>
          <a:xfrm>
            <a:off x="9905752" y="3555911"/>
            <a:ext cx="1650958" cy="825479"/>
          </a:xfrm>
          <a:prstGeom prst="rect">
            <a:avLst/>
          </a:prstGeom>
          <a:noFill/>
        </p:spPr>
        <p:txBody>
          <a:bodyPr wrap="square" anchor="t" lIns="0" rIns="0" tIns="0" bIns="0">
            <a:spAutoFit/>
          </a:bodyPr>
          <a:lstStyle/>
          <a:p>
            <a:pPr algn="l">
              <a:lnSpc>
                <a:spcPct val="100000"/>
              </a:lnSpc>
            </a:pPr>
            <a:r>
              <a:rPr sz="6400" b="1">
                <a:solidFill>
                  <a:srgbClr val="52BDEC"/>
                </a:solidFill>
                <a:latin typeface="Segoe UI"/>
              </a:rPr>
              <a:t>4</a:t>
            </a:r>
          </a:p>
        </p:txBody>
      </p:sp>
      <p:sp>
        <p:nvSpPr>
          <p:cNvPr id="11" name="TextBox 10"/>
          <p:cNvSpPr txBox="1"/>
          <p:nvPr/>
        </p:nvSpPr>
        <p:spPr>
          <a:xfrm>
            <a:off x="9918452" y="4381390"/>
            <a:ext cx="1650958" cy="253993"/>
          </a:xfrm>
          <a:prstGeom prst="rect">
            <a:avLst/>
          </a:prstGeom>
          <a:noFill/>
        </p:spPr>
        <p:txBody>
          <a:bodyPr wrap="square" anchor="t" lIns="0" rIns="0" tIns="0" bIns="0">
            <a:spAutoFit/>
          </a:bodyPr>
          <a:lstStyle/>
          <a:p>
            <a:pPr algn="l">
              <a:lnSpc>
                <a:spcPct val="125000"/>
              </a:lnSpc>
            </a:pPr>
            <a:r>
              <a:rPr sz="1350" b="0" spc="140">
                <a:solidFill>
                  <a:srgbClr val="8FB6D0"/>
                </a:solidFill>
                <a:latin typeface="Consolas"/>
              </a:rPr>
              <a:t>FORMULIEREN</a:t>
            </a:r>
          </a:p>
        </p:txBody>
      </p:sp>
      <p:sp>
        <p:nvSpPr>
          <p:cNvPr id="12" name="Rectangle 11"/>
          <p:cNvSpPr/>
          <p:nvPr/>
        </p:nvSpPr>
        <p:spPr>
          <a:xfrm>
            <a:off x="634984" y="5714857"/>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4984" y="5867253"/>
            <a:ext cx="10921726" cy="253993"/>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Arts bevestigt geschiktheid · PI loot · podoloog vult in</a:t>
            </a:r>
          </a:p>
        </p:txBody>
      </p:sp>
      <p:sp>
        <p:nvSpPr>
          <p:cNvPr id="14" name="TextBox 13"/>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17 / 66</a:t>
            </a:r>
          </a:p>
        </p:txBody>
      </p:sp>
      <p:pic>
        <p:nvPicPr>
          <p:cNvPr id="15"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SCREENING EN VISITE 0</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01</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Screening vóór de toestemming: beoordeel de in- en exclusiecriteria en noteer de patiënt op de identificatielijst.</a:t>
            </a:r>
          </a:p>
        </p:txBody>
      </p:sp>
      <p:sp>
        <p:nvSpPr>
          <p:cNvPr id="6" name="!!rail0"/>
          <p:cNvSpPr/>
          <p:nvPr/>
        </p:nvSpPr>
        <p:spPr>
          <a:xfrm>
            <a:off x="660383" y="6387940"/>
            <a:ext cx="2133546"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844728"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5029074"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7213419"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9397765"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18 / 66</a:t>
            </a:r>
          </a:p>
        </p:txBody>
      </p:sp>
      <p:pic>
        <p:nvPicPr>
          <p:cNvPr id="12"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SCREENING EN VISITE 0</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02</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Is de patiënt geschikt, overloop dan de informatie- en toestemmingsformulieren en laat tekenen.</a:t>
            </a:r>
          </a:p>
        </p:txBody>
      </p:sp>
      <p:sp>
        <p:nvSpPr>
          <p:cNvPr id="6" name="!!rail0"/>
          <p:cNvSpPr/>
          <p:nvPr/>
        </p:nvSpPr>
        <p:spPr>
          <a:xfrm>
            <a:off x="660383"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844728" y="6387940"/>
            <a:ext cx="2133546"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5029074"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7213419"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9397765"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19 / 66</a:t>
            </a:r>
          </a:p>
        </p:txBody>
      </p:sp>
      <p:pic>
        <p:nvPicPr>
          <p:cNvPr id="12"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SCREENING EN VISITE 0</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03</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Visite 0: bevestig de geschiktheid met het baselineformulier.</a:t>
            </a:r>
          </a:p>
        </p:txBody>
      </p:sp>
      <p:sp>
        <p:nvSpPr>
          <p:cNvPr id="6" name="!!rail0"/>
          <p:cNvSpPr/>
          <p:nvPr/>
        </p:nvSpPr>
        <p:spPr>
          <a:xfrm>
            <a:off x="660383"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844728"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5029074" y="6387940"/>
            <a:ext cx="2133546"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7213419"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9397765"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20 / 66</a:t>
            </a:r>
          </a:p>
        </p:txBody>
      </p:sp>
      <p:pic>
        <p:nvPicPr>
          <p:cNvPr id="12"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SCREENING EN VISITE 0</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04</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De PI opent de volgende verzegelde envelop en deelt de patiënt in. Pas dan is bekend in welke arm hij zit.</a:t>
            </a:r>
          </a:p>
        </p:txBody>
      </p:sp>
      <p:sp>
        <p:nvSpPr>
          <p:cNvPr id="6" name="!!rail0"/>
          <p:cNvSpPr/>
          <p:nvPr/>
        </p:nvSpPr>
        <p:spPr>
          <a:xfrm>
            <a:off x="660383"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844728"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5029074"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7213419" y="6387940"/>
            <a:ext cx="2133546"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9397765"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21 / 66</a:t>
            </a:r>
          </a:p>
        </p:txBody>
      </p:sp>
      <p:pic>
        <p:nvPicPr>
          <p:cNvPr id="12"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SCREENING EN VISITE 0</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05</a:t>
            </a:r>
          </a:p>
        </p:txBody>
      </p:sp>
      <p:sp>
        <p:nvSpPr>
          <p:cNvPr id="5" name="!!staptekst"/>
          <p:cNvSpPr txBox="1"/>
          <p:nvPr/>
        </p:nvSpPr>
        <p:spPr>
          <a:xfrm>
            <a:off x="3174920" y="1587460"/>
            <a:ext cx="8381790" cy="2222444"/>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Niet geschikt? Noteer de reden. Ook dat is studiedata.</a:t>
            </a:r>
          </a:p>
        </p:txBody>
      </p:sp>
      <p:sp>
        <p:nvSpPr>
          <p:cNvPr id="6" name="TextBox 5"/>
          <p:cNvSpPr txBox="1"/>
          <p:nvPr/>
        </p:nvSpPr>
        <p:spPr>
          <a:xfrm>
            <a:off x="2984425" y="4063898"/>
            <a:ext cx="8572285"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WAT U HIERBIJ INVULT</a:t>
            </a:r>
          </a:p>
        </p:txBody>
      </p:sp>
      <p:sp>
        <p:nvSpPr>
          <p:cNvPr id="7" name="Rounded Rectangle 6"/>
          <p:cNvSpPr/>
          <p:nvPr/>
        </p:nvSpPr>
        <p:spPr>
          <a:xfrm>
            <a:off x="2984425"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060623"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00</a:t>
            </a:r>
          </a:p>
        </p:txBody>
      </p:sp>
      <p:sp>
        <p:nvSpPr>
          <p:cNvPr id="9" name="TextBox 8"/>
          <p:cNvSpPr txBox="1"/>
          <p:nvPr/>
        </p:nvSpPr>
        <p:spPr>
          <a:xfrm>
            <a:off x="3403514"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Identificatielijst</a:t>
            </a:r>
          </a:p>
        </p:txBody>
      </p:sp>
      <p:sp>
        <p:nvSpPr>
          <p:cNvPr id="10" name="Rounded Rectangle 9"/>
          <p:cNvSpPr/>
          <p:nvPr/>
        </p:nvSpPr>
        <p:spPr>
          <a:xfrm>
            <a:off x="4711582"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787780"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01</a:t>
            </a:r>
          </a:p>
        </p:txBody>
      </p:sp>
      <p:sp>
        <p:nvSpPr>
          <p:cNvPr id="12" name="TextBox 11"/>
          <p:cNvSpPr txBox="1"/>
          <p:nvPr/>
        </p:nvSpPr>
        <p:spPr>
          <a:xfrm>
            <a:off x="5130671"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Screening</a:t>
            </a:r>
          </a:p>
        </p:txBody>
      </p:sp>
      <p:sp>
        <p:nvSpPr>
          <p:cNvPr id="13" name="Rounded Rectangle 12"/>
          <p:cNvSpPr/>
          <p:nvPr/>
        </p:nvSpPr>
        <p:spPr>
          <a:xfrm>
            <a:off x="6438739"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14937"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02</a:t>
            </a:r>
          </a:p>
        </p:txBody>
      </p:sp>
      <p:sp>
        <p:nvSpPr>
          <p:cNvPr id="15" name="TextBox 14"/>
          <p:cNvSpPr txBox="1"/>
          <p:nvPr/>
        </p:nvSpPr>
        <p:spPr>
          <a:xfrm>
            <a:off x="6857828"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Toestemming</a:t>
            </a:r>
          </a:p>
        </p:txBody>
      </p:sp>
      <p:sp>
        <p:nvSpPr>
          <p:cNvPr id="16" name="Rounded Rectangle 15"/>
          <p:cNvSpPr/>
          <p:nvPr/>
        </p:nvSpPr>
        <p:spPr>
          <a:xfrm>
            <a:off x="8165895"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42093"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06</a:t>
            </a:r>
          </a:p>
        </p:txBody>
      </p:sp>
      <p:sp>
        <p:nvSpPr>
          <p:cNvPr id="18" name="TextBox 17"/>
          <p:cNvSpPr txBox="1"/>
          <p:nvPr/>
        </p:nvSpPr>
        <p:spPr>
          <a:xfrm>
            <a:off x="8584985"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Geschiktheid</a:t>
            </a:r>
          </a:p>
        </p:txBody>
      </p:sp>
      <p:sp>
        <p:nvSpPr>
          <p:cNvPr id="19" name="Rectangle 18"/>
          <p:cNvSpPr/>
          <p:nvPr/>
        </p:nvSpPr>
        <p:spPr>
          <a:xfrm>
            <a:off x="634984" y="544816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4984" y="5587860"/>
            <a:ext cx="1269968" cy="215894"/>
          </a:xfrm>
          <a:prstGeom prst="rect">
            <a:avLst/>
          </a:prstGeom>
          <a:noFill/>
        </p:spPr>
        <p:txBody>
          <a:bodyPr wrap="square" anchor="t" lIns="0" rIns="0" tIns="0" bIns="0">
            <a:spAutoFit/>
          </a:bodyPr>
          <a:lstStyle/>
          <a:p>
            <a:pPr algn="l">
              <a:lnSpc>
                <a:spcPct val="125000"/>
              </a:lnSpc>
            </a:pPr>
            <a:r>
              <a:rPr sz="1250" b="1" spc="150">
                <a:solidFill>
                  <a:srgbClr val="FF7A00"/>
                </a:solidFill>
                <a:latin typeface="Consolas"/>
              </a:rPr>
              <a:t>LET OP</a:t>
            </a:r>
          </a:p>
        </p:txBody>
      </p:sp>
      <p:sp>
        <p:nvSpPr>
          <p:cNvPr id="21" name="TextBox 20"/>
          <p:cNvSpPr txBox="1"/>
          <p:nvPr/>
        </p:nvSpPr>
        <p:spPr>
          <a:xfrm>
            <a:off x="2031949" y="5562460"/>
            <a:ext cx="9524761" cy="571485"/>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De volgorde ligt vast: screenen, tekenen, geschiktheid bevestigen, dan pas loten. Vul geen enkel ander formulier in voordat de patiënt getekend heeft.</a:t>
            </a:r>
          </a:p>
        </p:txBody>
      </p:sp>
      <p:sp>
        <p:nvSpPr>
          <p:cNvPr id="22" name="!!rail0"/>
          <p:cNvSpPr/>
          <p:nvPr/>
        </p:nvSpPr>
        <p:spPr>
          <a:xfrm>
            <a:off x="660383"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ail1"/>
          <p:cNvSpPr/>
          <p:nvPr/>
        </p:nvSpPr>
        <p:spPr>
          <a:xfrm>
            <a:off x="2844728"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ail2"/>
          <p:cNvSpPr/>
          <p:nvPr/>
        </p:nvSpPr>
        <p:spPr>
          <a:xfrm>
            <a:off x="5029074"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ail3"/>
          <p:cNvSpPr/>
          <p:nvPr/>
        </p:nvSpPr>
        <p:spPr>
          <a:xfrm>
            <a:off x="7213419" y="6387940"/>
            <a:ext cx="213354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ail4"/>
          <p:cNvSpPr/>
          <p:nvPr/>
        </p:nvSpPr>
        <p:spPr>
          <a:xfrm>
            <a:off x="9397765" y="6387940"/>
            <a:ext cx="2133546"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22 / 66</a:t>
            </a:r>
          </a:p>
        </p:txBody>
      </p:sp>
      <p:pic>
        <p:nvPicPr>
          <p:cNvPr id="28"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SCREENING</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Wie komt in aanmerking</a:t>
            </a:r>
          </a:p>
        </p:txBody>
      </p:sp>
      <p:sp>
        <p:nvSpPr>
          <p:cNvPr id="5" name="Rounded Rectangle 4"/>
          <p:cNvSpPr/>
          <p:nvPr/>
        </p:nvSpPr>
        <p:spPr>
          <a:xfrm>
            <a:off x="634984" y="1993850"/>
            <a:ext cx="5384538" cy="3848003"/>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88977" y="2209744"/>
            <a:ext cx="761980" cy="292092"/>
          </a:xfrm>
          <a:prstGeom prst="roundRect">
            <a:avLst>
              <a:gd name="adj" fmla="val 45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8977" y="2285942"/>
            <a:ext cx="761980" cy="215894"/>
          </a:xfrm>
          <a:prstGeom prst="rect">
            <a:avLst/>
          </a:prstGeom>
          <a:noFill/>
        </p:spPr>
        <p:txBody>
          <a:bodyPr wrap="square" anchor="t" lIns="0" rIns="0" tIns="0" bIns="0">
            <a:spAutoFit/>
          </a:bodyPr>
          <a:lstStyle/>
          <a:p>
            <a:pPr algn="ctr">
              <a:lnSpc>
                <a:spcPct val="125000"/>
              </a:lnSpc>
            </a:pPr>
            <a:r>
              <a:rPr sz="1350" b="1" spc="130">
                <a:solidFill>
                  <a:srgbClr val="04182A"/>
                </a:solidFill>
                <a:latin typeface="Consolas"/>
              </a:rPr>
              <a:t>WÉL</a:t>
            </a:r>
          </a:p>
        </p:txBody>
      </p:sp>
      <p:sp>
        <p:nvSpPr>
          <p:cNvPr id="8" name="TextBox 7"/>
          <p:cNvSpPr txBox="1"/>
          <p:nvPr/>
        </p:nvSpPr>
        <p:spPr>
          <a:xfrm>
            <a:off x="888977" y="2743131"/>
            <a:ext cx="4876551" cy="2984425"/>
          </a:xfrm>
          <a:prstGeom prst="rect">
            <a:avLst/>
          </a:prstGeom>
          <a:noFill/>
        </p:spPr>
        <p:txBody>
          <a:bodyPr wrap="square" anchor="t" lIns="0" rIns="0" tIns="0" bIns="0">
            <a:spAutoFit/>
          </a:bodyPr>
          <a:lstStyle/>
          <a:p>
            <a:pPr algn="l">
              <a:lnSpc>
                <a:spcPct val="130000"/>
              </a:lnSpc>
            </a:pPr>
            <a:r>
              <a:rPr sz="1400" b="0">
                <a:solidFill>
                  <a:srgbClr val="8FB6D0"/>
                </a:solidFill>
                <a:latin typeface="Segoe UI"/>
              </a:rPr>
              <a:t>Volwassen, begrijpt Nederlands</a:t>
            </a:r>
          </a:p>
          <a:p>
            <a:pPr algn="l">
              <a:lnSpc>
                <a:spcPct val="130000"/>
              </a:lnSpc>
              <a:spcBef>
                <a:spcPts val="1200"/>
              </a:spcBef>
            </a:pPr>
            <a:r>
              <a:rPr sz="1400" b="0">
                <a:solidFill>
                  <a:srgbClr val="8FB6D0"/>
                </a:solidFill>
                <a:latin typeface="Segoe UI"/>
              </a:rPr>
              <a:t>Diabetes type 1 of 2</a:t>
            </a:r>
          </a:p>
          <a:p>
            <a:pPr algn="l">
              <a:lnSpc>
                <a:spcPct val="130000"/>
              </a:lnSpc>
              <a:spcBef>
                <a:spcPts val="1200"/>
              </a:spcBef>
            </a:pPr>
            <a:r>
              <a:rPr sz="1400" b="0">
                <a:solidFill>
                  <a:srgbClr val="8FB6D0"/>
                </a:solidFill>
                <a:latin typeface="Segoe UI"/>
              </a:rPr>
              <a:t>Risicocategorie 3 met genezen plantair ulcus, partiële amputatie of resectie van een metatarsaalkop — niet de eerste — tussen 18 maanden en 2 weken geleden</a:t>
            </a:r>
          </a:p>
          <a:p>
            <a:pPr algn="l">
              <a:lnSpc>
                <a:spcPct val="130000"/>
              </a:lnSpc>
              <a:spcBef>
                <a:spcPts val="1200"/>
              </a:spcBef>
            </a:pPr>
            <a:r>
              <a:rPr sz="1400" b="0">
                <a:solidFill>
                  <a:srgbClr val="8FB6D0"/>
                </a:solidFill>
                <a:latin typeface="Segoe UI"/>
              </a:rPr>
              <a:t>Stapt zelfstandig blootsvoets, zonder hulpmiddelen</a:t>
            </a:r>
          </a:p>
          <a:p>
            <a:pPr algn="l">
              <a:lnSpc>
                <a:spcPct val="130000"/>
              </a:lnSpc>
              <a:spcBef>
                <a:spcPts val="1200"/>
              </a:spcBef>
            </a:pPr>
            <a:r>
              <a:rPr sz="1400" b="0">
                <a:solidFill>
                  <a:srgbClr val="8FB6D0"/>
                </a:solidFill>
                <a:latin typeface="Segoe UI"/>
              </a:rPr>
              <a:t>Heeft beschermend schoeisel, of aanvaardt het: volledig maatwerk, of maatzolen in semi-orthopedisch of extra-diep confectieschoeisel</a:t>
            </a:r>
          </a:p>
        </p:txBody>
      </p:sp>
      <p:sp>
        <p:nvSpPr>
          <p:cNvPr id="9" name="Rounded Rectangle 8"/>
          <p:cNvSpPr/>
          <p:nvPr/>
        </p:nvSpPr>
        <p:spPr>
          <a:xfrm>
            <a:off x="6171918" y="1993850"/>
            <a:ext cx="5384538" cy="3848003"/>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425912" y="2209744"/>
            <a:ext cx="761980" cy="292092"/>
          </a:xfrm>
          <a:prstGeom prst="roundRect">
            <a:avLst>
              <a:gd name="adj" fmla="val 4500"/>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25912" y="2285942"/>
            <a:ext cx="761980" cy="215894"/>
          </a:xfrm>
          <a:prstGeom prst="rect">
            <a:avLst/>
          </a:prstGeom>
          <a:noFill/>
        </p:spPr>
        <p:txBody>
          <a:bodyPr wrap="square" anchor="t" lIns="0" rIns="0" tIns="0" bIns="0">
            <a:spAutoFit/>
          </a:bodyPr>
          <a:lstStyle/>
          <a:p>
            <a:pPr algn="ctr">
              <a:lnSpc>
                <a:spcPct val="125000"/>
              </a:lnSpc>
            </a:pPr>
            <a:r>
              <a:rPr sz="1350" b="1" spc="130">
                <a:solidFill>
                  <a:srgbClr val="04182A"/>
                </a:solidFill>
                <a:latin typeface="Consolas"/>
              </a:rPr>
              <a:t>NIET</a:t>
            </a:r>
          </a:p>
        </p:txBody>
      </p:sp>
      <p:sp>
        <p:nvSpPr>
          <p:cNvPr id="12" name="TextBox 11"/>
          <p:cNvSpPr txBox="1"/>
          <p:nvPr/>
        </p:nvSpPr>
        <p:spPr>
          <a:xfrm>
            <a:off x="6425912" y="2743131"/>
            <a:ext cx="4876551" cy="2984425"/>
          </a:xfrm>
          <a:prstGeom prst="rect">
            <a:avLst/>
          </a:prstGeom>
          <a:noFill/>
        </p:spPr>
        <p:txBody>
          <a:bodyPr wrap="square" anchor="t" lIns="0" rIns="0" tIns="0" bIns="0">
            <a:spAutoFit/>
          </a:bodyPr>
          <a:lstStyle/>
          <a:p>
            <a:pPr algn="l">
              <a:lnSpc>
                <a:spcPct val="130000"/>
              </a:lnSpc>
            </a:pPr>
            <a:r>
              <a:rPr sz="1400" b="0">
                <a:solidFill>
                  <a:srgbClr val="8FB6D0"/>
                </a:solidFill>
                <a:latin typeface="Segoe UI"/>
              </a:rPr>
              <a:t>Amputatie proximaal van de MTP-gewrichten</a:t>
            </a:r>
          </a:p>
          <a:p>
            <a:pPr algn="l">
              <a:lnSpc>
                <a:spcPct val="130000"/>
              </a:lnSpc>
              <a:spcBef>
                <a:spcPts val="1200"/>
              </a:spcBef>
            </a:pPr>
            <a:r>
              <a:rPr sz="1400" b="0">
                <a:solidFill>
                  <a:srgbClr val="8FB6D0"/>
                </a:solidFill>
                <a:latin typeface="Segoe UI"/>
              </a:rPr>
              <a:t>Actief ulcus of Charcot-deformiteit</a:t>
            </a:r>
          </a:p>
          <a:p>
            <a:pPr algn="l">
              <a:lnSpc>
                <a:spcPct val="130000"/>
              </a:lnSpc>
              <a:spcBef>
                <a:spcPts val="1200"/>
              </a:spcBef>
            </a:pPr>
            <a:r>
              <a:rPr sz="1400" b="0">
                <a:solidFill>
                  <a:srgbClr val="8FB6D0"/>
                </a:solidFill>
                <a:latin typeface="Segoe UI"/>
              </a:rPr>
              <a:t>Kritische ischemie — PEDIS graad 3</a:t>
            </a:r>
          </a:p>
          <a:p>
            <a:pPr algn="l">
              <a:lnSpc>
                <a:spcPct val="130000"/>
              </a:lnSpc>
              <a:spcBef>
                <a:spcPts val="1200"/>
              </a:spcBef>
            </a:pPr>
            <a:r>
              <a:rPr sz="1400" b="0">
                <a:solidFill>
                  <a:srgbClr val="8FB6D0"/>
                </a:solidFill>
                <a:latin typeface="Segoe UI"/>
              </a:rPr>
              <a:t>Immunosuppressieve therapie</a:t>
            </a:r>
          </a:p>
          <a:p>
            <a:pPr algn="l">
              <a:lnSpc>
                <a:spcPct val="130000"/>
              </a:lnSpc>
              <a:spcBef>
                <a:spcPts val="1200"/>
              </a:spcBef>
            </a:pPr>
            <a:r>
              <a:rPr sz="1400" b="0">
                <a:solidFill>
                  <a:srgbClr val="8FB6D0"/>
                </a:solidFill>
                <a:latin typeface="Segoe UI"/>
              </a:rPr>
              <a:t>Nierfunctievervangende therapie</a:t>
            </a:r>
          </a:p>
          <a:p>
            <a:pPr algn="l">
              <a:lnSpc>
                <a:spcPct val="130000"/>
              </a:lnSpc>
              <a:spcBef>
                <a:spcPts val="1200"/>
              </a:spcBef>
            </a:pPr>
            <a:r>
              <a:rPr sz="1400" b="0">
                <a:solidFill>
                  <a:srgbClr val="8FB6D0"/>
                </a:solidFill>
                <a:latin typeface="Segoe UI"/>
              </a:rPr>
              <a:t>Overleving &lt; 18 maanden, beoordeeld door de arts</a:t>
            </a:r>
          </a:p>
          <a:p>
            <a:pPr algn="l">
              <a:lnSpc>
                <a:spcPct val="130000"/>
              </a:lnSpc>
              <a:spcBef>
                <a:spcPts val="1200"/>
              </a:spcBef>
            </a:pPr>
            <a:r>
              <a:rPr sz="1400" b="0">
                <a:solidFill>
                  <a:srgbClr val="8FB6D0"/>
                </a:solidFill>
                <a:latin typeface="Segoe UI"/>
              </a:rPr>
              <a:t>Kan geen toestemming geven of instructies volgen</a:t>
            </a:r>
          </a:p>
          <a:p>
            <a:pPr algn="l">
              <a:lnSpc>
                <a:spcPct val="130000"/>
              </a:lnSpc>
              <a:spcBef>
                <a:spcPts val="1200"/>
              </a:spcBef>
            </a:pPr>
            <a:r>
              <a:rPr sz="1400" b="0">
                <a:solidFill>
                  <a:srgbClr val="8FB6D0"/>
                </a:solidFill>
                <a:latin typeface="Segoe UI"/>
              </a:rPr>
              <a:t>Hulpmiddel dat druksensoren belemmert, bv. een EVO</a:t>
            </a:r>
          </a:p>
          <a:p>
            <a:pPr algn="l">
              <a:lnSpc>
                <a:spcPct val="130000"/>
              </a:lnSpc>
              <a:spcBef>
                <a:spcPts val="1200"/>
              </a:spcBef>
            </a:pPr>
            <a:r>
              <a:rPr sz="1400" b="0">
                <a:solidFill>
                  <a:srgbClr val="8FB6D0"/>
                </a:solidFill>
                <a:latin typeface="Segoe UI"/>
              </a:rPr>
              <a:t>Weigert het voorgeschreven schoeisel te dragen</a:t>
            </a:r>
          </a:p>
        </p:txBody>
      </p:sp>
      <p:sp>
        <p:nvSpPr>
          <p:cNvPr id="13" name="TextBox 1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23 / 66</a:t>
            </a:r>
          </a:p>
        </p:txBody>
      </p:sp>
      <p:pic>
        <p:nvPicPr>
          <p:cNvPr id="1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7492812" y="1142971"/>
            <a:ext cx="4825879" cy="4825879"/>
          </a:xfrm>
          <a:prstGeom prst="ellipse">
            <a:avLst/>
          </a:prstGeom>
          <a:solidFill>
            <a:srgbClr val="52BDEC">
              <a:alpha val="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1</a:t>
            </a:r>
          </a:p>
        </p:txBody>
      </p:sp>
      <p:sp>
        <p:nvSpPr>
          <p:cNvPr id="5" name="!!sectietitel"/>
          <p:cNvSpPr txBox="1"/>
          <p:nvPr/>
        </p:nvSpPr>
        <p:spPr>
          <a:xfrm>
            <a:off x="634984" y="1904952"/>
            <a:ext cx="6984825" cy="1818594"/>
          </a:xfrm>
          <a:prstGeom prst="rect">
            <a:avLst/>
          </a:prstGeom>
          <a:noFill/>
        </p:spPr>
        <p:txBody>
          <a:bodyPr wrap="square" anchor="t" lIns="0" rIns="0" tIns="0" bIns="0">
            <a:spAutoFit/>
          </a:bodyPr>
          <a:lstStyle/>
          <a:p>
            <a:pPr algn="l">
              <a:lnSpc>
                <a:spcPct val="110000"/>
              </a:lnSpc>
            </a:pPr>
            <a:r>
              <a:rPr sz="5600" b="1">
                <a:solidFill>
                  <a:srgbClr val="F2F8FC"/>
                </a:solidFill>
                <a:latin typeface="Segoe UI"/>
              </a:rPr>
              <a:t>Baseline — meten en voorschrijven</a:t>
            </a:r>
          </a:p>
        </p:txBody>
      </p:sp>
      <p:sp>
        <p:nvSpPr>
          <p:cNvPr id="6" name="Rounded Rectangle 5"/>
          <p:cNvSpPr/>
          <p:nvPr/>
        </p:nvSpPr>
        <p:spPr>
          <a:xfrm>
            <a:off x="634984" y="4002939"/>
            <a:ext cx="3555911" cy="304792"/>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4984" y="4079138"/>
            <a:ext cx="3555911" cy="215894"/>
          </a:xfrm>
          <a:prstGeom prst="rect">
            <a:avLst/>
          </a:prstGeom>
          <a:noFill/>
        </p:spPr>
        <p:txBody>
          <a:bodyPr wrap="square" anchor="t" lIns="0" rIns="0" tIns="0" bIns="0">
            <a:spAutoFit/>
          </a:bodyPr>
          <a:lstStyle/>
          <a:p>
            <a:pPr algn="ctr">
              <a:lnSpc>
                <a:spcPct val="125000"/>
              </a:lnSpc>
            </a:pPr>
            <a:r>
              <a:rPr sz="1400" b="1">
                <a:solidFill>
                  <a:srgbClr val="52BDEC"/>
                </a:solidFill>
                <a:latin typeface="Consolas"/>
              </a:rPr>
              <a:t>Het langste bezoek van de studie</a:t>
            </a:r>
          </a:p>
        </p:txBody>
      </p:sp>
      <p:sp>
        <p:nvSpPr>
          <p:cNvPr id="8" name="TextBox 7"/>
          <p:cNvSpPr txBox="1"/>
          <p:nvPr/>
        </p:nvSpPr>
        <p:spPr>
          <a:xfrm>
            <a:off x="8000799" y="3555911"/>
            <a:ext cx="1650958" cy="825479"/>
          </a:xfrm>
          <a:prstGeom prst="rect">
            <a:avLst/>
          </a:prstGeom>
          <a:noFill/>
        </p:spPr>
        <p:txBody>
          <a:bodyPr wrap="square" anchor="t" lIns="0" rIns="0" tIns="0" bIns="0">
            <a:spAutoFit/>
          </a:bodyPr>
          <a:lstStyle/>
          <a:p>
            <a:pPr algn="l">
              <a:lnSpc>
                <a:spcPct val="100000"/>
              </a:lnSpc>
            </a:pPr>
            <a:r>
              <a:rPr sz="6400" b="1">
                <a:solidFill>
                  <a:srgbClr val="52BDEC"/>
                </a:solidFill>
                <a:latin typeface="Segoe UI"/>
              </a:rPr>
              <a:t>7</a:t>
            </a:r>
          </a:p>
        </p:txBody>
      </p:sp>
      <p:sp>
        <p:nvSpPr>
          <p:cNvPr id="9" name="TextBox 8"/>
          <p:cNvSpPr txBox="1"/>
          <p:nvPr/>
        </p:nvSpPr>
        <p:spPr>
          <a:xfrm>
            <a:off x="8013499" y="4381390"/>
            <a:ext cx="1650958" cy="253993"/>
          </a:xfrm>
          <a:prstGeom prst="rect">
            <a:avLst/>
          </a:prstGeom>
          <a:noFill/>
        </p:spPr>
        <p:txBody>
          <a:bodyPr wrap="square" anchor="t" lIns="0" rIns="0" tIns="0" bIns="0">
            <a:spAutoFit/>
          </a:bodyPr>
          <a:lstStyle/>
          <a:p>
            <a:pPr algn="l">
              <a:lnSpc>
                <a:spcPct val="125000"/>
              </a:lnSpc>
            </a:pPr>
            <a:r>
              <a:rPr sz="1350" b="0" spc="140">
                <a:solidFill>
                  <a:srgbClr val="8FB6D0"/>
                </a:solidFill>
                <a:latin typeface="Consolas"/>
              </a:rPr>
              <a:t>HANDELINGEN</a:t>
            </a:r>
          </a:p>
        </p:txBody>
      </p:sp>
      <p:sp>
        <p:nvSpPr>
          <p:cNvPr id="10" name="TextBox 9"/>
          <p:cNvSpPr txBox="1"/>
          <p:nvPr/>
        </p:nvSpPr>
        <p:spPr>
          <a:xfrm>
            <a:off x="9905752" y="3555911"/>
            <a:ext cx="1650958" cy="825479"/>
          </a:xfrm>
          <a:prstGeom prst="rect">
            <a:avLst/>
          </a:prstGeom>
          <a:noFill/>
        </p:spPr>
        <p:txBody>
          <a:bodyPr wrap="square" anchor="t" lIns="0" rIns="0" tIns="0" bIns="0">
            <a:spAutoFit/>
          </a:bodyPr>
          <a:lstStyle/>
          <a:p>
            <a:pPr algn="l">
              <a:lnSpc>
                <a:spcPct val="100000"/>
              </a:lnSpc>
            </a:pPr>
            <a:r>
              <a:rPr sz="6400" b="1">
                <a:solidFill>
                  <a:srgbClr val="52BDEC"/>
                </a:solidFill>
                <a:latin typeface="Segoe UI"/>
              </a:rPr>
              <a:t>14</a:t>
            </a:r>
          </a:p>
        </p:txBody>
      </p:sp>
      <p:sp>
        <p:nvSpPr>
          <p:cNvPr id="11" name="TextBox 10"/>
          <p:cNvSpPr txBox="1"/>
          <p:nvPr/>
        </p:nvSpPr>
        <p:spPr>
          <a:xfrm>
            <a:off x="9918452" y="4381390"/>
            <a:ext cx="1650958" cy="253993"/>
          </a:xfrm>
          <a:prstGeom prst="rect">
            <a:avLst/>
          </a:prstGeom>
          <a:noFill/>
        </p:spPr>
        <p:txBody>
          <a:bodyPr wrap="square" anchor="t" lIns="0" rIns="0" tIns="0" bIns="0">
            <a:spAutoFit/>
          </a:bodyPr>
          <a:lstStyle/>
          <a:p>
            <a:pPr algn="l">
              <a:lnSpc>
                <a:spcPct val="125000"/>
              </a:lnSpc>
            </a:pPr>
            <a:r>
              <a:rPr sz="1350" b="0" spc="140">
                <a:solidFill>
                  <a:srgbClr val="8FB6D0"/>
                </a:solidFill>
                <a:latin typeface="Consolas"/>
              </a:rPr>
              <a:t>FORMULIEREN</a:t>
            </a:r>
          </a:p>
        </p:txBody>
      </p:sp>
      <p:sp>
        <p:nvSpPr>
          <p:cNvPr id="12" name="Rectangle 11"/>
          <p:cNvSpPr/>
          <p:nvPr/>
        </p:nvSpPr>
        <p:spPr>
          <a:xfrm>
            <a:off x="634984" y="5714857"/>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4984" y="5867253"/>
            <a:ext cx="10921726" cy="253993"/>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Podoloog meet · arts schrijft voor · studiemedewerker registreert</a:t>
            </a:r>
          </a:p>
        </p:txBody>
      </p:sp>
      <p:sp>
        <p:nvSpPr>
          <p:cNvPr id="14" name="TextBox 13"/>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24 / 66</a:t>
            </a:r>
          </a:p>
        </p:txBody>
      </p:sp>
      <p:pic>
        <p:nvPicPr>
          <p:cNvPr id="15"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1</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01</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Demografie en voorgeschiedenis, inclusief nierfunctie, eGFR, hartaandoening en diabetesmedicatie.</a:t>
            </a:r>
          </a:p>
        </p:txBody>
      </p:sp>
      <p:sp>
        <p:nvSpPr>
          <p:cNvPr id="6" name="!!rail0"/>
          <p:cNvSpPr/>
          <p:nvPr/>
        </p:nvSpPr>
        <p:spPr>
          <a:xfrm>
            <a:off x="660383" y="6387940"/>
            <a:ext cx="1509447"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22063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3780876"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534112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690137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5"/>
          <p:cNvSpPr/>
          <p:nvPr/>
        </p:nvSpPr>
        <p:spPr>
          <a:xfrm>
            <a:off x="8461617"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ail6"/>
          <p:cNvSpPr/>
          <p:nvPr/>
        </p:nvSpPr>
        <p:spPr>
          <a:xfrm>
            <a:off x="1002186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25 / 66</a:t>
            </a:r>
          </a:p>
        </p:txBody>
      </p:sp>
      <p:pic>
        <p:nvPicPr>
          <p:cNvPr id="1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1</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02</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Voet- en schoeiselscreening, en klasseer een eventueel ulcus.</a:t>
            </a:r>
          </a:p>
        </p:txBody>
      </p:sp>
      <p:sp>
        <p:nvSpPr>
          <p:cNvPr id="6" name="!!rail0"/>
          <p:cNvSpPr/>
          <p:nvPr/>
        </p:nvSpPr>
        <p:spPr>
          <a:xfrm>
            <a:off x="66038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220630" y="6387940"/>
            <a:ext cx="1509447"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3780876"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534112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690137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5"/>
          <p:cNvSpPr/>
          <p:nvPr/>
        </p:nvSpPr>
        <p:spPr>
          <a:xfrm>
            <a:off x="8461617"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ail6"/>
          <p:cNvSpPr/>
          <p:nvPr/>
        </p:nvSpPr>
        <p:spPr>
          <a:xfrm>
            <a:off x="1002186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26 / 66</a:t>
            </a:r>
          </a:p>
        </p:txBody>
      </p:sp>
      <p:pic>
        <p:nvPicPr>
          <p:cNvPr id="1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1</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03</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Drukmeting blootsvoets: drie metingen per voet.</a:t>
            </a:r>
          </a:p>
        </p:txBody>
      </p:sp>
      <p:sp>
        <p:nvSpPr>
          <p:cNvPr id="6" name="!!rail0"/>
          <p:cNvSpPr/>
          <p:nvPr/>
        </p:nvSpPr>
        <p:spPr>
          <a:xfrm>
            <a:off x="66038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22063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3780876" y="6387940"/>
            <a:ext cx="1509447"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534112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690137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5"/>
          <p:cNvSpPr/>
          <p:nvPr/>
        </p:nvSpPr>
        <p:spPr>
          <a:xfrm>
            <a:off x="8461617"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ail6"/>
          <p:cNvSpPr/>
          <p:nvPr/>
        </p:nvSpPr>
        <p:spPr>
          <a:xfrm>
            <a:off x="1002186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27 / 66</a:t>
            </a:r>
          </a:p>
        </p:txBody>
      </p:sp>
      <p:pic>
        <p:nvPicPr>
          <p:cNvPr id="1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1</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04</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Bepaal de drie doelregio's en schrijf de zool voor, mét die regio's op het voorschrift.</a:t>
            </a:r>
          </a:p>
        </p:txBody>
      </p:sp>
      <p:sp>
        <p:nvSpPr>
          <p:cNvPr id="6" name="!!rail0"/>
          <p:cNvSpPr/>
          <p:nvPr/>
        </p:nvSpPr>
        <p:spPr>
          <a:xfrm>
            <a:off x="66038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22063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3780876"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5341123" y="6387940"/>
            <a:ext cx="1509447"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690137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5"/>
          <p:cNvSpPr/>
          <p:nvPr/>
        </p:nvSpPr>
        <p:spPr>
          <a:xfrm>
            <a:off x="8461617"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ail6"/>
          <p:cNvSpPr/>
          <p:nvPr/>
        </p:nvSpPr>
        <p:spPr>
          <a:xfrm>
            <a:off x="1002186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28 / 66</a:t>
            </a:r>
          </a:p>
        </p:txBody>
      </p:sp>
      <p:pic>
        <p:nvPicPr>
          <p:cNvPr id="1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1</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05</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Vragenlijsten vóór het educatiegesprek: NAFF en HLS-EU-6. Daarna tevredenheid, schoeiselgebruik en EQ-5D-5L.</a:t>
            </a:r>
          </a:p>
        </p:txBody>
      </p:sp>
      <p:sp>
        <p:nvSpPr>
          <p:cNvPr id="6" name="!!rail0"/>
          <p:cNvSpPr/>
          <p:nvPr/>
        </p:nvSpPr>
        <p:spPr>
          <a:xfrm>
            <a:off x="66038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22063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3780876"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534112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6901370" y="6387940"/>
            <a:ext cx="1509447"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5"/>
          <p:cNvSpPr/>
          <p:nvPr/>
        </p:nvSpPr>
        <p:spPr>
          <a:xfrm>
            <a:off x="8461617"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ail6"/>
          <p:cNvSpPr/>
          <p:nvPr/>
        </p:nvSpPr>
        <p:spPr>
          <a:xfrm>
            <a:off x="1002186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29 / 66</a:t>
            </a:r>
          </a:p>
        </p:txBody>
      </p:sp>
      <p:pic>
        <p:nvPicPr>
          <p:cNvPr id="1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1</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06</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SEBIA stap 1: educatie op maat, voordoen, en de patiënt het zelf laten uitvoeren. Leg dat vast in het logboek.</a:t>
            </a:r>
          </a:p>
        </p:txBody>
      </p:sp>
      <p:sp>
        <p:nvSpPr>
          <p:cNvPr id="6" name="!!rail0"/>
          <p:cNvSpPr/>
          <p:nvPr/>
        </p:nvSpPr>
        <p:spPr>
          <a:xfrm>
            <a:off x="66038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22063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3780876"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534112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690137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5"/>
          <p:cNvSpPr/>
          <p:nvPr/>
        </p:nvSpPr>
        <p:spPr>
          <a:xfrm>
            <a:off x="8461617" y="6387940"/>
            <a:ext cx="1509447"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ail6"/>
          <p:cNvSpPr/>
          <p:nvPr/>
        </p:nvSpPr>
        <p:spPr>
          <a:xfrm>
            <a:off x="1002186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30 / 66</a:t>
            </a:r>
          </a:p>
        </p:txBody>
      </p:sp>
      <p:pic>
        <p:nvPicPr>
          <p:cNvPr id="1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1</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07</a:t>
            </a:r>
          </a:p>
        </p:txBody>
      </p:sp>
      <p:sp>
        <p:nvSpPr>
          <p:cNvPr id="5" name="!!staptekst"/>
          <p:cNvSpPr txBox="1"/>
          <p:nvPr/>
        </p:nvSpPr>
        <p:spPr>
          <a:xfrm>
            <a:off x="3174920" y="1587460"/>
            <a:ext cx="8381790" cy="2222444"/>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Geef de MoveMonitor mee voor zeven dagen en registreer het toestelnummer.</a:t>
            </a:r>
          </a:p>
        </p:txBody>
      </p:sp>
      <p:sp>
        <p:nvSpPr>
          <p:cNvPr id="6" name="TextBox 5"/>
          <p:cNvSpPr txBox="1"/>
          <p:nvPr/>
        </p:nvSpPr>
        <p:spPr>
          <a:xfrm>
            <a:off x="2984425" y="4063898"/>
            <a:ext cx="8572285"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WAT U HIERBIJ INVULT</a:t>
            </a:r>
          </a:p>
        </p:txBody>
      </p:sp>
      <p:sp>
        <p:nvSpPr>
          <p:cNvPr id="7" name="Rounded Rectangle 6"/>
          <p:cNvSpPr/>
          <p:nvPr/>
        </p:nvSpPr>
        <p:spPr>
          <a:xfrm>
            <a:off x="2984425"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060623"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07</a:t>
            </a:r>
          </a:p>
        </p:txBody>
      </p:sp>
      <p:sp>
        <p:nvSpPr>
          <p:cNvPr id="9" name="TextBox 8"/>
          <p:cNvSpPr txBox="1"/>
          <p:nvPr/>
        </p:nvSpPr>
        <p:spPr>
          <a:xfrm>
            <a:off x="3403514"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Demografie</a:t>
            </a:r>
          </a:p>
        </p:txBody>
      </p:sp>
      <p:sp>
        <p:nvSpPr>
          <p:cNvPr id="10" name="Rounded Rectangle 9"/>
          <p:cNvSpPr/>
          <p:nvPr/>
        </p:nvSpPr>
        <p:spPr>
          <a:xfrm>
            <a:off x="4711582"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787780"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08</a:t>
            </a:r>
          </a:p>
        </p:txBody>
      </p:sp>
      <p:sp>
        <p:nvSpPr>
          <p:cNvPr id="12" name="TextBox 11"/>
          <p:cNvSpPr txBox="1"/>
          <p:nvPr/>
        </p:nvSpPr>
        <p:spPr>
          <a:xfrm>
            <a:off x="5130671"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Voet en schoeisel</a:t>
            </a:r>
          </a:p>
        </p:txBody>
      </p:sp>
      <p:sp>
        <p:nvSpPr>
          <p:cNvPr id="13" name="Rounded Rectangle 12"/>
          <p:cNvSpPr/>
          <p:nvPr/>
        </p:nvSpPr>
        <p:spPr>
          <a:xfrm>
            <a:off x="6438739"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14937"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09</a:t>
            </a:r>
          </a:p>
        </p:txBody>
      </p:sp>
      <p:sp>
        <p:nvSpPr>
          <p:cNvPr id="15" name="TextBox 14"/>
          <p:cNvSpPr txBox="1"/>
          <p:nvPr/>
        </p:nvSpPr>
        <p:spPr>
          <a:xfrm>
            <a:off x="6857828"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Drukmeting</a:t>
            </a:r>
          </a:p>
        </p:txBody>
      </p:sp>
      <p:sp>
        <p:nvSpPr>
          <p:cNvPr id="16" name="Rounded Rectangle 15"/>
          <p:cNvSpPr/>
          <p:nvPr/>
        </p:nvSpPr>
        <p:spPr>
          <a:xfrm>
            <a:off x="8165895"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42093"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10</a:t>
            </a:r>
          </a:p>
        </p:txBody>
      </p:sp>
      <p:sp>
        <p:nvSpPr>
          <p:cNvPr id="18" name="TextBox 17"/>
          <p:cNvSpPr txBox="1"/>
          <p:nvPr/>
        </p:nvSpPr>
        <p:spPr>
          <a:xfrm>
            <a:off x="8584985"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Voorschrift CMFO</a:t>
            </a:r>
          </a:p>
        </p:txBody>
      </p:sp>
      <p:sp>
        <p:nvSpPr>
          <p:cNvPr id="19" name="Rounded Rectangle 18"/>
          <p:cNvSpPr/>
          <p:nvPr/>
        </p:nvSpPr>
        <p:spPr>
          <a:xfrm>
            <a:off x="9893052"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969250"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12</a:t>
            </a:r>
          </a:p>
        </p:txBody>
      </p:sp>
      <p:sp>
        <p:nvSpPr>
          <p:cNvPr id="21" name="TextBox 20"/>
          <p:cNvSpPr txBox="1"/>
          <p:nvPr/>
        </p:nvSpPr>
        <p:spPr>
          <a:xfrm>
            <a:off x="10312142"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Tevredenheid</a:t>
            </a:r>
          </a:p>
        </p:txBody>
      </p:sp>
      <p:sp>
        <p:nvSpPr>
          <p:cNvPr id="22" name="Rounded Rectangle 21"/>
          <p:cNvSpPr/>
          <p:nvPr/>
        </p:nvSpPr>
        <p:spPr>
          <a:xfrm>
            <a:off x="2984425" y="4698882"/>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060623" y="4775080"/>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13</a:t>
            </a:r>
          </a:p>
        </p:txBody>
      </p:sp>
      <p:sp>
        <p:nvSpPr>
          <p:cNvPr id="24" name="TextBox 23"/>
          <p:cNvSpPr txBox="1"/>
          <p:nvPr/>
        </p:nvSpPr>
        <p:spPr>
          <a:xfrm>
            <a:off x="3403514" y="4787780"/>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Schoeiselgebruik</a:t>
            </a:r>
          </a:p>
        </p:txBody>
      </p:sp>
      <p:sp>
        <p:nvSpPr>
          <p:cNvPr id="25" name="Rounded Rectangle 24"/>
          <p:cNvSpPr/>
          <p:nvPr/>
        </p:nvSpPr>
        <p:spPr>
          <a:xfrm>
            <a:off x="4711582" y="4698882"/>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787780" y="4775080"/>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14</a:t>
            </a:r>
          </a:p>
        </p:txBody>
      </p:sp>
      <p:sp>
        <p:nvSpPr>
          <p:cNvPr id="27" name="TextBox 26"/>
          <p:cNvSpPr txBox="1"/>
          <p:nvPr/>
        </p:nvSpPr>
        <p:spPr>
          <a:xfrm>
            <a:off x="5130671" y="4787780"/>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NAFF</a:t>
            </a:r>
          </a:p>
        </p:txBody>
      </p:sp>
      <p:sp>
        <p:nvSpPr>
          <p:cNvPr id="28" name="Rounded Rectangle 27"/>
          <p:cNvSpPr/>
          <p:nvPr/>
        </p:nvSpPr>
        <p:spPr>
          <a:xfrm>
            <a:off x="6438739" y="4698882"/>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14937" y="4775080"/>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15</a:t>
            </a:r>
          </a:p>
        </p:txBody>
      </p:sp>
      <p:sp>
        <p:nvSpPr>
          <p:cNvPr id="30" name="TextBox 29"/>
          <p:cNvSpPr txBox="1"/>
          <p:nvPr/>
        </p:nvSpPr>
        <p:spPr>
          <a:xfrm>
            <a:off x="6857828" y="4787780"/>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HLS-EU-6</a:t>
            </a:r>
          </a:p>
        </p:txBody>
      </p:sp>
      <p:sp>
        <p:nvSpPr>
          <p:cNvPr id="31" name="Rounded Rectangle 30"/>
          <p:cNvSpPr/>
          <p:nvPr/>
        </p:nvSpPr>
        <p:spPr>
          <a:xfrm>
            <a:off x="8165895" y="4698882"/>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42093" y="4775080"/>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16</a:t>
            </a:r>
          </a:p>
        </p:txBody>
      </p:sp>
      <p:sp>
        <p:nvSpPr>
          <p:cNvPr id="33" name="TextBox 32"/>
          <p:cNvSpPr txBox="1"/>
          <p:nvPr/>
        </p:nvSpPr>
        <p:spPr>
          <a:xfrm>
            <a:off x="8584985" y="4787780"/>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Educatieboekje</a:t>
            </a:r>
          </a:p>
        </p:txBody>
      </p:sp>
      <p:sp>
        <p:nvSpPr>
          <p:cNvPr id="34" name="Rounded Rectangle 33"/>
          <p:cNvSpPr/>
          <p:nvPr/>
        </p:nvSpPr>
        <p:spPr>
          <a:xfrm>
            <a:off x="9893052" y="4698882"/>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969250" y="4775080"/>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18</a:t>
            </a:r>
          </a:p>
        </p:txBody>
      </p:sp>
      <p:sp>
        <p:nvSpPr>
          <p:cNvPr id="36" name="TextBox 35"/>
          <p:cNvSpPr txBox="1"/>
          <p:nvPr/>
        </p:nvSpPr>
        <p:spPr>
          <a:xfrm>
            <a:off x="10312142" y="4787780"/>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Logboek educatie</a:t>
            </a:r>
          </a:p>
        </p:txBody>
      </p:sp>
      <p:sp>
        <p:nvSpPr>
          <p:cNvPr id="37" name="Rounded Rectangle 36"/>
          <p:cNvSpPr/>
          <p:nvPr/>
        </p:nvSpPr>
        <p:spPr>
          <a:xfrm>
            <a:off x="2984425" y="5041773"/>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060623" y="5117972"/>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19</a:t>
            </a:r>
          </a:p>
        </p:txBody>
      </p:sp>
      <p:sp>
        <p:nvSpPr>
          <p:cNvPr id="39" name="TextBox 38"/>
          <p:cNvSpPr txBox="1"/>
          <p:nvPr/>
        </p:nvSpPr>
        <p:spPr>
          <a:xfrm>
            <a:off x="3403514" y="5130671"/>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MoveMonitor</a:t>
            </a:r>
          </a:p>
        </p:txBody>
      </p:sp>
      <p:sp>
        <p:nvSpPr>
          <p:cNvPr id="40" name="Rounded Rectangle 39"/>
          <p:cNvSpPr/>
          <p:nvPr/>
        </p:nvSpPr>
        <p:spPr>
          <a:xfrm>
            <a:off x="4711582" y="5041773"/>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787780" y="5117972"/>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20</a:t>
            </a:r>
          </a:p>
        </p:txBody>
      </p:sp>
      <p:sp>
        <p:nvSpPr>
          <p:cNvPr id="42" name="TextBox 41"/>
          <p:cNvSpPr txBox="1"/>
          <p:nvPr/>
        </p:nvSpPr>
        <p:spPr>
          <a:xfrm>
            <a:off x="5130671" y="5130671"/>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UDI MoveMonitor</a:t>
            </a:r>
          </a:p>
        </p:txBody>
      </p:sp>
      <p:sp>
        <p:nvSpPr>
          <p:cNvPr id="43" name="Rounded Rectangle 42"/>
          <p:cNvSpPr/>
          <p:nvPr/>
        </p:nvSpPr>
        <p:spPr>
          <a:xfrm>
            <a:off x="6438739" y="5041773"/>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514937" y="5117972"/>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21</a:t>
            </a:r>
          </a:p>
        </p:txBody>
      </p:sp>
      <p:sp>
        <p:nvSpPr>
          <p:cNvPr id="45" name="TextBox 44"/>
          <p:cNvSpPr txBox="1"/>
          <p:nvPr/>
        </p:nvSpPr>
        <p:spPr>
          <a:xfrm>
            <a:off x="6857828" y="5130671"/>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EQ-5D-5L</a:t>
            </a:r>
          </a:p>
        </p:txBody>
      </p:sp>
      <p:sp>
        <p:nvSpPr>
          <p:cNvPr id="46" name="Rounded Rectangle 45"/>
          <p:cNvSpPr/>
          <p:nvPr/>
        </p:nvSpPr>
        <p:spPr>
          <a:xfrm>
            <a:off x="8165895" y="5041773"/>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242093" y="5117972"/>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48</a:t>
            </a:r>
          </a:p>
        </p:txBody>
      </p:sp>
      <p:sp>
        <p:nvSpPr>
          <p:cNvPr id="48" name="TextBox 47"/>
          <p:cNvSpPr txBox="1"/>
          <p:nvPr/>
        </p:nvSpPr>
        <p:spPr>
          <a:xfrm>
            <a:off x="8584985" y="5130671"/>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Voetzorgfolder</a:t>
            </a:r>
          </a:p>
        </p:txBody>
      </p:sp>
      <p:sp>
        <p:nvSpPr>
          <p:cNvPr id="49" name="Rectangle 48"/>
          <p:cNvSpPr/>
          <p:nvPr/>
        </p:nvSpPr>
        <p:spPr>
          <a:xfrm>
            <a:off x="634984" y="544816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34984" y="5587860"/>
            <a:ext cx="1269968" cy="215894"/>
          </a:xfrm>
          <a:prstGeom prst="rect">
            <a:avLst/>
          </a:prstGeom>
          <a:noFill/>
        </p:spPr>
        <p:txBody>
          <a:bodyPr wrap="square" anchor="t" lIns="0" rIns="0" tIns="0" bIns="0">
            <a:spAutoFit/>
          </a:bodyPr>
          <a:lstStyle/>
          <a:p>
            <a:pPr algn="l">
              <a:lnSpc>
                <a:spcPct val="125000"/>
              </a:lnSpc>
            </a:pPr>
            <a:r>
              <a:rPr sz="1250" b="1" spc="150">
                <a:solidFill>
                  <a:srgbClr val="FF7A00"/>
                </a:solidFill>
                <a:latin typeface="Consolas"/>
              </a:rPr>
              <a:t>LET OP</a:t>
            </a:r>
          </a:p>
        </p:txBody>
      </p:sp>
      <p:sp>
        <p:nvSpPr>
          <p:cNvPr id="51" name="TextBox 50"/>
          <p:cNvSpPr txBox="1"/>
          <p:nvPr/>
        </p:nvSpPr>
        <p:spPr>
          <a:xfrm>
            <a:off x="2031949" y="5562460"/>
            <a:ext cx="9524761" cy="571485"/>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Het voorschrift van de zool gebeurt hier, op de baseline — niet later. En NAFF en HLS-EU-6 gaan vóór de educatie, anders meet u uw eigen uitleg in plaats van de voorkennis van de patiënt.</a:t>
            </a:r>
          </a:p>
        </p:txBody>
      </p:sp>
      <p:sp>
        <p:nvSpPr>
          <p:cNvPr id="52" name="!!rail0"/>
          <p:cNvSpPr/>
          <p:nvPr/>
        </p:nvSpPr>
        <p:spPr>
          <a:xfrm>
            <a:off x="66038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ail1"/>
          <p:cNvSpPr/>
          <p:nvPr/>
        </p:nvSpPr>
        <p:spPr>
          <a:xfrm>
            <a:off x="222063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ail2"/>
          <p:cNvSpPr/>
          <p:nvPr/>
        </p:nvSpPr>
        <p:spPr>
          <a:xfrm>
            <a:off x="3780876"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ail3"/>
          <p:cNvSpPr/>
          <p:nvPr/>
        </p:nvSpPr>
        <p:spPr>
          <a:xfrm>
            <a:off x="534112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ail4"/>
          <p:cNvSpPr/>
          <p:nvPr/>
        </p:nvSpPr>
        <p:spPr>
          <a:xfrm>
            <a:off x="690137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ail5"/>
          <p:cNvSpPr/>
          <p:nvPr/>
        </p:nvSpPr>
        <p:spPr>
          <a:xfrm>
            <a:off x="8461617"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ail6"/>
          <p:cNvSpPr/>
          <p:nvPr/>
        </p:nvSpPr>
        <p:spPr>
          <a:xfrm>
            <a:off x="10021863" y="6387940"/>
            <a:ext cx="1509447"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31 / 66</a:t>
            </a:r>
          </a:p>
        </p:txBody>
      </p:sp>
      <p:pic>
        <p:nvPicPr>
          <p:cNvPr id="60"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7492812" y="1142971"/>
            <a:ext cx="4825879" cy="4825879"/>
          </a:xfrm>
          <a:prstGeom prst="ellipse">
            <a:avLst/>
          </a:prstGeom>
          <a:solidFill>
            <a:srgbClr val="52BDEC">
              <a:alpha val="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2 · VEERTIEN DAGEN TOT ÉÉN MAAND</a:t>
            </a:r>
          </a:p>
        </p:txBody>
      </p:sp>
      <p:sp>
        <p:nvSpPr>
          <p:cNvPr id="5" name="!!sectietitel"/>
          <p:cNvSpPr txBox="1"/>
          <p:nvPr/>
        </p:nvSpPr>
        <p:spPr>
          <a:xfrm>
            <a:off x="634984" y="1904952"/>
            <a:ext cx="6984825" cy="1818594"/>
          </a:xfrm>
          <a:prstGeom prst="rect">
            <a:avLst/>
          </a:prstGeom>
          <a:noFill/>
        </p:spPr>
        <p:txBody>
          <a:bodyPr wrap="square" anchor="t" lIns="0" rIns="0" tIns="0" bIns="0">
            <a:spAutoFit/>
          </a:bodyPr>
          <a:lstStyle/>
          <a:p>
            <a:pPr algn="l">
              <a:lnSpc>
                <a:spcPct val="110000"/>
              </a:lnSpc>
            </a:pPr>
            <a:r>
              <a:rPr sz="5600" b="1">
                <a:solidFill>
                  <a:srgbClr val="F2F8FC"/>
                </a:solidFill>
                <a:latin typeface="Segoe UI"/>
              </a:rPr>
              <a:t>Aflevering, optimalisatie en sensor</a:t>
            </a:r>
          </a:p>
        </p:txBody>
      </p:sp>
      <p:sp>
        <p:nvSpPr>
          <p:cNvPr id="6" name="Rounded Rectangle 5"/>
          <p:cNvSpPr/>
          <p:nvPr/>
        </p:nvSpPr>
        <p:spPr>
          <a:xfrm>
            <a:off x="634984" y="4002939"/>
            <a:ext cx="3555911" cy="304792"/>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4984" y="4079138"/>
            <a:ext cx="3555911" cy="215894"/>
          </a:xfrm>
          <a:prstGeom prst="rect">
            <a:avLst/>
          </a:prstGeom>
          <a:noFill/>
        </p:spPr>
        <p:txBody>
          <a:bodyPr wrap="square" anchor="t" lIns="0" rIns="0" tIns="0" bIns="0">
            <a:spAutoFit/>
          </a:bodyPr>
          <a:lstStyle/>
          <a:p>
            <a:pPr algn="ctr">
              <a:lnSpc>
                <a:spcPct val="125000"/>
              </a:lnSpc>
            </a:pPr>
            <a:r>
              <a:rPr sz="1400" b="1">
                <a:solidFill>
                  <a:srgbClr val="52BDEC"/>
                </a:solidFill>
                <a:latin typeface="Consolas"/>
              </a:rPr>
              <a:t>Het technisch zwaarste bezoek</a:t>
            </a:r>
          </a:p>
        </p:txBody>
      </p:sp>
      <p:sp>
        <p:nvSpPr>
          <p:cNvPr id="8" name="TextBox 7"/>
          <p:cNvSpPr txBox="1"/>
          <p:nvPr/>
        </p:nvSpPr>
        <p:spPr>
          <a:xfrm>
            <a:off x="8000799" y="3555911"/>
            <a:ext cx="1650958" cy="825479"/>
          </a:xfrm>
          <a:prstGeom prst="rect">
            <a:avLst/>
          </a:prstGeom>
          <a:noFill/>
        </p:spPr>
        <p:txBody>
          <a:bodyPr wrap="square" anchor="t" lIns="0" rIns="0" tIns="0" bIns="0">
            <a:spAutoFit/>
          </a:bodyPr>
          <a:lstStyle/>
          <a:p>
            <a:pPr algn="l">
              <a:lnSpc>
                <a:spcPct val="100000"/>
              </a:lnSpc>
            </a:pPr>
            <a:r>
              <a:rPr sz="6400" b="1">
                <a:solidFill>
                  <a:srgbClr val="52BDEC"/>
                </a:solidFill>
                <a:latin typeface="Segoe UI"/>
              </a:rPr>
              <a:t>7</a:t>
            </a:r>
          </a:p>
        </p:txBody>
      </p:sp>
      <p:sp>
        <p:nvSpPr>
          <p:cNvPr id="9" name="TextBox 8"/>
          <p:cNvSpPr txBox="1"/>
          <p:nvPr/>
        </p:nvSpPr>
        <p:spPr>
          <a:xfrm>
            <a:off x="8013499" y="4381390"/>
            <a:ext cx="1650958" cy="253993"/>
          </a:xfrm>
          <a:prstGeom prst="rect">
            <a:avLst/>
          </a:prstGeom>
          <a:noFill/>
        </p:spPr>
        <p:txBody>
          <a:bodyPr wrap="square" anchor="t" lIns="0" rIns="0" tIns="0" bIns="0">
            <a:spAutoFit/>
          </a:bodyPr>
          <a:lstStyle/>
          <a:p>
            <a:pPr algn="l">
              <a:lnSpc>
                <a:spcPct val="125000"/>
              </a:lnSpc>
            </a:pPr>
            <a:r>
              <a:rPr sz="1350" b="0" spc="140">
                <a:solidFill>
                  <a:srgbClr val="8FB6D0"/>
                </a:solidFill>
                <a:latin typeface="Consolas"/>
              </a:rPr>
              <a:t>HANDELINGEN</a:t>
            </a:r>
          </a:p>
        </p:txBody>
      </p:sp>
      <p:sp>
        <p:nvSpPr>
          <p:cNvPr id="10" name="TextBox 9"/>
          <p:cNvSpPr txBox="1"/>
          <p:nvPr/>
        </p:nvSpPr>
        <p:spPr>
          <a:xfrm>
            <a:off x="9905752" y="3555911"/>
            <a:ext cx="1650958" cy="825479"/>
          </a:xfrm>
          <a:prstGeom prst="rect">
            <a:avLst/>
          </a:prstGeom>
          <a:noFill/>
        </p:spPr>
        <p:txBody>
          <a:bodyPr wrap="square" anchor="t" lIns="0" rIns="0" tIns="0" bIns="0">
            <a:spAutoFit/>
          </a:bodyPr>
          <a:lstStyle/>
          <a:p>
            <a:pPr algn="l">
              <a:lnSpc>
                <a:spcPct val="100000"/>
              </a:lnSpc>
            </a:pPr>
            <a:r>
              <a:rPr sz="6400" b="1">
                <a:solidFill>
                  <a:srgbClr val="52BDEC"/>
                </a:solidFill>
                <a:latin typeface="Segoe UI"/>
              </a:rPr>
              <a:t>9</a:t>
            </a:r>
          </a:p>
        </p:txBody>
      </p:sp>
      <p:sp>
        <p:nvSpPr>
          <p:cNvPr id="11" name="TextBox 10"/>
          <p:cNvSpPr txBox="1"/>
          <p:nvPr/>
        </p:nvSpPr>
        <p:spPr>
          <a:xfrm>
            <a:off x="9918452" y="4381390"/>
            <a:ext cx="1650958" cy="253993"/>
          </a:xfrm>
          <a:prstGeom prst="rect">
            <a:avLst/>
          </a:prstGeom>
          <a:noFill/>
        </p:spPr>
        <p:txBody>
          <a:bodyPr wrap="square" anchor="t" lIns="0" rIns="0" tIns="0" bIns="0">
            <a:spAutoFit/>
          </a:bodyPr>
          <a:lstStyle/>
          <a:p>
            <a:pPr algn="l">
              <a:lnSpc>
                <a:spcPct val="125000"/>
              </a:lnSpc>
            </a:pPr>
            <a:r>
              <a:rPr sz="1350" b="0" spc="140">
                <a:solidFill>
                  <a:srgbClr val="8FB6D0"/>
                </a:solidFill>
                <a:latin typeface="Consolas"/>
              </a:rPr>
              <a:t>FORMULIEREN</a:t>
            </a:r>
          </a:p>
        </p:txBody>
      </p:sp>
      <p:sp>
        <p:nvSpPr>
          <p:cNvPr id="12" name="Rectangle 11"/>
          <p:cNvSpPr/>
          <p:nvPr/>
        </p:nvSpPr>
        <p:spPr>
          <a:xfrm>
            <a:off x="634984" y="5714857"/>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4984" y="5867253"/>
            <a:ext cx="10921726" cy="253993"/>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Pedorthist past aan · podoloog meet, plaatst de sensor en begeleidt</a:t>
            </a:r>
          </a:p>
        </p:txBody>
      </p:sp>
      <p:sp>
        <p:nvSpPr>
          <p:cNvPr id="14" name="TextBox 13"/>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32 / 66</a:t>
            </a:r>
          </a:p>
        </p:txBody>
      </p:sp>
      <p:pic>
        <p:nvPicPr>
          <p:cNvPr id="15"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2 · VEERTIEN DAGEN TOT ÉÉN MAAND</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01</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Lever de zool af. Controleer de pasvorm in het bínnenschoeisel én het búitenschoeisel, en neem de foto's.</a:t>
            </a:r>
          </a:p>
        </p:txBody>
      </p:sp>
      <p:sp>
        <p:nvSpPr>
          <p:cNvPr id="6" name="!!rail0"/>
          <p:cNvSpPr/>
          <p:nvPr/>
        </p:nvSpPr>
        <p:spPr>
          <a:xfrm>
            <a:off x="660383" y="6387940"/>
            <a:ext cx="1509447"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22063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3780876"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534112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690137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5"/>
          <p:cNvSpPr/>
          <p:nvPr/>
        </p:nvSpPr>
        <p:spPr>
          <a:xfrm>
            <a:off x="8461617"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ail6"/>
          <p:cNvSpPr/>
          <p:nvPr/>
        </p:nvSpPr>
        <p:spPr>
          <a:xfrm>
            <a:off x="1002186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33 / 66</a:t>
            </a:r>
          </a:p>
        </p:txBody>
      </p:sp>
      <p:pic>
        <p:nvPicPr>
          <p:cNvPr id="1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2 · VEERTIEN DAGEN TOT ÉÉN MAAND</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02</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Meet de drukherverdeling en toets de norm per doelregio.</a:t>
            </a:r>
          </a:p>
        </p:txBody>
      </p:sp>
      <p:sp>
        <p:nvSpPr>
          <p:cNvPr id="6" name="!!rail0"/>
          <p:cNvSpPr/>
          <p:nvPr/>
        </p:nvSpPr>
        <p:spPr>
          <a:xfrm>
            <a:off x="66038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220630" y="6387940"/>
            <a:ext cx="1509447"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3780876"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534112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690137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5"/>
          <p:cNvSpPr/>
          <p:nvPr/>
        </p:nvSpPr>
        <p:spPr>
          <a:xfrm>
            <a:off x="8461617"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ail6"/>
          <p:cNvSpPr/>
          <p:nvPr/>
        </p:nvSpPr>
        <p:spPr>
          <a:xfrm>
            <a:off x="1002186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34 / 66</a:t>
            </a:r>
          </a:p>
        </p:txBody>
      </p:sp>
      <p:pic>
        <p:nvPicPr>
          <p:cNvPr id="1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2 · VEERTIEN DAGEN TOT ÉÉN MAAND</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03</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Niet gehaald? Pas aan en meet opnieuw. Is ze gehaald, laat dan een tweede, identiek paar maken.</a:t>
            </a:r>
          </a:p>
        </p:txBody>
      </p:sp>
      <p:sp>
        <p:nvSpPr>
          <p:cNvPr id="6" name="!!rail0"/>
          <p:cNvSpPr/>
          <p:nvPr/>
        </p:nvSpPr>
        <p:spPr>
          <a:xfrm>
            <a:off x="66038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22063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3780876" y="6387940"/>
            <a:ext cx="1509447"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534112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690137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5"/>
          <p:cNvSpPr/>
          <p:nvPr/>
        </p:nvSpPr>
        <p:spPr>
          <a:xfrm>
            <a:off x="8461617"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ail6"/>
          <p:cNvSpPr/>
          <p:nvPr/>
        </p:nvSpPr>
        <p:spPr>
          <a:xfrm>
            <a:off x="1002186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35 / 66</a:t>
            </a:r>
          </a:p>
        </p:txBody>
      </p:sp>
      <p:pic>
        <p:nvPicPr>
          <p:cNvPr id="1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2 · VEERTIEN DAGEN TOT ÉÉN MAAND</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04</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Plaats en activeer de Orthotimer in de zool en registreer het toestelnummer.</a:t>
            </a:r>
          </a:p>
        </p:txBody>
      </p:sp>
      <p:sp>
        <p:nvSpPr>
          <p:cNvPr id="6" name="!!rail0"/>
          <p:cNvSpPr/>
          <p:nvPr/>
        </p:nvSpPr>
        <p:spPr>
          <a:xfrm>
            <a:off x="66038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22063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3780876"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5341123" y="6387940"/>
            <a:ext cx="1509447"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690137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5"/>
          <p:cNvSpPr/>
          <p:nvPr/>
        </p:nvSpPr>
        <p:spPr>
          <a:xfrm>
            <a:off x="8461617"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ail6"/>
          <p:cNvSpPr/>
          <p:nvPr/>
        </p:nvSpPr>
        <p:spPr>
          <a:xfrm>
            <a:off x="1002186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36 / 66</a:t>
            </a:r>
          </a:p>
        </p:txBody>
      </p:sp>
      <p:pic>
        <p:nvPicPr>
          <p:cNvPr id="1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2 · VEERTIEN DAGEN TOT ÉÉN MAAND</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05</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Neem de MoveMonitor terug en registreer de teruggave.</a:t>
            </a:r>
          </a:p>
        </p:txBody>
      </p:sp>
      <p:sp>
        <p:nvSpPr>
          <p:cNvPr id="6" name="!!rail0"/>
          <p:cNvSpPr/>
          <p:nvPr/>
        </p:nvSpPr>
        <p:spPr>
          <a:xfrm>
            <a:off x="66038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22063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3780876"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534112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6901370" y="6387940"/>
            <a:ext cx="1509447"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5"/>
          <p:cNvSpPr/>
          <p:nvPr/>
        </p:nvSpPr>
        <p:spPr>
          <a:xfrm>
            <a:off x="8461617"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ail6"/>
          <p:cNvSpPr/>
          <p:nvPr/>
        </p:nvSpPr>
        <p:spPr>
          <a:xfrm>
            <a:off x="1002186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37 / 66</a:t>
            </a:r>
          </a:p>
        </p:txBody>
      </p:sp>
      <p:pic>
        <p:nvPicPr>
          <p:cNvPr id="1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2 · VEERTIEN DAGEN TOT ÉÉN MAAND</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06</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SEBIA stap 2: bespreek het activiteitenprofiel, doe de teach-back en geef de sensorfolder mee.</a:t>
            </a:r>
          </a:p>
        </p:txBody>
      </p:sp>
      <p:sp>
        <p:nvSpPr>
          <p:cNvPr id="6" name="!!rail0"/>
          <p:cNvSpPr/>
          <p:nvPr/>
        </p:nvSpPr>
        <p:spPr>
          <a:xfrm>
            <a:off x="66038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22063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3780876"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534112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690137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5"/>
          <p:cNvSpPr/>
          <p:nvPr/>
        </p:nvSpPr>
        <p:spPr>
          <a:xfrm>
            <a:off x="8461617" y="6387940"/>
            <a:ext cx="1509447"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ail6"/>
          <p:cNvSpPr/>
          <p:nvPr/>
        </p:nvSpPr>
        <p:spPr>
          <a:xfrm>
            <a:off x="1002186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38 / 66</a:t>
            </a:r>
          </a:p>
        </p:txBody>
      </p:sp>
      <p:pic>
        <p:nvPicPr>
          <p:cNvPr id="1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 2 · VEERTIEN DAGEN TOT ÉÉN MAAND</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07</a:t>
            </a:r>
          </a:p>
        </p:txBody>
      </p:sp>
      <p:sp>
        <p:nvSpPr>
          <p:cNvPr id="5" name="!!staptekst"/>
          <p:cNvSpPr txBox="1"/>
          <p:nvPr/>
        </p:nvSpPr>
        <p:spPr>
          <a:xfrm>
            <a:off x="3174920" y="1587460"/>
            <a:ext cx="8381790" cy="2222444"/>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Bevraag de overtuigingen en gewoontes rond schoeisel.</a:t>
            </a:r>
          </a:p>
        </p:txBody>
      </p:sp>
      <p:sp>
        <p:nvSpPr>
          <p:cNvPr id="6" name="TextBox 5"/>
          <p:cNvSpPr txBox="1"/>
          <p:nvPr/>
        </p:nvSpPr>
        <p:spPr>
          <a:xfrm>
            <a:off x="2984425" y="4063898"/>
            <a:ext cx="8572285"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WAT U HIERBIJ INVULT</a:t>
            </a:r>
          </a:p>
        </p:txBody>
      </p:sp>
      <p:sp>
        <p:nvSpPr>
          <p:cNvPr id="7" name="Rounded Rectangle 6"/>
          <p:cNvSpPr/>
          <p:nvPr/>
        </p:nvSpPr>
        <p:spPr>
          <a:xfrm>
            <a:off x="2984425"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060623"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23</a:t>
            </a:r>
          </a:p>
        </p:txBody>
      </p:sp>
      <p:sp>
        <p:nvSpPr>
          <p:cNvPr id="9" name="TextBox 8"/>
          <p:cNvSpPr txBox="1"/>
          <p:nvPr/>
        </p:nvSpPr>
        <p:spPr>
          <a:xfrm>
            <a:off x="3403514"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Aanpassing</a:t>
            </a:r>
          </a:p>
        </p:txBody>
      </p:sp>
      <p:sp>
        <p:nvSpPr>
          <p:cNvPr id="10" name="Rounded Rectangle 9"/>
          <p:cNvSpPr/>
          <p:nvPr/>
        </p:nvSpPr>
        <p:spPr>
          <a:xfrm>
            <a:off x="4711582"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787780"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24</a:t>
            </a:r>
          </a:p>
        </p:txBody>
      </p:sp>
      <p:sp>
        <p:nvSpPr>
          <p:cNvPr id="12" name="TextBox 11"/>
          <p:cNvSpPr txBox="1"/>
          <p:nvPr/>
        </p:nvSpPr>
        <p:spPr>
          <a:xfrm>
            <a:off x="5130671"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Drukherverdeling</a:t>
            </a:r>
          </a:p>
        </p:txBody>
      </p:sp>
      <p:sp>
        <p:nvSpPr>
          <p:cNvPr id="13" name="Rounded Rectangle 12"/>
          <p:cNvSpPr/>
          <p:nvPr/>
        </p:nvSpPr>
        <p:spPr>
          <a:xfrm>
            <a:off x="6438739"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14937"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24b</a:t>
            </a:r>
          </a:p>
        </p:txBody>
      </p:sp>
      <p:sp>
        <p:nvSpPr>
          <p:cNvPr id="15" name="TextBox 14"/>
          <p:cNvSpPr txBox="1"/>
          <p:nvPr/>
        </p:nvSpPr>
        <p:spPr>
          <a:xfrm>
            <a:off x="6857828"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Opvolgtool</a:t>
            </a:r>
          </a:p>
        </p:txBody>
      </p:sp>
      <p:sp>
        <p:nvSpPr>
          <p:cNvPr id="16" name="Rounded Rectangle 15"/>
          <p:cNvSpPr/>
          <p:nvPr/>
        </p:nvSpPr>
        <p:spPr>
          <a:xfrm>
            <a:off x="8165895"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42093"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25</a:t>
            </a:r>
          </a:p>
        </p:txBody>
      </p:sp>
      <p:sp>
        <p:nvSpPr>
          <p:cNvPr id="18" name="TextBox 17"/>
          <p:cNvSpPr txBox="1"/>
          <p:nvPr/>
        </p:nvSpPr>
        <p:spPr>
          <a:xfrm>
            <a:off x="8584985"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UDI Orthotimer</a:t>
            </a:r>
          </a:p>
        </p:txBody>
      </p:sp>
      <p:sp>
        <p:nvSpPr>
          <p:cNvPr id="19" name="Rounded Rectangle 18"/>
          <p:cNvSpPr/>
          <p:nvPr/>
        </p:nvSpPr>
        <p:spPr>
          <a:xfrm>
            <a:off x="9893052"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969250"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26</a:t>
            </a:r>
          </a:p>
        </p:txBody>
      </p:sp>
      <p:sp>
        <p:nvSpPr>
          <p:cNvPr id="21" name="TextBox 20"/>
          <p:cNvSpPr txBox="1"/>
          <p:nvPr/>
        </p:nvSpPr>
        <p:spPr>
          <a:xfrm>
            <a:off x="10312142"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Overtuigingen</a:t>
            </a:r>
          </a:p>
        </p:txBody>
      </p:sp>
      <p:sp>
        <p:nvSpPr>
          <p:cNvPr id="22" name="Rounded Rectangle 21"/>
          <p:cNvSpPr/>
          <p:nvPr/>
        </p:nvSpPr>
        <p:spPr>
          <a:xfrm>
            <a:off x="2984425" y="4698882"/>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060623" y="4775080"/>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27</a:t>
            </a:r>
          </a:p>
        </p:txBody>
      </p:sp>
      <p:sp>
        <p:nvSpPr>
          <p:cNvPr id="24" name="TextBox 23"/>
          <p:cNvSpPr txBox="1"/>
          <p:nvPr/>
        </p:nvSpPr>
        <p:spPr>
          <a:xfrm>
            <a:off x="3403514" y="4787780"/>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Teruggave MoveMon.</a:t>
            </a:r>
          </a:p>
        </p:txBody>
      </p:sp>
      <p:sp>
        <p:nvSpPr>
          <p:cNvPr id="25" name="Rounded Rectangle 24"/>
          <p:cNvSpPr/>
          <p:nvPr/>
        </p:nvSpPr>
        <p:spPr>
          <a:xfrm>
            <a:off x="4711582" y="4698882"/>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787780" y="4775080"/>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28</a:t>
            </a:r>
          </a:p>
        </p:txBody>
      </p:sp>
      <p:sp>
        <p:nvSpPr>
          <p:cNvPr id="27" name="TextBox 26"/>
          <p:cNvSpPr txBox="1"/>
          <p:nvPr/>
        </p:nvSpPr>
        <p:spPr>
          <a:xfrm>
            <a:off x="5130671" y="4787780"/>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Activiteitsprofiel</a:t>
            </a:r>
          </a:p>
        </p:txBody>
      </p:sp>
      <p:sp>
        <p:nvSpPr>
          <p:cNvPr id="28" name="Rounded Rectangle 27"/>
          <p:cNvSpPr/>
          <p:nvPr/>
        </p:nvSpPr>
        <p:spPr>
          <a:xfrm>
            <a:off x="6438739" y="4698882"/>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14937" y="4775080"/>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29</a:t>
            </a:r>
          </a:p>
        </p:txBody>
      </p:sp>
      <p:sp>
        <p:nvSpPr>
          <p:cNvPr id="30" name="TextBox 29"/>
          <p:cNvSpPr txBox="1"/>
          <p:nvPr/>
        </p:nvSpPr>
        <p:spPr>
          <a:xfrm>
            <a:off x="6857828" y="4787780"/>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Teach-back</a:t>
            </a:r>
          </a:p>
        </p:txBody>
      </p:sp>
      <p:sp>
        <p:nvSpPr>
          <p:cNvPr id="31" name="Rounded Rectangle 30"/>
          <p:cNvSpPr/>
          <p:nvPr/>
        </p:nvSpPr>
        <p:spPr>
          <a:xfrm>
            <a:off x="8165895" y="4698882"/>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42093" y="4775080"/>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30</a:t>
            </a:r>
          </a:p>
        </p:txBody>
      </p:sp>
      <p:sp>
        <p:nvSpPr>
          <p:cNvPr id="33" name="TextBox 32"/>
          <p:cNvSpPr txBox="1"/>
          <p:nvPr/>
        </p:nvSpPr>
        <p:spPr>
          <a:xfrm>
            <a:off x="8584985" y="4787780"/>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Sensorfolder</a:t>
            </a:r>
          </a:p>
        </p:txBody>
      </p:sp>
      <p:sp>
        <p:nvSpPr>
          <p:cNvPr id="34" name="Rectangle 33"/>
          <p:cNvSpPr/>
          <p:nvPr/>
        </p:nvSpPr>
        <p:spPr>
          <a:xfrm>
            <a:off x="634984" y="544816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4984" y="5587860"/>
            <a:ext cx="1269968" cy="215894"/>
          </a:xfrm>
          <a:prstGeom prst="rect">
            <a:avLst/>
          </a:prstGeom>
          <a:noFill/>
        </p:spPr>
        <p:txBody>
          <a:bodyPr wrap="square" anchor="t" lIns="0" rIns="0" tIns="0" bIns="0">
            <a:spAutoFit/>
          </a:bodyPr>
          <a:lstStyle/>
          <a:p>
            <a:pPr algn="l">
              <a:lnSpc>
                <a:spcPct val="125000"/>
              </a:lnSpc>
            </a:pPr>
            <a:r>
              <a:rPr sz="1250" b="1" spc="150">
                <a:solidFill>
                  <a:srgbClr val="FF7A00"/>
                </a:solidFill>
                <a:latin typeface="Consolas"/>
              </a:rPr>
              <a:t>LET OP</a:t>
            </a:r>
          </a:p>
        </p:txBody>
      </p:sp>
      <p:sp>
        <p:nvSpPr>
          <p:cNvPr id="36" name="TextBox 35"/>
          <p:cNvSpPr txBox="1"/>
          <p:nvPr/>
        </p:nvSpPr>
        <p:spPr>
          <a:xfrm>
            <a:off x="2031949" y="5562460"/>
            <a:ext cx="9524761" cy="571485"/>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De Orthotimer gaat pas in de zool nadat de norm gehaald is. En de uren per dag die u instelt komen uit het activiteitenprofiel van díe patiënt — daarom moet de MoveMonitor eerst terug zijn.</a:t>
            </a:r>
          </a:p>
        </p:txBody>
      </p:sp>
      <p:sp>
        <p:nvSpPr>
          <p:cNvPr id="37" name="!!rail0"/>
          <p:cNvSpPr/>
          <p:nvPr/>
        </p:nvSpPr>
        <p:spPr>
          <a:xfrm>
            <a:off x="66038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ail1"/>
          <p:cNvSpPr/>
          <p:nvPr/>
        </p:nvSpPr>
        <p:spPr>
          <a:xfrm>
            <a:off x="222063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ail2"/>
          <p:cNvSpPr/>
          <p:nvPr/>
        </p:nvSpPr>
        <p:spPr>
          <a:xfrm>
            <a:off x="3780876"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ail3"/>
          <p:cNvSpPr/>
          <p:nvPr/>
        </p:nvSpPr>
        <p:spPr>
          <a:xfrm>
            <a:off x="5341123"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ail4"/>
          <p:cNvSpPr/>
          <p:nvPr/>
        </p:nvSpPr>
        <p:spPr>
          <a:xfrm>
            <a:off x="6901370"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ail5"/>
          <p:cNvSpPr/>
          <p:nvPr/>
        </p:nvSpPr>
        <p:spPr>
          <a:xfrm>
            <a:off x="8461617" y="6387940"/>
            <a:ext cx="1509447"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ail6"/>
          <p:cNvSpPr/>
          <p:nvPr/>
        </p:nvSpPr>
        <p:spPr>
          <a:xfrm>
            <a:off x="10021863" y="6387940"/>
            <a:ext cx="1509447"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39 / 66</a:t>
            </a:r>
          </a:p>
        </p:txBody>
      </p:sp>
      <p:pic>
        <p:nvPicPr>
          <p:cNvPr id="45"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7492812" y="1142971"/>
            <a:ext cx="4825879" cy="4825879"/>
          </a:xfrm>
          <a:prstGeom prst="ellipse">
            <a:avLst/>
          </a:prstGeom>
          <a:solidFill>
            <a:srgbClr val="52BDEC">
              <a:alpha val="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VISITES 3 TOT 8 · MAAND 3 TOT 18</a:t>
            </a:r>
          </a:p>
        </p:txBody>
      </p:sp>
      <p:sp>
        <p:nvSpPr>
          <p:cNvPr id="5" name="!!sectietitel"/>
          <p:cNvSpPr txBox="1"/>
          <p:nvPr/>
        </p:nvSpPr>
        <p:spPr>
          <a:xfrm>
            <a:off x="634984" y="1904952"/>
            <a:ext cx="6984825" cy="1818594"/>
          </a:xfrm>
          <a:prstGeom prst="rect">
            <a:avLst/>
          </a:prstGeom>
          <a:noFill/>
        </p:spPr>
        <p:txBody>
          <a:bodyPr wrap="square" anchor="t" lIns="0" rIns="0" tIns="0" bIns="0">
            <a:spAutoFit/>
          </a:bodyPr>
          <a:lstStyle/>
          <a:p>
            <a:pPr algn="l">
              <a:lnSpc>
                <a:spcPct val="110000"/>
              </a:lnSpc>
            </a:pPr>
            <a:r>
              <a:rPr sz="5600" b="1">
                <a:solidFill>
                  <a:srgbClr val="F2F8FC"/>
                </a:solidFill>
                <a:latin typeface="Segoe UI"/>
              </a:rPr>
              <a:t>Driemaandelijkse opvolging</a:t>
            </a:r>
          </a:p>
        </p:txBody>
      </p:sp>
      <p:sp>
        <p:nvSpPr>
          <p:cNvPr id="6" name="Rounded Rectangle 5"/>
          <p:cNvSpPr/>
          <p:nvPr/>
        </p:nvSpPr>
        <p:spPr>
          <a:xfrm>
            <a:off x="634984" y="4002939"/>
            <a:ext cx="3555911" cy="304792"/>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4984" y="4079138"/>
            <a:ext cx="3555911" cy="215894"/>
          </a:xfrm>
          <a:prstGeom prst="rect">
            <a:avLst/>
          </a:prstGeom>
          <a:noFill/>
        </p:spPr>
        <p:txBody>
          <a:bodyPr wrap="square" anchor="t" lIns="0" rIns="0" tIns="0" bIns="0">
            <a:spAutoFit/>
          </a:bodyPr>
          <a:lstStyle/>
          <a:p>
            <a:pPr algn="ctr">
              <a:lnSpc>
                <a:spcPct val="125000"/>
              </a:lnSpc>
            </a:pPr>
            <a:r>
              <a:rPr sz="1400" b="1">
                <a:solidFill>
                  <a:srgbClr val="52BDEC"/>
                </a:solidFill>
                <a:latin typeface="Consolas"/>
              </a:rPr>
              <a:t>In het gewone consult</a:t>
            </a:r>
          </a:p>
        </p:txBody>
      </p:sp>
      <p:sp>
        <p:nvSpPr>
          <p:cNvPr id="8" name="TextBox 7"/>
          <p:cNvSpPr txBox="1"/>
          <p:nvPr/>
        </p:nvSpPr>
        <p:spPr>
          <a:xfrm>
            <a:off x="8000799" y="3555911"/>
            <a:ext cx="1650958" cy="825479"/>
          </a:xfrm>
          <a:prstGeom prst="rect">
            <a:avLst/>
          </a:prstGeom>
          <a:noFill/>
        </p:spPr>
        <p:txBody>
          <a:bodyPr wrap="square" anchor="t" lIns="0" rIns="0" tIns="0" bIns="0">
            <a:spAutoFit/>
          </a:bodyPr>
          <a:lstStyle/>
          <a:p>
            <a:pPr algn="l">
              <a:lnSpc>
                <a:spcPct val="100000"/>
              </a:lnSpc>
            </a:pPr>
            <a:r>
              <a:rPr sz="6400" b="1">
                <a:solidFill>
                  <a:srgbClr val="52BDEC"/>
                </a:solidFill>
                <a:latin typeface="Segoe UI"/>
              </a:rPr>
              <a:t>6</a:t>
            </a:r>
          </a:p>
        </p:txBody>
      </p:sp>
      <p:sp>
        <p:nvSpPr>
          <p:cNvPr id="9" name="TextBox 8"/>
          <p:cNvSpPr txBox="1"/>
          <p:nvPr/>
        </p:nvSpPr>
        <p:spPr>
          <a:xfrm>
            <a:off x="8013499" y="4381390"/>
            <a:ext cx="1650958" cy="253993"/>
          </a:xfrm>
          <a:prstGeom prst="rect">
            <a:avLst/>
          </a:prstGeom>
          <a:noFill/>
        </p:spPr>
        <p:txBody>
          <a:bodyPr wrap="square" anchor="t" lIns="0" rIns="0" tIns="0" bIns="0">
            <a:spAutoFit/>
          </a:bodyPr>
          <a:lstStyle/>
          <a:p>
            <a:pPr algn="l">
              <a:lnSpc>
                <a:spcPct val="125000"/>
              </a:lnSpc>
            </a:pPr>
            <a:r>
              <a:rPr sz="1350" b="0" spc="140">
                <a:solidFill>
                  <a:srgbClr val="8FB6D0"/>
                </a:solidFill>
                <a:latin typeface="Consolas"/>
              </a:rPr>
              <a:t>HANDELINGEN</a:t>
            </a:r>
          </a:p>
        </p:txBody>
      </p:sp>
      <p:sp>
        <p:nvSpPr>
          <p:cNvPr id="10" name="TextBox 9"/>
          <p:cNvSpPr txBox="1"/>
          <p:nvPr/>
        </p:nvSpPr>
        <p:spPr>
          <a:xfrm>
            <a:off x="9905752" y="3555911"/>
            <a:ext cx="1650958" cy="825479"/>
          </a:xfrm>
          <a:prstGeom prst="rect">
            <a:avLst/>
          </a:prstGeom>
          <a:noFill/>
        </p:spPr>
        <p:txBody>
          <a:bodyPr wrap="square" anchor="t" lIns="0" rIns="0" tIns="0" bIns="0">
            <a:spAutoFit/>
          </a:bodyPr>
          <a:lstStyle/>
          <a:p>
            <a:pPr algn="l">
              <a:lnSpc>
                <a:spcPct val="100000"/>
              </a:lnSpc>
            </a:pPr>
            <a:r>
              <a:rPr sz="6400" b="1">
                <a:solidFill>
                  <a:srgbClr val="52BDEC"/>
                </a:solidFill>
                <a:latin typeface="Segoe UI"/>
              </a:rPr>
              <a:t>9</a:t>
            </a:r>
          </a:p>
        </p:txBody>
      </p:sp>
      <p:sp>
        <p:nvSpPr>
          <p:cNvPr id="11" name="TextBox 10"/>
          <p:cNvSpPr txBox="1"/>
          <p:nvPr/>
        </p:nvSpPr>
        <p:spPr>
          <a:xfrm>
            <a:off x="9918452" y="4381390"/>
            <a:ext cx="1650958" cy="253993"/>
          </a:xfrm>
          <a:prstGeom prst="rect">
            <a:avLst/>
          </a:prstGeom>
          <a:noFill/>
        </p:spPr>
        <p:txBody>
          <a:bodyPr wrap="square" anchor="t" lIns="0" rIns="0" tIns="0" bIns="0">
            <a:spAutoFit/>
          </a:bodyPr>
          <a:lstStyle/>
          <a:p>
            <a:pPr algn="l">
              <a:lnSpc>
                <a:spcPct val="125000"/>
              </a:lnSpc>
            </a:pPr>
            <a:r>
              <a:rPr sz="1350" b="0" spc="140">
                <a:solidFill>
                  <a:srgbClr val="8FB6D0"/>
                </a:solidFill>
                <a:latin typeface="Consolas"/>
              </a:rPr>
              <a:t>FORMULIEREN</a:t>
            </a:r>
          </a:p>
        </p:txBody>
      </p:sp>
      <p:sp>
        <p:nvSpPr>
          <p:cNvPr id="12" name="Rectangle 11"/>
          <p:cNvSpPr/>
          <p:nvPr/>
        </p:nvSpPr>
        <p:spPr>
          <a:xfrm>
            <a:off x="634984" y="5714857"/>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4984" y="5867253"/>
            <a:ext cx="10921726" cy="253993"/>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Podoloog leest uit en begeleidt · arts beoordeelt laesies</a:t>
            </a:r>
          </a:p>
        </p:txBody>
      </p:sp>
      <p:sp>
        <p:nvSpPr>
          <p:cNvPr id="14" name="TextBox 13"/>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40 / 66</a:t>
            </a:r>
          </a:p>
        </p:txBody>
      </p:sp>
      <p:pic>
        <p:nvPicPr>
          <p:cNvPr id="15"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VISITES 3 TOT 8 · MAAND 3 TOT 18</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01</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Voet- en schoeiselscreening, zoals bij de baseline.</a:t>
            </a:r>
          </a:p>
        </p:txBody>
      </p:sp>
      <p:sp>
        <p:nvSpPr>
          <p:cNvPr id="6" name="!!rail0"/>
          <p:cNvSpPr/>
          <p:nvPr/>
        </p:nvSpPr>
        <p:spPr>
          <a:xfrm>
            <a:off x="660383" y="6387940"/>
            <a:ext cx="1769489"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480671"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4300959"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6121246"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7941534"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5"/>
          <p:cNvSpPr/>
          <p:nvPr/>
        </p:nvSpPr>
        <p:spPr>
          <a:xfrm>
            <a:off x="9761822"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41 / 66</a:t>
            </a:r>
          </a:p>
        </p:txBody>
      </p:sp>
      <p:pic>
        <p:nvPicPr>
          <p:cNvPr id="13"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VISITES 3 TOT 8 · MAAND 3 TOT 18</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02</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Bevraag de therapietrouw, lees de Orthotimer uit en bespreek de uitdraai niet-veroordelend.</a:t>
            </a:r>
          </a:p>
        </p:txBody>
      </p:sp>
      <p:sp>
        <p:nvSpPr>
          <p:cNvPr id="6" name="!!rail0"/>
          <p:cNvSpPr/>
          <p:nvPr/>
        </p:nvSpPr>
        <p:spPr>
          <a:xfrm>
            <a:off x="660383"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480671" y="6387940"/>
            <a:ext cx="1769489"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4300959"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6121246"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7941534"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5"/>
          <p:cNvSpPr/>
          <p:nvPr/>
        </p:nvSpPr>
        <p:spPr>
          <a:xfrm>
            <a:off x="9761822"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42 / 66</a:t>
            </a:r>
          </a:p>
        </p:txBody>
      </p:sp>
      <p:pic>
        <p:nvPicPr>
          <p:cNvPr id="13"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VISITES 3 TOT 8 · MAAND 3 TOT 18</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03</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Beoordeel beide paren zolen. Het paar dat onderhoud nodig heeft gaat naar de pedorthist, deklaag inbegrepen.</a:t>
            </a:r>
          </a:p>
        </p:txBody>
      </p:sp>
      <p:sp>
        <p:nvSpPr>
          <p:cNvPr id="6" name="!!rail0"/>
          <p:cNvSpPr/>
          <p:nvPr/>
        </p:nvSpPr>
        <p:spPr>
          <a:xfrm>
            <a:off x="660383"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480671"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4300959" y="6387940"/>
            <a:ext cx="1769489"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6121246"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7941534"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5"/>
          <p:cNvSpPr/>
          <p:nvPr/>
        </p:nvSpPr>
        <p:spPr>
          <a:xfrm>
            <a:off x="9761822"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43 / 66</a:t>
            </a:r>
          </a:p>
        </p:txBody>
      </p:sp>
      <p:pic>
        <p:nvPicPr>
          <p:cNvPr id="13"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VISITES 3 TOT 8 · MAAND 3 TOT 18</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04</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Vervang zool of sensor als dat nodig is en leg dat vast.</a:t>
            </a:r>
          </a:p>
        </p:txBody>
      </p:sp>
      <p:sp>
        <p:nvSpPr>
          <p:cNvPr id="6" name="!!rail0"/>
          <p:cNvSpPr/>
          <p:nvPr/>
        </p:nvSpPr>
        <p:spPr>
          <a:xfrm>
            <a:off x="660383"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480671"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4300959"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6121246" y="6387940"/>
            <a:ext cx="1769489"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7941534"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5"/>
          <p:cNvSpPr/>
          <p:nvPr/>
        </p:nvSpPr>
        <p:spPr>
          <a:xfrm>
            <a:off x="9761822"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44 / 66</a:t>
            </a:r>
          </a:p>
        </p:txBody>
      </p:sp>
      <p:pic>
        <p:nvPicPr>
          <p:cNvPr id="13"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VISITES 3 TOT 8 · MAAND 3 TOT 18</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05</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Neem de vragenlijsten af: levenskwaliteit, medische consumptie en productiviteit.</a:t>
            </a:r>
          </a:p>
        </p:txBody>
      </p:sp>
      <p:sp>
        <p:nvSpPr>
          <p:cNvPr id="6" name="!!rail0"/>
          <p:cNvSpPr/>
          <p:nvPr/>
        </p:nvSpPr>
        <p:spPr>
          <a:xfrm>
            <a:off x="660383"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2480671"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4300959"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ail3"/>
          <p:cNvSpPr/>
          <p:nvPr/>
        </p:nvSpPr>
        <p:spPr>
          <a:xfrm>
            <a:off x="6121246"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ail4"/>
          <p:cNvSpPr/>
          <p:nvPr/>
        </p:nvSpPr>
        <p:spPr>
          <a:xfrm>
            <a:off x="7941534" y="6387940"/>
            <a:ext cx="1769489"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ail5"/>
          <p:cNvSpPr/>
          <p:nvPr/>
        </p:nvSpPr>
        <p:spPr>
          <a:xfrm>
            <a:off x="9761822"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45 / 66</a:t>
            </a:r>
          </a:p>
        </p:txBody>
      </p:sp>
      <p:pic>
        <p:nvPicPr>
          <p:cNvPr id="13"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VISITES 3 TOT 8 · MAAND 3 TOT 18</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06</a:t>
            </a:r>
          </a:p>
        </p:txBody>
      </p:sp>
      <p:sp>
        <p:nvSpPr>
          <p:cNvPr id="5" name="!!staptekst"/>
          <p:cNvSpPr txBox="1"/>
          <p:nvPr/>
        </p:nvSpPr>
        <p:spPr>
          <a:xfrm>
            <a:off x="3174920" y="1587460"/>
            <a:ext cx="8381790" cy="2222444"/>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Op maand 6 een tweede week MoveMonitor.</a:t>
            </a:r>
          </a:p>
        </p:txBody>
      </p:sp>
      <p:sp>
        <p:nvSpPr>
          <p:cNvPr id="6" name="TextBox 5"/>
          <p:cNvSpPr txBox="1"/>
          <p:nvPr/>
        </p:nvSpPr>
        <p:spPr>
          <a:xfrm>
            <a:off x="2984425" y="4063898"/>
            <a:ext cx="8572285"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WAT U HIERBIJ INVULT</a:t>
            </a:r>
          </a:p>
        </p:txBody>
      </p:sp>
      <p:sp>
        <p:nvSpPr>
          <p:cNvPr id="7" name="Rounded Rectangle 6"/>
          <p:cNvSpPr/>
          <p:nvPr/>
        </p:nvSpPr>
        <p:spPr>
          <a:xfrm>
            <a:off x="2984425"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060623"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08</a:t>
            </a:r>
          </a:p>
        </p:txBody>
      </p:sp>
      <p:sp>
        <p:nvSpPr>
          <p:cNvPr id="9" name="TextBox 8"/>
          <p:cNvSpPr txBox="1"/>
          <p:nvPr/>
        </p:nvSpPr>
        <p:spPr>
          <a:xfrm>
            <a:off x="3403514"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Voet en schoeisel</a:t>
            </a:r>
          </a:p>
        </p:txBody>
      </p:sp>
      <p:sp>
        <p:nvSpPr>
          <p:cNvPr id="10" name="Rounded Rectangle 9"/>
          <p:cNvSpPr/>
          <p:nvPr/>
        </p:nvSpPr>
        <p:spPr>
          <a:xfrm>
            <a:off x="4711582"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787780"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31</a:t>
            </a:r>
          </a:p>
        </p:txBody>
      </p:sp>
      <p:sp>
        <p:nvSpPr>
          <p:cNvPr id="12" name="TextBox 11"/>
          <p:cNvSpPr txBox="1"/>
          <p:nvPr/>
        </p:nvSpPr>
        <p:spPr>
          <a:xfrm>
            <a:off x="5130671"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Therapietrouw</a:t>
            </a:r>
          </a:p>
        </p:txBody>
      </p:sp>
      <p:sp>
        <p:nvSpPr>
          <p:cNvPr id="13" name="Rounded Rectangle 12"/>
          <p:cNvSpPr/>
          <p:nvPr/>
        </p:nvSpPr>
        <p:spPr>
          <a:xfrm>
            <a:off x="6438739"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14937"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25</a:t>
            </a:r>
          </a:p>
        </p:txBody>
      </p:sp>
      <p:sp>
        <p:nvSpPr>
          <p:cNvPr id="15" name="TextBox 14"/>
          <p:cNvSpPr txBox="1"/>
          <p:nvPr/>
        </p:nvSpPr>
        <p:spPr>
          <a:xfrm>
            <a:off x="6857828"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Uitlezing sensor</a:t>
            </a:r>
          </a:p>
        </p:txBody>
      </p:sp>
      <p:sp>
        <p:nvSpPr>
          <p:cNvPr id="16" name="Rounded Rectangle 15"/>
          <p:cNvSpPr/>
          <p:nvPr/>
        </p:nvSpPr>
        <p:spPr>
          <a:xfrm>
            <a:off x="8165895"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42093"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32</a:t>
            </a:r>
          </a:p>
        </p:txBody>
      </p:sp>
      <p:sp>
        <p:nvSpPr>
          <p:cNvPr id="18" name="TextBox 17"/>
          <p:cNvSpPr txBox="1"/>
          <p:nvPr/>
        </p:nvSpPr>
        <p:spPr>
          <a:xfrm>
            <a:off x="8584985"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Feedback</a:t>
            </a:r>
          </a:p>
        </p:txBody>
      </p:sp>
      <p:sp>
        <p:nvSpPr>
          <p:cNvPr id="19" name="Rounded Rectangle 18"/>
          <p:cNvSpPr/>
          <p:nvPr/>
        </p:nvSpPr>
        <p:spPr>
          <a:xfrm>
            <a:off x="9893052"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969250"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33</a:t>
            </a:r>
          </a:p>
        </p:txBody>
      </p:sp>
      <p:sp>
        <p:nvSpPr>
          <p:cNvPr id="21" name="TextBox 20"/>
          <p:cNvSpPr txBox="1"/>
          <p:nvPr/>
        </p:nvSpPr>
        <p:spPr>
          <a:xfrm>
            <a:off x="10312142"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Vervanging</a:t>
            </a:r>
          </a:p>
        </p:txBody>
      </p:sp>
      <p:sp>
        <p:nvSpPr>
          <p:cNvPr id="22" name="Rounded Rectangle 21"/>
          <p:cNvSpPr/>
          <p:nvPr/>
        </p:nvSpPr>
        <p:spPr>
          <a:xfrm>
            <a:off x="2984425" y="4698882"/>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060623" y="4775080"/>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21</a:t>
            </a:r>
          </a:p>
        </p:txBody>
      </p:sp>
      <p:sp>
        <p:nvSpPr>
          <p:cNvPr id="24" name="TextBox 23"/>
          <p:cNvSpPr txBox="1"/>
          <p:nvPr/>
        </p:nvSpPr>
        <p:spPr>
          <a:xfrm>
            <a:off x="3403514" y="4787780"/>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EQ-5D-5L</a:t>
            </a:r>
          </a:p>
        </p:txBody>
      </p:sp>
      <p:sp>
        <p:nvSpPr>
          <p:cNvPr id="25" name="Rounded Rectangle 24"/>
          <p:cNvSpPr/>
          <p:nvPr/>
        </p:nvSpPr>
        <p:spPr>
          <a:xfrm>
            <a:off x="4711582" y="4698882"/>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787780" y="4775080"/>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34</a:t>
            </a:r>
          </a:p>
        </p:txBody>
      </p:sp>
      <p:sp>
        <p:nvSpPr>
          <p:cNvPr id="27" name="TextBox 26"/>
          <p:cNvSpPr txBox="1"/>
          <p:nvPr/>
        </p:nvSpPr>
        <p:spPr>
          <a:xfrm>
            <a:off x="5130671" y="4787780"/>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iMCQ</a:t>
            </a:r>
          </a:p>
        </p:txBody>
      </p:sp>
      <p:sp>
        <p:nvSpPr>
          <p:cNvPr id="28" name="Rounded Rectangle 27"/>
          <p:cNvSpPr/>
          <p:nvPr/>
        </p:nvSpPr>
        <p:spPr>
          <a:xfrm>
            <a:off x="6438739" y="4698882"/>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14937" y="4775080"/>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35</a:t>
            </a:r>
          </a:p>
        </p:txBody>
      </p:sp>
      <p:sp>
        <p:nvSpPr>
          <p:cNvPr id="30" name="TextBox 29"/>
          <p:cNvSpPr txBox="1"/>
          <p:nvPr/>
        </p:nvSpPr>
        <p:spPr>
          <a:xfrm>
            <a:off x="6857828" y="4787780"/>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iPCQ</a:t>
            </a:r>
          </a:p>
        </p:txBody>
      </p:sp>
      <p:sp>
        <p:nvSpPr>
          <p:cNvPr id="31" name="Rounded Rectangle 30"/>
          <p:cNvSpPr/>
          <p:nvPr/>
        </p:nvSpPr>
        <p:spPr>
          <a:xfrm>
            <a:off x="8165895" y="4698882"/>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42093" y="4775080"/>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45b</a:t>
            </a:r>
          </a:p>
        </p:txBody>
      </p:sp>
      <p:sp>
        <p:nvSpPr>
          <p:cNvPr id="33" name="TextBox 32"/>
          <p:cNvSpPr txBox="1"/>
          <p:nvPr/>
        </p:nvSpPr>
        <p:spPr>
          <a:xfrm>
            <a:off x="8584985" y="4787780"/>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Kostendagboek</a:t>
            </a:r>
          </a:p>
        </p:txBody>
      </p:sp>
      <p:sp>
        <p:nvSpPr>
          <p:cNvPr id="34" name="Rectangle 33"/>
          <p:cNvSpPr/>
          <p:nvPr/>
        </p:nvSpPr>
        <p:spPr>
          <a:xfrm>
            <a:off x="634984" y="544816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4984" y="5587860"/>
            <a:ext cx="1269968" cy="215894"/>
          </a:xfrm>
          <a:prstGeom prst="rect">
            <a:avLst/>
          </a:prstGeom>
          <a:noFill/>
        </p:spPr>
        <p:txBody>
          <a:bodyPr wrap="square" anchor="t" lIns="0" rIns="0" tIns="0" bIns="0">
            <a:spAutoFit/>
          </a:bodyPr>
          <a:lstStyle/>
          <a:p>
            <a:pPr algn="l">
              <a:lnSpc>
                <a:spcPct val="125000"/>
              </a:lnSpc>
            </a:pPr>
            <a:r>
              <a:rPr sz="1250" b="1" spc="150">
                <a:solidFill>
                  <a:srgbClr val="FF7A00"/>
                </a:solidFill>
                <a:latin typeface="Consolas"/>
              </a:rPr>
              <a:t>LET OP</a:t>
            </a:r>
          </a:p>
        </p:txBody>
      </p:sp>
      <p:sp>
        <p:nvSpPr>
          <p:cNvPr id="36" name="TextBox 35"/>
          <p:cNvSpPr txBox="1"/>
          <p:nvPr/>
        </p:nvSpPr>
        <p:spPr>
          <a:xfrm>
            <a:off x="2031949" y="5562460"/>
            <a:ext cx="9524761" cy="571485"/>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Uitlezen kan alleen ter plaatse. Koppel het aan een bezoek dat toch al gepland is — een gemiste uitlezing verzwakt de draagtijd van die patiënt over de hele periode.</a:t>
            </a:r>
          </a:p>
        </p:txBody>
      </p:sp>
      <p:sp>
        <p:nvSpPr>
          <p:cNvPr id="37" name="!!rail0"/>
          <p:cNvSpPr/>
          <p:nvPr/>
        </p:nvSpPr>
        <p:spPr>
          <a:xfrm>
            <a:off x="660383"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ail1"/>
          <p:cNvSpPr/>
          <p:nvPr/>
        </p:nvSpPr>
        <p:spPr>
          <a:xfrm>
            <a:off x="2480671"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ail2"/>
          <p:cNvSpPr/>
          <p:nvPr/>
        </p:nvSpPr>
        <p:spPr>
          <a:xfrm>
            <a:off x="4300959"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ail3"/>
          <p:cNvSpPr/>
          <p:nvPr/>
        </p:nvSpPr>
        <p:spPr>
          <a:xfrm>
            <a:off x="6121246"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ail4"/>
          <p:cNvSpPr/>
          <p:nvPr/>
        </p:nvSpPr>
        <p:spPr>
          <a:xfrm>
            <a:off x="7941534" y="6387940"/>
            <a:ext cx="1769489"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ail5"/>
          <p:cNvSpPr/>
          <p:nvPr/>
        </p:nvSpPr>
        <p:spPr>
          <a:xfrm>
            <a:off x="9761822" y="6387940"/>
            <a:ext cx="1769489"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46 / 66</a:t>
            </a:r>
          </a:p>
        </p:txBody>
      </p:sp>
      <p:pic>
        <p:nvPicPr>
          <p:cNvPr id="4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7492812" y="1142971"/>
            <a:ext cx="4825879" cy="4825879"/>
          </a:xfrm>
          <a:prstGeom prst="ellipse">
            <a:avLst/>
          </a:prstGeom>
          <a:solidFill>
            <a:srgbClr val="52BDEC">
              <a:alpha val="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VISITES 4, 6 EN 8 · MAAND 6, 12 EN 18</a:t>
            </a:r>
          </a:p>
        </p:txBody>
      </p:sp>
      <p:sp>
        <p:nvSpPr>
          <p:cNvPr id="5" name="!!sectietitel"/>
          <p:cNvSpPr txBox="1"/>
          <p:nvPr/>
        </p:nvSpPr>
        <p:spPr>
          <a:xfrm>
            <a:off x="634984" y="1904952"/>
            <a:ext cx="6984825" cy="1818594"/>
          </a:xfrm>
          <a:prstGeom prst="rect">
            <a:avLst/>
          </a:prstGeom>
          <a:noFill/>
        </p:spPr>
        <p:txBody>
          <a:bodyPr wrap="square" anchor="t" lIns="0" rIns="0" tIns="0" bIns="0">
            <a:spAutoFit/>
          </a:bodyPr>
          <a:lstStyle/>
          <a:p>
            <a:pPr algn="l">
              <a:lnSpc>
                <a:spcPct val="110000"/>
              </a:lnSpc>
            </a:pPr>
            <a:r>
              <a:rPr sz="5600" b="1">
                <a:solidFill>
                  <a:srgbClr val="F2F8FC"/>
                </a:solidFill>
                <a:latin typeface="Segoe UI"/>
              </a:rPr>
              <a:t>Wat er drie keer extra bij komt</a:t>
            </a:r>
          </a:p>
        </p:txBody>
      </p:sp>
      <p:sp>
        <p:nvSpPr>
          <p:cNvPr id="6" name="Rounded Rectangle 5"/>
          <p:cNvSpPr/>
          <p:nvPr/>
        </p:nvSpPr>
        <p:spPr>
          <a:xfrm>
            <a:off x="634984" y="4002939"/>
            <a:ext cx="3555911" cy="304792"/>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4984" y="4079138"/>
            <a:ext cx="3555911" cy="215894"/>
          </a:xfrm>
          <a:prstGeom prst="rect">
            <a:avLst/>
          </a:prstGeom>
          <a:noFill/>
        </p:spPr>
        <p:txBody>
          <a:bodyPr wrap="square" anchor="t" lIns="0" rIns="0" tIns="0" bIns="0">
            <a:spAutoFit/>
          </a:bodyPr>
          <a:lstStyle/>
          <a:p>
            <a:pPr algn="ctr">
              <a:lnSpc>
                <a:spcPct val="125000"/>
              </a:lnSpc>
            </a:pPr>
            <a:r>
              <a:rPr sz="1400" b="1">
                <a:solidFill>
                  <a:srgbClr val="52BDEC"/>
                </a:solidFill>
                <a:latin typeface="Consolas"/>
              </a:rPr>
              <a:t>Bovenop de driemaandelijkse opvolging</a:t>
            </a:r>
          </a:p>
        </p:txBody>
      </p:sp>
      <p:sp>
        <p:nvSpPr>
          <p:cNvPr id="8" name="TextBox 7"/>
          <p:cNvSpPr txBox="1"/>
          <p:nvPr/>
        </p:nvSpPr>
        <p:spPr>
          <a:xfrm>
            <a:off x="8000799" y="3555911"/>
            <a:ext cx="1650958" cy="825479"/>
          </a:xfrm>
          <a:prstGeom prst="rect">
            <a:avLst/>
          </a:prstGeom>
          <a:noFill/>
        </p:spPr>
        <p:txBody>
          <a:bodyPr wrap="square" anchor="t" lIns="0" rIns="0" tIns="0" bIns="0">
            <a:spAutoFit/>
          </a:bodyPr>
          <a:lstStyle/>
          <a:p>
            <a:pPr algn="l">
              <a:lnSpc>
                <a:spcPct val="100000"/>
              </a:lnSpc>
            </a:pPr>
            <a:r>
              <a:rPr sz="6400" b="1">
                <a:solidFill>
                  <a:srgbClr val="52BDEC"/>
                </a:solidFill>
                <a:latin typeface="Segoe UI"/>
              </a:rPr>
              <a:t>3</a:t>
            </a:r>
          </a:p>
        </p:txBody>
      </p:sp>
      <p:sp>
        <p:nvSpPr>
          <p:cNvPr id="9" name="TextBox 8"/>
          <p:cNvSpPr txBox="1"/>
          <p:nvPr/>
        </p:nvSpPr>
        <p:spPr>
          <a:xfrm>
            <a:off x="8013499" y="4381390"/>
            <a:ext cx="1650958" cy="253993"/>
          </a:xfrm>
          <a:prstGeom prst="rect">
            <a:avLst/>
          </a:prstGeom>
          <a:noFill/>
        </p:spPr>
        <p:txBody>
          <a:bodyPr wrap="square" anchor="t" lIns="0" rIns="0" tIns="0" bIns="0">
            <a:spAutoFit/>
          </a:bodyPr>
          <a:lstStyle/>
          <a:p>
            <a:pPr algn="l">
              <a:lnSpc>
                <a:spcPct val="125000"/>
              </a:lnSpc>
            </a:pPr>
            <a:r>
              <a:rPr sz="1350" b="0" spc="140">
                <a:solidFill>
                  <a:srgbClr val="8FB6D0"/>
                </a:solidFill>
                <a:latin typeface="Consolas"/>
              </a:rPr>
              <a:t>HANDELINGEN</a:t>
            </a:r>
          </a:p>
        </p:txBody>
      </p:sp>
      <p:sp>
        <p:nvSpPr>
          <p:cNvPr id="10" name="TextBox 9"/>
          <p:cNvSpPr txBox="1"/>
          <p:nvPr/>
        </p:nvSpPr>
        <p:spPr>
          <a:xfrm>
            <a:off x="9905752" y="3555911"/>
            <a:ext cx="1650958" cy="825479"/>
          </a:xfrm>
          <a:prstGeom prst="rect">
            <a:avLst/>
          </a:prstGeom>
          <a:noFill/>
        </p:spPr>
        <p:txBody>
          <a:bodyPr wrap="square" anchor="t" lIns="0" rIns="0" tIns="0" bIns="0">
            <a:spAutoFit/>
          </a:bodyPr>
          <a:lstStyle/>
          <a:p>
            <a:pPr algn="l">
              <a:lnSpc>
                <a:spcPct val="100000"/>
              </a:lnSpc>
            </a:pPr>
            <a:r>
              <a:rPr sz="6400" b="1">
                <a:solidFill>
                  <a:srgbClr val="52BDEC"/>
                </a:solidFill>
                <a:latin typeface="Segoe UI"/>
              </a:rPr>
              <a:t>3</a:t>
            </a:r>
          </a:p>
        </p:txBody>
      </p:sp>
      <p:sp>
        <p:nvSpPr>
          <p:cNvPr id="11" name="TextBox 10"/>
          <p:cNvSpPr txBox="1"/>
          <p:nvPr/>
        </p:nvSpPr>
        <p:spPr>
          <a:xfrm>
            <a:off x="9918452" y="4381390"/>
            <a:ext cx="1650958" cy="253993"/>
          </a:xfrm>
          <a:prstGeom prst="rect">
            <a:avLst/>
          </a:prstGeom>
          <a:noFill/>
        </p:spPr>
        <p:txBody>
          <a:bodyPr wrap="square" anchor="t" lIns="0" rIns="0" tIns="0" bIns="0">
            <a:spAutoFit/>
          </a:bodyPr>
          <a:lstStyle/>
          <a:p>
            <a:pPr algn="l">
              <a:lnSpc>
                <a:spcPct val="125000"/>
              </a:lnSpc>
            </a:pPr>
            <a:r>
              <a:rPr sz="1350" b="0" spc="140">
                <a:solidFill>
                  <a:srgbClr val="8FB6D0"/>
                </a:solidFill>
                <a:latin typeface="Consolas"/>
              </a:rPr>
              <a:t>FORMULIEREN</a:t>
            </a:r>
          </a:p>
        </p:txBody>
      </p:sp>
      <p:sp>
        <p:nvSpPr>
          <p:cNvPr id="12" name="Rectangle 11"/>
          <p:cNvSpPr/>
          <p:nvPr/>
        </p:nvSpPr>
        <p:spPr>
          <a:xfrm>
            <a:off x="634984" y="5714857"/>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4984" y="5867253"/>
            <a:ext cx="10921726" cy="253993"/>
          </a:xfrm>
          <a:prstGeom prst="rect">
            <a:avLst/>
          </a:prstGeom>
          <a:noFill/>
        </p:spPr>
        <p:txBody>
          <a:bodyPr wrap="square" anchor="t" lIns="0" rIns="0" tIns="0" bIns="0">
            <a:spAutoFit/>
          </a:bodyPr>
          <a:lstStyle/>
          <a:p>
            <a:pPr algn="l">
              <a:lnSpc>
                <a:spcPct val="125000"/>
              </a:lnSpc>
            </a:pPr>
            <a:r>
              <a:rPr sz="1500" b="0">
                <a:solidFill>
                  <a:srgbClr val="8FB6D0"/>
                </a:solidFill>
                <a:latin typeface="Segoe UI"/>
              </a:rPr>
              <a:t>Podoloog meet · pedorthist past aan</a:t>
            </a:r>
          </a:p>
        </p:txBody>
      </p:sp>
      <p:sp>
        <p:nvSpPr>
          <p:cNvPr id="14" name="TextBox 13"/>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47 / 66</a:t>
            </a:r>
          </a:p>
        </p:txBody>
      </p:sp>
      <p:pic>
        <p:nvPicPr>
          <p:cNvPr id="15"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VISITES 4, 6 EN 8 · MAAND 6, 12 EN 18</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01</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Herhaal de drukmeting in de drie condities en toets opnieuw per doelregio.</a:t>
            </a:r>
          </a:p>
        </p:txBody>
      </p:sp>
      <p:sp>
        <p:nvSpPr>
          <p:cNvPr id="6" name="!!rail0"/>
          <p:cNvSpPr/>
          <p:nvPr/>
        </p:nvSpPr>
        <p:spPr>
          <a:xfrm>
            <a:off x="660383" y="6387940"/>
            <a:ext cx="3589776"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4300959" y="6387940"/>
            <a:ext cx="358977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7941534" y="6387940"/>
            <a:ext cx="358977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48 / 66</a:t>
            </a:r>
          </a:p>
        </p:txBody>
      </p:sp>
      <p:pic>
        <p:nvPicPr>
          <p:cNvPr id="10"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VISITES 4, 6 EN 8 · MAAND 6, 12 EN 18</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02</a:t>
            </a:r>
          </a:p>
        </p:txBody>
      </p:sp>
      <p:sp>
        <p:nvSpPr>
          <p:cNvPr id="5" name="!!staptekst"/>
          <p:cNvSpPr txBox="1"/>
          <p:nvPr/>
        </p:nvSpPr>
        <p:spPr>
          <a:xfrm>
            <a:off x="3174920" y="1587460"/>
            <a:ext cx="8381790" cy="3682907"/>
          </a:xfrm>
          <a:prstGeom prst="rect">
            <a:avLst/>
          </a:prstGeom>
          <a:noFill/>
        </p:spPr>
        <p:txBody>
          <a:bodyPr wrap="square" anchor="t" lIns="0" rIns="0" tIns="0" bIns="0">
            <a:spAutoFit/>
          </a:bodyPr>
          <a:lstStyle/>
          <a:p>
            <a:pPr algn="l">
              <a:lnSpc>
                <a:spcPct val="125000"/>
              </a:lnSpc>
            </a:pPr>
            <a:r>
              <a:rPr sz="4000" b="1">
                <a:solidFill>
                  <a:srgbClr val="F2F8FC"/>
                </a:solidFill>
                <a:latin typeface="Segoe UI"/>
              </a:rPr>
              <a:t>Ligt de piekdruk boven 200 kPa, of is er nog winst haalbaar, pas dan opnieuw aan volgens dezelfde procedure.</a:t>
            </a:r>
          </a:p>
        </p:txBody>
      </p:sp>
      <p:sp>
        <p:nvSpPr>
          <p:cNvPr id="6" name="!!rail0"/>
          <p:cNvSpPr/>
          <p:nvPr/>
        </p:nvSpPr>
        <p:spPr>
          <a:xfrm>
            <a:off x="660383" y="6387940"/>
            <a:ext cx="358977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ail1"/>
          <p:cNvSpPr/>
          <p:nvPr/>
        </p:nvSpPr>
        <p:spPr>
          <a:xfrm>
            <a:off x="4300959" y="6387940"/>
            <a:ext cx="3589776"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ail2"/>
          <p:cNvSpPr/>
          <p:nvPr/>
        </p:nvSpPr>
        <p:spPr>
          <a:xfrm>
            <a:off x="7941534" y="6387940"/>
            <a:ext cx="358977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49 / 66</a:t>
            </a:r>
          </a:p>
        </p:txBody>
      </p:sp>
      <p:pic>
        <p:nvPicPr>
          <p:cNvPr id="10"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VISITES 4, 6 EN 8 · MAAND 6, 12 EN 18</a:t>
            </a:r>
          </a:p>
        </p:txBody>
      </p:sp>
      <p:sp>
        <p:nvSpPr>
          <p:cNvPr id="4" name="!!stapnr"/>
          <p:cNvSpPr txBox="1"/>
          <p:nvPr/>
        </p:nvSpPr>
        <p:spPr>
          <a:xfrm>
            <a:off x="634984" y="1498562"/>
            <a:ext cx="2158946" cy="1904952"/>
          </a:xfrm>
          <a:prstGeom prst="rect">
            <a:avLst/>
          </a:prstGeom>
          <a:noFill/>
        </p:spPr>
        <p:txBody>
          <a:bodyPr wrap="none" anchor="t" lIns="0" rIns="0" tIns="0" bIns="0">
            <a:spAutoFit/>
          </a:bodyPr>
          <a:lstStyle/>
          <a:p>
            <a:pPr algn="r">
              <a:lnSpc>
                <a:spcPct val="90000"/>
              </a:lnSpc>
            </a:pPr>
            <a:r>
              <a:rPr sz="15000" b="1">
                <a:solidFill>
                  <a:srgbClr val="52BDEC"/>
                </a:solidFill>
                <a:latin typeface="Segoe UI"/>
              </a:rPr>
              <a:t>03</a:t>
            </a:r>
          </a:p>
        </p:txBody>
      </p:sp>
      <p:sp>
        <p:nvSpPr>
          <p:cNvPr id="5" name="!!staptekst"/>
          <p:cNvSpPr txBox="1"/>
          <p:nvPr/>
        </p:nvSpPr>
        <p:spPr>
          <a:xfrm>
            <a:off x="3174920" y="1587460"/>
            <a:ext cx="8381790" cy="2222444"/>
          </a:xfrm>
          <a:prstGeom prst="rect">
            <a:avLst/>
          </a:prstGeom>
          <a:noFill/>
        </p:spPr>
        <p:txBody>
          <a:bodyPr wrap="square" anchor="t" lIns="0" rIns="0" tIns="0" bIns="0">
            <a:spAutoFit/>
          </a:bodyPr>
          <a:lstStyle/>
          <a:p>
            <a:pPr algn="l">
              <a:lnSpc>
                <a:spcPct val="125000"/>
              </a:lnSpc>
            </a:pPr>
            <a:r>
              <a:rPr sz="3200" b="1">
                <a:solidFill>
                  <a:srgbClr val="F2F8FC"/>
                </a:solidFill>
                <a:latin typeface="Segoe UI"/>
              </a:rPr>
              <a:t>Op maand 18 ook de tevredenheidsschaal opnieuw afnemen, zodat de verandering tegenover baseline gemeten kan worden.</a:t>
            </a:r>
          </a:p>
        </p:txBody>
      </p:sp>
      <p:sp>
        <p:nvSpPr>
          <p:cNvPr id="6" name="TextBox 5"/>
          <p:cNvSpPr txBox="1"/>
          <p:nvPr/>
        </p:nvSpPr>
        <p:spPr>
          <a:xfrm>
            <a:off x="2984425" y="4063898"/>
            <a:ext cx="8572285"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WAT U HIERBIJ INVULT</a:t>
            </a:r>
          </a:p>
        </p:txBody>
      </p:sp>
      <p:sp>
        <p:nvSpPr>
          <p:cNvPr id="7" name="Rounded Rectangle 6"/>
          <p:cNvSpPr/>
          <p:nvPr/>
        </p:nvSpPr>
        <p:spPr>
          <a:xfrm>
            <a:off x="2984425"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060623"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24</a:t>
            </a:r>
          </a:p>
        </p:txBody>
      </p:sp>
      <p:sp>
        <p:nvSpPr>
          <p:cNvPr id="9" name="TextBox 8"/>
          <p:cNvSpPr txBox="1"/>
          <p:nvPr/>
        </p:nvSpPr>
        <p:spPr>
          <a:xfrm>
            <a:off x="3403514"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Drukherverdeling</a:t>
            </a:r>
          </a:p>
        </p:txBody>
      </p:sp>
      <p:sp>
        <p:nvSpPr>
          <p:cNvPr id="10" name="Rounded Rectangle 9"/>
          <p:cNvSpPr/>
          <p:nvPr/>
        </p:nvSpPr>
        <p:spPr>
          <a:xfrm>
            <a:off x="4711582"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787780"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24b</a:t>
            </a:r>
          </a:p>
        </p:txBody>
      </p:sp>
      <p:sp>
        <p:nvSpPr>
          <p:cNvPr id="12" name="TextBox 11"/>
          <p:cNvSpPr txBox="1"/>
          <p:nvPr/>
        </p:nvSpPr>
        <p:spPr>
          <a:xfrm>
            <a:off x="5130671"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Opvolgtool</a:t>
            </a:r>
          </a:p>
        </p:txBody>
      </p:sp>
      <p:sp>
        <p:nvSpPr>
          <p:cNvPr id="13" name="Rounded Rectangle 12"/>
          <p:cNvSpPr/>
          <p:nvPr/>
        </p:nvSpPr>
        <p:spPr>
          <a:xfrm>
            <a:off x="6438739" y="4355991"/>
            <a:ext cx="1663658" cy="279393"/>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14937" y="4432189"/>
            <a:ext cx="355591" cy="190495"/>
          </a:xfrm>
          <a:prstGeom prst="rect">
            <a:avLst/>
          </a:prstGeom>
          <a:noFill/>
        </p:spPr>
        <p:txBody>
          <a:bodyPr wrap="square" anchor="t" lIns="0" rIns="0" tIns="0" bIns="0">
            <a:spAutoFit/>
          </a:bodyPr>
          <a:lstStyle/>
          <a:p>
            <a:pPr algn="l">
              <a:lnSpc>
                <a:spcPct val="125000"/>
              </a:lnSpc>
            </a:pPr>
            <a:r>
              <a:rPr sz="1200" b="1">
                <a:solidFill>
                  <a:srgbClr val="52BDEC"/>
                </a:solidFill>
                <a:latin typeface="Consolas"/>
              </a:rPr>
              <a:t>12</a:t>
            </a:r>
          </a:p>
        </p:txBody>
      </p:sp>
      <p:sp>
        <p:nvSpPr>
          <p:cNvPr id="15" name="TextBox 14"/>
          <p:cNvSpPr txBox="1"/>
          <p:nvPr/>
        </p:nvSpPr>
        <p:spPr>
          <a:xfrm>
            <a:off x="6857828" y="4444888"/>
            <a:ext cx="1206469" cy="177795"/>
          </a:xfrm>
          <a:prstGeom prst="rect">
            <a:avLst/>
          </a:prstGeom>
          <a:noFill/>
        </p:spPr>
        <p:txBody>
          <a:bodyPr wrap="none" anchor="t" lIns="0" rIns="0" tIns="0" bIns="0">
            <a:spAutoFit/>
          </a:bodyPr>
          <a:lstStyle/>
          <a:p>
            <a:pPr algn="l">
              <a:lnSpc>
                <a:spcPct val="125000"/>
              </a:lnSpc>
            </a:pPr>
            <a:r>
              <a:rPr sz="1050" b="0">
                <a:solidFill>
                  <a:srgbClr val="F2F8FC"/>
                </a:solidFill>
                <a:latin typeface="Segoe UI"/>
              </a:rPr>
              <a:t>Tevredenheid — maand 18</a:t>
            </a:r>
          </a:p>
        </p:txBody>
      </p:sp>
      <p:sp>
        <p:nvSpPr>
          <p:cNvPr id="16" name="Rectangle 15"/>
          <p:cNvSpPr/>
          <p:nvPr/>
        </p:nvSpPr>
        <p:spPr>
          <a:xfrm>
            <a:off x="634984" y="544816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4984" y="5587860"/>
            <a:ext cx="1269968" cy="215894"/>
          </a:xfrm>
          <a:prstGeom prst="rect">
            <a:avLst/>
          </a:prstGeom>
          <a:noFill/>
        </p:spPr>
        <p:txBody>
          <a:bodyPr wrap="square" anchor="t" lIns="0" rIns="0" tIns="0" bIns="0">
            <a:spAutoFit/>
          </a:bodyPr>
          <a:lstStyle/>
          <a:p>
            <a:pPr algn="l">
              <a:lnSpc>
                <a:spcPct val="125000"/>
              </a:lnSpc>
            </a:pPr>
            <a:r>
              <a:rPr sz="1250" b="1" spc="150">
                <a:solidFill>
                  <a:srgbClr val="FF7A00"/>
                </a:solidFill>
                <a:latin typeface="Consolas"/>
              </a:rPr>
              <a:t>LET OP</a:t>
            </a:r>
          </a:p>
        </p:txBody>
      </p:sp>
      <p:sp>
        <p:nvSpPr>
          <p:cNvPr id="18" name="TextBox 17"/>
          <p:cNvSpPr txBox="1"/>
          <p:nvPr/>
        </p:nvSpPr>
        <p:spPr>
          <a:xfrm>
            <a:off x="2031949" y="5562460"/>
            <a:ext cx="9524761" cy="571485"/>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Drie extra meetmomenten, niet twee. Maand 18 telt mee: beide co-primaire uitkomsten worden op achttien maanden geëvalueerd.</a:t>
            </a:r>
          </a:p>
        </p:txBody>
      </p:sp>
      <p:sp>
        <p:nvSpPr>
          <p:cNvPr id="19" name="!!rail0"/>
          <p:cNvSpPr/>
          <p:nvPr/>
        </p:nvSpPr>
        <p:spPr>
          <a:xfrm>
            <a:off x="660383" y="6387940"/>
            <a:ext cx="358977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ail1"/>
          <p:cNvSpPr/>
          <p:nvPr/>
        </p:nvSpPr>
        <p:spPr>
          <a:xfrm>
            <a:off x="4300959" y="6387940"/>
            <a:ext cx="358977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ail2"/>
          <p:cNvSpPr/>
          <p:nvPr/>
        </p:nvSpPr>
        <p:spPr>
          <a:xfrm>
            <a:off x="7941534" y="6387940"/>
            <a:ext cx="3589776" cy="38099"/>
          </a:xfrm>
          <a:prstGeom prst="rect">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50 / 66</a:t>
            </a:r>
          </a:p>
        </p:txBody>
      </p:sp>
      <p:pic>
        <p:nvPicPr>
          <p:cNvPr id="23"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355591"/>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HET TRAJECT</a:t>
            </a:r>
          </a:p>
        </p:txBody>
      </p:sp>
      <p:sp>
        <p:nvSpPr>
          <p:cNvPr id="4" name="!!sectietitel"/>
          <p:cNvSpPr txBox="1"/>
          <p:nvPr/>
        </p:nvSpPr>
        <p:spPr>
          <a:xfrm>
            <a:off x="634984" y="609584"/>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Terug naar het geheel</a:t>
            </a:r>
          </a:p>
        </p:txBody>
      </p:sp>
      <p:sp>
        <p:nvSpPr>
          <p:cNvPr id="5" name="!!band"/>
          <p:cNvSpPr/>
          <p:nvPr/>
        </p:nvSpPr>
        <p:spPr>
          <a:xfrm>
            <a:off x="0" y="1206469"/>
            <a:ext cx="12191695" cy="3301917"/>
          </a:xfrm>
          <a:prstGeom prst="rect">
            <a:avLst/>
          </a:prstGeom>
          <a:solidFill>
            <a:srgbClr val="0A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as"/>
          <p:cNvSpPr/>
          <p:nvPr/>
        </p:nvSpPr>
        <p:spPr>
          <a:xfrm>
            <a:off x="634984" y="2920926"/>
            <a:ext cx="1092172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tip0"/>
          <p:cNvSpPr/>
          <p:nvPr/>
        </p:nvSpPr>
        <p:spPr>
          <a:xfrm>
            <a:off x="1085822"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maand0"/>
          <p:cNvSpPr txBox="1"/>
          <p:nvPr/>
        </p:nvSpPr>
        <p:spPr>
          <a:xfrm>
            <a:off x="634984" y="2133546"/>
            <a:ext cx="1092172" cy="279393"/>
          </a:xfrm>
          <a:prstGeom prst="rect">
            <a:avLst/>
          </a:prstGeom>
          <a:noFill/>
        </p:spPr>
        <p:txBody>
          <a:bodyPr wrap="square" anchor="t" lIns="0" rIns="0" tIns="0" bIns="0">
            <a:spAutoFit/>
          </a:bodyPr>
          <a:lstStyle/>
          <a:p>
            <a:pPr algn="ctr">
              <a:lnSpc>
                <a:spcPct val="125000"/>
              </a:lnSpc>
            </a:pPr>
            <a:r>
              <a:rPr sz="1500" b="1">
                <a:solidFill>
                  <a:srgbClr val="F2F8FC"/>
                </a:solidFill>
                <a:latin typeface="Consolas"/>
              </a:rPr>
              <a:t>Screen</a:t>
            </a:r>
          </a:p>
        </p:txBody>
      </p:sp>
      <p:sp>
        <p:nvSpPr>
          <p:cNvPr id="9" name="!!taak0"/>
          <p:cNvSpPr txBox="1"/>
          <p:nvPr/>
        </p:nvSpPr>
        <p:spPr>
          <a:xfrm>
            <a:off x="698482"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geschiktheid</a:t>
            </a:r>
          </a:p>
        </p:txBody>
      </p:sp>
      <p:sp>
        <p:nvSpPr>
          <p:cNvPr id="10" name="!!stip1"/>
          <p:cNvSpPr/>
          <p:nvPr/>
        </p:nvSpPr>
        <p:spPr>
          <a:xfrm>
            <a:off x="2177995"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maand1"/>
          <p:cNvSpPr txBox="1"/>
          <p:nvPr/>
        </p:nvSpPr>
        <p:spPr>
          <a:xfrm>
            <a:off x="1727156"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V0</a:t>
            </a:r>
          </a:p>
        </p:txBody>
      </p:sp>
      <p:sp>
        <p:nvSpPr>
          <p:cNvPr id="12" name="!!taak1"/>
          <p:cNvSpPr txBox="1"/>
          <p:nvPr/>
        </p:nvSpPr>
        <p:spPr>
          <a:xfrm>
            <a:off x="1790655"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loting</a:t>
            </a:r>
          </a:p>
        </p:txBody>
      </p:sp>
      <p:sp>
        <p:nvSpPr>
          <p:cNvPr id="13" name="!!stip2"/>
          <p:cNvSpPr/>
          <p:nvPr/>
        </p:nvSpPr>
        <p:spPr>
          <a:xfrm>
            <a:off x="3289217"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maand2"/>
          <p:cNvSpPr txBox="1"/>
          <p:nvPr/>
        </p:nvSpPr>
        <p:spPr>
          <a:xfrm>
            <a:off x="2819329"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V1</a:t>
            </a:r>
          </a:p>
        </p:txBody>
      </p:sp>
      <p:sp>
        <p:nvSpPr>
          <p:cNvPr id="15" name="!!taak2"/>
          <p:cNvSpPr txBox="1"/>
          <p:nvPr/>
        </p:nvSpPr>
        <p:spPr>
          <a:xfrm>
            <a:off x="2882827"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baseline</a:t>
            </a:r>
          </a:p>
        </p:txBody>
      </p:sp>
      <p:sp>
        <p:nvSpPr>
          <p:cNvPr id="16" name="!!stip3"/>
          <p:cNvSpPr/>
          <p:nvPr/>
        </p:nvSpPr>
        <p:spPr>
          <a:xfrm>
            <a:off x="4381390"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maand3"/>
          <p:cNvSpPr txBox="1"/>
          <p:nvPr/>
        </p:nvSpPr>
        <p:spPr>
          <a:xfrm>
            <a:off x="3911502"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V2</a:t>
            </a:r>
          </a:p>
        </p:txBody>
      </p:sp>
      <p:sp>
        <p:nvSpPr>
          <p:cNvPr id="18" name="!!taak3"/>
          <p:cNvSpPr txBox="1"/>
          <p:nvPr/>
        </p:nvSpPr>
        <p:spPr>
          <a:xfrm>
            <a:off x="3975000"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zool + sensor</a:t>
            </a:r>
          </a:p>
        </p:txBody>
      </p:sp>
      <p:sp>
        <p:nvSpPr>
          <p:cNvPr id="19" name="!!stip4"/>
          <p:cNvSpPr/>
          <p:nvPr/>
        </p:nvSpPr>
        <p:spPr>
          <a:xfrm>
            <a:off x="5473563"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maand4"/>
          <p:cNvSpPr txBox="1"/>
          <p:nvPr/>
        </p:nvSpPr>
        <p:spPr>
          <a:xfrm>
            <a:off x="5003674"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M3</a:t>
            </a:r>
          </a:p>
        </p:txBody>
      </p:sp>
      <p:sp>
        <p:nvSpPr>
          <p:cNvPr id="21" name="!!taak4"/>
          <p:cNvSpPr txBox="1"/>
          <p:nvPr/>
        </p:nvSpPr>
        <p:spPr>
          <a:xfrm>
            <a:off x="5067173"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22" name="!!stip5"/>
          <p:cNvSpPr/>
          <p:nvPr/>
        </p:nvSpPr>
        <p:spPr>
          <a:xfrm>
            <a:off x="6565735"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maand5"/>
          <p:cNvSpPr txBox="1"/>
          <p:nvPr/>
        </p:nvSpPr>
        <p:spPr>
          <a:xfrm>
            <a:off x="6095847"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M6</a:t>
            </a:r>
          </a:p>
        </p:txBody>
      </p:sp>
      <p:sp>
        <p:nvSpPr>
          <p:cNvPr id="24" name="!!taak5"/>
          <p:cNvSpPr txBox="1"/>
          <p:nvPr/>
        </p:nvSpPr>
        <p:spPr>
          <a:xfrm>
            <a:off x="6159346"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a:t>
            </a:r>
          </a:p>
        </p:txBody>
      </p:sp>
      <p:sp>
        <p:nvSpPr>
          <p:cNvPr id="25" name="!!stip6"/>
          <p:cNvSpPr/>
          <p:nvPr/>
        </p:nvSpPr>
        <p:spPr>
          <a:xfrm>
            <a:off x="7657908"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maand6"/>
          <p:cNvSpPr txBox="1"/>
          <p:nvPr/>
        </p:nvSpPr>
        <p:spPr>
          <a:xfrm>
            <a:off x="7188020"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M9</a:t>
            </a:r>
          </a:p>
        </p:txBody>
      </p:sp>
      <p:sp>
        <p:nvSpPr>
          <p:cNvPr id="27" name="!!taak6"/>
          <p:cNvSpPr txBox="1"/>
          <p:nvPr/>
        </p:nvSpPr>
        <p:spPr>
          <a:xfrm>
            <a:off x="7251518"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28" name="!!stip7"/>
          <p:cNvSpPr/>
          <p:nvPr/>
        </p:nvSpPr>
        <p:spPr>
          <a:xfrm>
            <a:off x="8750081"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maand7"/>
          <p:cNvSpPr txBox="1"/>
          <p:nvPr/>
        </p:nvSpPr>
        <p:spPr>
          <a:xfrm>
            <a:off x="8280192"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M12</a:t>
            </a:r>
          </a:p>
        </p:txBody>
      </p:sp>
      <p:sp>
        <p:nvSpPr>
          <p:cNvPr id="30" name="!!taak7"/>
          <p:cNvSpPr txBox="1"/>
          <p:nvPr/>
        </p:nvSpPr>
        <p:spPr>
          <a:xfrm>
            <a:off x="8343691"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a:t>
            </a:r>
          </a:p>
        </p:txBody>
      </p:sp>
      <p:sp>
        <p:nvSpPr>
          <p:cNvPr id="31" name="!!stip8"/>
          <p:cNvSpPr/>
          <p:nvPr/>
        </p:nvSpPr>
        <p:spPr>
          <a:xfrm>
            <a:off x="9842253"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maand8"/>
          <p:cNvSpPr txBox="1"/>
          <p:nvPr/>
        </p:nvSpPr>
        <p:spPr>
          <a:xfrm>
            <a:off x="9372365"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M15</a:t>
            </a:r>
          </a:p>
        </p:txBody>
      </p:sp>
      <p:sp>
        <p:nvSpPr>
          <p:cNvPr id="33" name="!!taak8"/>
          <p:cNvSpPr txBox="1"/>
          <p:nvPr/>
        </p:nvSpPr>
        <p:spPr>
          <a:xfrm>
            <a:off x="9435864"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opvolging</a:t>
            </a:r>
          </a:p>
        </p:txBody>
      </p:sp>
      <p:sp>
        <p:nvSpPr>
          <p:cNvPr id="34" name="!!stip9"/>
          <p:cNvSpPr/>
          <p:nvPr/>
        </p:nvSpPr>
        <p:spPr>
          <a:xfrm>
            <a:off x="10915377"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maand9"/>
          <p:cNvSpPr txBox="1"/>
          <p:nvPr/>
        </p:nvSpPr>
        <p:spPr>
          <a:xfrm>
            <a:off x="10464538" y="2133546"/>
            <a:ext cx="1092172" cy="279393"/>
          </a:xfrm>
          <a:prstGeom prst="rect">
            <a:avLst/>
          </a:prstGeom>
          <a:noFill/>
        </p:spPr>
        <p:txBody>
          <a:bodyPr wrap="square" anchor="t" lIns="0" rIns="0" tIns="0" bIns="0">
            <a:spAutoFit/>
          </a:bodyPr>
          <a:lstStyle/>
          <a:p>
            <a:pPr algn="ctr">
              <a:lnSpc>
                <a:spcPct val="125000"/>
              </a:lnSpc>
            </a:pPr>
            <a:r>
              <a:rPr sz="1700" b="1">
                <a:solidFill>
                  <a:srgbClr val="F2F8FC"/>
                </a:solidFill>
                <a:latin typeface="Consolas"/>
              </a:rPr>
              <a:t>M18</a:t>
            </a:r>
          </a:p>
        </p:txBody>
      </p:sp>
      <p:sp>
        <p:nvSpPr>
          <p:cNvPr id="36" name="!!taak9"/>
          <p:cNvSpPr txBox="1"/>
          <p:nvPr/>
        </p:nvSpPr>
        <p:spPr>
          <a:xfrm>
            <a:off x="10528036" y="3251118"/>
            <a:ext cx="965175" cy="571485"/>
          </a:xfrm>
          <a:prstGeom prst="rect">
            <a:avLst/>
          </a:prstGeom>
          <a:noFill/>
        </p:spPr>
        <p:txBody>
          <a:bodyPr wrap="square" anchor="t" lIns="0" rIns="0" tIns="0" bIns="0">
            <a:spAutoFit/>
          </a:bodyPr>
          <a:lstStyle/>
          <a:p>
            <a:pPr algn="ctr">
              <a:lnSpc>
                <a:spcPct val="130000"/>
              </a:lnSpc>
            </a:pPr>
            <a:r>
              <a:rPr sz="1350" b="0">
                <a:solidFill>
                  <a:srgbClr val="8FB6D0"/>
                </a:solidFill>
                <a:latin typeface="Segoe UI"/>
              </a:rPr>
              <a:t>meting + einde</a:t>
            </a:r>
          </a:p>
        </p:txBody>
      </p:sp>
      <p:sp>
        <p:nvSpPr>
          <p:cNvPr id="37" name="Oval 36"/>
          <p:cNvSpPr/>
          <p:nvPr/>
        </p:nvSpPr>
        <p:spPr>
          <a:xfrm>
            <a:off x="660383" y="4013099"/>
            <a:ext cx="114297" cy="114297"/>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50878"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meetmoment</a:t>
            </a:r>
          </a:p>
        </p:txBody>
      </p:sp>
      <p:sp>
        <p:nvSpPr>
          <p:cNvPr id="39" name="Oval 38"/>
          <p:cNvSpPr/>
          <p:nvPr/>
        </p:nvSpPr>
        <p:spPr>
          <a:xfrm>
            <a:off x="3200319" y="4013099"/>
            <a:ext cx="114297" cy="114297"/>
          </a:xfrm>
          <a:prstGeom prst="ellipse">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390815"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begeleiding</a:t>
            </a:r>
          </a:p>
        </p:txBody>
      </p:sp>
      <p:sp>
        <p:nvSpPr>
          <p:cNvPr id="41" name="Oval 40"/>
          <p:cNvSpPr/>
          <p:nvPr/>
        </p:nvSpPr>
        <p:spPr>
          <a:xfrm>
            <a:off x="5740256" y="4013099"/>
            <a:ext cx="114297" cy="114297"/>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930751" y="3975000"/>
            <a:ext cx="2285942" cy="215894"/>
          </a:xfrm>
          <a:prstGeom prst="rect">
            <a:avLst/>
          </a:prstGeom>
          <a:noFill/>
        </p:spPr>
        <p:txBody>
          <a:bodyPr wrap="square" anchor="t" lIns="0" rIns="0" tIns="0" bIns="0">
            <a:spAutoFit/>
          </a:bodyPr>
          <a:lstStyle/>
          <a:p>
            <a:pPr algn="l">
              <a:lnSpc>
                <a:spcPct val="125000"/>
              </a:lnSpc>
            </a:pPr>
            <a:r>
              <a:rPr sz="1300" b="0">
                <a:solidFill>
                  <a:srgbClr val="8FB6D0"/>
                </a:solidFill>
                <a:latin typeface="Consolas"/>
              </a:rPr>
              <a:t>start en afronding</a:t>
            </a:r>
          </a:p>
        </p:txBody>
      </p:sp>
      <p:sp>
        <p:nvSpPr>
          <p:cNvPr id="43" name="!!camera"/>
          <p:cNvSpPr txBox="1"/>
          <p:nvPr/>
        </p:nvSpPr>
        <p:spPr>
          <a:xfrm>
            <a:off x="634984" y="4711582"/>
            <a:ext cx="2031949" cy="1460463"/>
          </a:xfrm>
          <a:prstGeom prst="rect">
            <a:avLst/>
          </a:prstGeom>
          <a:noFill/>
        </p:spPr>
        <p:txBody>
          <a:bodyPr wrap="none" anchor="t" lIns="0" rIns="0" tIns="0" bIns="0">
            <a:spAutoFit/>
          </a:bodyPr>
          <a:lstStyle/>
          <a:p>
            <a:pPr algn="l">
              <a:lnSpc>
                <a:spcPct val="100000"/>
              </a:lnSpc>
            </a:pPr>
            <a:r>
              <a:rPr sz="9600" b="1">
                <a:solidFill>
                  <a:srgbClr val="52BDEC"/>
                </a:solidFill>
                <a:latin typeface="Segoe UI"/>
              </a:rPr>
              <a:t>10</a:t>
            </a:r>
          </a:p>
        </p:txBody>
      </p:sp>
      <p:sp>
        <p:nvSpPr>
          <p:cNvPr id="44" name="TextBox 43"/>
          <p:cNvSpPr txBox="1"/>
          <p:nvPr/>
        </p:nvSpPr>
        <p:spPr>
          <a:xfrm>
            <a:off x="2539936" y="4813179"/>
            <a:ext cx="8889777" cy="419089"/>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contactmomenten, één zorgpad</a:t>
            </a:r>
          </a:p>
        </p:txBody>
      </p:sp>
      <p:sp>
        <p:nvSpPr>
          <p:cNvPr id="45" name="TextBox 44"/>
          <p:cNvSpPr txBox="1"/>
          <p:nvPr/>
        </p:nvSpPr>
        <p:spPr>
          <a:xfrm>
            <a:off x="2552636" y="5283067"/>
            <a:ext cx="8889777" cy="952476"/>
          </a:xfrm>
          <a:prstGeom prst="rect">
            <a:avLst/>
          </a:prstGeom>
          <a:noFill/>
        </p:spPr>
        <p:txBody>
          <a:bodyPr wrap="square" anchor="t" lIns="0" rIns="0" tIns="0" bIns="0">
            <a:spAutoFit/>
          </a:bodyPr>
          <a:lstStyle/>
          <a:p>
            <a:pPr algn="l">
              <a:lnSpc>
                <a:spcPct val="140000"/>
              </a:lnSpc>
            </a:pPr>
            <a:r>
              <a:rPr sz="1800" b="0">
                <a:solidFill>
                  <a:srgbClr val="8FB6D0"/>
                </a:solidFill>
                <a:latin typeface="Segoe UI"/>
              </a:rPr>
              <a:t>Het verschil met vandaag zit niet in hoe vaak u de patiënt ziet, maar in wat u bij elk bezoek wéét: wat de zool doet en wat er gedragen is.</a:t>
            </a:r>
          </a:p>
        </p:txBody>
      </p:sp>
      <p:sp>
        <p:nvSpPr>
          <p:cNvPr id="46" name="TextBox 45"/>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51 / 66</a:t>
            </a:r>
          </a:p>
        </p:txBody>
      </p:sp>
      <p:pic>
        <p:nvPicPr>
          <p:cNvPr id="47"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merkgroot" descr="merk.png"/>
          <p:cNvPicPr>
            <a:picLocks noChangeAspect="1"/>
          </p:cNvPicPr>
          <p:nvPr/>
        </p:nvPicPr>
        <p:blipFill>
          <a:blip r:embed="rId2">
            <a:alphaModFix amt="14000"/>
          </a:blip>
          <a:stretch>
            <a:fillRect/>
          </a:stretch>
        </p:blipFill>
        <p:spPr>
          <a:xfrm>
            <a:off x="6857828" y="-738820"/>
            <a:ext cx="6984825" cy="8081476"/>
          </a:xfrm>
          <a:prstGeom prst="rect">
            <a:avLst/>
          </a:prstGeom>
        </p:spPr>
      </p:pic>
      <p:sp>
        <p:nvSpPr>
          <p:cNvPr id="4" name="hero"/>
          <p:cNvSpPr txBox="1"/>
          <p:nvPr/>
        </p:nvSpPr>
        <p:spPr>
          <a:xfrm>
            <a:off x="634984" y="1854153"/>
            <a:ext cx="4444888" cy="2031949"/>
          </a:xfrm>
          <a:prstGeom prst="rect">
            <a:avLst/>
          </a:prstGeom>
          <a:noFill/>
        </p:spPr>
        <p:txBody>
          <a:bodyPr wrap="square" anchor="t" lIns="0" rIns="0" tIns="0" bIns="0">
            <a:spAutoFit/>
          </a:bodyPr>
          <a:lstStyle/>
          <a:p>
            <a:pPr algn="l">
              <a:lnSpc>
                <a:spcPct val="90000"/>
              </a:lnSpc>
            </a:pPr>
            <a:r>
              <a:rPr sz="15000" b="1">
                <a:gradFill>
                  <a:gsLst>
                    <a:gs pos="0">
                      <a:srgbClr val="52BDEC"/>
                    </a:gs>
                    <a:gs pos="100000">
                      <a:srgbClr val="FF7A00"/>
                    </a:gs>
                  </a:gsLst>
                  <a:lin ang="2700000" scaled="0"/>
                </a:gradFill>
                <a:latin typeface="Segoe UI"/>
              </a:rPr>
              <a:t>04</a:t>
            </a:r>
          </a:p>
        </p:txBody>
      </p:sp>
      <p:sp>
        <p:nvSpPr>
          <p:cNvPr id="5" name="sectietitel"/>
          <p:cNvSpPr txBox="1"/>
          <p:nvPr/>
        </p:nvSpPr>
        <p:spPr>
          <a:xfrm>
            <a:off x="634984" y="3975000"/>
            <a:ext cx="8889777" cy="888977"/>
          </a:xfrm>
          <a:prstGeom prst="rect">
            <a:avLst/>
          </a:prstGeom>
          <a:noFill/>
        </p:spPr>
        <p:txBody>
          <a:bodyPr wrap="square" anchor="t" lIns="0" rIns="0" tIns="0" bIns="0">
            <a:spAutoFit/>
          </a:bodyPr>
          <a:lstStyle/>
          <a:p>
            <a:pPr algn="l">
              <a:lnSpc>
                <a:spcPct val="125000"/>
              </a:lnSpc>
            </a:pPr>
            <a:r>
              <a:rPr sz="5600" b="1">
                <a:solidFill>
                  <a:srgbClr val="F2F8FC"/>
                </a:solidFill>
                <a:latin typeface="Segoe UI"/>
              </a:rPr>
              <a:t>Toestellen en regels</a:t>
            </a:r>
          </a:p>
        </p:txBody>
      </p:sp>
      <p:sp>
        <p:nvSpPr>
          <p:cNvPr id="6" name="TextBox 5"/>
          <p:cNvSpPr txBox="1"/>
          <p:nvPr/>
        </p:nvSpPr>
        <p:spPr>
          <a:xfrm>
            <a:off x="660383" y="4990975"/>
            <a:ext cx="8254793" cy="507987"/>
          </a:xfrm>
          <a:prstGeom prst="rect">
            <a:avLst/>
          </a:prstGeom>
          <a:noFill/>
        </p:spPr>
        <p:txBody>
          <a:bodyPr wrap="square" anchor="t" lIns="0" rIns="0" tIns="0" bIns="0">
            <a:spAutoFit/>
          </a:bodyPr>
          <a:lstStyle/>
          <a:p>
            <a:pPr algn="l">
              <a:lnSpc>
                <a:spcPct val="125000"/>
              </a:lnSpc>
            </a:pPr>
            <a:r>
              <a:rPr sz="2100" b="0">
                <a:solidFill>
                  <a:srgbClr val="8FB6D0"/>
                </a:solidFill>
                <a:latin typeface="Segoe UI Light"/>
              </a:rPr>
              <a:t>De instellingen, het gesprek, en de vier regels die vastliggen.</a:t>
            </a:r>
          </a:p>
        </p:txBody>
      </p:sp>
      <p:sp>
        <p:nvSpPr>
          <p:cNvPr id="7" name="TextBox 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52 / 66</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DE TECHNIEK</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Drie toestellen</a:t>
            </a:r>
          </a:p>
        </p:txBody>
      </p:sp>
      <p:sp>
        <p:nvSpPr>
          <p:cNvPr id="5" name="Rounded Rectangle 4"/>
          <p:cNvSpPr/>
          <p:nvPr/>
        </p:nvSpPr>
        <p:spPr>
          <a:xfrm>
            <a:off x="634984" y="1968450"/>
            <a:ext cx="5384538" cy="400039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edar.png"/>
          <p:cNvPicPr>
            <a:picLocks noChangeAspect="1"/>
          </p:cNvPicPr>
          <p:nvPr/>
        </p:nvPicPr>
        <p:blipFill>
          <a:blip r:embed="rId2"/>
          <a:stretch>
            <a:fillRect/>
          </a:stretch>
        </p:blipFill>
        <p:spPr>
          <a:xfrm>
            <a:off x="2344719" y="2184345"/>
            <a:ext cx="1965067" cy="1663658"/>
          </a:xfrm>
          <a:prstGeom prst="rect">
            <a:avLst/>
          </a:prstGeom>
        </p:spPr>
      </p:pic>
      <p:sp>
        <p:nvSpPr>
          <p:cNvPr id="7" name="TextBox 6"/>
          <p:cNvSpPr txBox="1"/>
          <p:nvPr/>
        </p:nvSpPr>
        <p:spPr>
          <a:xfrm>
            <a:off x="914377" y="3975000"/>
            <a:ext cx="2412939" cy="444488"/>
          </a:xfrm>
          <a:prstGeom prst="rect">
            <a:avLst/>
          </a:prstGeom>
          <a:noFill/>
        </p:spPr>
        <p:txBody>
          <a:bodyPr wrap="square" anchor="t" lIns="0" rIns="0" tIns="0" bIns="0">
            <a:spAutoFit/>
          </a:bodyPr>
          <a:lstStyle/>
          <a:p>
            <a:pPr algn="l">
              <a:lnSpc>
                <a:spcPct val="125000"/>
              </a:lnSpc>
            </a:pPr>
            <a:r>
              <a:rPr sz="3200" b="1">
                <a:solidFill>
                  <a:srgbClr val="F2F8FC"/>
                </a:solidFill>
                <a:latin typeface="Segoe UI"/>
              </a:rPr>
              <a:t>Novel pedar</a:t>
            </a:r>
          </a:p>
        </p:txBody>
      </p:sp>
      <p:sp>
        <p:nvSpPr>
          <p:cNvPr id="8" name="TextBox 7"/>
          <p:cNvSpPr txBox="1"/>
          <p:nvPr/>
        </p:nvSpPr>
        <p:spPr>
          <a:xfrm>
            <a:off x="927076" y="4444888"/>
            <a:ext cx="2412939" cy="228594"/>
          </a:xfrm>
          <a:prstGeom prst="rect">
            <a:avLst/>
          </a:prstGeom>
          <a:noFill/>
        </p:spPr>
        <p:txBody>
          <a:bodyPr wrap="square" anchor="t" lIns="0" rIns="0" tIns="0" bIns="0">
            <a:spAutoFit/>
          </a:bodyPr>
          <a:lstStyle/>
          <a:p>
            <a:pPr algn="l">
              <a:lnSpc>
                <a:spcPct val="125000"/>
              </a:lnSpc>
            </a:pPr>
            <a:r>
              <a:rPr sz="1250" b="1" spc="160">
                <a:solidFill>
                  <a:srgbClr val="52BDEC"/>
                </a:solidFill>
                <a:latin typeface="Consolas"/>
              </a:rPr>
              <a:t>DRUK</a:t>
            </a:r>
          </a:p>
        </p:txBody>
      </p:sp>
      <p:sp>
        <p:nvSpPr>
          <p:cNvPr id="9" name="TextBox 8"/>
          <p:cNvSpPr txBox="1"/>
          <p:nvPr/>
        </p:nvSpPr>
        <p:spPr>
          <a:xfrm>
            <a:off x="914377" y="4660783"/>
            <a:ext cx="2412939" cy="380990"/>
          </a:xfrm>
          <a:prstGeom prst="rect">
            <a:avLst/>
          </a:prstGeom>
          <a:noFill/>
        </p:spPr>
        <p:txBody>
          <a:bodyPr wrap="square" anchor="t" lIns="0" rIns="0" tIns="0" bIns="0">
            <a:spAutoFit/>
          </a:bodyPr>
          <a:lstStyle/>
          <a:p>
            <a:pPr algn="l">
              <a:lnSpc>
                <a:spcPct val="100000"/>
              </a:lnSpc>
            </a:pPr>
            <a:r>
              <a:rPr sz="2400" b="1">
                <a:solidFill>
                  <a:srgbClr val="52BDEC"/>
                </a:solidFill>
                <a:latin typeface="Segoe UI"/>
              </a:rPr>
              <a:t>8  voetregio's</a:t>
            </a:r>
          </a:p>
        </p:txBody>
      </p:sp>
      <p:sp>
        <p:nvSpPr>
          <p:cNvPr id="10" name="TextBox 9"/>
          <p:cNvSpPr txBox="1"/>
          <p:nvPr/>
        </p:nvSpPr>
        <p:spPr>
          <a:xfrm>
            <a:off x="914377" y="5079873"/>
            <a:ext cx="2412939" cy="253993"/>
          </a:xfrm>
          <a:prstGeom prst="rect">
            <a:avLst/>
          </a:prstGeom>
          <a:noFill/>
        </p:spPr>
        <p:txBody>
          <a:bodyPr wrap="square" anchor="t" lIns="0" rIns="0" tIns="0" bIns="0">
            <a:spAutoFit/>
          </a:bodyPr>
          <a:lstStyle/>
          <a:p>
            <a:pPr algn="l">
              <a:lnSpc>
                <a:spcPct val="125000"/>
              </a:lnSpc>
            </a:pPr>
            <a:r>
              <a:rPr sz="1300" b="1" spc="130">
                <a:solidFill>
                  <a:srgbClr val="FF7A00"/>
                </a:solidFill>
                <a:latin typeface="Consolas"/>
              </a:rPr>
              <a:t>UW TEAM MEET</a:t>
            </a:r>
          </a:p>
        </p:txBody>
      </p:sp>
      <p:sp>
        <p:nvSpPr>
          <p:cNvPr id="11" name="TextBox 10"/>
          <p:cNvSpPr txBox="1"/>
          <p:nvPr/>
        </p:nvSpPr>
        <p:spPr>
          <a:xfrm>
            <a:off x="3479713" y="3975000"/>
            <a:ext cx="2260416" cy="1777955"/>
          </a:xfrm>
          <a:prstGeom prst="rect">
            <a:avLst/>
          </a:prstGeom>
          <a:noFill/>
        </p:spPr>
        <p:txBody>
          <a:bodyPr wrap="square" anchor="t" lIns="0" rIns="0" tIns="0" bIns="0">
            <a:spAutoFit/>
          </a:bodyPr>
          <a:lstStyle/>
          <a:p>
            <a:pPr algn="l">
              <a:lnSpc>
                <a:spcPct val="130000"/>
              </a:lnSpc>
            </a:pPr>
            <a:r>
              <a:rPr sz="1450" b="0">
                <a:solidFill>
                  <a:srgbClr val="8FB6D0"/>
                </a:solidFill>
                <a:latin typeface="Segoe UI"/>
              </a:rPr>
              <a:t>Blootsvoets met tape, en in de schoen met en zonder zool</a:t>
            </a:r>
          </a:p>
          <a:p>
            <a:pPr algn="l">
              <a:lnSpc>
                <a:spcPct val="130000"/>
              </a:lnSpc>
              <a:spcBef>
                <a:spcPts val="1000"/>
              </a:spcBef>
            </a:pPr>
            <a:r>
              <a:rPr sz="1450" b="0">
                <a:solidFill>
                  <a:srgbClr val="8FB6D0"/>
                </a:solidFill>
                <a:latin typeface="Segoe UI"/>
              </a:rPr>
              <a:t>Trublu-kalibratie minstens elke drie maanden</a:t>
            </a:r>
          </a:p>
          <a:p>
            <a:pPr algn="l">
              <a:lnSpc>
                <a:spcPct val="130000"/>
              </a:lnSpc>
              <a:spcBef>
                <a:spcPts val="1000"/>
              </a:spcBef>
            </a:pPr>
            <a:r>
              <a:rPr sz="1450" b="0">
                <a:solidFill>
                  <a:srgbClr val="8FB6D0"/>
                </a:solidFill>
                <a:latin typeface="Segoe UI"/>
              </a:rPr>
              <a:t>De F-Scan GO is een aparte meting van het studieteam</a:t>
            </a:r>
          </a:p>
        </p:txBody>
      </p:sp>
      <p:sp>
        <p:nvSpPr>
          <p:cNvPr id="12" name="Rounded Rectangle 11"/>
          <p:cNvSpPr/>
          <p:nvPr/>
        </p:nvSpPr>
        <p:spPr>
          <a:xfrm>
            <a:off x="6171918" y="1968450"/>
            <a:ext cx="5384538" cy="191765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324314" y="2120846"/>
            <a:ext cx="2158946" cy="1612859"/>
          </a:xfrm>
          <a:prstGeom prst="roundRect">
            <a:avLst>
              <a:gd name="adj" fmla="val 45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orthotimer.png"/>
          <p:cNvPicPr>
            <a:picLocks noChangeAspect="1"/>
          </p:cNvPicPr>
          <p:nvPr/>
        </p:nvPicPr>
        <p:blipFill>
          <a:blip r:embed="rId3"/>
          <a:stretch>
            <a:fillRect/>
          </a:stretch>
        </p:blipFill>
        <p:spPr>
          <a:xfrm>
            <a:off x="6400512" y="2553717"/>
            <a:ext cx="2006549" cy="747119"/>
          </a:xfrm>
          <a:prstGeom prst="rect">
            <a:avLst/>
          </a:prstGeom>
        </p:spPr>
      </p:pic>
      <p:sp>
        <p:nvSpPr>
          <p:cNvPr id="15" name="TextBox 14"/>
          <p:cNvSpPr txBox="1"/>
          <p:nvPr/>
        </p:nvSpPr>
        <p:spPr>
          <a:xfrm>
            <a:off x="8711855" y="2158946"/>
            <a:ext cx="2666933" cy="342891"/>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Orthotimer</a:t>
            </a:r>
          </a:p>
        </p:txBody>
      </p:sp>
      <p:sp>
        <p:nvSpPr>
          <p:cNvPr id="16" name="TextBox 15"/>
          <p:cNvSpPr txBox="1"/>
          <p:nvPr/>
        </p:nvSpPr>
        <p:spPr>
          <a:xfrm>
            <a:off x="8724554" y="2527236"/>
            <a:ext cx="2666933" cy="215894"/>
          </a:xfrm>
          <a:prstGeom prst="rect">
            <a:avLst/>
          </a:prstGeom>
          <a:noFill/>
        </p:spPr>
        <p:txBody>
          <a:bodyPr wrap="square" anchor="t" lIns="0" rIns="0" tIns="0" bIns="0">
            <a:spAutoFit/>
          </a:bodyPr>
          <a:lstStyle/>
          <a:p>
            <a:pPr algn="l">
              <a:lnSpc>
                <a:spcPct val="125000"/>
              </a:lnSpc>
            </a:pPr>
            <a:r>
              <a:rPr sz="1200" b="1" spc="150">
                <a:solidFill>
                  <a:srgbClr val="52BDEC"/>
                </a:solidFill>
                <a:latin typeface="Consolas"/>
              </a:rPr>
              <a:t>DRAAGTIJD</a:t>
            </a:r>
          </a:p>
        </p:txBody>
      </p:sp>
      <p:sp>
        <p:nvSpPr>
          <p:cNvPr id="17" name="TextBox 16"/>
          <p:cNvSpPr txBox="1"/>
          <p:nvPr/>
        </p:nvSpPr>
        <p:spPr>
          <a:xfrm>
            <a:off x="8711855" y="2730431"/>
            <a:ext cx="2666933" cy="355591"/>
          </a:xfrm>
          <a:prstGeom prst="rect">
            <a:avLst/>
          </a:prstGeom>
          <a:noFill/>
        </p:spPr>
        <p:txBody>
          <a:bodyPr wrap="square" anchor="t" lIns="0" rIns="0" tIns="0" bIns="0">
            <a:spAutoFit/>
          </a:bodyPr>
          <a:lstStyle/>
          <a:p>
            <a:pPr algn="l">
              <a:lnSpc>
                <a:spcPct val="100000"/>
              </a:lnSpc>
            </a:pPr>
            <a:r>
              <a:rPr sz="2200" b="1">
                <a:solidFill>
                  <a:srgbClr val="52BDEC"/>
                </a:solidFill>
                <a:latin typeface="Segoe UI"/>
              </a:rPr>
              <a:t>15  minuten</a:t>
            </a:r>
          </a:p>
        </p:txBody>
      </p:sp>
      <p:sp>
        <p:nvSpPr>
          <p:cNvPr id="18" name="TextBox 17"/>
          <p:cNvSpPr txBox="1"/>
          <p:nvPr/>
        </p:nvSpPr>
        <p:spPr>
          <a:xfrm>
            <a:off x="8711855" y="3073323"/>
            <a:ext cx="2590608" cy="571485"/>
          </a:xfrm>
          <a:prstGeom prst="rect">
            <a:avLst/>
          </a:prstGeom>
          <a:noFill/>
        </p:spPr>
        <p:txBody>
          <a:bodyPr wrap="square" anchor="t" lIns="0" rIns="0" tIns="0" bIns="0">
            <a:spAutoFit/>
          </a:bodyPr>
          <a:lstStyle/>
          <a:p>
            <a:pPr algn="l">
              <a:lnSpc>
                <a:spcPct val="128000"/>
              </a:lnSpc>
            </a:pPr>
            <a:r>
              <a:rPr sz="1400" b="0">
                <a:solidFill>
                  <a:srgbClr val="8FB6D0"/>
                </a:solidFill>
                <a:latin typeface="Segoe UI"/>
              </a:rPr>
              <a:t>In de zool, 9 × 13 × 4,5 mm</a:t>
            </a:r>
          </a:p>
          <a:p>
            <a:pPr algn="l">
              <a:lnSpc>
                <a:spcPct val="128000"/>
              </a:lnSpc>
              <a:spcBef>
                <a:spcPts val="600"/>
              </a:spcBef>
            </a:pPr>
            <a:r>
              <a:rPr sz="1400" b="0">
                <a:solidFill>
                  <a:srgbClr val="8FB6D0"/>
                </a:solidFill>
                <a:latin typeface="Segoe UI"/>
              </a:rPr>
              <a:t>Batterij 100 dagen</a:t>
            </a:r>
          </a:p>
        </p:txBody>
      </p:sp>
      <p:sp>
        <p:nvSpPr>
          <p:cNvPr id="19" name="TextBox 18"/>
          <p:cNvSpPr txBox="1"/>
          <p:nvPr/>
        </p:nvSpPr>
        <p:spPr>
          <a:xfrm>
            <a:off x="8711855" y="3644808"/>
            <a:ext cx="2666933" cy="228594"/>
          </a:xfrm>
          <a:prstGeom prst="rect">
            <a:avLst/>
          </a:prstGeom>
          <a:noFill/>
        </p:spPr>
        <p:txBody>
          <a:bodyPr wrap="square" anchor="t" lIns="0" rIns="0" tIns="0" bIns="0">
            <a:spAutoFit/>
          </a:bodyPr>
          <a:lstStyle/>
          <a:p>
            <a:pPr algn="l">
              <a:lnSpc>
                <a:spcPct val="125000"/>
              </a:lnSpc>
            </a:pPr>
            <a:r>
              <a:rPr sz="1250" b="1" spc="130">
                <a:solidFill>
                  <a:srgbClr val="FF7A00"/>
                </a:solidFill>
                <a:latin typeface="Consolas"/>
              </a:rPr>
              <a:t>HEET: UW SENSOR</a:t>
            </a:r>
          </a:p>
        </p:txBody>
      </p:sp>
      <p:sp>
        <p:nvSpPr>
          <p:cNvPr id="20" name="Rounded Rectangle 19"/>
          <p:cNvSpPr/>
          <p:nvPr/>
        </p:nvSpPr>
        <p:spPr>
          <a:xfrm>
            <a:off x="6171918" y="4051198"/>
            <a:ext cx="5384538" cy="191765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324314" y="4203594"/>
            <a:ext cx="2158946" cy="1612859"/>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movemonitor.png"/>
          <p:cNvPicPr>
            <a:picLocks noChangeAspect="1"/>
          </p:cNvPicPr>
          <p:nvPr/>
        </p:nvPicPr>
        <p:blipFill>
          <a:blip r:embed="rId4"/>
          <a:stretch>
            <a:fillRect/>
          </a:stretch>
        </p:blipFill>
        <p:spPr>
          <a:xfrm>
            <a:off x="6400512" y="4454706"/>
            <a:ext cx="2006549" cy="1110636"/>
          </a:xfrm>
          <a:prstGeom prst="rect">
            <a:avLst/>
          </a:prstGeom>
        </p:spPr>
      </p:pic>
      <p:sp>
        <p:nvSpPr>
          <p:cNvPr id="23" name="TextBox 22"/>
          <p:cNvSpPr txBox="1"/>
          <p:nvPr/>
        </p:nvSpPr>
        <p:spPr>
          <a:xfrm>
            <a:off x="8711855" y="4241693"/>
            <a:ext cx="2666933" cy="342891"/>
          </a:xfrm>
          <a:prstGeom prst="rect">
            <a:avLst/>
          </a:prstGeom>
          <a:noFill/>
        </p:spPr>
        <p:txBody>
          <a:bodyPr wrap="square" anchor="t" lIns="0" rIns="0" tIns="0" bIns="0">
            <a:spAutoFit/>
          </a:bodyPr>
          <a:lstStyle/>
          <a:p>
            <a:pPr algn="l">
              <a:lnSpc>
                <a:spcPct val="125000"/>
              </a:lnSpc>
            </a:pPr>
            <a:r>
              <a:rPr sz="2500" b="1">
                <a:solidFill>
                  <a:srgbClr val="F2F8FC"/>
                </a:solidFill>
                <a:latin typeface="Segoe UI"/>
              </a:rPr>
              <a:t>MoveMonitor</a:t>
            </a:r>
          </a:p>
        </p:txBody>
      </p:sp>
      <p:sp>
        <p:nvSpPr>
          <p:cNvPr id="24" name="TextBox 23"/>
          <p:cNvSpPr txBox="1"/>
          <p:nvPr/>
        </p:nvSpPr>
        <p:spPr>
          <a:xfrm>
            <a:off x="8724554" y="4609984"/>
            <a:ext cx="2666933" cy="215894"/>
          </a:xfrm>
          <a:prstGeom prst="rect">
            <a:avLst/>
          </a:prstGeom>
          <a:noFill/>
        </p:spPr>
        <p:txBody>
          <a:bodyPr wrap="square" anchor="t" lIns="0" rIns="0" tIns="0" bIns="0">
            <a:spAutoFit/>
          </a:bodyPr>
          <a:lstStyle/>
          <a:p>
            <a:pPr algn="l">
              <a:lnSpc>
                <a:spcPct val="125000"/>
              </a:lnSpc>
            </a:pPr>
            <a:r>
              <a:rPr sz="1200" b="1" spc="150">
                <a:solidFill>
                  <a:srgbClr val="52BDEC"/>
                </a:solidFill>
                <a:latin typeface="Consolas"/>
              </a:rPr>
              <a:t>ACTIVITEIT</a:t>
            </a:r>
          </a:p>
        </p:txBody>
      </p:sp>
      <p:sp>
        <p:nvSpPr>
          <p:cNvPr id="25" name="TextBox 24"/>
          <p:cNvSpPr txBox="1"/>
          <p:nvPr/>
        </p:nvSpPr>
        <p:spPr>
          <a:xfrm>
            <a:off x="8711855" y="4813179"/>
            <a:ext cx="2666933" cy="355591"/>
          </a:xfrm>
          <a:prstGeom prst="rect">
            <a:avLst/>
          </a:prstGeom>
          <a:noFill/>
        </p:spPr>
        <p:txBody>
          <a:bodyPr wrap="square" anchor="t" lIns="0" rIns="0" tIns="0" bIns="0">
            <a:spAutoFit/>
          </a:bodyPr>
          <a:lstStyle/>
          <a:p>
            <a:pPr algn="l">
              <a:lnSpc>
                <a:spcPct val="100000"/>
              </a:lnSpc>
            </a:pPr>
            <a:r>
              <a:rPr sz="2200" b="1">
                <a:solidFill>
                  <a:srgbClr val="52BDEC"/>
                </a:solidFill>
                <a:latin typeface="Segoe UI"/>
              </a:rPr>
              <a:t>7  dagen</a:t>
            </a:r>
          </a:p>
        </p:txBody>
      </p:sp>
      <p:sp>
        <p:nvSpPr>
          <p:cNvPr id="26" name="TextBox 25"/>
          <p:cNvSpPr txBox="1"/>
          <p:nvPr/>
        </p:nvSpPr>
        <p:spPr>
          <a:xfrm>
            <a:off x="8711855" y="5156071"/>
            <a:ext cx="2590608" cy="571485"/>
          </a:xfrm>
          <a:prstGeom prst="rect">
            <a:avLst/>
          </a:prstGeom>
          <a:noFill/>
        </p:spPr>
        <p:txBody>
          <a:bodyPr wrap="square" anchor="t" lIns="0" rIns="0" tIns="0" bIns="0">
            <a:spAutoFit/>
          </a:bodyPr>
          <a:lstStyle/>
          <a:p>
            <a:pPr algn="l">
              <a:lnSpc>
                <a:spcPct val="128000"/>
              </a:lnSpc>
            </a:pPr>
            <a:r>
              <a:rPr sz="1400" b="0">
                <a:solidFill>
                  <a:srgbClr val="8FB6D0"/>
                </a:solidFill>
                <a:latin typeface="Segoe UI"/>
              </a:rPr>
              <a:t>Om het middel, op de onderrug</a:t>
            </a:r>
          </a:p>
          <a:p>
            <a:pPr algn="l">
              <a:lnSpc>
                <a:spcPct val="128000"/>
              </a:lnSpc>
              <a:spcBef>
                <a:spcPts val="600"/>
              </a:spcBef>
            </a:pPr>
            <a:r>
              <a:rPr sz="1400" b="0">
                <a:solidFill>
                  <a:srgbClr val="8FB6D0"/>
                </a:solidFill>
                <a:latin typeface="Segoe UI"/>
              </a:rPr>
              <a:t>Baseline en 6 maanden</a:t>
            </a:r>
          </a:p>
        </p:txBody>
      </p:sp>
      <p:sp>
        <p:nvSpPr>
          <p:cNvPr id="27" name="TextBox 26"/>
          <p:cNvSpPr txBox="1"/>
          <p:nvPr/>
        </p:nvSpPr>
        <p:spPr>
          <a:xfrm>
            <a:off x="8711855" y="5727556"/>
            <a:ext cx="2666933" cy="228594"/>
          </a:xfrm>
          <a:prstGeom prst="rect">
            <a:avLst/>
          </a:prstGeom>
          <a:noFill/>
        </p:spPr>
        <p:txBody>
          <a:bodyPr wrap="square" anchor="t" lIns="0" rIns="0" tIns="0" bIns="0">
            <a:spAutoFit/>
          </a:bodyPr>
          <a:lstStyle/>
          <a:p>
            <a:pPr algn="l">
              <a:lnSpc>
                <a:spcPct val="125000"/>
              </a:lnSpc>
            </a:pPr>
            <a:r>
              <a:rPr sz="1250" b="1" spc="130">
                <a:solidFill>
                  <a:srgbClr val="FF7A00"/>
                </a:solidFill>
                <a:latin typeface="Consolas"/>
              </a:rPr>
              <a:t>ZET DE NORM PER PATIËNT</a:t>
            </a:r>
          </a:p>
        </p:txBody>
      </p:sp>
      <p:sp>
        <p:nvSpPr>
          <p:cNvPr id="28" name="TextBox 27"/>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53 / 66</a:t>
            </a:r>
          </a:p>
        </p:txBody>
      </p:sp>
      <p:pic>
        <p:nvPicPr>
          <p:cNvPr id="29" name="merk" descr="merk.png"/>
          <p:cNvPicPr>
            <a:picLocks noChangeAspect="1"/>
          </p:cNvPicPr>
          <p:nvPr/>
        </p:nvPicPr>
        <p:blipFill>
          <a:blip r:embed="rId5"/>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beeld" descr="sensor_vol.png"/>
          <p:cNvPicPr>
            <a:picLocks noChangeAspect="1"/>
          </p:cNvPicPr>
          <p:nvPr/>
        </p:nvPicPr>
        <p:blipFill>
          <a:blip r:embed="rId2"/>
          <a:stretch>
            <a:fillRect/>
          </a:stretch>
        </p:blipFill>
        <p:spPr>
          <a:xfrm>
            <a:off x="-3671362" y="0"/>
            <a:ext cx="19534420" cy="6857828"/>
          </a:xfrm>
          <a:prstGeom prst="rect">
            <a:avLst/>
          </a:prstGeom>
        </p:spPr>
      </p:pic>
      <p:sp>
        <p:nvSpPr>
          <p:cNvPr id="4" name="Rectangle 3"/>
          <p:cNvSpPr/>
          <p:nvPr/>
        </p:nvSpPr>
        <p:spPr>
          <a:xfrm>
            <a:off x="0" y="0"/>
            <a:ext cx="12191695" cy="6857828"/>
          </a:xfrm>
          <a:prstGeom prst="rect">
            <a:avLst/>
          </a:prstGeom>
          <a:gradFill rotWithShape="1">
            <a:gsLst>
              <a:gs pos="0">
                <a:srgbClr val="04182A">
                  <a:alpha val="6000"/>
                </a:srgbClr>
              </a:gs>
              <a:gs pos="100000">
                <a:srgbClr val="04182A">
                  <a:alpha val="94000"/>
                </a:srgbClr>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34984" y="4482987"/>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DE SENSOR IN HET ECHT</a:t>
            </a:r>
          </a:p>
        </p:txBody>
      </p:sp>
      <p:sp>
        <p:nvSpPr>
          <p:cNvPr id="6" name="!!sectietitel"/>
          <p:cNvSpPr txBox="1"/>
          <p:nvPr/>
        </p:nvSpPr>
        <p:spPr>
          <a:xfrm>
            <a:off x="634984" y="4787780"/>
            <a:ext cx="9524761" cy="1523961"/>
          </a:xfrm>
          <a:prstGeom prst="rect">
            <a:avLst/>
          </a:prstGeom>
          <a:noFill/>
        </p:spPr>
        <p:txBody>
          <a:bodyPr wrap="square" anchor="t" lIns="0" rIns="0" tIns="0" bIns="0">
            <a:spAutoFit/>
          </a:bodyPr>
          <a:lstStyle/>
          <a:p>
            <a:pPr algn="l">
              <a:lnSpc>
                <a:spcPct val="115000"/>
              </a:lnSpc>
            </a:pPr>
            <a:r>
              <a:rPr sz="4400" b="1">
                <a:solidFill>
                  <a:srgbClr val="F2F8FC"/>
                </a:solidFill>
                <a:latin typeface="Segoe UI"/>
              </a:rPr>
              <a:t>Negen bij dertien millimeter.</a:t>
            </a:r>
          </a:p>
          <a:p>
            <a:pPr algn="l">
              <a:lnSpc>
                <a:spcPct val="115000"/>
              </a:lnSpc>
              <a:spcBef>
                <a:spcPts val="500"/>
              </a:spcBef>
            </a:pPr>
            <a:r>
              <a:rPr sz="4400" b="1">
                <a:solidFill>
                  <a:srgbClr val="F2F8FC"/>
                </a:solidFill>
                <a:latin typeface="Segoe UI"/>
              </a:rPr>
              <a:t>Meer merkt de patiënt niet.</a:t>
            </a:r>
          </a:p>
        </p:txBody>
      </p:sp>
      <p:sp>
        <p:nvSpPr>
          <p:cNvPr id="7" name="TextBox 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54 / 66</a:t>
            </a:r>
          </a:p>
        </p:txBody>
      </p:sp>
      <p:pic>
        <p:nvPicPr>
          <p:cNvPr id="8" name="merk" descr="merk.png"/>
          <p:cNvPicPr>
            <a:picLocks noChangeAspect="1"/>
          </p:cNvPicPr>
          <p:nvPr/>
        </p:nvPicPr>
        <p:blipFill>
          <a:blip r:embed="rId3"/>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DE ZOOL · PROTOCOL 5.4.2 EN ECRF 23</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Hoe de CMFO is opgebouwd</a:t>
            </a:r>
          </a:p>
        </p:txBody>
      </p:sp>
      <p:sp>
        <p:nvSpPr>
          <p:cNvPr id="5" name="TextBox 4"/>
          <p:cNvSpPr txBox="1"/>
          <p:nvPr/>
        </p:nvSpPr>
        <p:spPr>
          <a:xfrm>
            <a:off x="634984" y="1904952"/>
            <a:ext cx="5206869"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INSTELLINGEN</a:t>
            </a:r>
          </a:p>
        </p:txBody>
      </p:sp>
      <p:sp>
        <p:nvSpPr>
          <p:cNvPr id="6" name="Rectangle 5"/>
          <p:cNvSpPr/>
          <p:nvPr/>
        </p:nvSpPr>
        <p:spPr>
          <a:xfrm>
            <a:off x="634984" y="2209744"/>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4984" y="2311342"/>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Basis in maatschoen</a:t>
            </a:r>
          </a:p>
        </p:txBody>
      </p:sp>
      <p:sp>
        <p:nvSpPr>
          <p:cNvPr id="8" name="TextBox 7"/>
          <p:cNvSpPr txBox="1"/>
          <p:nvPr/>
        </p:nvSpPr>
        <p:spPr>
          <a:xfrm>
            <a:off x="2793930" y="2298642"/>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5 mm microkurk (55) + 5 mm EVA</a:t>
            </a:r>
          </a:p>
        </p:txBody>
      </p:sp>
      <p:sp>
        <p:nvSpPr>
          <p:cNvPr id="9" name="Rectangle 8"/>
          <p:cNvSpPr/>
          <p:nvPr/>
        </p:nvSpPr>
        <p:spPr>
          <a:xfrm>
            <a:off x="634984" y="2647883"/>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4984" y="2749481"/>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Basis in confectie</a:t>
            </a:r>
          </a:p>
        </p:txBody>
      </p:sp>
      <p:sp>
        <p:nvSpPr>
          <p:cNvPr id="11" name="TextBox 10"/>
          <p:cNvSpPr txBox="1"/>
          <p:nvPr/>
        </p:nvSpPr>
        <p:spPr>
          <a:xfrm>
            <a:off x="2793930" y="2736781"/>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6 mm EVA — géén kurk</a:t>
            </a:r>
          </a:p>
        </p:txBody>
      </p:sp>
      <p:sp>
        <p:nvSpPr>
          <p:cNvPr id="12" name="Rectangle 11"/>
          <p:cNvSpPr/>
          <p:nvPr/>
        </p:nvSpPr>
        <p:spPr>
          <a:xfrm>
            <a:off x="634984" y="3086022"/>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4984" y="3187620"/>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Deklaag, in beide</a:t>
            </a:r>
          </a:p>
        </p:txBody>
      </p:sp>
      <p:sp>
        <p:nvSpPr>
          <p:cNvPr id="14" name="TextBox 13"/>
          <p:cNvSpPr txBox="1"/>
          <p:nvPr/>
        </p:nvSpPr>
        <p:spPr>
          <a:xfrm>
            <a:off x="2793930" y="3174920"/>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3 mm gesloten + 3 mm open cel</a:t>
            </a:r>
          </a:p>
        </p:txBody>
      </p:sp>
      <p:sp>
        <p:nvSpPr>
          <p:cNvPr id="15" name="Rectangle 14"/>
          <p:cNvSpPr/>
          <p:nvPr/>
        </p:nvSpPr>
        <p:spPr>
          <a:xfrm>
            <a:off x="634984" y="3524161"/>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4984" y="3625759"/>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Metatarsaalbalk</a:t>
            </a:r>
          </a:p>
        </p:txBody>
      </p:sp>
      <p:sp>
        <p:nvSpPr>
          <p:cNvPr id="17" name="TextBox 16"/>
          <p:cNvSpPr txBox="1"/>
          <p:nvPr/>
        </p:nvSpPr>
        <p:spPr>
          <a:xfrm>
            <a:off x="2793930" y="3613059"/>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9-10 mm hoog, shore ~55</a:t>
            </a:r>
          </a:p>
        </p:txBody>
      </p:sp>
      <p:sp>
        <p:nvSpPr>
          <p:cNvPr id="18" name="Rectangle 17"/>
          <p:cNvSpPr/>
          <p:nvPr/>
        </p:nvSpPr>
        <p:spPr>
          <a:xfrm>
            <a:off x="634984" y="3962300"/>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4984" y="4063898"/>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Positie van de balk</a:t>
            </a:r>
          </a:p>
        </p:txBody>
      </p:sp>
      <p:sp>
        <p:nvSpPr>
          <p:cNvPr id="20" name="TextBox 19"/>
          <p:cNvSpPr txBox="1"/>
          <p:nvPr/>
        </p:nvSpPr>
        <p:spPr>
          <a:xfrm>
            <a:off x="2793930" y="4051198"/>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6-11 mm proximaal</a:t>
            </a:r>
          </a:p>
        </p:txBody>
      </p:sp>
      <p:sp>
        <p:nvSpPr>
          <p:cNvPr id="21" name="Rectangle 20"/>
          <p:cNvSpPr/>
          <p:nvPr/>
        </p:nvSpPr>
        <p:spPr>
          <a:xfrm>
            <a:off x="634984" y="4400439"/>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984" y="4502037"/>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Of lokale pad</a:t>
            </a:r>
          </a:p>
        </p:txBody>
      </p:sp>
      <p:sp>
        <p:nvSpPr>
          <p:cNvPr id="23" name="TextBox 22"/>
          <p:cNvSpPr txBox="1"/>
          <p:nvPr/>
        </p:nvSpPr>
        <p:spPr>
          <a:xfrm>
            <a:off x="2793930" y="4489337"/>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als maar één regio hoog ligt</a:t>
            </a:r>
          </a:p>
        </p:txBody>
      </p:sp>
      <p:sp>
        <p:nvSpPr>
          <p:cNvPr id="24" name="TextBox 23"/>
          <p:cNvSpPr txBox="1"/>
          <p:nvPr/>
        </p:nvSpPr>
        <p:spPr>
          <a:xfrm>
            <a:off x="6349841" y="1904952"/>
            <a:ext cx="5206869"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STAPPEN</a:t>
            </a:r>
          </a:p>
        </p:txBody>
      </p:sp>
      <p:sp>
        <p:nvSpPr>
          <p:cNvPr id="25" name="Oval 24"/>
          <p:cNvSpPr/>
          <p:nvPr/>
        </p:nvSpPr>
        <p:spPr>
          <a:xfrm>
            <a:off x="6349841" y="2222444"/>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49841" y="2222444"/>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1</a:t>
            </a:r>
          </a:p>
        </p:txBody>
      </p:sp>
      <p:sp>
        <p:nvSpPr>
          <p:cNvPr id="27" name="TextBox 26"/>
          <p:cNvSpPr txBox="1"/>
          <p:nvPr/>
        </p:nvSpPr>
        <p:spPr>
          <a:xfrm>
            <a:off x="6654633" y="2209744"/>
            <a:ext cx="4902077" cy="50925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Controleer de pasvorm in het bínnenschoeisel én het búitenschoeisel. Beide staan als apart deel op het formulier.</a:t>
            </a:r>
          </a:p>
        </p:txBody>
      </p:sp>
      <p:sp>
        <p:nvSpPr>
          <p:cNvPr id="28" name="Oval 27"/>
          <p:cNvSpPr/>
          <p:nvPr/>
        </p:nvSpPr>
        <p:spPr>
          <a:xfrm>
            <a:off x="6349841" y="2858698"/>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49841" y="2858698"/>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2</a:t>
            </a:r>
          </a:p>
        </p:txBody>
      </p:sp>
      <p:sp>
        <p:nvSpPr>
          <p:cNvPr id="30" name="TextBox 29"/>
          <p:cNvSpPr txBox="1"/>
          <p:nvPr/>
        </p:nvSpPr>
        <p:spPr>
          <a:xfrm>
            <a:off x="6654633" y="2845998"/>
            <a:ext cx="4902077" cy="50925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Neem de foto's: orthese van boven, onder en opzij, in beide schoenen, plus de schoenen zelf.</a:t>
            </a:r>
          </a:p>
        </p:txBody>
      </p:sp>
      <p:sp>
        <p:nvSpPr>
          <p:cNvPr id="31" name="Oval 30"/>
          <p:cNvSpPr/>
          <p:nvPr/>
        </p:nvSpPr>
        <p:spPr>
          <a:xfrm>
            <a:off x="6349841" y="3494952"/>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49841" y="3494952"/>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3</a:t>
            </a:r>
          </a:p>
        </p:txBody>
      </p:sp>
      <p:sp>
        <p:nvSpPr>
          <p:cNvPr id="33" name="TextBox 32"/>
          <p:cNvSpPr txBox="1"/>
          <p:nvPr/>
        </p:nvSpPr>
        <p:spPr>
          <a:xfrm>
            <a:off x="6654633" y="3482252"/>
            <a:ext cx="4902077" cy="732136"/>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Pas aan zolang de norm niet gehaald is, of zolang podoloog en pedorthist samen oordelen dat er nog winst te halen is.</a:t>
            </a:r>
          </a:p>
        </p:txBody>
      </p:sp>
      <p:sp>
        <p:nvSpPr>
          <p:cNvPr id="34" name="Oval 33"/>
          <p:cNvSpPr/>
          <p:nvPr/>
        </p:nvSpPr>
        <p:spPr>
          <a:xfrm>
            <a:off x="6349841" y="4354086"/>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49841" y="4354086"/>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4</a:t>
            </a:r>
          </a:p>
        </p:txBody>
      </p:sp>
      <p:sp>
        <p:nvSpPr>
          <p:cNvPr id="36" name="TextBox 35"/>
          <p:cNvSpPr txBox="1"/>
          <p:nvPr/>
        </p:nvSpPr>
        <p:spPr>
          <a:xfrm>
            <a:off x="6654633" y="4341386"/>
            <a:ext cx="4902077" cy="28637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Is de norm gehaald, maak dan een tweede, identiek paar.</a:t>
            </a:r>
          </a:p>
        </p:txBody>
      </p:sp>
      <p:sp>
        <p:nvSpPr>
          <p:cNvPr id="37" name="Rounded Rectangle 36"/>
          <p:cNvSpPr/>
          <p:nvPr/>
        </p:nvSpPr>
        <p:spPr>
          <a:xfrm>
            <a:off x="634984" y="4990975"/>
            <a:ext cx="10921726" cy="1381090"/>
          </a:xfrm>
          <a:prstGeom prst="roundRect">
            <a:avLst>
              <a:gd name="adj" fmla="val 4500"/>
            </a:avLst>
          </a:prstGeom>
          <a:solidFill>
            <a:srgbClr val="0A2A44"/>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39776" y="5130671"/>
            <a:ext cx="1904952" cy="215894"/>
          </a:xfrm>
          <a:prstGeom prst="rect">
            <a:avLst/>
          </a:prstGeom>
          <a:noFill/>
        </p:spPr>
        <p:txBody>
          <a:bodyPr wrap="square" anchor="t" lIns="0" rIns="0" tIns="0" bIns="0">
            <a:spAutoFit/>
          </a:bodyPr>
          <a:lstStyle/>
          <a:p>
            <a:pPr algn="l">
              <a:lnSpc>
                <a:spcPct val="125000"/>
              </a:lnSpc>
            </a:pPr>
            <a:r>
              <a:rPr sz="1250" b="1" spc="150">
                <a:solidFill>
                  <a:srgbClr val="FF7A00"/>
                </a:solidFill>
                <a:latin typeface="Consolas"/>
              </a:rPr>
              <a:t>VALKUIL</a:t>
            </a:r>
          </a:p>
        </p:txBody>
      </p:sp>
      <p:sp>
        <p:nvSpPr>
          <p:cNvPr id="39" name="TextBox 38"/>
          <p:cNvSpPr txBox="1"/>
          <p:nvPr/>
        </p:nvSpPr>
        <p:spPr>
          <a:xfrm>
            <a:off x="939776" y="5384665"/>
            <a:ext cx="10286742" cy="898502"/>
          </a:xfrm>
          <a:prstGeom prst="rect">
            <a:avLst/>
          </a:prstGeom>
          <a:noFill/>
        </p:spPr>
        <p:txBody>
          <a:bodyPr wrap="square" anchor="t" lIns="0" rIns="0" tIns="0" bIns="0">
            <a:spAutoFit/>
          </a:bodyPr>
          <a:lstStyle/>
          <a:p>
            <a:pPr algn="l">
              <a:lnSpc>
                <a:spcPct val="135000"/>
              </a:lnSpc>
            </a:pPr>
            <a:r>
              <a:rPr sz="1500" b="0">
                <a:solidFill>
                  <a:srgbClr val="F2F8FC"/>
                </a:solidFill>
                <a:latin typeface="Segoe UI"/>
              </a:rPr>
              <a:t>De opbouw hangt af van de schoen. In een volledig op maat gemaakte schoen is de basis 5 mm microkurk plus 5 mm EVA; in een confectieschoen is het 6 mm EVA zonder kurk. Wisselt de patiënt van schoentype, dan klopt de zool niet meer.</a:t>
            </a:r>
          </a:p>
        </p:txBody>
      </p:sp>
      <p:sp>
        <p:nvSpPr>
          <p:cNvPr id="40" name="TextBox 3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55 / 66</a:t>
            </a:r>
          </a:p>
        </p:txBody>
      </p:sp>
      <p:pic>
        <p:nvPicPr>
          <p:cNvPr id="41"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SOP · ECRF-DOCUMENT 25B</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Orthotimer instellen</a:t>
            </a:r>
          </a:p>
        </p:txBody>
      </p:sp>
      <p:sp>
        <p:nvSpPr>
          <p:cNvPr id="5" name="TextBox 4"/>
          <p:cNvSpPr txBox="1"/>
          <p:nvPr/>
        </p:nvSpPr>
        <p:spPr>
          <a:xfrm>
            <a:off x="634984" y="1904952"/>
            <a:ext cx="5206869"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INSTELLINGEN</a:t>
            </a:r>
          </a:p>
        </p:txBody>
      </p:sp>
      <p:sp>
        <p:nvSpPr>
          <p:cNvPr id="6" name="Rectangle 5"/>
          <p:cNvSpPr/>
          <p:nvPr/>
        </p:nvSpPr>
        <p:spPr>
          <a:xfrm>
            <a:off x="634984" y="2209744"/>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4984" y="2311342"/>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Type</a:t>
            </a:r>
          </a:p>
        </p:txBody>
      </p:sp>
      <p:sp>
        <p:nvSpPr>
          <p:cNvPr id="8" name="TextBox 7"/>
          <p:cNvSpPr txBox="1"/>
          <p:nvPr/>
        </p:nvSpPr>
        <p:spPr>
          <a:xfrm>
            <a:off x="2793930" y="2298642"/>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Insole</a:t>
            </a:r>
          </a:p>
        </p:txBody>
      </p:sp>
      <p:sp>
        <p:nvSpPr>
          <p:cNvPr id="9" name="Rectangle 8"/>
          <p:cNvSpPr/>
          <p:nvPr/>
        </p:nvSpPr>
        <p:spPr>
          <a:xfrm>
            <a:off x="634984" y="2647883"/>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4984" y="2749481"/>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Interval</a:t>
            </a:r>
          </a:p>
        </p:txBody>
      </p:sp>
      <p:sp>
        <p:nvSpPr>
          <p:cNvPr id="11" name="TextBox 10"/>
          <p:cNvSpPr txBox="1"/>
          <p:nvPr/>
        </p:nvSpPr>
        <p:spPr>
          <a:xfrm>
            <a:off x="2793930" y="2736781"/>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900 seconden — 15 minuten</a:t>
            </a:r>
          </a:p>
        </p:txBody>
      </p:sp>
      <p:sp>
        <p:nvSpPr>
          <p:cNvPr id="12" name="Rectangle 11"/>
          <p:cNvSpPr/>
          <p:nvPr/>
        </p:nvSpPr>
        <p:spPr>
          <a:xfrm>
            <a:off x="634984" y="3086022"/>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4984" y="3187620"/>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Eenheid</a:t>
            </a:r>
          </a:p>
        </p:txBody>
      </p:sp>
      <p:sp>
        <p:nvSpPr>
          <p:cNvPr id="14" name="TextBox 13"/>
          <p:cNvSpPr txBox="1"/>
          <p:nvPr/>
        </p:nvSpPr>
        <p:spPr>
          <a:xfrm>
            <a:off x="2793930" y="3174920"/>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Celsius</a:t>
            </a:r>
          </a:p>
        </p:txBody>
      </p:sp>
      <p:sp>
        <p:nvSpPr>
          <p:cNvPr id="15" name="Rectangle 14"/>
          <p:cNvSpPr/>
          <p:nvPr/>
        </p:nvSpPr>
        <p:spPr>
          <a:xfrm>
            <a:off x="634984" y="3524161"/>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4984" y="3625759"/>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Temperatuurbereik</a:t>
            </a:r>
          </a:p>
        </p:txBody>
      </p:sp>
      <p:sp>
        <p:nvSpPr>
          <p:cNvPr id="17" name="TextBox 16"/>
          <p:cNvSpPr txBox="1"/>
          <p:nvPr/>
        </p:nvSpPr>
        <p:spPr>
          <a:xfrm>
            <a:off x="2793930" y="3613059"/>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25 tot 38,5 °C</a:t>
            </a:r>
          </a:p>
        </p:txBody>
      </p:sp>
      <p:sp>
        <p:nvSpPr>
          <p:cNvPr id="18" name="Rectangle 17"/>
          <p:cNvSpPr/>
          <p:nvPr/>
        </p:nvSpPr>
        <p:spPr>
          <a:xfrm>
            <a:off x="634984" y="3962300"/>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4984" y="4063898"/>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Min. aaneengesloten uren</a:t>
            </a:r>
          </a:p>
        </p:txBody>
      </p:sp>
      <p:sp>
        <p:nvSpPr>
          <p:cNvPr id="20" name="TextBox 19"/>
          <p:cNvSpPr txBox="1"/>
          <p:nvPr/>
        </p:nvSpPr>
        <p:spPr>
          <a:xfrm>
            <a:off x="2793930" y="4051198"/>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0</a:t>
            </a:r>
          </a:p>
        </p:txBody>
      </p:sp>
      <p:sp>
        <p:nvSpPr>
          <p:cNvPr id="21" name="Rectangle 20"/>
          <p:cNvSpPr/>
          <p:nvPr/>
        </p:nvSpPr>
        <p:spPr>
          <a:xfrm>
            <a:off x="634984" y="4400439"/>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984" y="4502037"/>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Uren per dag</a:t>
            </a:r>
          </a:p>
        </p:txBody>
      </p:sp>
      <p:sp>
        <p:nvSpPr>
          <p:cNvPr id="23" name="TextBox 22"/>
          <p:cNvSpPr txBox="1"/>
          <p:nvPr/>
        </p:nvSpPr>
        <p:spPr>
          <a:xfrm>
            <a:off x="2793930" y="4489337"/>
            <a:ext cx="3047923" cy="507987"/>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per patiënt · 80% van het actieve profiel</a:t>
            </a:r>
          </a:p>
        </p:txBody>
      </p:sp>
      <p:sp>
        <p:nvSpPr>
          <p:cNvPr id="24" name="TextBox 23"/>
          <p:cNvSpPr txBox="1"/>
          <p:nvPr/>
        </p:nvSpPr>
        <p:spPr>
          <a:xfrm>
            <a:off x="6349841" y="1904952"/>
            <a:ext cx="5206869"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STAPPEN</a:t>
            </a:r>
          </a:p>
        </p:txBody>
      </p:sp>
      <p:sp>
        <p:nvSpPr>
          <p:cNvPr id="25" name="Oval 24"/>
          <p:cNvSpPr/>
          <p:nvPr/>
        </p:nvSpPr>
        <p:spPr>
          <a:xfrm>
            <a:off x="6349841" y="2222444"/>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49841" y="2222444"/>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1</a:t>
            </a:r>
          </a:p>
        </p:txBody>
      </p:sp>
      <p:sp>
        <p:nvSpPr>
          <p:cNvPr id="27" name="TextBox 26"/>
          <p:cNvSpPr txBox="1"/>
          <p:nvPr/>
        </p:nvSpPr>
        <p:spPr>
          <a:xfrm>
            <a:off x="6654633" y="2209744"/>
            <a:ext cx="4902077" cy="732136"/>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Maak de patiënt aan: naam = het deelnemersnummer, geboortedatum 1/1/1999, geslacht vrouwelijk. Noteer in de opmerking dat die twee geclassificeerd zijn.</a:t>
            </a:r>
          </a:p>
        </p:txBody>
      </p:sp>
      <p:sp>
        <p:nvSpPr>
          <p:cNvPr id="28" name="Oval 27"/>
          <p:cNvSpPr/>
          <p:nvPr/>
        </p:nvSpPr>
        <p:spPr>
          <a:xfrm>
            <a:off x="6349841" y="3081577"/>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49841" y="3081577"/>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2</a:t>
            </a:r>
          </a:p>
        </p:txBody>
      </p:sp>
      <p:sp>
        <p:nvSpPr>
          <p:cNvPr id="30" name="TextBox 29"/>
          <p:cNvSpPr txBox="1"/>
          <p:nvPr/>
        </p:nvSpPr>
        <p:spPr>
          <a:xfrm>
            <a:off x="6654633" y="3068878"/>
            <a:ext cx="4902077" cy="28637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Wijs de groep toe: Usual care of Optimal care.</a:t>
            </a:r>
          </a:p>
        </p:txBody>
      </p:sp>
      <p:sp>
        <p:nvSpPr>
          <p:cNvPr id="31" name="Oval 30"/>
          <p:cNvSpPr/>
          <p:nvPr/>
        </p:nvSpPr>
        <p:spPr>
          <a:xfrm>
            <a:off x="6349841" y="3494952"/>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49841" y="3494952"/>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3</a:t>
            </a:r>
          </a:p>
        </p:txBody>
      </p:sp>
      <p:sp>
        <p:nvSpPr>
          <p:cNvPr id="33" name="TextBox 32"/>
          <p:cNvSpPr txBox="1"/>
          <p:nvPr/>
        </p:nvSpPr>
        <p:spPr>
          <a:xfrm>
            <a:off x="6654633" y="3482252"/>
            <a:ext cx="4902077" cy="50925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Houd de pen op de O van het Orthotimer-logo tot de balk groen wordt.</a:t>
            </a:r>
          </a:p>
        </p:txBody>
      </p:sp>
      <p:sp>
        <p:nvSpPr>
          <p:cNvPr id="34" name="Oval 33"/>
          <p:cNvSpPr/>
          <p:nvPr/>
        </p:nvSpPr>
        <p:spPr>
          <a:xfrm>
            <a:off x="6349841" y="4131206"/>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49841" y="4131206"/>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4</a:t>
            </a:r>
          </a:p>
        </p:txBody>
      </p:sp>
      <p:sp>
        <p:nvSpPr>
          <p:cNvPr id="36" name="TextBox 35"/>
          <p:cNvSpPr txBox="1"/>
          <p:nvPr/>
        </p:nvSpPr>
        <p:spPr>
          <a:xfrm>
            <a:off x="6654633" y="4118507"/>
            <a:ext cx="4902077" cy="50925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Activeer, en laat de sensor één testmeting doen: haal hem iets langer dan het interval van de lezer af.</a:t>
            </a:r>
          </a:p>
        </p:txBody>
      </p:sp>
      <p:sp>
        <p:nvSpPr>
          <p:cNvPr id="37" name="Rounded Rectangle 36"/>
          <p:cNvSpPr/>
          <p:nvPr/>
        </p:nvSpPr>
        <p:spPr>
          <a:xfrm>
            <a:off x="634984" y="5213219"/>
            <a:ext cx="10921726" cy="1123921"/>
          </a:xfrm>
          <a:prstGeom prst="roundRect">
            <a:avLst>
              <a:gd name="adj" fmla="val 4500"/>
            </a:avLst>
          </a:prstGeom>
          <a:solidFill>
            <a:srgbClr val="0A2A44"/>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39776" y="5352916"/>
            <a:ext cx="1904952" cy="215894"/>
          </a:xfrm>
          <a:prstGeom prst="rect">
            <a:avLst/>
          </a:prstGeom>
          <a:noFill/>
        </p:spPr>
        <p:txBody>
          <a:bodyPr wrap="square" anchor="t" lIns="0" rIns="0" tIns="0" bIns="0">
            <a:spAutoFit/>
          </a:bodyPr>
          <a:lstStyle/>
          <a:p>
            <a:pPr algn="l">
              <a:lnSpc>
                <a:spcPct val="125000"/>
              </a:lnSpc>
            </a:pPr>
            <a:r>
              <a:rPr sz="1250" b="1" spc="150">
                <a:solidFill>
                  <a:srgbClr val="FF7A00"/>
                </a:solidFill>
                <a:latin typeface="Consolas"/>
              </a:rPr>
              <a:t>VALKUIL</a:t>
            </a:r>
          </a:p>
        </p:txBody>
      </p:sp>
      <p:sp>
        <p:nvSpPr>
          <p:cNvPr id="39" name="TextBox 38"/>
          <p:cNvSpPr txBox="1"/>
          <p:nvPr/>
        </p:nvSpPr>
        <p:spPr>
          <a:xfrm>
            <a:off x="939776" y="5606909"/>
            <a:ext cx="10286742" cy="641333"/>
          </a:xfrm>
          <a:prstGeom prst="rect">
            <a:avLst/>
          </a:prstGeom>
          <a:noFill/>
        </p:spPr>
        <p:txBody>
          <a:bodyPr wrap="square" anchor="t" lIns="0" rIns="0" tIns="0" bIns="0">
            <a:spAutoFit/>
          </a:bodyPr>
          <a:lstStyle/>
          <a:p>
            <a:pPr algn="l">
              <a:lnSpc>
                <a:spcPct val="135000"/>
              </a:lnSpc>
            </a:pPr>
            <a:r>
              <a:rPr sz="1500" b="0">
                <a:solidFill>
                  <a:srgbClr val="F2F8FC"/>
                </a:solidFill>
                <a:latin typeface="Segoe UI"/>
              </a:rPr>
              <a:t>De uren per dag zijn géén vast getal. Ze komen uit het activiteitenprofiel van díé patiënt — 80% van zijn gemiddelde actieve tijd. Zet u er een standaardwaarde in, dan meet u de verkeerde norm.</a:t>
            </a:r>
          </a:p>
        </p:txBody>
      </p:sp>
      <p:sp>
        <p:nvSpPr>
          <p:cNvPr id="40" name="TextBox 3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56 / 66</a:t>
            </a:r>
          </a:p>
        </p:txBody>
      </p:sp>
      <p:pic>
        <p:nvPicPr>
          <p:cNvPr id="41"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SOP · ECRF-DOCUMENT 19B</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MoveMonitor instellen</a:t>
            </a:r>
          </a:p>
        </p:txBody>
      </p:sp>
      <p:sp>
        <p:nvSpPr>
          <p:cNvPr id="5" name="TextBox 4"/>
          <p:cNvSpPr txBox="1"/>
          <p:nvPr/>
        </p:nvSpPr>
        <p:spPr>
          <a:xfrm>
            <a:off x="634984" y="1904952"/>
            <a:ext cx="5206869"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INSTELLINGEN</a:t>
            </a:r>
          </a:p>
        </p:txBody>
      </p:sp>
      <p:sp>
        <p:nvSpPr>
          <p:cNvPr id="6" name="Rectangle 5"/>
          <p:cNvSpPr/>
          <p:nvPr/>
        </p:nvSpPr>
        <p:spPr>
          <a:xfrm>
            <a:off x="634984" y="2209744"/>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4984" y="2311342"/>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Testtype</a:t>
            </a:r>
          </a:p>
        </p:txBody>
      </p:sp>
      <p:sp>
        <p:nvSpPr>
          <p:cNvPr id="8" name="TextBox 7"/>
          <p:cNvSpPr txBox="1"/>
          <p:nvPr/>
        </p:nvSpPr>
        <p:spPr>
          <a:xfrm>
            <a:off x="2793930" y="2298642"/>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MoviMonitor</a:t>
            </a:r>
          </a:p>
        </p:txBody>
      </p:sp>
      <p:sp>
        <p:nvSpPr>
          <p:cNvPr id="9" name="Rectangle 8"/>
          <p:cNvSpPr/>
          <p:nvPr/>
        </p:nvSpPr>
        <p:spPr>
          <a:xfrm>
            <a:off x="634984" y="2647883"/>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4984" y="2749481"/>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Start</a:t>
            </a:r>
          </a:p>
        </p:txBody>
      </p:sp>
      <p:sp>
        <p:nvSpPr>
          <p:cNvPr id="11" name="TextBox 10"/>
          <p:cNvSpPr txBox="1"/>
          <p:nvPr/>
        </p:nvSpPr>
        <p:spPr>
          <a:xfrm>
            <a:off x="2793930" y="2736781"/>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de dag nadien om 7 uur</a:t>
            </a:r>
          </a:p>
        </p:txBody>
      </p:sp>
      <p:sp>
        <p:nvSpPr>
          <p:cNvPr id="12" name="Rectangle 11"/>
          <p:cNvSpPr/>
          <p:nvPr/>
        </p:nvSpPr>
        <p:spPr>
          <a:xfrm>
            <a:off x="634984" y="3086022"/>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4984" y="3187620"/>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Duur</a:t>
            </a:r>
          </a:p>
        </p:txBody>
      </p:sp>
      <p:sp>
        <p:nvSpPr>
          <p:cNvPr id="14" name="TextBox 13"/>
          <p:cNvSpPr txBox="1"/>
          <p:nvPr/>
        </p:nvSpPr>
        <p:spPr>
          <a:xfrm>
            <a:off x="2793930" y="3174920"/>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7 dagen</a:t>
            </a:r>
          </a:p>
        </p:txBody>
      </p:sp>
      <p:sp>
        <p:nvSpPr>
          <p:cNvPr id="15" name="Rectangle 14"/>
          <p:cNvSpPr/>
          <p:nvPr/>
        </p:nvSpPr>
        <p:spPr>
          <a:xfrm>
            <a:off x="634984" y="3524161"/>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4984" y="3625759"/>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Deelnemerscode</a:t>
            </a:r>
          </a:p>
        </p:txBody>
      </p:sp>
      <p:sp>
        <p:nvSpPr>
          <p:cNvPr id="17" name="TextBox 16"/>
          <p:cNvSpPr txBox="1"/>
          <p:nvPr/>
        </p:nvSpPr>
        <p:spPr>
          <a:xfrm>
            <a:off x="2793930" y="3613059"/>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M + deelnemersnummer</a:t>
            </a:r>
          </a:p>
        </p:txBody>
      </p:sp>
      <p:sp>
        <p:nvSpPr>
          <p:cNvPr id="18" name="Rectangle 17"/>
          <p:cNvSpPr/>
          <p:nvPr/>
        </p:nvSpPr>
        <p:spPr>
          <a:xfrm>
            <a:off x="634984" y="3962300"/>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4984" y="4063898"/>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Geboortejaar</a:t>
            </a:r>
          </a:p>
        </p:txBody>
      </p:sp>
      <p:sp>
        <p:nvSpPr>
          <p:cNvPr id="20" name="TextBox 19"/>
          <p:cNvSpPr txBox="1"/>
          <p:nvPr/>
        </p:nvSpPr>
        <p:spPr>
          <a:xfrm>
            <a:off x="2793930" y="4051198"/>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1900</a:t>
            </a:r>
          </a:p>
        </p:txBody>
      </p:sp>
      <p:sp>
        <p:nvSpPr>
          <p:cNvPr id="21" name="Rectangle 20"/>
          <p:cNvSpPr/>
          <p:nvPr/>
        </p:nvSpPr>
        <p:spPr>
          <a:xfrm>
            <a:off x="634984" y="4400439"/>
            <a:ext cx="520686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984" y="4502037"/>
            <a:ext cx="2095447" cy="215894"/>
          </a:xfrm>
          <a:prstGeom prst="rect">
            <a:avLst/>
          </a:prstGeom>
          <a:noFill/>
        </p:spPr>
        <p:txBody>
          <a:bodyPr wrap="none" anchor="t" lIns="0" rIns="0" tIns="0" bIns="0">
            <a:spAutoFit/>
          </a:bodyPr>
          <a:lstStyle/>
          <a:p>
            <a:pPr algn="l">
              <a:lnSpc>
                <a:spcPct val="125000"/>
              </a:lnSpc>
            </a:pPr>
            <a:r>
              <a:rPr sz="1350" b="0">
                <a:solidFill>
                  <a:srgbClr val="8FB6D0"/>
                </a:solidFill>
                <a:latin typeface="Segoe UI"/>
              </a:rPr>
              <a:t>Dragen</a:t>
            </a:r>
          </a:p>
        </p:txBody>
      </p:sp>
      <p:sp>
        <p:nvSpPr>
          <p:cNvPr id="23" name="TextBox 22"/>
          <p:cNvSpPr txBox="1"/>
          <p:nvPr/>
        </p:nvSpPr>
        <p:spPr>
          <a:xfrm>
            <a:off x="2793930" y="4489337"/>
            <a:ext cx="3047923" cy="285742"/>
          </a:xfrm>
          <a:prstGeom prst="rect">
            <a:avLst/>
          </a:prstGeom>
          <a:noFill/>
        </p:spPr>
        <p:txBody>
          <a:bodyPr wrap="square" anchor="t" lIns="0" rIns="0" tIns="0" bIns="0">
            <a:spAutoFit/>
          </a:bodyPr>
          <a:lstStyle/>
          <a:p>
            <a:pPr algn="l">
              <a:lnSpc>
                <a:spcPct val="125000"/>
              </a:lnSpc>
            </a:pPr>
            <a:r>
              <a:rPr sz="1400" b="1">
                <a:solidFill>
                  <a:srgbClr val="F2F8FC"/>
                </a:solidFill>
                <a:latin typeface="Segoe UI"/>
              </a:rPr>
              <a:t>om het middel, op de onderrug</a:t>
            </a:r>
          </a:p>
        </p:txBody>
      </p:sp>
      <p:sp>
        <p:nvSpPr>
          <p:cNvPr id="24" name="TextBox 23"/>
          <p:cNvSpPr txBox="1"/>
          <p:nvPr/>
        </p:nvSpPr>
        <p:spPr>
          <a:xfrm>
            <a:off x="6349841" y="1904952"/>
            <a:ext cx="5206869" cy="215894"/>
          </a:xfrm>
          <a:prstGeom prst="rect">
            <a:avLst/>
          </a:prstGeom>
          <a:noFill/>
        </p:spPr>
        <p:txBody>
          <a:bodyPr wrap="square" anchor="t" lIns="0" rIns="0" tIns="0" bIns="0">
            <a:spAutoFit/>
          </a:bodyPr>
          <a:lstStyle/>
          <a:p>
            <a:pPr algn="l">
              <a:lnSpc>
                <a:spcPct val="125000"/>
              </a:lnSpc>
            </a:pPr>
            <a:r>
              <a:rPr sz="1250" b="1" spc="150">
                <a:solidFill>
                  <a:srgbClr val="8FB6D0"/>
                </a:solidFill>
                <a:latin typeface="Consolas"/>
              </a:rPr>
              <a:t>STAPPEN</a:t>
            </a:r>
          </a:p>
        </p:txBody>
      </p:sp>
      <p:sp>
        <p:nvSpPr>
          <p:cNvPr id="25" name="Oval 24"/>
          <p:cNvSpPr/>
          <p:nvPr/>
        </p:nvSpPr>
        <p:spPr>
          <a:xfrm>
            <a:off x="6349841" y="2222444"/>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49841" y="2222444"/>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1</a:t>
            </a:r>
          </a:p>
        </p:txBody>
      </p:sp>
      <p:sp>
        <p:nvSpPr>
          <p:cNvPr id="27" name="TextBox 26"/>
          <p:cNvSpPr txBox="1"/>
          <p:nvPr/>
        </p:nvSpPr>
        <p:spPr>
          <a:xfrm>
            <a:off x="6654633" y="2209744"/>
            <a:ext cx="4902077" cy="50925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Laad volledig op: circa drie uur. Knipperend groen is laden, groen is vol.</a:t>
            </a:r>
          </a:p>
        </p:txBody>
      </p:sp>
      <p:sp>
        <p:nvSpPr>
          <p:cNvPr id="28" name="Oval 27"/>
          <p:cNvSpPr/>
          <p:nvPr/>
        </p:nvSpPr>
        <p:spPr>
          <a:xfrm>
            <a:off x="6349841" y="2858698"/>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49841" y="2858698"/>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2</a:t>
            </a:r>
          </a:p>
        </p:txBody>
      </p:sp>
      <p:sp>
        <p:nvSpPr>
          <p:cNvPr id="30" name="TextBox 29"/>
          <p:cNvSpPr txBox="1"/>
          <p:nvPr/>
        </p:nvSpPr>
        <p:spPr>
          <a:xfrm>
            <a:off x="6654633" y="2845998"/>
            <a:ext cx="4902077" cy="50925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Sluit het toestel aan, kies het in de portaalsite en stel de meting in.</a:t>
            </a:r>
          </a:p>
        </p:txBody>
      </p:sp>
      <p:sp>
        <p:nvSpPr>
          <p:cNvPr id="31" name="Oval 30"/>
          <p:cNvSpPr/>
          <p:nvPr/>
        </p:nvSpPr>
        <p:spPr>
          <a:xfrm>
            <a:off x="6349841" y="3494952"/>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49841" y="3494952"/>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3</a:t>
            </a:r>
          </a:p>
        </p:txBody>
      </p:sp>
      <p:sp>
        <p:nvSpPr>
          <p:cNvPr id="33" name="TextBox 32"/>
          <p:cNvSpPr txBox="1"/>
          <p:nvPr/>
        </p:nvSpPr>
        <p:spPr>
          <a:xfrm>
            <a:off x="6654633" y="3482252"/>
            <a:ext cx="4902077" cy="50925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Geef mee en spreek af wanneer het terugkomt: één visite na zeven dagen.</a:t>
            </a:r>
          </a:p>
        </p:txBody>
      </p:sp>
      <p:sp>
        <p:nvSpPr>
          <p:cNvPr id="34" name="Oval 33"/>
          <p:cNvSpPr/>
          <p:nvPr/>
        </p:nvSpPr>
        <p:spPr>
          <a:xfrm>
            <a:off x="6349841" y="4131206"/>
            <a:ext cx="203194" cy="203194"/>
          </a:xfrm>
          <a:prstGeom prst="ellipse">
            <a:avLst/>
          </a:prstGeom>
          <a:solidFill>
            <a:srgbClr val="113A57"/>
          </a:solidFill>
          <a:ln w="1270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49841" y="4131206"/>
            <a:ext cx="203194" cy="203194"/>
          </a:xfrm>
          <a:prstGeom prst="rect">
            <a:avLst/>
          </a:prstGeom>
          <a:noFill/>
        </p:spPr>
        <p:txBody>
          <a:bodyPr wrap="square" anchor="ctr" lIns="0" rIns="0" tIns="0" bIns="0">
            <a:spAutoFit/>
          </a:bodyPr>
          <a:lstStyle/>
          <a:p>
            <a:pPr algn="ctr">
              <a:lnSpc>
                <a:spcPct val="100000"/>
              </a:lnSpc>
            </a:pPr>
            <a:r>
              <a:rPr sz="1250" b="1">
                <a:solidFill>
                  <a:srgbClr val="52BDEC"/>
                </a:solidFill>
                <a:latin typeface="Consolas"/>
              </a:rPr>
              <a:t>4</a:t>
            </a:r>
          </a:p>
        </p:txBody>
      </p:sp>
      <p:sp>
        <p:nvSpPr>
          <p:cNvPr id="36" name="TextBox 35"/>
          <p:cNvSpPr txBox="1"/>
          <p:nvPr/>
        </p:nvSpPr>
        <p:spPr>
          <a:xfrm>
            <a:off x="6654633" y="4118507"/>
            <a:ext cx="4902077" cy="509257"/>
          </a:xfrm>
          <a:prstGeom prst="rect">
            <a:avLst/>
          </a:prstGeom>
          <a:noFill/>
        </p:spPr>
        <p:txBody>
          <a:bodyPr wrap="square" anchor="t" lIns="0" rIns="0" tIns="0" bIns="0">
            <a:spAutoFit/>
          </a:bodyPr>
          <a:lstStyle/>
          <a:p>
            <a:pPr algn="l">
              <a:lnSpc>
                <a:spcPct val="130000"/>
              </a:lnSpc>
            </a:pPr>
            <a:r>
              <a:rPr sz="1350" b="0">
                <a:solidFill>
                  <a:srgbClr val="F2F8FC"/>
                </a:solidFill>
                <a:latin typeface="Segoe UI"/>
              </a:rPr>
              <a:t>Sluit bij teruggave aan op de pc; de data uploadt vanzelf via DynaPort Manager.</a:t>
            </a:r>
          </a:p>
        </p:txBody>
      </p:sp>
      <p:sp>
        <p:nvSpPr>
          <p:cNvPr id="37" name="Rounded Rectangle 36"/>
          <p:cNvSpPr/>
          <p:nvPr/>
        </p:nvSpPr>
        <p:spPr>
          <a:xfrm>
            <a:off x="634984" y="4990975"/>
            <a:ext cx="10921726" cy="1123921"/>
          </a:xfrm>
          <a:prstGeom prst="roundRect">
            <a:avLst>
              <a:gd name="adj" fmla="val 4500"/>
            </a:avLst>
          </a:prstGeom>
          <a:solidFill>
            <a:srgbClr val="0A2A44"/>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39776" y="5130671"/>
            <a:ext cx="1904952" cy="215894"/>
          </a:xfrm>
          <a:prstGeom prst="rect">
            <a:avLst/>
          </a:prstGeom>
          <a:noFill/>
        </p:spPr>
        <p:txBody>
          <a:bodyPr wrap="square" anchor="t" lIns="0" rIns="0" tIns="0" bIns="0">
            <a:spAutoFit/>
          </a:bodyPr>
          <a:lstStyle/>
          <a:p>
            <a:pPr algn="l">
              <a:lnSpc>
                <a:spcPct val="125000"/>
              </a:lnSpc>
            </a:pPr>
            <a:r>
              <a:rPr sz="1250" b="1" spc="150">
                <a:solidFill>
                  <a:srgbClr val="FF7A00"/>
                </a:solidFill>
                <a:latin typeface="Consolas"/>
              </a:rPr>
              <a:t>VALKUIL</a:t>
            </a:r>
          </a:p>
        </p:txBody>
      </p:sp>
      <p:sp>
        <p:nvSpPr>
          <p:cNvPr id="39" name="TextBox 38"/>
          <p:cNvSpPr txBox="1"/>
          <p:nvPr/>
        </p:nvSpPr>
        <p:spPr>
          <a:xfrm>
            <a:off x="939776" y="5384665"/>
            <a:ext cx="10286742" cy="641333"/>
          </a:xfrm>
          <a:prstGeom prst="rect">
            <a:avLst/>
          </a:prstGeom>
          <a:noFill/>
        </p:spPr>
        <p:txBody>
          <a:bodyPr wrap="square" anchor="t" lIns="0" rIns="0" tIns="0" bIns="0">
            <a:spAutoFit/>
          </a:bodyPr>
          <a:lstStyle/>
          <a:p>
            <a:pPr algn="l">
              <a:lnSpc>
                <a:spcPct val="135000"/>
              </a:lnSpc>
            </a:pPr>
            <a:r>
              <a:rPr sz="1500" b="0">
                <a:solidFill>
                  <a:srgbClr val="F2F8FC"/>
                </a:solidFill>
                <a:latin typeface="Segoe UI"/>
              </a:rPr>
              <a:t>Niet waterdicht. Zeg dat expliciet tegen de patiënt: uit tijdens het douchen. Een toestel dat een week in de badkamer lag levert geen activiteitenprofiel, en dus ook geen norm voor de Orthotimer.</a:t>
            </a:r>
          </a:p>
        </p:txBody>
      </p:sp>
      <p:sp>
        <p:nvSpPr>
          <p:cNvPr id="40" name="TextBox 3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57 / 66</a:t>
            </a:r>
          </a:p>
        </p:txBody>
      </p:sp>
      <p:pic>
        <p:nvPicPr>
          <p:cNvPr id="41"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SEBIA · ECRF-DOCUMENT 17</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Vijf gespreksmomenten</a:t>
            </a:r>
          </a:p>
        </p:txBody>
      </p:sp>
      <p:sp>
        <p:nvSpPr>
          <p:cNvPr id="5" name="Rectangle 4"/>
          <p:cNvSpPr/>
          <p:nvPr/>
        </p:nvSpPr>
        <p:spPr>
          <a:xfrm>
            <a:off x="634984" y="2463738"/>
            <a:ext cx="10921726" cy="1269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49281" y="2349441"/>
            <a:ext cx="228594" cy="228594"/>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34984" y="2793930"/>
            <a:ext cx="2057348" cy="2539936"/>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2779" y="3009824"/>
            <a:ext cx="1650958" cy="380990"/>
          </a:xfrm>
          <a:prstGeom prst="rect">
            <a:avLst/>
          </a:prstGeom>
          <a:noFill/>
        </p:spPr>
        <p:txBody>
          <a:bodyPr wrap="square" anchor="t" lIns="0" rIns="0" tIns="0" bIns="0">
            <a:spAutoFit/>
          </a:bodyPr>
          <a:lstStyle/>
          <a:p>
            <a:pPr algn="l">
              <a:lnSpc>
                <a:spcPct val="125000"/>
              </a:lnSpc>
            </a:pPr>
            <a:r>
              <a:rPr sz="2700" b="1">
                <a:solidFill>
                  <a:srgbClr val="52BDEC"/>
                </a:solidFill>
                <a:latin typeface="Consolas"/>
              </a:rPr>
              <a:t>01</a:t>
            </a:r>
          </a:p>
        </p:txBody>
      </p:sp>
      <p:sp>
        <p:nvSpPr>
          <p:cNvPr id="9" name="TextBox 8"/>
          <p:cNvSpPr txBox="1"/>
          <p:nvPr/>
        </p:nvSpPr>
        <p:spPr>
          <a:xfrm>
            <a:off x="812779" y="3467013"/>
            <a:ext cx="1701757" cy="419089"/>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Baseline</a:t>
            </a:r>
          </a:p>
        </p:txBody>
      </p:sp>
      <p:sp>
        <p:nvSpPr>
          <p:cNvPr id="10" name="TextBox 9"/>
          <p:cNvSpPr txBox="1"/>
          <p:nvPr/>
        </p:nvSpPr>
        <p:spPr>
          <a:xfrm>
            <a:off x="812779" y="3987700"/>
            <a:ext cx="1701757" cy="1206469"/>
          </a:xfrm>
          <a:prstGeom prst="rect">
            <a:avLst/>
          </a:prstGeom>
          <a:noFill/>
        </p:spPr>
        <p:txBody>
          <a:bodyPr wrap="square" anchor="t" lIns="0" rIns="0" tIns="0" bIns="0">
            <a:spAutoFit/>
          </a:bodyPr>
          <a:lstStyle/>
          <a:p>
            <a:pPr algn="l">
              <a:lnSpc>
                <a:spcPct val="138000"/>
              </a:lnSpc>
            </a:pPr>
            <a:r>
              <a:rPr sz="1500" b="0">
                <a:solidFill>
                  <a:srgbClr val="8FB6D0"/>
                </a:solidFill>
                <a:latin typeface="Segoe UI"/>
              </a:rPr>
              <a:t>Vragenlijsten eerst, dan educatie op maat, met voordoen.</a:t>
            </a:r>
          </a:p>
        </p:txBody>
      </p:sp>
      <p:sp>
        <p:nvSpPr>
          <p:cNvPr id="11" name="Oval 10"/>
          <p:cNvSpPr/>
          <p:nvPr/>
        </p:nvSpPr>
        <p:spPr>
          <a:xfrm>
            <a:off x="2959026" y="2349441"/>
            <a:ext cx="228594" cy="228594"/>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2844728" y="2793930"/>
            <a:ext cx="2057348" cy="2539936"/>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022524" y="3009824"/>
            <a:ext cx="1650958" cy="380990"/>
          </a:xfrm>
          <a:prstGeom prst="rect">
            <a:avLst/>
          </a:prstGeom>
          <a:noFill/>
        </p:spPr>
        <p:txBody>
          <a:bodyPr wrap="square" anchor="t" lIns="0" rIns="0" tIns="0" bIns="0">
            <a:spAutoFit/>
          </a:bodyPr>
          <a:lstStyle/>
          <a:p>
            <a:pPr algn="l">
              <a:lnSpc>
                <a:spcPct val="125000"/>
              </a:lnSpc>
            </a:pPr>
            <a:r>
              <a:rPr sz="2700" b="1">
                <a:solidFill>
                  <a:srgbClr val="52BDEC"/>
                </a:solidFill>
                <a:latin typeface="Consolas"/>
              </a:rPr>
              <a:t>02</a:t>
            </a:r>
          </a:p>
        </p:txBody>
      </p:sp>
      <p:sp>
        <p:nvSpPr>
          <p:cNvPr id="14" name="TextBox 13"/>
          <p:cNvSpPr txBox="1"/>
          <p:nvPr/>
        </p:nvSpPr>
        <p:spPr>
          <a:xfrm>
            <a:off x="3022524" y="3467013"/>
            <a:ext cx="1701757" cy="419089"/>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3 mnd</a:t>
            </a:r>
          </a:p>
        </p:txBody>
      </p:sp>
      <p:sp>
        <p:nvSpPr>
          <p:cNvPr id="15" name="TextBox 14"/>
          <p:cNvSpPr txBox="1"/>
          <p:nvPr/>
        </p:nvSpPr>
        <p:spPr>
          <a:xfrm>
            <a:off x="3022524" y="3987700"/>
            <a:ext cx="1701757" cy="1206469"/>
          </a:xfrm>
          <a:prstGeom prst="rect">
            <a:avLst/>
          </a:prstGeom>
          <a:noFill/>
        </p:spPr>
        <p:txBody>
          <a:bodyPr wrap="square" anchor="t" lIns="0" rIns="0" tIns="0" bIns="0">
            <a:spAutoFit/>
          </a:bodyPr>
          <a:lstStyle/>
          <a:p>
            <a:pPr algn="l">
              <a:lnSpc>
                <a:spcPct val="138000"/>
              </a:lnSpc>
            </a:pPr>
            <a:r>
              <a:rPr sz="1500" b="0">
                <a:solidFill>
                  <a:srgbClr val="8FB6D0"/>
                </a:solidFill>
                <a:latin typeface="Segoe UI"/>
              </a:rPr>
              <a:t>Teach-back. Nadruk op bínnenshuis dragen.</a:t>
            </a:r>
          </a:p>
        </p:txBody>
      </p:sp>
      <p:sp>
        <p:nvSpPr>
          <p:cNvPr id="16" name="Oval 15"/>
          <p:cNvSpPr/>
          <p:nvPr/>
        </p:nvSpPr>
        <p:spPr>
          <a:xfrm>
            <a:off x="5168770" y="2349441"/>
            <a:ext cx="228594" cy="228594"/>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054473" y="2793930"/>
            <a:ext cx="2057348" cy="2539936"/>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232269" y="3009824"/>
            <a:ext cx="1650958" cy="380990"/>
          </a:xfrm>
          <a:prstGeom prst="rect">
            <a:avLst/>
          </a:prstGeom>
          <a:noFill/>
        </p:spPr>
        <p:txBody>
          <a:bodyPr wrap="square" anchor="t" lIns="0" rIns="0" tIns="0" bIns="0">
            <a:spAutoFit/>
          </a:bodyPr>
          <a:lstStyle/>
          <a:p>
            <a:pPr algn="l">
              <a:lnSpc>
                <a:spcPct val="125000"/>
              </a:lnSpc>
            </a:pPr>
            <a:r>
              <a:rPr sz="2700" b="1">
                <a:solidFill>
                  <a:srgbClr val="52BDEC"/>
                </a:solidFill>
                <a:latin typeface="Consolas"/>
              </a:rPr>
              <a:t>03</a:t>
            </a:r>
          </a:p>
        </p:txBody>
      </p:sp>
      <p:sp>
        <p:nvSpPr>
          <p:cNvPr id="19" name="TextBox 18"/>
          <p:cNvSpPr txBox="1"/>
          <p:nvPr/>
        </p:nvSpPr>
        <p:spPr>
          <a:xfrm>
            <a:off x="5232269" y="3467013"/>
            <a:ext cx="1701757" cy="419089"/>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6 · 12 mnd</a:t>
            </a:r>
          </a:p>
        </p:txBody>
      </p:sp>
      <p:sp>
        <p:nvSpPr>
          <p:cNvPr id="20" name="TextBox 19"/>
          <p:cNvSpPr txBox="1"/>
          <p:nvPr/>
        </p:nvSpPr>
        <p:spPr>
          <a:xfrm>
            <a:off x="5232269" y="3987700"/>
            <a:ext cx="1701757" cy="1206469"/>
          </a:xfrm>
          <a:prstGeom prst="rect">
            <a:avLst/>
          </a:prstGeom>
          <a:noFill/>
        </p:spPr>
        <p:txBody>
          <a:bodyPr wrap="square" anchor="t" lIns="0" rIns="0" tIns="0" bIns="0">
            <a:spAutoFit/>
          </a:bodyPr>
          <a:lstStyle/>
          <a:p>
            <a:pPr algn="l">
              <a:lnSpc>
                <a:spcPct val="138000"/>
              </a:lnSpc>
            </a:pPr>
            <a:r>
              <a:rPr sz="1500" b="0">
                <a:solidFill>
                  <a:srgbClr val="8FB6D0"/>
                </a:solidFill>
                <a:latin typeface="Segoe UI"/>
              </a:rPr>
              <a:t>Zelfinschatting, dan samen de data bekijken.</a:t>
            </a:r>
          </a:p>
        </p:txBody>
      </p:sp>
      <p:sp>
        <p:nvSpPr>
          <p:cNvPr id="21" name="Oval 20"/>
          <p:cNvSpPr/>
          <p:nvPr/>
        </p:nvSpPr>
        <p:spPr>
          <a:xfrm>
            <a:off x="7378515" y="2349441"/>
            <a:ext cx="228594" cy="228594"/>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7264218" y="2793930"/>
            <a:ext cx="2057348" cy="2539936"/>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42013" y="3009824"/>
            <a:ext cx="1650958" cy="380990"/>
          </a:xfrm>
          <a:prstGeom prst="rect">
            <a:avLst/>
          </a:prstGeom>
          <a:noFill/>
        </p:spPr>
        <p:txBody>
          <a:bodyPr wrap="square" anchor="t" lIns="0" rIns="0" tIns="0" bIns="0">
            <a:spAutoFit/>
          </a:bodyPr>
          <a:lstStyle/>
          <a:p>
            <a:pPr algn="l">
              <a:lnSpc>
                <a:spcPct val="125000"/>
              </a:lnSpc>
            </a:pPr>
            <a:r>
              <a:rPr sz="2700" b="1">
                <a:solidFill>
                  <a:srgbClr val="52BDEC"/>
                </a:solidFill>
                <a:latin typeface="Consolas"/>
              </a:rPr>
              <a:t>04</a:t>
            </a:r>
          </a:p>
        </p:txBody>
      </p:sp>
      <p:sp>
        <p:nvSpPr>
          <p:cNvPr id="24" name="TextBox 23"/>
          <p:cNvSpPr txBox="1"/>
          <p:nvPr/>
        </p:nvSpPr>
        <p:spPr>
          <a:xfrm>
            <a:off x="7442013" y="3467013"/>
            <a:ext cx="1701757" cy="419089"/>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9 · 15 mnd</a:t>
            </a:r>
          </a:p>
        </p:txBody>
      </p:sp>
      <p:sp>
        <p:nvSpPr>
          <p:cNvPr id="25" name="TextBox 24"/>
          <p:cNvSpPr txBox="1"/>
          <p:nvPr/>
        </p:nvSpPr>
        <p:spPr>
          <a:xfrm>
            <a:off x="7442013" y="3987700"/>
            <a:ext cx="1701757" cy="1206469"/>
          </a:xfrm>
          <a:prstGeom prst="rect">
            <a:avLst/>
          </a:prstGeom>
          <a:noFill/>
        </p:spPr>
        <p:txBody>
          <a:bodyPr wrap="square" anchor="t" lIns="0" rIns="0" tIns="0" bIns="0">
            <a:spAutoFit/>
          </a:bodyPr>
          <a:lstStyle/>
          <a:p>
            <a:pPr algn="l">
              <a:lnSpc>
                <a:spcPct val="138000"/>
              </a:lnSpc>
            </a:pPr>
            <a:r>
              <a:rPr sz="1500" b="0">
                <a:solidFill>
                  <a:srgbClr val="8FB6D0"/>
                </a:solidFill>
                <a:latin typeface="Segoe UI"/>
              </a:rPr>
              <a:t>Voordoen. Uitdraai vergelijken met vorige keer.</a:t>
            </a:r>
          </a:p>
        </p:txBody>
      </p:sp>
      <p:sp>
        <p:nvSpPr>
          <p:cNvPr id="26" name="Oval 25"/>
          <p:cNvSpPr/>
          <p:nvPr/>
        </p:nvSpPr>
        <p:spPr>
          <a:xfrm>
            <a:off x="9588260" y="2349441"/>
            <a:ext cx="228594" cy="228594"/>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473963" y="2793930"/>
            <a:ext cx="2057348" cy="2539936"/>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651758" y="3009824"/>
            <a:ext cx="1650958" cy="380990"/>
          </a:xfrm>
          <a:prstGeom prst="rect">
            <a:avLst/>
          </a:prstGeom>
          <a:noFill/>
        </p:spPr>
        <p:txBody>
          <a:bodyPr wrap="square" anchor="t" lIns="0" rIns="0" tIns="0" bIns="0">
            <a:spAutoFit/>
          </a:bodyPr>
          <a:lstStyle/>
          <a:p>
            <a:pPr algn="l">
              <a:lnSpc>
                <a:spcPct val="125000"/>
              </a:lnSpc>
            </a:pPr>
            <a:r>
              <a:rPr sz="2700" b="1">
                <a:solidFill>
                  <a:srgbClr val="52BDEC"/>
                </a:solidFill>
                <a:latin typeface="Consolas"/>
              </a:rPr>
              <a:t>05</a:t>
            </a:r>
          </a:p>
        </p:txBody>
      </p:sp>
      <p:sp>
        <p:nvSpPr>
          <p:cNvPr id="29" name="TextBox 28"/>
          <p:cNvSpPr txBox="1"/>
          <p:nvPr/>
        </p:nvSpPr>
        <p:spPr>
          <a:xfrm>
            <a:off x="9651758" y="3467013"/>
            <a:ext cx="1701757" cy="419089"/>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18 mnd</a:t>
            </a:r>
          </a:p>
        </p:txBody>
      </p:sp>
      <p:sp>
        <p:nvSpPr>
          <p:cNvPr id="30" name="TextBox 29"/>
          <p:cNvSpPr txBox="1"/>
          <p:nvPr/>
        </p:nvSpPr>
        <p:spPr>
          <a:xfrm>
            <a:off x="9651758" y="3987700"/>
            <a:ext cx="1701757" cy="1206469"/>
          </a:xfrm>
          <a:prstGeom prst="rect">
            <a:avLst/>
          </a:prstGeom>
          <a:noFill/>
        </p:spPr>
        <p:txBody>
          <a:bodyPr wrap="square" anchor="t" lIns="0" rIns="0" tIns="0" bIns="0">
            <a:spAutoFit/>
          </a:bodyPr>
          <a:lstStyle/>
          <a:p>
            <a:pPr algn="l">
              <a:lnSpc>
                <a:spcPct val="138000"/>
              </a:lnSpc>
            </a:pPr>
            <a:r>
              <a:rPr sz="1500" b="0">
                <a:solidFill>
                  <a:srgbClr val="8FB6D0"/>
                </a:solidFill>
                <a:latin typeface="Segoe UI"/>
              </a:rPr>
              <a:t>Afsluiten en resultaten delen.</a:t>
            </a:r>
          </a:p>
        </p:txBody>
      </p:sp>
      <p:sp>
        <p:nvSpPr>
          <p:cNvPr id="31" name="TextBox 3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58 / 66</a:t>
            </a:r>
          </a:p>
        </p:txBody>
      </p:sp>
      <p:pic>
        <p:nvPicPr>
          <p:cNvPr id="32"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FF7A00"/>
                </a:solidFill>
                <a:latin typeface="Consolas"/>
              </a:rPr>
              <a:t>DE ENIGE REGEL DIE U ÉCHT MOET ONTHOUDEN</a:t>
            </a:r>
          </a:p>
        </p:txBody>
      </p:sp>
      <p:sp>
        <p:nvSpPr>
          <p:cNvPr id="4" name="hero"/>
          <p:cNvSpPr txBox="1"/>
          <p:nvPr/>
        </p:nvSpPr>
        <p:spPr>
          <a:xfrm>
            <a:off x="634984" y="1066773"/>
            <a:ext cx="6857828" cy="2539936"/>
          </a:xfrm>
          <a:prstGeom prst="rect">
            <a:avLst/>
          </a:prstGeom>
          <a:noFill/>
        </p:spPr>
        <p:txBody>
          <a:bodyPr wrap="square" anchor="t" lIns="0" rIns="0" tIns="0" bIns="0">
            <a:spAutoFit/>
          </a:bodyPr>
          <a:lstStyle/>
          <a:p>
            <a:pPr algn="l">
              <a:lnSpc>
                <a:spcPct val="108000"/>
              </a:lnSpc>
            </a:pPr>
            <a:r>
              <a:rPr sz="5400" b="1">
                <a:solidFill>
                  <a:srgbClr val="F2F8FC"/>
                </a:solidFill>
                <a:latin typeface="Segoe UI"/>
              </a:rPr>
              <a:t>Meetwaarden gaan</a:t>
            </a:r>
          </a:p>
          <a:p>
            <a:pPr algn="l">
              <a:lnSpc>
                <a:spcPct val="108000"/>
              </a:lnSpc>
              <a:spcBef>
                <a:spcPts val="500"/>
              </a:spcBef>
            </a:pPr>
            <a:r>
              <a:rPr sz="5400" b="1">
                <a:solidFill>
                  <a:srgbClr val="F2F8FC"/>
                </a:solidFill>
                <a:latin typeface="Segoe UI"/>
              </a:rPr>
              <a:t>niet naar de</a:t>
            </a:r>
          </a:p>
          <a:p>
            <a:pPr algn="l">
              <a:lnSpc>
                <a:spcPct val="108000"/>
              </a:lnSpc>
              <a:spcBef>
                <a:spcPts val="500"/>
              </a:spcBef>
            </a:pPr>
            <a:r>
              <a:rPr sz="5400" b="1">
                <a:solidFill>
                  <a:srgbClr val="F2F8FC"/>
                </a:solidFill>
                <a:latin typeface="Segoe UI"/>
              </a:rPr>
              <a:t>controlegroep</a:t>
            </a:r>
          </a:p>
        </p:txBody>
      </p:sp>
      <p:sp>
        <p:nvSpPr>
          <p:cNvPr id="5" name="Rounded Rectangle 4"/>
          <p:cNvSpPr/>
          <p:nvPr/>
        </p:nvSpPr>
        <p:spPr>
          <a:xfrm>
            <a:off x="634984" y="4101997"/>
            <a:ext cx="6857828" cy="1549361"/>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377" y="4381390"/>
            <a:ext cx="6349841" cy="1206469"/>
          </a:xfrm>
          <a:prstGeom prst="rect">
            <a:avLst/>
          </a:prstGeom>
          <a:noFill/>
        </p:spPr>
        <p:txBody>
          <a:bodyPr wrap="square" anchor="t" lIns="0" rIns="0" tIns="0" bIns="0">
            <a:spAutoFit/>
          </a:bodyPr>
          <a:lstStyle/>
          <a:p>
            <a:pPr algn="l">
              <a:lnSpc>
                <a:spcPct val="145000"/>
              </a:lnSpc>
            </a:pPr>
            <a:r>
              <a:rPr sz="1750" b="0">
                <a:solidFill>
                  <a:srgbClr val="8FB6D0"/>
                </a:solidFill>
                <a:latin typeface="Segoe UI"/>
              </a:rPr>
              <a:t>Ook zij krijgen een drukmeting en dragen een sensor — anders kunnen we de groepen niet vergelijken. Maar die getallen blijven dicht. Bespreekt u ze, dan lévert u de interventie en is die patiënt niet meer bruikbaar als controle.</a:t>
            </a:r>
          </a:p>
        </p:txBody>
      </p:sp>
      <p:sp>
        <p:nvSpPr>
          <p:cNvPr id="7" name="Rounded Rectangle 6"/>
          <p:cNvSpPr/>
          <p:nvPr/>
        </p:nvSpPr>
        <p:spPr>
          <a:xfrm>
            <a:off x="7873803" y="2031949"/>
            <a:ext cx="3682907" cy="3517812"/>
          </a:xfrm>
          <a:prstGeom prst="roundRect">
            <a:avLst>
              <a:gd name="adj" fmla="val 4500"/>
            </a:avLst>
          </a:prstGeom>
          <a:solidFill>
            <a:srgbClr val="113A57"/>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78595" y="2324041"/>
            <a:ext cx="3111422" cy="241293"/>
          </a:xfrm>
          <a:prstGeom prst="rect">
            <a:avLst/>
          </a:prstGeom>
          <a:noFill/>
        </p:spPr>
        <p:txBody>
          <a:bodyPr wrap="square" anchor="t" lIns="0" rIns="0" tIns="0" bIns="0">
            <a:spAutoFit/>
          </a:bodyPr>
          <a:lstStyle/>
          <a:p>
            <a:pPr algn="l">
              <a:lnSpc>
                <a:spcPct val="125000"/>
              </a:lnSpc>
            </a:pPr>
            <a:r>
              <a:rPr sz="1250" b="1" spc="160">
                <a:solidFill>
                  <a:srgbClr val="FF7A00"/>
                </a:solidFill>
                <a:latin typeface="Consolas"/>
              </a:rPr>
              <a:t>UITZONDERING</a:t>
            </a:r>
          </a:p>
        </p:txBody>
      </p:sp>
      <p:sp>
        <p:nvSpPr>
          <p:cNvPr id="9" name="TextBox 8"/>
          <p:cNvSpPr txBox="1"/>
          <p:nvPr/>
        </p:nvSpPr>
        <p:spPr>
          <a:xfrm>
            <a:off x="8178595" y="2730431"/>
            <a:ext cx="3111422" cy="2539936"/>
          </a:xfrm>
          <a:prstGeom prst="rect">
            <a:avLst/>
          </a:prstGeom>
          <a:noFill/>
        </p:spPr>
        <p:txBody>
          <a:bodyPr wrap="square" anchor="t" lIns="0" rIns="0" tIns="0" bIns="0">
            <a:spAutoFit/>
          </a:bodyPr>
          <a:lstStyle/>
          <a:p>
            <a:pPr algn="l">
              <a:lnSpc>
                <a:spcPct val="145000"/>
              </a:lnSpc>
            </a:pPr>
            <a:r>
              <a:rPr sz="1800" b="0">
                <a:solidFill>
                  <a:srgbClr val="F2F8FC"/>
                </a:solidFill>
                <a:latin typeface="Segoe UI"/>
              </a:rPr>
              <a:t>Klinische bevindingen zijn géén meetwaarden. Elke laesie of huiddefect meldt en behandelt u meteen. In beide groepen.</a:t>
            </a:r>
          </a:p>
        </p:txBody>
      </p:sp>
      <p:sp>
        <p:nvSpPr>
          <p:cNvPr id="10" name="TextBox 9"/>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59 / 66</a:t>
            </a:r>
          </a:p>
        </p:txBody>
      </p:sp>
      <p:pic>
        <p:nvPicPr>
          <p:cNvPr id="11"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WAT U MELDT, EN HOE SNEL</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Voorvallen en afwijkingen</a:t>
            </a:r>
          </a:p>
        </p:txBody>
      </p:sp>
      <p:sp>
        <p:nvSpPr>
          <p:cNvPr id="5" name="Rectangle 4"/>
          <p:cNvSpPr/>
          <p:nvPr/>
        </p:nvSpPr>
        <p:spPr>
          <a:xfrm>
            <a:off x="634984" y="187955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2031949"/>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Nieuw ulcus</a:t>
            </a:r>
          </a:p>
        </p:txBody>
      </p:sp>
      <p:sp>
        <p:nvSpPr>
          <p:cNvPr id="7" name="TextBox 6"/>
          <p:cNvSpPr txBox="1"/>
          <p:nvPr/>
        </p:nvSpPr>
        <p:spPr>
          <a:xfrm>
            <a:off x="3301917" y="2031949"/>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Ulcus-vervolgformulier plus PEDIS- en WIfI-classificatie. Dit is de primaire uitkomst — meld het altijd.</a:t>
            </a:r>
          </a:p>
        </p:txBody>
      </p:sp>
      <p:sp>
        <p:nvSpPr>
          <p:cNvPr id="8" name="TextBox 7"/>
          <p:cNvSpPr txBox="1"/>
          <p:nvPr/>
        </p:nvSpPr>
        <p:spPr>
          <a:xfrm>
            <a:off x="9905752" y="2044648"/>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47 · 36 · 38</a:t>
            </a:r>
          </a:p>
        </p:txBody>
      </p:sp>
      <p:sp>
        <p:nvSpPr>
          <p:cNvPr id="9" name="Rectangle 8"/>
          <p:cNvSpPr/>
          <p:nvPr/>
        </p:nvSpPr>
        <p:spPr>
          <a:xfrm>
            <a:off x="634984" y="2717732"/>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4984" y="2870128"/>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Ongewenst voorval</a:t>
            </a:r>
          </a:p>
        </p:txBody>
      </p:sp>
      <p:sp>
        <p:nvSpPr>
          <p:cNvPr id="11" name="TextBox 10"/>
          <p:cNvSpPr txBox="1"/>
          <p:nvPr/>
        </p:nvSpPr>
        <p:spPr>
          <a:xfrm>
            <a:off x="3301917" y="2870128"/>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AE-SAE-formulier. Ernstige voorvallen binnen 24 uur na kennisname.</a:t>
            </a:r>
          </a:p>
        </p:txBody>
      </p:sp>
      <p:sp>
        <p:nvSpPr>
          <p:cNvPr id="12" name="TextBox 11"/>
          <p:cNvSpPr txBox="1"/>
          <p:nvPr/>
        </p:nvSpPr>
        <p:spPr>
          <a:xfrm>
            <a:off x="9905752" y="2882827"/>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46</a:t>
            </a:r>
          </a:p>
        </p:txBody>
      </p:sp>
      <p:sp>
        <p:nvSpPr>
          <p:cNvPr id="13" name="Rectangle 12"/>
          <p:cNvSpPr/>
          <p:nvPr/>
        </p:nvSpPr>
        <p:spPr>
          <a:xfrm>
            <a:off x="634984" y="3555911"/>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984" y="3708307"/>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Protocolafwijking</a:t>
            </a:r>
          </a:p>
        </p:txBody>
      </p:sp>
      <p:sp>
        <p:nvSpPr>
          <p:cNvPr id="15" name="TextBox 14"/>
          <p:cNvSpPr txBox="1"/>
          <p:nvPr/>
        </p:nvSpPr>
        <p:spPr>
          <a:xfrm>
            <a:off x="3301917" y="3708307"/>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Melden zoals ze gebeurd is. Wordt geregistreerd, niet afgestraft.</a:t>
            </a:r>
          </a:p>
        </p:txBody>
      </p:sp>
      <p:sp>
        <p:nvSpPr>
          <p:cNvPr id="16" name="TextBox 15"/>
          <p:cNvSpPr txBox="1"/>
          <p:nvPr/>
        </p:nvSpPr>
        <p:spPr>
          <a:xfrm>
            <a:off x="9905752" y="3721006"/>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a:t>
            </a:r>
          </a:p>
        </p:txBody>
      </p:sp>
      <p:sp>
        <p:nvSpPr>
          <p:cNvPr id="17" name="Rectangle 16"/>
          <p:cNvSpPr/>
          <p:nvPr/>
        </p:nvSpPr>
        <p:spPr>
          <a:xfrm>
            <a:off x="634984" y="4394090"/>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4984" y="4546486"/>
            <a:ext cx="2412939" cy="317492"/>
          </a:xfrm>
          <a:prstGeom prst="rect">
            <a:avLst/>
          </a:prstGeom>
          <a:noFill/>
        </p:spPr>
        <p:txBody>
          <a:bodyPr wrap="square" anchor="t" lIns="0" rIns="0" tIns="0" bIns="0">
            <a:spAutoFit/>
          </a:bodyPr>
          <a:lstStyle/>
          <a:p>
            <a:pPr algn="l">
              <a:lnSpc>
                <a:spcPct val="125000"/>
              </a:lnSpc>
            </a:pPr>
            <a:r>
              <a:rPr sz="2000" b="1">
                <a:solidFill>
                  <a:srgbClr val="F2F8FC"/>
                </a:solidFill>
                <a:latin typeface="Segoe UI"/>
              </a:rPr>
              <a:t>Toestel defect</a:t>
            </a:r>
          </a:p>
        </p:txBody>
      </p:sp>
      <p:sp>
        <p:nvSpPr>
          <p:cNvPr id="19" name="TextBox 18"/>
          <p:cNvSpPr txBox="1"/>
          <p:nvPr/>
        </p:nvSpPr>
        <p:spPr>
          <a:xfrm>
            <a:off x="3301917" y="4546486"/>
            <a:ext cx="6222844" cy="571485"/>
          </a:xfrm>
          <a:prstGeom prst="rect">
            <a:avLst/>
          </a:prstGeom>
          <a:noFill/>
        </p:spPr>
        <p:txBody>
          <a:bodyPr wrap="square" anchor="t" lIns="0" rIns="0" tIns="0" bIns="0">
            <a:spAutoFit/>
          </a:bodyPr>
          <a:lstStyle/>
          <a:p>
            <a:pPr algn="l">
              <a:lnSpc>
                <a:spcPct val="132000"/>
              </a:lnSpc>
            </a:pPr>
            <a:r>
              <a:rPr sz="1500" b="0">
                <a:solidFill>
                  <a:srgbClr val="8FB6D0"/>
                </a:solidFill>
                <a:latin typeface="Segoe UI"/>
              </a:rPr>
              <a:t>Vervangingsformulier, met het oude en het nieuwe toestelnummer.</a:t>
            </a:r>
          </a:p>
        </p:txBody>
      </p:sp>
      <p:sp>
        <p:nvSpPr>
          <p:cNvPr id="20" name="TextBox 19"/>
          <p:cNvSpPr txBox="1"/>
          <p:nvPr/>
        </p:nvSpPr>
        <p:spPr>
          <a:xfrm>
            <a:off x="9905752" y="4559186"/>
            <a:ext cx="1650958" cy="253993"/>
          </a:xfrm>
          <a:prstGeom prst="rect">
            <a:avLst/>
          </a:prstGeom>
          <a:noFill/>
        </p:spPr>
        <p:txBody>
          <a:bodyPr wrap="square" anchor="t" lIns="0" rIns="0" tIns="0" bIns="0">
            <a:spAutoFit/>
          </a:bodyPr>
          <a:lstStyle/>
          <a:p>
            <a:pPr algn="r">
              <a:lnSpc>
                <a:spcPct val="125000"/>
              </a:lnSpc>
            </a:pPr>
            <a:r>
              <a:rPr sz="1300" b="1">
                <a:solidFill>
                  <a:srgbClr val="52BDEC"/>
                </a:solidFill>
                <a:latin typeface="Consolas"/>
              </a:rPr>
              <a:t>33</a:t>
            </a:r>
          </a:p>
        </p:txBody>
      </p:sp>
      <p:sp>
        <p:nvSpPr>
          <p:cNvPr id="21" name="Rounded Rectangle 20"/>
          <p:cNvSpPr/>
          <p:nvPr/>
        </p:nvSpPr>
        <p:spPr>
          <a:xfrm>
            <a:off x="634984" y="5371965"/>
            <a:ext cx="10921726" cy="736581"/>
          </a:xfrm>
          <a:prstGeom prst="roundRect">
            <a:avLst>
              <a:gd name="adj" fmla="val 4500"/>
            </a:avLst>
          </a:prstGeom>
          <a:solidFill>
            <a:srgbClr val="0A2A44"/>
          </a:solidFill>
          <a:ln w="9525">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52476" y="5549761"/>
            <a:ext cx="10286742" cy="444488"/>
          </a:xfrm>
          <a:prstGeom prst="rect">
            <a:avLst/>
          </a:prstGeom>
          <a:noFill/>
        </p:spPr>
        <p:txBody>
          <a:bodyPr wrap="square" anchor="t" lIns="0" rIns="0" tIns="0" bIns="0">
            <a:spAutoFit/>
          </a:bodyPr>
          <a:lstStyle/>
          <a:p>
            <a:pPr algn="l">
              <a:lnSpc>
                <a:spcPct val="140000"/>
              </a:lnSpc>
            </a:pPr>
            <a:r>
              <a:rPr sz="1900" b="0">
                <a:solidFill>
                  <a:srgbClr val="F2F8FC"/>
                </a:solidFill>
                <a:latin typeface="Segoe UI"/>
              </a:rPr>
              <a:t>Een afwijking die u meldt is een gegeven. Een afwijking die u niet meldt is een fout in de data van de hele studie.</a:t>
            </a:r>
          </a:p>
        </p:txBody>
      </p:sp>
      <p:sp>
        <p:nvSpPr>
          <p:cNvPr id="23" name="TextBox 2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60 / 66</a:t>
            </a:r>
          </a:p>
        </p:txBody>
      </p:sp>
      <p:pic>
        <p:nvPicPr>
          <p:cNvPr id="2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VERDELING</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Wie doet wat</a:t>
            </a:r>
          </a:p>
        </p:txBody>
      </p:sp>
      <p:sp>
        <p:nvSpPr>
          <p:cNvPr id="5" name="Rectangle 4"/>
          <p:cNvSpPr/>
          <p:nvPr/>
        </p:nvSpPr>
        <p:spPr>
          <a:xfrm>
            <a:off x="634984" y="1930351"/>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2146246"/>
            <a:ext cx="2666933" cy="380990"/>
          </a:xfrm>
          <a:prstGeom prst="rect">
            <a:avLst/>
          </a:prstGeom>
          <a:noFill/>
        </p:spPr>
        <p:txBody>
          <a:bodyPr wrap="square" anchor="t" lIns="0" rIns="0" tIns="0" bIns="0">
            <a:spAutoFit/>
          </a:bodyPr>
          <a:lstStyle/>
          <a:p>
            <a:pPr algn="l">
              <a:lnSpc>
                <a:spcPct val="125000"/>
              </a:lnSpc>
            </a:pPr>
            <a:r>
              <a:rPr sz="2700" b="1">
                <a:solidFill>
                  <a:srgbClr val="F2F8FC"/>
                </a:solidFill>
                <a:latin typeface="Segoe UI"/>
              </a:rPr>
              <a:t>Podoloog</a:t>
            </a:r>
          </a:p>
        </p:txBody>
      </p:sp>
      <p:sp>
        <p:nvSpPr>
          <p:cNvPr id="7" name="Oval 6"/>
          <p:cNvSpPr/>
          <p:nvPr/>
        </p:nvSpPr>
        <p:spPr>
          <a:xfrm>
            <a:off x="3555911" y="2235144"/>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721006" y="2158946"/>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Voert de drukmetingen uit</a:t>
            </a:r>
          </a:p>
        </p:txBody>
      </p:sp>
      <p:sp>
        <p:nvSpPr>
          <p:cNvPr id="9" name="Oval 8"/>
          <p:cNvSpPr/>
          <p:nvPr/>
        </p:nvSpPr>
        <p:spPr>
          <a:xfrm>
            <a:off x="6273643" y="2235144"/>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38739" y="2158946"/>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Levert SEBIA</a:t>
            </a:r>
          </a:p>
        </p:txBody>
      </p:sp>
      <p:sp>
        <p:nvSpPr>
          <p:cNvPr id="11" name="Oval 10"/>
          <p:cNvSpPr/>
          <p:nvPr/>
        </p:nvSpPr>
        <p:spPr>
          <a:xfrm>
            <a:off x="8991375" y="2235144"/>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56471" y="2158946"/>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Leest de sensoren uit</a:t>
            </a:r>
          </a:p>
        </p:txBody>
      </p:sp>
      <p:sp>
        <p:nvSpPr>
          <p:cNvPr id="13" name="Rectangle 12"/>
          <p:cNvSpPr/>
          <p:nvPr/>
        </p:nvSpPr>
        <p:spPr>
          <a:xfrm>
            <a:off x="634984" y="2971725"/>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984" y="3187620"/>
            <a:ext cx="2666933" cy="380990"/>
          </a:xfrm>
          <a:prstGeom prst="rect">
            <a:avLst/>
          </a:prstGeom>
          <a:noFill/>
        </p:spPr>
        <p:txBody>
          <a:bodyPr wrap="square" anchor="t" lIns="0" rIns="0" tIns="0" bIns="0">
            <a:spAutoFit/>
          </a:bodyPr>
          <a:lstStyle/>
          <a:p>
            <a:pPr algn="l">
              <a:lnSpc>
                <a:spcPct val="125000"/>
              </a:lnSpc>
            </a:pPr>
            <a:r>
              <a:rPr sz="2700" b="1">
                <a:solidFill>
                  <a:srgbClr val="F2F8FC"/>
                </a:solidFill>
                <a:latin typeface="Segoe UI"/>
              </a:rPr>
              <a:t>Pedorthist</a:t>
            </a:r>
          </a:p>
        </p:txBody>
      </p:sp>
      <p:sp>
        <p:nvSpPr>
          <p:cNvPr id="15" name="Oval 14"/>
          <p:cNvSpPr/>
          <p:nvPr/>
        </p:nvSpPr>
        <p:spPr>
          <a:xfrm>
            <a:off x="3555911" y="3276518"/>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721006" y="3200319"/>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Maakt de zool</a:t>
            </a:r>
          </a:p>
        </p:txBody>
      </p:sp>
      <p:sp>
        <p:nvSpPr>
          <p:cNvPr id="17" name="Oval 16"/>
          <p:cNvSpPr/>
          <p:nvPr/>
        </p:nvSpPr>
        <p:spPr>
          <a:xfrm>
            <a:off x="6273643" y="3276518"/>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38739" y="3200319"/>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Past aan tot de norm</a:t>
            </a:r>
          </a:p>
        </p:txBody>
      </p:sp>
      <p:sp>
        <p:nvSpPr>
          <p:cNvPr id="19" name="Oval 18"/>
          <p:cNvSpPr/>
          <p:nvPr/>
        </p:nvSpPr>
        <p:spPr>
          <a:xfrm>
            <a:off x="8991375" y="3276518"/>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56471" y="3200319"/>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Plaatst de sensor</a:t>
            </a:r>
          </a:p>
        </p:txBody>
      </p:sp>
      <p:sp>
        <p:nvSpPr>
          <p:cNvPr id="21" name="Rectangle 20"/>
          <p:cNvSpPr/>
          <p:nvPr/>
        </p:nvSpPr>
        <p:spPr>
          <a:xfrm>
            <a:off x="634984" y="4013099"/>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984" y="4228994"/>
            <a:ext cx="2666933" cy="380990"/>
          </a:xfrm>
          <a:prstGeom prst="rect">
            <a:avLst/>
          </a:prstGeom>
          <a:noFill/>
        </p:spPr>
        <p:txBody>
          <a:bodyPr wrap="square" anchor="t" lIns="0" rIns="0" tIns="0" bIns="0">
            <a:spAutoFit/>
          </a:bodyPr>
          <a:lstStyle/>
          <a:p>
            <a:pPr algn="l">
              <a:lnSpc>
                <a:spcPct val="125000"/>
              </a:lnSpc>
            </a:pPr>
            <a:r>
              <a:rPr sz="2700" b="1">
                <a:solidFill>
                  <a:srgbClr val="F2F8FC"/>
                </a:solidFill>
                <a:latin typeface="Segoe UI"/>
              </a:rPr>
              <a:t>Arts</a:t>
            </a:r>
          </a:p>
        </p:txBody>
      </p:sp>
      <p:sp>
        <p:nvSpPr>
          <p:cNvPr id="23" name="Oval 22"/>
          <p:cNvSpPr/>
          <p:nvPr/>
        </p:nvSpPr>
        <p:spPr>
          <a:xfrm>
            <a:off x="3555911" y="4317892"/>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721006" y="4241693"/>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Bevestigt geschiktheid</a:t>
            </a:r>
          </a:p>
        </p:txBody>
      </p:sp>
      <p:sp>
        <p:nvSpPr>
          <p:cNvPr id="25" name="Oval 24"/>
          <p:cNvSpPr/>
          <p:nvPr/>
        </p:nvSpPr>
        <p:spPr>
          <a:xfrm>
            <a:off x="6273643" y="4317892"/>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38739" y="4241693"/>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Beoordeelt laesies</a:t>
            </a:r>
          </a:p>
        </p:txBody>
      </p:sp>
      <p:sp>
        <p:nvSpPr>
          <p:cNvPr id="27" name="Oval 26"/>
          <p:cNvSpPr/>
          <p:nvPr/>
        </p:nvSpPr>
        <p:spPr>
          <a:xfrm>
            <a:off x="8991375" y="4317892"/>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56471" y="4241693"/>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Meldt voorvallen</a:t>
            </a:r>
          </a:p>
        </p:txBody>
      </p:sp>
      <p:sp>
        <p:nvSpPr>
          <p:cNvPr id="29" name="Rectangle 28"/>
          <p:cNvSpPr/>
          <p:nvPr/>
        </p:nvSpPr>
        <p:spPr>
          <a:xfrm>
            <a:off x="634984" y="505447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34984" y="5270368"/>
            <a:ext cx="2666933" cy="380990"/>
          </a:xfrm>
          <a:prstGeom prst="rect">
            <a:avLst/>
          </a:prstGeom>
          <a:noFill/>
        </p:spPr>
        <p:txBody>
          <a:bodyPr wrap="square" anchor="t" lIns="0" rIns="0" tIns="0" bIns="0">
            <a:spAutoFit/>
          </a:bodyPr>
          <a:lstStyle/>
          <a:p>
            <a:pPr algn="l">
              <a:lnSpc>
                <a:spcPct val="125000"/>
              </a:lnSpc>
            </a:pPr>
            <a:r>
              <a:rPr sz="2700" b="1">
                <a:solidFill>
                  <a:srgbClr val="F2F8FC"/>
                </a:solidFill>
                <a:latin typeface="Segoe UI"/>
              </a:rPr>
              <a:t>Management</a:t>
            </a:r>
          </a:p>
        </p:txBody>
      </p:sp>
      <p:sp>
        <p:nvSpPr>
          <p:cNvPr id="31" name="Oval 30"/>
          <p:cNvSpPr/>
          <p:nvPr/>
        </p:nvSpPr>
        <p:spPr>
          <a:xfrm>
            <a:off x="3555911" y="5359266"/>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721006" y="5283067"/>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Maakt tijd vrij</a:t>
            </a:r>
          </a:p>
        </p:txBody>
      </p:sp>
      <p:sp>
        <p:nvSpPr>
          <p:cNvPr id="33" name="Oval 32"/>
          <p:cNvSpPr/>
          <p:nvPr/>
        </p:nvSpPr>
        <p:spPr>
          <a:xfrm>
            <a:off x="6273643" y="5359266"/>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38739" y="5283067"/>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Bewaakt 24 inclusies</a:t>
            </a:r>
          </a:p>
        </p:txBody>
      </p:sp>
      <p:sp>
        <p:nvSpPr>
          <p:cNvPr id="35" name="Oval 34"/>
          <p:cNvSpPr/>
          <p:nvPr/>
        </p:nvSpPr>
        <p:spPr>
          <a:xfrm>
            <a:off x="8991375" y="5359266"/>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156471" y="5283067"/>
            <a:ext cx="2362140" cy="571485"/>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Houdt het opleidingsregister bij</a:t>
            </a:r>
          </a:p>
        </p:txBody>
      </p:sp>
      <p:sp>
        <p:nvSpPr>
          <p:cNvPr id="37" name="Rectangle 36"/>
          <p:cNvSpPr/>
          <p:nvPr/>
        </p:nvSpPr>
        <p:spPr>
          <a:xfrm>
            <a:off x="634984" y="6095847"/>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61 / 66</a:t>
            </a:r>
          </a:p>
        </p:txBody>
      </p:sp>
      <p:pic>
        <p:nvPicPr>
          <p:cNvPr id="39"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ONDERSTEUNING</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Wat u van ons krijgt</a:t>
            </a:r>
          </a:p>
        </p:txBody>
      </p:sp>
      <p:sp>
        <p:nvSpPr>
          <p:cNvPr id="5" name="Rectangle 4"/>
          <p:cNvSpPr/>
          <p:nvPr/>
        </p:nvSpPr>
        <p:spPr>
          <a:xfrm>
            <a:off x="634984" y="1993850"/>
            <a:ext cx="6222844"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2158946"/>
            <a:ext cx="6222844" cy="3174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Motiverende gespreksvoering</a:t>
            </a:r>
          </a:p>
        </p:txBody>
      </p:sp>
      <p:sp>
        <p:nvSpPr>
          <p:cNvPr id="7" name="TextBox 6"/>
          <p:cNvSpPr txBox="1"/>
          <p:nvPr/>
        </p:nvSpPr>
        <p:spPr>
          <a:xfrm>
            <a:off x="647683" y="2476438"/>
            <a:ext cx="6095847" cy="380990"/>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Training door een psycholoog — alle centra dezelfde</a:t>
            </a:r>
          </a:p>
        </p:txBody>
      </p:sp>
      <p:sp>
        <p:nvSpPr>
          <p:cNvPr id="8" name="Rectangle 7"/>
          <p:cNvSpPr/>
          <p:nvPr/>
        </p:nvSpPr>
        <p:spPr>
          <a:xfrm>
            <a:off x="634984" y="2959026"/>
            <a:ext cx="6222844"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4984" y="3124121"/>
            <a:ext cx="6222844" cy="3174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SOP's en draaiboeken</a:t>
            </a:r>
          </a:p>
        </p:txBody>
      </p:sp>
      <p:sp>
        <p:nvSpPr>
          <p:cNvPr id="10" name="TextBox 9"/>
          <p:cNvSpPr txBox="1"/>
          <p:nvPr/>
        </p:nvSpPr>
        <p:spPr>
          <a:xfrm>
            <a:off x="647683" y="3441613"/>
            <a:ext cx="6095847" cy="380990"/>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Per handeling, met de eCRF-nummers erbij</a:t>
            </a:r>
          </a:p>
        </p:txBody>
      </p:sp>
      <p:sp>
        <p:nvSpPr>
          <p:cNvPr id="11" name="Rectangle 10"/>
          <p:cNvSpPr/>
          <p:nvPr/>
        </p:nvSpPr>
        <p:spPr>
          <a:xfrm>
            <a:off x="634984" y="3924201"/>
            <a:ext cx="6222844"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4984" y="4089297"/>
            <a:ext cx="6222844" cy="3174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REDCap</a:t>
            </a:r>
          </a:p>
        </p:txBody>
      </p:sp>
      <p:sp>
        <p:nvSpPr>
          <p:cNvPr id="13" name="TextBox 12"/>
          <p:cNvSpPr txBox="1"/>
          <p:nvPr/>
        </p:nvSpPr>
        <p:spPr>
          <a:xfrm>
            <a:off x="647683" y="4406789"/>
            <a:ext cx="6095847" cy="380990"/>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Instructie plus een testomgeving om in te oefenen</a:t>
            </a:r>
          </a:p>
        </p:txBody>
      </p:sp>
      <p:sp>
        <p:nvSpPr>
          <p:cNvPr id="14" name="Rectangle 13"/>
          <p:cNvSpPr/>
          <p:nvPr/>
        </p:nvSpPr>
        <p:spPr>
          <a:xfrm>
            <a:off x="634984" y="4889377"/>
            <a:ext cx="6222844"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4984" y="5054473"/>
            <a:ext cx="6222844" cy="317492"/>
          </a:xfrm>
          <a:prstGeom prst="rect">
            <a:avLst/>
          </a:prstGeom>
          <a:noFill/>
        </p:spPr>
        <p:txBody>
          <a:bodyPr wrap="square" anchor="t" lIns="0" rIns="0" tIns="0" bIns="0">
            <a:spAutoFit/>
          </a:bodyPr>
          <a:lstStyle/>
          <a:p>
            <a:pPr algn="l">
              <a:lnSpc>
                <a:spcPct val="125000"/>
              </a:lnSpc>
            </a:pPr>
            <a:r>
              <a:rPr sz="2100" b="1">
                <a:solidFill>
                  <a:srgbClr val="F2F8FC"/>
                </a:solidFill>
                <a:latin typeface="Segoe UI"/>
              </a:rPr>
              <a:t>Eén contactpunt</a:t>
            </a:r>
          </a:p>
        </p:txBody>
      </p:sp>
      <p:sp>
        <p:nvSpPr>
          <p:cNvPr id="16" name="TextBox 15"/>
          <p:cNvSpPr txBox="1"/>
          <p:nvPr/>
        </p:nvSpPr>
        <p:spPr>
          <a:xfrm>
            <a:off x="647683" y="5371965"/>
            <a:ext cx="6095847" cy="380990"/>
          </a:xfrm>
          <a:prstGeom prst="rect">
            <a:avLst/>
          </a:prstGeom>
          <a:noFill/>
        </p:spPr>
        <p:txBody>
          <a:bodyPr wrap="square" anchor="t" lIns="0" rIns="0" tIns="0" bIns="0">
            <a:spAutoFit/>
          </a:bodyPr>
          <a:lstStyle/>
          <a:p>
            <a:pPr algn="l">
              <a:lnSpc>
                <a:spcPct val="130000"/>
              </a:lnSpc>
            </a:pPr>
            <a:r>
              <a:rPr sz="1550" b="0">
                <a:solidFill>
                  <a:srgbClr val="8FB6D0"/>
                </a:solidFill>
                <a:latin typeface="Segoe UI"/>
              </a:rPr>
              <a:t>Eén nummer, één mailadres, voor alles</a:t>
            </a:r>
          </a:p>
        </p:txBody>
      </p:sp>
      <p:sp>
        <p:nvSpPr>
          <p:cNvPr id="17" name="Rounded Rectangle 16"/>
          <p:cNvSpPr/>
          <p:nvPr/>
        </p:nvSpPr>
        <p:spPr>
          <a:xfrm>
            <a:off x="7492812" y="1904952"/>
            <a:ext cx="4063898" cy="3949601"/>
          </a:xfrm>
          <a:prstGeom prst="roundRect">
            <a:avLst>
              <a:gd name="adj" fmla="val 4500"/>
            </a:avLst>
          </a:prstGeom>
          <a:solidFill>
            <a:srgbClr val="113A57"/>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8000799" y="2044648"/>
            <a:ext cx="3047923" cy="3047923"/>
          </a:xfrm>
          <a:prstGeom prst="ellipse">
            <a:avLst/>
          </a:prstGeom>
          <a:solidFill>
            <a:srgbClr val="FF7A00">
              <a:alpha val="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hero"/>
          <p:cNvSpPr txBox="1"/>
          <p:nvPr/>
        </p:nvSpPr>
        <p:spPr>
          <a:xfrm>
            <a:off x="7772205" y="2158946"/>
            <a:ext cx="3555911" cy="1904952"/>
          </a:xfrm>
          <a:prstGeom prst="rect">
            <a:avLst/>
          </a:prstGeom>
          <a:noFill/>
        </p:spPr>
        <p:txBody>
          <a:bodyPr wrap="square" anchor="t" lIns="0" rIns="0" tIns="0" bIns="0">
            <a:spAutoFit/>
          </a:bodyPr>
          <a:lstStyle/>
          <a:p>
            <a:pPr algn="ctr">
              <a:lnSpc>
                <a:spcPct val="90000"/>
              </a:lnSpc>
            </a:pPr>
            <a:r>
              <a:rPr sz="15000" b="1">
                <a:solidFill>
                  <a:srgbClr val="FF7A00"/>
                </a:solidFill>
                <a:latin typeface="Segoe UI"/>
              </a:rPr>
              <a:t>0</a:t>
            </a:r>
          </a:p>
        </p:txBody>
      </p:sp>
      <p:sp>
        <p:nvSpPr>
          <p:cNvPr id="20" name="TextBox 19"/>
          <p:cNvSpPr txBox="1"/>
          <p:nvPr/>
        </p:nvSpPr>
        <p:spPr>
          <a:xfrm>
            <a:off x="7772205" y="4063898"/>
            <a:ext cx="3555911" cy="393690"/>
          </a:xfrm>
          <a:prstGeom prst="rect">
            <a:avLst/>
          </a:prstGeom>
          <a:noFill/>
        </p:spPr>
        <p:txBody>
          <a:bodyPr wrap="square" anchor="t" lIns="0" rIns="0" tIns="0" bIns="0">
            <a:spAutoFit/>
          </a:bodyPr>
          <a:lstStyle/>
          <a:p>
            <a:pPr algn="ctr">
              <a:lnSpc>
                <a:spcPct val="125000"/>
              </a:lnSpc>
            </a:pPr>
            <a:r>
              <a:rPr sz="3000" b="1">
                <a:solidFill>
                  <a:srgbClr val="F2F8FC"/>
                </a:solidFill>
                <a:latin typeface="Segoe UI"/>
              </a:rPr>
              <a:t>sancties</a:t>
            </a:r>
          </a:p>
        </p:txBody>
      </p:sp>
      <p:sp>
        <p:nvSpPr>
          <p:cNvPr id="21" name="TextBox 20"/>
          <p:cNvSpPr txBox="1"/>
          <p:nvPr/>
        </p:nvSpPr>
        <p:spPr>
          <a:xfrm>
            <a:off x="7810304" y="4584585"/>
            <a:ext cx="3428914" cy="1015974"/>
          </a:xfrm>
          <a:prstGeom prst="rect">
            <a:avLst/>
          </a:prstGeom>
          <a:noFill/>
        </p:spPr>
        <p:txBody>
          <a:bodyPr wrap="square" anchor="t" lIns="0" rIns="0" tIns="0" bIns="0">
            <a:spAutoFit/>
          </a:bodyPr>
          <a:lstStyle/>
          <a:p>
            <a:pPr algn="ctr">
              <a:lnSpc>
                <a:spcPct val="140000"/>
              </a:lnSpc>
            </a:pPr>
            <a:r>
              <a:rPr sz="1600" b="0">
                <a:solidFill>
                  <a:srgbClr val="8FB6D0"/>
                </a:solidFill>
                <a:latin typeface="Segoe UI"/>
              </a:rPr>
              <a:t>Wijkt u af van het protocol, dan meldt u dat. Het wordt geregistreerd, niet afgestraft.</a:t>
            </a:r>
          </a:p>
        </p:txBody>
      </p:sp>
      <p:sp>
        <p:nvSpPr>
          <p:cNvPr id="22" name="TextBox 21"/>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62 / 66</a:t>
            </a:r>
          </a:p>
        </p:txBody>
      </p:sp>
      <p:pic>
        <p:nvPicPr>
          <p:cNvPr id="23"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WAT U GAAT VRAGEN</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Vooruitlopend</a:t>
            </a:r>
          </a:p>
        </p:txBody>
      </p:sp>
      <p:sp>
        <p:nvSpPr>
          <p:cNvPr id="5" name="Rectangle 4"/>
          <p:cNvSpPr/>
          <p:nvPr/>
        </p:nvSpPr>
        <p:spPr>
          <a:xfrm>
            <a:off x="634984" y="1904952"/>
            <a:ext cx="5384538"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4984" y="2070048"/>
            <a:ext cx="5384538" cy="380990"/>
          </a:xfrm>
          <a:prstGeom prst="rect">
            <a:avLst/>
          </a:prstGeom>
          <a:noFill/>
        </p:spPr>
        <p:txBody>
          <a:bodyPr wrap="square" anchor="t" lIns="0" rIns="0" tIns="0" bIns="0">
            <a:spAutoFit/>
          </a:bodyPr>
          <a:lstStyle/>
          <a:p>
            <a:pPr algn="l">
              <a:lnSpc>
                <a:spcPct val="120000"/>
              </a:lnSpc>
            </a:pPr>
            <a:r>
              <a:rPr sz="1900" b="1">
                <a:solidFill>
                  <a:srgbClr val="F2F8FC"/>
                </a:solidFill>
                <a:latin typeface="Segoe UI"/>
              </a:rPr>
              <a:t>Patiënt wil de sensor niet</a:t>
            </a:r>
          </a:p>
        </p:txBody>
      </p:sp>
      <p:sp>
        <p:nvSpPr>
          <p:cNvPr id="7" name="TextBox 6"/>
          <p:cNvSpPr txBox="1"/>
          <p:nvPr/>
        </p:nvSpPr>
        <p:spPr>
          <a:xfrm>
            <a:off x="634984" y="2514537"/>
            <a:ext cx="190495" cy="253993"/>
          </a:xfrm>
          <a:prstGeom prst="rect">
            <a:avLst/>
          </a:prstGeom>
          <a:noFill/>
        </p:spPr>
        <p:txBody>
          <a:bodyPr wrap="square" anchor="t" lIns="0" rIns="0" tIns="0" bIns="0">
            <a:spAutoFit/>
          </a:bodyPr>
          <a:lstStyle/>
          <a:p>
            <a:pPr algn="l">
              <a:lnSpc>
                <a:spcPct val="125000"/>
              </a:lnSpc>
            </a:pPr>
            <a:r>
              <a:rPr sz="1500" b="1">
                <a:solidFill>
                  <a:srgbClr val="52BDEC"/>
                </a:solidFill>
                <a:latin typeface="Segoe UI"/>
              </a:rPr>
              <a:t>—</a:t>
            </a:r>
          </a:p>
        </p:txBody>
      </p:sp>
      <p:sp>
        <p:nvSpPr>
          <p:cNvPr id="8" name="TextBox 7"/>
          <p:cNvSpPr txBox="1"/>
          <p:nvPr/>
        </p:nvSpPr>
        <p:spPr>
          <a:xfrm>
            <a:off x="888977" y="2501837"/>
            <a:ext cx="5130544" cy="634984"/>
          </a:xfrm>
          <a:prstGeom prst="rect">
            <a:avLst/>
          </a:prstGeom>
          <a:noFill/>
        </p:spPr>
        <p:txBody>
          <a:bodyPr wrap="square" anchor="t" lIns="0" rIns="0" tIns="0" bIns="0">
            <a:spAutoFit/>
          </a:bodyPr>
          <a:lstStyle/>
          <a:p>
            <a:pPr algn="l">
              <a:lnSpc>
                <a:spcPct val="135000"/>
              </a:lnSpc>
            </a:pPr>
            <a:r>
              <a:rPr sz="1550" b="0">
                <a:solidFill>
                  <a:srgbClr val="8FB6D0"/>
                </a:solidFill>
                <a:latin typeface="Segoe UI"/>
              </a:rPr>
              <a:t>Dan niet geschikt. Draagtijd ís een hoofduitkomst.</a:t>
            </a:r>
          </a:p>
        </p:txBody>
      </p:sp>
      <p:sp>
        <p:nvSpPr>
          <p:cNvPr id="9" name="Rectangle 8"/>
          <p:cNvSpPr/>
          <p:nvPr/>
        </p:nvSpPr>
        <p:spPr>
          <a:xfrm>
            <a:off x="6171918" y="1904952"/>
            <a:ext cx="5384538"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171918" y="2070048"/>
            <a:ext cx="5384538" cy="380990"/>
          </a:xfrm>
          <a:prstGeom prst="rect">
            <a:avLst/>
          </a:prstGeom>
          <a:noFill/>
        </p:spPr>
        <p:txBody>
          <a:bodyPr wrap="square" anchor="t" lIns="0" rIns="0" tIns="0" bIns="0">
            <a:spAutoFit/>
          </a:bodyPr>
          <a:lstStyle/>
          <a:p>
            <a:pPr algn="l">
              <a:lnSpc>
                <a:spcPct val="120000"/>
              </a:lnSpc>
            </a:pPr>
            <a:r>
              <a:rPr sz="1900" b="1">
                <a:solidFill>
                  <a:srgbClr val="F2F8FC"/>
                </a:solidFill>
                <a:latin typeface="Segoe UI"/>
              </a:rPr>
              <a:t>Zool haalt de norm niet</a:t>
            </a:r>
          </a:p>
        </p:txBody>
      </p:sp>
      <p:sp>
        <p:nvSpPr>
          <p:cNvPr id="11" name="TextBox 10"/>
          <p:cNvSpPr txBox="1"/>
          <p:nvPr/>
        </p:nvSpPr>
        <p:spPr>
          <a:xfrm>
            <a:off x="6171918" y="2514537"/>
            <a:ext cx="190495" cy="253993"/>
          </a:xfrm>
          <a:prstGeom prst="rect">
            <a:avLst/>
          </a:prstGeom>
          <a:noFill/>
        </p:spPr>
        <p:txBody>
          <a:bodyPr wrap="square" anchor="t" lIns="0" rIns="0" tIns="0" bIns="0">
            <a:spAutoFit/>
          </a:bodyPr>
          <a:lstStyle/>
          <a:p>
            <a:pPr algn="l">
              <a:lnSpc>
                <a:spcPct val="125000"/>
              </a:lnSpc>
            </a:pPr>
            <a:r>
              <a:rPr sz="1500" b="1">
                <a:solidFill>
                  <a:srgbClr val="52BDEC"/>
                </a:solidFill>
                <a:latin typeface="Segoe UI"/>
              </a:rPr>
              <a:t>—</a:t>
            </a:r>
          </a:p>
        </p:txBody>
      </p:sp>
      <p:sp>
        <p:nvSpPr>
          <p:cNvPr id="12" name="TextBox 11"/>
          <p:cNvSpPr txBox="1"/>
          <p:nvPr/>
        </p:nvSpPr>
        <p:spPr>
          <a:xfrm>
            <a:off x="6425912" y="2501837"/>
            <a:ext cx="5130544" cy="634984"/>
          </a:xfrm>
          <a:prstGeom prst="rect">
            <a:avLst/>
          </a:prstGeom>
          <a:noFill/>
        </p:spPr>
        <p:txBody>
          <a:bodyPr wrap="square" anchor="t" lIns="0" rIns="0" tIns="0" bIns="0">
            <a:spAutoFit/>
          </a:bodyPr>
          <a:lstStyle/>
          <a:p>
            <a:pPr algn="l">
              <a:lnSpc>
                <a:spcPct val="135000"/>
              </a:lnSpc>
            </a:pPr>
            <a:r>
              <a:rPr sz="1550" b="0">
                <a:solidFill>
                  <a:srgbClr val="8FB6D0"/>
                </a:solidFill>
                <a:latin typeface="Segoe UI"/>
              </a:rPr>
              <a:t>Twee extra tests, dan noteert u wat wél bereikt is.</a:t>
            </a:r>
          </a:p>
        </p:txBody>
      </p:sp>
      <p:sp>
        <p:nvSpPr>
          <p:cNvPr id="13" name="Rectangle 12"/>
          <p:cNvSpPr/>
          <p:nvPr/>
        </p:nvSpPr>
        <p:spPr>
          <a:xfrm>
            <a:off x="634984" y="3340016"/>
            <a:ext cx="5384538"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4984" y="3505112"/>
            <a:ext cx="5384538" cy="380990"/>
          </a:xfrm>
          <a:prstGeom prst="rect">
            <a:avLst/>
          </a:prstGeom>
          <a:noFill/>
        </p:spPr>
        <p:txBody>
          <a:bodyPr wrap="square" anchor="t" lIns="0" rIns="0" tIns="0" bIns="0">
            <a:spAutoFit/>
          </a:bodyPr>
          <a:lstStyle/>
          <a:p>
            <a:pPr algn="l">
              <a:lnSpc>
                <a:spcPct val="120000"/>
              </a:lnSpc>
            </a:pPr>
            <a:r>
              <a:rPr sz="1900" b="1">
                <a:solidFill>
                  <a:srgbClr val="F2F8FC"/>
                </a:solidFill>
                <a:latin typeface="Segoe UI"/>
              </a:rPr>
              <a:t>Mag ik nog adviseren?</a:t>
            </a:r>
          </a:p>
        </p:txBody>
      </p:sp>
      <p:sp>
        <p:nvSpPr>
          <p:cNvPr id="15" name="TextBox 14"/>
          <p:cNvSpPr txBox="1"/>
          <p:nvPr/>
        </p:nvSpPr>
        <p:spPr>
          <a:xfrm>
            <a:off x="634984" y="3949601"/>
            <a:ext cx="190495" cy="253993"/>
          </a:xfrm>
          <a:prstGeom prst="rect">
            <a:avLst/>
          </a:prstGeom>
          <a:noFill/>
        </p:spPr>
        <p:txBody>
          <a:bodyPr wrap="square" anchor="t" lIns="0" rIns="0" tIns="0" bIns="0">
            <a:spAutoFit/>
          </a:bodyPr>
          <a:lstStyle/>
          <a:p>
            <a:pPr algn="l">
              <a:lnSpc>
                <a:spcPct val="125000"/>
              </a:lnSpc>
            </a:pPr>
            <a:r>
              <a:rPr sz="1500" b="1">
                <a:solidFill>
                  <a:srgbClr val="52BDEC"/>
                </a:solidFill>
                <a:latin typeface="Segoe UI"/>
              </a:rPr>
              <a:t>—</a:t>
            </a:r>
          </a:p>
        </p:txBody>
      </p:sp>
      <p:sp>
        <p:nvSpPr>
          <p:cNvPr id="16" name="TextBox 15"/>
          <p:cNvSpPr txBox="1"/>
          <p:nvPr/>
        </p:nvSpPr>
        <p:spPr>
          <a:xfrm>
            <a:off x="888977" y="3936901"/>
            <a:ext cx="5130544" cy="634984"/>
          </a:xfrm>
          <a:prstGeom prst="rect">
            <a:avLst/>
          </a:prstGeom>
          <a:noFill/>
        </p:spPr>
        <p:txBody>
          <a:bodyPr wrap="square" anchor="t" lIns="0" rIns="0" tIns="0" bIns="0">
            <a:spAutoFit/>
          </a:bodyPr>
          <a:lstStyle/>
          <a:p>
            <a:pPr algn="l">
              <a:lnSpc>
                <a:spcPct val="135000"/>
              </a:lnSpc>
            </a:pPr>
            <a:r>
              <a:rPr sz="1550" b="0">
                <a:solidFill>
                  <a:srgbClr val="8FB6D0"/>
                </a:solidFill>
                <a:latin typeface="Segoe UI"/>
              </a:rPr>
              <a:t>Alles wat u vandaag doet, blijft u doen.</a:t>
            </a:r>
          </a:p>
        </p:txBody>
      </p:sp>
      <p:sp>
        <p:nvSpPr>
          <p:cNvPr id="17" name="Rectangle 16"/>
          <p:cNvSpPr/>
          <p:nvPr/>
        </p:nvSpPr>
        <p:spPr>
          <a:xfrm>
            <a:off x="6171918" y="3340016"/>
            <a:ext cx="5384538"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71918" y="3505112"/>
            <a:ext cx="5384538" cy="380990"/>
          </a:xfrm>
          <a:prstGeom prst="rect">
            <a:avLst/>
          </a:prstGeom>
          <a:noFill/>
        </p:spPr>
        <p:txBody>
          <a:bodyPr wrap="square" anchor="t" lIns="0" rIns="0" tIns="0" bIns="0">
            <a:spAutoFit/>
          </a:bodyPr>
          <a:lstStyle/>
          <a:p>
            <a:pPr algn="l">
              <a:lnSpc>
                <a:spcPct val="120000"/>
              </a:lnSpc>
            </a:pPr>
            <a:r>
              <a:rPr sz="1900" b="1">
                <a:solidFill>
                  <a:srgbClr val="F2F8FC"/>
                </a:solidFill>
                <a:latin typeface="Segoe UI"/>
              </a:rPr>
              <a:t>Wie leest de sensor uit?</a:t>
            </a:r>
          </a:p>
        </p:txBody>
      </p:sp>
      <p:sp>
        <p:nvSpPr>
          <p:cNvPr id="19" name="TextBox 18"/>
          <p:cNvSpPr txBox="1"/>
          <p:nvPr/>
        </p:nvSpPr>
        <p:spPr>
          <a:xfrm>
            <a:off x="6171918" y="3949601"/>
            <a:ext cx="190495" cy="253993"/>
          </a:xfrm>
          <a:prstGeom prst="rect">
            <a:avLst/>
          </a:prstGeom>
          <a:noFill/>
        </p:spPr>
        <p:txBody>
          <a:bodyPr wrap="square" anchor="t" lIns="0" rIns="0" tIns="0" bIns="0">
            <a:spAutoFit/>
          </a:bodyPr>
          <a:lstStyle/>
          <a:p>
            <a:pPr algn="l">
              <a:lnSpc>
                <a:spcPct val="125000"/>
              </a:lnSpc>
            </a:pPr>
            <a:r>
              <a:rPr sz="1500" b="1">
                <a:solidFill>
                  <a:srgbClr val="52BDEC"/>
                </a:solidFill>
                <a:latin typeface="Segoe UI"/>
              </a:rPr>
              <a:t>—</a:t>
            </a:r>
          </a:p>
        </p:txBody>
      </p:sp>
      <p:sp>
        <p:nvSpPr>
          <p:cNvPr id="20" name="TextBox 19"/>
          <p:cNvSpPr txBox="1"/>
          <p:nvPr/>
        </p:nvSpPr>
        <p:spPr>
          <a:xfrm>
            <a:off x="6425912" y="3936901"/>
            <a:ext cx="5130544" cy="634984"/>
          </a:xfrm>
          <a:prstGeom prst="rect">
            <a:avLst/>
          </a:prstGeom>
          <a:noFill/>
        </p:spPr>
        <p:txBody>
          <a:bodyPr wrap="square" anchor="t" lIns="0" rIns="0" tIns="0" bIns="0">
            <a:spAutoFit/>
          </a:bodyPr>
          <a:lstStyle/>
          <a:p>
            <a:pPr algn="l">
              <a:lnSpc>
                <a:spcPct val="135000"/>
              </a:lnSpc>
            </a:pPr>
            <a:r>
              <a:rPr sz="1550" b="0">
                <a:solidFill>
                  <a:srgbClr val="8FB6D0"/>
                </a:solidFill>
                <a:latin typeface="Segoe UI"/>
              </a:rPr>
              <a:t>Uw team, ter plaatse, bij elk bezoek.</a:t>
            </a:r>
          </a:p>
        </p:txBody>
      </p:sp>
      <p:sp>
        <p:nvSpPr>
          <p:cNvPr id="21" name="Rectangle 20"/>
          <p:cNvSpPr/>
          <p:nvPr/>
        </p:nvSpPr>
        <p:spPr>
          <a:xfrm>
            <a:off x="634984" y="4775080"/>
            <a:ext cx="5384538"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4984" y="4940176"/>
            <a:ext cx="5384538" cy="380990"/>
          </a:xfrm>
          <a:prstGeom prst="rect">
            <a:avLst/>
          </a:prstGeom>
          <a:noFill/>
        </p:spPr>
        <p:txBody>
          <a:bodyPr wrap="square" anchor="t" lIns="0" rIns="0" tIns="0" bIns="0">
            <a:spAutoFit/>
          </a:bodyPr>
          <a:lstStyle/>
          <a:p>
            <a:pPr algn="l">
              <a:lnSpc>
                <a:spcPct val="120000"/>
              </a:lnSpc>
            </a:pPr>
            <a:r>
              <a:rPr sz="1900" b="1">
                <a:solidFill>
                  <a:srgbClr val="F2F8FC"/>
                </a:solidFill>
                <a:latin typeface="Segoe UI"/>
              </a:rPr>
              <a:t>Onze data?</a:t>
            </a:r>
          </a:p>
        </p:txBody>
      </p:sp>
      <p:sp>
        <p:nvSpPr>
          <p:cNvPr id="23" name="TextBox 22"/>
          <p:cNvSpPr txBox="1"/>
          <p:nvPr/>
        </p:nvSpPr>
        <p:spPr>
          <a:xfrm>
            <a:off x="634984" y="5384665"/>
            <a:ext cx="190495" cy="253993"/>
          </a:xfrm>
          <a:prstGeom prst="rect">
            <a:avLst/>
          </a:prstGeom>
          <a:noFill/>
        </p:spPr>
        <p:txBody>
          <a:bodyPr wrap="square" anchor="t" lIns="0" rIns="0" tIns="0" bIns="0">
            <a:spAutoFit/>
          </a:bodyPr>
          <a:lstStyle/>
          <a:p>
            <a:pPr algn="l">
              <a:lnSpc>
                <a:spcPct val="125000"/>
              </a:lnSpc>
            </a:pPr>
            <a:r>
              <a:rPr sz="1500" b="1">
                <a:solidFill>
                  <a:srgbClr val="52BDEC"/>
                </a:solidFill>
                <a:latin typeface="Segoe UI"/>
              </a:rPr>
              <a:t>—</a:t>
            </a:r>
          </a:p>
        </p:txBody>
      </p:sp>
      <p:sp>
        <p:nvSpPr>
          <p:cNvPr id="24" name="TextBox 23"/>
          <p:cNvSpPr txBox="1"/>
          <p:nvPr/>
        </p:nvSpPr>
        <p:spPr>
          <a:xfrm>
            <a:off x="888977" y="5371965"/>
            <a:ext cx="5130544" cy="634984"/>
          </a:xfrm>
          <a:prstGeom prst="rect">
            <a:avLst/>
          </a:prstGeom>
          <a:noFill/>
        </p:spPr>
        <p:txBody>
          <a:bodyPr wrap="square" anchor="t" lIns="0" rIns="0" tIns="0" bIns="0">
            <a:spAutoFit/>
          </a:bodyPr>
          <a:lstStyle/>
          <a:p>
            <a:pPr algn="l">
              <a:lnSpc>
                <a:spcPct val="135000"/>
              </a:lnSpc>
            </a:pPr>
            <a:r>
              <a:rPr sz="1550" b="0">
                <a:solidFill>
                  <a:srgbClr val="8FB6D0"/>
                </a:solidFill>
                <a:latin typeface="Segoe UI"/>
              </a:rPr>
              <a:t>Gepseudonimiseerd, tien jaar, binnen de toestemming.</a:t>
            </a:r>
          </a:p>
        </p:txBody>
      </p:sp>
      <p:sp>
        <p:nvSpPr>
          <p:cNvPr id="25" name="Rectangle 24"/>
          <p:cNvSpPr/>
          <p:nvPr/>
        </p:nvSpPr>
        <p:spPr>
          <a:xfrm>
            <a:off x="6171918" y="4775080"/>
            <a:ext cx="5384538"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171918" y="4940176"/>
            <a:ext cx="5384538" cy="380990"/>
          </a:xfrm>
          <a:prstGeom prst="rect">
            <a:avLst/>
          </a:prstGeom>
          <a:noFill/>
        </p:spPr>
        <p:txBody>
          <a:bodyPr wrap="square" anchor="t" lIns="0" rIns="0" tIns="0" bIns="0">
            <a:spAutoFit/>
          </a:bodyPr>
          <a:lstStyle/>
          <a:p>
            <a:pPr algn="l">
              <a:lnSpc>
                <a:spcPct val="120000"/>
              </a:lnSpc>
            </a:pPr>
            <a:r>
              <a:rPr sz="1900" b="1">
                <a:solidFill>
                  <a:srgbClr val="F2F8FC"/>
                </a:solidFill>
                <a:latin typeface="Segoe UI"/>
              </a:rPr>
              <a:t>Zien wij resultaten?</a:t>
            </a:r>
          </a:p>
        </p:txBody>
      </p:sp>
      <p:sp>
        <p:nvSpPr>
          <p:cNvPr id="27" name="TextBox 26"/>
          <p:cNvSpPr txBox="1"/>
          <p:nvPr/>
        </p:nvSpPr>
        <p:spPr>
          <a:xfrm>
            <a:off x="6171918" y="5384665"/>
            <a:ext cx="190495" cy="253993"/>
          </a:xfrm>
          <a:prstGeom prst="rect">
            <a:avLst/>
          </a:prstGeom>
          <a:noFill/>
        </p:spPr>
        <p:txBody>
          <a:bodyPr wrap="square" anchor="t" lIns="0" rIns="0" tIns="0" bIns="0">
            <a:spAutoFit/>
          </a:bodyPr>
          <a:lstStyle/>
          <a:p>
            <a:pPr algn="l">
              <a:lnSpc>
                <a:spcPct val="125000"/>
              </a:lnSpc>
            </a:pPr>
            <a:r>
              <a:rPr sz="1500" b="1">
                <a:solidFill>
                  <a:srgbClr val="52BDEC"/>
                </a:solidFill>
                <a:latin typeface="Segoe UI"/>
              </a:rPr>
              <a:t>—</a:t>
            </a:r>
          </a:p>
        </p:txBody>
      </p:sp>
      <p:sp>
        <p:nvSpPr>
          <p:cNvPr id="28" name="TextBox 27"/>
          <p:cNvSpPr txBox="1"/>
          <p:nvPr/>
        </p:nvSpPr>
        <p:spPr>
          <a:xfrm>
            <a:off x="6425912" y="5371965"/>
            <a:ext cx="5130544" cy="634984"/>
          </a:xfrm>
          <a:prstGeom prst="rect">
            <a:avLst/>
          </a:prstGeom>
          <a:noFill/>
        </p:spPr>
        <p:txBody>
          <a:bodyPr wrap="square" anchor="t" lIns="0" rIns="0" tIns="0" bIns="0">
            <a:spAutoFit/>
          </a:bodyPr>
          <a:lstStyle/>
          <a:p>
            <a:pPr algn="l">
              <a:lnSpc>
                <a:spcPct val="135000"/>
              </a:lnSpc>
            </a:pPr>
            <a:r>
              <a:rPr sz="1550" b="0">
                <a:solidFill>
                  <a:srgbClr val="8FB6D0"/>
                </a:solidFill>
                <a:latin typeface="Segoe UI"/>
              </a:rPr>
              <a:t>Eén publicatie, ongeacht de uitkomst.</a:t>
            </a:r>
          </a:p>
        </p:txBody>
      </p:sp>
      <p:sp>
        <p:nvSpPr>
          <p:cNvPr id="29" name="TextBox 28"/>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63 / 66</a:t>
            </a:r>
          </a:p>
        </p:txBody>
      </p:sp>
      <p:pic>
        <p:nvPicPr>
          <p:cNvPr id="30"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BEKWAAMHEIDSCHECK</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Kunt u dit nu zelf?</a:t>
            </a:r>
          </a:p>
        </p:txBody>
      </p:sp>
      <p:sp>
        <p:nvSpPr>
          <p:cNvPr id="5" name="Rounded Rectangle 4"/>
          <p:cNvSpPr/>
          <p:nvPr/>
        </p:nvSpPr>
        <p:spPr>
          <a:xfrm>
            <a:off x="634984" y="1904952"/>
            <a:ext cx="241293" cy="241293"/>
          </a:xfrm>
          <a:prstGeom prst="roundRect">
            <a:avLst>
              <a:gd name="adj" fmla="val 20000"/>
            </a:avLst>
          </a:prstGeom>
          <a:solidFill>
            <a:srgbClr val="04182A"/>
          </a:solidFill>
          <a:ln w="1905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3274" y="1879553"/>
            <a:ext cx="4952876" cy="634984"/>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Beoordelen of een patiënt geschikt is, en dat vastleggen vóór de toestemming</a:t>
            </a:r>
          </a:p>
        </p:txBody>
      </p:sp>
      <p:sp>
        <p:nvSpPr>
          <p:cNvPr id="7" name="Rounded Rectangle 6"/>
          <p:cNvSpPr/>
          <p:nvPr/>
        </p:nvSpPr>
        <p:spPr>
          <a:xfrm>
            <a:off x="6349841" y="1904952"/>
            <a:ext cx="241293" cy="241293"/>
          </a:xfrm>
          <a:prstGeom prst="roundRect">
            <a:avLst>
              <a:gd name="adj" fmla="val 20000"/>
            </a:avLst>
          </a:prstGeom>
          <a:solidFill>
            <a:srgbClr val="04182A"/>
          </a:solidFill>
          <a:ln w="1905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718132" y="1879553"/>
            <a:ext cx="4952876" cy="634984"/>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Een drukmeting uitvoeren in de drie condities, drie metingen per voet</a:t>
            </a:r>
          </a:p>
        </p:txBody>
      </p:sp>
      <p:sp>
        <p:nvSpPr>
          <p:cNvPr id="9" name="Rounded Rectangle 8"/>
          <p:cNvSpPr/>
          <p:nvPr/>
        </p:nvSpPr>
        <p:spPr>
          <a:xfrm>
            <a:off x="634984" y="2679633"/>
            <a:ext cx="241293" cy="241293"/>
          </a:xfrm>
          <a:prstGeom prst="roundRect">
            <a:avLst>
              <a:gd name="adj" fmla="val 20000"/>
            </a:avLst>
          </a:prstGeom>
          <a:solidFill>
            <a:srgbClr val="04182A"/>
          </a:solidFill>
          <a:ln w="1905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3274" y="2654233"/>
            <a:ext cx="4952876" cy="634984"/>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De drie doelregio's bepalen en op het voorschrift zetten</a:t>
            </a:r>
          </a:p>
        </p:txBody>
      </p:sp>
      <p:sp>
        <p:nvSpPr>
          <p:cNvPr id="11" name="Rounded Rectangle 10"/>
          <p:cNvSpPr/>
          <p:nvPr/>
        </p:nvSpPr>
        <p:spPr>
          <a:xfrm>
            <a:off x="6349841" y="2679633"/>
            <a:ext cx="241293" cy="241293"/>
          </a:xfrm>
          <a:prstGeom prst="roundRect">
            <a:avLst>
              <a:gd name="adj" fmla="val 20000"/>
            </a:avLst>
          </a:prstGeom>
          <a:solidFill>
            <a:srgbClr val="04182A"/>
          </a:solidFill>
          <a:ln w="1905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718132" y="2654233"/>
            <a:ext cx="4952876" cy="634984"/>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De norm toetsen per regio en aanpassen tot ze gehaald is</a:t>
            </a:r>
          </a:p>
        </p:txBody>
      </p:sp>
      <p:sp>
        <p:nvSpPr>
          <p:cNvPr id="13" name="Rounded Rectangle 12"/>
          <p:cNvSpPr/>
          <p:nvPr/>
        </p:nvSpPr>
        <p:spPr>
          <a:xfrm>
            <a:off x="634984" y="3454313"/>
            <a:ext cx="241293" cy="241293"/>
          </a:xfrm>
          <a:prstGeom prst="roundRect">
            <a:avLst>
              <a:gd name="adj" fmla="val 20000"/>
            </a:avLst>
          </a:prstGeom>
          <a:solidFill>
            <a:srgbClr val="04182A"/>
          </a:solidFill>
          <a:ln w="1905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3274" y="3428914"/>
            <a:ext cx="4952876" cy="634984"/>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De Orthotimer instellen met de juiste uren per dag voor díé patiënt</a:t>
            </a:r>
          </a:p>
        </p:txBody>
      </p:sp>
      <p:sp>
        <p:nvSpPr>
          <p:cNvPr id="15" name="Rounded Rectangle 14"/>
          <p:cNvSpPr/>
          <p:nvPr/>
        </p:nvSpPr>
        <p:spPr>
          <a:xfrm>
            <a:off x="6349841" y="3454313"/>
            <a:ext cx="241293" cy="241293"/>
          </a:xfrm>
          <a:prstGeom prst="roundRect">
            <a:avLst>
              <a:gd name="adj" fmla="val 20000"/>
            </a:avLst>
          </a:prstGeom>
          <a:solidFill>
            <a:srgbClr val="04182A"/>
          </a:solidFill>
          <a:ln w="1905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718132" y="3428914"/>
            <a:ext cx="4952876" cy="634984"/>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De MoveMonitor instellen, meegeven en uitlezen</a:t>
            </a:r>
          </a:p>
        </p:txBody>
      </p:sp>
      <p:sp>
        <p:nvSpPr>
          <p:cNvPr id="17" name="Rounded Rectangle 16"/>
          <p:cNvSpPr/>
          <p:nvPr/>
        </p:nvSpPr>
        <p:spPr>
          <a:xfrm>
            <a:off x="634984" y="4228994"/>
            <a:ext cx="241293" cy="241293"/>
          </a:xfrm>
          <a:prstGeom prst="roundRect">
            <a:avLst>
              <a:gd name="adj" fmla="val 20000"/>
            </a:avLst>
          </a:prstGeom>
          <a:solidFill>
            <a:srgbClr val="04182A"/>
          </a:solidFill>
          <a:ln w="1905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3274" y="4203594"/>
            <a:ext cx="4952876" cy="634984"/>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Een SEBIA-gesprek voeren met teach-back</a:t>
            </a:r>
          </a:p>
        </p:txBody>
      </p:sp>
      <p:sp>
        <p:nvSpPr>
          <p:cNvPr id="19" name="Rounded Rectangle 18"/>
          <p:cNvSpPr/>
          <p:nvPr/>
        </p:nvSpPr>
        <p:spPr>
          <a:xfrm>
            <a:off x="6349841" y="4228994"/>
            <a:ext cx="241293" cy="241293"/>
          </a:xfrm>
          <a:prstGeom prst="roundRect">
            <a:avLst>
              <a:gd name="adj" fmla="val 20000"/>
            </a:avLst>
          </a:prstGeom>
          <a:solidFill>
            <a:srgbClr val="04182A"/>
          </a:solidFill>
          <a:ln w="19050">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718132" y="4203594"/>
            <a:ext cx="4952876" cy="634984"/>
          </a:xfrm>
          <a:prstGeom prst="rect">
            <a:avLst/>
          </a:prstGeom>
          <a:noFill/>
        </p:spPr>
        <p:txBody>
          <a:bodyPr wrap="square" anchor="t" lIns="0" rIns="0" tIns="0" bIns="0">
            <a:spAutoFit/>
          </a:bodyPr>
          <a:lstStyle/>
          <a:p>
            <a:pPr algn="l">
              <a:lnSpc>
                <a:spcPct val="130000"/>
              </a:lnSpc>
            </a:pPr>
            <a:r>
              <a:rPr sz="1550" b="0">
                <a:solidFill>
                  <a:srgbClr val="F2F8FC"/>
                </a:solidFill>
                <a:latin typeface="Segoe UI"/>
              </a:rPr>
              <a:t>Weten wat u meldt, aan wie, en binnen welke termijn</a:t>
            </a:r>
          </a:p>
        </p:txBody>
      </p:sp>
      <p:sp>
        <p:nvSpPr>
          <p:cNvPr id="21" name="Rounded Rectangle 20"/>
          <p:cNvSpPr/>
          <p:nvPr/>
        </p:nvSpPr>
        <p:spPr>
          <a:xfrm>
            <a:off x="634984" y="5041773"/>
            <a:ext cx="10921726" cy="952476"/>
          </a:xfrm>
          <a:prstGeom prst="roundRect">
            <a:avLst>
              <a:gd name="adj" fmla="val 4500"/>
            </a:avLst>
          </a:prstGeom>
          <a:solidFill>
            <a:srgbClr val="0A2A44"/>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52476" y="5219569"/>
            <a:ext cx="10286742" cy="698482"/>
          </a:xfrm>
          <a:prstGeom prst="rect">
            <a:avLst/>
          </a:prstGeom>
          <a:noFill/>
        </p:spPr>
        <p:txBody>
          <a:bodyPr wrap="square" anchor="t" lIns="0" rIns="0" tIns="0" bIns="0">
            <a:spAutoFit/>
          </a:bodyPr>
          <a:lstStyle/>
          <a:p>
            <a:pPr algn="l">
              <a:lnSpc>
                <a:spcPct val="140000"/>
              </a:lnSpc>
            </a:pPr>
            <a:r>
              <a:rPr sz="1800" b="0">
                <a:solidFill>
                  <a:srgbClr val="F2F8FC"/>
                </a:solidFill>
                <a:latin typeface="Segoe UI"/>
              </a:rPr>
              <a:t>Acht handelingen. Wie er één niet aandurft, meldt dat nu — dan plannen we een tweede sessie. Dat is geen zwakte, dat is hoe u fouten in de data voorkomt.</a:t>
            </a:r>
          </a:p>
        </p:txBody>
      </p:sp>
      <p:sp>
        <p:nvSpPr>
          <p:cNvPr id="23" name="TextBox 22"/>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64 / 66</a:t>
            </a:r>
          </a:p>
        </p:txBody>
      </p:sp>
      <p:pic>
        <p:nvPicPr>
          <p:cNvPr id="24"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VOOR HET DOSSIER</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Het opleidingsregister</a:t>
            </a:r>
          </a:p>
        </p:txBody>
      </p:sp>
      <p:sp>
        <p:nvSpPr>
          <p:cNvPr id="5" name="Rounded Rectangle 4"/>
          <p:cNvSpPr/>
          <p:nvPr/>
        </p:nvSpPr>
        <p:spPr>
          <a:xfrm>
            <a:off x="634984" y="1879553"/>
            <a:ext cx="4825879" cy="2539936"/>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377" y="2133546"/>
            <a:ext cx="4267093" cy="2095447"/>
          </a:xfrm>
          <a:prstGeom prst="rect">
            <a:avLst/>
          </a:prstGeom>
          <a:noFill/>
        </p:spPr>
        <p:txBody>
          <a:bodyPr wrap="square" anchor="t" lIns="0" rIns="0" tIns="0" bIns="0">
            <a:spAutoFit/>
          </a:bodyPr>
          <a:lstStyle/>
          <a:p>
            <a:pPr algn="l">
              <a:lnSpc>
                <a:spcPct val="145000"/>
              </a:lnSpc>
            </a:pPr>
            <a:r>
              <a:rPr sz="1700" b="0">
                <a:solidFill>
                  <a:srgbClr val="F2F8FC"/>
                </a:solidFill>
                <a:latin typeface="Segoe UI"/>
              </a:rPr>
              <a:t>ISO 14155 vraagt dat per medewerker aantoonbaar is welke training hij gekregen heeft, wanneer, en voor welke handelingen hij gedelegeerd is. Zonder dat register is uw centrum niet inspectieklaar, hoe goed u het ook doet.</a:t>
            </a:r>
          </a:p>
        </p:txBody>
      </p:sp>
      <p:sp>
        <p:nvSpPr>
          <p:cNvPr id="7" name="Rectangle 6"/>
          <p:cNvSpPr/>
          <p:nvPr/>
        </p:nvSpPr>
        <p:spPr>
          <a:xfrm>
            <a:off x="5841853" y="1879553"/>
            <a:ext cx="5714857"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41853" y="2019249"/>
            <a:ext cx="5714857" cy="279393"/>
          </a:xfrm>
          <a:prstGeom prst="rect">
            <a:avLst/>
          </a:prstGeom>
          <a:noFill/>
        </p:spPr>
        <p:txBody>
          <a:bodyPr wrap="square" anchor="t" lIns="0" rIns="0" tIns="0" bIns="0">
            <a:spAutoFit/>
          </a:bodyPr>
          <a:lstStyle/>
          <a:p>
            <a:pPr algn="l">
              <a:lnSpc>
                <a:spcPct val="125000"/>
              </a:lnSpc>
            </a:pPr>
            <a:r>
              <a:rPr sz="2000" b="1">
                <a:solidFill>
                  <a:srgbClr val="52BDEC"/>
                </a:solidFill>
                <a:latin typeface="Segoe UI"/>
              </a:rPr>
              <a:t>Vandaag tekenen</a:t>
            </a:r>
          </a:p>
        </p:txBody>
      </p:sp>
      <p:sp>
        <p:nvSpPr>
          <p:cNvPr id="9" name="TextBox 8"/>
          <p:cNvSpPr txBox="1"/>
          <p:nvPr/>
        </p:nvSpPr>
        <p:spPr>
          <a:xfrm>
            <a:off x="5841853" y="2298642"/>
            <a:ext cx="5714857" cy="444488"/>
          </a:xfrm>
          <a:prstGeom prst="rect">
            <a:avLst/>
          </a:prstGeom>
          <a:noFill/>
        </p:spPr>
        <p:txBody>
          <a:bodyPr wrap="square" anchor="t" lIns="0" rIns="0" tIns="0" bIns="0">
            <a:spAutoFit/>
          </a:bodyPr>
          <a:lstStyle/>
          <a:p>
            <a:pPr algn="l">
              <a:lnSpc>
                <a:spcPct val="130000"/>
              </a:lnSpc>
            </a:pPr>
            <a:r>
              <a:rPr sz="1500" b="0">
                <a:solidFill>
                  <a:srgbClr val="8FB6D0"/>
                </a:solidFill>
                <a:latin typeface="Segoe UI"/>
              </a:rPr>
              <a:t>Naam, functie, datum, en de handelingen waarvoor u gedelegeerd bent.</a:t>
            </a:r>
          </a:p>
        </p:txBody>
      </p:sp>
      <p:sp>
        <p:nvSpPr>
          <p:cNvPr id="10" name="Rectangle 9"/>
          <p:cNvSpPr/>
          <p:nvPr/>
        </p:nvSpPr>
        <p:spPr>
          <a:xfrm>
            <a:off x="5841853" y="2755831"/>
            <a:ext cx="5714857"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41853" y="2895527"/>
            <a:ext cx="5714857" cy="279393"/>
          </a:xfrm>
          <a:prstGeom prst="rect">
            <a:avLst/>
          </a:prstGeom>
          <a:noFill/>
        </p:spPr>
        <p:txBody>
          <a:bodyPr wrap="square" anchor="t" lIns="0" rIns="0" tIns="0" bIns="0">
            <a:spAutoFit/>
          </a:bodyPr>
          <a:lstStyle/>
          <a:p>
            <a:pPr algn="l">
              <a:lnSpc>
                <a:spcPct val="125000"/>
              </a:lnSpc>
            </a:pPr>
            <a:r>
              <a:rPr sz="2000" b="1">
                <a:solidFill>
                  <a:srgbClr val="52BDEC"/>
                </a:solidFill>
                <a:latin typeface="Segoe UI"/>
              </a:rPr>
              <a:t>Bij elke nieuwe medewerker</a:t>
            </a:r>
          </a:p>
        </p:txBody>
      </p:sp>
      <p:sp>
        <p:nvSpPr>
          <p:cNvPr id="12" name="TextBox 11"/>
          <p:cNvSpPr txBox="1"/>
          <p:nvPr/>
        </p:nvSpPr>
        <p:spPr>
          <a:xfrm>
            <a:off x="5841853" y="3174920"/>
            <a:ext cx="5714857" cy="444488"/>
          </a:xfrm>
          <a:prstGeom prst="rect">
            <a:avLst/>
          </a:prstGeom>
          <a:noFill/>
        </p:spPr>
        <p:txBody>
          <a:bodyPr wrap="square" anchor="t" lIns="0" rIns="0" tIns="0" bIns="0">
            <a:spAutoFit/>
          </a:bodyPr>
          <a:lstStyle/>
          <a:p>
            <a:pPr algn="l">
              <a:lnSpc>
                <a:spcPct val="130000"/>
              </a:lnSpc>
            </a:pPr>
            <a:r>
              <a:rPr sz="1500" b="0">
                <a:solidFill>
                  <a:srgbClr val="8FB6D0"/>
                </a:solidFill>
                <a:latin typeface="Segoe UI"/>
              </a:rPr>
              <a:t>Dezelfde opleiding, dezelfde handtekening, vóór de eerste patiënt.</a:t>
            </a:r>
          </a:p>
        </p:txBody>
      </p:sp>
      <p:sp>
        <p:nvSpPr>
          <p:cNvPr id="13" name="Rectangle 12"/>
          <p:cNvSpPr/>
          <p:nvPr/>
        </p:nvSpPr>
        <p:spPr>
          <a:xfrm>
            <a:off x="5841853" y="3632109"/>
            <a:ext cx="5714857"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841853" y="3771805"/>
            <a:ext cx="5714857" cy="279393"/>
          </a:xfrm>
          <a:prstGeom prst="rect">
            <a:avLst/>
          </a:prstGeom>
          <a:noFill/>
        </p:spPr>
        <p:txBody>
          <a:bodyPr wrap="square" anchor="t" lIns="0" rIns="0" tIns="0" bIns="0">
            <a:spAutoFit/>
          </a:bodyPr>
          <a:lstStyle/>
          <a:p>
            <a:pPr algn="l">
              <a:lnSpc>
                <a:spcPct val="125000"/>
              </a:lnSpc>
            </a:pPr>
            <a:r>
              <a:rPr sz="2000" b="1">
                <a:solidFill>
                  <a:srgbClr val="52BDEC"/>
                </a:solidFill>
                <a:latin typeface="Segoe UI"/>
              </a:rPr>
              <a:t>Bij elke protocolwijziging</a:t>
            </a:r>
          </a:p>
        </p:txBody>
      </p:sp>
      <p:sp>
        <p:nvSpPr>
          <p:cNvPr id="15" name="TextBox 14"/>
          <p:cNvSpPr txBox="1"/>
          <p:nvPr/>
        </p:nvSpPr>
        <p:spPr>
          <a:xfrm>
            <a:off x="5841853" y="4051198"/>
            <a:ext cx="5714857" cy="444488"/>
          </a:xfrm>
          <a:prstGeom prst="rect">
            <a:avLst/>
          </a:prstGeom>
          <a:noFill/>
        </p:spPr>
        <p:txBody>
          <a:bodyPr wrap="square" anchor="t" lIns="0" rIns="0" tIns="0" bIns="0">
            <a:spAutoFit/>
          </a:bodyPr>
          <a:lstStyle/>
          <a:p>
            <a:pPr algn="l">
              <a:lnSpc>
                <a:spcPct val="130000"/>
              </a:lnSpc>
            </a:pPr>
            <a:r>
              <a:rPr sz="1500" b="0">
                <a:solidFill>
                  <a:srgbClr val="8FB6D0"/>
                </a:solidFill>
                <a:latin typeface="Segoe UI"/>
              </a:rPr>
              <a:t>Kort bijscholingsmoment, opnieuw tekenen.</a:t>
            </a:r>
          </a:p>
        </p:txBody>
      </p:sp>
      <p:sp>
        <p:nvSpPr>
          <p:cNvPr id="16" name="TextBox 15"/>
          <p:cNvSpPr txBox="1"/>
          <p:nvPr/>
        </p:nvSpPr>
        <p:spPr>
          <a:xfrm>
            <a:off x="634984" y="4724281"/>
            <a:ext cx="10921726" cy="444488"/>
          </a:xfrm>
          <a:prstGeom prst="rect">
            <a:avLst/>
          </a:prstGeom>
          <a:noFill/>
        </p:spPr>
        <p:txBody>
          <a:bodyPr wrap="square" anchor="t" lIns="0" rIns="0" tIns="0" bIns="0">
            <a:spAutoFit/>
          </a:bodyPr>
          <a:lstStyle/>
          <a:p>
            <a:pPr algn="l">
              <a:lnSpc>
                <a:spcPct val="140000"/>
              </a:lnSpc>
            </a:pPr>
            <a:r>
              <a:rPr sz="1900" b="1">
                <a:solidFill>
                  <a:srgbClr val="F2F8FC"/>
                </a:solidFill>
                <a:latin typeface="Segoe UI"/>
              </a:rPr>
              <a:t>Het register blijft in uw centrum. Wij krijgen een kopie voor het studiedossier.</a:t>
            </a:r>
          </a:p>
        </p:txBody>
      </p:sp>
      <p:sp>
        <p:nvSpPr>
          <p:cNvPr id="17" name="TextBox 16"/>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65 / 66</a:t>
            </a:r>
          </a:p>
        </p:txBody>
      </p:sp>
      <p:pic>
        <p:nvPicPr>
          <p:cNvPr id="18" name="merk" descr="merk.png"/>
          <p:cNvPicPr>
            <a:picLocks noChangeAspect="1"/>
          </p:cNvPicPr>
          <p:nvPr/>
        </p:nvPicPr>
        <p:blipFill>
          <a:blip r:embed="rId2"/>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34984" y="571485"/>
            <a:ext cx="9524761" cy="215894"/>
          </a:xfrm>
          <a:prstGeom prst="rect">
            <a:avLst/>
          </a:prstGeom>
          <a:noFill/>
        </p:spPr>
        <p:txBody>
          <a:bodyPr wrap="square" anchor="t" lIns="0" rIns="0" tIns="0" bIns="0">
            <a:spAutoFit/>
          </a:bodyPr>
          <a:lstStyle/>
          <a:p>
            <a:pPr algn="l">
              <a:lnSpc>
                <a:spcPct val="125000"/>
              </a:lnSpc>
            </a:pPr>
            <a:r>
              <a:rPr sz="1250" b="1" spc="240">
                <a:solidFill>
                  <a:srgbClr val="52BDEC"/>
                </a:solidFill>
                <a:latin typeface="Consolas"/>
              </a:rPr>
              <a:t>WIE U AANSPREEKT</a:t>
            </a:r>
          </a:p>
        </p:txBody>
      </p:sp>
      <p:sp>
        <p:nvSpPr>
          <p:cNvPr id="4" name="!!sectietitel"/>
          <p:cNvSpPr txBox="1"/>
          <p:nvPr/>
        </p:nvSpPr>
        <p:spPr>
          <a:xfrm>
            <a:off x="634984" y="838179"/>
            <a:ext cx="9905752" cy="1269968"/>
          </a:xfrm>
          <a:prstGeom prst="rect">
            <a:avLst/>
          </a:prstGeom>
          <a:noFill/>
        </p:spPr>
        <p:txBody>
          <a:bodyPr wrap="square" anchor="t" lIns="0" rIns="0" tIns="0" bIns="0">
            <a:spAutoFit/>
          </a:bodyPr>
          <a:lstStyle/>
          <a:p>
            <a:pPr algn="l">
              <a:lnSpc>
                <a:spcPct val="110000"/>
              </a:lnSpc>
            </a:pPr>
            <a:r>
              <a:rPr sz="4000" b="1">
                <a:solidFill>
                  <a:srgbClr val="F2F8FC"/>
                </a:solidFill>
                <a:latin typeface="Segoe UI"/>
              </a:rPr>
              <a:t>Voor als er iets misloopt</a:t>
            </a:r>
          </a:p>
        </p:txBody>
      </p:sp>
      <p:sp>
        <p:nvSpPr>
          <p:cNvPr id="5" name="Rounded Rectangle 4"/>
          <p:cNvSpPr/>
          <p:nvPr/>
        </p:nvSpPr>
        <p:spPr>
          <a:xfrm>
            <a:off x="634984" y="1904952"/>
            <a:ext cx="3174920" cy="393690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ortret" descr="janou.png"/>
          <p:cNvPicPr>
            <a:picLocks noChangeAspect="1"/>
          </p:cNvPicPr>
          <p:nvPr/>
        </p:nvPicPr>
        <p:blipFill>
          <a:blip r:embed="rId2"/>
          <a:stretch>
            <a:fillRect/>
          </a:stretch>
        </p:blipFill>
        <p:spPr>
          <a:xfrm>
            <a:off x="777502" y="2006549"/>
            <a:ext cx="2889883" cy="3733706"/>
          </a:xfrm>
          <a:prstGeom prst="rect">
            <a:avLst/>
          </a:prstGeom>
        </p:spPr>
      </p:pic>
      <p:sp>
        <p:nvSpPr>
          <p:cNvPr id="7" name="Rectangle 6"/>
          <p:cNvSpPr/>
          <p:nvPr/>
        </p:nvSpPr>
        <p:spPr>
          <a:xfrm>
            <a:off x="4317892" y="1904952"/>
            <a:ext cx="723881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317892" y="2070048"/>
            <a:ext cx="6349841" cy="380990"/>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Janou De Buyser</a:t>
            </a:r>
          </a:p>
        </p:txBody>
      </p:sp>
      <p:sp>
        <p:nvSpPr>
          <p:cNvPr id="9" name="TextBox 8"/>
          <p:cNvSpPr txBox="1"/>
          <p:nvPr/>
        </p:nvSpPr>
        <p:spPr>
          <a:xfrm>
            <a:off x="4330591" y="2539936"/>
            <a:ext cx="5714857" cy="228594"/>
          </a:xfrm>
          <a:prstGeom prst="rect">
            <a:avLst/>
          </a:prstGeom>
          <a:noFill/>
        </p:spPr>
        <p:txBody>
          <a:bodyPr wrap="square" anchor="t" lIns="0" rIns="0" tIns="0" bIns="0">
            <a:spAutoFit/>
          </a:bodyPr>
          <a:lstStyle/>
          <a:p>
            <a:pPr algn="l">
              <a:lnSpc>
                <a:spcPct val="125000"/>
              </a:lnSpc>
            </a:pPr>
            <a:r>
              <a:rPr sz="1300" b="1" spc="150">
                <a:solidFill>
                  <a:srgbClr val="52BDEC"/>
                </a:solidFill>
                <a:latin typeface="Consolas"/>
              </a:rPr>
              <a:t>DOCTORAATSONDERZOEKER · DAGELIJKSE OPVOLGING</a:t>
            </a:r>
          </a:p>
        </p:txBody>
      </p:sp>
      <p:sp>
        <p:nvSpPr>
          <p:cNvPr id="10" name="TextBox 9"/>
          <p:cNvSpPr txBox="1"/>
          <p:nvPr/>
        </p:nvSpPr>
        <p:spPr>
          <a:xfrm>
            <a:off x="4317892" y="2857428"/>
            <a:ext cx="7238819" cy="634984"/>
          </a:xfrm>
          <a:prstGeom prst="rect">
            <a:avLst/>
          </a:prstGeom>
          <a:noFill/>
        </p:spPr>
        <p:txBody>
          <a:bodyPr wrap="square" anchor="t" lIns="0" rIns="0" tIns="0" bIns="0">
            <a:spAutoFit/>
          </a:bodyPr>
          <a:lstStyle/>
          <a:p>
            <a:pPr algn="l">
              <a:lnSpc>
                <a:spcPct val="135000"/>
              </a:lnSpc>
            </a:pPr>
            <a:r>
              <a:rPr sz="1650" b="0">
                <a:solidFill>
                  <a:srgbClr val="8FB6D0"/>
                </a:solidFill>
                <a:latin typeface="Segoe UI"/>
              </a:rPr>
              <a:t>Uw eerste aanspreekpunt: inclusies, metingen, REDCap, sensoren en alles wat in de praktijk vastloopt.</a:t>
            </a:r>
          </a:p>
        </p:txBody>
      </p:sp>
      <p:sp>
        <p:nvSpPr>
          <p:cNvPr id="11" name="TextBox 10"/>
          <p:cNvSpPr txBox="1"/>
          <p:nvPr/>
        </p:nvSpPr>
        <p:spPr>
          <a:xfrm>
            <a:off x="4317892" y="3530511"/>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janou.debuyser@kuleuven.be</a:t>
            </a:r>
          </a:p>
        </p:txBody>
      </p:sp>
      <p:sp>
        <p:nvSpPr>
          <p:cNvPr id="12" name="TextBox 11"/>
          <p:cNvSpPr txBox="1"/>
          <p:nvPr/>
        </p:nvSpPr>
        <p:spPr>
          <a:xfrm>
            <a:off x="7873803" y="3530511"/>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Spoorwegstraat 12 · Brugge</a:t>
            </a:r>
          </a:p>
        </p:txBody>
      </p:sp>
      <p:sp>
        <p:nvSpPr>
          <p:cNvPr id="13" name="Rectangle 12"/>
          <p:cNvSpPr/>
          <p:nvPr/>
        </p:nvSpPr>
        <p:spPr>
          <a:xfrm>
            <a:off x="4317892" y="3873403"/>
            <a:ext cx="723881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17892" y="4038499"/>
            <a:ext cx="6349841" cy="380990"/>
          </a:xfrm>
          <a:prstGeom prst="rect">
            <a:avLst/>
          </a:prstGeom>
          <a:noFill/>
        </p:spPr>
        <p:txBody>
          <a:bodyPr wrap="square" anchor="t" lIns="0" rIns="0" tIns="0" bIns="0">
            <a:spAutoFit/>
          </a:bodyPr>
          <a:lstStyle/>
          <a:p>
            <a:pPr algn="l">
              <a:lnSpc>
                <a:spcPct val="125000"/>
              </a:lnSpc>
            </a:pPr>
            <a:r>
              <a:rPr sz="3000" b="1">
                <a:solidFill>
                  <a:srgbClr val="F2F8FC"/>
                </a:solidFill>
                <a:latin typeface="Segoe UI"/>
              </a:rPr>
              <a:t>prof. dr. Kevin Deschamps</a:t>
            </a:r>
          </a:p>
        </p:txBody>
      </p:sp>
      <p:sp>
        <p:nvSpPr>
          <p:cNvPr id="15" name="TextBox 14"/>
          <p:cNvSpPr txBox="1"/>
          <p:nvPr/>
        </p:nvSpPr>
        <p:spPr>
          <a:xfrm>
            <a:off x="4330591" y="4508387"/>
            <a:ext cx="5714857" cy="228594"/>
          </a:xfrm>
          <a:prstGeom prst="rect">
            <a:avLst/>
          </a:prstGeom>
          <a:noFill/>
        </p:spPr>
        <p:txBody>
          <a:bodyPr wrap="square" anchor="t" lIns="0" rIns="0" tIns="0" bIns="0">
            <a:spAutoFit/>
          </a:bodyPr>
          <a:lstStyle/>
          <a:p>
            <a:pPr algn="l">
              <a:lnSpc>
                <a:spcPct val="125000"/>
              </a:lnSpc>
            </a:pPr>
            <a:r>
              <a:rPr sz="1300" b="1" spc="150">
                <a:solidFill>
                  <a:srgbClr val="52BDEC"/>
                </a:solidFill>
                <a:latin typeface="Consolas"/>
              </a:rPr>
              <a:t>PROMOTOR</a:t>
            </a:r>
          </a:p>
        </p:txBody>
      </p:sp>
      <p:sp>
        <p:nvSpPr>
          <p:cNvPr id="16" name="TextBox 15"/>
          <p:cNvSpPr txBox="1"/>
          <p:nvPr/>
        </p:nvSpPr>
        <p:spPr>
          <a:xfrm>
            <a:off x="4317892" y="4825879"/>
            <a:ext cx="7238819" cy="634984"/>
          </a:xfrm>
          <a:prstGeom prst="rect">
            <a:avLst/>
          </a:prstGeom>
          <a:noFill/>
        </p:spPr>
        <p:txBody>
          <a:bodyPr wrap="square" anchor="t" lIns="0" rIns="0" tIns="0" bIns="0">
            <a:spAutoFit/>
          </a:bodyPr>
          <a:lstStyle/>
          <a:p>
            <a:pPr algn="l">
              <a:lnSpc>
                <a:spcPct val="135000"/>
              </a:lnSpc>
            </a:pPr>
            <a:r>
              <a:rPr sz="1650" b="0">
                <a:solidFill>
                  <a:srgbClr val="8FB6D0"/>
                </a:solidFill>
                <a:latin typeface="Segoe UI"/>
              </a:rPr>
              <a:t>Wetenschappelijke vragen, de opzet van de studie en afspraken op het niveau van uw centrum.</a:t>
            </a:r>
          </a:p>
        </p:txBody>
      </p:sp>
      <p:sp>
        <p:nvSpPr>
          <p:cNvPr id="17" name="TextBox 16"/>
          <p:cNvSpPr txBox="1"/>
          <p:nvPr/>
        </p:nvSpPr>
        <p:spPr>
          <a:xfrm>
            <a:off x="4317892" y="5498962"/>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Revalidatiewetenschappen</a:t>
            </a:r>
          </a:p>
        </p:txBody>
      </p:sp>
      <p:sp>
        <p:nvSpPr>
          <p:cNvPr id="18" name="TextBox 17"/>
          <p:cNvSpPr txBox="1"/>
          <p:nvPr/>
        </p:nvSpPr>
        <p:spPr>
          <a:xfrm>
            <a:off x="7873803" y="5498962"/>
            <a:ext cx="3682907" cy="253993"/>
          </a:xfrm>
          <a:prstGeom prst="rect">
            <a:avLst/>
          </a:prstGeom>
          <a:noFill/>
        </p:spPr>
        <p:txBody>
          <a:bodyPr wrap="none" anchor="t" lIns="0" rIns="0" tIns="0" bIns="0">
            <a:spAutoFit/>
          </a:bodyPr>
          <a:lstStyle/>
          <a:p>
            <a:pPr algn="l">
              <a:lnSpc>
                <a:spcPct val="125000"/>
              </a:lnSpc>
            </a:pPr>
            <a:r>
              <a:rPr sz="1600" b="0">
                <a:solidFill>
                  <a:srgbClr val="F2F8FC"/>
                </a:solidFill>
                <a:latin typeface="Consolas"/>
              </a:rPr>
              <a:t>KU Leuven · Campus Brugge</a:t>
            </a:r>
          </a:p>
        </p:txBody>
      </p:sp>
      <p:sp>
        <p:nvSpPr>
          <p:cNvPr id="19" name="Rectangle 18"/>
          <p:cNvSpPr/>
          <p:nvPr/>
        </p:nvSpPr>
        <p:spPr>
          <a:xfrm>
            <a:off x="634984" y="5968850"/>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4984" y="6108547"/>
            <a:ext cx="10921726" cy="380990"/>
          </a:xfrm>
          <a:prstGeom prst="rect">
            <a:avLst/>
          </a:prstGeom>
          <a:noFill/>
        </p:spPr>
        <p:txBody>
          <a:bodyPr wrap="square" anchor="t" lIns="0" rIns="0" tIns="0" bIns="0">
            <a:spAutoFit/>
          </a:bodyPr>
          <a:lstStyle/>
          <a:p>
            <a:pPr algn="l">
              <a:lnSpc>
                <a:spcPct val="135000"/>
              </a:lnSpc>
            </a:pPr>
            <a:r>
              <a:rPr sz="1300" b="0">
                <a:solidFill>
                  <a:srgbClr val="8FB6D0"/>
                </a:solidFill>
                <a:latin typeface="Segoe UI"/>
              </a:rPr>
              <a:t>Consortium: KU Leuven — Revalidatiewetenschappen (Musculoskeletal Research Group) en Volksgezondheid en Eerstelijnszorg · Vrije Universiteit Brussel — Geneeskunde en Farmacie. Co-promotoren: Fabienne Dobbels, Maaike Fobelets en Koen Putman.</a:t>
            </a:r>
          </a:p>
        </p:txBody>
      </p:sp>
      <p:sp>
        <p:nvSpPr>
          <p:cNvPr id="21" name="TextBox 20"/>
          <p:cNvSpPr txBox="1"/>
          <p:nvPr/>
        </p:nvSpPr>
        <p:spPr>
          <a:xfrm>
            <a:off x="10540736" y="6387940"/>
            <a:ext cx="1015974" cy="177795"/>
          </a:xfrm>
          <a:prstGeom prst="rect">
            <a:avLst/>
          </a:prstGeom>
          <a:noFill/>
        </p:spPr>
        <p:txBody>
          <a:bodyPr wrap="square" anchor="t" lIns="0" rIns="0" tIns="0" bIns="0">
            <a:spAutoFit/>
          </a:bodyPr>
          <a:lstStyle/>
          <a:p>
            <a:pPr algn="r">
              <a:lnSpc>
                <a:spcPct val="125000"/>
              </a:lnSpc>
            </a:pPr>
            <a:r>
              <a:rPr sz="1050" b="0">
                <a:solidFill>
                  <a:srgbClr val="8FB6D0"/>
                </a:solidFill>
                <a:latin typeface="Consolas"/>
              </a:rPr>
              <a:t>66 / 66</a:t>
            </a:r>
          </a:p>
        </p:txBody>
      </p:sp>
      <p:pic>
        <p:nvPicPr>
          <p:cNvPr id="22" name="merk" descr="merk.png"/>
          <p:cNvPicPr>
            <a:picLocks noChangeAspect="1"/>
          </p:cNvPicPr>
          <p:nvPr/>
        </p:nvPicPr>
        <p:blipFill>
          <a:blip r:embed="rId3"/>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xmlns:p14="http://schemas.microsoft.com/office/powerpoint/2010/main" spd="slow" p14:dur="900">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