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lat voor vandaag. Zes handelingen, en na deze sessie doet u ze zelf. Herkent u er één waarvan u nu al denkt: dat durf ik niet — zeg het dan meteen. Daar is deze sessie voor.</a:t>
            </a:r>
          </a:p>
          <a:p/>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blokken. Eerst waarom de studie zo is opgezet, dan de meting, dan het traject bezoek per bezoek, en tot slot de toestellen en de regels. Ik hou tijd vrij na elk blok.</a:t>
            </a:r>
          </a:p>
          <a:p/>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software verdeelt de voet in acht regio's. Daarvan kiest u er drie als doelregio. Die drie zet u op het voorschrift. En alleen dáár wordt de norm getoetst, niet over de hele voet.</a:t>
            </a:r>
          </a:p>
          <a:p/>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condities, altijd in deze volgorde. Blootsvoets is uw referentie. In de schoen zonder zool toont wat het schoeisel alleen doet. In de schoen mét zool is de meting waarop de norm getoetst wordt — slaat u er één over, dan is de vergelijking onbruikbaar.</a:t>
            </a:r>
          </a:p>
          <a:p/>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visite nul. De volgorde ligt vast: screenen, tekenen, geschiktheid bevestigen, en pas dan loten. Vul geen enkel ander formulier in vóór de handtekening. Ook een afwijzing noteert u, want ook dat is studiedata.</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5. Zeg de handeling in uw eigen woorden en wijs aan waar ze op het formulier terechtkomt.</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5.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5.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5.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5,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Categorie drie volgens IWGDF: een genezen plantair ulcus, of een kleine amputatie. Links wat toelaat, rechts wat uitsluit. De rode draad: offloading moet de juiste behandeling zijn, dus kritieke ischemie en actieve Charcot vallen af.</a:t>
            </a:r>
          </a:p>
          <a:p/>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één, het langste bezoek van de studie. Meten, voorschrijven, vragenlijsten en het eerste educatiegesprek. Twee dingen liggen vast: het voorschrift gebeurt hier en niet later, en NAFF en HLS gaan vóór de educatie.</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7. Zeg de handeling in uw eigen woorden en wijs aan waar ze op het formulier terechtkomt.</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6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7 van 7,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twee, veertien dagen tot één maand later. Technisch het zwaarste bezoek: afleveren, pasvorm in binnen- én buitenschoeisel, meten, aanpassen tot de norm gehaald is. Pas dán gaat de Orthotimer in de zool, en pas dan bestelt u het tweede paar.</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7. Zeg de handeling in uw eigen woorden en wijs aan waar ze op het formulier terechtkomt.</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6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7 van 7,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Visites drie tot acht, elke drie maanden. Screenen, uitlezen, bespreken, en beide paren zolen beoordelen. Uitlezen kan alleen ter plaatse: een gemiste uitlezing verzwakt de draagtijd van die patiënt over de hele periode.</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6. Zeg de handeling in uw eigen woorden en wijs aan waar ze op het formulier terechtkomt.</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6 van 6,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Op maand zes, twaalf en achttien komt er een drukmeting bij. Drie keer, niet twee. Dezelfde drie condities, dezelfde toetsing per doelregio. Ligt de piekdruk er weer boven, dan past u opnieuw aan.</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3. Zeg de handeling in uw eigen woorden en wijs aan waar ze op het formulier terechtkomt.</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3.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3,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opbouw hangt af van het schoentype. In een volledig maatgemaakte schoen vijf millimeter kurk met vijf millimeter EVA; in een confectieschoen zes millimeter EVA, zonder kurk. De rest is gelijk. Dit staat op het voorschrift — u moet het herkennen, niet onthouden.</a:t>
            </a:r>
          </a:p>
          <a:p/>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Interval vijftien minuten, batterij ongeveer honderd dagen. Daarom leest u elke drie maanden uit én vervangt u. Registreer het toestelnummer bij elke wissel, anders is de draagtijd niet toewijsbaar.</a:t>
            </a:r>
          </a:p>
          <a:p/>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Een volle week, op de onderrug. Op de baseline, en opnieuw op maand zes. Zeg expliciet dat hij niet waterdicht is. Uit deze week komt de tachtig-procentnorm van díe patiënt.</a:t>
            </a:r>
          </a:p>
          <a:p/>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vijf gesprekken, geen enkele sessie. Eerst kennis en educatie, dan teach-back bij de aflevering, dan tweemaal de sensordata samen bekijken, dan voordoen, en op achttien maanden afsluiten. Het verschil met gewone educatie: het herhaalt, en het staat op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Wat u meldt, en hoe snel. Een nieuw ulcus is de primaire uitkomst, dus dat meldt u altijd. Ernstige voorvallen binnen vierentwintig uur na kennisname. En onthoud dit: een afwijking die u meldt is een gegeven, een afwijking die u niet meldt is een fout in de data van de hele studie.</a:t>
            </a:r>
          </a:p>
          <a:p/>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een vangnet, geen programma. Toon hem alleen als de vragen opdrogen, en beantwoord dan alleen wat nog niet aan bod kwam.</a:t>
            </a:r>
          </a:p>
          <a:p/>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het is geen dreigement maar een vaststelling. Wij leiden op en wij voeren in. De handelingen zijn van u, vanaf de eerste patiënt.</a:t>
            </a:r>
          </a:p>
          <a:p/>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Loop deze lijst met uzelf af. Bij elk punt: kunt u het nu zelf, of hebt u er nog een keer oefening voor nodig? Wie twijfelt, zegt het nu. Dat is geen probleem — het niet zeggen wel.</a:t>
            </a:r>
          </a:p>
          <a:p/>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ISO 14155 vraagt dat per medewerker aantoonbaar is welke training hij kreeg en voor welke handelingen hij gedelegeerd is. Vandaag tekenen. Bij elke nieuwe medewerker opnieuw, en bij elke protocolwijziging opnieuw. Het register blijft bij u; wij krijgen een kopie.</a:t>
            </a:r>
          </a:p>
          <a:p/>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Opleidingssessie · zes voetklinieken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71</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melden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71</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71</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80" name="TextBox 17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71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71</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71</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71</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71</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71</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71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71</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71</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7" name="TextBox 366"/>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71</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71</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1" name="TextBox 20"/>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71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71</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71</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71</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71</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71</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71</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71</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71</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8 · IWGDF 2023, preventie   |   25 · IWGDF 2023, definities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het onderzoeksteam verwerkt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71</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6" name="TextBox 1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26 · Lincoln 2007, NAFF</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71</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71</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Sensoren met dubbelzijdige tape op de blote voet, kous erover</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71</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Schermafdruk van de multimask met de drie regio's aangeduid</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Bepaal de drie doelregio's en schrijf de zool voor, mét die regio's op het voorschrift.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71</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71</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71</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Toestel om het middel, ter hoogte van L5</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Geef de MoveMonitor mee voor zeven dagen en registreer het toestelnummer.</a:t>
            </a:r>
          </a:p>
        </p:txBody>
      </p:sp>
      <p:sp>
        <p:nvSpPr>
          <p:cNvPr id="8" name="TextBox 7"/>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9" name="Rounded Rectangle 8"/>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11" name="TextBox 10"/>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2" name="Rounded Rectangle 11"/>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4" name="TextBox 13"/>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5" name="Rounded Rectangle 14"/>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7" name="TextBox 16"/>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8" name="Rounded Rectangle 17"/>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20" name="TextBox 19"/>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21" name="Rounded Rectangle 20"/>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3" name="TextBox 22"/>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4" name="Rounded Rectangle 23"/>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6" name="TextBox 25"/>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7" name="Rounded Rectangle 26"/>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9" name="TextBox 28"/>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30" name="Rounded Rectangle 29"/>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2" name="TextBox 31"/>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3" name="Rounded Rectangle 32"/>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5" name="TextBox 34"/>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6" name="Rounded Rectangle 35"/>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8" name="TextBox 37"/>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9" name="Rounded Rectangle 38"/>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41" name="TextBox 40"/>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2" name="Rounded Rectangle 41"/>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4" name="TextBox 43"/>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5" name="Rounded Rectangle 44"/>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7" name="TextBox 46"/>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8" name="Rounded Rectangle 47"/>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50" name="TextBox 49"/>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51" name="Rectangle 50"/>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4"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71</a:t>
            </a:r>
          </a:p>
        </p:txBody>
      </p:sp>
      <p:pic>
        <p:nvPicPr>
          <p:cNvPr id="6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71</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6" name="TextBox 1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zool in de schoen, boven- en onderaanzicht</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Lever de zool af. Controleer de pasvorm in het bínnenschoeisel én het búitenschoeisel, en neem de foto's.</a:t>
            </a:r>
          </a:p>
        </p:txBody>
      </p:sp>
      <p:sp>
        <p:nvSpPr>
          <p:cNvPr id="8"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71</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71</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71</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uitsparing in de zool met de sensor erin</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Plaats en activeer de Orthotimer in de zool en registreer het toestelnummer.</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71</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71</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71</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71</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71</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6" name="TextBox 1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   |   29 · Dahmen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71</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pen op de sensor, of de uitdraai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Bevraag de therapietrouw, lees de Orthotimer uit en bespreek de uitdraai niet-veroordelend.</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71</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Twee paren naast elkaar, versleten en nieuw</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Beoordeel beide paren zolen. Het paar dat onderhoud nodig heeft gaat naar de pedorthist, deklaag inbegrepen.</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71</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71</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71</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71</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71</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6" name="TextBox 1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drie condities naast elkaar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Herhaal de drukmeting in de drie condities en toets opnieuw per doelregio.</a:t>
            </a:r>
          </a:p>
        </p:txBody>
      </p:sp>
      <p:sp>
        <p:nvSpPr>
          <p:cNvPr id="8"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71</a:t>
            </a:r>
          </a:p>
        </p:txBody>
      </p:sp>
      <p:pic>
        <p:nvPicPr>
          <p:cNvPr id="1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71</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het recidief wordt over de volle achttien maanden geteld.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71</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71</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71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71</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71</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9" name="TextBox 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71</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2" name="TextBox 4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71</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2" name="TextBox 4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71</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2" name="TextBox 4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71</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19 · Michie 2011, COM-B   |   26 · Lincoln 2007, NAFF   |   31 · Keukenkamp 2022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71</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71</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25 · IWGDF 2023, definities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71</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 name="TextBox 3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65 / 71</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71</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formulieren volledig invullen en 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68 / 71</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69 / 71</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21 · SPIRIT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70 / 71</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a:t>
            </a:r>
          </a:p>
        </p:txBody>
      </p:sp>
      <p:sp>
        <p:nvSpPr>
          <p:cNvPr id="6" name="TextBox 5"/>
          <p:cNvSpPr txBox="1"/>
          <p:nvPr/>
        </p:nvSpPr>
        <p:spPr>
          <a:xfrm>
            <a:off x="96517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Armstrong DG et al. N Engl J Med. 2017;376(24):2367–75.</a:t>
            </a:r>
          </a:p>
        </p:txBody>
      </p:sp>
      <p:sp>
        <p:nvSpPr>
          <p:cNvPr id="7" name="TextBox 6"/>
          <p:cNvSpPr txBox="1"/>
          <p:nvPr/>
        </p:nvSpPr>
        <p:spPr>
          <a:xfrm>
            <a:off x="634984"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5</a:t>
            </a:r>
          </a:p>
        </p:txBody>
      </p:sp>
      <p:sp>
        <p:nvSpPr>
          <p:cNvPr id="8" name="TextBox 7"/>
          <p:cNvSpPr txBox="1"/>
          <p:nvPr/>
        </p:nvSpPr>
        <p:spPr>
          <a:xfrm>
            <a:off x="96517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2016;32(Suppl 1):195–200.</a:t>
            </a:r>
          </a:p>
        </p:txBody>
      </p:sp>
      <p:sp>
        <p:nvSpPr>
          <p:cNvPr id="9" name="TextBox 8"/>
          <p:cNvSpPr txBox="1"/>
          <p:nvPr/>
        </p:nvSpPr>
        <p:spPr>
          <a:xfrm>
            <a:off x="634984"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6</a:t>
            </a:r>
          </a:p>
        </p:txBody>
      </p:sp>
      <p:sp>
        <p:nvSpPr>
          <p:cNvPr id="10" name="TextBox 9"/>
          <p:cNvSpPr txBox="1"/>
          <p:nvPr/>
        </p:nvSpPr>
        <p:spPr>
          <a:xfrm>
            <a:off x="965175" y="289091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2011;34(7):1595–600.</a:t>
            </a:r>
          </a:p>
        </p:txBody>
      </p:sp>
      <p:sp>
        <p:nvSpPr>
          <p:cNvPr id="11" name="TextBox 10"/>
          <p:cNvSpPr txBox="1"/>
          <p:nvPr/>
        </p:nvSpPr>
        <p:spPr>
          <a:xfrm>
            <a:off x="634984" y="340929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7</a:t>
            </a:r>
          </a:p>
        </p:txBody>
      </p:sp>
      <p:sp>
        <p:nvSpPr>
          <p:cNvPr id="12" name="TextBox 11"/>
          <p:cNvSpPr txBox="1"/>
          <p:nvPr/>
        </p:nvSpPr>
        <p:spPr>
          <a:xfrm>
            <a:off x="965175" y="340929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2020;36(S1):e3237.</a:t>
            </a:r>
          </a:p>
        </p:txBody>
      </p:sp>
      <p:sp>
        <p:nvSpPr>
          <p:cNvPr id="13" name="TextBox 12"/>
          <p:cNvSpPr txBox="1"/>
          <p:nvPr/>
        </p:nvSpPr>
        <p:spPr>
          <a:xfrm>
            <a:off x="634984" y="3927676"/>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8</a:t>
            </a:r>
          </a:p>
        </p:txBody>
      </p:sp>
      <p:sp>
        <p:nvSpPr>
          <p:cNvPr id="14" name="TextBox 13"/>
          <p:cNvSpPr txBox="1"/>
          <p:nvPr/>
        </p:nvSpPr>
        <p:spPr>
          <a:xfrm>
            <a:off x="965175" y="3927676"/>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2024;40(3):e3651.</a:t>
            </a:r>
          </a:p>
        </p:txBody>
      </p:sp>
      <p:sp>
        <p:nvSpPr>
          <p:cNvPr id="15" name="TextBox 14"/>
          <p:cNvSpPr txBox="1"/>
          <p:nvPr/>
        </p:nvSpPr>
        <p:spPr>
          <a:xfrm>
            <a:off x="634984" y="444605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9</a:t>
            </a:r>
          </a:p>
        </p:txBody>
      </p:sp>
      <p:sp>
        <p:nvSpPr>
          <p:cNvPr id="16" name="TextBox 15"/>
          <p:cNvSpPr txBox="1"/>
          <p:nvPr/>
        </p:nvSpPr>
        <p:spPr>
          <a:xfrm>
            <a:off x="965175" y="444605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2013;36(12):4109–16.</a:t>
            </a:r>
          </a:p>
        </p:txBody>
      </p:sp>
      <p:sp>
        <p:nvSpPr>
          <p:cNvPr id="17" name="TextBox 16"/>
          <p:cNvSpPr txBox="1"/>
          <p:nvPr/>
        </p:nvSpPr>
        <p:spPr>
          <a:xfrm>
            <a:off x="634984" y="496443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13</a:t>
            </a:r>
          </a:p>
        </p:txBody>
      </p:sp>
      <p:sp>
        <p:nvSpPr>
          <p:cNvPr id="18" name="TextBox 17"/>
          <p:cNvSpPr txBox="1"/>
          <p:nvPr/>
        </p:nvSpPr>
        <p:spPr>
          <a:xfrm>
            <a:off x="965175" y="496443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2013;36(6):1613–8.</a:t>
            </a:r>
          </a:p>
        </p:txBody>
      </p:sp>
      <p:sp>
        <p:nvSpPr>
          <p:cNvPr id="19" name="TextBox 18"/>
          <p:cNvSpPr txBox="1"/>
          <p:nvPr/>
        </p:nvSpPr>
        <p:spPr>
          <a:xfrm>
            <a:off x="432627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14</a:t>
            </a:r>
          </a:p>
        </p:txBody>
      </p:sp>
      <p:sp>
        <p:nvSpPr>
          <p:cNvPr id="20" name="TextBox 19"/>
          <p:cNvSpPr txBox="1"/>
          <p:nvPr/>
        </p:nvSpPr>
        <p:spPr>
          <a:xfrm>
            <a:off x="465646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Clin Biomech. 2018;53:86–92.</a:t>
            </a:r>
          </a:p>
        </p:txBody>
      </p:sp>
      <p:sp>
        <p:nvSpPr>
          <p:cNvPr id="21" name="TextBox 20"/>
          <p:cNvSpPr txBox="1"/>
          <p:nvPr/>
        </p:nvSpPr>
        <p:spPr>
          <a:xfrm>
            <a:off x="432627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16</a:t>
            </a:r>
          </a:p>
        </p:txBody>
      </p:sp>
      <p:sp>
        <p:nvSpPr>
          <p:cNvPr id="22" name="TextBox 21"/>
          <p:cNvSpPr txBox="1"/>
          <p:nvPr/>
        </p:nvSpPr>
        <p:spPr>
          <a:xfrm>
            <a:off x="4656465" y="237253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Hulshof CM et al. Diabet Med. 2025;42:e70099.</a:t>
            </a:r>
          </a:p>
        </p:txBody>
      </p:sp>
      <p:sp>
        <p:nvSpPr>
          <p:cNvPr id="23" name="TextBox 22"/>
          <p:cNvSpPr txBox="1"/>
          <p:nvPr/>
        </p:nvSpPr>
        <p:spPr>
          <a:xfrm>
            <a:off x="4326273" y="267617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17</a:t>
            </a:r>
          </a:p>
        </p:txBody>
      </p:sp>
      <p:sp>
        <p:nvSpPr>
          <p:cNvPr id="24" name="TextBox 23"/>
          <p:cNvSpPr txBox="1"/>
          <p:nvPr/>
        </p:nvSpPr>
        <p:spPr>
          <a:xfrm>
            <a:off x="4656465" y="267617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2014;37(6):1697–705.</a:t>
            </a:r>
          </a:p>
        </p:txBody>
      </p:sp>
      <p:sp>
        <p:nvSpPr>
          <p:cNvPr id="25" name="TextBox 24"/>
          <p:cNvSpPr txBox="1"/>
          <p:nvPr/>
        </p:nvSpPr>
        <p:spPr>
          <a:xfrm>
            <a:off x="4326273" y="319455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18</a:t>
            </a:r>
          </a:p>
        </p:txBody>
      </p:sp>
      <p:sp>
        <p:nvSpPr>
          <p:cNvPr id="26" name="TextBox 25"/>
          <p:cNvSpPr txBox="1"/>
          <p:nvPr/>
        </p:nvSpPr>
        <p:spPr>
          <a:xfrm>
            <a:off x="4656465" y="319455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Lutjeboer T et al. J Rehabil Med. 2018;50(10):920–6.</a:t>
            </a:r>
          </a:p>
        </p:txBody>
      </p:sp>
      <p:sp>
        <p:nvSpPr>
          <p:cNvPr id="27" name="TextBox 26"/>
          <p:cNvSpPr txBox="1"/>
          <p:nvPr/>
        </p:nvSpPr>
        <p:spPr>
          <a:xfrm>
            <a:off x="4326273" y="37129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19</a:t>
            </a:r>
          </a:p>
        </p:txBody>
      </p:sp>
      <p:sp>
        <p:nvSpPr>
          <p:cNvPr id="28" name="TextBox 27"/>
          <p:cNvSpPr txBox="1"/>
          <p:nvPr/>
        </p:nvSpPr>
        <p:spPr>
          <a:xfrm>
            <a:off x="4656465" y="371293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Michie S et al. Implement Sci. 2011;6:42.</a:t>
            </a:r>
          </a:p>
        </p:txBody>
      </p:sp>
      <p:sp>
        <p:nvSpPr>
          <p:cNvPr id="29" name="TextBox 28"/>
          <p:cNvSpPr txBox="1"/>
          <p:nvPr/>
        </p:nvSpPr>
        <p:spPr>
          <a:xfrm>
            <a:off x="4326273" y="401657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20</a:t>
            </a:r>
          </a:p>
        </p:txBody>
      </p:sp>
      <p:sp>
        <p:nvSpPr>
          <p:cNvPr id="30" name="TextBox 29"/>
          <p:cNvSpPr txBox="1"/>
          <p:nvPr/>
        </p:nvSpPr>
        <p:spPr>
          <a:xfrm>
            <a:off x="4656465" y="401657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Morbach S et al. Diabetes Metab Res Rev. 2016;32(Suppl 1):318–25.</a:t>
            </a:r>
          </a:p>
        </p:txBody>
      </p:sp>
      <p:sp>
        <p:nvSpPr>
          <p:cNvPr id="31" name="TextBox 30"/>
          <p:cNvSpPr txBox="1"/>
          <p:nvPr/>
        </p:nvSpPr>
        <p:spPr>
          <a:xfrm>
            <a:off x="4326273" y="453495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21</a:t>
            </a:r>
          </a:p>
        </p:txBody>
      </p:sp>
      <p:sp>
        <p:nvSpPr>
          <p:cNvPr id="32" name="TextBox 31"/>
          <p:cNvSpPr txBox="1"/>
          <p:nvPr/>
        </p:nvSpPr>
        <p:spPr>
          <a:xfrm>
            <a:off x="4656465" y="453495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Chan A-W et al. BMJ. 2025;389:e081477.</a:t>
            </a:r>
          </a:p>
        </p:txBody>
      </p:sp>
      <p:sp>
        <p:nvSpPr>
          <p:cNvPr id="33" name="TextBox 32"/>
          <p:cNvSpPr txBox="1"/>
          <p:nvPr/>
        </p:nvSpPr>
        <p:spPr>
          <a:xfrm>
            <a:off x="801756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25</a:t>
            </a:r>
          </a:p>
        </p:txBody>
      </p:sp>
      <p:sp>
        <p:nvSpPr>
          <p:cNvPr id="34" name="TextBox 33"/>
          <p:cNvSpPr txBox="1"/>
          <p:nvPr/>
        </p:nvSpPr>
        <p:spPr>
          <a:xfrm>
            <a:off x="834775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Diabetes Metab Res Rev. 2024;40(3):e3654.</a:t>
            </a:r>
          </a:p>
        </p:txBody>
      </p:sp>
      <p:sp>
        <p:nvSpPr>
          <p:cNvPr id="35" name="TextBox 34"/>
          <p:cNvSpPr txBox="1"/>
          <p:nvPr/>
        </p:nvSpPr>
        <p:spPr>
          <a:xfrm>
            <a:off x="801756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26</a:t>
            </a:r>
          </a:p>
        </p:txBody>
      </p:sp>
      <p:sp>
        <p:nvSpPr>
          <p:cNvPr id="36" name="TextBox 35"/>
          <p:cNvSpPr txBox="1"/>
          <p:nvPr/>
        </p:nvSpPr>
        <p:spPr>
          <a:xfrm>
            <a:off x="834775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Lincoln NB et al. Pract Diabetes Int. 2007;24(4):207–11.</a:t>
            </a:r>
          </a:p>
        </p:txBody>
      </p:sp>
      <p:sp>
        <p:nvSpPr>
          <p:cNvPr id="37" name="TextBox 36"/>
          <p:cNvSpPr txBox="1"/>
          <p:nvPr/>
        </p:nvSpPr>
        <p:spPr>
          <a:xfrm>
            <a:off x="8017563"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27</a:t>
            </a:r>
          </a:p>
        </p:txBody>
      </p:sp>
      <p:sp>
        <p:nvSpPr>
          <p:cNvPr id="38" name="TextBox 37"/>
          <p:cNvSpPr txBox="1"/>
          <p:nvPr/>
        </p:nvSpPr>
        <p:spPr>
          <a:xfrm>
            <a:off x="8347755" y="289091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Zwaferink JBJ et al. Sensors. 2024;24(6):1795.</a:t>
            </a:r>
          </a:p>
        </p:txBody>
      </p:sp>
      <p:sp>
        <p:nvSpPr>
          <p:cNvPr id="39" name="TextBox 38"/>
          <p:cNvSpPr txBox="1"/>
          <p:nvPr/>
        </p:nvSpPr>
        <p:spPr>
          <a:xfrm>
            <a:off x="8017563" y="319455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29</a:t>
            </a:r>
          </a:p>
        </p:txBody>
      </p:sp>
      <p:sp>
        <p:nvSpPr>
          <p:cNvPr id="40" name="TextBox 39"/>
          <p:cNvSpPr txBox="1"/>
          <p:nvPr/>
        </p:nvSpPr>
        <p:spPr>
          <a:xfrm>
            <a:off x="8347755" y="319455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Dahmen R et al. J Rehabil Med. 2018;50(6):569–74.</a:t>
            </a:r>
          </a:p>
        </p:txBody>
      </p:sp>
      <p:sp>
        <p:nvSpPr>
          <p:cNvPr id="41" name="TextBox 40"/>
          <p:cNvSpPr txBox="1"/>
          <p:nvPr/>
        </p:nvSpPr>
        <p:spPr>
          <a:xfrm>
            <a:off x="8017563" y="37129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31</a:t>
            </a:r>
          </a:p>
        </p:txBody>
      </p:sp>
      <p:sp>
        <p:nvSpPr>
          <p:cNvPr id="42" name="TextBox 41"/>
          <p:cNvSpPr txBox="1"/>
          <p:nvPr/>
        </p:nvSpPr>
        <p:spPr>
          <a:xfrm>
            <a:off x="8347755" y="371293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Keukenkamp R et al. BMJ Open Diabetes Res Care. 2022;10(1):e002593.</a:t>
            </a:r>
          </a:p>
        </p:txBody>
      </p:sp>
      <p:sp>
        <p:nvSpPr>
          <p:cNvPr id="43" name="TextBox 4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71 / 71</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