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 hoeft niemand meer te overtuigen: de centra zitten al in het consortium. Zeg dat expliciet in de eerste zin, dan weet de zaal dat dit een werksessie is en geen pitch.</a:t>
            </a:r>
          </a:p>
          <a:p/>
          <a:p>
            <a:r>
              <a:t>INTERACTIE</a:t>
            </a:r>
          </a:p>
          <a:p>
            <a:r>
              <a:t>Vraag wie vandaag voor het eerst van de studie hoort. Dat bepaalt hoeveel tijd u aan blok 1 besteedt.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Blok 3 is het langste en het belangrijkste. Plan uw tijd zo dat u daar niet doorheen moet jagen.</a:t>
            </a:r>
          </a:p>
          <a:p/>
          <a:p>
            <a:r>
              <a:t>INTERACTIE</a:t>
            </a:r>
          </a:p>
          <a:p>
            <a:r>
              <a:t>Vraag of iemand een blok wil ruilen van plaats. Wie kiest, luistert beter.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in de praktijk de meeste fouten gemaakt worden. Loop de drie condities traag door en benoem dat conditie 2 vaak vergeten wordt. Dezelfde drie condities komen terug op maand 6, 12 en 18.</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voor de pedorthisten. Benadruk dat de zool anders is in een orthopedische schoen dan in een confectieschoen, en dat de pasvorm in bínnen- én buitenschoeisel apart beoordeeld wordt.</a:t>
            </a:r>
          </a:p>
          <a:p/>
          <a:p>
            <a:r>
              <a:t>INTERACTIE</a:t>
            </a:r>
          </a:p>
          <a:p>
            <a:r>
              <a:t>Vraag of deze opbouw afwijkt van wat ze vandaag maken. Waar het afwijkt, noteer dat: het is input voor de procesevaluatie.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de meeste vragen op komen. Neem de tijd voor de uren per dag: dat is de brug tussen de MoveMonitor en de Orthotimer.</a:t>
            </a:r>
          </a:p>
          <a:p/>
          <a:p>
            <a:r>
              <a:t>INTERACTIE</a:t>
            </a:r>
          </a:p>
          <a:p>
            <a:r>
              <a:t>Laat iemand de instellingen voordoen op een testsensor.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Vermeld dat een ongebruikt toestel elke drie maanden opgeladen moet worden, anders zakt de batterijprestatie.</a:t>
            </a:r>
          </a:p>
          <a:p/>
          <a:p>
            <a:r>
              <a:t>INTERACTIE</a:t>
            </a:r>
          </a:p>
          <a:p>
            <a:r>
              <a:t>Vraag wie de toestellen in hun centrum beheert. Dat moet één persoon zijn.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overgang naar de bekwaamheidscheck. Zeg het rustig; het is geen dreigement maar een vaststelling.</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dit stil invullen. Iemand die twijfelt zegt dat niet hardop in een volle zaal, wel op papier.</a:t>
            </a:r>
          </a:p>
          <a:p/>
          <a:p>
            <a:r>
              <a:t>INTERACTIE</a:t>
            </a:r>
          </a:p>
          <a:p>
            <a:r>
              <a:t>Verzamel de blaadjes. Waar drie of meer mensen dezelfde handeling aanvinken, plant u een extra sessie.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34984" y="952476"/>
            <a:ext cx="10921726" cy="2984425"/>
          </a:xfrm>
          <a:prstGeom prst="roundRect">
            <a:avLst>
              <a:gd name="adj" fmla="val 4500"/>
            </a:avLst>
          </a:prstGeom>
          <a:solidFill>
            <a:srgbClr val="0A2A44">
              <a:alpha val="60000"/>
            </a:srgbClr>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952476" y="1308067"/>
            <a:ext cx="8889777" cy="1714457"/>
          </a:xfrm>
          <a:prstGeom prst="rect">
            <a:avLst/>
          </a:prstGeom>
          <a:noFill/>
        </p:spPr>
        <p:txBody>
          <a:bodyPr wrap="square" anchor="t" lIns="0" rIns="0" tIns="0" bIns="0">
            <a:spAutoFit/>
          </a:bodyPr>
          <a:lstStyle/>
          <a:p>
            <a:pPr algn="l">
              <a:lnSpc>
                <a:spcPct val="92000"/>
              </a:lnSpc>
            </a:pPr>
            <a:r>
              <a:rPr sz="11000" b="1">
                <a:solidFill>
                  <a:srgbClr val="F2F8FC"/>
                </a:solidFill>
                <a:latin typeface="Segoe UI"/>
              </a:rPr>
              <a:t>PARADISE</a:t>
            </a:r>
          </a:p>
        </p:txBody>
      </p:sp>
      <p:sp>
        <p:nvSpPr>
          <p:cNvPr id="5" name="TextBox 4"/>
          <p:cNvSpPr txBox="1"/>
          <p:nvPr/>
        </p:nvSpPr>
        <p:spPr>
          <a:xfrm>
            <a:off x="990575" y="2806629"/>
            <a:ext cx="7619809" cy="571485"/>
          </a:xfrm>
          <a:prstGeom prst="rect">
            <a:avLst/>
          </a:prstGeom>
          <a:noFill/>
        </p:spPr>
        <p:txBody>
          <a:bodyPr wrap="square" anchor="t" lIns="0" rIns="0" tIns="0" bIns="0">
            <a:spAutoFit/>
          </a:bodyPr>
          <a:lstStyle/>
          <a:p>
            <a:pPr algn="l">
              <a:lnSpc>
                <a:spcPct val="125000"/>
              </a:lnSpc>
            </a:pPr>
            <a:r>
              <a:rPr sz="3600" b="1">
                <a:solidFill>
                  <a:srgbClr val="52BDEC"/>
                </a:solidFill>
                <a:latin typeface="Segoe UI"/>
              </a:rPr>
              <a:t>Opleidingssessie</a:t>
            </a:r>
          </a:p>
        </p:txBody>
      </p:sp>
      <p:sp>
        <p:nvSpPr>
          <p:cNvPr id="6" name="TextBox 5"/>
          <p:cNvSpPr txBox="1"/>
          <p:nvPr/>
        </p:nvSpPr>
        <p:spPr>
          <a:xfrm>
            <a:off x="990575" y="3505112"/>
            <a:ext cx="8254793" cy="444488"/>
          </a:xfrm>
          <a:prstGeom prst="rect">
            <a:avLst/>
          </a:prstGeom>
          <a:noFill/>
        </p:spPr>
        <p:txBody>
          <a:bodyPr wrap="square" anchor="t" lIns="0" rIns="0" tIns="0" bIns="0">
            <a:spAutoFit/>
          </a:bodyPr>
          <a:lstStyle/>
          <a:p>
            <a:pPr algn="l">
              <a:lnSpc>
                <a:spcPct val="125000"/>
              </a:lnSpc>
            </a:pPr>
            <a:r>
              <a:rPr sz="1800" b="0">
                <a:solidFill>
                  <a:srgbClr val="8FB6D0"/>
                </a:solidFill>
                <a:latin typeface="Segoe UI Light"/>
              </a:rPr>
              <a:t>Zo voert u het protocol uit — bezoek per bezoek, formulier per formulier</a:t>
            </a:r>
          </a:p>
        </p:txBody>
      </p:sp>
      <p:sp>
        <p:nvSpPr>
          <p:cNvPr id="7" name="Rounded Rectangle 6"/>
          <p:cNvSpPr/>
          <p:nvPr/>
        </p:nvSpPr>
        <p:spPr>
          <a:xfrm>
            <a:off x="634984"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87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6</a:t>
            </a:r>
          </a:p>
        </p:txBody>
      </p:sp>
      <p:sp>
        <p:nvSpPr>
          <p:cNvPr id="9" name="TextBox 8"/>
          <p:cNvSpPr txBox="1"/>
          <p:nvPr/>
        </p:nvSpPr>
        <p:spPr>
          <a:xfrm>
            <a:off x="86357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CENTRA</a:t>
            </a:r>
          </a:p>
        </p:txBody>
      </p:sp>
      <p:sp>
        <p:nvSpPr>
          <p:cNvPr id="10" name="Rounded Rectangle 9"/>
          <p:cNvSpPr/>
          <p:nvPr/>
        </p:nvSpPr>
        <p:spPr>
          <a:xfrm>
            <a:off x="432627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216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24</a:t>
            </a:r>
          </a:p>
        </p:txBody>
      </p:sp>
      <p:sp>
        <p:nvSpPr>
          <p:cNvPr id="12" name="TextBox 11"/>
          <p:cNvSpPr txBox="1"/>
          <p:nvPr/>
        </p:nvSpPr>
        <p:spPr>
          <a:xfrm>
            <a:off x="455486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INCLUSIES PER CENTRUM</a:t>
            </a:r>
          </a:p>
        </p:txBody>
      </p:sp>
      <p:sp>
        <p:nvSpPr>
          <p:cNvPr id="13" name="Rounded Rectangle 12"/>
          <p:cNvSpPr/>
          <p:nvPr/>
        </p:nvSpPr>
        <p:spPr>
          <a:xfrm>
            <a:off x="801756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3345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18</a:t>
            </a:r>
          </a:p>
        </p:txBody>
      </p:sp>
      <p:sp>
        <p:nvSpPr>
          <p:cNvPr id="15" name="TextBox 14"/>
          <p:cNvSpPr txBox="1"/>
          <p:nvPr/>
        </p:nvSpPr>
        <p:spPr>
          <a:xfrm>
            <a:off x="8246157"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MAANDEN</a:t>
            </a:r>
          </a:p>
        </p:txBody>
      </p:sp>
      <p:sp>
        <p:nvSpPr>
          <p:cNvPr id="16" name="Rectangle 15"/>
          <p:cNvSpPr/>
          <p:nvPr/>
        </p:nvSpPr>
        <p:spPr>
          <a:xfrm>
            <a:off x="634984" y="554976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4984" y="5714857"/>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kuleuven.png"/>
          <p:cNvPicPr>
            <a:picLocks noChangeAspect="1"/>
          </p:cNvPicPr>
          <p:nvPr/>
        </p:nvPicPr>
        <p:blipFill>
          <a:blip r:embed="rId2"/>
          <a:stretch>
            <a:fillRect/>
          </a:stretch>
        </p:blipFill>
        <p:spPr>
          <a:xfrm>
            <a:off x="787380" y="5822804"/>
            <a:ext cx="1381100" cy="393690"/>
          </a:xfrm>
          <a:prstGeom prst="rect">
            <a:avLst/>
          </a:prstGeom>
        </p:spPr>
      </p:pic>
      <p:sp>
        <p:nvSpPr>
          <p:cNvPr id="19" name="Rounded Rectangle 18"/>
          <p:cNvSpPr/>
          <p:nvPr/>
        </p:nvSpPr>
        <p:spPr>
          <a:xfrm>
            <a:off x="2574870" y="5714857"/>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vub.png"/>
          <p:cNvPicPr>
            <a:picLocks noChangeAspect="1"/>
          </p:cNvPicPr>
          <p:nvPr/>
        </p:nvPicPr>
        <p:blipFill>
          <a:blip r:embed="rId3"/>
          <a:stretch>
            <a:fillRect/>
          </a:stretch>
        </p:blipFill>
        <p:spPr>
          <a:xfrm>
            <a:off x="2727267" y="5822804"/>
            <a:ext cx="1116092" cy="393690"/>
          </a:xfrm>
          <a:prstGeom prst="rect">
            <a:avLst/>
          </a:prstGeom>
        </p:spPr>
      </p:pic>
      <p:sp>
        <p:nvSpPr>
          <p:cNvPr id="21" name="TextBox 20"/>
          <p:cNvSpPr txBox="1"/>
          <p:nvPr/>
        </p:nvSpPr>
        <p:spPr>
          <a:xfrm>
            <a:off x="4249749" y="5765655"/>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22" name="TextBox 21"/>
          <p:cNvSpPr txBox="1"/>
          <p:nvPr/>
        </p:nvSpPr>
        <p:spPr>
          <a:xfrm>
            <a:off x="4262449" y="6019649"/>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23" name="TextBox 22"/>
          <p:cNvSpPr txBox="1"/>
          <p:nvPr/>
        </p:nvSpPr>
        <p:spPr>
          <a:xfrm>
            <a:off x="634984" y="6489537"/>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Opleiding studiepersoneel · protocolversie 1.0 · 17 mei 2026 · S71769</a:t>
            </a:r>
          </a:p>
        </p:txBody>
      </p:sp>
      <p:pic>
        <p:nvPicPr>
          <p:cNvPr id="24" name="merk" descr="merk.png"/>
          <p:cNvPicPr>
            <a:picLocks noChangeAspect="1"/>
          </p:cNvPicPr>
          <p:nvPr/>
        </p:nvPicPr>
        <p:blipFill>
          <a:blip r:embed="rId4"/>
          <a:stretch>
            <a:fillRect/>
          </a:stretch>
        </p:blipFill>
        <p:spPr>
          <a:xfrm>
            <a:off x="9590513" y="1244568"/>
            <a:ext cx="1646451" cy="1904952"/>
          </a:xfrm>
          <a:prstGeom prst="rect">
            <a:avLst/>
          </a:prstGeom>
        </p:spPr>
      </p:pic>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Vastleggen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formulieren volledig invullen,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68</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PROGRAMMA VAN VANDAAG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blokken</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Waarom zo</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vier cijfers achter de twee normen</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De meting</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Drukmeting, doelregio's en de norm</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Het traject</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Bezoek per bezoek, met de formulieren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Toestellen en regels</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SOP's, SEBIA, blindering, melden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68</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én draagtijd, beide op 18 maanden</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68</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68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68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68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68</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68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bij de aflevering</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de norm wordt per doelregio getoetst, niet over de hele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68</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68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Geschiktheid, toestemming, loting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Kort · 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5</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Arts bevestigt geschiktheid · PI loot · podoloog vult in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Screening vóór de toestemming: beoordeel de in- en exclusiecriteria en noteer de patiënt op de identificatielijst.</a:t>
            </a:r>
          </a:p>
        </p:txBody>
      </p:sp>
      <p:sp>
        <p:nvSpPr>
          <p:cNvPr id="6" name="!!rail0"/>
          <p:cNvSpPr/>
          <p:nvPr/>
        </p:nvSpPr>
        <p:spPr>
          <a:xfrm>
            <a:off x="660383"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Is de patiënt geschikt, overloop dan de informatie- en toestemmingsformulieren en laat tekenen.</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Visite 0: bevestig de geschiktheid met het baselineformulier.</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 PI opent de volgende verzegelde envelop en deelt de patiënt in. Pas dan is bekend in welke arm hij zit.</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geschikt? Noteer de reden. Ook dat is studiedata.</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00</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Identificatielijst</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Screening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Toestemming</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06</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Geschiktheid</a:t>
            </a:r>
          </a:p>
        </p:txBody>
      </p:sp>
      <p:sp>
        <p:nvSpPr>
          <p:cNvPr id="19" name="Rectangle 18"/>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21" name="TextBox 20"/>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volgorde ligt vast: screenen, tekenen, geschiktheid bevestigen, dan pas loten. Vul geen enkel ander formulier in voordat de patiënt getekend heeft.</a:t>
            </a:r>
          </a:p>
        </p:txBody>
      </p:sp>
      <p:sp>
        <p:nvSpPr>
          <p:cNvPr id="22"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il4"/>
          <p:cNvSpPr/>
          <p:nvPr/>
        </p:nvSpPr>
        <p:spPr>
          <a:xfrm>
            <a:off x="9397765"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68</a:t>
            </a:r>
          </a:p>
        </p:txBody>
      </p:sp>
      <p:pic>
        <p:nvPicPr>
          <p:cNvPr id="2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 volledig maatwerk, of maatzolen in semi-orthopedisch of extra-diep confectieschoeisel</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Kritische ischemie — PEDIS graad 3</a:t>
            </a:r>
          </a:p>
          <a:p>
            <a:pPr algn="l">
              <a:lnSpc>
                <a:spcPct val="130000"/>
              </a:lnSpc>
              <a:spcBef>
                <a:spcPts val="1200"/>
              </a:spcBef>
            </a:pPr>
            <a:r>
              <a:rPr sz="1400" b="0">
                <a:solidFill>
                  <a:srgbClr val="8FB6D0"/>
                </a:solidFill>
                <a:latin typeface="Segoe UI"/>
              </a:rPr>
              <a:t>Immunosuppressieve therapie</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Baseline — meten en voorschrijven</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langste bezoek van de studie</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14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arts schrijft voor · het onderzoeksteam verwerkt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Demografie en voorgeschiedenis, inclusief nierfunctie, eGFR, hartaandoening en diabetesmedicatie.</a:t>
            </a:r>
          </a:p>
        </p:txBody>
      </p:sp>
      <p:sp>
        <p:nvSpPr>
          <p:cNvPr id="6"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en klasseer een eventueel ulcus.</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Sensoren met dubbelzijdige tape op de blote voet, kous erover</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Drukmeting blootsvoets: drie metingen per voet.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Schermafdruk van de multimask met de drie regio's aangeduid</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Bepaal de drie doelregio's en schrijf de zool voor, mét die regio's op het voorschrift.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Vragenlijsten vóór het educatiegesprek: NAFF en HLS-EU-6. Daarna tevredenheid, schoeiselgebruik en EQ-5D-5L.</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1: educatie op maat, voordoen, en de patiënt het zelf laten uitvoeren. Leg dat vast in het logboek.</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Toestel om het middel, ter hoogte van L5</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Geef de MoveMonitor mee voor zeven dagen en registreer het toestelnummer.</a:t>
            </a:r>
          </a:p>
        </p:txBody>
      </p:sp>
      <p:sp>
        <p:nvSpPr>
          <p:cNvPr id="8" name="TextBox 7"/>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9" name="Rounded Rectangle 8"/>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07</a:t>
            </a:r>
          </a:p>
        </p:txBody>
      </p:sp>
      <p:sp>
        <p:nvSpPr>
          <p:cNvPr id="11" name="TextBox 10"/>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Demografie</a:t>
            </a:r>
          </a:p>
        </p:txBody>
      </p:sp>
      <p:sp>
        <p:nvSpPr>
          <p:cNvPr id="12" name="Rounded Rectangle 11"/>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14" name="TextBox 13"/>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5" name="Rounded Rectangle 14"/>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09</a:t>
            </a:r>
          </a:p>
        </p:txBody>
      </p:sp>
      <p:sp>
        <p:nvSpPr>
          <p:cNvPr id="17" name="TextBox 16"/>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Drukmeting</a:t>
            </a:r>
          </a:p>
        </p:txBody>
      </p:sp>
      <p:sp>
        <p:nvSpPr>
          <p:cNvPr id="18" name="Rounded Rectangle 17"/>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10</a:t>
            </a:r>
          </a:p>
        </p:txBody>
      </p:sp>
      <p:sp>
        <p:nvSpPr>
          <p:cNvPr id="20" name="TextBox 19"/>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Voorschrift CMFO</a:t>
            </a:r>
          </a:p>
        </p:txBody>
      </p:sp>
      <p:sp>
        <p:nvSpPr>
          <p:cNvPr id="21" name="Rounded Rectangle 20"/>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23" name="TextBox 22"/>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a:t>
            </a:r>
          </a:p>
        </p:txBody>
      </p:sp>
      <p:sp>
        <p:nvSpPr>
          <p:cNvPr id="24" name="Rounded Rectangle 23"/>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13</a:t>
            </a:r>
          </a:p>
        </p:txBody>
      </p:sp>
      <p:sp>
        <p:nvSpPr>
          <p:cNvPr id="26" name="TextBox 25"/>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Schoeiselgebruik</a:t>
            </a:r>
          </a:p>
        </p:txBody>
      </p:sp>
      <p:sp>
        <p:nvSpPr>
          <p:cNvPr id="27" name="Rounded Rectangle 26"/>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14</a:t>
            </a:r>
          </a:p>
        </p:txBody>
      </p:sp>
      <p:sp>
        <p:nvSpPr>
          <p:cNvPr id="29" name="TextBox 28"/>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NAFF</a:t>
            </a:r>
          </a:p>
        </p:txBody>
      </p:sp>
      <p:sp>
        <p:nvSpPr>
          <p:cNvPr id="30" name="Rounded Rectangle 29"/>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15</a:t>
            </a:r>
          </a:p>
        </p:txBody>
      </p:sp>
      <p:sp>
        <p:nvSpPr>
          <p:cNvPr id="32" name="TextBox 31"/>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HLS-EU-6</a:t>
            </a:r>
          </a:p>
        </p:txBody>
      </p:sp>
      <p:sp>
        <p:nvSpPr>
          <p:cNvPr id="33" name="Rounded Rectangle 32"/>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16</a:t>
            </a:r>
          </a:p>
        </p:txBody>
      </p:sp>
      <p:sp>
        <p:nvSpPr>
          <p:cNvPr id="35" name="TextBox 34"/>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Educatieboekje</a:t>
            </a:r>
          </a:p>
        </p:txBody>
      </p:sp>
      <p:sp>
        <p:nvSpPr>
          <p:cNvPr id="36" name="Rounded Rectangle 35"/>
          <p:cNvSpPr/>
          <p:nvPr/>
        </p:nvSpPr>
        <p:spPr>
          <a:xfrm>
            <a:off x="989305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6925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18</a:t>
            </a:r>
          </a:p>
        </p:txBody>
      </p:sp>
      <p:sp>
        <p:nvSpPr>
          <p:cNvPr id="38" name="TextBox 37"/>
          <p:cNvSpPr txBox="1"/>
          <p:nvPr/>
        </p:nvSpPr>
        <p:spPr>
          <a:xfrm>
            <a:off x="10312142"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Logboek educatie</a:t>
            </a:r>
          </a:p>
        </p:txBody>
      </p:sp>
      <p:sp>
        <p:nvSpPr>
          <p:cNvPr id="39" name="Rounded Rectangle 38"/>
          <p:cNvSpPr/>
          <p:nvPr/>
        </p:nvSpPr>
        <p:spPr>
          <a:xfrm>
            <a:off x="298442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062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19</a:t>
            </a:r>
          </a:p>
        </p:txBody>
      </p:sp>
      <p:sp>
        <p:nvSpPr>
          <p:cNvPr id="41" name="TextBox 40"/>
          <p:cNvSpPr txBox="1"/>
          <p:nvPr/>
        </p:nvSpPr>
        <p:spPr>
          <a:xfrm>
            <a:off x="3403514"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MoveMonitor</a:t>
            </a:r>
          </a:p>
        </p:txBody>
      </p:sp>
      <p:sp>
        <p:nvSpPr>
          <p:cNvPr id="42" name="Rounded Rectangle 41"/>
          <p:cNvSpPr/>
          <p:nvPr/>
        </p:nvSpPr>
        <p:spPr>
          <a:xfrm>
            <a:off x="4711582"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87780"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20</a:t>
            </a:r>
          </a:p>
        </p:txBody>
      </p:sp>
      <p:sp>
        <p:nvSpPr>
          <p:cNvPr id="44" name="TextBox 43"/>
          <p:cNvSpPr txBox="1"/>
          <p:nvPr/>
        </p:nvSpPr>
        <p:spPr>
          <a:xfrm>
            <a:off x="5130671"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MoveMonitor</a:t>
            </a:r>
          </a:p>
        </p:txBody>
      </p:sp>
      <p:sp>
        <p:nvSpPr>
          <p:cNvPr id="45" name="Rounded Rectangle 44"/>
          <p:cNvSpPr/>
          <p:nvPr/>
        </p:nvSpPr>
        <p:spPr>
          <a:xfrm>
            <a:off x="6438739"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4937"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47" name="TextBox 46"/>
          <p:cNvSpPr txBox="1"/>
          <p:nvPr/>
        </p:nvSpPr>
        <p:spPr>
          <a:xfrm>
            <a:off x="6857828"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48" name="Rounded Rectangle 47"/>
          <p:cNvSpPr/>
          <p:nvPr/>
        </p:nvSpPr>
        <p:spPr>
          <a:xfrm>
            <a:off x="816589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4209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48</a:t>
            </a:r>
          </a:p>
        </p:txBody>
      </p:sp>
      <p:sp>
        <p:nvSpPr>
          <p:cNvPr id="50" name="TextBox 49"/>
          <p:cNvSpPr txBox="1"/>
          <p:nvPr/>
        </p:nvSpPr>
        <p:spPr>
          <a:xfrm>
            <a:off x="8584985"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Voetzorgfolder</a:t>
            </a:r>
          </a:p>
        </p:txBody>
      </p:sp>
      <p:sp>
        <p:nvSpPr>
          <p:cNvPr id="51" name="Rectangle 50"/>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3" name="TextBox 52"/>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54"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68</a:t>
            </a:r>
          </a:p>
        </p:txBody>
      </p:sp>
      <p:pic>
        <p:nvPicPr>
          <p:cNvPr id="6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Aflevering, optimalisatie en sensor</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technisch zwaarste bezoek</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Pedorthist past aan · podoloog meet, plaatst de sensor en begeleidt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zool in de schoen, boven- en onderaanzicht</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Lever de zool af. Controleer de pasvorm in het bínnenschoeisel én het búitenschoeisel, en neem de foto's.</a:t>
            </a:r>
          </a:p>
        </p:txBody>
      </p:sp>
      <p:sp>
        <p:nvSpPr>
          <p:cNvPr id="8"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34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Meet de drukherverdeling en toets de norm per doelregio.</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35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gehaald? Pas aan en meet opnieuw. Is ze gehaald, laat dan een tweede, identiek paar maken.</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36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uitsparing in de zool met de sensor erin</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Plaats en activeer de Orthotimer in de zool en registreer het toestelnummer.</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37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MoveMonitor terug en registreer de teruggave.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38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2: bespreek het activiteitenprofiel, doe de teach-back en geef de sensorfolder mee.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39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Bevraag de overtuigingen en gewoontes rond schoeisel.</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23</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Aanpassing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Orthotimer</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26</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Overtuigingen</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27</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Teruggave MoveMon.</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28</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Activiteitsprofiel</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29</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Teach-back</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30</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Sensorfolder</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7"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40 / 68</a:t>
            </a:r>
          </a:p>
        </p:txBody>
      </p:sp>
      <p:pic>
        <p:nvPicPr>
          <p:cNvPr id="4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Driemaandelijkse opvolging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6</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leest uit en begeleidt · arts beoordeelt laesies</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41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zoals bij de baseline.</a:t>
            </a:r>
          </a:p>
        </p:txBody>
      </p:sp>
      <p:sp>
        <p:nvSpPr>
          <p:cNvPr id="6" name="!!rail0"/>
          <p:cNvSpPr/>
          <p:nvPr/>
        </p:nvSpPr>
        <p:spPr>
          <a:xfrm>
            <a:off x="660383"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42 / 68</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pen op de sensor, of de uitdraai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Bevraag de therapietrouw, lees de Orthotimer uit en bespreek de uitdraai niet-veroordelend.</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43 / 68</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Twee paren naast elkaar, versleten en nieuw</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Beoordeel beide paren zolen. Het paar dat onderhoud nodig heeft gaat naar de pedorthist, deklaag inbegrepen.</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44 / 68</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Vervang zool of sensor als dat nodig is en leg dat vast.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45 / 68</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vragenlijsten af: levenskwaliteit, medische consumptie en productiviteit.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46 / 68</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Op maand 6 een tweede week MoveMonitor.</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Therapietrouw</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Uitlezing sensor</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32</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Feedback</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33</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Vervanging</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34</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iMCQ</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35</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iPCQ</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45b</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Kostendagboek</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Uitlezen kan alleen ter plaatse. Koppel het aan een bezoek dat toch al gepland is — een gemiste uitlezing verzwakt de draagtijd van die patiënt over de hele periode.</a:t>
            </a:r>
          </a:p>
        </p:txBody>
      </p:sp>
      <p:sp>
        <p:nvSpPr>
          <p:cNvPr id="37"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9761822"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47 / 68</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Wat er drie keer extra bij komt</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Bovenop de driemaandelijkse opvolging</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pedorthist past aan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48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drie condities naast elkaar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Herhaal de drukmeting in de drie condities en toets opnieuw per doelregio.</a:t>
            </a:r>
          </a:p>
        </p:txBody>
      </p:sp>
      <p:sp>
        <p:nvSpPr>
          <p:cNvPr id="8" name="!!rail0"/>
          <p:cNvSpPr/>
          <p:nvPr/>
        </p:nvSpPr>
        <p:spPr>
          <a:xfrm>
            <a:off x="660383"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49 / 68</a:t>
            </a:r>
          </a:p>
        </p:txBody>
      </p:sp>
      <p:pic>
        <p:nvPicPr>
          <p:cNvPr id="1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Ligt de piekdruk boven 200 kPa, of is er nog winst haalbaar, pas dan opnieuw aan volgens dezelfde procedure.</a:t>
            </a:r>
          </a:p>
        </p:txBody>
      </p:sp>
      <p:sp>
        <p:nvSpPr>
          <p:cNvPr id="6"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4300959"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50 / 68</a:t>
            </a:r>
          </a:p>
        </p:txBody>
      </p:sp>
      <p:pic>
        <p:nvPicPr>
          <p:cNvPr id="1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Op maand 18 ook de tevredenheidsschaal opnieuw afnemen, zodat de verandering tegenover baseline gemeten kan worden.</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 — maand 18</a:t>
            </a:r>
          </a:p>
        </p:txBody>
      </p:sp>
      <p:sp>
        <p:nvSpPr>
          <p:cNvPr id="16" name="Rectangle 15"/>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18" name="TextBox 17"/>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Drie extra meetmomenten, niet twee. Maand 18 telt mee: beide co-primaire uitkomsten worden op achttien maanden geëvalueerd.</a:t>
            </a:r>
          </a:p>
        </p:txBody>
      </p:sp>
      <p:sp>
        <p:nvSpPr>
          <p:cNvPr id="19"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ail2"/>
          <p:cNvSpPr/>
          <p:nvPr/>
        </p:nvSpPr>
        <p:spPr>
          <a:xfrm>
            <a:off x="7941534"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51 / 68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52 / 68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53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54 / 68</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55 / 68</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ZOOL · PROTOCOL 5.4.2 EN ECRF 23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Hoe de CMFO is opgebouwd</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maatschoen</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5 mm microkurk (55) + 5 mm EVA</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confectie</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 mm EVA — géén kurk</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Deklaag, in beide</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3 mm gesloten + 3 mm open cel</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Metatarsaalbalk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9-10 mm hoog, shore ~55</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Positie van de balk</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6-11 mm proximaal</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Of lokale pad</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als maar één regio hoog ligt</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Controleer de pasvorm in het bínnenschoeisel én het búitenschoeisel. Beide staan als apart deel op het formulier.</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foto's: orthese van boven, onder en opzij, in beide schoenen, plus de schoenen zelf.</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Pas aan zolang de norm niet gehaald is, of zolang podoloog en pedorthist samen oordelen dat er nog winst te halen is.</a:t>
            </a:r>
          </a:p>
        </p:txBody>
      </p:sp>
      <p:sp>
        <p:nvSpPr>
          <p:cNvPr id="34" name="Oval 33"/>
          <p:cNvSpPr/>
          <p:nvPr/>
        </p:nvSpPr>
        <p:spPr>
          <a:xfrm>
            <a:off x="6349841" y="435408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35408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341386"/>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norm gehaald, maak dan een tweede, identiek paar.</a:t>
            </a:r>
          </a:p>
        </p:txBody>
      </p:sp>
      <p:sp>
        <p:nvSpPr>
          <p:cNvPr id="37" name="Rounded Rectangle 36"/>
          <p:cNvSpPr/>
          <p:nvPr/>
        </p:nvSpPr>
        <p:spPr>
          <a:xfrm>
            <a:off x="634984" y="4990975"/>
            <a:ext cx="10921726" cy="138109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898502"/>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opbouw hangt af van de schoen. In een volledig op maat gemaakte schoen is de basis 5 mm microkurk plus 5 mm EVA; in een confectieschoen is het 6 mm EVA zonder kurk. Wisselt de patiënt van schoentype, dan klopt de zool niet meer.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56 / 68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25B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Orthotimer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Insole</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Interval</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900 seconden — 15 minuten</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Eenheid</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Celsius</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Temperatuurbereik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25 tot 38,5 °C</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Min. aaneengesloten uren</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Uren per dag</a:t>
            </a:r>
          </a:p>
        </p:txBody>
      </p:sp>
      <p:sp>
        <p:nvSpPr>
          <p:cNvPr id="23" name="TextBox 22"/>
          <p:cNvSpPr txBox="1"/>
          <p:nvPr/>
        </p:nvSpPr>
        <p:spPr>
          <a:xfrm>
            <a:off x="2793930" y="4489337"/>
            <a:ext cx="3047923" cy="507987"/>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per patiënt · 80% van het actieve profiel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Maak de patiënt aan: naam = het deelnemersnummer, geboortedatum 1/1/1999, geslacht vrouwelijk. Noteer in de opmerking dat die twee geclassificeerd zijn.</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08157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3068878"/>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Wijs de groep toe: Usual care of Optimal care.</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Houd de pen op de O van het Orthotimer-logo tot de balk groen wordt.</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Activeer, en laat de sensor één testmeting doen: haal hem iets langer dan het interval van de lezer af.</a:t>
            </a:r>
          </a:p>
        </p:txBody>
      </p:sp>
      <p:sp>
        <p:nvSpPr>
          <p:cNvPr id="37" name="Rounded Rectangle 36"/>
          <p:cNvSpPr/>
          <p:nvPr/>
        </p:nvSpPr>
        <p:spPr>
          <a:xfrm>
            <a:off x="634984" y="5213219"/>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352916"/>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606909"/>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uren per dag zijn géén vast getal. Ze komen uit het activiteitenprofiel van díé patiënt — 80% van zijn gemiddelde actieve tijd. Zet u er een standaardwaarde in, dan meet u de verkeerde norm.</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57 / 68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19B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MoveMonitor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Testtype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MoviMonitor</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Start</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de dag nadien om 7 uur</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Duur</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7 dagen</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Deelnemerscode</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 + deelnemersnummer</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Geboortejaar</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1900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Dragen</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om het middel, op de onderrug</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Laad volledig op: circa drie uur. Knipperend groen is laden, groen is vol.</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het toestel aan, kies het in de portaalsite en stel de meting in.</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mee en spreek af wanneer het terugkomt: één visite na zeven dagen.</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bij teruggave aan op de pc; de data uploadt vanzelf via DynaPort Manager.</a:t>
            </a:r>
          </a:p>
        </p:txBody>
      </p:sp>
      <p:sp>
        <p:nvSpPr>
          <p:cNvPr id="37" name="Rounded Rectangle 36"/>
          <p:cNvSpPr/>
          <p:nvPr/>
        </p:nvSpPr>
        <p:spPr>
          <a:xfrm>
            <a:off x="634984" y="4990975"/>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Niet waterdicht. Zeg dat expliciet tegen de patiënt: uit tijdens het douchen. Een toestel dat een week in de badkamer lag levert geen activiteitenprofiel, en dus ook geen norm voor de Orthotimer.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58 / 68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59 / 68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60 / 68</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61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62 / 68</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63 / 68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En de ingevulde formulieren?</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Daar volgt bericht over. Invoeren doet het onderzoeksteam.</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64 / 68</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Vanaf de eerste patiënt</a:t>
            </a:r>
          </a:p>
          <a:p>
            <a:pPr algn="l">
              <a:lnSpc>
                <a:spcPct val="106000"/>
              </a:lnSpc>
              <a:spcBef>
                <a:spcPts val="500"/>
              </a:spcBef>
            </a:pPr>
            <a:r>
              <a:rPr sz="7200" b="1">
                <a:solidFill>
                  <a:srgbClr val="04182A"/>
                </a:solidFill>
                <a:latin typeface="Segoe UI"/>
              </a:rPr>
              <a:t>doet u dit zelf.</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Wij leiden op, wij voeren in. De handelingen zijn van u.</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BEKWAAMHEIDSCHECK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Kunt u dit nu zelf?</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Beoordelen of een patiënt geschikt is, en dat vastleggen vóór de toestemming</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drukmeting uitvoeren in de drie condities, drie metingen per voet</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drie doelregio's bepalen en op het voorschrift zetten</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norm toetsen per regio en aanpassen tot ze gehaald is</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instellen met de juiste uren per dag voor díé patiënt</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MoveMonitor instellen, meegeven en uitlezen</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SEBIA-gesprek voeren met teach-back</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formulieren volledig invullen en weten wat u meldt, aan wie en binnen welke termijn</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handelingen. Wie er één niet aandurft, meldt dat nu — dan plannen we een tweede sessie. Dat is geen zwakte, dat is hoe u fouten in de data voorkomt.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66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67 / 68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68 / 68</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