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de volgorde: screenen, dan pas toestemming, dan pas de rest. Andersom is een protocolafwijking.</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bezoek dat uitloopt. Zeg hoeveel tijd u ervoor moet inplannen en waarom de volgorde vastligt.</a:t>
            </a:r>
          </a:p>
          <a:p/>
          <a:p>
            <a:r>
              <a:t>INTERACTIE</a:t>
            </a:r>
          </a:p>
          <a:p>
            <a:r>
              <a:t>Laat ze in duo's de volgorde van de zeven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kortste bezoek en tegelijk het scharnier tussen meting en zool. Benadruk de overdracht.</a:t>
            </a:r>
          </a:p>
          <a:p/>
          <a:p>
            <a:r>
              <a:t>INTERACTIE</a:t>
            </a:r>
          </a:p>
          <a:p>
            <a:r>
              <a:t>Vraag de pedorthisten wat zij nu op een voorschrift missen.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het meeste tijd in de sessie.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uitlezen enkel ter plaatse kan. Koppel het aan een bezoek dat toch al gepland is.</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Registreren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invoeren in REDCap,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38</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REDCap</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38</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38</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38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38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38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38</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38</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op maand 3</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38</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Negen contactmomenten</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ritme is elke drie maanden: hetzelfde ritme als de controle die deze patiënten volgens de richtlijn al krijgen.</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38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vóór de toestemming</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 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Beoordeel de in- en exclusiecriteria op het screeningsformulier.</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patiënt op de identificatielijst en ken een deelnemerscode toe.</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patiënt geschikt, geef dan de informatie- en toestemmingsformulieren mee.</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Niet geschikt? Noteer de reden. Ook dat is studiedata.</a:t>
            </a:r>
          </a:p>
        </p:txBody>
      </p:sp>
      <p:sp>
        <p:nvSpPr>
          <p:cNvPr id="20" name="TextBox 19"/>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21" name="Rounded Rectangle 20"/>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00</a:t>
            </a:r>
          </a:p>
        </p:txBody>
      </p:sp>
      <p:sp>
        <p:nvSpPr>
          <p:cNvPr id="23" name="TextBox 22"/>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Identificatielijst</a:t>
            </a:r>
          </a:p>
        </p:txBody>
      </p:sp>
      <p:sp>
        <p:nvSpPr>
          <p:cNvPr id="24" name="Rounded Rectangle 23"/>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01</a:t>
            </a:r>
          </a:p>
        </p:txBody>
      </p:sp>
      <p:sp>
        <p:nvSpPr>
          <p:cNvPr id="26" name="TextBox 25"/>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Screening</a:t>
            </a:r>
          </a:p>
        </p:txBody>
      </p:sp>
      <p:sp>
        <p:nvSpPr>
          <p:cNvPr id="27" name="Rounded Rectangle 26"/>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02</a:t>
            </a:r>
          </a:p>
        </p:txBody>
      </p:sp>
      <p:sp>
        <p:nvSpPr>
          <p:cNvPr id="29" name="TextBox 28"/>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Toestemming</a:t>
            </a:r>
          </a:p>
        </p:txBody>
      </p:sp>
      <p:sp>
        <p:nvSpPr>
          <p:cNvPr id="30" name="Rounded Rectangle 29"/>
          <p:cNvSpPr/>
          <p:nvPr/>
        </p:nvSpPr>
        <p:spPr>
          <a:xfrm>
            <a:off x="7492812" y="3149521"/>
            <a:ext cx="4063898" cy="192876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46806" y="3301917"/>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2" name="TextBox 31"/>
          <p:cNvSpPr txBox="1"/>
          <p:nvPr/>
        </p:nvSpPr>
        <p:spPr>
          <a:xfrm>
            <a:off x="7746806" y="3568610"/>
            <a:ext cx="3555911" cy="1369978"/>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Screening gebeurt vóór de toestemming en blijft daarom beperkt tot wat nodig is om geschiktheid te beoordelen. Vul geen andere formulieren in voordat de patiënt getekend heeft.</a:t>
            </a:r>
          </a:p>
        </p:txBody>
      </p:sp>
      <p:sp>
        <p:nvSpPr>
          <p:cNvPr id="33" name="TextBox 32"/>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bevestigt geschiktheid · podoloog of studiemedewerker vult in</a:t>
            </a:r>
          </a:p>
        </p:txBody>
      </p:sp>
      <p:sp>
        <p:nvSpPr>
          <p:cNvPr id="34" name="TextBox 3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38</a:t>
            </a:r>
          </a:p>
        </p:txBody>
      </p:sp>
      <p:pic>
        <p:nvPicPr>
          <p:cNvPr id="3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38</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2</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Baseline</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langste bezoek van de studie</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Bevestig de geschiktheid en leg demografie en voorgeschiedenis vast.</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Screen voet en schoeisel, en klasseer een eventueel ulcus.</a:t>
            </a:r>
          </a:p>
        </p:txBody>
      </p:sp>
      <p:sp>
        <p:nvSpPr>
          <p:cNvPr id="14" name="Oval 13"/>
          <p:cNvSpPr/>
          <p:nvPr/>
        </p:nvSpPr>
        <p:spPr>
          <a:xfrm>
            <a:off x="634984" y="306189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06189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04919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de drukmeting blootsvoets uit: drie metingen per voet.</a:t>
            </a:r>
          </a:p>
        </p:txBody>
      </p:sp>
      <p:sp>
        <p:nvSpPr>
          <p:cNvPr id="17" name="Oval 16"/>
          <p:cNvSpPr/>
          <p:nvPr/>
        </p:nvSpPr>
        <p:spPr>
          <a:xfrm>
            <a:off x="634984" y="344986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44986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437169"/>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Bepaal en noteer de drie doelregio's.</a:t>
            </a:r>
          </a:p>
        </p:txBody>
      </p:sp>
      <p:sp>
        <p:nvSpPr>
          <p:cNvPr id="20" name="Oval 19"/>
          <p:cNvSpPr/>
          <p:nvPr/>
        </p:nvSpPr>
        <p:spPr>
          <a:xfrm>
            <a:off x="634984" y="38378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38378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3825144"/>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vragenlijsten af vóór het educatiegesprek: NAFF en HLS-EU-6, daarna EQ-5D-5L.</a:t>
            </a:r>
          </a:p>
        </p:txBody>
      </p:sp>
      <p:sp>
        <p:nvSpPr>
          <p:cNvPr id="23" name="Oval 22"/>
          <p:cNvSpPr/>
          <p:nvPr/>
        </p:nvSpPr>
        <p:spPr>
          <a:xfrm>
            <a:off x="634984" y="444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44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435999"/>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de MoveMonitor mee voor zeven dagen en registreer het toestelnummer.</a:t>
            </a:r>
          </a:p>
        </p:txBody>
      </p:sp>
      <p:sp>
        <p:nvSpPr>
          <p:cNvPr id="26" name="Oval 25"/>
          <p:cNvSpPr/>
          <p:nvPr/>
        </p:nvSpPr>
        <p:spPr>
          <a:xfrm>
            <a:off x="634984" y="5059553"/>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059553"/>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04685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eerste SEBIA-gesprek en geef het educatieboekje mee.</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06</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Geschiktheid</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07</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Demografie</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08</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Voet en schoeisel</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09</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Drukmeting</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14</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NAFF</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15</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HLS-EU-6</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16</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Educatieboekje</a:t>
            </a:r>
          </a:p>
        </p:txBody>
      </p:sp>
      <p:sp>
        <p:nvSpPr>
          <p:cNvPr id="51" name="Rounded Rectangle 50"/>
          <p:cNvSpPr/>
          <p:nvPr/>
        </p:nvSpPr>
        <p:spPr>
          <a:xfrm>
            <a:off x="9588260"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77158"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19</a:t>
            </a:r>
          </a:p>
        </p:txBody>
      </p:sp>
      <p:sp>
        <p:nvSpPr>
          <p:cNvPr id="53" name="TextBox 52"/>
          <p:cNvSpPr txBox="1"/>
          <p:nvPr/>
        </p:nvSpPr>
        <p:spPr>
          <a:xfrm>
            <a:off x="10045448"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MoveMonitor</a:t>
            </a:r>
          </a:p>
        </p:txBody>
      </p:sp>
      <p:sp>
        <p:nvSpPr>
          <p:cNvPr id="54" name="Rounded Rectangle 53"/>
          <p:cNvSpPr/>
          <p:nvPr/>
        </p:nvSpPr>
        <p:spPr>
          <a:xfrm>
            <a:off x="7492812"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581710"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20</a:t>
            </a:r>
          </a:p>
        </p:txBody>
      </p:sp>
      <p:sp>
        <p:nvSpPr>
          <p:cNvPr id="56" name="TextBox 55"/>
          <p:cNvSpPr txBox="1"/>
          <p:nvPr/>
        </p:nvSpPr>
        <p:spPr>
          <a:xfrm>
            <a:off x="7950001"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MoveMonitor</a:t>
            </a:r>
          </a:p>
        </p:txBody>
      </p:sp>
      <p:sp>
        <p:nvSpPr>
          <p:cNvPr id="57" name="Rounded Rectangle 56"/>
          <p:cNvSpPr/>
          <p:nvPr/>
        </p:nvSpPr>
        <p:spPr>
          <a:xfrm>
            <a:off x="9588260" y="3657508"/>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9677158" y="3727356"/>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59" name="TextBox 58"/>
          <p:cNvSpPr txBox="1"/>
          <p:nvPr/>
        </p:nvSpPr>
        <p:spPr>
          <a:xfrm>
            <a:off x="10045448" y="3740056"/>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60" name="Rounded Rectangle 59"/>
          <p:cNvSpPr/>
          <p:nvPr/>
        </p:nvSpPr>
        <p:spPr>
          <a:xfrm>
            <a:off x="7492812" y="4000399"/>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581710" y="4070248"/>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26</a:t>
            </a:r>
          </a:p>
        </p:txBody>
      </p:sp>
      <p:sp>
        <p:nvSpPr>
          <p:cNvPr id="62" name="TextBox 61"/>
          <p:cNvSpPr txBox="1"/>
          <p:nvPr/>
        </p:nvSpPr>
        <p:spPr>
          <a:xfrm>
            <a:off x="7950001" y="4082947"/>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Overtuigingen</a:t>
            </a:r>
          </a:p>
        </p:txBody>
      </p:sp>
      <p:sp>
        <p:nvSpPr>
          <p:cNvPr id="63" name="Rounded Rectangle 62"/>
          <p:cNvSpPr/>
          <p:nvPr/>
        </p:nvSpPr>
        <p:spPr>
          <a:xfrm>
            <a:off x="7492812" y="4521086"/>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746806" y="4673483"/>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65" name="TextBox 64"/>
          <p:cNvSpPr txBox="1"/>
          <p:nvPr/>
        </p:nvSpPr>
        <p:spPr>
          <a:xfrm>
            <a:off x="7746806" y="4940176"/>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NAFF en HLS-EU-6 gaan vóór de educatie. Neemt u ze erna af, dan meet u uw eigen uitleg in plaats van de voorkennis van de patiënt.</a:t>
            </a:r>
          </a:p>
        </p:txBody>
      </p:sp>
      <p:sp>
        <p:nvSpPr>
          <p:cNvPr id="66" name="TextBox 65"/>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meet en begeleidt · arts bevestigt · studiemedewerker registreert</a:t>
            </a:r>
          </a:p>
        </p:txBody>
      </p:sp>
      <p:sp>
        <p:nvSpPr>
          <p:cNvPr id="67" name="TextBox 6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38</a:t>
            </a:r>
          </a:p>
        </p:txBody>
      </p:sp>
      <p:pic>
        <p:nvPicPr>
          <p:cNvPr id="6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3 · MAAND 1</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voorschrift</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Kort bezoek, geen meting</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Schrijf de aangepaste voetorthese voor op basis van het baselinebeeld en de drie doelregio's.</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de doelregio's expliciet op het voorschrift, zodat de pedorthist weet waar de ontlasting moet komen.</a:t>
            </a:r>
          </a:p>
        </p:txBody>
      </p:sp>
      <p:sp>
        <p:nvSpPr>
          <p:cNvPr id="14" name="Oval 13"/>
          <p:cNvSpPr/>
          <p:nvPr/>
        </p:nvSpPr>
        <p:spPr>
          <a:xfrm>
            <a:off x="634984" y="35076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5076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49495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Spreek de afleverafspraak op maand 3 af.</a:t>
            </a:r>
          </a:p>
        </p:txBody>
      </p:sp>
      <p:sp>
        <p:nvSpPr>
          <p:cNvPr id="17" name="TextBox 16"/>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18" name="Rounded Rectangle 17"/>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10</a:t>
            </a:r>
          </a:p>
        </p:txBody>
      </p:sp>
      <p:sp>
        <p:nvSpPr>
          <p:cNvPr id="20" name="TextBox 19"/>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Voorschrift CMFO</a:t>
            </a:r>
          </a:p>
        </p:txBody>
      </p:sp>
      <p:sp>
        <p:nvSpPr>
          <p:cNvPr id="21" name="Rounded Rectangle 20"/>
          <p:cNvSpPr/>
          <p:nvPr/>
        </p:nvSpPr>
        <p:spPr>
          <a:xfrm>
            <a:off x="7492812" y="2806629"/>
            <a:ext cx="4063898" cy="1680167"/>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46806" y="2959026"/>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3" name="TextBox 22"/>
          <p:cNvSpPr txBox="1"/>
          <p:nvPr/>
        </p:nvSpPr>
        <p:spPr>
          <a:xfrm>
            <a:off x="7746806" y="3225719"/>
            <a:ext cx="3555911" cy="1121381"/>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Zonder de drie doelregio's op het voorschrift maakt de pedorthist een zool op gevoel. Dan is de meting op maand 3 niet toetsbaar.</a:t>
            </a:r>
          </a:p>
        </p:txBody>
      </p:sp>
      <p:sp>
        <p:nvSpPr>
          <p:cNvPr id="24" name="TextBox 2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Arts of podoloog schrijft voor · pedorthist ontvangt</a:t>
            </a:r>
          </a:p>
        </p:txBody>
      </p:sp>
      <p:sp>
        <p:nvSpPr>
          <p:cNvPr id="25" name="TextBox 2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38</a:t>
            </a:r>
          </a:p>
        </p:txBody>
      </p:sp>
      <p:pic>
        <p:nvPicPr>
          <p:cNvPr id="2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 4 · MAAND 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Aflevering, optimalisatie en sensor</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Het technisch zwaarste bezoek</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Lever de zool af en controleer pasvorm en aandrukpunten.</a:t>
            </a:r>
          </a:p>
        </p:txBody>
      </p:sp>
      <p:sp>
        <p:nvSpPr>
          <p:cNvPr id="11" name="Oval 10"/>
          <p:cNvSpPr/>
          <p:nvPr/>
        </p:nvSpPr>
        <p:spPr>
          <a:xfrm>
            <a:off x="634984" y="267391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67391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661218"/>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Meet de drie condities: blootsvoets, in de schoen zonder zool, in de schoen met zool.</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Toets de norm per doelregio. Niet gehaald? Pas aan en meet opnieuw — twee extra tests zijn voorzien.</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Noteer welke aanpassingen u hebt uitgevoerd.</a:t>
            </a:r>
          </a:p>
        </p:txBody>
      </p:sp>
      <p:sp>
        <p:nvSpPr>
          <p:cNvPr id="20" name="Oval 19"/>
          <p:cNvSpPr/>
          <p:nvPr/>
        </p:nvSpPr>
        <p:spPr>
          <a:xfrm>
            <a:off x="634984" y="428360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28360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27090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laat dan een tweede, identiek paar zolen maken. Beide paren blijven in gebruik.</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89445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881757"/>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Plaats en activeer de Orthotimer in de zool en registreer het toestelnummer.</a:t>
            </a:r>
          </a:p>
        </p:txBody>
      </p:sp>
      <p:sp>
        <p:nvSpPr>
          <p:cNvPr id="26" name="Oval 25"/>
          <p:cNvSpPr/>
          <p:nvPr/>
        </p:nvSpPr>
        <p:spPr>
          <a:xfrm>
            <a:off x="634984" y="550531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50531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492612"/>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Voer het SEBIA-gesprek met teach-back en geef de sensorfolder mee.</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23</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Aanpassing</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24b</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Opvolgtool</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UDI Orthotimer</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25b</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SOP Orthotimer</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29</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Teach-back</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30</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Sensorfolder</a:t>
            </a:r>
          </a:p>
        </p:txBody>
      </p:sp>
      <p:sp>
        <p:nvSpPr>
          <p:cNvPr id="51" name="Rounded Rectangle 50"/>
          <p:cNvSpPr/>
          <p:nvPr/>
        </p:nvSpPr>
        <p:spPr>
          <a:xfrm>
            <a:off x="7492812" y="3835304"/>
            <a:ext cx="4063898" cy="143157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7746806" y="4254393"/>
            <a:ext cx="3555911" cy="872785"/>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De Orthotimer gaat pas in de zool nadat de norm gehaald is. Anders meet u draagtijd van een zool die nog aangepast wordt.</a:t>
            </a:r>
          </a:p>
        </p:txBody>
      </p:sp>
      <p:sp>
        <p:nvSpPr>
          <p:cNvPr id="54" name="TextBox 5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Pedorthist past aan · podoloog meet en plaatst de sensor</a:t>
            </a:r>
          </a:p>
        </p:txBody>
      </p:sp>
      <p:sp>
        <p:nvSpPr>
          <p:cNvPr id="55" name="TextBox 5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38</a:t>
            </a:r>
          </a:p>
        </p:txBody>
      </p:sp>
      <p:pic>
        <p:nvPicPr>
          <p:cNvPr id="5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MOMENTEN 5 TOT 9 · MAAND 6 TOT 18</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Opvolging, elke drie maanden</a:t>
            </a:r>
          </a:p>
        </p:txBody>
      </p:sp>
      <p:sp>
        <p:nvSpPr>
          <p:cNvPr id="5" name="Rounded Rectangle 4"/>
          <p:cNvSpPr/>
          <p:nvPr/>
        </p:nvSpPr>
        <p:spPr>
          <a:xfrm>
            <a:off x="634984" y="1498562"/>
            <a:ext cx="3301917"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568410"/>
            <a:ext cx="3301917" cy="203194"/>
          </a:xfrm>
          <a:prstGeom prst="rect">
            <a:avLst/>
          </a:prstGeom>
          <a:noFill/>
        </p:spPr>
        <p:txBody>
          <a:bodyPr wrap="square" anchor="t" lIns="0" rIns="0" tIns="0" bIns="0">
            <a:spAutoFit/>
          </a:bodyPr>
          <a:lstStyle/>
          <a:p>
            <a:pPr algn="ctr">
              <a:lnSpc>
                <a:spcPct val="125000"/>
              </a:lnSpc>
            </a:pPr>
            <a:r>
              <a:rPr sz="1300" b="1">
                <a:solidFill>
                  <a:srgbClr val="52BDEC"/>
                </a:solidFill>
                <a:latin typeface="Consolas"/>
              </a:rPr>
              <a:t>In het gewone consult</a:t>
            </a:r>
          </a:p>
        </p:txBody>
      </p:sp>
      <p:sp>
        <p:nvSpPr>
          <p:cNvPr id="7" name="TextBox 6"/>
          <p:cNvSpPr txBox="1"/>
          <p:nvPr/>
        </p:nvSpPr>
        <p:spPr>
          <a:xfrm>
            <a:off x="634984" y="1993850"/>
            <a:ext cx="5714857"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DOET</a:t>
            </a:r>
          </a:p>
        </p:txBody>
      </p:sp>
      <p:sp>
        <p:nvSpPr>
          <p:cNvPr id="8" name="Oval 7"/>
          <p:cNvSpPr/>
          <p:nvPr/>
        </p:nvSpPr>
        <p:spPr>
          <a:xfrm>
            <a:off x="634984" y="228594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228594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10" name="TextBox 9"/>
          <p:cNvSpPr txBox="1"/>
          <p:nvPr/>
        </p:nvSpPr>
        <p:spPr>
          <a:xfrm>
            <a:off x="939776" y="227324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Elk bezoek: lees de Orthotimer uit, vervang de batterij en registreer de uitlezing.</a:t>
            </a:r>
          </a:p>
        </p:txBody>
      </p:sp>
      <p:sp>
        <p:nvSpPr>
          <p:cNvPr id="11" name="Oval 10"/>
          <p:cNvSpPr/>
          <p:nvPr/>
        </p:nvSpPr>
        <p:spPr>
          <a:xfrm>
            <a:off x="634984" y="289679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289679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13" name="TextBox 12"/>
          <p:cNvSpPr txBox="1"/>
          <p:nvPr/>
        </p:nvSpPr>
        <p:spPr>
          <a:xfrm>
            <a:off x="939776" y="288409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Bevraag de therapietrouw en bespreek de uitdraai niet-veroordelend.</a:t>
            </a:r>
          </a:p>
        </p:txBody>
      </p:sp>
      <p:sp>
        <p:nvSpPr>
          <p:cNvPr id="14" name="Oval 13"/>
          <p:cNvSpPr/>
          <p:nvPr/>
        </p:nvSpPr>
        <p:spPr>
          <a:xfrm>
            <a:off x="634984" y="328477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328477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16" name="TextBox 15"/>
          <p:cNvSpPr txBox="1"/>
          <p:nvPr/>
        </p:nvSpPr>
        <p:spPr>
          <a:xfrm>
            <a:off x="939776" y="327207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12 én 18: herhaal de drukmeting in de drie condities en pas opnieuw aan als de norm niet gehaald is.</a:t>
            </a:r>
          </a:p>
        </p:txBody>
      </p:sp>
      <p:sp>
        <p:nvSpPr>
          <p:cNvPr id="17" name="Oval 16"/>
          <p:cNvSpPr/>
          <p:nvPr/>
        </p:nvSpPr>
        <p:spPr>
          <a:xfrm>
            <a:off x="634984" y="389562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389562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19" name="TextBox 18"/>
          <p:cNvSpPr txBox="1"/>
          <p:nvPr/>
        </p:nvSpPr>
        <p:spPr>
          <a:xfrm>
            <a:off x="939776" y="388292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Op maand 6: tweede week MoveMonitor.</a:t>
            </a:r>
          </a:p>
        </p:txBody>
      </p:sp>
      <p:sp>
        <p:nvSpPr>
          <p:cNvPr id="20" name="Oval 19"/>
          <p:cNvSpPr/>
          <p:nvPr/>
        </p:nvSpPr>
        <p:spPr>
          <a:xfrm>
            <a:off x="634984" y="428360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4984" y="428360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5</a:t>
            </a:r>
          </a:p>
        </p:txBody>
      </p:sp>
      <p:sp>
        <p:nvSpPr>
          <p:cNvPr id="22" name="TextBox 21"/>
          <p:cNvSpPr txBox="1"/>
          <p:nvPr/>
        </p:nvSpPr>
        <p:spPr>
          <a:xfrm>
            <a:off x="939776" y="4270903"/>
            <a:ext cx="6222844"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Beoordeel beide paren zolen. Het paar dat onderhoud nodig heeft gaat naar de pedorthist, inclusief toplaag.</a:t>
            </a:r>
          </a:p>
        </p:txBody>
      </p:sp>
      <p:sp>
        <p:nvSpPr>
          <p:cNvPr id="23" name="Oval 22"/>
          <p:cNvSpPr/>
          <p:nvPr/>
        </p:nvSpPr>
        <p:spPr>
          <a:xfrm>
            <a:off x="634984" y="489445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4984" y="489445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6</a:t>
            </a:r>
          </a:p>
        </p:txBody>
      </p:sp>
      <p:sp>
        <p:nvSpPr>
          <p:cNvPr id="25" name="TextBox 24"/>
          <p:cNvSpPr txBox="1"/>
          <p:nvPr/>
        </p:nvSpPr>
        <p:spPr>
          <a:xfrm>
            <a:off x="939776" y="4881757"/>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Vervang zool of sensor als dat nodig is, en leg dat vast.</a:t>
            </a:r>
          </a:p>
        </p:txBody>
      </p:sp>
      <p:sp>
        <p:nvSpPr>
          <p:cNvPr id="26" name="Oval 25"/>
          <p:cNvSpPr/>
          <p:nvPr/>
        </p:nvSpPr>
        <p:spPr>
          <a:xfrm>
            <a:off x="634984" y="528243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528243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7</a:t>
            </a:r>
          </a:p>
        </p:txBody>
      </p:sp>
      <p:sp>
        <p:nvSpPr>
          <p:cNvPr id="28" name="TextBox 27"/>
          <p:cNvSpPr txBox="1"/>
          <p:nvPr/>
        </p:nvSpPr>
        <p:spPr>
          <a:xfrm>
            <a:off x="939776" y="5269733"/>
            <a:ext cx="6222844"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Vul de kwaliteit-van-leven- en kostenvragenlijsten aan.</a:t>
            </a:r>
          </a:p>
        </p:txBody>
      </p:sp>
      <p:sp>
        <p:nvSpPr>
          <p:cNvPr id="29" name="TextBox 28"/>
          <p:cNvSpPr txBox="1"/>
          <p:nvPr/>
        </p:nvSpPr>
        <p:spPr>
          <a:xfrm>
            <a:off x="7492812" y="1993850"/>
            <a:ext cx="4063898"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INVULT</a:t>
            </a:r>
          </a:p>
        </p:txBody>
      </p:sp>
      <p:sp>
        <p:nvSpPr>
          <p:cNvPr id="30" name="Rounded Rectangle 29"/>
          <p:cNvSpPr/>
          <p:nvPr/>
        </p:nvSpPr>
        <p:spPr>
          <a:xfrm>
            <a:off x="7492812"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581710"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24</a:t>
            </a:r>
          </a:p>
        </p:txBody>
      </p:sp>
      <p:sp>
        <p:nvSpPr>
          <p:cNvPr id="32" name="TextBox 31"/>
          <p:cNvSpPr txBox="1"/>
          <p:nvPr/>
        </p:nvSpPr>
        <p:spPr>
          <a:xfrm>
            <a:off x="7950001"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Drukherverdeling</a:t>
            </a:r>
          </a:p>
        </p:txBody>
      </p:sp>
      <p:sp>
        <p:nvSpPr>
          <p:cNvPr id="33" name="Rounded Rectangle 32"/>
          <p:cNvSpPr/>
          <p:nvPr/>
        </p:nvSpPr>
        <p:spPr>
          <a:xfrm>
            <a:off x="9588260" y="2285942"/>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77158" y="2355791"/>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28</a:t>
            </a:r>
          </a:p>
        </p:txBody>
      </p:sp>
      <p:sp>
        <p:nvSpPr>
          <p:cNvPr id="35" name="TextBox 34"/>
          <p:cNvSpPr txBox="1"/>
          <p:nvPr/>
        </p:nvSpPr>
        <p:spPr>
          <a:xfrm>
            <a:off x="10045448" y="2368490"/>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Activiteit</a:t>
            </a:r>
          </a:p>
        </p:txBody>
      </p:sp>
      <p:sp>
        <p:nvSpPr>
          <p:cNvPr id="36" name="Rounded Rectangle 35"/>
          <p:cNvSpPr/>
          <p:nvPr/>
        </p:nvSpPr>
        <p:spPr>
          <a:xfrm>
            <a:off x="7492812"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581710"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31</a:t>
            </a:r>
          </a:p>
        </p:txBody>
      </p:sp>
      <p:sp>
        <p:nvSpPr>
          <p:cNvPr id="38" name="TextBox 37"/>
          <p:cNvSpPr txBox="1"/>
          <p:nvPr/>
        </p:nvSpPr>
        <p:spPr>
          <a:xfrm>
            <a:off x="7950001"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Therapietrouw</a:t>
            </a:r>
          </a:p>
        </p:txBody>
      </p:sp>
      <p:sp>
        <p:nvSpPr>
          <p:cNvPr id="39" name="Rounded Rectangle 38"/>
          <p:cNvSpPr/>
          <p:nvPr/>
        </p:nvSpPr>
        <p:spPr>
          <a:xfrm>
            <a:off x="9588260" y="2628834"/>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77158" y="2698682"/>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32</a:t>
            </a:r>
          </a:p>
        </p:txBody>
      </p:sp>
      <p:sp>
        <p:nvSpPr>
          <p:cNvPr id="41" name="TextBox 40"/>
          <p:cNvSpPr txBox="1"/>
          <p:nvPr/>
        </p:nvSpPr>
        <p:spPr>
          <a:xfrm>
            <a:off x="10045448" y="2711382"/>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Feedback</a:t>
            </a:r>
          </a:p>
        </p:txBody>
      </p:sp>
      <p:sp>
        <p:nvSpPr>
          <p:cNvPr id="42" name="Rounded Rectangle 41"/>
          <p:cNvSpPr/>
          <p:nvPr/>
        </p:nvSpPr>
        <p:spPr>
          <a:xfrm>
            <a:off x="7492812"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581710"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33</a:t>
            </a:r>
          </a:p>
        </p:txBody>
      </p:sp>
      <p:sp>
        <p:nvSpPr>
          <p:cNvPr id="44" name="TextBox 43"/>
          <p:cNvSpPr txBox="1"/>
          <p:nvPr/>
        </p:nvSpPr>
        <p:spPr>
          <a:xfrm>
            <a:off x="7950001"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Vervanging</a:t>
            </a:r>
          </a:p>
        </p:txBody>
      </p:sp>
      <p:sp>
        <p:nvSpPr>
          <p:cNvPr id="45" name="Rounded Rectangle 44"/>
          <p:cNvSpPr/>
          <p:nvPr/>
        </p:nvSpPr>
        <p:spPr>
          <a:xfrm>
            <a:off x="9588260" y="2971725"/>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677158" y="3041573"/>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21</a:t>
            </a:r>
          </a:p>
        </p:txBody>
      </p:sp>
      <p:sp>
        <p:nvSpPr>
          <p:cNvPr id="47" name="TextBox 46"/>
          <p:cNvSpPr txBox="1"/>
          <p:nvPr/>
        </p:nvSpPr>
        <p:spPr>
          <a:xfrm>
            <a:off x="10045448" y="3054273"/>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EQ-5D-5L</a:t>
            </a:r>
          </a:p>
        </p:txBody>
      </p:sp>
      <p:sp>
        <p:nvSpPr>
          <p:cNvPr id="48" name="Rounded Rectangle 47"/>
          <p:cNvSpPr/>
          <p:nvPr/>
        </p:nvSpPr>
        <p:spPr>
          <a:xfrm>
            <a:off x="7492812" y="3314617"/>
            <a:ext cx="1993850"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7581710" y="3384465"/>
            <a:ext cx="380990" cy="190495"/>
          </a:xfrm>
          <a:prstGeom prst="rect">
            <a:avLst/>
          </a:prstGeom>
          <a:noFill/>
        </p:spPr>
        <p:txBody>
          <a:bodyPr wrap="square" anchor="t" lIns="0" rIns="0" tIns="0" bIns="0">
            <a:spAutoFit/>
          </a:bodyPr>
          <a:lstStyle/>
          <a:p>
            <a:pPr algn="l">
              <a:lnSpc>
                <a:spcPct val="125000"/>
              </a:lnSpc>
            </a:pPr>
            <a:r>
              <a:rPr sz="1300" b="1">
                <a:solidFill>
                  <a:srgbClr val="52BDEC"/>
                </a:solidFill>
                <a:latin typeface="Consolas"/>
              </a:rPr>
              <a:t>45b</a:t>
            </a:r>
          </a:p>
        </p:txBody>
      </p:sp>
      <p:sp>
        <p:nvSpPr>
          <p:cNvPr id="50" name="TextBox 49"/>
          <p:cNvSpPr txBox="1"/>
          <p:nvPr/>
        </p:nvSpPr>
        <p:spPr>
          <a:xfrm>
            <a:off x="7950001" y="3397165"/>
            <a:ext cx="1485862" cy="190495"/>
          </a:xfrm>
          <a:prstGeom prst="rect">
            <a:avLst/>
          </a:prstGeom>
          <a:noFill/>
        </p:spPr>
        <p:txBody>
          <a:bodyPr wrap="none" anchor="t" lIns="0" rIns="0" tIns="0" bIns="0">
            <a:spAutoFit/>
          </a:bodyPr>
          <a:lstStyle/>
          <a:p>
            <a:pPr algn="l">
              <a:lnSpc>
                <a:spcPct val="125000"/>
              </a:lnSpc>
            </a:pPr>
            <a:r>
              <a:rPr sz="1150" b="0">
                <a:solidFill>
                  <a:srgbClr val="F2F8FC"/>
                </a:solidFill>
                <a:latin typeface="Segoe UI"/>
              </a:rPr>
              <a:t>Kostendagboek</a:t>
            </a:r>
          </a:p>
        </p:txBody>
      </p:sp>
      <p:sp>
        <p:nvSpPr>
          <p:cNvPr id="51" name="Rounded Rectangle 50"/>
          <p:cNvSpPr/>
          <p:nvPr/>
        </p:nvSpPr>
        <p:spPr>
          <a:xfrm>
            <a:off x="7492812" y="3835304"/>
            <a:ext cx="4063898" cy="1928764"/>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7746806" y="3987700"/>
            <a:ext cx="3555911"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3" name="TextBox 52"/>
          <p:cNvSpPr txBox="1"/>
          <p:nvPr/>
        </p:nvSpPr>
        <p:spPr>
          <a:xfrm>
            <a:off x="7746806" y="4254393"/>
            <a:ext cx="3555911" cy="1369978"/>
          </a:xfrm>
          <a:prstGeom prst="rect">
            <a:avLst/>
          </a:prstGeom>
          <a:noFill/>
        </p:spPr>
        <p:txBody>
          <a:bodyPr wrap="square" anchor="t" lIns="0" rIns="0" tIns="0" bIns="0">
            <a:spAutoFit/>
          </a:bodyPr>
          <a:lstStyle/>
          <a:p>
            <a:pPr algn="l">
              <a:lnSpc>
                <a:spcPct val="135000"/>
              </a:lnSpc>
            </a:pPr>
            <a:r>
              <a:rPr sz="1450" b="0">
                <a:solidFill>
                  <a:srgbClr val="F2F8FC"/>
                </a:solidFill>
                <a:latin typeface="Segoe UI"/>
              </a:rPr>
              <a:t>Beide co-primaire uitkomsten worden op 18 maanden geëvalueerd, maar de draagtijd is een gemiddelde over de hele periode. Elke gemiste uitlezing verzwakt dus het eindresultaat van die patiënt.</a:t>
            </a:r>
          </a:p>
        </p:txBody>
      </p:sp>
      <p:sp>
        <p:nvSpPr>
          <p:cNvPr id="54" name="TextBox 53"/>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Podoloog leest uit en begeleidt · arts beoordeelt laesies</a:t>
            </a:r>
          </a:p>
        </p:txBody>
      </p:sp>
      <p:sp>
        <p:nvSpPr>
          <p:cNvPr id="55" name="TextBox 5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38</a:t>
            </a:r>
          </a:p>
        </p:txBody>
      </p:sp>
      <p:pic>
        <p:nvPicPr>
          <p:cNvPr id="5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146499"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Screening</a:t>
            </a:r>
          </a:p>
        </p:txBody>
      </p:sp>
      <p:sp>
        <p:nvSpPr>
          <p:cNvPr id="9" name="!!taak0"/>
          <p:cNvSpPr txBox="1"/>
          <p:nvPr/>
        </p:nvSpPr>
        <p:spPr>
          <a:xfrm>
            <a:off x="69848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379073"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848509" y="2133546"/>
            <a:ext cx="1213525"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Baseline</a:t>
            </a:r>
          </a:p>
        </p:txBody>
      </p:sp>
      <p:sp>
        <p:nvSpPr>
          <p:cNvPr id="12" name="!!taak1"/>
          <p:cNvSpPr txBox="1"/>
          <p:nvPr/>
        </p:nvSpPr>
        <p:spPr>
          <a:xfrm>
            <a:off x="1912007"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13" name="!!stip2"/>
          <p:cNvSpPr/>
          <p:nvPr/>
        </p:nvSpPr>
        <p:spPr>
          <a:xfrm>
            <a:off x="3592599"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306203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a:t>
            </a:r>
          </a:p>
        </p:txBody>
      </p:sp>
      <p:sp>
        <p:nvSpPr>
          <p:cNvPr id="15" name="!!taak2"/>
          <p:cNvSpPr txBox="1"/>
          <p:nvPr/>
        </p:nvSpPr>
        <p:spPr>
          <a:xfrm>
            <a:off x="3125532"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voorschrift</a:t>
            </a:r>
          </a:p>
        </p:txBody>
      </p:sp>
      <p:sp>
        <p:nvSpPr>
          <p:cNvPr id="16" name="!!stip3"/>
          <p:cNvSpPr/>
          <p:nvPr/>
        </p:nvSpPr>
        <p:spPr>
          <a:xfrm>
            <a:off x="4806124"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4275559"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3</a:t>
            </a:r>
          </a:p>
        </p:txBody>
      </p:sp>
      <p:sp>
        <p:nvSpPr>
          <p:cNvPr id="18" name="!!taak3"/>
          <p:cNvSpPr txBox="1"/>
          <p:nvPr/>
        </p:nvSpPr>
        <p:spPr>
          <a:xfrm>
            <a:off x="433905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601964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489084"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6</a:t>
            </a:r>
          </a:p>
        </p:txBody>
      </p:sp>
      <p:sp>
        <p:nvSpPr>
          <p:cNvPr id="21" name="!!taak4"/>
          <p:cNvSpPr txBox="1"/>
          <p:nvPr/>
        </p:nvSpPr>
        <p:spPr>
          <a:xfrm>
            <a:off x="555258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2" name="!!stip5"/>
          <p:cNvSpPr/>
          <p:nvPr/>
        </p:nvSpPr>
        <p:spPr>
          <a:xfrm>
            <a:off x="7233174"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70261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9</a:t>
            </a:r>
          </a:p>
        </p:txBody>
      </p:sp>
      <p:sp>
        <p:nvSpPr>
          <p:cNvPr id="24" name="!!taak5"/>
          <p:cNvSpPr txBox="1"/>
          <p:nvPr/>
        </p:nvSpPr>
        <p:spPr>
          <a:xfrm>
            <a:off x="6766108"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25" name="!!stip6"/>
          <p:cNvSpPr/>
          <p:nvPr/>
        </p:nvSpPr>
        <p:spPr>
          <a:xfrm>
            <a:off x="8446699"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91613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12</a:t>
            </a:r>
          </a:p>
        </p:txBody>
      </p:sp>
      <p:sp>
        <p:nvSpPr>
          <p:cNvPr id="27" name="!!taak6"/>
          <p:cNvSpPr txBox="1"/>
          <p:nvPr/>
        </p:nvSpPr>
        <p:spPr>
          <a:xfrm>
            <a:off x="7979633"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8" name="!!stip7"/>
          <p:cNvSpPr/>
          <p:nvPr/>
        </p:nvSpPr>
        <p:spPr>
          <a:xfrm>
            <a:off x="9660225"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9129660"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15</a:t>
            </a:r>
          </a:p>
        </p:txBody>
      </p:sp>
      <p:sp>
        <p:nvSpPr>
          <p:cNvPr id="30" name="!!taak7"/>
          <p:cNvSpPr txBox="1"/>
          <p:nvPr/>
        </p:nvSpPr>
        <p:spPr>
          <a:xfrm>
            <a:off x="9193159"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begeleiding</a:t>
            </a:r>
          </a:p>
        </p:txBody>
      </p:sp>
      <p:sp>
        <p:nvSpPr>
          <p:cNvPr id="31" name="!!stip8"/>
          <p:cNvSpPr/>
          <p:nvPr/>
        </p:nvSpPr>
        <p:spPr>
          <a:xfrm>
            <a:off x="10854700"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10343185" y="2133546"/>
            <a:ext cx="1213525"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18</a:t>
            </a:r>
          </a:p>
        </p:txBody>
      </p:sp>
      <p:sp>
        <p:nvSpPr>
          <p:cNvPr id="33" name="!!taak8"/>
          <p:cNvSpPr txBox="1"/>
          <p:nvPr/>
        </p:nvSpPr>
        <p:spPr>
          <a:xfrm>
            <a:off x="10406684" y="3251118"/>
            <a:ext cx="1086528"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4" name="Oval 33"/>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6" name="Oval 35"/>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38" name="Oval 37"/>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0"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9</a:t>
            </a:r>
          </a:p>
        </p:txBody>
      </p:sp>
      <p:sp>
        <p:nvSpPr>
          <p:cNvPr id="41" name="TextBox 40"/>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momenten, één zorgpad</a:t>
            </a:r>
          </a:p>
        </p:txBody>
      </p:sp>
      <p:sp>
        <p:nvSpPr>
          <p:cNvPr id="42" name="TextBox 41"/>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38</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38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38</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38</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38</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38</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38</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38</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REDCap</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Instructie plus een testomgeving om in te oefenen</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38</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Wie leest de sensor uit?</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Uw team, ter plaatse, bij elk bezoek.</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38</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38</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38</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REDCap,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38</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