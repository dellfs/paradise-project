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PARADISE gaat niet over genezen maar over terugkomen. Zes Belgische voetklinieken, honderdvierenveertig patiënten, achttien maanden per patiënt. Ik neem u mee langs het waarom, de meting en het traject. Onderbreek me gerust.</a:t>
            </a:r>
          </a:p>
          <a:p/>
          <a:p>
            <a:r>
              <a:t>PRESENTATIETIP</a:t>
            </a:r>
          </a:p>
          <a:p>
            <a:r>
              <a:t>Het beeld draagt deze dia, dus de foto moet raak zijn. Zet hem in beeld\stock\, draai verwerk_stock.py, en vervang het kader met rechtsklik en Afbeelding wijzigen. Liggend, koele tonen, en rustig onderaan — daar staat de titel.</a:t>
            </a:r>
          </a:p>
          <a:p/>
          <a:p>
            <a:r>
              <a:t>INTERACTIE</a:t>
            </a:r>
          </a:p>
          <a:p>
            <a:r>
              <a:t>Laat de dia staan terwijl de zaal binnenkomt. Zeg pas iets als iedereen zit.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lat voor vandaag. Zes handelingen, en na deze sessie doet u ze zelf. Herkent u er één waarvan u nu al denkt: dat durf ik niet — zeg het dan meteen. Daar is deze sessie voor.</a:t>
            </a:r>
          </a:p>
          <a:p/>
          <a:p>
            <a:r>
              <a:t>PRESENTATIETIP</a:t>
            </a:r>
          </a:p>
          <a:p>
            <a:r>
              <a:t>Loop de zes titels traag door. Dit is de belofte van de dag en het is ook precies de bekwaamheidscheck op het eind.</a:t>
            </a:r>
          </a:p>
          <a:p/>
          <a:p>
            <a:r>
              <a:t>INTERACTIE</a:t>
            </a:r>
          </a:p>
          <a:p>
            <a:r>
              <a:t>Laat iedereen op een blad de zes overschrijven en aanduiden welke ze al beheersen. Op het eind vullen ze dat opnieuw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blokken. Eerst waarom de studie zo is opgezet, dan de meting, dan het traject bezoek per bezoek, en tot slot de toestellen en de regels. Ik hou tijd vrij na elk blok.</a:t>
            </a:r>
          </a:p>
          <a:p/>
          <a:p>
            <a:r>
              <a:t>PRESENTATIETIP</a:t>
            </a:r>
          </a:p>
          <a:p>
            <a:r>
              <a:t>Blok 3 is het langste en het belangrijkste. Plan uw tijd zo dat u daar niet doorheen moet jagen.</a:t>
            </a:r>
          </a:p>
          <a:p/>
          <a:p>
            <a:r>
              <a:t>INTERACTIE</a:t>
            </a:r>
          </a:p>
          <a:p>
            <a:r>
              <a:t>Vraag of iemand een blok wil ruilen van plaats. Wie kiest, luistert beter.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stip is een patiënt. Vierentwintig daarvan komen uit úw kliniek, twaalf in elke arm. Zes keer vierentwintig is honderdvierenveertig. Blijft één centrum achter, dan haalt de studie het niet.</a:t>
            </a:r>
          </a:p>
          <a:p/>
          <a:p>
            <a:r>
              <a:t>PRESENTATIETIP</a:t>
            </a:r>
          </a:p>
          <a:p>
            <a:r>
              <a:t>Wijs hun eigen centrum aan: 24 van die 144 stippen zijn van hen. Zes keer 24 is 144 — als één centrum achterblijft, haalt de studie het niet.</a:t>
            </a:r>
          </a:p>
          <a:p/>
          <a:p>
            <a:r>
              <a:t>INTERACTIE</a:t>
            </a:r>
          </a:p>
          <a:p>
            <a:r>
              <a:t>Vraag of ze de andere vijf centra kennen. Het maakt van zes losse klinieken één netwerk.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één. Ik geef u vier cijfers. Na het vierde weet u waarom deze studie twee normen heeft in plaats van één, en waarom niemand die tot nu toe samen gehaald heeft.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Veertig procent krijgt binnen één jaar een nieuw ulcus. Na vijf jaar is dat vijfenzestig. En de sterfte ligt tweeënhalf keer hoger dan bij diabetes zonder ulcus — na een amputatie zelfs boven de zeventig procent. Dit is geen wondprobleem. Dit is een overlevingsprobleem.</a:t>
            </a:r>
          </a:p>
          <a:p/>
          <a:p>
            <a:r>
              <a:t>PRESENTATIETIP</a:t>
            </a:r>
          </a:p>
          <a:p>
            <a:r>
              <a:t>Dit is het probleem waar de hele studie op staat. Eén dia, dan door.</a:t>
            </a:r>
          </a:p>
          <a:p/>
          <a:p>
            <a:r>
              <a:t>INTERACTIE</a:t>
            </a:r>
          </a:p>
          <a:p>
            <a:r>
              <a:t>Geen. Dit is context, geen discussie.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dan het cijfer dat het onverdraaglijk maakt. Driekwart van deze ulcera is in principe te voorkomen. Toch komt veertig procent binnen het jaar terug. Dat gat tussen wat kan en wat gebeurt — daar gaat deze studie over.</a:t>
            </a:r>
          </a:p>
          <a:p/>
          <a:p>
            <a:r>
              <a:t>PRESENTATIETIP</a:t>
            </a:r>
          </a:p>
          <a:p>
            <a:r>
              <a:t>Zeg dit traag en zwijg dan twee tellen. Dit is de enige dia in blok 1 waar de zaal niet leest maar luistert.</a:t>
            </a:r>
          </a:p>
          <a:p/>
          <a:p>
            <a:r>
              <a:t>INTERACTIE</a:t>
            </a:r>
          </a:p>
          <a:p>
            <a:r>
              <a:t>Geen. De stilte doet het werk.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beste poging die er ligt: drukgeoptimaliseerd maatschoeisel, multicentrisch en gerandomiseerd. Over iedereen samen: geen verschil. Bij wie hem dróég: bijna gehalveerd. Het verschil zat dus niet in de schoen.</a:t>
            </a:r>
          </a:p>
          <a:p/>
          <a:p>
            <a:r>
              <a:t>PRESENTATIETIP</a:t>
            </a:r>
          </a:p>
          <a:p>
            <a:r>
              <a:t>Hier komt de tweede norm vandaan. Zonder deze dia is 80% draagtijd een willekeurig getal.</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Daar zit het. Eenenzeventig procent draagtijd, gemeten met een sensor en niet gevraagd. Thuis zakt het naar eenenzestig, en juist thuis worden de meeste stappen gezet. De schoen stond in de gang terwijl de patiënt door het huis liep.</a:t>
            </a:r>
          </a:p>
          <a:p/>
          <a:p>
            <a:r>
              <a:t>PRESENTATIETIP</a:t>
            </a:r>
          </a:p>
          <a:p>
            <a:r>
              <a:t>Binnenshuis wordt het schoeisel het minst gedragen, en juist daar worden veel stappen gezet. Dat is uw belangrijkste gesprekspunt bij SEBIA.</a:t>
            </a:r>
          </a:p>
          <a:p/>
          <a:p>
            <a:r>
              <a:t>INTERACTIE</a:t>
            </a:r>
          </a:p>
          <a:p>
            <a:r>
              <a:t>Vraag wat zij schatten bij hun eigen patiënten.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Belasting is een product, geen optelsom. Piekdruk maal activiteit maal draagtijd. Eén factor op nul maakt het hele product nul. Een perfecte zool in de kast beschermt niets.</a:t>
            </a:r>
          </a:p>
          <a:p/>
          <a:p>
            <a:r>
              <a:t>PRESENTATIETIP</a:t>
            </a:r>
          </a:p>
          <a:p>
            <a:r>
              <a:t>Dit is het scharnier van blok 1. Wie dit snapt, snapt waarom de meting én de sensor allebei moeten kloppen.</a:t>
            </a:r>
          </a:p>
          <a:p/>
          <a:p>
            <a:r>
              <a:t>INTERACTIE</a:t>
            </a:r>
          </a:p>
          <a:p>
            <a:r>
              <a:t>Morph: de drie tegels komen samen uit één punt.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Daarom doen wij het anders. Geen drie losse maatregelen, maar één dienst met twee normen: de zool moet de druk hálen, én hij moet gedragen wórden. Beide gemeten, beide bijgestuurd, en beide door uw eigen team. Dat is nog nooit samen getoetst.</a:t>
            </a:r>
          </a:p>
          <a:p/>
          <a:p>
            <a:r>
              <a:t>PRESENTATIETIP</a:t>
            </a:r>
          </a:p>
          <a:p>
            <a:r>
              <a:t>Dit is de kanteldia. Alles ervoor is het probleem, alles erna is de uitvoering. Zeg met zoveel woorden dat dit nog nooit samen getoetst is.</a:t>
            </a:r>
          </a:p>
          <a:p/>
          <a:p>
            <a:r>
              <a:t>INTERACTIE</a:t>
            </a:r>
          </a:p>
          <a:p>
            <a:r>
              <a:t>Vraag welke van de twee normen zij het moeilijkst achten. Het antwoord is bijna altijd de tweede.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twee: de meting. Wat u meet, hoe u het meet, en wanneer het goed genoeg is.</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sensor geeft een cijfer. Dit is de baseline, blootsvoets: driehonderdtwaalf kilopascal onder metatarsaal twee-drie. Drie metingen per voet, waar de software één beeld van maakt. Hiertegen wordt alles afgezet.</a:t>
            </a:r>
          </a:p>
          <a:p/>
          <a:p>
            <a:r>
              <a:t>PRESENTATIETIP</a:t>
            </a:r>
          </a:p>
          <a:p>
            <a:r>
              <a:t>De meest gemaakte fout is één meting per voet. Het protocol vraagt er drie, en het gemiddelde telt.</a:t>
            </a:r>
          </a:p>
          <a:p/>
          <a:p>
            <a:r>
              <a:t>INTERACTIE</a:t>
            </a:r>
          </a:p>
          <a:p>
            <a:r>
              <a:t>Vraag wie al blootsvoets gemeten heeft met sensoren op de voet.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 software verdeelt de voet in acht regio's. Daarvan kiest u er drie als doelregio. Die drie zet u op het voorschrift. En alleen dáár wordt de norm getoetst, niet over de hele voet.</a:t>
            </a:r>
          </a:p>
          <a:p/>
          <a:p>
            <a:r>
              <a:t>PRESENTATIETIP</a:t>
            </a:r>
          </a:p>
          <a:p>
            <a:r>
              <a:t>Uit deze acht kiest u er drie om te ontlasten: de regio met de ulcusvoorgeschiedenis, plus één of twee met de hoogste piekdruk. Die drie legt u vast — daarop wordt de norm getoetst.</a:t>
            </a:r>
          </a:p>
          <a:p/>
          <a:p>
            <a:r>
              <a:t>INTERACTIE</a:t>
            </a:r>
          </a:p>
          <a:p>
            <a:r>
              <a:t>Laat ze op deze dia aanwijzen welke drie zij zouden kiezen.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Zelfde voet, na aanpassing. Honderdzesentachtig kilopascal: veertig procent lager én onder de tweehonderd. De norm geldt per doelregio. Haalt u ze niet, dan past u aan en meet u opnieuw.</a:t>
            </a:r>
          </a:p>
          <a:p/>
          <a:p>
            <a:r>
              <a:t>PRESENTATIETIP</a:t>
            </a:r>
          </a:p>
          <a:p>
            <a:r>
              <a:t>Zeg expliciet: "óf". Twee wegen naar dezelfde norm, geen dubbele eis. En de vergelijking gebeurt per regio, niet over de hele voet.</a:t>
            </a:r>
          </a:p>
          <a:p/>
          <a:p>
            <a:r>
              <a:t>INTERACTIE</a:t>
            </a:r>
          </a:p>
          <a:p>
            <a:r>
              <a:t>Vraag de pedorthisten hoeveel aanpassingsrondes realistisch zijn.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Even stilstaan. Het doel is niet minder belasting. Het doel is belasting op een plek die het aankan. Dat is de hele interventie.</a:t>
            </a:r>
          </a:p>
          <a:p/>
          <a:p>
            <a:r>
              <a:t>PRESENTATIETIP</a:t>
            </a:r>
          </a:p>
          <a:p>
            <a:r>
              <a:t>Zeg deze twee zinnen en zwijg dan. Laat de dia staan tot iemand ongemakkelijk wordt. Dit is het enige moment in blok 2 waarop de zaal niets te lezen heeft.</a:t>
            </a:r>
          </a:p>
          <a:p/>
          <a:p>
            <a:r>
              <a:t>INTERACTIE</a:t>
            </a:r>
          </a:p>
          <a:p>
            <a:r>
              <a:t>Geen. Bewust geen.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condities, altijd in deze volgorde. Blootsvoets is uw referentie. In de schoen zonder zool toont wat het schoeisel alleen doet. In de schoen mét zool is de meting waarop de norm getoetst wordt — slaat u er één over, dan is de vergelijking onbruikbaar.</a:t>
            </a:r>
          </a:p>
          <a:p/>
          <a:p>
            <a:r>
              <a:t>PRESENTATIETIP</a:t>
            </a:r>
          </a:p>
          <a:p>
            <a:r>
              <a:t>Dit is de dia waar in de praktijk de meeste fouten gemaakt worden. Loop de drie condities traag door en benoem dat conditie 2 vaak vergeten wordt. Dezelfde drie condities komen terug op maand 6, 12 en 18.</a:t>
            </a:r>
          </a:p>
          <a:p/>
          <a:p>
            <a:r>
              <a:t>INTERACTIE</a:t>
            </a:r>
          </a:p>
          <a:p>
            <a:r>
              <a:t>Vraag: "wie meet er vandaag al in de schoen zonder zool?"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drie: het traject. Negen contactmomenten. Per moment: wat u doet en wat u invult.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Screening en negen visites over achttien maanden. De eerste drie liggen dicht op elkaar. Daarna is het ritme elke drie maanden — hetzelfde ritme als de controle die deze patiënten toch al krijgen.</a:t>
            </a:r>
          </a:p>
          <a:p/>
          <a:p>
            <a:r>
              <a:t>PRESENTATIETIP</a:t>
            </a:r>
          </a:p>
          <a:p>
            <a:r>
              <a:t>Geef eerst het overzicht. De volgende dia's lopen elk moment af.</a:t>
            </a:r>
          </a:p>
          <a:p/>
          <a:p>
            <a:r>
              <a:t>INTERACTIE</a:t>
            </a:r>
          </a:p>
          <a:p>
            <a:r>
              <a:t>Geen. De detaildia's komen hierna.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Screening en visite nul. De volgorde ligt vast: screenen, tekenen, geschiktheid bevestigen, en pas dan loten. Vul geen enkel ander formulier in vóór de handtekening. Ook een afwijzing noteert u, want ook dat is studiedata.</a:t>
            </a:r>
          </a:p>
          <a:p/>
          <a:p>
            <a:r>
              <a:t>PRESENTATIETIP</a:t>
            </a:r>
          </a:p>
          <a:p>
            <a:r>
              <a:t>Benadruk dat de loting door de PI gebeurt met verzegelde enveloppen, vier blokken van zes per centrum. Niemand kiest zelf.</a:t>
            </a:r>
          </a:p>
          <a:p/>
          <a:p>
            <a:r>
              <a:t>INTERACTIE</a:t>
            </a:r>
          </a:p>
          <a:p>
            <a:r>
              <a:t>Deel het screeningsformulier uit en laat ze het invullen voor een patiënt die ze vorige week zagen.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1 van 5. Zeg de handeling in uw eigen woorden en wijs aan waar ze op het formulier terechtkomt.</a:t>
            </a:r>
          </a:p>
          <a:p/>
          <a:p>
            <a:r>
              <a:t>PRESENTATIETIP</a:t>
            </a:r>
          </a:p>
          <a:p>
            <a:r>
              <a:t>Benadruk dat de loting door de PI gebeurt met verzegelde enveloppen, vier blokken van zes per centrum. Niemand kiest zelf.</a:t>
            </a:r>
          </a:p>
          <a:p/>
          <a:p>
            <a:r>
              <a:t>INTERACTIE</a:t>
            </a:r>
          </a:p>
          <a:p>
            <a:r>
              <a:t>Deel het screeningsformulier uit en laat ze het invullen voor een patiënt die ze vorige week zagen.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2 van 5.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3 van 5.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4 van 5.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5 van 5, de laatste van dit bezoek. Loop de formulieren af en herhaal de let-op in uw eigen woorden.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Categorie drie volgens IWGDF: een genezen plantair ulcus, of een kleine amputatie. Links wat toelaat, rechts wat uitsluit. De rode draad: offloading moet de juiste behandeling zijn, dus kritieke ischemie en actieve Charcot vallen af.</a:t>
            </a:r>
          </a:p>
          <a:p/>
          <a:p>
            <a:r>
              <a:t>PRESENTATIETIP</a:t>
            </a:r>
          </a:p>
          <a:p>
            <a:r>
              <a:t>Twee criteria worden het vaakst gemist: de resectie mag niet de eerste metatarsaalkop betreffen, en een enkel-voetorthese sluit uit omdat de sensoren er niet in passen.</a:t>
            </a:r>
          </a:p>
          <a:p/>
          <a:p>
            <a:r>
              <a:t>INTERACTIE</a:t>
            </a:r>
          </a:p>
          <a:p>
            <a:r>
              <a:t>Vraag per criterium of het in hun patiëntenbestand vaak voorkomt.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Visite één, het langste bezoek van de studie. Meten, voorschrijven, vragenlijsten en het eerste educatiegesprek. Twee dingen liggen vast: het voorschrift gebeurt hier en niet later, en NAFF en HLS gaan vóór de educatie.</a:t>
            </a:r>
          </a:p>
          <a:p/>
          <a:p>
            <a:r>
              <a:t>PRESENTATIETIP</a:t>
            </a:r>
          </a:p>
          <a:p>
            <a:r>
              <a:t>Dit bezoek loopt uit. Zeg hoeveel tijd u ervoor moet inplannen en waarom de volgorde vastligt.</a:t>
            </a:r>
          </a:p>
          <a:p/>
          <a:p>
            <a:r>
              <a:t>INTERACTIE</a:t>
            </a:r>
          </a:p>
          <a:p>
            <a:r>
              <a:t>Laat ze in duo's de volgorde van de handelingen leggen met de formulieren op tafel.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1 van 7. Zeg de handeling in uw eigen woorden en wijs aan waar ze op het formulier terechtkomt.</a:t>
            </a:r>
          </a:p>
          <a:p/>
          <a:p>
            <a:r>
              <a:t>PRESENTATIETIP</a:t>
            </a:r>
          </a:p>
          <a:p>
            <a:r>
              <a:t>Dit bezoek loopt uit. Zeg hoeveel tijd u ervoor moet inplannen en waarom de volgorde vastligt.</a:t>
            </a:r>
          </a:p>
          <a:p/>
          <a:p>
            <a:r>
              <a:t>INTERACTIE</a:t>
            </a:r>
          </a:p>
          <a:p>
            <a:r>
              <a:t>Laat ze in duo's de volgorde van de handelingen leggen met de formulieren op tafel.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2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3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4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5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6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7 van 7, de laatste van dit bezoek. Loop de formulieren af en herhaal de let-op in uw eigen woorden.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Visite twee, veertien dagen tot één maand later. Technisch het zwaarste bezoek: afleveren, pasvorm in binnen- én buitenschoeisel, meten, aanpassen tot de norm gehaald is. Pas dán gaat de Orthotimer in de zool, en pas dan bestelt u het tweede paar.</a:t>
            </a:r>
          </a:p>
          <a:p/>
          <a:p>
            <a:r>
              <a:t>PRESENTATIETIP</a:t>
            </a:r>
          </a:p>
          <a:p>
            <a:r>
              <a:t>Plan hier de meeste tijd van de sessie voor. Dit bezoek bepaalt of de primaire uitkomst bruikbaar wordt.</a:t>
            </a:r>
          </a:p>
          <a:p/>
          <a:p>
            <a:r>
              <a:t>INTERACTIE</a:t>
            </a:r>
          </a:p>
          <a:p>
            <a:r>
              <a:t>Demonstreer het plaatsen en activeren van een Orthotimer op een losse zool.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1 van 7. Zeg de handeling in uw eigen woorden en wijs aan waar ze op het formulier terechtkomt.</a:t>
            </a:r>
          </a:p>
          <a:p/>
          <a:p>
            <a:r>
              <a:t>PRESENTATIETIP</a:t>
            </a:r>
          </a:p>
          <a:p>
            <a:r>
              <a:t>Plan hier de meeste tijd van de sessie voor. Dit bezoek bepaalt of de primaire uitkomst bruikbaar wordt.</a:t>
            </a:r>
          </a:p>
          <a:p/>
          <a:p>
            <a:r>
              <a:t>INTERACTIE</a:t>
            </a:r>
          </a:p>
          <a:p>
            <a:r>
              <a:t>Demonstreer het plaatsen en activeren van een Orthotimer op een losse zool.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2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3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4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5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6 van 7.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7 van 7, de laatste van dit bezoek. Loop de formulieren af en herhaal de let-op in uw eigen woorden.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Visites drie tot acht, elke drie maanden. Screenen, uitlezen, bespreken, en beide paren zolen beoordelen. Uitlezen kan alleen ter plaatse: een gemiste uitlezing verzwakt de draagtijd van die patiënt over de hele periode.</a:t>
            </a:r>
          </a:p>
          <a:p/>
          <a:p>
            <a:r>
              <a:t>PRESENTATIETIP</a:t>
            </a:r>
          </a:p>
          <a:p>
            <a:r>
              <a:t>Dit zijn zes identieke bezoeken. Zeg dat expliciet: het ritme is elke drie maanden en de handelingen zijn elke keer dezelfde.</a:t>
            </a:r>
          </a:p>
          <a:p/>
          <a:p>
            <a:r>
              <a:t>INTERACTIE</a:t>
            </a:r>
          </a:p>
          <a:p>
            <a:r>
              <a:t>Vraag hoe zij een gemiste afspraak in de praktijk opvangen.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1 van 6. Zeg de handeling in uw eigen woorden en wijs aan waar ze op het formulier terechtkomt.</a:t>
            </a:r>
          </a:p>
          <a:p/>
          <a:p>
            <a:r>
              <a:t>PRESENTATIETIP</a:t>
            </a:r>
          </a:p>
          <a:p>
            <a:r>
              <a:t>Dit zijn zes identieke bezoeken. Zeg dat expliciet: het ritme is elke drie maanden en de handelingen zijn elke keer dezelfde.</a:t>
            </a:r>
          </a:p>
          <a:p/>
          <a:p>
            <a:r>
              <a:t>INTERACTIE</a:t>
            </a:r>
          </a:p>
          <a:p>
            <a:r>
              <a:t>Vraag hoe zij een gemiste afspraak in de praktijk opvangen.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2 van 6.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3 van 6.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4 van 6.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5 van 6.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6 van 6, de laatste van dit bezoek. Loop de formulieren af en herhaal de let-op in uw eigen woorden.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Op maand zes, twaalf en achttien komt er een drukmeting bij. Drie keer, niet twee. Dezelfde drie condities, dezelfde toetsing per doelregio. Ligt de piekdruk er weer boven, dan past u opnieuw aan.</a:t>
            </a:r>
          </a:p>
          <a:p/>
          <a:p>
            <a:r>
              <a:t>PRESENTATIETIP</a:t>
            </a:r>
          </a:p>
          <a:p>
            <a:r>
              <a:t>Dit is de dia die het vaakst vergeten wordt bij het inplannen. Zet de drie data nu al in de agenda van de patiënt.</a:t>
            </a:r>
          </a:p>
          <a:p/>
          <a:p>
            <a:r>
              <a:t>INTERACTIE</a:t>
            </a:r>
          </a:p>
          <a:p>
            <a:r>
              <a:t>Laat elk centrum benoemen wie de drukmeting op maand 18 zal doen.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1 van 3. Zeg de handeling in uw eigen woorden en wijs aan waar ze op het formulier terechtkomt.</a:t>
            </a:r>
          </a:p>
          <a:p/>
          <a:p>
            <a:r>
              <a:t>PRESENTATIETIP</a:t>
            </a:r>
          </a:p>
          <a:p>
            <a:r>
              <a:t>Dit is de dia die het vaakst vergeten wordt bij het inplannen. Zet de drie data nu al in de agenda van de patiënt.</a:t>
            </a:r>
          </a:p>
          <a:p/>
          <a:p>
            <a:r>
              <a:t>INTERACTIE</a:t>
            </a:r>
          </a:p>
          <a:p>
            <a:r>
              <a:t>Laat elk centrum benoemen wie de drukmeting op maand 18 zal doen.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2 van 3. Zeg de handeling in uw eigen woorden en wijs aan waar ze op het formulier terechtkomt.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Stap 3 van 3, de laatste van dit bezoek. Loop de formulieren af en herhaal de let-op in uw eigen woorden.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Tien contactmomenten, één zorgpad. Het verschil met vandaag zit niet in hoe vaak u de patiënt ziet, maar in wat u bij elk bezoek wéét: wat de zool doet, en wat er gedragen is.</a:t>
            </a:r>
          </a:p>
          <a:p/>
          <a:p>
            <a:r>
              <a:t>PRESENTATIETIP</a:t>
            </a:r>
          </a:p>
          <a:p>
            <a:r>
              <a:t>Sluit blok 3 hiermee af. De zaal herkent de dia van het begin.</a:t>
            </a:r>
          </a:p>
          <a:p/>
          <a:p>
            <a:r>
              <a:t>INTERACTIE</a:t>
            </a:r>
          </a:p>
          <a:p>
            <a:r>
              <a:t>Vraag welk moment hun het meest zorgen baart.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vier: de toestellen en de regels. De instellingen, het gesprek, en de vier dingen die vastliggen.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toestellen, drie taken. De pedar meet druk, de Orthotimer meet of de zool gedragen is, de MoveMonitor meet hoeveel er gestapt wordt. Alleen de pedar bedient u bij elke meting; de andere twee plaatst u één keer en leest u uit.</a:t>
            </a:r>
          </a:p>
          <a:p/>
          <a:p>
            <a:r>
              <a:t>PRESENTATIETIP</a:t>
            </a:r>
          </a:p>
          <a:p>
            <a:r>
              <a:t>Benoem dat de Orthotimer géén GPS, microfoon of camera heeft. Die vraag komt gegarandeerd.</a:t>
            </a:r>
          </a:p>
          <a:p/>
          <a:p>
            <a:r>
              <a:t>INTERACTIE</a:t>
            </a:r>
          </a:p>
          <a:p>
            <a:r>
              <a:t>Laat de toestellen rondgaan. Fysiek werkt beter dan een dia.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Zo klein is de sensor: negen bij dertien millimeter. Hij zit in de zool, meet alleen temperatuur, en de patiënt merkt er niets van. Noem hem tegenover de patiënt gewoon "uw sensor".</a:t>
            </a:r>
          </a:p>
          <a:p/>
          <a:p>
            <a:r>
              <a:t>PRESENTATIETIP</a:t>
            </a:r>
          </a:p>
          <a:p>
            <a:r>
              <a:t>Laat deze dia even staan zonder te praten. De sensor is fysiek zo klein dat het beeld het argument al maakt.</a:t>
            </a:r>
          </a:p>
          <a:p/>
          <a:p>
            <a:r>
              <a:t>INTERACTIE</a:t>
            </a:r>
          </a:p>
          <a:p>
            <a:r>
              <a:t>Geef er een door de zaal terwijl u praat.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 opbouw hangt af van het schoentype. In een volledig maatgemaakte schoen vijf millimeter kurk met vijf millimeter EVA; in een confectieschoen zes millimeter EVA, zonder kurk. De rest is gelijk. Dit staat op het voorschrift — u moet het herkennen, niet onthouden.</a:t>
            </a:r>
          </a:p>
          <a:p/>
          <a:p>
            <a:r>
              <a:t>PRESENTATIETIP</a:t>
            </a:r>
          </a:p>
          <a:p>
            <a:r>
              <a:t>Dit is de dia voor de pedorthisten. Benadruk dat de zool anders is in een orthopedische schoen dan in een confectieschoen, en dat de pasvorm in bínnen- én buitenschoeisel apart beoordeeld wordt.</a:t>
            </a:r>
          </a:p>
          <a:p/>
          <a:p>
            <a:r>
              <a:t>INTERACTIE</a:t>
            </a:r>
          </a:p>
          <a:p>
            <a:r>
              <a:t>Vraag of deze opbouw afwijkt van wat ze vandaag maken. Waar het afwijkt, noteer dat: het is input voor de procesevaluatie.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Interval vijftien minuten, batterij ongeveer honderd dagen. Daarom leest u elke drie maanden uit én vervangt u. Registreer het toestelnummer bij elke wissel, anders is de draagtijd niet toewijsbaar.</a:t>
            </a:r>
          </a:p>
          <a:p/>
          <a:p>
            <a:r>
              <a:t>PRESENTATIETIP</a:t>
            </a:r>
          </a:p>
          <a:p>
            <a:r>
              <a:t>Dit is de dia waar de meeste vragen op komen. Neem de tijd voor de uren per dag: dat is de brug tussen de MoveMonitor en de Orthotimer.</a:t>
            </a:r>
          </a:p>
          <a:p/>
          <a:p>
            <a:r>
              <a:t>INTERACTIE</a:t>
            </a:r>
          </a:p>
          <a:p>
            <a:r>
              <a:t>Laat iemand de instellingen voordoen op een testsensor.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Een volle week, op de onderrug. Op de baseline, en opnieuw op maand zes. Zeg expliciet dat hij niet waterdicht is. Uit deze week komt de tachtig-procentnorm van díe patiënt.</a:t>
            </a:r>
          </a:p>
          <a:p/>
          <a:p>
            <a:r>
              <a:t>PRESENTATIETIP</a:t>
            </a:r>
          </a:p>
          <a:p>
            <a:r>
              <a:t>Vermeld dat een ongebruikt toestel elke drie maanden opgeladen moet worden, anders zakt de batterijprestatie.</a:t>
            </a:r>
          </a:p>
          <a:p/>
          <a:p>
            <a:r>
              <a:t>INTERACTIE</a:t>
            </a:r>
          </a:p>
          <a:p>
            <a:r>
              <a:t>Vraag wie de toestellen in hun centrum beheert. Dat moet één persoon zijn.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SEBIA is vijf gesprekken, geen enkele sessie. Eerst kennis en educatie, dan teach-back bij de aflevering, dan tweemaal de sensordata samen bekijken, dan voordoen, en op achttien maanden afsluiten. Het verschil met gewone educatie: het herhaalt, en het staat op data.</a:t>
            </a:r>
          </a:p>
          <a:p/>
          <a:p>
            <a:r>
              <a:t>PRESENTATIETIP</a:t>
            </a:r>
          </a:p>
          <a:p>
            <a:r>
              <a:t>Het script begint met toestemming vragen voor het gesprek zelf, en duurt twintig tot dertig minuten. Wie nee zegt, krijgt de brochure mee en een nieuwe afspraak.</a:t>
            </a:r>
          </a:p>
          <a:p/>
          <a:p>
            <a:r>
              <a:t>INTERACTIE</a:t>
            </a:r>
          </a:p>
          <a:p>
            <a:r>
              <a:t>Rollenspel van twee minuten met een vrijwilliger uit de zaal.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enige regel die u écht moet onthouden. De controlegroep krijgt ook een meting en een sensor, maar die getallen blijven dicht. Bespreekt u ze, dan lévert u de interventie. Klinische bevindingen zijn géén meetwaarden: een laesie meldt en behandelt u meteen, in beide groepen.</a:t>
            </a:r>
          </a:p>
          <a:p/>
          <a:p>
            <a:r>
              <a:t>PRESENTATIETIP</a:t>
            </a:r>
          </a:p>
          <a:p>
            <a:r>
              <a:t>Dit is de dia waar u stilvalt. Geen haast. Vraag of het helder is voordat u doorgaat.</a:t>
            </a:r>
          </a:p>
          <a:p/>
          <a:p>
            <a:r>
              <a:t>INTERACTIE</a:t>
            </a:r>
          </a:p>
          <a:p>
            <a:r>
              <a:t>Laat iemand het in eigen woorden herhalen. Zo weet u of het zit.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Wat u meldt, en hoe snel. Een nieuw ulcus is de primaire uitkomst, dus dat meldt u altijd. Ernstige voorvallen binnen vierentwintig uur na kennisname. En onthoud dit: een afwijking die u meldt is een gegeven, een afwijking die u niet meldt is een fout in de data van de hele studie.</a:t>
            </a:r>
          </a:p>
          <a:p/>
          <a:p>
            <a:r>
              <a:t>PRESENTATIETIP</a:t>
            </a:r>
          </a:p>
          <a:p>
            <a:r>
              <a:t>Dit is de dia die de zaal ontspant én scherpt. Zeg het zinnetje onderaan letterlijk.</a:t>
            </a:r>
          </a:p>
          <a:p/>
          <a:p>
            <a:r>
              <a:t>INTERACTIE</a:t>
            </a:r>
          </a:p>
          <a:p>
            <a:r>
              <a:t>Vraag of iemand een situatie kan bedenken waarvan hij niet weet of het gemeld moet worden. Bespreek er twee.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rollen. De podoloog meet, leest uit en begeleidt. De pedorthist maakt en past aan. De arts bevestigt geschiktheid en beoordeelt laesies. Het management houdt tijd vrij en bewaakt de vierentwintig.</a:t>
            </a:r>
          </a:p>
          <a:p/>
          <a:p>
            <a:r>
              <a:t>PRESENTATIETIP</a:t>
            </a:r>
          </a:p>
          <a:p>
            <a:r>
              <a:t>Kijk elke groep aan bij hun rij. Namen noemen als u ze kent.</a:t>
            </a:r>
          </a:p>
          <a:p/>
          <a:p>
            <a:r>
              <a:t>INTERACTIE</a:t>
            </a:r>
          </a:p>
          <a:p>
            <a:r>
              <a:t>Vraag per rij: "herkenbaar, of mis ik iets?" Pas de taakverdeling ter plekke aan als dat nodig is.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dit krijgt u van ons. Training in motiverende gespreksvoering, SOP's per handeling, één contactpunt, en het onderzoeksteam voert de gegevens in. Nul sancties: wijkt u af, dan meldt u het, en dat wordt geregistreerd, niet afgestraft.</a:t>
            </a:r>
          </a:p>
          <a:p/>
          <a:p>
            <a:r>
              <a:t>PRESENTATIETIP</a:t>
            </a:r>
          </a:p>
          <a:p>
            <a:r>
              <a:t>Het cijfer rechts ontspant de zaal. Zeg het expliciet en wacht even. Vraagt iemand hoe de ingevulde formulieren bij ons raken: zeg dat daar bericht over volgt. Beloof geen werkwijze, want die ligt nog niet vast.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een vangnet, geen programma. Toon hem alleen als de vragen opdrogen, en beantwoord dan alleen wat nog niet aan bod kwam.</a:t>
            </a:r>
          </a:p>
          <a:p/>
          <a:p>
            <a:r>
              <a:t>PRESENTATIETIP</a:t>
            </a:r>
          </a:p>
          <a:p>
            <a:r>
              <a:t>Sla over wat al gevraagd is. Deze dia is een vangnet, geen programma.</a:t>
            </a:r>
          </a:p>
          <a:p/>
          <a:p>
            <a:r>
              <a:t>INTERACTIE</a:t>
            </a:r>
          </a:p>
          <a:p>
            <a:r>
              <a:t>Toon hem alleen als de vragen opdrogen.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Rustig zeggen; het is geen dreigement maar een vaststelling. Wij leiden op en wij voeren in. De handelingen zijn van u, vanaf de eerste patiënt.</a:t>
            </a:r>
          </a:p>
          <a:p/>
          <a:p>
            <a:r>
              <a:t>PRESENTATIETIP</a:t>
            </a:r>
          </a:p>
          <a:p>
            <a:r>
              <a:t>Dit is de overgang naar de bekwaamheidscheck. Zeg het rustig; het is geen dreigement maar een vaststelling.</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Loop deze lijst met uzelf af. Bij elk punt: kunt u het nu zelf, of hebt u er nog een keer oefening voor nodig? Wie twijfelt, zegt het nu. Dat is geen probleem — het niet zeggen wel.</a:t>
            </a:r>
          </a:p>
          <a:p/>
          <a:p>
            <a:r>
              <a:t>PRESENTATIETIP</a:t>
            </a:r>
          </a:p>
          <a:p>
            <a:r>
              <a:t>Laat dit stil invullen. Iemand die twijfelt zegt dat niet hardop in een volle zaal, wel op papier.</a:t>
            </a:r>
          </a:p>
          <a:p/>
          <a:p>
            <a:r>
              <a:t>INTERACTIE</a:t>
            </a:r>
          </a:p>
          <a:p>
            <a:r>
              <a:t>Verzamel de blaadjes. Waar drie of meer mensen dezelfde handeling aanvinken, plant u een extra sessie.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ISO 14155 vraagt dat per medewerker aantoonbaar is welke training hij kreeg en voor welke handelingen hij gedelegeerd is. Vandaag tekenen. Bij elke nieuwe medewerker opnieuw, en bij elke protocolwijziging opnieuw. Het register blijft bij u; wij krijgen een kopie.</a:t>
            </a:r>
          </a:p>
          <a:p/>
          <a:p>
            <a:r>
              <a:t>PRESENTATIETIP</a:t>
            </a:r>
          </a:p>
          <a:p>
            <a:r>
              <a:t>Laat het register rondgaan tijdens deze dia, niet erna. Anders vertrekt de helft zonder te tekenen.</a:t>
            </a:r>
          </a:p>
          <a:p/>
          <a:p>
            <a:r>
              <a:t>INTERACTIE</a:t>
            </a:r>
          </a:p>
          <a:p>
            <a:r>
              <a:t>Tel hardop hoeveel handtekeningen u nodig hebt en hoeveel er al staan.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Tot slot: wie u aanspreekt. Praktische vragen — inclusies, metingen, formulieren, sensoren — komen bij mij. Wetenschappelijke vragen en afspraken op het niveau van uw centrum bij professor Deschamps. Dank u wel.</a:t>
            </a:r>
          </a:p>
          <a:p/>
          <a:p>
            <a:r>
              <a:t>PRESENTATIETIP</a:t>
            </a:r>
          </a:p>
          <a:p>
            <a:r>
              <a:t>Laat deze dia staan tijdens het napraten. Zeg erbij dat kleine dingen ook mogen — een sensor die niet uitleest is geen domme vraag.</a:t>
            </a:r>
          </a:p>
          <a:p/>
          <a:p>
            <a:r>
              <a:t>INTERACTIE</a:t>
            </a:r>
          </a:p>
          <a:p>
            <a:r>
              <a:t>Loop rond terwijl de dia staat. Wie een vraag heeft, komt naar het gezicht dat op het scherm staat.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Deze dia laat u staan tijdens de vragen. Alles wat u genoemd hebt, staat hier met nummer en citaat, in dezelfde nummering als het protocolmanuscript.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fotokader" descr="plaatshouder.png"/>
          <p:cNvPicPr>
            <a:picLocks noChangeAspect="1"/>
          </p:cNvPicPr>
          <p:nvPr/>
        </p:nvPicPr>
        <p:blipFill>
          <a:blip r:embed="rId2"/>
          <a:stretch>
            <a:fillRect/>
          </a:stretch>
        </p:blipFill>
        <p:spPr>
          <a:xfrm>
            <a:off x="0" y="-380990"/>
            <a:ext cx="12191695" cy="7619809"/>
          </a:xfrm>
          <a:prstGeom prst="rect">
            <a:avLst/>
          </a:prstGeom>
        </p:spPr>
      </p:pic>
      <p:sp>
        <p:nvSpPr>
          <p:cNvPr id="4" name="Rectangle 3"/>
          <p:cNvSpPr/>
          <p:nvPr/>
        </p:nvSpPr>
        <p:spPr>
          <a:xfrm>
            <a:off x="0" y="0"/>
            <a:ext cx="12191695" cy="6857828"/>
          </a:xfrm>
          <a:prstGeom prst="rect">
            <a:avLst/>
          </a:prstGeom>
          <a:gradFill rotWithShape="1">
            <a:gsLst>
              <a:gs pos="0">
                <a:srgbClr val="04182A">
                  <a:alpha val="10000"/>
                </a:srgbClr>
              </a:gs>
              <a:gs pos="62000">
                <a:srgbClr val="04182A">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rk.png"/>
          <p:cNvPicPr>
            <a:picLocks noChangeAspect="1"/>
          </p:cNvPicPr>
          <p:nvPr/>
        </p:nvPicPr>
        <p:blipFill>
          <a:blip r:embed="rId3"/>
          <a:stretch>
            <a:fillRect/>
          </a:stretch>
        </p:blipFill>
        <p:spPr>
          <a:xfrm>
            <a:off x="647087" y="609584"/>
            <a:ext cx="801273" cy="927076"/>
          </a:xfrm>
          <a:prstGeom prst="rect">
            <a:avLst/>
          </a:prstGeom>
        </p:spPr>
      </p:pic>
      <p:sp>
        <p:nvSpPr>
          <p:cNvPr id="6" name="hero"/>
          <p:cNvSpPr txBox="1"/>
          <p:nvPr/>
        </p:nvSpPr>
        <p:spPr>
          <a:xfrm>
            <a:off x="634984" y="3848003"/>
            <a:ext cx="8889777" cy="1650958"/>
          </a:xfrm>
          <a:prstGeom prst="rect">
            <a:avLst/>
          </a:prstGeom>
          <a:noFill/>
        </p:spPr>
        <p:txBody>
          <a:bodyPr wrap="none" anchor="t" lIns="0" rIns="0" tIns="0" bIns="0">
            <a:spAutoFit/>
          </a:bodyPr>
          <a:lstStyle/>
          <a:p>
            <a:pPr algn="l">
              <a:lnSpc>
                <a:spcPct val="90000"/>
              </a:lnSpc>
            </a:pPr>
            <a:r>
              <a:rPr sz="12400" b="1">
                <a:solidFill>
                  <a:srgbClr val="F2F8FC"/>
                </a:solidFill>
                <a:latin typeface="Segoe UI"/>
              </a:rPr>
              <a:t>PARADISE</a:t>
            </a:r>
          </a:p>
        </p:txBody>
      </p:sp>
      <p:sp>
        <p:nvSpPr>
          <p:cNvPr id="7" name="TextBox 6"/>
          <p:cNvSpPr txBox="1"/>
          <p:nvPr/>
        </p:nvSpPr>
        <p:spPr>
          <a:xfrm>
            <a:off x="673083" y="5397365"/>
            <a:ext cx="8889777" cy="380990"/>
          </a:xfrm>
          <a:prstGeom prst="rect">
            <a:avLst/>
          </a:prstGeom>
          <a:noFill/>
        </p:spPr>
        <p:txBody>
          <a:bodyPr wrap="square" anchor="t" lIns="0" rIns="0" tIns="0" bIns="0">
            <a:spAutoFit/>
          </a:bodyPr>
          <a:lstStyle/>
          <a:p>
            <a:pPr algn="l">
              <a:lnSpc>
                <a:spcPct val="125000"/>
              </a:lnSpc>
            </a:pPr>
            <a:r>
              <a:rPr sz="2800" b="1">
                <a:solidFill>
                  <a:srgbClr val="52BDEC"/>
                </a:solidFill>
                <a:latin typeface="Segoe UI"/>
              </a:rPr>
              <a:t>Opleidingssessie · zes voetklinieken</a:t>
            </a:r>
          </a:p>
        </p:txBody>
      </p:sp>
      <p:sp>
        <p:nvSpPr>
          <p:cNvPr id="8" name="Rectangle 7"/>
          <p:cNvSpPr/>
          <p:nvPr/>
        </p:nvSpPr>
        <p:spPr>
          <a:xfrm>
            <a:off x="634984" y="587995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4984" y="6045048"/>
            <a:ext cx="1685893"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leuven.png"/>
          <p:cNvPicPr>
            <a:picLocks noChangeAspect="1"/>
          </p:cNvPicPr>
          <p:nvPr/>
        </p:nvPicPr>
        <p:blipFill>
          <a:blip r:embed="rId4"/>
          <a:stretch>
            <a:fillRect/>
          </a:stretch>
        </p:blipFill>
        <p:spPr>
          <a:xfrm>
            <a:off x="787380" y="6152996"/>
            <a:ext cx="1381100" cy="393690"/>
          </a:xfrm>
          <a:prstGeom prst="rect">
            <a:avLst/>
          </a:prstGeom>
        </p:spPr>
      </p:pic>
      <p:sp>
        <p:nvSpPr>
          <p:cNvPr id="11" name="Rounded Rectangle 10"/>
          <p:cNvSpPr/>
          <p:nvPr/>
        </p:nvSpPr>
        <p:spPr>
          <a:xfrm>
            <a:off x="2574870" y="6045048"/>
            <a:ext cx="1420884"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ub.png"/>
          <p:cNvPicPr>
            <a:picLocks noChangeAspect="1"/>
          </p:cNvPicPr>
          <p:nvPr/>
        </p:nvPicPr>
        <p:blipFill>
          <a:blip r:embed="rId5"/>
          <a:stretch>
            <a:fillRect/>
          </a:stretch>
        </p:blipFill>
        <p:spPr>
          <a:xfrm>
            <a:off x="2727267" y="6152996"/>
            <a:ext cx="1116092" cy="393690"/>
          </a:xfrm>
          <a:prstGeom prst="rect">
            <a:avLst/>
          </a:prstGeom>
        </p:spPr>
      </p:pic>
      <p:sp>
        <p:nvSpPr>
          <p:cNvPr id="13" name="TextBox 12"/>
          <p:cNvSpPr txBox="1"/>
          <p:nvPr/>
        </p:nvSpPr>
        <p:spPr>
          <a:xfrm>
            <a:off x="4249749" y="6095847"/>
            <a:ext cx="2158946" cy="253993"/>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FWO</a:t>
            </a:r>
          </a:p>
        </p:txBody>
      </p:sp>
      <p:sp>
        <p:nvSpPr>
          <p:cNvPr id="14" name="TextBox 13"/>
          <p:cNvSpPr txBox="1"/>
          <p:nvPr/>
        </p:nvSpPr>
        <p:spPr>
          <a:xfrm>
            <a:off x="4262449" y="6349841"/>
            <a:ext cx="2666933" cy="215894"/>
          </a:xfrm>
          <a:prstGeom prst="rect">
            <a:avLst/>
          </a:prstGeom>
          <a:noFill/>
        </p:spPr>
        <p:txBody>
          <a:bodyPr wrap="square" anchor="t" lIns="0" rIns="0" tIns="0" bIns="0">
            <a:spAutoFit/>
          </a:bodyPr>
          <a:lstStyle/>
          <a:p>
            <a:pPr algn="l">
              <a:lnSpc>
                <a:spcPct val="125000"/>
              </a:lnSpc>
            </a:pPr>
            <a:r>
              <a:rPr sz="1200" b="0">
                <a:solidFill>
                  <a:srgbClr val="8FB6D0"/>
                </a:solidFill>
                <a:latin typeface="Consolas"/>
              </a:rPr>
              <a:t>TBM T000226N</a:t>
            </a:r>
          </a:p>
        </p:txBody>
      </p:sp>
      <p:sp>
        <p:nvSpPr>
          <p:cNvPr id="15" name="TextBox 14"/>
          <p:cNvSpPr txBox="1"/>
          <p:nvPr/>
        </p:nvSpPr>
        <p:spPr>
          <a:xfrm>
            <a:off x="7111822" y="6565735"/>
            <a:ext cx="4571885" cy="190495"/>
          </a:xfrm>
          <a:prstGeom prst="rect">
            <a:avLst/>
          </a:prstGeom>
          <a:noFill/>
        </p:spPr>
        <p:txBody>
          <a:bodyPr wrap="none" anchor="t" lIns="0" rIns="0" tIns="0" bIns="0">
            <a:spAutoFit/>
          </a:bodyPr>
          <a:lstStyle/>
          <a:p>
            <a:pPr algn="r">
              <a:lnSpc>
                <a:spcPct val="125000"/>
              </a:lnSpc>
            </a:pPr>
            <a:r>
              <a:rPr sz="1100" b="0">
                <a:solidFill>
                  <a:srgbClr val="8FB6D0"/>
                </a:solidFill>
                <a:latin typeface="Consolas"/>
              </a:rPr>
              <a:t>Protocolversie 1.0 · 17 mei 2026 · S71769</a:t>
            </a:r>
          </a:p>
        </p:txBody>
      </p:sp>
    </p:spTree>
  </p:cSld>
  <p:clrMapOvr>
    <a:masterClrMapping/>
  </p:clrMapOvr>
  <p:transition xmlns:p14="http://schemas.microsoft.com/office/powerpoint/2010/main" spd="slow" p14:dur="9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WAAROM U HIER ZIT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Na vandaag kunt u dit zelf</a:t>
            </a:r>
          </a:p>
        </p:txBody>
      </p:sp>
      <p:sp>
        <p:nvSpPr>
          <p:cNvPr id="5" name="Rectangle 4"/>
          <p:cNvSpPr/>
          <p:nvPr/>
        </p:nvSpPr>
        <p:spPr>
          <a:xfrm>
            <a:off x="634984" y="1828754"/>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34984" y="1968450"/>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1968450"/>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1</a:t>
            </a:r>
          </a:p>
        </p:txBody>
      </p:sp>
      <p:sp>
        <p:nvSpPr>
          <p:cNvPr id="8" name="TextBox 7"/>
          <p:cNvSpPr txBox="1"/>
          <p:nvPr/>
        </p:nvSpPr>
        <p:spPr>
          <a:xfrm>
            <a:off x="1003274" y="1943051"/>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Screenen</a:t>
            </a:r>
          </a:p>
        </p:txBody>
      </p:sp>
      <p:sp>
        <p:nvSpPr>
          <p:cNvPr id="9" name="TextBox 8"/>
          <p:cNvSpPr txBox="1"/>
          <p:nvPr/>
        </p:nvSpPr>
        <p:spPr>
          <a:xfrm>
            <a:off x="1003274" y="2273243"/>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beoordelen of een patiënt in aanmerking komt, en de screening vastleggen vóór de toestemming</a:t>
            </a:r>
          </a:p>
        </p:txBody>
      </p:sp>
      <p:sp>
        <p:nvSpPr>
          <p:cNvPr id="10" name="Rectangle 9"/>
          <p:cNvSpPr/>
          <p:nvPr/>
        </p:nvSpPr>
        <p:spPr>
          <a:xfrm>
            <a:off x="6349841" y="1828754"/>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349841" y="1968450"/>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9841" y="1968450"/>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2</a:t>
            </a:r>
          </a:p>
        </p:txBody>
      </p:sp>
      <p:sp>
        <p:nvSpPr>
          <p:cNvPr id="13" name="TextBox 12"/>
          <p:cNvSpPr txBox="1"/>
          <p:nvPr/>
        </p:nvSpPr>
        <p:spPr>
          <a:xfrm>
            <a:off x="6718132" y="1943051"/>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Meten</a:t>
            </a:r>
          </a:p>
        </p:txBody>
      </p:sp>
      <p:sp>
        <p:nvSpPr>
          <p:cNvPr id="14" name="TextBox 13"/>
          <p:cNvSpPr txBox="1"/>
          <p:nvPr/>
        </p:nvSpPr>
        <p:spPr>
          <a:xfrm>
            <a:off x="6718132" y="2273243"/>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een drukmeting uitvoeren die aan het protocol voldoet, en de drie doelregio's bepalen</a:t>
            </a:r>
          </a:p>
        </p:txBody>
      </p:sp>
      <p:sp>
        <p:nvSpPr>
          <p:cNvPr id="15" name="Rectangle 14"/>
          <p:cNvSpPr/>
          <p:nvPr/>
        </p:nvSpPr>
        <p:spPr>
          <a:xfrm>
            <a:off x="634984" y="2793930"/>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4984" y="2933626"/>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984" y="2933626"/>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3</a:t>
            </a:r>
          </a:p>
        </p:txBody>
      </p:sp>
      <p:sp>
        <p:nvSpPr>
          <p:cNvPr id="18" name="TextBox 17"/>
          <p:cNvSpPr txBox="1"/>
          <p:nvPr/>
        </p:nvSpPr>
        <p:spPr>
          <a:xfrm>
            <a:off x="1003274" y="2908227"/>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Optimaliseren</a:t>
            </a:r>
          </a:p>
        </p:txBody>
      </p:sp>
      <p:sp>
        <p:nvSpPr>
          <p:cNvPr id="19" name="TextBox 18"/>
          <p:cNvSpPr txBox="1"/>
          <p:nvPr/>
        </p:nvSpPr>
        <p:spPr>
          <a:xfrm>
            <a:off x="1003274" y="3238419"/>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de zool aanpassen tot de norm gehaald is, en vastleggen wat u aangepast hebt</a:t>
            </a:r>
          </a:p>
        </p:txBody>
      </p:sp>
      <p:sp>
        <p:nvSpPr>
          <p:cNvPr id="20" name="Rectangle 19"/>
          <p:cNvSpPr/>
          <p:nvPr/>
        </p:nvSpPr>
        <p:spPr>
          <a:xfrm>
            <a:off x="6349841" y="2793930"/>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49841" y="2933626"/>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1" y="2933626"/>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4</a:t>
            </a:r>
          </a:p>
        </p:txBody>
      </p:sp>
      <p:sp>
        <p:nvSpPr>
          <p:cNvPr id="23" name="TextBox 22"/>
          <p:cNvSpPr txBox="1"/>
          <p:nvPr/>
        </p:nvSpPr>
        <p:spPr>
          <a:xfrm>
            <a:off x="6718132" y="2908227"/>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Uitlezen</a:t>
            </a:r>
          </a:p>
        </p:txBody>
      </p:sp>
      <p:sp>
        <p:nvSpPr>
          <p:cNvPr id="24" name="TextBox 23"/>
          <p:cNvSpPr txBox="1"/>
          <p:nvPr/>
        </p:nvSpPr>
        <p:spPr>
          <a:xfrm>
            <a:off x="6718132" y="3238419"/>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de Orthotimer en de MoveMonitor correct instellen, uitlezen en terugkoppelen</a:t>
            </a:r>
          </a:p>
        </p:txBody>
      </p:sp>
      <p:sp>
        <p:nvSpPr>
          <p:cNvPr id="25" name="Rectangle 24"/>
          <p:cNvSpPr/>
          <p:nvPr/>
        </p:nvSpPr>
        <p:spPr>
          <a:xfrm>
            <a:off x="634984" y="3759106"/>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4984" y="3898802"/>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984" y="3898802"/>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5</a:t>
            </a:r>
          </a:p>
        </p:txBody>
      </p:sp>
      <p:sp>
        <p:nvSpPr>
          <p:cNvPr id="28" name="TextBox 27"/>
          <p:cNvSpPr txBox="1"/>
          <p:nvPr/>
        </p:nvSpPr>
        <p:spPr>
          <a:xfrm>
            <a:off x="1003274" y="3873403"/>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Begeleiden</a:t>
            </a:r>
          </a:p>
        </p:txBody>
      </p:sp>
      <p:sp>
        <p:nvSpPr>
          <p:cNvPr id="29" name="TextBox 28"/>
          <p:cNvSpPr txBox="1"/>
          <p:nvPr/>
        </p:nvSpPr>
        <p:spPr>
          <a:xfrm>
            <a:off x="1003274" y="4203594"/>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een SEBIA-gesprek voeren, inclusief teach-back</a:t>
            </a:r>
          </a:p>
        </p:txBody>
      </p:sp>
      <p:sp>
        <p:nvSpPr>
          <p:cNvPr id="30" name="Rectangle 29"/>
          <p:cNvSpPr/>
          <p:nvPr/>
        </p:nvSpPr>
        <p:spPr>
          <a:xfrm>
            <a:off x="6349841" y="3759106"/>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9841" y="3898802"/>
            <a:ext cx="241293" cy="2412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9841" y="3898802"/>
            <a:ext cx="241293" cy="2412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6</a:t>
            </a:r>
          </a:p>
        </p:txBody>
      </p:sp>
      <p:sp>
        <p:nvSpPr>
          <p:cNvPr id="33" name="TextBox 32"/>
          <p:cNvSpPr txBox="1"/>
          <p:nvPr/>
        </p:nvSpPr>
        <p:spPr>
          <a:xfrm>
            <a:off x="6718132" y="3873403"/>
            <a:ext cx="4825879" cy="3047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Vastleggen</a:t>
            </a:r>
          </a:p>
        </p:txBody>
      </p:sp>
      <p:sp>
        <p:nvSpPr>
          <p:cNvPr id="34" name="TextBox 33"/>
          <p:cNvSpPr txBox="1"/>
          <p:nvPr/>
        </p:nvSpPr>
        <p:spPr>
          <a:xfrm>
            <a:off x="6718132" y="4203594"/>
            <a:ext cx="4825879" cy="507987"/>
          </a:xfrm>
          <a:prstGeom prst="rect">
            <a:avLst/>
          </a:prstGeom>
          <a:noFill/>
        </p:spPr>
        <p:txBody>
          <a:bodyPr wrap="square" anchor="t" lIns="0" rIns="0" tIns="0" bIns="0">
            <a:spAutoFit/>
          </a:bodyPr>
          <a:lstStyle/>
          <a:p>
            <a:pPr algn="l">
              <a:lnSpc>
                <a:spcPct val="130000"/>
              </a:lnSpc>
            </a:pPr>
            <a:r>
              <a:rPr sz="1450" b="0">
                <a:solidFill>
                  <a:srgbClr val="8FB6D0"/>
                </a:solidFill>
                <a:latin typeface="Segoe UI"/>
              </a:rPr>
              <a:t>de formulieren volledig invullen, en weten wat u meldt als er iets afwijkt</a:t>
            </a:r>
          </a:p>
        </p:txBody>
      </p:sp>
      <p:sp>
        <p:nvSpPr>
          <p:cNvPr id="35" name="Rounded Rectangle 34"/>
          <p:cNvSpPr/>
          <p:nvPr/>
        </p:nvSpPr>
        <p:spPr>
          <a:xfrm>
            <a:off x="634984" y="4851278"/>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2476" y="5029074"/>
            <a:ext cx="10286742" cy="444488"/>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Wie een van deze zes niet aandurft na vandaag, moet dat zeggen. Daar is deze sessie voor.</a:t>
            </a:r>
          </a:p>
        </p:txBody>
      </p:sp>
      <p:sp>
        <p:nvSpPr>
          <p:cNvPr id="37" name="TextBox 3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02 / 71</a:t>
            </a:r>
          </a:p>
        </p:txBody>
      </p:sp>
      <p:pic>
        <p:nvPicPr>
          <p:cNvPr id="38"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PROGRAMMA VAN VANDAAG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Vier blokken</a:t>
            </a:r>
          </a:p>
        </p:txBody>
      </p:sp>
      <p:sp>
        <p:nvSpPr>
          <p:cNvPr id="5" name="Rounded Rectangle 4"/>
          <p:cNvSpPr/>
          <p:nvPr/>
        </p:nvSpPr>
        <p:spPr>
          <a:xfrm>
            <a:off x="634984" y="2158946"/>
            <a:ext cx="2616071" cy="304792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479" y="2412939"/>
            <a:ext cx="2235080" cy="419089"/>
          </a:xfrm>
          <a:prstGeom prst="rect">
            <a:avLst/>
          </a:prstGeom>
          <a:noFill/>
        </p:spPr>
        <p:txBody>
          <a:bodyPr wrap="square" anchor="t" lIns="0" rIns="0" tIns="0" bIns="0">
            <a:spAutoFit/>
          </a:bodyPr>
          <a:lstStyle/>
          <a:p>
            <a:pPr algn="l">
              <a:lnSpc>
                <a:spcPct val="125000"/>
              </a:lnSpc>
            </a:pPr>
            <a:r>
              <a:rPr sz="2800" b="1">
                <a:solidFill>
                  <a:srgbClr val="52BDEC"/>
                </a:solidFill>
                <a:latin typeface="Consolas"/>
              </a:rPr>
              <a:t>01</a:t>
            </a:r>
          </a:p>
        </p:txBody>
      </p:sp>
      <p:sp>
        <p:nvSpPr>
          <p:cNvPr id="7" name="TextBox 6"/>
          <p:cNvSpPr txBox="1"/>
          <p:nvPr/>
        </p:nvSpPr>
        <p:spPr>
          <a:xfrm>
            <a:off x="825479" y="2959026"/>
            <a:ext cx="2235080" cy="761980"/>
          </a:xfrm>
          <a:prstGeom prst="rect">
            <a:avLst/>
          </a:prstGeom>
          <a:noFill/>
        </p:spPr>
        <p:txBody>
          <a:bodyPr wrap="square" anchor="t" lIns="0" rIns="0" tIns="0" bIns="0">
            <a:spAutoFit/>
          </a:bodyPr>
          <a:lstStyle/>
          <a:p>
            <a:pPr algn="l">
              <a:lnSpc>
                <a:spcPct val="115000"/>
              </a:lnSpc>
            </a:pPr>
            <a:r>
              <a:rPr sz="2300" b="1">
                <a:solidFill>
                  <a:srgbClr val="F2F8FC"/>
                </a:solidFill>
                <a:latin typeface="Segoe UI"/>
              </a:rPr>
              <a:t>Waarom zo</a:t>
            </a:r>
          </a:p>
        </p:txBody>
      </p:sp>
      <p:sp>
        <p:nvSpPr>
          <p:cNvPr id="8" name="TextBox 7"/>
          <p:cNvSpPr txBox="1"/>
          <p:nvPr/>
        </p:nvSpPr>
        <p:spPr>
          <a:xfrm>
            <a:off x="825479" y="3848003"/>
            <a:ext cx="2235080"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De vier cijfers achter de twee normen</a:t>
            </a:r>
          </a:p>
        </p:txBody>
      </p:sp>
      <p:sp>
        <p:nvSpPr>
          <p:cNvPr id="9" name="Rounded Rectangle 8"/>
          <p:cNvSpPr/>
          <p:nvPr/>
        </p:nvSpPr>
        <p:spPr>
          <a:xfrm>
            <a:off x="3403451" y="2158946"/>
            <a:ext cx="2616071" cy="304792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3946" y="2412939"/>
            <a:ext cx="2235080" cy="419089"/>
          </a:xfrm>
          <a:prstGeom prst="rect">
            <a:avLst/>
          </a:prstGeom>
          <a:noFill/>
        </p:spPr>
        <p:txBody>
          <a:bodyPr wrap="square" anchor="t" lIns="0" rIns="0" tIns="0" bIns="0">
            <a:spAutoFit/>
          </a:bodyPr>
          <a:lstStyle/>
          <a:p>
            <a:pPr algn="l">
              <a:lnSpc>
                <a:spcPct val="125000"/>
              </a:lnSpc>
            </a:pPr>
            <a:r>
              <a:rPr sz="2800" b="1">
                <a:solidFill>
                  <a:srgbClr val="52BDEC"/>
                </a:solidFill>
                <a:latin typeface="Consolas"/>
              </a:rPr>
              <a:t>02</a:t>
            </a:r>
          </a:p>
        </p:txBody>
      </p:sp>
      <p:sp>
        <p:nvSpPr>
          <p:cNvPr id="11" name="TextBox 10"/>
          <p:cNvSpPr txBox="1"/>
          <p:nvPr/>
        </p:nvSpPr>
        <p:spPr>
          <a:xfrm>
            <a:off x="3593946" y="2959026"/>
            <a:ext cx="2235080" cy="761980"/>
          </a:xfrm>
          <a:prstGeom prst="rect">
            <a:avLst/>
          </a:prstGeom>
          <a:noFill/>
        </p:spPr>
        <p:txBody>
          <a:bodyPr wrap="square" anchor="t" lIns="0" rIns="0" tIns="0" bIns="0">
            <a:spAutoFit/>
          </a:bodyPr>
          <a:lstStyle/>
          <a:p>
            <a:pPr algn="l">
              <a:lnSpc>
                <a:spcPct val="115000"/>
              </a:lnSpc>
            </a:pPr>
            <a:r>
              <a:rPr sz="2300" b="1">
                <a:solidFill>
                  <a:srgbClr val="F2F8FC"/>
                </a:solidFill>
                <a:latin typeface="Segoe UI"/>
              </a:rPr>
              <a:t>De meting</a:t>
            </a:r>
          </a:p>
        </p:txBody>
      </p:sp>
      <p:sp>
        <p:nvSpPr>
          <p:cNvPr id="12" name="TextBox 11"/>
          <p:cNvSpPr txBox="1"/>
          <p:nvPr/>
        </p:nvSpPr>
        <p:spPr>
          <a:xfrm>
            <a:off x="3593946" y="3848003"/>
            <a:ext cx="2235080"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Drukmeting, doelregio's en de norm</a:t>
            </a:r>
          </a:p>
        </p:txBody>
      </p:sp>
      <p:sp>
        <p:nvSpPr>
          <p:cNvPr id="13" name="Rounded Rectangle 12"/>
          <p:cNvSpPr/>
          <p:nvPr/>
        </p:nvSpPr>
        <p:spPr>
          <a:xfrm>
            <a:off x="6171918" y="2158946"/>
            <a:ext cx="2616071" cy="304792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2413" y="2412939"/>
            <a:ext cx="2235080" cy="419089"/>
          </a:xfrm>
          <a:prstGeom prst="rect">
            <a:avLst/>
          </a:prstGeom>
          <a:noFill/>
        </p:spPr>
        <p:txBody>
          <a:bodyPr wrap="square" anchor="t" lIns="0" rIns="0" tIns="0" bIns="0">
            <a:spAutoFit/>
          </a:bodyPr>
          <a:lstStyle/>
          <a:p>
            <a:pPr algn="l">
              <a:lnSpc>
                <a:spcPct val="125000"/>
              </a:lnSpc>
            </a:pPr>
            <a:r>
              <a:rPr sz="2800" b="1">
                <a:solidFill>
                  <a:srgbClr val="52BDEC"/>
                </a:solidFill>
                <a:latin typeface="Consolas"/>
              </a:rPr>
              <a:t>03</a:t>
            </a:r>
          </a:p>
        </p:txBody>
      </p:sp>
      <p:sp>
        <p:nvSpPr>
          <p:cNvPr id="15" name="TextBox 14"/>
          <p:cNvSpPr txBox="1"/>
          <p:nvPr/>
        </p:nvSpPr>
        <p:spPr>
          <a:xfrm>
            <a:off x="6362413" y="2959026"/>
            <a:ext cx="2235080" cy="761980"/>
          </a:xfrm>
          <a:prstGeom prst="rect">
            <a:avLst/>
          </a:prstGeom>
          <a:noFill/>
        </p:spPr>
        <p:txBody>
          <a:bodyPr wrap="square" anchor="t" lIns="0" rIns="0" tIns="0" bIns="0">
            <a:spAutoFit/>
          </a:bodyPr>
          <a:lstStyle/>
          <a:p>
            <a:pPr algn="l">
              <a:lnSpc>
                <a:spcPct val="115000"/>
              </a:lnSpc>
            </a:pPr>
            <a:r>
              <a:rPr sz="2300" b="1">
                <a:solidFill>
                  <a:srgbClr val="F2F8FC"/>
                </a:solidFill>
                <a:latin typeface="Segoe UI"/>
              </a:rPr>
              <a:t>Het traject</a:t>
            </a:r>
          </a:p>
        </p:txBody>
      </p:sp>
      <p:sp>
        <p:nvSpPr>
          <p:cNvPr id="16" name="TextBox 15"/>
          <p:cNvSpPr txBox="1"/>
          <p:nvPr/>
        </p:nvSpPr>
        <p:spPr>
          <a:xfrm>
            <a:off x="6362413" y="3848003"/>
            <a:ext cx="2235080"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Bezoek per bezoek, met de formulieren</a:t>
            </a:r>
          </a:p>
        </p:txBody>
      </p:sp>
      <p:sp>
        <p:nvSpPr>
          <p:cNvPr id="17" name="Rounded Rectangle 16"/>
          <p:cNvSpPr/>
          <p:nvPr/>
        </p:nvSpPr>
        <p:spPr>
          <a:xfrm>
            <a:off x="8940385" y="2158946"/>
            <a:ext cx="2616071" cy="304792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30881" y="2412939"/>
            <a:ext cx="2235080" cy="419089"/>
          </a:xfrm>
          <a:prstGeom prst="rect">
            <a:avLst/>
          </a:prstGeom>
          <a:noFill/>
        </p:spPr>
        <p:txBody>
          <a:bodyPr wrap="square" anchor="t" lIns="0" rIns="0" tIns="0" bIns="0">
            <a:spAutoFit/>
          </a:bodyPr>
          <a:lstStyle/>
          <a:p>
            <a:pPr algn="l">
              <a:lnSpc>
                <a:spcPct val="125000"/>
              </a:lnSpc>
            </a:pPr>
            <a:r>
              <a:rPr sz="2800" b="1">
                <a:solidFill>
                  <a:srgbClr val="52BDEC"/>
                </a:solidFill>
                <a:latin typeface="Consolas"/>
              </a:rPr>
              <a:t>04</a:t>
            </a:r>
          </a:p>
        </p:txBody>
      </p:sp>
      <p:sp>
        <p:nvSpPr>
          <p:cNvPr id="19" name="TextBox 18"/>
          <p:cNvSpPr txBox="1"/>
          <p:nvPr/>
        </p:nvSpPr>
        <p:spPr>
          <a:xfrm>
            <a:off x="9130881" y="2959026"/>
            <a:ext cx="2235080" cy="761980"/>
          </a:xfrm>
          <a:prstGeom prst="rect">
            <a:avLst/>
          </a:prstGeom>
          <a:noFill/>
        </p:spPr>
        <p:txBody>
          <a:bodyPr wrap="square" anchor="t" lIns="0" rIns="0" tIns="0" bIns="0">
            <a:spAutoFit/>
          </a:bodyPr>
          <a:lstStyle/>
          <a:p>
            <a:pPr algn="l">
              <a:lnSpc>
                <a:spcPct val="115000"/>
              </a:lnSpc>
            </a:pPr>
            <a:r>
              <a:rPr sz="2300" b="1">
                <a:solidFill>
                  <a:srgbClr val="F2F8FC"/>
                </a:solidFill>
                <a:latin typeface="Segoe UI"/>
              </a:rPr>
              <a:t>Toestellen en regels</a:t>
            </a:r>
          </a:p>
        </p:txBody>
      </p:sp>
      <p:sp>
        <p:nvSpPr>
          <p:cNvPr id="20" name="TextBox 19"/>
          <p:cNvSpPr txBox="1"/>
          <p:nvPr/>
        </p:nvSpPr>
        <p:spPr>
          <a:xfrm>
            <a:off x="9130881" y="3848003"/>
            <a:ext cx="2235080"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SOP's, SEBIA, blindering, melden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03 / 71</a:t>
            </a:r>
          </a:p>
        </p:txBody>
      </p:sp>
      <p:pic>
        <p:nvPicPr>
          <p:cNvPr id="22"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144 patiënten, 24 per centrum</a:t>
            </a:r>
          </a:p>
        </p:txBody>
      </p:sp>
      <p:sp>
        <p:nvSpPr>
          <p:cNvPr id="5" name="Oval 4"/>
          <p:cNvSpPr/>
          <p:nvPr/>
        </p:nvSpPr>
        <p:spPr>
          <a:xfrm>
            <a:off x="634984"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6278"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7572"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58866"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0015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4145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8274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32404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6533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0662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4792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8921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051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7180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01309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5439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9568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3698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7827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1956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6086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0215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45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18474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4984"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6278"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17572"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58866"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60015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84145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8274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2404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6533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80662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4792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8921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53051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7180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01309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25439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49568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3698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97827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21956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46086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70215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94345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18474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34984"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76278"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7572"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358866"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60015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84145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08274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32404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56533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80662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04792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28921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3051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77180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01309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25439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49568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73698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97827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21956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46086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0215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4345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18474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4984"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76278"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117572"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358866"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60015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4145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08274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32404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56533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0662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04792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28921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53051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77180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01309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25439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449568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73698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97827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521956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46086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70215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94345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18474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34984"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76278"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117572"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358866"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60015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84145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08274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32404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56533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80662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04792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28921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53051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77180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01309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25439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49568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73698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7827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21956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46086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570215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94345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18474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634984"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76278"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117572"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358866"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60015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84145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08274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32404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56533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80662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04792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28921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53051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7180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01309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425439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49568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73698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97827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21956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46086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70215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594345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618474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34984" y="3301917"/>
            <a:ext cx="2539936" cy="253993"/>
          </a:xfrm>
          <a:prstGeom prst="rect">
            <a:avLst/>
          </a:prstGeom>
          <a:noFill/>
        </p:spPr>
        <p:txBody>
          <a:bodyPr wrap="square" anchor="t" lIns="0" rIns="0" tIns="0" bIns="0">
            <a:spAutoFit/>
          </a:bodyPr>
          <a:lstStyle/>
          <a:p>
            <a:pPr algn="l">
              <a:lnSpc>
                <a:spcPct val="125000"/>
              </a:lnSpc>
            </a:pPr>
            <a:r>
              <a:rPr sz="1300" b="1" spc="140">
                <a:solidFill>
                  <a:srgbClr val="52BDEC"/>
                </a:solidFill>
                <a:latin typeface="Consolas"/>
              </a:rPr>
              <a:t>72 PARADISE</a:t>
            </a:r>
          </a:p>
        </p:txBody>
      </p:sp>
      <p:sp>
        <p:nvSpPr>
          <p:cNvPr id="150" name="TextBox 149"/>
          <p:cNvSpPr txBox="1"/>
          <p:nvPr/>
        </p:nvSpPr>
        <p:spPr>
          <a:xfrm>
            <a:off x="2412939" y="3301917"/>
            <a:ext cx="2539936" cy="253993"/>
          </a:xfrm>
          <a:prstGeom prst="rect">
            <a:avLst/>
          </a:prstGeom>
          <a:noFill/>
        </p:spPr>
        <p:txBody>
          <a:bodyPr wrap="square" anchor="t" lIns="0" rIns="0" tIns="0" bIns="0">
            <a:spAutoFit/>
          </a:bodyPr>
          <a:lstStyle/>
          <a:p>
            <a:pPr algn="l">
              <a:lnSpc>
                <a:spcPct val="125000"/>
              </a:lnSpc>
            </a:pPr>
            <a:r>
              <a:rPr sz="1300" b="1" spc="140">
                <a:solidFill>
                  <a:srgbClr val="FF7A00"/>
                </a:solidFill>
                <a:latin typeface="Consolas"/>
              </a:rPr>
              <a:t>72 GEBRUIKELIJKE ZORG</a:t>
            </a:r>
          </a:p>
        </p:txBody>
      </p:sp>
      <p:sp>
        <p:nvSpPr>
          <p:cNvPr id="151" name="TextBox 150"/>
          <p:cNvSpPr txBox="1"/>
          <p:nvPr/>
        </p:nvSpPr>
        <p:spPr>
          <a:xfrm>
            <a:off x="6857828" y="1816054"/>
            <a:ext cx="4698882" cy="1587460"/>
          </a:xfrm>
          <a:prstGeom prst="rect">
            <a:avLst/>
          </a:prstGeom>
          <a:noFill/>
        </p:spPr>
        <p:txBody>
          <a:bodyPr wrap="square" anchor="t" lIns="0" rIns="0" tIns="0" bIns="0">
            <a:spAutoFit/>
          </a:bodyPr>
          <a:lstStyle/>
          <a:p>
            <a:pPr algn="l">
              <a:lnSpc>
                <a:spcPct val="130000"/>
              </a:lnSpc>
            </a:pPr>
            <a:r>
              <a:rPr sz="3000" b="1">
                <a:solidFill>
                  <a:srgbClr val="F2F8FC"/>
                </a:solidFill>
                <a:latin typeface="Segoe UI"/>
              </a:rPr>
              <a:t>Elke stip is een patiënt die u zelf includeert.</a:t>
            </a:r>
          </a:p>
          <a:p>
            <a:pPr algn="l">
              <a:lnSpc>
                <a:spcPct val="130000"/>
              </a:lnSpc>
              <a:spcBef>
                <a:spcPts val="500"/>
              </a:spcBef>
            </a:pPr>
            <a:r>
              <a:rPr sz="3000" b="1">
                <a:solidFill>
                  <a:srgbClr val="F2F8FC"/>
                </a:solidFill>
                <a:latin typeface="Segoe UI"/>
              </a:rPr>
              <a:t>24 per kliniek.</a:t>
            </a:r>
          </a:p>
        </p:txBody>
      </p:sp>
      <p:sp>
        <p:nvSpPr>
          <p:cNvPr id="152" name="Rounded Rectangle 151"/>
          <p:cNvSpPr/>
          <p:nvPr/>
        </p:nvSpPr>
        <p:spPr>
          <a:xfrm>
            <a:off x="634984"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25479"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PER CENTRUM</a:t>
            </a:r>
          </a:p>
        </p:txBody>
      </p:sp>
      <p:sp>
        <p:nvSpPr>
          <p:cNvPr id="154" name="TextBox 153"/>
          <p:cNvSpPr txBox="1"/>
          <p:nvPr/>
        </p:nvSpPr>
        <p:spPr>
          <a:xfrm>
            <a:off x="825479"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24 deelnemers — 12 PARADISE en 12 gebruikelijke zorg</a:t>
            </a:r>
          </a:p>
        </p:txBody>
      </p:sp>
      <p:sp>
        <p:nvSpPr>
          <p:cNvPr id="155" name="Rounded Rectangle 154"/>
          <p:cNvSpPr/>
          <p:nvPr/>
        </p:nvSpPr>
        <p:spPr>
          <a:xfrm>
            <a:off x="6171918"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362413"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CONTROLEGROEP</a:t>
            </a:r>
          </a:p>
        </p:txBody>
      </p:sp>
      <p:sp>
        <p:nvSpPr>
          <p:cNvPr id="157" name="TextBox 156"/>
          <p:cNvSpPr txBox="1"/>
          <p:nvPr/>
        </p:nvSpPr>
        <p:spPr>
          <a:xfrm>
            <a:off x="6362413"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Gebruikelijke zorg, onveranderd</a:t>
            </a:r>
          </a:p>
        </p:txBody>
      </p:sp>
      <p:sp>
        <p:nvSpPr>
          <p:cNvPr id="158" name="Rounded Rectangle 157"/>
          <p:cNvSpPr/>
          <p:nvPr/>
        </p:nvSpPr>
        <p:spPr>
          <a:xfrm>
            <a:off x="634984"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825479"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CO-PRIMAIR</a:t>
            </a:r>
          </a:p>
        </p:txBody>
      </p:sp>
      <p:sp>
        <p:nvSpPr>
          <p:cNvPr id="160" name="TextBox 159"/>
          <p:cNvSpPr txBox="1"/>
          <p:nvPr/>
        </p:nvSpPr>
        <p:spPr>
          <a:xfrm>
            <a:off x="825479"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Recidief op 18 maanden, draagtijd op 12</a:t>
            </a:r>
          </a:p>
        </p:txBody>
      </p:sp>
      <p:sp>
        <p:nvSpPr>
          <p:cNvPr id="161" name="Rounded Rectangle 160"/>
          <p:cNvSpPr/>
          <p:nvPr/>
        </p:nvSpPr>
        <p:spPr>
          <a:xfrm>
            <a:off x="6171918"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6362413"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POSITIEF</a:t>
            </a:r>
          </a:p>
        </p:txBody>
      </p:sp>
      <p:sp>
        <p:nvSpPr>
          <p:cNvPr id="163" name="TextBox 162"/>
          <p:cNvSpPr txBox="1"/>
          <p:nvPr/>
        </p:nvSpPr>
        <p:spPr>
          <a:xfrm>
            <a:off x="6362413"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Alleen als béíde eindpunten halen</a:t>
            </a:r>
          </a:p>
        </p:txBody>
      </p:sp>
      <p:sp>
        <p:nvSpPr>
          <p:cNvPr id="164" name="Rectangle 163"/>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34984" y="5575160"/>
            <a:ext cx="5714857" cy="215894"/>
          </a:xfrm>
          <a:prstGeom prst="rect">
            <a:avLst/>
          </a:prstGeom>
          <a:noFill/>
        </p:spPr>
        <p:txBody>
          <a:bodyPr wrap="square" anchor="t" lIns="0" rIns="0" tIns="0" bIns="0">
            <a:spAutoFit/>
          </a:bodyPr>
          <a:lstStyle/>
          <a:p>
            <a:pPr algn="l">
              <a:lnSpc>
                <a:spcPct val="125000"/>
              </a:lnSpc>
            </a:pPr>
            <a:r>
              <a:rPr sz="1200" b="1" spc="140">
                <a:solidFill>
                  <a:srgbClr val="8FB6D0"/>
                </a:solidFill>
                <a:latin typeface="Consolas"/>
              </a:rPr>
              <a:t>DE ZES DEELNEMENDE VOETKLINIEKEN</a:t>
            </a:r>
          </a:p>
        </p:txBody>
      </p:sp>
      <p:sp>
        <p:nvSpPr>
          <p:cNvPr id="166" name="Rounded Rectangle 165"/>
          <p:cNvSpPr/>
          <p:nvPr/>
        </p:nvSpPr>
        <p:spPr>
          <a:xfrm>
            <a:off x="634984"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634984"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AZORG</a:t>
            </a:r>
          </a:p>
        </p:txBody>
      </p:sp>
      <p:sp>
        <p:nvSpPr>
          <p:cNvPr id="168" name="Rounded Rectangle 167"/>
          <p:cNvSpPr/>
          <p:nvPr/>
        </p:nvSpPr>
        <p:spPr>
          <a:xfrm>
            <a:off x="2463738"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2463738"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Sint-Jan Brugge</a:t>
            </a:r>
          </a:p>
        </p:txBody>
      </p:sp>
      <p:sp>
        <p:nvSpPr>
          <p:cNvPr id="170" name="Rounded Rectangle 169"/>
          <p:cNvSpPr/>
          <p:nvPr/>
        </p:nvSpPr>
        <p:spPr>
          <a:xfrm>
            <a:off x="4292492"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4292492"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Groeninge</a:t>
            </a:r>
          </a:p>
        </p:txBody>
      </p:sp>
      <p:sp>
        <p:nvSpPr>
          <p:cNvPr id="172" name="Rounded Rectangle 171"/>
          <p:cNvSpPr/>
          <p:nvPr/>
        </p:nvSpPr>
        <p:spPr>
          <a:xfrm>
            <a:off x="6121246"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121246"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Gent</a:t>
            </a:r>
          </a:p>
        </p:txBody>
      </p:sp>
      <p:sp>
        <p:nvSpPr>
          <p:cNvPr id="174" name="Rounded Rectangle 173"/>
          <p:cNvSpPr/>
          <p:nvPr/>
        </p:nvSpPr>
        <p:spPr>
          <a:xfrm>
            <a:off x="7950001"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950001"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Leuven</a:t>
            </a:r>
          </a:p>
        </p:txBody>
      </p:sp>
      <p:sp>
        <p:nvSpPr>
          <p:cNvPr id="176" name="Rounded Rectangle 175"/>
          <p:cNvSpPr/>
          <p:nvPr/>
        </p:nvSpPr>
        <p:spPr>
          <a:xfrm>
            <a:off x="9778755"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9778755"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Antwerpen</a:t>
            </a:r>
          </a:p>
        </p:txBody>
      </p:sp>
      <p:sp>
        <p:nvSpPr>
          <p:cNvPr id="178" name="TextBox 17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04 / 71</a:t>
            </a:r>
          </a:p>
        </p:txBody>
      </p:sp>
      <p:pic>
        <p:nvPicPr>
          <p:cNvPr id="179"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80" name="TextBox 17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01</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Waarom zo</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Vier cijfers verklaren waarom er twee normen zijn.</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05 / 71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FF7A0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FF7A00"/>
                </a:solidFill>
                <a:latin typeface="Segoe UI"/>
              </a:rPr>
              <a:t>40</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FF7A00"/>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krijgt binnen een jaar</a:t>
            </a:r>
          </a:p>
          <a:p>
            <a:pPr algn="l">
              <a:lnSpc>
                <a:spcPct val="120000"/>
              </a:lnSpc>
              <a:spcBef>
                <a:spcPts val="500"/>
              </a:spcBef>
            </a:pPr>
            <a:r>
              <a:rPr sz="3200" b="1">
                <a:solidFill>
                  <a:srgbClr val="F2F8FC"/>
                </a:solidFill>
                <a:latin typeface="Segoe UI"/>
              </a:rPr>
              <a:t>een nieuw ulcus</a:t>
            </a:r>
          </a:p>
        </p:txBody>
      </p:sp>
      <p:sp>
        <p:nvSpPr>
          <p:cNvPr id="7" name="Rounded Rectangle 6"/>
          <p:cNvSpPr/>
          <p:nvPr/>
        </p:nvSpPr>
        <p:spPr>
          <a:xfrm>
            <a:off x="8017563" y="1142971"/>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758" y="1320766"/>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65%</a:t>
            </a:r>
          </a:p>
        </p:txBody>
      </p:sp>
      <p:sp>
        <p:nvSpPr>
          <p:cNvPr id="9" name="TextBox 8"/>
          <p:cNvSpPr txBox="1"/>
          <p:nvPr/>
        </p:nvSpPr>
        <p:spPr>
          <a:xfrm>
            <a:off x="8233458" y="1930351"/>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NA VIJF JAAR</a:t>
            </a:r>
          </a:p>
        </p:txBody>
      </p:sp>
      <p:sp>
        <p:nvSpPr>
          <p:cNvPr id="10" name="Rounded Rectangle 9"/>
          <p:cNvSpPr/>
          <p:nvPr/>
        </p:nvSpPr>
        <p:spPr>
          <a:xfrm>
            <a:off x="8017563" y="2514537"/>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758" y="2692332"/>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2,5×</a:t>
            </a:r>
          </a:p>
        </p:txBody>
      </p:sp>
      <p:sp>
        <p:nvSpPr>
          <p:cNvPr id="12" name="TextBox 11"/>
          <p:cNvSpPr txBox="1"/>
          <p:nvPr/>
        </p:nvSpPr>
        <p:spPr>
          <a:xfrm>
            <a:off x="8233458" y="3301917"/>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HOGERE STERFTE</a:t>
            </a:r>
          </a:p>
        </p:txBody>
      </p:sp>
      <p:sp>
        <p:nvSpPr>
          <p:cNvPr id="13" name="Rounded Rectangle 12"/>
          <p:cNvSpPr/>
          <p:nvPr/>
        </p:nvSpPr>
        <p:spPr>
          <a:xfrm>
            <a:off x="8017563" y="3886102"/>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758" y="4063898"/>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&gt; 70%</a:t>
            </a:r>
          </a:p>
        </p:txBody>
      </p:sp>
      <p:sp>
        <p:nvSpPr>
          <p:cNvPr id="15" name="TextBox 14"/>
          <p:cNvSpPr txBox="1"/>
          <p:nvPr/>
        </p:nvSpPr>
        <p:spPr>
          <a:xfrm>
            <a:off x="8233458" y="4673483"/>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STERFTE NA AMPUTATIE</a:t>
            </a:r>
          </a:p>
        </p:txBody>
      </p:sp>
      <p:sp>
        <p:nvSpPr>
          <p:cNvPr id="16" name="TextBox 15"/>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Armstrong, Boulton &amp; Bus · N Engl J Med 2017</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06 / 71</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7828"/>
          </a:xfrm>
          <a:prstGeom prst="rect">
            <a:avLst/>
          </a:prstGeom>
          <a:gradFill rotWithShape="1">
            <a:gsLst>
              <a:gs pos="0">
                <a:srgbClr val="FF7A00"/>
              </a:gs>
              <a:gs pos="100000">
                <a:srgbClr val="FF7A00"/>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6200" b="1">
                <a:solidFill>
                  <a:srgbClr val="04182A"/>
                </a:solidFill>
                <a:latin typeface="Segoe UI"/>
              </a:rPr>
              <a:t>Driekwart is te voorkomen.</a:t>
            </a:r>
          </a:p>
          <a:p>
            <a:pPr algn="l">
              <a:lnSpc>
                <a:spcPct val="106000"/>
              </a:lnSpc>
              <a:spcBef>
                <a:spcPts val="500"/>
              </a:spcBef>
            </a:pPr>
            <a:r>
              <a:rPr sz="6200" b="1">
                <a:solidFill>
                  <a:srgbClr val="04182A"/>
                </a:solidFill>
                <a:latin typeface="Segoe UI"/>
              </a:rPr>
              <a:t>Veertig procent komt terug.</a:t>
            </a:r>
          </a:p>
        </p:txBody>
      </p:sp>
      <p:sp>
        <p:nvSpPr>
          <p:cNvPr id="5" name="TextBox 4"/>
          <p:cNvSpPr txBox="1"/>
          <p:nvPr/>
        </p:nvSpPr>
        <p:spPr>
          <a:xfrm>
            <a:off x="977875" y="6006949"/>
            <a:ext cx="9524761" cy="279393"/>
          </a:xfrm>
          <a:prstGeom prst="rect">
            <a:avLst/>
          </a:prstGeom>
          <a:noFill/>
        </p:spPr>
        <p:txBody>
          <a:bodyPr wrap="square" anchor="t" lIns="0" rIns="0" tIns="0" bIns="0">
            <a:spAutoFit/>
          </a:bodyPr>
          <a:lstStyle/>
          <a:p>
            <a:pPr algn="l">
              <a:lnSpc>
                <a:spcPct val="125000"/>
              </a:lnSpc>
            </a:pPr>
            <a:r>
              <a:rPr sz="1700" b="0">
                <a:solidFill>
                  <a:srgbClr val="04182A"/>
                </a:solidFill>
                <a:latin typeface="Consolas"/>
              </a:rPr>
              <a:t>Dat gat is waar deze studie over gaat.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DEZELFDE SCHOEN, TWEE UITKOMSTEN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Waarom druk alléén niet volstaat</a:t>
            </a:r>
          </a:p>
        </p:txBody>
      </p:sp>
      <p:sp>
        <p:nvSpPr>
          <p:cNvPr id="5" name="Rectangle 4"/>
          <p:cNvSpPr/>
          <p:nvPr/>
        </p:nvSpPr>
        <p:spPr>
          <a:xfrm>
            <a:off x="634984" y="1828754"/>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993850"/>
            <a:ext cx="3809904" cy="317492"/>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Iedereen</a:t>
            </a:r>
          </a:p>
        </p:txBody>
      </p:sp>
      <p:sp>
        <p:nvSpPr>
          <p:cNvPr id="7" name="TextBox 6"/>
          <p:cNvSpPr txBox="1"/>
          <p:nvPr/>
        </p:nvSpPr>
        <p:spPr>
          <a:xfrm>
            <a:off x="647683" y="2349441"/>
            <a:ext cx="3809904"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intention-to-treat</a:t>
            </a:r>
          </a:p>
        </p:txBody>
      </p:sp>
      <p:sp>
        <p:nvSpPr>
          <p:cNvPr id="8" name="TextBox 7"/>
          <p:cNvSpPr txBox="1"/>
          <p:nvPr/>
        </p:nvSpPr>
        <p:spPr>
          <a:xfrm>
            <a:off x="634984" y="2768530"/>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Gewone maatzool</a:t>
            </a:r>
          </a:p>
        </p:txBody>
      </p:sp>
      <p:sp>
        <p:nvSpPr>
          <p:cNvPr id="9" name="Rounded Rectangle 8"/>
          <p:cNvSpPr/>
          <p:nvPr/>
        </p:nvSpPr>
        <p:spPr>
          <a:xfrm>
            <a:off x="2793930" y="2717732"/>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93930" y="2717732"/>
            <a:ext cx="6062320"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05752" y="2692332"/>
            <a:ext cx="1396965" cy="342891"/>
          </a:xfrm>
          <a:prstGeom prst="rect">
            <a:avLst/>
          </a:prstGeom>
          <a:noFill/>
        </p:spPr>
        <p:txBody>
          <a:bodyPr wrap="square" anchor="t" lIns="0" rIns="0" tIns="0" bIns="0">
            <a:spAutoFit/>
          </a:bodyPr>
          <a:lstStyle/>
          <a:p>
            <a:pPr algn="l">
              <a:lnSpc>
                <a:spcPct val="125000"/>
              </a:lnSpc>
            </a:pPr>
            <a:r>
              <a:rPr sz="2700" b="1">
                <a:solidFill>
                  <a:srgbClr val="8FB6D0"/>
                </a:solidFill>
                <a:latin typeface="Segoe UI"/>
              </a:rPr>
              <a:t>44,2%</a:t>
            </a:r>
          </a:p>
        </p:txBody>
      </p:sp>
      <p:sp>
        <p:nvSpPr>
          <p:cNvPr id="12" name="TextBox 11"/>
          <p:cNvSpPr txBox="1"/>
          <p:nvPr/>
        </p:nvSpPr>
        <p:spPr>
          <a:xfrm>
            <a:off x="634984" y="3187620"/>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Drukgeoptimaliseerd</a:t>
            </a:r>
          </a:p>
        </p:txBody>
      </p:sp>
      <p:sp>
        <p:nvSpPr>
          <p:cNvPr id="13" name="Rounded Rectangle 12"/>
          <p:cNvSpPr/>
          <p:nvPr/>
        </p:nvSpPr>
        <p:spPr>
          <a:xfrm>
            <a:off x="2793930" y="3136821"/>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93930" y="3136821"/>
            <a:ext cx="5321674" cy="292092"/>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5752" y="3111422"/>
            <a:ext cx="1396965" cy="342891"/>
          </a:xfrm>
          <a:prstGeom prst="rect">
            <a:avLst/>
          </a:prstGeom>
          <a:noFill/>
        </p:spPr>
        <p:txBody>
          <a:bodyPr wrap="square" anchor="t" lIns="0" rIns="0" tIns="0" bIns="0">
            <a:spAutoFit/>
          </a:bodyPr>
          <a:lstStyle/>
          <a:p>
            <a:pPr algn="l">
              <a:lnSpc>
                <a:spcPct val="125000"/>
              </a:lnSpc>
            </a:pPr>
            <a:r>
              <a:rPr sz="2700" b="1">
                <a:solidFill>
                  <a:srgbClr val="FF7A00"/>
                </a:solidFill>
                <a:latin typeface="Segoe UI"/>
              </a:rPr>
              <a:t>38,8%</a:t>
            </a:r>
          </a:p>
        </p:txBody>
      </p:sp>
      <p:sp>
        <p:nvSpPr>
          <p:cNvPr id="16" name="TextBox 15"/>
          <p:cNvSpPr txBox="1"/>
          <p:nvPr/>
        </p:nvSpPr>
        <p:spPr>
          <a:xfrm>
            <a:off x="634984" y="3568610"/>
            <a:ext cx="5714857" cy="279393"/>
          </a:xfrm>
          <a:prstGeom prst="rect">
            <a:avLst/>
          </a:prstGeom>
          <a:noFill/>
        </p:spPr>
        <p:txBody>
          <a:bodyPr wrap="square" anchor="t" lIns="0" rIns="0" tIns="0" bIns="0">
            <a:spAutoFit/>
          </a:bodyPr>
          <a:lstStyle/>
          <a:p>
            <a:pPr algn="l">
              <a:lnSpc>
                <a:spcPct val="125000"/>
              </a:lnSpc>
            </a:pPr>
            <a:r>
              <a:rPr sz="1800" b="1">
                <a:solidFill>
                  <a:srgbClr val="FF7A00"/>
                </a:solidFill>
                <a:latin typeface="Segoe UI"/>
              </a:rPr>
              <a:t>Geen verschil — p = 0,48</a:t>
            </a:r>
          </a:p>
        </p:txBody>
      </p:sp>
      <p:sp>
        <p:nvSpPr>
          <p:cNvPr id="17" name="Rectangle 16"/>
          <p:cNvSpPr/>
          <p:nvPr/>
        </p:nvSpPr>
        <p:spPr>
          <a:xfrm>
            <a:off x="634984" y="408929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254393"/>
            <a:ext cx="3809904" cy="317492"/>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Wie hem droeg</a:t>
            </a:r>
          </a:p>
        </p:txBody>
      </p:sp>
      <p:sp>
        <p:nvSpPr>
          <p:cNvPr id="19" name="TextBox 18"/>
          <p:cNvSpPr txBox="1"/>
          <p:nvPr/>
        </p:nvSpPr>
        <p:spPr>
          <a:xfrm>
            <a:off x="647683" y="4609984"/>
            <a:ext cx="3809904"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 80% van de stappen</a:t>
            </a:r>
          </a:p>
        </p:txBody>
      </p:sp>
      <p:sp>
        <p:nvSpPr>
          <p:cNvPr id="20" name="TextBox 19"/>
          <p:cNvSpPr txBox="1"/>
          <p:nvPr/>
        </p:nvSpPr>
        <p:spPr>
          <a:xfrm>
            <a:off x="634984" y="5029074"/>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Gewone maatzool</a:t>
            </a:r>
          </a:p>
        </p:txBody>
      </p:sp>
      <p:sp>
        <p:nvSpPr>
          <p:cNvPr id="21" name="Rounded Rectangle 20"/>
          <p:cNvSpPr/>
          <p:nvPr/>
        </p:nvSpPr>
        <p:spPr>
          <a:xfrm>
            <a:off x="2793930" y="497827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93930" y="4978275"/>
            <a:ext cx="6556084"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05752" y="4952876"/>
            <a:ext cx="1396965" cy="342891"/>
          </a:xfrm>
          <a:prstGeom prst="rect">
            <a:avLst/>
          </a:prstGeom>
          <a:noFill/>
        </p:spPr>
        <p:txBody>
          <a:bodyPr wrap="square" anchor="t" lIns="0" rIns="0" tIns="0" bIns="0">
            <a:spAutoFit/>
          </a:bodyPr>
          <a:lstStyle/>
          <a:p>
            <a:pPr algn="l">
              <a:lnSpc>
                <a:spcPct val="125000"/>
              </a:lnSpc>
            </a:pPr>
            <a:r>
              <a:rPr sz="2700" b="1">
                <a:solidFill>
                  <a:srgbClr val="8FB6D0"/>
                </a:solidFill>
                <a:latin typeface="Segoe UI"/>
              </a:rPr>
              <a:t>47,8%</a:t>
            </a:r>
          </a:p>
        </p:txBody>
      </p:sp>
      <p:sp>
        <p:nvSpPr>
          <p:cNvPr id="24" name="TextBox 23"/>
          <p:cNvSpPr txBox="1"/>
          <p:nvPr/>
        </p:nvSpPr>
        <p:spPr>
          <a:xfrm>
            <a:off x="634984" y="5448163"/>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Drukgeoptimaliseerd</a:t>
            </a:r>
          </a:p>
        </p:txBody>
      </p:sp>
      <p:sp>
        <p:nvSpPr>
          <p:cNvPr id="25" name="Rounded Rectangle 24"/>
          <p:cNvSpPr/>
          <p:nvPr/>
        </p:nvSpPr>
        <p:spPr>
          <a:xfrm>
            <a:off x="2793930" y="539736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93930" y="5397365"/>
            <a:ext cx="3524923" cy="292092"/>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05752" y="5371965"/>
            <a:ext cx="1396965" cy="342891"/>
          </a:xfrm>
          <a:prstGeom prst="rect">
            <a:avLst/>
          </a:prstGeom>
          <a:noFill/>
        </p:spPr>
        <p:txBody>
          <a:bodyPr wrap="square" anchor="t" lIns="0" rIns="0" tIns="0" bIns="0">
            <a:spAutoFit/>
          </a:bodyPr>
          <a:lstStyle/>
          <a:p>
            <a:pPr algn="l">
              <a:lnSpc>
                <a:spcPct val="125000"/>
              </a:lnSpc>
            </a:pPr>
            <a:r>
              <a:rPr sz="2700" b="1">
                <a:solidFill>
                  <a:srgbClr val="52BDEC"/>
                </a:solidFill>
                <a:latin typeface="Segoe UI"/>
              </a:rPr>
              <a:t>25,7%</a:t>
            </a:r>
          </a:p>
        </p:txBody>
      </p:sp>
      <p:sp>
        <p:nvSpPr>
          <p:cNvPr id="28" name="TextBox 27"/>
          <p:cNvSpPr txBox="1"/>
          <p:nvPr/>
        </p:nvSpPr>
        <p:spPr>
          <a:xfrm>
            <a:off x="634984" y="5829154"/>
            <a:ext cx="5714857" cy="279393"/>
          </a:xfrm>
          <a:prstGeom prst="rect">
            <a:avLst/>
          </a:prstGeom>
          <a:noFill/>
        </p:spPr>
        <p:txBody>
          <a:bodyPr wrap="square" anchor="t" lIns="0" rIns="0" tIns="0" bIns="0">
            <a:spAutoFit/>
          </a:bodyPr>
          <a:lstStyle/>
          <a:p>
            <a:pPr algn="l">
              <a:lnSpc>
                <a:spcPct val="125000"/>
              </a:lnSpc>
            </a:pPr>
            <a:r>
              <a:rPr sz="1800" b="1">
                <a:solidFill>
                  <a:srgbClr val="52BDEC"/>
                </a:solidFill>
                <a:latin typeface="Segoe UI"/>
              </a:rPr>
              <a:t>Bijna gehalveerd — p = 0,045</a:t>
            </a:r>
          </a:p>
        </p:txBody>
      </p:sp>
      <p:sp>
        <p:nvSpPr>
          <p:cNvPr id="29" name="TextBox 28"/>
          <p:cNvSpPr txBox="1"/>
          <p:nvPr/>
        </p:nvSpPr>
        <p:spPr>
          <a:xfrm>
            <a:off x="5714857" y="5930751"/>
            <a:ext cx="5841853" cy="380990"/>
          </a:xfrm>
          <a:prstGeom prst="rect">
            <a:avLst/>
          </a:prstGeom>
          <a:noFill/>
        </p:spPr>
        <p:txBody>
          <a:bodyPr wrap="square" anchor="t" lIns="0" rIns="0" tIns="0" bIns="0">
            <a:spAutoFit/>
          </a:bodyPr>
          <a:lstStyle/>
          <a:p>
            <a:pPr algn="r">
              <a:lnSpc>
                <a:spcPct val="125000"/>
              </a:lnSpc>
            </a:pPr>
            <a:r>
              <a:rPr sz="2400" b="1">
                <a:solidFill>
                  <a:srgbClr val="F2F8FC"/>
                </a:solidFill>
                <a:latin typeface="Segoe UI"/>
              </a:rPr>
              <a:t>Daarom meten we niet alleen druk, maar ook draagtijd.</a:t>
            </a:r>
          </a:p>
        </p:txBody>
      </p:sp>
      <p:sp>
        <p:nvSpPr>
          <p:cNvPr id="30" name="TextBox 29"/>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Bus et al. · Diabetes Care 2013 · DIAFOS, 171 deelnemers</a:t>
            </a:r>
          </a:p>
        </p:txBody>
      </p:sp>
      <p:sp>
        <p:nvSpPr>
          <p:cNvPr id="31" name="TextBox 3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08 / 71</a:t>
            </a:r>
          </a:p>
        </p:txBody>
      </p:sp>
      <p:pic>
        <p:nvPicPr>
          <p:cNvPr id="32"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3" name="TextBox 32"/>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9 · Bus 2013, DIAFOS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52BDEC">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52BDEC"/>
                </a:solidFill>
                <a:latin typeface="Segoe UI"/>
              </a:rPr>
              <a:t>71</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52BDEC"/>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draagtijd — gemeten,</a:t>
            </a:r>
          </a:p>
          <a:p>
            <a:pPr algn="l">
              <a:lnSpc>
                <a:spcPct val="120000"/>
              </a:lnSpc>
              <a:spcBef>
                <a:spcPts val="500"/>
              </a:spcBef>
            </a:pPr>
            <a:r>
              <a:rPr sz="3200" b="1">
                <a:solidFill>
                  <a:srgbClr val="F2F8FC"/>
                </a:solidFill>
                <a:latin typeface="Segoe UI"/>
              </a:rPr>
              <a:t>niet gevraagd</a:t>
            </a:r>
          </a:p>
        </p:txBody>
      </p:sp>
      <p:sp>
        <p:nvSpPr>
          <p:cNvPr id="7" name="TextBox 6"/>
          <p:cNvSpPr txBox="1"/>
          <p:nvPr/>
        </p:nvSpPr>
        <p:spPr>
          <a:xfrm>
            <a:off x="6349841" y="1904952"/>
            <a:ext cx="5079873" cy="228594"/>
          </a:xfrm>
          <a:prstGeom prst="rect">
            <a:avLst/>
          </a:prstGeom>
          <a:noFill/>
        </p:spPr>
        <p:txBody>
          <a:bodyPr wrap="square" anchor="t" lIns="0" rIns="0" tIns="0" bIns="0">
            <a:spAutoFit/>
          </a:bodyPr>
          <a:lstStyle/>
          <a:p>
            <a:pPr algn="l">
              <a:lnSpc>
                <a:spcPct val="125000"/>
              </a:lnSpc>
            </a:pPr>
            <a:r>
              <a:rPr sz="1300" b="0" spc="140">
                <a:solidFill>
                  <a:srgbClr val="8FB6D0"/>
                </a:solidFill>
                <a:latin typeface="Consolas"/>
              </a:rPr>
              <a:t>DRAAGTIJD TEGENOVER DE NORM VAN 80%</a:t>
            </a:r>
          </a:p>
        </p:txBody>
      </p:sp>
      <p:sp>
        <p:nvSpPr>
          <p:cNvPr id="8" name="TextBox 7"/>
          <p:cNvSpPr txBox="1"/>
          <p:nvPr/>
        </p:nvSpPr>
        <p:spPr>
          <a:xfrm>
            <a:off x="6349841" y="2222444"/>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Gemiddeld</a:t>
            </a:r>
          </a:p>
        </p:txBody>
      </p:sp>
      <p:sp>
        <p:nvSpPr>
          <p:cNvPr id="9" name="Rounded Rectangle 8"/>
          <p:cNvSpPr/>
          <p:nvPr/>
        </p:nvSpPr>
        <p:spPr>
          <a:xfrm>
            <a:off x="6349841" y="2489137"/>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49841" y="2489137"/>
            <a:ext cx="3155871"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21726" y="2463738"/>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71%</a:t>
            </a:r>
          </a:p>
        </p:txBody>
      </p:sp>
      <p:sp>
        <p:nvSpPr>
          <p:cNvPr id="12" name="TextBox 11"/>
          <p:cNvSpPr txBox="1"/>
          <p:nvPr/>
        </p:nvSpPr>
        <p:spPr>
          <a:xfrm>
            <a:off x="6349841" y="2971725"/>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Thuis</a:t>
            </a:r>
          </a:p>
        </p:txBody>
      </p:sp>
      <p:sp>
        <p:nvSpPr>
          <p:cNvPr id="13" name="Rounded Rectangle 12"/>
          <p:cNvSpPr/>
          <p:nvPr/>
        </p:nvSpPr>
        <p:spPr>
          <a:xfrm>
            <a:off x="6349841" y="3238419"/>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49841" y="3238419"/>
            <a:ext cx="2711382"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21726" y="3213019"/>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61%</a:t>
            </a:r>
          </a:p>
        </p:txBody>
      </p:sp>
      <p:sp>
        <p:nvSpPr>
          <p:cNvPr id="16" name="TextBox 15"/>
          <p:cNvSpPr txBox="1"/>
          <p:nvPr/>
        </p:nvSpPr>
        <p:spPr>
          <a:xfrm>
            <a:off x="6349841" y="3721006"/>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Buitenshuis</a:t>
            </a:r>
          </a:p>
        </p:txBody>
      </p:sp>
      <p:sp>
        <p:nvSpPr>
          <p:cNvPr id="17" name="Rounded Rectangle 16"/>
          <p:cNvSpPr/>
          <p:nvPr/>
        </p:nvSpPr>
        <p:spPr>
          <a:xfrm>
            <a:off x="6349841" y="3987700"/>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49841" y="3987700"/>
            <a:ext cx="3867053"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21726" y="3962300"/>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87%</a:t>
            </a:r>
          </a:p>
        </p:txBody>
      </p:sp>
      <p:sp>
        <p:nvSpPr>
          <p:cNvPr id="20" name="Rectangle 19"/>
          <p:cNvSpPr/>
          <p:nvPr/>
        </p:nvSpPr>
        <p:spPr>
          <a:xfrm>
            <a:off x="9905752" y="2184345"/>
            <a:ext cx="19049" cy="2209744"/>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70768" y="4470288"/>
            <a:ext cx="1269968" cy="228594"/>
          </a:xfrm>
          <a:prstGeom prst="rect">
            <a:avLst/>
          </a:prstGeom>
          <a:noFill/>
        </p:spPr>
        <p:txBody>
          <a:bodyPr wrap="square" anchor="t" lIns="0" rIns="0" tIns="0" bIns="0">
            <a:spAutoFit/>
          </a:bodyPr>
          <a:lstStyle/>
          <a:p>
            <a:pPr algn="ctr">
              <a:lnSpc>
                <a:spcPct val="125000"/>
              </a:lnSpc>
            </a:pPr>
            <a:r>
              <a:rPr sz="1300" b="1">
                <a:solidFill>
                  <a:srgbClr val="FF7A00"/>
                </a:solidFill>
                <a:latin typeface="Consolas"/>
              </a:rPr>
              <a:t>norm 80%</a:t>
            </a:r>
          </a:p>
        </p:txBody>
      </p:sp>
      <p:sp>
        <p:nvSpPr>
          <p:cNvPr id="22" name="TextBox 21"/>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Waaijman et al. · Diabetes Care 2013 · 107 patiënten</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09 / 71</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13 · Waaijman 2013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MECHANISME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Belasting is een product,</a:t>
            </a:r>
          </a:p>
          <a:p>
            <a:pPr algn="l">
              <a:lnSpc>
                <a:spcPct val="110000"/>
              </a:lnSpc>
              <a:spcBef>
                <a:spcPts val="500"/>
              </a:spcBef>
            </a:pPr>
            <a:r>
              <a:rPr sz="4000" b="1">
                <a:solidFill>
                  <a:srgbClr val="F2F8FC"/>
                </a:solidFill>
                <a:latin typeface="Segoe UI"/>
              </a:rPr>
              <a:t>geen optelsom</a:t>
            </a:r>
          </a:p>
        </p:txBody>
      </p:sp>
      <p:sp>
        <p:nvSpPr>
          <p:cNvPr id="5" name="Rounded Rectangle 4"/>
          <p:cNvSpPr/>
          <p:nvPr/>
        </p:nvSpPr>
        <p:spPr>
          <a:xfrm>
            <a:off x="634984"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47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Piekdruk</a:t>
            </a:r>
          </a:p>
        </p:txBody>
      </p:sp>
      <p:sp>
        <p:nvSpPr>
          <p:cNvPr id="7" name="TextBox 6"/>
          <p:cNvSpPr txBox="1"/>
          <p:nvPr/>
        </p:nvSpPr>
        <p:spPr>
          <a:xfrm>
            <a:off x="82547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per stap</a:t>
            </a:r>
          </a:p>
        </p:txBody>
      </p:sp>
      <p:sp>
        <p:nvSpPr>
          <p:cNvPr id="8" name="Rounded Rectangle 7"/>
          <p:cNvSpPr/>
          <p:nvPr/>
        </p:nvSpPr>
        <p:spPr>
          <a:xfrm>
            <a:off x="825479"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47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10" name="TextBox 9"/>
          <p:cNvSpPr txBox="1"/>
          <p:nvPr/>
        </p:nvSpPr>
        <p:spPr>
          <a:xfrm>
            <a:off x="3869085"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1" name="Rounded Rectangle 10"/>
          <p:cNvSpPr/>
          <p:nvPr/>
        </p:nvSpPr>
        <p:spPr>
          <a:xfrm>
            <a:off x="432627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676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Activiteit</a:t>
            </a:r>
          </a:p>
        </p:txBody>
      </p:sp>
      <p:sp>
        <p:nvSpPr>
          <p:cNvPr id="13" name="TextBox 12"/>
          <p:cNvSpPr txBox="1"/>
          <p:nvPr/>
        </p:nvSpPr>
        <p:spPr>
          <a:xfrm>
            <a:off x="451676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stappen per dag</a:t>
            </a:r>
          </a:p>
        </p:txBody>
      </p:sp>
      <p:sp>
        <p:nvSpPr>
          <p:cNvPr id="14" name="Rounded Rectangle 13"/>
          <p:cNvSpPr/>
          <p:nvPr/>
        </p:nvSpPr>
        <p:spPr>
          <a:xfrm>
            <a:off x="4516769" y="3797205"/>
            <a:ext cx="1015974"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676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8FB6D0"/>
                </a:solidFill>
                <a:latin typeface="Consolas"/>
              </a:rPr>
              <a:t>GEMETEN</a:t>
            </a:r>
          </a:p>
        </p:txBody>
      </p:sp>
      <p:sp>
        <p:nvSpPr>
          <p:cNvPr id="16" name="TextBox 15"/>
          <p:cNvSpPr txBox="1"/>
          <p:nvPr/>
        </p:nvSpPr>
        <p:spPr>
          <a:xfrm>
            <a:off x="7560374"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7" name="Rounded Rectangle 16"/>
          <p:cNvSpPr/>
          <p:nvPr/>
        </p:nvSpPr>
        <p:spPr>
          <a:xfrm>
            <a:off x="801756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8058"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Draagtijd</a:t>
            </a:r>
          </a:p>
        </p:txBody>
      </p:sp>
      <p:sp>
        <p:nvSpPr>
          <p:cNvPr id="19" name="TextBox 18"/>
          <p:cNvSpPr txBox="1"/>
          <p:nvPr/>
        </p:nvSpPr>
        <p:spPr>
          <a:xfrm>
            <a:off x="8208058"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wérd hij gedragen</a:t>
            </a:r>
          </a:p>
        </p:txBody>
      </p:sp>
      <p:sp>
        <p:nvSpPr>
          <p:cNvPr id="20" name="Rounded Rectangle 19"/>
          <p:cNvSpPr/>
          <p:nvPr/>
        </p:nvSpPr>
        <p:spPr>
          <a:xfrm>
            <a:off x="8208058"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8058"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22" name="TextBox 21"/>
          <p:cNvSpPr txBox="1"/>
          <p:nvPr/>
        </p:nvSpPr>
        <p:spPr>
          <a:xfrm>
            <a:off x="634984" y="4889377"/>
            <a:ext cx="10921726" cy="571485"/>
          </a:xfrm>
          <a:prstGeom prst="rect">
            <a:avLst/>
          </a:prstGeom>
          <a:noFill/>
        </p:spPr>
        <p:txBody>
          <a:bodyPr wrap="square" anchor="t" lIns="0" rIns="0" tIns="0" bIns="0">
            <a:spAutoFit/>
          </a:bodyPr>
          <a:lstStyle/>
          <a:p>
            <a:pPr algn="l">
              <a:lnSpc>
                <a:spcPct val="140000"/>
              </a:lnSpc>
            </a:pPr>
            <a:r>
              <a:rPr sz="2000" b="0">
                <a:solidFill>
                  <a:srgbClr val="8FB6D0"/>
                </a:solidFill>
                <a:latin typeface="Segoe UI"/>
              </a:rPr>
              <a:t>Eén factor op nul maakt het product nul. Daarom heeft PARADISE twee normen: een druknorm én een draagtijdnorm.</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10 / 71</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14 · van Netten 2018   |   16 · Hulshof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PARADISE ANDERS DOET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Eén dienst, geen drie losse maatregelen</a:t>
            </a: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De zool háált de norm</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&lt; 200 kPa óf 25% lager</a:t>
            </a:r>
          </a:p>
        </p:txBody>
      </p:sp>
      <p:sp>
        <p:nvSpPr>
          <p:cNvPr id="10" name="TextBox 9"/>
          <p:cNvSpPr txBox="1"/>
          <p:nvPr/>
        </p:nvSpPr>
        <p:spPr>
          <a:xfrm>
            <a:off x="888977"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Gemeten bij de aflevering, in drie condities.</a:t>
            </a:r>
          </a:p>
          <a:p>
            <a:pPr algn="l">
              <a:lnSpc>
                <a:spcPct val="132000"/>
              </a:lnSpc>
              <a:spcBef>
                <a:spcPts val="1200"/>
              </a:spcBef>
            </a:pPr>
            <a:r>
              <a:rPr sz="1450" b="0">
                <a:solidFill>
                  <a:srgbClr val="8FB6D0"/>
                </a:solidFill>
                <a:latin typeface="Segoe UI"/>
              </a:rPr>
              <a:t>Aangepast tot de norm gehaald is in elk van de drie doelregio's.</a:t>
            </a:r>
          </a:p>
          <a:p>
            <a:pPr algn="l">
              <a:lnSpc>
                <a:spcPct val="132000"/>
              </a:lnSpc>
              <a:spcBef>
                <a:spcPts val="1200"/>
              </a:spcBef>
            </a:pPr>
            <a:r>
              <a:rPr sz="1450" b="0">
                <a:solidFill>
                  <a:srgbClr val="8FB6D0"/>
                </a:solidFill>
                <a:latin typeface="Segoe UI"/>
              </a:rPr>
              <a:t>Herhaald op maand 6, 12 en 18.</a:t>
            </a: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En hij wórdt gedragen</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80% van zijn eigen activiteitenprofiel</a:t>
            </a:r>
          </a:p>
        </p:txBody>
      </p:sp>
      <p:sp>
        <p:nvSpPr>
          <p:cNvPr id="16" name="TextBox 15"/>
          <p:cNvSpPr txBox="1"/>
          <p:nvPr/>
        </p:nvSpPr>
        <p:spPr>
          <a:xfrm>
            <a:off x="6425912"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Een sensor in de zool meet de draagtijd, continu.</a:t>
            </a:r>
          </a:p>
          <a:p>
            <a:pPr algn="l">
              <a:lnSpc>
                <a:spcPct val="132000"/>
              </a:lnSpc>
              <a:spcBef>
                <a:spcPts val="1200"/>
              </a:spcBef>
            </a:pPr>
            <a:r>
              <a:rPr sz="1450" b="0">
                <a:solidFill>
                  <a:srgbClr val="8FB6D0"/>
                </a:solidFill>
                <a:latin typeface="Segoe UI"/>
              </a:rPr>
              <a:t>Elke drie maanden uitgelezen en samen bekeken.</a:t>
            </a:r>
          </a:p>
          <a:p>
            <a:pPr algn="l">
              <a:lnSpc>
                <a:spcPct val="132000"/>
              </a:lnSpc>
              <a:spcBef>
                <a:spcPts val="1200"/>
              </a:spcBef>
            </a:pPr>
            <a:r>
              <a:rPr sz="1450" b="0">
                <a:solidFill>
                  <a:srgbClr val="8FB6D0"/>
                </a:solidFill>
                <a:latin typeface="Segoe UI"/>
              </a:rPr>
              <a:t>Vijf gesprekken die op die data staan, niet op goede raad.</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11 / 71</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   |   17 · Waaijman 2014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02</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De meting</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Wat u meet, hoe u het meet, en wanneer het goed genoeg is.</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12 / 71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BASELINE · BLOOTSVOETS</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Elke sensor een cijfer</a:t>
            </a:r>
          </a:p>
        </p:txBody>
      </p:sp>
      <p:sp>
        <p:nvSpPr>
          <p:cNvPr id="5" name="!!p00_07"/>
          <p:cNvSpPr/>
          <p:nvPr/>
        </p:nvSpPr>
        <p:spPr>
          <a:xfrm>
            <a:off x="1585505" y="5645727"/>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FF7A00"/>
                </a:solidFill>
                <a:latin typeface="Segoe UI"/>
              </a:rPr>
              <a:t>312</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FF7A00"/>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op metatarsaal 2-3</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Norm:  &lt; 200 kPa   óf   ≥ 25% lager</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Baseline meet u blootsvoets: de sensoren gaan met dubbelzijdige tape rechtstreeks op de voet, daarover een standaardkous.</a:t>
            </a:r>
          </a:p>
          <a:p>
            <a:pPr algn="l">
              <a:lnSpc>
                <a:spcPct val="135000"/>
              </a:lnSpc>
              <a:spcBef>
                <a:spcPts val="1200"/>
              </a:spcBef>
            </a:pPr>
            <a:r>
              <a:rPr sz="1700" b="0">
                <a:solidFill>
                  <a:srgbClr val="8FB6D0"/>
                </a:solidFill>
                <a:latin typeface="Segoe UI"/>
              </a:rPr>
              <a:t>Drie metingen per voet, links en rechts apart. Daaruit berekent de software één gemiddeld piekdrukbeeld.</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09 · Meting plantaire druk, baseline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13 / 71</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   |   27 · Zwaferink 2024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00_07"/>
          <p:cNvSpPr/>
          <p:nvPr/>
        </p:nvSpPr>
        <p:spPr>
          <a:xfrm>
            <a:off x="2426905" y="12636782"/>
            <a:ext cx="257810" cy="257810"/>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00_08"/>
          <p:cNvSpPr/>
          <p:nvPr/>
        </p:nvSpPr>
        <p:spPr>
          <a:xfrm>
            <a:off x="2839645" y="12636782"/>
            <a:ext cx="257810" cy="257810"/>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0_09"/>
          <p:cNvSpPr/>
          <p:nvPr/>
        </p:nvSpPr>
        <p:spPr>
          <a:xfrm>
            <a:off x="3252385" y="12636782"/>
            <a:ext cx="257810" cy="257810"/>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10"/>
          <p:cNvSpPr/>
          <p:nvPr/>
        </p:nvSpPr>
        <p:spPr>
          <a:xfrm>
            <a:off x="3665125" y="12636782"/>
            <a:ext cx="257810" cy="257810"/>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1_06"/>
          <p:cNvSpPr/>
          <p:nvPr/>
        </p:nvSpPr>
        <p:spPr>
          <a:xfrm>
            <a:off x="2014166" y="12337002"/>
            <a:ext cx="257810" cy="257810"/>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_07"/>
          <p:cNvSpPr/>
          <p:nvPr/>
        </p:nvSpPr>
        <p:spPr>
          <a:xfrm>
            <a:off x="2426905" y="12337002"/>
            <a:ext cx="257810" cy="257810"/>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8"/>
          <p:cNvSpPr/>
          <p:nvPr/>
        </p:nvSpPr>
        <p:spPr>
          <a:xfrm>
            <a:off x="2839645" y="12337002"/>
            <a:ext cx="257810" cy="257810"/>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9"/>
          <p:cNvSpPr/>
          <p:nvPr/>
        </p:nvSpPr>
        <p:spPr>
          <a:xfrm>
            <a:off x="3252385" y="12337002"/>
            <a:ext cx="257810" cy="257810"/>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10"/>
          <p:cNvSpPr/>
          <p:nvPr/>
        </p:nvSpPr>
        <p:spPr>
          <a:xfrm>
            <a:off x="3665125" y="12337002"/>
            <a:ext cx="257810" cy="257810"/>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11"/>
          <p:cNvSpPr/>
          <p:nvPr/>
        </p:nvSpPr>
        <p:spPr>
          <a:xfrm>
            <a:off x="4077864" y="12337002"/>
            <a:ext cx="257810" cy="257810"/>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_05"/>
          <p:cNvSpPr/>
          <p:nvPr/>
        </p:nvSpPr>
        <p:spPr>
          <a:xfrm>
            <a:off x="1601426" y="12037223"/>
            <a:ext cx="257810" cy="257810"/>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2_06"/>
          <p:cNvSpPr/>
          <p:nvPr/>
        </p:nvSpPr>
        <p:spPr>
          <a:xfrm>
            <a:off x="2014166" y="12037223"/>
            <a:ext cx="257810" cy="257810"/>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7"/>
          <p:cNvSpPr/>
          <p:nvPr/>
        </p:nvSpPr>
        <p:spPr>
          <a:xfrm>
            <a:off x="2426905" y="12037223"/>
            <a:ext cx="257810" cy="257810"/>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8"/>
          <p:cNvSpPr/>
          <p:nvPr/>
        </p:nvSpPr>
        <p:spPr>
          <a:xfrm>
            <a:off x="2839645" y="12037223"/>
            <a:ext cx="257810" cy="257810"/>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9"/>
          <p:cNvSpPr/>
          <p:nvPr/>
        </p:nvSpPr>
        <p:spPr>
          <a:xfrm>
            <a:off x="3252385" y="12037223"/>
            <a:ext cx="257810" cy="257810"/>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10"/>
          <p:cNvSpPr/>
          <p:nvPr/>
        </p:nvSpPr>
        <p:spPr>
          <a:xfrm>
            <a:off x="3665125" y="12037223"/>
            <a:ext cx="257810" cy="257810"/>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11"/>
          <p:cNvSpPr/>
          <p:nvPr/>
        </p:nvSpPr>
        <p:spPr>
          <a:xfrm>
            <a:off x="4077864" y="12037223"/>
            <a:ext cx="257810" cy="257810"/>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2"/>
          <p:cNvSpPr/>
          <p:nvPr/>
        </p:nvSpPr>
        <p:spPr>
          <a:xfrm>
            <a:off x="4490604" y="12037223"/>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3_05"/>
          <p:cNvSpPr/>
          <p:nvPr/>
        </p:nvSpPr>
        <p:spPr>
          <a:xfrm>
            <a:off x="1601426" y="11737444"/>
            <a:ext cx="257810" cy="257810"/>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3_06"/>
          <p:cNvSpPr/>
          <p:nvPr/>
        </p:nvSpPr>
        <p:spPr>
          <a:xfrm>
            <a:off x="2014166" y="11737444"/>
            <a:ext cx="257810" cy="257810"/>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7"/>
          <p:cNvSpPr/>
          <p:nvPr/>
        </p:nvSpPr>
        <p:spPr>
          <a:xfrm>
            <a:off x="2426905" y="11737444"/>
            <a:ext cx="257810" cy="257810"/>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8"/>
          <p:cNvSpPr/>
          <p:nvPr/>
        </p:nvSpPr>
        <p:spPr>
          <a:xfrm>
            <a:off x="2839645" y="11737444"/>
            <a:ext cx="257810" cy="257810"/>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9"/>
          <p:cNvSpPr/>
          <p:nvPr/>
        </p:nvSpPr>
        <p:spPr>
          <a:xfrm>
            <a:off x="3252385" y="11737444"/>
            <a:ext cx="257810" cy="257810"/>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10"/>
          <p:cNvSpPr/>
          <p:nvPr/>
        </p:nvSpPr>
        <p:spPr>
          <a:xfrm>
            <a:off x="3665125" y="11737444"/>
            <a:ext cx="257810" cy="257810"/>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11"/>
          <p:cNvSpPr/>
          <p:nvPr/>
        </p:nvSpPr>
        <p:spPr>
          <a:xfrm>
            <a:off x="4077864" y="11737444"/>
            <a:ext cx="257810" cy="257810"/>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2"/>
          <p:cNvSpPr/>
          <p:nvPr/>
        </p:nvSpPr>
        <p:spPr>
          <a:xfrm>
            <a:off x="4490604" y="11737444"/>
            <a:ext cx="257810" cy="257810"/>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4_05"/>
          <p:cNvSpPr/>
          <p:nvPr/>
        </p:nvSpPr>
        <p:spPr>
          <a:xfrm>
            <a:off x="1601426" y="11437664"/>
            <a:ext cx="257810" cy="257810"/>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4_06"/>
          <p:cNvSpPr/>
          <p:nvPr/>
        </p:nvSpPr>
        <p:spPr>
          <a:xfrm>
            <a:off x="2014166" y="11437664"/>
            <a:ext cx="257810" cy="257810"/>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7"/>
          <p:cNvSpPr/>
          <p:nvPr/>
        </p:nvSpPr>
        <p:spPr>
          <a:xfrm>
            <a:off x="2426905" y="11437664"/>
            <a:ext cx="257810" cy="257810"/>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8"/>
          <p:cNvSpPr/>
          <p:nvPr/>
        </p:nvSpPr>
        <p:spPr>
          <a:xfrm>
            <a:off x="2839645" y="11437664"/>
            <a:ext cx="257810" cy="257810"/>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9"/>
          <p:cNvSpPr/>
          <p:nvPr/>
        </p:nvSpPr>
        <p:spPr>
          <a:xfrm>
            <a:off x="3252385" y="11437664"/>
            <a:ext cx="257810" cy="257810"/>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10"/>
          <p:cNvSpPr/>
          <p:nvPr/>
        </p:nvSpPr>
        <p:spPr>
          <a:xfrm>
            <a:off x="3665125" y="11437664"/>
            <a:ext cx="257810" cy="257810"/>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11"/>
          <p:cNvSpPr/>
          <p:nvPr/>
        </p:nvSpPr>
        <p:spPr>
          <a:xfrm>
            <a:off x="4077864" y="11437664"/>
            <a:ext cx="257810" cy="257810"/>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2"/>
          <p:cNvSpPr/>
          <p:nvPr/>
        </p:nvSpPr>
        <p:spPr>
          <a:xfrm>
            <a:off x="4490604" y="11437664"/>
            <a:ext cx="257810" cy="257810"/>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5_05"/>
          <p:cNvSpPr/>
          <p:nvPr/>
        </p:nvSpPr>
        <p:spPr>
          <a:xfrm>
            <a:off x="1601426" y="11137885"/>
            <a:ext cx="257810" cy="257810"/>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5_06"/>
          <p:cNvSpPr/>
          <p:nvPr/>
        </p:nvSpPr>
        <p:spPr>
          <a:xfrm>
            <a:off x="2014166" y="11137885"/>
            <a:ext cx="257810" cy="257810"/>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7"/>
          <p:cNvSpPr/>
          <p:nvPr/>
        </p:nvSpPr>
        <p:spPr>
          <a:xfrm>
            <a:off x="2426905" y="11137885"/>
            <a:ext cx="257810" cy="257810"/>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8"/>
          <p:cNvSpPr/>
          <p:nvPr/>
        </p:nvSpPr>
        <p:spPr>
          <a:xfrm>
            <a:off x="2839645" y="11137885"/>
            <a:ext cx="257810" cy="257810"/>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9"/>
          <p:cNvSpPr/>
          <p:nvPr/>
        </p:nvSpPr>
        <p:spPr>
          <a:xfrm>
            <a:off x="3252385" y="11137885"/>
            <a:ext cx="257810" cy="257810"/>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10"/>
          <p:cNvSpPr/>
          <p:nvPr/>
        </p:nvSpPr>
        <p:spPr>
          <a:xfrm>
            <a:off x="3665125" y="11137885"/>
            <a:ext cx="257810" cy="257810"/>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11"/>
          <p:cNvSpPr/>
          <p:nvPr/>
        </p:nvSpPr>
        <p:spPr>
          <a:xfrm>
            <a:off x="4077864" y="11137885"/>
            <a:ext cx="257810" cy="257810"/>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2"/>
          <p:cNvSpPr/>
          <p:nvPr/>
        </p:nvSpPr>
        <p:spPr>
          <a:xfrm>
            <a:off x="4490604" y="11137885"/>
            <a:ext cx="257810" cy="257810"/>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6_05"/>
          <p:cNvSpPr/>
          <p:nvPr/>
        </p:nvSpPr>
        <p:spPr>
          <a:xfrm>
            <a:off x="1601426" y="10838106"/>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6_06"/>
          <p:cNvSpPr/>
          <p:nvPr/>
        </p:nvSpPr>
        <p:spPr>
          <a:xfrm>
            <a:off x="2014166" y="10838106"/>
            <a:ext cx="257810" cy="257810"/>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7"/>
          <p:cNvSpPr/>
          <p:nvPr/>
        </p:nvSpPr>
        <p:spPr>
          <a:xfrm>
            <a:off x="2426905" y="10838106"/>
            <a:ext cx="257810" cy="257810"/>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8"/>
          <p:cNvSpPr/>
          <p:nvPr/>
        </p:nvSpPr>
        <p:spPr>
          <a:xfrm>
            <a:off x="2839645" y="10838106"/>
            <a:ext cx="257810" cy="257810"/>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9"/>
          <p:cNvSpPr/>
          <p:nvPr/>
        </p:nvSpPr>
        <p:spPr>
          <a:xfrm>
            <a:off x="3252385" y="10838106"/>
            <a:ext cx="257810" cy="257810"/>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10"/>
          <p:cNvSpPr/>
          <p:nvPr/>
        </p:nvSpPr>
        <p:spPr>
          <a:xfrm>
            <a:off x="3665125" y="10838106"/>
            <a:ext cx="257810" cy="257810"/>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11"/>
          <p:cNvSpPr/>
          <p:nvPr/>
        </p:nvSpPr>
        <p:spPr>
          <a:xfrm>
            <a:off x="4077864" y="10838106"/>
            <a:ext cx="257810" cy="257810"/>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2"/>
          <p:cNvSpPr/>
          <p:nvPr/>
        </p:nvSpPr>
        <p:spPr>
          <a:xfrm>
            <a:off x="4490604" y="10838106"/>
            <a:ext cx="257810" cy="257810"/>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7_05"/>
          <p:cNvSpPr/>
          <p:nvPr/>
        </p:nvSpPr>
        <p:spPr>
          <a:xfrm>
            <a:off x="1601426" y="10538326"/>
            <a:ext cx="257810" cy="257810"/>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7_06"/>
          <p:cNvSpPr/>
          <p:nvPr/>
        </p:nvSpPr>
        <p:spPr>
          <a:xfrm>
            <a:off x="2014166" y="10538326"/>
            <a:ext cx="257810" cy="257810"/>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7"/>
          <p:cNvSpPr/>
          <p:nvPr/>
        </p:nvSpPr>
        <p:spPr>
          <a:xfrm>
            <a:off x="2426905" y="10538326"/>
            <a:ext cx="257810" cy="257810"/>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8"/>
          <p:cNvSpPr/>
          <p:nvPr/>
        </p:nvSpPr>
        <p:spPr>
          <a:xfrm>
            <a:off x="2839645" y="10538326"/>
            <a:ext cx="257810" cy="257810"/>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9"/>
          <p:cNvSpPr/>
          <p:nvPr/>
        </p:nvSpPr>
        <p:spPr>
          <a:xfrm>
            <a:off x="3252385" y="10538326"/>
            <a:ext cx="257810" cy="257810"/>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10"/>
          <p:cNvSpPr/>
          <p:nvPr/>
        </p:nvSpPr>
        <p:spPr>
          <a:xfrm>
            <a:off x="3665125" y="10538326"/>
            <a:ext cx="257810" cy="257810"/>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11"/>
          <p:cNvSpPr/>
          <p:nvPr/>
        </p:nvSpPr>
        <p:spPr>
          <a:xfrm>
            <a:off x="4077864" y="10538326"/>
            <a:ext cx="257810" cy="257810"/>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2"/>
          <p:cNvSpPr/>
          <p:nvPr/>
        </p:nvSpPr>
        <p:spPr>
          <a:xfrm>
            <a:off x="4490604" y="10538326"/>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8_05"/>
          <p:cNvSpPr/>
          <p:nvPr/>
        </p:nvSpPr>
        <p:spPr>
          <a:xfrm>
            <a:off x="1601426" y="10238547"/>
            <a:ext cx="257810" cy="257810"/>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8_06"/>
          <p:cNvSpPr/>
          <p:nvPr/>
        </p:nvSpPr>
        <p:spPr>
          <a:xfrm>
            <a:off x="2014166" y="10238547"/>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7"/>
          <p:cNvSpPr/>
          <p:nvPr/>
        </p:nvSpPr>
        <p:spPr>
          <a:xfrm>
            <a:off x="2426905" y="10238547"/>
            <a:ext cx="257810" cy="257810"/>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8"/>
          <p:cNvSpPr/>
          <p:nvPr/>
        </p:nvSpPr>
        <p:spPr>
          <a:xfrm>
            <a:off x="2839645" y="10238547"/>
            <a:ext cx="257810" cy="257810"/>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9"/>
          <p:cNvSpPr/>
          <p:nvPr/>
        </p:nvSpPr>
        <p:spPr>
          <a:xfrm>
            <a:off x="3252385" y="10238547"/>
            <a:ext cx="257810" cy="257810"/>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10"/>
          <p:cNvSpPr/>
          <p:nvPr/>
        </p:nvSpPr>
        <p:spPr>
          <a:xfrm>
            <a:off x="3665125" y="10238547"/>
            <a:ext cx="257810" cy="257810"/>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11"/>
          <p:cNvSpPr/>
          <p:nvPr/>
        </p:nvSpPr>
        <p:spPr>
          <a:xfrm>
            <a:off x="4077864" y="10238547"/>
            <a:ext cx="257810" cy="257810"/>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2"/>
          <p:cNvSpPr/>
          <p:nvPr/>
        </p:nvSpPr>
        <p:spPr>
          <a:xfrm>
            <a:off x="4490604" y="10238547"/>
            <a:ext cx="257810" cy="257810"/>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9_05"/>
          <p:cNvSpPr/>
          <p:nvPr/>
        </p:nvSpPr>
        <p:spPr>
          <a:xfrm>
            <a:off x="1601426" y="9938768"/>
            <a:ext cx="257810" cy="257810"/>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9_06"/>
          <p:cNvSpPr/>
          <p:nvPr/>
        </p:nvSpPr>
        <p:spPr>
          <a:xfrm>
            <a:off x="2014166" y="9938768"/>
            <a:ext cx="257810" cy="257810"/>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7"/>
          <p:cNvSpPr/>
          <p:nvPr/>
        </p:nvSpPr>
        <p:spPr>
          <a:xfrm>
            <a:off x="2426905" y="9938768"/>
            <a:ext cx="257810" cy="257810"/>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8"/>
          <p:cNvSpPr/>
          <p:nvPr/>
        </p:nvSpPr>
        <p:spPr>
          <a:xfrm>
            <a:off x="2839645" y="9938768"/>
            <a:ext cx="257810" cy="257810"/>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9"/>
          <p:cNvSpPr/>
          <p:nvPr/>
        </p:nvSpPr>
        <p:spPr>
          <a:xfrm>
            <a:off x="3252385" y="9938768"/>
            <a:ext cx="257810" cy="257810"/>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10"/>
          <p:cNvSpPr/>
          <p:nvPr/>
        </p:nvSpPr>
        <p:spPr>
          <a:xfrm>
            <a:off x="3665125" y="9938768"/>
            <a:ext cx="257810" cy="257810"/>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11"/>
          <p:cNvSpPr/>
          <p:nvPr/>
        </p:nvSpPr>
        <p:spPr>
          <a:xfrm>
            <a:off x="4077864" y="9938768"/>
            <a:ext cx="257810" cy="257810"/>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2"/>
          <p:cNvSpPr/>
          <p:nvPr/>
        </p:nvSpPr>
        <p:spPr>
          <a:xfrm>
            <a:off x="4490604" y="9938768"/>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10_06"/>
          <p:cNvSpPr/>
          <p:nvPr/>
        </p:nvSpPr>
        <p:spPr>
          <a:xfrm>
            <a:off x="2014166" y="9638988"/>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10_07"/>
          <p:cNvSpPr/>
          <p:nvPr/>
        </p:nvSpPr>
        <p:spPr>
          <a:xfrm>
            <a:off x="2426905" y="9638988"/>
            <a:ext cx="257810" cy="257810"/>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8"/>
          <p:cNvSpPr/>
          <p:nvPr/>
        </p:nvSpPr>
        <p:spPr>
          <a:xfrm>
            <a:off x="2839645" y="9638988"/>
            <a:ext cx="257810" cy="257810"/>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9"/>
          <p:cNvSpPr/>
          <p:nvPr/>
        </p:nvSpPr>
        <p:spPr>
          <a:xfrm>
            <a:off x="3252385" y="9638988"/>
            <a:ext cx="257810" cy="257810"/>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10"/>
          <p:cNvSpPr/>
          <p:nvPr/>
        </p:nvSpPr>
        <p:spPr>
          <a:xfrm>
            <a:off x="3665125" y="9638988"/>
            <a:ext cx="257810" cy="257810"/>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11"/>
          <p:cNvSpPr/>
          <p:nvPr/>
        </p:nvSpPr>
        <p:spPr>
          <a:xfrm>
            <a:off x="4077864" y="9638988"/>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2"/>
          <p:cNvSpPr/>
          <p:nvPr/>
        </p:nvSpPr>
        <p:spPr>
          <a:xfrm>
            <a:off x="4490604" y="9638988"/>
            <a:ext cx="257810" cy="257810"/>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1_06"/>
          <p:cNvSpPr/>
          <p:nvPr/>
        </p:nvSpPr>
        <p:spPr>
          <a:xfrm>
            <a:off x="2014166" y="9339209"/>
            <a:ext cx="257810" cy="257810"/>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1_07"/>
          <p:cNvSpPr/>
          <p:nvPr/>
        </p:nvSpPr>
        <p:spPr>
          <a:xfrm>
            <a:off x="2426905" y="9339209"/>
            <a:ext cx="257810" cy="257810"/>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8"/>
          <p:cNvSpPr/>
          <p:nvPr/>
        </p:nvSpPr>
        <p:spPr>
          <a:xfrm>
            <a:off x="2839645" y="9339209"/>
            <a:ext cx="257810" cy="257810"/>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9"/>
          <p:cNvSpPr/>
          <p:nvPr/>
        </p:nvSpPr>
        <p:spPr>
          <a:xfrm>
            <a:off x="3252385" y="9339209"/>
            <a:ext cx="257810" cy="257810"/>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10"/>
          <p:cNvSpPr/>
          <p:nvPr/>
        </p:nvSpPr>
        <p:spPr>
          <a:xfrm>
            <a:off x="3665125" y="9339209"/>
            <a:ext cx="257810" cy="257810"/>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11"/>
          <p:cNvSpPr/>
          <p:nvPr/>
        </p:nvSpPr>
        <p:spPr>
          <a:xfrm>
            <a:off x="4077864" y="9339209"/>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2"/>
          <p:cNvSpPr/>
          <p:nvPr/>
        </p:nvSpPr>
        <p:spPr>
          <a:xfrm>
            <a:off x="4490604" y="9339209"/>
            <a:ext cx="257810" cy="257810"/>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2_06"/>
          <p:cNvSpPr/>
          <p:nvPr/>
        </p:nvSpPr>
        <p:spPr>
          <a:xfrm>
            <a:off x="2014166" y="9039430"/>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2_07"/>
          <p:cNvSpPr/>
          <p:nvPr/>
        </p:nvSpPr>
        <p:spPr>
          <a:xfrm>
            <a:off x="2426905" y="9039430"/>
            <a:ext cx="257810" cy="257810"/>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8"/>
          <p:cNvSpPr/>
          <p:nvPr/>
        </p:nvSpPr>
        <p:spPr>
          <a:xfrm>
            <a:off x="2839645" y="9039430"/>
            <a:ext cx="257810" cy="257810"/>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9"/>
          <p:cNvSpPr/>
          <p:nvPr/>
        </p:nvSpPr>
        <p:spPr>
          <a:xfrm>
            <a:off x="3252385" y="9039430"/>
            <a:ext cx="257810" cy="257810"/>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10"/>
          <p:cNvSpPr/>
          <p:nvPr/>
        </p:nvSpPr>
        <p:spPr>
          <a:xfrm>
            <a:off x="3665125" y="9039430"/>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11"/>
          <p:cNvSpPr/>
          <p:nvPr/>
        </p:nvSpPr>
        <p:spPr>
          <a:xfrm>
            <a:off x="4077864" y="9039430"/>
            <a:ext cx="257810" cy="257810"/>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2"/>
          <p:cNvSpPr/>
          <p:nvPr/>
        </p:nvSpPr>
        <p:spPr>
          <a:xfrm>
            <a:off x="4490604" y="9039430"/>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3_06"/>
          <p:cNvSpPr/>
          <p:nvPr/>
        </p:nvSpPr>
        <p:spPr>
          <a:xfrm>
            <a:off x="2014166" y="8739650"/>
            <a:ext cx="257810" cy="257810"/>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3_07"/>
          <p:cNvSpPr/>
          <p:nvPr/>
        </p:nvSpPr>
        <p:spPr>
          <a:xfrm>
            <a:off x="2426905" y="8739650"/>
            <a:ext cx="257810" cy="257810"/>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8"/>
          <p:cNvSpPr/>
          <p:nvPr/>
        </p:nvSpPr>
        <p:spPr>
          <a:xfrm>
            <a:off x="2839645" y="8739650"/>
            <a:ext cx="257810" cy="257810"/>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9"/>
          <p:cNvSpPr/>
          <p:nvPr/>
        </p:nvSpPr>
        <p:spPr>
          <a:xfrm>
            <a:off x="3252385" y="8739650"/>
            <a:ext cx="257810" cy="257810"/>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10"/>
          <p:cNvSpPr/>
          <p:nvPr/>
        </p:nvSpPr>
        <p:spPr>
          <a:xfrm>
            <a:off x="3665125" y="8739650"/>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11"/>
          <p:cNvSpPr/>
          <p:nvPr/>
        </p:nvSpPr>
        <p:spPr>
          <a:xfrm>
            <a:off x="4077864" y="8739650"/>
            <a:ext cx="257810" cy="257810"/>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2"/>
          <p:cNvSpPr/>
          <p:nvPr/>
        </p:nvSpPr>
        <p:spPr>
          <a:xfrm>
            <a:off x="4490604" y="8739650"/>
            <a:ext cx="257810" cy="257810"/>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4_06"/>
          <p:cNvSpPr/>
          <p:nvPr/>
        </p:nvSpPr>
        <p:spPr>
          <a:xfrm>
            <a:off x="2014166" y="8439871"/>
            <a:ext cx="257810" cy="257810"/>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4_07"/>
          <p:cNvSpPr/>
          <p:nvPr/>
        </p:nvSpPr>
        <p:spPr>
          <a:xfrm>
            <a:off x="2426905" y="8439871"/>
            <a:ext cx="257810" cy="257810"/>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8"/>
          <p:cNvSpPr/>
          <p:nvPr/>
        </p:nvSpPr>
        <p:spPr>
          <a:xfrm>
            <a:off x="2839645" y="8439871"/>
            <a:ext cx="257810" cy="257810"/>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9"/>
          <p:cNvSpPr/>
          <p:nvPr/>
        </p:nvSpPr>
        <p:spPr>
          <a:xfrm>
            <a:off x="3252385" y="8439871"/>
            <a:ext cx="257810" cy="257810"/>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10"/>
          <p:cNvSpPr/>
          <p:nvPr/>
        </p:nvSpPr>
        <p:spPr>
          <a:xfrm>
            <a:off x="3665125" y="8439871"/>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11"/>
          <p:cNvSpPr/>
          <p:nvPr/>
        </p:nvSpPr>
        <p:spPr>
          <a:xfrm>
            <a:off x="4077864" y="8439871"/>
            <a:ext cx="257810" cy="257810"/>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2"/>
          <p:cNvSpPr/>
          <p:nvPr/>
        </p:nvSpPr>
        <p:spPr>
          <a:xfrm>
            <a:off x="4490604" y="8439871"/>
            <a:ext cx="257810" cy="257810"/>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5_07"/>
          <p:cNvSpPr/>
          <p:nvPr/>
        </p:nvSpPr>
        <p:spPr>
          <a:xfrm>
            <a:off x="2426905" y="8140092"/>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5_08"/>
          <p:cNvSpPr/>
          <p:nvPr/>
        </p:nvSpPr>
        <p:spPr>
          <a:xfrm>
            <a:off x="2839645" y="8140092"/>
            <a:ext cx="257810" cy="257810"/>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9"/>
          <p:cNvSpPr/>
          <p:nvPr/>
        </p:nvSpPr>
        <p:spPr>
          <a:xfrm>
            <a:off x="3252385" y="8140092"/>
            <a:ext cx="257810" cy="257810"/>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10"/>
          <p:cNvSpPr/>
          <p:nvPr/>
        </p:nvSpPr>
        <p:spPr>
          <a:xfrm>
            <a:off x="3665125" y="8140092"/>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11"/>
          <p:cNvSpPr/>
          <p:nvPr/>
        </p:nvSpPr>
        <p:spPr>
          <a:xfrm>
            <a:off x="4077864" y="8140092"/>
            <a:ext cx="257810" cy="257810"/>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2"/>
          <p:cNvSpPr/>
          <p:nvPr/>
        </p:nvSpPr>
        <p:spPr>
          <a:xfrm>
            <a:off x="4490604" y="8140092"/>
            <a:ext cx="257810" cy="257810"/>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3"/>
          <p:cNvSpPr/>
          <p:nvPr/>
        </p:nvSpPr>
        <p:spPr>
          <a:xfrm>
            <a:off x="4903344" y="8140092"/>
            <a:ext cx="257810" cy="257810"/>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6_07"/>
          <p:cNvSpPr/>
          <p:nvPr/>
        </p:nvSpPr>
        <p:spPr>
          <a:xfrm>
            <a:off x="2426905" y="7840312"/>
            <a:ext cx="257810" cy="257810"/>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6_08"/>
          <p:cNvSpPr/>
          <p:nvPr/>
        </p:nvSpPr>
        <p:spPr>
          <a:xfrm>
            <a:off x="2839645" y="7840312"/>
            <a:ext cx="257810" cy="257810"/>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9"/>
          <p:cNvSpPr/>
          <p:nvPr/>
        </p:nvSpPr>
        <p:spPr>
          <a:xfrm>
            <a:off x="3252385" y="7840312"/>
            <a:ext cx="257810" cy="257810"/>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10"/>
          <p:cNvSpPr/>
          <p:nvPr/>
        </p:nvSpPr>
        <p:spPr>
          <a:xfrm>
            <a:off x="3665125" y="7840312"/>
            <a:ext cx="257810" cy="257810"/>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11"/>
          <p:cNvSpPr/>
          <p:nvPr/>
        </p:nvSpPr>
        <p:spPr>
          <a:xfrm>
            <a:off x="4077864" y="7840312"/>
            <a:ext cx="257810" cy="257810"/>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2"/>
          <p:cNvSpPr/>
          <p:nvPr/>
        </p:nvSpPr>
        <p:spPr>
          <a:xfrm>
            <a:off x="4490604" y="7840312"/>
            <a:ext cx="257810" cy="257810"/>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3"/>
          <p:cNvSpPr/>
          <p:nvPr/>
        </p:nvSpPr>
        <p:spPr>
          <a:xfrm>
            <a:off x="4903344" y="7840312"/>
            <a:ext cx="257810" cy="257810"/>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7_07"/>
          <p:cNvSpPr/>
          <p:nvPr/>
        </p:nvSpPr>
        <p:spPr>
          <a:xfrm>
            <a:off x="2426905" y="7540533"/>
            <a:ext cx="257810" cy="257810"/>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7_08"/>
          <p:cNvSpPr/>
          <p:nvPr/>
        </p:nvSpPr>
        <p:spPr>
          <a:xfrm>
            <a:off x="2839645" y="7540533"/>
            <a:ext cx="257810" cy="257810"/>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9"/>
          <p:cNvSpPr/>
          <p:nvPr/>
        </p:nvSpPr>
        <p:spPr>
          <a:xfrm>
            <a:off x="3252385" y="7540533"/>
            <a:ext cx="257810" cy="257810"/>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10"/>
          <p:cNvSpPr/>
          <p:nvPr/>
        </p:nvSpPr>
        <p:spPr>
          <a:xfrm>
            <a:off x="3665125" y="7540533"/>
            <a:ext cx="257810" cy="257810"/>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11"/>
          <p:cNvSpPr/>
          <p:nvPr/>
        </p:nvSpPr>
        <p:spPr>
          <a:xfrm>
            <a:off x="4077864" y="7540533"/>
            <a:ext cx="257810" cy="257810"/>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2"/>
          <p:cNvSpPr/>
          <p:nvPr/>
        </p:nvSpPr>
        <p:spPr>
          <a:xfrm>
            <a:off x="4490604" y="7540533"/>
            <a:ext cx="257810" cy="257810"/>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3"/>
          <p:cNvSpPr/>
          <p:nvPr/>
        </p:nvSpPr>
        <p:spPr>
          <a:xfrm>
            <a:off x="4903344" y="7540533"/>
            <a:ext cx="257810" cy="257810"/>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8_06"/>
          <p:cNvSpPr/>
          <p:nvPr/>
        </p:nvSpPr>
        <p:spPr>
          <a:xfrm>
            <a:off x="2014166" y="7240754"/>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8_07"/>
          <p:cNvSpPr/>
          <p:nvPr/>
        </p:nvSpPr>
        <p:spPr>
          <a:xfrm>
            <a:off x="2426905" y="7240754"/>
            <a:ext cx="257810" cy="257810"/>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8"/>
          <p:cNvSpPr/>
          <p:nvPr/>
        </p:nvSpPr>
        <p:spPr>
          <a:xfrm>
            <a:off x="2839645" y="7240754"/>
            <a:ext cx="257810" cy="257810"/>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9"/>
          <p:cNvSpPr/>
          <p:nvPr/>
        </p:nvSpPr>
        <p:spPr>
          <a:xfrm>
            <a:off x="3252385" y="7240754"/>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10"/>
          <p:cNvSpPr/>
          <p:nvPr/>
        </p:nvSpPr>
        <p:spPr>
          <a:xfrm>
            <a:off x="3665125" y="7240754"/>
            <a:ext cx="257810" cy="257810"/>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11"/>
          <p:cNvSpPr/>
          <p:nvPr/>
        </p:nvSpPr>
        <p:spPr>
          <a:xfrm>
            <a:off x="4077864" y="7240754"/>
            <a:ext cx="257810" cy="257810"/>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2"/>
          <p:cNvSpPr/>
          <p:nvPr/>
        </p:nvSpPr>
        <p:spPr>
          <a:xfrm>
            <a:off x="4490604" y="7240754"/>
            <a:ext cx="257810" cy="257810"/>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3"/>
          <p:cNvSpPr/>
          <p:nvPr/>
        </p:nvSpPr>
        <p:spPr>
          <a:xfrm>
            <a:off x="4903344" y="7240754"/>
            <a:ext cx="257810" cy="257810"/>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9_06"/>
          <p:cNvSpPr/>
          <p:nvPr/>
        </p:nvSpPr>
        <p:spPr>
          <a:xfrm>
            <a:off x="2014166" y="6940974"/>
            <a:ext cx="257810" cy="257810"/>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9_07"/>
          <p:cNvSpPr/>
          <p:nvPr/>
        </p:nvSpPr>
        <p:spPr>
          <a:xfrm>
            <a:off x="2426905" y="6940974"/>
            <a:ext cx="257810" cy="257810"/>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8"/>
          <p:cNvSpPr/>
          <p:nvPr/>
        </p:nvSpPr>
        <p:spPr>
          <a:xfrm>
            <a:off x="2839645" y="6940974"/>
            <a:ext cx="257810" cy="257810"/>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9"/>
          <p:cNvSpPr/>
          <p:nvPr/>
        </p:nvSpPr>
        <p:spPr>
          <a:xfrm>
            <a:off x="3252385" y="6940974"/>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10"/>
          <p:cNvSpPr/>
          <p:nvPr/>
        </p:nvSpPr>
        <p:spPr>
          <a:xfrm>
            <a:off x="3665125" y="6940974"/>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11"/>
          <p:cNvSpPr/>
          <p:nvPr/>
        </p:nvSpPr>
        <p:spPr>
          <a:xfrm>
            <a:off x="4077864" y="6940974"/>
            <a:ext cx="257810" cy="257810"/>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2"/>
          <p:cNvSpPr/>
          <p:nvPr/>
        </p:nvSpPr>
        <p:spPr>
          <a:xfrm>
            <a:off x="4490604" y="6940974"/>
            <a:ext cx="257810" cy="257810"/>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3"/>
          <p:cNvSpPr/>
          <p:nvPr/>
        </p:nvSpPr>
        <p:spPr>
          <a:xfrm>
            <a:off x="4903344" y="6940974"/>
            <a:ext cx="257810" cy="257810"/>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20_06"/>
          <p:cNvSpPr/>
          <p:nvPr/>
        </p:nvSpPr>
        <p:spPr>
          <a:xfrm>
            <a:off x="2014166" y="6641195"/>
            <a:ext cx="257810" cy="257810"/>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20_07"/>
          <p:cNvSpPr/>
          <p:nvPr/>
        </p:nvSpPr>
        <p:spPr>
          <a:xfrm>
            <a:off x="2426905" y="6641195"/>
            <a:ext cx="257810" cy="257810"/>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8"/>
          <p:cNvSpPr/>
          <p:nvPr/>
        </p:nvSpPr>
        <p:spPr>
          <a:xfrm>
            <a:off x="2839645" y="6641195"/>
            <a:ext cx="257810" cy="257810"/>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9"/>
          <p:cNvSpPr/>
          <p:nvPr/>
        </p:nvSpPr>
        <p:spPr>
          <a:xfrm>
            <a:off x="3252385" y="6641195"/>
            <a:ext cx="257810" cy="257810"/>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10"/>
          <p:cNvSpPr/>
          <p:nvPr/>
        </p:nvSpPr>
        <p:spPr>
          <a:xfrm>
            <a:off x="3665125" y="6641195"/>
            <a:ext cx="257810" cy="257810"/>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11"/>
          <p:cNvSpPr/>
          <p:nvPr/>
        </p:nvSpPr>
        <p:spPr>
          <a:xfrm>
            <a:off x="4077864" y="6641195"/>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2"/>
          <p:cNvSpPr/>
          <p:nvPr/>
        </p:nvSpPr>
        <p:spPr>
          <a:xfrm>
            <a:off x="4490604" y="6641195"/>
            <a:ext cx="257810" cy="257810"/>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3"/>
          <p:cNvSpPr/>
          <p:nvPr/>
        </p:nvSpPr>
        <p:spPr>
          <a:xfrm>
            <a:off x="4903344" y="6641195"/>
            <a:ext cx="257810" cy="257810"/>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1_05"/>
          <p:cNvSpPr/>
          <p:nvPr/>
        </p:nvSpPr>
        <p:spPr>
          <a:xfrm>
            <a:off x="1601426" y="6341416"/>
            <a:ext cx="257810" cy="257810"/>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1_06"/>
          <p:cNvSpPr/>
          <p:nvPr/>
        </p:nvSpPr>
        <p:spPr>
          <a:xfrm>
            <a:off x="2014166" y="6341416"/>
            <a:ext cx="257810" cy="257810"/>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7"/>
          <p:cNvSpPr/>
          <p:nvPr/>
        </p:nvSpPr>
        <p:spPr>
          <a:xfrm>
            <a:off x="2426905" y="6341416"/>
            <a:ext cx="257810" cy="257810"/>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8"/>
          <p:cNvSpPr/>
          <p:nvPr/>
        </p:nvSpPr>
        <p:spPr>
          <a:xfrm>
            <a:off x="2839645" y="6341416"/>
            <a:ext cx="257810" cy="257810"/>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9"/>
          <p:cNvSpPr/>
          <p:nvPr/>
        </p:nvSpPr>
        <p:spPr>
          <a:xfrm>
            <a:off x="3252385" y="6341416"/>
            <a:ext cx="257810" cy="257810"/>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10"/>
          <p:cNvSpPr/>
          <p:nvPr/>
        </p:nvSpPr>
        <p:spPr>
          <a:xfrm>
            <a:off x="3665125" y="6341416"/>
            <a:ext cx="257810" cy="257810"/>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11"/>
          <p:cNvSpPr/>
          <p:nvPr/>
        </p:nvSpPr>
        <p:spPr>
          <a:xfrm>
            <a:off x="4077864" y="6341416"/>
            <a:ext cx="257810" cy="257810"/>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2"/>
          <p:cNvSpPr/>
          <p:nvPr/>
        </p:nvSpPr>
        <p:spPr>
          <a:xfrm>
            <a:off x="4490604" y="6341416"/>
            <a:ext cx="257810" cy="257810"/>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3"/>
          <p:cNvSpPr/>
          <p:nvPr/>
        </p:nvSpPr>
        <p:spPr>
          <a:xfrm>
            <a:off x="4903344" y="6341416"/>
            <a:ext cx="257810" cy="257810"/>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2_05"/>
          <p:cNvSpPr/>
          <p:nvPr/>
        </p:nvSpPr>
        <p:spPr>
          <a:xfrm>
            <a:off x="1601426" y="6041636"/>
            <a:ext cx="257810" cy="257810"/>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2_06"/>
          <p:cNvSpPr/>
          <p:nvPr/>
        </p:nvSpPr>
        <p:spPr>
          <a:xfrm>
            <a:off x="2014166" y="6041636"/>
            <a:ext cx="257810" cy="257810"/>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7"/>
          <p:cNvSpPr/>
          <p:nvPr/>
        </p:nvSpPr>
        <p:spPr>
          <a:xfrm>
            <a:off x="2426905" y="6041636"/>
            <a:ext cx="257810" cy="257810"/>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8"/>
          <p:cNvSpPr/>
          <p:nvPr/>
        </p:nvSpPr>
        <p:spPr>
          <a:xfrm>
            <a:off x="2839645" y="6041636"/>
            <a:ext cx="257810" cy="257810"/>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9"/>
          <p:cNvSpPr/>
          <p:nvPr/>
        </p:nvSpPr>
        <p:spPr>
          <a:xfrm>
            <a:off x="3252385" y="6041636"/>
            <a:ext cx="257810" cy="257810"/>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10"/>
          <p:cNvSpPr/>
          <p:nvPr/>
        </p:nvSpPr>
        <p:spPr>
          <a:xfrm>
            <a:off x="3665125" y="6041636"/>
            <a:ext cx="257810" cy="257810"/>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11"/>
          <p:cNvSpPr/>
          <p:nvPr/>
        </p:nvSpPr>
        <p:spPr>
          <a:xfrm>
            <a:off x="4077864" y="6041636"/>
            <a:ext cx="257810" cy="257810"/>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2"/>
          <p:cNvSpPr/>
          <p:nvPr/>
        </p:nvSpPr>
        <p:spPr>
          <a:xfrm>
            <a:off x="4490604" y="6041636"/>
            <a:ext cx="257810" cy="257810"/>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3"/>
          <p:cNvSpPr/>
          <p:nvPr/>
        </p:nvSpPr>
        <p:spPr>
          <a:xfrm>
            <a:off x="4903344" y="6041636"/>
            <a:ext cx="257810" cy="257810"/>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3_04"/>
          <p:cNvSpPr/>
          <p:nvPr/>
        </p:nvSpPr>
        <p:spPr>
          <a:xfrm>
            <a:off x="1188686" y="5741857"/>
            <a:ext cx="257810" cy="257810"/>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3_05"/>
          <p:cNvSpPr/>
          <p:nvPr/>
        </p:nvSpPr>
        <p:spPr>
          <a:xfrm>
            <a:off x="1601426" y="5741857"/>
            <a:ext cx="257810" cy="257810"/>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6"/>
          <p:cNvSpPr/>
          <p:nvPr/>
        </p:nvSpPr>
        <p:spPr>
          <a:xfrm>
            <a:off x="2014166" y="5741857"/>
            <a:ext cx="257810" cy="257810"/>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7"/>
          <p:cNvSpPr/>
          <p:nvPr/>
        </p:nvSpPr>
        <p:spPr>
          <a:xfrm>
            <a:off x="2426905" y="5741857"/>
            <a:ext cx="257810" cy="257810"/>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8"/>
          <p:cNvSpPr/>
          <p:nvPr/>
        </p:nvSpPr>
        <p:spPr>
          <a:xfrm>
            <a:off x="2839645" y="5741857"/>
            <a:ext cx="257810" cy="257810"/>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9"/>
          <p:cNvSpPr/>
          <p:nvPr/>
        </p:nvSpPr>
        <p:spPr>
          <a:xfrm>
            <a:off x="3252385" y="5741857"/>
            <a:ext cx="257810" cy="257810"/>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10"/>
          <p:cNvSpPr/>
          <p:nvPr/>
        </p:nvSpPr>
        <p:spPr>
          <a:xfrm>
            <a:off x="3665125" y="5741857"/>
            <a:ext cx="257810" cy="257810"/>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11"/>
          <p:cNvSpPr/>
          <p:nvPr/>
        </p:nvSpPr>
        <p:spPr>
          <a:xfrm>
            <a:off x="4077864" y="5741857"/>
            <a:ext cx="257810" cy="257810"/>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2"/>
          <p:cNvSpPr/>
          <p:nvPr/>
        </p:nvSpPr>
        <p:spPr>
          <a:xfrm>
            <a:off x="4490604" y="5741857"/>
            <a:ext cx="257810" cy="257810"/>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3"/>
          <p:cNvSpPr/>
          <p:nvPr/>
        </p:nvSpPr>
        <p:spPr>
          <a:xfrm>
            <a:off x="4903344" y="5741857"/>
            <a:ext cx="257810" cy="257810"/>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4"/>
          <p:cNvSpPr/>
          <p:nvPr/>
        </p:nvSpPr>
        <p:spPr>
          <a:xfrm>
            <a:off x="5316083" y="5741857"/>
            <a:ext cx="257810" cy="257810"/>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4_04"/>
          <p:cNvSpPr/>
          <p:nvPr/>
        </p:nvSpPr>
        <p:spPr>
          <a:xfrm>
            <a:off x="1188686" y="5442077"/>
            <a:ext cx="257810" cy="257810"/>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4_05"/>
          <p:cNvSpPr/>
          <p:nvPr/>
        </p:nvSpPr>
        <p:spPr>
          <a:xfrm>
            <a:off x="1601426" y="5442077"/>
            <a:ext cx="257810" cy="257810"/>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6"/>
          <p:cNvSpPr/>
          <p:nvPr/>
        </p:nvSpPr>
        <p:spPr>
          <a:xfrm>
            <a:off x="2014166" y="5442077"/>
            <a:ext cx="257810" cy="257810"/>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7"/>
          <p:cNvSpPr/>
          <p:nvPr/>
        </p:nvSpPr>
        <p:spPr>
          <a:xfrm>
            <a:off x="2426905" y="5442077"/>
            <a:ext cx="257810" cy="257810"/>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8"/>
          <p:cNvSpPr/>
          <p:nvPr/>
        </p:nvSpPr>
        <p:spPr>
          <a:xfrm>
            <a:off x="2839645" y="5442077"/>
            <a:ext cx="257810" cy="257810"/>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9"/>
          <p:cNvSpPr/>
          <p:nvPr/>
        </p:nvSpPr>
        <p:spPr>
          <a:xfrm>
            <a:off x="3252385" y="5442077"/>
            <a:ext cx="257810" cy="257810"/>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10"/>
          <p:cNvSpPr/>
          <p:nvPr/>
        </p:nvSpPr>
        <p:spPr>
          <a:xfrm>
            <a:off x="3665125" y="5442077"/>
            <a:ext cx="257810" cy="257810"/>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11"/>
          <p:cNvSpPr/>
          <p:nvPr/>
        </p:nvSpPr>
        <p:spPr>
          <a:xfrm>
            <a:off x="4077864" y="5442077"/>
            <a:ext cx="257810" cy="257810"/>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2"/>
          <p:cNvSpPr/>
          <p:nvPr/>
        </p:nvSpPr>
        <p:spPr>
          <a:xfrm>
            <a:off x="4490604" y="5442077"/>
            <a:ext cx="257810" cy="257810"/>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3"/>
          <p:cNvSpPr/>
          <p:nvPr/>
        </p:nvSpPr>
        <p:spPr>
          <a:xfrm>
            <a:off x="4903344" y="5442077"/>
            <a:ext cx="257810" cy="257810"/>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4"/>
          <p:cNvSpPr/>
          <p:nvPr/>
        </p:nvSpPr>
        <p:spPr>
          <a:xfrm>
            <a:off x="5316083" y="5442077"/>
            <a:ext cx="257810" cy="257810"/>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5_04"/>
          <p:cNvSpPr/>
          <p:nvPr/>
        </p:nvSpPr>
        <p:spPr>
          <a:xfrm>
            <a:off x="1188686" y="5142298"/>
            <a:ext cx="257810" cy="257810"/>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5_05"/>
          <p:cNvSpPr/>
          <p:nvPr/>
        </p:nvSpPr>
        <p:spPr>
          <a:xfrm>
            <a:off x="1601426" y="5142298"/>
            <a:ext cx="257810" cy="257810"/>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6"/>
          <p:cNvSpPr/>
          <p:nvPr/>
        </p:nvSpPr>
        <p:spPr>
          <a:xfrm>
            <a:off x="2014166" y="5142298"/>
            <a:ext cx="257810" cy="257810"/>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7"/>
          <p:cNvSpPr/>
          <p:nvPr/>
        </p:nvSpPr>
        <p:spPr>
          <a:xfrm>
            <a:off x="2426905" y="5142298"/>
            <a:ext cx="257810" cy="257810"/>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8"/>
          <p:cNvSpPr/>
          <p:nvPr/>
        </p:nvSpPr>
        <p:spPr>
          <a:xfrm>
            <a:off x="2839645" y="5142298"/>
            <a:ext cx="257810" cy="257810"/>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9"/>
          <p:cNvSpPr/>
          <p:nvPr/>
        </p:nvSpPr>
        <p:spPr>
          <a:xfrm>
            <a:off x="3252385" y="5142298"/>
            <a:ext cx="257810" cy="257810"/>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10"/>
          <p:cNvSpPr/>
          <p:nvPr/>
        </p:nvSpPr>
        <p:spPr>
          <a:xfrm>
            <a:off x="3665125" y="5142298"/>
            <a:ext cx="257810" cy="257810"/>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11"/>
          <p:cNvSpPr/>
          <p:nvPr/>
        </p:nvSpPr>
        <p:spPr>
          <a:xfrm>
            <a:off x="4077864" y="5142298"/>
            <a:ext cx="257810" cy="257810"/>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2"/>
          <p:cNvSpPr/>
          <p:nvPr/>
        </p:nvSpPr>
        <p:spPr>
          <a:xfrm>
            <a:off x="4490604" y="5142298"/>
            <a:ext cx="257810" cy="257810"/>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3"/>
          <p:cNvSpPr/>
          <p:nvPr/>
        </p:nvSpPr>
        <p:spPr>
          <a:xfrm>
            <a:off x="4903344" y="5142298"/>
            <a:ext cx="257810" cy="257810"/>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4"/>
          <p:cNvSpPr/>
          <p:nvPr/>
        </p:nvSpPr>
        <p:spPr>
          <a:xfrm>
            <a:off x="5316083" y="5142298"/>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6_03"/>
          <p:cNvSpPr/>
          <p:nvPr/>
        </p:nvSpPr>
        <p:spPr>
          <a:xfrm>
            <a:off x="775947" y="4842519"/>
            <a:ext cx="257810" cy="257810"/>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6_04"/>
          <p:cNvSpPr/>
          <p:nvPr/>
        </p:nvSpPr>
        <p:spPr>
          <a:xfrm>
            <a:off x="1188686" y="4842519"/>
            <a:ext cx="257810" cy="257810"/>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5"/>
          <p:cNvSpPr/>
          <p:nvPr/>
        </p:nvSpPr>
        <p:spPr>
          <a:xfrm>
            <a:off x="1601426" y="4842519"/>
            <a:ext cx="257810" cy="257810"/>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6"/>
          <p:cNvSpPr/>
          <p:nvPr/>
        </p:nvSpPr>
        <p:spPr>
          <a:xfrm>
            <a:off x="2014166" y="4842519"/>
            <a:ext cx="257810" cy="257810"/>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7"/>
          <p:cNvSpPr/>
          <p:nvPr/>
        </p:nvSpPr>
        <p:spPr>
          <a:xfrm>
            <a:off x="2426905" y="4842519"/>
            <a:ext cx="257810" cy="257810"/>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8"/>
          <p:cNvSpPr/>
          <p:nvPr/>
        </p:nvSpPr>
        <p:spPr>
          <a:xfrm>
            <a:off x="2839645" y="4842519"/>
            <a:ext cx="257810" cy="257810"/>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9"/>
          <p:cNvSpPr/>
          <p:nvPr/>
        </p:nvSpPr>
        <p:spPr>
          <a:xfrm>
            <a:off x="3252385" y="4842519"/>
            <a:ext cx="257810" cy="257810"/>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10"/>
          <p:cNvSpPr/>
          <p:nvPr/>
        </p:nvSpPr>
        <p:spPr>
          <a:xfrm>
            <a:off x="3665125" y="4842519"/>
            <a:ext cx="257810" cy="257810"/>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11"/>
          <p:cNvSpPr/>
          <p:nvPr/>
        </p:nvSpPr>
        <p:spPr>
          <a:xfrm>
            <a:off x="4077864" y="4842519"/>
            <a:ext cx="257810" cy="257810"/>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2"/>
          <p:cNvSpPr/>
          <p:nvPr/>
        </p:nvSpPr>
        <p:spPr>
          <a:xfrm>
            <a:off x="4490604" y="4842519"/>
            <a:ext cx="257810" cy="257810"/>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3"/>
          <p:cNvSpPr/>
          <p:nvPr/>
        </p:nvSpPr>
        <p:spPr>
          <a:xfrm>
            <a:off x="4903344" y="4842519"/>
            <a:ext cx="257810" cy="257810"/>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4"/>
          <p:cNvSpPr/>
          <p:nvPr/>
        </p:nvSpPr>
        <p:spPr>
          <a:xfrm>
            <a:off x="5316083" y="4842519"/>
            <a:ext cx="257810" cy="257810"/>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7_03"/>
          <p:cNvSpPr/>
          <p:nvPr/>
        </p:nvSpPr>
        <p:spPr>
          <a:xfrm>
            <a:off x="775947" y="4542739"/>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7_04"/>
          <p:cNvSpPr/>
          <p:nvPr/>
        </p:nvSpPr>
        <p:spPr>
          <a:xfrm>
            <a:off x="1188686" y="4542739"/>
            <a:ext cx="257810" cy="257810"/>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5"/>
          <p:cNvSpPr/>
          <p:nvPr/>
        </p:nvSpPr>
        <p:spPr>
          <a:xfrm>
            <a:off x="1601426" y="4542739"/>
            <a:ext cx="257810" cy="257810"/>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6"/>
          <p:cNvSpPr/>
          <p:nvPr/>
        </p:nvSpPr>
        <p:spPr>
          <a:xfrm>
            <a:off x="2014166" y="4542739"/>
            <a:ext cx="257810" cy="257810"/>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7"/>
          <p:cNvSpPr/>
          <p:nvPr/>
        </p:nvSpPr>
        <p:spPr>
          <a:xfrm>
            <a:off x="2426905" y="4542739"/>
            <a:ext cx="257810" cy="257810"/>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8"/>
          <p:cNvSpPr/>
          <p:nvPr/>
        </p:nvSpPr>
        <p:spPr>
          <a:xfrm>
            <a:off x="2839645" y="4542739"/>
            <a:ext cx="257810" cy="257810"/>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9"/>
          <p:cNvSpPr/>
          <p:nvPr/>
        </p:nvSpPr>
        <p:spPr>
          <a:xfrm>
            <a:off x="3252385" y="4542739"/>
            <a:ext cx="257810" cy="257810"/>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10"/>
          <p:cNvSpPr/>
          <p:nvPr/>
        </p:nvSpPr>
        <p:spPr>
          <a:xfrm>
            <a:off x="3665125" y="4542739"/>
            <a:ext cx="257810" cy="257810"/>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11"/>
          <p:cNvSpPr/>
          <p:nvPr/>
        </p:nvSpPr>
        <p:spPr>
          <a:xfrm>
            <a:off x="4077864" y="4542739"/>
            <a:ext cx="257810" cy="257810"/>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2"/>
          <p:cNvSpPr/>
          <p:nvPr/>
        </p:nvSpPr>
        <p:spPr>
          <a:xfrm>
            <a:off x="4490604" y="4542739"/>
            <a:ext cx="257810" cy="257810"/>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3"/>
          <p:cNvSpPr/>
          <p:nvPr/>
        </p:nvSpPr>
        <p:spPr>
          <a:xfrm>
            <a:off x="4903344" y="4542739"/>
            <a:ext cx="257810" cy="257810"/>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4"/>
          <p:cNvSpPr/>
          <p:nvPr/>
        </p:nvSpPr>
        <p:spPr>
          <a:xfrm>
            <a:off x="5316083" y="4542739"/>
            <a:ext cx="257810" cy="257810"/>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8_03"/>
          <p:cNvSpPr/>
          <p:nvPr/>
        </p:nvSpPr>
        <p:spPr>
          <a:xfrm>
            <a:off x="775947" y="4242960"/>
            <a:ext cx="257810" cy="257810"/>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8_04"/>
          <p:cNvSpPr/>
          <p:nvPr/>
        </p:nvSpPr>
        <p:spPr>
          <a:xfrm>
            <a:off x="1188686" y="4242960"/>
            <a:ext cx="257810" cy="257810"/>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5"/>
          <p:cNvSpPr/>
          <p:nvPr/>
        </p:nvSpPr>
        <p:spPr>
          <a:xfrm>
            <a:off x="1601426" y="4242960"/>
            <a:ext cx="257810" cy="257810"/>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6"/>
          <p:cNvSpPr/>
          <p:nvPr/>
        </p:nvSpPr>
        <p:spPr>
          <a:xfrm>
            <a:off x="2014166" y="4242960"/>
            <a:ext cx="257810" cy="257810"/>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7"/>
          <p:cNvSpPr/>
          <p:nvPr/>
        </p:nvSpPr>
        <p:spPr>
          <a:xfrm>
            <a:off x="2426905" y="4242960"/>
            <a:ext cx="257810" cy="257810"/>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8"/>
          <p:cNvSpPr/>
          <p:nvPr/>
        </p:nvSpPr>
        <p:spPr>
          <a:xfrm>
            <a:off x="2839645" y="4242960"/>
            <a:ext cx="257810" cy="257810"/>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9"/>
          <p:cNvSpPr/>
          <p:nvPr/>
        </p:nvSpPr>
        <p:spPr>
          <a:xfrm>
            <a:off x="3252385" y="4242960"/>
            <a:ext cx="257810" cy="257810"/>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10"/>
          <p:cNvSpPr/>
          <p:nvPr/>
        </p:nvSpPr>
        <p:spPr>
          <a:xfrm>
            <a:off x="3665125" y="4242960"/>
            <a:ext cx="257810" cy="257810"/>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11"/>
          <p:cNvSpPr/>
          <p:nvPr/>
        </p:nvSpPr>
        <p:spPr>
          <a:xfrm>
            <a:off x="4077864" y="4242960"/>
            <a:ext cx="257810" cy="257810"/>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2"/>
          <p:cNvSpPr/>
          <p:nvPr/>
        </p:nvSpPr>
        <p:spPr>
          <a:xfrm>
            <a:off x="4490604" y="4242960"/>
            <a:ext cx="257810" cy="257810"/>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3"/>
          <p:cNvSpPr/>
          <p:nvPr/>
        </p:nvSpPr>
        <p:spPr>
          <a:xfrm>
            <a:off x="4903344" y="4242960"/>
            <a:ext cx="257810" cy="257810"/>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4"/>
          <p:cNvSpPr/>
          <p:nvPr/>
        </p:nvSpPr>
        <p:spPr>
          <a:xfrm>
            <a:off x="5316083" y="4242960"/>
            <a:ext cx="257810" cy="257810"/>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9_03"/>
          <p:cNvSpPr/>
          <p:nvPr/>
        </p:nvSpPr>
        <p:spPr>
          <a:xfrm>
            <a:off x="775947" y="3943181"/>
            <a:ext cx="257810" cy="257810"/>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9_04"/>
          <p:cNvSpPr/>
          <p:nvPr/>
        </p:nvSpPr>
        <p:spPr>
          <a:xfrm>
            <a:off x="1188686" y="3943181"/>
            <a:ext cx="257810" cy="257810"/>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5"/>
          <p:cNvSpPr/>
          <p:nvPr/>
        </p:nvSpPr>
        <p:spPr>
          <a:xfrm>
            <a:off x="1601426" y="3943181"/>
            <a:ext cx="257810" cy="257810"/>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6"/>
          <p:cNvSpPr/>
          <p:nvPr/>
        </p:nvSpPr>
        <p:spPr>
          <a:xfrm>
            <a:off x="2014166" y="3943181"/>
            <a:ext cx="257810" cy="257810"/>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7"/>
          <p:cNvSpPr/>
          <p:nvPr/>
        </p:nvSpPr>
        <p:spPr>
          <a:xfrm>
            <a:off x="2426905" y="3943181"/>
            <a:ext cx="257810" cy="257810"/>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8"/>
          <p:cNvSpPr/>
          <p:nvPr/>
        </p:nvSpPr>
        <p:spPr>
          <a:xfrm>
            <a:off x="2839645" y="3943181"/>
            <a:ext cx="257810" cy="257810"/>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9"/>
          <p:cNvSpPr/>
          <p:nvPr/>
        </p:nvSpPr>
        <p:spPr>
          <a:xfrm>
            <a:off x="3252385" y="3943181"/>
            <a:ext cx="257810" cy="257810"/>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10"/>
          <p:cNvSpPr/>
          <p:nvPr/>
        </p:nvSpPr>
        <p:spPr>
          <a:xfrm>
            <a:off x="3665125" y="3943181"/>
            <a:ext cx="257810" cy="257810"/>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11"/>
          <p:cNvSpPr/>
          <p:nvPr/>
        </p:nvSpPr>
        <p:spPr>
          <a:xfrm>
            <a:off x="4077864" y="3943181"/>
            <a:ext cx="257810" cy="257810"/>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2"/>
          <p:cNvSpPr/>
          <p:nvPr/>
        </p:nvSpPr>
        <p:spPr>
          <a:xfrm>
            <a:off x="4490604" y="3943181"/>
            <a:ext cx="257810" cy="257810"/>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3"/>
          <p:cNvSpPr/>
          <p:nvPr/>
        </p:nvSpPr>
        <p:spPr>
          <a:xfrm>
            <a:off x="4903344" y="3943181"/>
            <a:ext cx="257810" cy="257810"/>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30_03"/>
          <p:cNvSpPr/>
          <p:nvPr/>
        </p:nvSpPr>
        <p:spPr>
          <a:xfrm>
            <a:off x="775947" y="3643401"/>
            <a:ext cx="257810" cy="257810"/>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30_04"/>
          <p:cNvSpPr/>
          <p:nvPr/>
        </p:nvSpPr>
        <p:spPr>
          <a:xfrm>
            <a:off x="1188686" y="3643401"/>
            <a:ext cx="257810" cy="257810"/>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5"/>
          <p:cNvSpPr/>
          <p:nvPr/>
        </p:nvSpPr>
        <p:spPr>
          <a:xfrm>
            <a:off x="1601426" y="3643401"/>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6"/>
          <p:cNvSpPr/>
          <p:nvPr/>
        </p:nvSpPr>
        <p:spPr>
          <a:xfrm>
            <a:off x="2014166" y="3643401"/>
            <a:ext cx="257810" cy="257810"/>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7"/>
          <p:cNvSpPr/>
          <p:nvPr/>
        </p:nvSpPr>
        <p:spPr>
          <a:xfrm>
            <a:off x="2426905" y="3643401"/>
            <a:ext cx="257810" cy="257810"/>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8"/>
          <p:cNvSpPr/>
          <p:nvPr/>
        </p:nvSpPr>
        <p:spPr>
          <a:xfrm>
            <a:off x="2839645" y="3643401"/>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9"/>
          <p:cNvSpPr/>
          <p:nvPr/>
        </p:nvSpPr>
        <p:spPr>
          <a:xfrm>
            <a:off x="3252385" y="3643401"/>
            <a:ext cx="257810" cy="257810"/>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10"/>
          <p:cNvSpPr/>
          <p:nvPr/>
        </p:nvSpPr>
        <p:spPr>
          <a:xfrm>
            <a:off x="3665125" y="3643401"/>
            <a:ext cx="257810" cy="257810"/>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11"/>
          <p:cNvSpPr/>
          <p:nvPr/>
        </p:nvSpPr>
        <p:spPr>
          <a:xfrm>
            <a:off x="4077864" y="3643401"/>
            <a:ext cx="257810" cy="257810"/>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2"/>
          <p:cNvSpPr/>
          <p:nvPr/>
        </p:nvSpPr>
        <p:spPr>
          <a:xfrm>
            <a:off x="4490604" y="3643401"/>
            <a:ext cx="257810" cy="257810"/>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3"/>
          <p:cNvSpPr/>
          <p:nvPr/>
        </p:nvSpPr>
        <p:spPr>
          <a:xfrm>
            <a:off x="4903344" y="3643401"/>
            <a:ext cx="257810" cy="257810"/>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1_03"/>
          <p:cNvSpPr/>
          <p:nvPr/>
        </p:nvSpPr>
        <p:spPr>
          <a:xfrm>
            <a:off x="775947" y="3343622"/>
            <a:ext cx="257810" cy="257810"/>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1_04"/>
          <p:cNvSpPr/>
          <p:nvPr/>
        </p:nvSpPr>
        <p:spPr>
          <a:xfrm>
            <a:off x="1188686" y="3343622"/>
            <a:ext cx="257810" cy="257810"/>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5"/>
          <p:cNvSpPr/>
          <p:nvPr/>
        </p:nvSpPr>
        <p:spPr>
          <a:xfrm>
            <a:off x="1601426" y="3343622"/>
            <a:ext cx="257810" cy="257810"/>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6"/>
          <p:cNvSpPr/>
          <p:nvPr/>
        </p:nvSpPr>
        <p:spPr>
          <a:xfrm>
            <a:off x="2014166" y="3343622"/>
            <a:ext cx="257810" cy="257810"/>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7"/>
          <p:cNvSpPr/>
          <p:nvPr/>
        </p:nvSpPr>
        <p:spPr>
          <a:xfrm>
            <a:off x="2426905" y="3343622"/>
            <a:ext cx="257810" cy="257810"/>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8"/>
          <p:cNvSpPr/>
          <p:nvPr/>
        </p:nvSpPr>
        <p:spPr>
          <a:xfrm>
            <a:off x="2839645" y="3343622"/>
            <a:ext cx="257810" cy="257810"/>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9"/>
          <p:cNvSpPr/>
          <p:nvPr/>
        </p:nvSpPr>
        <p:spPr>
          <a:xfrm>
            <a:off x="3252385" y="3343622"/>
            <a:ext cx="257810" cy="257810"/>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10"/>
          <p:cNvSpPr/>
          <p:nvPr/>
        </p:nvSpPr>
        <p:spPr>
          <a:xfrm>
            <a:off x="3665125" y="3343622"/>
            <a:ext cx="257810" cy="257810"/>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11"/>
          <p:cNvSpPr/>
          <p:nvPr/>
        </p:nvSpPr>
        <p:spPr>
          <a:xfrm>
            <a:off x="4077864" y="3343622"/>
            <a:ext cx="257810" cy="257810"/>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2"/>
          <p:cNvSpPr/>
          <p:nvPr/>
        </p:nvSpPr>
        <p:spPr>
          <a:xfrm>
            <a:off x="4490604" y="3343622"/>
            <a:ext cx="257810" cy="257810"/>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3"/>
          <p:cNvSpPr/>
          <p:nvPr/>
        </p:nvSpPr>
        <p:spPr>
          <a:xfrm>
            <a:off x="4903344" y="3343622"/>
            <a:ext cx="257810" cy="257810"/>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2_03"/>
          <p:cNvSpPr/>
          <p:nvPr/>
        </p:nvSpPr>
        <p:spPr>
          <a:xfrm>
            <a:off x="775947" y="3043843"/>
            <a:ext cx="257810" cy="257810"/>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2_04"/>
          <p:cNvSpPr/>
          <p:nvPr/>
        </p:nvSpPr>
        <p:spPr>
          <a:xfrm>
            <a:off x="1188686" y="3043843"/>
            <a:ext cx="257810" cy="257810"/>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5"/>
          <p:cNvSpPr/>
          <p:nvPr/>
        </p:nvSpPr>
        <p:spPr>
          <a:xfrm>
            <a:off x="1601426" y="3043843"/>
            <a:ext cx="257810" cy="257810"/>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6"/>
          <p:cNvSpPr/>
          <p:nvPr/>
        </p:nvSpPr>
        <p:spPr>
          <a:xfrm>
            <a:off x="2014166" y="3043843"/>
            <a:ext cx="257810" cy="257810"/>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7"/>
          <p:cNvSpPr/>
          <p:nvPr/>
        </p:nvSpPr>
        <p:spPr>
          <a:xfrm>
            <a:off x="2426905" y="3043843"/>
            <a:ext cx="257810" cy="257810"/>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8"/>
          <p:cNvSpPr/>
          <p:nvPr/>
        </p:nvSpPr>
        <p:spPr>
          <a:xfrm>
            <a:off x="2839645" y="3043843"/>
            <a:ext cx="257810" cy="257810"/>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9"/>
          <p:cNvSpPr/>
          <p:nvPr/>
        </p:nvSpPr>
        <p:spPr>
          <a:xfrm>
            <a:off x="3252385" y="3043843"/>
            <a:ext cx="257810" cy="257810"/>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10"/>
          <p:cNvSpPr/>
          <p:nvPr/>
        </p:nvSpPr>
        <p:spPr>
          <a:xfrm>
            <a:off x="3665125" y="3043843"/>
            <a:ext cx="257810" cy="257810"/>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11"/>
          <p:cNvSpPr/>
          <p:nvPr/>
        </p:nvSpPr>
        <p:spPr>
          <a:xfrm>
            <a:off x="4077864" y="3043843"/>
            <a:ext cx="257810" cy="257810"/>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2"/>
          <p:cNvSpPr/>
          <p:nvPr/>
        </p:nvSpPr>
        <p:spPr>
          <a:xfrm>
            <a:off x="4490604" y="3043843"/>
            <a:ext cx="257810" cy="257810"/>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3_03"/>
          <p:cNvSpPr/>
          <p:nvPr/>
        </p:nvSpPr>
        <p:spPr>
          <a:xfrm>
            <a:off x="775947" y="2744063"/>
            <a:ext cx="257810" cy="257810"/>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3_04"/>
          <p:cNvSpPr/>
          <p:nvPr/>
        </p:nvSpPr>
        <p:spPr>
          <a:xfrm>
            <a:off x="1188686" y="2744063"/>
            <a:ext cx="257810" cy="257810"/>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5"/>
          <p:cNvSpPr/>
          <p:nvPr/>
        </p:nvSpPr>
        <p:spPr>
          <a:xfrm>
            <a:off x="1601426" y="2744063"/>
            <a:ext cx="257810" cy="257810"/>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6"/>
          <p:cNvSpPr/>
          <p:nvPr/>
        </p:nvSpPr>
        <p:spPr>
          <a:xfrm>
            <a:off x="2014166" y="2744063"/>
            <a:ext cx="257810" cy="257810"/>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7"/>
          <p:cNvSpPr/>
          <p:nvPr/>
        </p:nvSpPr>
        <p:spPr>
          <a:xfrm>
            <a:off x="2426905" y="2744063"/>
            <a:ext cx="257810" cy="257810"/>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8"/>
          <p:cNvSpPr/>
          <p:nvPr/>
        </p:nvSpPr>
        <p:spPr>
          <a:xfrm>
            <a:off x="2839645" y="2744063"/>
            <a:ext cx="257810" cy="257810"/>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9"/>
          <p:cNvSpPr/>
          <p:nvPr/>
        </p:nvSpPr>
        <p:spPr>
          <a:xfrm>
            <a:off x="3252385" y="2744063"/>
            <a:ext cx="257810" cy="257810"/>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10"/>
          <p:cNvSpPr/>
          <p:nvPr/>
        </p:nvSpPr>
        <p:spPr>
          <a:xfrm>
            <a:off x="3665125" y="2744063"/>
            <a:ext cx="257810" cy="257810"/>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11"/>
          <p:cNvSpPr/>
          <p:nvPr/>
        </p:nvSpPr>
        <p:spPr>
          <a:xfrm>
            <a:off x="4077864" y="2744063"/>
            <a:ext cx="257810" cy="257810"/>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2"/>
          <p:cNvSpPr/>
          <p:nvPr/>
        </p:nvSpPr>
        <p:spPr>
          <a:xfrm>
            <a:off x="4490604" y="2744063"/>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4_03"/>
          <p:cNvSpPr/>
          <p:nvPr/>
        </p:nvSpPr>
        <p:spPr>
          <a:xfrm>
            <a:off x="775947" y="2444284"/>
            <a:ext cx="257810" cy="257810"/>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4_04"/>
          <p:cNvSpPr/>
          <p:nvPr/>
        </p:nvSpPr>
        <p:spPr>
          <a:xfrm>
            <a:off x="1188686" y="2444284"/>
            <a:ext cx="257810" cy="257810"/>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5"/>
          <p:cNvSpPr/>
          <p:nvPr/>
        </p:nvSpPr>
        <p:spPr>
          <a:xfrm>
            <a:off x="1601426" y="2444284"/>
            <a:ext cx="257810" cy="257810"/>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6"/>
          <p:cNvSpPr/>
          <p:nvPr/>
        </p:nvSpPr>
        <p:spPr>
          <a:xfrm>
            <a:off x="2014166" y="2444284"/>
            <a:ext cx="257810" cy="257810"/>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7"/>
          <p:cNvSpPr/>
          <p:nvPr/>
        </p:nvSpPr>
        <p:spPr>
          <a:xfrm>
            <a:off x="2426905" y="2444284"/>
            <a:ext cx="257810" cy="257810"/>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8"/>
          <p:cNvSpPr/>
          <p:nvPr/>
        </p:nvSpPr>
        <p:spPr>
          <a:xfrm>
            <a:off x="2839645" y="2444284"/>
            <a:ext cx="257810" cy="257810"/>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9"/>
          <p:cNvSpPr/>
          <p:nvPr/>
        </p:nvSpPr>
        <p:spPr>
          <a:xfrm>
            <a:off x="3252385" y="2444284"/>
            <a:ext cx="257810" cy="257810"/>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10"/>
          <p:cNvSpPr/>
          <p:nvPr/>
        </p:nvSpPr>
        <p:spPr>
          <a:xfrm>
            <a:off x="3665125" y="2444284"/>
            <a:ext cx="257810" cy="257810"/>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11"/>
          <p:cNvSpPr/>
          <p:nvPr/>
        </p:nvSpPr>
        <p:spPr>
          <a:xfrm>
            <a:off x="4077864" y="2444284"/>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5_04"/>
          <p:cNvSpPr/>
          <p:nvPr/>
        </p:nvSpPr>
        <p:spPr>
          <a:xfrm>
            <a:off x="1188686" y="2144505"/>
            <a:ext cx="257810" cy="257810"/>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5_05"/>
          <p:cNvSpPr/>
          <p:nvPr/>
        </p:nvSpPr>
        <p:spPr>
          <a:xfrm>
            <a:off x="1601426" y="2144505"/>
            <a:ext cx="257810" cy="257810"/>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6"/>
          <p:cNvSpPr/>
          <p:nvPr/>
        </p:nvSpPr>
        <p:spPr>
          <a:xfrm>
            <a:off x="2014166" y="2144505"/>
            <a:ext cx="257810" cy="257810"/>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7"/>
          <p:cNvSpPr/>
          <p:nvPr/>
        </p:nvSpPr>
        <p:spPr>
          <a:xfrm>
            <a:off x="2426905" y="2144505"/>
            <a:ext cx="257810" cy="257810"/>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8"/>
          <p:cNvSpPr/>
          <p:nvPr/>
        </p:nvSpPr>
        <p:spPr>
          <a:xfrm>
            <a:off x="2839645" y="2144505"/>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9"/>
          <p:cNvSpPr/>
          <p:nvPr/>
        </p:nvSpPr>
        <p:spPr>
          <a:xfrm>
            <a:off x="3252385" y="2144505"/>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10"/>
          <p:cNvSpPr/>
          <p:nvPr/>
        </p:nvSpPr>
        <p:spPr>
          <a:xfrm>
            <a:off x="3665125" y="2144505"/>
            <a:ext cx="257810" cy="257810"/>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11"/>
          <p:cNvSpPr/>
          <p:nvPr/>
        </p:nvSpPr>
        <p:spPr>
          <a:xfrm>
            <a:off x="4077864" y="2144505"/>
            <a:ext cx="257810" cy="257810"/>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6_04"/>
          <p:cNvSpPr/>
          <p:nvPr/>
        </p:nvSpPr>
        <p:spPr>
          <a:xfrm>
            <a:off x="1188686" y="1844725"/>
            <a:ext cx="257810" cy="257810"/>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6_05"/>
          <p:cNvSpPr/>
          <p:nvPr/>
        </p:nvSpPr>
        <p:spPr>
          <a:xfrm>
            <a:off x="1601426" y="1844725"/>
            <a:ext cx="257810" cy="257810"/>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6"/>
          <p:cNvSpPr/>
          <p:nvPr/>
        </p:nvSpPr>
        <p:spPr>
          <a:xfrm>
            <a:off x="2014166" y="1844725"/>
            <a:ext cx="257810" cy="257810"/>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7"/>
          <p:cNvSpPr/>
          <p:nvPr/>
        </p:nvSpPr>
        <p:spPr>
          <a:xfrm>
            <a:off x="2426905" y="1844725"/>
            <a:ext cx="257810" cy="257810"/>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8"/>
          <p:cNvSpPr/>
          <p:nvPr/>
        </p:nvSpPr>
        <p:spPr>
          <a:xfrm>
            <a:off x="2839645" y="1844725"/>
            <a:ext cx="257810" cy="257810"/>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9"/>
          <p:cNvSpPr/>
          <p:nvPr/>
        </p:nvSpPr>
        <p:spPr>
          <a:xfrm>
            <a:off x="3252385" y="1844725"/>
            <a:ext cx="257810" cy="257810"/>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10"/>
          <p:cNvSpPr/>
          <p:nvPr/>
        </p:nvSpPr>
        <p:spPr>
          <a:xfrm>
            <a:off x="3665125" y="1844725"/>
            <a:ext cx="257810" cy="257810"/>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7_04"/>
          <p:cNvSpPr/>
          <p:nvPr/>
        </p:nvSpPr>
        <p:spPr>
          <a:xfrm>
            <a:off x="1188686" y="1544946"/>
            <a:ext cx="257810" cy="257810"/>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7_05"/>
          <p:cNvSpPr/>
          <p:nvPr/>
        </p:nvSpPr>
        <p:spPr>
          <a:xfrm>
            <a:off x="1601426" y="1544946"/>
            <a:ext cx="257810" cy="257810"/>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6"/>
          <p:cNvSpPr/>
          <p:nvPr/>
        </p:nvSpPr>
        <p:spPr>
          <a:xfrm>
            <a:off x="2014166" y="1544946"/>
            <a:ext cx="257810" cy="257810"/>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7"/>
          <p:cNvSpPr/>
          <p:nvPr/>
        </p:nvSpPr>
        <p:spPr>
          <a:xfrm>
            <a:off x="2426905" y="1544946"/>
            <a:ext cx="257810" cy="257810"/>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8"/>
          <p:cNvSpPr/>
          <p:nvPr/>
        </p:nvSpPr>
        <p:spPr>
          <a:xfrm>
            <a:off x="2839645" y="1544946"/>
            <a:ext cx="257810" cy="257810"/>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9"/>
          <p:cNvSpPr/>
          <p:nvPr/>
        </p:nvSpPr>
        <p:spPr>
          <a:xfrm>
            <a:off x="3252385" y="1544946"/>
            <a:ext cx="257810" cy="257810"/>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INZOOMEN OP DE VOORVOET</a:t>
            </a:r>
          </a:p>
        </p:txBody>
      </p:sp>
      <p:sp>
        <p:nvSpPr>
          <p:cNvPr id="328"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Acht regio's, drie doelregio's</a:t>
            </a:r>
          </a:p>
        </p:txBody>
      </p:sp>
      <p:sp>
        <p:nvSpPr>
          <p:cNvPr id="329" name="Oval 328"/>
          <p:cNvSpPr/>
          <p:nvPr/>
        </p:nvSpPr>
        <p:spPr>
          <a:xfrm>
            <a:off x="1549361" y="5029582"/>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1549361" y="5029582"/>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1</a:t>
            </a:r>
          </a:p>
        </p:txBody>
      </p:sp>
      <p:sp>
        <p:nvSpPr>
          <p:cNvPr id="331" name="Rectangle 330"/>
          <p:cNvSpPr/>
          <p:nvPr/>
        </p:nvSpPr>
        <p:spPr>
          <a:xfrm>
            <a:off x="6349841" y="1904952"/>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6349841" y="2070048"/>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349841" y="2070048"/>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1</a:t>
            </a:r>
          </a:p>
        </p:txBody>
      </p:sp>
      <p:sp>
        <p:nvSpPr>
          <p:cNvPr id="334" name="TextBox 333"/>
          <p:cNvSpPr txBox="1"/>
          <p:nvPr/>
        </p:nvSpPr>
        <p:spPr>
          <a:xfrm>
            <a:off x="6756231" y="2044648"/>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Metatarsaal 1</a:t>
            </a:r>
          </a:p>
        </p:txBody>
      </p:sp>
      <p:sp>
        <p:nvSpPr>
          <p:cNvPr id="335" name="TextBox 334"/>
          <p:cNvSpPr txBox="1"/>
          <p:nvPr/>
        </p:nvSpPr>
        <p:spPr>
          <a:xfrm>
            <a:off x="6768930" y="2311342"/>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onder de grote teen — tweede meest getroffen plek</a:t>
            </a:r>
          </a:p>
        </p:txBody>
      </p:sp>
      <p:sp>
        <p:nvSpPr>
          <p:cNvPr id="336" name="Oval 335"/>
          <p:cNvSpPr/>
          <p:nvPr/>
        </p:nvSpPr>
        <p:spPr>
          <a:xfrm>
            <a:off x="2589465" y="5257414"/>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2589465" y="5257414"/>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2</a:t>
            </a:r>
          </a:p>
        </p:txBody>
      </p:sp>
      <p:sp>
        <p:nvSpPr>
          <p:cNvPr id="338" name="Rectangle 337"/>
          <p:cNvSpPr/>
          <p:nvPr/>
        </p:nvSpPr>
        <p:spPr>
          <a:xfrm>
            <a:off x="6349841" y="2641533"/>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6349841" y="2806629"/>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6349841" y="2806629"/>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2</a:t>
            </a:r>
          </a:p>
        </p:txBody>
      </p:sp>
      <p:sp>
        <p:nvSpPr>
          <p:cNvPr id="341" name="TextBox 340"/>
          <p:cNvSpPr txBox="1"/>
          <p:nvPr/>
        </p:nvSpPr>
        <p:spPr>
          <a:xfrm>
            <a:off x="6756231" y="2781230"/>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Metatarsaal 2-3</a:t>
            </a:r>
          </a:p>
        </p:txBody>
      </p:sp>
      <p:sp>
        <p:nvSpPr>
          <p:cNvPr id="342" name="TextBox 341"/>
          <p:cNvSpPr txBox="1"/>
          <p:nvPr/>
        </p:nvSpPr>
        <p:spPr>
          <a:xfrm>
            <a:off x="6768930" y="3047923"/>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de hete plek op deze meting, en de klassieke ulcusplek</a:t>
            </a:r>
          </a:p>
        </p:txBody>
      </p:sp>
      <p:sp>
        <p:nvSpPr>
          <p:cNvPr id="343" name="Oval 342"/>
          <p:cNvSpPr/>
          <p:nvPr/>
        </p:nvSpPr>
        <p:spPr>
          <a:xfrm>
            <a:off x="4521086" y="5599163"/>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extBox 343"/>
          <p:cNvSpPr txBox="1"/>
          <p:nvPr/>
        </p:nvSpPr>
        <p:spPr>
          <a:xfrm>
            <a:off x="4521086" y="5599163"/>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3</a:t>
            </a:r>
          </a:p>
        </p:txBody>
      </p:sp>
      <p:sp>
        <p:nvSpPr>
          <p:cNvPr id="345" name="Rectangle 344"/>
          <p:cNvSpPr/>
          <p:nvPr/>
        </p:nvSpPr>
        <p:spPr>
          <a:xfrm>
            <a:off x="6349841" y="3378115"/>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6349841" y="3543211"/>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6349841" y="3543211"/>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3</a:t>
            </a:r>
          </a:p>
        </p:txBody>
      </p:sp>
      <p:sp>
        <p:nvSpPr>
          <p:cNvPr id="348" name="TextBox 347"/>
          <p:cNvSpPr txBox="1"/>
          <p:nvPr/>
        </p:nvSpPr>
        <p:spPr>
          <a:xfrm>
            <a:off x="6756231" y="3517812"/>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Metatarsaal 4-5</a:t>
            </a:r>
          </a:p>
        </p:txBody>
      </p:sp>
      <p:sp>
        <p:nvSpPr>
          <p:cNvPr id="349" name="TextBox 348"/>
          <p:cNvSpPr txBox="1"/>
          <p:nvPr/>
        </p:nvSpPr>
        <p:spPr>
          <a:xfrm>
            <a:off x="6768930" y="3784505"/>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laterale voorvoet, meestal lagere druk</a:t>
            </a:r>
          </a:p>
        </p:txBody>
      </p:sp>
      <p:sp>
        <p:nvSpPr>
          <p:cNvPr id="350" name="Oval 349"/>
          <p:cNvSpPr/>
          <p:nvPr/>
        </p:nvSpPr>
        <p:spPr>
          <a:xfrm>
            <a:off x="1400774" y="2409510"/>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1400774" y="2409510"/>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4</a:t>
            </a:r>
          </a:p>
        </p:txBody>
      </p:sp>
      <p:sp>
        <p:nvSpPr>
          <p:cNvPr id="352" name="Rectangle 351"/>
          <p:cNvSpPr/>
          <p:nvPr/>
        </p:nvSpPr>
        <p:spPr>
          <a:xfrm>
            <a:off x="6349841" y="4114697"/>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6349841" y="4279793"/>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TextBox 353"/>
          <p:cNvSpPr txBox="1"/>
          <p:nvPr/>
        </p:nvSpPr>
        <p:spPr>
          <a:xfrm>
            <a:off x="6349841" y="4279793"/>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4</a:t>
            </a:r>
          </a:p>
        </p:txBody>
      </p:sp>
      <p:sp>
        <p:nvSpPr>
          <p:cNvPr id="355" name="TextBox 354"/>
          <p:cNvSpPr txBox="1"/>
          <p:nvPr/>
        </p:nvSpPr>
        <p:spPr>
          <a:xfrm>
            <a:off x="6756231" y="4254393"/>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Hallux</a:t>
            </a:r>
          </a:p>
        </p:txBody>
      </p:sp>
      <p:sp>
        <p:nvSpPr>
          <p:cNvPr id="356" name="TextBox 355"/>
          <p:cNvSpPr txBox="1"/>
          <p:nvPr/>
        </p:nvSpPr>
        <p:spPr>
          <a:xfrm>
            <a:off x="6768930" y="4521086"/>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apart bekeken, niet meer samengeteld met de tenen</a:t>
            </a:r>
          </a:p>
        </p:txBody>
      </p:sp>
      <p:sp>
        <p:nvSpPr>
          <p:cNvPr id="357" name="Oval 356"/>
          <p:cNvSpPr/>
          <p:nvPr/>
        </p:nvSpPr>
        <p:spPr>
          <a:xfrm>
            <a:off x="3406689" y="2523426"/>
            <a:ext cx="279393" cy="279393"/>
          </a:xfrm>
          <a:prstGeom prst="ellipse">
            <a:avLst/>
          </a:prstGeom>
          <a:solidFill>
            <a:srgbClr val="0418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3406689" y="2523426"/>
            <a:ext cx="279393" cy="279393"/>
          </a:xfrm>
          <a:prstGeom prst="rect">
            <a:avLst/>
          </a:prstGeom>
          <a:noFill/>
        </p:spPr>
        <p:txBody>
          <a:bodyPr wrap="square" anchor="ctr" lIns="0" rIns="0" tIns="0" bIns="0">
            <a:spAutoFit/>
          </a:bodyPr>
          <a:lstStyle/>
          <a:p>
            <a:pPr algn="ctr">
              <a:lnSpc>
                <a:spcPct val="100000"/>
              </a:lnSpc>
            </a:pPr>
            <a:r>
              <a:rPr sz="1500" b="1">
                <a:solidFill>
                  <a:srgbClr val="FFFFFF"/>
                </a:solidFill>
                <a:latin typeface="Consolas"/>
              </a:rPr>
              <a:t>5</a:t>
            </a:r>
          </a:p>
        </p:txBody>
      </p:sp>
      <p:sp>
        <p:nvSpPr>
          <p:cNvPr id="359" name="Rectangle 358"/>
          <p:cNvSpPr/>
          <p:nvPr/>
        </p:nvSpPr>
        <p:spPr>
          <a:xfrm>
            <a:off x="6349841" y="4851278"/>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6349841" y="5016374"/>
            <a:ext cx="253993" cy="253993"/>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TextBox 360"/>
          <p:cNvSpPr txBox="1"/>
          <p:nvPr/>
        </p:nvSpPr>
        <p:spPr>
          <a:xfrm>
            <a:off x="6349841" y="5016374"/>
            <a:ext cx="253993" cy="253993"/>
          </a:xfrm>
          <a:prstGeom prst="rect">
            <a:avLst/>
          </a:prstGeom>
          <a:noFill/>
        </p:spPr>
        <p:txBody>
          <a:bodyPr wrap="square" anchor="ctr" lIns="0" rIns="0" tIns="0" bIns="0">
            <a:spAutoFit/>
          </a:bodyPr>
          <a:lstStyle/>
          <a:p>
            <a:pPr algn="ctr">
              <a:lnSpc>
                <a:spcPct val="100000"/>
              </a:lnSpc>
            </a:pPr>
            <a:r>
              <a:rPr sz="1500" b="1">
                <a:solidFill>
                  <a:srgbClr val="52BDEC"/>
                </a:solidFill>
                <a:latin typeface="Consolas"/>
              </a:rPr>
              <a:t>5</a:t>
            </a:r>
          </a:p>
        </p:txBody>
      </p:sp>
      <p:sp>
        <p:nvSpPr>
          <p:cNvPr id="362" name="TextBox 361"/>
          <p:cNvSpPr txBox="1"/>
          <p:nvPr/>
        </p:nvSpPr>
        <p:spPr>
          <a:xfrm>
            <a:off x="6756231" y="4990975"/>
            <a:ext cx="4825879" cy="279393"/>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Tenen 2-5</a:t>
            </a:r>
          </a:p>
        </p:txBody>
      </p:sp>
      <p:sp>
        <p:nvSpPr>
          <p:cNvPr id="363" name="TextBox 362"/>
          <p:cNvSpPr txBox="1"/>
          <p:nvPr/>
        </p:nvSpPr>
        <p:spPr>
          <a:xfrm>
            <a:off x="6768930" y="5257668"/>
            <a:ext cx="4825879" cy="253993"/>
          </a:xfrm>
          <a:prstGeom prst="rect">
            <a:avLst/>
          </a:prstGeom>
          <a:noFill/>
        </p:spPr>
        <p:txBody>
          <a:bodyPr wrap="square" anchor="t" lIns="0" rIns="0" tIns="0" bIns="0">
            <a:spAutoFit/>
          </a:bodyPr>
          <a:lstStyle/>
          <a:p>
            <a:pPr algn="l">
              <a:lnSpc>
                <a:spcPct val="125000"/>
              </a:lnSpc>
            </a:pPr>
            <a:r>
              <a:rPr sz="1450" b="0">
                <a:solidFill>
                  <a:srgbClr val="8FB6D0"/>
                </a:solidFill>
                <a:latin typeface="Segoe UI"/>
              </a:rPr>
              <a:t>eigen regio sinds de laatste maskerversie</a:t>
            </a:r>
          </a:p>
        </p:txBody>
      </p:sp>
      <p:sp>
        <p:nvSpPr>
          <p:cNvPr id="364" name="TextBox 363"/>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Acht regio's via Multimask · hiel en mediale en laterale middenvoet vallen buiten beeld</a:t>
            </a:r>
          </a:p>
        </p:txBody>
      </p:sp>
      <p:sp>
        <p:nvSpPr>
          <p:cNvPr id="365" name="TextBox 364"/>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14 / 71</a:t>
            </a:r>
          </a:p>
        </p:txBody>
      </p:sp>
      <p:pic>
        <p:nvPicPr>
          <p:cNvPr id="366"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67" name="TextBox 366"/>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NA OPTIMALISATIE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Wanneer is het goed genoeg</a:t>
            </a:r>
          </a:p>
        </p:txBody>
      </p:sp>
      <p:sp>
        <p:nvSpPr>
          <p:cNvPr id="5" name="!!p00_07"/>
          <p:cNvSpPr/>
          <p:nvPr/>
        </p:nvSpPr>
        <p:spPr>
          <a:xfrm>
            <a:off x="1585505" y="5645727"/>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32A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5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38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39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279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37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3A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6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C8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97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F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7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2B9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9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76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309E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A7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6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26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2A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34A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2B9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30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44B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38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4DB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1C88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4CB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4CB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1E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43A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40A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2C9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7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B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82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C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82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52BDEC"/>
                </a:solidFill>
                <a:latin typeface="Segoe UI"/>
              </a:rPr>
              <a:t>186</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52BDEC"/>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in de doelregio na aanpassing</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40% lager  ·  onder 200 kPa  ·  beide criteria gehaald</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De norm geldt per doelregio: piekdruk onder 200 kPa óf minstens 25% lager dan de baselinemeting van diezelfde regio.</a:t>
            </a:r>
          </a:p>
          <a:p>
            <a:pPr algn="l">
              <a:lnSpc>
                <a:spcPct val="135000"/>
              </a:lnSpc>
              <a:spcBef>
                <a:spcPts val="1200"/>
              </a:spcBef>
            </a:pPr>
            <a:r>
              <a:rPr sz="1700" b="0">
                <a:solidFill>
                  <a:srgbClr val="8FB6D0"/>
                </a:solidFill>
                <a:latin typeface="Segoe UI"/>
              </a:rPr>
              <a:t>Haalt u de norm niet, dan past u aan en meet u opnieuw. Het formulier voorziet twee extra ontlastingstests.</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24 · Meting drukherverdeling voetorthese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15 / 71</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7828"/>
          </a:xfrm>
          <a:prstGeom prst="rect">
            <a:avLst/>
          </a:prstGeom>
          <a:gradFill rotWithShape="1">
            <a:gsLst>
              <a:gs pos="0">
                <a:srgbClr val="FF7A00"/>
              </a:gs>
              <a:gs pos="100000">
                <a:srgbClr val="FF7A00"/>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04182A"/>
                </a:solidFill>
                <a:latin typeface="Segoe UI"/>
              </a:rPr>
              <a:t>Niet minder belasting.</a:t>
            </a:r>
          </a:p>
          <a:p>
            <a:pPr algn="l">
              <a:lnSpc>
                <a:spcPct val="106000"/>
              </a:lnSpc>
              <a:spcBef>
                <a:spcPts val="500"/>
              </a:spcBef>
            </a:pPr>
            <a:r>
              <a:rPr sz="7200" b="1">
                <a:solidFill>
                  <a:srgbClr val="04182A"/>
                </a:solidFill>
                <a:latin typeface="Segoe UI"/>
              </a:rPr>
              <a:t>Belasting op een plek die het aankan.</a:t>
            </a:r>
          </a:p>
        </p:txBody>
      </p:sp>
      <p:sp>
        <p:nvSpPr>
          <p:cNvPr id="5" name="TextBox 4"/>
          <p:cNvSpPr txBox="1"/>
          <p:nvPr/>
        </p:nvSpPr>
        <p:spPr>
          <a:xfrm>
            <a:off x="977875" y="6006949"/>
            <a:ext cx="9524761" cy="279393"/>
          </a:xfrm>
          <a:prstGeom prst="rect">
            <a:avLst/>
          </a:prstGeom>
          <a:noFill/>
        </p:spPr>
        <p:txBody>
          <a:bodyPr wrap="square" anchor="t" lIns="0" rIns="0" tIns="0" bIns="0">
            <a:spAutoFit/>
          </a:bodyPr>
          <a:lstStyle/>
          <a:p>
            <a:pPr algn="l">
              <a:lnSpc>
                <a:spcPct val="125000"/>
              </a:lnSpc>
            </a:pPr>
            <a:r>
              <a:rPr sz="1700" b="0">
                <a:solidFill>
                  <a:srgbClr val="04182A"/>
                </a:solidFill>
                <a:latin typeface="Consolas"/>
              </a:rPr>
              <a:t>Dat is de hele interventie.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MEETPROTOCOL</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 condities bij de aflevering</a:t>
            </a:r>
          </a:p>
        </p:txBody>
      </p:sp>
      <p:sp>
        <p:nvSpPr>
          <p:cNvPr id="5" name="Rounded Rectangle 4"/>
          <p:cNvSpPr/>
          <p:nvPr/>
        </p:nvSpPr>
        <p:spPr>
          <a:xfrm>
            <a:off x="634984" y="1854153"/>
            <a:ext cx="10921726" cy="965175"/>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776" y="2070048"/>
            <a:ext cx="761980" cy="444488"/>
          </a:xfrm>
          <a:prstGeom prst="rect">
            <a:avLst/>
          </a:prstGeom>
          <a:noFill/>
        </p:spPr>
        <p:txBody>
          <a:bodyPr wrap="square" anchor="t" lIns="0" rIns="0" tIns="0" bIns="0">
            <a:spAutoFit/>
          </a:bodyPr>
          <a:lstStyle/>
          <a:p>
            <a:pPr algn="l">
              <a:lnSpc>
                <a:spcPct val="125000"/>
              </a:lnSpc>
            </a:pPr>
            <a:r>
              <a:rPr sz="3400" b="1">
                <a:solidFill>
                  <a:srgbClr val="52BDEC"/>
                </a:solidFill>
                <a:latin typeface="Consolas"/>
              </a:rPr>
              <a:t>01</a:t>
            </a:r>
          </a:p>
        </p:txBody>
      </p:sp>
      <p:sp>
        <p:nvSpPr>
          <p:cNvPr id="7" name="TextBox 6"/>
          <p:cNvSpPr txBox="1"/>
          <p:nvPr/>
        </p:nvSpPr>
        <p:spPr>
          <a:xfrm>
            <a:off x="1904952" y="2044648"/>
            <a:ext cx="3936901" cy="342891"/>
          </a:xfrm>
          <a:prstGeom prst="rect">
            <a:avLst/>
          </a:prstGeom>
          <a:noFill/>
        </p:spPr>
        <p:txBody>
          <a:bodyPr wrap="square" anchor="t" lIns="0" rIns="0" tIns="0" bIns="0">
            <a:spAutoFit/>
          </a:bodyPr>
          <a:lstStyle/>
          <a:p>
            <a:pPr algn="l">
              <a:lnSpc>
                <a:spcPct val="125000"/>
              </a:lnSpc>
            </a:pPr>
            <a:r>
              <a:rPr sz="2400" b="1">
                <a:solidFill>
                  <a:srgbClr val="F2F8FC"/>
                </a:solidFill>
                <a:latin typeface="Segoe UI"/>
              </a:rPr>
              <a:t>Blootsvoets</a:t>
            </a:r>
          </a:p>
        </p:txBody>
      </p:sp>
      <p:sp>
        <p:nvSpPr>
          <p:cNvPr id="8" name="TextBox 7"/>
          <p:cNvSpPr txBox="1"/>
          <p:nvPr/>
        </p:nvSpPr>
        <p:spPr>
          <a:xfrm>
            <a:off x="6095847" y="2044648"/>
            <a:ext cx="5156071" cy="634984"/>
          </a:xfrm>
          <a:prstGeom prst="rect">
            <a:avLst/>
          </a:prstGeom>
          <a:noFill/>
        </p:spPr>
        <p:txBody>
          <a:bodyPr wrap="square" anchor="t" lIns="0" rIns="0" tIns="0" bIns="0">
            <a:spAutoFit/>
          </a:bodyPr>
          <a:lstStyle/>
          <a:p>
            <a:pPr algn="l">
              <a:lnSpc>
                <a:spcPct val="132000"/>
              </a:lnSpc>
            </a:pPr>
            <a:r>
              <a:rPr sz="1550" b="0">
                <a:solidFill>
                  <a:srgbClr val="8FB6D0"/>
                </a:solidFill>
                <a:latin typeface="Segoe UI"/>
              </a:rPr>
              <a:t>Sensoren met dubbelzijdige tape op de voet, standaardkous erover. Dit is het referentiebeeld.</a:t>
            </a:r>
          </a:p>
        </p:txBody>
      </p:sp>
      <p:sp>
        <p:nvSpPr>
          <p:cNvPr id="9" name="Rounded Rectangle 8"/>
          <p:cNvSpPr/>
          <p:nvPr/>
        </p:nvSpPr>
        <p:spPr>
          <a:xfrm>
            <a:off x="634984" y="2971725"/>
            <a:ext cx="10921726" cy="965175"/>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9776" y="3187620"/>
            <a:ext cx="761980" cy="444488"/>
          </a:xfrm>
          <a:prstGeom prst="rect">
            <a:avLst/>
          </a:prstGeom>
          <a:noFill/>
        </p:spPr>
        <p:txBody>
          <a:bodyPr wrap="square" anchor="t" lIns="0" rIns="0" tIns="0" bIns="0">
            <a:spAutoFit/>
          </a:bodyPr>
          <a:lstStyle/>
          <a:p>
            <a:pPr algn="l">
              <a:lnSpc>
                <a:spcPct val="125000"/>
              </a:lnSpc>
            </a:pPr>
            <a:r>
              <a:rPr sz="3400" b="1">
                <a:solidFill>
                  <a:srgbClr val="52BDEC"/>
                </a:solidFill>
                <a:latin typeface="Consolas"/>
              </a:rPr>
              <a:t>02</a:t>
            </a:r>
          </a:p>
        </p:txBody>
      </p:sp>
      <p:sp>
        <p:nvSpPr>
          <p:cNvPr id="11" name="TextBox 10"/>
          <p:cNvSpPr txBox="1"/>
          <p:nvPr/>
        </p:nvSpPr>
        <p:spPr>
          <a:xfrm>
            <a:off x="1904952" y="3162220"/>
            <a:ext cx="3936901" cy="342891"/>
          </a:xfrm>
          <a:prstGeom prst="rect">
            <a:avLst/>
          </a:prstGeom>
          <a:noFill/>
        </p:spPr>
        <p:txBody>
          <a:bodyPr wrap="square" anchor="t" lIns="0" rIns="0" tIns="0" bIns="0">
            <a:spAutoFit/>
          </a:bodyPr>
          <a:lstStyle/>
          <a:p>
            <a:pPr algn="l">
              <a:lnSpc>
                <a:spcPct val="125000"/>
              </a:lnSpc>
            </a:pPr>
            <a:r>
              <a:rPr sz="2400" b="1">
                <a:solidFill>
                  <a:srgbClr val="F2F8FC"/>
                </a:solidFill>
                <a:latin typeface="Segoe UI"/>
              </a:rPr>
              <a:t>In de schoen, zónder de zool</a:t>
            </a:r>
          </a:p>
        </p:txBody>
      </p:sp>
      <p:sp>
        <p:nvSpPr>
          <p:cNvPr id="12" name="TextBox 11"/>
          <p:cNvSpPr txBox="1"/>
          <p:nvPr/>
        </p:nvSpPr>
        <p:spPr>
          <a:xfrm>
            <a:off x="6095847" y="3162220"/>
            <a:ext cx="5156071" cy="634984"/>
          </a:xfrm>
          <a:prstGeom prst="rect">
            <a:avLst/>
          </a:prstGeom>
          <a:noFill/>
        </p:spPr>
        <p:txBody>
          <a:bodyPr wrap="square" anchor="t" lIns="0" rIns="0" tIns="0" bIns="0">
            <a:spAutoFit/>
          </a:bodyPr>
          <a:lstStyle/>
          <a:p>
            <a:pPr algn="l">
              <a:lnSpc>
                <a:spcPct val="132000"/>
              </a:lnSpc>
            </a:pPr>
            <a:r>
              <a:rPr sz="1550" b="0">
                <a:solidFill>
                  <a:srgbClr val="8FB6D0"/>
                </a:solidFill>
                <a:latin typeface="Segoe UI"/>
              </a:rPr>
              <a:t>Toont wat het schoeisel alleen doet. Dit is de vergelijking die laat zien of de zool iets toevoegt.</a:t>
            </a:r>
          </a:p>
        </p:txBody>
      </p:sp>
      <p:sp>
        <p:nvSpPr>
          <p:cNvPr id="13" name="Rounded Rectangle 12"/>
          <p:cNvSpPr/>
          <p:nvPr/>
        </p:nvSpPr>
        <p:spPr>
          <a:xfrm>
            <a:off x="634984" y="4089297"/>
            <a:ext cx="10921726" cy="965175"/>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9776" y="4305192"/>
            <a:ext cx="761980" cy="444488"/>
          </a:xfrm>
          <a:prstGeom prst="rect">
            <a:avLst/>
          </a:prstGeom>
          <a:noFill/>
        </p:spPr>
        <p:txBody>
          <a:bodyPr wrap="square" anchor="t" lIns="0" rIns="0" tIns="0" bIns="0">
            <a:spAutoFit/>
          </a:bodyPr>
          <a:lstStyle/>
          <a:p>
            <a:pPr algn="l">
              <a:lnSpc>
                <a:spcPct val="125000"/>
              </a:lnSpc>
            </a:pPr>
            <a:r>
              <a:rPr sz="3400" b="1">
                <a:solidFill>
                  <a:srgbClr val="52BDEC"/>
                </a:solidFill>
                <a:latin typeface="Consolas"/>
              </a:rPr>
              <a:t>03</a:t>
            </a:r>
          </a:p>
        </p:txBody>
      </p:sp>
      <p:sp>
        <p:nvSpPr>
          <p:cNvPr id="15" name="TextBox 14"/>
          <p:cNvSpPr txBox="1"/>
          <p:nvPr/>
        </p:nvSpPr>
        <p:spPr>
          <a:xfrm>
            <a:off x="1904952" y="4279793"/>
            <a:ext cx="3936901" cy="342891"/>
          </a:xfrm>
          <a:prstGeom prst="rect">
            <a:avLst/>
          </a:prstGeom>
          <a:noFill/>
        </p:spPr>
        <p:txBody>
          <a:bodyPr wrap="square" anchor="t" lIns="0" rIns="0" tIns="0" bIns="0">
            <a:spAutoFit/>
          </a:bodyPr>
          <a:lstStyle/>
          <a:p>
            <a:pPr algn="l">
              <a:lnSpc>
                <a:spcPct val="125000"/>
              </a:lnSpc>
            </a:pPr>
            <a:r>
              <a:rPr sz="2400" b="1">
                <a:solidFill>
                  <a:srgbClr val="F2F8FC"/>
                </a:solidFill>
                <a:latin typeface="Segoe UI"/>
              </a:rPr>
              <a:t>In de schoen, mét de zool</a:t>
            </a:r>
          </a:p>
        </p:txBody>
      </p:sp>
      <p:sp>
        <p:nvSpPr>
          <p:cNvPr id="16" name="TextBox 15"/>
          <p:cNvSpPr txBox="1"/>
          <p:nvPr/>
        </p:nvSpPr>
        <p:spPr>
          <a:xfrm>
            <a:off x="6095847" y="4279793"/>
            <a:ext cx="5156071" cy="634984"/>
          </a:xfrm>
          <a:prstGeom prst="rect">
            <a:avLst/>
          </a:prstGeom>
          <a:noFill/>
        </p:spPr>
        <p:txBody>
          <a:bodyPr wrap="square" anchor="t" lIns="0" rIns="0" tIns="0" bIns="0">
            <a:spAutoFit/>
          </a:bodyPr>
          <a:lstStyle/>
          <a:p>
            <a:pPr algn="l">
              <a:lnSpc>
                <a:spcPct val="132000"/>
              </a:lnSpc>
            </a:pPr>
            <a:r>
              <a:rPr sz="1550" b="0">
                <a:solidFill>
                  <a:srgbClr val="8FB6D0"/>
                </a:solidFill>
                <a:latin typeface="Segoe UI"/>
              </a:rPr>
              <a:t>De meting waarop de norm getoetst wordt, per doelregio.</a:t>
            </a:r>
          </a:p>
        </p:txBody>
      </p:sp>
      <p:sp>
        <p:nvSpPr>
          <p:cNvPr id="17" name="TextBox 16"/>
          <p:cNvSpPr txBox="1"/>
          <p:nvPr/>
        </p:nvSpPr>
        <p:spPr>
          <a:xfrm>
            <a:off x="634984" y="5384665"/>
            <a:ext cx="10921726" cy="571485"/>
          </a:xfrm>
          <a:prstGeom prst="rect">
            <a:avLst/>
          </a:prstGeom>
          <a:noFill/>
        </p:spPr>
        <p:txBody>
          <a:bodyPr wrap="square" anchor="t" lIns="0" rIns="0" tIns="0" bIns="0">
            <a:spAutoFit/>
          </a:bodyPr>
          <a:lstStyle/>
          <a:p>
            <a:pPr algn="l">
              <a:lnSpc>
                <a:spcPct val="140000"/>
              </a:lnSpc>
            </a:pPr>
            <a:r>
              <a:rPr sz="1900" b="1">
                <a:solidFill>
                  <a:srgbClr val="FF7A00"/>
                </a:solidFill>
                <a:latin typeface="Segoe UI"/>
              </a:rPr>
              <a:t>Alle drie de condities staan op hetzelfde formulier. Slaat u er één over, dan is de vergelijking onbruikbaar.</a:t>
            </a:r>
          </a:p>
        </p:txBody>
      </p:sp>
      <p:sp>
        <p:nvSpPr>
          <p:cNvPr id="18" name="TextBox 17"/>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24 · de norm wordt per doelregio getoetst, niet over de hele voet</a:t>
            </a:r>
          </a:p>
        </p:txBody>
      </p:sp>
      <p:sp>
        <p:nvSpPr>
          <p:cNvPr id="19" name="TextBox 1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17 / 71</a:t>
            </a:r>
          </a:p>
        </p:txBody>
      </p:sp>
      <p:pic>
        <p:nvPicPr>
          <p:cNvPr id="20"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1" name="TextBox 20"/>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03</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Het traject</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Negen contactmomenten. Per moment: wat u doet en wat u invult.</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18 / 71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Screening plus negen visites</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18</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maanden, van screening tot afronding</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Visite 0 tot 2 liggen dicht op elkaar: toestemming, baseline, en de zool binnen de maand. Daarna is het ritme elke drie maanden, hetzelfde ritme als de controle die deze patiënten al krijgen.</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19 / 71</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2812" y="1142971"/>
            <a:ext cx="4825879" cy="4825879"/>
          </a:xfrm>
          <a:prstGeom prst="ellipse">
            <a:avLst/>
          </a:prstGeom>
          <a:solidFill>
            <a:srgbClr val="52BDEC">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 EN VISITE 0</a:t>
            </a:r>
          </a:p>
        </p:txBody>
      </p:sp>
      <p:sp>
        <p:nvSpPr>
          <p:cNvPr id="5" name="!!sectietitel"/>
          <p:cNvSpPr txBox="1"/>
          <p:nvPr/>
        </p:nvSpPr>
        <p:spPr>
          <a:xfrm>
            <a:off x="634984" y="1904952"/>
            <a:ext cx="6984825" cy="1818594"/>
          </a:xfrm>
          <a:prstGeom prst="rect">
            <a:avLst/>
          </a:prstGeom>
          <a:noFill/>
        </p:spPr>
        <p:txBody>
          <a:bodyPr wrap="square" anchor="t" lIns="0" rIns="0" tIns="0" bIns="0">
            <a:spAutoFit/>
          </a:bodyPr>
          <a:lstStyle/>
          <a:p>
            <a:pPr algn="l">
              <a:lnSpc>
                <a:spcPct val="110000"/>
              </a:lnSpc>
            </a:pPr>
            <a:r>
              <a:rPr sz="5600" b="1">
                <a:solidFill>
                  <a:srgbClr val="F2F8FC"/>
                </a:solidFill>
                <a:latin typeface="Segoe UI"/>
              </a:rPr>
              <a:t>Geschiktheid, toestemming, loting</a:t>
            </a:r>
          </a:p>
        </p:txBody>
      </p:sp>
      <p:sp>
        <p:nvSpPr>
          <p:cNvPr id="6" name="Rounded Rectangle 5"/>
          <p:cNvSpPr/>
          <p:nvPr/>
        </p:nvSpPr>
        <p:spPr>
          <a:xfrm>
            <a:off x="634984" y="4002939"/>
            <a:ext cx="3555911" cy="304792"/>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4079138"/>
            <a:ext cx="3555911" cy="215894"/>
          </a:xfrm>
          <a:prstGeom prst="rect">
            <a:avLst/>
          </a:prstGeom>
          <a:noFill/>
        </p:spPr>
        <p:txBody>
          <a:bodyPr wrap="square" anchor="t" lIns="0" rIns="0" tIns="0" bIns="0">
            <a:spAutoFit/>
          </a:bodyPr>
          <a:lstStyle/>
          <a:p>
            <a:pPr algn="ctr">
              <a:lnSpc>
                <a:spcPct val="125000"/>
              </a:lnSpc>
            </a:pPr>
            <a:r>
              <a:rPr sz="1400" b="1">
                <a:solidFill>
                  <a:srgbClr val="52BDEC"/>
                </a:solidFill>
                <a:latin typeface="Consolas"/>
              </a:rPr>
              <a:t>Kort · in het gewone consult</a:t>
            </a:r>
          </a:p>
        </p:txBody>
      </p:sp>
      <p:sp>
        <p:nvSpPr>
          <p:cNvPr id="8" name="TextBox 7"/>
          <p:cNvSpPr txBox="1"/>
          <p:nvPr/>
        </p:nvSpPr>
        <p:spPr>
          <a:xfrm>
            <a:off x="8000799"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5</a:t>
            </a:r>
          </a:p>
        </p:txBody>
      </p:sp>
      <p:sp>
        <p:nvSpPr>
          <p:cNvPr id="9" name="TextBox 8"/>
          <p:cNvSpPr txBox="1"/>
          <p:nvPr/>
        </p:nvSpPr>
        <p:spPr>
          <a:xfrm>
            <a:off x="8013499"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HANDELINGEN</a:t>
            </a:r>
          </a:p>
        </p:txBody>
      </p:sp>
      <p:sp>
        <p:nvSpPr>
          <p:cNvPr id="10" name="TextBox 9"/>
          <p:cNvSpPr txBox="1"/>
          <p:nvPr/>
        </p:nvSpPr>
        <p:spPr>
          <a:xfrm>
            <a:off x="9905752"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4</a:t>
            </a:r>
          </a:p>
        </p:txBody>
      </p:sp>
      <p:sp>
        <p:nvSpPr>
          <p:cNvPr id="11" name="TextBox 10"/>
          <p:cNvSpPr txBox="1"/>
          <p:nvPr/>
        </p:nvSpPr>
        <p:spPr>
          <a:xfrm>
            <a:off x="9918452"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FORMULIEREN</a:t>
            </a:r>
          </a:p>
        </p:txBody>
      </p:sp>
      <p:sp>
        <p:nvSpPr>
          <p:cNvPr id="12" name="Rectangle 11"/>
          <p:cNvSpPr/>
          <p:nvPr/>
        </p:nvSpPr>
        <p:spPr>
          <a:xfrm>
            <a:off x="634984" y="571485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984" y="5867253"/>
            <a:ext cx="10921726" cy="253993"/>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Arts bevestigt geschiktheid · PI loot · podoloog vult in</a:t>
            </a:r>
          </a:p>
        </p:txBody>
      </p:sp>
      <p:sp>
        <p:nvSpPr>
          <p:cNvPr id="14" name="TextBox 1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20 / 71</a:t>
            </a:r>
          </a:p>
        </p:txBody>
      </p:sp>
      <p:pic>
        <p:nvPicPr>
          <p:cNvPr id="15"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 EN VISITE 0</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01</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Screening vóór de toestemming: beoordeel de in- en exclusiecriteria en noteer de patiënt op de identificatielijst.</a:t>
            </a:r>
          </a:p>
        </p:txBody>
      </p:sp>
      <p:sp>
        <p:nvSpPr>
          <p:cNvPr id="6" name="!!rail0"/>
          <p:cNvSpPr/>
          <p:nvPr/>
        </p:nvSpPr>
        <p:spPr>
          <a:xfrm>
            <a:off x="660383" y="6387940"/>
            <a:ext cx="2133546"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844728"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5029074"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7213419"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9397765"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21 / 71</a:t>
            </a:r>
          </a:p>
        </p:txBody>
      </p:sp>
      <p:pic>
        <p:nvPicPr>
          <p:cNvPr id="12"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 EN VISITE 0</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02</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Is de patiënt geschikt, overloop dan de informatie- en toestemmingsformulieren en laat tekenen.</a:t>
            </a:r>
          </a:p>
        </p:txBody>
      </p:sp>
      <p:sp>
        <p:nvSpPr>
          <p:cNvPr id="6" name="!!rail0"/>
          <p:cNvSpPr/>
          <p:nvPr/>
        </p:nvSpPr>
        <p:spPr>
          <a:xfrm>
            <a:off x="660383"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844728" y="6387940"/>
            <a:ext cx="2133546"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5029074"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7213419"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9397765"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22 / 71</a:t>
            </a:r>
          </a:p>
        </p:txBody>
      </p:sp>
      <p:pic>
        <p:nvPicPr>
          <p:cNvPr id="12"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 EN VISITE 0</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03</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Visite 0: bevestig de geschiktheid met het baselineformulier.</a:t>
            </a:r>
          </a:p>
        </p:txBody>
      </p:sp>
      <p:sp>
        <p:nvSpPr>
          <p:cNvPr id="6" name="!!rail0"/>
          <p:cNvSpPr/>
          <p:nvPr/>
        </p:nvSpPr>
        <p:spPr>
          <a:xfrm>
            <a:off x="660383"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844728"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5029074" y="6387940"/>
            <a:ext cx="2133546"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7213419"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9397765"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23 / 71</a:t>
            </a:r>
          </a:p>
        </p:txBody>
      </p:sp>
      <p:pic>
        <p:nvPicPr>
          <p:cNvPr id="12"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 EN VISITE 0</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04</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De PI opent de volgende verzegelde envelop en deelt de patiënt in. Pas dan is bekend in welke arm hij zit.</a:t>
            </a:r>
          </a:p>
        </p:txBody>
      </p:sp>
      <p:sp>
        <p:nvSpPr>
          <p:cNvPr id="6" name="!!rail0"/>
          <p:cNvSpPr/>
          <p:nvPr/>
        </p:nvSpPr>
        <p:spPr>
          <a:xfrm>
            <a:off x="660383"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844728"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5029074"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7213419" y="6387940"/>
            <a:ext cx="2133546"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9397765"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24 / 71</a:t>
            </a:r>
          </a:p>
        </p:txBody>
      </p:sp>
      <p:pic>
        <p:nvPicPr>
          <p:cNvPr id="12"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 EN VISITE 0</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05</a:t>
            </a:r>
          </a:p>
        </p:txBody>
      </p:sp>
      <p:sp>
        <p:nvSpPr>
          <p:cNvPr id="5" name="!!staptekst"/>
          <p:cNvSpPr txBox="1"/>
          <p:nvPr/>
        </p:nvSpPr>
        <p:spPr>
          <a:xfrm>
            <a:off x="3174920" y="1587460"/>
            <a:ext cx="8381790" cy="2222444"/>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Niet geschikt? Noteer de reden. Ook dat is studiedata.</a:t>
            </a:r>
          </a:p>
        </p:txBody>
      </p:sp>
      <p:sp>
        <p:nvSpPr>
          <p:cNvPr id="6" name="TextBox 5"/>
          <p:cNvSpPr txBox="1"/>
          <p:nvPr/>
        </p:nvSpPr>
        <p:spPr>
          <a:xfrm>
            <a:off x="2984425" y="4063898"/>
            <a:ext cx="8572285"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WAT U HIERBIJ INVULT</a:t>
            </a:r>
          </a:p>
        </p:txBody>
      </p:sp>
      <p:sp>
        <p:nvSpPr>
          <p:cNvPr id="7" name="Rounded Rectangle 6"/>
          <p:cNvSpPr/>
          <p:nvPr/>
        </p:nvSpPr>
        <p:spPr>
          <a:xfrm>
            <a:off x="298442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062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00</a:t>
            </a:r>
          </a:p>
        </p:txBody>
      </p:sp>
      <p:sp>
        <p:nvSpPr>
          <p:cNvPr id="9" name="TextBox 8"/>
          <p:cNvSpPr txBox="1"/>
          <p:nvPr/>
        </p:nvSpPr>
        <p:spPr>
          <a:xfrm>
            <a:off x="3403514"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Identificatielijst</a:t>
            </a:r>
          </a:p>
        </p:txBody>
      </p:sp>
      <p:sp>
        <p:nvSpPr>
          <p:cNvPr id="10" name="Rounded Rectangle 9"/>
          <p:cNvSpPr/>
          <p:nvPr/>
        </p:nvSpPr>
        <p:spPr>
          <a:xfrm>
            <a:off x="4711582"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7780"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01</a:t>
            </a:r>
          </a:p>
        </p:txBody>
      </p:sp>
      <p:sp>
        <p:nvSpPr>
          <p:cNvPr id="12" name="TextBox 11"/>
          <p:cNvSpPr txBox="1"/>
          <p:nvPr/>
        </p:nvSpPr>
        <p:spPr>
          <a:xfrm>
            <a:off x="5130671"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Screening</a:t>
            </a:r>
          </a:p>
        </p:txBody>
      </p:sp>
      <p:sp>
        <p:nvSpPr>
          <p:cNvPr id="13" name="Rounded Rectangle 12"/>
          <p:cNvSpPr/>
          <p:nvPr/>
        </p:nvSpPr>
        <p:spPr>
          <a:xfrm>
            <a:off x="6438739"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4937"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02</a:t>
            </a:r>
          </a:p>
        </p:txBody>
      </p:sp>
      <p:sp>
        <p:nvSpPr>
          <p:cNvPr id="15" name="TextBox 14"/>
          <p:cNvSpPr txBox="1"/>
          <p:nvPr/>
        </p:nvSpPr>
        <p:spPr>
          <a:xfrm>
            <a:off x="6857828"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Toestemming</a:t>
            </a:r>
          </a:p>
        </p:txBody>
      </p:sp>
      <p:sp>
        <p:nvSpPr>
          <p:cNvPr id="16" name="Rounded Rectangle 15"/>
          <p:cNvSpPr/>
          <p:nvPr/>
        </p:nvSpPr>
        <p:spPr>
          <a:xfrm>
            <a:off x="816589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209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06</a:t>
            </a:r>
          </a:p>
        </p:txBody>
      </p:sp>
      <p:sp>
        <p:nvSpPr>
          <p:cNvPr id="18" name="TextBox 17"/>
          <p:cNvSpPr txBox="1"/>
          <p:nvPr/>
        </p:nvSpPr>
        <p:spPr>
          <a:xfrm>
            <a:off x="8584985"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Geschiktheid</a:t>
            </a:r>
          </a:p>
        </p:txBody>
      </p:sp>
      <p:sp>
        <p:nvSpPr>
          <p:cNvPr id="19" name="Rectangle 18"/>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5587860"/>
            <a:ext cx="1269968" cy="215894"/>
          </a:xfrm>
          <a:prstGeom prst="rect">
            <a:avLst/>
          </a:prstGeom>
          <a:noFill/>
        </p:spPr>
        <p:txBody>
          <a:bodyPr wrap="square" anchor="t" lIns="0" rIns="0" tIns="0" bIns="0">
            <a:spAutoFit/>
          </a:bodyPr>
          <a:lstStyle/>
          <a:p>
            <a:pPr algn="l">
              <a:lnSpc>
                <a:spcPct val="125000"/>
              </a:lnSpc>
            </a:pPr>
            <a:r>
              <a:rPr sz="1250" b="1" spc="150">
                <a:solidFill>
                  <a:srgbClr val="FF7A00"/>
                </a:solidFill>
                <a:latin typeface="Consolas"/>
              </a:rPr>
              <a:t>LET OP</a:t>
            </a:r>
          </a:p>
        </p:txBody>
      </p:sp>
      <p:sp>
        <p:nvSpPr>
          <p:cNvPr id="21" name="TextBox 20"/>
          <p:cNvSpPr txBox="1"/>
          <p:nvPr/>
        </p:nvSpPr>
        <p:spPr>
          <a:xfrm>
            <a:off x="2031949" y="5562460"/>
            <a:ext cx="9524761" cy="571485"/>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De volgorde ligt vast: screenen, tekenen, geschiktheid bevestigen, dan pas loten. Vul geen enkel ander formulier in voordat de patiënt getekend heeft.</a:t>
            </a:r>
          </a:p>
        </p:txBody>
      </p:sp>
      <p:sp>
        <p:nvSpPr>
          <p:cNvPr id="22" name="!!rail0"/>
          <p:cNvSpPr/>
          <p:nvPr/>
        </p:nvSpPr>
        <p:spPr>
          <a:xfrm>
            <a:off x="660383"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ail1"/>
          <p:cNvSpPr/>
          <p:nvPr/>
        </p:nvSpPr>
        <p:spPr>
          <a:xfrm>
            <a:off x="2844728"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ail2"/>
          <p:cNvSpPr/>
          <p:nvPr/>
        </p:nvSpPr>
        <p:spPr>
          <a:xfrm>
            <a:off x="5029074"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ail3"/>
          <p:cNvSpPr/>
          <p:nvPr/>
        </p:nvSpPr>
        <p:spPr>
          <a:xfrm>
            <a:off x="7213419" y="6387940"/>
            <a:ext cx="213354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ail4"/>
          <p:cNvSpPr/>
          <p:nvPr/>
        </p:nvSpPr>
        <p:spPr>
          <a:xfrm>
            <a:off x="9397765" y="6387940"/>
            <a:ext cx="2133546"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25 / 71</a:t>
            </a:r>
          </a:p>
        </p:txBody>
      </p:sp>
      <p:pic>
        <p:nvPicPr>
          <p:cNvPr id="28"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SCREENING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Wie komt in aanmerking</a:t>
            </a:r>
          </a:p>
        </p:txBody>
      </p:sp>
      <p:sp>
        <p:nvSpPr>
          <p:cNvPr id="5" name="Rounded Rectangle 4"/>
          <p:cNvSpPr/>
          <p:nvPr/>
        </p:nvSpPr>
        <p:spPr>
          <a:xfrm>
            <a:off x="634984" y="1993850"/>
            <a:ext cx="5384538" cy="384800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88977" y="2209744"/>
            <a:ext cx="761980" cy="292092"/>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8977" y="2285942"/>
            <a:ext cx="761980" cy="215894"/>
          </a:xfrm>
          <a:prstGeom prst="rect">
            <a:avLst/>
          </a:prstGeom>
          <a:noFill/>
        </p:spPr>
        <p:txBody>
          <a:bodyPr wrap="square" anchor="t" lIns="0" rIns="0" tIns="0" bIns="0">
            <a:spAutoFit/>
          </a:bodyPr>
          <a:lstStyle/>
          <a:p>
            <a:pPr algn="ctr">
              <a:lnSpc>
                <a:spcPct val="125000"/>
              </a:lnSpc>
            </a:pPr>
            <a:r>
              <a:rPr sz="1350" b="1" spc="130">
                <a:solidFill>
                  <a:srgbClr val="04182A"/>
                </a:solidFill>
                <a:latin typeface="Consolas"/>
              </a:rPr>
              <a:t>WÉL</a:t>
            </a:r>
          </a:p>
        </p:txBody>
      </p:sp>
      <p:sp>
        <p:nvSpPr>
          <p:cNvPr id="8" name="TextBox 7"/>
          <p:cNvSpPr txBox="1"/>
          <p:nvPr/>
        </p:nvSpPr>
        <p:spPr>
          <a:xfrm>
            <a:off x="888977" y="2743131"/>
            <a:ext cx="4876551" cy="2984425"/>
          </a:xfrm>
          <a:prstGeom prst="rect">
            <a:avLst/>
          </a:prstGeom>
          <a:noFill/>
        </p:spPr>
        <p:txBody>
          <a:bodyPr wrap="square" anchor="t" lIns="0" rIns="0" tIns="0" bIns="0">
            <a:spAutoFit/>
          </a:bodyPr>
          <a:lstStyle/>
          <a:p>
            <a:pPr algn="l">
              <a:lnSpc>
                <a:spcPct val="130000"/>
              </a:lnSpc>
            </a:pPr>
            <a:r>
              <a:rPr sz="1400" b="0">
                <a:solidFill>
                  <a:srgbClr val="8FB6D0"/>
                </a:solidFill>
                <a:latin typeface="Segoe UI"/>
              </a:rPr>
              <a:t>Volwassen, begrijpt Nederlands</a:t>
            </a:r>
          </a:p>
          <a:p>
            <a:pPr algn="l">
              <a:lnSpc>
                <a:spcPct val="130000"/>
              </a:lnSpc>
              <a:spcBef>
                <a:spcPts val="1200"/>
              </a:spcBef>
            </a:pPr>
            <a:r>
              <a:rPr sz="1400" b="0">
                <a:solidFill>
                  <a:srgbClr val="8FB6D0"/>
                </a:solidFill>
                <a:latin typeface="Segoe UI"/>
              </a:rPr>
              <a:t>Diabetes type 1 of 2</a:t>
            </a:r>
          </a:p>
          <a:p>
            <a:pPr algn="l">
              <a:lnSpc>
                <a:spcPct val="130000"/>
              </a:lnSpc>
              <a:spcBef>
                <a:spcPts val="1200"/>
              </a:spcBef>
            </a:pPr>
            <a:r>
              <a:rPr sz="1400" b="0">
                <a:solidFill>
                  <a:srgbClr val="8FB6D0"/>
                </a:solidFill>
                <a:latin typeface="Segoe UI"/>
              </a:rPr>
              <a:t>Risicocategorie 3 met genezen plantair ulcus, partiële amputatie of resectie van een metatarsaalkop — niet de eerste — tussen 18 maanden en 2 weken geleden</a:t>
            </a:r>
          </a:p>
          <a:p>
            <a:pPr algn="l">
              <a:lnSpc>
                <a:spcPct val="130000"/>
              </a:lnSpc>
              <a:spcBef>
                <a:spcPts val="1200"/>
              </a:spcBef>
            </a:pPr>
            <a:r>
              <a:rPr sz="1400" b="0">
                <a:solidFill>
                  <a:srgbClr val="8FB6D0"/>
                </a:solidFill>
                <a:latin typeface="Segoe UI"/>
              </a:rPr>
              <a:t>Stapt zelfstandig blootsvoets, zonder hulpmiddelen</a:t>
            </a:r>
          </a:p>
          <a:p>
            <a:pPr algn="l">
              <a:lnSpc>
                <a:spcPct val="130000"/>
              </a:lnSpc>
              <a:spcBef>
                <a:spcPts val="1200"/>
              </a:spcBef>
            </a:pPr>
            <a:r>
              <a:rPr sz="1400" b="0">
                <a:solidFill>
                  <a:srgbClr val="8FB6D0"/>
                </a:solidFill>
                <a:latin typeface="Segoe UI"/>
              </a:rPr>
              <a:t>Heeft beschermend schoeisel, of aanvaardt het: volledig maatwerk, of maatzolen in semi-orthopedisch of extra-diep confectieschoeisel</a:t>
            </a:r>
          </a:p>
        </p:txBody>
      </p:sp>
      <p:sp>
        <p:nvSpPr>
          <p:cNvPr id="9" name="Rounded Rectangle 8"/>
          <p:cNvSpPr/>
          <p:nvPr/>
        </p:nvSpPr>
        <p:spPr>
          <a:xfrm>
            <a:off x="6171918" y="1993850"/>
            <a:ext cx="5384538" cy="384800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25912" y="2209744"/>
            <a:ext cx="761980" cy="292092"/>
          </a:xfrm>
          <a:prstGeom prst="roundRect">
            <a:avLst>
              <a:gd name="adj" fmla="val 45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5912" y="2285942"/>
            <a:ext cx="761980" cy="215894"/>
          </a:xfrm>
          <a:prstGeom prst="rect">
            <a:avLst/>
          </a:prstGeom>
          <a:noFill/>
        </p:spPr>
        <p:txBody>
          <a:bodyPr wrap="square" anchor="t" lIns="0" rIns="0" tIns="0" bIns="0">
            <a:spAutoFit/>
          </a:bodyPr>
          <a:lstStyle/>
          <a:p>
            <a:pPr algn="ctr">
              <a:lnSpc>
                <a:spcPct val="125000"/>
              </a:lnSpc>
            </a:pPr>
            <a:r>
              <a:rPr sz="1350" b="1" spc="130">
                <a:solidFill>
                  <a:srgbClr val="04182A"/>
                </a:solidFill>
                <a:latin typeface="Consolas"/>
              </a:rPr>
              <a:t>NIET</a:t>
            </a:r>
          </a:p>
        </p:txBody>
      </p:sp>
      <p:sp>
        <p:nvSpPr>
          <p:cNvPr id="12" name="TextBox 11"/>
          <p:cNvSpPr txBox="1"/>
          <p:nvPr/>
        </p:nvSpPr>
        <p:spPr>
          <a:xfrm>
            <a:off x="6425912" y="2743131"/>
            <a:ext cx="4876551" cy="2984425"/>
          </a:xfrm>
          <a:prstGeom prst="rect">
            <a:avLst/>
          </a:prstGeom>
          <a:noFill/>
        </p:spPr>
        <p:txBody>
          <a:bodyPr wrap="square" anchor="t" lIns="0" rIns="0" tIns="0" bIns="0">
            <a:spAutoFit/>
          </a:bodyPr>
          <a:lstStyle/>
          <a:p>
            <a:pPr algn="l">
              <a:lnSpc>
                <a:spcPct val="130000"/>
              </a:lnSpc>
            </a:pPr>
            <a:r>
              <a:rPr sz="1400" b="0">
                <a:solidFill>
                  <a:srgbClr val="8FB6D0"/>
                </a:solidFill>
                <a:latin typeface="Segoe UI"/>
              </a:rPr>
              <a:t>Amputatie proximaal van de MTP-gewrichten</a:t>
            </a:r>
          </a:p>
          <a:p>
            <a:pPr algn="l">
              <a:lnSpc>
                <a:spcPct val="130000"/>
              </a:lnSpc>
              <a:spcBef>
                <a:spcPts val="1200"/>
              </a:spcBef>
            </a:pPr>
            <a:r>
              <a:rPr sz="1400" b="0">
                <a:solidFill>
                  <a:srgbClr val="8FB6D0"/>
                </a:solidFill>
                <a:latin typeface="Segoe UI"/>
              </a:rPr>
              <a:t>Actief ulcus of Charcot-deformiteit</a:t>
            </a:r>
          </a:p>
          <a:p>
            <a:pPr algn="l">
              <a:lnSpc>
                <a:spcPct val="130000"/>
              </a:lnSpc>
              <a:spcBef>
                <a:spcPts val="1200"/>
              </a:spcBef>
            </a:pPr>
            <a:r>
              <a:rPr sz="1400" b="0">
                <a:solidFill>
                  <a:srgbClr val="8FB6D0"/>
                </a:solidFill>
                <a:latin typeface="Segoe UI"/>
              </a:rPr>
              <a:t>Kritische ischemie — PEDIS graad 3</a:t>
            </a:r>
          </a:p>
          <a:p>
            <a:pPr algn="l">
              <a:lnSpc>
                <a:spcPct val="130000"/>
              </a:lnSpc>
              <a:spcBef>
                <a:spcPts val="1200"/>
              </a:spcBef>
            </a:pPr>
            <a:r>
              <a:rPr sz="1400" b="0">
                <a:solidFill>
                  <a:srgbClr val="8FB6D0"/>
                </a:solidFill>
                <a:latin typeface="Segoe UI"/>
              </a:rPr>
              <a:t>Immunosuppressieve therapie</a:t>
            </a:r>
          </a:p>
          <a:p>
            <a:pPr algn="l">
              <a:lnSpc>
                <a:spcPct val="130000"/>
              </a:lnSpc>
              <a:spcBef>
                <a:spcPts val="1200"/>
              </a:spcBef>
            </a:pPr>
            <a:r>
              <a:rPr sz="1400" b="0">
                <a:solidFill>
                  <a:srgbClr val="8FB6D0"/>
                </a:solidFill>
                <a:latin typeface="Segoe UI"/>
              </a:rPr>
              <a:t>Nierfunctievervangende therapie</a:t>
            </a:r>
          </a:p>
          <a:p>
            <a:pPr algn="l">
              <a:lnSpc>
                <a:spcPct val="130000"/>
              </a:lnSpc>
              <a:spcBef>
                <a:spcPts val="1200"/>
              </a:spcBef>
            </a:pPr>
            <a:r>
              <a:rPr sz="1400" b="0">
                <a:solidFill>
                  <a:srgbClr val="8FB6D0"/>
                </a:solidFill>
                <a:latin typeface="Segoe UI"/>
              </a:rPr>
              <a:t>Overleving &lt; 18 maanden, beoordeeld door de arts</a:t>
            </a:r>
          </a:p>
          <a:p>
            <a:pPr algn="l">
              <a:lnSpc>
                <a:spcPct val="130000"/>
              </a:lnSpc>
              <a:spcBef>
                <a:spcPts val="1200"/>
              </a:spcBef>
            </a:pPr>
            <a:r>
              <a:rPr sz="1400" b="0">
                <a:solidFill>
                  <a:srgbClr val="8FB6D0"/>
                </a:solidFill>
                <a:latin typeface="Segoe UI"/>
              </a:rPr>
              <a:t>Kan geen toestemming geven of instructies volgen</a:t>
            </a:r>
          </a:p>
          <a:p>
            <a:pPr algn="l">
              <a:lnSpc>
                <a:spcPct val="130000"/>
              </a:lnSpc>
              <a:spcBef>
                <a:spcPts val="1200"/>
              </a:spcBef>
            </a:pPr>
            <a:r>
              <a:rPr sz="1400" b="0">
                <a:solidFill>
                  <a:srgbClr val="8FB6D0"/>
                </a:solidFill>
                <a:latin typeface="Segoe UI"/>
              </a:rPr>
              <a:t>Hulpmiddel dat druksensoren belemmert, bv. een EVO</a:t>
            </a:r>
          </a:p>
          <a:p>
            <a:pPr algn="l">
              <a:lnSpc>
                <a:spcPct val="130000"/>
              </a:lnSpc>
              <a:spcBef>
                <a:spcPts val="1200"/>
              </a:spcBef>
            </a:pPr>
            <a:r>
              <a:rPr sz="1400" b="0">
                <a:solidFill>
                  <a:srgbClr val="8FB6D0"/>
                </a:solidFill>
                <a:latin typeface="Segoe UI"/>
              </a:rPr>
              <a:t>Weigert het voorgeschreven schoeisel te dragen</a:t>
            </a: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26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5" name="TextBox 1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8 · IWGDF 2023, preventie   |   25 · IWGDF 2023, definities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2812" y="1142971"/>
            <a:ext cx="4825879" cy="4825879"/>
          </a:xfrm>
          <a:prstGeom prst="ellipse">
            <a:avLst/>
          </a:prstGeom>
          <a:solidFill>
            <a:srgbClr val="52BDEC">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5" name="!!sectietitel"/>
          <p:cNvSpPr txBox="1"/>
          <p:nvPr/>
        </p:nvSpPr>
        <p:spPr>
          <a:xfrm>
            <a:off x="634984" y="1904952"/>
            <a:ext cx="6984825" cy="1818594"/>
          </a:xfrm>
          <a:prstGeom prst="rect">
            <a:avLst/>
          </a:prstGeom>
          <a:noFill/>
        </p:spPr>
        <p:txBody>
          <a:bodyPr wrap="square" anchor="t" lIns="0" rIns="0" tIns="0" bIns="0">
            <a:spAutoFit/>
          </a:bodyPr>
          <a:lstStyle/>
          <a:p>
            <a:pPr algn="l">
              <a:lnSpc>
                <a:spcPct val="110000"/>
              </a:lnSpc>
            </a:pPr>
            <a:r>
              <a:rPr sz="5600" b="1">
                <a:solidFill>
                  <a:srgbClr val="F2F8FC"/>
                </a:solidFill>
                <a:latin typeface="Segoe UI"/>
              </a:rPr>
              <a:t>Baseline — meten en voorschrijven</a:t>
            </a:r>
          </a:p>
        </p:txBody>
      </p:sp>
      <p:sp>
        <p:nvSpPr>
          <p:cNvPr id="6" name="Rounded Rectangle 5"/>
          <p:cNvSpPr/>
          <p:nvPr/>
        </p:nvSpPr>
        <p:spPr>
          <a:xfrm>
            <a:off x="634984" y="4002939"/>
            <a:ext cx="3555911" cy="304792"/>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4079138"/>
            <a:ext cx="3555911" cy="215894"/>
          </a:xfrm>
          <a:prstGeom prst="rect">
            <a:avLst/>
          </a:prstGeom>
          <a:noFill/>
        </p:spPr>
        <p:txBody>
          <a:bodyPr wrap="square" anchor="t" lIns="0" rIns="0" tIns="0" bIns="0">
            <a:spAutoFit/>
          </a:bodyPr>
          <a:lstStyle/>
          <a:p>
            <a:pPr algn="ctr">
              <a:lnSpc>
                <a:spcPct val="125000"/>
              </a:lnSpc>
            </a:pPr>
            <a:r>
              <a:rPr sz="1400" b="1">
                <a:solidFill>
                  <a:srgbClr val="52BDEC"/>
                </a:solidFill>
                <a:latin typeface="Consolas"/>
              </a:rPr>
              <a:t>Het langste bezoek van de studie</a:t>
            </a:r>
          </a:p>
        </p:txBody>
      </p:sp>
      <p:sp>
        <p:nvSpPr>
          <p:cNvPr id="8" name="TextBox 7"/>
          <p:cNvSpPr txBox="1"/>
          <p:nvPr/>
        </p:nvSpPr>
        <p:spPr>
          <a:xfrm>
            <a:off x="8000799"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7</a:t>
            </a:r>
          </a:p>
        </p:txBody>
      </p:sp>
      <p:sp>
        <p:nvSpPr>
          <p:cNvPr id="9" name="TextBox 8"/>
          <p:cNvSpPr txBox="1"/>
          <p:nvPr/>
        </p:nvSpPr>
        <p:spPr>
          <a:xfrm>
            <a:off x="8013499"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HANDELINGEN</a:t>
            </a:r>
          </a:p>
        </p:txBody>
      </p:sp>
      <p:sp>
        <p:nvSpPr>
          <p:cNvPr id="10" name="TextBox 9"/>
          <p:cNvSpPr txBox="1"/>
          <p:nvPr/>
        </p:nvSpPr>
        <p:spPr>
          <a:xfrm>
            <a:off x="9905752"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14</a:t>
            </a:r>
          </a:p>
        </p:txBody>
      </p:sp>
      <p:sp>
        <p:nvSpPr>
          <p:cNvPr id="11" name="TextBox 10"/>
          <p:cNvSpPr txBox="1"/>
          <p:nvPr/>
        </p:nvSpPr>
        <p:spPr>
          <a:xfrm>
            <a:off x="9918452"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FORMULIEREN</a:t>
            </a:r>
          </a:p>
        </p:txBody>
      </p:sp>
      <p:sp>
        <p:nvSpPr>
          <p:cNvPr id="12" name="Rectangle 11"/>
          <p:cNvSpPr/>
          <p:nvPr/>
        </p:nvSpPr>
        <p:spPr>
          <a:xfrm>
            <a:off x="634984" y="571485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984" y="5867253"/>
            <a:ext cx="10921726" cy="253993"/>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Podoloog meet · arts schrijft voor · het onderzoeksteam verwerkt</a:t>
            </a:r>
          </a:p>
        </p:txBody>
      </p:sp>
      <p:sp>
        <p:nvSpPr>
          <p:cNvPr id="14" name="TextBox 1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27 / 71</a:t>
            </a:r>
          </a:p>
        </p:txBody>
      </p:sp>
      <p:pic>
        <p:nvPicPr>
          <p:cNvPr id="15"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6" name="TextBox 15"/>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   |   26 · Lincoln 2007, NAFF</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01</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Demografie en voorgeschiedenis, inclusief nierfunctie, eGFR, hartaandoening en diabetesmedicatie.</a:t>
            </a:r>
          </a:p>
        </p:txBody>
      </p:sp>
      <p:sp>
        <p:nvSpPr>
          <p:cNvPr id="6" name="!!rail0"/>
          <p:cNvSpPr/>
          <p:nvPr/>
        </p:nvSpPr>
        <p:spPr>
          <a:xfrm>
            <a:off x="660383"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28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02</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Voet- en schoeiselscreening, en klasseer een eventueel ulcus.</a:t>
            </a:r>
          </a:p>
        </p:txBody>
      </p:sp>
      <p:sp>
        <p:nvSpPr>
          <p:cNvPr id="6"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220630"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29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03</a:t>
            </a:r>
          </a:p>
        </p:txBody>
      </p:sp>
      <p:pic>
        <p:nvPicPr>
          <p:cNvPr id="5" name="fotokader" descr="plaatshouder.png"/>
          <p:cNvPicPr>
            <a:picLocks noChangeAspect="1"/>
          </p:cNvPicPr>
          <p:nvPr/>
        </p:nvPicPr>
        <p:blipFill>
          <a:blip r:embed="rId2"/>
          <a:stretch>
            <a:fillRect/>
          </a:stretch>
        </p:blipFill>
        <p:spPr>
          <a:xfrm>
            <a:off x="7111822" y="1595397"/>
            <a:ext cx="4444888" cy="2778055"/>
          </a:xfrm>
          <a:prstGeom prst="rect">
            <a:avLst/>
          </a:prstGeom>
        </p:spPr>
      </p:pic>
      <p:sp>
        <p:nvSpPr>
          <p:cNvPr id="6" name="TextBox 5"/>
          <p:cNvSpPr txBox="1"/>
          <p:nvPr/>
        </p:nvSpPr>
        <p:spPr>
          <a:xfrm>
            <a:off x="7111822" y="4482987"/>
            <a:ext cx="4444888" cy="380990"/>
          </a:xfrm>
          <a:prstGeom prst="rect">
            <a:avLst/>
          </a:prstGeom>
          <a:noFill/>
        </p:spPr>
        <p:txBody>
          <a:bodyPr wrap="square" anchor="t" lIns="0" rIns="0" tIns="0" bIns="0">
            <a:spAutoFit/>
          </a:bodyPr>
          <a:lstStyle/>
          <a:p>
            <a:pPr algn="l">
              <a:lnSpc>
                <a:spcPct val="125000"/>
              </a:lnSpc>
            </a:pPr>
            <a:r>
              <a:rPr sz="1350" b="0">
                <a:solidFill>
                  <a:srgbClr val="8FB6D0"/>
                </a:solidFill>
                <a:latin typeface="Consolas"/>
              </a:rPr>
              <a:t>Sensoren met dubbelzijdige tape op de blote voet, kous erover</a:t>
            </a:r>
          </a:p>
        </p:txBody>
      </p:sp>
      <p:sp>
        <p:nvSpPr>
          <p:cNvPr id="7" name="!!staptekst"/>
          <p:cNvSpPr txBox="1"/>
          <p:nvPr/>
        </p:nvSpPr>
        <p:spPr>
          <a:xfrm>
            <a:off x="3174920" y="1587460"/>
            <a:ext cx="3936901" cy="3174920"/>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Drukmeting blootsvoets: drie metingen per voet.</a:t>
            </a:r>
          </a:p>
        </p:txBody>
      </p:sp>
      <p:sp>
        <p:nvSpPr>
          <p:cNvPr id="8"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2"/>
          <p:cNvSpPr/>
          <p:nvPr/>
        </p:nvSpPr>
        <p:spPr>
          <a:xfrm>
            <a:off x="3780876"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30 / 71</a:t>
            </a:r>
          </a:p>
        </p:txBody>
      </p:sp>
      <p:pic>
        <p:nvPicPr>
          <p:cNvPr id="16"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04</a:t>
            </a:r>
          </a:p>
        </p:txBody>
      </p:sp>
      <p:pic>
        <p:nvPicPr>
          <p:cNvPr id="5" name="fotokader" descr="plaatshouder.png"/>
          <p:cNvPicPr>
            <a:picLocks noChangeAspect="1"/>
          </p:cNvPicPr>
          <p:nvPr/>
        </p:nvPicPr>
        <p:blipFill>
          <a:blip r:embed="rId2"/>
          <a:stretch>
            <a:fillRect/>
          </a:stretch>
        </p:blipFill>
        <p:spPr>
          <a:xfrm>
            <a:off x="7111822" y="1595397"/>
            <a:ext cx="4444888" cy="2778055"/>
          </a:xfrm>
          <a:prstGeom prst="rect">
            <a:avLst/>
          </a:prstGeom>
        </p:spPr>
      </p:pic>
      <p:sp>
        <p:nvSpPr>
          <p:cNvPr id="6" name="TextBox 5"/>
          <p:cNvSpPr txBox="1"/>
          <p:nvPr/>
        </p:nvSpPr>
        <p:spPr>
          <a:xfrm>
            <a:off x="7111822" y="4482987"/>
            <a:ext cx="4444888" cy="380990"/>
          </a:xfrm>
          <a:prstGeom prst="rect">
            <a:avLst/>
          </a:prstGeom>
          <a:noFill/>
        </p:spPr>
        <p:txBody>
          <a:bodyPr wrap="square" anchor="t" lIns="0" rIns="0" tIns="0" bIns="0">
            <a:spAutoFit/>
          </a:bodyPr>
          <a:lstStyle/>
          <a:p>
            <a:pPr algn="l">
              <a:lnSpc>
                <a:spcPct val="125000"/>
              </a:lnSpc>
            </a:pPr>
            <a:r>
              <a:rPr sz="1350" b="0">
                <a:solidFill>
                  <a:srgbClr val="8FB6D0"/>
                </a:solidFill>
                <a:latin typeface="Consolas"/>
              </a:rPr>
              <a:t>Schermafdruk van de multimask met de drie regio's aangeduid</a:t>
            </a:r>
          </a:p>
        </p:txBody>
      </p:sp>
      <p:sp>
        <p:nvSpPr>
          <p:cNvPr id="7" name="!!staptekst"/>
          <p:cNvSpPr txBox="1"/>
          <p:nvPr/>
        </p:nvSpPr>
        <p:spPr>
          <a:xfrm>
            <a:off x="3174920" y="1587460"/>
            <a:ext cx="3936901" cy="3174920"/>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Bepaal de drie doelregio's en schrijf de zool voor, mét die regio's op het voorschrift.</a:t>
            </a:r>
          </a:p>
        </p:txBody>
      </p:sp>
      <p:sp>
        <p:nvSpPr>
          <p:cNvPr id="8"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3"/>
          <p:cNvSpPr/>
          <p:nvPr/>
        </p:nvSpPr>
        <p:spPr>
          <a:xfrm>
            <a:off x="5341123"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31 / 71</a:t>
            </a:r>
          </a:p>
        </p:txBody>
      </p:sp>
      <p:pic>
        <p:nvPicPr>
          <p:cNvPr id="16"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05</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Vragenlijsten vóór het educatiegesprek: NAFF en HLS-EU-6. Daarna tevredenheid, schoeiselgebruik en EQ-5D-5L.</a:t>
            </a:r>
          </a:p>
        </p:txBody>
      </p:sp>
      <p:sp>
        <p:nvSpPr>
          <p:cNvPr id="6"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6901370"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32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06</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SEBIA stap 1: educatie op maat, voordoen, en de patiënt het zelf laten uitvoeren. Leg dat vast in het logboek.</a:t>
            </a:r>
          </a:p>
        </p:txBody>
      </p:sp>
      <p:sp>
        <p:nvSpPr>
          <p:cNvPr id="6"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8461617"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33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1</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07</a:t>
            </a:r>
          </a:p>
        </p:txBody>
      </p:sp>
      <p:pic>
        <p:nvPicPr>
          <p:cNvPr id="5" name="fotokader" descr="plaatshouder.png"/>
          <p:cNvPicPr>
            <a:picLocks noChangeAspect="1"/>
          </p:cNvPicPr>
          <p:nvPr/>
        </p:nvPicPr>
        <p:blipFill>
          <a:blip r:embed="rId2"/>
          <a:stretch>
            <a:fillRect/>
          </a:stretch>
        </p:blipFill>
        <p:spPr>
          <a:xfrm>
            <a:off x="7111822" y="1595397"/>
            <a:ext cx="4444888" cy="2778055"/>
          </a:xfrm>
          <a:prstGeom prst="rect">
            <a:avLst/>
          </a:prstGeom>
        </p:spPr>
      </p:pic>
      <p:sp>
        <p:nvSpPr>
          <p:cNvPr id="6" name="TextBox 5"/>
          <p:cNvSpPr txBox="1"/>
          <p:nvPr/>
        </p:nvSpPr>
        <p:spPr>
          <a:xfrm>
            <a:off x="7111822" y="4482987"/>
            <a:ext cx="4444888" cy="380990"/>
          </a:xfrm>
          <a:prstGeom prst="rect">
            <a:avLst/>
          </a:prstGeom>
          <a:noFill/>
        </p:spPr>
        <p:txBody>
          <a:bodyPr wrap="square" anchor="t" lIns="0" rIns="0" tIns="0" bIns="0">
            <a:spAutoFit/>
          </a:bodyPr>
          <a:lstStyle/>
          <a:p>
            <a:pPr algn="l">
              <a:lnSpc>
                <a:spcPct val="125000"/>
              </a:lnSpc>
            </a:pPr>
            <a:r>
              <a:rPr sz="1350" b="0">
                <a:solidFill>
                  <a:srgbClr val="8FB6D0"/>
                </a:solidFill>
                <a:latin typeface="Consolas"/>
              </a:rPr>
              <a:t>Toestel om het middel, ter hoogte van L5</a:t>
            </a:r>
          </a:p>
        </p:txBody>
      </p:sp>
      <p:sp>
        <p:nvSpPr>
          <p:cNvPr id="7" name="!!staptekst"/>
          <p:cNvSpPr txBox="1"/>
          <p:nvPr/>
        </p:nvSpPr>
        <p:spPr>
          <a:xfrm>
            <a:off x="3174920" y="1587460"/>
            <a:ext cx="3936901" cy="3174920"/>
          </a:xfrm>
          <a:prstGeom prst="rect">
            <a:avLst/>
          </a:prstGeom>
          <a:noFill/>
        </p:spPr>
        <p:txBody>
          <a:bodyPr wrap="square" anchor="t" lIns="0" rIns="0" tIns="0" bIns="0">
            <a:spAutoFit/>
          </a:bodyPr>
          <a:lstStyle/>
          <a:p>
            <a:pPr algn="l">
              <a:lnSpc>
                <a:spcPct val="125000"/>
              </a:lnSpc>
            </a:pPr>
            <a:r>
              <a:rPr sz="3600" b="1">
                <a:solidFill>
                  <a:srgbClr val="F2F8FC"/>
                </a:solidFill>
                <a:latin typeface="Segoe UI"/>
              </a:rPr>
              <a:t>Geef de MoveMonitor mee voor zeven dagen en registreer het toestelnummer.</a:t>
            </a:r>
          </a:p>
        </p:txBody>
      </p:sp>
      <p:sp>
        <p:nvSpPr>
          <p:cNvPr id="8" name="TextBox 7"/>
          <p:cNvSpPr txBox="1"/>
          <p:nvPr/>
        </p:nvSpPr>
        <p:spPr>
          <a:xfrm>
            <a:off x="2984425" y="4063898"/>
            <a:ext cx="8572285"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WAT U HIERBIJ INVULT</a:t>
            </a:r>
          </a:p>
        </p:txBody>
      </p:sp>
      <p:sp>
        <p:nvSpPr>
          <p:cNvPr id="9" name="Rounded Rectangle 8"/>
          <p:cNvSpPr/>
          <p:nvPr/>
        </p:nvSpPr>
        <p:spPr>
          <a:xfrm>
            <a:off x="298442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062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07</a:t>
            </a:r>
          </a:p>
        </p:txBody>
      </p:sp>
      <p:sp>
        <p:nvSpPr>
          <p:cNvPr id="11" name="TextBox 10"/>
          <p:cNvSpPr txBox="1"/>
          <p:nvPr/>
        </p:nvSpPr>
        <p:spPr>
          <a:xfrm>
            <a:off x="3403514"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Demografie</a:t>
            </a:r>
          </a:p>
        </p:txBody>
      </p:sp>
      <p:sp>
        <p:nvSpPr>
          <p:cNvPr id="12" name="Rounded Rectangle 11"/>
          <p:cNvSpPr/>
          <p:nvPr/>
        </p:nvSpPr>
        <p:spPr>
          <a:xfrm>
            <a:off x="4711582"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87780"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08</a:t>
            </a:r>
          </a:p>
        </p:txBody>
      </p:sp>
      <p:sp>
        <p:nvSpPr>
          <p:cNvPr id="14" name="TextBox 13"/>
          <p:cNvSpPr txBox="1"/>
          <p:nvPr/>
        </p:nvSpPr>
        <p:spPr>
          <a:xfrm>
            <a:off x="5130671"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Voet en schoeisel</a:t>
            </a:r>
          </a:p>
        </p:txBody>
      </p:sp>
      <p:sp>
        <p:nvSpPr>
          <p:cNvPr id="15" name="Rounded Rectangle 14"/>
          <p:cNvSpPr/>
          <p:nvPr/>
        </p:nvSpPr>
        <p:spPr>
          <a:xfrm>
            <a:off x="6438739"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4937"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09</a:t>
            </a:r>
          </a:p>
        </p:txBody>
      </p:sp>
      <p:sp>
        <p:nvSpPr>
          <p:cNvPr id="17" name="TextBox 16"/>
          <p:cNvSpPr txBox="1"/>
          <p:nvPr/>
        </p:nvSpPr>
        <p:spPr>
          <a:xfrm>
            <a:off x="6857828"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Drukmeting</a:t>
            </a:r>
          </a:p>
        </p:txBody>
      </p:sp>
      <p:sp>
        <p:nvSpPr>
          <p:cNvPr id="18" name="Rounded Rectangle 17"/>
          <p:cNvSpPr/>
          <p:nvPr/>
        </p:nvSpPr>
        <p:spPr>
          <a:xfrm>
            <a:off x="816589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209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10</a:t>
            </a:r>
          </a:p>
        </p:txBody>
      </p:sp>
      <p:sp>
        <p:nvSpPr>
          <p:cNvPr id="20" name="TextBox 19"/>
          <p:cNvSpPr txBox="1"/>
          <p:nvPr/>
        </p:nvSpPr>
        <p:spPr>
          <a:xfrm>
            <a:off x="8584985"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Voorschrift CMFO</a:t>
            </a:r>
          </a:p>
        </p:txBody>
      </p:sp>
      <p:sp>
        <p:nvSpPr>
          <p:cNvPr id="21" name="Rounded Rectangle 20"/>
          <p:cNvSpPr/>
          <p:nvPr/>
        </p:nvSpPr>
        <p:spPr>
          <a:xfrm>
            <a:off x="9893052"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9250"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12</a:t>
            </a:r>
          </a:p>
        </p:txBody>
      </p:sp>
      <p:sp>
        <p:nvSpPr>
          <p:cNvPr id="23" name="TextBox 22"/>
          <p:cNvSpPr txBox="1"/>
          <p:nvPr/>
        </p:nvSpPr>
        <p:spPr>
          <a:xfrm>
            <a:off x="10312142"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Tevredenheid</a:t>
            </a:r>
          </a:p>
        </p:txBody>
      </p:sp>
      <p:sp>
        <p:nvSpPr>
          <p:cNvPr id="24" name="Rounded Rectangle 23"/>
          <p:cNvSpPr/>
          <p:nvPr/>
        </p:nvSpPr>
        <p:spPr>
          <a:xfrm>
            <a:off x="2984425"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60623"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13</a:t>
            </a:r>
          </a:p>
        </p:txBody>
      </p:sp>
      <p:sp>
        <p:nvSpPr>
          <p:cNvPr id="26" name="TextBox 25"/>
          <p:cNvSpPr txBox="1"/>
          <p:nvPr/>
        </p:nvSpPr>
        <p:spPr>
          <a:xfrm>
            <a:off x="3403514"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Schoeiselgebruik</a:t>
            </a:r>
          </a:p>
        </p:txBody>
      </p:sp>
      <p:sp>
        <p:nvSpPr>
          <p:cNvPr id="27" name="Rounded Rectangle 26"/>
          <p:cNvSpPr/>
          <p:nvPr/>
        </p:nvSpPr>
        <p:spPr>
          <a:xfrm>
            <a:off x="4711582"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87780"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14</a:t>
            </a:r>
          </a:p>
        </p:txBody>
      </p:sp>
      <p:sp>
        <p:nvSpPr>
          <p:cNvPr id="29" name="TextBox 28"/>
          <p:cNvSpPr txBox="1"/>
          <p:nvPr/>
        </p:nvSpPr>
        <p:spPr>
          <a:xfrm>
            <a:off x="5130671"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NAFF</a:t>
            </a:r>
          </a:p>
        </p:txBody>
      </p:sp>
      <p:sp>
        <p:nvSpPr>
          <p:cNvPr id="30" name="Rounded Rectangle 29"/>
          <p:cNvSpPr/>
          <p:nvPr/>
        </p:nvSpPr>
        <p:spPr>
          <a:xfrm>
            <a:off x="6438739"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4937"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15</a:t>
            </a:r>
          </a:p>
        </p:txBody>
      </p:sp>
      <p:sp>
        <p:nvSpPr>
          <p:cNvPr id="32" name="TextBox 31"/>
          <p:cNvSpPr txBox="1"/>
          <p:nvPr/>
        </p:nvSpPr>
        <p:spPr>
          <a:xfrm>
            <a:off x="6857828"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HLS-EU-6</a:t>
            </a:r>
          </a:p>
        </p:txBody>
      </p:sp>
      <p:sp>
        <p:nvSpPr>
          <p:cNvPr id="33" name="Rounded Rectangle 32"/>
          <p:cNvSpPr/>
          <p:nvPr/>
        </p:nvSpPr>
        <p:spPr>
          <a:xfrm>
            <a:off x="8165895"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2093"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16</a:t>
            </a:r>
          </a:p>
        </p:txBody>
      </p:sp>
      <p:sp>
        <p:nvSpPr>
          <p:cNvPr id="35" name="TextBox 34"/>
          <p:cNvSpPr txBox="1"/>
          <p:nvPr/>
        </p:nvSpPr>
        <p:spPr>
          <a:xfrm>
            <a:off x="8584985"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Educatieboekje</a:t>
            </a:r>
          </a:p>
        </p:txBody>
      </p:sp>
      <p:sp>
        <p:nvSpPr>
          <p:cNvPr id="36" name="Rounded Rectangle 35"/>
          <p:cNvSpPr/>
          <p:nvPr/>
        </p:nvSpPr>
        <p:spPr>
          <a:xfrm>
            <a:off x="9893052"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9250"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18</a:t>
            </a:r>
          </a:p>
        </p:txBody>
      </p:sp>
      <p:sp>
        <p:nvSpPr>
          <p:cNvPr id="38" name="TextBox 37"/>
          <p:cNvSpPr txBox="1"/>
          <p:nvPr/>
        </p:nvSpPr>
        <p:spPr>
          <a:xfrm>
            <a:off x="10312142"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Logboek educatie</a:t>
            </a:r>
          </a:p>
        </p:txBody>
      </p:sp>
      <p:sp>
        <p:nvSpPr>
          <p:cNvPr id="39" name="Rounded Rectangle 38"/>
          <p:cNvSpPr/>
          <p:nvPr/>
        </p:nvSpPr>
        <p:spPr>
          <a:xfrm>
            <a:off x="2984425" y="5041773"/>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60623" y="5117972"/>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19</a:t>
            </a:r>
          </a:p>
        </p:txBody>
      </p:sp>
      <p:sp>
        <p:nvSpPr>
          <p:cNvPr id="41" name="TextBox 40"/>
          <p:cNvSpPr txBox="1"/>
          <p:nvPr/>
        </p:nvSpPr>
        <p:spPr>
          <a:xfrm>
            <a:off x="3403514" y="5130671"/>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MoveMonitor</a:t>
            </a:r>
          </a:p>
        </p:txBody>
      </p:sp>
      <p:sp>
        <p:nvSpPr>
          <p:cNvPr id="42" name="Rounded Rectangle 41"/>
          <p:cNvSpPr/>
          <p:nvPr/>
        </p:nvSpPr>
        <p:spPr>
          <a:xfrm>
            <a:off x="4711582" y="5041773"/>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87780" y="5117972"/>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20</a:t>
            </a:r>
          </a:p>
        </p:txBody>
      </p:sp>
      <p:sp>
        <p:nvSpPr>
          <p:cNvPr id="44" name="TextBox 43"/>
          <p:cNvSpPr txBox="1"/>
          <p:nvPr/>
        </p:nvSpPr>
        <p:spPr>
          <a:xfrm>
            <a:off x="5130671" y="5130671"/>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UDI MoveMonitor</a:t>
            </a:r>
          </a:p>
        </p:txBody>
      </p:sp>
      <p:sp>
        <p:nvSpPr>
          <p:cNvPr id="45" name="Rounded Rectangle 44"/>
          <p:cNvSpPr/>
          <p:nvPr/>
        </p:nvSpPr>
        <p:spPr>
          <a:xfrm>
            <a:off x="6438739" y="5041773"/>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14937" y="5117972"/>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21</a:t>
            </a:r>
          </a:p>
        </p:txBody>
      </p:sp>
      <p:sp>
        <p:nvSpPr>
          <p:cNvPr id="47" name="TextBox 46"/>
          <p:cNvSpPr txBox="1"/>
          <p:nvPr/>
        </p:nvSpPr>
        <p:spPr>
          <a:xfrm>
            <a:off x="6857828" y="5130671"/>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EQ-5D-5L</a:t>
            </a:r>
          </a:p>
        </p:txBody>
      </p:sp>
      <p:sp>
        <p:nvSpPr>
          <p:cNvPr id="48" name="Rounded Rectangle 47"/>
          <p:cNvSpPr/>
          <p:nvPr/>
        </p:nvSpPr>
        <p:spPr>
          <a:xfrm>
            <a:off x="8165895" y="5041773"/>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42093" y="5117972"/>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48</a:t>
            </a:r>
          </a:p>
        </p:txBody>
      </p:sp>
      <p:sp>
        <p:nvSpPr>
          <p:cNvPr id="50" name="TextBox 49"/>
          <p:cNvSpPr txBox="1"/>
          <p:nvPr/>
        </p:nvSpPr>
        <p:spPr>
          <a:xfrm>
            <a:off x="8584985" y="5130671"/>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Voetzorgfolder</a:t>
            </a:r>
          </a:p>
        </p:txBody>
      </p:sp>
      <p:sp>
        <p:nvSpPr>
          <p:cNvPr id="51" name="Rectangle 50"/>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4984" y="5587860"/>
            <a:ext cx="1269968" cy="215894"/>
          </a:xfrm>
          <a:prstGeom prst="rect">
            <a:avLst/>
          </a:prstGeom>
          <a:noFill/>
        </p:spPr>
        <p:txBody>
          <a:bodyPr wrap="square" anchor="t" lIns="0" rIns="0" tIns="0" bIns="0">
            <a:spAutoFit/>
          </a:bodyPr>
          <a:lstStyle/>
          <a:p>
            <a:pPr algn="l">
              <a:lnSpc>
                <a:spcPct val="125000"/>
              </a:lnSpc>
            </a:pPr>
            <a:r>
              <a:rPr sz="1250" b="1" spc="150">
                <a:solidFill>
                  <a:srgbClr val="FF7A00"/>
                </a:solidFill>
                <a:latin typeface="Consolas"/>
              </a:rPr>
              <a:t>LET OP</a:t>
            </a:r>
          </a:p>
        </p:txBody>
      </p:sp>
      <p:sp>
        <p:nvSpPr>
          <p:cNvPr id="53" name="TextBox 52"/>
          <p:cNvSpPr txBox="1"/>
          <p:nvPr/>
        </p:nvSpPr>
        <p:spPr>
          <a:xfrm>
            <a:off x="2031949" y="5562460"/>
            <a:ext cx="9524761" cy="571485"/>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Het voorschrift van de zool gebeurt hier, op de baseline — niet later. En NAFF en HLS-EU-6 gaan vóór de educatie, anders meet u uw eigen uitleg in plaats van de voorkennis van de patiënt.</a:t>
            </a:r>
          </a:p>
        </p:txBody>
      </p:sp>
      <p:sp>
        <p:nvSpPr>
          <p:cNvPr id="54"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ail6"/>
          <p:cNvSpPr/>
          <p:nvPr/>
        </p:nvSpPr>
        <p:spPr>
          <a:xfrm>
            <a:off x="10021863"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34 / 71</a:t>
            </a:r>
          </a:p>
        </p:txBody>
      </p:sp>
      <p:pic>
        <p:nvPicPr>
          <p:cNvPr id="6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2812" y="1142971"/>
            <a:ext cx="4825879" cy="4825879"/>
          </a:xfrm>
          <a:prstGeom prst="ellipse">
            <a:avLst/>
          </a:prstGeom>
          <a:solidFill>
            <a:srgbClr val="52BDEC">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5" name="!!sectietitel"/>
          <p:cNvSpPr txBox="1"/>
          <p:nvPr/>
        </p:nvSpPr>
        <p:spPr>
          <a:xfrm>
            <a:off x="634984" y="1904952"/>
            <a:ext cx="6984825" cy="1818594"/>
          </a:xfrm>
          <a:prstGeom prst="rect">
            <a:avLst/>
          </a:prstGeom>
          <a:noFill/>
        </p:spPr>
        <p:txBody>
          <a:bodyPr wrap="square" anchor="t" lIns="0" rIns="0" tIns="0" bIns="0">
            <a:spAutoFit/>
          </a:bodyPr>
          <a:lstStyle/>
          <a:p>
            <a:pPr algn="l">
              <a:lnSpc>
                <a:spcPct val="110000"/>
              </a:lnSpc>
            </a:pPr>
            <a:r>
              <a:rPr sz="5600" b="1">
                <a:solidFill>
                  <a:srgbClr val="F2F8FC"/>
                </a:solidFill>
                <a:latin typeface="Segoe UI"/>
              </a:rPr>
              <a:t>Aflevering, optimalisatie en sensor</a:t>
            </a:r>
          </a:p>
        </p:txBody>
      </p:sp>
      <p:sp>
        <p:nvSpPr>
          <p:cNvPr id="6" name="Rounded Rectangle 5"/>
          <p:cNvSpPr/>
          <p:nvPr/>
        </p:nvSpPr>
        <p:spPr>
          <a:xfrm>
            <a:off x="634984" y="4002939"/>
            <a:ext cx="3555911" cy="304792"/>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4079138"/>
            <a:ext cx="3555911" cy="215894"/>
          </a:xfrm>
          <a:prstGeom prst="rect">
            <a:avLst/>
          </a:prstGeom>
          <a:noFill/>
        </p:spPr>
        <p:txBody>
          <a:bodyPr wrap="square" anchor="t" lIns="0" rIns="0" tIns="0" bIns="0">
            <a:spAutoFit/>
          </a:bodyPr>
          <a:lstStyle/>
          <a:p>
            <a:pPr algn="ctr">
              <a:lnSpc>
                <a:spcPct val="125000"/>
              </a:lnSpc>
            </a:pPr>
            <a:r>
              <a:rPr sz="1400" b="1">
                <a:solidFill>
                  <a:srgbClr val="52BDEC"/>
                </a:solidFill>
                <a:latin typeface="Consolas"/>
              </a:rPr>
              <a:t>Het technisch zwaarste bezoek</a:t>
            </a:r>
          </a:p>
        </p:txBody>
      </p:sp>
      <p:sp>
        <p:nvSpPr>
          <p:cNvPr id="8" name="TextBox 7"/>
          <p:cNvSpPr txBox="1"/>
          <p:nvPr/>
        </p:nvSpPr>
        <p:spPr>
          <a:xfrm>
            <a:off x="8000799"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7</a:t>
            </a:r>
          </a:p>
        </p:txBody>
      </p:sp>
      <p:sp>
        <p:nvSpPr>
          <p:cNvPr id="9" name="TextBox 8"/>
          <p:cNvSpPr txBox="1"/>
          <p:nvPr/>
        </p:nvSpPr>
        <p:spPr>
          <a:xfrm>
            <a:off x="8013499"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HANDELINGEN</a:t>
            </a:r>
          </a:p>
        </p:txBody>
      </p:sp>
      <p:sp>
        <p:nvSpPr>
          <p:cNvPr id="10" name="TextBox 9"/>
          <p:cNvSpPr txBox="1"/>
          <p:nvPr/>
        </p:nvSpPr>
        <p:spPr>
          <a:xfrm>
            <a:off x="9905752"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9</a:t>
            </a:r>
          </a:p>
        </p:txBody>
      </p:sp>
      <p:sp>
        <p:nvSpPr>
          <p:cNvPr id="11" name="TextBox 10"/>
          <p:cNvSpPr txBox="1"/>
          <p:nvPr/>
        </p:nvSpPr>
        <p:spPr>
          <a:xfrm>
            <a:off x="9918452"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FORMULIEREN</a:t>
            </a:r>
          </a:p>
        </p:txBody>
      </p:sp>
      <p:sp>
        <p:nvSpPr>
          <p:cNvPr id="12" name="Rectangle 11"/>
          <p:cNvSpPr/>
          <p:nvPr/>
        </p:nvSpPr>
        <p:spPr>
          <a:xfrm>
            <a:off x="634984" y="571485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984" y="5867253"/>
            <a:ext cx="10921726" cy="253993"/>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Pedorthist past aan · podoloog meet, plaatst de sensor en begeleidt</a:t>
            </a:r>
          </a:p>
        </p:txBody>
      </p:sp>
      <p:sp>
        <p:nvSpPr>
          <p:cNvPr id="14" name="TextBox 1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35 / 71</a:t>
            </a:r>
          </a:p>
        </p:txBody>
      </p:sp>
      <p:pic>
        <p:nvPicPr>
          <p:cNvPr id="15"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6" name="TextBox 15"/>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01</a:t>
            </a:r>
          </a:p>
        </p:txBody>
      </p:sp>
      <p:pic>
        <p:nvPicPr>
          <p:cNvPr id="5" name="fotokader" descr="plaatshouder.png"/>
          <p:cNvPicPr>
            <a:picLocks noChangeAspect="1"/>
          </p:cNvPicPr>
          <p:nvPr/>
        </p:nvPicPr>
        <p:blipFill>
          <a:blip r:embed="rId2"/>
          <a:stretch>
            <a:fillRect/>
          </a:stretch>
        </p:blipFill>
        <p:spPr>
          <a:xfrm>
            <a:off x="7111822" y="1595397"/>
            <a:ext cx="4444888" cy="2778055"/>
          </a:xfrm>
          <a:prstGeom prst="rect">
            <a:avLst/>
          </a:prstGeom>
        </p:spPr>
      </p:pic>
      <p:sp>
        <p:nvSpPr>
          <p:cNvPr id="6" name="TextBox 5"/>
          <p:cNvSpPr txBox="1"/>
          <p:nvPr/>
        </p:nvSpPr>
        <p:spPr>
          <a:xfrm>
            <a:off x="7111822" y="4482987"/>
            <a:ext cx="4444888" cy="380990"/>
          </a:xfrm>
          <a:prstGeom prst="rect">
            <a:avLst/>
          </a:prstGeom>
          <a:noFill/>
        </p:spPr>
        <p:txBody>
          <a:bodyPr wrap="square" anchor="t" lIns="0" rIns="0" tIns="0" bIns="0">
            <a:spAutoFit/>
          </a:bodyPr>
          <a:lstStyle/>
          <a:p>
            <a:pPr algn="l">
              <a:lnSpc>
                <a:spcPct val="125000"/>
              </a:lnSpc>
            </a:pPr>
            <a:r>
              <a:rPr sz="1350" b="0">
                <a:solidFill>
                  <a:srgbClr val="8FB6D0"/>
                </a:solidFill>
                <a:latin typeface="Consolas"/>
              </a:rPr>
              <a:t>De zool in de schoen, boven- en onderaanzicht</a:t>
            </a:r>
          </a:p>
        </p:txBody>
      </p:sp>
      <p:sp>
        <p:nvSpPr>
          <p:cNvPr id="7" name="!!staptekst"/>
          <p:cNvSpPr txBox="1"/>
          <p:nvPr/>
        </p:nvSpPr>
        <p:spPr>
          <a:xfrm>
            <a:off x="3174920" y="1587460"/>
            <a:ext cx="3936901" cy="3174920"/>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Lever de zool af. Controleer de pasvorm in het bínnenschoeisel én het búitenschoeisel, en neem de foto's.</a:t>
            </a:r>
          </a:p>
        </p:txBody>
      </p:sp>
      <p:sp>
        <p:nvSpPr>
          <p:cNvPr id="8" name="!!rail0"/>
          <p:cNvSpPr/>
          <p:nvPr/>
        </p:nvSpPr>
        <p:spPr>
          <a:xfrm>
            <a:off x="660383"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36 / 71</a:t>
            </a:r>
          </a:p>
        </p:txBody>
      </p:sp>
      <p:pic>
        <p:nvPicPr>
          <p:cNvPr id="16"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02</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Meet de drukherverdeling en toets de norm per doelregio.</a:t>
            </a:r>
          </a:p>
        </p:txBody>
      </p:sp>
      <p:sp>
        <p:nvSpPr>
          <p:cNvPr id="6"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220630"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37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03</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Niet gehaald? Pas aan en meet opnieuw. Is ze gehaald, laat dan een tweede, identiek paar maken.</a:t>
            </a:r>
          </a:p>
        </p:txBody>
      </p:sp>
      <p:sp>
        <p:nvSpPr>
          <p:cNvPr id="6"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3780876"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38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04</a:t>
            </a:r>
          </a:p>
        </p:txBody>
      </p:sp>
      <p:pic>
        <p:nvPicPr>
          <p:cNvPr id="5" name="fotokader" descr="plaatshouder.png"/>
          <p:cNvPicPr>
            <a:picLocks noChangeAspect="1"/>
          </p:cNvPicPr>
          <p:nvPr/>
        </p:nvPicPr>
        <p:blipFill>
          <a:blip r:embed="rId2"/>
          <a:stretch>
            <a:fillRect/>
          </a:stretch>
        </p:blipFill>
        <p:spPr>
          <a:xfrm>
            <a:off x="7111822" y="1595397"/>
            <a:ext cx="4444888" cy="2778055"/>
          </a:xfrm>
          <a:prstGeom prst="rect">
            <a:avLst/>
          </a:prstGeom>
        </p:spPr>
      </p:pic>
      <p:sp>
        <p:nvSpPr>
          <p:cNvPr id="6" name="TextBox 5"/>
          <p:cNvSpPr txBox="1"/>
          <p:nvPr/>
        </p:nvSpPr>
        <p:spPr>
          <a:xfrm>
            <a:off x="7111822" y="4482987"/>
            <a:ext cx="4444888" cy="380990"/>
          </a:xfrm>
          <a:prstGeom prst="rect">
            <a:avLst/>
          </a:prstGeom>
          <a:noFill/>
        </p:spPr>
        <p:txBody>
          <a:bodyPr wrap="square" anchor="t" lIns="0" rIns="0" tIns="0" bIns="0">
            <a:spAutoFit/>
          </a:bodyPr>
          <a:lstStyle/>
          <a:p>
            <a:pPr algn="l">
              <a:lnSpc>
                <a:spcPct val="125000"/>
              </a:lnSpc>
            </a:pPr>
            <a:r>
              <a:rPr sz="1350" b="0">
                <a:solidFill>
                  <a:srgbClr val="8FB6D0"/>
                </a:solidFill>
                <a:latin typeface="Consolas"/>
              </a:rPr>
              <a:t>De uitsparing in de zool met de sensor erin</a:t>
            </a:r>
          </a:p>
        </p:txBody>
      </p:sp>
      <p:sp>
        <p:nvSpPr>
          <p:cNvPr id="7" name="!!staptekst"/>
          <p:cNvSpPr txBox="1"/>
          <p:nvPr/>
        </p:nvSpPr>
        <p:spPr>
          <a:xfrm>
            <a:off x="3174920" y="1587460"/>
            <a:ext cx="3936901" cy="3174920"/>
          </a:xfrm>
          <a:prstGeom prst="rect">
            <a:avLst/>
          </a:prstGeom>
          <a:noFill/>
        </p:spPr>
        <p:txBody>
          <a:bodyPr wrap="square" anchor="t" lIns="0" rIns="0" tIns="0" bIns="0">
            <a:spAutoFit/>
          </a:bodyPr>
          <a:lstStyle/>
          <a:p>
            <a:pPr algn="l">
              <a:lnSpc>
                <a:spcPct val="125000"/>
              </a:lnSpc>
            </a:pPr>
            <a:r>
              <a:rPr sz="3600" b="1">
                <a:solidFill>
                  <a:srgbClr val="F2F8FC"/>
                </a:solidFill>
                <a:latin typeface="Segoe UI"/>
              </a:rPr>
              <a:t>Plaats en activeer de Orthotimer in de zool en registreer het toestelnummer.</a:t>
            </a:r>
          </a:p>
        </p:txBody>
      </p:sp>
      <p:sp>
        <p:nvSpPr>
          <p:cNvPr id="8"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3"/>
          <p:cNvSpPr/>
          <p:nvPr/>
        </p:nvSpPr>
        <p:spPr>
          <a:xfrm>
            <a:off x="5341123"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39 / 71</a:t>
            </a:r>
          </a:p>
        </p:txBody>
      </p:sp>
      <p:pic>
        <p:nvPicPr>
          <p:cNvPr id="16"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05</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Neem de MoveMonitor terug en registreer de teruggave.</a:t>
            </a:r>
          </a:p>
        </p:txBody>
      </p:sp>
      <p:sp>
        <p:nvSpPr>
          <p:cNvPr id="6"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6901370"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40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06</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SEBIA stap 2: bespreek het activiteitenprofiel, doe de teach-back en geef de sensorfolder mee.</a:t>
            </a:r>
          </a:p>
        </p:txBody>
      </p:sp>
      <p:sp>
        <p:nvSpPr>
          <p:cNvPr id="6"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8461617"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6"/>
          <p:cNvSpPr/>
          <p:nvPr/>
        </p:nvSpPr>
        <p:spPr>
          <a:xfrm>
            <a:off x="1002186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41 / 71</a:t>
            </a:r>
          </a:p>
        </p:txBody>
      </p:sp>
      <p:pic>
        <p:nvPicPr>
          <p:cNvPr id="1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 2 · VEERTIEN DAGEN TOT ÉÉN MAAND</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07</a:t>
            </a:r>
          </a:p>
        </p:txBody>
      </p:sp>
      <p:sp>
        <p:nvSpPr>
          <p:cNvPr id="5" name="!!staptekst"/>
          <p:cNvSpPr txBox="1"/>
          <p:nvPr/>
        </p:nvSpPr>
        <p:spPr>
          <a:xfrm>
            <a:off x="3174920" y="1587460"/>
            <a:ext cx="8381790" cy="2222444"/>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Bevraag de overtuigingen en gewoontes rond schoeisel.</a:t>
            </a:r>
          </a:p>
        </p:txBody>
      </p:sp>
      <p:sp>
        <p:nvSpPr>
          <p:cNvPr id="6" name="TextBox 5"/>
          <p:cNvSpPr txBox="1"/>
          <p:nvPr/>
        </p:nvSpPr>
        <p:spPr>
          <a:xfrm>
            <a:off x="2984425" y="4063898"/>
            <a:ext cx="8572285"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WAT U HIERBIJ INVULT</a:t>
            </a:r>
          </a:p>
        </p:txBody>
      </p:sp>
      <p:sp>
        <p:nvSpPr>
          <p:cNvPr id="7" name="Rounded Rectangle 6"/>
          <p:cNvSpPr/>
          <p:nvPr/>
        </p:nvSpPr>
        <p:spPr>
          <a:xfrm>
            <a:off x="298442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062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23</a:t>
            </a:r>
          </a:p>
        </p:txBody>
      </p:sp>
      <p:sp>
        <p:nvSpPr>
          <p:cNvPr id="9" name="TextBox 8"/>
          <p:cNvSpPr txBox="1"/>
          <p:nvPr/>
        </p:nvSpPr>
        <p:spPr>
          <a:xfrm>
            <a:off x="3403514"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Aanpassing</a:t>
            </a:r>
          </a:p>
        </p:txBody>
      </p:sp>
      <p:sp>
        <p:nvSpPr>
          <p:cNvPr id="10" name="Rounded Rectangle 9"/>
          <p:cNvSpPr/>
          <p:nvPr/>
        </p:nvSpPr>
        <p:spPr>
          <a:xfrm>
            <a:off x="4711582"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7780"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24</a:t>
            </a:r>
          </a:p>
        </p:txBody>
      </p:sp>
      <p:sp>
        <p:nvSpPr>
          <p:cNvPr id="12" name="TextBox 11"/>
          <p:cNvSpPr txBox="1"/>
          <p:nvPr/>
        </p:nvSpPr>
        <p:spPr>
          <a:xfrm>
            <a:off x="5130671"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Drukherverdeling</a:t>
            </a:r>
          </a:p>
        </p:txBody>
      </p:sp>
      <p:sp>
        <p:nvSpPr>
          <p:cNvPr id="13" name="Rounded Rectangle 12"/>
          <p:cNvSpPr/>
          <p:nvPr/>
        </p:nvSpPr>
        <p:spPr>
          <a:xfrm>
            <a:off x="6438739"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4937"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24b</a:t>
            </a:r>
          </a:p>
        </p:txBody>
      </p:sp>
      <p:sp>
        <p:nvSpPr>
          <p:cNvPr id="15" name="TextBox 14"/>
          <p:cNvSpPr txBox="1"/>
          <p:nvPr/>
        </p:nvSpPr>
        <p:spPr>
          <a:xfrm>
            <a:off x="6857828"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Opvolgtool</a:t>
            </a:r>
          </a:p>
        </p:txBody>
      </p:sp>
      <p:sp>
        <p:nvSpPr>
          <p:cNvPr id="16" name="Rounded Rectangle 15"/>
          <p:cNvSpPr/>
          <p:nvPr/>
        </p:nvSpPr>
        <p:spPr>
          <a:xfrm>
            <a:off x="816589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209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25</a:t>
            </a:r>
          </a:p>
        </p:txBody>
      </p:sp>
      <p:sp>
        <p:nvSpPr>
          <p:cNvPr id="18" name="TextBox 17"/>
          <p:cNvSpPr txBox="1"/>
          <p:nvPr/>
        </p:nvSpPr>
        <p:spPr>
          <a:xfrm>
            <a:off x="8584985"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UDI Orthotimer</a:t>
            </a:r>
          </a:p>
        </p:txBody>
      </p:sp>
      <p:sp>
        <p:nvSpPr>
          <p:cNvPr id="19" name="Rounded Rectangle 18"/>
          <p:cNvSpPr/>
          <p:nvPr/>
        </p:nvSpPr>
        <p:spPr>
          <a:xfrm>
            <a:off x="9893052"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9250"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26</a:t>
            </a:r>
          </a:p>
        </p:txBody>
      </p:sp>
      <p:sp>
        <p:nvSpPr>
          <p:cNvPr id="21" name="TextBox 20"/>
          <p:cNvSpPr txBox="1"/>
          <p:nvPr/>
        </p:nvSpPr>
        <p:spPr>
          <a:xfrm>
            <a:off x="10312142"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Overtuigingen</a:t>
            </a:r>
          </a:p>
        </p:txBody>
      </p:sp>
      <p:sp>
        <p:nvSpPr>
          <p:cNvPr id="22" name="Rounded Rectangle 21"/>
          <p:cNvSpPr/>
          <p:nvPr/>
        </p:nvSpPr>
        <p:spPr>
          <a:xfrm>
            <a:off x="2984425"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60623"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27</a:t>
            </a:r>
          </a:p>
        </p:txBody>
      </p:sp>
      <p:sp>
        <p:nvSpPr>
          <p:cNvPr id="24" name="TextBox 23"/>
          <p:cNvSpPr txBox="1"/>
          <p:nvPr/>
        </p:nvSpPr>
        <p:spPr>
          <a:xfrm>
            <a:off x="3403514"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Teruggave MoveMon.</a:t>
            </a:r>
          </a:p>
        </p:txBody>
      </p:sp>
      <p:sp>
        <p:nvSpPr>
          <p:cNvPr id="25" name="Rounded Rectangle 24"/>
          <p:cNvSpPr/>
          <p:nvPr/>
        </p:nvSpPr>
        <p:spPr>
          <a:xfrm>
            <a:off x="4711582"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87780"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28</a:t>
            </a:r>
          </a:p>
        </p:txBody>
      </p:sp>
      <p:sp>
        <p:nvSpPr>
          <p:cNvPr id="27" name="TextBox 26"/>
          <p:cNvSpPr txBox="1"/>
          <p:nvPr/>
        </p:nvSpPr>
        <p:spPr>
          <a:xfrm>
            <a:off x="5130671"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Activiteitsprofiel</a:t>
            </a:r>
          </a:p>
        </p:txBody>
      </p:sp>
      <p:sp>
        <p:nvSpPr>
          <p:cNvPr id="28" name="Rounded Rectangle 27"/>
          <p:cNvSpPr/>
          <p:nvPr/>
        </p:nvSpPr>
        <p:spPr>
          <a:xfrm>
            <a:off x="6438739"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4937"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29</a:t>
            </a:r>
          </a:p>
        </p:txBody>
      </p:sp>
      <p:sp>
        <p:nvSpPr>
          <p:cNvPr id="30" name="TextBox 29"/>
          <p:cNvSpPr txBox="1"/>
          <p:nvPr/>
        </p:nvSpPr>
        <p:spPr>
          <a:xfrm>
            <a:off x="6857828"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Teach-back</a:t>
            </a:r>
          </a:p>
        </p:txBody>
      </p:sp>
      <p:sp>
        <p:nvSpPr>
          <p:cNvPr id="31" name="Rounded Rectangle 30"/>
          <p:cNvSpPr/>
          <p:nvPr/>
        </p:nvSpPr>
        <p:spPr>
          <a:xfrm>
            <a:off x="8165895"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2093"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30</a:t>
            </a:r>
          </a:p>
        </p:txBody>
      </p:sp>
      <p:sp>
        <p:nvSpPr>
          <p:cNvPr id="33" name="TextBox 32"/>
          <p:cNvSpPr txBox="1"/>
          <p:nvPr/>
        </p:nvSpPr>
        <p:spPr>
          <a:xfrm>
            <a:off x="8584985"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Sensorfolder</a:t>
            </a:r>
          </a:p>
        </p:txBody>
      </p:sp>
      <p:sp>
        <p:nvSpPr>
          <p:cNvPr id="34" name="Rectangle 33"/>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984" y="5587860"/>
            <a:ext cx="1269968" cy="215894"/>
          </a:xfrm>
          <a:prstGeom prst="rect">
            <a:avLst/>
          </a:prstGeom>
          <a:noFill/>
        </p:spPr>
        <p:txBody>
          <a:bodyPr wrap="square" anchor="t" lIns="0" rIns="0" tIns="0" bIns="0">
            <a:spAutoFit/>
          </a:bodyPr>
          <a:lstStyle/>
          <a:p>
            <a:pPr algn="l">
              <a:lnSpc>
                <a:spcPct val="125000"/>
              </a:lnSpc>
            </a:pPr>
            <a:r>
              <a:rPr sz="1250" b="1" spc="150">
                <a:solidFill>
                  <a:srgbClr val="FF7A00"/>
                </a:solidFill>
                <a:latin typeface="Consolas"/>
              </a:rPr>
              <a:t>LET OP</a:t>
            </a:r>
          </a:p>
        </p:txBody>
      </p:sp>
      <p:sp>
        <p:nvSpPr>
          <p:cNvPr id="36" name="TextBox 35"/>
          <p:cNvSpPr txBox="1"/>
          <p:nvPr/>
        </p:nvSpPr>
        <p:spPr>
          <a:xfrm>
            <a:off x="2031949" y="5562460"/>
            <a:ext cx="9524761" cy="571485"/>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De Orthotimer gaat pas in de zool nadat de norm gehaald is. En de uren per dag die u instelt komen uit het activiteitenprofiel van díe patiënt — daarom moet de MoveMonitor eerst terug zijn.</a:t>
            </a:r>
          </a:p>
        </p:txBody>
      </p:sp>
      <p:sp>
        <p:nvSpPr>
          <p:cNvPr id="37" name="!!rail0"/>
          <p:cNvSpPr/>
          <p:nvPr/>
        </p:nvSpPr>
        <p:spPr>
          <a:xfrm>
            <a:off x="66038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ail1"/>
          <p:cNvSpPr/>
          <p:nvPr/>
        </p:nvSpPr>
        <p:spPr>
          <a:xfrm>
            <a:off x="222063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ail2"/>
          <p:cNvSpPr/>
          <p:nvPr/>
        </p:nvSpPr>
        <p:spPr>
          <a:xfrm>
            <a:off x="3780876"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ail3"/>
          <p:cNvSpPr/>
          <p:nvPr/>
        </p:nvSpPr>
        <p:spPr>
          <a:xfrm>
            <a:off x="5341123"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ail4"/>
          <p:cNvSpPr/>
          <p:nvPr/>
        </p:nvSpPr>
        <p:spPr>
          <a:xfrm>
            <a:off x="6901370"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ail5"/>
          <p:cNvSpPr/>
          <p:nvPr/>
        </p:nvSpPr>
        <p:spPr>
          <a:xfrm>
            <a:off x="8461617" y="6387940"/>
            <a:ext cx="1509447"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ail6"/>
          <p:cNvSpPr/>
          <p:nvPr/>
        </p:nvSpPr>
        <p:spPr>
          <a:xfrm>
            <a:off x="10021863" y="6387940"/>
            <a:ext cx="1509447"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42 / 71</a:t>
            </a:r>
          </a:p>
        </p:txBody>
      </p:sp>
      <p:pic>
        <p:nvPicPr>
          <p:cNvPr id="45"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2812" y="1142971"/>
            <a:ext cx="4825879" cy="4825879"/>
          </a:xfrm>
          <a:prstGeom prst="ellipse">
            <a:avLst/>
          </a:prstGeom>
          <a:solidFill>
            <a:srgbClr val="52BDEC">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3 TOT 8 · MAAND 3 TOT 18</a:t>
            </a:r>
          </a:p>
        </p:txBody>
      </p:sp>
      <p:sp>
        <p:nvSpPr>
          <p:cNvPr id="5" name="!!sectietitel"/>
          <p:cNvSpPr txBox="1"/>
          <p:nvPr/>
        </p:nvSpPr>
        <p:spPr>
          <a:xfrm>
            <a:off x="634984" y="1904952"/>
            <a:ext cx="6984825" cy="1818594"/>
          </a:xfrm>
          <a:prstGeom prst="rect">
            <a:avLst/>
          </a:prstGeom>
          <a:noFill/>
        </p:spPr>
        <p:txBody>
          <a:bodyPr wrap="square" anchor="t" lIns="0" rIns="0" tIns="0" bIns="0">
            <a:spAutoFit/>
          </a:bodyPr>
          <a:lstStyle/>
          <a:p>
            <a:pPr algn="l">
              <a:lnSpc>
                <a:spcPct val="110000"/>
              </a:lnSpc>
            </a:pPr>
            <a:r>
              <a:rPr sz="5600" b="1">
                <a:solidFill>
                  <a:srgbClr val="F2F8FC"/>
                </a:solidFill>
                <a:latin typeface="Segoe UI"/>
              </a:rPr>
              <a:t>Driemaandelijkse opvolging</a:t>
            </a:r>
          </a:p>
        </p:txBody>
      </p:sp>
      <p:sp>
        <p:nvSpPr>
          <p:cNvPr id="6" name="Rounded Rectangle 5"/>
          <p:cNvSpPr/>
          <p:nvPr/>
        </p:nvSpPr>
        <p:spPr>
          <a:xfrm>
            <a:off x="634984" y="4002939"/>
            <a:ext cx="3555911" cy="304792"/>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4079138"/>
            <a:ext cx="3555911" cy="215894"/>
          </a:xfrm>
          <a:prstGeom prst="rect">
            <a:avLst/>
          </a:prstGeom>
          <a:noFill/>
        </p:spPr>
        <p:txBody>
          <a:bodyPr wrap="square" anchor="t" lIns="0" rIns="0" tIns="0" bIns="0">
            <a:spAutoFit/>
          </a:bodyPr>
          <a:lstStyle/>
          <a:p>
            <a:pPr algn="ctr">
              <a:lnSpc>
                <a:spcPct val="125000"/>
              </a:lnSpc>
            </a:pPr>
            <a:r>
              <a:rPr sz="1400" b="1">
                <a:solidFill>
                  <a:srgbClr val="52BDEC"/>
                </a:solidFill>
                <a:latin typeface="Consolas"/>
              </a:rPr>
              <a:t>In het gewone consult</a:t>
            </a:r>
          </a:p>
        </p:txBody>
      </p:sp>
      <p:sp>
        <p:nvSpPr>
          <p:cNvPr id="8" name="TextBox 7"/>
          <p:cNvSpPr txBox="1"/>
          <p:nvPr/>
        </p:nvSpPr>
        <p:spPr>
          <a:xfrm>
            <a:off x="8000799"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6</a:t>
            </a:r>
          </a:p>
        </p:txBody>
      </p:sp>
      <p:sp>
        <p:nvSpPr>
          <p:cNvPr id="9" name="TextBox 8"/>
          <p:cNvSpPr txBox="1"/>
          <p:nvPr/>
        </p:nvSpPr>
        <p:spPr>
          <a:xfrm>
            <a:off x="8013499"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HANDELINGEN</a:t>
            </a:r>
          </a:p>
        </p:txBody>
      </p:sp>
      <p:sp>
        <p:nvSpPr>
          <p:cNvPr id="10" name="TextBox 9"/>
          <p:cNvSpPr txBox="1"/>
          <p:nvPr/>
        </p:nvSpPr>
        <p:spPr>
          <a:xfrm>
            <a:off x="9905752"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9</a:t>
            </a:r>
          </a:p>
        </p:txBody>
      </p:sp>
      <p:sp>
        <p:nvSpPr>
          <p:cNvPr id="11" name="TextBox 10"/>
          <p:cNvSpPr txBox="1"/>
          <p:nvPr/>
        </p:nvSpPr>
        <p:spPr>
          <a:xfrm>
            <a:off x="9918452"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FORMULIEREN</a:t>
            </a:r>
          </a:p>
        </p:txBody>
      </p:sp>
      <p:sp>
        <p:nvSpPr>
          <p:cNvPr id="12" name="Rectangle 11"/>
          <p:cNvSpPr/>
          <p:nvPr/>
        </p:nvSpPr>
        <p:spPr>
          <a:xfrm>
            <a:off x="634984" y="571485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984" y="5867253"/>
            <a:ext cx="10921726" cy="253993"/>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Podoloog leest uit en begeleidt · arts beoordeelt laesies</a:t>
            </a:r>
          </a:p>
        </p:txBody>
      </p:sp>
      <p:sp>
        <p:nvSpPr>
          <p:cNvPr id="14" name="TextBox 1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43 / 71</a:t>
            </a:r>
          </a:p>
        </p:txBody>
      </p:sp>
      <p:pic>
        <p:nvPicPr>
          <p:cNvPr id="15"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6" name="TextBox 15"/>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   |   29 · Dahmen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3 TOT 8 · MAAND 3 TOT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01</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Voet- en schoeiselscreening, zoals bij de baseline.</a:t>
            </a:r>
          </a:p>
        </p:txBody>
      </p:sp>
      <p:sp>
        <p:nvSpPr>
          <p:cNvPr id="6" name="!!rail0"/>
          <p:cNvSpPr/>
          <p:nvPr/>
        </p:nvSpPr>
        <p:spPr>
          <a:xfrm>
            <a:off x="660383" y="6387940"/>
            <a:ext cx="1769489"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480671"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4300959"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6121246"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7941534"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9761822"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44 / 71</a:t>
            </a:r>
          </a:p>
        </p:txBody>
      </p:sp>
      <p:pic>
        <p:nvPicPr>
          <p:cNvPr id="13"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3 TOT 8 · MAAND 3 TOT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02</a:t>
            </a:r>
          </a:p>
        </p:txBody>
      </p:sp>
      <p:pic>
        <p:nvPicPr>
          <p:cNvPr id="5" name="fotokader" descr="plaatshouder.png"/>
          <p:cNvPicPr>
            <a:picLocks noChangeAspect="1"/>
          </p:cNvPicPr>
          <p:nvPr/>
        </p:nvPicPr>
        <p:blipFill>
          <a:blip r:embed="rId2"/>
          <a:stretch>
            <a:fillRect/>
          </a:stretch>
        </p:blipFill>
        <p:spPr>
          <a:xfrm>
            <a:off x="7111822" y="1595397"/>
            <a:ext cx="4444888" cy="2778055"/>
          </a:xfrm>
          <a:prstGeom prst="rect">
            <a:avLst/>
          </a:prstGeom>
        </p:spPr>
      </p:pic>
      <p:sp>
        <p:nvSpPr>
          <p:cNvPr id="6" name="TextBox 5"/>
          <p:cNvSpPr txBox="1"/>
          <p:nvPr/>
        </p:nvSpPr>
        <p:spPr>
          <a:xfrm>
            <a:off x="7111822" y="4482987"/>
            <a:ext cx="4444888" cy="380990"/>
          </a:xfrm>
          <a:prstGeom prst="rect">
            <a:avLst/>
          </a:prstGeom>
          <a:noFill/>
        </p:spPr>
        <p:txBody>
          <a:bodyPr wrap="square" anchor="t" lIns="0" rIns="0" tIns="0" bIns="0">
            <a:spAutoFit/>
          </a:bodyPr>
          <a:lstStyle/>
          <a:p>
            <a:pPr algn="l">
              <a:lnSpc>
                <a:spcPct val="125000"/>
              </a:lnSpc>
            </a:pPr>
            <a:r>
              <a:rPr sz="1350" b="0">
                <a:solidFill>
                  <a:srgbClr val="8FB6D0"/>
                </a:solidFill>
                <a:latin typeface="Consolas"/>
              </a:rPr>
              <a:t>De pen op de sensor, of de uitdraai op het scherm</a:t>
            </a:r>
          </a:p>
        </p:txBody>
      </p:sp>
      <p:sp>
        <p:nvSpPr>
          <p:cNvPr id="7" name="!!staptekst"/>
          <p:cNvSpPr txBox="1"/>
          <p:nvPr/>
        </p:nvSpPr>
        <p:spPr>
          <a:xfrm>
            <a:off x="3174920" y="1587460"/>
            <a:ext cx="3936901" cy="3174920"/>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Bevraag de therapietrouw, lees de Orthotimer uit en bespreek de uitdraai niet-veroordelend.</a:t>
            </a:r>
          </a:p>
        </p:txBody>
      </p:sp>
      <p:sp>
        <p:nvSpPr>
          <p:cNvPr id="8" name="!!rail0"/>
          <p:cNvSpPr/>
          <p:nvPr/>
        </p:nvSpPr>
        <p:spPr>
          <a:xfrm>
            <a:off x="660383"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1"/>
          <p:cNvSpPr/>
          <p:nvPr/>
        </p:nvSpPr>
        <p:spPr>
          <a:xfrm>
            <a:off x="2480671" y="6387940"/>
            <a:ext cx="1769489"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2"/>
          <p:cNvSpPr/>
          <p:nvPr/>
        </p:nvSpPr>
        <p:spPr>
          <a:xfrm>
            <a:off x="4300959"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3"/>
          <p:cNvSpPr/>
          <p:nvPr/>
        </p:nvSpPr>
        <p:spPr>
          <a:xfrm>
            <a:off x="6121246"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4"/>
          <p:cNvSpPr/>
          <p:nvPr/>
        </p:nvSpPr>
        <p:spPr>
          <a:xfrm>
            <a:off x="7941534"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il5"/>
          <p:cNvSpPr/>
          <p:nvPr/>
        </p:nvSpPr>
        <p:spPr>
          <a:xfrm>
            <a:off x="9761822"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45 / 71</a:t>
            </a:r>
          </a:p>
        </p:txBody>
      </p:sp>
      <p:pic>
        <p:nvPicPr>
          <p:cNvPr id="15"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3 TOT 8 · MAAND 3 TOT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03</a:t>
            </a:r>
          </a:p>
        </p:txBody>
      </p:sp>
      <p:pic>
        <p:nvPicPr>
          <p:cNvPr id="5" name="fotokader" descr="plaatshouder.png"/>
          <p:cNvPicPr>
            <a:picLocks noChangeAspect="1"/>
          </p:cNvPicPr>
          <p:nvPr/>
        </p:nvPicPr>
        <p:blipFill>
          <a:blip r:embed="rId2"/>
          <a:stretch>
            <a:fillRect/>
          </a:stretch>
        </p:blipFill>
        <p:spPr>
          <a:xfrm>
            <a:off x="7111822" y="1595397"/>
            <a:ext cx="4444888" cy="2778055"/>
          </a:xfrm>
          <a:prstGeom prst="rect">
            <a:avLst/>
          </a:prstGeom>
        </p:spPr>
      </p:pic>
      <p:sp>
        <p:nvSpPr>
          <p:cNvPr id="6" name="TextBox 5"/>
          <p:cNvSpPr txBox="1"/>
          <p:nvPr/>
        </p:nvSpPr>
        <p:spPr>
          <a:xfrm>
            <a:off x="7111822" y="4482987"/>
            <a:ext cx="4444888" cy="380990"/>
          </a:xfrm>
          <a:prstGeom prst="rect">
            <a:avLst/>
          </a:prstGeom>
          <a:noFill/>
        </p:spPr>
        <p:txBody>
          <a:bodyPr wrap="square" anchor="t" lIns="0" rIns="0" tIns="0" bIns="0">
            <a:spAutoFit/>
          </a:bodyPr>
          <a:lstStyle/>
          <a:p>
            <a:pPr algn="l">
              <a:lnSpc>
                <a:spcPct val="125000"/>
              </a:lnSpc>
            </a:pPr>
            <a:r>
              <a:rPr sz="1350" b="0">
                <a:solidFill>
                  <a:srgbClr val="8FB6D0"/>
                </a:solidFill>
                <a:latin typeface="Consolas"/>
              </a:rPr>
              <a:t>Twee paren naast elkaar, versleten en nieuw</a:t>
            </a:r>
          </a:p>
        </p:txBody>
      </p:sp>
      <p:sp>
        <p:nvSpPr>
          <p:cNvPr id="7" name="!!staptekst"/>
          <p:cNvSpPr txBox="1"/>
          <p:nvPr/>
        </p:nvSpPr>
        <p:spPr>
          <a:xfrm>
            <a:off x="3174920" y="1587460"/>
            <a:ext cx="3936901" cy="3174920"/>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Beoordeel beide paren zolen. Het paar dat onderhoud nodig heeft gaat naar de pedorthist, deklaag inbegrepen.</a:t>
            </a:r>
          </a:p>
        </p:txBody>
      </p:sp>
      <p:sp>
        <p:nvSpPr>
          <p:cNvPr id="8" name="!!rail0"/>
          <p:cNvSpPr/>
          <p:nvPr/>
        </p:nvSpPr>
        <p:spPr>
          <a:xfrm>
            <a:off x="660383"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1"/>
          <p:cNvSpPr/>
          <p:nvPr/>
        </p:nvSpPr>
        <p:spPr>
          <a:xfrm>
            <a:off x="2480671"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2"/>
          <p:cNvSpPr/>
          <p:nvPr/>
        </p:nvSpPr>
        <p:spPr>
          <a:xfrm>
            <a:off x="4300959" y="6387940"/>
            <a:ext cx="1769489"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3"/>
          <p:cNvSpPr/>
          <p:nvPr/>
        </p:nvSpPr>
        <p:spPr>
          <a:xfrm>
            <a:off x="6121246"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il4"/>
          <p:cNvSpPr/>
          <p:nvPr/>
        </p:nvSpPr>
        <p:spPr>
          <a:xfrm>
            <a:off x="7941534"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il5"/>
          <p:cNvSpPr/>
          <p:nvPr/>
        </p:nvSpPr>
        <p:spPr>
          <a:xfrm>
            <a:off x="9761822"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46 / 71</a:t>
            </a:r>
          </a:p>
        </p:txBody>
      </p:sp>
      <p:pic>
        <p:nvPicPr>
          <p:cNvPr id="15"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3 TOT 8 · MAAND 3 TOT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04</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Vervang zool of sensor als dat nodig is en leg dat vast.</a:t>
            </a:r>
          </a:p>
        </p:txBody>
      </p:sp>
      <p:sp>
        <p:nvSpPr>
          <p:cNvPr id="6" name="!!rail0"/>
          <p:cNvSpPr/>
          <p:nvPr/>
        </p:nvSpPr>
        <p:spPr>
          <a:xfrm>
            <a:off x="660383"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480671"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4300959"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6121246" y="6387940"/>
            <a:ext cx="1769489"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7941534"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9761822"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47 / 71</a:t>
            </a:r>
          </a:p>
        </p:txBody>
      </p:sp>
      <p:pic>
        <p:nvPicPr>
          <p:cNvPr id="13"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3 TOT 8 · MAAND 3 TOT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05</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Neem de vragenlijsten af: levenskwaliteit, medische consumptie en productiviteit.</a:t>
            </a:r>
          </a:p>
        </p:txBody>
      </p:sp>
      <p:sp>
        <p:nvSpPr>
          <p:cNvPr id="6" name="!!rail0"/>
          <p:cNvSpPr/>
          <p:nvPr/>
        </p:nvSpPr>
        <p:spPr>
          <a:xfrm>
            <a:off x="660383"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2480671"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4300959"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3"/>
          <p:cNvSpPr/>
          <p:nvPr/>
        </p:nvSpPr>
        <p:spPr>
          <a:xfrm>
            <a:off x="6121246"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4"/>
          <p:cNvSpPr/>
          <p:nvPr/>
        </p:nvSpPr>
        <p:spPr>
          <a:xfrm>
            <a:off x="7941534" y="6387940"/>
            <a:ext cx="1769489"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ail5"/>
          <p:cNvSpPr/>
          <p:nvPr/>
        </p:nvSpPr>
        <p:spPr>
          <a:xfrm>
            <a:off x="9761822"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48 / 71</a:t>
            </a:r>
          </a:p>
        </p:txBody>
      </p:sp>
      <p:pic>
        <p:nvPicPr>
          <p:cNvPr id="13"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3 TOT 8 · MAAND 3 TOT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06</a:t>
            </a:r>
          </a:p>
        </p:txBody>
      </p:sp>
      <p:sp>
        <p:nvSpPr>
          <p:cNvPr id="5" name="!!staptekst"/>
          <p:cNvSpPr txBox="1"/>
          <p:nvPr/>
        </p:nvSpPr>
        <p:spPr>
          <a:xfrm>
            <a:off x="3174920" y="1587460"/>
            <a:ext cx="8381790" cy="2222444"/>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Op maand 6 een tweede week MoveMonitor.</a:t>
            </a:r>
          </a:p>
        </p:txBody>
      </p:sp>
      <p:sp>
        <p:nvSpPr>
          <p:cNvPr id="6" name="TextBox 5"/>
          <p:cNvSpPr txBox="1"/>
          <p:nvPr/>
        </p:nvSpPr>
        <p:spPr>
          <a:xfrm>
            <a:off x="2984425" y="4063898"/>
            <a:ext cx="8572285"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WAT U HIERBIJ INVULT</a:t>
            </a:r>
          </a:p>
        </p:txBody>
      </p:sp>
      <p:sp>
        <p:nvSpPr>
          <p:cNvPr id="7" name="Rounded Rectangle 6"/>
          <p:cNvSpPr/>
          <p:nvPr/>
        </p:nvSpPr>
        <p:spPr>
          <a:xfrm>
            <a:off x="298442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062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08</a:t>
            </a:r>
          </a:p>
        </p:txBody>
      </p:sp>
      <p:sp>
        <p:nvSpPr>
          <p:cNvPr id="9" name="TextBox 8"/>
          <p:cNvSpPr txBox="1"/>
          <p:nvPr/>
        </p:nvSpPr>
        <p:spPr>
          <a:xfrm>
            <a:off x="3403514"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Voet en schoeisel</a:t>
            </a:r>
          </a:p>
        </p:txBody>
      </p:sp>
      <p:sp>
        <p:nvSpPr>
          <p:cNvPr id="10" name="Rounded Rectangle 9"/>
          <p:cNvSpPr/>
          <p:nvPr/>
        </p:nvSpPr>
        <p:spPr>
          <a:xfrm>
            <a:off x="4711582"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7780"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31</a:t>
            </a:r>
          </a:p>
        </p:txBody>
      </p:sp>
      <p:sp>
        <p:nvSpPr>
          <p:cNvPr id="12" name="TextBox 11"/>
          <p:cNvSpPr txBox="1"/>
          <p:nvPr/>
        </p:nvSpPr>
        <p:spPr>
          <a:xfrm>
            <a:off x="5130671"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Therapietrouw</a:t>
            </a:r>
          </a:p>
        </p:txBody>
      </p:sp>
      <p:sp>
        <p:nvSpPr>
          <p:cNvPr id="13" name="Rounded Rectangle 12"/>
          <p:cNvSpPr/>
          <p:nvPr/>
        </p:nvSpPr>
        <p:spPr>
          <a:xfrm>
            <a:off x="6438739"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4937"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25</a:t>
            </a:r>
          </a:p>
        </p:txBody>
      </p:sp>
      <p:sp>
        <p:nvSpPr>
          <p:cNvPr id="15" name="TextBox 14"/>
          <p:cNvSpPr txBox="1"/>
          <p:nvPr/>
        </p:nvSpPr>
        <p:spPr>
          <a:xfrm>
            <a:off x="6857828"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Uitlezing sensor</a:t>
            </a:r>
          </a:p>
        </p:txBody>
      </p:sp>
      <p:sp>
        <p:nvSpPr>
          <p:cNvPr id="16" name="Rounded Rectangle 15"/>
          <p:cNvSpPr/>
          <p:nvPr/>
        </p:nvSpPr>
        <p:spPr>
          <a:xfrm>
            <a:off x="816589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209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32</a:t>
            </a:r>
          </a:p>
        </p:txBody>
      </p:sp>
      <p:sp>
        <p:nvSpPr>
          <p:cNvPr id="18" name="TextBox 17"/>
          <p:cNvSpPr txBox="1"/>
          <p:nvPr/>
        </p:nvSpPr>
        <p:spPr>
          <a:xfrm>
            <a:off x="8584985"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Feedback</a:t>
            </a:r>
          </a:p>
        </p:txBody>
      </p:sp>
      <p:sp>
        <p:nvSpPr>
          <p:cNvPr id="19" name="Rounded Rectangle 18"/>
          <p:cNvSpPr/>
          <p:nvPr/>
        </p:nvSpPr>
        <p:spPr>
          <a:xfrm>
            <a:off x="9893052"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9250"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33</a:t>
            </a:r>
          </a:p>
        </p:txBody>
      </p:sp>
      <p:sp>
        <p:nvSpPr>
          <p:cNvPr id="21" name="TextBox 20"/>
          <p:cNvSpPr txBox="1"/>
          <p:nvPr/>
        </p:nvSpPr>
        <p:spPr>
          <a:xfrm>
            <a:off x="10312142"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Vervanging</a:t>
            </a:r>
          </a:p>
        </p:txBody>
      </p:sp>
      <p:sp>
        <p:nvSpPr>
          <p:cNvPr id="22" name="Rounded Rectangle 21"/>
          <p:cNvSpPr/>
          <p:nvPr/>
        </p:nvSpPr>
        <p:spPr>
          <a:xfrm>
            <a:off x="2984425"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60623"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21</a:t>
            </a:r>
          </a:p>
        </p:txBody>
      </p:sp>
      <p:sp>
        <p:nvSpPr>
          <p:cNvPr id="24" name="TextBox 23"/>
          <p:cNvSpPr txBox="1"/>
          <p:nvPr/>
        </p:nvSpPr>
        <p:spPr>
          <a:xfrm>
            <a:off x="3403514"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EQ-5D-5L</a:t>
            </a:r>
          </a:p>
        </p:txBody>
      </p:sp>
      <p:sp>
        <p:nvSpPr>
          <p:cNvPr id="25" name="Rounded Rectangle 24"/>
          <p:cNvSpPr/>
          <p:nvPr/>
        </p:nvSpPr>
        <p:spPr>
          <a:xfrm>
            <a:off x="4711582"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87780"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34</a:t>
            </a:r>
          </a:p>
        </p:txBody>
      </p:sp>
      <p:sp>
        <p:nvSpPr>
          <p:cNvPr id="27" name="TextBox 26"/>
          <p:cNvSpPr txBox="1"/>
          <p:nvPr/>
        </p:nvSpPr>
        <p:spPr>
          <a:xfrm>
            <a:off x="5130671"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iMCQ</a:t>
            </a:r>
          </a:p>
        </p:txBody>
      </p:sp>
      <p:sp>
        <p:nvSpPr>
          <p:cNvPr id="28" name="Rounded Rectangle 27"/>
          <p:cNvSpPr/>
          <p:nvPr/>
        </p:nvSpPr>
        <p:spPr>
          <a:xfrm>
            <a:off x="6438739"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4937"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35</a:t>
            </a:r>
          </a:p>
        </p:txBody>
      </p:sp>
      <p:sp>
        <p:nvSpPr>
          <p:cNvPr id="30" name="TextBox 29"/>
          <p:cNvSpPr txBox="1"/>
          <p:nvPr/>
        </p:nvSpPr>
        <p:spPr>
          <a:xfrm>
            <a:off x="6857828"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iPCQ</a:t>
            </a:r>
          </a:p>
        </p:txBody>
      </p:sp>
      <p:sp>
        <p:nvSpPr>
          <p:cNvPr id="31" name="Rounded Rectangle 30"/>
          <p:cNvSpPr/>
          <p:nvPr/>
        </p:nvSpPr>
        <p:spPr>
          <a:xfrm>
            <a:off x="8165895" y="4698882"/>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2093" y="4775080"/>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45b</a:t>
            </a:r>
          </a:p>
        </p:txBody>
      </p:sp>
      <p:sp>
        <p:nvSpPr>
          <p:cNvPr id="33" name="TextBox 32"/>
          <p:cNvSpPr txBox="1"/>
          <p:nvPr/>
        </p:nvSpPr>
        <p:spPr>
          <a:xfrm>
            <a:off x="8584985" y="4787780"/>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Kostendagboek</a:t>
            </a:r>
          </a:p>
        </p:txBody>
      </p:sp>
      <p:sp>
        <p:nvSpPr>
          <p:cNvPr id="34" name="Rectangle 33"/>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984" y="5587860"/>
            <a:ext cx="1269968" cy="215894"/>
          </a:xfrm>
          <a:prstGeom prst="rect">
            <a:avLst/>
          </a:prstGeom>
          <a:noFill/>
        </p:spPr>
        <p:txBody>
          <a:bodyPr wrap="square" anchor="t" lIns="0" rIns="0" tIns="0" bIns="0">
            <a:spAutoFit/>
          </a:bodyPr>
          <a:lstStyle/>
          <a:p>
            <a:pPr algn="l">
              <a:lnSpc>
                <a:spcPct val="125000"/>
              </a:lnSpc>
            </a:pPr>
            <a:r>
              <a:rPr sz="1250" b="1" spc="150">
                <a:solidFill>
                  <a:srgbClr val="FF7A00"/>
                </a:solidFill>
                <a:latin typeface="Consolas"/>
              </a:rPr>
              <a:t>LET OP</a:t>
            </a:r>
          </a:p>
        </p:txBody>
      </p:sp>
      <p:sp>
        <p:nvSpPr>
          <p:cNvPr id="36" name="TextBox 35"/>
          <p:cNvSpPr txBox="1"/>
          <p:nvPr/>
        </p:nvSpPr>
        <p:spPr>
          <a:xfrm>
            <a:off x="2031949" y="5562460"/>
            <a:ext cx="9524761" cy="571485"/>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Uitlezen kan alleen ter plaatse. Koppel het aan een bezoek dat toch al gepland is — een gemiste uitlezing verzwakt de draagtijd van die patiënt over de hele periode.</a:t>
            </a:r>
          </a:p>
        </p:txBody>
      </p:sp>
      <p:sp>
        <p:nvSpPr>
          <p:cNvPr id="37" name="!!rail0"/>
          <p:cNvSpPr/>
          <p:nvPr/>
        </p:nvSpPr>
        <p:spPr>
          <a:xfrm>
            <a:off x="660383"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ail1"/>
          <p:cNvSpPr/>
          <p:nvPr/>
        </p:nvSpPr>
        <p:spPr>
          <a:xfrm>
            <a:off x="2480671"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ail2"/>
          <p:cNvSpPr/>
          <p:nvPr/>
        </p:nvSpPr>
        <p:spPr>
          <a:xfrm>
            <a:off x="4300959"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ail3"/>
          <p:cNvSpPr/>
          <p:nvPr/>
        </p:nvSpPr>
        <p:spPr>
          <a:xfrm>
            <a:off x="6121246"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ail4"/>
          <p:cNvSpPr/>
          <p:nvPr/>
        </p:nvSpPr>
        <p:spPr>
          <a:xfrm>
            <a:off x="7941534" y="6387940"/>
            <a:ext cx="1769489"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ail5"/>
          <p:cNvSpPr/>
          <p:nvPr/>
        </p:nvSpPr>
        <p:spPr>
          <a:xfrm>
            <a:off x="9761822" y="6387940"/>
            <a:ext cx="1769489"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49 / 71</a:t>
            </a:r>
          </a:p>
        </p:txBody>
      </p:sp>
      <p:pic>
        <p:nvPicPr>
          <p:cNvPr id="4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2812" y="1142971"/>
            <a:ext cx="4825879" cy="4825879"/>
          </a:xfrm>
          <a:prstGeom prst="ellipse">
            <a:avLst/>
          </a:prstGeom>
          <a:solidFill>
            <a:srgbClr val="52BDEC">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4, 6 EN 8 · MAAND 6, 12 EN 18</a:t>
            </a:r>
          </a:p>
        </p:txBody>
      </p:sp>
      <p:sp>
        <p:nvSpPr>
          <p:cNvPr id="5" name="!!sectietitel"/>
          <p:cNvSpPr txBox="1"/>
          <p:nvPr/>
        </p:nvSpPr>
        <p:spPr>
          <a:xfrm>
            <a:off x="634984" y="1904952"/>
            <a:ext cx="6984825" cy="1818594"/>
          </a:xfrm>
          <a:prstGeom prst="rect">
            <a:avLst/>
          </a:prstGeom>
          <a:noFill/>
        </p:spPr>
        <p:txBody>
          <a:bodyPr wrap="square" anchor="t" lIns="0" rIns="0" tIns="0" bIns="0">
            <a:spAutoFit/>
          </a:bodyPr>
          <a:lstStyle/>
          <a:p>
            <a:pPr algn="l">
              <a:lnSpc>
                <a:spcPct val="110000"/>
              </a:lnSpc>
            </a:pPr>
            <a:r>
              <a:rPr sz="5600" b="1">
                <a:solidFill>
                  <a:srgbClr val="F2F8FC"/>
                </a:solidFill>
                <a:latin typeface="Segoe UI"/>
              </a:rPr>
              <a:t>Wat er drie keer extra bij komt</a:t>
            </a:r>
          </a:p>
        </p:txBody>
      </p:sp>
      <p:sp>
        <p:nvSpPr>
          <p:cNvPr id="6" name="Rounded Rectangle 5"/>
          <p:cNvSpPr/>
          <p:nvPr/>
        </p:nvSpPr>
        <p:spPr>
          <a:xfrm>
            <a:off x="634984" y="4002939"/>
            <a:ext cx="3555911" cy="304792"/>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4079138"/>
            <a:ext cx="3555911" cy="215894"/>
          </a:xfrm>
          <a:prstGeom prst="rect">
            <a:avLst/>
          </a:prstGeom>
          <a:noFill/>
        </p:spPr>
        <p:txBody>
          <a:bodyPr wrap="square" anchor="t" lIns="0" rIns="0" tIns="0" bIns="0">
            <a:spAutoFit/>
          </a:bodyPr>
          <a:lstStyle/>
          <a:p>
            <a:pPr algn="ctr">
              <a:lnSpc>
                <a:spcPct val="125000"/>
              </a:lnSpc>
            </a:pPr>
            <a:r>
              <a:rPr sz="1400" b="1">
                <a:solidFill>
                  <a:srgbClr val="52BDEC"/>
                </a:solidFill>
                <a:latin typeface="Consolas"/>
              </a:rPr>
              <a:t>Bovenop de driemaandelijkse opvolging</a:t>
            </a:r>
          </a:p>
        </p:txBody>
      </p:sp>
      <p:sp>
        <p:nvSpPr>
          <p:cNvPr id="8" name="TextBox 7"/>
          <p:cNvSpPr txBox="1"/>
          <p:nvPr/>
        </p:nvSpPr>
        <p:spPr>
          <a:xfrm>
            <a:off x="8000799"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3</a:t>
            </a:r>
          </a:p>
        </p:txBody>
      </p:sp>
      <p:sp>
        <p:nvSpPr>
          <p:cNvPr id="9" name="TextBox 8"/>
          <p:cNvSpPr txBox="1"/>
          <p:nvPr/>
        </p:nvSpPr>
        <p:spPr>
          <a:xfrm>
            <a:off x="8013499"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HANDELINGEN</a:t>
            </a:r>
          </a:p>
        </p:txBody>
      </p:sp>
      <p:sp>
        <p:nvSpPr>
          <p:cNvPr id="10" name="TextBox 9"/>
          <p:cNvSpPr txBox="1"/>
          <p:nvPr/>
        </p:nvSpPr>
        <p:spPr>
          <a:xfrm>
            <a:off x="9905752" y="3555911"/>
            <a:ext cx="1650958" cy="825479"/>
          </a:xfrm>
          <a:prstGeom prst="rect">
            <a:avLst/>
          </a:prstGeom>
          <a:noFill/>
        </p:spPr>
        <p:txBody>
          <a:bodyPr wrap="square" anchor="t" lIns="0" rIns="0" tIns="0" bIns="0">
            <a:spAutoFit/>
          </a:bodyPr>
          <a:lstStyle/>
          <a:p>
            <a:pPr algn="l">
              <a:lnSpc>
                <a:spcPct val="100000"/>
              </a:lnSpc>
            </a:pPr>
            <a:r>
              <a:rPr sz="6400" b="1">
                <a:solidFill>
                  <a:srgbClr val="52BDEC"/>
                </a:solidFill>
                <a:latin typeface="Segoe UI"/>
              </a:rPr>
              <a:t>3</a:t>
            </a:r>
          </a:p>
        </p:txBody>
      </p:sp>
      <p:sp>
        <p:nvSpPr>
          <p:cNvPr id="11" name="TextBox 10"/>
          <p:cNvSpPr txBox="1"/>
          <p:nvPr/>
        </p:nvSpPr>
        <p:spPr>
          <a:xfrm>
            <a:off x="9918452" y="4381390"/>
            <a:ext cx="1650958" cy="253993"/>
          </a:xfrm>
          <a:prstGeom prst="rect">
            <a:avLst/>
          </a:prstGeom>
          <a:noFill/>
        </p:spPr>
        <p:txBody>
          <a:bodyPr wrap="square" anchor="t" lIns="0" rIns="0" tIns="0" bIns="0">
            <a:spAutoFit/>
          </a:bodyPr>
          <a:lstStyle/>
          <a:p>
            <a:pPr algn="l">
              <a:lnSpc>
                <a:spcPct val="125000"/>
              </a:lnSpc>
            </a:pPr>
            <a:r>
              <a:rPr sz="1350" b="0" spc="140">
                <a:solidFill>
                  <a:srgbClr val="8FB6D0"/>
                </a:solidFill>
                <a:latin typeface="Consolas"/>
              </a:rPr>
              <a:t>FORMULIEREN</a:t>
            </a:r>
          </a:p>
        </p:txBody>
      </p:sp>
      <p:sp>
        <p:nvSpPr>
          <p:cNvPr id="12" name="Rectangle 11"/>
          <p:cNvSpPr/>
          <p:nvPr/>
        </p:nvSpPr>
        <p:spPr>
          <a:xfrm>
            <a:off x="634984" y="571485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984" y="5867253"/>
            <a:ext cx="10921726" cy="253993"/>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Podoloog meet · pedorthist past aan</a:t>
            </a:r>
          </a:p>
        </p:txBody>
      </p:sp>
      <p:sp>
        <p:nvSpPr>
          <p:cNvPr id="14" name="TextBox 1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50 / 71</a:t>
            </a:r>
          </a:p>
        </p:txBody>
      </p:sp>
      <p:pic>
        <p:nvPicPr>
          <p:cNvPr id="15"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6" name="TextBox 15"/>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4, 6 EN 8 · MAAND 6, 12 EN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01</a:t>
            </a:r>
          </a:p>
        </p:txBody>
      </p:sp>
      <p:pic>
        <p:nvPicPr>
          <p:cNvPr id="5" name="fotokader" descr="plaatshouder.png"/>
          <p:cNvPicPr>
            <a:picLocks noChangeAspect="1"/>
          </p:cNvPicPr>
          <p:nvPr/>
        </p:nvPicPr>
        <p:blipFill>
          <a:blip r:embed="rId2"/>
          <a:stretch>
            <a:fillRect/>
          </a:stretch>
        </p:blipFill>
        <p:spPr>
          <a:xfrm>
            <a:off x="7111822" y="1595397"/>
            <a:ext cx="4444888" cy="2778055"/>
          </a:xfrm>
          <a:prstGeom prst="rect">
            <a:avLst/>
          </a:prstGeom>
        </p:spPr>
      </p:pic>
      <p:sp>
        <p:nvSpPr>
          <p:cNvPr id="6" name="TextBox 5"/>
          <p:cNvSpPr txBox="1"/>
          <p:nvPr/>
        </p:nvSpPr>
        <p:spPr>
          <a:xfrm>
            <a:off x="7111822" y="4482987"/>
            <a:ext cx="4444888" cy="380990"/>
          </a:xfrm>
          <a:prstGeom prst="rect">
            <a:avLst/>
          </a:prstGeom>
          <a:noFill/>
        </p:spPr>
        <p:txBody>
          <a:bodyPr wrap="square" anchor="t" lIns="0" rIns="0" tIns="0" bIns="0">
            <a:spAutoFit/>
          </a:bodyPr>
          <a:lstStyle/>
          <a:p>
            <a:pPr algn="l">
              <a:lnSpc>
                <a:spcPct val="125000"/>
              </a:lnSpc>
            </a:pPr>
            <a:r>
              <a:rPr sz="1350" b="0">
                <a:solidFill>
                  <a:srgbClr val="8FB6D0"/>
                </a:solidFill>
                <a:latin typeface="Consolas"/>
              </a:rPr>
              <a:t>De drie condities naast elkaar op het scherm</a:t>
            </a:r>
          </a:p>
        </p:txBody>
      </p:sp>
      <p:sp>
        <p:nvSpPr>
          <p:cNvPr id="7" name="!!staptekst"/>
          <p:cNvSpPr txBox="1"/>
          <p:nvPr/>
        </p:nvSpPr>
        <p:spPr>
          <a:xfrm>
            <a:off x="3174920" y="1587460"/>
            <a:ext cx="3936901" cy="3174920"/>
          </a:xfrm>
          <a:prstGeom prst="rect">
            <a:avLst/>
          </a:prstGeom>
          <a:noFill/>
        </p:spPr>
        <p:txBody>
          <a:bodyPr wrap="square" anchor="t" lIns="0" rIns="0" tIns="0" bIns="0">
            <a:spAutoFit/>
          </a:bodyPr>
          <a:lstStyle/>
          <a:p>
            <a:pPr algn="l">
              <a:lnSpc>
                <a:spcPct val="125000"/>
              </a:lnSpc>
            </a:pPr>
            <a:r>
              <a:rPr sz="3600" b="1">
                <a:solidFill>
                  <a:srgbClr val="F2F8FC"/>
                </a:solidFill>
                <a:latin typeface="Segoe UI"/>
              </a:rPr>
              <a:t>Herhaal de drukmeting in de drie condities en toets opnieuw per doelregio.</a:t>
            </a:r>
          </a:p>
        </p:txBody>
      </p:sp>
      <p:sp>
        <p:nvSpPr>
          <p:cNvPr id="8" name="!!rail0"/>
          <p:cNvSpPr/>
          <p:nvPr/>
        </p:nvSpPr>
        <p:spPr>
          <a:xfrm>
            <a:off x="660383" y="6387940"/>
            <a:ext cx="3589776"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il1"/>
          <p:cNvSpPr/>
          <p:nvPr/>
        </p:nvSpPr>
        <p:spPr>
          <a:xfrm>
            <a:off x="4300959" y="6387940"/>
            <a:ext cx="358977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il2"/>
          <p:cNvSpPr/>
          <p:nvPr/>
        </p:nvSpPr>
        <p:spPr>
          <a:xfrm>
            <a:off x="7941534" y="6387940"/>
            <a:ext cx="358977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51 / 71</a:t>
            </a:r>
          </a:p>
        </p:txBody>
      </p:sp>
      <p:pic>
        <p:nvPicPr>
          <p:cNvPr id="1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4, 6 EN 8 · MAAND 6, 12 EN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02</a:t>
            </a:r>
          </a:p>
        </p:txBody>
      </p:sp>
      <p:sp>
        <p:nvSpPr>
          <p:cNvPr id="5" name="!!staptekst"/>
          <p:cNvSpPr txBox="1"/>
          <p:nvPr/>
        </p:nvSpPr>
        <p:spPr>
          <a:xfrm>
            <a:off x="3174920" y="1587460"/>
            <a:ext cx="8381790" cy="3682907"/>
          </a:xfrm>
          <a:prstGeom prst="rect">
            <a:avLst/>
          </a:prstGeom>
          <a:noFill/>
        </p:spPr>
        <p:txBody>
          <a:bodyPr wrap="square" anchor="t" lIns="0" rIns="0" tIns="0" bIns="0">
            <a:spAutoFit/>
          </a:bodyPr>
          <a:lstStyle/>
          <a:p>
            <a:pPr algn="l">
              <a:lnSpc>
                <a:spcPct val="125000"/>
              </a:lnSpc>
            </a:pPr>
            <a:r>
              <a:rPr sz="4000" b="1">
                <a:solidFill>
                  <a:srgbClr val="F2F8FC"/>
                </a:solidFill>
                <a:latin typeface="Segoe UI"/>
              </a:rPr>
              <a:t>Ligt de piekdruk boven 200 kPa, of is er nog winst haalbaar, pas dan opnieuw aan volgens dezelfde procedure.</a:t>
            </a:r>
          </a:p>
        </p:txBody>
      </p:sp>
      <p:sp>
        <p:nvSpPr>
          <p:cNvPr id="6" name="!!rail0"/>
          <p:cNvSpPr/>
          <p:nvPr/>
        </p:nvSpPr>
        <p:spPr>
          <a:xfrm>
            <a:off x="660383" y="6387940"/>
            <a:ext cx="358977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ail1"/>
          <p:cNvSpPr/>
          <p:nvPr/>
        </p:nvSpPr>
        <p:spPr>
          <a:xfrm>
            <a:off x="4300959" y="6387940"/>
            <a:ext cx="3589776"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il2"/>
          <p:cNvSpPr/>
          <p:nvPr/>
        </p:nvSpPr>
        <p:spPr>
          <a:xfrm>
            <a:off x="7941534" y="6387940"/>
            <a:ext cx="358977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52 / 71</a:t>
            </a:r>
          </a:p>
        </p:txBody>
      </p:sp>
      <p:pic>
        <p:nvPicPr>
          <p:cNvPr id="10"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VISITES 4, 6 EN 8 · MAAND 6, 12 EN 18</a:t>
            </a:r>
          </a:p>
        </p:txBody>
      </p:sp>
      <p:sp>
        <p:nvSpPr>
          <p:cNvPr id="4" name="!!stapnr"/>
          <p:cNvSpPr txBox="1"/>
          <p:nvPr/>
        </p:nvSpPr>
        <p:spPr>
          <a:xfrm>
            <a:off x="634984" y="1498562"/>
            <a:ext cx="2158946" cy="1904952"/>
          </a:xfrm>
          <a:prstGeom prst="rect">
            <a:avLst/>
          </a:prstGeom>
          <a:noFill/>
        </p:spPr>
        <p:txBody>
          <a:bodyPr wrap="none" anchor="t" lIns="0" rIns="0" tIns="0" bIns="0">
            <a:spAutoFit/>
          </a:bodyPr>
          <a:lstStyle/>
          <a:p>
            <a:pPr algn="r">
              <a:lnSpc>
                <a:spcPct val="90000"/>
              </a:lnSpc>
            </a:pPr>
            <a:r>
              <a:rPr sz="15000" b="1">
                <a:solidFill>
                  <a:srgbClr val="52BDEC"/>
                </a:solidFill>
                <a:latin typeface="Segoe UI"/>
              </a:rPr>
              <a:t>03</a:t>
            </a:r>
          </a:p>
        </p:txBody>
      </p:sp>
      <p:sp>
        <p:nvSpPr>
          <p:cNvPr id="5" name="!!staptekst"/>
          <p:cNvSpPr txBox="1"/>
          <p:nvPr/>
        </p:nvSpPr>
        <p:spPr>
          <a:xfrm>
            <a:off x="3174920" y="1587460"/>
            <a:ext cx="8381790" cy="2222444"/>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Op maand 18 ook de tevredenheidsschaal opnieuw afnemen, zodat de verandering tegenover baseline gemeten kan worden.</a:t>
            </a:r>
          </a:p>
        </p:txBody>
      </p:sp>
      <p:sp>
        <p:nvSpPr>
          <p:cNvPr id="6" name="TextBox 5"/>
          <p:cNvSpPr txBox="1"/>
          <p:nvPr/>
        </p:nvSpPr>
        <p:spPr>
          <a:xfrm>
            <a:off x="2984425" y="4063898"/>
            <a:ext cx="8572285"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WAT U HIERBIJ INVULT</a:t>
            </a:r>
          </a:p>
        </p:txBody>
      </p:sp>
      <p:sp>
        <p:nvSpPr>
          <p:cNvPr id="7" name="Rounded Rectangle 6"/>
          <p:cNvSpPr/>
          <p:nvPr/>
        </p:nvSpPr>
        <p:spPr>
          <a:xfrm>
            <a:off x="2984425"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0623"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24</a:t>
            </a:r>
          </a:p>
        </p:txBody>
      </p:sp>
      <p:sp>
        <p:nvSpPr>
          <p:cNvPr id="9" name="TextBox 8"/>
          <p:cNvSpPr txBox="1"/>
          <p:nvPr/>
        </p:nvSpPr>
        <p:spPr>
          <a:xfrm>
            <a:off x="3403514"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Drukherverdeling</a:t>
            </a:r>
          </a:p>
        </p:txBody>
      </p:sp>
      <p:sp>
        <p:nvSpPr>
          <p:cNvPr id="10" name="Rounded Rectangle 9"/>
          <p:cNvSpPr/>
          <p:nvPr/>
        </p:nvSpPr>
        <p:spPr>
          <a:xfrm>
            <a:off x="4711582"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87780"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24b</a:t>
            </a:r>
          </a:p>
        </p:txBody>
      </p:sp>
      <p:sp>
        <p:nvSpPr>
          <p:cNvPr id="12" name="TextBox 11"/>
          <p:cNvSpPr txBox="1"/>
          <p:nvPr/>
        </p:nvSpPr>
        <p:spPr>
          <a:xfrm>
            <a:off x="5130671"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Opvolgtool</a:t>
            </a:r>
          </a:p>
        </p:txBody>
      </p:sp>
      <p:sp>
        <p:nvSpPr>
          <p:cNvPr id="13" name="Rounded Rectangle 12"/>
          <p:cNvSpPr/>
          <p:nvPr/>
        </p:nvSpPr>
        <p:spPr>
          <a:xfrm>
            <a:off x="6438739" y="4355991"/>
            <a:ext cx="1663658" cy="279393"/>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4937" y="4432189"/>
            <a:ext cx="355591" cy="190495"/>
          </a:xfrm>
          <a:prstGeom prst="rect">
            <a:avLst/>
          </a:prstGeom>
          <a:noFill/>
        </p:spPr>
        <p:txBody>
          <a:bodyPr wrap="square" anchor="t" lIns="0" rIns="0" tIns="0" bIns="0">
            <a:spAutoFit/>
          </a:bodyPr>
          <a:lstStyle/>
          <a:p>
            <a:pPr algn="l">
              <a:lnSpc>
                <a:spcPct val="125000"/>
              </a:lnSpc>
            </a:pPr>
            <a:r>
              <a:rPr sz="1200" b="1">
                <a:solidFill>
                  <a:srgbClr val="52BDEC"/>
                </a:solidFill>
                <a:latin typeface="Consolas"/>
              </a:rPr>
              <a:t>12</a:t>
            </a:r>
          </a:p>
        </p:txBody>
      </p:sp>
      <p:sp>
        <p:nvSpPr>
          <p:cNvPr id="15" name="TextBox 14"/>
          <p:cNvSpPr txBox="1"/>
          <p:nvPr/>
        </p:nvSpPr>
        <p:spPr>
          <a:xfrm>
            <a:off x="6857828" y="4444888"/>
            <a:ext cx="1206469" cy="177795"/>
          </a:xfrm>
          <a:prstGeom prst="rect">
            <a:avLst/>
          </a:prstGeom>
          <a:noFill/>
        </p:spPr>
        <p:txBody>
          <a:bodyPr wrap="none" anchor="t" lIns="0" rIns="0" tIns="0" bIns="0">
            <a:spAutoFit/>
          </a:bodyPr>
          <a:lstStyle/>
          <a:p>
            <a:pPr algn="l">
              <a:lnSpc>
                <a:spcPct val="125000"/>
              </a:lnSpc>
            </a:pPr>
            <a:r>
              <a:rPr sz="1050" b="0">
                <a:solidFill>
                  <a:srgbClr val="F2F8FC"/>
                </a:solidFill>
                <a:latin typeface="Segoe UI"/>
              </a:rPr>
              <a:t>Tevredenheid — maand 18</a:t>
            </a:r>
          </a:p>
        </p:txBody>
      </p:sp>
      <p:sp>
        <p:nvSpPr>
          <p:cNvPr id="16" name="Rectangle 15"/>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984" y="5587860"/>
            <a:ext cx="1269968" cy="215894"/>
          </a:xfrm>
          <a:prstGeom prst="rect">
            <a:avLst/>
          </a:prstGeom>
          <a:noFill/>
        </p:spPr>
        <p:txBody>
          <a:bodyPr wrap="square" anchor="t" lIns="0" rIns="0" tIns="0" bIns="0">
            <a:spAutoFit/>
          </a:bodyPr>
          <a:lstStyle/>
          <a:p>
            <a:pPr algn="l">
              <a:lnSpc>
                <a:spcPct val="125000"/>
              </a:lnSpc>
            </a:pPr>
            <a:r>
              <a:rPr sz="1250" b="1" spc="150">
                <a:solidFill>
                  <a:srgbClr val="FF7A00"/>
                </a:solidFill>
                <a:latin typeface="Consolas"/>
              </a:rPr>
              <a:t>LET OP</a:t>
            </a:r>
          </a:p>
        </p:txBody>
      </p:sp>
      <p:sp>
        <p:nvSpPr>
          <p:cNvPr id="18" name="TextBox 17"/>
          <p:cNvSpPr txBox="1"/>
          <p:nvPr/>
        </p:nvSpPr>
        <p:spPr>
          <a:xfrm>
            <a:off x="2031949" y="5562460"/>
            <a:ext cx="9524761" cy="571485"/>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Drie extra meetmomenten, niet twee. Maand 18 telt mee: het recidief wordt over de volle achttien maanden geteld.</a:t>
            </a:r>
          </a:p>
        </p:txBody>
      </p:sp>
      <p:sp>
        <p:nvSpPr>
          <p:cNvPr id="19" name="!!rail0"/>
          <p:cNvSpPr/>
          <p:nvPr/>
        </p:nvSpPr>
        <p:spPr>
          <a:xfrm>
            <a:off x="660383" y="6387940"/>
            <a:ext cx="358977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ail1"/>
          <p:cNvSpPr/>
          <p:nvPr/>
        </p:nvSpPr>
        <p:spPr>
          <a:xfrm>
            <a:off x="4300959" y="6387940"/>
            <a:ext cx="358977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ail2"/>
          <p:cNvSpPr/>
          <p:nvPr/>
        </p:nvSpPr>
        <p:spPr>
          <a:xfrm>
            <a:off x="7941534" y="6387940"/>
            <a:ext cx="3589776" cy="38099"/>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53 / 71</a:t>
            </a:r>
          </a:p>
        </p:txBody>
      </p:sp>
      <p:pic>
        <p:nvPicPr>
          <p:cNvPr id="23"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Terug naar het geheel</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10</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contactmomenten, één zorgpad</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Het verschil met vandaag zit niet in hoe vaak u de patiënt ziet, maar in wat u bij elk bezoek wéét: wat de zool doet en wat er gedragen is.</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54 / 71</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04</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Toestellen en regels</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De instellingen, het gesprek, en de vier regels die vastliggen.</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55 / 71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TECHNIEK</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 toestellen</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dar.png"/>
          <p:cNvPicPr>
            <a:picLocks noChangeAspect="1"/>
          </p:cNvPicPr>
          <p:nvPr/>
        </p:nvPicPr>
        <p:blipFill>
          <a:blip r:embed="rId2"/>
          <a:stretch>
            <a:fillRect/>
          </a:stretch>
        </p:blipFill>
        <p:spPr>
          <a:xfrm>
            <a:off x="2344719" y="2184345"/>
            <a:ext cx="1965067" cy="1663658"/>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Novel pedar</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DRUK</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8  voetregio's</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UW TEAM MEET</a:t>
            </a:r>
          </a:p>
        </p:txBody>
      </p:sp>
      <p:sp>
        <p:nvSpPr>
          <p:cNvPr id="11" name="TextBox 10"/>
          <p:cNvSpPr txBox="1"/>
          <p:nvPr/>
        </p:nvSpPr>
        <p:spPr>
          <a:xfrm>
            <a:off x="3479713" y="3975000"/>
            <a:ext cx="2260416" cy="1879553"/>
          </a:xfrm>
          <a:prstGeom prst="rect">
            <a:avLst/>
          </a:prstGeom>
          <a:noFill/>
        </p:spPr>
        <p:txBody>
          <a:bodyPr wrap="square" anchor="t" lIns="0" rIns="0" tIns="0" bIns="0">
            <a:spAutoFit/>
          </a:bodyPr>
          <a:lstStyle/>
          <a:p>
            <a:pPr algn="l">
              <a:lnSpc>
                <a:spcPct val="130000"/>
              </a:lnSpc>
            </a:pPr>
            <a:r>
              <a:rPr sz="1150" b="0">
                <a:solidFill>
                  <a:srgbClr val="8FB6D0"/>
                </a:solidFill>
                <a:latin typeface="Segoe UI"/>
              </a:rPr>
              <a:t>Blootsvoets met tape, en in de schoen met en zonder zool</a:t>
            </a:r>
          </a:p>
          <a:p>
            <a:pPr algn="l">
              <a:lnSpc>
                <a:spcPct val="130000"/>
              </a:lnSpc>
              <a:spcBef>
                <a:spcPts val="1000"/>
              </a:spcBef>
            </a:pPr>
            <a:r>
              <a:rPr sz="1150" b="0">
                <a:solidFill>
                  <a:srgbClr val="8FB6D0"/>
                </a:solidFill>
                <a:latin typeface="Segoe UI"/>
              </a:rPr>
              <a:t>Trublu-kalibratie minstens elke drie maanden</a:t>
            </a:r>
          </a:p>
          <a:p>
            <a:pPr algn="l">
              <a:lnSpc>
                <a:spcPct val="130000"/>
              </a:lnSpc>
              <a:spcBef>
                <a:spcPts val="1000"/>
              </a:spcBef>
            </a:pPr>
            <a:r>
              <a:rPr sz="1150" b="0">
                <a:solidFill>
                  <a:srgbClr val="8FB6D0"/>
                </a:solidFill>
                <a:latin typeface="Segoe UI"/>
              </a:rPr>
              <a:t>De F-Scan GO is een aparte meting van het studieteam</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172715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rthotimer.png"/>
          <p:cNvPicPr>
            <a:picLocks noChangeAspect="1"/>
          </p:cNvPicPr>
          <p:nvPr/>
        </p:nvPicPr>
        <p:blipFill>
          <a:blip r:embed="rId3"/>
          <a:stretch>
            <a:fillRect/>
          </a:stretch>
        </p:blipFill>
        <p:spPr>
          <a:xfrm>
            <a:off x="6387813" y="2629374"/>
            <a:ext cx="1600159" cy="595804"/>
          </a:xfrm>
          <a:prstGeom prst="rect">
            <a:avLst/>
          </a:prstGeom>
        </p:spPr>
      </p:pic>
      <p:sp>
        <p:nvSpPr>
          <p:cNvPr id="15" name="TextBox 14"/>
          <p:cNvSpPr txBox="1"/>
          <p:nvPr/>
        </p:nvSpPr>
        <p:spPr>
          <a:xfrm>
            <a:off x="8241966" y="2133546"/>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Orthotimer</a:t>
            </a:r>
          </a:p>
        </p:txBody>
      </p:sp>
      <p:sp>
        <p:nvSpPr>
          <p:cNvPr id="16" name="TextBox 15"/>
          <p:cNvSpPr txBox="1"/>
          <p:nvPr/>
        </p:nvSpPr>
        <p:spPr>
          <a:xfrm>
            <a:off x="8254666" y="2501837"/>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DRAAGTIJD</a:t>
            </a:r>
          </a:p>
        </p:txBody>
      </p:sp>
      <p:sp>
        <p:nvSpPr>
          <p:cNvPr id="17" name="TextBox 16"/>
          <p:cNvSpPr txBox="1"/>
          <p:nvPr/>
        </p:nvSpPr>
        <p:spPr>
          <a:xfrm>
            <a:off x="8241966" y="2705032"/>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15  minuten</a:t>
            </a:r>
          </a:p>
        </p:txBody>
      </p:sp>
      <p:sp>
        <p:nvSpPr>
          <p:cNvPr id="18" name="TextBox 17"/>
          <p:cNvSpPr txBox="1"/>
          <p:nvPr/>
        </p:nvSpPr>
        <p:spPr>
          <a:xfrm>
            <a:off x="8241966" y="3047923"/>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In de zool, 9 × 13 × 4,5 mm</a:t>
            </a:r>
          </a:p>
          <a:p>
            <a:pPr algn="l">
              <a:lnSpc>
                <a:spcPct val="128000"/>
              </a:lnSpc>
              <a:spcBef>
                <a:spcPts val="600"/>
              </a:spcBef>
            </a:pPr>
            <a:r>
              <a:rPr sz="1400" b="0">
                <a:solidFill>
                  <a:srgbClr val="8FB6D0"/>
                </a:solidFill>
                <a:latin typeface="Segoe UI"/>
              </a:rPr>
              <a:t>Batterij 100 dagen</a:t>
            </a:r>
          </a:p>
        </p:txBody>
      </p:sp>
      <p:sp>
        <p:nvSpPr>
          <p:cNvPr id="19" name="TextBox 18"/>
          <p:cNvSpPr txBox="1"/>
          <p:nvPr/>
        </p:nvSpPr>
        <p:spPr>
          <a:xfrm>
            <a:off x="8241966" y="3632109"/>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HEET: UW SENSOR</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172715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ovemonitor.png"/>
          <p:cNvPicPr>
            <a:picLocks noChangeAspect="1"/>
          </p:cNvPicPr>
          <p:nvPr/>
        </p:nvPicPr>
        <p:blipFill>
          <a:blip r:embed="rId4"/>
          <a:stretch>
            <a:fillRect/>
          </a:stretch>
        </p:blipFill>
        <p:spPr>
          <a:xfrm>
            <a:off x="6387813" y="4567176"/>
            <a:ext cx="1600159" cy="885697"/>
          </a:xfrm>
          <a:prstGeom prst="rect">
            <a:avLst/>
          </a:prstGeom>
        </p:spPr>
      </p:pic>
      <p:sp>
        <p:nvSpPr>
          <p:cNvPr id="23" name="TextBox 22"/>
          <p:cNvSpPr txBox="1"/>
          <p:nvPr/>
        </p:nvSpPr>
        <p:spPr>
          <a:xfrm>
            <a:off x="8241966" y="4216294"/>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MoveMonitor</a:t>
            </a:r>
          </a:p>
        </p:txBody>
      </p:sp>
      <p:sp>
        <p:nvSpPr>
          <p:cNvPr id="24" name="TextBox 23"/>
          <p:cNvSpPr txBox="1"/>
          <p:nvPr/>
        </p:nvSpPr>
        <p:spPr>
          <a:xfrm>
            <a:off x="8254666" y="4584585"/>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ACTIVITEIT</a:t>
            </a:r>
          </a:p>
        </p:txBody>
      </p:sp>
      <p:sp>
        <p:nvSpPr>
          <p:cNvPr id="25" name="TextBox 24"/>
          <p:cNvSpPr txBox="1"/>
          <p:nvPr/>
        </p:nvSpPr>
        <p:spPr>
          <a:xfrm>
            <a:off x="8241966" y="4787780"/>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7  dagen</a:t>
            </a:r>
          </a:p>
        </p:txBody>
      </p:sp>
      <p:sp>
        <p:nvSpPr>
          <p:cNvPr id="26" name="TextBox 25"/>
          <p:cNvSpPr txBox="1"/>
          <p:nvPr/>
        </p:nvSpPr>
        <p:spPr>
          <a:xfrm>
            <a:off x="8241966" y="5130671"/>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Om het middel, op de onderrug</a:t>
            </a:r>
          </a:p>
          <a:p>
            <a:pPr algn="l">
              <a:lnSpc>
                <a:spcPct val="128000"/>
              </a:lnSpc>
              <a:spcBef>
                <a:spcPts val="600"/>
              </a:spcBef>
            </a:pPr>
            <a:r>
              <a:rPr sz="1400" b="0">
                <a:solidFill>
                  <a:srgbClr val="8FB6D0"/>
                </a:solidFill>
                <a:latin typeface="Segoe UI"/>
              </a:rPr>
              <a:t>Baseline en 6 maanden</a:t>
            </a:r>
          </a:p>
        </p:txBody>
      </p:sp>
      <p:sp>
        <p:nvSpPr>
          <p:cNvPr id="27" name="TextBox 26"/>
          <p:cNvSpPr txBox="1"/>
          <p:nvPr/>
        </p:nvSpPr>
        <p:spPr>
          <a:xfrm>
            <a:off x="8241966" y="5714857"/>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ZET DE NORM PER PATIËNT</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56 / 71</a:t>
            </a:r>
          </a:p>
        </p:txBody>
      </p:sp>
      <p:pic>
        <p:nvPicPr>
          <p:cNvPr id="29" name="merk" descr="merk.png"/>
          <p:cNvPicPr>
            <a:picLocks noChangeAspect="1"/>
          </p:cNvPicPr>
          <p:nvPr/>
        </p:nvPicPr>
        <p:blipFill>
          <a:blip r:embed="rId5"/>
          <a:stretch>
            <a:fillRect/>
          </a:stretch>
        </p:blipFill>
        <p:spPr>
          <a:xfrm>
            <a:off x="11094166" y="368290"/>
            <a:ext cx="417101" cy="482587"/>
          </a:xfrm>
          <a:prstGeom prst="rect">
            <a:avLst/>
          </a:prstGeom>
        </p:spPr>
      </p:pic>
      <p:sp>
        <p:nvSpPr>
          <p:cNvPr id="30" name="TextBox 2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sensor_vol.png"/>
          <p:cNvPicPr>
            <a:picLocks noChangeAspect="1"/>
          </p:cNvPicPr>
          <p:nvPr/>
        </p:nvPicPr>
        <p:blipFill>
          <a:blip r:embed="rId2"/>
          <a:stretch>
            <a:fillRect/>
          </a:stretch>
        </p:blipFill>
        <p:spPr>
          <a:xfrm>
            <a:off x="-3671362" y="0"/>
            <a:ext cx="19534420"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000"/>
                </a:srgbClr>
              </a:gs>
              <a:gs pos="100000">
                <a:srgbClr val="04182A">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4984" y="4482987"/>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SENSOR IN HET ECHT</a:t>
            </a:r>
          </a:p>
        </p:txBody>
      </p:sp>
      <p:sp>
        <p:nvSpPr>
          <p:cNvPr id="6" name="!!sectietitel"/>
          <p:cNvSpPr txBox="1"/>
          <p:nvPr/>
        </p:nvSpPr>
        <p:spPr>
          <a:xfrm>
            <a:off x="634984" y="4787780"/>
            <a:ext cx="9524761" cy="1523961"/>
          </a:xfrm>
          <a:prstGeom prst="rect">
            <a:avLst/>
          </a:prstGeom>
          <a:noFill/>
        </p:spPr>
        <p:txBody>
          <a:bodyPr wrap="square" anchor="t" lIns="0" rIns="0" tIns="0" bIns="0">
            <a:spAutoFit/>
          </a:bodyPr>
          <a:lstStyle/>
          <a:p>
            <a:pPr algn="l">
              <a:lnSpc>
                <a:spcPct val="115000"/>
              </a:lnSpc>
            </a:pPr>
            <a:r>
              <a:rPr sz="4400" b="1">
                <a:solidFill>
                  <a:srgbClr val="F2F8FC"/>
                </a:solidFill>
                <a:latin typeface="Segoe UI"/>
              </a:rPr>
              <a:t>Negen bij dertien millimeter.</a:t>
            </a:r>
          </a:p>
          <a:p>
            <a:pPr algn="l">
              <a:lnSpc>
                <a:spcPct val="115000"/>
              </a:lnSpc>
              <a:spcBef>
                <a:spcPts val="500"/>
              </a:spcBef>
            </a:pPr>
            <a:r>
              <a:rPr sz="4400" b="1">
                <a:solidFill>
                  <a:srgbClr val="F2F8FC"/>
                </a:solidFill>
                <a:latin typeface="Segoe UI"/>
              </a:rPr>
              <a:t>Meer merkt de patiënt niet.</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57 / 71</a:t>
            </a:r>
          </a:p>
        </p:txBody>
      </p:sp>
      <p:pic>
        <p:nvPicPr>
          <p:cNvPr id="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9" name="TextBox 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ZOOL · PROTOCOL 5.4.2 EN ECRF 23</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Hoe de CMFO is opgebouwd</a:t>
            </a:r>
          </a:p>
        </p:txBody>
      </p:sp>
      <p:sp>
        <p:nvSpPr>
          <p:cNvPr id="5" name="TextBox 4"/>
          <p:cNvSpPr txBox="1"/>
          <p:nvPr/>
        </p:nvSpPr>
        <p:spPr>
          <a:xfrm>
            <a:off x="634984" y="1904952"/>
            <a:ext cx="5206869"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INSTELLINGEN</a:t>
            </a:r>
          </a:p>
        </p:txBody>
      </p:sp>
      <p:sp>
        <p:nvSpPr>
          <p:cNvPr id="6" name="Rectangle 5"/>
          <p:cNvSpPr/>
          <p:nvPr/>
        </p:nvSpPr>
        <p:spPr>
          <a:xfrm>
            <a:off x="634984" y="2209744"/>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2311342"/>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Basis in maatschoen</a:t>
            </a:r>
          </a:p>
        </p:txBody>
      </p:sp>
      <p:sp>
        <p:nvSpPr>
          <p:cNvPr id="8" name="TextBox 7"/>
          <p:cNvSpPr txBox="1"/>
          <p:nvPr/>
        </p:nvSpPr>
        <p:spPr>
          <a:xfrm>
            <a:off x="2793930" y="2298642"/>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5 mm microkurk (55) + 5 mm EVA</a:t>
            </a:r>
          </a:p>
        </p:txBody>
      </p:sp>
      <p:sp>
        <p:nvSpPr>
          <p:cNvPr id="9" name="Rectangle 8"/>
          <p:cNvSpPr/>
          <p:nvPr/>
        </p:nvSpPr>
        <p:spPr>
          <a:xfrm>
            <a:off x="634984" y="2647883"/>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749481"/>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Basis in confectie</a:t>
            </a:r>
          </a:p>
        </p:txBody>
      </p:sp>
      <p:sp>
        <p:nvSpPr>
          <p:cNvPr id="11" name="TextBox 10"/>
          <p:cNvSpPr txBox="1"/>
          <p:nvPr/>
        </p:nvSpPr>
        <p:spPr>
          <a:xfrm>
            <a:off x="2793930" y="2736781"/>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6 mm EVA — géén kurk</a:t>
            </a:r>
          </a:p>
        </p:txBody>
      </p:sp>
      <p:sp>
        <p:nvSpPr>
          <p:cNvPr id="12" name="Rectangle 11"/>
          <p:cNvSpPr/>
          <p:nvPr/>
        </p:nvSpPr>
        <p:spPr>
          <a:xfrm>
            <a:off x="634984" y="3086022"/>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984" y="3187620"/>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Deklaag, in beide</a:t>
            </a:r>
          </a:p>
        </p:txBody>
      </p:sp>
      <p:sp>
        <p:nvSpPr>
          <p:cNvPr id="14" name="TextBox 13"/>
          <p:cNvSpPr txBox="1"/>
          <p:nvPr/>
        </p:nvSpPr>
        <p:spPr>
          <a:xfrm>
            <a:off x="2793930" y="3174920"/>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3 mm gesloten + 3 mm open cel</a:t>
            </a:r>
          </a:p>
        </p:txBody>
      </p:sp>
      <p:sp>
        <p:nvSpPr>
          <p:cNvPr id="15" name="Rectangle 14"/>
          <p:cNvSpPr/>
          <p:nvPr/>
        </p:nvSpPr>
        <p:spPr>
          <a:xfrm>
            <a:off x="634984" y="3524161"/>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984" y="3625759"/>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Metatarsaalbalk</a:t>
            </a:r>
          </a:p>
        </p:txBody>
      </p:sp>
      <p:sp>
        <p:nvSpPr>
          <p:cNvPr id="17" name="TextBox 16"/>
          <p:cNvSpPr txBox="1"/>
          <p:nvPr/>
        </p:nvSpPr>
        <p:spPr>
          <a:xfrm>
            <a:off x="2793930" y="3613059"/>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9-10 mm hoog, shore ~55</a:t>
            </a:r>
          </a:p>
        </p:txBody>
      </p:sp>
      <p:sp>
        <p:nvSpPr>
          <p:cNvPr id="18" name="Rectangle 17"/>
          <p:cNvSpPr/>
          <p:nvPr/>
        </p:nvSpPr>
        <p:spPr>
          <a:xfrm>
            <a:off x="634984" y="3962300"/>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984" y="4063898"/>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Positie van de balk</a:t>
            </a:r>
          </a:p>
        </p:txBody>
      </p:sp>
      <p:sp>
        <p:nvSpPr>
          <p:cNvPr id="20" name="TextBox 19"/>
          <p:cNvSpPr txBox="1"/>
          <p:nvPr/>
        </p:nvSpPr>
        <p:spPr>
          <a:xfrm>
            <a:off x="2793930" y="4051198"/>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6-11 mm proximaal</a:t>
            </a:r>
          </a:p>
        </p:txBody>
      </p:sp>
      <p:sp>
        <p:nvSpPr>
          <p:cNvPr id="21" name="Rectangle 20"/>
          <p:cNvSpPr/>
          <p:nvPr/>
        </p:nvSpPr>
        <p:spPr>
          <a:xfrm>
            <a:off x="634984" y="4400439"/>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502037"/>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Of lokale pad</a:t>
            </a:r>
          </a:p>
        </p:txBody>
      </p:sp>
      <p:sp>
        <p:nvSpPr>
          <p:cNvPr id="23" name="TextBox 22"/>
          <p:cNvSpPr txBox="1"/>
          <p:nvPr/>
        </p:nvSpPr>
        <p:spPr>
          <a:xfrm>
            <a:off x="2793930" y="4489337"/>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als maar één regio hoog ligt</a:t>
            </a:r>
          </a:p>
        </p:txBody>
      </p:sp>
      <p:sp>
        <p:nvSpPr>
          <p:cNvPr id="24" name="TextBox 23"/>
          <p:cNvSpPr txBox="1"/>
          <p:nvPr/>
        </p:nvSpPr>
        <p:spPr>
          <a:xfrm>
            <a:off x="6349841" y="1904952"/>
            <a:ext cx="5206869"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STAPPEN</a:t>
            </a:r>
          </a:p>
        </p:txBody>
      </p:sp>
      <p:sp>
        <p:nvSpPr>
          <p:cNvPr id="25" name="Oval 24"/>
          <p:cNvSpPr/>
          <p:nvPr/>
        </p:nvSpPr>
        <p:spPr>
          <a:xfrm>
            <a:off x="6349841" y="2222444"/>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9841" y="2222444"/>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1</a:t>
            </a:r>
          </a:p>
        </p:txBody>
      </p:sp>
      <p:sp>
        <p:nvSpPr>
          <p:cNvPr id="27" name="TextBox 26"/>
          <p:cNvSpPr txBox="1"/>
          <p:nvPr/>
        </p:nvSpPr>
        <p:spPr>
          <a:xfrm>
            <a:off x="6654633" y="2209744"/>
            <a:ext cx="4902077" cy="50925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Controleer de pasvorm in het bínnenschoeisel én het búitenschoeisel. Beide staan als apart deel op het formulier.</a:t>
            </a:r>
          </a:p>
        </p:txBody>
      </p:sp>
      <p:sp>
        <p:nvSpPr>
          <p:cNvPr id="28" name="Oval 27"/>
          <p:cNvSpPr/>
          <p:nvPr/>
        </p:nvSpPr>
        <p:spPr>
          <a:xfrm>
            <a:off x="6349841" y="2858698"/>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9841" y="2858698"/>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2</a:t>
            </a:r>
          </a:p>
        </p:txBody>
      </p:sp>
      <p:sp>
        <p:nvSpPr>
          <p:cNvPr id="30" name="TextBox 29"/>
          <p:cNvSpPr txBox="1"/>
          <p:nvPr/>
        </p:nvSpPr>
        <p:spPr>
          <a:xfrm>
            <a:off x="6654633" y="2845998"/>
            <a:ext cx="4902077" cy="50925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Neem de foto's: orthese van boven, onder en opzij, in beide schoenen, plus de schoenen zelf.</a:t>
            </a:r>
          </a:p>
        </p:txBody>
      </p:sp>
      <p:sp>
        <p:nvSpPr>
          <p:cNvPr id="31" name="Oval 30"/>
          <p:cNvSpPr/>
          <p:nvPr/>
        </p:nvSpPr>
        <p:spPr>
          <a:xfrm>
            <a:off x="6349841" y="3494952"/>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9841" y="3494952"/>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3</a:t>
            </a:r>
          </a:p>
        </p:txBody>
      </p:sp>
      <p:sp>
        <p:nvSpPr>
          <p:cNvPr id="33" name="TextBox 32"/>
          <p:cNvSpPr txBox="1"/>
          <p:nvPr/>
        </p:nvSpPr>
        <p:spPr>
          <a:xfrm>
            <a:off x="6654633" y="3482252"/>
            <a:ext cx="4902077" cy="732136"/>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Pas aan zolang de norm niet gehaald is, of zolang podoloog en pedorthist samen oordelen dat er nog winst te halen is.</a:t>
            </a:r>
          </a:p>
        </p:txBody>
      </p:sp>
      <p:sp>
        <p:nvSpPr>
          <p:cNvPr id="34" name="Oval 33"/>
          <p:cNvSpPr/>
          <p:nvPr/>
        </p:nvSpPr>
        <p:spPr>
          <a:xfrm>
            <a:off x="6349841" y="4354086"/>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9841" y="4354086"/>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4</a:t>
            </a:r>
          </a:p>
        </p:txBody>
      </p:sp>
      <p:sp>
        <p:nvSpPr>
          <p:cNvPr id="36" name="TextBox 35"/>
          <p:cNvSpPr txBox="1"/>
          <p:nvPr/>
        </p:nvSpPr>
        <p:spPr>
          <a:xfrm>
            <a:off x="6654633" y="4341386"/>
            <a:ext cx="4902077" cy="28637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Is de norm gehaald, maak dan een tweede, identiek paar.</a:t>
            </a:r>
          </a:p>
        </p:txBody>
      </p:sp>
      <p:sp>
        <p:nvSpPr>
          <p:cNvPr id="37" name="Rounded Rectangle 36"/>
          <p:cNvSpPr/>
          <p:nvPr/>
        </p:nvSpPr>
        <p:spPr>
          <a:xfrm>
            <a:off x="634984" y="4990975"/>
            <a:ext cx="10921726" cy="1381090"/>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9776" y="5130671"/>
            <a:ext cx="1904952" cy="215894"/>
          </a:xfrm>
          <a:prstGeom prst="rect">
            <a:avLst/>
          </a:prstGeom>
          <a:noFill/>
        </p:spPr>
        <p:txBody>
          <a:bodyPr wrap="square" anchor="t" lIns="0" rIns="0" tIns="0" bIns="0">
            <a:spAutoFit/>
          </a:bodyPr>
          <a:lstStyle/>
          <a:p>
            <a:pPr algn="l">
              <a:lnSpc>
                <a:spcPct val="125000"/>
              </a:lnSpc>
            </a:pPr>
            <a:r>
              <a:rPr sz="1250" b="1" spc="150">
                <a:solidFill>
                  <a:srgbClr val="FF7A00"/>
                </a:solidFill>
                <a:latin typeface="Consolas"/>
              </a:rPr>
              <a:t>VALKUIL</a:t>
            </a:r>
          </a:p>
        </p:txBody>
      </p:sp>
      <p:sp>
        <p:nvSpPr>
          <p:cNvPr id="39" name="TextBox 38"/>
          <p:cNvSpPr txBox="1"/>
          <p:nvPr/>
        </p:nvSpPr>
        <p:spPr>
          <a:xfrm>
            <a:off x="939776" y="5384665"/>
            <a:ext cx="10286742" cy="898502"/>
          </a:xfrm>
          <a:prstGeom prst="rect">
            <a:avLst/>
          </a:prstGeom>
          <a:noFill/>
        </p:spPr>
        <p:txBody>
          <a:bodyPr wrap="square" anchor="t" lIns="0" rIns="0" tIns="0" bIns="0">
            <a:spAutoFit/>
          </a:bodyPr>
          <a:lstStyle/>
          <a:p>
            <a:pPr algn="l">
              <a:lnSpc>
                <a:spcPct val="135000"/>
              </a:lnSpc>
            </a:pPr>
            <a:r>
              <a:rPr sz="1500" b="0">
                <a:solidFill>
                  <a:srgbClr val="F2F8FC"/>
                </a:solidFill>
                <a:latin typeface="Segoe UI"/>
              </a:rPr>
              <a:t>De opbouw hangt af van de schoen. In een volledig op maat gemaakte schoen is de basis 5 mm microkurk plus 5 mm EVA; in een confectieschoen is het 6 mm EVA zonder kurk. Wisselt de patiënt van schoentype, dan klopt de zool niet meer.</a:t>
            </a:r>
          </a:p>
        </p:txBody>
      </p:sp>
      <p:sp>
        <p:nvSpPr>
          <p:cNvPr id="40" name="TextBox 3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58 / 71</a:t>
            </a:r>
          </a:p>
        </p:txBody>
      </p:sp>
      <p:pic>
        <p:nvPicPr>
          <p:cNvPr id="4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2" name="TextBox 4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SOP · ECRF-DOCUMENT 25B</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Orthotimer instellen</a:t>
            </a:r>
          </a:p>
        </p:txBody>
      </p:sp>
      <p:sp>
        <p:nvSpPr>
          <p:cNvPr id="5" name="TextBox 4"/>
          <p:cNvSpPr txBox="1"/>
          <p:nvPr/>
        </p:nvSpPr>
        <p:spPr>
          <a:xfrm>
            <a:off x="634984" y="1904952"/>
            <a:ext cx="5206869"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INSTELLINGEN</a:t>
            </a:r>
          </a:p>
        </p:txBody>
      </p:sp>
      <p:sp>
        <p:nvSpPr>
          <p:cNvPr id="6" name="Rectangle 5"/>
          <p:cNvSpPr/>
          <p:nvPr/>
        </p:nvSpPr>
        <p:spPr>
          <a:xfrm>
            <a:off x="634984" y="2209744"/>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2311342"/>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Type</a:t>
            </a:r>
          </a:p>
        </p:txBody>
      </p:sp>
      <p:sp>
        <p:nvSpPr>
          <p:cNvPr id="8" name="TextBox 7"/>
          <p:cNvSpPr txBox="1"/>
          <p:nvPr/>
        </p:nvSpPr>
        <p:spPr>
          <a:xfrm>
            <a:off x="2793930" y="2298642"/>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Insole</a:t>
            </a:r>
          </a:p>
        </p:txBody>
      </p:sp>
      <p:sp>
        <p:nvSpPr>
          <p:cNvPr id="9" name="Rectangle 8"/>
          <p:cNvSpPr/>
          <p:nvPr/>
        </p:nvSpPr>
        <p:spPr>
          <a:xfrm>
            <a:off x="634984" y="2647883"/>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749481"/>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Interval</a:t>
            </a:r>
          </a:p>
        </p:txBody>
      </p:sp>
      <p:sp>
        <p:nvSpPr>
          <p:cNvPr id="11" name="TextBox 10"/>
          <p:cNvSpPr txBox="1"/>
          <p:nvPr/>
        </p:nvSpPr>
        <p:spPr>
          <a:xfrm>
            <a:off x="2793930" y="2736781"/>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900 seconden — 15 minuten</a:t>
            </a:r>
          </a:p>
        </p:txBody>
      </p:sp>
      <p:sp>
        <p:nvSpPr>
          <p:cNvPr id="12" name="Rectangle 11"/>
          <p:cNvSpPr/>
          <p:nvPr/>
        </p:nvSpPr>
        <p:spPr>
          <a:xfrm>
            <a:off x="634984" y="3086022"/>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984" y="3187620"/>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Eenheid</a:t>
            </a:r>
          </a:p>
        </p:txBody>
      </p:sp>
      <p:sp>
        <p:nvSpPr>
          <p:cNvPr id="14" name="TextBox 13"/>
          <p:cNvSpPr txBox="1"/>
          <p:nvPr/>
        </p:nvSpPr>
        <p:spPr>
          <a:xfrm>
            <a:off x="2793930" y="3174920"/>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Celsius</a:t>
            </a:r>
          </a:p>
        </p:txBody>
      </p:sp>
      <p:sp>
        <p:nvSpPr>
          <p:cNvPr id="15" name="Rectangle 14"/>
          <p:cNvSpPr/>
          <p:nvPr/>
        </p:nvSpPr>
        <p:spPr>
          <a:xfrm>
            <a:off x="634984" y="3524161"/>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984" y="3625759"/>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Temperatuurbereik</a:t>
            </a:r>
          </a:p>
        </p:txBody>
      </p:sp>
      <p:sp>
        <p:nvSpPr>
          <p:cNvPr id="17" name="TextBox 16"/>
          <p:cNvSpPr txBox="1"/>
          <p:nvPr/>
        </p:nvSpPr>
        <p:spPr>
          <a:xfrm>
            <a:off x="2793930" y="3613059"/>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25 tot 38,5 °C</a:t>
            </a:r>
          </a:p>
        </p:txBody>
      </p:sp>
      <p:sp>
        <p:nvSpPr>
          <p:cNvPr id="18" name="Rectangle 17"/>
          <p:cNvSpPr/>
          <p:nvPr/>
        </p:nvSpPr>
        <p:spPr>
          <a:xfrm>
            <a:off x="634984" y="3962300"/>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984" y="4063898"/>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Min. aaneengesloten uren</a:t>
            </a:r>
          </a:p>
        </p:txBody>
      </p:sp>
      <p:sp>
        <p:nvSpPr>
          <p:cNvPr id="20" name="TextBox 19"/>
          <p:cNvSpPr txBox="1"/>
          <p:nvPr/>
        </p:nvSpPr>
        <p:spPr>
          <a:xfrm>
            <a:off x="2793930" y="4051198"/>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0</a:t>
            </a:r>
          </a:p>
        </p:txBody>
      </p:sp>
      <p:sp>
        <p:nvSpPr>
          <p:cNvPr id="21" name="Rectangle 20"/>
          <p:cNvSpPr/>
          <p:nvPr/>
        </p:nvSpPr>
        <p:spPr>
          <a:xfrm>
            <a:off x="634984" y="4400439"/>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502037"/>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Uren per dag</a:t>
            </a:r>
          </a:p>
        </p:txBody>
      </p:sp>
      <p:sp>
        <p:nvSpPr>
          <p:cNvPr id="23" name="TextBox 22"/>
          <p:cNvSpPr txBox="1"/>
          <p:nvPr/>
        </p:nvSpPr>
        <p:spPr>
          <a:xfrm>
            <a:off x="2793930" y="4489337"/>
            <a:ext cx="3047923" cy="507987"/>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per patiënt · 80% van het actieve profiel</a:t>
            </a:r>
          </a:p>
        </p:txBody>
      </p:sp>
      <p:sp>
        <p:nvSpPr>
          <p:cNvPr id="24" name="TextBox 23"/>
          <p:cNvSpPr txBox="1"/>
          <p:nvPr/>
        </p:nvSpPr>
        <p:spPr>
          <a:xfrm>
            <a:off x="6349841" y="1904952"/>
            <a:ext cx="5206869"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STAPPEN</a:t>
            </a:r>
          </a:p>
        </p:txBody>
      </p:sp>
      <p:sp>
        <p:nvSpPr>
          <p:cNvPr id="25" name="Oval 24"/>
          <p:cNvSpPr/>
          <p:nvPr/>
        </p:nvSpPr>
        <p:spPr>
          <a:xfrm>
            <a:off x="6349841" y="2222444"/>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9841" y="2222444"/>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1</a:t>
            </a:r>
          </a:p>
        </p:txBody>
      </p:sp>
      <p:sp>
        <p:nvSpPr>
          <p:cNvPr id="27" name="TextBox 26"/>
          <p:cNvSpPr txBox="1"/>
          <p:nvPr/>
        </p:nvSpPr>
        <p:spPr>
          <a:xfrm>
            <a:off x="6654633" y="2209744"/>
            <a:ext cx="4902077" cy="732136"/>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Maak de patiënt aan: naam = het deelnemersnummer, geboortedatum 1/1/1999, geslacht vrouwelijk. Noteer in de opmerking dat die twee geclassificeerd zijn.</a:t>
            </a:r>
          </a:p>
        </p:txBody>
      </p:sp>
      <p:sp>
        <p:nvSpPr>
          <p:cNvPr id="28" name="Oval 27"/>
          <p:cNvSpPr/>
          <p:nvPr/>
        </p:nvSpPr>
        <p:spPr>
          <a:xfrm>
            <a:off x="6349841" y="3081577"/>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9841" y="3081577"/>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2</a:t>
            </a:r>
          </a:p>
        </p:txBody>
      </p:sp>
      <p:sp>
        <p:nvSpPr>
          <p:cNvPr id="30" name="TextBox 29"/>
          <p:cNvSpPr txBox="1"/>
          <p:nvPr/>
        </p:nvSpPr>
        <p:spPr>
          <a:xfrm>
            <a:off x="6654633" y="3068878"/>
            <a:ext cx="4902077" cy="28637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Wijs de groep toe: Usual care of Optimal care.</a:t>
            </a:r>
          </a:p>
        </p:txBody>
      </p:sp>
      <p:sp>
        <p:nvSpPr>
          <p:cNvPr id="31" name="Oval 30"/>
          <p:cNvSpPr/>
          <p:nvPr/>
        </p:nvSpPr>
        <p:spPr>
          <a:xfrm>
            <a:off x="6349841" y="3494952"/>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9841" y="3494952"/>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3</a:t>
            </a:r>
          </a:p>
        </p:txBody>
      </p:sp>
      <p:sp>
        <p:nvSpPr>
          <p:cNvPr id="33" name="TextBox 32"/>
          <p:cNvSpPr txBox="1"/>
          <p:nvPr/>
        </p:nvSpPr>
        <p:spPr>
          <a:xfrm>
            <a:off x="6654633" y="3482252"/>
            <a:ext cx="4902077" cy="50925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Houd de pen op de O van het Orthotimer-logo tot de balk groen wordt.</a:t>
            </a:r>
          </a:p>
        </p:txBody>
      </p:sp>
      <p:sp>
        <p:nvSpPr>
          <p:cNvPr id="34" name="Oval 33"/>
          <p:cNvSpPr/>
          <p:nvPr/>
        </p:nvSpPr>
        <p:spPr>
          <a:xfrm>
            <a:off x="6349841" y="4131206"/>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9841" y="4131206"/>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4</a:t>
            </a:r>
          </a:p>
        </p:txBody>
      </p:sp>
      <p:sp>
        <p:nvSpPr>
          <p:cNvPr id="36" name="TextBox 35"/>
          <p:cNvSpPr txBox="1"/>
          <p:nvPr/>
        </p:nvSpPr>
        <p:spPr>
          <a:xfrm>
            <a:off x="6654633" y="4118507"/>
            <a:ext cx="4902077" cy="50925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Activeer, en laat de sensor één testmeting doen: haal hem iets langer dan het interval van de lezer af.</a:t>
            </a:r>
          </a:p>
        </p:txBody>
      </p:sp>
      <p:sp>
        <p:nvSpPr>
          <p:cNvPr id="37" name="Rounded Rectangle 36"/>
          <p:cNvSpPr/>
          <p:nvPr/>
        </p:nvSpPr>
        <p:spPr>
          <a:xfrm>
            <a:off x="634984" y="5213219"/>
            <a:ext cx="10921726" cy="1123921"/>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9776" y="5352916"/>
            <a:ext cx="1904952" cy="215894"/>
          </a:xfrm>
          <a:prstGeom prst="rect">
            <a:avLst/>
          </a:prstGeom>
          <a:noFill/>
        </p:spPr>
        <p:txBody>
          <a:bodyPr wrap="square" anchor="t" lIns="0" rIns="0" tIns="0" bIns="0">
            <a:spAutoFit/>
          </a:bodyPr>
          <a:lstStyle/>
          <a:p>
            <a:pPr algn="l">
              <a:lnSpc>
                <a:spcPct val="125000"/>
              </a:lnSpc>
            </a:pPr>
            <a:r>
              <a:rPr sz="1250" b="1" spc="150">
                <a:solidFill>
                  <a:srgbClr val="FF7A00"/>
                </a:solidFill>
                <a:latin typeface="Consolas"/>
              </a:rPr>
              <a:t>VALKUIL</a:t>
            </a:r>
          </a:p>
        </p:txBody>
      </p:sp>
      <p:sp>
        <p:nvSpPr>
          <p:cNvPr id="39" name="TextBox 38"/>
          <p:cNvSpPr txBox="1"/>
          <p:nvPr/>
        </p:nvSpPr>
        <p:spPr>
          <a:xfrm>
            <a:off x="939776" y="5606909"/>
            <a:ext cx="10286742" cy="641333"/>
          </a:xfrm>
          <a:prstGeom prst="rect">
            <a:avLst/>
          </a:prstGeom>
          <a:noFill/>
        </p:spPr>
        <p:txBody>
          <a:bodyPr wrap="square" anchor="t" lIns="0" rIns="0" tIns="0" bIns="0">
            <a:spAutoFit/>
          </a:bodyPr>
          <a:lstStyle/>
          <a:p>
            <a:pPr algn="l">
              <a:lnSpc>
                <a:spcPct val="135000"/>
              </a:lnSpc>
            </a:pPr>
            <a:r>
              <a:rPr sz="1500" b="0">
                <a:solidFill>
                  <a:srgbClr val="F2F8FC"/>
                </a:solidFill>
                <a:latin typeface="Segoe UI"/>
              </a:rPr>
              <a:t>De uren per dag zijn géén vast getal. Ze komen uit het activiteitenprofiel van díé patiënt — 80% van zijn gemiddelde actieve tijd. Zet u er een standaardwaarde in, dan meet u de verkeerde norm.</a:t>
            </a:r>
          </a:p>
        </p:txBody>
      </p:sp>
      <p:sp>
        <p:nvSpPr>
          <p:cNvPr id="40" name="TextBox 3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59 / 71</a:t>
            </a:r>
          </a:p>
        </p:txBody>
      </p:sp>
      <p:pic>
        <p:nvPicPr>
          <p:cNvPr id="4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2" name="TextBox 4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SOP · ECRF-DOCUMENT 19B</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MoveMonitor instellen</a:t>
            </a:r>
          </a:p>
        </p:txBody>
      </p:sp>
      <p:sp>
        <p:nvSpPr>
          <p:cNvPr id="5" name="TextBox 4"/>
          <p:cNvSpPr txBox="1"/>
          <p:nvPr/>
        </p:nvSpPr>
        <p:spPr>
          <a:xfrm>
            <a:off x="634984" y="1904952"/>
            <a:ext cx="5206869"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INSTELLINGEN</a:t>
            </a:r>
          </a:p>
        </p:txBody>
      </p:sp>
      <p:sp>
        <p:nvSpPr>
          <p:cNvPr id="6" name="Rectangle 5"/>
          <p:cNvSpPr/>
          <p:nvPr/>
        </p:nvSpPr>
        <p:spPr>
          <a:xfrm>
            <a:off x="634984" y="2209744"/>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2311342"/>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Testtype</a:t>
            </a:r>
          </a:p>
        </p:txBody>
      </p:sp>
      <p:sp>
        <p:nvSpPr>
          <p:cNvPr id="8" name="TextBox 7"/>
          <p:cNvSpPr txBox="1"/>
          <p:nvPr/>
        </p:nvSpPr>
        <p:spPr>
          <a:xfrm>
            <a:off x="2793930" y="2298642"/>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MoviMonitor</a:t>
            </a:r>
          </a:p>
        </p:txBody>
      </p:sp>
      <p:sp>
        <p:nvSpPr>
          <p:cNvPr id="9" name="Rectangle 8"/>
          <p:cNvSpPr/>
          <p:nvPr/>
        </p:nvSpPr>
        <p:spPr>
          <a:xfrm>
            <a:off x="634984" y="2647883"/>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749481"/>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Start</a:t>
            </a:r>
          </a:p>
        </p:txBody>
      </p:sp>
      <p:sp>
        <p:nvSpPr>
          <p:cNvPr id="11" name="TextBox 10"/>
          <p:cNvSpPr txBox="1"/>
          <p:nvPr/>
        </p:nvSpPr>
        <p:spPr>
          <a:xfrm>
            <a:off x="2793930" y="2736781"/>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de dag nadien om 7 uur</a:t>
            </a:r>
          </a:p>
        </p:txBody>
      </p:sp>
      <p:sp>
        <p:nvSpPr>
          <p:cNvPr id="12" name="Rectangle 11"/>
          <p:cNvSpPr/>
          <p:nvPr/>
        </p:nvSpPr>
        <p:spPr>
          <a:xfrm>
            <a:off x="634984" y="3086022"/>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984" y="3187620"/>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Duur</a:t>
            </a:r>
          </a:p>
        </p:txBody>
      </p:sp>
      <p:sp>
        <p:nvSpPr>
          <p:cNvPr id="14" name="TextBox 13"/>
          <p:cNvSpPr txBox="1"/>
          <p:nvPr/>
        </p:nvSpPr>
        <p:spPr>
          <a:xfrm>
            <a:off x="2793930" y="3174920"/>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7 dagen</a:t>
            </a:r>
          </a:p>
        </p:txBody>
      </p:sp>
      <p:sp>
        <p:nvSpPr>
          <p:cNvPr id="15" name="Rectangle 14"/>
          <p:cNvSpPr/>
          <p:nvPr/>
        </p:nvSpPr>
        <p:spPr>
          <a:xfrm>
            <a:off x="634984" y="3524161"/>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984" y="3625759"/>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Deelnemerscode</a:t>
            </a:r>
          </a:p>
        </p:txBody>
      </p:sp>
      <p:sp>
        <p:nvSpPr>
          <p:cNvPr id="17" name="TextBox 16"/>
          <p:cNvSpPr txBox="1"/>
          <p:nvPr/>
        </p:nvSpPr>
        <p:spPr>
          <a:xfrm>
            <a:off x="2793930" y="3613059"/>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M + deelnemersnummer</a:t>
            </a:r>
          </a:p>
        </p:txBody>
      </p:sp>
      <p:sp>
        <p:nvSpPr>
          <p:cNvPr id="18" name="Rectangle 17"/>
          <p:cNvSpPr/>
          <p:nvPr/>
        </p:nvSpPr>
        <p:spPr>
          <a:xfrm>
            <a:off x="634984" y="3962300"/>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984" y="4063898"/>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Geboortejaar</a:t>
            </a:r>
          </a:p>
        </p:txBody>
      </p:sp>
      <p:sp>
        <p:nvSpPr>
          <p:cNvPr id="20" name="TextBox 19"/>
          <p:cNvSpPr txBox="1"/>
          <p:nvPr/>
        </p:nvSpPr>
        <p:spPr>
          <a:xfrm>
            <a:off x="2793930" y="4051198"/>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1900</a:t>
            </a:r>
          </a:p>
        </p:txBody>
      </p:sp>
      <p:sp>
        <p:nvSpPr>
          <p:cNvPr id="21" name="Rectangle 20"/>
          <p:cNvSpPr/>
          <p:nvPr/>
        </p:nvSpPr>
        <p:spPr>
          <a:xfrm>
            <a:off x="634984" y="4400439"/>
            <a:ext cx="520686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502037"/>
            <a:ext cx="2095447" cy="215894"/>
          </a:xfrm>
          <a:prstGeom prst="rect">
            <a:avLst/>
          </a:prstGeom>
          <a:noFill/>
        </p:spPr>
        <p:txBody>
          <a:bodyPr wrap="none" anchor="t" lIns="0" rIns="0" tIns="0" bIns="0">
            <a:spAutoFit/>
          </a:bodyPr>
          <a:lstStyle/>
          <a:p>
            <a:pPr algn="l">
              <a:lnSpc>
                <a:spcPct val="125000"/>
              </a:lnSpc>
            </a:pPr>
            <a:r>
              <a:rPr sz="1350" b="0">
                <a:solidFill>
                  <a:srgbClr val="8FB6D0"/>
                </a:solidFill>
                <a:latin typeface="Segoe UI"/>
              </a:rPr>
              <a:t>Dragen</a:t>
            </a:r>
          </a:p>
        </p:txBody>
      </p:sp>
      <p:sp>
        <p:nvSpPr>
          <p:cNvPr id="23" name="TextBox 22"/>
          <p:cNvSpPr txBox="1"/>
          <p:nvPr/>
        </p:nvSpPr>
        <p:spPr>
          <a:xfrm>
            <a:off x="2793930" y="4489337"/>
            <a:ext cx="3047923" cy="285742"/>
          </a:xfrm>
          <a:prstGeom prst="rect">
            <a:avLst/>
          </a:prstGeom>
          <a:noFill/>
        </p:spPr>
        <p:txBody>
          <a:bodyPr wrap="square" anchor="t" lIns="0" rIns="0" tIns="0" bIns="0">
            <a:spAutoFit/>
          </a:bodyPr>
          <a:lstStyle/>
          <a:p>
            <a:pPr algn="l">
              <a:lnSpc>
                <a:spcPct val="125000"/>
              </a:lnSpc>
            </a:pPr>
            <a:r>
              <a:rPr sz="1400" b="1">
                <a:solidFill>
                  <a:srgbClr val="F2F8FC"/>
                </a:solidFill>
                <a:latin typeface="Segoe UI"/>
              </a:rPr>
              <a:t>om het middel, op de onderrug</a:t>
            </a:r>
          </a:p>
        </p:txBody>
      </p:sp>
      <p:sp>
        <p:nvSpPr>
          <p:cNvPr id="24" name="TextBox 23"/>
          <p:cNvSpPr txBox="1"/>
          <p:nvPr/>
        </p:nvSpPr>
        <p:spPr>
          <a:xfrm>
            <a:off x="6349841" y="1904952"/>
            <a:ext cx="5206869" cy="215894"/>
          </a:xfrm>
          <a:prstGeom prst="rect">
            <a:avLst/>
          </a:prstGeom>
          <a:noFill/>
        </p:spPr>
        <p:txBody>
          <a:bodyPr wrap="square" anchor="t" lIns="0" rIns="0" tIns="0" bIns="0">
            <a:spAutoFit/>
          </a:bodyPr>
          <a:lstStyle/>
          <a:p>
            <a:pPr algn="l">
              <a:lnSpc>
                <a:spcPct val="125000"/>
              </a:lnSpc>
            </a:pPr>
            <a:r>
              <a:rPr sz="1250" b="1" spc="150">
                <a:solidFill>
                  <a:srgbClr val="8FB6D0"/>
                </a:solidFill>
                <a:latin typeface="Consolas"/>
              </a:rPr>
              <a:t>STAPPEN</a:t>
            </a:r>
          </a:p>
        </p:txBody>
      </p:sp>
      <p:sp>
        <p:nvSpPr>
          <p:cNvPr id="25" name="Oval 24"/>
          <p:cNvSpPr/>
          <p:nvPr/>
        </p:nvSpPr>
        <p:spPr>
          <a:xfrm>
            <a:off x="6349841" y="2222444"/>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49841" y="2222444"/>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1</a:t>
            </a:r>
          </a:p>
        </p:txBody>
      </p:sp>
      <p:sp>
        <p:nvSpPr>
          <p:cNvPr id="27" name="TextBox 26"/>
          <p:cNvSpPr txBox="1"/>
          <p:nvPr/>
        </p:nvSpPr>
        <p:spPr>
          <a:xfrm>
            <a:off x="6654633" y="2209744"/>
            <a:ext cx="4902077" cy="50925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Laad volledig op: circa drie uur. Knipperend groen is laden, groen is vol.</a:t>
            </a:r>
          </a:p>
        </p:txBody>
      </p:sp>
      <p:sp>
        <p:nvSpPr>
          <p:cNvPr id="28" name="Oval 27"/>
          <p:cNvSpPr/>
          <p:nvPr/>
        </p:nvSpPr>
        <p:spPr>
          <a:xfrm>
            <a:off x="6349841" y="2858698"/>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9841" y="2858698"/>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2</a:t>
            </a:r>
          </a:p>
        </p:txBody>
      </p:sp>
      <p:sp>
        <p:nvSpPr>
          <p:cNvPr id="30" name="TextBox 29"/>
          <p:cNvSpPr txBox="1"/>
          <p:nvPr/>
        </p:nvSpPr>
        <p:spPr>
          <a:xfrm>
            <a:off x="6654633" y="2845998"/>
            <a:ext cx="4902077" cy="50925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Sluit het toestel aan, kies het in de portaalsite en stel de meting in.</a:t>
            </a:r>
          </a:p>
        </p:txBody>
      </p:sp>
      <p:sp>
        <p:nvSpPr>
          <p:cNvPr id="31" name="Oval 30"/>
          <p:cNvSpPr/>
          <p:nvPr/>
        </p:nvSpPr>
        <p:spPr>
          <a:xfrm>
            <a:off x="6349841" y="3494952"/>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9841" y="3494952"/>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3</a:t>
            </a:r>
          </a:p>
        </p:txBody>
      </p:sp>
      <p:sp>
        <p:nvSpPr>
          <p:cNvPr id="33" name="TextBox 32"/>
          <p:cNvSpPr txBox="1"/>
          <p:nvPr/>
        </p:nvSpPr>
        <p:spPr>
          <a:xfrm>
            <a:off x="6654633" y="3482252"/>
            <a:ext cx="4902077" cy="50925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Geef mee en spreek af wanneer het terugkomt: één visite na zeven dagen.</a:t>
            </a:r>
          </a:p>
        </p:txBody>
      </p:sp>
      <p:sp>
        <p:nvSpPr>
          <p:cNvPr id="34" name="Oval 33"/>
          <p:cNvSpPr/>
          <p:nvPr/>
        </p:nvSpPr>
        <p:spPr>
          <a:xfrm>
            <a:off x="6349841" y="4131206"/>
            <a:ext cx="203194" cy="203194"/>
          </a:xfrm>
          <a:prstGeom prst="ellipse">
            <a:avLst/>
          </a:prstGeom>
          <a:solidFill>
            <a:srgbClr val="113A57"/>
          </a:solidFill>
          <a:ln w="1270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9841" y="4131206"/>
            <a:ext cx="203194" cy="203194"/>
          </a:xfrm>
          <a:prstGeom prst="rect">
            <a:avLst/>
          </a:prstGeom>
          <a:noFill/>
        </p:spPr>
        <p:txBody>
          <a:bodyPr wrap="square" anchor="ctr" lIns="0" rIns="0" tIns="0" bIns="0">
            <a:spAutoFit/>
          </a:bodyPr>
          <a:lstStyle/>
          <a:p>
            <a:pPr algn="ctr">
              <a:lnSpc>
                <a:spcPct val="100000"/>
              </a:lnSpc>
            </a:pPr>
            <a:r>
              <a:rPr sz="1250" b="1">
                <a:solidFill>
                  <a:srgbClr val="52BDEC"/>
                </a:solidFill>
                <a:latin typeface="Consolas"/>
              </a:rPr>
              <a:t>4</a:t>
            </a:r>
          </a:p>
        </p:txBody>
      </p:sp>
      <p:sp>
        <p:nvSpPr>
          <p:cNvPr id="36" name="TextBox 35"/>
          <p:cNvSpPr txBox="1"/>
          <p:nvPr/>
        </p:nvSpPr>
        <p:spPr>
          <a:xfrm>
            <a:off x="6654633" y="4118507"/>
            <a:ext cx="4902077" cy="509257"/>
          </a:xfrm>
          <a:prstGeom prst="rect">
            <a:avLst/>
          </a:prstGeom>
          <a:noFill/>
        </p:spPr>
        <p:txBody>
          <a:bodyPr wrap="square" anchor="t" lIns="0" rIns="0" tIns="0" bIns="0">
            <a:spAutoFit/>
          </a:bodyPr>
          <a:lstStyle/>
          <a:p>
            <a:pPr algn="l">
              <a:lnSpc>
                <a:spcPct val="130000"/>
              </a:lnSpc>
            </a:pPr>
            <a:r>
              <a:rPr sz="1350" b="0">
                <a:solidFill>
                  <a:srgbClr val="F2F8FC"/>
                </a:solidFill>
                <a:latin typeface="Segoe UI"/>
              </a:rPr>
              <a:t>Sluit bij teruggave aan op de pc; de data uploadt vanzelf via DynaPort Manager.</a:t>
            </a:r>
          </a:p>
        </p:txBody>
      </p:sp>
      <p:sp>
        <p:nvSpPr>
          <p:cNvPr id="37" name="Rounded Rectangle 36"/>
          <p:cNvSpPr/>
          <p:nvPr/>
        </p:nvSpPr>
        <p:spPr>
          <a:xfrm>
            <a:off x="634984" y="4990975"/>
            <a:ext cx="10921726" cy="1123921"/>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9776" y="5130671"/>
            <a:ext cx="1904952" cy="215894"/>
          </a:xfrm>
          <a:prstGeom prst="rect">
            <a:avLst/>
          </a:prstGeom>
          <a:noFill/>
        </p:spPr>
        <p:txBody>
          <a:bodyPr wrap="square" anchor="t" lIns="0" rIns="0" tIns="0" bIns="0">
            <a:spAutoFit/>
          </a:bodyPr>
          <a:lstStyle/>
          <a:p>
            <a:pPr algn="l">
              <a:lnSpc>
                <a:spcPct val="125000"/>
              </a:lnSpc>
            </a:pPr>
            <a:r>
              <a:rPr sz="1250" b="1" spc="150">
                <a:solidFill>
                  <a:srgbClr val="FF7A00"/>
                </a:solidFill>
                <a:latin typeface="Consolas"/>
              </a:rPr>
              <a:t>VALKUIL</a:t>
            </a:r>
          </a:p>
        </p:txBody>
      </p:sp>
      <p:sp>
        <p:nvSpPr>
          <p:cNvPr id="39" name="TextBox 38"/>
          <p:cNvSpPr txBox="1"/>
          <p:nvPr/>
        </p:nvSpPr>
        <p:spPr>
          <a:xfrm>
            <a:off x="939776" y="5384665"/>
            <a:ext cx="10286742" cy="641333"/>
          </a:xfrm>
          <a:prstGeom prst="rect">
            <a:avLst/>
          </a:prstGeom>
          <a:noFill/>
        </p:spPr>
        <p:txBody>
          <a:bodyPr wrap="square" anchor="t" lIns="0" rIns="0" tIns="0" bIns="0">
            <a:spAutoFit/>
          </a:bodyPr>
          <a:lstStyle/>
          <a:p>
            <a:pPr algn="l">
              <a:lnSpc>
                <a:spcPct val="135000"/>
              </a:lnSpc>
            </a:pPr>
            <a:r>
              <a:rPr sz="1500" b="0">
                <a:solidFill>
                  <a:srgbClr val="F2F8FC"/>
                </a:solidFill>
                <a:latin typeface="Segoe UI"/>
              </a:rPr>
              <a:t>Niet waterdicht. Zeg dat expliciet tegen de patiënt: uit tijdens het douchen. Een toestel dat een week in de badkamer lag levert geen activiteitenprofiel, en dus ook geen norm voor de Orthotimer.</a:t>
            </a:r>
          </a:p>
        </p:txBody>
      </p:sp>
      <p:sp>
        <p:nvSpPr>
          <p:cNvPr id="40" name="TextBox 3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60 / 71</a:t>
            </a:r>
          </a:p>
        </p:txBody>
      </p:sp>
      <p:pic>
        <p:nvPicPr>
          <p:cNvPr id="4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2" name="TextBox 4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13 · Waaijman 2013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SEBIA · ECRF-DOCUMENT 17</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Vijf gespreksmomenten</a:t>
            </a:r>
          </a:p>
        </p:txBody>
      </p:sp>
      <p:sp>
        <p:nvSpPr>
          <p:cNvPr id="5" name="Rectangle 4"/>
          <p:cNvSpPr/>
          <p:nvPr/>
        </p:nvSpPr>
        <p:spPr>
          <a:xfrm>
            <a:off x="634984" y="2463738"/>
            <a:ext cx="10921726" cy="1269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281"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4984"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779"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01</a:t>
            </a:r>
          </a:p>
        </p:txBody>
      </p:sp>
      <p:sp>
        <p:nvSpPr>
          <p:cNvPr id="9" name="TextBox 8"/>
          <p:cNvSpPr txBox="1"/>
          <p:nvPr/>
        </p:nvSpPr>
        <p:spPr>
          <a:xfrm>
            <a:off x="812779"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Baseline</a:t>
            </a:r>
          </a:p>
        </p:txBody>
      </p:sp>
      <p:sp>
        <p:nvSpPr>
          <p:cNvPr id="10" name="TextBox 9"/>
          <p:cNvSpPr txBox="1"/>
          <p:nvPr/>
        </p:nvSpPr>
        <p:spPr>
          <a:xfrm>
            <a:off x="812779"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Vragenlijsten eerst, dan educatie op maat, met voordoen.</a:t>
            </a:r>
          </a:p>
        </p:txBody>
      </p:sp>
      <p:sp>
        <p:nvSpPr>
          <p:cNvPr id="11" name="Oval 10"/>
          <p:cNvSpPr/>
          <p:nvPr/>
        </p:nvSpPr>
        <p:spPr>
          <a:xfrm>
            <a:off x="2959026"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44728"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22524"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02</a:t>
            </a:r>
          </a:p>
        </p:txBody>
      </p:sp>
      <p:sp>
        <p:nvSpPr>
          <p:cNvPr id="14" name="TextBox 13"/>
          <p:cNvSpPr txBox="1"/>
          <p:nvPr/>
        </p:nvSpPr>
        <p:spPr>
          <a:xfrm>
            <a:off x="3022524"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3 mnd</a:t>
            </a:r>
          </a:p>
        </p:txBody>
      </p:sp>
      <p:sp>
        <p:nvSpPr>
          <p:cNvPr id="15" name="TextBox 14"/>
          <p:cNvSpPr txBox="1"/>
          <p:nvPr/>
        </p:nvSpPr>
        <p:spPr>
          <a:xfrm>
            <a:off x="3022524"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Teach-back. Nadruk op bínnenshuis dragen.</a:t>
            </a:r>
          </a:p>
        </p:txBody>
      </p:sp>
      <p:sp>
        <p:nvSpPr>
          <p:cNvPr id="16" name="Oval 15"/>
          <p:cNvSpPr/>
          <p:nvPr/>
        </p:nvSpPr>
        <p:spPr>
          <a:xfrm>
            <a:off x="5168770"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54473"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32269"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03</a:t>
            </a:r>
          </a:p>
        </p:txBody>
      </p:sp>
      <p:sp>
        <p:nvSpPr>
          <p:cNvPr id="19" name="TextBox 18"/>
          <p:cNvSpPr txBox="1"/>
          <p:nvPr/>
        </p:nvSpPr>
        <p:spPr>
          <a:xfrm>
            <a:off x="5232269"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6 · 12 mnd</a:t>
            </a:r>
          </a:p>
        </p:txBody>
      </p:sp>
      <p:sp>
        <p:nvSpPr>
          <p:cNvPr id="20" name="TextBox 19"/>
          <p:cNvSpPr txBox="1"/>
          <p:nvPr/>
        </p:nvSpPr>
        <p:spPr>
          <a:xfrm>
            <a:off x="5232269"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Zelfinschatting, dan samen de data bekijken.</a:t>
            </a:r>
          </a:p>
        </p:txBody>
      </p:sp>
      <p:sp>
        <p:nvSpPr>
          <p:cNvPr id="21" name="Oval 20"/>
          <p:cNvSpPr/>
          <p:nvPr/>
        </p:nvSpPr>
        <p:spPr>
          <a:xfrm>
            <a:off x="7378515"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4218"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42013"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04</a:t>
            </a:r>
          </a:p>
        </p:txBody>
      </p:sp>
      <p:sp>
        <p:nvSpPr>
          <p:cNvPr id="24" name="TextBox 23"/>
          <p:cNvSpPr txBox="1"/>
          <p:nvPr/>
        </p:nvSpPr>
        <p:spPr>
          <a:xfrm>
            <a:off x="7442013"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9 · 15 mnd</a:t>
            </a:r>
          </a:p>
        </p:txBody>
      </p:sp>
      <p:sp>
        <p:nvSpPr>
          <p:cNvPr id="25" name="TextBox 24"/>
          <p:cNvSpPr txBox="1"/>
          <p:nvPr/>
        </p:nvSpPr>
        <p:spPr>
          <a:xfrm>
            <a:off x="7442013"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Voordoen. Uitdraai vergelijken met vorige keer.</a:t>
            </a:r>
          </a:p>
        </p:txBody>
      </p:sp>
      <p:sp>
        <p:nvSpPr>
          <p:cNvPr id="26" name="Oval 25"/>
          <p:cNvSpPr/>
          <p:nvPr/>
        </p:nvSpPr>
        <p:spPr>
          <a:xfrm>
            <a:off x="9588260"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73963"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51758"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05</a:t>
            </a:r>
          </a:p>
        </p:txBody>
      </p:sp>
      <p:sp>
        <p:nvSpPr>
          <p:cNvPr id="29" name="TextBox 28"/>
          <p:cNvSpPr txBox="1"/>
          <p:nvPr/>
        </p:nvSpPr>
        <p:spPr>
          <a:xfrm>
            <a:off x="9651758"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18 mnd</a:t>
            </a:r>
          </a:p>
        </p:txBody>
      </p:sp>
      <p:sp>
        <p:nvSpPr>
          <p:cNvPr id="30" name="TextBox 29"/>
          <p:cNvSpPr txBox="1"/>
          <p:nvPr/>
        </p:nvSpPr>
        <p:spPr>
          <a:xfrm>
            <a:off x="9651758"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Afsluiten en resultaten delen.</a:t>
            </a:r>
          </a:p>
        </p:txBody>
      </p:sp>
      <p:sp>
        <p:nvSpPr>
          <p:cNvPr id="31" name="TextBox 3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61 / 71</a:t>
            </a:r>
          </a:p>
        </p:txBody>
      </p:sp>
      <p:pic>
        <p:nvPicPr>
          <p:cNvPr id="32"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3" name="TextBox 32"/>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19 · Michie 2011, COM-B   |   26 · Lincoln 2007, NAFF   |   31 · Keukenkamp 2022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FF7A00"/>
                </a:solidFill>
                <a:latin typeface="Consolas"/>
              </a:rPr>
              <a:t>DE ENIGE REGEL DIE U ÉCHT MOET ONTHOUDEN</a:t>
            </a:r>
          </a:p>
        </p:txBody>
      </p:sp>
      <p:sp>
        <p:nvSpPr>
          <p:cNvPr id="4" name="hero"/>
          <p:cNvSpPr txBox="1"/>
          <p:nvPr/>
        </p:nvSpPr>
        <p:spPr>
          <a:xfrm>
            <a:off x="634984" y="1066773"/>
            <a:ext cx="6857828" cy="2539936"/>
          </a:xfrm>
          <a:prstGeom prst="rect">
            <a:avLst/>
          </a:prstGeom>
          <a:noFill/>
        </p:spPr>
        <p:txBody>
          <a:bodyPr wrap="square" anchor="t" lIns="0" rIns="0" tIns="0" bIns="0">
            <a:spAutoFit/>
          </a:bodyPr>
          <a:lstStyle/>
          <a:p>
            <a:pPr algn="l">
              <a:lnSpc>
                <a:spcPct val="108000"/>
              </a:lnSpc>
            </a:pPr>
            <a:r>
              <a:rPr sz="5400" b="1">
                <a:solidFill>
                  <a:srgbClr val="F2F8FC"/>
                </a:solidFill>
                <a:latin typeface="Segoe UI"/>
              </a:rPr>
              <a:t>Meetwaarden gaan</a:t>
            </a:r>
          </a:p>
          <a:p>
            <a:pPr algn="l">
              <a:lnSpc>
                <a:spcPct val="108000"/>
              </a:lnSpc>
              <a:spcBef>
                <a:spcPts val="500"/>
              </a:spcBef>
            </a:pPr>
            <a:r>
              <a:rPr sz="5400" b="1">
                <a:solidFill>
                  <a:srgbClr val="F2F8FC"/>
                </a:solidFill>
                <a:latin typeface="Segoe UI"/>
              </a:rPr>
              <a:t>niet naar de</a:t>
            </a:r>
          </a:p>
          <a:p>
            <a:pPr algn="l">
              <a:lnSpc>
                <a:spcPct val="108000"/>
              </a:lnSpc>
              <a:spcBef>
                <a:spcPts val="500"/>
              </a:spcBef>
            </a:pPr>
            <a:r>
              <a:rPr sz="5400" b="1">
                <a:solidFill>
                  <a:srgbClr val="F2F8FC"/>
                </a:solidFill>
                <a:latin typeface="Segoe UI"/>
              </a:rPr>
              <a:t>controlegroep</a:t>
            </a:r>
          </a:p>
        </p:txBody>
      </p:sp>
      <p:sp>
        <p:nvSpPr>
          <p:cNvPr id="5" name="Rounded Rectangle 4"/>
          <p:cNvSpPr/>
          <p:nvPr/>
        </p:nvSpPr>
        <p:spPr>
          <a:xfrm>
            <a:off x="634984" y="4101997"/>
            <a:ext cx="6857828" cy="1549361"/>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377" y="4381390"/>
            <a:ext cx="6349841" cy="1206469"/>
          </a:xfrm>
          <a:prstGeom prst="rect">
            <a:avLst/>
          </a:prstGeom>
          <a:noFill/>
        </p:spPr>
        <p:txBody>
          <a:bodyPr wrap="square" anchor="t" lIns="0" rIns="0" tIns="0" bIns="0">
            <a:spAutoFit/>
          </a:bodyPr>
          <a:lstStyle/>
          <a:p>
            <a:pPr algn="l">
              <a:lnSpc>
                <a:spcPct val="145000"/>
              </a:lnSpc>
            </a:pPr>
            <a:r>
              <a:rPr sz="1750" b="0">
                <a:solidFill>
                  <a:srgbClr val="8FB6D0"/>
                </a:solidFill>
                <a:latin typeface="Segoe UI"/>
              </a:rPr>
              <a:t>Ook zij krijgen een drukmeting en dragen een sensor — anders kunnen we de groepen niet vergelijken. Maar die getallen blijven dicht. Bespreekt u ze, dan lévert u de interventie en is die patiënt niet meer bruikbaar als controle.</a:t>
            </a:r>
          </a:p>
        </p:txBody>
      </p:sp>
      <p:sp>
        <p:nvSpPr>
          <p:cNvPr id="7" name="Rounded Rectangle 6"/>
          <p:cNvSpPr/>
          <p:nvPr/>
        </p:nvSpPr>
        <p:spPr>
          <a:xfrm>
            <a:off x="7873803" y="2031949"/>
            <a:ext cx="3682907" cy="3517812"/>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78595" y="2324041"/>
            <a:ext cx="3111422" cy="241293"/>
          </a:xfrm>
          <a:prstGeom prst="rect">
            <a:avLst/>
          </a:prstGeom>
          <a:noFill/>
        </p:spPr>
        <p:txBody>
          <a:bodyPr wrap="square" anchor="t" lIns="0" rIns="0" tIns="0" bIns="0">
            <a:spAutoFit/>
          </a:bodyPr>
          <a:lstStyle/>
          <a:p>
            <a:pPr algn="l">
              <a:lnSpc>
                <a:spcPct val="125000"/>
              </a:lnSpc>
            </a:pPr>
            <a:r>
              <a:rPr sz="1250" b="1" spc="160">
                <a:solidFill>
                  <a:srgbClr val="FF7A00"/>
                </a:solidFill>
                <a:latin typeface="Consolas"/>
              </a:rPr>
              <a:t>UITZONDERING</a:t>
            </a:r>
          </a:p>
        </p:txBody>
      </p:sp>
      <p:sp>
        <p:nvSpPr>
          <p:cNvPr id="9" name="TextBox 8"/>
          <p:cNvSpPr txBox="1"/>
          <p:nvPr/>
        </p:nvSpPr>
        <p:spPr>
          <a:xfrm>
            <a:off x="8178595" y="2730431"/>
            <a:ext cx="3111422" cy="2539936"/>
          </a:xfrm>
          <a:prstGeom prst="rect">
            <a:avLst/>
          </a:prstGeom>
          <a:noFill/>
        </p:spPr>
        <p:txBody>
          <a:bodyPr wrap="square" anchor="t" lIns="0" rIns="0" tIns="0" bIns="0">
            <a:spAutoFit/>
          </a:bodyPr>
          <a:lstStyle/>
          <a:p>
            <a:pPr algn="l">
              <a:lnSpc>
                <a:spcPct val="145000"/>
              </a:lnSpc>
            </a:pPr>
            <a:r>
              <a:rPr sz="1800" b="0">
                <a:solidFill>
                  <a:srgbClr val="F2F8FC"/>
                </a:solidFill>
                <a:latin typeface="Segoe UI"/>
              </a:rPr>
              <a:t>Klinische bevindingen zijn géén meetwaarden. Elke laesie of huiddefect meldt en behandelt u meteen. In beide groepen.</a:t>
            </a:r>
          </a:p>
        </p:txBody>
      </p:sp>
      <p:sp>
        <p:nvSpPr>
          <p:cNvPr id="10" name="TextBox 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62 / 71</a:t>
            </a:r>
          </a:p>
        </p:txBody>
      </p:sp>
      <p:pic>
        <p:nvPicPr>
          <p:cNvPr id="1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2" name="TextBox 1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9 · Bus 2013, DIAFOS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U MELDT, EN HOE SNEL</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Voorvallen en afwijkingen</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Nieuw ulcus</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Ulcus-vervolgformulier plus PEDIS- en WIfI-classificatie. Dit is de primaire uitkomst — meld het altijd.</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47 · 36 · 38</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Ongewenst voorval</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AE-SAE-formulier. Ernstige voorvallen binnen 24 uur na kennisname.</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46</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Protocolafwijking</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Melden zoals ze gebeurd is. Wordt geregistreerd, niet afgestraft.</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Toestel defect</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Vervangingsformulier, met het oude en het nieuwe toestelnummer.</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33</a:t>
            </a:r>
          </a:p>
        </p:txBody>
      </p:sp>
      <p:sp>
        <p:nvSpPr>
          <p:cNvPr id="21" name="Rounded Rectangle 20"/>
          <p:cNvSpPr/>
          <p:nvPr/>
        </p:nvSpPr>
        <p:spPr>
          <a:xfrm>
            <a:off x="634984" y="4992194"/>
            <a:ext cx="10921726" cy="1116352"/>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169989"/>
            <a:ext cx="10286742" cy="760761"/>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Een afwijking die u meldt is een gegeven. Een afwijking die u niet meldt is een fout in de data van de hele studie.</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63 / 71</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25 · IWGDF 2023, definities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VERDELING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Wie doet wat</a:t>
            </a:r>
          </a:p>
        </p:txBody>
      </p:sp>
      <p:sp>
        <p:nvSpPr>
          <p:cNvPr id="5" name="Rectangle 4"/>
          <p:cNvSpPr/>
          <p:nvPr/>
        </p:nvSpPr>
        <p:spPr>
          <a:xfrm>
            <a:off x="634984" y="193035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46246"/>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Podoloog</a:t>
            </a:r>
          </a:p>
        </p:txBody>
      </p:sp>
      <p:sp>
        <p:nvSpPr>
          <p:cNvPr id="7" name="Oval 6"/>
          <p:cNvSpPr/>
          <p:nvPr/>
        </p:nvSpPr>
        <p:spPr>
          <a:xfrm>
            <a:off x="3555911"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006"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Voert de drukmetingen uit</a:t>
            </a:r>
          </a:p>
        </p:txBody>
      </p:sp>
      <p:sp>
        <p:nvSpPr>
          <p:cNvPr id="9" name="Oval 8"/>
          <p:cNvSpPr/>
          <p:nvPr/>
        </p:nvSpPr>
        <p:spPr>
          <a:xfrm>
            <a:off x="6273643"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739"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Levert SEBIA</a:t>
            </a:r>
          </a:p>
        </p:txBody>
      </p:sp>
      <p:sp>
        <p:nvSpPr>
          <p:cNvPr id="11" name="Oval 10"/>
          <p:cNvSpPr/>
          <p:nvPr/>
        </p:nvSpPr>
        <p:spPr>
          <a:xfrm>
            <a:off x="8991375"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6471"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Leest de sensoren uit</a:t>
            </a:r>
          </a:p>
        </p:txBody>
      </p:sp>
      <p:sp>
        <p:nvSpPr>
          <p:cNvPr id="13" name="Rectangle 12"/>
          <p:cNvSpPr/>
          <p:nvPr/>
        </p:nvSpPr>
        <p:spPr>
          <a:xfrm>
            <a:off x="634984" y="2971725"/>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187620"/>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Pedorthist</a:t>
            </a:r>
          </a:p>
        </p:txBody>
      </p:sp>
      <p:sp>
        <p:nvSpPr>
          <p:cNvPr id="15" name="Oval 14"/>
          <p:cNvSpPr/>
          <p:nvPr/>
        </p:nvSpPr>
        <p:spPr>
          <a:xfrm>
            <a:off x="3555911"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006"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Maakt de zool</a:t>
            </a:r>
          </a:p>
        </p:txBody>
      </p:sp>
      <p:sp>
        <p:nvSpPr>
          <p:cNvPr id="17" name="Oval 16"/>
          <p:cNvSpPr/>
          <p:nvPr/>
        </p:nvSpPr>
        <p:spPr>
          <a:xfrm>
            <a:off x="6273643"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739"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Past aan tot de norm</a:t>
            </a:r>
          </a:p>
        </p:txBody>
      </p:sp>
      <p:sp>
        <p:nvSpPr>
          <p:cNvPr id="19" name="Oval 18"/>
          <p:cNvSpPr/>
          <p:nvPr/>
        </p:nvSpPr>
        <p:spPr>
          <a:xfrm>
            <a:off x="8991375"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56471"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Plaatst de sensor</a:t>
            </a:r>
          </a:p>
        </p:txBody>
      </p:sp>
      <p:sp>
        <p:nvSpPr>
          <p:cNvPr id="21" name="Rectangle 20"/>
          <p:cNvSpPr/>
          <p:nvPr/>
        </p:nvSpPr>
        <p:spPr>
          <a:xfrm>
            <a:off x="634984" y="4013099"/>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228994"/>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Arts</a:t>
            </a:r>
          </a:p>
        </p:txBody>
      </p:sp>
      <p:sp>
        <p:nvSpPr>
          <p:cNvPr id="23" name="Oval 22"/>
          <p:cNvSpPr/>
          <p:nvPr/>
        </p:nvSpPr>
        <p:spPr>
          <a:xfrm>
            <a:off x="3555911"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006"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Bevestigt geschiktheid</a:t>
            </a:r>
          </a:p>
        </p:txBody>
      </p:sp>
      <p:sp>
        <p:nvSpPr>
          <p:cNvPr id="25" name="Oval 24"/>
          <p:cNvSpPr/>
          <p:nvPr/>
        </p:nvSpPr>
        <p:spPr>
          <a:xfrm>
            <a:off x="6273643"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39"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Beoordeelt laesies</a:t>
            </a:r>
          </a:p>
        </p:txBody>
      </p:sp>
      <p:sp>
        <p:nvSpPr>
          <p:cNvPr id="27" name="Oval 26"/>
          <p:cNvSpPr/>
          <p:nvPr/>
        </p:nvSpPr>
        <p:spPr>
          <a:xfrm>
            <a:off x="8991375"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6471"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Meldt voorvallen</a:t>
            </a:r>
          </a:p>
        </p:txBody>
      </p:sp>
      <p:sp>
        <p:nvSpPr>
          <p:cNvPr id="29" name="Rectangle 28"/>
          <p:cNvSpPr/>
          <p:nvPr/>
        </p:nvSpPr>
        <p:spPr>
          <a:xfrm>
            <a:off x="634984" y="505447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984" y="5270368"/>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Management</a:t>
            </a:r>
          </a:p>
        </p:txBody>
      </p:sp>
      <p:sp>
        <p:nvSpPr>
          <p:cNvPr id="31" name="Oval 30"/>
          <p:cNvSpPr/>
          <p:nvPr/>
        </p:nvSpPr>
        <p:spPr>
          <a:xfrm>
            <a:off x="3555911"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21006"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Maakt tijd vrij</a:t>
            </a:r>
          </a:p>
        </p:txBody>
      </p:sp>
      <p:sp>
        <p:nvSpPr>
          <p:cNvPr id="33" name="Oval 32"/>
          <p:cNvSpPr/>
          <p:nvPr/>
        </p:nvSpPr>
        <p:spPr>
          <a:xfrm>
            <a:off x="6273643"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8739"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Bewaakt 24 inclusies</a:t>
            </a:r>
          </a:p>
        </p:txBody>
      </p:sp>
      <p:sp>
        <p:nvSpPr>
          <p:cNvPr id="35" name="Oval 34"/>
          <p:cNvSpPr/>
          <p:nvPr/>
        </p:nvSpPr>
        <p:spPr>
          <a:xfrm>
            <a:off x="8991375"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56471"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Houdt het opleidingsregister bij</a:t>
            </a:r>
          </a:p>
        </p:txBody>
      </p:sp>
      <p:sp>
        <p:nvSpPr>
          <p:cNvPr id="37" name="Rectangle 36"/>
          <p:cNvSpPr/>
          <p:nvPr/>
        </p:nvSpPr>
        <p:spPr>
          <a:xfrm>
            <a:off x="634984" y="609584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64 / 71</a:t>
            </a:r>
          </a:p>
        </p:txBody>
      </p:sp>
      <p:pic>
        <p:nvPicPr>
          <p:cNvPr id="39"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 name="TextBox 3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8 · IWGDF 2023, preventie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ONDERSTEUNING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Wat u van ons krijgt</a:t>
            </a:r>
          </a:p>
        </p:txBody>
      </p:sp>
      <p:sp>
        <p:nvSpPr>
          <p:cNvPr id="5" name="Rectangle 4"/>
          <p:cNvSpPr/>
          <p:nvPr/>
        </p:nvSpPr>
        <p:spPr>
          <a:xfrm>
            <a:off x="634984" y="1993850"/>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58946"/>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Motiverende gespreksvoering</a:t>
            </a:r>
          </a:p>
        </p:txBody>
      </p:sp>
      <p:sp>
        <p:nvSpPr>
          <p:cNvPr id="7" name="TextBox 6"/>
          <p:cNvSpPr txBox="1"/>
          <p:nvPr/>
        </p:nvSpPr>
        <p:spPr>
          <a:xfrm>
            <a:off x="647683" y="2476438"/>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Training door een psycholoog — alle centra dezelfde</a:t>
            </a:r>
          </a:p>
        </p:txBody>
      </p:sp>
      <p:sp>
        <p:nvSpPr>
          <p:cNvPr id="8" name="Rectangle 7"/>
          <p:cNvSpPr/>
          <p:nvPr/>
        </p:nvSpPr>
        <p:spPr>
          <a:xfrm>
            <a:off x="634984" y="2959026"/>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984" y="3124121"/>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SOP's en draaiboeken</a:t>
            </a:r>
          </a:p>
        </p:txBody>
      </p:sp>
      <p:sp>
        <p:nvSpPr>
          <p:cNvPr id="10" name="TextBox 9"/>
          <p:cNvSpPr txBox="1"/>
          <p:nvPr/>
        </p:nvSpPr>
        <p:spPr>
          <a:xfrm>
            <a:off x="647683" y="3441613"/>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Per handeling, met de eCRF-nummers erbij</a:t>
            </a:r>
          </a:p>
        </p:txBody>
      </p:sp>
      <p:sp>
        <p:nvSpPr>
          <p:cNvPr id="11" name="Rectangle 10"/>
          <p:cNvSpPr/>
          <p:nvPr/>
        </p:nvSpPr>
        <p:spPr>
          <a:xfrm>
            <a:off x="634984" y="3924201"/>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984" y="4089297"/>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Gegevensinvoer</a:t>
            </a:r>
          </a:p>
        </p:txBody>
      </p:sp>
      <p:sp>
        <p:nvSpPr>
          <p:cNvPr id="13" name="TextBox 12"/>
          <p:cNvSpPr txBox="1"/>
          <p:nvPr/>
        </p:nvSpPr>
        <p:spPr>
          <a:xfrm>
            <a:off x="647683" y="4406789"/>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Doet het onderzoeksteam. U vult de formulieren in, verder niets</a:t>
            </a:r>
          </a:p>
        </p:txBody>
      </p:sp>
      <p:sp>
        <p:nvSpPr>
          <p:cNvPr id="14" name="Rectangle 13"/>
          <p:cNvSpPr/>
          <p:nvPr/>
        </p:nvSpPr>
        <p:spPr>
          <a:xfrm>
            <a:off x="634984" y="4889377"/>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984" y="5054473"/>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Eén contactpunt</a:t>
            </a:r>
          </a:p>
        </p:txBody>
      </p:sp>
      <p:sp>
        <p:nvSpPr>
          <p:cNvPr id="16" name="TextBox 15"/>
          <p:cNvSpPr txBox="1"/>
          <p:nvPr/>
        </p:nvSpPr>
        <p:spPr>
          <a:xfrm>
            <a:off x="647683" y="5371965"/>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Eén nummer, één mailadres, voor alles</a:t>
            </a:r>
          </a:p>
        </p:txBody>
      </p:sp>
      <p:sp>
        <p:nvSpPr>
          <p:cNvPr id="17" name="Rounded Rectangle 16"/>
          <p:cNvSpPr/>
          <p:nvPr/>
        </p:nvSpPr>
        <p:spPr>
          <a:xfrm>
            <a:off x="7492812" y="1904952"/>
            <a:ext cx="4063898" cy="3949601"/>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00799" y="2044648"/>
            <a:ext cx="3047923" cy="3047923"/>
          </a:xfrm>
          <a:prstGeom prst="ellipse">
            <a:avLst/>
          </a:prstGeom>
          <a:solidFill>
            <a:srgbClr val="FF7A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ro"/>
          <p:cNvSpPr txBox="1"/>
          <p:nvPr/>
        </p:nvSpPr>
        <p:spPr>
          <a:xfrm>
            <a:off x="7772205" y="2158946"/>
            <a:ext cx="3555911" cy="1904952"/>
          </a:xfrm>
          <a:prstGeom prst="rect">
            <a:avLst/>
          </a:prstGeom>
          <a:noFill/>
        </p:spPr>
        <p:txBody>
          <a:bodyPr wrap="square" anchor="t" lIns="0" rIns="0" tIns="0" bIns="0">
            <a:spAutoFit/>
          </a:bodyPr>
          <a:lstStyle/>
          <a:p>
            <a:pPr algn="ctr">
              <a:lnSpc>
                <a:spcPct val="90000"/>
              </a:lnSpc>
            </a:pPr>
            <a:r>
              <a:rPr sz="15000" b="1">
                <a:solidFill>
                  <a:srgbClr val="FF7A00"/>
                </a:solidFill>
                <a:latin typeface="Segoe UI"/>
              </a:rPr>
              <a:t>0</a:t>
            </a:r>
          </a:p>
        </p:txBody>
      </p:sp>
      <p:sp>
        <p:nvSpPr>
          <p:cNvPr id="20" name="TextBox 19"/>
          <p:cNvSpPr txBox="1"/>
          <p:nvPr/>
        </p:nvSpPr>
        <p:spPr>
          <a:xfrm>
            <a:off x="7772205" y="4063898"/>
            <a:ext cx="3555911" cy="393690"/>
          </a:xfrm>
          <a:prstGeom prst="rect">
            <a:avLst/>
          </a:prstGeom>
          <a:noFill/>
        </p:spPr>
        <p:txBody>
          <a:bodyPr wrap="square" anchor="t" lIns="0" rIns="0" tIns="0" bIns="0">
            <a:spAutoFit/>
          </a:bodyPr>
          <a:lstStyle/>
          <a:p>
            <a:pPr algn="ctr">
              <a:lnSpc>
                <a:spcPct val="125000"/>
              </a:lnSpc>
            </a:pPr>
            <a:r>
              <a:rPr sz="3000" b="1">
                <a:solidFill>
                  <a:srgbClr val="F2F8FC"/>
                </a:solidFill>
                <a:latin typeface="Segoe UI"/>
              </a:rPr>
              <a:t>sancties</a:t>
            </a:r>
          </a:p>
        </p:txBody>
      </p:sp>
      <p:sp>
        <p:nvSpPr>
          <p:cNvPr id="21" name="TextBox 20"/>
          <p:cNvSpPr txBox="1"/>
          <p:nvPr/>
        </p:nvSpPr>
        <p:spPr>
          <a:xfrm>
            <a:off x="7810304" y="4584585"/>
            <a:ext cx="3428914" cy="1015974"/>
          </a:xfrm>
          <a:prstGeom prst="rect">
            <a:avLst/>
          </a:prstGeom>
          <a:noFill/>
        </p:spPr>
        <p:txBody>
          <a:bodyPr wrap="square" anchor="t" lIns="0" rIns="0" tIns="0" bIns="0">
            <a:spAutoFit/>
          </a:bodyPr>
          <a:lstStyle/>
          <a:p>
            <a:pPr algn="ctr">
              <a:lnSpc>
                <a:spcPct val="140000"/>
              </a:lnSpc>
            </a:pPr>
            <a:r>
              <a:rPr sz="1600" b="0">
                <a:solidFill>
                  <a:srgbClr val="8FB6D0"/>
                </a:solidFill>
                <a:latin typeface="Segoe UI"/>
              </a:rPr>
              <a:t>Wijkt u af van het protocol, dan meldt u dat. Het wordt geregistreerd, niet afgestraft.</a:t>
            </a:r>
          </a:p>
        </p:txBody>
      </p:sp>
      <p:sp>
        <p:nvSpPr>
          <p:cNvPr id="22" name="TextBox 2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65 / 71</a:t>
            </a:r>
          </a:p>
        </p:txBody>
      </p:sp>
      <p:pic>
        <p:nvPicPr>
          <p:cNvPr id="23"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U GAAT VRAGEN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Vooruitlopend</a:t>
            </a:r>
          </a:p>
        </p:txBody>
      </p:sp>
      <p:sp>
        <p:nvSpPr>
          <p:cNvPr id="5" name="Rectangle 4"/>
          <p:cNvSpPr/>
          <p:nvPr/>
        </p:nvSpPr>
        <p:spPr>
          <a:xfrm>
            <a:off x="634984" y="1904952"/>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70048"/>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Patiënt wil de sensor niet</a:t>
            </a:r>
          </a:p>
        </p:txBody>
      </p:sp>
      <p:sp>
        <p:nvSpPr>
          <p:cNvPr id="7" name="TextBox 6"/>
          <p:cNvSpPr txBox="1"/>
          <p:nvPr/>
        </p:nvSpPr>
        <p:spPr>
          <a:xfrm>
            <a:off x="634984" y="2514537"/>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8" name="TextBox 7"/>
          <p:cNvSpPr txBox="1"/>
          <p:nvPr/>
        </p:nvSpPr>
        <p:spPr>
          <a:xfrm>
            <a:off x="888977" y="2501837"/>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Dan niet geschikt. Draagtijd ís een hoofduitkomst.</a:t>
            </a:r>
          </a:p>
        </p:txBody>
      </p:sp>
      <p:sp>
        <p:nvSpPr>
          <p:cNvPr id="9" name="Rectangle 8"/>
          <p:cNvSpPr/>
          <p:nvPr/>
        </p:nvSpPr>
        <p:spPr>
          <a:xfrm>
            <a:off x="6171918" y="1904952"/>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1918" y="2070048"/>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Zool haalt de norm niet</a:t>
            </a:r>
          </a:p>
        </p:txBody>
      </p:sp>
      <p:sp>
        <p:nvSpPr>
          <p:cNvPr id="11" name="TextBox 10"/>
          <p:cNvSpPr txBox="1"/>
          <p:nvPr/>
        </p:nvSpPr>
        <p:spPr>
          <a:xfrm>
            <a:off x="6171918" y="2514537"/>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12" name="TextBox 11"/>
          <p:cNvSpPr txBox="1"/>
          <p:nvPr/>
        </p:nvSpPr>
        <p:spPr>
          <a:xfrm>
            <a:off x="6425912" y="2501837"/>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Twee extra tests, dan noteert u wat wél bereikt is.</a:t>
            </a:r>
          </a:p>
        </p:txBody>
      </p:sp>
      <p:sp>
        <p:nvSpPr>
          <p:cNvPr id="13" name="Rectangle 12"/>
          <p:cNvSpPr/>
          <p:nvPr/>
        </p:nvSpPr>
        <p:spPr>
          <a:xfrm>
            <a:off x="634984" y="3340016"/>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505112"/>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Mag ik nog adviseren?</a:t>
            </a:r>
          </a:p>
        </p:txBody>
      </p:sp>
      <p:sp>
        <p:nvSpPr>
          <p:cNvPr id="15" name="TextBox 14"/>
          <p:cNvSpPr txBox="1"/>
          <p:nvPr/>
        </p:nvSpPr>
        <p:spPr>
          <a:xfrm>
            <a:off x="634984" y="3949601"/>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16" name="TextBox 15"/>
          <p:cNvSpPr txBox="1"/>
          <p:nvPr/>
        </p:nvSpPr>
        <p:spPr>
          <a:xfrm>
            <a:off x="888977" y="3936901"/>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Alles wat u vandaag doet, blijft u doen.</a:t>
            </a:r>
          </a:p>
        </p:txBody>
      </p:sp>
      <p:sp>
        <p:nvSpPr>
          <p:cNvPr id="17" name="Rectangle 16"/>
          <p:cNvSpPr/>
          <p:nvPr/>
        </p:nvSpPr>
        <p:spPr>
          <a:xfrm>
            <a:off x="6171918" y="3340016"/>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1918" y="3505112"/>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En de ingevulde formulieren?</a:t>
            </a:r>
          </a:p>
        </p:txBody>
      </p:sp>
      <p:sp>
        <p:nvSpPr>
          <p:cNvPr id="19" name="TextBox 18"/>
          <p:cNvSpPr txBox="1"/>
          <p:nvPr/>
        </p:nvSpPr>
        <p:spPr>
          <a:xfrm>
            <a:off x="6171918" y="3949601"/>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20" name="TextBox 19"/>
          <p:cNvSpPr txBox="1"/>
          <p:nvPr/>
        </p:nvSpPr>
        <p:spPr>
          <a:xfrm>
            <a:off x="6425912" y="3936901"/>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Daar volgt bericht over. Invoeren doet het onderzoeksteam.</a:t>
            </a:r>
          </a:p>
        </p:txBody>
      </p:sp>
      <p:sp>
        <p:nvSpPr>
          <p:cNvPr id="21" name="Rectangle 20"/>
          <p:cNvSpPr/>
          <p:nvPr/>
        </p:nvSpPr>
        <p:spPr>
          <a:xfrm>
            <a:off x="634984" y="4775080"/>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940176"/>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Onze data?</a:t>
            </a:r>
          </a:p>
        </p:txBody>
      </p:sp>
      <p:sp>
        <p:nvSpPr>
          <p:cNvPr id="23" name="TextBox 22"/>
          <p:cNvSpPr txBox="1"/>
          <p:nvPr/>
        </p:nvSpPr>
        <p:spPr>
          <a:xfrm>
            <a:off x="634984" y="5384665"/>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24" name="TextBox 23"/>
          <p:cNvSpPr txBox="1"/>
          <p:nvPr/>
        </p:nvSpPr>
        <p:spPr>
          <a:xfrm>
            <a:off x="888977" y="5371965"/>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Gepseudonimiseerd, tien jaar, binnen de toestemming.</a:t>
            </a:r>
          </a:p>
        </p:txBody>
      </p:sp>
      <p:sp>
        <p:nvSpPr>
          <p:cNvPr id="25" name="Rectangle 24"/>
          <p:cNvSpPr/>
          <p:nvPr/>
        </p:nvSpPr>
        <p:spPr>
          <a:xfrm>
            <a:off x="6171918" y="4775080"/>
            <a:ext cx="5384538"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1918" y="4940176"/>
            <a:ext cx="5384538" cy="380990"/>
          </a:xfrm>
          <a:prstGeom prst="rect">
            <a:avLst/>
          </a:prstGeom>
          <a:noFill/>
        </p:spPr>
        <p:txBody>
          <a:bodyPr wrap="square" anchor="t" lIns="0" rIns="0" tIns="0" bIns="0">
            <a:spAutoFit/>
          </a:bodyPr>
          <a:lstStyle/>
          <a:p>
            <a:pPr algn="l">
              <a:lnSpc>
                <a:spcPct val="120000"/>
              </a:lnSpc>
            </a:pPr>
            <a:r>
              <a:rPr sz="1900" b="1">
                <a:solidFill>
                  <a:srgbClr val="F2F8FC"/>
                </a:solidFill>
                <a:latin typeface="Segoe UI"/>
              </a:rPr>
              <a:t>Zien wij resultaten?</a:t>
            </a:r>
          </a:p>
        </p:txBody>
      </p:sp>
      <p:sp>
        <p:nvSpPr>
          <p:cNvPr id="27" name="TextBox 26"/>
          <p:cNvSpPr txBox="1"/>
          <p:nvPr/>
        </p:nvSpPr>
        <p:spPr>
          <a:xfrm>
            <a:off x="6171918" y="5384665"/>
            <a:ext cx="190495" cy="253993"/>
          </a:xfrm>
          <a:prstGeom prst="rect">
            <a:avLst/>
          </a:prstGeom>
          <a:noFill/>
        </p:spPr>
        <p:txBody>
          <a:bodyPr wrap="square" anchor="t" lIns="0" rIns="0" tIns="0" bIns="0">
            <a:spAutoFit/>
          </a:bodyPr>
          <a:lstStyle/>
          <a:p>
            <a:pPr algn="l">
              <a:lnSpc>
                <a:spcPct val="125000"/>
              </a:lnSpc>
            </a:pPr>
            <a:r>
              <a:rPr sz="1500" b="1">
                <a:solidFill>
                  <a:srgbClr val="52BDEC"/>
                </a:solidFill>
                <a:latin typeface="Segoe UI"/>
              </a:rPr>
              <a:t>—</a:t>
            </a:r>
          </a:p>
        </p:txBody>
      </p:sp>
      <p:sp>
        <p:nvSpPr>
          <p:cNvPr id="28" name="TextBox 27"/>
          <p:cNvSpPr txBox="1"/>
          <p:nvPr/>
        </p:nvSpPr>
        <p:spPr>
          <a:xfrm>
            <a:off x="6425912" y="5371965"/>
            <a:ext cx="5130544" cy="736581"/>
          </a:xfrm>
          <a:prstGeom prst="rect">
            <a:avLst/>
          </a:prstGeom>
          <a:noFill/>
        </p:spPr>
        <p:txBody>
          <a:bodyPr wrap="square" anchor="t" lIns="0" rIns="0" tIns="0" bIns="0">
            <a:spAutoFit/>
          </a:bodyPr>
          <a:lstStyle/>
          <a:p>
            <a:pPr algn="l">
              <a:lnSpc>
                <a:spcPct val="135000"/>
              </a:lnSpc>
            </a:pPr>
            <a:r>
              <a:rPr sz="1550" b="0">
                <a:solidFill>
                  <a:srgbClr val="8FB6D0"/>
                </a:solidFill>
                <a:latin typeface="Segoe UI"/>
              </a:rPr>
              <a:t>Eén publicatie, ongeacht de uitkomst.</a:t>
            </a:r>
          </a:p>
        </p:txBody>
      </p:sp>
      <p:sp>
        <p:nvSpPr>
          <p:cNvPr id="29" name="TextBox 2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66 / 71</a:t>
            </a:r>
          </a:p>
        </p:txBody>
      </p:sp>
      <p:pic>
        <p:nvPicPr>
          <p:cNvPr id="30"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7828"/>
          </a:xfrm>
          <a:prstGeom prst="rect">
            <a:avLst/>
          </a:prstGeom>
          <a:gradFill rotWithShape="1">
            <a:gsLst>
              <a:gs pos="0">
                <a:srgbClr val="52BDEC"/>
              </a:gs>
              <a:gs pos="100000">
                <a:srgbClr val="1D8DB0"/>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04182A"/>
                </a:solidFill>
                <a:latin typeface="Segoe UI"/>
              </a:rPr>
              <a:t>Vanaf de eerste patiënt</a:t>
            </a:r>
          </a:p>
          <a:p>
            <a:pPr algn="l">
              <a:lnSpc>
                <a:spcPct val="106000"/>
              </a:lnSpc>
              <a:spcBef>
                <a:spcPts val="500"/>
              </a:spcBef>
            </a:pPr>
            <a:r>
              <a:rPr sz="7200" b="1">
                <a:solidFill>
                  <a:srgbClr val="04182A"/>
                </a:solidFill>
                <a:latin typeface="Segoe UI"/>
              </a:rPr>
              <a:t>doet u dit zelf.</a:t>
            </a:r>
          </a:p>
        </p:txBody>
      </p:sp>
      <p:sp>
        <p:nvSpPr>
          <p:cNvPr id="5" name="TextBox 4"/>
          <p:cNvSpPr txBox="1"/>
          <p:nvPr/>
        </p:nvSpPr>
        <p:spPr>
          <a:xfrm>
            <a:off x="977875" y="6006949"/>
            <a:ext cx="9524761" cy="279393"/>
          </a:xfrm>
          <a:prstGeom prst="rect">
            <a:avLst/>
          </a:prstGeom>
          <a:noFill/>
        </p:spPr>
        <p:txBody>
          <a:bodyPr wrap="square" anchor="t" lIns="0" rIns="0" tIns="0" bIns="0">
            <a:spAutoFit/>
          </a:bodyPr>
          <a:lstStyle/>
          <a:p>
            <a:pPr algn="l">
              <a:lnSpc>
                <a:spcPct val="125000"/>
              </a:lnSpc>
            </a:pPr>
            <a:r>
              <a:rPr sz="1700" b="0">
                <a:solidFill>
                  <a:srgbClr val="04182A"/>
                </a:solidFill>
                <a:latin typeface="Consolas"/>
              </a:rPr>
              <a:t>Wij leiden op, wij voeren in. De handelingen zijn van 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BEKWAAMHEIDSCHECK</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Kunt u dit nu zelf?</a:t>
            </a:r>
          </a:p>
        </p:txBody>
      </p:sp>
      <p:sp>
        <p:nvSpPr>
          <p:cNvPr id="5" name="Rounded Rectangle 4"/>
          <p:cNvSpPr/>
          <p:nvPr/>
        </p:nvSpPr>
        <p:spPr>
          <a:xfrm>
            <a:off x="634984" y="1904952"/>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3274" y="1879553"/>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Beoordelen of een patiënt geschikt is, en dat vastleggen vóór de toestemming</a:t>
            </a:r>
          </a:p>
        </p:txBody>
      </p:sp>
      <p:sp>
        <p:nvSpPr>
          <p:cNvPr id="7" name="Rounded Rectangle 6"/>
          <p:cNvSpPr/>
          <p:nvPr/>
        </p:nvSpPr>
        <p:spPr>
          <a:xfrm>
            <a:off x="6349841" y="1904952"/>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18132" y="1879553"/>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Een drukmeting uitvoeren in de drie condities, drie metingen per voet</a:t>
            </a:r>
          </a:p>
        </p:txBody>
      </p:sp>
      <p:sp>
        <p:nvSpPr>
          <p:cNvPr id="9" name="Rounded Rectangle 8"/>
          <p:cNvSpPr/>
          <p:nvPr/>
        </p:nvSpPr>
        <p:spPr>
          <a:xfrm>
            <a:off x="634984" y="2679633"/>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274" y="2654233"/>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De drie doelregio's bepalen en op het voorschrift zetten</a:t>
            </a:r>
          </a:p>
        </p:txBody>
      </p:sp>
      <p:sp>
        <p:nvSpPr>
          <p:cNvPr id="11" name="Rounded Rectangle 10"/>
          <p:cNvSpPr/>
          <p:nvPr/>
        </p:nvSpPr>
        <p:spPr>
          <a:xfrm>
            <a:off x="6349841" y="2679633"/>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18132" y="2654233"/>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De norm toetsen per regio en aanpassen tot ze gehaald is</a:t>
            </a:r>
          </a:p>
        </p:txBody>
      </p:sp>
      <p:sp>
        <p:nvSpPr>
          <p:cNvPr id="13" name="Rounded Rectangle 12"/>
          <p:cNvSpPr/>
          <p:nvPr/>
        </p:nvSpPr>
        <p:spPr>
          <a:xfrm>
            <a:off x="634984" y="3454313"/>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3274" y="3428914"/>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De Orthotimer instellen met de juiste uren per dag voor díé patiënt</a:t>
            </a:r>
          </a:p>
        </p:txBody>
      </p:sp>
      <p:sp>
        <p:nvSpPr>
          <p:cNvPr id="15" name="Rounded Rectangle 14"/>
          <p:cNvSpPr/>
          <p:nvPr/>
        </p:nvSpPr>
        <p:spPr>
          <a:xfrm>
            <a:off x="6349841" y="3454313"/>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18132" y="3428914"/>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De MoveMonitor instellen, meegeven en uitlezen</a:t>
            </a:r>
          </a:p>
        </p:txBody>
      </p:sp>
      <p:sp>
        <p:nvSpPr>
          <p:cNvPr id="17" name="Rounded Rectangle 16"/>
          <p:cNvSpPr/>
          <p:nvPr/>
        </p:nvSpPr>
        <p:spPr>
          <a:xfrm>
            <a:off x="634984" y="4228994"/>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3274" y="4203594"/>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Een SEBIA-gesprek voeren met teach-back</a:t>
            </a:r>
          </a:p>
        </p:txBody>
      </p:sp>
      <p:sp>
        <p:nvSpPr>
          <p:cNvPr id="19" name="Rounded Rectangle 18"/>
          <p:cNvSpPr/>
          <p:nvPr/>
        </p:nvSpPr>
        <p:spPr>
          <a:xfrm>
            <a:off x="6349841" y="4228994"/>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18132" y="4203594"/>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De formulieren volledig invullen en weten wat u meldt, aan wie en binnen welke termijn</a:t>
            </a:r>
          </a:p>
        </p:txBody>
      </p:sp>
      <p:sp>
        <p:nvSpPr>
          <p:cNvPr id="21" name="Rounded Rectangle 20"/>
          <p:cNvSpPr/>
          <p:nvPr/>
        </p:nvSpPr>
        <p:spPr>
          <a:xfrm>
            <a:off x="634984" y="5041773"/>
            <a:ext cx="10921726" cy="952476"/>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219569"/>
            <a:ext cx="10286742" cy="698482"/>
          </a:xfrm>
          <a:prstGeom prst="rect">
            <a:avLst/>
          </a:prstGeom>
          <a:noFill/>
        </p:spPr>
        <p:txBody>
          <a:bodyPr wrap="square" anchor="t" lIns="0" rIns="0" tIns="0" bIns="0">
            <a:spAutoFit/>
          </a:bodyPr>
          <a:lstStyle/>
          <a:p>
            <a:pPr algn="l">
              <a:lnSpc>
                <a:spcPct val="140000"/>
              </a:lnSpc>
            </a:pPr>
            <a:r>
              <a:rPr sz="1800" b="0">
                <a:solidFill>
                  <a:srgbClr val="F2F8FC"/>
                </a:solidFill>
                <a:latin typeface="Segoe UI"/>
              </a:rPr>
              <a:t>Acht handelingen. Wie er één niet aandurft, meldt dat nu — dan plannen we een tweede sessie. Dat is geen zwakte, dat is hoe u fouten in de data voorkomt.</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68 / 71</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VOOR HET DOSSIER</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Het opleidingsregister</a:t>
            </a:r>
          </a:p>
        </p:txBody>
      </p:sp>
      <p:sp>
        <p:nvSpPr>
          <p:cNvPr id="5" name="Rounded Rectangle 4"/>
          <p:cNvSpPr/>
          <p:nvPr/>
        </p:nvSpPr>
        <p:spPr>
          <a:xfrm>
            <a:off x="634984" y="1879553"/>
            <a:ext cx="4825879" cy="2539936"/>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377" y="2133546"/>
            <a:ext cx="4267093" cy="2095447"/>
          </a:xfrm>
          <a:prstGeom prst="rect">
            <a:avLst/>
          </a:prstGeom>
          <a:noFill/>
        </p:spPr>
        <p:txBody>
          <a:bodyPr wrap="square" anchor="t" lIns="0" rIns="0" tIns="0" bIns="0">
            <a:spAutoFit/>
          </a:bodyPr>
          <a:lstStyle/>
          <a:p>
            <a:pPr algn="l">
              <a:lnSpc>
                <a:spcPct val="145000"/>
              </a:lnSpc>
            </a:pPr>
            <a:r>
              <a:rPr sz="1700" b="0">
                <a:solidFill>
                  <a:srgbClr val="F2F8FC"/>
                </a:solidFill>
                <a:latin typeface="Segoe UI"/>
              </a:rPr>
              <a:t>ISO 14155 vraagt dat per medewerker aantoonbaar is welke training hij gekregen heeft, wanneer, en voor welke handelingen hij gedelegeerd is. Zonder dat register is uw centrum niet inspectieklaar, hoe goed u het ook doet.</a:t>
            </a:r>
          </a:p>
        </p:txBody>
      </p:sp>
      <p:sp>
        <p:nvSpPr>
          <p:cNvPr id="7" name="Rectangle 6"/>
          <p:cNvSpPr/>
          <p:nvPr/>
        </p:nvSpPr>
        <p:spPr>
          <a:xfrm>
            <a:off x="5841853" y="1879553"/>
            <a:ext cx="5714857"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41853" y="2019249"/>
            <a:ext cx="5714857" cy="279393"/>
          </a:xfrm>
          <a:prstGeom prst="rect">
            <a:avLst/>
          </a:prstGeom>
          <a:noFill/>
        </p:spPr>
        <p:txBody>
          <a:bodyPr wrap="square" anchor="t" lIns="0" rIns="0" tIns="0" bIns="0">
            <a:spAutoFit/>
          </a:bodyPr>
          <a:lstStyle/>
          <a:p>
            <a:pPr algn="l">
              <a:lnSpc>
                <a:spcPct val="125000"/>
              </a:lnSpc>
            </a:pPr>
            <a:r>
              <a:rPr sz="2000" b="1">
                <a:solidFill>
                  <a:srgbClr val="52BDEC"/>
                </a:solidFill>
                <a:latin typeface="Segoe UI"/>
              </a:rPr>
              <a:t>Vandaag tekenen</a:t>
            </a:r>
          </a:p>
        </p:txBody>
      </p:sp>
      <p:sp>
        <p:nvSpPr>
          <p:cNvPr id="9" name="TextBox 8"/>
          <p:cNvSpPr txBox="1"/>
          <p:nvPr/>
        </p:nvSpPr>
        <p:spPr>
          <a:xfrm>
            <a:off x="5841853" y="2298642"/>
            <a:ext cx="5714857" cy="444488"/>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Naam, functie, datum, en de handelingen waarvoor u gedelegeerd bent.</a:t>
            </a:r>
          </a:p>
        </p:txBody>
      </p:sp>
      <p:sp>
        <p:nvSpPr>
          <p:cNvPr id="10" name="Rectangle 9"/>
          <p:cNvSpPr/>
          <p:nvPr/>
        </p:nvSpPr>
        <p:spPr>
          <a:xfrm>
            <a:off x="5841853" y="2755831"/>
            <a:ext cx="5714857"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41853" y="2895527"/>
            <a:ext cx="5714857" cy="279393"/>
          </a:xfrm>
          <a:prstGeom prst="rect">
            <a:avLst/>
          </a:prstGeom>
          <a:noFill/>
        </p:spPr>
        <p:txBody>
          <a:bodyPr wrap="square" anchor="t" lIns="0" rIns="0" tIns="0" bIns="0">
            <a:spAutoFit/>
          </a:bodyPr>
          <a:lstStyle/>
          <a:p>
            <a:pPr algn="l">
              <a:lnSpc>
                <a:spcPct val="125000"/>
              </a:lnSpc>
            </a:pPr>
            <a:r>
              <a:rPr sz="2000" b="1">
                <a:solidFill>
                  <a:srgbClr val="52BDEC"/>
                </a:solidFill>
                <a:latin typeface="Segoe UI"/>
              </a:rPr>
              <a:t>Bij elke nieuwe medewerker</a:t>
            </a:r>
          </a:p>
        </p:txBody>
      </p:sp>
      <p:sp>
        <p:nvSpPr>
          <p:cNvPr id="12" name="TextBox 11"/>
          <p:cNvSpPr txBox="1"/>
          <p:nvPr/>
        </p:nvSpPr>
        <p:spPr>
          <a:xfrm>
            <a:off x="5841853" y="3174920"/>
            <a:ext cx="5714857" cy="444488"/>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Dezelfde opleiding, dezelfde handtekening, vóór de eerste patiënt.</a:t>
            </a:r>
          </a:p>
        </p:txBody>
      </p:sp>
      <p:sp>
        <p:nvSpPr>
          <p:cNvPr id="13" name="Rectangle 12"/>
          <p:cNvSpPr/>
          <p:nvPr/>
        </p:nvSpPr>
        <p:spPr>
          <a:xfrm>
            <a:off x="5841853" y="3632109"/>
            <a:ext cx="5714857"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41853" y="3771805"/>
            <a:ext cx="5714857" cy="279393"/>
          </a:xfrm>
          <a:prstGeom prst="rect">
            <a:avLst/>
          </a:prstGeom>
          <a:noFill/>
        </p:spPr>
        <p:txBody>
          <a:bodyPr wrap="square" anchor="t" lIns="0" rIns="0" tIns="0" bIns="0">
            <a:spAutoFit/>
          </a:bodyPr>
          <a:lstStyle/>
          <a:p>
            <a:pPr algn="l">
              <a:lnSpc>
                <a:spcPct val="125000"/>
              </a:lnSpc>
            </a:pPr>
            <a:r>
              <a:rPr sz="2000" b="1">
                <a:solidFill>
                  <a:srgbClr val="52BDEC"/>
                </a:solidFill>
                <a:latin typeface="Segoe UI"/>
              </a:rPr>
              <a:t>Bij elke protocolwijziging</a:t>
            </a:r>
          </a:p>
        </p:txBody>
      </p:sp>
      <p:sp>
        <p:nvSpPr>
          <p:cNvPr id="15" name="TextBox 14"/>
          <p:cNvSpPr txBox="1"/>
          <p:nvPr/>
        </p:nvSpPr>
        <p:spPr>
          <a:xfrm>
            <a:off x="5841853" y="4051198"/>
            <a:ext cx="5714857" cy="444488"/>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Kort bijscholingsmoment, opnieuw tekenen.</a:t>
            </a:r>
          </a:p>
        </p:txBody>
      </p:sp>
      <p:sp>
        <p:nvSpPr>
          <p:cNvPr id="16" name="TextBox 15"/>
          <p:cNvSpPr txBox="1"/>
          <p:nvPr/>
        </p:nvSpPr>
        <p:spPr>
          <a:xfrm>
            <a:off x="634984" y="4724281"/>
            <a:ext cx="10921726" cy="444488"/>
          </a:xfrm>
          <a:prstGeom prst="rect">
            <a:avLst/>
          </a:prstGeom>
          <a:noFill/>
        </p:spPr>
        <p:txBody>
          <a:bodyPr wrap="square" anchor="t" lIns="0" rIns="0" tIns="0" bIns="0">
            <a:spAutoFit/>
          </a:bodyPr>
          <a:lstStyle/>
          <a:p>
            <a:pPr algn="l">
              <a:lnSpc>
                <a:spcPct val="140000"/>
              </a:lnSpc>
            </a:pPr>
            <a:r>
              <a:rPr sz="1900" b="1">
                <a:solidFill>
                  <a:srgbClr val="F2F8FC"/>
                </a:solidFill>
                <a:latin typeface="Segoe UI"/>
              </a:rPr>
              <a:t>Het register blijft in uw centrum. Wij krijgen een kopie voor het studiedossier.</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69 / 71</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21 · SPIRIT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WIE U AANSPREEKT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 als er iets misloopt</a:t>
            </a:r>
          </a:p>
        </p:txBody>
      </p:sp>
      <p:sp>
        <p:nvSpPr>
          <p:cNvPr id="5" name="Rounded Rectangle 4"/>
          <p:cNvSpPr/>
          <p:nvPr/>
        </p:nvSpPr>
        <p:spPr>
          <a:xfrm>
            <a:off x="634984" y="1904952"/>
            <a:ext cx="3174920" cy="393690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ortret" descr="janou.png"/>
          <p:cNvPicPr>
            <a:picLocks noChangeAspect="1"/>
          </p:cNvPicPr>
          <p:nvPr/>
        </p:nvPicPr>
        <p:blipFill>
          <a:blip r:embed="rId2"/>
          <a:stretch>
            <a:fillRect/>
          </a:stretch>
        </p:blipFill>
        <p:spPr>
          <a:xfrm>
            <a:off x="777502" y="2006549"/>
            <a:ext cx="2889883" cy="3733706"/>
          </a:xfrm>
          <a:prstGeom prst="rect">
            <a:avLst/>
          </a:prstGeom>
        </p:spPr>
      </p:pic>
      <p:sp>
        <p:nvSpPr>
          <p:cNvPr id="7" name="Rectangle 6"/>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17892" y="2070048"/>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Janou De Buyser</a:t>
            </a:r>
          </a:p>
        </p:txBody>
      </p:sp>
      <p:sp>
        <p:nvSpPr>
          <p:cNvPr id="9" name="TextBox 8"/>
          <p:cNvSpPr txBox="1"/>
          <p:nvPr/>
        </p:nvSpPr>
        <p:spPr>
          <a:xfrm>
            <a:off x="4330591" y="2539936"/>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DOCTORAATSONDERZOEKER · DAGELIJKSE OPVOLGING</a:t>
            </a:r>
          </a:p>
        </p:txBody>
      </p:sp>
      <p:sp>
        <p:nvSpPr>
          <p:cNvPr id="10" name="TextBox 9"/>
          <p:cNvSpPr txBox="1"/>
          <p:nvPr/>
        </p:nvSpPr>
        <p:spPr>
          <a:xfrm>
            <a:off x="4317892" y="2857428"/>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Uw eerste aanspreekpunt: inclusies, metingen, formulieren, sensoren en alles wat in de praktijk vastloopt.</a:t>
            </a:r>
          </a:p>
        </p:txBody>
      </p:sp>
      <p:sp>
        <p:nvSpPr>
          <p:cNvPr id="11" name="TextBox 10"/>
          <p:cNvSpPr txBox="1"/>
          <p:nvPr/>
        </p:nvSpPr>
        <p:spPr>
          <a:xfrm>
            <a:off x="4317892"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janou.debuyser@kuleuven.be</a:t>
            </a:r>
          </a:p>
        </p:txBody>
      </p:sp>
      <p:sp>
        <p:nvSpPr>
          <p:cNvPr id="12" name="TextBox 11"/>
          <p:cNvSpPr txBox="1"/>
          <p:nvPr/>
        </p:nvSpPr>
        <p:spPr>
          <a:xfrm>
            <a:off x="7873803"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Spoorwegstraat 12 · Brugge</a:t>
            </a:r>
          </a:p>
        </p:txBody>
      </p:sp>
      <p:sp>
        <p:nvSpPr>
          <p:cNvPr id="13" name="Rectangle 12"/>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7892" y="4038499"/>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prof. dr. Kevin Deschamps</a:t>
            </a:r>
          </a:p>
        </p:txBody>
      </p:sp>
      <p:sp>
        <p:nvSpPr>
          <p:cNvPr id="15" name="TextBox 14"/>
          <p:cNvSpPr txBox="1"/>
          <p:nvPr/>
        </p:nvSpPr>
        <p:spPr>
          <a:xfrm>
            <a:off x="4330591" y="4508387"/>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PROMOTOR</a:t>
            </a:r>
          </a:p>
        </p:txBody>
      </p:sp>
      <p:sp>
        <p:nvSpPr>
          <p:cNvPr id="16" name="TextBox 15"/>
          <p:cNvSpPr txBox="1"/>
          <p:nvPr/>
        </p:nvSpPr>
        <p:spPr>
          <a:xfrm>
            <a:off x="4317892" y="4825879"/>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Wetenschappelijke vragen, de opzet van de studie en afspraken op het niveau van uw centrum.</a:t>
            </a:r>
          </a:p>
        </p:txBody>
      </p:sp>
      <p:sp>
        <p:nvSpPr>
          <p:cNvPr id="17" name="TextBox 16"/>
          <p:cNvSpPr txBox="1"/>
          <p:nvPr/>
        </p:nvSpPr>
        <p:spPr>
          <a:xfrm>
            <a:off x="4317892"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Revalidatiewetenschappen</a:t>
            </a:r>
          </a:p>
        </p:txBody>
      </p:sp>
      <p:sp>
        <p:nvSpPr>
          <p:cNvPr id="18" name="TextBox 17"/>
          <p:cNvSpPr txBox="1"/>
          <p:nvPr/>
        </p:nvSpPr>
        <p:spPr>
          <a:xfrm>
            <a:off x="7873803"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KU Leuven · Campus Brugge</a:t>
            </a:r>
          </a:p>
        </p:txBody>
      </p:sp>
      <p:sp>
        <p:nvSpPr>
          <p:cNvPr id="19" name="Rectangle 18"/>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6108547"/>
            <a:ext cx="10921726" cy="380990"/>
          </a:xfrm>
          <a:prstGeom prst="rect">
            <a:avLst/>
          </a:prstGeom>
          <a:noFill/>
        </p:spPr>
        <p:txBody>
          <a:bodyPr wrap="square" anchor="t" lIns="0" rIns="0" tIns="0" bIns="0">
            <a:spAutoFit/>
          </a:bodyPr>
          <a:lstStyle/>
          <a:p>
            <a:pPr algn="l">
              <a:lnSpc>
                <a:spcPct val="135000"/>
              </a:lnSpc>
            </a:pPr>
            <a:r>
              <a:rPr sz="1300" b="0">
                <a:solidFill>
                  <a:srgbClr val="8FB6D0"/>
                </a:solidFill>
                <a:latin typeface="Segoe UI"/>
              </a:rPr>
              <a:t>Consortium: KU Leuven — Revalidatiewetenschappen (Musculoskeletal Research Group) en Volksgezondheid en Eerstelijnszorg · Vrije Universiteit Brussel — Geneeskunde en Farmacie. Co-promotoren: Fabienne Dobbels, Maaike Fobelets en Koen Putman.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70 / 71</a:t>
            </a:r>
          </a:p>
        </p:txBody>
      </p:sp>
      <p:pic>
        <p:nvPicPr>
          <p:cNvPr id="2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DE CIJFERS VANDAAN KOMEN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Referenties</a:t>
            </a:r>
          </a:p>
        </p:txBody>
      </p:sp>
      <p:sp>
        <p:nvSpPr>
          <p:cNvPr id="5" name="TextBox 4"/>
          <p:cNvSpPr txBox="1"/>
          <p:nvPr/>
        </p:nvSpPr>
        <p:spPr>
          <a:xfrm>
            <a:off x="634984" y="185415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a:t>
            </a:r>
          </a:p>
        </p:txBody>
      </p:sp>
      <p:sp>
        <p:nvSpPr>
          <p:cNvPr id="6" name="TextBox 5"/>
          <p:cNvSpPr txBox="1"/>
          <p:nvPr/>
        </p:nvSpPr>
        <p:spPr>
          <a:xfrm>
            <a:off x="965175" y="185415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Armstrong DG et al. N Engl J Med. 2017;376(24):2367–75.</a:t>
            </a:r>
          </a:p>
        </p:txBody>
      </p:sp>
      <p:sp>
        <p:nvSpPr>
          <p:cNvPr id="7" name="TextBox 6"/>
          <p:cNvSpPr txBox="1"/>
          <p:nvPr/>
        </p:nvSpPr>
        <p:spPr>
          <a:xfrm>
            <a:off x="634984" y="237253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5</a:t>
            </a:r>
          </a:p>
        </p:txBody>
      </p:sp>
      <p:sp>
        <p:nvSpPr>
          <p:cNvPr id="8" name="TextBox 7"/>
          <p:cNvSpPr txBox="1"/>
          <p:nvPr/>
        </p:nvSpPr>
        <p:spPr>
          <a:xfrm>
            <a:off x="965175" y="237253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Metab Res Rev. 2016;32(Suppl 1):195–200.</a:t>
            </a:r>
          </a:p>
        </p:txBody>
      </p:sp>
      <p:sp>
        <p:nvSpPr>
          <p:cNvPr id="9" name="TextBox 8"/>
          <p:cNvSpPr txBox="1"/>
          <p:nvPr/>
        </p:nvSpPr>
        <p:spPr>
          <a:xfrm>
            <a:off x="634984" y="289091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6</a:t>
            </a:r>
          </a:p>
        </p:txBody>
      </p:sp>
      <p:sp>
        <p:nvSpPr>
          <p:cNvPr id="10" name="TextBox 9"/>
          <p:cNvSpPr txBox="1"/>
          <p:nvPr/>
        </p:nvSpPr>
        <p:spPr>
          <a:xfrm>
            <a:off x="965175" y="2890915"/>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Care. 2011;34(7):1595–600.</a:t>
            </a:r>
          </a:p>
        </p:txBody>
      </p:sp>
      <p:sp>
        <p:nvSpPr>
          <p:cNvPr id="11" name="TextBox 10"/>
          <p:cNvSpPr txBox="1"/>
          <p:nvPr/>
        </p:nvSpPr>
        <p:spPr>
          <a:xfrm>
            <a:off x="634984" y="340929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7</a:t>
            </a:r>
          </a:p>
        </p:txBody>
      </p:sp>
      <p:sp>
        <p:nvSpPr>
          <p:cNvPr id="12" name="TextBox 11"/>
          <p:cNvSpPr txBox="1"/>
          <p:nvPr/>
        </p:nvSpPr>
        <p:spPr>
          <a:xfrm>
            <a:off x="965175" y="3409295"/>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Metab Res Rev. 2020;36(S1):e3237.</a:t>
            </a:r>
          </a:p>
        </p:txBody>
      </p:sp>
      <p:sp>
        <p:nvSpPr>
          <p:cNvPr id="13" name="TextBox 12"/>
          <p:cNvSpPr txBox="1"/>
          <p:nvPr/>
        </p:nvSpPr>
        <p:spPr>
          <a:xfrm>
            <a:off x="634984" y="3927676"/>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8</a:t>
            </a:r>
          </a:p>
        </p:txBody>
      </p:sp>
      <p:sp>
        <p:nvSpPr>
          <p:cNvPr id="14" name="TextBox 13"/>
          <p:cNvSpPr txBox="1"/>
          <p:nvPr/>
        </p:nvSpPr>
        <p:spPr>
          <a:xfrm>
            <a:off x="965175" y="3927676"/>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Metab Res Rev. 2024;40(3):e3651.</a:t>
            </a:r>
          </a:p>
        </p:txBody>
      </p:sp>
      <p:sp>
        <p:nvSpPr>
          <p:cNvPr id="15" name="TextBox 14"/>
          <p:cNvSpPr txBox="1"/>
          <p:nvPr/>
        </p:nvSpPr>
        <p:spPr>
          <a:xfrm>
            <a:off x="634984" y="4446057"/>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9</a:t>
            </a:r>
          </a:p>
        </p:txBody>
      </p:sp>
      <p:sp>
        <p:nvSpPr>
          <p:cNvPr id="16" name="TextBox 15"/>
          <p:cNvSpPr txBox="1"/>
          <p:nvPr/>
        </p:nvSpPr>
        <p:spPr>
          <a:xfrm>
            <a:off x="965175" y="4446057"/>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Bus SA et al. Diabetes Care. 2013;36(12):4109–16.</a:t>
            </a:r>
          </a:p>
        </p:txBody>
      </p:sp>
      <p:sp>
        <p:nvSpPr>
          <p:cNvPr id="17" name="TextBox 16"/>
          <p:cNvSpPr txBox="1"/>
          <p:nvPr/>
        </p:nvSpPr>
        <p:spPr>
          <a:xfrm>
            <a:off x="634984" y="4964437"/>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13</a:t>
            </a:r>
          </a:p>
        </p:txBody>
      </p:sp>
      <p:sp>
        <p:nvSpPr>
          <p:cNvPr id="18" name="TextBox 17"/>
          <p:cNvSpPr txBox="1"/>
          <p:nvPr/>
        </p:nvSpPr>
        <p:spPr>
          <a:xfrm>
            <a:off x="965175" y="4964437"/>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Waaijman R et al. Diabetes Care. 2013;36(6):1613–8.</a:t>
            </a:r>
          </a:p>
        </p:txBody>
      </p:sp>
      <p:sp>
        <p:nvSpPr>
          <p:cNvPr id="19" name="TextBox 18"/>
          <p:cNvSpPr txBox="1"/>
          <p:nvPr/>
        </p:nvSpPr>
        <p:spPr>
          <a:xfrm>
            <a:off x="4326273" y="185415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14</a:t>
            </a:r>
          </a:p>
        </p:txBody>
      </p:sp>
      <p:sp>
        <p:nvSpPr>
          <p:cNvPr id="20" name="TextBox 19"/>
          <p:cNvSpPr txBox="1"/>
          <p:nvPr/>
        </p:nvSpPr>
        <p:spPr>
          <a:xfrm>
            <a:off x="4656465" y="185415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van Netten JJ et al. Clin Biomech. 2018;53:86–92.</a:t>
            </a:r>
          </a:p>
        </p:txBody>
      </p:sp>
      <p:sp>
        <p:nvSpPr>
          <p:cNvPr id="21" name="TextBox 20"/>
          <p:cNvSpPr txBox="1"/>
          <p:nvPr/>
        </p:nvSpPr>
        <p:spPr>
          <a:xfrm>
            <a:off x="4326273" y="237253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16</a:t>
            </a:r>
          </a:p>
        </p:txBody>
      </p:sp>
      <p:sp>
        <p:nvSpPr>
          <p:cNvPr id="22" name="TextBox 21"/>
          <p:cNvSpPr txBox="1"/>
          <p:nvPr/>
        </p:nvSpPr>
        <p:spPr>
          <a:xfrm>
            <a:off x="4656465" y="2372534"/>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Hulshof CM et al. Diabet Med. 2025;42:e70099.</a:t>
            </a:r>
          </a:p>
        </p:txBody>
      </p:sp>
      <p:sp>
        <p:nvSpPr>
          <p:cNvPr id="23" name="TextBox 22"/>
          <p:cNvSpPr txBox="1"/>
          <p:nvPr/>
        </p:nvSpPr>
        <p:spPr>
          <a:xfrm>
            <a:off x="4326273" y="267617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17</a:t>
            </a:r>
          </a:p>
        </p:txBody>
      </p:sp>
      <p:sp>
        <p:nvSpPr>
          <p:cNvPr id="24" name="TextBox 23"/>
          <p:cNvSpPr txBox="1"/>
          <p:nvPr/>
        </p:nvSpPr>
        <p:spPr>
          <a:xfrm>
            <a:off x="4656465" y="267617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Waaijman R et al. Diabetes Care. 2014;37(6):1697–705.</a:t>
            </a:r>
          </a:p>
        </p:txBody>
      </p:sp>
      <p:sp>
        <p:nvSpPr>
          <p:cNvPr id="25" name="TextBox 24"/>
          <p:cNvSpPr txBox="1"/>
          <p:nvPr/>
        </p:nvSpPr>
        <p:spPr>
          <a:xfrm>
            <a:off x="4326273" y="319455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18</a:t>
            </a:r>
          </a:p>
        </p:txBody>
      </p:sp>
      <p:sp>
        <p:nvSpPr>
          <p:cNvPr id="26" name="TextBox 25"/>
          <p:cNvSpPr txBox="1"/>
          <p:nvPr/>
        </p:nvSpPr>
        <p:spPr>
          <a:xfrm>
            <a:off x="4656465" y="319455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Lutjeboer T et al. J Rehabil Med. 2018;50(10):920–6.</a:t>
            </a:r>
          </a:p>
        </p:txBody>
      </p:sp>
      <p:sp>
        <p:nvSpPr>
          <p:cNvPr id="27" name="TextBox 26"/>
          <p:cNvSpPr txBox="1"/>
          <p:nvPr/>
        </p:nvSpPr>
        <p:spPr>
          <a:xfrm>
            <a:off x="4326273" y="371293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19</a:t>
            </a:r>
          </a:p>
        </p:txBody>
      </p:sp>
      <p:sp>
        <p:nvSpPr>
          <p:cNvPr id="28" name="TextBox 27"/>
          <p:cNvSpPr txBox="1"/>
          <p:nvPr/>
        </p:nvSpPr>
        <p:spPr>
          <a:xfrm>
            <a:off x="4656465" y="3712935"/>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Michie S et al. Implement Sci. 2011;6:42.</a:t>
            </a:r>
          </a:p>
        </p:txBody>
      </p:sp>
      <p:sp>
        <p:nvSpPr>
          <p:cNvPr id="29" name="TextBox 28"/>
          <p:cNvSpPr txBox="1"/>
          <p:nvPr/>
        </p:nvSpPr>
        <p:spPr>
          <a:xfrm>
            <a:off x="4326273" y="401657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20</a:t>
            </a:r>
          </a:p>
        </p:txBody>
      </p:sp>
      <p:sp>
        <p:nvSpPr>
          <p:cNvPr id="30" name="TextBox 29"/>
          <p:cNvSpPr txBox="1"/>
          <p:nvPr/>
        </p:nvSpPr>
        <p:spPr>
          <a:xfrm>
            <a:off x="4656465" y="401657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Morbach S et al. Diabetes Metab Res Rev. 2016;32(Suppl 1):318–25.</a:t>
            </a:r>
          </a:p>
        </p:txBody>
      </p:sp>
      <p:sp>
        <p:nvSpPr>
          <p:cNvPr id="31" name="TextBox 30"/>
          <p:cNvSpPr txBox="1"/>
          <p:nvPr/>
        </p:nvSpPr>
        <p:spPr>
          <a:xfrm>
            <a:off x="4326273" y="453495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21</a:t>
            </a:r>
          </a:p>
        </p:txBody>
      </p:sp>
      <p:sp>
        <p:nvSpPr>
          <p:cNvPr id="32" name="TextBox 31"/>
          <p:cNvSpPr txBox="1"/>
          <p:nvPr/>
        </p:nvSpPr>
        <p:spPr>
          <a:xfrm>
            <a:off x="4656465" y="4534955"/>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Chan A-W et al. BMJ. 2025;389:e081477.</a:t>
            </a:r>
          </a:p>
        </p:txBody>
      </p:sp>
      <p:sp>
        <p:nvSpPr>
          <p:cNvPr id="33" name="TextBox 32"/>
          <p:cNvSpPr txBox="1"/>
          <p:nvPr/>
        </p:nvSpPr>
        <p:spPr>
          <a:xfrm>
            <a:off x="8017563" y="1854153"/>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25</a:t>
            </a:r>
          </a:p>
        </p:txBody>
      </p:sp>
      <p:sp>
        <p:nvSpPr>
          <p:cNvPr id="34" name="TextBox 33"/>
          <p:cNvSpPr txBox="1"/>
          <p:nvPr/>
        </p:nvSpPr>
        <p:spPr>
          <a:xfrm>
            <a:off x="8347755" y="1854153"/>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van Netten JJ et al. Diabetes Metab Res Rev. 2024;40(3):e3654.</a:t>
            </a:r>
          </a:p>
        </p:txBody>
      </p:sp>
      <p:sp>
        <p:nvSpPr>
          <p:cNvPr id="35" name="TextBox 34"/>
          <p:cNvSpPr txBox="1"/>
          <p:nvPr/>
        </p:nvSpPr>
        <p:spPr>
          <a:xfrm>
            <a:off x="8017563" y="237253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26</a:t>
            </a:r>
          </a:p>
        </p:txBody>
      </p:sp>
      <p:sp>
        <p:nvSpPr>
          <p:cNvPr id="36" name="TextBox 35"/>
          <p:cNvSpPr txBox="1"/>
          <p:nvPr/>
        </p:nvSpPr>
        <p:spPr>
          <a:xfrm>
            <a:off x="8347755" y="237253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Lincoln NB et al. Pract Diabetes Int. 2007;24(4):207–11.</a:t>
            </a:r>
          </a:p>
        </p:txBody>
      </p:sp>
      <p:sp>
        <p:nvSpPr>
          <p:cNvPr id="37" name="TextBox 36"/>
          <p:cNvSpPr txBox="1"/>
          <p:nvPr/>
        </p:nvSpPr>
        <p:spPr>
          <a:xfrm>
            <a:off x="8017563" y="289091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27</a:t>
            </a:r>
          </a:p>
        </p:txBody>
      </p:sp>
      <p:sp>
        <p:nvSpPr>
          <p:cNvPr id="38" name="TextBox 37"/>
          <p:cNvSpPr txBox="1"/>
          <p:nvPr/>
        </p:nvSpPr>
        <p:spPr>
          <a:xfrm>
            <a:off x="8347755" y="2890915"/>
            <a:ext cx="3208701" cy="265540"/>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Zwaferink JBJ et al. Sensors. 2024;24(6):1795.</a:t>
            </a:r>
          </a:p>
        </p:txBody>
      </p:sp>
      <p:sp>
        <p:nvSpPr>
          <p:cNvPr id="39" name="TextBox 38"/>
          <p:cNvSpPr txBox="1"/>
          <p:nvPr/>
        </p:nvSpPr>
        <p:spPr>
          <a:xfrm>
            <a:off x="8017563" y="3194554"/>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29</a:t>
            </a:r>
          </a:p>
        </p:txBody>
      </p:sp>
      <p:sp>
        <p:nvSpPr>
          <p:cNvPr id="40" name="TextBox 39"/>
          <p:cNvSpPr txBox="1"/>
          <p:nvPr/>
        </p:nvSpPr>
        <p:spPr>
          <a:xfrm>
            <a:off x="8347755" y="3194554"/>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Dahmen R et al. J Rehabil Med. 2018;50(6):569–74.</a:t>
            </a:r>
          </a:p>
        </p:txBody>
      </p:sp>
      <p:sp>
        <p:nvSpPr>
          <p:cNvPr id="41" name="TextBox 40"/>
          <p:cNvSpPr txBox="1"/>
          <p:nvPr/>
        </p:nvSpPr>
        <p:spPr>
          <a:xfrm>
            <a:off x="8017563" y="3712935"/>
            <a:ext cx="279393" cy="190495"/>
          </a:xfrm>
          <a:prstGeom prst="rect">
            <a:avLst/>
          </a:prstGeom>
          <a:noFill/>
        </p:spPr>
        <p:txBody>
          <a:bodyPr wrap="square" anchor="t" lIns="0" rIns="0" tIns="0" bIns="0">
            <a:spAutoFit/>
          </a:bodyPr>
          <a:lstStyle/>
          <a:p>
            <a:pPr algn="r">
              <a:lnSpc>
                <a:spcPct val="125000"/>
              </a:lnSpc>
            </a:pPr>
            <a:r>
              <a:rPr sz="1050" b="1">
                <a:solidFill>
                  <a:srgbClr val="52BDEC"/>
                </a:solidFill>
                <a:latin typeface="Consolas"/>
              </a:rPr>
              <a:t>31</a:t>
            </a:r>
          </a:p>
        </p:txBody>
      </p:sp>
      <p:sp>
        <p:nvSpPr>
          <p:cNvPr id="42" name="TextBox 41"/>
          <p:cNvSpPr txBox="1"/>
          <p:nvPr/>
        </p:nvSpPr>
        <p:spPr>
          <a:xfrm>
            <a:off x="8347755" y="3712935"/>
            <a:ext cx="3208701" cy="480281"/>
          </a:xfrm>
          <a:prstGeom prst="rect">
            <a:avLst/>
          </a:prstGeom>
          <a:noFill/>
        </p:spPr>
        <p:txBody>
          <a:bodyPr wrap="square" anchor="t" lIns="0" rIns="0" tIns="0" bIns="0">
            <a:spAutoFit/>
          </a:bodyPr>
          <a:lstStyle/>
          <a:p>
            <a:pPr algn="l">
              <a:lnSpc>
                <a:spcPct val="132000"/>
              </a:lnSpc>
            </a:pPr>
            <a:r>
              <a:rPr sz="1050" b="0">
                <a:solidFill>
                  <a:srgbClr val="8FB6D0"/>
                </a:solidFill>
                <a:latin typeface="Segoe UI"/>
              </a:rPr>
              <a:t>Keukenkamp R et al. BMJ Open Diabetes Res Care. 2022;10(1):e002593.</a:t>
            </a:r>
          </a:p>
        </p:txBody>
      </p:sp>
      <p:sp>
        <p:nvSpPr>
          <p:cNvPr id="43" name="TextBox 42"/>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De nummering volgt die van het protocolmanuscript.</a:t>
            </a:r>
          </a:p>
        </p:txBody>
      </p:sp>
      <p:sp>
        <p:nvSpPr>
          <p:cNvPr id="44" name="TextBox 4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71 / 71</a:t>
            </a:r>
          </a:p>
        </p:txBody>
      </p:sp>
      <p:pic>
        <p:nvPicPr>
          <p:cNvPr id="45"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p:transition xmlns:p14="http://schemas.microsoft.com/office/powerpoint/2010/main" spd="slow" p14:dur="9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