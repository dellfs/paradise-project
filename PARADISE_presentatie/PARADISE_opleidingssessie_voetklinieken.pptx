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 hoeft niemand meer te overtuigen: de centra zitten al in het consortium. Zeg dat expliciet in de eerste zin, dan weet de zaal dat dit een werksessie is en geen pitch.</a:t>
            </a:r>
          </a:p>
          <a:p/>
          <a:p>
            <a:r>
              <a:t>INTERACTIE</a:t>
            </a:r>
          </a:p>
          <a:p>
            <a:r>
              <a:t>Vraag wie vandaag voor het eerst van de studie hoort. Dat bepaalt hoeveel tijd u aan blok 1 besteedt.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34984" y="952476"/>
            <a:ext cx="10921726" cy="2984425"/>
          </a:xfrm>
          <a:prstGeom prst="roundRect">
            <a:avLst>
              <a:gd name="adj" fmla="val 4500"/>
            </a:avLst>
          </a:prstGeom>
          <a:solidFill>
            <a:srgbClr val="0A2A44">
              <a:alpha val="60000"/>
            </a:srgbClr>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952476" y="1308067"/>
            <a:ext cx="8889777" cy="1714457"/>
          </a:xfrm>
          <a:prstGeom prst="rect">
            <a:avLst/>
          </a:prstGeom>
          <a:noFill/>
        </p:spPr>
        <p:txBody>
          <a:bodyPr wrap="square" anchor="t" lIns="0" rIns="0" tIns="0" bIns="0">
            <a:spAutoFit/>
          </a:bodyPr>
          <a:lstStyle/>
          <a:p>
            <a:pPr algn="l">
              <a:lnSpc>
                <a:spcPct val="92000"/>
              </a:lnSpc>
            </a:pPr>
            <a:r>
              <a:rPr sz="11000" b="1">
                <a:solidFill>
                  <a:srgbClr val="F2F8FC"/>
                </a:solidFill>
                <a:latin typeface="Segoe UI"/>
              </a:rPr>
              <a:t>PARADISE</a:t>
            </a:r>
          </a:p>
        </p:txBody>
      </p:sp>
      <p:sp>
        <p:nvSpPr>
          <p:cNvPr id="5" name="TextBox 4"/>
          <p:cNvSpPr txBox="1"/>
          <p:nvPr/>
        </p:nvSpPr>
        <p:spPr>
          <a:xfrm>
            <a:off x="990575" y="2806629"/>
            <a:ext cx="7619809" cy="571485"/>
          </a:xfrm>
          <a:prstGeom prst="rect">
            <a:avLst/>
          </a:prstGeom>
          <a:noFill/>
        </p:spPr>
        <p:txBody>
          <a:bodyPr wrap="square" anchor="t" lIns="0" rIns="0" tIns="0" bIns="0">
            <a:spAutoFit/>
          </a:bodyPr>
          <a:lstStyle/>
          <a:p>
            <a:pPr algn="l">
              <a:lnSpc>
                <a:spcPct val="125000"/>
              </a:lnSpc>
            </a:pPr>
            <a:r>
              <a:rPr sz="3600" b="1">
                <a:solidFill>
                  <a:srgbClr val="52BDEC"/>
                </a:solidFill>
                <a:latin typeface="Segoe UI"/>
              </a:rPr>
              <a:t>Opleidingssessie</a:t>
            </a:r>
          </a:p>
        </p:txBody>
      </p:sp>
      <p:sp>
        <p:nvSpPr>
          <p:cNvPr id="6" name="TextBox 5"/>
          <p:cNvSpPr txBox="1"/>
          <p:nvPr/>
        </p:nvSpPr>
        <p:spPr>
          <a:xfrm>
            <a:off x="990575" y="3505112"/>
            <a:ext cx="8254793"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Zo voert u het protocol uit — bezoek per bezoek, formulier per formulier</a:t>
            </a:r>
          </a:p>
        </p:txBody>
      </p:sp>
      <p:sp>
        <p:nvSpPr>
          <p:cNvPr id="7" name="Rounded Rectangle 6"/>
          <p:cNvSpPr/>
          <p:nvPr/>
        </p:nvSpPr>
        <p:spPr>
          <a:xfrm>
            <a:off x="634984"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87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6</a:t>
            </a:r>
          </a:p>
        </p:txBody>
      </p:sp>
      <p:sp>
        <p:nvSpPr>
          <p:cNvPr id="9" name="TextBox 8"/>
          <p:cNvSpPr txBox="1"/>
          <p:nvPr/>
        </p:nvSpPr>
        <p:spPr>
          <a:xfrm>
            <a:off x="86357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CENTRA</a:t>
            </a:r>
          </a:p>
        </p:txBody>
      </p:sp>
      <p:sp>
        <p:nvSpPr>
          <p:cNvPr id="10" name="Rounded Rectangle 9"/>
          <p:cNvSpPr/>
          <p:nvPr/>
        </p:nvSpPr>
        <p:spPr>
          <a:xfrm>
            <a:off x="432627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216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24</a:t>
            </a:r>
          </a:p>
        </p:txBody>
      </p:sp>
      <p:sp>
        <p:nvSpPr>
          <p:cNvPr id="12" name="TextBox 11"/>
          <p:cNvSpPr txBox="1"/>
          <p:nvPr/>
        </p:nvSpPr>
        <p:spPr>
          <a:xfrm>
            <a:off x="455486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INCLUSIES PER CENTRUM</a:t>
            </a:r>
          </a:p>
        </p:txBody>
      </p:sp>
      <p:sp>
        <p:nvSpPr>
          <p:cNvPr id="13" name="Rounded Rectangle 12"/>
          <p:cNvSpPr/>
          <p:nvPr/>
        </p:nvSpPr>
        <p:spPr>
          <a:xfrm>
            <a:off x="801756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345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18</a:t>
            </a:r>
          </a:p>
        </p:txBody>
      </p:sp>
      <p:sp>
        <p:nvSpPr>
          <p:cNvPr id="15" name="TextBox 14"/>
          <p:cNvSpPr txBox="1"/>
          <p:nvPr/>
        </p:nvSpPr>
        <p:spPr>
          <a:xfrm>
            <a:off x="8246157"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MAANDEN</a:t>
            </a:r>
          </a:p>
        </p:txBody>
      </p:sp>
      <p:sp>
        <p:nvSpPr>
          <p:cNvPr id="16" name="Rectangle 15"/>
          <p:cNvSpPr/>
          <p:nvPr/>
        </p:nvSpPr>
        <p:spPr>
          <a:xfrm>
            <a:off x="634984" y="554976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4984" y="5714857"/>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uleuven.png"/>
          <p:cNvPicPr>
            <a:picLocks noChangeAspect="1"/>
          </p:cNvPicPr>
          <p:nvPr/>
        </p:nvPicPr>
        <p:blipFill>
          <a:blip r:embed="rId2"/>
          <a:stretch>
            <a:fillRect/>
          </a:stretch>
        </p:blipFill>
        <p:spPr>
          <a:xfrm>
            <a:off x="787380" y="5822804"/>
            <a:ext cx="1381100" cy="393690"/>
          </a:xfrm>
          <a:prstGeom prst="rect">
            <a:avLst/>
          </a:prstGeom>
        </p:spPr>
      </p:pic>
      <p:sp>
        <p:nvSpPr>
          <p:cNvPr id="19" name="Rounded Rectangle 18"/>
          <p:cNvSpPr/>
          <p:nvPr/>
        </p:nvSpPr>
        <p:spPr>
          <a:xfrm>
            <a:off x="2574870" y="5714857"/>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vub.png"/>
          <p:cNvPicPr>
            <a:picLocks noChangeAspect="1"/>
          </p:cNvPicPr>
          <p:nvPr/>
        </p:nvPicPr>
        <p:blipFill>
          <a:blip r:embed="rId3"/>
          <a:stretch>
            <a:fillRect/>
          </a:stretch>
        </p:blipFill>
        <p:spPr>
          <a:xfrm>
            <a:off x="2727267" y="5822804"/>
            <a:ext cx="1116092" cy="393690"/>
          </a:xfrm>
          <a:prstGeom prst="rect">
            <a:avLst/>
          </a:prstGeom>
        </p:spPr>
      </p:pic>
      <p:sp>
        <p:nvSpPr>
          <p:cNvPr id="21" name="TextBox 20"/>
          <p:cNvSpPr txBox="1"/>
          <p:nvPr/>
        </p:nvSpPr>
        <p:spPr>
          <a:xfrm>
            <a:off x="4249749" y="5765655"/>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22" name="TextBox 21"/>
          <p:cNvSpPr txBox="1"/>
          <p:nvPr/>
        </p:nvSpPr>
        <p:spPr>
          <a:xfrm>
            <a:off x="4262449" y="6019649"/>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23" name="TextBox 22"/>
          <p:cNvSpPr txBox="1"/>
          <p:nvPr/>
        </p:nvSpPr>
        <p:spPr>
          <a:xfrm>
            <a:off x="634984" y="6489537"/>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Opleiding studiepersoneel · protocolversie 1.0 · 17 mei 2026 · S71769</a:t>
            </a:r>
          </a:p>
        </p:txBody>
      </p:sp>
      <p:pic>
        <p:nvPicPr>
          <p:cNvPr id="24" name="merk" descr="merk.png"/>
          <p:cNvPicPr>
            <a:picLocks noChangeAspect="1"/>
          </p:cNvPicPr>
          <p:nvPr/>
        </p:nvPicPr>
        <p:blipFill>
          <a:blip r:embed="rId4"/>
          <a:stretch>
            <a:fillRect/>
          </a:stretch>
        </p:blipFill>
        <p:spPr>
          <a:xfrm>
            <a:off x="9590513" y="1244568"/>
            <a:ext cx="1646451" cy="1904952"/>
          </a:xfrm>
          <a:prstGeom prst="rect">
            <a:avLst/>
          </a:prstGeom>
        </p:spPr>
      </p:pic>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66</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melden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66</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én draagtijd, beide op 18 maanden</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66</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Waarom zo</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66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66</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De meting</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66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66</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66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66</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Het traject</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66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Geschiktheid, toestemming, loting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Kort · 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5</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Arts bevestigt geschiktheid · PI loot · podoloog vult in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Screening vóór de toestemming: beoordeel de in- en exclusiecriteria en noteer de patiënt op de identificatielijst.</a:t>
            </a:r>
          </a:p>
        </p:txBody>
      </p:sp>
      <p:sp>
        <p:nvSpPr>
          <p:cNvPr id="6" name="!!rail0"/>
          <p:cNvSpPr/>
          <p:nvPr/>
        </p:nvSpPr>
        <p:spPr>
          <a:xfrm>
            <a:off x="660383"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Is de patiënt geschikt, overloop dan de informatie- en toestemmingsformulieren en laat tekenen.</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Visite 0: bevestig de geschiktheid met het baselineformulier.</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 PI opent de volgende verzegelde envelop en deelt de patiënt in. Pas dan is bekend in welke arm hij zit.</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geschikt? Noteer de reden. Ook dat is studiedata.</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00</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Identificatielijst</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Screening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Toestemming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06</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Geschiktheid</a:t>
            </a:r>
          </a:p>
        </p:txBody>
      </p:sp>
      <p:sp>
        <p:nvSpPr>
          <p:cNvPr id="19" name="Rectangle 1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1" name="TextBox 2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volgorde ligt vast: screenen, tekenen, geschiktheid bevestigen, dan pas loten. Vul geen enkel ander formulier in voordat de patiënt getekend heeft.</a:t>
            </a:r>
          </a:p>
        </p:txBody>
      </p:sp>
      <p:sp>
        <p:nvSpPr>
          <p:cNvPr id="22"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il4"/>
          <p:cNvSpPr/>
          <p:nvPr/>
        </p:nvSpPr>
        <p:spPr>
          <a:xfrm>
            <a:off x="9397765"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66</a:t>
            </a:r>
          </a:p>
        </p:txBody>
      </p:sp>
      <p:pic>
        <p:nvPicPr>
          <p:cNvPr id="2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Baseline — meten en voorschrijven</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langste bezoek van de studie</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14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arts schrijft voor · het onderzoeksteam verwerkt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Demografie en voorgeschiedenis, inclusief nierfunctie, eGFR, hartaandoening en diabetesmedicatie.</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en klasseer een eventueel ulcus.</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Drukmeting blootsvoets: drie metingen per voet.</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Bepaal de drie doelregio's en schrijf de zool voor, mét die regio's op het voorschrift.</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Vragenlijsten vóór het educatiegesprek: NAFF en HLS-EU-6. Daarna tevredenheid, schoeiselgebruik en EQ-5D-5L.</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1: educatie op maat, voordoen, en de patiënt het zelf laten uitvoeren. Leg dat vast in het logboek.</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Geef de MoveMonitor mee voor zeven dagen en registreer het toestelnummer.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07</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Demografie</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09</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Drukmeting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10</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Voorschrift CMFO</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13</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Schoeiselgebruik</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NAFF</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HLS-EU-6</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16</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Educatieboekje</a:t>
            </a:r>
          </a:p>
        </p:txBody>
      </p:sp>
      <p:sp>
        <p:nvSpPr>
          <p:cNvPr id="34" name="Rounded Rectangle 33"/>
          <p:cNvSpPr/>
          <p:nvPr/>
        </p:nvSpPr>
        <p:spPr>
          <a:xfrm>
            <a:off x="989305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925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18</a:t>
            </a:r>
          </a:p>
        </p:txBody>
      </p:sp>
      <p:sp>
        <p:nvSpPr>
          <p:cNvPr id="36" name="TextBox 35"/>
          <p:cNvSpPr txBox="1"/>
          <p:nvPr/>
        </p:nvSpPr>
        <p:spPr>
          <a:xfrm>
            <a:off x="10312142"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Logboek educatie</a:t>
            </a:r>
          </a:p>
        </p:txBody>
      </p:sp>
      <p:sp>
        <p:nvSpPr>
          <p:cNvPr id="37" name="Rounded Rectangle 36"/>
          <p:cNvSpPr/>
          <p:nvPr/>
        </p:nvSpPr>
        <p:spPr>
          <a:xfrm>
            <a:off x="298442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6062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19</a:t>
            </a:r>
          </a:p>
        </p:txBody>
      </p:sp>
      <p:sp>
        <p:nvSpPr>
          <p:cNvPr id="39" name="TextBox 38"/>
          <p:cNvSpPr txBox="1"/>
          <p:nvPr/>
        </p:nvSpPr>
        <p:spPr>
          <a:xfrm>
            <a:off x="3403514"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MoveMonitor</a:t>
            </a:r>
          </a:p>
        </p:txBody>
      </p:sp>
      <p:sp>
        <p:nvSpPr>
          <p:cNvPr id="40" name="Rounded Rectangle 39"/>
          <p:cNvSpPr/>
          <p:nvPr/>
        </p:nvSpPr>
        <p:spPr>
          <a:xfrm>
            <a:off x="4711582"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87780"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20</a:t>
            </a:r>
          </a:p>
        </p:txBody>
      </p:sp>
      <p:sp>
        <p:nvSpPr>
          <p:cNvPr id="42" name="TextBox 41"/>
          <p:cNvSpPr txBox="1"/>
          <p:nvPr/>
        </p:nvSpPr>
        <p:spPr>
          <a:xfrm>
            <a:off x="5130671"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MoveMonitor</a:t>
            </a:r>
          </a:p>
        </p:txBody>
      </p:sp>
      <p:sp>
        <p:nvSpPr>
          <p:cNvPr id="43" name="Rounded Rectangle 42"/>
          <p:cNvSpPr/>
          <p:nvPr/>
        </p:nvSpPr>
        <p:spPr>
          <a:xfrm>
            <a:off x="6438739"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14937"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45" name="TextBox 44"/>
          <p:cNvSpPr txBox="1"/>
          <p:nvPr/>
        </p:nvSpPr>
        <p:spPr>
          <a:xfrm>
            <a:off x="6857828"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46" name="Rounded Rectangle 45"/>
          <p:cNvSpPr/>
          <p:nvPr/>
        </p:nvSpPr>
        <p:spPr>
          <a:xfrm>
            <a:off x="816589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4209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48</a:t>
            </a:r>
          </a:p>
        </p:txBody>
      </p:sp>
      <p:sp>
        <p:nvSpPr>
          <p:cNvPr id="48" name="TextBox 47"/>
          <p:cNvSpPr txBox="1"/>
          <p:nvPr/>
        </p:nvSpPr>
        <p:spPr>
          <a:xfrm>
            <a:off x="8584985"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Voetzorgfolder</a:t>
            </a:r>
          </a:p>
        </p:txBody>
      </p:sp>
      <p:sp>
        <p:nvSpPr>
          <p:cNvPr id="49" name="Rectangle 4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1" name="TextBox 5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52"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66</a:t>
            </a:r>
          </a:p>
        </p:txBody>
      </p:sp>
      <p:pic>
        <p:nvPicPr>
          <p:cNvPr id="6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Aflevering, optimalisatie en sensor</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technisch zwaarste bezoek</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Pedorthist past aan · podoloog meet, plaatst de sensor en begeleidt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Lever de zool af. Controleer de pasvorm in het bínnenschoeisel én het búitenschoeisel, en neem de foto's.</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Meet de drukherverdeling en toets de norm per doelregio.</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gehaald? Pas aan en meet opnieuw. Is ze gehaald, laat dan een tweede, identiek paar maken.</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Plaats en activeer de Orthotimer in de zool en registreer het toestelnummer.</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MoveMonitor terug en registreer de teruggave.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2: bespreek het activiteitenprofiel, doe de teach-back en geef de sensorfolder mee.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overtuigingen en gewoontes rond schoeisel.</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23</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Aanpassing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Orthotimer</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26</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Overtuigingen</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27</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Teruggave MoveMon.</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28</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Activiteitsprofiel</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29</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Teach-back</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30</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Sensorfolder</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7"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39 / 66</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Driemaandelijkse opvolging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6</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leest uit en begeleidt · arts beoordeelt laesies</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40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zoals bij de baseline.</a:t>
            </a:r>
          </a:p>
        </p:txBody>
      </p:sp>
      <p:sp>
        <p:nvSpPr>
          <p:cNvPr id="6" name="!!rail0"/>
          <p:cNvSpPr/>
          <p:nvPr/>
        </p:nvSpPr>
        <p:spPr>
          <a:xfrm>
            <a:off x="660383"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41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therapietrouw, lees de Orthotimer uit en bespreek de uitdraai niet-veroordelend.</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42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Beoordeel beide paren zolen. Het paar dat onderhoud nodig heeft gaat naar de pedorthist, deklaag inbegrepen.</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43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Vervang zool of sensor als dat nodig is en leg dat vast.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44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vragenlijsten af: levenskwaliteit, medische consumptie en productiviteit.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45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Op maand 6 een tweede week MoveMonitor.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Therapietrouw</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Uitlezing sensor</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32</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Feedback</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33</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Vervanging</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iMCQ</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iPCQ</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45b</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Kostendagboek</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7"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9761822"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46 / 66</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Wat er drie keer extra bij komt</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Bovenop de driemaandelijkse opvolging</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pedorthist past aan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47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Herhaal de drukmeting in de drie condities en toets opnieuw per doelregio.</a:t>
            </a:r>
          </a:p>
        </p:txBody>
      </p:sp>
      <p:sp>
        <p:nvSpPr>
          <p:cNvPr id="6" name="!!rail0"/>
          <p:cNvSpPr/>
          <p:nvPr/>
        </p:nvSpPr>
        <p:spPr>
          <a:xfrm>
            <a:off x="660383"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48 / 66</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Ligt de piekdruk boven 200 kPa, of is er nog winst haalbaar, pas dan opnieuw aan volgens dezelfde procedure.</a:t>
            </a:r>
          </a:p>
        </p:txBody>
      </p:sp>
      <p:sp>
        <p:nvSpPr>
          <p:cNvPr id="6"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49 / 66</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Op maand 18 ook de tevredenheidsschaal opnieuw afnemen, zodat de verandering tegenover baseline gemeten kan worden.</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 — maand 18</a:t>
            </a:r>
          </a:p>
        </p:txBody>
      </p:sp>
      <p:sp>
        <p:nvSpPr>
          <p:cNvPr id="16" name="Rectangle 15"/>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18" name="TextBox 17"/>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Drie extra meetmomenten, niet twee. Maand 18 telt mee: beide co-primaire uitkomsten worden op achttien maanden geëvalueerd.</a:t>
            </a:r>
          </a:p>
        </p:txBody>
      </p:sp>
      <p:sp>
        <p:nvSpPr>
          <p:cNvPr id="19"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il2"/>
          <p:cNvSpPr/>
          <p:nvPr/>
        </p:nvSpPr>
        <p:spPr>
          <a:xfrm>
            <a:off x="7941534"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50 / 66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51 / 66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Toestellen en regels</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52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53 / 66</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54 / 66</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55 / 66</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56 / 66</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57 / 66</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58 / 66</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59 / 66</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60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61 / 66</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62 / 66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Wie leest de sensor uit?</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Uw team, ter plaatse, bij elk bezoek.</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63 / 66</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formulieren volledig invullen en 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64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65 / 66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66 / 66</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