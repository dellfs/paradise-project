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 hoeft niemand meer te overtuigen: de centra zitten al in het consortium. Zeg dat expliciet in de eerste zin, dan weet de zaal dat dit een werksessie is en geen pitch.</a:t>
            </a:r>
          </a:p>
          <a:p/>
          <a:p>
            <a:r>
              <a:t>INTERACTIE</a:t>
            </a:r>
          </a:p>
          <a:p>
            <a:r>
              <a:t>Vraag wie vandaag voor het eerst van de studie hoort. Dat bepaalt hoeveel tijd u aan blok 1 besteedt.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de volgorde: screenen, dan pas toestemming, dan pas de rest. Andersom is een protocolafwijking.</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bezoek dat uitloopt. Zeg hoeveel tijd u ervoor moet inplannen en waarom de volgorde vastligt.</a:t>
            </a:r>
          </a:p>
          <a:p/>
          <a:p>
            <a:r>
              <a:t>INTERACTIE</a:t>
            </a:r>
          </a:p>
          <a:p>
            <a:r>
              <a:t>Laat ze in duo's de volgorde van de zeven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kortste bezoek en tegelijk het scharnier tussen meting en zool. Benadruk de overdracht.</a:t>
            </a:r>
          </a:p>
          <a:p/>
          <a:p>
            <a:r>
              <a:t>INTERACTIE</a:t>
            </a:r>
          </a:p>
          <a:p>
            <a:r>
              <a:t>Vraag de pedorthisten wat zij nu op een voorschrift missen.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het meeste tijd in de sessie.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uitlezen enkel ter plaatse kan. Koppel het aan een bezoek dat toch al gepland is.</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voor de pedorthisten. De opbouw ligt vast in het protocol en is dus geen vrije keuze — het is een medisch hulpmiddel binnen een studie.</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34984" y="952476"/>
            <a:ext cx="10921726" cy="2984425"/>
          </a:xfrm>
          <a:prstGeom prst="roundRect">
            <a:avLst>
              <a:gd name="adj" fmla="val 4500"/>
            </a:avLst>
          </a:prstGeom>
          <a:solidFill>
            <a:srgbClr val="0A2A44">
              <a:alpha val="60000"/>
            </a:srgbClr>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952476" y="1308067"/>
            <a:ext cx="8889777" cy="1714457"/>
          </a:xfrm>
          <a:prstGeom prst="rect">
            <a:avLst/>
          </a:prstGeom>
          <a:noFill/>
        </p:spPr>
        <p:txBody>
          <a:bodyPr wrap="square" anchor="t" lIns="0" rIns="0" tIns="0" bIns="0">
            <a:spAutoFit/>
          </a:bodyPr>
          <a:lstStyle/>
          <a:p>
            <a:pPr algn="l">
              <a:lnSpc>
                <a:spcPct val="92000"/>
              </a:lnSpc>
            </a:pPr>
            <a:r>
              <a:rPr sz="11000" b="1">
                <a:solidFill>
                  <a:srgbClr val="F2F8FC"/>
                </a:solidFill>
                <a:latin typeface="Segoe UI"/>
              </a:rPr>
              <a:t>PARADISE</a:t>
            </a:r>
          </a:p>
        </p:txBody>
      </p:sp>
      <p:sp>
        <p:nvSpPr>
          <p:cNvPr id="5" name="TextBox 4"/>
          <p:cNvSpPr txBox="1"/>
          <p:nvPr/>
        </p:nvSpPr>
        <p:spPr>
          <a:xfrm>
            <a:off x="990575" y="2806629"/>
            <a:ext cx="7619809" cy="571485"/>
          </a:xfrm>
          <a:prstGeom prst="rect">
            <a:avLst/>
          </a:prstGeom>
          <a:noFill/>
        </p:spPr>
        <p:txBody>
          <a:bodyPr wrap="square" anchor="t" lIns="0" rIns="0" tIns="0" bIns="0">
            <a:spAutoFit/>
          </a:bodyPr>
          <a:lstStyle/>
          <a:p>
            <a:pPr algn="l">
              <a:lnSpc>
                <a:spcPct val="125000"/>
              </a:lnSpc>
            </a:pPr>
            <a:r>
              <a:rPr sz="3600" b="1">
                <a:solidFill>
                  <a:srgbClr val="52BDEC"/>
                </a:solidFill>
                <a:latin typeface="Segoe UI"/>
              </a:rPr>
              <a:t>Opleidingssessie</a:t>
            </a:r>
          </a:p>
        </p:txBody>
      </p:sp>
      <p:sp>
        <p:nvSpPr>
          <p:cNvPr id="6" name="TextBox 5"/>
          <p:cNvSpPr txBox="1"/>
          <p:nvPr/>
        </p:nvSpPr>
        <p:spPr>
          <a:xfrm>
            <a:off x="990575" y="3505112"/>
            <a:ext cx="8254793"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Zo voert u het protocol uit — bezoek per bezoek, formulier per formulier</a:t>
            </a:r>
          </a:p>
        </p:txBody>
      </p:sp>
      <p:sp>
        <p:nvSpPr>
          <p:cNvPr id="7" name="Rounded Rectangle 6"/>
          <p:cNvSpPr/>
          <p:nvPr/>
        </p:nvSpPr>
        <p:spPr>
          <a:xfrm>
            <a:off x="634984"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87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6</a:t>
            </a:r>
          </a:p>
        </p:txBody>
      </p:sp>
      <p:sp>
        <p:nvSpPr>
          <p:cNvPr id="9" name="TextBox 8"/>
          <p:cNvSpPr txBox="1"/>
          <p:nvPr/>
        </p:nvSpPr>
        <p:spPr>
          <a:xfrm>
            <a:off x="86357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CENTRA</a:t>
            </a:r>
          </a:p>
        </p:txBody>
      </p:sp>
      <p:sp>
        <p:nvSpPr>
          <p:cNvPr id="10" name="Rounded Rectangle 9"/>
          <p:cNvSpPr/>
          <p:nvPr/>
        </p:nvSpPr>
        <p:spPr>
          <a:xfrm>
            <a:off x="432627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216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24</a:t>
            </a:r>
          </a:p>
        </p:txBody>
      </p:sp>
      <p:sp>
        <p:nvSpPr>
          <p:cNvPr id="12" name="TextBox 11"/>
          <p:cNvSpPr txBox="1"/>
          <p:nvPr/>
        </p:nvSpPr>
        <p:spPr>
          <a:xfrm>
            <a:off x="455486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INCLUSIES PER CENTRUM</a:t>
            </a:r>
          </a:p>
        </p:txBody>
      </p:sp>
      <p:sp>
        <p:nvSpPr>
          <p:cNvPr id="13" name="Rounded Rectangle 12"/>
          <p:cNvSpPr/>
          <p:nvPr/>
        </p:nvSpPr>
        <p:spPr>
          <a:xfrm>
            <a:off x="801756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345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18</a:t>
            </a:r>
          </a:p>
        </p:txBody>
      </p:sp>
      <p:sp>
        <p:nvSpPr>
          <p:cNvPr id="15" name="TextBox 14"/>
          <p:cNvSpPr txBox="1"/>
          <p:nvPr/>
        </p:nvSpPr>
        <p:spPr>
          <a:xfrm>
            <a:off x="8246157"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MAANDEN</a:t>
            </a:r>
          </a:p>
        </p:txBody>
      </p:sp>
      <p:sp>
        <p:nvSpPr>
          <p:cNvPr id="16" name="Rectangle 15"/>
          <p:cNvSpPr/>
          <p:nvPr/>
        </p:nvSpPr>
        <p:spPr>
          <a:xfrm>
            <a:off x="634984" y="554976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4984" y="5714857"/>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uleuven.png"/>
          <p:cNvPicPr>
            <a:picLocks noChangeAspect="1"/>
          </p:cNvPicPr>
          <p:nvPr/>
        </p:nvPicPr>
        <p:blipFill>
          <a:blip r:embed="rId2"/>
          <a:stretch>
            <a:fillRect/>
          </a:stretch>
        </p:blipFill>
        <p:spPr>
          <a:xfrm>
            <a:off x="787380" y="5822804"/>
            <a:ext cx="1381100" cy="393690"/>
          </a:xfrm>
          <a:prstGeom prst="rect">
            <a:avLst/>
          </a:prstGeom>
        </p:spPr>
      </p:pic>
      <p:sp>
        <p:nvSpPr>
          <p:cNvPr id="19" name="Rounded Rectangle 18"/>
          <p:cNvSpPr/>
          <p:nvPr/>
        </p:nvSpPr>
        <p:spPr>
          <a:xfrm>
            <a:off x="2574870" y="5714857"/>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vub.png"/>
          <p:cNvPicPr>
            <a:picLocks noChangeAspect="1"/>
          </p:cNvPicPr>
          <p:nvPr/>
        </p:nvPicPr>
        <p:blipFill>
          <a:blip r:embed="rId3"/>
          <a:stretch>
            <a:fillRect/>
          </a:stretch>
        </p:blipFill>
        <p:spPr>
          <a:xfrm>
            <a:off x="2727267" y="5822804"/>
            <a:ext cx="1116092" cy="393690"/>
          </a:xfrm>
          <a:prstGeom prst="rect">
            <a:avLst/>
          </a:prstGeom>
        </p:spPr>
      </p:pic>
      <p:sp>
        <p:nvSpPr>
          <p:cNvPr id="21" name="TextBox 20"/>
          <p:cNvSpPr txBox="1"/>
          <p:nvPr/>
        </p:nvSpPr>
        <p:spPr>
          <a:xfrm>
            <a:off x="4249749" y="5765655"/>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22" name="TextBox 21"/>
          <p:cNvSpPr txBox="1"/>
          <p:nvPr/>
        </p:nvSpPr>
        <p:spPr>
          <a:xfrm>
            <a:off x="4262449" y="6019649"/>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23" name="TextBox 22"/>
          <p:cNvSpPr txBox="1"/>
          <p:nvPr/>
        </p:nvSpPr>
        <p:spPr>
          <a:xfrm>
            <a:off x="634984" y="6489537"/>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Opleiding studiepersoneel · protocolversie 1.0 · 17 mei 2026 · S71769</a:t>
            </a:r>
          </a:p>
        </p:txBody>
      </p:sp>
      <p:pic>
        <p:nvPicPr>
          <p:cNvPr id="24" name="merk" descr="merk.png"/>
          <p:cNvPicPr>
            <a:picLocks noChangeAspect="1"/>
          </p:cNvPicPr>
          <p:nvPr/>
        </p:nvPicPr>
        <p:blipFill>
          <a:blip r:embed="rId4"/>
          <a:stretch>
            <a:fillRect/>
          </a:stretch>
        </p:blipFill>
        <p:spPr>
          <a:xfrm>
            <a:off x="9590513" y="1244568"/>
            <a:ext cx="1646451" cy="1904952"/>
          </a:xfrm>
          <a:prstGeom prst="rect">
            <a:avLst/>
          </a:prstGeom>
        </p:spPr>
      </p:pic>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Registreren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invoeren in REDCap,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38</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REDCap</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38</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mnd  +  draagtijd op 12 mnd</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38</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Waarom zo</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38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38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38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38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De meting</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38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38</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38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op maand 3</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38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Het traject</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Negen contactmomenten</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146499"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Screening</a:t>
            </a:r>
          </a:p>
        </p:txBody>
      </p:sp>
      <p:sp>
        <p:nvSpPr>
          <p:cNvPr id="9" name="!!taak0"/>
          <p:cNvSpPr txBox="1"/>
          <p:nvPr/>
        </p:nvSpPr>
        <p:spPr>
          <a:xfrm>
            <a:off x="69848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379073"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848509"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Baseline</a:t>
            </a:r>
          </a:p>
        </p:txBody>
      </p:sp>
      <p:sp>
        <p:nvSpPr>
          <p:cNvPr id="12" name="!!taak1"/>
          <p:cNvSpPr txBox="1"/>
          <p:nvPr/>
        </p:nvSpPr>
        <p:spPr>
          <a:xfrm>
            <a:off x="1912007"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13" name="!!stip2"/>
          <p:cNvSpPr/>
          <p:nvPr/>
        </p:nvSpPr>
        <p:spPr>
          <a:xfrm>
            <a:off x="3592599"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306203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a:t>
            </a:r>
          </a:p>
        </p:txBody>
      </p:sp>
      <p:sp>
        <p:nvSpPr>
          <p:cNvPr id="15" name="!!taak2"/>
          <p:cNvSpPr txBox="1"/>
          <p:nvPr/>
        </p:nvSpPr>
        <p:spPr>
          <a:xfrm>
            <a:off x="312553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voorschrift</a:t>
            </a:r>
          </a:p>
        </p:txBody>
      </p:sp>
      <p:sp>
        <p:nvSpPr>
          <p:cNvPr id="16" name="!!stip3"/>
          <p:cNvSpPr/>
          <p:nvPr/>
        </p:nvSpPr>
        <p:spPr>
          <a:xfrm>
            <a:off x="4806124"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4275559"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3</a:t>
            </a:r>
          </a:p>
        </p:txBody>
      </p:sp>
      <p:sp>
        <p:nvSpPr>
          <p:cNvPr id="18" name="!!taak3"/>
          <p:cNvSpPr txBox="1"/>
          <p:nvPr/>
        </p:nvSpPr>
        <p:spPr>
          <a:xfrm>
            <a:off x="433905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601964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48908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6</a:t>
            </a:r>
          </a:p>
        </p:txBody>
      </p:sp>
      <p:sp>
        <p:nvSpPr>
          <p:cNvPr id="21" name="!!taak4"/>
          <p:cNvSpPr txBox="1"/>
          <p:nvPr/>
        </p:nvSpPr>
        <p:spPr>
          <a:xfrm>
            <a:off x="555258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2" name="!!stip5"/>
          <p:cNvSpPr/>
          <p:nvPr/>
        </p:nvSpPr>
        <p:spPr>
          <a:xfrm>
            <a:off x="7233174"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70261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9</a:t>
            </a:r>
          </a:p>
        </p:txBody>
      </p:sp>
      <p:sp>
        <p:nvSpPr>
          <p:cNvPr id="24" name="!!taak5"/>
          <p:cNvSpPr txBox="1"/>
          <p:nvPr/>
        </p:nvSpPr>
        <p:spPr>
          <a:xfrm>
            <a:off x="676610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25" name="!!stip6"/>
          <p:cNvSpPr/>
          <p:nvPr/>
        </p:nvSpPr>
        <p:spPr>
          <a:xfrm>
            <a:off x="844669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91613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12</a:t>
            </a:r>
          </a:p>
        </p:txBody>
      </p:sp>
      <p:sp>
        <p:nvSpPr>
          <p:cNvPr id="27" name="!!taak6"/>
          <p:cNvSpPr txBox="1"/>
          <p:nvPr/>
        </p:nvSpPr>
        <p:spPr>
          <a:xfrm>
            <a:off x="797963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8" name="!!stip7"/>
          <p:cNvSpPr/>
          <p:nvPr/>
        </p:nvSpPr>
        <p:spPr>
          <a:xfrm>
            <a:off x="9660225"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912966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15</a:t>
            </a:r>
          </a:p>
        </p:txBody>
      </p:sp>
      <p:sp>
        <p:nvSpPr>
          <p:cNvPr id="30" name="!!taak7"/>
          <p:cNvSpPr txBox="1"/>
          <p:nvPr/>
        </p:nvSpPr>
        <p:spPr>
          <a:xfrm>
            <a:off x="9193159"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31" name="!!stip8"/>
          <p:cNvSpPr/>
          <p:nvPr/>
        </p:nvSpPr>
        <p:spPr>
          <a:xfrm>
            <a:off x="10854700"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1034318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18</a:t>
            </a:r>
          </a:p>
        </p:txBody>
      </p:sp>
      <p:sp>
        <p:nvSpPr>
          <p:cNvPr id="33" name="!!taak8"/>
          <p:cNvSpPr txBox="1"/>
          <p:nvPr/>
        </p:nvSpPr>
        <p:spPr>
          <a:xfrm>
            <a:off x="10406684"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afronding</a:t>
            </a:r>
          </a:p>
        </p:txBody>
      </p:sp>
      <p:sp>
        <p:nvSpPr>
          <p:cNvPr id="34" name="Oval 33"/>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6" name="Oval 35"/>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38" name="Oval 37"/>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0"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1" name="TextBox 40"/>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2" name="TextBox 41"/>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ritme is elke drie maanden: hetzelfde ritme als de controle die deze patiënten volgens de richtlijn al krijgen.</a:t>
            </a: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38</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vóór de toestemming</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 in het gewone consult</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Beoordeel de in- en exclusiecriteria op het screeningsformulier.</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67391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661218"/>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Noteer de patiënt op de identificatielijst en ken een deelnemerscode toe.</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28477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27207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patiënt geschikt, geef dan de informatie- en toestemmingsformulieren mee.</a:t>
            </a:r>
          </a:p>
        </p:txBody>
      </p:sp>
      <p:sp>
        <p:nvSpPr>
          <p:cNvPr id="17" name="Oval 16"/>
          <p:cNvSpPr/>
          <p:nvPr/>
        </p:nvSpPr>
        <p:spPr>
          <a:xfrm>
            <a:off x="634984" y="389562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89562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88292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Niet geschikt? Noteer de reden. Ook dat is studiedata.</a:t>
            </a:r>
          </a:p>
        </p:txBody>
      </p:sp>
      <p:sp>
        <p:nvSpPr>
          <p:cNvPr id="20" name="TextBox 19"/>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21" name="Rounded Rectangle 20"/>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00</a:t>
            </a:r>
          </a:p>
        </p:txBody>
      </p:sp>
      <p:sp>
        <p:nvSpPr>
          <p:cNvPr id="23" name="TextBox 22"/>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Identificatielijst</a:t>
            </a:r>
          </a:p>
        </p:txBody>
      </p:sp>
      <p:sp>
        <p:nvSpPr>
          <p:cNvPr id="24" name="Rounded Rectangle 23"/>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01</a:t>
            </a:r>
          </a:p>
        </p:txBody>
      </p:sp>
      <p:sp>
        <p:nvSpPr>
          <p:cNvPr id="26" name="TextBox 25"/>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Screening</a:t>
            </a:r>
          </a:p>
        </p:txBody>
      </p:sp>
      <p:sp>
        <p:nvSpPr>
          <p:cNvPr id="27" name="Rounded Rectangle 26"/>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02</a:t>
            </a:r>
          </a:p>
        </p:txBody>
      </p:sp>
      <p:sp>
        <p:nvSpPr>
          <p:cNvPr id="29" name="TextBox 28"/>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Toestemming</a:t>
            </a:r>
          </a:p>
        </p:txBody>
      </p:sp>
      <p:sp>
        <p:nvSpPr>
          <p:cNvPr id="30" name="Rounded Rectangle 29"/>
          <p:cNvSpPr/>
          <p:nvPr/>
        </p:nvSpPr>
        <p:spPr>
          <a:xfrm>
            <a:off x="7492812" y="3149521"/>
            <a:ext cx="4063898" cy="1928764"/>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46806" y="3301917"/>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2" name="TextBox 31"/>
          <p:cNvSpPr txBox="1"/>
          <p:nvPr/>
        </p:nvSpPr>
        <p:spPr>
          <a:xfrm>
            <a:off x="7746806" y="3568610"/>
            <a:ext cx="3555911" cy="1369978"/>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Screening gebeurt vóór de toestemming en blijft daarom beperkt tot wat nodig is om geschiktheid te beoordelen. Vul geen andere formulieren in voordat de patiënt getekend heeft.</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bevestigt geschiktheid · podoloog of studiemedewerker vult in</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38</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38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2</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Baseline</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langste bezoek van de studie</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Bevestig de geschiktheid en leg demografie en voorgeschiedenis vast.</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67391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661218"/>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Screen voet en schoeisel, en klasseer een eventueel ulcus.</a:t>
            </a:r>
          </a:p>
        </p:txBody>
      </p:sp>
      <p:sp>
        <p:nvSpPr>
          <p:cNvPr id="14" name="Oval 13"/>
          <p:cNvSpPr/>
          <p:nvPr/>
        </p:nvSpPr>
        <p:spPr>
          <a:xfrm>
            <a:off x="634984" y="3061893"/>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061893"/>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04919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Voer de drukmeting blootsvoets uit: drie metingen per voet.</a:t>
            </a:r>
          </a:p>
        </p:txBody>
      </p:sp>
      <p:sp>
        <p:nvSpPr>
          <p:cNvPr id="17" name="Oval 16"/>
          <p:cNvSpPr/>
          <p:nvPr/>
        </p:nvSpPr>
        <p:spPr>
          <a:xfrm>
            <a:off x="634984" y="344986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44986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437169"/>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Bepaal en noteer de drie doelregio's.</a:t>
            </a:r>
          </a:p>
        </p:txBody>
      </p:sp>
      <p:sp>
        <p:nvSpPr>
          <p:cNvPr id="20" name="Oval 19"/>
          <p:cNvSpPr/>
          <p:nvPr/>
        </p:nvSpPr>
        <p:spPr>
          <a:xfrm>
            <a:off x="634984" y="38378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38378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3825144"/>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vragenlijsten af vóór het educatiegesprek: NAFF en HLS-EU-6, daarna EQ-5D-5L.</a:t>
            </a:r>
          </a:p>
        </p:txBody>
      </p:sp>
      <p:sp>
        <p:nvSpPr>
          <p:cNvPr id="23" name="Oval 22"/>
          <p:cNvSpPr/>
          <p:nvPr/>
        </p:nvSpPr>
        <p:spPr>
          <a:xfrm>
            <a:off x="634984" y="444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44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5" name="TextBox 24"/>
          <p:cNvSpPr txBox="1"/>
          <p:nvPr/>
        </p:nvSpPr>
        <p:spPr>
          <a:xfrm>
            <a:off x="939776" y="4435999"/>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de MoveMonitor mee voor zeven dagen en registreer het toestelnummer.</a:t>
            </a:r>
          </a:p>
        </p:txBody>
      </p:sp>
      <p:sp>
        <p:nvSpPr>
          <p:cNvPr id="26" name="Oval 25"/>
          <p:cNvSpPr/>
          <p:nvPr/>
        </p:nvSpPr>
        <p:spPr>
          <a:xfrm>
            <a:off x="634984" y="5059553"/>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5059553"/>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8" name="TextBox 27"/>
          <p:cNvSpPr txBox="1"/>
          <p:nvPr/>
        </p:nvSpPr>
        <p:spPr>
          <a:xfrm>
            <a:off x="939776" y="504685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Voer het eerste SEBIA-gesprek en geef het educatieboekje mee.</a:t>
            </a:r>
          </a:p>
        </p:txBody>
      </p:sp>
      <p:sp>
        <p:nvSpPr>
          <p:cNvPr id="29" name="TextBox 28"/>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30" name="Rounded Rectangle 29"/>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06</a:t>
            </a:r>
          </a:p>
        </p:txBody>
      </p:sp>
      <p:sp>
        <p:nvSpPr>
          <p:cNvPr id="32" name="TextBox 31"/>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Geschiktheid</a:t>
            </a:r>
          </a:p>
        </p:txBody>
      </p:sp>
      <p:sp>
        <p:nvSpPr>
          <p:cNvPr id="33" name="Rounded Rectangle 32"/>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07</a:t>
            </a:r>
          </a:p>
        </p:txBody>
      </p:sp>
      <p:sp>
        <p:nvSpPr>
          <p:cNvPr id="35" name="TextBox 34"/>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Demografie</a:t>
            </a:r>
          </a:p>
        </p:txBody>
      </p:sp>
      <p:sp>
        <p:nvSpPr>
          <p:cNvPr id="36" name="Rounded Rectangle 35"/>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08</a:t>
            </a:r>
          </a:p>
        </p:txBody>
      </p:sp>
      <p:sp>
        <p:nvSpPr>
          <p:cNvPr id="38" name="TextBox 37"/>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Voet en schoeisel</a:t>
            </a:r>
          </a:p>
        </p:txBody>
      </p:sp>
      <p:sp>
        <p:nvSpPr>
          <p:cNvPr id="39" name="Rounded Rectangle 38"/>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09</a:t>
            </a:r>
          </a:p>
        </p:txBody>
      </p:sp>
      <p:sp>
        <p:nvSpPr>
          <p:cNvPr id="41" name="TextBox 40"/>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Drukmeting</a:t>
            </a:r>
          </a:p>
        </p:txBody>
      </p:sp>
      <p:sp>
        <p:nvSpPr>
          <p:cNvPr id="42" name="Rounded Rectangle 41"/>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14</a:t>
            </a:r>
          </a:p>
        </p:txBody>
      </p:sp>
      <p:sp>
        <p:nvSpPr>
          <p:cNvPr id="44" name="TextBox 43"/>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NAFF</a:t>
            </a:r>
          </a:p>
        </p:txBody>
      </p:sp>
      <p:sp>
        <p:nvSpPr>
          <p:cNvPr id="45" name="Rounded Rectangle 44"/>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15</a:t>
            </a:r>
          </a:p>
        </p:txBody>
      </p:sp>
      <p:sp>
        <p:nvSpPr>
          <p:cNvPr id="47" name="TextBox 46"/>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HLS-EU-6</a:t>
            </a:r>
          </a:p>
        </p:txBody>
      </p:sp>
      <p:sp>
        <p:nvSpPr>
          <p:cNvPr id="48" name="Rounded Rectangle 47"/>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16</a:t>
            </a:r>
          </a:p>
        </p:txBody>
      </p:sp>
      <p:sp>
        <p:nvSpPr>
          <p:cNvPr id="50" name="TextBox 49"/>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Educatieboekje</a:t>
            </a:r>
          </a:p>
        </p:txBody>
      </p:sp>
      <p:sp>
        <p:nvSpPr>
          <p:cNvPr id="51" name="Rounded Rectangle 50"/>
          <p:cNvSpPr/>
          <p:nvPr/>
        </p:nvSpPr>
        <p:spPr>
          <a:xfrm>
            <a:off x="9588260"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77158"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19</a:t>
            </a:r>
          </a:p>
        </p:txBody>
      </p:sp>
      <p:sp>
        <p:nvSpPr>
          <p:cNvPr id="53" name="TextBox 52"/>
          <p:cNvSpPr txBox="1"/>
          <p:nvPr/>
        </p:nvSpPr>
        <p:spPr>
          <a:xfrm>
            <a:off x="10045448"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MoveMonitor</a:t>
            </a:r>
          </a:p>
        </p:txBody>
      </p:sp>
      <p:sp>
        <p:nvSpPr>
          <p:cNvPr id="54" name="Rounded Rectangle 53"/>
          <p:cNvSpPr/>
          <p:nvPr/>
        </p:nvSpPr>
        <p:spPr>
          <a:xfrm>
            <a:off x="7492812" y="3657508"/>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581710" y="3727356"/>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20</a:t>
            </a:r>
          </a:p>
        </p:txBody>
      </p:sp>
      <p:sp>
        <p:nvSpPr>
          <p:cNvPr id="56" name="TextBox 55"/>
          <p:cNvSpPr txBox="1"/>
          <p:nvPr/>
        </p:nvSpPr>
        <p:spPr>
          <a:xfrm>
            <a:off x="7950001" y="3740056"/>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UDI MoveMonitor</a:t>
            </a:r>
          </a:p>
        </p:txBody>
      </p:sp>
      <p:sp>
        <p:nvSpPr>
          <p:cNvPr id="57" name="Rounded Rectangle 56"/>
          <p:cNvSpPr/>
          <p:nvPr/>
        </p:nvSpPr>
        <p:spPr>
          <a:xfrm>
            <a:off x="9588260" y="3657508"/>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677158" y="3727356"/>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21</a:t>
            </a:r>
          </a:p>
        </p:txBody>
      </p:sp>
      <p:sp>
        <p:nvSpPr>
          <p:cNvPr id="59" name="TextBox 58"/>
          <p:cNvSpPr txBox="1"/>
          <p:nvPr/>
        </p:nvSpPr>
        <p:spPr>
          <a:xfrm>
            <a:off x="10045448" y="3740056"/>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EQ-5D-5L</a:t>
            </a:r>
          </a:p>
        </p:txBody>
      </p:sp>
      <p:sp>
        <p:nvSpPr>
          <p:cNvPr id="60" name="Rounded Rectangle 59"/>
          <p:cNvSpPr/>
          <p:nvPr/>
        </p:nvSpPr>
        <p:spPr>
          <a:xfrm>
            <a:off x="7492812" y="4000399"/>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581710" y="4070248"/>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26</a:t>
            </a:r>
          </a:p>
        </p:txBody>
      </p:sp>
      <p:sp>
        <p:nvSpPr>
          <p:cNvPr id="62" name="TextBox 61"/>
          <p:cNvSpPr txBox="1"/>
          <p:nvPr/>
        </p:nvSpPr>
        <p:spPr>
          <a:xfrm>
            <a:off x="7950001" y="4082947"/>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Overtuigingen</a:t>
            </a:r>
          </a:p>
        </p:txBody>
      </p:sp>
      <p:sp>
        <p:nvSpPr>
          <p:cNvPr id="63" name="Rounded Rectangle 62"/>
          <p:cNvSpPr/>
          <p:nvPr/>
        </p:nvSpPr>
        <p:spPr>
          <a:xfrm>
            <a:off x="7492812" y="4521086"/>
            <a:ext cx="4063898" cy="168016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746806" y="4673483"/>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65" name="TextBox 64"/>
          <p:cNvSpPr txBox="1"/>
          <p:nvPr/>
        </p:nvSpPr>
        <p:spPr>
          <a:xfrm>
            <a:off x="7746806" y="4940176"/>
            <a:ext cx="3555911" cy="1121381"/>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NAFF en HLS-EU-6 gaan vóór de educatie. Neemt u ze erna af, dan meet u uw eigen uitleg in plaats van de voorkennis van de patiënt.</a:t>
            </a:r>
          </a:p>
        </p:txBody>
      </p:sp>
      <p:sp>
        <p:nvSpPr>
          <p:cNvPr id="66" name="TextBox 65"/>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en begeleidt · arts bevestigt · studiemedewerker registreert</a:t>
            </a:r>
          </a:p>
        </p:txBody>
      </p:sp>
      <p:sp>
        <p:nvSpPr>
          <p:cNvPr id="67" name="TextBox 6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38</a:t>
            </a:r>
          </a:p>
        </p:txBody>
      </p:sp>
      <p:pic>
        <p:nvPicPr>
          <p:cNvPr id="6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3 · MAAND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voorschrift</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bezoek, geen meting</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Schrijf de aangepaste voetorthese voor op basis van het baselinebeeld en de drie doelregio's.</a:t>
            </a:r>
          </a:p>
        </p:txBody>
      </p:sp>
      <p:sp>
        <p:nvSpPr>
          <p:cNvPr id="11" name="Oval 10"/>
          <p:cNvSpPr/>
          <p:nvPr/>
        </p:nvSpPr>
        <p:spPr>
          <a:xfrm>
            <a:off x="634984" y="289679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89679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884097"/>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Noteer de doelregio's expliciet op het voorschrift, zodat de pedorthist weet waar de ontlasting moet komen.</a:t>
            </a:r>
          </a:p>
        </p:txBody>
      </p:sp>
      <p:sp>
        <p:nvSpPr>
          <p:cNvPr id="14" name="Oval 13"/>
          <p:cNvSpPr/>
          <p:nvPr/>
        </p:nvSpPr>
        <p:spPr>
          <a:xfrm>
            <a:off x="634984" y="35076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5076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494952"/>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Spreek de afleverafspraak op maand 3 af.</a:t>
            </a:r>
          </a:p>
        </p:txBody>
      </p:sp>
      <p:sp>
        <p:nvSpPr>
          <p:cNvPr id="17" name="TextBox 16"/>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18" name="Rounded Rectangle 17"/>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10</a:t>
            </a:r>
          </a:p>
        </p:txBody>
      </p:sp>
      <p:sp>
        <p:nvSpPr>
          <p:cNvPr id="20" name="TextBox 19"/>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Voorschrift CMFO</a:t>
            </a:r>
          </a:p>
        </p:txBody>
      </p:sp>
      <p:sp>
        <p:nvSpPr>
          <p:cNvPr id="21" name="Rounded Rectangle 20"/>
          <p:cNvSpPr/>
          <p:nvPr/>
        </p:nvSpPr>
        <p:spPr>
          <a:xfrm>
            <a:off x="7492812" y="2806629"/>
            <a:ext cx="4063898" cy="168016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46806" y="2959026"/>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3" name="TextBox 22"/>
          <p:cNvSpPr txBox="1"/>
          <p:nvPr/>
        </p:nvSpPr>
        <p:spPr>
          <a:xfrm>
            <a:off x="7746806" y="3225719"/>
            <a:ext cx="3555911" cy="1121381"/>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Zonder de drie doelregio's op het voorschrift maakt de pedorthist een zool op gevoel. Dan is de meting op maand 3 niet toetsbaar.</a:t>
            </a:r>
          </a:p>
        </p:txBody>
      </p:sp>
      <p:sp>
        <p:nvSpPr>
          <p:cNvPr id="24" name="TextBox 23"/>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of podoloog schrijft voor · pedorthist ontvangt</a:t>
            </a:r>
          </a:p>
        </p:txBody>
      </p:sp>
      <p:sp>
        <p:nvSpPr>
          <p:cNvPr id="25" name="TextBox 2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38</a:t>
            </a:r>
          </a:p>
        </p:txBody>
      </p:sp>
      <p:pic>
        <p:nvPicPr>
          <p:cNvPr id="2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4 · MAAND 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Aflevering, optimalisatie en sensor</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technisch zwaarste bezoek</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Lever de zool af en controleer pasvorm en aandrukpunten.</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67391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661218"/>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Meet de drie condities: blootsvoets, in de schoen zonder zool, in de schoen met zool.</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28477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27207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Toets de norm per doelregio. Niet gehaald? Pas aan en meet opnieuw — twee extra tests zijn voorzien.</a:t>
            </a:r>
          </a:p>
        </p:txBody>
      </p:sp>
      <p:sp>
        <p:nvSpPr>
          <p:cNvPr id="17" name="Oval 16"/>
          <p:cNvSpPr/>
          <p:nvPr/>
        </p:nvSpPr>
        <p:spPr>
          <a:xfrm>
            <a:off x="634984" y="389562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89562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88292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Noteer welke aanpassingen u hebt uitgevoerd.</a:t>
            </a:r>
          </a:p>
        </p:txBody>
      </p:sp>
      <p:sp>
        <p:nvSpPr>
          <p:cNvPr id="20" name="Oval 19"/>
          <p:cNvSpPr/>
          <p:nvPr/>
        </p:nvSpPr>
        <p:spPr>
          <a:xfrm>
            <a:off x="634984" y="428360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428360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427090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laat dan een tweede, identiek paar zolen maken. Beide paren blijven in gebruik.</a:t>
            </a:r>
          </a:p>
        </p:txBody>
      </p:sp>
      <p:sp>
        <p:nvSpPr>
          <p:cNvPr id="23" name="Oval 22"/>
          <p:cNvSpPr/>
          <p:nvPr/>
        </p:nvSpPr>
        <p:spPr>
          <a:xfrm>
            <a:off x="634984" y="489445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89445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5" name="TextBox 24"/>
          <p:cNvSpPr txBox="1"/>
          <p:nvPr/>
        </p:nvSpPr>
        <p:spPr>
          <a:xfrm>
            <a:off x="939776" y="4881757"/>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Plaats en activeer de Orthotimer in de zool en registreer het toestelnummer.</a:t>
            </a:r>
          </a:p>
        </p:txBody>
      </p:sp>
      <p:sp>
        <p:nvSpPr>
          <p:cNvPr id="26" name="Oval 25"/>
          <p:cNvSpPr/>
          <p:nvPr/>
        </p:nvSpPr>
        <p:spPr>
          <a:xfrm>
            <a:off x="634984" y="550531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550531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8" name="TextBox 27"/>
          <p:cNvSpPr txBox="1"/>
          <p:nvPr/>
        </p:nvSpPr>
        <p:spPr>
          <a:xfrm>
            <a:off x="939776" y="5492612"/>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Voer het SEBIA-gesprek met teach-back en geef de sensorfolder mee.</a:t>
            </a:r>
          </a:p>
        </p:txBody>
      </p:sp>
      <p:sp>
        <p:nvSpPr>
          <p:cNvPr id="29" name="TextBox 28"/>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30" name="Rounded Rectangle 29"/>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23</a:t>
            </a:r>
          </a:p>
        </p:txBody>
      </p:sp>
      <p:sp>
        <p:nvSpPr>
          <p:cNvPr id="32" name="TextBox 31"/>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Aanpassing</a:t>
            </a:r>
          </a:p>
        </p:txBody>
      </p:sp>
      <p:sp>
        <p:nvSpPr>
          <p:cNvPr id="33" name="Rounded Rectangle 32"/>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a:t>
            </a:r>
          </a:p>
        </p:txBody>
      </p:sp>
      <p:sp>
        <p:nvSpPr>
          <p:cNvPr id="35" name="TextBox 34"/>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Drukherverdeling</a:t>
            </a:r>
          </a:p>
        </p:txBody>
      </p:sp>
      <p:sp>
        <p:nvSpPr>
          <p:cNvPr id="36" name="Rounded Rectangle 35"/>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24b</a:t>
            </a:r>
          </a:p>
        </p:txBody>
      </p:sp>
      <p:sp>
        <p:nvSpPr>
          <p:cNvPr id="38" name="TextBox 37"/>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Opvolgtool</a:t>
            </a:r>
          </a:p>
        </p:txBody>
      </p:sp>
      <p:sp>
        <p:nvSpPr>
          <p:cNvPr id="39" name="Rounded Rectangle 38"/>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25</a:t>
            </a:r>
          </a:p>
        </p:txBody>
      </p:sp>
      <p:sp>
        <p:nvSpPr>
          <p:cNvPr id="41" name="TextBox 40"/>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UDI Orthotimer</a:t>
            </a:r>
          </a:p>
        </p:txBody>
      </p:sp>
      <p:sp>
        <p:nvSpPr>
          <p:cNvPr id="42" name="Rounded Rectangle 41"/>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25b</a:t>
            </a:r>
          </a:p>
        </p:txBody>
      </p:sp>
      <p:sp>
        <p:nvSpPr>
          <p:cNvPr id="44" name="TextBox 43"/>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SOP Orthotimer</a:t>
            </a:r>
          </a:p>
        </p:txBody>
      </p:sp>
      <p:sp>
        <p:nvSpPr>
          <p:cNvPr id="45" name="Rounded Rectangle 44"/>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29</a:t>
            </a:r>
          </a:p>
        </p:txBody>
      </p:sp>
      <p:sp>
        <p:nvSpPr>
          <p:cNvPr id="47" name="TextBox 46"/>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Teach-back</a:t>
            </a:r>
          </a:p>
        </p:txBody>
      </p:sp>
      <p:sp>
        <p:nvSpPr>
          <p:cNvPr id="48" name="Rounded Rectangle 47"/>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30</a:t>
            </a:r>
          </a:p>
        </p:txBody>
      </p:sp>
      <p:sp>
        <p:nvSpPr>
          <p:cNvPr id="50" name="TextBox 49"/>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Sensorfolder</a:t>
            </a:r>
          </a:p>
        </p:txBody>
      </p:sp>
      <p:sp>
        <p:nvSpPr>
          <p:cNvPr id="51" name="Rounded Rectangle 50"/>
          <p:cNvSpPr/>
          <p:nvPr/>
        </p:nvSpPr>
        <p:spPr>
          <a:xfrm>
            <a:off x="7492812" y="3835304"/>
            <a:ext cx="4063898" cy="143157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46806" y="3987700"/>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7746806" y="4254393"/>
            <a:ext cx="3555911" cy="872785"/>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De Orthotimer gaat pas in de zool nadat de norm gehaald is. Anders meet u draagtijd van een zool die nog aangepast wordt.</a:t>
            </a:r>
          </a:p>
        </p:txBody>
      </p:sp>
      <p:sp>
        <p:nvSpPr>
          <p:cNvPr id="54" name="TextBox 53"/>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Pedorthist past aan · podoloog meet en plaatst de sensor</a:t>
            </a:r>
          </a:p>
        </p:txBody>
      </p:sp>
      <p:sp>
        <p:nvSpPr>
          <p:cNvPr id="55" name="TextBox 5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38</a:t>
            </a:r>
          </a:p>
        </p:txBody>
      </p:sp>
      <p:pic>
        <p:nvPicPr>
          <p:cNvPr id="5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MOMENTEN 5 TOT 9 · MAAND 6 TOT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Opvolging, elke drie maanden</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In het gewone consult</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Elk bezoek: lees de Orthotimer uit, vervang de batterij en registreer de uitlezing.</a:t>
            </a:r>
          </a:p>
        </p:txBody>
      </p:sp>
      <p:sp>
        <p:nvSpPr>
          <p:cNvPr id="11" name="Oval 10"/>
          <p:cNvSpPr/>
          <p:nvPr/>
        </p:nvSpPr>
        <p:spPr>
          <a:xfrm>
            <a:off x="634984" y="289679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89679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88409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Bevraag de therapietrouw en bespreek de uitdraai niet-veroordelend.</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28477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27207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Op maand 6 en 12: herhaal de drukmeting in de drie condities.</a:t>
            </a:r>
          </a:p>
        </p:txBody>
      </p:sp>
      <p:sp>
        <p:nvSpPr>
          <p:cNvPr id="17" name="Oval 16"/>
          <p:cNvSpPr/>
          <p:nvPr/>
        </p:nvSpPr>
        <p:spPr>
          <a:xfrm>
            <a:off x="634984" y="367274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67274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660048"/>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Op maand 6: tweede week MoveMonitor.</a:t>
            </a:r>
          </a:p>
        </p:txBody>
      </p:sp>
      <p:sp>
        <p:nvSpPr>
          <p:cNvPr id="20" name="Oval 19"/>
          <p:cNvSpPr/>
          <p:nvPr/>
        </p:nvSpPr>
        <p:spPr>
          <a:xfrm>
            <a:off x="634984" y="4060723"/>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4060723"/>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404802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Beoordeel beide paren zolen. Het paar dat onderhoud nodig heeft gaat naar de pedorthist, inclusief toplaag.</a:t>
            </a:r>
          </a:p>
        </p:txBody>
      </p:sp>
      <p:sp>
        <p:nvSpPr>
          <p:cNvPr id="23" name="Oval 22"/>
          <p:cNvSpPr/>
          <p:nvPr/>
        </p:nvSpPr>
        <p:spPr>
          <a:xfrm>
            <a:off x="634984" y="467157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67157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5" name="TextBox 24"/>
          <p:cNvSpPr txBox="1"/>
          <p:nvPr/>
        </p:nvSpPr>
        <p:spPr>
          <a:xfrm>
            <a:off x="939776" y="4658878"/>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Vervang zool of sensor als dat nodig is, en leg dat vast.</a:t>
            </a:r>
          </a:p>
        </p:txBody>
      </p:sp>
      <p:sp>
        <p:nvSpPr>
          <p:cNvPr id="26" name="Oval 25"/>
          <p:cNvSpPr/>
          <p:nvPr/>
        </p:nvSpPr>
        <p:spPr>
          <a:xfrm>
            <a:off x="634984" y="5059553"/>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5059553"/>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8" name="TextBox 27"/>
          <p:cNvSpPr txBox="1"/>
          <p:nvPr/>
        </p:nvSpPr>
        <p:spPr>
          <a:xfrm>
            <a:off x="939776" y="504685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Vul de kwaliteit-van-leven- en kostenvragenlijsten aan.</a:t>
            </a:r>
          </a:p>
        </p:txBody>
      </p:sp>
      <p:sp>
        <p:nvSpPr>
          <p:cNvPr id="29" name="TextBox 28"/>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30" name="Rounded Rectangle 29"/>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a:t>
            </a:r>
          </a:p>
        </p:txBody>
      </p:sp>
      <p:sp>
        <p:nvSpPr>
          <p:cNvPr id="32" name="TextBox 31"/>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Drukherverdeling</a:t>
            </a:r>
          </a:p>
        </p:txBody>
      </p:sp>
      <p:sp>
        <p:nvSpPr>
          <p:cNvPr id="33" name="Rounded Rectangle 32"/>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28</a:t>
            </a:r>
          </a:p>
        </p:txBody>
      </p:sp>
      <p:sp>
        <p:nvSpPr>
          <p:cNvPr id="35" name="TextBox 34"/>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Activiteit</a:t>
            </a:r>
          </a:p>
        </p:txBody>
      </p:sp>
      <p:sp>
        <p:nvSpPr>
          <p:cNvPr id="36" name="Rounded Rectangle 35"/>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31</a:t>
            </a:r>
          </a:p>
        </p:txBody>
      </p:sp>
      <p:sp>
        <p:nvSpPr>
          <p:cNvPr id="38" name="TextBox 37"/>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Therapietrouw</a:t>
            </a:r>
          </a:p>
        </p:txBody>
      </p:sp>
      <p:sp>
        <p:nvSpPr>
          <p:cNvPr id="39" name="Rounded Rectangle 38"/>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32</a:t>
            </a:r>
          </a:p>
        </p:txBody>
      </p:sp>
      <p:sp>
        <p:nvSpPr>
          <p:cNvPr id="41" name="TextBox 40"/>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Feedback</a:t>
            </a:r>
          </a:p>
        </p:txBody>
      </p:sp>
      <p:sp>
        <p:nvSpPr>
          <p:cNvPr id="42" name="Rounded Rectangle 41"/>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33</a:t>
            </a:r>
          </a:p>
        </p:txBody>
      </p:sp>
      <p:sp>
        <p:nvSpPr>
          <p:cNvPr id="44" name="TextBox 43"/>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Vervanging</a:t>
            </a:r>
          </a:p>
        </p:txBody>
      </p:sp>
      <p:sp>
        <p:nvSpPr>
          <p:cNvPr id="45" name="Rounded Rectangle 44"/>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21</a:t>
            </a:r>
          </a:p>
        </p:txBody>
      </p:sp>
      <p:sp>
        <p:nvSpPr>
          <p:cNvPr id="47" name="TextBox 46"/>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EQ-5D-5L</a:t>
            </a:r>
          </a:p>
        </p:txBody>
      </p:sp>
      <p:sp>
        <p:nvSpPr>
          <p:cNvPr id="48" name="Rounded Rectangle 47"/>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45b</a:t>
            </a:r>
          </a:p>
        </p:txBody>
      </p:sp>
      <p:sp>
        <p:nvSpPr>
          <p:cNvPr id="50" name="TextBox 49"/>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Kostendagboek</a:t>
            </a:r>
          </a:p>
        </p:txBody>
      </p:sp>
      <p:sp>
        <p:nvSpPr>
          <p:cNvPr id="51" name="Rounded Rectangle 50"/>
          <p:cNvSpPr/>
          <p:nvPr/>
        </p:nvSpPr>
        <p:spPr>
          <a:xfrm>
            <a:off x="7492812" y="3835304"/>
            <a:ext cx="4063898" cy="168016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46806" y="3987700"/>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7746806" y="4254393"/>
            <a:ext cx="3555911" cy="1121381"/>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Maand 12 is het primaire analysepunt voor draagtijd. Een gemiste uitlezing op dat moment kost u de primaire uitkomst van die patiënt.</a:t>
            </a:r>
          </a:p>
        </p:txBody>
      </p:sp>
      <p:sp>
        <p:nvSpPr>
          <p:cNvPr id="54" name="TextBox 53"/>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leest uit en begeleidt · arts beoordeelt laesies</a:t>
            </a:r>
          </a:p>
        </p:txBody>
      </p:sp>
      <p:sp>
        <p:nvSpPr>
          <p:cNvPr id="55" name="TextBox 5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38</a:t>
            </a:r>
          </a:p>
        </p:txBody>
      </p:sp>
      <p:pic>
        <p:nvPicPr>
          <p:cNvPr id="5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146499"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Screening</a:t>
            </a:r>
          </a:p>
        </p:txBody>
      </p:sp>
      <p:sp>
        <p:nvSpPr>
          <p:cNvPr id="9" name="!!taak0"/>
          <p:cNvSpPr txBox="1"/>
          <p:nvPr/>
        </p:nvSpPr>
        <p:spPr>
          <a:xfrm>
            <a:off x="69848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379073"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848509"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Baseline</a:t>
            </a:r>
          </a:p>
        </p:txBody>
      </p:sp>
      <p:sp>
        <p:nvSpPr>
          <p:cNvPr id="12" name="!!taak1"/>
          <p:cNvSpPr txBox="1"/>
          <p:nvPr/>
        </p:nvSpPr>
        <p:spPr>
          <a:xfrm>
            <a:off x="1912007"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13" name="!!stip2"/>
          <p:cNvSpPr/>
          <p:nvPr/>
        </p:nvSpPr>
        <p:spPr>
          <a:xfrm>
            <a:off x="3592599"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306203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a:t>
            </a:r>
          </a:p>
        </p:txBody>
      </p:sp>
      <p:sp>
        <p:nvSpPr>
          <p:cNvPr id="15" name="!!taak2"/>
          <p:cNvSpPr txBox="1"/>
          <p:nvPr/>
        </p:nvSpPr>
        <p:spPr>
          <a:xfrm>
            <a:off x="312553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voorschrift</a:t>
            </a:r>
          </a:p>
        </p:txBody>
      </p:sp>
      <p:sp>
        <p:nvSpPr>
          <p:cNvPr id="16" name="!!stip3"/>
          <p:cNvSpPr/>
          <p:nvPr/>
        </p:nvSpPr>
        <p:spPr>
          <a:xfrm>
            <a:off x="4806124"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4275559"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3</a:t>
            </a:r>
          </a:p>
        </p:txBody>
      </p:sp>
      <p:sp>
        <p:nvSpPr>
          <p:cNvPr id="18" name="!!taak3"/>
          <p:cNvSpPr txBox="1"/>
          <p:nvPr/>
        </p:nvSpPr>
        <p:spPr>
          <a:xfrm>
            <a:off x="433905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601964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48908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6</a:t>
            </a:r>
          </a:p>
        </p:txBody>
      </p:sp>
      <p:sp>
        <p:nvSpPr>
          <p:cNvPr id="21" name="!!taak4"/>
          <p:cNvSpPr txBox="1"/>
          <p:nvPr/>
        </p:nvSpPr>
        <p:spPr>
          <a:xfrm>
            <a:off x="555258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2" name="!!stip5"/>
          <p:cNvSpPr/>
          <p:nvPr/>
        </p:nvSpPr>
        <p:spPr>
          <a:xfrm>
            <a:off x="7233174"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70261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9</a:t>
            </a:r>
          </a:p>
        </p:txBody>
      </p:sp>
      <p:sp>
        <p:nvSpPr>
          <p:cNvPr id="24" name="!!taak5"/>
          <p:cNvSpPr txBox="1"/>
          <p:nvPr/>
        </p:nvSpPr>
        <p:spPr>
          <a:xfrm>
            <a:off x="676610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25" name="!!stip6"/>
          <p:cNvSpPr/>
          <p:nvPr/>
        </p:nvSpPr>
        <p:spPr>
          <a:xfrm>
            <a:off x="844669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91613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12</a:t>
            </a:r>
          </a:p>
        </p:txBody>
      </p:sp>
      <p:sp>
        <p:nvSpPr>
          <p:cNvPr id="27" name="!!taak6"/>
          <p:cNvSpPr txBox="1"/>
          <p:nvPr/>
        </p:nvSpPr>
        <p:spPr>
          <a:xfrm>
            <a:off x="797963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8" name="!!stip7"/>
          <p:cNvSpPr/>
          <p:nvPr/>
        </p:nvSpPr>
        <p:spPr>
          <a:xfrm>
            <a:off x="9660225"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912966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15</a:t>
            </a:r>
          </a:p>
        </p:txBody>
      </p:sp>
      <p:sp>
        <p:nvSpPr>
          <p:cNvPr id="30" name="!!taak7"/>
          <p:cNvSpPr txBox="1"/>
          <p:nvPr/>
        </p:nvSpPr>
        <p:spPr>
          <a:xfrm>
            <a:off x="9193159"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31" name="!!stip8"/>
          <p:cNvSpPr/>
          <p:nvPr/>
        </p:nvSpPr>
        <p:spPr>
          <a:xfrm>
            <a:off x="10854700"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1034318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18</a:t>
            </a:r>
          </a:p>
        </p:txBody>
      </p:sp>
      <p:sp>
        <p:nvSpPr>
          <p:cNvPr id="33" name="!!taak8"/>
          <p:cNvSpPr txBox="1"/>
          <p:nvPr/>
        </p:nvSpPr>
        <p:spPr>
          <a:xfrm>
            <a:off x="10406684"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afronding</a:t>
            </a:r>
          </a:p>
        </p:txBody>
      </p:sp>
      <p:sp>
        <p:nvSpPr>
          <p:cNvPr id="34" name="Oval 33"/>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6" name="Oval 35"/>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38" name="Oval 37"/>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0"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9</a:t>
            </a:r>
          </a:p>
        </p:txBody>
      </p:sp>
      <p:sp>
        <p:nvSpPr>
          <p:cNvPr id="41" name="TextBox 40"/>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momenten, één zorgpad</a:t>
            </a:r>
          </a:p>
        </p:txBody>
      </p:sp>
      <p:sp>
        <p:nvSpPr>
          <p:cNvPr id="42" name="TextBox 41"/>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38</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Toestellen en regels</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38</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38</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Basislaag</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shore 55</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Toplaag bij maatwerk</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EVA, shore 35-40</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Toplaag bij confectie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shore 35-40</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Ligt er maar één regio hoog, of zit daar het vorige ulcus, gebruik dan een lokale pad of dome in plaats van een balk over alle kopjes.</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1" name="Oval 30"/>
          <p:cNvSpPr/>
          <p:nvPr/>
        </p:nvSpPr>
        <p:spPr>
          <a:xfrm>
            <a:off x="6349841" y="3940711"/>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940711"/>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928011"/>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Vanaf maand 3 beoordeelt u bij elk kwartaalbezoek beide paren en knapt u het paar op dat aan onderhoud toe is, deklaag inbegrepen.</a:t>
            </a:r>
          </a:p>
        </p:txBody>
      </p:sp>
      <p:sp>
        <p:nvSpPr>
          <p:cNvPr id="37" name="Rounded Rectangle 36"/>
          <p:cNvSpPr/>
          <p:nvPr/>
        </p:nvSpPr>
        <p:spPr>
          <a:xfrm>
            <a:off x="634984" y="5352916"/>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492612"/>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746606"/>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patiënt houdt twee paren in gebruik, niet één: er is er altijd één beschikbaar terwijl het andere onderhouden wordt. Neemt u er één in zonder vervanging, dan daalt de draagtijd door úw ingreep.</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38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38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38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38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38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38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38</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REDCap</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Instructie plus een testomgeving om in te oefenen</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38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Wie leest de sensor uit?</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Uw team, ter plaatse, bij elk bezoek.</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38</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38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38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REDCap,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38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