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de volgorde: screenen, dan pas toestemming, dan pas de rest. Andersom is een protocolafwijking.</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bezoek dat uitloopt. Zeg hoeveel tijd u ervoor moet inplannen en waarom de volgorde vastligt.</a:t>
            </a:r>
          </a:p>
          <a:p/>
          <a:p>
            <a:r>
              <a:t>INTERACTIE</a:t>
            </a:r>
          </a:p>
          <a:p>
            <a:r>
              <a:t>Laat ze in duo's de volgorde van de zeven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kortste bezoek en tegelijk het scharnier tussen meting en zool. Benadruk de overdracht.</a:t>
            </a:r>
          </a:p>
          <a:p/>
          <a:p>
            <a:r>
              <a:t>INTERACTIE</a:t>
            </a:r>
          </a:p>
          <a:p>
            <a:r>
              <a:t>Vraag de pedorthisten wat zij nu op een voorschrift missen.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het meeste tijd in de sessie.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uitlezen enkel ter plaatse kan. Koppel het aan een bezoek dat toch al gepland is.</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25599"/>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2025599"/>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90775"/>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90775"/>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955951"/>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955951"/>
            <a:ext cx="2412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37</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37</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ONTWERP</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Multicentrisch · open-label · superioriteit</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mnd  +  draagtijd op 12 mnd</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86730"/>
            <a:ext cx="279393" cy="190495"/>
          </a:xfrm>
          <a:prstGeom prst="rect">
            <a:avLst/>
          </a:prstGeom>
          <a:noFill/>
        </p:spPr>
        <p:txBody>
          <a:bodyPr wrap="square" anchor="t" lIns="0" rIns="0" tIns="0" bIns="0">
            <a:spAutoFit/>
          </a:bodyPr>
          <a:lstStyle/>
          <a:p>
            <a:pPr algn="ctr">
              <a:lnSpc>
                <a:spcPct val="125000"/>
              </a:lnSpc>
            </a:pPr>
            <a:r>
              <a:rPr sz="16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127196"/>
            <a:ext cx="2539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314563"/>
            <a:ext cx="279393" cy="190495"/>
          </a:xfrm>
          <a:prstGeom prst="rect">
            <a:avLst/>
          </a:prstGeom>
          <a:noFill/>
        </p:spPr>
        <p:txBody>
          <a:bodyPr wrap="square" anchor="t" lIns="0" rIns="0" tIns="0" bIns="0">
            <a:spAutoFit/>
          </a:bodyPr>
          <a:lstStyle/>
          <a:p>
            <a:pPr algn="ctr">
              <a:lnSpc>
                <a:spcPct val="125000"/>
              </a:lnSpc>
            </a:pPr>
            <a:r>
              <a:rPr sz="16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63778"/>
            <a:ext cx="2539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656311"/>
            <a:ext cx="279393" cy="190495"/>
          </a:xfrm>
          <a:prstGeom prst="rect">
            <a:avLst/>
          </a:prstGeom>
          <a:noFill/>
        </p:spPr>
        <p:txBody>
          <a:bodyPr wrap="square" anchor="t" lIns="0" rIns="0" tIns="0" bIns="0">
            <a:spAutoFit/>
          </a:bodyPr>
          <a:lstStyle/>
          <a:p>
            <a:pPr algn="ctr">
              <a:lnSpc>
                <a:spcPct val="125000"/>
              </a:lnSpc>
            </a:pPr>
            <a:r>
              <a:rPr sz="16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600359"/>
            <a:ext cx="2539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66659"/>
            <a:ext cx="279393" cy="190495"/>
          </a:xfrm>
          <a:prstGeom prst="rect">
            <a:avLst/>
          </a:prstGeom>
          <a:noFill/>
        </p:spPr>
        <p:txBody>
          <a:bodyPr wrap="square" anchor="t" lIns="0" rIns="0" tIns="0" bIns="0">
            <a:spAutoFit/>
          </a:bodyPr>
          <a:lstStyle/>
          <a:p>
            <a:pPr algn="ctr">
              <a:lnSpc>
                <a:spcPct val="125000"/>
              </a:lnSpc>
            </a:pPr>
            <a:r>
              <a:rPr sz="16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336941"/>
            <a:ext cx="2539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80575"/>
            <a:ext cx="279393" cy="190495"/>
          </a:xfrm>
          <a:prstGeom prst="rect">
            <a:avLst/>
          </a:prstGeom>
          <a:noFill/>
        </p:spPr>
        <p:txBody>
          <a:bodyPr wrap="square" anchor="t" lIns="0" rIns="0" tIns="0" bIns="0">
            <a:spAutoFit/>
          </a:bodyPr>
          <a:lstStyle/>
          <a:p>
            <a:pPr algn="ctr">
              <a:lnSpc>
                <a:spcPct val="125000"/>
              </a:lnSpc>
            </a:pPr>
            <a:r>
              <a:rPr sz="16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73523"/>
            <a:ext cx="253993" cy="190495"/>
          </a:xfrm>
          <a:prstGeom prst="rect">
            <a:avLst/>
          </a:prstGeom>
          <a:noFill/>
        </p:spPr>
        <p:txBody>
          <a:bodyPr wrap="square" anchor="t" lIns="0" rIns="0" tIns="0" bIns="0">
            <a:spAutoFit/>
          </a:bodyPr>
          <a:lstStyle/>
          <a:p>
            <a:pPr algn="ctr">
              <a:lnSpc>
                <a:spcPct val="125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37</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op maand 3</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comfortsnelheid, ± 5% bij follow-up · ≥ 12 mid-gait stappen per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37</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Negen contactmomenten</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ritme is elke drie maanden: hetzelfde ritme als de controle die deze patiënten volgens de richtlijn al krijgen.</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37</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vóór de toestemming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33039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de in- en exclusiecriteria op het screeningsformulier.</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71836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patiënt op de identificatielijst en ken een deelnemerscode toe.</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32922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patiënt geschikt, geef dan de informatie- en toestemmingsformulieren mee.</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94007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geschikt? Noteer de reden. Ook dat is studiedata.</a:t>
            </a:r>
          </a:p>
        </p:txBody>
      </p:sp>
      <p:sp>
        <p:nvSpPr>
          <p:cNvPr id="20" name="TextBox 19"/>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1" name="Rounded Rectangle 20"/>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00</a:t>
            </a:r>
          </a:p>
        </p:txBody>
      </p:sp>
      <p:sp>
        <p:nvSpPr>
          <p:cNvPr id="23" name="TextBox 22"/>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Identificatielijst</a:t>
            </a:r>
          </a:p>
        </p:txBody>
      </p:sp>
      <p:sp>
        <p:nvSpPr>
          <p:cNvPr id="24" name="Rounded Rectangle 23"/>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01</a:t>
            </a:r>
          </a:p>
        </p:txBody>
      </p:sp>
      <p:sp>
        <p:nvSpPr>
          <p:cNvPr id="26" name="TextBox 25"/>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Screening</a:t>
            </a:r>
          </a:p>
        </p:txBody>
      </p:sp>
      <p:sp>
        <p:nvSpPr>
          <p:cNvPr id="27" name="Rounded Rectangle 26"/>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02</a:t>
            </a:r>
          </a:p>
        </p:txBody>
      </p:sp>
      <p:sp>
        <p:nvSpPr>
          <p:cNvPr id="29" name="TextBox 28"/>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Toestemming</a:t>
            </a:r>
          </a:p>
        </p:txBody>
      </p:sp>
      <p:sp>
        <p:nvSpPr>
          <p:cNvPr id="30" name="Rounded Rectangle 29"/>
          <p:cNvSpPr/>
          <p:nvPr/>
        </p:nvSpPr>
        <p:spPr>
          <a:xfrm>
            <a:off x="7492812" y="3149521"/>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2" name="TextBox 31"/>
          <p:cNvSpPr txBox="1"/>
          <p:nvPr/>
        </p:nvSpPr>
        <p:spPr>
          <a:xfrm>
            <a:off x="7746806" y="3568610"/>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Screening gebeurt vóór de toestemming en blijft daarom beperkt tot wat nodig is om geschiktheid te beoordelen. Vul geen andere formulieren in voordat de patiënt getekend heeft.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podoloog of studiemedewerker vult in</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37</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2</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33039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Bevestig de geschiktheid en leg demografie en voorgeschiedenis vast.</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71836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13" name="TextBox 12"/>
          <p:cNvSpPr txBox="1"/>
          <p:nvPr/>
        </p:nvSpPr>
        <p:spPr>
          <a:xfrm>
            <a:off x="939776" y="266121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Screen voet en schoeisel, en klasseer een eventueel ulcus.</a:t>
            </a:r>
          </a:p>
        </p:txBody>
      </p:sp>
      <p:sp>
        <p:nvSpPr>
          <p:cNvPr id="14" name="Oval 13"/>
          <p:cNvSpPr/>
          <p:nvPr/>
        </p:nvSpPr>
        <p:spPr>
          <a:xfrm>
            <a:off x="634984" y="306189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106342"/>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16" name="TextBox 15"/>
          <p:cNvSpPr txBox="1"/>
          <p:nvPr/>
        </p:nvSpPr>
        <p:spPr>
          <a:xfrm>
            <a:off x="939776" y="304919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de drukmeting blootsvoets uit: drie metingen per voet.</a:t>
            </a:r>
          </a:p>
        </p:txBody>
      </p:sp>
      <p:sp>
        <p:nvSpPr>
          <p:cNvPr id="17" name="Oval 16"/>
          <p:cNvSpPr/>
          <p:nvPr/>
        </p:nvSpPr>
        <p:spPr>
          <a:xfrm>
            <a:off x="634984" y="344986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49431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19" name="TextBox 18"/>
          <p:cNvSpPr txBox="1"/>
          <p:nvPr/>
        </p:nvSpPr>
        <p:spPr>
          <a:xfrm>
            <a:off x="939776" y="343716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Bepaal en noteer de drie doelregio's.</a:t>
            </a:r>
          </a:p>
        </p:txBody>
      </p:sp>
      <p:sp>
        <p:nvSpPr>
          <p:cNvPr id="20" name="Oval 19"/>
          <p:cNvSpPr/>
          <p:nvPr/>
        </p:nvSpPr>
        <p:spPr>
          <a:xfrm>
            <a:off x="634984" y="38378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3882292"/>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5</a:t>
            </a:r>
          </a:p>
        </p:txBody>
      </p:sp>
      <p:sp>
        <p:nvSpPr>
          <p:cNvPr id="22" name="TextBox 21"/>
          <p:cNvSpPr txBox="1"/>
          <p:nvPr/>
        </p:nvSpPr>
        <p:spPr>
          <a:xfrm>
            <a:off x="939776" y="3825144"/>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vragenlijsten af vóór het educatiegesprek: NAFF en HLS-EU-6, daarna EQ-5D-5L.</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9314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6</a:t>
            </a:r>
          </a:p>
        </p:txBody>
      </p:sp>
      <p:sp>
        <p:nvSpPr>
          <p:cNvPr id="25" name="TextBox 24"/>
          <p:cNvSpPr txBox="1"/>
          <p:nvPr/>
        </p:nvSpPr>
        <p:spPr>
          <a:xfrm>
            <a:off x="939776" y="4435999"/>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de MoveMonitor mee voor zeven dagen en registreer het toestelnummer.</a:t>
            </a:r>
          </a:p>
        </p:txBody>
      </p:sp>
      <p:sp>
        <p:nvSpPr>
          <p:cNvPr id="26" name="Oval 25"/>
          <p:cNvSpPr/>
          <p:nvPr/>
        </p:nvSpPr>
        <p:spPr>
          <a:xfrm>
            <a:off x="634984" y="505955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104002"/>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7</a:t>
            </a:r>
          </a:p>
        </p:txBody>
      </p:sp>
      <p:sp>
        <p:nvSpPr>
          <p:cNvPr id="28" name="TextBox 27"/>
          <p:cNvSpPr txBox="1"/>
          <p:nvPr/>
        </p:nvSpPr>
        <p:spPr>
          <a:xfrm>
            <a:off x="939776" y="504685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eerste SEBIA-gesprek en geef het educatieboekje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06</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Geschiktheid</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07</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Demografie</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09</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Drukmeting</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14</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NAFF</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15</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HLS-EU-6</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16</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Educatieboekje</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19</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MoveMonitor</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20</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MoveMonitor</a:t>
            </a:r>
          </a:p>
        </p:txBody>
      </p:sp>
      <p:sp>
        <p:nvSpPr>
          <p:cNvPr id="57" name="Rounded Rectangle 56"/>
          <p:cNvSpPr/>
          <p:nvPr/>
        </p:nvSpPr>
        <p:spPr>
          <a:xfrm>
            <a:off x="9588260"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77158"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59" name="TextBox 58"/>
          <p:cNvSpPr txBox="1"/>
          <p:nvPr/>
        </p:nvSpPr>
        <p:spPr>
          <a:xfrm>
            <a:off x="10045448"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60" name="Rounded Rectangle 59"/>
          <p:cNvSpPr/>
          <p:nvPr/>
        </p:nvSpPr>
        <p:spPr>
          <a:xfrm>
            <a:off x="7492812"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1710"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26</a:t>
            </a:r>
          </a:p>
        </p:txBody>
      </p:sp>
      <p:sp>
        <p:nvSpPr>
          <p:cNvPr id="62" name="TextBox 61"/>
          <p:cNvSpPr txBox="1"/>
          <p:nvPr/>
        </p:nvSpPr>
        <p:spPr>
          <a:xfrm>
            <a:off x="7950001"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Overtuigingen</a:t>
            </a:r>
          </a:p>
        </p:txBody>
      </p:sp>
      <p:sp>
        <p:nvSpPr>
          <p:cNvPr id="63" name="Rounded Rectangle 62"/>
          <p:cNvSpPr/>
          <p:nvPr/>
        </p:nvSpPr>
        <p:spPr>
          <a:xfrm>
            <a:off x="7492812" y="4521086"/>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46806" y="4673483"/>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65" name="TextBox 64"/>
          <p:cNvSpPr txBox="1"/>
          <p:nvPr/>
        </p:nvSpPr>
        <p:spPr>
          <a:xfrm>
            <a:off x="7746806" y="4940176"/>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NAFF en HLS-EU-6 gaan vóór de educatie. Neemt u ze erna af, dan meet u uw eigen uitleg in plaats van de voorkennis van de patiënt.</a:t>
            </a:r>
          </a:p>
        </p:txBody>
      </p:sp>
      <p:sp>
        <p:nvSpPr>
          <p:cNvPr id="66" name="TextBox 65"/>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en begeleidt · arts bevestigt · studiemedewerker registreert</a:t>
            </a:r>
          </a:p>
        </p:txBody>
      </p:sp>
      <p:sp>
        <p:nvSpPr>
          <p:cNvPr id="67" name="TextBox 6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37</a:t>
            </a:r>
          </a:p>
        </p:txBody>
      </p:sp>
      <p:pic>
        <p:nvPicPr>
          <p:cNvPr id="6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3 · MAAND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voorschrift</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bezoek, geen meting</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33039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Schrijf de aangepaste voetorthese voor op basis van het baselinebeeld en de drie doelregio's.</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94124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doelregio's expliciet op het voorschrift, zodat de pedorthist weet waar de ontlasting moet komen.</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5210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16" name="TextBox 15"/>
          <p:cNvSpPr txBox="1"/>
          <p:nvPr/>
        </p:nvSpPr>
        <p:spPr>
          <a:xfrm>
            <a:off x="939776" y="349495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Spreek de afleverafspraak op maand 3 af.</a:t>
            </a:r>
          </a:p>
        </p:txBody>
      </p:sp>
      <p:sp>
        <p:nvSpPr>
          <p:cNvPr id="17" name="TextBox 16"/>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18" name="Rounded Rectangle 17"/>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10</a:t>
            </a:r>
          </a:p>
        </p:txBody>
      </p:sp>
      <p:sp>
        <p:nvSpPr>
          <p:cNvPr id="20" name="TextBox 19"/>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Voorschrift CMFO</a:t>
            </a:r>
          </a:p>
        </p:txBody>
      </p:sp>
      <p:sp>
        <p:nvSpPr>
          <p:cNvPr id="21" name="Rounded Rectangle 20"/>
          <p:cNvSpPr/>
          <p:nvPr/>
        </p:nvSpPr>
        <p:spPr>
          <a:xfrm>
            <a:off x="7492812" y="2806629"/>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46806" y="2959026"/>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3" name="TextBox 22"/>
          <p:cNvSpPr txBox="1"/>
          <p:nvPr/>
        </p:nvSpPr>
        <p:spPr>
          <a:xfrm>
            <a:off x="7746806" y="3225719"/>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Zonder de drie doelregio's op het voorschrift maakt de pedorthist een zool op gevoel. Dan is de meting op maand 3 niet toetsbaar.</a:t>
            </a:r>
          </a:p>
        </p:txBody>
      </p:sp>
      <p:sp>
        <p:nvSpPr>
          <p:cNvPr id="24" name="TextBox 2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of podoloog schrijft voor · pedorthist ontvangt</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37</a:t>
            </a:r>
          </a:p>
        </p:txBody>
      </p:sp>
      <p:pic>
        <p:nvPicPr>
          <p:cNvPr id="2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4 · MAAND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33039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Lever de zool af en controleer pasvorm en aandrukpunten.</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71836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Meet de drie condities: blootsvoets, in de schoen zonder zool, in de schoen met zool.</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32922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Toets de norm per doelregio. Niet gehaald? Pas aan en meet opnieuw — twee extra tests zijn voorzien.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94007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welke aanpassingen u hebt uitgevoerd.</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32805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Plaats en activeer de Orthotimer in de zool en registreer het toestelnummer.</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93890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6</a:t>
            </a:r>
          </a:p>
        </p:txBody>
      </p:sp>
      <p:sp>
        <p:nvSpPr>
          <p:cNvPr id="25" name="TextBox 24"/>
          <p:cNvSpPr txBox="1"/>
          <p:nvPr/>
        </p:nvSpPr>
        <p:spPr>
          <a:xfrm>
            <a:off x="939776" y="488175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SEBIA-gesprek met teach-back en geef de sensorfolder mee.</a:t>
            </a:r>
          </a:p>
        </p:txBody>
      </p:sp>
      <p:sp>
        <p:nvSpPr>
          <p:cNvPr id="26" name="TextBox 25"/>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7" name="Rounded Rectangle 26"/>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23</a:t>
            </a:r>
          </a:p>
        </p:txBody>
      </p:sp>
      <p:sp>
        <p:nvSpPr>
          <p:cNvPr id="29" name="TextBox 28"/>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Aanpassing</a:t>
            </a:r>
          </a:p>
        </p:txBody>
      </p:sp>
      <p:sp>
        <p:nvSpPr>
          <p:cNvPr id="30" name="Rounded Rectangle 29"/>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2" name="TextBox 31"/>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3" name="Rounded Rectangle 32"/>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35" name="TextBox 34"/>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36" name="Rounded Rectangle 35"/>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38" name="TextBox 37"/>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Orthotimer</a:t>
            </a:r>
          </a:p>
        </p:txBody>
      </p:sp>
      <p:sp>
        <p:nvSpPr>
          <p:cNvPr id="39" name="Rounded Rectangle 38"/>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25b</a:t>
            </a:r>
          </a:p>
        </p:txBody>
      </p:sp>
      <p:sp>
        <p:nvSpPr>
          <p:cNvPr id="41" name="TextBox 40"/>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SOP Orthotimer</a:t>
            </a:r>
          </a:p>
        </p:txBody>
      </p:sp>
      <p:sp>
        <p:nvSpPr>
          <p:cNvPr id="42" name="Rounded Rectangle 41"/>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29</a:t>
            </a:r>
          </a:p>
        </p:txBody>
      </p:sp>
      <p:sp>
        <p:nvSpPr>
          <p:cNvPr id="44" name="TextBox 43"/>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Teach-back</a:t>
            </a:r>
          </a:p>
        </p:txBody>
      </p:sp>
      <p:sp>
        <p:nvSpPr>
          <p:cNvPr id="45" name="Rounded Rectangle 44"/>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30</a:t>
            </a:r>
          </a:p>
        </p:txBody>
      </p:sp>
      <p:sp>
        <p:nvSpPr>
          <p:cNvPr id="47" name="TextBox 46"/>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Sensorfolder</a:t>
            </a:r>
          </a:p>
        </p:txBody>
      </p:sp>
      <p:sp>
        <p:nvSpPr>
          <p:cNvPr id="48" name="Rounded Rectangle 47"/>
          <p:cNvSpPr/>
          <p:nvPr/>
        </p:nvSpPr>
        <p:spPr>
          <a:xfrm>
            <a:off x="7492812" y="3835304"/>
            <a:ext cx="4063898" cy="143157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0" name="TextBox 49"/>
          <p:cNvSpPr txBox="1"/>
          <p:nvPr/>
        </p:nvSpPr>
        <p:spPr>
          <a:xfrm>
            <a:off x="7746806" y="4254393"/>
            <a:ext cx="3555911" cy="872785"/>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Orthotimer gaat pas in de zool nadat de norm gehaald is. Anders meet u draagtijd van een zool die nog aangepast wordt.</a:t>
            </a:r>
          </a:p>
        </p:txBody>
      </p:sp>
      <p:sp>
        <p:nvSpPr>
          <p:cNvPr id="51" name="TextBox 5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en plaatst de sensor</a:t>
            </a:r>
          </a:p>
        </p:txBody>
      </p:sp>
      <p:sp>
        <p:nvSpPr>
          <p:cNvPr id="52" name="TextBox 5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37</a:t>
            </a:r>
          </a:p>
        </p:txBody>
      </p:sp>
      <p:pic>
        <p:nvPicPr>
          <p:cNvPr id="5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MOMENTEN 5 TOT 9 · MAAND 6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Opvolging, elke drie maanden</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33039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Elk bezoek: lees de Orthotimer uit, vervang de batterij en registreer de uitlezing.</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94124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therapietrouw en bespreek de uitdraai niet-veroordelend.</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32922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16" name="TextBox 15"/>
          <p:cNvSpPr txBox="1"/>
          <p:nvPr/>
        </p:nvSpPr>
        <p:spPr>
          <a:xfrm>
            <a:off x="939776" y="327207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en 12: herhaal de drukmeting in de drie condities.</a:t>
            </a:r>
          </a:p>
        </p:txBody>
      </p:sp>
      <p:sp>
        <p:nvSpPr>
          <p:cNvPr id="17" name="Oval 16"/>
          <p:cNvSpPr/>
          <p:nvPr/>
        </p:nvSpPr>
        <p:spPr>
          <a:xfrm>
            <a:off x="634984" y="367274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71719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19" name="TextBox 18"/>
          <p:cNvSpPr txBox="1"/>
          <p:nvPr/>
        </p:nvSpPr>
        <p:spPr>
          <a:xfrm>
            <a:off x="939776" y="366004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tweede week MoveMonitor.</a:t>
            </a:r>
          </a:p>
        </p:txBody>
      </p:sp>
      <p:sp>
        <p:nvSpPr>
          <p:cNvPr id="20" name="Oval 19"/>
          <p:cNvSpPr/>
          <p:nvPr/>
        </p:nvSpPr>
        <p:spPr>
          <a:xfrm>
            <a:off x="634984" y="406072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105172"/>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5</a:t>
            </a:r>
          </a:p>
        </p:txBody>
      </p:sp>
      <p:sp>
        <p:nvSpPr>
          <p:cNvPr id="22" name="TextBox 21"/>
          <p:cNvSpPr txBox="1"/>
          <p:nvPr/>
        </p:nvSpPr>
        <p:spPr>
          <a:xfrm>
            <a:off x="939776" y="404802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Vervang zool of sensor als dat nodig is, en leg dat vast.</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9314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6</a:t>
            </a:r>
          </a:p>
        </p:txBody>
      </p:sp>
      <p:sp>
        <p:nvSpPr>
          <p:cNvPr id="25" name="TextBox 24"/>
          <p:cNvSpPr txBox="1"/>
          <p:nvPr/>
        </p:nvSpPr>
        <p:spPr>
          <a:xfrm>
            <a:off x="939776" y="443599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Vul de kwaliteit-van-leven- en kostenvragenlijsten aan.</a:t>
            </a:r>
          </a:p>
        </p:txBody>
      </p:sp>
      <p:sp>
        <p:nvSpPr>
          <p:cNvPr id="26" name="TextBox 25"/>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7" name="Rounded Rectangle 26"/>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29" name="TextBox 28"/>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0" name="Rounded Rectangle 29"/>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28</a:t>
            </a:r>
          </a:p>
        </p:txBody>
      </p:sp>
      <p:sp>
        <p:nvSpPr>
          <p:cNvPr id="32" name="TextBox 31"/>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Activiteit</a:t>
            </a:r>
          </a:p>
        </p:txBody>
      </p:sp>
      <p:sp>
        <p:nvSpPr>
          <p:cNvPr id="33" name="Rounded Rectangle 32"/>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31</a:t>
            </a:r>
          </a:p>
        </p:txBody>
      </p:sp>
      <p:sp>
        <p:nvSpPr>
          <p:cNvPr id="35" name="TextBox 34"/>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Therapietrouw</a:t>
            </a:r>
          </a:p>
        </p:txBody>
      </p:sp>
      <p:sp>
        <p:nvSpPr>
          <p:cNvPr id="36" name="Rounded Rectangle 35"/>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32</a:t>
            </a:r>
          </a:p>
        </p:txBody>
      </p:sp>
      <p:sp>
        <p:nvSpPr>
          <p:cNvPr id="38" name="TextBox 37"/>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Feedback</a:t>
            </a:r>
          </a:p>
        </p:txBody>
      </p:sp>
      <p:sp>
        <p:nvSpPr>
          <p:cNvPr id="39" name="Rounded Rectangle 38"/>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33</a:t>
            </a:r>
          </a:p>
        </p:txBody>
      </p:sp>
      <p:sp>
        <p:nvSpPr>
          <p:cNvPr id="41" name="TextBox 40"/>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Vervanging</a:t>
            </a:r>
          </a:p>
        </p:txBody>
      </p:sp>
      <p:sp>
        <p:nvSpPr>
          <p:cNvPr id="42" name="Rounded Rectangle 41"/>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44" name="TextBox 43"/>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45" name="Rounded Rectangle 44"/>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45b</a:t>
            </a:r>
          </a:p>
        </p:txBody>
      </p:sp>
      <p:sp>
        <p:nvSpPr>
          <p:cNvPr id="47" name="TextBox 46"/>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Kostendagboek</a:t>
            </a:r>
          </a:p>
        </p:txBody>
      </p:sp>
      <p:sp>
        <p:nvSpPr>
          <p:cNvPr id="48" name="Rounded Rectangle 47"/>
          <p:cNvSpPr/>
          <p:nvPr/>
        </p:nvSpPr>
        <p:spPr>
          <a:xfrm>
            <a:off x="7492812" y="3835304"/>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0" name="TextBox 49"/>
          <p:cNvSpPr txBox="1"/>
          <p:nvPr/>
        </p:nvSpPr>
        <p:spPr>
          <a:xfrm>
            <a:off x="7746806" y="4254393"/>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Maand 12 is het primaire analysepunt voor draagtijd. Een gemiste uitlezing op dat moment kost u de primaire uitkomst van die patiënt.</a:t>
            </a:r>
          </a:p>
        </p:txBody>
      </p:sp>
      <p:sp>
        <p:nvSpPr>
          <p:cNvPr id="51" name="TextBox 5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52" name="TextBox 5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37</a:t>
            </a:r>
          </a:p>
        </p:txBody>
      </p:sp>
      <p:pic>
        <p:nvPicPr>
          <p:cNvPr id="5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afronding</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9</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momenten, één zorgpad</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37</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op 6 bar, elke drie maanden</a:t>
            </a:r>
          </a:p>
          <a:p>
            <a:pPr algn="l">
              <a:lnSpc>
                <a:spcPct val="130000"/>
              </a:lnSpc>
              <a:spcBef>
                <a:spcPts val="1000"/>
              </a:spcBef>
            </a:pPr>
            <a:r>
              <a:rPr sz="1450" b="0">
                <a:solidFill>
                  <a:srgbClr val="8FB6D0"/>
                </a:solidFill>
                <a:latin typeface="Segoe UI"/>
              </a:rPr>
              <a:t>Minstens twaalf mid-gait stappen per voet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66893"/>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126026"/>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53940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75655"/>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37</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66893"/>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903147"/>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539401"/>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75655"/>
            <a:ext cx="203194" cy="190495"/>
          </a:xfrm>
          <a:prstGeom prst="rect">
            <a:avLst/>
          </a:prstGeom>
          <a:noFill/>
        </p:spPr>
        <p:txBody>
          <a:bodyPr wrap="square" anchor="t" lIns="0" rIns="0" tIns="0" bIns="0">
            <a:spAutoFit/>
          </a:bodyPr>
          <a:lstStyle/>
          <a:p>
            <a:pPr algn="ctr">
              <a:lnSpc>
                <a:spcPct val="125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37</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37</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37</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37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37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37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