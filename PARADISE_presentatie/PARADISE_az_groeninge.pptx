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1138" autoAdjust="0"/>
  </p:normalViewPr>
  <p:slideViewPr>
    <p:cSldViewPr snapToGrid="0" snapToObjects="1">
      <p:cViewPr varScale="1">
        <p:scale>
          <a:sx n="67" d="100"/>
          <a:sy n="67" d="100"/>
        </p:scale>
        <p:origin x="2238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ou De Buyser" userId="9e855837-ff07-4ba4-86ed-57f131032e08" providerId="ADAL" clId="{E6AEFF39-D5DE-49A5-AE36-7B9FC3E010AE}"/>
    <pc:docChg chg="undo custSel modSld">
      <pc:chgData name="Janou De Buyser" userId="9e855837-ff07-4ba4-86ed-57f131032e08" providerId="ADAL" clId="{E6AEFF39-D5DE-49A5-AE36-7B9FC3E010AE}" dt="2026-09-21T11:05:37.838" v="208" actId="20577"/>
      <pc:docMkLst>
        <pc:docMk/>
      </pc:docMkLst>
      <pc:sldChg chg="modNotesTx">
        <pc:chgData name="Janou De Buyser" userId="9e855837-ff07-4ba4-86ed-57f131032e08" providerId="ADAL" clId="{E6AEFF39-D5DE-49A5-AE36-7B9FC3E010AE}" dt="2026-09-21T11:03:43.099" v="183" actId="20577"/>
        <pc:sldMkLst>
          <pc:docMk/>
          <pc:sldMk cId="0" sldId="256"/>
        </pc:sldMkLst>
      </pc:sldChg>
      <pc:sldChg chg="modNotesTx">
        <pc:chgData name="Janou De Buyser" userId="9e855837-ff07-4ba4-86ed-57f131032e08" providerId="ADAL" clId="{E6AEFF39-D5DE-49A5-AE36-7B9FC3E010AE}" dt="2026-09-21T11:03:46.062" v="184" actId="20577"/>
        <pc:sldMkLst>
          <pc:docMk/>
          <pc:sldMk cId="0" sldId="257"/>
        </pc:sldMkLst>
      </pc:sldChg>
      <pc:sldChg chg="addSp delSp modSp mod modNotesTx">
        <pc:chgData name="Janou De Buyser" userId="9e855837-ff07-4ba4-86ed-57f131032e08" providerId="ADAL" clId="{E6AEFF39-D5DE-49A5-AE36-7B9FC3E010AE}" dt="2026-09-21T11:03:48.509" v="185" actId="20577"/>
        <pc:sldMkLst>
          <pc:docMk/>
          <pc:sldMk cId="0" sldId="258"/>
        </pc:sldMkLst>
        <pc:spChg chg="mod">
          <ac:chgData name="Janou De Buyser" userId="9e855837-ff07-4ba4-86ed-57f131032e08" providerId="ADAL" clId="{E6AEFF39-D5DE-49A5-AE36-7B9FC3E010AE}" dt="2026-09-18T12:53:46.894" v="140" actId="1076"/>
          <ac:spMkLst>
            <pc:docMk/>
            <pc:sldMk cId="0" sldId="258"/>
            <ac:spMk id="4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18T12:53:53.744" v="141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18T12:52:58.954" v="132" actId="1076"/>
          <ac:spMkLst>
            <pc:docMk/>
            <pc:sldMk cId="0" sldId="258"/>
            <ac:spMk id="10" creationId="{00000000-0000-0000-0000-000000000000}"/>
          </ac:spMkLst>
        </pc:spChg>
        <pc:picChg chg="add mod">
          <ac:chgData name="Janou De Buyser" userId="9e855837-ff07-4ba4-86ed-57f131032e08" providerId="ADAL" clId="{E6AEFF39-D5DE-49A5-AE36-7B9FC3E010AE}" dt="2026-09-18T12:53:16.428" v="136" actId="1076"/>
          <ac:picMkLst>
            <pc:docMk/>
            <pc:sldMk cId="0" sldId="258"/>
            <ac:picMk id="16" creationId="{6D0BA98C-5D93-CBF3-BAA0-5372CDA544CC}"/>
          </ac:picMkLst>
        </pc:picChg>
      </pc:sldChg>
      <pc:sldChg chg="modSp mod modNotesTx">
        <pc:chgData name="Janou De Buyser" userId="9e855837-ff07-4ba4-86ed-57f131032e08" providerId="ADAL" clId="{E6AEFF39-D5DE-49A5-AE36-7B9FC3E010AE}" dt="2026-09-21T11:03:50.939" v="186" actId="20577"/>
        <pc:sldMkLst>
          <pc:docMk/>
          <pc:sldMk cId="0" sldId="259"/>
        </pc:sldMkLst>
        <pc:spChg chg="mod">
          <ac:chgData name="Janou De Buyser" userId="9e855837-ff07-4ba4-86ed-57f131032e08" providerId="ADAL" clId="{E6AEFF39-D5DE-49A5-AE36-7B9FC3E010AE}" dt="2026-09-21T08:56:48.451" v="142" actId="20577"/>
          <ac:spMkLst>
            <pc:docMk/>
            <pc:sldMk cId="0" sldId="259"/>
            <ac:spMk id="21" creationId="{00000000-0000-0000-0000-000000000000}"/>
          </ac:spMkLst>
        </pc:spChg>
      </pc:sldChg>
      <pc:sldChg chg="modNotesTx">
        <pc:chgData name="Janou De Buyser" userId="9e855837-ff07-4ba4-86ed-57f131032e08" providerId="ADAL" clId="{E6AEFF39-D5DE-49A5-AE36-7B9FC3E010AE}" dt="2026-09-21T11:03:53.516" v="187" actId="20577"/>
        <pc:sldMkLst>
          <pc:docMk/>
          <pc:sldMk cId="0" sldId="260"/>
        </pc:sldMkLst>
      </pc:sldChg>
      <pc:sldChg chg="modNotesTx">
        <pc:chgData name="Janou De Buyser" userId="9e855837-ff07-4ba4-86ed-57f131032e08" providerId="ADAL" clId="{E6AEFF39-D5DE-49A5-AE36-7B9FC3E010AE}" dt="2026-09-21T11:03:56.480" v="188" actId="20577"/>
        <pc:sldMkLst>
          <pc:docMk/>
          <pc:sldMk cId="0" sldId="261"/>
        </pc:sldMkLst>
      </pc:sldChg>
      <pc:sldChg chg="modNotesTx">
        <pc:chgData name="Janou De Buyser" userId="9e855837-ff07-4ba4-86ed-57f131032e08" providerId="ADAL" clId="{E6AEFF39-D5DE-49A5-AE36-7B9FC3E010AE}" dt="2026-09-21T11:03:59.981" v="189" actId="20577"/>
        <pc:sldMkLst>
          <pc:docMk/>
          <pc:sldMk cId="0" sldId="262"/>
        </pc:sldMkLst>
      </pc:sldChg>
      <pc:sldChg chg="modNotesTx">
        <pc:chgData name="Janou De Buyser" userId="9e855837-ff07-4ba4-86ed-57f131032e08" providerId="ADAL" clId="{E6AEFF39-D5DE-49A5-AE36-7B9FC3E010AE}" dt="2026-09-21T11:04:03.027" v="190" actId="20577"/>
        <pc:sldMkLst>
          <pc:docMk/>
          <pc:sldMk cId="0" sldId="263"/>
        </pc:sldMkLst>
      </pc:sldChg>
      <pc:sldChg chg="modNotesTx">
        <pc:chgData name="Janou De Buyser" userId="9e855837-ff07-4ba4-86ed-57f131032e08" providerId="ADAL" clId="{E6AEFF39-D5DE-49A5-AE36-7B9FC3E010AE}" dt="2026-09-21T11:04:05.394" v="191" actId="20577"/>
        <pc:sldMkLst>
          <pc:docMk/>
          <pc:sldMk cId="0" sldId="264"/>
        </pc:sldMkLst>
      </pc:sldChg>
      <pc:sldChg chg="modNotesTx">
        <pc:chgData name="Janou De Buyser" userId="9e855837-ff07-4ba4-86ed-57f131032e08" providerId="ADAL" clId="{E6AEFF39-D5DE-49A5-AE36-7B9FC3E010AE}" dt="2026-09-21T11:04:08.028" v="192" actId="20577"/>
        <pc:sldMkLst>
          <pc:docMk/>
          <pc:sldMk cId="0" sldId="265"/>
        </pc:sldMkLst>
      </pc:sldChg>
      <pc:sldChg chg="modSp mod modNotesTx">
        <pc:chgData name="Janou De Buyser" userId="9e855837-ff07-4ba4-86ed-57f131032e08" providerId="ADAL" clId="{E6AEFF39-D5DE-49A5-AE36-7B9FC3E010AE}" dt="2026-09-21T11:04:56.063" v="193" actId="20577"/>
        <pc:sldMkLst>
          <pc:docMk/>
          <pc:sldMk cId="0" sldId="266"/>
        </pc:sldMkLst>
        <pc:spChg chg="mod">
          <ac:chgData name="Janou De Buyser" userId="9e855837-ff07-4ba4-86ed-57f131032e08" providerId="ADAL" clId="{E6AEFF39-D5DE-49A5-AE36-7B9FC3E010AE}" dt="2026-09-21T08:59:52.322" v="143" actId="20577"/>
          <ac:spMkLst>
            <pc:docMk/>
            <pc:sldMk cId="0" sldId="266"/>
            <ac:spMk id="4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21T10:07:34.909" v="163" actId="20577"/>
          <ac:spMkLst>
            <pc:docMk/>
            <pc:sldMk cId="0" sldId="266"/>
            <ac:spMk id="10" creationId="{00000000-0000-0000-0000-000000000000}"/>
          </ac:spMkLst>
        </pc:spChg>
      </pc:sldChg>
      <pc:sldChg chg="modNotesTx">
        <pc:chgData name="Janou De Buyser" userId="9e855837-ff07-4ba4-86ed-57f131032e08" providerId="ADAL" clId="{E6AEFF39-D5DE-49A5-AE36-7B9FC3E010AE}" dt="2026-09-21T11:04:58.830" v="194" actId="20577"/>
        <pc:sldMkLst>
          <pc:docMk/>
          <pc:sldMk cId="0" sldId="267"/>
        </pc:sldMkLst>
      </pc:sldChg>
      <pc:sldChg chg="modNotesTx">
        <pc:chgData name="Janou De Buyser" userId="9e855837-ff07-4ba4-86ed-57f131032e08" providerId="ADAL" clId="{E6AEFF39-D5DE-49A5-AE36-7B9FC3E010AE}" dt="2026-09-21T11:05:02.176" v="195" actId="20577"/>
        <pc:sldMkLst>
          <pc:docMk/>
          <pc:sldMk cId="0" sldId="268"/>
        </pc:sldMkLst>
      </pc:sldChg>
      <pc:sldChg chg="modNotesTx">
        <pc:chgData name="Janou De Buyser" userId="9e855837-ff07-4ba4-86ed-57f131032e08" providerId="ADAL" clId="{E6AEFF39-D5DE-49A5-AE36-7B9FC3E010AE}" dt="2026-09-21T11:05:04.634" v="196" actId="20577"/>
        <pc:sldMkLst>
          <pc:docMk/>
          <pc:sldMk cId="0" sldId="269"/>
        </pc:sldMkLst>
      </pc:sldChg>
      <pc:sldChg chg="modNotesTx">
        <pc:chgData name="Janou De Buyser" userId="9e855837-ff07-4ba4-86ed-57f131032e08" providerId="ADAL" clId="{E6AEFF39-D5DE-49A5-AE36-7B9FC3E010AE}" dt="2026-09-21T11:05:07.617" v="197" actId="20577"/>
        <pc:sldMkLst>
          <pc:docMk/>
          <pc:sldMk cId="0" sldId="270"/>
        </pc:sldMkLst>
      </pc:sldChg>
      <pc:sldChg chg="modNotesTx">
        <pc:chgData name="Janou De Buyser" userId="9e855837-ff07-4ba4-86ed-57f131032e08" providerId="ADAL" clId="{E6AEFF39-D5DE-49A5-AE36-7B9FC3E010AE}" dt="2026-09-21T11:05:11.464" v="198" actId="20577"/>
        <pc:sldMkLst>
          <pc:docMk/>
          <pc:sldMk cId="0" sldId="271"/>
        </pc:sldMkLst>
      </pc:sldChg>
      <pc:sldChg chg="modNotesTx">
        <pc:chgData name="Janou De Buyser" userId="9e855837-ff07-4ba4-86ed-57f131032e08" providerId="ADAL" clId="{E6AEFF39-D5DE-49A5-AE36-7B9FC3E010AE}" dt="2026-09-21T11:05:14.317" v="199" actId="20577"/>
        <pc:sldMkLst>
          <pc:docMk/>
          <pc:sldMk cId="0" sldId="272"/>
        </pc:sldMkLst>
      </pc:sldChg>
      <pc:sldChg chg="modNotesTx">
        <pc:chgData name="Janou De Buyser" userId="9e855837-ff07-4ba4-86ed-57f131032e08" providerId="ADAL" clId="{E6AEFF39-D5DE-49A5-AE36-7B9FC3E010AE}" dt="2026-09-21T11:05:16.520" v="200" actId="20577"/>
        <pc:sldMkLst>
          <pc:docMk/>
          <pc:sldMk cId="0" sldId="273"/>
        </pc:sldMkLst>
      </pc:sldChg>
      <pc:sldChg chg="modSp mod modNotesTx">
        <pc:chgData name="Janou De Buyser" userId="9e855837-ff07-4ba4-86ed-57f131032e08" providerId="ADAL" clId="{E6AEFF39-D5DE-49A5-AE36-7B9FC3E010AE}" dt="2026-09-21T11:05:18.868" v="201" actId="20577"/>
        <pc:sldMkLst>
          <pc:docMk/>
          <pc:sldMk cId="0" sldId="274"/>
        </pc:sldMkLst>
        <pc:spChg chg="mod">
          <ac:chgData name="Janou De Buyser" userId="9e855837-ff07-4ba4-86ed-57f131032e08" providerId="ADAL" clId="{E6AEFF39-D5DE-49A5-AE36-7B9FC3E010AE}" dt="2026-09-18T12:44:12.442" v="11" actId="1076"/>
          <ac:spMkLst>
            <pc:docMk/>
            <pc:sldMk cId="0" sldId="274"/>
            <ac:spMk id="6" creationId="{00000000-0000-0000-0000-000000000000}"/>
          </ac:spMkLst>
        </pc:spChg>
      </pc:sldChg>
      <pc:sldChg chg="modNotesTx">
        <pc:chgData name="Janou De Buyser" userId="9e855837-ff07-4ba4-86ed-57f131032e08" providerId="ADAL" clId="{E6AEFF39-D5DE-49A5-AE36-7B9FC3E010AE}" dt="2026-09-21T11:05:21.585" v="202" actId="20577"/>
        <pc:sldMkLst>
          <pc:docMk/>
          <pc:sldMk cId="0" sldId="275"/>
        </pc:sldMkLst>
      </pc:sldChg>
      <pc:sldChg chg="modNotesTx">
        <pc:chgData name="Janou De Buyser" userId="9e855837-ff07-4ba4-86ed-57f131032e08" providerId="ADAL" clId="{E6AEFF39-D5DE-49A5-AE36-7B9FC3E010AE}" dt="2026-09-21T11:05:23.807" v="203" actId="20577"/>
        <pc:sldMkLst>
          <pc:docMk/>
          <pc:sldMk cId="0" sldId="276"/>
        </pc:sldMkLst>
      </pc:sldChg>
      <pc:sldChg chg="delSp modSp mod modNotesTx">
        <pc:chgData name="Janou De Buyser" userId="9e855837-ff07-4ba4-86ed-57f131032e08" providerId="ADAL" clId="{E6AEFF39-D5DE-49A5-AE36-7B9FC3E010AE}" dt="2026-09-21T11:05:26.513" v="204" actId="20577"/>
        <pc:sldMkLst>
          <pc:docMk/>
          <pc:sldMk cId="0" sldId="277"/>
        </pc:sldMkLst>
        <pc:spChg chg="mod">
          <ac:chgData name="Janou De Buyser" userId="9e855837-ff07-4ba4-86ed-57f131032e08" providerId="ADAL" clId="{E6AEFF39-D5DE-49A5-AE36-7B9FC3E010AE}" dt="2026-09-18T12:44:54.545" v="12" actId="1076"/>
          <ac:spMkLst>
            <pc:docMk/>
            <pc:sldMk cId="0" sldId="277"/>
            <ac:spMk id="6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21T11:02:14.400" v="182" actId="20577"/>
          <ac:spMkLst>
            <pc:docMk/>
            <pc:sldMk cId="0" sldId="277"/>
            <ac:spMk id="11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18T12:48:55.680" v="89" actId="20577"/>
          <ac:spMkLst>
            <pc:docMk/>
            <pc:sldMk cId="0" sldId="277"/>
            <ac:spMk id="15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18T12:49:43.441" v="97" actId="20577"/>
          <ac:spMkLst>
            <pc:docMk/>
            <pc:sldMk cId="0" sldId="277"/>
            <ac:spMk id="16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18T12:49:54.831" v="99" actId="20577"/>
          <ac:spMkLst>
            <pc:docMk/>
            <pc:sldMk cId="0" sldId="277"/>
            <ac:spMk id="19" creationId="{00000000-0000-0000-0000-000000000000}"/>
          </ac:spMkLst>
        </pc:spChg>
      </pc:sldChg>
      <pc:sldChg chg="modSp mod modNotesTx">
        <pc:chgData name="Janou De Buyser" userId="9e855837-ff07-4ba4-86ed-57f131032e08" providerId="ADAL" clId="{E6AEFF39-D5DE-49A5-AE36-7B9FC3E010AE}" dt="2026-09-21T11:05:28.738" v="205" actId="20577"/>
        <pc:sldMkLst>
          <pc:docMk/>
          <pc:sldMk cId="0" sldId="278"/>
        </pc:sldMkLst>
        <pc:spChg chg="mod">
          <ac:chgData name="Janou De Buyser" userId="9e855837-ff07-4ba4-86ed-57f131032e08" providerId="ADAL" clId="{E6AEFF39-D5DE-49A5-AE36-7B9FC3E010AE}" dt="2026-09-18T12:50:30.564" v="105" actId="20577"/>
          <ac:spMkLst>
            <pc:docMk/>
            <pc:sldMk cId="0" sldId="278"/>
            <ac:spMk id="15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18T12:50:51.199" v="108" actId="20577"/>
          <ac:spMkLst>
            <pc:docMk/>
            <pc:sldMk cId="0" sldId="278"/>
            <ac:spMk id="20" creationId="{00000000-0000-0000-0000-000000000000}"/>
          </ac:spMkLst>
        </pc:spChg>
      </pc:sldChg>
      <pc:sldChg chg="delSp modSp mod modNotesTx">
        <pc:chgData name="Janou De Buyser" userId="9e855837-ff07-4ba4-86ed-57f131032e08" providerId="ADAL" clId="{E6AEFF39-D5DE-49A5-AE36-7B9FC3E010AE}" dt="2026-09-21T11:05:31.330" v="206" actId="20577"/>
        <pc:sldMkLst>
          <pc:docMk/>
          <pc:sldMk cId="0" sldId="279"/>
        </pc:sldMkLst>
        <pc:spChg chg="mod">
          <ac:chgData name="Janou De Buyser" userId="9e855837-ff07-4ba4-86ed-57f131032e08" providerId="ADAL" clId="{E6AEFF39-D5DE-49A5-AE36-7B9FC3E010AE}" dt="2026-09-18T12:51:52.130" v="117" actId="1076"/>
          <ac:spMkLst>
            <pc:docMk/>
            <pc:sldMk cId="0" sldId="279"/>
            <ac:spMk id="7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18T12:51:24.229" v="113" actId="1076"/>
          <ac:spMkLst>
            <pc:docMk/>
            <pc:sldMk cId="0" sldId="279"/>
            <ac:spMk id="10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18T12:51:31.839" v="115" actId="20577"/>
          <ac:spMkLst>
            <pc:docMk/>
            <pc:sldMk cId="0" sldId="279"/>
            <ac:spMk id="11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18T12:52:06.617" v="126" actId="20577"/>
          <ac:spMkLst>
            <pc:docMk/>
            <pc:sldMk cId="0" sldId="279"/>
            <ac:spMk id="19" creationId="{00000000-0000-0000-0000-000000000000}"/>
          </ac:spMkLst>
        </pc:spChg>
      </pc:sldChg>
      <pc:sldChg chg="modNotesTx">
        <pc:chgData name="Janou De Buyser" userId="9e855837-ff07-4ba4-86ed-57f131032e08" providerId="ADAL" clId="{E6AEFF39-D5DE-49A5-AE36-7B9FC3E010AE}" dt="2026-09-21T11:05:33.753" v="207" actId="20577"/>
        <pc:sldMkLst>
          <pc:docMk/>
          <pc:sldMk cId="0" sldId="280"/>
        </pc:sldMkLst>
      </pc:sldChg>
      <pc:sldChg chg="modNotesTx">
        <pc:chgData name="Janou De Buyser" userId="9e855837-ff07-4ba4-86ed-57f131032e08" providerId="ADAL" clId="{E6AEFF39-D5DE-49A5-AE36-7B9FC3E010AE}" dt="2026-09-21T11:05:37.838" v="208" actId="20577"/>
        <pc:sldMkLst>
          <pc:docMk/>
          <pc:sldMk cId="0" sldId="281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0017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fotokader" descr="titel_voetonderzoe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491" y="0"/>
            <a:ext cx="12282678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10000"/>
                </a:srgbClr>
              </a:gs>
              <a:gs pos="62000">
                <a:srgbClr val="04182A">
                  <a:alpha val="96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paradise_me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169" y="482587"/>
            <a:ext cx="1177404" cy="1346166"/>
          </a:xfrm>
          <a:prstGeom prst="rect">
            <a:avLst/>
          </a:prstGeom>
        </p:spPr>
      </p:pic>
      <p:sp>
        <p:nvSpPr>
          <p:cNvPr id="6" name="hero"/>
          <p:cNvSpPr txBox="1"/>
          <p:nvPr/>
        </p:nvSpPr>
        <p:spPr>
          <a:xfrm>
            <a:off x="634984" y="3848003"/>
            <a:ext cx="8889777" cy="165095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24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083" y="5397365"/>
            <a:ext cx="8889777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Segoe UI"/>
              </a:rPr>
              <a:t>AZ Groeninge · toelichting en stand van zaken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587995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34984" y="6045048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kuleuv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380" y="6152996"/>
            <a:ext cx="1381100" cy="39369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574870" y="6045048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v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27267" y="6152996"/>
            <a:ext cx="1116092" cy="39369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9749" y="6095847"/>
            <a:ext cx="2158946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2449" y="6349841"/>
            <a:ext cx="2666933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1822" y="6565735"/>
            <a:ext cx="4571885" cy="19049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WE STAAN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24 per centrum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34984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825479" y="3848003"/>
            <a:ext cx="5003547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PER CENTRUM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25479" y="4089297"/>
            <a:ext cx="5003547" cy="2920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24 deelnemers — 12 PARADISE en 12 gebruikelijke zorg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171918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362413" y="3848003"/>
            <a:ext cx="5003547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362413" y="4089297"/>
            <a:ext cx="5003547" cy="2920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34984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825479" y="4648083"/>
            <a:ext cx="5003547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PRIMAIR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25479" y="4889377"/>
            <a:ext cx="5003547" cy="2920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op 18 maanden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171918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362413" y="4648083"/>
            <a:ext cx="5003547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62413" y="4889377"/>
            <a:ext cx="5003547" cy="2920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dirty="0">
                <a:solidFill>
                  <a:srgbClr val="F2F8FC"/>
                </a:solidFill>
                <a:latin typeface="Segoe UI"/>
              </a:rPr>
              <a:t>Alleen </a:t>
            </a:r>
            <a:r>
              <a:rPr sz="1550" b="0" dirty="0" err="1">
                <a:solidFill>
                  <a:srgbClr val="F2F8FC"/>
                </a:solidFill>
                <a:latin typeface="Segoe UI"/>
              </a:rPr>
              <a:t>als</a:t>
            </a:r>
            <a:r>
              <a:rPr sz="1550" b="0" dirty="0">
                <a:solidFill>
                  <a:srgbClr val="F2F8FC"/>
                </a:solidFill>
                <a:latin typeface="Segoe UI"/>
              </a:rPr>
              <a:t> het </a:t>
            </a:r>
            <a:r>
              <a:rPr sz="1550" b="0" dirty="0" err="1">
                <a:solidFill>
                  <a:srgbClr val="F2F8FC"/>
                </a:solidFill>
                <a:latin typeface="Segoe UI"/>
              </a:rPr>
              <a:t>eindpunt</a:t>
            </a:r>
            <a:r>
              <a:rPr sz="1550" b="0" dirty="0">
                <a:solidFill>
                  <a:srgbClr val="F2F8FC"/>
                </a:solidFill>
                <a:latin typeface="Segoe UI"/>
              </a:rPr>
              <a:t> </a:t>
            </a:r>
            <a:r>
              <a:rPr sz="1550" b="0" dirty="0" err="1">
                <a:solidFill>
                  <a:srgbClr val="F2F8FC"/>
                </a:solidFill>
                <a:latin typeface="Segoe UI"/>
              </a:rPr>
              <a:t>behaald</a:t>
            </a:r>
            <a:r>
              <a:rPr sz="1550" b="0" dirty="0">
                <a:solidFill>
                  <a:srgbClr val="F2F8FC"/>
                </a:solidFill>
                <a:latin typeface="Segoe UI"/>
              </a:rPr>
              <a:t> is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4984" y="544816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634984" y="5575160"/>
            <a:ext cx="5714857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8FB6D0"/>
                </a:solidFill>
                <a:latin typeface="Consolas"/>
              </a:rPr>
              <a:t>DE ZES DEELNEMENDE VOETKLINIEKEN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34984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634984" y="5975200"/>
            <a:ext cx="1752556" cy="21589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AZORG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463738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2463738" y="5975200"/>
            <a:ext cx="1752556" cy="21589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Sint-Jan Brugge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292492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4292492" y="5975200"/>
            <a:ext cx="1752556" cy="21589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Groeninge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121246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TextBox 171"/>
          <p:cNvSpPr txBox="1"/>
          <p:nvPr/>
        </p:nvSpPr>
        <p:spPr>
          <a:xfrm>
            <a:off x="6121246" y="5975200"/>
            <a:ext cx="1752556" cy="21589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Gent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950001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7950001" y="5975200"/>
            <a:ext cx="1752556" cy="21589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Leuven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9778755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9778755" y="5975200"/>
            <a:ext cx="1752556" cy="21589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Antwerpen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26</a:t>
            </a:r>
          </a:p>
        </p:txBody>
      </p:sp>
      <p:pic>
        <p:nvPicPr>
          <p:cNvPr id="17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179" name="TextBox 178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20 · Morbach 2016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ZES VOETKLINIEKEN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 de studie loopt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2489137"/>
            <a:ext cx="4063898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8FB6D0"/>
                </a:solidFill>
                <a:latin typeface="Consolas"/>
              </a:rPr>
              <a:t>CENTRA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4984" y="2717732"/>
            <a:ext cx="4063898" cy="939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" y="4038499"/>
            <a:ext cx="4063898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8FB6D0"/>
                </a:solidFill>
                <a:latin typeface="Consolas"/>
              </a:rPr>
              <a:t>PER CENTRUM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4267093"/>
            <a:ext cx="4063898" cy="939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7A00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0373" y="6286515"/>
            <a:ext cx="5968850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8FB6D0"/>
                </a:solidFill>
                <a:latin typeface="Segoe UI"/>
              </a:rPr>
              <a:t>AZ Groeninge is </a:t>
            </a:r>
            <a:r>
              <a:rPr sz="1300" b="0" dirty="0" err="1">
                <a:solidFill>
                  <a:srgbClr val="8FB6D0"/>
                </a:solidFill>
                <a:latin typeface="Segoe UI"/>
              </a:rPr>
              <a:t>één</a:t>
            </a:r>
            <a:r>
              <a:rPr sz="1300" b="0" dirty="0">
                <a:solidFill>
                  <a:srgbClr val="8FB6D0"/>
                </a:solidFill>
                <a:latin typeface="Segoe UI"/>
              </a:rPr>
              <a:t> van de </a:t>
            </a:r>
            <a:r>
              <a:rPr sz="1300" b="0" dirty="0" err="1">
                <a:solidFill>
                  <a:srgbClr val="8FB6D0"/>
                </a:solidFill>
                <a:latin typeface="Segoe UI"/>
              </a:rPr>
              <a:t>zes</a:t>
            </a:r>
            <a:endParaRPr sz="1300" b="0" dirty="0">
              <a:solidFill>
                <a:srgbClr val="8FB6D0"/>
              </a:solidFill>
              <a:latin typeface="Segoe U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901822" y="1628889"/>
            <a:ext cx="8804179" cy="4644754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03 / 26</a:t>
            </a:r>
          </a:p>
        </p:txBody>
      </p:sp>
      <p:pic>
        <p:nvPicPr>
          <p:cNvPr id="14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pic>
        <p:nvPicPr>
          <p:cNvPr id="16" name="Afbeelding 15">
            <a:extLst>
              <a:ext uri="{FF2B5EF4-FFF2-40B4-BE49-F238E27FC236}">
                <a16:creationId xmlns:a16="http://schemas.microsoft.com/office/drawing/2014/main" id="{6D0BA98C-5D93-CBF3-BAA0-5372CDA544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772" y="1679683"/>
            <a:ext cx="8065443" cy="45368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WE STAAN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Van pilot tot laatste patiënt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2984425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904952" y="2901877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4984" y="2095447"/>
            <a:ext cx="2730431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7A00"/>
                </a:solidFill>
                <a:latin typeface="Consolas"/>
              </a:rPr>
              <a:t>sep 2026 – feb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2425639"/>
            <a:ext cx="2730431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80" y="3340016"/>
            <a:ext cx="2476438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Protocol en meetprocedures uitproberen in de zes centra. Opleiding en bekwaamheidscheck.</a:t>
            </a:r>
          </a:p>
        </p:txBody>
      </p:sp>
      <p:sp>
        <p:nvSpPr>
          <p:cNvPr id="10" name="Oval 9"/>
          <p:cNvSpPr/>
          <p:nvPr/>
        </p:nvSpPr>
        <p:spPr>
          <a:xfrm>
            <a:off x="4660783" y="2927276"/>
            <a:ext cx="139696" cy="1396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65415" y="2095447"/>
            <a:ext cx="2730431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8FB6D0"/>
                </a:solidFill>
                <a:latin typeface="Consolas"/>
              </a:rPr>
              <a:t>feb 2027 – feb 2028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5415" y="2425639"/>
            <a:ext cx="2730431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Inclusie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2412" y="3340016"/>
            <a:ext cx="2476438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Twaalf maanden rekruteren. 24 deelnemers per centrum, twee per maand.</a:t>
            </a:r>
          </a:p>
        </p:txBody>
      </p:sp>
      <p:sp>
        <p:nvSpPr>
          <p:cNvPr id="14" name="Oval 13"/>
          <p:cNvSpPr/>
          <p:nvPr/>
        </p:nvSpPr>
        <p:spPr>
          <a:xfrm>
            <a:off x="7391215" y="2927276"/>
            <a:ext cx="139696" cy="1396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95847" y="2095447"/>
            <a:ext cx="2730431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8FB6D0"/>
                </a:solidFill>
                <a:latin typeface="Consolas"/>
              </a:rPr>
              <a:t>tot sep 2029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425639"/>
            <a:ext cx="2730431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Opvolging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2844" y="3340016"/>
            <a:ext cx="2476438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Elke deelnemer achttien maanden. De laatste inclusie bepaalt de einddatum.</a:t>
            </a:r>
          </a:p>
        </p:txBody>
      </p:sp>
      <p:sp>
        <p:nvSpPr>
          <p:cNvPr id="18" name="Oval 17"/>
          <p:cNvSpPr/>
          <p:nvPr/>
        </p:nvSpPr>
        <p:spPr>
          <a:xfrm>
            <a:off x="10121646" y="2927276"/>
            <a:ext cx="139696" cy="1396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26279" y="2095447"/>
            <a:ext cx="2730431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8FB6D0"/>
                </a:solidFill>
                <a:latin typeface="Consolas"/>
              </a:rPr>
              <a:t>2029 – 2030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6279" y="2425639"/>
            <a:ext cx="2730431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Analyse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3276" y="3340016"/>
            <a:ext cx="2476438" cy="8705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 dirty="0" err="1">
                <a:solidFill>
                  <a:srgbClr val="8FB6D0"/>
                </a:solidFill>
                <a:latin typeface="Segoe UI"/>
              </a:rPr>
              <a:t>Uitkomsten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, </a:t>
            </a:r>
            <a:r>
              <a:rPr sz="1450" b="0" dirty="0" err="1">
                <a:solidFill>
                  <a:srgbClr val="8FB6D0"/>
                </a:solidFill>
                <a:latin typeface="Segoe UI"/>
              </a:rPr>
              <a:t>gezondheidseconomie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 en </a:t>
            </a:r>
            <a:r>
              <a:rPr sz="1450" b="0" dirty="0" err="1">
                <a:solidFill>
                  <a:srgbClr val="8FB6D0"/>
                </a:solidFill>
                <a:latin typeface="Segoe UI"/>
              </a:rPr>
              <a:t>procesevaluatie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.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4984" y="4990975"/>
            <a:ext cx="10921726" cy="1161868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2476" y="5156071"/>
            <a:ext cx="10286742" cy="9078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F2F8FC"/>
                </a:solidFill>
                <a:latin typeface="Segoe UI"/>
              </a:rPr>
              <a:t>De inclusieperiode is het enige wat de einddatum verschuift. Elke maand vertraging in de rekrutering is een maand later klaar.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26</a:t>
            </a:r>
          </a:p>
        </p:txBody>
      </p:sp>
      <p:pic>
        <p:nvPicPr>
          <p:cNvPr id="25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20 · Morbach 2016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3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431789" y="723881"/>
            <a:ext cx="5714857" cy="292092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solidFill>
                  <a:srgbClr val="52BDEC">
                    <a:alpha val="15000"/>
                  </a:srgbClr>
                </a:solidFill>
                <a:latin typeface="Segoe U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BLOK 01</a:t>
            </a:r>
          </a:p>
        </p:txBody>
      </p:sp>
      <p:sp>
        <p:nvSpPr>
          <p:cNvPr id="6" name="Rectangle 5"/>
          <p:cNvSpPr/>
          <p:nvPr/>
        </p:nvSpPr>
        <p:spPr>
          <a:xfrm>
            <a:off x="634984" y="3213019"/>
            <a:ext cx="812779" cy="50798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Waarom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Vier cijfers verklaren waarom er twee normen zijn.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&gt; 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STERFTE NA MAJEURE AMPUTATIE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26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1 · Armstrong 2017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RISICO NA GENEZING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Twee derde recidiveert binnen vijf jaar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2489137"/>
            <a:ext cx="4063898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8FB6D0"/>
                </a:solidFill>
                <a:latin typeface="Consolas"/>
              </a:rPr>
              <a:t>NA 1 JAAR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4984" y="2717732"/>
            <a:ext cx="4063898" cy="939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" y="4038499"/>
            <a:ext cx="4063898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8FB6D0"/>
                </a:solidFill>
                <a:latin typeface="Consolas"/>
              </a:rPr>
              <a:t>NA 5 JAAR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4267093"/>
            <a:ext cx="4063898" cy="939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7A00"/>
                </a:solidFill>
                <a:latin typeface="Segoe UI"/>
              </a:rPr>
              <a:t>65%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7860" y="1777955"/>
            <a:ext cx="5968850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Incidentie van recidief tegenover follow-upduur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87860" y="2133546"/>
            <a:ext cx="5968850" cy="4063898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recidief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8364" y="2285942"/>
            <a:ext cx="5647842" cy="386070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4984" y="6273643"/>
            <a:ext cx="9524761" cy="203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Gepoolde data uit negen prospectieve studies, één retrospectieve studie en de controlegroepen van negen RCT’s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26</a:t>
            </a:r>
          </a:p>
        </p:txBody>
      </p:sp>
      <p:pic>
        <p:nvPicPr>
          <p:cNvPr id="14" name="merk" descr="me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1 · Armstrong 2017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!!beeld" descr="knal_voorkom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491" y="0"/>
            <a:ext cx="12282678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68000"/>
                </a:srgbClr>
              </a:gs>
              <a:gs pos="100000">
                <a:srgbClr val="072138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52476" y="1231869"/>
            <a:ext cx="812779" cy="50798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6200" b="1">
                <a:solidFill>
                  <a:srgbClr val="FFFFFF"/>
                </a:solidFill>
                <a:latin typeface="Segoe UI"/>
              </a:rPr>
              <a:t>Driekwart is te voorkomen.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6200" b="1">
                <a:solidFill>
                  <a:srgbClr val="FFFFFF"/>
                </a:solidFill>
                <a:latin typeface="Segoe UI"/>
              </a:rPr>
              <a:t>Veertig procent komt terug.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DEZELFDE SCHOEN, TWEE UITKOMSTEN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Waarom druk alléén niet volstaat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28754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4984" y="1993850"/>
            <a:ext cx="3809904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Iedereen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349441"/>
            <a:ext cx="3809904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intention-to-treat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2768530"/>
            <a:ext cx="2031949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3930" y="2717732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93930" y="2717732"/>
            <a:ext cx="6062320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905752" y="2692332"/>
            <a:ext cx="1396965" cy="342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44,2%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" y="3187620"/>
            <a:ext cx="2031949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3930" y="3136821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793930" y="3136821"/>
            <a:ext cx="5321674" cy="292092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05752" y="3111422"/>
            <a:ext cx="1396965" cy="342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F7A00"/>
                </a:solidFill>
                <a:latin typeface="Segoe UI"/>
              </a:rPr>
              <a:t>38,8%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3568610"/>
            <a:ext cx="5714857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00"/>
                </a:solidFill>
                <a:latin typeface="Segoe UI"/>
              </a:rPr>
              <a:t>Geen verschil — p = 0,48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08929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4984" y="4254393"/>
            <a:ext cx="3809904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Wie hem droeg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83" y="4609984"/>
            <a:ext cx="3809904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≥ 80% van de stappen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984" y="5029074"/>
            <a:ext cx="2031949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93930" y="497827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793930" y="4978275"/>
            <a:ext cx="6556084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905752" y="4952876"/>
            <a:ext cx="1396965" cy="342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47,8%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984" y="5448163"/>
            <a:ext cx="2031949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3930" y="539736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2793930" y="5397365"/>
            <a:ext cx="3524923" cy="292092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905752" y="5371965"/>
            <a:ext cx="1396965" cy="342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Segoe UI"/>
              </a:rPr>
              <a:t>25,7%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984" y="5829154"/>
            <a:ext cx="5714857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Segoe UI"/>
              </a:rPr>
              <a:t>Bijna gehalveerd — p = 0,045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Bus et al. · Diabetes Care 2013 · DIAFOS, 171 deelnemers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26</a:t>
            </a:r>
          </a:p>
        </p:txBody>
      </p:sp>
      <p:pic>
        <p:nvPicPr>
          <p:cNvPr id="31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9 · Bus 2013, DIAFOS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52BDEC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52BDEC"/>
                </a:solidFill>
                <a:latin typeface="Segoe UI"/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52BDEC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draagtijd — gemeten,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niet gevraagd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1" y="1904952"/>
            <a:ext cx="5079873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40">
                <a:solidFill>
                  <a:srgbClr val="8FB6D0"/>
                </a:solidFill>
                <a:latin typeface="Consolas"/>
              </a:rPr>
              <a:t>DRAAGTIJD TEGENOVER DE NORM VAN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1" y="2222444"/>
            <a:ext cx="1650958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Gemiddeld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9841" y="2489137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49841" y="2489137"/>
            <a:ext cx="3155871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21726" y="2463738"/>
            <a:ext cx="69848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71%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1" y="2971725"/>
            <a:ext cx="1650958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Thuis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9841" y="3238419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49841" y="3238419"/>
            <a:ext cx="2711382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21726" y="3213019"/>
            <a:ext cx="69848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1" y="3721006"/>
            <a:ext cx="1650958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Buitenshuis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9841" y="3987700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49841" y="3987700"/>
            <a:ext cx="3867053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21726" y="3962300"/>
            <a:ext cx="69848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87%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05752" y="2184345"/>
            <a:ext cx="19049" cy="220974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70768" y="4470288"/>
            <a:ext cx="1269968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7A00"/>
                </a:solidFill>
                <a:latin typeface="Consolas"/>
              </a:rPr>
              <a:t>norm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Waaijman et al. · Diabetes Care 2013 · 107 patiënten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26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13 · Waaijman 2013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PARADISE ANDERS DOET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624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dirty="0" err="1">
                <a:solidFill>
                  <a:srgbClr val="F2F8FC"/>
                </a:solidFill>
                <a:latin typeface="Segoe UI"/>
              </a:rPr>
              <a:t>Eén</a:t>
            </a:r>
            <a:r>
              <a:rPr sz="4000" b="1" dirty="0">
                <a:solidFill>
                  <a:srgbClr val="F2F8FC"/>
                </a:solidFill>
                <a:latin typeface="Segoe UI"/>
              </a:rPr>
              <a:t> </a:t>
            </a:r>
            <a:r>
              <a:rPr sz="4000" b="1" dirty="0" err="1">
                <a:solidFill>
                  <a:srgbClr val="F2F8FC"/>
                </a:solidFill>
                <a:latin typeface="Segoe UI"/>
              </a:rPr>
              <a:t>dienst</a:t>
            </a:r>
            <a:r>
              <a:rPr sz="4000" b="1" dirty="0">
                <a:solidFill>
                  <a:srgbClr val="F2F8FC"/>
                </a:solidFill>
                <a:latin typeface="Segoe UI"/>
              </a:rPr>
              <a:t>, </a:t>
            </a:r>
            <a:r>
              <a:rPr sz="4000" b="1" dirty="0" err="1">
                <a:solidFill>
                  <a:srgbClr val="F2F8FC"/>
                </a:solidFill>
                <a:latin typeface="Segoe UI"/>
              </a:rPr>
              <a:t>geen</a:t>
            </a:r>
            <a:r>
              <a:rPr sz="4000" b="1" dirty="0">
                <a:solidFill>
                  <a:srgbClr val="F2F8FC"/>
                </a:solidFill>
                <a:latin typeface="Segoe UI"/>
              </a:rPr>
              <a:t> </a:t>
            </a:r>
            <a:r>
              <a:rPr sz="4000" b="1" dirty="0" err="1">
                <a:solidFill>
                  <a:srgbClr val="F2F8FC"/>
                </a:solidFill>
                <a:latin typeface="Segoe UI"/>
              </a:rPr>
              <a:t>losse</a:t>
            </a:r>
            <a:r>
              <a:rPr sz="4000" b="1" dirty="0">
                <a:solidFill>
                  <a:srgbClr val="F2F8FC"/>
                </a:solidFill>
                <a:latin typeface="Segoe UI"/>
              </a:rPr>
              <a:t> </a:t>
            </a:r>
            <a:r>
              <a:rPr sz="4000" b="1" dirty="0" err="1">
                <a:solidFill>
                  <a:srgbClr val="F2F8FC"/>
                </a:solidFill>
                <a:latin typeface="Segoe UI"/>
              </a:rPr>
              <a:t>maatregelen</a:t>
            </a:r>
            <a:endParaRPr sz="4000" b="1" dirty="0">
              <a:solidFill>
                <a:srgbClr val="F2F8FC"/>
              </a:solidFill>
              <a:latin typeface="Segoe U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34984" y="2031949"/>
            <a:ext cx="5384538" cy="3822604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8977" y="2247843"/>
            <a:ext cx="1269968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977" y="2654233"/>
            <a:ext cx="4876551" cy="698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De zool háált de norm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8977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8977" y="3632109"/>
            <a:ext cx="4876551" cy="304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Consolas"/>
              </a:rPr>
              <a:t>&lt; 200 kPa óf 25% lager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77" y="4165495"/>
            <a:ext cx="4876551" cy="1454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dirty="0" err="1">
                <a:solidFill>
                  <a:srgbClr val="8FB6D0"/>
                </a:solidFill>
                <a:latin typeface="Segoe UI"/>
              </a:rPr>
              <a:t>Gemeten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450" b="0" dirty="0" err="1">
                <a:solidFill>
                  <a:srgbClr val="8FB6D0"/>
                </a:solidFill>
                <a:latin typeface="Segoe UI"/>
              </a:rPr>
              <a:t>bij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 de </a:t>
            </a:r>
            <a:r>
              <a:rPr sz="1450" b="0" dirty="0" err="1">
                <a:solidFill>
                  <a:srgbClr val="8FB6D0"/>
                </a:solidFill>
                <a:latin typeface="Segoe UI"/>
              </a:rPr>
              <a:t>aflevering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.</a:t>
            </a:r>
          </a:p>
          <a:p>
            <a:pPr algn="l">
              <a:lnSpc>
                <a:spcPct val="132000"/>
              </a:lnSpc>
              <a:spcBef>
                <a:spcPts val="1200"/>
              </a:spcBef>
            </a:pPr>
            <a:r>
              <a:rPr sz="1450" b="0" dirty="0" err="1">
                <a:solidFill>
                  <a:srgbClr val="8FB6D0"/>
                </a:solidFill>
                <a:latin typeface="Segoe UI"/>
              </a:rPr>
              <a:t>Aangepast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 tot de norm </a:t>
            </a:r>
            <a:r>
              <a:rPr sz="1450" b="0" dirty="0" err="1">
                <a:solidFill>
                  <a:srgbClr val="8FB6D0"/>
                </a:solidFill>
                <a:latin typeface="Segoe UI"/>
              </a:rPr>
              <a:t>gehaald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 is in elk van de </a:t>
            </a:r>
            <a:r>
              <a:rPr sz="1450" b="0" dirty="0" err="1">
                <a:solidFill>
                  <a:srgbClr val="8FB6D0"/>
                </a:solidFill>
                <a:latin typeface="Segoe UI"/>
              </a:rPr>
              <a:t>drie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450" b="0" dirty="0" err="1">
                <a:solidFill>
                  <a:srgbClr val="8FB6D0"/>
                </a:solidFill>
                <a:latin typeface="Segoe UI"/>
              </a:rPr>
              <a:t>doelregio's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.</a:t>
            </a:r>
          </a:p>
          <a:p>
            <a:pPr algn="l">
              <a:lnSpc>
                <a:spcPct val="132000"/>
              </a:lnSpc>
              <a:spcBef>
                <a:spcPts val="1200"/>
              </a:spcBef>
            </a:pPr>
            <a:r>
              <a:rPr sz="1450" b="0" dirty="0" err="1">
                <a:solidFill>
                  <a:srgbClr val="8FB6D0"/>
                </a:solidFill>
                <a:latin typeface="Segoe UI"/>
              </a:rPr>
              <a:t>Herhaald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 op </a:t>
            </a:r>
            <a:r>
              <a:rPr sz="1450" b="0" dirty="0" err="1">
                <a:solidFill>
                  <a:srgbClr val="8FB6D0"/>
                </a:solidFill>
                <a:latin typeface="Segoe UI"/>
              </a:rPr>
              <a:t>maand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 6,</a:t>
            </a:r>
            <a:r>
              <a:rPr lang="nl-BE" sz="14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12 en 18.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1918" y="2031949"/>
            <a:ext cx="5384538" cy="3822604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5912" y="2247843"/>
            <a:ext cx="1269968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912" y="2654233"/>
            <a:ext cx="4876551" cy="698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En hij wórdt gedragen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5912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5912" y="3632109"/>
            <a:ext cx="4876551" cy="304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Consolas"/>
              </a:rPr>
              <a:t>80% van het eigen activiteitenprofiel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5912" y="4165495"/>
            <a:ext cx="4876551" cy="15163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Een sensor in de zool meet de draagtijd, continu.</a:t>
            </a:r>
          </a:p>
          <a:p>
            <a:pPr algn="l">
              <a:lnSpc>
                <a:spcPct val="132000"/>
              </a:lnSpc>
              <a:spcBef>
                <a:spcPts val="12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Elke drie maanden uitgelezen en samen bekeken.</a:t>
            </a:r>
          </a:p>
          <a:p>
            <a:pPr algn="l">
              <a:lnSpc>
                <a:spcPct val="132000"/>
              </a:lnSpc>
              <a:spcBef>
                <a:spcPts val="12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Vijf gesprekken die op die data steunen.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11 / 26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6 · Bus 2011   |   7 · Bus 2020   |   17 · Waaijman 2014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3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431789" y="723881"/>
            <a:ext cx="5714857" cy="292092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solidFill>
                  <a:srgbClr val="52BDEC">
                    <a:alpha val="15000"/>
                  </a:srgbClr>
                </a:solidFill>
                <a:latin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BLOK 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34984" y="3213019"/>
            <a:ext cx="812779" cy="50798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De meting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Wat u meet, hoe u het meet, en wanneer het goed genoeg 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12 / 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BASELINE · IN DE SCHOEN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pedar®-sensorinsole in de schoen geplaatst, drie loopproeven uitgevoerd.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De middelste twaalf passen per voet geanalyseerd; daaruit berekent de software de gemiddelde piekdruk per voet.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09 · Meting plantaire druk, baseline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13 / 26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7 · Bus 2020   |   27 · Zwaferink 2024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NA OPTIMALISATIE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Wanneer is het goed genoeg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in de doelregio na aanpassing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 norm geldt per doelregio: piekdruk onder 200 kPa óf minstens 25% lager dan de meting zónder zool op visite 2, die ook op maand 6, 12 en 18 de referentie blijft.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Haalt u de norm niet, dan past u aan en meet u opnieuw. Het formulier voorziet twee extra ontlastingstests.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24 · Meting drukherverdeling voetorthese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14 / 26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6 · Bus 2011   |   7 · Bus 2020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!!beeld" descr="knal_belast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2661" y="0"/>
            <a:ext cx="12237017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68000"/>
                </a:srgbClr>
              </a:gs>
              <a:gs pos="100000">
                <a:srgbClr val="072138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52476" y="1231869"/>
            <a:ext cx="812779" cy="50798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FFFFFF"/>
                </a:solidFill>
                <a:latin typeface="Segoe UI"/>
              </a:rPr>
              <a:t>Niet minder belasting.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7200" b="1">
                <a:solidFill>
                  <a:srgbClr val="FFFFFF"/>
                </a:solidFill>
                <a:latin typeface="Segoe UI"/>
              </a:rPr>
              <a:t>Belasting op een plek die het aankan.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3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431789" y="723881"/>
            <a:ext cx="5714857" cy="292092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solidFill>
                  <a:srgbClr val="52BDEC">
                    <a:alpha val="15000"/>
                  </a:srgbClr>
                </a:solidFill>
                <a:latin typeface="Segoe U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BLOK 03</a:t>
            </a:r>
          </a:p>
        </p:txBody>
      </p:sp>
      <p:sp>
        <p:nvSpPr>
          <p:cNvPr id="6" name="Rectangle 5"/>
          <p:cNvSpPr/>
          <p:nvPr/>
        </p:nvSpPr>
        <p:spPr>
          <a:xfrm>
            <a:off x="634984" y="3213019"/>
            <a:ext cx="812779" cy="50798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Het traject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Negen contactmomenten. Per moment: wat u doet en wat u invult.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16 / 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plus negen visites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Visite 0 tot 2 liggen dicht op elkaar: toestemming, baseline, en de zool binnen de maand. Daarna is het ritme elke drie maanden, hetzelfde ritme als de controle die deze patiënten al krijgen.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17 / 26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879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In de schoen, met de zool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350" b="0">
                <a:solidFill>
                  <a:srgbClr val="8FB6D0"/>
                </a:solidFill>
                <a:latin typeface="Segoe UI"/>
              </a:rPr>
              <a:t>Zeroing voor elke meting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350" b="0">
                <a:solidFill>
                  <a:srgbClr val="8FB6D0"/>
                </a:solidFill>
                <a:latin typeface="Segoe UI"/>
              </a:rPr>
              <a:t>De F-Scan GO is een aparte meting van het studieteam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172715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813" y="2629374"/>
            <a:ext cx="1600159" cy="5958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41966" y="2133546"/>
            <a:ext cx="3060496" cy="342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4666" y="2501837"/>
            <a:ext cx="3060496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1966" y="2705032"/>
            <a:ext cx="3060496" cy="3555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1966" y="3047923"/>
            <a:ext cx="3060496" cy="5587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1966" y="3632109"/>
            <a:ext cx="3060496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172715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7813" y="4567176"/>
            <a:ext cx="1600159" cy="88569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41966" y="4216294"/>
            <a:ext cx="3060496" cy="342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4666" y="4584585"/>
            <a:ext cx="3060496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1966" y="4787780"/>
            <a:ext cx="3060496" cy="3555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1966" y="5130671"/>
            <a:ext cx="3060496" cy="5587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Om het middel, op de onderrug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1966" y="5714857"/>
            <a:ext cx="3060496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18 / 26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18 · Lutjeboer 2018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FF7A00"/>
                </a:solidFill>
                <a:latin typeface="Consolas"/>
              </a:rPr>
              <a:t>DE ENIGE REGEL DIE U ÉCHT MOET ONTHOUDEN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1066773"/>
            <a:ext cx="6857828" cy="2539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Meetwaarden gaan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niet naar de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controlegroep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4101997"/>
            <a:ext cx="6857828" cy="154936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8977" y="4082947"/>
            <a:ext cx="6349841" cy="12064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50" b="0" dirty="0">
                <a:solidFill>
                  <a:srgbClr val="8FB6D0"/>
                </a:solidFill>
                <a:latin typeface="Segoe UI"/>
              </a:rPr>
              <a:t>Ook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zij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krijgen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een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drukmeting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en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dragen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een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sensor,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anders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kunnen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we de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groepen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niet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vergelijken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. Maar die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getallen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blijven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beperkt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tot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uzelf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.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Bespreekt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u ze, dan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lévert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u de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interventie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en is die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patiënt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niet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meer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bruikbaar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als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controle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3803" y="2031949"/>
            <a:ext cx="3682907" cy="3517812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78595" y="2324041"/>
            <a:ext cx="3111422" cy="2412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FF7A00"/>
                </a:solidFill>
                <a:latin typeface="Consolas"/>
              </a:rPr>
              <a:t>UITZONDERING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8595" y="2730431"/>
            <a:ext cx="3111422" cy="2539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F2F8FC"/>
                </a:solidFill>
                <a:latin typeface="Segoe UI"/>
              </a:rPr>
              <a:t>Klinische bevindingen zijn géén meetwaarden. Elke laesie of huiddefect meldt en behandelt u meteen. In beide groepen.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19 / 26</a:t>
            </a:r>
          </a:p>
        </p:txBody>
      </p:sp>
      <p:pic>
        <p:nvPicPr>
          <p:cNvPr id="11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9 · Bus 2013, DIAFOS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VERDELING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Wie doet wat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3035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4984" y="2146246"/>
            <a:ext cx="2666933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Podoloog</a:t>
            </a:r>
          </a:p>
        </p:txBody>
      </p:sp>
      <p:sp>
        <p:nvSpPr>
          <p:cNvPr id="7" name="Oval 6"/>
          <p:cNvSpPr/>
          <p:nvPr/>
        </p:nvSpPr>
        <p:spPr>
          <a:xfrm>
            <a:off x="3555911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721006" y="2158946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Voert de drukmetingen uit</a:t>
            </a:r>
          </a:p>
        </p:txBody>
      </p:sp>
      <p:sp>
        <p:nvSpPr>
          <p:cNvPr id="9" name="Oval 8"/>
          <p:cNvSpPr/>
          <p:nvPr/>
        </p:nvSpPr>
        <p:spPr>
          <a:xfrm>
            <a:off x="6273643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38739" y="2158946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Levert SEBIA</a:t>
            </a:r>
          </a:p>
        </p:txBody>
      </p:sp>
      <p:sp>
        <p:nvSpPr>
          <p:cNvPr id="11" name="Oval 10"/>
          <p:cNvSpPr/>
          <p:nvPr/>
        </p:nvSpPr>
        <p:spPr>
          <a:xfrm>
            <a:off x="8991375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56471" y="2158946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Leest de sensoren uit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2971725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4984" y="3187620"/>
            <a:ext cx="2666933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Pedorthist</a:t>
            </a:r>
          </a:p>
        </p:txBody>
      </p:sp>
      <p:sp>
        <p:nvSpPr>
          <p:cNvPr id="15" name="Oval 14"/>
          <p:cNvSpPr/>
          <p:nvPr/>
        </p:nvSpPr>
        <p:spPr>
          <a:xfrm>
            <a:off x="3555911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21006" y="3200319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de zool</a:t>
            </a:r>
          </a:p>
        </p:txBody>
      </p:sp>
      <p:sp>
        <p:nvSpPr>
          <p:cNvPr id="17" name="Oval 16"/>
          <p:cNvSpPr/>
          <p:nvPr/>
        </p:nvSpPr>
        <p:spPr>
          <a:xfrm>
            <a:off x="6273643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38739" y="3200319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Past aan tot de norm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" y="4013099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4984" y="4228994"/>
            <a:ext cx="2666933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Arts</a:t>
            </a:r>
          </a:p>
        </p:txBody>
      </p:sp>
      <p:sp>
        <p:nvSpPr>
          <p:cNvPr id="21" name="Oval 20"/>
          <p:cNvSpPr/>
          <p:nvPr/>
        </p:nvSpPr>
        <p:spPr>
          <a:xfrm>
            <a:off x="3555911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21006" y="4241693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Bevestigt geschiktheid</a:t>
            </a:r>
          </a:p>
        </p:txBody>
      </p:sp>
      <p:sp>
        <p:nvSpPr>
          <p:cNvPr id="23" name="Oval 22"/>
          <p:cNvSpPr/>
          <p:nvPr/>
        </p:nvSpPr>
        <p:spPr>
          <a:xfrm>
            <a:off x="6273643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38739" y="4241693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Beoordeelt laesies</a:t>
            </a:r>
          </a:p>
        </p:txBody>
      </p:sp>
      <p:sp>
        <p:nvSpPr>
          <p:cNvPr id="25" name="Oval 24"/>
          <p:cNvSpPr/>
          <p:nvPr/>
        </p:nvSpPr>
        <p:spPr>
          <a:xfrm>
            <a:off x="8991375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56471" y="4241693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Meldt voorvallen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4984" y="505447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4984" y="5270368"/>
            <a:ext cx="2666933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Management</a:t>
            </a:r>
          </a:p>
        </p:txBody>
      </p:sp>
      <p:sp>
        <p:nvSpPr>
          <p:cNvPr id="29" name="Oval 28"/>
          <p:cNvSpPr/>
          <p:nvPr/>
        </p:nvSpPr>
        <p:spPr>
          <a:xfrm>
            <a:off x="3555911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721006" y="5283067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tijd vrij</a:t>
            </a:r>
          </a:p>
        </p:txBody>
      </p:sp>
      <p:sp>
        <p:nvSpPr>
          <p:cNvPr id="31" name="Oval 30"/>
          <p:cNvSpPr/>
          <p:nvPr/>
        </p:nvSpPr>
        <p:spPr>
          <a:xfrm>
            <a:off x="6273643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38739" y="5283067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Bewaakt 24 inclusies</a:t>
            </a:r>
          </a:p>
        </p:txBody>
      </p:sp>
      <p:sp>
        <p:nvSpPr>
          <p:cNvPr id="33" name="Oval 32"/>
          <p:cNvSpPr/>
          <p:nvPr/>
        </p:nvSpPr>
        <p:spPr>
          <a:xfrm>
            <a:off x="8991375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56471" y="5283067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Houdt het opleidingsregister bij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4984" y="609584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20 / 26</a:t>
            </a:r>
          </a:p>
        </p:txBody>
      </p:sp>
      <p:pic>
        <p:nvPicPr>
          <p:cNvPr id="37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8 · IWGDF 2023, preventie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ONDERSTEUNING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u van ons krijgt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93850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4984" y="2158946"/>
            <a:ext cx="6222844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Motiverende gespreksvoering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476438"/>
            <a:ext cx="6095847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Training door een psycholoog — alle centra dezelfde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2959026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4984" y="3124121"/>
            <a:ext cx="6222844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SOP's en draaiboeken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83" y="3441613"/>
            <a:ext cx="6095847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Per handeling, met de eCRF-nummers erbij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984" y="3924201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4984" y="4089297"/>
            <a:ext cx="6222844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Gegevensinvoer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" y="4406789"/>
            <a:ext cx="6095847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Doet het onderzoeksteam. U vult de formulieren in, verder niets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984" y="4889377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984" y="5054473"/>
            <a:ext cx="6222844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Eén contactpunt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83" y="5371965"/>
            <a:ext cx="6095847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Eén nummer, één mailadres, voor alles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2812" y="1904952"/>
            <a:ext cx="4063898" cy="39496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000799" y="2044648"/>
            <a:ext cx="3047923" cy="3047923"/>
          </a:xfrm>
          <a:prstGeom prst="ellipse">
            <a:avLst/>
          </a:prstGeom>
          <a:solidFill>
            <a:srgbClr val="FF7A0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hero"/>
          <p:cNvSpPr txBox="1"/>
          <p:nvPr/>
        </p:nvSpPr>
        <p:spPr>
          <a:xfrm>
            <a:off x="7772205" y="2158946"/>
            <a:ext cx="3555911" cy="190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205" y="4063898"/>
            <a:ext cx="3555911" cy="393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sancties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304" y="4584585"/>
            <a:ext cx="3428914" cy="10159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Wijkt u af van het protocol, dan meldt u dat. Het wordt geregistreerd, niet afgestraft.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21 / 26</a:t>
            </a:r>
          </a:p>
        </p:txBody>
      </p:sp>
      <p:pic>
        <p:nvPicPr>
          <p:cNvPr id="23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STAND VAN ZAKEN · SEPTEMBER 2026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af is, en waar het op wacht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7955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4984" y="1900190"/>
            <a:ext cx="2412939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dirty="0">
                <a:solidFill>
                  <a:srgbClr val="F2F8FC"/>
                </a:solidFill>
                <a:latin typeface="Segoe UI"/>
              </a:rPr>
              <a:t>Protocol en </a:t>
            </a:r>
            <a:r>
              <a:rPr sz="2000" b="1" dirty="0" err="1">
                <a:solidFill>
                  <a:srgbClr val="F2F8FC"/>
                </a:solidFill>
                <a:latin typeface="Segoe UI"/>
              </a:rPr>
              <a:t>formulieren</a:t>
            </a:r>
            <a:endParaRPr sz="2000" b="1" dirty="0">
              <a:solidFill>
                <a:srgbClr val="F2F8FC"/>
              </a:solidFill>
              <a:latin typeface="Sego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301917" y="2031949"/>
            <a:ext cx="6222844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Protocolversie 1.0 en zevenenveertig eCRF-documenten liggen er. De drukmeting is omgezet naar in-shoe, met acht regio's per voet.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2" y="2044648"/>
            <a:ext cx="1650958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klaar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984" y="271773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4984" y="2870128"/>
            <a:ext cx="2412939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Ethiek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1917" y="2855350"/>
            <a:ext cx="7540254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dirty="0">
                <a:solidFill>
                  <a:srgbClr val="8FB6D0"/>
                </a:solidFill>
                <a:latin typeface="Segoe UI"/>
              </a:rPr>
              <a:t>Centrale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indiening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bij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de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commissie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van UZ Leuven en het FAGG in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oktober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Uw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lokale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goedkeuring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verwachten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we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tussen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lang="nl-BE" sz="1500" b="0" dirty="0">
                <a:solidFill>
                  <a:srgbClr val="8FB6D0"/>
                </a:solidFill>
                <a:latin typeface="Segoe UI"/>
              </a:rPr>
              <a:t>oktober en november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752" y="2882827"/>
            <a:ext cx="1650958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okt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55591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4984" y="3708307"/>
            <a:ext cx="2412939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Toestellen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1917" y="3708307"/>
            <a:ext cx="6222844" cy="5767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dirty="0">
                <a:solidFill>
                  <a:srgbClr val="8FB6D0"/>
                </a:solidFill>
                <a:latin typeface="Segoe UI"/>
              </a:rPr>
              <a:t>De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drukmeetsystemen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w</a:t>
            </a:r>
            <a:r>
              <a:rPr lang="nl-BE" sz="1500" b="0" dirty="0">
                <a:solidFill>
                  <a:srgbClr val="8FB6D0"/>
                </a:solidFill>
                <a:latin typeface="Segoe UI"/>
              </a:rPr>
              <a:t>e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rden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besteld</a:t>
            </a:r>
            <a:r>
              <a:rPr lang="nl-BE" sz="1500" b="0" dirty="0">
                <a:solidFill>
                  <a:srgbClr val="8FB6D0"/>
                </a:solidFill>
                <a:latin typeface="Segoe UI"/>
              </a:rPr>
              <a:t> en geleverd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 </a:t>
            </a:r>
            <a:r>
              <a:rPr lang="nl-BE" sz="1500" b="0" dirty="0">
                <a:solidFill>
                  <a:srgbClr val="8FB6D0"/>
                </a:solidFill>
                <a:latin typeface="Segoe UI"/>
              </a:rPr>
              <a:t>Volledig technische installatie moet nog worden uitgevoerd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5752" y="3721006"/>
            <a:ext cx="1650958" cy="230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lang="nl-BE" sz="1300" b="1" dirty="0">
                <a:solidFill>
                  <a:srgbClr val="52BDEC"/>
                </a:solidFill>
                <a:latin typeface="Consolas"/>
              </a:rPr>
              <a:t>Okt-nov</a:t>
            </a:r>
            <a:endParaRPr sz="1300" b="1" dirty="0">
              <a:solidFill>
                <a:srgbClr val="52BDEC"/>
              </a:solidFill>
              <a:latin typeface="Consola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34984" y="439409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4984" y="4546486"/>
            <a:ext cx="2412939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Databank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1917" y="4517969"/>
            <a:ext cx="6222844" cy="272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dirty="0" err="1">
                <a:solidFill>
                  <a:srgbClr val="8FB6D0"/>
                </a:solidFill>
                <a:latin typeface="Segoe UI"/>
              </a:rPr>
              <a:t>Eén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centrale databank. U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vult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papier in, het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studieteam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voert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in.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5752" y="4559186"/>
            <a:ext cx="1650958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centraal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22 / 26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VAN HIER TOT UW EERSTE PATIËNT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Vijf stappen, de agenda volgt binnenkort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2463738"/>
            <a:ext cx="10921726" cy="1269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281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4984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2779" y="3009824"/>
            <a:ext cx="1650958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779" y="3467013"/>
            <a:ext cx="1701757" cy="4190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okt – nov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779" y="3987700"/>
            <a:ext cx="1701757" cy="12064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Lokale goedkeuring rond, drukmeetsysteem geleverd en getest.</a:t>
            </a:r>
          </a:p>
        </p:txBody>
      </p:sp>
      <p:sp>
        <p:nvSpPr>
          <p:cNvPr id="11" name="Oval 10"/>
          <p:cNvSpPr/>
          <p:nvPr/>
        </p:nvSpPr>
        <p:spPr>
          <a:xfrm>
            <a:off x="2959026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84472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22524" y="3009824"/>
            <a:ext cx="1650958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2524" y="3467013"/>
            <a:ext cx="1701757" cy="4190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december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2524" y="3987700"/>
            <a:ext cx="1701757" cy="123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 dirty="0" err="1">
                <a:solidFill>
                  <a:srgbClr val="8FB6D0"/>
                </a:solidFill>
                <a:latin typeface="Segoe UI"/>
              </a:rPr>
              <a:t>Opleidingsdag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bij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u. Technologie in de </a:t>
            </a:r>
            <a:r>
              <a:rPr lang="nl-BE" sz="1500" b="0" dirty="0">
                <a:solidFill>
                  <a:srgbClr val="8FB6D0"/>
                </a:solidFill>
                <a:latin typeface="Segoe UI"/>
              </a:rPr>
              <a:t>VM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,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gedrag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in de </a:t>
            </a:r>
            <a:r>
              <a:rPr lang="nl-BE" sz="1500" b="0" dirty="0">
                <a:solidFill>
                  <a:srgbClr val="8FB6D0"/>
                </a:solidFill>
                <a:latin typeface="Segoe UI"/>
              </a:rPr>
              <a:t>NM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</a:t>
            </a:r>
          </a:p>
        </p:txBody>
      </p:sp>
      <p:sp>
        <p:nvSpPr>
          <p:cNvPr id="16" name="Oval 15"/>
          <p:cNvSpPr/>
          <p:nvPr/>
        </p:nvSpPr>
        <p:spPr>
          <a:xfrm>
            <a:off x="516877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05447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32269" y="3009824"/>
            <a:ext cx="1650958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2269" y="3467013"/>
            <a:ext cx="1701757" cy="4190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januari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2269" y="3987700"/>
            <a:ext cx="1701757" cy="123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 dirty="0" err="1">
                <a:solidFill>
                  <a:srgbClr val="8FB6D0"/>
                </a:solidFill>
                <a:latin typeface="Segoe UI"/>
              </a:rPr>
              <a:t>Droogloop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: de vier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visitetypes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op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een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verzonnen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deelnemer</a:t>
            </a:r>
            <a:endParaRPr sz="1500" b="0" dirty="0">
              <a:solidFill>
                <a:srgbClr val="8FB6D0"/>
              </a:solidFill>
              <a:latin typeface="Segoe UI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7378515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26421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42013" y="3009824"/>
            <a:ext cx="1650958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2013" y="3467013"/>
            <a:ext cx="1701757" cy="4190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februari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2013" y="3987700"/>
            <a:ext cx="1701757" cy="12064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Pilootpatiënt, met debriefing binnen de week.</a:t>
            </a:r>
          </a:p>
        </p:txBody>
      </p:sp>
      <p:sp>
        <p:nvSpPr>
          <p:cNvPr id="26" name="Oval 25"/>
          <p:cNvSpPr/>
          <p:nvPr/>
        </p:nvSpPr>
        <p:spPr>
          <a:xfrm>
            <a:off x="958826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47396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51758" y="3009824"/>
            <a:ext cx="1650958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1758" y="3467013"/>
            <a:ext cx="1701757" cy="4190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februari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1758" y="3987700"/>
            <a:ext cx="1701757" cy="12064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Go/No-Go. Daarna start de inclusie.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23 / 26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WE VAN U NODIG HEBBEN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Vier dingen, concreet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7955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4984" y="2031949"/>
            <a:ext cx="2412939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Twee zorgverleners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5065" y="2087336"/>
            <a:ext cx="7708205" cy="272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dirty="0" err="1">
                <a:solidFill>
                  <a:srgbClr val="8FB6D0"/>
                </a:solidFill>
                <a:latin typeface="Segoe UI"/>
              </a:rPr>
              <a:t>Podoloog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en pedorthist, met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een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arts die de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geschiktheid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bevestigt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Allebei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gecertificeerd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2" y="2044648"/>
            <a:ext cx="1650958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984" y="271773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4983" y="2806629"/>
            <a:ext cx="2412939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dirty="0" err="1">
                <a:solidFill>
                  <a:srgbClr val="F2F8FC"/>
                </a:solidFill>
                <a:latin typeface="Segoe UI"/>
              </a:rPr>
              <a:t>Vierentwintig</a:t>
            </a:r>
            <a:r>
              <a:rPr sz="2000" b="1" dirty="0">
                <a:solidFill>
                  <a:srgbClr val="F2F8FC"/>
                </a:solidFill>
                <a:latin typeface="Segoe UI"/>
              </a:rPr>
              <a:t> </a:t>
            </a:r>
            <a:r>
              <a:rPr sz="2000" b="1" dirty="0" err="1">
                <a:solidFill>
                  <a:srgbClr val="F2F8FC"/>
                </a:solidFill>
                <a:latin typeface="Segoe UI"/>
              </a:rPr>
              <a:t>deelnemers</a:t>
            </a:r>
            <a:endParaRPr sz="2000" b="1" dirty="0">
              <a:solidFill>
                <a:srgbClr val="F2F8FC"/>
              </a:solidFill>
              <a:latin typeface="Segoe U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01917" y="2870128"/>
            <a:ext cx="6222844" cy="272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dirty="0" err="1">
                <a:solidFill>
                  <a:srgbClr val="8FB6D0"/>
                </a:solidFill>
                <a:latin typeface="Segoe UI"/>
              </a:rPr>
              <a:t>Twaalf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in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elke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arm.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752" y="2882827"/>
            <a:ext cx="1650958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55591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4984" y="3708307"/>
            <a:ext cx="2412939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dirty="0">
                <a:solidFill>
                  <a:srgbClr val="F2F8FC"/>
                </a:solidFill>
                <a:latin typeface="Segoe UI"/>
              </a:rPr>
              <a:t>Een </a:t>
            </a:r>
            <a:r>
              <a:rPr sz="2000" b="1" dirty="0" err="1">
                <a:solidFill>
                  <a:srgbClr val="F2F8FC"/>
                </a:solidFill>
                <a:latin typeface="Segoe UI"/>
              </a:rPr>
              <a:t>looppad</a:t>
            </a:r>
            <a:endParaRPr sz="2000" b="1" dirty="0">
              <a:solidFill>
                <a:srgbClr val="F2F8FC"/>
              </a:solidFill>
              <a:latin typeface="Segoe U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301917" y="3708307"/>
            <a:ext cx="6222844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dirty="0">
                <a:solidFill>
                  <a:srgbClr val="8FB6D0"/>
                </a:solidFill>
                <a:latin typeface="Segoe UI"/>
              </a:rPr>
              <a:t>Tien meter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volstaat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 Extra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apparatuur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is niet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nodig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5752" y="3721006"/>
            <a:ext cx="1650958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10 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39409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4984" y="4546486"/>
            <a:ext cx="2412939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dirty="0">
                <a:solidFill>
                  <a:srgbClr val="F2F8FC"/>
                </a:solidFill>
                <a:latin typeface="Segoe UI"/>
              </a:rPr>
              <a:t>Een back-up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1917" y="4546486"/>
            <a:ext cx="6222844" cy="272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dirty="0" err="1">
                <a:solidFill>
                  <a:srgbClr val="8FB6D0"/>
                </a:solidFill>
                <a:latin typeface="Segoe UI"/>
              </a:rPr>
              <a:t>Eén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zorgverlener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die</a:t>
            </a:r>
            <a:r>
              <a:rPr lang="nl-BE" sz="1500" b="0" dirty="0">
                <a:solidFill>
                  <a:srgbClr val="8FB6D0"/>
                </a:solidFill>
                <a:latin typeface="Segoe UI"/>
              </a:rPr>
              <a:t> kan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inval</a:t>
            </a:r>
            <a:r>
              <a:rPr lang="nl-BE" sz="1500" b="0" dirty="0" err="1">
                <a:solidFill>
                  <a:srgbClr val="8FB6D0"/>
                </a:solidFill>
                <a:latin typeface="Segoe UI"/>
              </a:rPr>
              <a:t>len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, en die de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droogloop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meedoet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5752" y="4559186"/>
            <a:ext cx="1650958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24 / 26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WIE U AANSPREEKT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 als er iets misloopt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3174920" cy="39369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ortret" descr="jano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502" y="2006549"/>
            <a:ext cx="2889883" cy="373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17892" y="1904952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317892" y="2070048"/>
            <a:ext cx="6349841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Janou De Buyser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0591" y="2539936"/>
            <a:ext cx="5714857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DOCTORAATSONDERZOEKER · DAGELIJKSE OPVOLGING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7892" y="2857428"/>
            <a:ext cx="7238819" cy="634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Uw eerste aanspreekpunt: inclusies, metingen, formulieren, sensoren en alles wat in de praktijk vastloopt.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7892" y="3530511"/>
            <a:ext cx="3682907" cy="25399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janou.debuyser@kuleuven.be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3803" y="3530511"/>
            <a:ext cx="3682907" cy="25399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Spoorwegstraat 12 · Brugge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7892" y="3873403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17892" y="4038499"/>
            <a:ext cx="6349841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prof. dr. Kevin Deschamps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591" y="4508387"/>
            <a:ext cx="5714857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PROMOTOR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7892" y="4825879"/>
            <a:ext cx="7238819" cy="634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Wetenschappelijke vragen, de opzet van de studie en afspraken op het niveau van uw centrum.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7892" y="5498962"/>
            <a:ext cx="3682907" cy="25399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Revalidatiewetenschappen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3803" y="5498962"/>
            <a:ext cx="3682907" cy="25399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KU Leuven · Campus Brugge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" y="596885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4984" y="6108547"/>
            <a:ext cx="10921726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Consortium: KU Leuven — Revalidatiewetenschappen (Musculoskeletal Research Group) en Volksgezondheid en Eerstelijnszorg · Vrije Universiteit Brussel — Geneeskunde en Farmacie. Co-promotoren: Fabienne Dobbels, Maaike Fobelets en Koen Putman.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25 / 26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DE CIJFERS VANDAAN KOMEN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Referenties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1854153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5175" y="1854153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Armstrong DG et al. N Engl J Med. 2017;376(24):2367–75.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" y="2188470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175" y="2188470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Bus SA et al. Diabetes Metab Res Rev. 2016;32(Suppl 1):195–200.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984" y="2522786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75" y="2522786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Bus SA et al. Diabetes Care. 2011;34(7):1595–600.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984" y="2857103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75" y="2857103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Bus SA et al. Diabetes Metab Res Rev. 2020;36(S1):e3237.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984" y="3191420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75" y="3191420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Bus SA et al. Diabetes Metab Res Rev. 2024;40(3):e3651.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984" y="3525736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75" y="3525736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Bus SA et al. Diabetes Care. 2013;36(12):4109–16.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1918" y="1854153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110" y="1854153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Waaijman R et al. Diabetes Care. 2013;36(6):1613–8.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1918" y="2188470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2110" y="2188470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Waaijman R et al. Diabetes Care. 2014;37(6):1697–705.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1918" y="2522786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2110" y="2522786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Lutjeboer T et al. J Rehabil Med. 2018;50(10):920–6.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1918" y="2857103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2110" y="2857103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Morbach S et al. Diabetes Metab Res Rev. 2016;32(Suppl 1):318–25.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1918" y="3191420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2110" y="3191420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Zwaferink JBJ et al. Sensors. 2024;24(6):1795.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De nummering volgt die van het protocolmanuscript.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26 / 26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1702</Words>
  <Application>Microsoft Office PowerPoint</Application>
  <PresentationFormat>Breedbeeld</PresentationFormat>
  <Paragraphs>355</Paragraphs>
  <Slides>26</Slides>
  <Notes>26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26</vt:i4>
      </vt:variant>
    </vt:vector>
  </HeadingPairs>
  <TitlesOfParts>
    <vt:vector size="32" baseType="lpstr">
      <vt:lpstr>Arial</vt:lpstr>
      <vt:lpstr>Calibri</vt:lpstr>
      <vt:lpstr>Consolas</vt:lpstr>
      <vt:lpstr>Segoe UI</vt:lpstr>
      <vt:lpstr>Segoe UI Light</vt:lpstr>
      <vt:lpstr>Office Theme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Janou De Buyser</cp:lastModifiedBy>
  <cp:revision>1</cp:revision>
  <dcterms:created xsi:type="dcterms:W3CDTF">2013-01-27T09:14:16Z</dcterms:created>
  <dcterms:modified xsi:type="dcterms:W3CDTF">2026-09-21T11:05:40Z</dcterms:modified>
  <cp:category/>
</cp:coreProperties>
</file>