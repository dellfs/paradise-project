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PARADISE gaat niet over genezen maar over terugkomen. Zes Belgische voetklinieken, honderdvierenveertig patiënten, achttien maanden per patiënt. Ik neem u mee langs het waarom, de meting en het traject. Onderbreek me gerust.</a:t>
            </a:r>
          </a:p>
          <a:p/>
          <a:p>
            <a:r>
              <a:t>PRESENTATIETIP</a:t>
            </a:r>
          </a:p>
          <a:p>
            <a:r>
              <a:t>Het beeld draagt deze dia. Wilt u een ander beeld: zet het in beeld\stock\, draai verwerk_stock.py en zet de bestandsnaam hier. Liggend, koele tonen, en rustig onderaan — daar staat de titel.</a:t>
            </a:r>
          </a:p>
          <a:p/>
          <a:p>
            <a:r>
              <a:t>INTERACTIE</a:t>
            </a:r>
          </a:p>
          <a:p>
            <a:r>
              <a:t>Laat de dia staan terwijl de zaal binnenkomt. Zeg pas iets als iedereen zit.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Elke stip is een patiënt. Vierentwintig daarvan komen uit úw kliniek, twaalf in elke arm. Zes keer vierentwintig is honderdvierenveertig. Blijft één centrum achter, dan haalt de studie het niet.</a:t>
            </a:r>
          </a:p>
          <a:p/>
          <a:p>
            <a:r>
              <a:t>PRESENTATIETIP</a:t>
            </a:r>
          </a:p>
          <a:p>
            <a:r>
              <a:t>Wijs hun eigen centrum aan: 24 van die 144 stippen zijn van hen. Zes keer 24 is 144 — als één centrum achterblijft, haalt de studie het niet.</a:t>
            </a:r>
          </a:p>
          <a:p/>
          <a:p>
            <a:r>
              <a:t>INTERACTIE</a:t>
            </a:r>
          </a:p>
          <a:p>
            <a:r>
              <a:t>Vraag of ze de andere vijf centra kennen. Het maakt van zes losse klinieken één netwerk.</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De studie loopt in zes voetklinieken, en u bent er één van. Elk centrum neemt vierentwintig deelnemers op, twaalf in elke arm. Samen maakt dat honderdvierenveertig. Hoe die vierentwintig bij u binnenkomen, ziet u zo in het traject.</a:t>
            </a:r>
          </a:p>
          <a:p/>
          <a:p>
            <a:r>
              <a:t>PRESENTATIETIP</a:t>
            </a:r>
          </a:p>
          <a:p>
            <a:r>
              <a:t>Wijs uw eigen centrum aan. Alle zes liggen in Vlaanderen; het verste centrum ligt op anderhalf uur.</a:t>
            </a:r>
          </a:p>
          <a:p/>
          <a:p>
            <a:r>
              <a:t>INTERACTIE</a:t>
            </a:r>
          </a:p>
          <a:p>
            <a:r>
              <a:t>Geen.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Vier fasen. We zitten in de pilot; februari 2027 is de harde startdatum. Daarna twaalf maanden includeren, en achttien maanden opvolgen per patiënt. Alleen de inclusieperiode verschuift de einddatum.</a:t>
            </a:r>
          </a:p>
          <a:p/>
          <a:p>
            <a:r>
              <a:t>PRESENTATIETIP</a:t>
            </a:r>
          </a:p>
          <a:p>
            <a:r>
              <a:t>Dit is de dia waar het board naar kijkt. Zeg expliciet dat de pilot nu loopt en dat februari 2027 de harde startdatum is.</a:t>
            </a:r>
          </a:p>
          <a:p/>
          <a:p>
            <a:r>
              <a:t>INTERACTIE</a:t>
            </a:r>
          </a:p>
          <a:p>
            <a:r>
              <a:t>Vraag of hun centrum de twee inclusies per maand haalbaar acht.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Blok één. Ik geef u vier cijfers. Na het vierde weet u waarom deze studie twee normen heeft in plaats van één, en waarom niemand die tot nu toe samen gehaald heeft.</a:t>
            </a:r>
          </a:p>
          <a:p/>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Veertig procent krijgt binnen één jaar een nieuw ulcus. Na vijf jaar is dat vijfenzestig. En de sterfte ligt tweeënhalf keer hoger dan bij diabetes zonder ulcus — na een majeure amputatie zelfs boven de zeventig procent. Dit is geen wondprobleem. Dit is een overlevingsprobleem.</a:t>
            </a:r>
          </a:p>
          <a:p/>
          <a:p>
            <a:r>
              <a:t>PRESENTATIETIP</a:t>
            </a:r>
          </a:p>
          <a:p>
            <a:r>
              <a:t>Dit is het probleem waar de hele studie op staat. Eén dia, dan door.</a:t>
            </a:r>
          </a:p>
          <a:p/>
          <a:p>
            <a:r>
              <a:t>INTERACTIE</a:t>
            </a:r>
          </a:p>
          <a:p>
            <a:r>
              <a:t>Geen. Dit is context, geen discussie.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Waar die cijfers vandaan komen, ziet u hier. Elk punt is een cohort; de lijn erdoorheen is de trend. Na één jaar veertig procent, na vijf jaar vijfenzestig. Het risico verdwijnt niet, het stapelt op.</a:t>
            </a:r>
          </a:p>
          <a:p/>
          <a:p>
            <a:r>
              <a:t>PRESENTATIETIP</a:t>
            </a:r>
          </a:p>
          <a:p>
            <a:r>
              <a:t>De vorige dia noemt de cijfers; deze laat zien waar ze vandaan komen. Wijs de trendlijn aan, niet de losse punten.</a:t>
            </a:r>
          </a:p>
          <a:p/>
          <a:p>
            <a:r>
              <a:t>INTERACTIE</a:t>
            </a:r>
          </a:p>
          <a:p>
            <a:r>
              <a:t>Geen. Laat de spreiding het werk doen.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En dan het cijfer dat het onverdraaglijk maakt. Driekwart van deze ulcera is in principe te voorkomen. Toch komt veertig procent binnen het jaar terug. Dat gat tussen wat kan en wat gebeurt — daar gaat deze studie over.</a:t>
            </a:r>
          </a:p>
          <a:p/>
          <a:p>
            <a:r>
              <a:t>PRESENTATIETIP</a:t>
            </a:r>
          </a:p>
          <a:p>
            <a:r>
              <a:t>Zeg dit traag en zwijg dan twee tellen. Dit is de enige dia in blok 1 waar de zaal niet leest maar luistert.</a:t>
            </a:r>
          </a:p>
          <a:p/>
          <a:p>
            <a:r>
              <a:t>INTERACTIE</a:t>
            </a:r>
          </a:p>
          <a:p>
            <a:r>
              <a:t>Geen. De stilte doet het werk.</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Dit is de beste poging die er ligt: drukgeoptimaliseerd maatschoeisel, multicentrisch en gerandomiseerd. Over iedereen samen: geen verschil. Bij wie hem dróég: bijna gehalveerd. Het verschil zat dus niet in de schoen.</a:t>
            </a:r>
          </a:p>
          <a:p/>
          <a:p>
            <a:r>
              <a:t>PRESENTATIETIP</a:t>
            </a:r>
          </a:p>
          <a:p>
            <a:r>
              <a:t>Hier komt de tweede norm vandaan. Zonder deze dia is 80% draagtijd een willekeurig getal.</a:t>
            </a:r>
          </a:p>
          <a:p/>
          <a:p>
            <a:r>
              <a:t>INTERACTIE</a:t>
            </a:r>
          </a:p>
          <a:p>
            <a:r>
              <a:t>Geen.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Daar zit het. Eenenzeventig procent draagtijd, gemeten met een sensor en niet gevraagd. Thuis zakt het naar eenenzestig, en juist thuis worden de meeste stappen gezet. De schoen stond in de gang terwijl de patiënt door het huis liep.</a:t>
            </a:r>
          </a:p>
          <a:p/>
          <a:p>
            <a:r>
              <a:t>PRESENTATIETIP</a:t>
            </a:r>
          </a:p>
          <a:p>
            <a:r>
              <a:t>Binnenshuis wordt het schoeisel het minst gedragen, en juist daar worden veel stappen gezet. Dat is uw belangrijkste gesprekspunt bij SEBIA.</a:t>
            </a:r>
          </a:p>
          <a:p/>
          <a:p>
            <a:r>
              <a:t>INTERACTIE</a:t>
            </a:r>
          </a:p>
          <a:p>
            <a:r>
              <a:t>Vraag wat zij schatten bij hun eigen patiënten.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Daarom doen wij het anders. Geen drie losse maatregelen, maar één dienst met twee normen: de zool moet de druk hálen, én hij moet gedragen wórden. Beide gemeten, beide bijgestuurd, en beide door uw eigen team. Dat is nog nooit samen getoetst.</a:t>
            </a:r>
          </a:p>
          <a:p/>
          <a:p>
            <a:r>
              <a:t>PRESENTATIETIP</a:t>
            </a:r>
          </a:p>
          <a:p>
            <a:r>
              <a:t>Dit is de kanteldia. Alles ervoor is het probleem, alles erna is de uitvoering. Zeg met zoveel woorden dat dit nog nooit samen getoetst is.</a:t>
            </a:r>
          </a:p>
          <a:p/>
          <a:p>
            <a:r>
              <a:t>INTERACTIE</a:t>
            </a:r>
          </a:p>
          <a:p>
            <a:r>
              <a:t>Vraag welke van de twee normen zij het moeilijkst achten. Het antwoord is bijna altijd de tweede.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Blok twee: de meting. Wat u meet, hoe u het meet, en wanneer het goed genoeg is.</a:t>
            </a:r>
          </a:p>
          <a:p/>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Elke sensor geeft een cijfer. Dit is de baseline, in de schoen: driehonderdtwaalf kilopascal onder metatarsaal twee-drie. Drie loopproeven per voet, waarvan de middelste twaalf passen tellen. Hiertegen wordt alles afgezet.</a:t>
            </a:r>
          </a:p>
          <a:p/>
          <a:p>
            <a:r>
              <a:t>PRESENTATIETIP</a:t>
            </a:r>
          </a:p>
          <a:p>
            <a:r>
              <a:t>De meest gemaakte fout is één loopproef per voet. Het protocol vraagt er drie, en het gemiddelde telt.</a:t>
            </a:r>
          </a:p>
          <a:p/>
          <a:p>
            <a:r>
              <a:t>INTERACTIE</a:t>
            </a:r>
          </a:p>
          <a:p>
            <a:r>
              <a:t>Vraag wie er vandaag al in de schoen meet.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Zelfde voet, na aanpassing. Honderdzesentachtig kilopascal: veertig procent lager én onder de tweehonderd. De norm geldt per doelregio. Haalt u ze niet, dan past u aan en meet u opnieuw.</a:t>
            </a:r>
          </a:p>
          <a:p/>
          <a:p>
            <a:r>
              <a:t>PRESENTATIETIP</a:t>
            </a:r>
          </a:p>
          <a:p>
            <a:r>
              <a:t>Zeg expliciet: "óf". Twee wegen naar dezelfde norm, geen dubbele eis. En de vergelijking gebeurt per regio, niet over de hele voet.</a:t>
            </a:r>
          </a:p>
          <a:p/>
          <a:p>
            <a:r>
              <a:t>INTERACTIE</a:t>
            </a:r>
          </a:p>
          <a:p>
            <a:r>
              <a:t>Vraag de pedorthisten hoeveel aanpassingsrondes realistisch zijn.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Even stilstaan. Het doel is niet minder belasting. Het doel is belasting op een plek die het aankan. Dat is de hele interventie.</a:t>
            </a:r>
          </a:p>
          <a:p/>
          <a:p>
            <a:r>
              <a:t>PRESENTATIETIP</a:t>
            </a:r>
          </a:p>
          <a:p>
            <a:r>
              <a:t>Zeg deze twee zinnen en zwijg dan. Laat de dia staan tot iemand ongemakkelijk wordt. Dit is het enige moment in blok 2 waarop de zaal niets te lezen heeft.</a:t>
            </a:r>
          </a:p>
          <a:p/>
          <a:p>
            <a:r>
              <a:t>INTERACTIE</a:t>
            </a:r>
          </a:p>
          <a:p>
            <a:r>
              <a:t>Geen. Bewust geen.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Blok drie: het traject. Negen contactmomenten. Per moment: wat u doet en wat u invult.</a:t>
            </a:r>
          </a:p>
          <a:p/>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Screening en negen visites over achttien maanden. De eerste drie liggen dicht op elkaar. Daarna is het ritme elke drie maanden — hetzelfde ritme als de controle die deze patiënten toch al krijgen.</a:t>
            </a:r>
          </a:p>
          <a:p/>
          <a:p>
            <a:r>
              <a:t>PRESENTATIETIP</a:t>
            </a:r>
          </a:p>
          <a:p>
            <a:r>
              <a:t>Geef eerst het overzicht. De volgende dia's lopen elk moment af.</a:t>
            </a:r>
          </a:p>
          <a:p/>
          <a:p>
            <a:r>
              <a:t>INTERACTIE</a:t>
            </a:r>
          </a:p>
          <a:p>
            <a:r>
              <a:t>Geen. De detaildia's komen hierna.</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Drie toestellen, drie taken. De pedar meet druk, de Orthotimer meet of de zool gedragen is, de MoveMonitor meet hoeveel er gestapt wordt. Alleen de pedar bedient u bij elke meting; de andere twee plaatst u één keer en leest u uit.</a:t>
            </a:r>
          </a:p>
          <a:p/>
          <a:p>
            <a:r>
              <a:t>PRESENTATIETIP</a:t>
            </a:r>
          </a:p>
          <a:p>
            <a:r>
              <a:t>Benoem dat de Orthotimer géén GPS, microfoon of camera heeft. Die vraag komt gegarandeerd.</a:t>
            </a:r>
          </a:p>
          <a:p/>
          <a:p>
            <a:r>
              <a:t>INTERACTIE</a:t>
            </a:r>
          </a:p>
          <a:p>
            <a:r>
              <a:t>Laat de toestellen rondgaan. Fysiek werkt beter dan een dia.</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Dit is de enige regel die u écht moet onthouden. De controlegroep krijgt ook een meting en een sensor, maar die getallen blijven dicht. Bespreekt u ze, dan lévert u de interventie. Klinische bevindingen zijn géén meetwaarden: een laesie meldt en behandelt u meteen, in beide groepen.</a:t>
            </a:r>
          </a:p>
          <a:p/>
          <a:p>
            <a:r>
              <a:t>PRESENTATIETIP</a:t>
            </a:r>
          </a:p>
          <a:p>
            <a:r>
              <a:t>Dit is de dia waar u stilvalt. Geen haast. Vraag of het helder is voordat u doorgaat.</a:t>
            </a:r>
          </a:p>
          <a:p/>
          <a:p>
            <a:r>
              <a:t>INTERACTIE</a:t>
            </a:r>
          </a:p>
          <a:p>
            <a:r>
              <a:t>Laat iemand het in eigen woorden herhalen. Zo weet u of het zit.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Vier rollen. De podoloog meet, leest uit en begeleidt. De pedorthist maakt en past aan. De arts bevestigt geschiktheid en beoordeelt laesies. Het management houdt tijd vrij en bewaakt de vierentwintig.</a:t>
            </a:r>
          </a:p>
          <a:p/>
          <a:p>
            <a:r>
              <a:t>PRESENTATIETIP</a:t>
            </a:r>
          </a:p>
          <a:p>
            <a:r>
              <a:t>Kijk elke groep aan bij hun rij. Namen noemen als u ze kent.</a:t>
            </a:r>
          </a:p>
          <a:p/>
          <a:p>
            <a:r>
              <a:t>INTERACTIE</a:t>
            </a:r>
          </a:p>
          <a:p>
            <a:r>
              <a:t>Vraag per rij: "herkenbaar, of mis ik iets?" Pas de taakverdeling ter plekke aan als dat nodig is.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En dit krijgt u van ons. Training in motiverende gespreksvoering, SOP's per handeling, één contactpunt, en het onderzoeksteam voert de gegevens in. Nul sancties: wijkt u af, dan meldt u het, en dat wordt geregistreerd, niet afgestraft.</a:t>
            </a:r>
          </a:p>
          <a:p/>
          <a:p>
            <a:r>
              <a:t>PRESENTATIETIP</a:t>
            </a:r>
          </a:p>
          <a:p>
            <a:r>
              <a:t>Het cijfer rechts ontspant de zaal. Zeg het expliciet en wacht even. Vraagt iemand hoe de ingevulde formulieren bij ons raken: zeg dat daar bericht over volgt. Beloof geen werkwijze, want die ligt nog niet vast.</a:t>
            </a:r>
          </a:p>
          <a:p/>
          <a:p>
            <a:r>
              <a:t>INTERACTIE</a:t>
            </a:r>
          </a:p>
          <a:p>
            <a:r>
              <a:t>Geen.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Het dossier is klaar; wat nu telt is de volgorde. Protocol en formulieren liggen er, de indiening vertrekt in oktober, en uw lokale goedkeuring verwachten we tussen november en januari. Het enige met een echte levertijd is het drukmeetsysteem: zes tot acht weken. Daarom staan de data van december zoals ze staan.</a:t>
            </a:r>
          </a:p>
          <a:p/>
          <a:p>
            <a:r>
              <a:t>PRESENTATIETIP</a:t>
            </a:r>
          </a:p>
          <a:p>
            <a:r>
              <a:t>Dit is de update waar ze om gevraagd hebben. Noem één termijn hardop, niet alle vier.</a:t>
            </a:r>
          </a:p>
          <a:p/>
          <a:p>
            <a:r>
              <a:t>INTERACTIE</a:t>
            </a:r>
          </a:p>
          <a:p>
            <a:r>
              <a:t>Vraag of hun lokale commissie in november zitting heeft.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Tussen vandaag en uw eerste patiënt liggen vijf stappen. De opleidingsdag bij u duurt een halve dag: technologie in de voormiddag, gedragsbijsturing in de namiddag. In januari doen we een droogloop met een verzonnen deelnemer, op uw eigen toestellen. De agenda met de precieze data sturen we binnenkort rond.</a:t>
            </a:r>
          </a:p>
          <a:p/>
          <a:p>
            <a:r>
              <a:t>PRESENTATIETIP</a:t>
            </a:r>
          </a:p>
          <a:p>
            <a:r>
              <a:t>Zeg expliciet dat de agenda met de precieze data binnenkort volgt, en dat u die met de zes centra samen vastlegt.</a:t>
            </a:r>
          </a:p>
          <a:p/>
          <a:p>
            <a:r>
              <a:t>INTERACTIE</a:t>
            </a:r>
          </a:p>
          <a:p>
            <a:r>
              <a:t>Vraag welke dagen van de week bij hen het beste passen, en wie er dan bij moet zijn.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Vier dingen hebben we van u nodig, en geen daarvan is gegevensinvoer. Twee zorgverleners die de opleiding volgen en allebei gecertificeerd raken. Vierentwintig deelnemers over de inclusieperiode. En een looppad van tien meter, meer niet.</a:t>
            </a:r>
          </a:p>
          <a:p/>
          <a:p>
            <a:r>
              <a:t>PRESENTATIETIP</a:t>
            </a:r>
          </a:p>
          <a:p>
            <a:r>
              <a:t>Dit is de vraag. Wees concreet en beloof niets wat u niet weet.</a:t>
            </a:r>
          </a:p>
          <a:p/>
          <a:p>
            <a:r>
              <a:t>INTERACTIE</a:t>
            </a:r>
          </a:p>
          <a:p>
            <a:r>
              <a:t>Overloop de vier punten één voor één en vraag per punt of het haalbaar is.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Tot slot: wie u aanspreekt. Praktische vragen — inclusies, metingen, formulieren, sensoren — komen bij mij. Wetenschappelijke vragen en afspraken op het niveau van uw centrum bij professor Deschamps. Dank u wel.</a:t>
            </a:r>
          </a:p>
          <a:p/>
          <a:p>
            <a:r>
              <a:t>PRESENTATIETIP</a:t>
            </a:r>
          </a:p>
          <a:p>
            <a:r>
              <a:t>Laat deze dia staan tijdens het napraten. Zeg erbij dat kleine dingen ook mogen — een sensor die niet uitleest is geen domme vraag.</a:t>
            </a:r>
          </a:p>
          <a:p/>
          <a:p>
            <a:r>
              <a:t>INTERACTIE</a:t>
            </a:r>
          </a:p>
          <a:p>
            <a:r>
              <a:t>Loop rond terwijl de dia staat. Wie een vraag heeft, komt naar het gezicht dat op het scherm staat.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Deze dia laat u staan tijdens de vragen. Alles wat u genoemd hebt, staat hier met nummer en citaat, in dezelfde nummering als het protocolmanuscript.</a:t>
            </a:r>
          </a:p>
          <a:p/>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5.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5.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5.png"/><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5.pn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2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fotokader" descr="titel_voetonderzoek.jpg"/>
          <p:cNvPicPr>
            <a:picLocks noChangeAspect="1"/>
          </p:cNvPicPr>
          <p:nvPr/>
        </p:nvPicPr>
        <p:blipFill>
          <a:blip r:embed="rId2"/>
          <a:stretch>
            <a:fillRect/>
          </a:stretch>
        </p:blipFill>
        <p:spPr>
          <a:xfrm>
            <a:off x="-45491" y="0"/>
            <a:ext cx="12282678" cy="6857828"/>
          </a:xfrm>
          <a:prstGeom prst="rect">
            <a:avLst/>
          </a:prstGeom>
        </p:spPr>
      </p:pic>
      <p:sp>
        <p:nvSpPr>
          <p:cNvPr id="4" name="Rectangle 3"/>
          <p:cNvSpPr/>
          <p:nvPr/>
        </p:nvSpPr>
        <p:spPr>
          <a:xfrm>
            <a:off x="0" y="0"/>
            <a:ext cx="12191695" cy="6857828"/>
          </a:xfrm>
          <a:prstGeom prst="rect">
            <a:avLst/>
          </a:prstGeom>
          <a:gradFill rotWithShape="1">
            <a:gsLst>
              <a:gs pos="0">
                <a:srgbClr val="04182A">
                  <a:alpha val="10000"/>
                </a:srgbClr>
              </a:gs>
              <a:gs pos="62000">
                <a:srgbClr val="04182A">
                  <a:alpha val="96000"/>
                </a:srgbClr>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paradise_merk.png"/>
          <p:cNvPicPr>
            <a:picLocks noChangeAspect="1"/>
          </p:cNvPicPr>
          <p:nvPr/>
        </p:nvPicPr>
        <p:blipFill>
          <a:blip r:embed="rId3"/>
          <a:stretch>
            <a:fillRect/>
          </a:stretch>
        </p:blipFill>
        <p:spPr>
          <a:xfrm>
            <a:off x="516169" y="482587"/>
            <a:ext cx="1177404" cy="1346166"/>
          </a:xfrm>
          <a:prstGeom prst="rect">
            <a:avLst/>
          </a:prstGeom>
        </p:spPr>
      </p:pic>
      <p:sp>
        <p:nvSpPr>
          <p:cNvPr id="6" name="hero"/>
          <p:cNvSpPr txBox="1"/>
          <p:nvPr/>
        </p:nvSpPr>
        <p:spPr>
          <a:xfrm>
            <a:off x="634984" y="3848003"/>
            <a:ext cx="8889777" cy="1650958"/>
          </a:xfrm>
          <a:prstGeom prst="rect">
            <a:avLst/>
          </a:prstGeom>
          <a:noFill/>
        </p:spPr>
        <p:txBody>
          <a:bodyPr wrap="none" anchor="t" lIns="0" rIns="0" tIns="0" bIns="0">
            <a:spAutoFit/>
          </a:bodyPr>
          <a:lstStyle/>
          <a:p>
            <a:pPr algn="l">
              <a:lnSpc>
                <a:spcPct val="90000"/>
              </a:lnSpc>
            </a:pPr>
            <a:r>
              <a:rPr sz="12400" b="1">
                <a:solidFill>
                  <a:srgbClr val="F2F8FC"/>
                </a:solidFill>
                <a:latin typeface="Segoe UI"/>
              </a:rPr>
              <a:t>PARADISE</a:t>
            </a:r>
          </a:p>
        </p:txBody>
      </p:sp>
      <p:sp>
        <p:nvSpPr>
          <p:cNvPr id="7" name="TextBox 6"/>
          <p:cNvSpPr txBox="1"/>
          <p:nvPr/>
        </p:nvSpPr>
        <p:spPr>
          <a:xfrm>
            <a:off x="673083" y="5397365"/>
            <a:ext cx="8889777" cy="380990"/>
          </a:xfrm>
          <a:prstGeom prst="rect">
            <a:avLst/>
          </a:prstGeom>
          <a:noFill/>
        </p:spPr>
        <p:txBody>
          <a:bodyPr wrap="square" anchor="t" lIns="0" rIns="0" tIns="0" bIns="0">
            <a:spAutoFit/>
          </a:bodyPr>
          <a:lstStyle/>
          <a:p>
            <a:pPr algn="l">
              <a:lnSpc>
                <a:spcPct val="125000"/>
              </a:lnSpc>
            </a:pPr>
            <a:r>
              <a:rPr sz="2800" b="1">
                <a:solidFill>
                  <a:srgbClr val="52BDEC"/>
                </a:solidFill>
                <a:latin typeface="Segoe UI"/>
              </a:rPr>
              <a:t>AZ Groeninge · toelichting en stand van zaken</a:t>
            </a:r>
          </a:p>
        </p:txBody>
      </p:sp>
      <p:sp>
        <p:nvSpPr>
          <p:cNvPr id="8" name="Rectangle 7"/>
          <p:cNvSpPr/>
          <p:nvPr/>
        </p:nvSpPr>
        <p:spPr>
          <a:xfrm>
            <a:off x="634984" y="5879952"/>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34984" y="6045048"/>
            <a:ext cx="1685893" cy="609584"/>
          </a:xfrm>
          <a:prstGeom prst="roundRect">
            <a:avLst>
              <a:gd name="adj" fmla="val 45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kuleuven.png"/>
          <p:cNvPicPr>
            <a:picLocks noChangeAspect="1"/>
          </p:cNvPicPr>
          <p:nvPr/>
        </p:nvPicPr>
        <p:blipFill>
          <a:blip r:embed="rId4"/>
          <a:stretch>
            <a:fillRect/>
          </a:stretch>
        </p:blipFill>
        <p:spPr>
          <a:xfrm>
            <a:off x="787380" y="6152996"/>
            <a:ext cx="1381100" cy="393690"/>
          </a:xfrm>
          <a:prstGeom prst="rect">
            <a:avLst/>
          </a:prstGeom>
        </p:spPr>
      </p:pic>
      <p:sp>
        <p:nvSpPr>
          <p:cNvPr id="11" name="Rounded Rectangle 10"/>
          <p:cNvSpPr/>
          <p:nvPr/>
        </p:nvSpPr>
        <p:spPr>
          <a:xfrm>
            <a:off x="2574870" y="6045048"/>
            <a:ext cx="1420884" cy="609584"/>
          </a:xfrm>
          <a:prstGeom prst="roundRect">
            <a:avLst>
              <a:gd name="adj" fmla="val 45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vub.png"/>
          <p:cNvPicPr>
            <a:picLocks noChangeAspect="1"/>
          </p:cNvPicPr>
          <p:nvPr/>
        </p:nvPicPr>
        <p:blipFill>
          <a:blip r:embed="rId5"/>
          <a:stretch>
            <a:fillRect/>
          </a:stretch>
        </p:blipFill>
        <p:spPr>
          <a:xfrm>
            <a:off x="2727267" y="6152996"/>
            <a:ext cx="1116092" cy="393690"/>
          </a:xfrm>
          <a:prstGeom prst="rect">
            <a:avLst/>
          </a:prstGeom>
        </p:spPr>
      </p:pic>
      <p:sp>
        <p:nvSpPr>
          <p:cNvPr id="13" name="TextBox 12"/>
          <p:cNvSpPr txBox="1"/>
          <p:nvPr/>
        </p:nvSpPr>
        <p:spPr>
          <a:xfrm>
            <a:off x="4249749" y="6095847"/>
            <a:ext cx="2158946" cy="253993"/>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FWO</a:t>
            </a:r>
          </a:p>
        </p:txBody>
      </p:sp>
      <p:sp>
        <p:nvSpPr>
          <p:cNvPr id="14" name="TextBox 13"/>
          <p:cNvSpPr txBox="1"/>
          <p:nvPr/>
        </p:nvSpPr>
        <p:spPr>
          <a:xfrm>
            <a:off x="4262449" y="6349841"/>
            <a:ext cx="2666933" cy="215894"/>
          </a:xfrm>
          <a:prstGeom prst="rect">
            <a:avLst/>
          </a:prstGeom>
          <a:noFill/>
        </p:spPr>
        <p:txBody>
          <a:bodyPr wrap="square" anchor="t" lIns="0" rIns="0" tIns="0" bIns="0">
            <a:spAutoFit/>
          </a:bodyPr>
          <a:lstStyle/>
          <a:p>
            <a:pPr algn="l">
              <a:lnSpc>
                <a:spcPct val="125000"/>
              </a:lnSpc>
            </a:pPr>
            <a:r>
              <a:rPr sz="1200" b="0">
                <a:solidFill>
                  <a:srgbClr val="8FB6D0"/>
                </a:solidFill>
                <a:latin typeface="Consolas"/>
              </a:rPr>
              <a:t>TBM T000226N</a:t>
            </a:r>
          </a:p>
        </p:txBody>
      </p:sp>
      <p:sp>
        <p:nvSpPr>
          <p:cNvPr id="15" name="TextBox 14"/>
          <p:cNvSpPr txBox="1"/>
          <p:nvPr/>
        </p:nvSpPr>
        <p:spPr>
          <a:xfrm>
            <a:off x="7111822" y="6565735"/>
            <a:ext cx="4571885" cy="190495"/>
          </a:xfrm>
          <a:prstGeom prst="rect">
            <a:avLst/>
          </a:prstGeom>
          <a:noFill/>
        </p:spPr>
        <p:txBody>
          <a:bodyPr wrap="none" anchor="t" lIns="0" rIns="0" tIns="0" bIns="0">
            <a:spAutoFit/>
          </a:bodyPr>
          <a:lstStyle/>
          <a:p>
            <a:pPr algn="r">
              <a:lnSpc>
                <a:spcPct val="125000"/>
              </a:lnSpc>
            </a:pPr>
            <a:r>
              <a:rPr sz="1100" b="0">
                <a:solidFill>
                  <a:srgbClr val="8FB6D0"/>
                </a:solidFill>
                <a:latin typeface="Consolas"/>
              </a:rPr>
              <a:t>Protocolversie 1.0 · 17 mei 2026 · S71769</a:t>
            </a:r>
          </a:p>
        </p:txBody>
      </p:sp>
    </p:spTree>
  </p:cSld>
  <p:clrMapOvr>
    <a:masterClrMapping/>
  </p:clrMapOvr>
  <p:transition xmlns:p14="http://schemas.microsoft.com/office/powerpoint/2010/main" spd="slow" p14:dur="900">
    <p:fade/>
  </p:transition>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WAAR WE STAAN</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144 patiënten, 24 per centrum</a:t>
            </a:r>
          </a:p>
        </p:txBody>
      </p:sp>
      <p:sp>
        <p:nvSpPr>
          <p:cNvPr id="5" name="Oval 4"/>
          <p:cNvSpPr/>
          <p:nvPr/>
        </p:nvSpPr>
        <p:spPr>
          <a:xfrm>
            <a:off x="634984"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6278"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117572"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358866"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600159"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841453"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2082747"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2324041"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2565335"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2806629"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047923"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289217"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3530511"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3771805"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4013099"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4254393"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4495687"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4736981"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4978275"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5219569"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5460863"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5702157"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5943451"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6184745"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634984"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76278"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117572"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358866"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600159"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1841453"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2082747"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2324041"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2565335"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2806629"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3047923"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3289217"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3530511"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3771805"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4013099"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4254393"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4495687"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4736981"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4978275"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val 47"/>
          <p:cNvSpPr/>
          <p:nvPr/>
        </p:nvSpPr>
        <p:spPr>
          <a:xfrm>
            <a:off x="5219569"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Oval 48"/>
          <p:cNvSpPr/>
          <p:nvPr/>
        </p:nvSpPr>
        <p:spPr>
          <a:xfrm>
            <a:off x="5460863"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Oval 49"/>
          <p:cNvSpPr/>
          <p:nvPr/>
        </p:nvSpPr>
        <p:spPr>
          <a:xfrm>
            <a:off x="5702157"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Oval 50"/>
          <p:cNvSpPr/>
          <p:nvPr/>
        </p:nvSpPr>
        <p:spPr>
          <a:xfrm>
            <a:off x="5943451"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Oval 51"/>
          <p:cNvSpPr/>
          <p:nvPr/>
        </p:nvSpPr>
        <p:spPr>
          <a:xfrm>
            <a:off x="6184745"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Oval 52"/>
          <p:cNvSpPr/>
          <p:nvPr/>
        </p:nvSpPr>
        <p:spPr>
          <a:xfrm>
            <a:off x="634984"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Oval 53"/>
          <p:cNvSpPr/>
          <p:nvPr/>
        </p:nvSpPr>
        <p:spPr>
          <a:xfrm>
            <a:off x="876278"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Oval 54"/>
          <p:cNvSpPr/>
          <p:nvPr/>
        </p:nvSpPr>
        <p:spPr>
          <a:xfrm>
            <a:off x="1117572"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Oval 55"/>
          <p:cNvSpPr/>
          <p:nvPr/>
        </p:nvSpPr>
        <p:spPr>
          <a:xfrm>
            <a:off x="1358866"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Oval 56"/>
          <p:cNvSpPr/>
          <p:nvPr/>
        </p:nvSpPr>
        <p:spPr>
          <a:xfrm>
            <a:off x="1600159"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Oval 57"/>
          <p:cNvSpPr/>
          <p:nvPr/>
        </p:nvSpPr>
        <p:spPr>
          <a:xfrm>
            <a:off x="1841453"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Oval 58"/>
          <p:cNvSpPr/>
          <p:nvPr/>
        </p:nvSpPr>
        <p:spPr>
          <a:xfrm>
            <a:off x="2082747"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Oval 59"/>
          <p:cNvSpPr/>
          <p:nvPr/>
        </p:nvSpPr>
        <p:spPr>
          <a:xfrm>
            <a:off x="2324041"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Oval 60"/>
          <p:cNvSpPr/>
          <p:nvPr/>
        </p:nvSpPr>
        <p:spPr>
          <a:xfrm>
            <a:off x="2565335"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Oval 61"/>
          <p:cNvSpPr/>
          <p:nvPr/>
        </p:nvSpPr>
        <p:spPr>
          <a:xfrm>
            <a:off x="2806629"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Oval 62"/>
          <p:cNvSpPr/>
          <p:nvPr/>
        </p:nvSpPr>
        <p:spPr>
          <a:xfrm>
            <a:off x="3047923"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Oval 63"/>
          <p:cNvSpPr/>
          <p:nvPr/>
        </p:nvSpPr>
        <p:spPr>
          <a:xfrm>
            <a:off x="3289217"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Oval 64"/>
          <p:cNvSpPr/>
          <p:nvPr/>
        </p:nvSpPr>
        <p:spPr>
          <a:xfrm>
            <a:off x="3530511"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Oval 65"/>
          <p:cNvSpPr/>
          <p:nvPr/>
        </p:nvSpPr>
        <p:spPr>
          <a:xfrm>
            <a:off x="3771805"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Oval 66"/>
          <p:cNvSpPr/>
          <p:nvPr/>
        </p:nvSpPr>
        <p:spPr>
          <a:xfrm>
            <a:off x="4013099"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Oval 67"/>
          <p:cNvSpPr/>
          <p:nvPr/>
        </p:nvSpPr>
        <p:spPr>
          <a:xfrm>
            <a:off x="4254393"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Oval 68"/>
          <p:cNvSpPr/>
          <p:nvPr/>
        </p:nvSpPr>
        <p:spPr>
          <a:xfrm>
            <a:off x="4495687"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Oval 69"/>
          <p:cNvSpPr/>
          <p:nvPr/>
        </p:nvSpPr>
        <p:spPr>
          <a:xfrm>
            <a:off x="4736981"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Oval 70"/>
          <p:cNvSpPr/>
          <p:nvPr/>
        </p:nvSpPr>
        <p:spPr>
          <a:xfrm>
            <a:off x="4978275"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Oval 71"/>
          <p:cNvSpPr/>
          <p:nvPr/>
        </p:nvSpPr>
        <p:spPr>
          <a:xfrm>
            <a:off x="5219569"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Oval 72"/>
          <p:cNvSpPr/>
          <p:nvPr/>
        </p:nvSpPr>
        <p:spPr>
          <a:xfrm>
            <a:off x="5460863"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Oval 73"/>
          <p:cNvSpPr/>
          <p:nvPr/>
        </p:nvSpPr>
        <p:spPr>
          <a:xfrm>
            <a:off x="5702157"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Oval 74"/>
          <p:cNvSpPr/>
          <p:nvPr/>
        </p:nvSpPr>
        <p:spPr>
          <a:xfrm>
            <a:off x="5943451"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Oval 75"/>
          <p:cNvSpPr/>
          <p:nvPr/>
        </p:nvSpPr>
        <p:spPr>
          <a:xfrm>
            <a:off x="6184745"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Oval 76"/>
          <p:cNvSpPr/>
          <p:nvPr/>
        </p:nvSpPr>
        <p:spPr>
          <a:xfrm>
            <a:off x="634984"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Oval 77"/>
          <p:cNvSpPr/>
          <p:nvPr/>
        </p:nvSpPr>
        <p:spPr>
          <a:xfrm>
            <a:off x="876278"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Oval 78"/>
          <p:cNvSpPr/>
          <p:nvPr/>
        </p:nvSpPr>
        <p:spPr>
          <a:xfrm>
            <a:off x="1117572"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Oval 79"/>
          <p:cNvSpPr/>
          <p:nvPr/>
        </p:nvSpPr>
        <p:spPr>
          <a:xfrm>
            <a:off x="1358866"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Oval 80"/>
          <p:cNvSpPr/>
          <p:nvPr/>
        </p:nvSpPr>
        <p:spPr>
          <a:xfrm>
            <a:off x="1600159"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Oval 81"/>
          <p:cNvSpPr/>
          <p:nvPr/>
        </p:nvSpPr>
        <p:spPr>
          <a:xfrm>
            <a:off x="1841453"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Oval 82"/>
          <p:cNvSpPr/>
          <p:nvPr/>
        </p:nvSpPr>
        <p:spPr>
          <a:xfrm>
            <a:off x="2082747"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Oval 83"/>
          <p:cNvSpPr/>
          <p:nvPr/>
        </p:nvSpPr>
        <p:spPr>
          <a:xfrm>
            <a:off x="2324041"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Oval 84"/>
          <p:cNvSpPr/>
          <p:nvPr/>
        </p:nvSpPr>
        <p:spPr>
          <a:xfrm>
            <a:off x="2565335"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Oval 85"/>
          <p:cNvSpPr/>
          <p:nvPr/>
        </p:nvSpPr>
        <p:spPr>
          <a:xfrm>
            <a:off x="2806629"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Oval 86"/>
          <p:cNvSpPr/>
          <p:nvPr/>
        </p:nvSpPr>
        <p:spPr>
          <a:xfrm>
            <a:off x="3047923"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Oval 87"/>
          <p:cNvSpPr/>
          <p:nvPr/>
        </p:nvSpPr>
        <p:spPr>
          <a:xfrm>
            <a:off x="3289217"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Oval 88"/>
          <p:cNvSpPr/>
          <p:nvPr/>
        </p:nvSpPr>
        <p:spPr>
          <a:xfrm>
            <a:off x="3530511"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Oval 89"/>
          <p:cNvSpPr/>
          <p:nvPr/>
        </p:nvSpPr>
        <p:spPr>
          <a:xfrm>
            <a:off x="3771805"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Oval 90"/>
          <p:cNvSpPr/>
          <p:nvPr/>
        </p:nvSpPr>
        <p:spPr>
          <a:xfrm>
            <a:off x="4013099"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Oval 91"/>
          <p:cNvSpPr/>
          <p:nvPr/>
        </p:nvSpPr>
        <p:spPr>
          <a:xfrm>
            <a:off x="4254393"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Oval 92"/>
          <p:cNvSpPr/>
          <p:nvPr/>
        </p:nvSpPr>
        <p:spPr>
          <a:xfrm>
            <a:off x="4495687"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Oval 93"/>
          <p:cNvSpPr/>
          <p:nvPr/>
        </p:nvSpPr>
        <p:spPr>
          <a:xfrm>
            <a:off x="4736981"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Oval 94"/>
          <p:cNvSpPr/>
          <p:nvPr/>
        </p:nvSpPr>
        <p:spPr>
          <a:xfrm>
            <a:off x="4978275"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Oval 95"/>
          <p:cNvSpPr/>
          <p:nvPr/>
        </p:nvSpPr>
        <p:spPr>
          <a:xfrm>
            <a:off x="5219569"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Oval 96"/>
          <p:cNvSpPr/>
          <p:nvPr/>
        </p:nvSpPr>
        <p:spPr>
          <a:xfrm>
            <a:off x="5460863"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Oval 97"/>
          <p:cNvSpPr/>
          <p:nvPr/>
        </p:nvSpPr>
        <p:spPr>
          <a:xfrm>
            <a:off x="5702157"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Oval 98"/>
          <p:cNvSpPr/>
          <p:nvPr/>
        </p:nvSpPr>
        <p:spPr>
          <a:xfrm>
            <a:off x="5943451"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Oval 99"/>
          <p:cNvSpPr/>
          <p:nvPr/>
        </p:nvSpPr>
        <p:spPr>
          <a:xfrm>
            <a:off x="6184745"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Oval 100"/>
          <p:cNvSpPr/>
          <p:nvPr/>
        </p:nvSpPr>
        <p:spPr>
          <a:xfrm>
            <a:off x="634984"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Oval 101"/>
          <p:cNvSpPr/>
          <p:nvPr/>
        </p:nvSpPr>
        <p:spPr>
          <a:xfrm>
            <a:off x="876278"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Oval 102"/>
          <p:cNvSpPr/>
          <p:nvPr/>
        </p:nvSpPr>
        <p:spPr>
          <a:xfrm>
            <a:off x="1117572"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Oval 103"/>
          <p:cNvSpPr/>
          <p:nvPr/>
        </p:nvSpPr>
        <p:spPr>
          <a:xfrm>
            <a:off x="1358866"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Oval 104"/>
          <p:cNvSpPr/>
          <p:nvPr/>
        </p:nvSpPr>
        <p:spPr>
          <a:xfrm>
            <a:off x="1600159"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Oval 105"/>
          <p:cNvSpPr/>
          <p:nvPr/>
        </p:nvSpPr>
        <p:spPr>
          <a:xfrm>
            <a:off x="1841453"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Oval 106"/>
          <p:cNvSpPr/>
          <p:nvPr/>
        </p:nvSpPr>
        <p:spPr>
          <a:xfrm>
            <a:off x="2082747"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Oval 107"/>
          <p:cNvSpPr/>
          <p:nvPr/>
        </p:nvSpPr>
        <p:spPr>
          <a:xfrm>
            <a:off x="2324041"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Oval 108"/>
          <p:cNvSpPr/>
          <p:nvPr/>
        </p:nvSpPr>
        <p:spPr>
          <a:xfrm>
            <a:off x="2565335"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Oval 109"/>
          <p:cNvSpPr/>
          <p:nvPr/>
        </p:nvSpPr>
        <p:spPr>
          <a:xfrm>
            <a:off x="2806629"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Oval 110"/>
          <p:cNvSpPr/>
          <p:nvPr/>
        </p:nvSpPr>
        <p:spPr>
          <a:xfrm>
            <a:off x="3047923"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Oval 111"/>
          <p:cNvSpPr/>
          <p:nvPr/>
        </p:nvSpPr>
        <p:spPr>
          <a:xfrm>
            <a:off x="3289217"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Oval 112"/>
          <p:cNvSpPr/>
          <p:nvPr/>
        </p:nvSpPr>
        <p:spPr>
          <a:xfrm>
            <a:off x="3530511"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Oval 113"/>
          <p:cNvSpPr/>
          <p:nvPr/>
        </p:nvSpPr>
        <p:spPr>
          <a:xfrm>
            <a:off x="3771805"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Oval 114"/>
          <p:cNvSpPr/>
          <p:nvPr/>
        </p:nvSpPr>
        <p:spPr>
          <a:xfrm>
            <a:off x="4013099"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Oval 115"/>
          <p:cNvSpPr/>
          <p:nvPr/>
        </p:nvSpPr>
        <p:spPr>
          <a:xfrm>
            <a:off x="4254393"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Oval 116"/>
          <p:cNvSpPr/>
          <p:nvPr/>
        </p:nvSpPr>
        <p:spPr>
          <a:xfrm>
            <a:off x="4495687"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Oval 117"/>
          <p:cNvSpPr/>
          <p:nvPr/>
        </p:nvSpPr>
        <p:spPr>
          <a:xfrm>
            <a:off x="4736981"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Oval 118"/>
          <p:cNvSpPr/>
          <p:nvPr/>
        </p:nvSpPr>
        <p:spPr>
          <a:xfrm>
            <a:off x="4978275"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Oval 119"/>
          <p:cNvSpPr/>
          <p:nvPr/>
        </p:nvSpPr>
        <p:spPr>
          <a:xfrm>
            <a:off x="5219569"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Oval 120"/>
          <p:cNvSpPr/>
          <p:nvPr/>
        </p:nvSpPr>
        <p:spPr>
          <a:xfrm>
            <a:off x="5460863"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Oval 121"/>
          <p:cNvSpPr/>
          <p:nvPr/>
        </p:nvSpPr>
        <p:spPr>
          <a:xfrm>
            <a:off x="5702157"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Oval 122"/>
          <p:cNvSpPr/>
          <p:nvPr/>
        </p:nvSpPr>
        <p:spPr>
          <a:xfrm>
            <a:off x="5943451"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Oval 123"/>
          <p:cNvSpPr/>
          <p:nvPr/>
        </p:nvSpPr>
        <p:spPr>
          <a:xfrm>
            <a:off x="6184745"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Oval 124"/>
          <p:cNvSpPr/>
          <p:nvPr/>
        </p:nvSpPr>
        <p:spPr>
          <a:xfrm>
            <a:off x="634984"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Oval 125"/>
          <p:cNvSpPr/>
          <p:nvPr/>
        </p:nvSpPr>
        <p:spPr>
          <a:xfrm>
            <a:off x="876278"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Oval 126"/>
          <p:cNvSpPr/>
          <p:nvPr/>
        </p:nvSpPr>
        <p:spPr>
          <a:xfrm>
            <a:off x="1117572"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Oval 127"/>
          <p:cNvSpPr/>
          <p:nvPr/>
        </p:nvSpPr>
        <p:spPr>
          <a:xfrm>
            <a:off x="1358866"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Oval 128"/>
          <p:cNvSpPr/>
          <p:nvPr/>
        </p:nvSpPr>
        <p:spPr>
          <a:xfrm>
            <a:off x="1600159"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Oval 129"/>
          <p:cNvSpPr/>
          <p:nvPr/>
        </p:nvSpPr>
        <p:spPr>
          <a:xfrm>
            <a:off x="1841453"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Oval 130"/>
          <p:cNvSpPr/>
          <p:nvPr/>
        </p:nvSpPr>
        <p:spPr>
          <a:xfrm>
            <a:off x="2082747"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Oval 131"/>
          <p:cNvSpPr/>
          <p:nvPr/>
        </p:nvSpPr>
        <p:spPr>
          <a:xfrm>
            <a:off x="2324041"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Oval 132"/>
          <p:cNvSpPr/>
          <p:nvPr/>
        </p:nvSpPr>
        <p:spPr>
          <a:xfrm>
            <a:off x="2565335"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Oval 133"/>
          <p:cNvSpPr/>
          <p:nvPr/>
        </p:nvSpPr>
        <p:spPr>
          <a:xfrm>
            <a:off x="2806629"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Oval 134"/>
          <p:cNvSpPr/>
          <p:nvPr/>
        </p:nvSpPr>
        <p:spPr>
          <a:xfrm>
            <a:off x="3047923"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Oval 135"/>
          <p:cNvSpPr/>
          <p:nvPr/>
        </p:nvSpPr>
        <p:spPr>
          <a:xfrm>
            <a:off x="3289217"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Oval 136"/>
          <p:cNvSpPr/>
          <p:nvPr/>
        </p:nvSpPr>
        <p:spPr>
          <a:xfrm>
            <a:off x="3530511"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Oval 137"/>
          <p:cNvSpPr/>
          <p:nvPr/>
        </p:nvSpPr>
        <p:spPr>
          <a:xfrm>
            <a:off x="3771805"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Oval 138"/>
          <p:cNvSpPr/>
          <p:nvPr/>
        </p:nvSpPr>
        <p:spPr>
          <a:xfrm>
            <a:off x="4013099"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Oval 139"/>
          <p:cNvSpPr/>
          <p:nvPr/>
        </p:nvSpPr>
        <p:spPr>
          <a:xfrm>
            <a:off x="4254393"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Oval 140"/>
          <p:cNvSpPr/>
          <p:nvPr/>
        </p:nvSpPr>
        <p:spPr>
          <a:xfrm>
            <a:off x="4495687"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Oval 141"/>
          <p:cNvSpPr/>
          <p:nvPr/>
        </p:nvSpPr>
        <p:spPr>
          <a:xfrm>
            <a:off x="4736981"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Oval 142"/>
          <p:cNvSpPr/>
          <p:nvPr/>
        </p:nvSpPr>
        <p:spPr>
          <a:xfrm>
            <a:off x="4978275"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Oval 143"/>
          <p:cNvSpPr/>
          <p:nvPr/>
        </p:nvSpPr>
        <p:spPr>
          <a:xfrm>
            <a:off x="5219569"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Oval 144"/>
          <p:cNvSpPr/>
          <p:nvPr/>
        </p:nvSpPr>
        <p:spPr>
          <a:xfrm>
            <a:off x="5460863"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Oval 145"/>
          <p:cNvSpPr/>
          <p:nvPr/>
        </p:nvSpPr>
        <p:spPr>
          <a:xfrm>
            <a:off x="5702157"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Oval 146"/>
          <p:cNvSpPr/>
          <p:nvPr/>
        </p:nvSpPr>
        <p:spPr>
          <a:xfrm>
            <a:off x="5943451"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Oval 147"/>
          <p:cNvSpPr/>
          <p:nvPr/>
        </p:nvSpPr>
        <p:spPr>
          <a:xfrm>
            <a:off x="6184745"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TextBox 148"/>
          <p:cNvSpPr txBox="1"/>
          <p:nvPr/>
        </p:nvSpPr>
        <p:spPr>
          <a:xfrm>
            <a:off x="634984" y="3301917"/>
            <a:ext cx="2539936" cy="253993"/>
          </a:xfrm>
          <a:prstGeom prst="rect">
            <a:avLst/>
          </a:prstGeom>
          <a:noFill/>
        </p:spPr>
        <p:txBody>
          <a:bodyPr wrap="square" anchor="t" lIns="0" rIns="0" tIns="0" bIns="0">
            <a:spAutoFit/>
          </a:bodyPr>
          <a:lstStyle/>
          <a:p>
            <a:pPr algn="l">
              <a:lnSpc>
                <a:spcPct val="125000"/>
              </a:lnSpc>
            </a:pPr>
            <a:r>
              <a:rPr sz="1300" b="1" spc="140">
                <a:solidFill>
                  <a:srgbClr val="52BDEC"/>
                </a:solidFill>
                <a:latin typeface="Consolas"/>
              </a:rPr>
              <a:t>72 PARADISE</a:t>
            </a:r>
          </a:p>
        </p:txBody>
      </p:sp>
      <p:sp>
        <p:nvSpPr>
          <p:cNvPr id="150" name="TextBox 149"/>
          <p:cNvSpPr txBox="1"/>
          <p:nvPr/>
        </p:nvSpPr>
        <p:spPr>
          <a:xfrm>
            <a:off x="2412939" y="3301917"/>
            <a:ext cx="2539936" cy="253993"/>
          </a:xfrm>
          <a:prstGeom prst="rect">
            <a:avLst/>
          </a:prstGeom>
          <a:noFill/>
        </p:spPr>
        <p:txBody>
          <a:bodyPr wrap="square" anchor="t" lIns="0" rIns="0" tIns="0" bIns="0">
            <a:spAutoFit/>
          </a:bodyPr>
          <a:lstStyle/>
          <a:p>
            <a:pPr algn="l">
              <a:lnSpc>
                <a:spcPct val="125000"/>
              </a:lnSpc>
            </a:pPr>
            <a:r>
              <a:rPr sz="1300" b="1" spc="140">
                <a:solidFill>
                  <a:srgbClr val="FF7A00"/>
                </a:solidFill>
                <a:latin typeface="Consolas"/>
              </a:rPr>
              <a:t>72 GEBRUIKELIJKE ZORG</a:t>
            </a:r>
          </a:p>
        </p:txBody>
      </p:sp>
      <p:sp>
        <p:nvSpPr>
          <p:cNvPr id="151" name="Rounded Rectangle 150"/>
          <p:cNvSpPr/>
          <p:nvPr/>
        </p:nvSpPr>
        <p:spPr>
          <a:xfrm>
            <a:off x="634984" y="3733706"/>
            <a:ext cx="5384538" cy="69848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TextBox 151"/>
          <p:cNvSpPr txBox="1"/>
          <p:nvPr/>
        </p:nvSpPr>
        <p:spPr>
          <a:xfrm>
            <a:off x="825479" y="3848003"/>
            <a:ext cx="5003547" cy="215894"/>
          </a:xfrm>
          <a:prstGeom prst="rect">
            <a:avLst/>
          </a:prstGeom>
          <a:noFill/>
        </p:spPr>
        <p:txBody>
          <a:bodyPr wrap="square" anchor="t" lIns="0" rIns="0" tIns="0" bIns="0">
            <a:spAutoFit/>
          </a:bodyPr>
          <a:lstStyle/>
          <a:p>
            <a:pPr algn="l">
              <a:lnSpc>
                <a:spcPct val="125000"/>
              </a:lnSpc>
            </a:pPr>
            <a:r>
              <a:rPr sz="1200" b="1" spc="140">
                <a:solidFill>
                  <a:srgbClr val="52BDEC"/>
                </a:solidFill>
                <a:latin typeface="Consolas"/>
              </a:rPr>
              <a:t>PER CENTRUM</a:t>
            </a:r>
          </a:p>
        </p:txBody>
      </p:sp>
      <p:sp>
        <p:nvSpPr>
          <p:cNvPr id="153" name="TextBox 152"/>
          <p:cNvSpPr txBox="1"/>
          <p:nvPr/>
        </p:nvSpPr>
        <p:spPr>
          <a:xfrm>
            <a:off x="825479" y="4089297"/>
            <a:ext cx="5003547" cy="292092"/>
          </a:xfrm>
          <a:prstGeom prst="rect">
            <a:avLst/>
          </a:prstGeom>
          <a:noFill/>
        </p:spPr>
        <p:txBody>
          <a:bodyPr wrap="square" anchor="t" lIns="0" rIns="0" tIns="0" bIns="0">
            <a:spAutoFit/>
          </a:bodyPr>
          <a:lstStyle/>
          <a:p>
            <a:pPr algn="l">
              <a:lnSpc>
                <a:spcPct val="125000"/>
              </a:lnSpc>
            </a:pPr>
            <a:r>
              <a:rPr sz="1550" b="0">
                <a:solidFill>
                  <a:srgbClr val="F2F8FC"/>
                </a:solidFill>
                <a:latin typeface="Segoe UI"/>
              </a:rPr>
              <a:t>24 deelnemers — 12 PARADISE en 12 gebruikelijke zorg</a:t>
            </a:r>
          </a:p>
        </p:txBody>
      </p:sp>
      <p:sp>
        <p:nvSpPr>
          <p:cNvPr id="154" name="Rounded Rectangle 153"/>
          <p:cNvSpPr/>
          <p:nvPr/>
        </p:nvSpPr>
        <p:spPr>
          <a:xfrm>
            <a:off x="6171918" y="3733706"/>
            <a:ext cx="5384538" cy="69848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TextBox 154"/>
          <p:cNvSpPr txBox="1"/>
          <p:nvPr/>
        </p:nvSpPr>
        <p:spPr>
          <a:xfrm>
            <a:off x="6362413" y="3848003"/>
            <a:ext cx="5003547" cy="215894"/>
          </a:xfrm>
          <a:prstGeom prst="rect">
            <a:avLst/>
          </a:prstGeom>
          <a:noFill/>
        </p:spPr>
        <p:txBody>
          <a:bodyPr wrap="square" anchor="t" lIns="0" rIns="0" tIns="0" bIns="0">
            <a:spAutoFit/>
          </a:bodyPr>
          <a:lstStyle/>
          <a:p>
            <a:pPr algn="l">
              <a:lnSpc>
                <a:spcPct val="125000"/>
              </a:lnSpc>
            </a:pPr>
            <a:r>
              <a:rPr sz="1200" b="1" spc="140">
                <a:solidFill>
                  <a:srgbClr val="52BDEC"/>
                </a:solidFill>
                <a:latin typeface="Consolas"/>
              </a:rPr>
              <a:t>CONTROLEGROEP</a:t>
            </a:r>
          </a:p>
        </p:txBody>
      </p:sp>
      <p:sp>
        <p:nvSpPr>
          <p:cNvPr id="156" name="TextBox 155"/>
          <p:cNvSpPr txBox="1"/>
          <p:nvPr/>
        </p:nvSpPr>
        <p:spPr>
          <a:xfrm>
            <a:off x="6362413" y="4089297"/>
            <a:ext cx="5003547" cy="292092"/>
          </a:xfrm>
          <a:prstGeom prst="rect">
            <a:avLst/>
          </a:prstGeom>
          <a:noFill/>
        </p:spPr>
        <p:txBody>
          <a:bodyPr wrap="square" anchor="t" lIns="0" rIns="0" tIns="0" bIns="0">
            <a:spAutoFit/>
          </a:bodyPr>
          <a:lstStyle/>
          <a:p>
            <a:pPr algn="l">
              <a:lnSpc>
                <a:spcPct val="125000"/>
              </a:lnSpc>
            </a:pPr>
            <a:r>
              <a:rPr sz="1550" b="0">
                <a:solidFill>
                  <a:srgbClr val="F2F8FC"/>
                </a:solidFill>
                <a:latin typeface="Segoe UI"/>
              </a:rPr>
              <a:t>Gebruikelijke zorg, onveranderd</a:t>
            </a:r>
          </a:p>
        </p:txBody>
      </p:sp>
      <p:sp>
        <p:nvSpPr>
          <p:cNvPr id="157" name="Rounded Rectangle 156"/>
          <p:cNvSpPr/>
          <p:nvPr/>
        </p:nvSpPr>
        <p:spPr>
          <a:xfrm>
            <a:off x="634984" y="4533786"/>
            <a:ext cx="5384538" cy="69848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TextBox 157"/>
          <p:cNvSpPr txBox="1"/>
          <p:nvPr/>
        </p:nvSpPr>
        <p:spPr>
          <a:xfrm>
            <a:off x="825479" y="4648083"/>
            <a:ext cx="5003547" cy="215894"/>
          </a:xfrm>
          <a:prstGeom prst="rect">
            <a:avLst/>
          </a:prstGeom>
          <a:noFill/>
        </p:spPr>
        <p:txBody>
          <a:bodyPr wrap="square" anchor="t" lIns="0" rIns="0" tIns="0" bIns="0">
            <a:spAutoFit/>
          </a:bodyPr>
          <a:lstStyle/>
          <a:p>
            <a:pPr algn="l">
              <a:lnSpc>
                <a:spcPct val="125000"/>
              </a:lnSpc>
            </a:pPr>
            <a:r>
              <a:rPr sz="1200" b="1" spc="140">
                <a:solidFill>
                  <a:srgbClr val="52BDEC"/>
                </a:solidFill>
                <a:latin typeface="Consolas"/>
              </a:rPr>
              <a:t>PRIMAIR</a:t>
            </a:r>
          </a:p>
        </p:txBody>
      </p:sp>
      <p:sp>
        <p:nvSpPr>
          <p:cNvPr id="159" name="TextBox 158"/>
          <p:cNvSpPr txBox="1"/>
          <p:nvPr/>
        </p:nvSpPr>
        <p:spPr>
          <a:xfrm>
            <a:off x="825479" y="4889377"/>
            <a:ext cx="5003547" cy="292092"/>
          </a:xfrm>
          <a:prstGeom prst="rect">
            <a:avLst/>
          </a:prstGeom>
          <a:noFill/>
        </p:spPr>
        <p:txBody>
          <a:bodyPr wrap="square" anchor="t" lIns="0" rIns="0" tIns="0" bIns="0">
            <a:spAutoFit/>
          </a:bodyPr>
          <a:lstStyle/>
          <a:p>
            <a:pPr algn="l">
              <a:lnSpc>
                <a:spcPct val="125000"/>
              </a:lnSpc>
            </a:pPr>
            <a:r>
              <a:rPr sz="1550" b="0">
                <a:solidFill>
                  <a:srgbClr val="F2F8FC"/>
                </a:solidFill>
                <a:latin typeface="Segoe UI"/>
              </a:rPr>
              <a:t>Recidief op 18 maanden</a:t>
            </a:r>
          </a:p>
        </p:txBody>
      </p:sp>
      <p:sp>
        <p:nvSpPr>
          <p:cNvPr id="160" name="Rounded Rectangle 159"/>
          <p:cNvSpPr/>
          <p:nvPr/>
        </p:nvSpPr>
        <p:spPr>
          <a:xfrm>
            <a:off x="6171918" y="4533786"/>
            <a:ext cx="5384538" cy="69848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TextBox 160"/>
          <p:cNvSpPr txBox="1"/>
          <p:nvPr/>
        </p:nvSpPr>
        <p:spPr>
          <a:xfrm>
            <a:off x="6362413" y="4648083"/>
            <a:ext cx="5003547" cy="215894"/>
          </a:xfrm>
          <a:prstGeom prst="rect">
            <a:avLst/>
          </a:prstGeom>
          <a:noFill/>
        </p:spPr>
        <p:txBody>
          <a:bodyPr wrap="square" anchor="t" lIns="0" rIns="0" tIns="0" bIns="0">
            <a:spAutoFit/>
          </a:bodyPr>
          <a:lstStyle/>
          <a:p>
            <a:pPr algn="l">
              <a:lnSpc>
                <a:spcPct val="125000"/>
              </a:lnSpc>
            </a:pPr>
            <a:r>
              <a:rPr sz="1200" b="1" spc="140">
                <a:solidFill>
                  <a:srgbClr val="52BDEC"/>
                </a:solidFill>
                <a:latin typeface="Consolas"/>
              </a:rPr>
              <a:t>POSITIEF</a:t>
            </a:r>
          </a:p>
        </p:txBody>
      </p:sp>
      <p:sp>
        <p:nvSpPr>
          <p:cNvPr id="162" name="TextBox 161"/>
          <p:cNvSpPr txBox="1"/>
          <p:nvPr/>
        </p:nvSpPr>
        <p:spPr>
          <a:xfrm>
            <a:off x="6362413" y="4889377"/>
            <a:ext cx="5003547" cy="292092"/>
          </a:xfrm>
          <a:prstGeom prst="rect">
            <a:avLst/>
          </a:prstGeom>
          <a:noFill/>
        </p:spPr>
        <p:txBody>
          <a:bodyPr wrap="square" anchor="t" lIns="0" rIns="0" tIns="0" bIns="0">
            <a:spAutoFit/>
          </a:bodyPr>
          <a:lstStyle/>
          <a:p>
            <a:pPr algn="l">
              <a:lnSpc>
                <a:spcPct val="125000"/>
              </a:lnSpc>
            </a:pPr>
            <a:r>
              <a:rPr sz="1550" b="0">
                <a:solidFill>
                  <a:srgbClr val="F2F8FC"/>
                </a:solidFill>
                <a:latin typeface="Segoe UI"/>
              </a:rPr>
              <a:t>Alleen als het eindpunt behaald is</a:t>
            </a:r>
          </a:p>
        </p:txBody>
      </p:sp>
      <p:sp>
        <p:nvSpPr>
          <p:cNvPr id="163" name="Rectangle 162"/>
          <p:cNvSpPr/>
          <p:nvPr/>
        </p:nvSpPr>
        <p:spPr>
          <a:xfrm>
            <a:off x="634984" y="5448163"/>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TextBox 163"/>
          <p:cNvSpPr txBox="1"/>
          <p:nvPr/>
        </p:nvSpPr>
        <p:spPr>
          <a:xfrm>
            <a:off x="634984" y="5575160"/>
            <a:ext cx="5714857" cy="215894"/>
          </a:xfrm>
          <a:prstGeom prst="rect">
            <a:avLst/>
          </a:prstGeom>
          <a:noFill/>
        </p:spPr>
        <p:txBody>
          <a:bodyPr wrap="square" anchor="t" lIns="0" rIns="0" tIns="0" bIns="0">
            <a:spAutoFit/>
          </a:bodyPr>
          <a:lstStyle/>
          <a:p>
            <a:pPr algn="l">
              <a:lnSpc>
                <a:spcPct val="125000"/>
              </a:lnSpc>
            </a:pPr>
            <a:r>
              <a:rPr sz="1200" b="1" spc="140">
                <a:solidFill>
                  <a:srgbClr val="8FB6D0"/>
                </a:solidFill>
                <a:latin typeface="Consolas"/>
              </a:rPr>
              <a:t>DE ZES DEELNEMENDE VOETKLINIEKEN</a:t>
            </a:r>
          </a:p>
        </p:txBody>
      </p:sp>
      <p:sp>
        <p:nvSpPr>
          <p:cNvPr id="165" name="Rounded Rectangle 164"/>
          <p:cNvSpPr/>
          <p:nvPr/>
        </p:nvSpPr>
        <p:spPr>
          <a:xfrm>
            <a:off x="634984"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 name="TextBox 165"/>
          <p:cNvSpPr txBox="1"/>
          <p:nvPr/>
        </p:nvSpPr>
        <p:spPr>
          <a:xfrm>
            <a:off x="634984"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AZORG</a:t>
            </a:r>
          </a:p>
        </p:txBody>
      </p:sp>
      <p:sp>
        <p:nvSpPr>
          <p:cNvPr id="167" name="Rounded Rectangle 166"/>
          <p:cNvSpPr/>
          <p:nvPr/>
        </p:nvSpPr>
        <p:spPr>
          <a:xfrm>
            <a:off x="2463738"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 name="TextBox 167"/>
          <p:cNvSpPr txBox="1"/>
          <p:nvPr/>
        </p:nvSpPr>
        <p:spPr>
          <a:xfrm>
            <a:off x="2463738"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AZ Sint-Jan Brugge</a:t>
            </a:r>
          </a:p>
        </p:txBody>
      </p:sp>
      <p:sp>
        <p:nvSpPr>
          <p:cNvPr id="169" name="Rounded Rectangle 168"/>
          <p:cNvSpPr/>
          <p:nvPr/>
        </p:nvSpPr>
        <p:spPr>
          <a:xfrm>
            <a:off x="4292492"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 name="TextBox 169"/>
          <p:cNvSpPr txBox="1"/>
          <p:nvPr/>
        </p:nvSpPr>
        <p:spPr>
          <a:xfrm>
            <a:off x="4292492"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AZ Groeninge</a:t>
            </a:r>
          </a:p>
        </p:txBody>
      </p:sp>
      <p:sp>
        <p:nvSpPr>
          <p:cNvPr id="171" name="Rounded Rectangle 170"/>
          <p:cNvSpPr/>
          <p:nvPr/>
        </p:nvSpPr>
        <p:spPr>
          <a:xfrm>
            <a:off x="6121246"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 name="TextBox 171"/>
          <p:cNvSpPr txBox="1"/>
          <p:nvPr/>
        </p:nvSpPr>
        <p:spPr>
          <a:xfrm>
            <a:off x="6121246"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UZ Gent</a:t>
            </a:r>
          </a:p>
        </p:txBody>
      </p:sp>
      <p:sp>
        <p:nvSpPr>
          <p:cNvPr id="173" name="Rounded Rectangle 172"/>
          <p:cNvSpPr/>
          <p:nvPr/>
        </p:nvSpPr>
        <p:spPr>
          <a:xfrm>
            <a:off x="7950001"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 name="TextBox 173"/>
          <p:cNvSpPr txBox="1"/>
          <p:nvPr/>
        </p:nvSpPr>
        <p:spPr>
          <a:xfrm>
            <a:off x="7950001"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UZ Leuven</a:t>
            </a:r>
          </a:p>
        </p:txBody>
      </p:sp>
      <p:sp>
        <p:nvSpPr>
          <p:cNvPr id="175" name="Rounded Rectangle 174"/>
          <p:cNvSpPr/>
          <p:nvPr/>
        </p:nvSpPr>
        <p:spPr>
          <a:xfrm>
            <a:off x="9778755"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 name="TextBox 175"/>
          <p:cNvSpPr txBox="1"/>
          <p:nvPr/>
        </p:nvSpPr>
        <p:spPr>
          <a:xfrm>
            <a:off x="9778755"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UZ Antwerpen</a:t>
            </a:r>
          </a:p>
        </p:txBody>
      </p:sp>
      <p:sp>
        <p:nvSpPr>
          <p:cNvPr id="177" name="TextBox 17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02 / 26</a:t>
            </a:r>
          </a:p>
        </p:txBody>
      </p:sp>
      <p:pic>
        <p:nvPicPr>
          <p:cNvPr id="178"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179" name="TextBox 178"/>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Bron  20 · Morbach 2016</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DE ZES VOETKLINIEKEN</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Waar de studie loopt</a:t>
            </a:r>
          </a:p>
        </p:txBody>
      </p:sp>
      <p:sp>
        <p:nvSpPr>
          <p:cNvPr id="5" name="TextBox 4"/>
          <p:cNvSpPr txBox="1"/>
          <p:nvPr/>
        </p:nvSpPr>
        <p:spPr>
          <a:xfrm>
            <a:off x="634984" y="2489137"/>
            <a:ext cx="4063898" cy="228594"/>
          </a:xfrm>
          <a:prstGeom prst="rect">
            <a:avLst/>
          </a:prstGeom>
          <a:noFill/>
        </p:spPr>
        <p:txBody>
          <a:bodyPr wrap="square" anchor="t" lIns="0" rIns="0" tIns="0" bIns="0">
            <a:spAutoFit/>
          </a:bodyPr>
          <a:lstStyle/>
          <a:p>
            <a:pPr algn="l">
              <a:lnSpc>
                <a:spcPct val="125000"/>
              </a:lnSpc>
            </a:pPr>
            <a:r>
              <a:rPr sz="1100" b="1" spc="160">
                <a:solidFill>
                  <a:srgbClr val="8FB6D0"/>
                </a:solidFill>
                <a:latin typeface="Consolas"/>
              </a:rPr>
              <a:t>CENTRA</a:t>
            </a:r>
          </a:p>
        </p:txBody>
      </p:sp>
      <p:sp>
        <p:nvSpPr>
          <p:cNvPr id="6" name="TextBox 5"/>
          <p:cNvSpPr txBox="1"/>
          <p:nvPr/>
        </p:nvSpPr>
        <p:spPr>
          <a:xfrm>
            <a:off x="634984" y="2717732"/>
            <a:ext cx="4063898" cy="939776"/>
          </a:xfrm>
          <a:prstGeom prst="rect">
            <a:avLst/>
          </a:prstGeom>
          <a:noFill/>
        </p:spPr>
        <p:txBody>
          <a:bodyPr wrap="square" anchor="t" lIns="0" rIns="0" tIns="0" bIns="0">
            <a:spAutoFit/>
          </a:bodyPr>
          <a:lstStyle/>
          <a:p>
            <a:pPr algn="l">
              <a:lnSpc>
                <a:spcPct val="100000"/>
              </a:lnSpc>
            </a:pPr>
            <a:r>
              <a:rPr sz="5400" b="1">
                <a:solidFill>
                  <a:srgbClr val="52BDEC"/>
                </a:solidFill>
                <a:latin typeface="Segoe UI"/>
              </a:rPr>
              <a:t>6</a:t>
            </a:r>
          </a:p>
        </p:txBody>
      </p:sp>
      <p:sp>
        <p:nvSpPr>
          <p:cNvPr id="7" name="TextBox 6"/>
          <p:cNvSpPr txBox="1"/>
          <p:nvPr/>
        </p:nvSpPr>
        <p:spPr>
          <a:xfrm>
            <a:off x="634984" y="4038499"/>
            <a:ext cx="4063898" cy="228594"/>
          </a:xfrm>
          <a:prstGeom prst="rect">
            <a:avLst/>
          </a:prstGeom>
          <a:noFill/>
        </p:spPr>
        <p:txBody>
          <a:bodyPr wrap="square" anchor="t" lIns="0" rIns="0" tIns="0" bIns="0">
            <a:spAutoFit/>
          </a:bodyPr>
          <a:lstStyle/>
          <a:p>
            <a:pPr algn="l">
              <a:lnSpc>
                <a:spcPct val="125000"/>
              </a:lnSpc>
            </a:pPr>
            <a:r>
              <a:rPr sz="1100" b="1" spc="160">
                <a:solidFill>
                  <a:srgbClr val="8FB6D0"/>
                </a:solidFill>
                <a:latin typeface="Consolas"/>
              </a:rPr>
              <a:t>PER CENTRUM</a:t>
            </a:r>
          </a:p>
        </p:txBody>
      </p:sp>
      <p:sp>
        <p:nvSpPr>
          <p:cNvPr id="8" name="TextBox 7"/>
          <p:cNvSpPr txBox="1"/>
          <p:nvPr/>
        </p:nvSpPr>
        <p:spPr>
          <a:xfrm>
            <a:off x="634984" y="4267093"/>
            <a:ext cx="4063898" cy="939776"/>
          </a:xfrm>
          <a:prstGeom prst="rect">
            <a:avLst/>
          </a:prstGeom>
          <a:noFill/>
        </p:spPr>
        <p:txBody>
          <a:bodyPr wrap="square" anchor="t" lIns="0" rIns="0" tIns="0" bIns="0">
            <a:spAutoFit/>
          </a:bodyPr>
          <a:lstStyle/>
          <a:p>
            <a:pPr algn="l">
              <a:lnSpc>
                <a:spcPct val="100000"/>
              </a:lnSpc>
            </a:pPr>
            <a:r>
              <a:rPr sz="5400" b="1">
                <a:solidFill>
                  <a:srgbClr val="FF7A00"/>
                </a:solidFill>
                <a:latin typeface="Segoe UI"/>
              </a:rPr>
              <a:t>24</a:t>
            </a:r>
          </a:p>
        </p:txBody>
      </p:sp>
      <p:sp>
        <p:nvSpPr>
          <p:cNvPr id="9" name="TextBox 8"/>
          <p:cNvSpPr txBox="1"/>
          <p:nvPr/>
        </p:nvSpPr>
        <p:spPr>
          <a:xfrm>
            <a:off x="5587860" y="1777955"/>
            <a:ext cx="5968850" cy="279393"/>
          </a:xfrm>
          <a:prstGeom prst="rect">
            <a:avLst/>
          </a:prstGeom>
          <a:noFill/>
        </p:spPr>
        <p:txBody>
          <a:bodyPr wrap="square" anchor="t" lIns="0" rIns="0" tIns="0" bIns="0">
            <a:spAutoFit/>
          </a:bodyPr>
          <a:lstStyle/>
          <a:p>
            <a:pPr algn="l">
              <a:lnSpc>
                <a:spcPct val="125000"/>
              </a:lnSpc>
            </a:pPr>
            <a:r>
              <a:rPr sz="1300" b="0">
                <a:solidFill>
                  <a:srgbClr val="8FB6D0"/>
                </a:solidFill>
                <a:latin typeface="Segoe UI"/>
              </a:rPr>
              <a:t>AZ Groeninge is één van de zes</a:t>
            </a:r>
          </a:p>
        </p:txBody>
      </p:sp>
      <p:sp>
        <p:nvSpPr>
          <p:cNvPr id="10" name="Rounded Rectangle 9"/>
          <p:cNvSpPr/>
          <p:nvPr/>
        </p:nvSpPr>
        <p:spPr>
          <a:xfrm>
            <a:off x="5587860" y="2133546"/>
            <a:ext cx="5968850" cy="4063898"/>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kaart_centra.png"/>
          <p:cNvPicPr>
            <a:picLocks noChangeAspect="1"/>
          </p:cNvPicPr>
          <p:nvPr/>
        </p:nvPicPr>
        <p:blipFill>
          <a:blip r:embed="rId2"/>
          <a:stretch>
            <a:fillRect/>
          </a:stretch>
        </p:blipFill>
        <p:spPr>
          <a:xfrm>
            <a:off x="5986993" y="2285942"/>
            <a:ext cx="5170585" cy="3860703"/>
          </a:xfrm>
          <a:prstGeom prst="rect">
            <a:avLst/>
          </a:prstGeom>
        </p:spPr>
      </p:pic>
      <p:sp>
        <p:nvSpPr>
          <p:cNvPr id="12" name="TextBox 11"/>
          <p:cNvSpPr txBox="1"/>
          <p:nvPr/>
        </p:nvSpPr>
        <p:spPr>
          <a:xfrm>
            <a:off x="634984" y="6273643"/>
            <a:ext cx="9524761" cy="203194"/>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Twaalf Optimal Care en twaalf Usual Care per centrum, geloot per centrum</a:t>
            </a:r>
          </a:p>
        </p:txBody>
      </p:sp>
      <p:sp>
        <p:nvSpPr>
          <p:cNvPr id="13" name="TextBox 1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03 / 26</a:t>
            </a:r>
          </a:p>
        </p:txBody>
      </p:sp>
      <p:pic>
        <p:nvPicPr>
          <p:cNvPr id="14" name="merk" descr="merk.png"/>
          <p:cNvPicPr>
            <a:picLocks noChangeAspect="1"/>
          </p:cNvPicPr>
          <p:nvPr/>
        </p:nvPicPr>
        <p:blipFill>
          <a:blip r:embed="rId3"/>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WAAR WE STAAN</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Van pilot tot laatste patiënt</a:t>
            </a:r>
          </a:p>
        </p:txBody>
      </p:sp>
      <p:sp>
        <p:nvSpPr>
          <p:cNvPr id="5" name="Rectangle 4"/>
          <p:cNvSpPr/>
          <p:nvPr/>
        </p:nvSpPr>
        <p:spPr>
          <a:xfrm>
            <a:off x="634984" y="2984425"/>
            <a:ext cx="1092172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904952" y="2901877"/>
            <a:ext cx="190495" cy="190495"/>
          </a:xfrm>
          <a:prstGeom prst="ellipse">
            <a:avLst/>
          </a:prstGeom>
          <a:solidFill>
            <a:srgbClr val="FF7A00"/>
          </a:solidFill>
          <a:ln w="38100">
            <a:solidFill>
              <a:srgbClr val="0418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4984" y="2095447"/>
            <a:ext cx="2730431" cy="253993"/>
          </a:xfrm>
          <a:prstGeom prst="rect">
            <a:avLst/>
          </a:prstGeom>
          <a:noFill/>
        </p:spPr>
        <p:txBody>
          <a:bodyPr wrap="square" anchor="t" lIns="0" rIns="0" tIns="0" bIns="0">
            <a:spAutoFit/>
          </a:bodyPr>
          <a:lstStyle/>
          <a:p>
            <a:pPr algn="ctr">
              <a:lnSpc>
                <a:spcPct val="125000"/>
              </a:lnSpc>
            </a:pPr>
            <a:r>
              <a:rPr sz="1500" b="1">
                <a:solidFill>
                  <a:srgbClr val="FF7A00"/>
                </a:solidFill>
                <a:latin typeface="Consolas"/>
              </a:rPr>
              <a:t>sep 2026 – feb 2027</a:t>
            </a:r>
          </a:p>
        </p:txBody>
      </p:sp>
      <p:sp>
        <p:nvSpPr>
          <p:cNvPr id="8" name="TextBox 7"/>
          <p:cNvSpPr txBox="1"/>
          <p:nvPr/>
        </p:nvSpPr>
        <p:spPr>
          <a:xfrm>
            <a:off x="634984" y="2425639"/>
            <a:ext cx="2730431" cy="380990"/>
          </a:xfrm>
          <a:prstGeom prst="rect">
            <a:avLst/>
          </a:prstGeom>
          <a:noFill/>
        </p:spPr>
        <p:txBody>
          <a:bodyPr wrap="square" anchor="t" lIns="0" rIns="0" tIns="0" bIns="0">
            <a:spAutoFit/>
          </a:bodyPr>
          <a:lstStyle/>
          <a:p>
            <a:pPr algn="ctr">
              <a:lnSpc>
                <a:spcPct val="125000"/>
              </a:lnSpc>
            </a:pPr>
            <a:r>
              <a:rPr sz="2200" b="1">
                <a:solidFill>
                  <a:srgbClr val="F2F8FC"/>
                </a:solidFill>
                <a:latin typeface="Segoe UI"/>
              </a:rPr>
              <a:t>Pilot</a:t>
            </a:r>
          </a:p>
        </p:txBody>
      </p:sp>
      <p:sp>
        <p:nvSpPr>
          <p:cNvPr id="9" name="TextBox 8"/>
          <p:cNvSpPr txBox="1"/>
          <p:nvPr/>
        </p:nvSpPr>
        <p:spPr>
          <a:xfrm>
            <a:off x="761980" y="3340016"/>
            <a:ext cx="2476438" cy="1269968"/>
          </a:xfrm>
          <a:prstGeom prst="rect">
            <a:avLst/>
          </a:prstGeom>
          <a:noFill/>
        </p:spPr>
        <p:txBody>
          <a:bodyPr wrap="square" anchor="t" lIns="0" rIns="0" tIns="0" bIns="0">
            <a:spAutoFit/>
          </a:bodyPr>
          <a:lstStyle/>
          <a:p>
            <a:pPr algn="ctr">
              <a:lnSpc>
                <a:spcPct val="135000"/>
              </a:lnSpc>
            </a:pPr>
            <a:r>
              <a:rPr sz="1450" b="0">
                <a:solidFill>
                  <a:srgbClr val="8FB6D0"/>
                </a:solidFill>
                <a:latin typeface="Segoe UI"/>
              </a:rPr>
              <a:t>Protocol en meetprocedures uitproberen in de zes centra. Opleiding en bekwaamheidscheck.</a:t>
            </a:r>
          </a:p>
        </p:txBody>
      </p:sp>
      <p:sp>
        <p:nvSpPr>
          <p:cNvPr id="10" name="Oval 9"/>
          <p:cNvSpPr/>
          <p:nvPr/>
        </p:nvSpPr>
        <p:spPr>
          <a:xfrm>
            <a:off x="4660783" y="2927276"/>
            <a:ext cx="139696" cy="139696"/>
          </a:xfrm>
          <a:prstGeom prst="ellipse">
            <a:avLst/>
          </a:prstGeom>
          <a:solidFill>
            <a:srgbClr val="52BDEC"/>
          </a:solidFill>
          <a:ln w="38100">
            <a:solidFill>
              <a:srgbClr val="0418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365415" y="2095447"/>
            <a:ext cx="2730431" cy="253993"/>
          </a:xfrm>
          <a:prstGeom prst="rect">
            <a:avLst/>
          </a:prstGeom>
          <a:noFill/>
        </p:spPr>
        <p:txBody>
          <a:bodyPr wrap="square" anchor="t" lIns="0" rIns="0" tIns="0" bIns="0">
            <a:spAutoFit/>
          </a:bodyPr>
          <a:lstStyle/>
          <a:p>
            <a:pPr algn="ctr">
              <a:lnSpc>
                <a:spcPct val="125000"/>
              </a:lnSpc>
            </a:pPr>
            <a:r>
              <a:rPr sz="1500" b="1">
                <a:solidFill>
                  <a:srgbClr val="8FB6D0"/>
                </a:solidFill>
                <a:latin typeface="Consolas"/>
              </a:rPr>
              <a:t>feb 2027 – feb 2028</a:t>
            </a:r>
          </a:p>
        </p:txBody>
      </p:sp>
      <p:sp>
        <p:nvSpPr>
          <p:cNvPr id="12" name="TextBox 11"/>
          <p:cNvSpPr txBox="1"/>
          <p:nvPr/>
        </p:nvSpPr>
        <p:spPr>
          <a:xfrm>
            <a:off x="3365415" y="2425639"/>
            <a:ext cx="2730431" cy="380990"/>
          </a:xfrm>
          <a:prstGeom prst="rect">
            <a:avLst/>
          </a:prstGeom>
          <a:noFill/>
        </p:spPr>
        <p:txBody>
          <a:bodyPr wrap="square" anchor="t" lIns="0" rIns="0" tIns="0" bIns="0">
            <a:spAutoFit/>
          </a:bodyPr>
          <a:lstStyle/>
          <a:p>
            <a:pPr algn="ctr">
              <a:lnSpc>
                <a:spcPct val="125000"/>
              </a:lnSpc>
            </a:pPr>
            <a:r>
              <a:rPr sz="2200" b="1">
                <a:solidFill>
                  <a:srgbClr val="F2F8FC"/>
                </a:solidFill>
                <a:latin typeface="Segoe UI"/>
              </a:rPr>
              <a:t>Inclusie</a:t>
            </a:r>
          </a:p>
        </p:txBody>
      </p:sp>
      <p:sp>
        <p:nvSpPr>
          <p:cNvPr id="13" name="TextBox 12"/>
          <p:cNvSpPr txBox="1"/>
          <p:nvPr/>
        </p:nvSpPr>
        <p:spPr>
          <a:xfrm>
            <a:off x="3492412" y="3340016"/>
            <a:ext cx="2476438" cy="1269968"/>
          </a:xfrm>
          <a:prstGeom prst="rect">
            <a:avLst/>
          </a:prstGeom>
          <a:noFill/>
        </p:spPr>
        <p:txBody>
          <a:bodyPr wrap="square" anchor="t" lIns="0" rIns="0" tIns="0" bIns="0">
            <a:spAutoFit/>
          </a:bodyPr>
          <a:lstStyle/>
          <a:p>
            <a:pPr algn="ctr">
              <a:lnSpc>
                <a:spcPct val="135000"/>
              </a:lnSpc>
            </a:pPr>
            <a:r>
              <a:rPr sz="1450" b="0">
                <a:solidFill>
                  <a:srgbClr val="8FB6D0"/>
                </a:solidFill>
                <a:latin typeface="Segoe UI"/>
              </a:rPr>
              <a:t>Twaalf maanden rekruteren. 24 deelnemers per centrum, twee per maand.</a:t>
            </a:r>
          </a:p>
        </p:txBody>
      </p:sp>
      <p:sp>
        <p:nvSpPr>
          <p:cNvPr id="14" name="Oval 13"/>
          <p:cNvSpPr/>
          <p:nvPr/>
        </p:nvSpPr>
        <p:spPr>
          <a:xfrm>
            <a:off x="7391215" y="2927276"/>
            <a:ext cx="139696" cy="139696"/>
          </a:xfrm>
          <a:prstGeom prst="ellipse">
            <a:avLst/>
          </a:prstGeom>
          <a:solidFill>
            <a:srgbClr val="52BDEC"/>
          </a:solidFill>
          <a:ln w="38100">
            <a:solidFill>
              <a:srgbClr val="0418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095847" y="2095447"/>
            <a:ext cx="2730431" cy="253993"/>
          </a:xfrm>
          <a:prstGeom prst="rect">
            <a:avLst/>
          </a:prstGeom>
          <a:noFill/>
        </p:spPr>
        <p:txBody>
          <a:bodyPr wrap="square" anchor="t" lIns="0" rIns="0" tIns="0" bIns="0">
            <a:spAutoFit/>
          </a:bodyPr>
          <a:lstStyle/>
          <a:p>
            <a:pPr algn="ctr">
              <a:lnSpc>
                <a:spcPct val="125000"/>
              </a:lnSpc>
            </a:pPr>
            <a:r>
              <a:rPr sz="1500" b="1">
                <a:solidFill>
                  <a:srgbClr val="8FB6D0"/>
                </a:solidFill>
                <a:latin typeface="Consolas"/>
              </a:rPr>
              <a:t>tot sep 2029</a:t>
            </a:r>
          </a:p>
        </p:txBody>
      </p:sp>
      <p:sp>
        <p:nvSpPr>
          <p:cNvPr id="16" name="TextBox 15"/>
          <p:cNvSpPr txBox="1"/>
          <p:nvPr/>
        </p:nvSpPr>
        <p:spPr>
          <a:xfrm>
            <a:off x="6095847" y="2425639"/>
            <a:ext cx="2730431" cy="380990"/>
          </a:xfrm>
          <a:prstGeom prst="rect">
            <a:avLst/>
          </a:prstGeom>
          <a:noFill/>
        </p:spPr>
        <p:txBody>
          <a:bodyPr wrap="square" anchor="t" lIns="0" rIns="0" tIns="0" bIns="0">
            <a:spAutoFit/>
          </a:bodyPr>
          <a:lstStyle/>
          <a:p>
            <a:pPr algn="ctr">
              <a:lnSpc>
                <a:spcPct val="125000"/>
              </a:lnSpc>
            </a:pPr>
            <a:r>
              <a:rPr sz="2200" b="1">
                <a:solidFill>
                  <a:srgbClr val="F2F8FC"/>
                </a:solidFill>
                <a:latin typeface="Segoe UI"/>
              </a:rPr>
              <a:t>Opvolging</a:t>
            </a:r>
          </a:p>
        </p:txBody>
      </p:sp>
      <p:sp>
        <p:nvSpPr>
          <p:cNvPr id="17" name="TextBox 16"/>
          <p:cNvSpPr txBox="1"/>
          <p:nvPr/>
        </p:nvSpPr>
        <p:spPr>
          <a:xfrm>
            <a:off x="6222844" y="3340016"/>
            <a:ext cx="2476438" cy="1269968"/>
          </a:xfrm>
          <a:prstGeom prst="rect">
            <a:avLst/>
          </a:prstGeom>
          <a:noFill/>
        </p:spPr>
        <p:txBody>
          <a:bodyPr wrap="square" anchor="t" lIns="0" rIns="0" tIns="0" bIns="0">
            <a:spAutoFit/>
          </a:bodyPr>
          <a:lstStyle/>
          <a:p>
            <a:pPr algn="ctr">
              <a:lnSpc>
                <a:spcPct val="135000"/>
              </a:lnSpc>
            </a:pPr>
            <a:r>
              <a:rPr sz="1450" b="0">
                <a:solidFill>
                  <a:srgbClr val="8FB6D0"/>
                </a:solidFill>
                <a:latin typeface="Segoe UI"/>
              </a:rPr>
              <a:t>Elke deelnemer achttien maanden. De laatste inclusie bepaalt de einddatum.</a:t>
            </a:r>
          </a:p>
        </p:txBody>
      </p:sp>
      <p:sp>
        <p:nvSpPr>
          <p:cNvPr id="18" name="Oval 17"/>
          <p:cNvSpPr/>
          <p:nvPr/>
        </p:nvSpPr>
        <p:spPr>
          <a:xfrm>
            <a:off x="10121646" y="2927276"/>
            <a:ext cx="139696" cy="139696"/>
          </a:xfrm>
          <a:prstGeom prst="ellipse">
            <a:avLst/>
          </a:prstGeom>
          <a:solidFill>
            <a:srgbClr val="52BDEC"/>
          </a:solidFill>
          <a:ln w="38100">
            <a:solidFill>
              <a:srgbClr val="0418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826279" y="2095447"/>
            <a:ext cx="2730431" cy="253993"/>
          </a:xfrm>
          <a:prstGeom prst="rect">
            <a:avLst/>
          </a:prstGeom>
          <a:noFill/>
        </p:spPr>
        <p:txBody>
          <a:bodyPr wrap="square" anchor="t" lIns="0" rIns="0" tIns="0" bIns="0">
            <a:spAutoFit/>
          </a:bodyPr>
          <a:lstStyle/>
          <a:p>
            <a:pPr algn="ctr">
              <a:lnSpc>
                <a:spcPct val="125000"/>
              </a:lnSpc>
            </a:pPr>
            <a:r>
              <a:rPr sz="1500" b="1">
                <a:solidFill>
                  <a:srgbClr val="8FB6D0"/>
                </a:solidFill>
                <a:latin typeface="Consolas"/>
              </a:rPr>
              <a:t>2029 – 2030</a:t>
            </a:r>
          </a:p>
        </p:txBody>
      </p:sp>
      <p:sp>
        <p:nvSpPr>
          <p:cNvPr id="20" name="TextBox 19"/>
          <p:cNvSpPr txBox="1"/>
          <p:nvPr/>
        </p:nvSpPr>
        <p:spPr>
          <a:xfrm>
            <a:off x="8826279" y="2425639"/>
            <a:ext cx="2730431" cy="380990"/>
          </a:xfrm>
          <a:prstGeom prst="rect">
            <a:avLst/>
          </a:prstGeom>
          <a:noFill/>
        </p:spPr>
        <p:txBody>
          <a:bodyPr wrap="square" anchor="t" lIns="0" rIns="0" tIns="0" bIns="0">
            <a:spAutoFit/>
          </a:bodyPr>
          <a:lstStyle/>
          <a:p>
            <a:pPr algn="ctr">
              <a:lnSpc>
                <a:spcPct val="125000"/>
              </a:lnSpc>
            </a:pPr>
            <a:r>
              <a:rPr sz="2200" b="1">
                <a:solidFill>
                  <a:srgbClr val="F2F8FC"/>
                </a:solidFill>
                <a:latin typeface="Segoe UI"/>
              </a:rPr>
              <a:t>Analyse</a:t>
            </a:r>
          </a:p>
        </p:txBody>
      </p:sp>
      <p:sp>
        <p:nvSpPr>
          <p:cNvPr id="21" name="TextBox 20"/>
          <p:cNvSpPr txBox="1"/>
          <p:nvPr/>
        </p:nvSpPr>
        <p:spPr>
          <a:xfrm>
            <a:off x="8953276" y="3340016"/>
            <a:ext cx="2476438" cy="1269968"/>
          </a:xfrm>
          <a:prstGeom prst="rect">
            <a:avLst/>
          </a:prstGeom>
          <a:noFill/>
        </p:spPr>
        <p:txBody>
          <a:bodyPr wrap="square" anchor="t" lIns="0" rIns="0" tIns="0" bIns="0">
            <a:spAutoFit/>
          </a:bodyPr>
          <a:lstStyle/>
          <a:p>
            <a:pPr algn="ctr">
              <a:lnSpc>
                <a:spcPct val="135000"/>
              </a:lnSpc>
            </a:pPr>
            <a:r>
              <a:rPr sz="1450" b="0">
                <a:solidFill>
                  <a:srgbClr val="8FB6D0"/>
                </a:solidFill>
                <a:latin typeface="Segoe UI"/>
              </a:rPr>
              <a:t>Uitkomsten, gezondheidseconomie en procesevaluatie. Één publicatie, ongeacht de uitkomst.</a:t>
            </a:r>
          </a:p>
        </p:txBody>
      </p:sp>
      <p:sp>
        <p:nvSpPr>
          <p:cNvPr id="22" name="Rounded Rectangle 21"/>
          <p:cNvSpPr/>
          <p:nvPr/>
        </p:nvSpPr>
        <p:spPr>
          <a:xfrm>
            <a:off x="634984" y="4990975"/>
            <a:ext cx="10921726" cy="1161868"/>
          </a:xfrm>
          <a:prstGeom prst="roundRect">
            <a:avLst>
              <a:gd name="adj" fmla="val 4500"/>
            </a:avLst>
          </a:prstGeom>
          <a:solidFill>
            <a:srgbClr val="0A2A44"/>
          </a:solidFill>
          <a:ln w="9525">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52476" y="5156071"/>
            <a:ext cx="10286742" cy="907874"/>
          </a:xfrm>
          <a:prstGeom prst="rect">
            <a:avLst/>
          </a:prstGeom>
          <a:noFill/>
        </p:spPr>
        <p:txBody>
          <a:bodyPr wrap="square" anchor="t" lIns="0" rIns="0" tIns="0" bIns="0">
            <a:spAutoFit/>
          </a:bodyPr>
          <a:lstStyle/>
          <a:p>
            <a:pPr algn="l">
              <a:lnSpc>
                <a:spcPct val="140000"/>
              </a:lnSpc>
            </a:pPr>
            <a:r>
              <a:rPr sz="1800" b="0">
                <a:solidFill>
                  <a:srgbClr val="F2F8FC"/>
                </a:solidFill>
                <a:latin typeface="Segoe UI"/>
              </a:rPr>
              <a:t>De inclusieperiode is het enige wat de einddatum verschuift. Elke maand vertraging in de rekrutering is een maand later klaar.</a:t>
            </a:r>
          </a:p>
        </p:txBody>
      </p:sp>
      <p:sp>
        <p:nvSpPr>
          <p:cNvPr id="24" name="TextBox 23"/>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04 / 26</a:t>
            </a:r>
          </a:p>
        </p:txBody>
      </p:sp>
      <p:pic>
        <p:nvPicPr>
          <p:cNvPr id="25"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26" name="TextBox 25"/>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Bron  20 · Morbach 2016</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merkgroot" descr="merk.png"/>
          <p:cNvPicPr>
            <a:picLocks noChangeAspect="1"/>
          </p:cNvPicPr>
          <p:nvPr/>
        </p:nvPicPr>
        <p:blipFill>
          <a:blip r:embed="rId2">
            <a:alphaModFix amt="14000"/>
          </a:blip>
          <a:stretch>
            <a:fillRect/>
          </a:stretch>
        </p:blipFill>
        <p:spPr>
          <a:xfrm>
            <a:off x="6603834" y="-1126099"/>
            <a:ext cx="7873803" cy="9110028"/>
          </a:xfrm>
          <a:prstGeom prst="rect">
            <a:avLst/>
          </a:prstGeom>
        </p:spPr>
      </p:pic>
      <p:sp>
        <p:nvSpPr>
          <p:cNvPr id="4" name="hero"/>
          <p:cNvSpPr txBox="1"/>
          <p:nvPr/>
        </p:nvSpPr>
        <p:spPr>
          <a:xfrm>
            <a:off x="431789" y="723881"/>
            <a:ext cx="5714857" cy="2920926"/>
          </a:xfrm>
          <a:prstGeom prst="rect">
            <a:avLst/>
          </a:prstGeom>
          <a:noFill/>
        </p:spPr>
        <p:txBody>
          <a:bodyPr wrap="none" anchor="t" lIns="0" rIns="0" tIns="0" bIns="0">
            <a:spAutoFit/>
          </a:bodyPr>
          <a:lstStyle/>
          <a:p>
            <a:pPr algn="l">
              <a:lnSpc>
                <a:spcPct val="82000"/>
              </a:lnSpc>
            </a:pPr>
            <a:r>
              <a:rPr sz="26000" b="1">
                <a:solidFill>
                  <a:srgbClr val="52BDEC">
                    <a:alpha val="15000"/>
                  </a:srgbClr>
                </a:solidFill>
                <a:latin typeface="Segoe UI"/>
              </a:rPr>
              <a:t>01</a:t>
            </a:r>
          </a:p>
        </p:txBody>
      </p:sp>
      <p:sp>
        <p:nvSpPr>
          <p:cNvPr id="5" name="TextBox 4"/>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BLOK 01</a:t>
            </a:r>
          </a:p>
        </p:txBody>
      </p:sp>
      <p:sp>
        <p:nvSpPr>
          <p:cNvPr id="6" name="Rectangle 5"/>
          <p:cNvSpPr/>
          <p:nvPr/>
        </p:nvSpPr>
        <p:spPr>
          <a:xfrm>
            <a:off x="634984" y="3213019"/>
            <a:ext cx="812779" cy="50798"/>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ectietitel"/>
          <p:cNvSpPr txBox="1"/>
          <p:nvPr/>
        </p:nvSpPr>
        <p:spPr>
          <a:xfrm>
            <a:off x="634984" y="3555911"/>
            <a:ext cx="8889777" cy="1015974"/>
          </a:xfrm>
          <a:prstGeom prst="rect">
            <a:avLst/>
          </a:prstGeom>
          <a:noFill/>
        </p:spPr>
        <p:txBody>
          <a:bodyPr wrap="square" anchor="t" lIns="0" rIns="0" tIns="0" bIns="0">
            <a:spAutoFit/>
          </a:bodyPr>
          <a:lstStyle/>
          <a:p>
            <a:pPr algn="l">
              <a:lnSpc>
                <a:spcPct val="125000"/>
              </a:lnSpc>
            </a:pPr>
            <a:r>
              <a:rPr sz="7600" b="1">
                <a:solidFill>
                  <a:srgbClr val="F2F8FC"/>
                </a:solidFill>
                <a:latin typeface="Segoe UI"/>
              </a:rPr>
              <a:t>Waarom</a:t>
            </a:r>
          </a:p>
        </p:txBody>
      </p:sp>
      <p:sp>
        <p:nvSpPr>
          <p:cNvPr id="8" name="TextBox 7"/>
          <p:cNvSpPr txBox="1"/>
          <p:nvPr/>
        </p:nvSpPr>
        <p:spPr>
          <a:xfrm>
            <a:off x="660383" y="4825879"/>
            <a:ext cx="8254793" cy="507987"/>
          </a:xfrm>
          <a:prstGeom prst="rect">
            <a:avLst/>
          </a:prstGeom>
          <a:noFill/>
        </p:spPr>
        <p:txBody>
          <a:bodyPr wrap="square" anchor="t" lIns="0" rIns="0" tIns="0" bIns="0">
            <a:spAutoFit/>
          </a:bodyPr>
          <a:lstStyle/>
          <a:p>
            <a:pPr algn="l">
              <a:lnSpc>
                <a:spcPct val="125000"/>
              </a:lnSpc>
            </a:pPr>
            <a:r>
              <a:rPr sz="2300" b="0">
                <a:solidFill>
                  <a:srgbClr val="8FB6D0"/>
                </a:solidFill>
                <a:latin typeface="Segoe UI Light"/>
              </a:rPr>
              <a:t>Vier cijfers verklaren waarom er twee normen zijn.</a:t>
            </a:r>
          </a:p>
        </p:txBody>
      </p:sp>
      <p:sp>
        <p:nvSpPr>
          <p:cNvPr id="9" name="TextBox 8"/>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05 / 26</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15974" y="253993"/>
            <a:ext cx="5206869" cy="5206869"/>
          </a:xfrm>
          <a:prstGeom prst="ellipse">
            <a:avLst/>
          </a:prstGeom>
          <a:solidFill>
            <a:srgbClr val="FF7A00">
              <a:alpha val="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hero"/>
          <p:cNvSpPr txBox="1"/>
          <p:nvPr/>
        </p:nvSpPr>
        <p:spPr>
          <a:xfrm>
            <a:off x="380990" y="761980"/>
            <a:ext cx="7619809" cy="3301917"/>
          </a:xfrm>
          <a:prstGeom prst="rect">
            <a:avLst/>
          </a:prstGeom>
          <a:noFill/>
        </p:spPr>
        <p:txBody>
          <a:bodyPr wrap="square" anchor="t" lIns="0" rIns="0" tIns="0" bIns="0">
            <a:spAutoFit/>
          </a:bodyPr>
          <a:lstStyle/>
          <a:p>
            <a:pPr algn="l">
              <a:lnSpc>
                <a:spcPct val="82000"/>
              </a:lnSpc>
            </a:pPr>
            <a:r>
              <a:rPr sz="25000" b="1">
                <a:solidFill>
                  <a:srgbClr val="FF7A00"/>
                </a:solidFill>
                <a:latin typeface="Segoe UI"/>
              </a:rPr>
              <a:t>40</a:t>
            </a:r>
          </a:p>
        </p:txBody>
      </p:sp>
      <p:sp>
        <p:nvSpPr>
          <p:cNvPr id="5" name="TextBox 4"/>
          <p:cNvSpPr txBox="1"/>
          <p:nvPr/>
        </p:nvSpPr>
        <p:spPr>
          <a:xfrm>
            <a:off x="4444888" y="1320766"/>
            <a:ext cx="1523961" cy="1015974"/>
          </a:xfrm>
          <a:prstGeom prst="rect">
            <a:avLst/>
          </a:prstGeom>
          <a:noFill/>
        </p:spPr>
        <p:txBody>
          <a:bodyPr wrap="square" anchor="t" lIns="0" rIns="0" tIns="0" bIns="0">
            <a:spAutoFit/>
          </a:bodyPr>
          <a:lstStyle/>
          <a:p>
            <a:pPr algn="l">
              <a:lnSpc>
                <a:spcPct val="125000"/>
              </a:lnSpc>
            </a:pPr>
            <a:r>
              <a:rPr sz="7600" b="1">
                <a:solidFill>
                  <a:srgbClr val="FF7A00"/>
                </a:solidFill>
                <a:latin typeface="Segoe UI Light"/>
              </a:rPr>
              <a:t>%</a:t>
            </a:r>
          </a:p>
        </p:txBody>
      </p:sp>
      <p:sp>
        <p:nvSpPr>
          <p:cNvPr id="6" name="TextBox 5"/>
          <p:cNvSpPr txBox="1"/>
          <p:nvPr/>
        </p:nvSpPr>
        <p:spPr>
          <a:xfrm>
            <a:off x="660383" y="3975000"/>
            <a:ext cx="5460863" cy="1269968"/>
          </a:xfrm>
          <a:prstGeom prst="rect">
            <a:avLst/>
          </a:prstGeom>
          <a:noFill/>
        </p:spPr>
        <p:txBody>
          <a:bodyPr wrap="square" anchor="t" lIns="0" rIns="0" tIns="0" bIns="0">
            <a:spAutoFit/>
          </a:bodyPr>
          <a:lstStyle/>
          <a:p>
            <a:pPr algn="l">
              <a:lnSpc>
                <a:spcPct val="120000"/>
              </a:lnSpc>
            </a:pPr>
            <a:r>
              <a:rPr sz="3200" b="1">
                <a:solidFill>
                  <a:srgbClr val="F2F8FC"/>
                </a:solidFill>
                <a:latin typeface="Segoe UI"/>
              </a:rPr>
              <a:t>krijgt binnen een jaar</a:t>
            </a:r>
          </a:p>
          <a:p>
            <a:pPr algn="l">
              <a:lnSpc>
                <a:spcPct val="120000"/>
              </a:lnSpc>
              <a:spcBef>
                <a:spcPts val="500"/>
              </a:spcBef>
            </a:pPr>
            <a:r>
              <a:rPr sz="3200" b="1">
                <a:solidFill>
                  <a:srgbClr val="F2F8FC"/>
                </a:solidFill>
                <a:latin typeface="Segoe UI"/>
              </a:rPr>
              <a:t>een nieuw ulcus</a:t>
            </a:r>
          </a:p>
        </p:txBody>
      </p:sp>
      <p:sp>
        <p:nvSpPr>
          <p:cNvPr id="7" name="Rounded Rectangle 6"/>
          <p:cNvSpPr/>
          <p:nvPr/>
        </p:nvSpPr>
        <p:spPr>
          <a:xfrm>
            <a:off x="8017563" y="1142971"/>
            <a:ext cx="3538893" cy="1206469"/>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0758" y="1320766"/>
            <a:ext cx="3157903" cy="609584"/>
          </a:xfrm>
          <a:prstGeom prst="rect">
            <a:avLst/>
          </a:prstGeom>
          <a:noFill/>
        </p:spPr>
        <p:txBody>
          <a:bodyPr wrap="square" anchor="t" lIns="0" rIns="0" tIns="0" bIns="0">
            <a:spAutoFit/>
          </a:bodyPr>
          <a:lstStyle/>
          <a:p>
            <a:pPr algn="l">
              <a:lnSpc>
                <a:spcPct val="100000"/>
              </a:lnSpc>
            </a:pPr>
            <a:r>
              <a:rPr sz="4200" b="1">
                <a:solidFill>
                  <a:srgbClr val="F2F8FC"/>
                </a:solidFill>
                <a:latin typeface="Segoe UI"/>
              </a:rPr>
              <a:t>65%</a:t>
            </a:r>
          </a:p>
        </p:txBody>
      </p:sp>
      <p:sp>
        <p:nvSpPr>
          <p:cNvPr id="9" name="TextBox 8"/>
          <p:cNvSpPr txBox="1"/>
          <p:nvPr/>
        </p:nvSpPr>
        <p:spPr>
          <a:xfrm>
            <a:off x="8233458" y="1930351"/>
            <a:ext cx="3157903" cy="253993"/>
          </a:xfrm>
          <a:prstGeom prst="rect">
            <a:avLst/>
          </a:prstGeom>
          <a:noFill/>
        </p:spPr>
        <p:txBody>
          <a:bodyPr wrap="square" anchor="t" lIns="0" rIns="0" tIns="0" bIns="0">
            <a:spAutoFit/>
          </a:bodyPr>
          <a:lstStyle/>
          <a:p>
            <a:pPr algn="l">
              <a:lnSpc>
                <a:spcPct val="125000"/>
              </a:lnSpc>
            </a:pPr>
            <a:r>
              <a:rPr sz="1350" b="0" spc="130">
                <a:solidFill>
                  <a:srgbClr val="8FB6D0"/>
                </a:solidFill>
                <a:latin typeface="Consolas"/>
              </a:rPr>
              <a:t>NA VIJF JAAR</a:t>
            </a:r>
          </a:p>
        </p:txBody>
      </p:sp>
      <p:sp>
        <p:nvSpPr>
          <p:cNvPr id="10" name="Rounded Rectangle 9"/>
          <p:cNvSpPr/>
          <p:nvPr/>
        </p:nvSpPr>
        <p:spPr>
          <a:xfrm>
            <a:off x="8017563" y="2514537"/>
            <a:ext cx="3538893" cy="1206469"/>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0758" y="2692332"/>
            <a:ext cx="3157903" cy="609584"/>
          </a:xfrm>
          <a:prstGeom prst="rect">
            <a:avLst/>
          </a:prstGeom>
          <a:noFill/>
        </p:spPr>
        <p:txBody>
          <a:bodyPr wrap="square" anchor="t" lIns="0" rIns="0" tIns="0" bIns="0">
            <a:spAutoFit/>
          </a:bodyPr>
          <a:lstStyle/>
          <a:p>
            <a:pPr algn="l">
              <a:lnSpc>
                <a:spcPct val="100000"/>
              </a:lnSpc>
            </a:pPr>
            <a:r>
              <a:rPr sz="4200" b="1">
                <a:solidFill>
                  <a:srgbClr val="F2F8FC"/>
                </a:solidFill>
                <a:latin typeface="Segoe UI"/>
              </a:rPr>
              <a:t>2,5×</a:t>
            </a:r>
          </a:p>
        </p:txBody>
      </p:sp>
      <p:sp>
        <p:nvSpPr>
          <p:cNvPr id="12" name="TextBox 11"/>
          <p:cNvSpPr txBox="1"/>
          <p:nvPr/>
        </p:nvSpPr>
        <p:spPr>
          <a:xfrm>
            <a:off x="8233458" y="3301917"/>
            <a:ext cx="3157903" cy="253993"/>
          </a:xfrm>
          <a:prstGeom prst="rect">
            <a:avLst/>
          </a:prstGeom>
          <a:noFill/>
        </p:spPr>
        <p:txBody>
          <a:bodyPr wrap="square" anchor="t" lIns="0" rIns="0" tIns="0" bIns="0">
            <a:spAutoFit/>
          </a:bodyPr>
          <a:lstStyle/>
          <a:p>
            <a:pPr algn="l">
              <a:lnSpc>
                <a:spcPct val="125000"/>
              </a:lnSpc>
            </a:pPr>
            <a:r>
              <a:rPr sz="1350" b="0" spc="130">
                <a:solidFill>
                  <a:srgbClr val="8FB6D0"/>
                </a:solidFill>
                <a:latin typeface="Consolas"/>
              </a:rPr>
              <a:t>HOGERE STERFTE</a:t>
            </a:r>
          </a:p>
        </p:txBody>
      </p:sp>
      <p:sp>
        <p:nvSpPr>
          <p:cNvPr id="13" name="Rounded Rectangle 12"/>
          <p:cNvSpPr/>
          <p:nvPr/>
        </p:nvSpPr>
        <p:spPr>
          <a:xfrm>
            <a:off x="8017563" y="3886102"/>
            <a:ext cx="3538893" cy="1206469"/>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0758" y="4063898"/>
            <a:ext cx="3157903" cy="609584"/>
          </a:xfrm>
          <a:prstGeom prst="rect">
            <a:avLst/>
          </a:prstGeom>
          <a:noFill/>
        </p:spPr>
        <p:txBody>
          <a:bodyPr wrap="square" anchor="t" lIns="0" rIns="0" tIns="0" bIns="0">
            <a:spAutoFit/>
          </a:bodyPr>
          <a:lstStyle/>
          <a:p>
            <a:pPr algn="l">
              <a:lnSpc>
                <a:spcPct val="100000"/>
              </a:lnSpc>
            </a:pPr>
            <a:r>
              <a:rPr sz="4200" b="1">
                <a:solidFill>
                  <a:srgbClr val="F2F8FC"/>
                </a:solidFill>
                <a:latin typeface="Segoe UI"/>
              </a:rPr>
              <a:t>&gt; 70%</a:t>
            </a:r>
          </a:p>
        </p:txBody>
      </p:sp>
      <p:sp>
        <p:nvSpPr>
          <p:cNvPr id="15" name="TextBox 14"/>
          <p:cNvSpPr txBox="1"/>
          <p:nvPr/>
        </p:nvSpPr>
        <p:spPr>
          <a:xfrm>
            <a:off x="8233458" y="4673483"/>
            <a:ext cx="3157903" cy="253993"/>
          </a:xfrm>
          <a:prstGeom prst="rect">
            <a:avLst/>
          </a:prstGeom>
          <a:noFill/>
        </p:spPr>
        <p:txBody>
          <a:bodyPr wrap="square" anchor="t" lIns="0" rIns="0" tIns="0" bIns="0">
            <a:spAutoFit/>
          </a:bodyPr>
          <a:lstStyle/>
          <a:p>
            <a:pPr algn="l">
              <a:lnSpc>
                <a:spcPct val="125000"/>
              </a:lnSpc>
            </a:pPr>
            <a:r>
              <a:rPr sz="1350" b="0" spc="130">
                <a:solidFill>
                  <a:srgbClr val="8FB6D0"/>
                </a:solidFill>
                <a:latin typeface="Consolas"/>
              </a:rPr>
              <a:t>STERFTE NA MAJEURE AMPUTATIE</a:t>
            </a:r>
          </a:p>
        </p:txBody>
      </p:sp>
      <p:sp>
        <p:nvSpPr>
          <p:cNvPr id="16" name="TextBox 15"/>
          <p:cNvSpPr txBox="1"/>
          <p:nvPr/>
        </p:nvSpPr>
        <p:spPr>
          <a:xfrm>
            <a:off x="634984" y="6387940"/>
            <a:ext cx="8889777"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Armstrong, Boulton &amp; Bus · N Engl J Med 2017</a:t>
            </a:r>
          </a:p>
        </p:txBody>
      </p:sp>
      <p:sp>
        <p:nvSpPr>
          <p:cNvPr id="17" name="TextBox 1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06 / 26</a:t>
            </a:r>
          </a:p>
        </p:txBody>
      </p:sp>
      <p:pic>
        <p:nvPicPr>
          <p:cNvPr id="18"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19" name="TextBox 18"/>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Bron  1 · Armstrong 2017</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HET RISICO NA GENEZING</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Twee derde recidiveert binnen vijf jaar</a:t>
            </a:r>
          </a:p>
        </p:txBody>
      </p:sp>
      <p:sp>
        <p:nvSpPr>
          <p:cNvPr id="5" name="TextBox 4"/>
          <p:cNvSpPr txBox="1"/>
          <p:nvPr/>
        </p:nvSpPr>
        <p:spPr>
          <a:xfrm>
            <a:off x="634984" y="2489137"/>
            <a:ext cx="4063898" cy="228594"/>
          </a:xfrm>
          <a:prstGeom prst="rect">
            <a:avLst/>
          </a:prstGeom>
          <a:noFill/>
        </p:spPr>
        <p:txBody>
          <a:bodyPr wrap="square" anchor="t" lIns="0" rIns="0" tIns="0" bIns="0">
            <a:spAutoFit/>
          </a:bodyPr>
          <a:lstStyle/>
          <a:p>
            <a:pPr algn="l">
              <a:lnSpc>
                <a:spcPct val="125000"/>
              </a:lnSpc>
            </a:pPr>
            <a:r>
              <a:rPr sz="1100" b="1" spc="160">
                <a:solidFill>
                  <a:srgbClr val="8FB6D0"/>
                </a:solidFill>
                <a:latin typeface="Consolas"/>
              </a:rPr>
              <a:t>NA 1 JAAR</a:t>
            </a:r>
          </a:p>
        </p:txBody>
      </p:sp>
      <p:sp>
        <p:nvSpPr>
          <p:cNvPr id="6" name="TextBox 5"/>
          <p:cNvSpPr txBox="1"/>
          <p:nvPr/>
        </p:nvSpPr>
        <p:spPr>
          <a:xfrm>
            <a:off x="634984" y="2717732"/>
            <a:ext cx="4063898" cy="939776"/>
          </a:xfrm>
          <a:prstGeom prst="rect">
            <a:avLst/>
          </a:prstGeom>
          <a:noFill/>
        </p:spPr>
        <p:txBody>
          <a:bodyPr wrap="square" anchor="t" lIns="0" rIns="0" tIns="0" bIns="0">
            <a:spAutoFit/>
          </a:bodyPr>
          <a:lstStyle/>
          <a:p>
            <a:pPr algn="l">
              <a:lnSpc>
                <a:spcPct val="100000"/>
              </a:lnSpc>
            </a:pPr>
            <a:r>
              <a:rPr sz="5400" b="1">
                <a:solidFill>
                  <a:srgbClr val="52BDEC"/>
                </a:solidFill>
                <a:latin typeface="Segoe UI"/>
              </a:rPr>
              <a:t>40%</a:t>
            </a:r>
          </a:p>
        </p:txBody>
      </p:sp>
      <p:sp>
        <p:nvSpPr>
          <p:cNvPr id="7" name="TextBox 6"/>
          <p:cNvSpPr txBox="1"/>
          <p:nvPr/>
        </p:nvSpPr>
        <p:spPr>
          <a:xfrm>
            <a:off x="634984" y="4038499"/>
            <a:ext cx="4063898" cy="228594"/>
          </a:xfrm>
          <a:prstGeom prst="rect">
            <a:avLst/>
          </a:prstGeom>
          <a:noFill/>
        </p:spPr>
        <p:txBody>
          <a:bodyPr wrap="square" anchor="t" lIns="0" rIns="0" tIns="0" bIns="0">
            <a:spAutoFit/>
          </a:bodyPr>
          <a:lstStyle/>
          <a:p>
            <a:pPr algn="l">
              <a:lnSpc>
                <a:spcPct val="125000"/>
              </a:lnSpc>
            </a:pPr>
            <a:r>
              <a:rPr sz="1100" b="1" spc="160">
                <a:solidFill>
                  <a:srgbClr val="8FB6D0"/>
                </a:solidFill>
                <a:latin typeface="Consolas"/>
              </a:rPr>
              <a:t>NA 5 JAAR</a:t>
            </a:r>
          </a:p>
        </p:txBody>
      </p:sp>
      <p:sp>
        <p:nvSpPr>
          <p:cNvPr id="8" name="TextBox 7"/>
          <p:cNvSpPr txBox="1"/>
          <p:nvPr/>
        </p:nvSpPr>
        <p:spPr>
          <a:xfrm>
            <a:off x="634984" y="4267093"/>
            <a:ext cx="4063898" cy="939776"/>
          </a:xfrm>
          <a:prstGeom prst="rect">
            <a:avLst/>
          </a:prstGeom>
          <a:noFill/>
        </p:spPr>
        <p:txBody>
          <a:bodyPr wrap="square" anchor="t" lIns="0" rIns="0" tIns="0" bIns="0">
            <a:spAutoFit/>
          </a:bodyPr>
          <a:lstStyle/>
          <a:p>
            <a:pPr algn="l">
              <a:lnSpc>
                <a:spcPct val="100000"/>
              </a:lnSpc>
            </a:pPr>
            <a:r>
              <a:rPr sz="5400" b="1">
                <a:solidFill>
                  <a:srgbClr val="FF7A00"/>
                </a:solidFill>
                <a:latin typeface="Segoe UI"/>
              </a:rPr>
              <a:t>65%</a:t>
            </a:r>
          </a:p>
        </p:txBody>
      </p:sp>
      <p:sp>
        <p:nvSpPr>
          <p:cNvPr id="9" name="TextBox 8"/>
          <p:cNvSpPr txBox="1"/>
          <p:nvPr/>
        </p:nvSpPr>
        <p:spPr>
          <a:xfrm>
            <a:off x="5587860" y="1777955"/>
            <a:ext cx="5968850" cy="279393"/>
          </a:xfrm>
          <a:prstGeom prst="rect">
            <a:avLst/>
          </a:prstGeom>
          <a:noFill/>
        </p:spPr>
        <p:txBody>
          <a:bodyPr wrap="square" anchor="t" lIns="0" rIns="0" tIns="0" bIns="0">
            <a:spAutoFit/>
          </a:bodyPr>
          <a:lstStyle/>
          <a:p>
            <a:pPr algn="l">
              <a:lnSpc>
                <a:spcPct val="125000"/>
              </a:lnSpc>
            </a:pPr>
            <a:r>
              <a:rPr sz="1300" b="0">
                <a:solidFill>
                  <a:srgbClr val="8FB6D0"/>
                </a:solidFill>
                <a:latin typeface="Segoe UI"/>
              </a:rPr>
              <a:t>Incidentie van recidief tegenover follow-upduur</a:t>
            </a:r>
          </a:p>
        </p:txBody>
      </p:sp>
      <p:sp>
        <p:nvSpPr>
          <p:cNvPr id="10" name="Rounded Rectangle 9"/>
          <p:cNvSpPr/>
          <p:nvPr/>
        </p:nvSpPr>
        <p:spPr>
          <a:xfrm>
            <a:off x="5587860" y="2133546"/>
            <a:ext cx="5968850" cy="4063898"/>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recidief_curve.png"/>
          <p:cNvPicPr>
            <a:picLocks noChangeAspect="1"/>
          </p:cNvPicPr>
          <p:nvPr/>
        </p:nvPicPr>
        <p:blipFill>
          <a:blip r:embed="rId2"/>
          <a:stretch>
            <a:fillRect/>
          </a:stretch>
        </p:blipFill>
        <p:spPr>
          <a:xfrm>
            <a:off x="5748364" y="2285942"/>
            <a:ext cx="5647842" cy="3860703"/>
          </a:xfrm>
          <a:prstGeom prst="rect">
            <a:avLst/>
          </a:prstGeom>
        </p:spPr>
      </p:pic>
      <p:sp>
        <p:nvSpPr>
          <p:cNvPr id="12" name="TextBox 11"/>
          <p:cNvSpPr txBox="1"/>
          <p:nvPr/>
        </p:nvSpPr>
        <p:spPr>
          <a:xfrm>
            <a:off x="634984" y="6273643"/>
            <a:ext cx="9524761" cy="203194"/>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Gepoolde data uit negen prospectieve studies, één retrospectieve studie en de controlegroepen van negen RCT’s</a:t>
            </a:r>
          </a:p>
        </p:txBody>
      </p:sp>
      <p:sp>
        <p:nvSpPr>
          <p:cNvPr id="13" name="TextBox 1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07 / 26</a:t>
            </a:r>
          </a:p>
        </p:txBody>
      </p:sp>
      <p:pic>
        <p:nvPicPr>
          <p:cNvPr id="14" name="merk" descr="merk.png"/>
          <p:cNvPicPr>
            <a:picLocks noChangeAspect="1"/>
          </p:cNvPicPr>
          <p:nvPr/>
        </p:nvPicPr>
        <p:blipFill>
          <a:blip r:embed="rId3"/>
          <a:stretch>
            <a:fillRect/>
          </a:stretch>
        </p:blipFill>
        <p:spPr>
          <a:xfrm>
            <a:off x="11094166" y="368290"/>
            <a:ext cx="417101" cy="482587"/>
          </a:xfrm>
          <a:prstGeom prst="rect">
            <a:avLst/>
          </a:prstGeom>
        </p:spPr>
      </p:pic>
      <p:sp>
        <p:nvSpPr>
          <p:cNvPr id="15" name="TextBox 14"/>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Bron  1 · Armstrong 2017</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beeld" descr="knal_voorkomen.jpg"/>
          <p:cNvPicPr>
            <a:picLocks noChangeAspect="1"/>
          </p:cNvPicPr>
          <p:nvPr/>
        </p:nvPicPr>
        <p:blipFill>
          <a:blip r:embed="rId2"/>
          <a:stretch>
            <a:fillRect/>
          </a:stretch>
        </p:blipFill>
        <p:spPr>
          <a:xfrm>
            <a:off x="-45491" y="0"/>
            <a:ext cx="12282678" cy="6857828"/>
          </a:xfrm>
          <a:prstGeom prst="rect">
            <a:avLst/>
          </a:prstGeom>
        </p:spPr>
      </p:pic>
      <p:sp>
        <p:nvSpPr>
          <p:cNvPr id="4" name="Rectangle 3"/>
          <p:cNvSpPr/>
          <p:nvPr/>
        </p:nvSpPr>
        <p:spPr>
          <a:xfrm>
            <a:off x="0" y="0"/>
            <a:ext cx="12191695" cy="6857828"/>
          </a:xfrm>
          <a:prstGeom prst="rect">
            <a:avLst/>
          </a:prstGeom>
          <a:gradFill rotWithShape="1">
            <a:gsLst>
              <a:gs pos="0">
                <a:srgbClr val="04182A">
                  <a:alpha val="68000"/>
                </a:srgbClr>
              </a:gs>
              <a:gs pos="100000">
                <a:srgbClr val="072138">
                  <a:alpha val="95000"/>
                </a:srgbClr>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952476" y="1231869"/>
            <a:ext cx="812779" cy="50798"/>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knal"/>
          <p:cNvSpPr txBox="1"/>
          <p:nvPr/>
        </p:nvSpPr>
        <p:spPr>
          <a:xfrm>
            <a:off x="952476" y="1523961"/>
            <a:ext cx="10286742" cy="4190895"/>
          </a:xfrm>
          <a:prstGeom prst="rect">
            <a:avLst/>
          </a:prstGeom>
          <a:noFill/>
        </p:spPr>
        <p:txBody>
          <a:bodyPr wrap="square" anchor="t" lIns="0" rIns="0" tIns="0" bIns="0">
            <a:spAutoFit/>
          </a:bodyPr>
          <a:lstStyle/>
          <a:p>
            <a:pPr algn="l">
              <a:lnSpc>
                <a:spcPct val="106000"/>
              </a:lnSpc>
            </a:pPr>
            <a:r>
              <a:rPr sz="6200" b="1">
                <a:solidFill>
                  <a:srgbClr val="FFFFFF"/>
                </a:solidFill>
                <a:latin typeface="Segoe UI"/>
              </a:rPr>
              <a:t>Driekwart is te voorkomen.</a:t>
            </a:r>
          </a:p>
          <a:p>
            <a:pPr algn="l">
              <a:lnSpc>
                <a:spcPct val="106000"/>
              </a:lnSpc>
              <a:spcBef>
                <a:spcPts val="500"/>
              </a:spcBef>
            </a:pPr>
            <a:r>
              <a:rPr sz="6200" b="1">
                <a:solidFill>
                  <a:srgbClr val="FFFFFF"/>
                </a:solidFill>
                <a:latin typeface="Segoe UI"/>
              </a:rPr>
              <a:t>Veertig procent komt terug.</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DEZELFDE SCHOEN, TWEE UITKOMSTEN</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Waarom druk alléén niet volstaat</a:t>
            </a:r>
          </a:p>
        </p:txBody>
      </p:sp>
      <p:sp>
        <p:nvSpPr>
          <p:cNvPr id="5" name="Rectangle 4"/>
          <p:cNvSpPr/>
          <p:nvPr/>
        </p:nvSpPr>
        <p:spPr>
          <a:xfrm>
            <a:off x="634984" y="1828754"/>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4984" y="1993850"/>
            <a:ext cx="3809904" cy="317492"/>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Iedereen</a:t>
            </a:r>
          </a:p>
        </p:txBody>
      </p:sp>
      <p:sp>
        <p:nvSpPr>
          <p:cNvPr id="7" name="TextBox 6"/>
          <p:cNvSpPr txBox="1"/>
          <p:nvPr/>
        </p:nvSpPr>
        <p:spPr>
          <a:xfrm>
            <a:off x="647683" y="2349441"/>
            <a:ext cx="3809904"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intention-to-treat</a:t>
            </a:r>
          </a:p>
        </p:txBody>
      </p:sp>
      <p:sp>
        <p:nvSpPr>
          <p:cNvPr id="8" name="TextBox 7"/>
          <p:cNvSpPr txBox="1"/>
          <p:nvPr/>
        </p:nvSpPr>
        <p:spPr>
          <a:xfrm>
            <a:off x="634984" y="2768530"/>
            <a:ext cx="2031949" cy="215894"/>
          </a:xfrm>
          <a:prstGeom prst="rect">
            <a:avLst/>
          </a:prstGeom>
          <a:noFill/>
        </p:spPr>
        <p:txBody>
          <a:bodyPr wrap="square" anchor="t" lIns="0" rIns="0" tIns="0" bIns="0">
            <a:spAutoFit/>
          </a:bodyPr>
          <a:lstStyle/>
          <a:p>
            <a:pPr algn="l">
              <a:lnSpc>
                <a:spcPct val="125000"/>
              </a:lnSpc>
            </a:pPr>
            <a:r>
              <a:rPr sz="1400" b="0">
                <a:solidFill>
                  <a:srgbClr val="8FB6D0"/>
                </a:solidFill>
                <a:latin typeface="Consolas"/>
              </a:rPr>
              <a:t>Gewone maatzool</a:t>
            </a:r>
          </a:p>
        </p:txBody>
      </p:sp>
      <p:sp>
        <p:nvSpPr>
          <p:cNvPr id="9" name="Rounded Rectangle 8"/>
          <p:cNvSpPr/>
          <p:nvPr/>
        </p:nvSpPr>
        <p:spPr>
          <a:xfrm>
            <a:off x="2793930" y="2717732"/>
            <a:ext cx="6857828" cy="292092"/>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2793930" y="2717732"/>
            <a:ext cx="6062320" cy="292092"/>
          </a:xfrm>
          <a:prstGeom prst="roundRect">
            <a:avLst>
              <a:gd name="adj" fmla="val 50000"/>
            </a:avLst>
          </a:prstGeom>
          <a:solidFill>
            <a:srgbClr val="8FB6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905752" y="2692332"/>
            <a:ext cx="1396965" cy="342891"/>
          </a:xfrm>
          <a:prstGeom prst="rect">
            <a:avLst/>
          </a:prstGeom>
          <a:noFill/>
        </p:spPr>
        <p:txBody>
          <a:bodyPr wrap="square" anchor="t" lIns="0" rIns="0" tIns="0" bIns="0">
            <a:spAutoFit/>
          </a:bodyPr>
          <a:lstStyle/>
          <a:p>
            <a:pPr algn="l">
              <a:lnSpc>
                <a:spcPct val="125000"/>
              </a:lnSpc>
            </a:pPr>
            <a:r>
              <a:rPr sz="2700" b="1">
                <a:solidFill>
                  <a:srgbClr val="8FB6D0"/>
                </a:solidFill>
                <a:latin typeface="Segoe UI"/>
              </a:rPr>
              <a:t>44,2%</a:t>
            </a:r>
          </a:p>
        </p:txBody>
      </p:sp>
      <p:sp>
        <p:nvSpPr>
          <p:cNvPr id="12" name="TextBox 11"/>
          <p:cNvSpPr txBox="1"/>
          <p:nvPr/>
        </p:nvSpPr>
        <p:spPr>
          <a:xfrm>
            <a:off x="634984" y="3187620"/>
            <a:ext cx="2031949" cy="215894"/>
          </a:xfrm>
          <a:prstGeom prst="rect">
            <a:avLst/>
          </a:prstGeom>
          <a:noFill/>
        </p:spPr>
        <p:txBody>
          <a:bodyPr wrap="square" anchor="t" lIns="0" rIns="0" tIns="0" bIns="0">
            <a:spAutoFit/>
          </a:bodyPr>
          <a:lstStyle/>
          <a:p>
            <a:pPr algn="l">
              <a:lnSpc>
                <a:spcPct val="125000"/>
              </a:lnSpc>
            </a:pPr>
            <a:r>
              <a:rPr sz="1400" b="0">
                <a:solidFill>
                  <a:srgbClr val="8FB6D0"/>
                </a:solidFill>
                <a:latin typeface="Consolas"/>
              </a:rPr>
              <a:t>Drukgeoptimaliseerd</a:t>
            </a:r>
          </a:p>
        </p:txBody>
      </p:sp>
      <p:sp>
        <p:nvSpPr>
          <p:cNvPr id="13" name="Rounded Rectangle 12"/>
          <p:cNvSpPr/>
          <p:nvPr/>
        </p:nvSpPr>
        <p:spPr>
          <a:xfrm>
            <a:off x="2793930" y="3136821"/>
            <a:ext cx="6857828" cy="292092"/>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2793930" y="3136821"/>
            <a:ext cx="5321674" cy="292092"/>
          </a:xfrm>
          <a:prstGeom prst="roundRect">
            <a:avLst>
              <a:gd name="adj" fmla="val 50000"/>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905752" y="3111422"/>
            <a:ext cx="1396965" cy="342891"/>
          </a:xfrm>
          <a:prstGeom prst="rect">
            <a:avLst/>
          </a:prstGeom>
          <a:noFill/>
        </p:spPr>
        <p:txBody>
          <a:bodyPr wrap="square" anchor="t" lIns="0" rIns="0" tIns="0" bIns="0">
            <a:spAutoFit/>
          </a:bodyPr>
          <a:lstStyle/>
          <a:p>
            <a:pPr algn="l">
              <a:lnSpc>
                <a:spcPct val="125000"/>
              </a:lnSpc>
            </a:pPr>
            <a:r>
              <a:rPr sz="2700" b="1">
                <a:solidFill>
                  <a:srgbClr val="FF7A00"/>
                </a:solidFill>
                <a:latin typeface="Segoe UI"/>
              </a:rPr>
              <a:t>38,8%</a:t>
            </a:r>
          </a:p>
        </p:txBody>
      </p:sp>
      <p:sp>
        <p:nvSpPr>
          <p:cNvPr id="16" name="TextBox 15"/>
          <p:cNvSpPr txBox="1"/>
          <p:nvPr/>
        </p:nvSpPr>
        <p:spPr>
          <a:xfrm>
            <a:off x="634984" y="3568610"/>
            <a:ext cx="5714857" cy="279393"/>
          </a:xfrm>
          <a:prstGeom prst="rect">
            <a:avLst/>
          </a:prstGeom>
          <a:noFill/>
        </p:spPr>
        <p:txBody>
          <a:bodyPr wrap="square" anchor="t" lIns="0" rIns="0" tIns="0" bIns="0">
            <a:spAutoFit/>
          </a:bodyPr>
          <a:lstStyle/>
          <a:p>
            <a:pPr algn="l">
              <a:lnSpc>
                <a:spcPct val="125000"/>
              </a:lnSpc>
            </a:pPr>
            <a:r>
              <a:rPr sz="1800" b="1">
                <a:solidFill>
                  <a:srgbClr val="FF7A00"/>
                </a:solidFill>
                <a:latin typeface="Segoe UI"/>
              </a:rPr>
              <a:t>Geen verschil — p = 0,48</a:t>
            </a:r>
          </a:p>
        </p:txBody>
      </p:sp>
      <p:sp>
        <p:nvSpPr>
          <p:cNvPr id="17" name="Rectangle 16"/>
          <p:cNvSpPr/>
          <p:nvPr/>
        </p:nvSpPr>
        <p:spPr>
          <a:xfrm>
            <a:off x="634984" y="4089297"/>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4984" y="4254393"/>
            <a:ext cx="3809904" cy="317492"/>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Wie hem droeg</a:t>
            </a:r>
          </a:p>
        </p:txBody>
      </p:sp>
      <p:sp>
        <p:nvSpPr>
          <p:cNvPr id="19" name="TextBox 18"/>
          <p:cNvSpPr txBox="1"/>
          <p:nvPr/>
        </p:nvSpPr>
        <p:spPr>
          <a:xfrm>
            <a:off x="647683" y="4609984"/>
            <a:ext cx="3809904"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 80% van de stappen</a:t>
            </a:r>
          </a:p>
        </p:txBody>
      </p:sp>
      <p:sp>
        <p:nvSpPr>
          <p:cNvPr id="20" name="TextBox 19"/>
          <p:cNvSpPr txBox="1"/>
          <p:nvPr/>
        </p:nvSpPr>
        <p:spPr>
          <a:xfrm>
            <a:off x="634984" y="5029074"/>
            <a:ext cx="2031949" cy="215894"/>
          </a:xfrm>
          <a:prstGeom prst="rect">
            <a:avLst/>
          </a:prstGeom>
          <a:noFill/>
        </p:spPr>
        <p:txBody>
          <a:bodyPr wrap="square" anchor="t" lIns="0" rIns="0" tIns="0" bIns="0">
            <a:spAutoFit/>
          </a:bodyPr>
          <a:lstStyle/>
          <a:p>
            <a:pPr algn="l">
              <a:lnSpc>
                <a:spcPct val="125000"/>
              </a:lnSpc>
            </a:pPr>
            <a:r>
              <a:rPr sz="1400" b="0">
                <a:solidFill>
                  <a:srgbClr val="8FB6D0"/>
                </a:solidFill>
                <a:latin typeface="Consolas"/>
              </a:rPr>
              <a:t>Gewone maatzool</a:t>
            </a:r>
          </a:p>
        </p:txBody>
      </p:sp>
      <p:sp>
        <p:nvSpPr>
          <p:cNvPr id="21" name="Rounded Rectangle 20"/>
          <p:cNvSpPr/>
          <p:nvPr/>
        </p:nvSpPr>
        <p:spPr>
          <a:xfrm>
            <a:off x="2793930" y="4978275"/>
            <a:ext cx="6857828" cy="292092"/>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2793930" y="4978275"/>
            <a:ext cx="6556084" cy="292092"/>
          </a:xfrm>
          <a:prstGeom prst="roundRect">
            <a:avLst>
              <a:gd name="adj" fmla="val 50000"/>
            </a:avLst>
          </a:prstGeom>
          <a:solidFill>
            <a:srgbClr val="8FB6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905752" y="4952876"/>
            <a:ext cx="1396965" cy="342891"/>
          </a:xfrm>
          <a:prstGeom prst="rect">
            <a:avLst/>
          </a:prstGeom>
          <a:noFill/>
        </p:spPr>
        <p:txBody>
          <a:bodyPr wrap="square" anchor="t" lIns="0" rIns="0" tIns="0" bIns="0">
            <a:spAutoFit/>
          </a:bodyPr>
          <a:lstStyle/>
          <a:p>
            <a:pPr algn="l">
              <a:lnSpc>
                <a:spcPct val="125000"/>
              </a:lnSpc>
            </a:pPr>
            <a:r>
              <a:rPr sz="2700" b="1">
                <a:solidFill>
                  <a:srgbClr val="8FB6D0"/>
                </a:solidFill>
                <a:latin typeface="Segoe UI"/>
              </a:rPr>
              <a:t>47,8%</a:t>
            </a:r>
          </a:p>
        </p:txBody>
      </p:sp>
      <p:sp>
        <p:nvSpPr>
          <p:cNvPr id="24" name="TextBox 23"/>
          <p:cNvSpPr txBox="1"/>
          <p:nvPr/>
        </p:nvSpPr>
        <p:spPr>
          <a:xfrm>
            <a:off x="634984" y="5448163"/>
            <a:ext cx="2031949" cy="215894"/>
          </a:xfrm>
          <a:prstGeom prst="rect">
            <a:avLst/>
          </a:prstGeom>
          <a:noFill/>
        </p:spPr>
        <p:txBody>
          <a:bodyPr wrap="square" anchor="t" lIns="0" rIns="0" tIns="0" bIns="0">
            <a:spAutoFit/>
          </a:bodyPr>
          <a:lstStyle/>
          <a:p>
            <a:pPr algn="l">
              <a:lnSpc>
                <a:spcPct val="125000"/>
              </a:lnSpc>
            </a:pPr>
            <a:r>
              <a:rPr sz="1400" b="0">
                <a:solidFill>
                  <a:srgbClr val="8FB6D0"/>
                </a:solidFill>
                <a:latin typeface="Consolas"/>
              </a:rPr>
              <a:t>Drukgeoptimaliseerd</a:t>
            </a:r>
          </a:p>
        </p:txBody>
      </p:sp>
      <p:sp>
        <p:nvSpPr>
          <p:cNvPr id="25" name="Rounded Rectangle 24"/>
          <p:cNvSpPr/>
          <p:nvPr/>
        </p:nvSpPr>
        <p:spPr>
          <a:xfrm>
            <a:off x="2793930" y="5397365"/>
            <a:ext cx="6857828" cy="292092"/>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2793930" y="5397365"/>
            <a:ext cx="3524923" cy="292092"/>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905752" y="5371965"/>
            <a:ext cx="1396965" cy="342891"/>
          </a:xfrm>
          <a:prstGeom prst="rect">
            <a:avLst/>
          </a:prstGeom>
          <a:noFill/>
        </p:spPr>
        <p:txBody>
          <a:bodyPr wrap="square" anchor="t" lIns="0" rIns="0" tIns="0" bIns="0">
            <a:spAutoFit/>
          </a:bodyPr>
          <a:lstStyle/>
          <a:p>
            <a:pPr algn="l">
              <a:lnSpc>
                <a:spcPct val="125000"/>
              </a:lnSpc>
            </a:pPr>
            <a:r>
              <a:rPr sz="2700" b="1">
                <a:solidFill>
                  <a:srgbClr val="52BDEC"/>
                </a:solidFill>
                <a:latin typeface="Segoe UI"/>
              </a:rPr>
              <a:t>25,7%</a:t>
            </a:r>
          </a:p>
        </p:txBody>
      </p:sp>
      <p:sp>
        <p:nvSpPr>
          <p:cNvPr id="28" name="TextBox 27"/>
          <p:cNvSpPr txBox="1"/>
          <p:nvPr/>
        </p:nvSpPr>
        <p:spPr>
          <a:xfrm>
            <a:off x="634984" y="5829154"/>
            <a:ext cx="5714857" cy="279393"/>
          </a:xfrm>
          <a:prstGeom prst="rect">
            <a:avLst/>
          </a:prstGeom>
          <a:noFill/>
        </p:spPr>
        <p:txBody>
          <a:bodyPr wrap="square" anchor="t" lIns="0" rIns="0" tIns="0" bIns="0">
            <a:spAutoFit/>
          </a:bodyPr>
          <a:lstStyle/>
          <a:p>
            <a:pPr algn="l">
              <a:lnSpc>
                <a:spcPct val="125000"/>
              </a:lnSpc>
            </a:pPr>
            <a:r>
              <a:rPr sz="1800" b="1">
                <a:solidFill>
                  <a:srgbClr val="52BDEC"/>
                </a:solidFill>
                <a:latin typeface="Segoe UI"/>
              </a:rPr>
              <a:t>Bijna gehalveerd — p = 0,045</a:t>
            </a:r>
          </a:p>
        </p:txBody>
      </p:sp>
      <p:sp>
        <p:nvSpPr>
          <p:cNvPr id="29" name="TextBox 28"/>
          <p:cNvSpPr txBox="1"/>
          <p:nvPr/>
        </p:nvSpPr>
        <p:spPr>
          <a:xfrm>
            <a:off x="634984" y="6387940"/>
            <a:ext cx="8889777"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Bus et al. · Diabetes Care 2013 · DIAFOS, 171 deelnemers</a:t>
            </a:r>
          </a:p>
        </p:txBody>
      </p:sp>
      <p:sp>
        <p:nvSpPr>
          <p:cNvPr id="30" name="TextBox 29"/>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09 / 26</a:t>
            </a:r>
          </a:p>
        </p:txBody>
      </p:sp>
      <p:pic>
        <p:nvPicPr>
          <p:cNvPr id="31"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32" name="TextBox 31"/>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Bron  9 · Bus 2013, DIAFOS</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15974" y="253993"/>
            <a:ext cx="5206869" cy="5206869"/>
          </a:xfrm>
          <a:prstGeom prst="ellipse">
            <a:avLst/>
          </a:prstGeom>
          <a:solidFill>
            <a:srgbClr val="52BDEC">
              <a:alpha val="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hero"/>
          <p:cNvSpPr txBox="1"/>
          <p:nvPr/>
        </p:nvSpPr>
        <p:spPr>
          <a:xfrm>
            <a:off x="380990" y="761980"/>
            <a:ext cx="7619809" cy="3301917"/>
          </a:xfrm>
          <a:prstGeom prst="rect">
            <a:avLst/>
          </a:prstGeom>
          <a:noFill/>
        </p:spPr>
        <p:txBody>
          <a:bodyPr wrap="square" anchor="t" lIns="0" rIns="0" tIns="0" bIns="0">
            <a:spAutoFit/>
          </a:bodyPr>
          <a:lstStyle/>
          <a:p>
            <a:pPr algn="l">
              <a:lnSpc>
                <a:spcPct val="82000"/>
              </a:lnSpc>
            </a:pPr>
            <a:r>
              <a:rPr sz="25000" b="1">
                <a:solidFill>
                  <a:srgbClr val="52BDEC"/>
                </a:solidFill>
                <a:latin typeface="Segoe UI"/>
              </a:rPr>
              <a:t>71</a:t>
            </a:r>
          </a:p>
        </p:txBody>
      </p:sp>
      <p:sp>
        <p:nvSpPr>
          <p:cNvPr id="5" name="TextBox 4"/>
          <p:cNvSpPr txBox="1"/>
          <p:nvPr/>
        </p:nvSpPr>
        <p:spPr>
          <a:xfrm>
            <a:off x="4444888" y="1320766"/>
            <a:ext cx="1523961" cy="1015974"/>
          </a:xfrm>
          <a:prstGeom prst="rect">
            <a:avLst/>
          </a:prstGeom>
          <a:noFill/>
        </p:spPr>
        <p:txBody>
          <a:bodyPr wrap="square" anchor="t" lIns="0" rIns="0" tIns="0" bIns="0">
            <a:spAutoFit/>
          </a:bodyPr>
          <a:lstStyle/>
          <a:p>
            <a:pPr algn="l">
              <a:lnSpc>
                <a:spcPct val="125000"/>
              </a:lnSpc>
            </a:pPr>
            <a:r>
              <a:rPr sz="7600" b="1">
                <a:solidFill>
                  <a:srgbClr val="52BDEC"/>
                </a:solidFill>
                <a:latin typeface="Segoe UI Light"/>
              </a:rPr>
              <a:t>%</a:t>
            </a:r>
          </a:p>
        </p:txBody>
      </p:sp>
      <p:sp>
        <p:nvSpPr>
          <p:cNvPr id="6" name="TextBox 5"/>
          <p:cNvSpPr txBox="1"/>
          <p:nvPr/>
        </p:nvSpPr>
        <p:spPr>
          <a:xfrm>
            <a:off x="660383" y="3975000"/>
            <a:ext cx="5460863" cy="1269968"/>
          </a:xfrm>
          <a:prstGeom prst="rect">
            <a:avLst/>
          </a:prstGeom>
          <a:noFill/>
        </p:spPr>
        <p:txBody>
          <a:bodyPr wrap="square" anchor="t" lIns="0" rIns="0" tIns="0" bIns="0">
            <a:spAutoFit/>
          </a:bodyPr>
          <a:lstStyle/>
          <a:p>
            <a:pPr algn="l">
              <a:lnSpc>
                <a:spcPct val="120000"/>
              </a:lnSpc>
            </a:pPr>
            <a:r>
              <a:rPr sz="3200" b="1">
                <a:solidFill>
                  <a:srgbClr val="F2F8FC"/>
                </a:solidFill>
                <a:latin typeface="Segoe UI"/>
              </a:rPr>
              <a:t>draagtijd — gemeten,</a:t>
            </a:r>
          </a:p>
          <a:p>
            <a:pPr algn="l">
              <a:lnSpc>
                <a:spcPct val="120000"/>
              </a:lnSpc>
              <a:spcBef>
                <a:spcPts val="500"/>
              </a:spcBef>
            </a:pPr>
            <a:r>
              <a:rPr sz="3200" b="1">
                <a:solidFill>
                  <a:srgbClr val="F2F8FC"/>
                </a:solidFill>
                <a:latin typeface="Segoe UI"/>
              </a:rPr>
              <a:t>niet gevraagd</a:t>
            </a:r>
          </a:p>
        </p:txBody>
      </p:sp>
      <p:sp>
        <p:nvSpPr>
          <p:cNvPr id="7" name="TextBox 6"/>
          <p:cNvSpPr txBox="1"/>
          <p:nvPr/>
        </p:nvSpPr>
        <p:spPr>
          <a:xfrm>
            <a:off x="6349841" y="1904952"/>
            <a:ext cx="5079873" cy="228594"/>
          </a:xfrm>
          <a:prstGeom prst="rect">
            <a:avLst/>
          </a:prstGeom>
          <a:noFill/>
        </p:spPr>
        <p:txBody>
          <a:bodyPr wrap="square" anchor="t" lIns="0" rIns="0" tIns="0" bIns="0">
            <a:spAutoFit/>
          </a:bodyPr>
          <a:lstStyle/>
          <a:p>
            <a:pPr algn="l">
              <a:lnSpc>
                <a:spcPct val="125000"/>
              </a:lnSpc>
            </a:pPr>
            <a:r>
              <a:rPr sz="1300" b="0" spc="140">
                <a:solidFill>
                  <a:srgbClr val="8FB6D0"/>
                </a:solidFill>
                <a:latin typeface="Consolas"/>
              </a:rPr>
              <a:t>DRAAGTIJD TEGENOVER DE NORM VAN 80%</a:t>
            </a:r>
          </a:p>
        </p:txBody>
      </p:sp>
      <p:sp>
        <p:nvSpPr>
          <p:cNvPr id="8" name="TextBox 7"/>
          <p:cNvSpPr txBox="1"/>
          <p:nvPr/>
        </p:nvSpPr>
        <p:spPr>
          <a:xfrm>
            <a:off x="6349841" y="2222444"/>
            <a:ext cx="1650958" cy="228594"/>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Gemiddeld</a:t>
            </a:r>
          </a:p>
        </p:txBody>
      </p:sp>
      <p:sp>
        <p:nvSpPr>
          <p:cNvPr id="9" name="Rounded Rectangle 8"/>
          <p:cNvSpPr/>
          <p:nvPr/>
        </p:nvSpPr>
        <p:spPr>
          <a:xfrm>
            <a:off x="6349841" y="2489137"/>
            <a:ext cx="4444888" cy="253993"/>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349841" y="2489137"/>
            <a:ext cx="3155871" cy="253993"/>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21726" y="2463738"/>
            <a:ext cx="698482" cy="279393"/>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71%</a:t>
            </a:r>
          </a:p>
        </p:txBody>
      </p:sp>
      <p:sp>
        <p:nvSpPr>
          <p:cNvPr id="12" name="TextBox 11"/>
          <p:cNvSpPr txBox="1"/>
          <p:nvPr/>
        </p:nvSpPr>
        <p:spPr>
          <a:xfrm>
            <a:off x="6349841" y="2971725"/>
            <a:ext cx="1650958" cy="228594"/>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Thuis</a:t>
            </a:r>
          </a:p>
        </p:txBody>
      </p:sp>
      <p:sp>
        <p:nvSpPr>
          <p:cNvPr id="13" name="Rounded Rectangle 12"/>
          <p:cNvSpPr/>
          <p:nvPr/>
        </p:nvSpPr>
        <p:spPr>
          <a:xfrm>
            <a:off x="6349841" y="3238419"/>
            <a:ext cx="4444888" cy="253993"/>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6349841" y="3238419"/>
            <a:ext cx="2711382" cy="253993"/>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921726" y="3213019"/>
            <a:ext cx="698482" cy="279393"/>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61%</a:t>
            </a:r>
          </a:p>
        </p:txBody>
      </p:sp>
      <p:sp>
        <p:nvSpPr>
          <p:cNvPr id="16" name="TextBox 15"/>
          <p:cNvSpPr txBox="1"/>
          <p:nvPr/>
        </p:nvSpPr>
        <p:spPr>
          <a:xfrm>
            <a:off x="6349841" y="3721006"/>
            <a:ext cx="1650958" cy="228594"/>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Buitenshuis</a:t>
            </a:r>
          </a:p>
        </p:txBody>
      </p:sp>
      <p:sp>
        <p:nvSpPr>
          <p:cNvPr id="17" name="Rounded Rectangle 16"/>
          <p:cNvSpPr/>
          <p:nvPr/>
        </p:nvSpPr>
        <p:spPr>
          <a:xfrm>
            <a:off x="6349841" y="3987700"/>
            <a:ext cx="4444888" cy="253993"/>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349841" y="3987700"/>
            <a:ext cx="3867053" cy="253993"/>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921726" y="3962300"/>
            <a:ext cx="698482" cy="279393"/>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87%</a:t>
            </a:r>
          </a:p>
        </p:txBody>
      </p:sp>
      <p:sp>
        <p:nvSpPr>
          <p:cNvPr id="20" name="Rectangle 19"/>
          <p:cNvSpPr/>
          <p:nvPr/>
        </p:nvSpPr>
        <p:spPr>
          <a:xfrm>
            <a:off x="9905752" y="2184345"/>
            <a:ext cx="19049" cy="2209744"/>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270768" y="4470288"/>
            <a:ext cx="1269968" cy="228594"/>
          </a:xfrm>
          <a:prstGeom prst="rect">
            <a:avLst/>
          </a:prstGeom>
          <a:noFill/>
        </p:spPr>
        <p:txBody>
          <a:bodyPr wrap="square" anchor="t" lIns="0" rIns="0" tIns="0" bIns="0">
            <a:spAutoFit/>
          </a:bodyPr>
          <a:lstStyle/>
          <a:p>
            <a:pPr algn="ctr">
              <a:lnSpc>
                <a:spcPct val="125000"/>
              </a:lnSpc>
            </a:pPr>
            <a:r>
              <a:rPr sz="1300" b="1">
                <a:solidFill>
                  <a:srgbClr val="FF7A00"/>
                </a:solidFill>
                <a:latin typeface="Consolas"/>
              </a:rPr>
              <a:t>norm 80%</a:t>
            </a:r>
          </a:p>
        </p:txBody>
      </p:sp>
      <p:sp>
        <p:nvSpPr>
          <p:cNvPr id="22" name="TextBox 21"/>
          <p:cNvSpPr txBox="1"/>
          <p:nvPr/>
        </p:nvSpPr>
        <p:spPr>
          <a:xfrm>
            <a:off x="634984" y="6387940"/>
            <a:ext cx="8889777"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Waaijman et al. · Diabetes Care 2013 · 107 patiënten</a:t>
            </a:r>
          </a:p>
        </p:txBody>
      </p:sp>
      <p:sp>
        <p:nvSpPr>
          <p:cNvPr id="23" name="TextBox 2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10 / 26</a:t>
            </a:r>
          </a:p>
        </p:txBody>
      </p:sp>
      <p:pic>
        <p:nvPicPr>
          <p:cNvPr id="24"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25" name="TextBox 24"/>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Bron  13 · Waaijman 2013</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WAT PARADISE ANDERS DOET</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Eén dienst, geen drie losse maatregelen</a:t>
            </a:r>
          </a:p>
        </p:txBody>
      </p:sp>
      <p:sp>
        <p:nvSpPr>
          <p:cNvPr id="5" name="Rounded Rectangle 4"/>
          <p:cNvSpPr/>
          <p:nvPr/>
        </p:nvSpPr>
        <p:spPr>
          <a:xfrm>
            <a:off x="634984" y="2031949"/>
            <a:ext cx="5384538" cy="3822604"/>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88977" y="2247843"/>
            <a:ext cx="1269968" cy="380990"/>
          </a:xfrm>
          <a:prstGeom prst="rect">
            <a:avLst/>
          </a:prstGeom>
          <a:noFill/>
        </p:spPr>
        <p:txBody>
          <a:bodyPr wrap="square" anchor="t" lIns="0" rIns="0" tIns="0" bIns="0">
            <a:spAutoFit/>
          </a:bodyPr>
          <a:lstStyle/>
          <a:p>
            <a:pPr algn="l">
              <a:lnSpc>
                <a:spcPct val="125000"/>
              </a:lnSpc>
            </a:pPr>
            <a:r>
              <a:rPr sz="2600" b="1">
                <a:solidFill>
                  <a:srgbClr val="52BDEC"/>
                </a:solidFill>
                <a:latin typeface="Consolas"/>
              </a:rPr>
              <a:t>01</a:t>
            </a:r>
          </a:p>
        </p:txBody>
      </p:sp>
      <p:sp>
        <p:nvSpPr>
          <p:cNvPr id="7" name="TextBox 6"/>
          <p:cNvSpPr txBox="1"/>
          <p:nvPr/>
        </p:nvSpPr>
        <p:spPr>
          <a:xfrm>
            <a:off x="888977" y="2654233"/>
            <a:ext cx="4876551" cy="698482"/>
          </a:xfrm>
          <a:prstGeom prst="rect">
            <a:avLst/>
          </a:prstGeom>
          <a:noFill/>
        </p:spPr>
        <p:txBody>
          <a:bodyPr wrap="square" anchor="t" lIns="0" rIns="0" tIns="0" bIns="0">
            <a:spAutoFit/>
          </a:bodyPr>
          <a:lstStyle/>
          <a:p>
            <a:pPr algn="l">
              <a:lnSpc>
                <a:spcPct val="115000"/>
              </a:lnSpc>
            </a:pPr>
            <a:r>
              <a:rPr sz="2400" b="1">
                <a:solidFill>
                  <a:srgbClr val="F2F8FC"/>
                </a:solidFill>
                <a:latin typeface="Segoe UI"/>
              </a:rPr>
              <a:t>De zool háált de norm</a:t>
            </a:r>
          </a:p>
        </p:txBody>
      </p:sp>
      <p:sp>
        <p:nvSpPr>
          <p:cNvPr id="8" name="Rounded Rectangle 7"/>
          <p:cNvSpPr/>
          <p:nvPr/>
        </p:nvSpPr>
        <p:spPr>
          <a:xfrm>
            <a:off x="888977" y="3479713"/>
            <a:ext cx="4876551" cy="533386"/>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88977" y="3632109"/>
            <a:ext cx="4876551" cy="304792"/>
          </a:xfrm>
          <a:prstGeom prst="rect">
            <a:avLst/>
          </a:prstGeom>
          <a:noFill/>
        </p:spPr>
        <p:txBody>
          <a:bodyPr wrap="square" anchor="t" lIns="0" rIns="0" tIns="0" bIns="0">
            <a:spAutoFit/>
          </a:bodyPr>
          <a:lstStyle/>
          <a:p>
            <a:pPr algn="ctr">
              <a:lnSpc>
                <a:spcPct val="125000"/>
              </a:lnSpc>
            </a:pPr>
            <a:r>
              <a:rPr sz="1800" b="1">
                <a:solidFill>
                  <a:srgbClr val="52BDEC"/>
                </a:solidFill>
                <a:latin typeface="Consolas"/>
              </a:rPr>
              <a:t>&lt; 200 kPa óf 25% lager</a:t>
            </a:r>
          </a:p>
        </p:txBody>
      </p:sp>
      <p:sp>
        <p:nvSpPr>
          <p:cNvPr id="10" name="TextBox 9"/>
          <p:cNvSpPr txBox="1"/>
          <p:nvPr/>
        </p:nvSpPr>
        <p:spPr>
          <a:xfrm>
            <a:off x="888977" y="4165495"/>
            <a:ext cx="4876551" cy="1516382"/>
          </a:xfrm>
          <a:prstGeom prst="rect">
            <a:avLst/>
          </a:prstGeom>
          <a:noFill/>
        </p:spPr>
        <p:txBody>
          <a:bodyPr wrap="square" anchor="t" lIns="0" rIns="0" tIns="0" bIns="0">
            <a:spAutoFit/>
          </a:bodyPr>
          <a:lstStyle/>
          <a:p>
            <a:pPr algn="l">
              <a:lnSpc>
                <a:spcPct val="132000"/>
              </a:lnSpc>
            </a:pPr>
            <a:r>
              <a:rPr sz="1450" b="0">
                <a:solidFill>
                  <a:srgbClr val="8FB6D0"/>
                </a:solidFill>
                <a:latin typeface="Segoe UI"/>
              </a:rPr>
              <a:t>Gemeten bij de aflevering.</a:t>
            </a:r>
          </a:p>
          <a:p>
            <a:pPr algn="l">
              <a:lnSpc>
                <a:spcPct val="132000"/>
              </a:lnSpc>
              <a:spcBef>
                <a:spcPts val="1200"/>
              </a:spcBef>
            </a:pPr>
            <a:r>
              <a:rPr sz="1450" b="0">
                <a:solidFill>
                  <a:srgbClr val="8FB6D0"/>
                </a:solidFill>
                <a:latin typeface="Segoe UI"/>
              </a:rPr>
              <a:t>Aangepast tot de norm gehaald is in elk van de drie doelregio's.</a:t>
            </a:r>
          </a:p>
          <a:p>
            <a:pPr algn="l">
              <a:lnSpc>
                <a:spcPct val="132000"/>
              </a:lnSpc>
              <a:spcBef>
                <a:spcPts val="1200"/>
              </a:spcBef>
            </a:pPr>
            <a:r>
              <a:rPr sz="1450" b="0">
                <a:solidFill>
                  <a:srgbClr val="8FB6D0"/>
                </a:solidFill>
                <a:latin typeface="Segoe UI"/>
              </a:rPr>
              <a:t>Herhaald op maand 6, 12 en 18.</a:t>
            </a:r>
          </a:p>
        </p:txBody>
      </p:sp>
      <p:sp>
        <p:nvSpPr>
          <p:cNvPr id="11" name="Rounded Rectangle 10"/>
          <p:cNvSpPr/>
          <p:nvPr/>
        </p:nvSpPr>
        <p:spPr>
          <a:xfrm>
            <a:off x="6171918" y="2031949"/>
            <a:ext cx="5384538" cy="3822604"/>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25912" y="2247843"/>
            <a:ext cx="1269968" cy="380990"/>
          </a:xfrm>
          <a:prstGeom prst="rect">
            <a:avLst/>
          </a:prstGeom>
          <a:noFill/>
        </p:spPr>
        <p:txBody>
          <a:bodyPr wrap="square" anchor="t" lIns="0" rIns="0" tIns="0" bIns="0">
            <a:spAutoFit/>
          </a:bodyPr>
          <a:lstStyle/>
          <a:p>
            <a:pPr algn="l">
              <a:lnSpc>
                <a:spcPct val="125000"/>
              </a:lnSpc>
            </a:pPr>
            <a:r>
              <a:rPr sz="2600" b="1">
                <a:solidFill>
                  <a:srgbClr val="52BDEC"/>
                </a:solidFill>
                <a:latin typeface="Consolas"/>
              </a:rPr>
              <a:t>02</a:t>
            </a:r>
          </a:p>
        </p:txBody>
      </p:sp>
      <p:sp>
        <p:nvSpPr>
          <p:cNvPr id="13" name="TextBox 12"/>
          <p:cNvSpPr txBox="1"/>
          <p:nvPr/>
        </p:nvSpPr>
        <p:spPr>
          <a:xfrm>
            <a:off x="6425912" y="2654233"/>
            <a:ext cx="4876551" cy="698482"/>
          </a:xfrm>
          <a:prstGeom prst="rect">
            <a:avLst/>
          </a:prstGeom>
          <a:noFill/>
        </p:spPr>
        <p:txBody>
          <a:bodyPr wrap="square" anchor="t" lIns="0" rIns="0" tIns="0" bIns="0">
            <a:spAutoFit/>
          </a:bodyPr>
          <a:lstStyle/>
          <a:p>
            <a:pPr algn="l">
              <a:lnSpc>
                <a:spcPct val="115000"/>
              </a:lnSpc>
            </a:pPr>
            <a:r>
              <a:rPr sz="2400" b="1">
                <a:solidFill>
                  <a:srgbClr val="F2F8FC"/>
                </a:solidFill>
                <a:latin typeface="Segoe UI"/>
              </a:rPr>
              <a:t>En hij wórdt gedragen</a:t>
            </a:r>
          </a:p>
        </p:txBody>
      </p:sp>
      <p:sp>
        <p:nvSpPr>
          <p:cNvPr id="14" name="Rounded Rectangle 13"/>
          <p:cNvSpPr/>
          <p:nvPr/>
        </p:nvSpPr>
        <p:spPr>
          <a:xfrm>
            <a:off x="6425912" y="3479713"/>
            <a:ext cx="4876551" cy="533386"/>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25912" y="3632109"/>
            <a:ext cx="4876551" cy="304792"/>
          </a:xfrm>
          <a:prstGeom prst="rect">
            <a:avLst/>
          </a:prstGeom>
          <a:noFill/>
        </p:spPr>
        <p:txBody>
          <a:bodyPr wrap="square" anchor="t" lIns="0" rIns="0" tIns="0" bIns="0">
            <a:spAutoFit/>
          </a:bodyPr>
          <a:lstStyle/>
          <a:p>
            <a:pPr algn="ctr">
              <a:lnSpc>
                <a:spcPct val="125000"/>
              </a:lnSpc>
            </a:pPr>
            <a:r>
              <a:rPr sz="1800" b="1">
                <a:solidFill>
                  <a:srgbClr val="52BDEC"/>
                </a:solidFill>
                <a:latin typeface="Consolas"/>
              </a:rPr>
              <a:t>80% van het eigen activiteitenprofiel</a:t>
            </a:r>
          </a:p>
        </p:txBody>
      </p:sp>
      <p:sp>
        <p:nvSpPr>
          <p:cNvPr id="16" name="TextBox 15"/>
          <p:cNvSpPr txBox="1"/>
          <p:nvPr/>
        </p:nvSpPr>
        <p:spPr>
          <a:xfrm>
            <a:off x="6425912" y="4165495"/>
            <a:ext cx="4876551" cy="1516382"/>
          </a:xfrm>
          <a:prstGeom prst="rect">
            <a:avLst/>
          </a:prstGeom>
          <a:noFill/>
        </p:spPr>
        <p:txBody>
          <a:bodyPr wrap="square" anchor="t" lIns="0" rIns="0" tIns="0" bIns="0">
            <a:spAutoFit/>
          </a:bodyPr>
          <a:lstStyle/>
          <a:p>
            <a:pPr algn="l">
              <a:lnSpc>
                <a:spcPct val="132000"/>
              </a:lnSpc>
            </a:pPr>
            <a:r>
              <a:rPr sz="1450" b="0">
                <a:solidFill>
                  <a:srgbClr val="8FB6D0"/>
                </a:solidFill>
                <a:latin typeface="Segoe UI"/>
              </a:rPr>
              <a:t>Een sensor in de zool meet de draagtijd, continu.</a:t>
            </a:r>
          </a:p>
          <a:p>
            <a:pPr algn="l">
              <a:lnSpc>
                <a:spcPct val="132000"/>
              </a:lnSpc>
              <a:spcBef>
                <a:spcPts val="1200"/>
              </a:spcBef>
            </a:pPr>
            <a:r>
              <a:rPr sz="1450" b="0">
                <a:solidFill>
                  <a:srgbClr val="8FB6D0"/>
                </a:solidFill>
                <a:latin typeface="Segoe UI"/>
              </a:rPr>
              <a:t>Elke drie maanden uitgelezen en samen bekeken.</a:t>
            </a:r>
          </a:p>
          <a:p>
            <a:pPr algn="l">
              <a:lnSpc>
                <a:spcPct val="132000"/>
              </a:lnSpc>
              <a:spcBef>
                <a:spcPts val="1200"/>
              </a:spcBef>
            </a:pPr>
            <a:r>
              <a:rPr sz="1450" b="0">
                <a:solidFill>
                  <a:srgbClr val="8FB6D0"/>
                </a:solidFill>
                <a:latin typeface="Segoe UI"/>
              </a:rPr>
              <a:t>Vijf gesprekken die op die data steunen.</a:t>
            </a:r>
          </a:p>
        </p:txBody>
      </p:sp>
      <p:sp>
        <p:nvSpPr>
          <p:cNvPr id="17" name="TextBox 1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11 / 26</a:t>
            </a:r>
          </a:p>
        </p:txBody>
      </p:sp>
      <p:pic>
        <p:nvPicPr>
          <p:cNvPr id="18"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19" name="TextBox 18"/>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Bron  6 · Bus 2011   |   7 · Bus 2020   |   17 · Waaijman 2014</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merkgroot" descr="merk.png"/>
          <p:cNvPicPr>
            <a:picLocks noChangeAspect="1"/>
          </p:cNvPicPr>
          <p:nvPr/>
        </p:nvPicPr>
        <p:blipFill>
          <a:blip r:embed="rId2">
            <a:alphaModFix amt="14000"/>
          </a:blip>
          <a:stretch>
            <a:fillRect/>
          </a:stretch>
        </p:blipFill>
        <p:spPr>
          <a:xfrm>
            <a:off x="6603834" y="-1126099"/>
            <a:ext cx="7873803" cy="9110028"/>
          </a:xfrm>
          <a:prstGeom prst="rect">
            <a:avLst/>
          </a:prstGeom>
        </p:spPr>
      </p:pic>
      <p:sp>
        <p:nvSpPr>
          <p:cNvPr id="4" name="hero"/>
          <p:cNvSpPr txBox="1"/>
          <p:nvPr/>
        </p:nvSpPr>
        <p:spPr>
          <a:xfrm>
            <a:off x="431789" y="723881"/>
            <a:ext cx="5714857" cy="2920926"/>
          </a:xfrm>
          <a:prstGeom prst="rect">
            <a:avLst/>
          </a:prstGeom>
          <a:noFill/>
        </p:spPr>
        <p:txBody>
          <a:bodyPr wrap="none" anchor="t" lIns="0" rIns="0" tIns="0" bIns="0">
            <a:spAutoFit/>
          </a:bodyPr>
          <a:lstStyle/>
          <a:p>
            <a:pPr algn="l">
              <a:lnSpc>
                <a:spcPct val="82000"/>
              </a:lnSpc>
            </a:pPr>
            <a:r>
              <a:rPr sz="26000" b="1">
                <a:solidFill>
                  <a:srgbClr val="52BDEC">
                    <a:alpha val="15000"/>
                  </a:srgbClr>
                </a:solidFill>
                <a:latin typeface="Segoe UI"/>
              </a:rPr>
              <a:t>02</a:t>
            </a:r>
          </a:p>
        </p:txBody>
      </p:sp>
      <p:sp>
        <p:nvSpPr>
          <p:cNvPr id="5" name="TextBox 4"/>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BLOK 02</a:t>
            </a:r>
          </a:p>
        </p:txBody>
      </p:sp>
      <p:sp>
        <p:nvSpPr>
          <p:cNvPr id="6" name="Rectangle 5"/>
          <p:cNvSpPr/>
          <p:nvPr/>
        </p:nvSpPr>
        <p:spPr>
          <a:xfrm>
            <a:off x="634984" y="3213019"/>
            <a:ext cx="812779" cy="50798"/>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ectietitel"/>
          <p:cNvSpPr txBox="1"/>
          <p:nvPr/>
        </p:nvSpPr>
        <p:spPr>
          <a:xfrm>
            <a:off x="634984" y="3555911"/>
            <a:ext cx="8889777" cy="1015974"/>
          </a:xfrm>
          <a:prstGeom prst="rect">
            <a:avLst/>
          </a:prstGeom>
          <a:noFill/>
        </p:spPr>
        <p:txBody>
          <a:bodyPr wrap="square" anchor="t" lIns="0" rIns="0" tIns="0" bIns="0">
            <a:spAutoFit/>
          </a:bodyPr>
          <a:lstStyle/>
          <a:p>
            <a:pPr algn="l">
              <a:lnSpc>
                <a:spcPct val="125000"/>
              </a:lnSpc>
            </a:pPr>
            <a:r>
              <a:rPr sz="7600" b="1">
                <a:solidFill>
                  <a:srgbClr val="F2F8FC"/>
                </a:solidFill>
                <a:latin typeface="Segoe UI"/>
              </a:rPr>
              <a:t>De meting</a:t>
            </a:r>
          </a:p>
        </p:txBody>
      </p:sp>
      <p:sp>
        <p:nvSpPr>
          <p:cNvPr id="8" name="TextBox 7"/>
          <p:cNvSpPr txBox="1"/>
          <p:nvPr/>
        </p:nvSpPr>
        <p:spPr>
          <a:xfrm>
            <a:off x="660383" y="4825879"/>
            <a:ext cx="8254793" cy="507987"/>
          </a:xfrm>
          <a:prstGeom prst="rect">
            <a:avLst/>
          </a:prstGeom>
          <a:noFill/>
        </p:spPr>
        <p:txBody>
          <a:bodyPr wrap="square" anchor="t" lIns="0" rIns="0" tIns="0" bIns="0">
            <a:spAutoFit/>
          </a:bodyPr>
          <a:lstStyle/>
          <a:p>
            <a:pPr algn="l">
              <a:lnSpc>
                <a:spcPct val="125000"/>
              </a:lnSpc>
            </a:pPr>
            <a:r>
              <a:rPr sz="2300" b="0">
                <a:solidFill>
                  <a:srgbClr val="8FB6D0"/>
                </a:solidFill>
                <a:latin typeface="Segoe UI Light"/>
              </a:rPr>
              <a:t>Wat u meet, hoe u het meet, en wanneer het goed genoeg is.</a:t>
            </a:r>
          </a:p>
        </p:txBody>
      </p:sp>
      <p:sp>
        <p:nvSpPr>
          <p:cNvPr id="9" name="TextBox 8"/>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12 / 26</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BASELINE · IN DE SCHOEN</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Elke sensor een cijfer</a:t>
            </a:r>
          </a:p>
        </p:txBody>
      </p:sp>
      <p:sp>
        <p:nvSpPr>
          <p:cNvPr id="5" name="!!p00_07"/>
          <p:cNvSpPr/>
          <p:nvPr/>
        </p:nvSpPr>
        <p:spPr>
          <a:xfrm>
            <a:off x="1585505" y="5645727"/>
            <a:ext cx="99157" cy="99157"/>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p00_08"/>
          <p:cNvSpPr/>
          <p:nvPr/>
        </p:nvSpPr>
        <p:spPr>
          <a:xfrm>
            <a:off x="1744251" y="5645727"/>
            <a:ext cx="99157" cy="99157"/>
          </a:xfrm>
          <a:prstGeom prst="roundRect">
            <a:avLst>
              <a:gd name="adj" fmla="val 30000"/>
            </a:avLst>
          </a:prstGeom>
          <a:solidFill>
            <a:srgbClr val="2897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00_09"/>
          <p:cNvSpPr/>
          <p:nvPr/>
        </p:nvSpPr>
        <p:spPr>
          <a:xfrm>
            <a:off x="1902997" y="5645727"/>
            <a:ext cx="99157" cy="99157"/>
          </a:xfrm>
          <a:prstGeom prst="roundRect">
            <a:avLst>
              <a:gd name="adj" fmla="val 30000"/>
            </a:avLst>
          </a:prstGeom>
          <a:solidFill>
            <a:srgbClr val="2897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p00_10"/>
          <p:cNvSpPr/>
          <p:nvPr/>
        </p:nvSpPr>
        <p:spPr>
          <a:xfrm>
            <a:off x="2061743" y="5645727"/>
            <a:ext cx="99157" cy="99157"/>
          </a:xfrm>
          <a:prstGeom prst="roundRect">
            <a:avLst>
              <a:gd name="adj" fmla="val 30000"/>
            </a:avLst>
          </a:prstGeom>
          <a:solidFill>
            <a:srgbClr val="1A7C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p01_06"/>
          <p:cNvSpPr/>
          <p:nvPr/>
        </p:nvSpPr>
        <p:spPr>
          <a:xfrm>
            <a:off x="1426759" y="5530427"/>
            <a:ext cx="99157" cy="99157"/>
          </a:xfrm>
          <a:prstGeom prst="roundRect">
            <a:avLst>
              <a:gd name="adj" fmla="val 30000"/>
            </a:avLst>
          </a:prstGeom>
          <a:solidFill>
            <a:srgbClr val="145D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p01_07"/>
          <p:cNvSpPr/>
          <p:nvPr/>
        </p:nvSpPr>
        <p:spPr>
          <a:xfrm>
            <a:off x="1585505" y="5530427"/>
            <a:ext cx="99157" cy="99157"/>
          </a:xfrm>
          <a:prstGeom prst="roundRect">
            <a:avLst>
              <a:gd name="adj" fmla="val 30000"/>
            </a:avLst>
          </a:prstGeom>
          <a:solidFill>
            <a:srgbClr val="21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p01_08"/>
          <p:cNvSpPr/>
          <p:nvPr/>
        </p:nvSpPr>
        <p:spPr>
          <a:xfrm>
            <a:off x="1744251" y="5530427"/>
            <a:ext cx="99157" cy="99157"/>
          </a:xfrm>
          <a:prstGeom prst="roundRect">
            <a:avLst>
              <a:gd name="adj" fmla="val 30000"/>
            </a:avLst>
          </a:prstGeom>
          <a:solidFill>
            <a:srgbClr val="3BA9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p01_09"/>
          <p:cNvSpPr/>
          <p:nvPr/>
        </p:nvSpPr>
        <p:spPr>
          <a:xfrm>
            <a:off x="1902997" y="5530427"/>
            <a:ext cx="99157" cy="99157"/>
          </a:xfrm>
          <a:prstGeom prst="roundRect">
            <a:avLst>
              <a:gd name="adj" fmla="val 30000"/>
            </a:avLst>
          </a:prstGeom>
          <a:solidFill>
            <a:srgbClr val="3BA8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p01_10"/>
          <p:cNvSpPr/>
          <p:nvPr/>
        </p:nvSpPr>
        <p:spPr>
          <a:xfrm>
            <a:off x="2061743" y="5530427"/>
            <a:ext cx="99157" cy="99157"/>
          </a:xfrm>
          <a:prstGeom prst="roundRect">
            <a:avLst>
              <a:gd name="adj" fmla="val 30000"/>
            </a:avLst>
          </a:prstGeom>
          <a:solidFill>
            <a:srgbClr val="2191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p01_11"/>
          <p:cNvSpPr/>
          <p:nvPr/>
        </p:nvSpPr>
        <p:spPr>
          <a:xfrm>
            <a:off x="2220489" y="5530427"/>
            <a:ext cx="99157" cy="99157"/>
          </a:xfrm>
          <a:prstGeom prst="roundRect">
            <a:avLst>
              <a:gd name="adj" fmla="val 30000"/>
            </a:avLst>
          </a:prstGeom>
          <a:solidFill>
            <a:srgbClr val="14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02_05"/>
          <p:cNvSpPr/>
          <p:nvPr/>
        </p:nvSpPr>
        <p:spPr>
          <a:xfrm>
            <a:off x="1268013" y="5415127"/>
            <a:ext cx="99157" cy="99157"/>
          </a:xfrm>
          <a:prstGeom prst="roundRect">
            <a:avLst>
              <a:gd name="adj" fmla="val 30000"/>
            </a:avLst>
          </a:prstGeom>
          <a:solidFill>
            <a:srgbClr val="0D3A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p02_06"/>
          <p:cNvSpPr/>
          <p:nvPr/>
        </p:nvSpPr>
        <p:spPr>
          <a:xfrm>
            <a:off x="1426759" y="5415127"/>
            <a:ext cx="99157" cy="99157"/>
          </a:xfrm>
          <a:prstGeom prst="roundRect">
            <a:avLst>
              <a:gd name="adj" fmla="val 30000"/>
            </a:avLst>
          </a:prstGeom>
          <a:solidFill>
            <a:srgbClr val="1669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p02_07"/>
          <p:cNvSpPr/>
          <p:nvPr/>
        </p:nvSpPr>
        <p:spPr>
          <a:xfrm>
            <a:off x="1585505" y="5415127"/>
            <a:ext cx="99157" cy="99157"/>
          </a:xfrm>
          <a:prstGeom prst="roundRect">
            <a:avLst>
              <a:gd name="adj" fmla="val 30000"/>
            </a:avLst>
          </a:prstGeom>
          <a:solidFill>
            <a:srgbClr val="2D9C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p02_08"/>
          <p:cNvSpPr/>
          <p:nvPr/>
        </p:nvSpPr>
        <p:spPr>
          <a:xfrm>
            <a:off x="1744251" y="5415127"/>
            <a:ext cx="99157" cy="99157"/>
          </a:xfrm>
          <a:prstGeom prst="roundRect">
            <a:avLst>
              <a:gd name="adj" fmla="val 30000"/>
            </a:avLst>
          </a:prstGeom>
          <a:solidFill>
            <a:srgbClr val="4AB6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p02_09"/>
          <p:cNvSpPr/>
          <p:nvPr/>
        </p:nvSpPr>
        <p:spPr>
          <a:xfrm>
            <a:off x="1902997" y="5415127"/>
            <a:ext cx="99157" cy="99157"/>
          </a:xfrm>
          <a:prstGeom prst="roundRect">
            <a:avLst>
              <a:gd name="adj" fmla="val 30000"/>
            </a:avLst>
          </a:prstGeom>
          <a:solidFill>
            <a:srgbClr val="4AB6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p02_10"/>
          <p:cNvSpPr/>
          <p:nvPr/>
        </p:nvSpPr>
        <p:spPr>
          <a:xfrm>
            <a:off x="2061743" y="5415127"/>
            <a:ext cx="99157" cy="99157"/>
          </a:xfrm>
          <a:prstGeom prst="roundRect">
            <a:avLst>
              <a:gd name="adj" fmla="val 30000"/>
            </a:avLst>
          </a:prstGeom>
          <a:solidFill>
            <a:srgbClr val="2D9B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p02_11"/>
          <p:cNvSpPr/>
          <p:nvPr/>
        </p:nvSpPr>
        <p:spPr>
          <a:xfrm>
            <a:off x="2220489" y="5415127"/>
            <a:ext cx="99157" cy="99157"/>
          </a:xfrm>
          <a:prstGeom prst="roundRect">
            <a:avLst>
              <a:gd name="adj" fmla="val 30000"/>
            </a:avLst>
          </a:prstGeom>
          <a:solidFill>
            <a:srgbClr val="1668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p02_12"/>
          <p:cNvSpPr/>
          <p:nvPr/>
        </p:nvSpPr>
        <p:spPr>
          <a:xfrm>
            <a:off x="2379235" y="5415127"/>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p03_05"/>
          <p:cNvSpPr/>
          <p:nvPr/>
        </p:nvSpPr>
        <p:spPr>
          <a:xfrm>
            <a:off x="1268013" y="5299828"/>
            <a:ext cx="99157" cy="99157"/>
          </a:xfrm>
          <a:prstGeom prst="roundRect">
            <a:avLst>
              <a:gd name="adj" fmla="val 30000"/>
            </a:avLst>
          </a:prstGeom>
          <a:solidFill>
            <a:srgbClr val="0E3F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p03_06"/>
          <p:cNvSpPr/>
          <p:nvPr/>
        </p:nvSpPr>
        <p:spPr>
          <a:xfrm>
            <a:off x="1426759" y="5299828"/>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p03_07"/>
          <p:cNvSpPr/>
          <p:nvPr/>
        </p:nvSpPr>
        <p:spPr>
          <a:xfrm>
            <a:off x="1585505" y="5299828"/>
            <a:ext cx="99157" cy="99157"/>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p03_08"/>
          <p:cNvSpPr/>
          <p:nvPr/>
        </p:nvSpPr>
        <p:spPr>
          <a:xfrm>
            <a:off x="1744251" y="5299828"/>
            <a:ext cx="99157" cy="99157"/>
          </a:xfrm>
          <a:prstGeom prst="roundRect">
            <a:avLst>
              <a:gd name="adj" fmla="val 30000"/>
            </a:avLst>
          </a:prstGeom>
          <a:solidFill>
            <a:srgbClr val="54BD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p03_09"/>
          <p:cNvSpPr/>
          <p:nvPr/>
        </p:nvSpPr>
        <p:spPr>
          <a:xfrm>
            <a:off x="1902997" y="5299828"/>
            <a:ext cx="99157" cy="99157"/>
          </a:xfrm>
          <a:prstGeom prst="roundRect">
            <a:avLst>
              <a:gd name="adj" fmla="val 30000"/>
            </a:avLst>
          </a:prstGeom>
          <a:solidFill>
            <a:srgbClr val="54B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p03_10"/>
          <p:cNvSpPr/>
          <p:nvPr/>
        </p:nvSpPr>
        <p:spPr>
          <a:xfrm>
            <a:off x="2061743" y="5299828"/>
            <a:ext cx="99157" cy="99157"/>
          </a:xfrm>
          <a:prstGeom prst="roundRect">
            <a:avLst>
              <a:gd name="adj" fmla="val 30000"/>
            </a:avLst>
          </a:prstGeom>
          <a:solidFill>
            <a:srgbClr val="34A1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p03_11"/>
          <p:cNvSpPr/>
          <p:nvPr/>
        </p:nvSpPr>
        <p:spPr>
          <a:xfrm>
            <a:off x="2220489" y="5299828"/>
            <a:ext cx="99157" cy="99157"/>
          </a:xfrm>
          <a:prstGeom prst="roundRect">
            <a:avLst>
              <a:gd name="adj" fmla="val 30000"/>
            </a:avLst>
          </a:prstGeom>
          <a:solidFill>
            <a:srgbClr val="176F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p03_12"/>
          <p:cNvSpPr/>
          <p:nvPr/>
        </p:nvSpPr>
        <p:spPr>
          <a:xfrm>
            <a:off x="2379235" y="5299828"/>
            <a:ext cx="99157" cy="99157"/>
          </a:xfrm>
          <a:prstGeom prst="roundRect">
            <a:avLst>
              <a:gd name="adj" fmla="val 30000"/>
            </a:avLst>
          </a:prstGeom>
          <a:solidFill>
            <a:srgbClr val="0E3D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p04_05"/>
          <p:cNvSpPr/>
          <p:nvPr/>
        </p:nvSpPr>
        <p:spPr>
          <a:xfrm>
            <a:off x="1268013" y="5184528"/>
            <a:ext cx="99157" cy="99157"/>
          </a:xfrm>
          <a:prstGeom prst="roundRect">
            <a:avLst>
              <a:gd name="adj" fmla="val 30000"/>
            </a:avLst>
          </a:prstGeom>
          <a:solidFill>
            <a:srgbClr val="0E41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p04_06"/>
          <p:cNvSpPr/>
          <p:nvPr/>
        </p:nvSpPr>
        <p:spPr>
          <a:xfrm>
            <a:off x="1426759" y="5184528"/>
            <a:ext cx="99157" cy="99157"/>
          </a:xfrm>
          <a:prstGeom prst="roundRect">
            <a:avLst>
              <a:gd name="adj" fmla="val 30000"/>
            </a:avLst>
          </a:prstGeom>
          <a:solidFill>
            <a:srgbClr val="1873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p04_07"/>
          <p:cNvSpPr/>
          <p:nvPr/>
        </p:nvSpPr>
        <p:spPr>
          <a:xfrm>
            <a:off x="1585505" y="5184528"/>
            <a:ext cx="99157" cy="99157"/>
          </a:xfrm>
          <a:prstGeom prst="roundRect">
            <a:avLst>
              <a:gd name="adj" fmla="val 30000"/>
            </a:avLst>
          </a:prstGeom>
          <a:solidFill>
            <a:srgbClr val="35A3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p04_08"/>
          <p:cNvSpPr/>
          <p:nvPr/>
        </p:nvSpPr>
        <p:spPr>
          <a:xfrm>
            <a:off x="1744251" y="5184528"/>
            <a:ext cx="99157" cy="99157"/>
          </a:xfrm>
          <a:prstGeom prst="roundRect">
            <a:avLst>
              <a:gd name="adj" fmla="val 30000"/>
            </a:avLst>
          </a:prstGeom>
          <a:solidFill>
            <a:srgbClr val="57BE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p04_09"/>
          <p:cNvSpPr/>
          <p:nvPr/>
        </p:nvSpPr>
        <p:spPr>
          <a:xfrm>
            <a:off x="1902997" y="5184528"/>
            <a:ext cx="99157" cy="99157"/>
          </a:xfrm>
          <a:prstGeom prst="roundRect">
            <a:avLst>
              <a:gd name="adj" fmla="val 30000"/>
            </a:avLst>
          </a:prstGeom>
          <a:solidFill>
            <a:srgbClr val="57BE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p04_10"/>
          <p:cNvSpPr/>
          <p:nvPr/>
        </p:nvSpPr>
        <p:spPr>
          <a:xfrm>
            <a:off x="2061743" y="5184528"/>
            <a:ext cx="99157" cy="99157"/>
          </a:xfrm>
          <a:prstGeom prst="roundRect">
            <a:avLst>
              <a:gd name="adj" fmla="val 30000"/>
            </a:avLst>
          </a:prstGeom>
          <a:solidFill>
            <a:srgbClr val="35A3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p04_11"/>
          <p:cNvSpPr/>
          <p:nvPr/>
        </p:nvSpPr>
        <p:spPr>
          <a:xfrm>
            <a:off x="2220489" y="5184528"/>
            <a:ext cx="99157" cy="99157"/>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p04_12"/>
          <p:cNvSpPr/>
          <p:nvPr/>
        </p:nvSpPr>
        <p:spPr>
          <a:xfrm>
            <a:off x="2379235" y="5184528"/>
            <a:ext cx="99157" cy="99157"/>
          </a:xfrm>
          <a:prstGeom prst="roundRect">
            <a:avLst>
              <a:gd name="adj" fmla="val 30000"/>
            </a:avLst>
          </a:prstGeom>
          <a:solidFill>
            <a:srgbClr val="0E40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p05_05"/>
          <p:cNvSpPr/>
          <p:nvPr/>
        </p:nvSpPr>
        <p:spPr>
          <a:xfrm>
            <a:off x="1268013" y="5069228"/>
            <a:ext cx="99157" cy="99157"/>
          </a:xfrm>
          <a:prstGeom prst="roundRect">
            <a:avLst>
              <a:gd name="adj" fmla="val 30000"/>
            </a:avLst>
          </a:prstGeom>
          <a:solidFill>
            <a:srgbClr val="0E42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p05_06"/>
          <p:cNvSpPr/>
          <p:nvPr/>
        </p:nvSpPr>
        <p:spPr>
          <a:xfrm>
            <a:off x="1426759" y="5069228"/>
            <a:ext cx="99157" cy="99157"/>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p05_07"/>
          <p:cNvSpPr/>
          <p:nvPr/>
        </p:nvSpPr>
        <p:spPr>
          <a:xfrm>
            <a:off x="1585505" y="5069228"/>
            <a:ext cx="99157" cy="99157"/>
          </a:xfrm>
          <a:prstGeom prst="roundRect">
            <a:avLst>
              <a:gd name="adj" fmla="val 30000"/>
            </a:avLst>
          </a:prstGeom>
          <a:solidFill>
            <a:srgbClr val="319F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p05_08"/>
          <p:cNvSpPr/>
          <p:nvPr/>
        </p:nvSpPr>
        <p:spPr>
          <a:xfrm>
            <a:off x="1744251" y="5069228"/>
            <a:ext cx="99157" cy="99157"/>
          </a:xfrm>
          <a:prstGeom prst="roundRect">
            <a:avLst>
              <a:gd name="adj" fmla="val 30000"/>
            </a:avLst>
          </a:prstGeom>
          <a:solidFill>
            <a:srgbClr val="4DB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p05_09"/>
          <p:cNvSpPr/>
          <p:nvPr/>
        </p:nvSpPr>
        <p:spPr>
          <a:xfrm>
            <a:off x="1902997" y="5069228"/>
            <a:ext cx="99157" cy="99157"/>
          </a:xfrm>
          <a:prstGeom prst="roundRect">
            <a:avLst>
              <a:gd name="adj" fmla="val 30000"/>
            </a:avLst>
          </a:prstGeom>
          <a:solidFill>
            <a:srgbClr val="4DB9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p05_10"/>
          <p:cNvSpPr/>
          <p:nvPr/>
        </p:nvSpPr>
        <p:spPr>
          <a:xfrm>
            <a:off x="2061743" y="5069228"/>
            <a:ext cx="99157" cy="99157"/>
          </a:xfrm>
          <a:prstGeom prst="roundRect">
            <a:avLst>
              <a:gd name="adj" fmla="val 30000"/>
            </a:avLst>
          </a:prstGeom>
          <a:solidFill>
            <a:srgbClr val="319F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p05_11"/>
          <p:cNvSpPr/>
          <p:nvPr/>
        </p:nvSpPr>
        <p:spPr>
          <a:xfrm>
            <a:off x="2220489" y="5069228"/>
            <a:ext cx="99157" cy="99157"/>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p05_12"/>
          <p:cNvSpPr/>
          <p:nvPr/>
        </p:nvSpPr>
        <p:spPr>
          <a:xfrm>
            <a:off x="2379235" y="5069228"/>
            <a:ext cx="99157" cy="99157"/>
          </a:xfrm>
          <a:prstGeom prst="roundRect">
            <a:avLst>
              <a:gd name="adj" fmla="val 30000"/>
            </a:avLst>
          </a:prstGeom>
          <a:solidFill>
            <a:srgbClr val="0E4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p06_05"/>
          <p:cNvSpPr/>
          <p:nvPr/>
        </p:nvSpPr>
        <p:spPr>
          <a:xfrm>
            <a:off x="1268013" y="4953928"/>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p06_06"/>
          <p:cNvSpPr/>
          <p:nvPr/>
        </p:nvSpPr>
        <p:spPr>
          <a:xfrm>
            <a:off x="1426759" y="4953928"/>
            <a:ext cx="99157" cy="99157"/>
          </a:xfrm>
          <a:prstGeom prst="roundRect">
            <a:avLst>
              <a:gd name="adj" fmla="val 30000"/>
            </a:avLst>
          </a:prstGeom>
          <a:solidFill>
            <a:srgbClr val="166A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p06_07"/>
          <p:cNvSpPr/>
          <p:nvPr/>
        </p:nvSpPr>
        <p:spPr>
          <a:xfrm>
            <a:off x="1585505" y="4953928"/>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p06_08"/>
          <p:cNvSpPr/>
          <p:nvPr/>
        </p:nvSpPr>
        <p:spPr>
          <a:xfrm>
            <a:off x="1744251" y="4953928"/>
            <a:ext cx="99157" cy="99157"/>
          </a:xfrm>
          <a:prstGeom prst="roundRect">
            <a:avLst>
              <a:gd name="adj" fmla="val 30000"/>
            </a:avLst>
          </a:prstGeom>
          <a:solidFill>
            <a:srgbClr val="41AE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p06_09"/>
          <p:cNvSpPr/>
          <p:nvPr/>
        </p:nvSpPr>
        <p:spPr>
          <a:xfrm>
            <a:off x="1902997" y="4953928"/>
            <a:ext cx="99157" cy="99157"/>
          </a:xfrm>
          <a:prstGeom prst="roundRect">
            <a:avLst>
              <a:gd name="adj" fmla="val 30000"/>
            </a:avLst>
          </a:prstGeom>
          <a:solidFill>
            <a:srgbClr val="42AE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p06_10"/>
          <p:cNvSpPr/>
          <p:nvPr/>
        </p:nvSpPr>
        <p:spPr>
          <a:xfrm>
            <a:off x="2061743" y="4953928"/>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p06_11"/>
          <p:cNvSpPr/>
          <p:nvPr/>
        </p:nvSpPr>
        <p:spPr>
          <a:xfrm>
            <a:off x="2220489" y="4953928"/>
            <a:ext cx="99157" cy="99157"/>
          </a:xfrm>
          <a:prstGeom prst="roundRect">
            <a:avLst>
              <a:gd name="adj" fmla="val 30000"/>
            </a:avLst>
          </a:prstGeom>
          <a:solidFill>
            <a:srgbClr val="176B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p06_12"/>
          <p:cNvSpPr/>
          <p:nvPr/>
        </p:nvSpPr>
        <p:spPr>
          <a:xfrm>
            <a:off x="2379235" y="4953928"/>
            <a:ext cx="99157" cy="99157"/>
          </a:xfrm>
          <a:prstGeom prst="roundRect">
            <a:avLst>
              <a:gd name="adj" fmla="val 30000"/>
            </a:avLst>
          </a:prstGeom>
          <a:solidFill>
            <a:srgbClr val="0E4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p07_05"/>
          <p:cNvSpPr/>
          <p:nvPr/>
        </p:nvSpPr>
        <p:spPr>
          <a:xfrm>
            <a:off x="1268013" y="4838629"/>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p07_06"/>
          <p:cNvSpPr/>
          <p:nvPr/>
        </p:nvSpPr>
        <p:spPr>
          <a:xfrm>
            <a:off x="1426759" y="4838629"/>
            <a:ext cx="99157" cy="99157"/>
          </a:xfrm>
          <a:prstGeom prst="roundRect">
            <a:avLst>
              <a:gd name="adj" fmla="val 30000"/>
            </a:avLst>
          </a:prstGeom>
          <a:solidFill>
            <a:srgbClr val="14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p07_07"/>
          <p:cNvSpPr/>
          <p:nvPr/>
        </p:nvSpPr>
        <p:spPr>
          <a:xfrm>
            <a:off x="1585505" y="4838629"/>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p07_08"/>
          <p:cNvSpPr/>
          <p:nvPr/>
        </p:nvSpPr>
        <p:spPr>
          <a:xfrm>
            <a:off x="1744251" y="4838629"/>
            <a:ext cx="99157" cy="99157"/>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p07_09"/>
          <p:cNvSpPr/>
          <p:nvPr/>
        </p:nvSpPr>
        <p:spPr>
          <a:xfrm>
            <a:off x="1902997" y="4838629"/>
            <a:ext cx="99157" cy="99157"/>
          </a:xfrm>
          <a:prstGeom prst="roundRect">
            <a:avLst>
              <a:gd name="adj" fmla="val 30000"/>
            </a:avLst>
          </a:prstGeom>
          <a:solidFill>
            <a:srgbClr val="33A1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p07_10"/>
          <p:cNvSpPr/>
          <p:nvPr/>
        </p:nvSpPr>
        <p:spPr>
          <a:xfrm>
            <a:off x="2061743" y="4838629"/>
            <a:ext cx="99157" cy="99157"/>
          </a:xfrm>
          <a:prstGeom prst="roundRect">
            <a:avLst>
              <a:gd name="adj" fmla="val 30000"/>
            </a:avLst>
          </a:prstGeom>
          <a:solidFill>
            <a:srgbClr val="1F8F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p07_11"/>
          <p:cNvSpPr/>
          <p:nvPr/>
        </p:nvSpPr>
        <p:spPr>
          <a:xfrm>
            <a:off x="2220489" y="4838629"/>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p07_12"/>
          <p:cNvSpPr/>
          <p:nvPr/>
        </p:nvSpPr>
        <p:spPr>
          <a:xfrm>
            <a:off x="2379235" y="4838629"/>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p08_05"/>
          <p:cNvSpPr/>
          <p:nvPr/>
        </p:nvSpPr>
        <p:spPr>
          <a:xfrm>
            <a:off x="1268013" y="4723329"/>
            <a:ext cx="99157" cy="99157"/>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p08_06"/>
          <p:cNvSpPr/>
          <p:nvPr/>
        </p:nvSpPr>
        <p:spPr>
          <a:xfrm>
            <a:off x="1426759" y="4723329"/>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p08_07"/>
          <p:cNvSpPr/>
          <p:nvPr/>
        </p:nvSpPr>
        <p:spPr>
          <a:xfrm>
            <a:off x="1585505" y="4723329"/>
            <a:ext cx="99157" cy="99157"/>
          </a:xfrm>
          <a:prstGeom prst="roundRect">
            <a:avLst>
              <a:gd name="adj" fmla="val 30000"/>
            </a:avLst>
          </a:prstGeom>
          <a:solidFill>
            <a:srgbClr val="197B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p08_08"/>
          <p:cNvSpPr/>
          <p:nvPr/>
        </p:nvSpPr>
        <p:spPr>
          <a:xfrm>
            <a:off x="1744251" y="4723329"/>
            <a:ext cx="99157" cy="99157"/>
          </a:xfrm>
          <a:prstGeom prst="roundRect">
            <a:avLst>
              <a:gd name="adj" fmla="val 30000"/>
            </a:avLst>
          </a:prstGeom>
          <a:solidFill>
            <a:srgbClr val="23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p08_09"/>
          <p:cNvSpPr/>
          <p:nvPr/>
        </p:nvSpPr>
        <p:spPr>
          <a:xfrm>
            <a:off x="1902997" y="4723329"/>
            <a:ext cx="99157" cy="99157"/>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p08_10"/>
          <p:cNvSpPr/>
          <p:nvPr/>
        </p:nvSpPr>
        <p:spPr>
          <a:xfrm>
            <a:off x="2061743" y="4723329"/>
            <a:ext cx="99157" cy="99157"/>
          </a:xfrm>
          <a:prstGeom prst="roundRect">
            <a:avLst>
              <a:gd name="adj" fmla="val 30000"/>
            </a:avLst>
          </a:prstGeom>
          <a:solidFill>
            <a:srgbClr val="1B81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p08_11"/>
          <p:cNvSpPr/>
          <p:nvPr/>
        </p:nvSpPr>
        <p:spPr>
          <a:xfrm>
            <a:off x="2220489" y="4723329"/>
            <a:ext cx="99157" cy="99157"/>
          </a:xfrm>
          <a:prstGeom prst="roundRect">
            <a:avLst>
              <a:gd name="adj" fmla="val 30000"/>
            </a:avLst>
          </a:prstGeom>
          <a:solidFill>
            <a:srgbClr val="145E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p08_12"/>
          <p:cNvSpPr/>
          <p:nvPr/>
        </p:nvSpPr>
        <p:spPr>
          <a:xfrm>
            <a:off x="2379235" y="4723329"/>
            <a:ext cx="99157" cy="99157"/>
          </a:xfrm>
          <a:prstGeom prst="roundRect">
            <a:avLst>
              <a:gd name="adj" fmla="val 30000"/>
            </a:avLst>
          </a:prstGeom>
          <a:solidFill>
            <a:srgbClr val="0E40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p09_05"/>
          <p:cNvSpPr/>
          <p:nvPr/>
        </p:nvSpPr>
        <p:spPr>
          <a:xfrm>
            <a:off x="1268013" y="4608029"/>
            <a:ext cx="99157" cy="99157"/>
          </a:xfrm>
          <a:prstGeom prst="roundRect">
            <a:avLst>
              <a:gd name="adj" fmla="val 30000"/>
            </a:avLst>
          </a:prstGeom>
          <a:solidFill>
            <a:srgbClr val="0D3A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p09_06"/>
          <p:cNvSpPr/>
          <p:nvPr/>
        </p:nvSpPr>
        <p:spPr>
          <a:xfrm>
            <a:off x="1426759" y="4608029"/>
            <a:ext cx="99157" cy="99157"/>
          </a:xfrm>
          <a:prstGeom prst="roundRect">
            <a:avLst>
              <a:gd name="adj" fmla="val 30000"/>
            </a:avLst>
          </a:prstGeom>
          <a:solidFill>
            <a:srgbClr val="114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p09_07"/>
          <p:cNvSpPr/>
          <p:nvPr/>
        </p:nvSpPr>
        <p:spPr>
          <a:xfrm>
            <a:off x="1585505" y="4608029"/>
            <a:ext cx="99157" cy="99157"/>
          </a:xfrm>
          <a:prstGeom prst="roundRect">
            <a:avLst>
              <a:gd name="adj" fmla="val 30000"/>
            </a:avLst>
          </a:prstGeom>
          <a:solidFill>
            <a:srgbClr val="166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p09_08"/>
          <p:cNvSpPr/>
          <p:nvPr/>
        </p:nvSpPr>
        <p:spPr>
          <a:xfrm>
            <a:off x="1744251" y="4608029"/>
            <a:ext cx="99157" cy="99157"/>
          </a:xfrm>
          <a:prstGeom prst="roundRect">
            <a:avLst>
              <a:gd name="adj" fmla="val 30000"/>
            </a:avLst>
          </a:prstGeom>
          <a:solidFill>
            <a:srgbClr val="1B80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p09_09"/>
          <p:cNvSpPr/>
          <p:nvPr/>
        </p:nvSpPr>
        <p:spPr>
          <a:xfrm>
            <a:off x="1902997" y="4608029"/>
            <a:ext cx="99157" cy="99157"/>
          </a:xfrm>
          <a:prstGeom prst="roundRect">
            <a:avLst>
              <a:gd name="adj" fmla="val 30000"/>
            </a:avLst>
          </a:prstGeom>
          <a:solidFill>
            <a:srgbClr val="1B84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p09_10"/>
          <p:cNvSpPr/>
          <p:nvPr/>
        </p:nvSpPr>
        <p:spPr>
          <a:xfrm>
            <a:off x="2061743" y="4608029"/>
            <a:ext cx="99157" cy="99157"/>
          </a:xfrm>
          <a:prstGeom prst="roundRect">
            <a:avLst>
              <a:gd name="adj" fmla="val 30000"/>
            </a:avLst>
          </a:prstGeom>
          <a:solidFill>
            <a:srgbClr val="1874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p09_11"/>
          <p:cNvSpPr/>
          <p:nvPr/>
        </p:nvSpPr>
        <p:spPr>
          <a:xfrm>
            <a:off x="2220489" y="4608029"/>
            <a:ext cx="99157" cy="99157"/>
          </a:xfrm>
          <a:prstGeom prst="roundRect">
            <a:avLst>
              <a:gd name="adj" fmla="val 30000"/>
            </a:avLst>
          </a:prstGeom>
          <a:solidFill>
            <a:srgbClr val="135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p09_12"/>
          <p:cNvSpPr/>
          <p:nvPr/>
        </p:nvSpPr>
        <p:spPr>
          <a:xfrm>
            <a:off x="2379235" y="4608029"/>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p10_06"/>
          <p:cNvSpPr/>
          <p:nvPr/>
        </p:nvSpPr>
        <p:spPr>
          <a:xfrm>
            <a:off x="1426759" y="4492729"/>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p10_07"/>
          <p:cNvSpPr/>
          <p:nvPr/>
        </p:nvSpPr>
        <p:spPr>
          <a:xfrm>
            <a:off x="1585505" y="4492729"/>
            <a:ext cx="99157" cy="99157"/>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p10_08"/>
          <p:cNvSpPr/>
          <p:nvPr/>
        </p:nvSpPr>
        <p:spPr>
          <a:xfrm>
            <a:off x="1744251" y="4492729"/>
            <a:ext cx="99157" cy="99157"/>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p10_09"/>
          <p:cNvSpPr/>
          <p:nvPr/>
        </p:nvSpPr>
        <p:spPr>
          <a:xfrm>
            <a:off x="1902997" y="4492729"/>
            <a:ext cx="99157" cy="99157"/>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p10_10"/>
          <p:cNvSpPr/>
          <p:nvPr/>
        </p:nvSpPr>
        <p:spPr>
          <a:xfrm>
            <a:off x="2061743" y="4492729"/>
            <a:ext cx="99157" cy="99157"/>
          </a:xfrm>
          <a:prstGeom prst="roundRect">
            <a:avLst>
              <a:gd name="adj" fmla="val 30000"/>
            </a:avLst>
          </a:prstGeom>
          <a:solidFill>
            <a:srgbClr val="166B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p10_11"/>
          <p:cNvSpPr/>
          <p:nvPr/>
        </p:nvSpPr>
        <p:spPr>
          <a:xfrm>
            <a:off x="2220489" y="4492729"/>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p10_12"/>
          <p:cNvSpPr/>
          <p:nvPr/>
        </p:nvSpPr>
        <p:spPr>
          <a:xfrm>
            <a:off x="2379235" y="4492729"/>
            <a:ext cx="99157" cy="99157"/>
          </a:xfrm>
          <a:prstGeom prst="roundRect">
            <a:avLst>
              <a:gd name="adj" fmla="val 30000"/>
            </a:avLst>
          </a:prstGeom>
          <a:solidFill>
            <a:srgbClr val="0F42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p11_06"/>
          <p:cNvSpPr/>
          <p:nvPr/>
        </p:nvSpPr>
        <p:spPr>
          <a:xfrm>
            <a:off x="1426759" y="4377430"/>
            <a:ext cx="99157" cy="99157"/>
          </a:xfrm>
          <a:prstGeom prst="roundRect">
            <a:avLst>
              <a:gd name="adj" fmla="val 30000"/>
            </a:avLst>
          </a:prstGeom>
          <a:solidFill>
            <a:srgbClr val="0F43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p11_07"/>
          <p:cNvSpPr/>
          <p:nvPr/>
        </p:nvSpPr>
        <p:spPr>
          <a:xfrm>
            <a:off x="1585505" y="4377430"/>
            <a:ext cx="99157" cy="99157"/>
          </a:xfrm>
          <a:prstGeom prst="roundRect">
            <a:avLst>
              <a:gd name="adj" fmla="val 30000"/>
            </a:avLst>
          </a:prstGeom>
          <a:solidFill>
            <a:srgbClr val="1254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p11_08"/>
          <p:cNvSpPr/>
          <p:nvPr/>
        </p:nvSpPr>
        <p:spPr>
          <a:xfrm>
            <a:off x="1744251" y="4377430"/>
            <a:ext cx="99157" cy="99157"/>
          </a:xfrm>
          <a:prstGeom prst="roundRect">
            <a:avLst>
              <a:gd name="adj" fmla="val 30000"/>
            </a:avLst>
          </a:prstGeom>
          <a:solidFill>
            <a:srgbClr val="1563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p11_09"/>
          <p:cNvSpPr/>
          <p:nvPr/>
        </p:nvSpPr>
        <p:spPr>
          <a:xfrm>
            <a:off x="1902997" y="4377430"/>
            <a:ext cx="99157" cy="99157"/>
          </a:xfrm>
          <a:prstGeom prst="roundRect">
            <a:avLst>
              <a:gd name="adj" fmla="val 30000"/>
            </a:avLst>
          </a:prstGeom>
          <a:solidFill>
            <a:srgbClr val="166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p11_10"/>
          <p:cNvSpPr/>
          <p:nvPr/>
        </p:nvSpPr>
        <p:spPr>
          <a:xfrm>
            <a:off x="2061743" y="4377430"/>
            <a:ext cx="99157" cy="99157"/>
          </a:xfrm>
          <a:prstGeom prst="roundRect">
            <a:avLst>
              <a:gd name="adj" fmla="val 30000"/>
            </a:avLst>
          </a:prstGeom>
          <a:solidFill>
            <a:srgbClr val="156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p11_11"/>
          <p:cNvSpPr/>
          <p:nvPr/>
        </p:nvSpPr>
        <p:spPr>
          <a:xfrm>
            <a:off x="2220489" y="4377430"/>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p11_12"/>
          <p:cNvSpPr/>
          <p:nvPr/>
        </p:nvSpPr>
        <p:spPr>
          <a:xfrm>
            <a:off x="2379235" y="4377430"/>
            <a:ext cx="99157" cy="99157"/>
          </a:xfrm>
          <a:prstGeom prst="roundRect">
            <a:avLst>
              <a:gd name="adj" fmla="val 30000"/>
            </a:avLst>
          </a:prstGeom>
          <a:solidFill>
            <a:srgbClr val="0F45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p12_06"/>
          <p:cNvSpPr/>
          <p:nvPr/>
        </p:nvSpPr>
        <p:spPr>
          <a:xfrm>
            <a:off x="1426759" y="4262130"/>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p12_07"/>
          <p:cNvSpPr/>
          <p:nvPr/>
        </p:nvSpPr>
        <p:spPr>
          <a:xfrm>
            <a:off x="1585505" y="4262130"/>
            <a:ext cx="99157" cy="99157"/>
          </a:xfrm>
          <a:prstGeom prst="roundRect">
            <a:avLst>
              <a:gd name="adj" fmla="val 30000"/>
            </a:avLst>
          </a:prstGeom>
          <a:solidFill>
            <a:srgbClr val="114E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p12_08"/>
          <p:cNvSpPr/>
          <p:nvPr/>
        </p:nvSpPr>
        <p:spPr>
          <a:xfrm>
            <a:off x="1744251" y="4262130"/>
            <a:ext cx="99157" cy="99157"/>
          </a:xfrm>
          <a:prstGeom prst="roundRect">
            <a:avLst>
              <a:gd name="adj" fmla="val 30000"/>
            </a:avLst>
          </a:prstGeom>
          <a:solidFill>
            <a:srgbClr val="13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p12_09"/>
          <p:cNvSpPr/>
          <p:nvPr/>
        </p:nvSpPr>
        <p:spPr>
          <a:xfrm>
            <a:off x="1902997" y="4262130"/>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p12_10"/>
          <p:cNvSpPr/>
          <p:nvPr/>
        </p:nvSpPr>
        <p:spPr>
          <a:xfrm>
            <a:off x="2061743" y="4262130"/>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p12_11"/>
          <p:cNvSpPr/>
          <p:nvPr/>
        </p:nvSpPr>
        <p:spPr>
          <a:xfrm>
            <a:off x="2220489" y="4262130"/>
            <a:ext cx="99157" cy="99157"/>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p12_12"/>
          <p:cNvSpPr/>
          <p:nvPr/>
        </p:nvSpPr>
        <p:spPr>
          <a:xfrm>
            <a:off x="2379235" y="4262130"/>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p13_06"/>
          <p:cNvSpPr/>
          <p:nvPr/>
        </p:nvSpPr>
        <p:spPr>
          <a:xfrm>
            <a:off x="1426759" y="4146830"/>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p13_07"/>
          <p:cNvSpPr/>
          <p:nvPr/>
        </p:nvSpPr>
        <p:spPr>
          <a:xfrm>
            <a:off x="1585505" y="4146830"/>
            <a:ext cx="99157" cy="99157"/>
          </a:xfrm>
          <a:prstGeom prst="roundRect">
            <a:avLst>
              <a:gd name="adj" fmla="val 30000"/>
            </a:avLst>
          </a:prstGeom>
          <a:solidFill>
            <a:srgbClr val="104B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p13_08"/>
          <p:cNvSpPr/>
          <p:nvPr/>
        </p:nvSpPr>
        <p:spPr>
          <a:xfrm>
            <a:off x="1744251" y="4146830"/>
            <a:ext cx="99157" cy="99157"/>
          </a:xfrm>
          <a:prstGeom prst="roundRect">
            <a:avLst>
              <a:gd name="adj" fmla="val 30000"/>
            </a:avLst>
          </a:prstGeom>
          <a:solidFill>
            <a:srgbClr val="1358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p13_09"/>
          <p:cNvSpPr/>
          <p:nvPr/>
        </p:nvSpPr>
        <p:spPr>
          <a:xfrm>
            <a:off x="1902997" y="4146830"/>
            <a:ext cx="99157" cy="99157"/>
          </a:xfrm>
          <a:prstGeom prst="roundRect">
            <a:avLst>
              <a:gd name="adj" fmla="val 30000"/>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p13_10"/>
          <p:cNvSpPr/>
          <p:nvPr/>
        </p:nvSpPr>
        <p:spPr>
          <a:xfrm>
            <a:off x="2061743" y="4146830"/>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p13_11"/>
          <p:cNvSpPr/>
          <p:nvPr/>
        </p:nvSpPr>
        <p:spPr>
          <a:xfrm>
            <a:off x="2220489" y="4146830"/>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p13_12"/>
          <p:cNvSpPr/>
          <p:nvPr/>
        </p:nvSpPr>
        <p:spPr>
          <a:xfrm>
            <a:off x="2379235" y="4146830"/>
            <a:ext cx="99157" cy="99157"/>
          </a:xfrm>
          <a:prstGeom prst="roundRect">
            <a:avLst>
              <a:gd name="adj" fmla="val 30000"/>
            </a:avLst>
          </a:prstGeom>
          <a:solidFill>
            <a:srgbClr val="104B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p14_06"/>
          <p:cNvSpPr/>
          <p:nvPr/>
        </p:nvSpPr>
        <p:spPr>
          <a:xfrm>
            <a:off x="1426759" y="4031530"/>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p14_07"/>
          <p:cNvSpPr/>
          <p:nvPr/>
        </p:nvSpPr>
        <p:spPr>
          <a:xfrm>
            <a:off x="1585505" y="4031530"/>
            <a:ext cx="99157" cy="99157"/>
          </a:xfrm>
          <a:prstGeom prst="roundRect">
            <a:avLst>
              <a:gd name="adj" fmla="val 30000"/>
            </a:avLst>
          </a:prstGeom>
          <a:solidFill>
            <a:srgbClr val="1049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p14_08"/>
          <p:cNvSpPr/>
          <p:nvPr/>
        </p:nvSpPr>
        <p:spPr>
          <a:xfrm>
            <a:off x="1744251" y="4031530"/>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p14_09"/>
          <p:cNvSpPr/>
          <p:nvPr/>
        </p:nvSpPr>
        <p:spPr>
          <a:xfrm>
            <a:off x="1902997" y="4031530"/>
            <a:ext cx="99157" cy="99157"/>
          </a:xfrm>
          <a:prstGeom prst="roundRect">
            <a:avLst>
              <a:gd name="adj" fmla="val 30000"/>
            </a:avLst>
          </a:prstGeom>
          <a:solidFill>
            <a:srgbClr val="14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p14_10"/>
          <p:cNvSpPr/>
          <p:nvPr/>
        </p:nvSpPr>
        <p:spPr>
          <a:xfrm>
            <a:off x="2061743" y="4031530"/>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p14_11"/>
          <p:cNvSpPr/>
          <p:nvPr/>
        </p:nvSpPr>
        <p:spPr>
          <a:xfrm>
            <a:off x="2220489" y="4031530"/>
            <a:ext cx="99157" cy="99157"/>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p14_12"/>
          <p:cNvSpPr/>
          <p:nvPr/>
        </p:nvSpPr>
        <p:spPr>
          <a:xfrm>
            <a:off x="2379235" y="4031530"/>
            <a:ext cx="99157" cy="99157"/>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p15_07"/>
          <p:cNvSpPr/>
          <p:nvPr/>
        </p:nvSpPr>
        <p:spPr>
          <a:xfrm>
            <a:off x="1585505" y="3916231"/>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p15_08"/>
          <p:cNvSpPr/>
          <p:nvPr/>
        </p:nvSpPr>
        <p:spPr>
          <a:xfrm>
            <a:off x="1744251" y="3916231"/>
            <a:ext cx="99157" cy="99157"/>
          </a:xfrm>
          <a:prstGeom prst="roundRect">
            <a:avLst>
              <a:gd name="adj" fmla="val 30000"/>
            </a:avLst>
          </a:prstGeom>
          <a:solidFill>
            <a:srgbClr val="1254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p15_09"/>
          <p:cNvSpPr/>
          <p:nvPr/>
        </p:nvSpPr>
        <p:spPr>
          <a:xfrm>
            <a:off x="1902997" y="3916231"/>
            <a:ext cx="99157" cy="99157"/>
          </a:xfrm>
          <a:prstGeom prst="roundRect">
            <a:avLst>
              <a:gd name="adj" fmla="val 30000"/>
            </a:avLst>
          </a:prstGeom>
          <a:solidFill>
            <a:srgbClr val="145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p15_10"/>
          <p:cNvSpPr/>
          <p:nvPr/>
        </p:nvSpPr>
        <p:spPr>
          <a:xfrm>
            <a:off x="2061743" y="3916231"/>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p15_11"/>
          <p:cNvSpPr/>
          <p:nvPr/>
        </p:nvSpPr>
        <p:spPr>
          <a:xfrm>
            <a:off x="2220489" y="3916231"/>
            <a:ext cx="99157" cy="99157"/>
          </a:xfrm>
          <a:prstGeom prst="roundRect">
            <a:avLst>
              <a:gd name="adj" fmla="val 30000"/>
            </a:avLst>
          </a:prstGeom>
          <a:solidFill>
            <a:srgbClr val="145D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p15_12"/>
          <p:cNvSpPr/>
          <p:nvPr/>
        </p:nvSpPr>
        <p:spPr>
          <a:xfrm>
            <a:off x="2379235" y="3916231"/>
            <a:ext cx="99157" cy="99157"/>
          </a:xfrm>
          <a:prstGeom prst="roundRect">
            <a:avLst>
              <a:gd name="adj" fmla="val 30000"/>
            </a:avLst>
          </a:prstGeom>
          <a:solidFill>
            <a:srgbClr val="114E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p15_13"/>
          <p:cNvSpPr/>
          <p:nvPr/>
        </p:nvSpPr>
        <p:spPr>
          <a:xfrm>
            <a:off x="2537981" y="3916231"/>
            <a:ext cx="99157" cy="99157"/>
          </a:xfrm>
          <a:prstGeom prst="roundRect">
            <a:avLst>
              <a:gd name="adj" fmla="val 30000"/>
            </a:avLst>
          </a:prstGeom>
          <a:solidFill>
            <a:srgbClr val="0D3C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p16_07"/>
          <p:cNvSpPr/>
          <p:nvPr/>
        </p:nvSpPr>
        <p:spPr>
          <a:xfrm>
            <a:off x="1585505" y="3800931"/>
            <a:ext cx="99157" cy="99157"/>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p16_08"/>
          <p:cNvSpPr/>
          <p:nvPr/>
        </p:nvSpPr>
        <p:spPr>
          <a:xfrm>
            <a:off x="1744251" y="3800931"/>
            <a:ext cx="99157" cy="99157"/>
          </a:xfrm>
          <a:prstGeom prst="roundRect">
            <a:avLst>
              <a:gd name="adj" fmla="val 30000"/>
            </a:avLst>
          </a:prstGeom>
          <a:solidFill>
            <a:srgbClr val="125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p16_09"/>
          <p:cNvSpPr/>
          <p:nvPr/>
        </p:nvSpPr>
        <p:spPr>
          <a:xfrm>
            <a:off x="1902997" y="3800931"/>
            <a:ext cx="99157" cy="99157"/>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p16_10"/>
          <p:cNvSpPr/>
          <p:nvPr/>
        </p:nvSpPr>
        <p:spPr>
          <a:xfrm>
            <a:off x="2061743" y="3800931"/>
            <a:ext cx="99157" cy="99157"/>
          </a:xfrm>
          <a:prstGeom prst="roundRect">
            <a:avLst>
              <a:gd name="adj" fmla="val 30000"/>
            </a:avLst>
          </a:prstGeom>
          <a:solidFill>
            <a:srgbClr val="1561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p16_11"/>
          <p:cNvSpPr/>
          <p:nvPr/>
        </p:nvSpPr>
        <p:spPr>
          <a:xfrm>
            <a:off x="2220489" y="3800931"/>
            <a:ext cx="99157" cy="99157"/>
          </a:xfrm>
          <a:prstGeom prst="roundRect">
            <a:avLst>
              <a:gd name="adj" fmla="val 30000"/>
            </a:avLst>
          </a:prstGeom>
          <a:solidFill>
            <a:srgbClr val="14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p16_12"/>
          <p:cNvSpPr/>
          <p:nvPr/>
        </p:nvSpPr>
        <p:spPr>
          <a:xfrm>
            <a:off x="2379235" y="3800931"/>
            <a:ext cx="99157" cy="99157"/>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p16_13"/>
          <p:cNvSpPr/>
          <p:nvPr/>
        </p:nvSpPr>
        <p:spPr>
          <a:xfrm>
            <a:off x="2537981" y="3800931"/>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p17_07"/>
          <p:cNvSpPr/>
          <p:nvPr/>
        </p:nvSpPr>
        <p:spPr>
          <a:xfrm>
            <a:off x="1585505" y="3685631"/>
            <a:ext cx="99157" cy="99157"/>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p17_08"/>
          <p:cNvSpPr/>
          <p:nvPr/>
        </p:nvSpPr>
        <p:spPr>
          <a:xfrm>
            <a:off x="1744251" y="3685631"/>
            <a:ext cx="99157" cy="99157"/>
          </a:xfrm>
          <a:prstGeom prst="roundRect">
            <a:avLst>
              <a:gd name="adj" fmla="val 30000"/>
            </a:avLst>
          </a:prstGeom>
          <a:solidFill>
            <a:srgbClr val="1251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p17_09"/>
          <p:cNvSpPr/>
          <p:nvPr/>
        </p:nvSpPr>
        <p:spPr>
          <a:xfrm>
            <a:off x="1902997" y="3685631"/>
            <a:ext cx="99157" cy="99157"/>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p17_10"/>
          <p:cNvSpPr/>
          <p:nvPr/>
        </p:nvSpPr>
        <p:spPr>
          <a:xfrm>
            <a:off x="2061743" y="3685631"/>
            <a:ext cx="99157" cy="99157"/>
          </a:xfrm>
          <a:prstGeom prst="roundRect">
            <a:avLst>
              <a:gd name="adj" fmla="val 30000"/>
            </a:avLst>
          </a:prstGeom>
          <a:solidFill>
            <a:srgbClr val="145E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p17_11"/>
          <p:cNvSpPr/>
          <p:nvPr/>
        </p:nvSpPr>
        <p:spPr>
          <a:xfrm>
            <a:off x="2220489" y="3685631"/>
            <a:ext cx="99157" cy="99157"/>
          </a:xfrm>
          <a:prstGeom prst="roundRect">
            <a:avLst>
              <a:gd name="adj" fmla="val 30000"/>
            </a:avLst>
          </a:prstGeom>
          <a:solidFill>
            <a:srgbClr val="135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p17_12"/>
          <p:cNvSpPr/>
          <p:nvPr/>
        </p:nvSpPr>
        <p:spPr>
          <a:xfrm>
            <a:off x="2379235" y="3685631"/>
            <a:ext cx="99157" cy="99157"/>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p17_13"/>
          <p:cNvSpPr/>
          <p:nvPr/>
        </p:nvSpPr>
        <p:spPr>
          <a:xfrm>
            <a:off x="2537981" y="3685631"/>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p18_06"/>
          <p:cNvSpPr/>
          <p:nvPr/>
        </p:nvSpPr>
        <p:spPr>
          <a:xfrm>
            <a:off x="1426759" y="3570331"/>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p18_07"/>
          <p:cNvSpPr/>
          <p:nvPr/>
        </p:nvSpPr>
        <p:spPr>
          <a:xfrm>
            <a:off x="1585505" y="3570331"/>
            <a:ext cx="99157" cy="99157"/>
          </a:xfrm>
          <a:prstGeom prst="roundRect">
            <a:avLst>
              <a:gd name="adj" fmla="val 30000"/>
            </a:avLst>
          </a:prstGeom>
          <a:solidFill>
            <a:srgbClr val="104A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p18_08"/>
          <p:cNvSpPr/>
          <p:nvPr/>
        </p:nvSpPr>
        <p:spPr>
          <a:xfrm>
            <a:off x="1744251" y="3570331"/>
            <a:ext cx="99157" cy="99157"/>
          </a:xfrm>
          <a:prstGeom prst="roundRect">
            <a:avLst>
              <a:gd name="adj" fmla="val 30000"/>
            </a:avLst>
          </a:prstGeom>
          <a:solidFill>
            <a:srgbClr val="125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p18_09"/>
          <p:cNvSpPr/>
          <p:nvPr/>
        </p:nvSpPr>
        <p:spPr>
          <a:xfrm>
            <a:off x="1902997" y="3570331"/>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p18_10"/>
          <p:cNvSpPr/>
          <p:nvPr/>
        </p:nvSpPr>
        <p:spPr>
          <a:xfrm>
            <a:off x="2061743" y="3570331"/>
            <a:ext cx="99157" cy="99157"/>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p18_11"/>
          <p:cNvSpPr/>
          <p:nvPr/>
        </p:nvSpPr>
        <p:spPr>
          <a:xfrm>
            <a:off x="2220489" y="3570331"/>
            <a:ext cx="99157" cy="99157"/>
          </a:xfrm>
          <a:prstGeom prst="roundRect">
            <a:avLst>
              <a:gd name="adj" fmla="val 30000"/>
            </a:avLst>
          </a:prstGeom>
          <a:solidFill>
            <a:srgbClr val="1359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p18_12"/>
          <p:cNvSpPr/>
          <p:nvPr/>
        </p:nvSpPr>
        <p:spPr>
          <a:xfrm>
            <a:off x="2379235" y="3570331"/>
            <a:ext cx="99157" cy="99157"/>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p18_13"/>
          <p:cNvSpPr/>
          <p:nvPr/>
        </p:nvSpPr>
        <p:spPr>
          <a:xfrm>
            <a:off x="2537981" y="3570331"/>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p19_06"/>
          <p:cNvSpPr/>
          <p:nvPr/>
        </p:nvSpPr>
        <p:spPr>
          <a:xfrm>
            <a:off x="1426759" y="3455032"/>
            <a:ext cx="99157" cy="99157"/>
          </a:xfrm>
          <a:prstGeom prst="roundRect">
            <a:avLst>
              <a:gd name="adj" fmla="val 30000"/>
            </a:avLst>
          </a:prstGeom>
          <a:solidFill>
            <a:srgbClr val="0F4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p19_07"/>
          <p:cNvSpPr/>
          <p:nvPr/>
        </p:nvSpPr>
        <p:spPr>
          <a:xfrm>
            <a:off x="1585505" y="3455032"/>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p19_08"/>
          <p:cNvSpPr/>
          <p:nvPr/>
        </p:nvSpPr>
        <p:spPr>
          <a:xfrm>
            <a:off x="1744251" y="3455032"/>
            <a:ext cx="99157" cy="99157"/>
          </a:xfrm>
          <a:prstGeom prst="roundRect">
            <a:avLst>
              <a:gd name="adj" fmla="val 30000"/>
            </a:avLst>
          </a:prstGeom>
          <a:solidFill>
            <a:srgbClr val="135B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p19_09"/>
          <p:cNvSpPr/>
          <p:nvPr/>
        </p:nvSpPr>
        <p:spPr>
          <a:xfrm>
            <a:off x="1902997" y="3455032"/>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p19_10"/>
          <p:cNvSpPr/>
          <p:nvPr/>
        </p:nvSpPr>
        <p:spPr>
          <a:xfrm>
            <a:off x="2061743" y="3455032"/>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p19_11"/>
          <p:cNvSpPr/>
          <p:nvPr/>
        </p:nvSpPr>
        <p:spPr>
          <a:xfrm>
            <a:off x="2220489" y="3455032"/>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p19_12"/>
          <p:cNvSpPr/>
          <p:nvPr/>
        </p:nvSpPr>
        <p:spPr>
          <a:xfrm>
            <a:off x="2379235" y="3455032"/>
            <a:ext cx="99157" cy="99157"/>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p19_13"/>
          <p:cNvSpPr/>
          <p:nvPr/>
        </p:nvSpPr>
        <p:spPr>
          <a:xfrm>
            <a:off x="2537981" y="3455032"/>
            <a:ext cx="99157" cy="99157"/>
          </a:xfrm>
          <a:prstGeom prst="roundRect">
            <a:avLst>
              <a:gd name="adj" fmla="val 30000"/>
            </a:avLst>
          </a:prstGeom>
          <a:solidFill>
            <a:srgbClr val="0F4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p20_06"/>
          <p:cNvSpPr/>
          <p:nvPr/>
        </p:nvSpPr>
        <p:spPr>
          <a:xfrm>
            <a:off x="1426759" y="3339732"/>
            <a:ext cx="99157" cy="99157"/>
          </a:xfrm>
          <a:prstGeom prst="roundRect">
            <a:avLst>
              <a:gd name="adj" fmla="val 30000"/>
            </a:avLst>
          </a:prstGeom>
          <a:solidFill>
            <a:srgbClr val="1256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p20_07"/>
          <p:cNvSpPr/>
          <p:nvPr/>
        </p:nvSpPr>
        <p:spPr>
          <a:xfrm>
            <a:off x="1585505" y="3339732"/>
            <a:ext cx="99157" cy="99157"/>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p20_08"/>
          <p:cNvSpPr/>
          <p:nvPr/>
        </p:nvSpPr>
        <p:spPr>
          <a:xfrm>
            <a:off x="1744251" y="3339732"/>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 name="!!p20_09"/>
          <p:cNvSpPr/>
          <p:nvPr/>
        </p:nvSpPr>
        <p:spPr>
          <a:xfrm>
            <a:off x="1902997" y="3339732"/>
            <a:ext cx="99157" cy="99157"/>
          </a:xfrm>
          <a:prstGeom prst="roundRect">
            <a:avLst>
              <a:gd name="adj" fmla="val 30000"/>
            </a:avLst>
          </a:prstGeom>
          <a:solidFill>
            <a:srgbClr val="145D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p20_10"/>
          <p:cNvSpPr/>
          <p:nvPr/>
        </p:nvSpPr>
        <p:spPr>
          <a:xfrm>
            <a:off x="2061743" y="3339732"/>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p20_11"/>
          <p:cNvSpPr/>
          <p:nvPr/>
        </p:nvSpPr>
        <p:spPr>
          <a:xfrm>
            <a:off x="2220489" y="3339732"/>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p20_12"/>
          <p:cNvSpPr/>
          <p:nvPr/>
        </p:nvSpPr>
        <p:spPr>
          <a:xfrm>
            <a:off x="2379235" y="3339732"/>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p20_13"/>
          <p:cNvSpPr/>
          <p:nvPr/>
        </p:nvSpPr>
        <p:spPr>
          <a:xfrm>
            <a:off x="2537981" y="3339732"/>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p21_05"/>
          <p:cNvSpPr/>
          <p:nvPr/>
        </p:nvSpPr>
        <p:spPr>
          <a:xfrm>
            <a:off x="1268013" y="3224432"/>
            <a:ext cx="99157" cy="99157"/>
          </a:xfrm>
          <a:prstGeom prst="roundRect">
            <a:avLst>
              <a:gd name="adj" fmla="val 30000"/>
            </a:avLst>
          </a:prstGeom>
          <a:solidFill>
            <a:srgbClr val="1358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 name="!!p21_06"/>
          <p:cNvSpPr/>
          <p:nvPr/>
        </p:nvSpPr>
        <p:spPr>
          <a:xfrm>
            <a:off x="1426759" y="3224432"/>
            <a:ext cx="99157" cy="99157"/>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p21_07"/>
          <p:cNvSpPr/>
          <p:nvPr/>
        </p:nvSpPr>
        <p:spPr>
          <a:xfrm>
            <a:off x="1585505" y="3224432"/>
            <a:ext cx="99157" cy="99157"/>
          </a:xfrm>
          <a:prstGeom prst="roundRect">
            <a:avLst>
              <a:gd name="adj" fmla="val 30000"/>
            </a:avLst>
          </a:prstGeom>
          <a:solidFill>
            <a:srgbClr val="2B99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p21_08"/>
          <p:cNvSpPr/>
          <p:nvPr/>
        </p:nvSpPr>
        <p:spPr>
          <a:xfrm>
            <a:off x="1744251" y="3224432"/>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 name="!!p21_09"/>
          <p:cNvSpPr/>
          <p:nvPr/>
        </p:nvSpPr>
        <p:spPr>
          <a:xfrm>
            <a:off x="1902997" y="3224432"/>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p21_10"/>
          <p:cNvSpPr/>
          <p:nvPr/>
        </p:nvSpPr>
        <p:spPr>
          <a:xfrm>
            <a:off x="2061743" y="3224432"/>
            <a:ext cx="99157" cy="99157"/>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p21_11"/>
          <p:cNvSpPr/>
          <p:nvPr/>
        </p:nvSpPr>
        <p:spPr>
          <a:xfrm>
            <a:off x="2220489" y="3224432"/>
            <a:ext cx="99157" cy="99157"/>
          </a:xfrm>
          <a:prstGeom prst="roundRect">
            <a:avLst>
              <a:gd name="adj" fmla="val 30000"/>
            </a:avLst>
          </a:prstGeom>
          <a:solidFill>
            <a:srgbClr val="1873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 name="!!p21_12"/>
          <p:cNvSpPr/>
          <p:nvPr/>
        </p:nvSpPr>
        <p:spPr>
          <a:xfrm>
            <a:off x="2379235" y="3224432"/>
            <a:ext cx="99157" cy="99157"/>
          </a:xfrm>
          <a:prstGeom prst="roundRect">
            <a:avLst>
              <a:gd name="adj" fmla="val 30000"/>
            </a:avLst>
          </a:prstGeom>
          <a:solidFill>
            <a:srgbClr val="1C8A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p21_13"/>
          <p:cNvSpPr/>
          <p:nvPr/>
        </p:nvSpPr>
        <p:spPr>
          <a:xfrm>
            <a:off x="2537981" y="3224432"/>
            <a:ext cx="99157" cy="99157"/>
          </a:xfrm>
          <a:prstGeom prst="roundRect">
            <a:avLst>
              <a:gd name="adj" fmla="val 30000"/>
            </a:avLst>
          </a:prstGeom>
          <a:solidFill>
            <a:srgbClr val="166A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 name="!!p22_05"/>
          <p:cNvSpPr/>
          <p:nvPr/>
        </p:nvSpPr>
        <p:spPr>
          <a:xfrm>
            <a:off x="1268013" y="3109132"/>
            <a:ext cx="99157" cy="99157"/>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 name="!!p22_06"/>
          <p:cNvSpPr/>
          <p:nvPr/>
        </p:nvSpPr>
        <p:spPr>
          <a:xfrm>
            <a:off x="1426759" y="3109132"/>
            <a:ext cx="99157" cy="99157"/>
          </a:xfrm>
          <a:prstGeom prst="roundRect">
            <a:avLst>
              <a:gd name="adj" fmla="val 30000"/>
            </a:avLst>
          </a:prstGeom>
          <a:solidFill>
            <a:srgbClr val="2F9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 name="!!p22_07"/>
          <p:cNvSpPr/>
          <p:nvPr/>
        </p:nvSpPr>
        <p:spPr>
          <a:xfrm>
            <a:off x="1585505" y="3109132"/>
            <a:ext cx="99157" cy="99157"/>
          </a:xfrm>
          <a:prstGeom prst="roundRect">
            <a:avLst>
              <a:gd name="adj" fmla="val 30000"/>
            </a:avLst>
          </a:prstGeom>
          <a:solidFill>
            <a:srgbClr val="70C1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p22_08"/>
          <p:cNvSpPr/>
          <p:nvPr/>
        </p:nvSpPr>
        <p:spPr>
          <a:xfrm>
            <a:off x="1744251" y="3109132"/>
            <a:ext cx="99157" cy="99157"/>
          </a:xfrm>
          <a:prstGeom prst="roundRect">
            <a:avLst>
              <a:gd name="adj" fmla="val 30000"/>
            </a:avLst>
          </a:prstGeom>
          <a:solidFill>
            <a:srgbClr val="51BC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 name="!!p22_09"/>
          <p:cNvSpPr/>
          <p:nvPr/>
        </p:nvSpPr>
        <p:spPr>
          <a:xfrm>
            <a:off x="1902997" y="3109132"/>
            <a:ext cx="99157" cy="99157"/>
          </a:xfrm>
          <a:prstGeom prst="roundRect">
            <a:avLst>
              <a:gd name="adj" fmla="val 30000"/>
            </a:avLst>
          </a:prstGeom>
          <a:solidFill>
            <a:srgbClr val="1B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 name="!!p22_10"/>
          <p:cNvSpPr/>
          <p:nvPr/>
        </p:nvSpPr>
        <p:spPr>
          <a:xfrm>
            <a:off x="2061743" y="3109132"/>
            <a:ext cx="99157" cy="99157"/>
          </a:xfrm>
          <a:prstGeom prst="roundRect">
            <a:avLst>
              <a:gd name="adj" fmla="val 30000"/>
            </a:avLst>
          </a:prstGeom>
          <a:solidFill>
            <a:srgbClr val="145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 name="!!p22_11"/>
          <p:cNvSpPr/>
          <p:nvPr/>
        </p:nvSpPr>
        <p:spPr>
          <a:xfrm>
            <a:off x="2220489" y="3109132"/>
            <a:ext cx="99157" cy="99157"/>
          </a:xfrm>
          <a:prstGeom prst="roundRect">
            <a:avLst>
              <a:gd name="adj" fmla="val 30000"/>
            </a:avLst>
          </a:prstGeom>
          <a:solidFill>
            <a:srgbClr val="1B84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 name="!!p22_12"/>
          <p:cNvSpPr/>
          <p:nvPr/>
        </p:nvSpPr>
        <p:spPr>
          <a:xfrm>
            <a:off x="2379235" y="3109132"/>
            <a:ext cx="99157" cy="99157"/>
          </a:xfrm>
          <a:prstGeom prst="roundRect">
            <a:avLst>
              <a:gd name="adj" fmla="val 30000"/>
            </a:avLst>
          </a:prstGeom>
          <a:solidFill>
            <a:srgbClr val="2E9D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 name="!!p22_13"/>
          <p:cNvSpPr/>
          <p:nvPr/>
        </p:nvSpPr>
        <p:spPr>
          <a:xfrm>
            <a:off x="2537981" y="3109132"/>
            <a:ext cx="99157" cy="99157"/>
          </a:xfrm>
          <a:prstGeom prst="roundRect">
            <a:avLst>
              <a:gd name="adj" fmla="val 30000"/>
            </a:avLst>
          </a:prstGeom>
          <a:solidFill>
            <a:srgbClr val="1A80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 name="!!p23_04"/>
          <p:cNvSpPr/>
          <p:nvPr/>
        </p:nvSpPr>
        <p:spPr>
          <a:xfrm>
            <a:off x="1109267" y="2993833"/>
            <a:ext cx="99157" cy="99157"/>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 name="!!p23_05"/>
          <p:cNvSpPr/>
          <p:nvPr/>
        </p:nvSpPr>
        <p:spPr>
          <a:xfrm>
            <a:off x="1268013" y="2993833"/>
            <a:ext cx="99157" cy="99157"/>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 name="!!p23_06"/>
          <p:cNvSpPr/>
          <p:nvPr/>
        </p:nvSpPr>
        <p:spPr>
          <a:xfrm>
            <a:off x="1426759" y="2993833"/>
            <a:ext cx="99157" cy="99157"/>
          </a:xfrm>
          <a:prstGeom prst="roundRect">
            <a:avLst>
              <a:gd name="adj" fmla="val 30000"/>
            </a:avLst>
          </a:prstGeom>
          <a:solidFill>
            <a:srgbClr val="62BF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 name="!!p23_07"/>
          <p:cNvSpPr/>
          <p:nvPr/>
        </p:nvSpPr>
        <p:spPr>
          <a:xfrm>
            <a:off x="1585505" y="2993833"/>
            <a:ext cx="99157" cy="99157"/>
          </a:xfrm>
          <a:prstGeom prst="roundRect">
            <a:avLst>
              <a:gd name="adj" fmla="val 30000"/>
            </a:avLst>
          </a:prstGeom>
          <a:solidFill>
            <a:srgbClr val="FFBE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 name="!!p23_08"/>
          <p:cNvSpPr/>
          <p:nvPr/>
        </p:nvSpPr>
        <p:spPr>
          <a:xfrm>
            <a:off x="1744251" y="2993833"/>
            <a:ext cx="99157" cy="99157"/>
          </a:xfrm>
          <a:prstGeom prst="roundRect">
            <a:avLst>
              <a:gd name="adj" fmla="val 30000"/>
            </a:avLst>
          </a:prstGeom>
          <a:solidFill>
            <a:srgbClr val="F4D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 name="!!p23_09"/>
          <p:cNvSpPr/>
          <p:nvPr/>
        </p:nvSpPr>
        <p:spPr>
          <a:xfrm>
            <a:off x="1902997" y="2993833"/>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 name="!!p23_10"/>
          <p:cNvSpPr/>
          <p:nvPr/>
        </p:nvSpPr>
        <p:spPr>
          <a:xfrm>
            <a:off x="2061743" y="2993833"/>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 name="!!p23_11"/>
          <p:cNvSpPr/>
          <p:nvPr/>
        </p:nvSpPr>
        <p:spPr>
          <a:xfrm>
            <a:off x="2220489" y="2993833"/>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 name="!!p23_12"/>
          <p:cNvSpPr/>
          <p:nvPr/>
        </p:nvSpPr>
        <p:spPr>
          <a:xfrm>
            <a:off x="2379235" y="2993833"/>
            <a:ext cx="99157" cy="99157"/>
          </a:xfrm>
          <a:prstGeom prst="roundRect">
            <a:avLst>
              <a:gd name="adj" fmla="val 30000"/>
            </a:avLst>
          </a:prstGeom>
          <a:solidFill>
            <a:srgbClr val="39A7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 name="!!p23_13"/>
          <p:cNvSpPr/>
          <p:nvPr/>
        </p:nvSpPr>
        <p:spPr>
          <a:xfrm>
            <a:off x="2537981" y="2993833"/>
            <a:ext cx="99157" cy="99157"/>
          </a:xfrm>
          <a:prstGeom prst="roundRect">
            <a:avLst>
              <a:gd name="adj" fmla="val 30000"/>
            </a:avLst>
          </a:prstGeom>
          <a:solidFill>
            <a:srgbClr val="1D8C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 name="!!p23_14"/>
          <p:cNvSpPr/>
          <p:nvPr/>
        </p:nvSpPr>
        <p:spPr>
          <a:xfrm>
            <a:off x="2696727" y="2993833"/>
            <a:ext cx="99157" cy="99157"/>
          </a:xfrm>
          <a:prstGeom prst="roundRect">
            <a:avLst>
              <a:gd name="adj" fmla="val 30000"/>
            </a:avLst>
          </a:prstGeom>
          <a:solidFill>
            <a:srgbClr val="0F42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 name="!!p24_04"/>
          <p:cNvSpPr/>
          <p:nvPr/>
        </p:nvSpPr>
        <p:spPr>
          <a:xfrm>
            <a:off x="1109267" y="2878533"/>
            <a:ext cx="99157" cy="99157"/>
          </a:xfrm>
          <a:prstGeom prst="roundRect">
            <a:avLst>
              <a:gd name="adj" fmla="val 30000"/>
            </a:avLst>
          </a:prstGeom>
          <a:solidFill>
            <a:srgbClr val="22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 name="!!p24_05"/>
          <p:cNvSpPr/>
          <p:nvPr/>
        </p:nvSpPr>
        <p:spPr>
          <a:xfrm>
            <a:off x="1268013" y="2878533"/>
            <a:ext cx="99157" cy="99157"/>
          </a:xfrm>
          <a:prstGeom prst="roundRect">
            <a:avLst>
              <a:gd name="adj" fmla="val 30000"/>
            </a:avLst>
          </a:prstGeom>
          <a:solidFill>
            <a:srgbClr val="5DBE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 name="!!p24_06"/>
          <p:cNvSpPr/>
          <p:nvPr/>
        </p:nvSpPr>
        <p:spPr>
          <a:xfrm>
            <a:off x="1426759" y="2878533"/>
            <a:ext cx="99157" cy="99157"/>
          </a:xfrm>
          <a:prstGeom prst="roundRect">
            <a:avLst>
              <a:gd name="adj" fmla="val 30000"/>
            </a:avLst>
          </a:prstGeom>
          <a:solidFill>
            <a:srgbClr val="DBCE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 name="!!p24_07"/>
          <p:cNvSpPr/>
          <p:nvPr/>
        </p:nvSpPr>
        <p:spPr>
          <a:xfrm>
            <a:off x="1585505" y="2878533"/>
            <a:ext cx="99157" cy="99157"/>
          </a:xfrm>
          <a:prstGeom prst="roundRect">
            <a:avLst>
              <a:gd name="adj" fmla="val 30000"/>
            </a:avLst>
          </a:prstGeom>
          <a:solidFill>
            <a:srgbClr val="FF89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 name="!!p24_08"/>
          <p:cNvSpPr/>
          <p:nvPr/>
        </p:nvSpPr>
        <p:spPr>
          <a:xfrm>
            <a:off x="1744251" y="2878533"/>
            <a:ext cx="99157" cy="99157"/>
          </a:xfrm>
          <a:prstGeom prst="roundRect">
            <a:avLst>
              <a:gd name="adj" fmla="val 30000"/>
            </a:avLst>
          </a:prstGeom>
          <a:solidFill>
            <a:srgbClr val="FFA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 name="!!p24_09"/>
          <p:cNvSpPr/>
          <p:nvPr/>
        </p:nvSpPr>
        <p:spPr>
          <a:xfrm>
            <a:off x="1902997" y="2878533"/>
            <a:ext cx="99157" cy="99157"/>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 name="!!p24_10"/>
          <p:cNvSpPr/>
          <p:nvPr/>
        </p:nvSpPr>
        <p:spPr>
          <a:xfrm>
            <a:off x="2061743" y="2878533"/>
            <a:ext cx="99157" cy="99157"/>
          </a:xfrm>
          <a:prstGeom prst="roundRect">
            <a:avLst>
              <a:gd name="adj" fmla="val 30000"/>
            </a:avLst>
          </a:prstGeom>
          <a:solidFill>
            <a:srgbClr val="1563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 name="!!p24_11"/>
          <p:cNvSpPr/>
          <p:nvPr/>
        </p:nvSpPr>
        <p:spPr>
          <a:xfrm>
            <a:off x="2220489" y="2878533"/>
            <a:ext cx="99157" cy="99157"/>
          </a:xfrm>
          <a:prstGeom prst="roundRect">
            <a:avLst>
              <a:gd name="adj" fmla="val 30000"/>
            </a:avLst>
          </a:prstGeom>
          <a:solidFill>
            <a:srgbClr val="1C88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 name="!!p24_12"/>
          <p:cNvSpPr/>
          <p:nvPr/>
        </p:nvSpPr>
        <p:spPr>
          <a:xfrm>
            <a:off x="2379235" y="2878533"/>
            <a:ext cx="99157" cy="99157"/>
          </a:xfrm>
          <a:prstGeom prst="roundRect">
            <a:avLst>
              <a:gd name="adj" fmla="val 30000"/>
            </a:avLst>
          </a:prstGeom>
          <a:solidFill>
            <a:srgbClr val="36A4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 name="!!p24_13"/>
          <p:cNvSpPr/>
          <p:nvPr/>
        </p:nvSpPr>
        <p:spPr>
          <a:xfrm>
            <a:off x="2537981" y="2878533"/>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 name="!!p24_14"/>
          <p:cNvSpPr/>
          <p:nvPr/>
        </p:nvSpPr>
        <p:spPr>
          <a:xfrm>
            <a:off x="2696727" y="2878533"/>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 name="!!p25_04"/>
          <p:cNvSpPr/>
          <p:nvPr/>
        </p:nvSpPr>
        <p:spPr>
          <a:xfrm>
            <a:off x="1109267" y="2763233"/>
            <a:ext cx="99157" cy="99157"/>
          </a:xfrm>
          <a:prstGeom prst="roundRect">
            <a:avLst>
              <a:gd name="adj" fmla="val 30000"/>
            </a:avLst>
          </a:prstGeom>
          <a:solidFill>
            <a:srgbClr val="2E9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 name="!!p25_05"/>
          <p:cNvSpPr/>
          <p:nvPr/>
        </p:nvSpPr>
        <p:spPr>
          <a:xfrm>
            <a:off x="1268013" y="2763233"/>
            <a:ext cx="99157" cy="99157"/>
          </a:xfrm>
          <a:prstGeom prst="roundRect">
            <a:avLst>
              <a:gd name="adj" fmla="val 30000"/>
            </a:avLst>
          </a:prstGeom>
          <a:solidFill>
            <a:srgbClr val="9CC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 name="!!p25_06"/>
          <p:cNvSpPr/>
          <p:nvPr/>
        </p:nvSpPr>
        <p:spPr>
          <a:xfrm>
            <a:off x="1426759" y="2763233"/>
            <a:ext cx="99157" cy="99157"/>
          </a:xfrm>
          <a:prstGeom prst="roundRect">
            <a:avLst>
              <a:gd name="adj" fmla="val 30000"/>
            </a:avLst>
          </a:prstGeom>
          <a:solidFill>
            <a:srgbClr val="FFD1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 name="!!p25_07"/>
          <p:cNvSpPr/>
          <p:nvPr/>
        </p:nvSpPr>
        <p:spPr>
          <a:xfrm>
            <a:off x="1585505" y="2763233"/>
            <a:ext cx="99157" cy="99157"/>
          </a:xfrm>
          <a:prstGeom prst="roundRect">
            <a:avLst>
              <a:gd name="adj" fmla="val 30000"/>
            </a:avLst>
          </a:prstGeom>
          <a:solidFill>
            <a:srgbClr val="FF84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 name="!!p25_08"/>
          <p:cNvSpPr/>
          <p:nvPr/>
        </p:nvSpPr>
        <p:spPr>
          <a:xfrm>
            <a:off x="1744251" y="2763233"/>
            <a:ext cx="99157" cy="99157"/>
          </a:xfrm>
          <a:prstGeom prst="roundRect">
            <a:avLst>
              <a:gd name="adj" fmla="val 30000"/>
            </a:avLst>
          </a:prstGeom>
          <a:solidFill>
            <a:srgbClr val="FFA9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 name="!!p25_09"/>
          <p:cNvSpPr/>
          <p:nvPr/>
        </p:nvSpPr>
        <p:spPr>
          <a:xfrm>
            <a:off x="1902997" y="2763233"/>
            <a:ext cx="99157" cy="99157"/>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 name="!!p25_10"/>
          <p:cNvSpPr/>
          <p:nvPr/>
        </p:nvSpPr>
        <p:spPr>
          <a:xfrm>
            <a:off x="2061743" y="2763233"/>
            <a:ext cx="99157" cy="99157"/>
          </a:xfrm>
          <a:prstGeom prst="roundRect">
            <a:avLst>
              <a:gd name="adj" fmla="val 30000"/>
            </a:avLst>
          </a:prstGeom>
          <a:solidFill>
            <a:srgbClr val="13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 name="!!p25_11"/>
          <p:cNvSpPr/>
          <p:nvPr/>
        </p:nvSpPr>
        <p:spPr>
          <a:xfrm>
            <a:off x="2220489" y="2763233"/>
            <a:ext cx="99157" cy="99157"/>
          </a:xfrm>
          <a:prstGeom prst="roundRect">
            <a:avLst>
              <a:gd name="adj" fmla="val 30000"/>
            </a:avLst>
          </a:prstGeom>
          <a:solidFill>
            <a:srgbClr val="1876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 name="!!p25_12"/>
          <p:cNvSpPr/>
          <p:nvPr/>
        </p:nvSpPr>
        <p:spPr>
          <a:xfrm>
            <a:off x="2379235" y="2763233"/>
            <a:ext cx="99157" cy="99157"/>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 name="!!p25_13"/>
          <p:cNvSpPr/>
          <p:nvPr/>
        </p:nvSpPr>
        <p:spPr>
          <a:xfrm>
            <a:off x="2537981" y="2763233"/>
            <a:ext cx="99157" cy="99157"/>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 name="!!p25_14"/>
          <p:cNvSpPr/>
          <p:nvPr/>
        </p:nvSpPr>
        <p:spPr>
          <a:xfrm>
            <a:off x="2696727" y="2763233"/>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 name="!!p26_03"/>
          <p:cNvSpPr/>
          <p:nvPr/>
        </p:nvSpPr>
        <p:spPr>
          <a:xfrm>
            <a:off x="950521" y="2647933"/>
            <a:ext cx="99157" cy="99157"/>
          </a:xfrm>
          <a:prstGeom prst="roundRect">
            <a:avLst>
              <a:gd name="adj" fmla="val 30000"/>
            </a:avLst>
          </a:prstGeom>
          <a:solidFill>
            <a:srgbClr val="0E4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 name="!!p26_04"/>
          <p:cNvSpPr/>
          <p:nvPr/>
        </p:nvSpPr>
        <p:spPr>
          <a:xfrm>
            <a:off x="1109267" y="2647933"/>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 name="!!p26_05"/>
          <p:cNvSpPr/>
          <p:nvPr/>
        </p:nvSpPr>
        <p:spPr>
          <a:xfrm>
            <a:off x="1268013" y="2647933"/>
            <a:ext cx="99157" cy="99157"/>
          </a:xfrm>
          <a:prstGeom prst="roundRect">
            <a:avLst>
              <a:gd name="adj" fmla="val 30000"/>
            </a:avLst>
          </a:prstGeom>
          <a:solidFill>
            <a:srgbClr val="7DC2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 name="!!p26_06"/>
          <p:cNvSpPr/>
          <p:nvPr/>
        </p:nvSpPr>
        <p:spPr>
          <a:xfrm>
            <a:off x="1426759" y="2647933"/>
            <a:ext cx="99157" cy="99157"/>
          </a:xfrm>
          <a:prstGeom prst="roundRect">
            <a:avLst>
              <a:gd name="adj" fmla="val 30000"/>
            </a:avLst>
          </a:prstGeom>
          <a:solidFill>
            <a:srgbClr val="BDCA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 name="!!p26_07"/>
          <p:cNvSpPr/>
          <p:nvPr/>
        </p:nvSpPr>
        <p:spPr>
          <a:xfrm>
            <a:off x="1585505" y="2647933"/>
            <a:ext cx="99157" cy="99157"/>
          </a:xfrm>
          <a:prstGeom prst="roundRect">
            <a:avLst>
              <a:gd name="adj" fmla="val 30000"/>
            </a:avLst>
          </a:prstGeom>
          <a:solidFill>
            <a:srgbClr val="FFB3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 name="!!p26_08"/>
          <p:cNvSpPr/>
          <p:nvPr/>
        </p:nvSpPr>
        <p:spPr>
          <a:xfrm>
            <a:off x="1744251" y="2647933"/>
            <a:ext cx="99157" cy="99157"/>
          </a:xfrm>
          <a:prstGeom prst="roundRect">
            <a:avLst>
              <a:gd name="adj" fmla="val 30000"/>
            </a:avLst>
          </a:prstGeom>
          <a:solidFill>
            <a:srgbClr val="F7D1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 name="!!p26_09"/>
          <p:cNvSpPr/>
          <p:nvPr/>
        </p:nvSpPr>
        <p:spPr>
          <a:xfrm>
            <a:off x="1902997" y="2647933"/>
            <a:ext cx="99157" cy="99157"/>
          </a:xfrm>
          <a:prstGeom prst="roundRect">
            <a:avLst>
              <a:gd name="adj" fmla="val 30000"/>
            </a:avLst>
          </a:prstGeom>
          <a:solidFill>
            <a:srgbClr val="249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 name="!!p26_10"/>
          <p:cNvSpPr/>
          <p:nvPr/>
        </p:nvSpPr>
        <p:spPr>
          <a:xfrm>
            <a:off x="2061743" y="2647933"/>
            <a:ext cx="99157" cy="99157"/>
          </a:xfrm>
          <a:prstGeom prst="roundRect">
            <a:avLst>
              <a:gd name="adj" fmla="val 30000"/>
            </a:avLst>
          </a:prstGeom>
          <a:solidFill>
            <a:srgbClr val="114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 name="!!p26_11"/>
          <p:cNvSpPr/>
          <p:nvPr/>
        </p:nvSpPr>
        <p:spPr>
          <a:xfrm>
            <a:off x="2220489" y="2647933"/>
            <a:ext cx="99157" cy="99157"/>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 name="!!p26_12"/>
          <p:cNvSpPr/>
          <p:nvPr/>
        </p:nvSpPr>
        <p:spPr>
          <a:xfrm>
            <a:off x="2379235" y="2647933"/>
            <a:ext cx="99157" cy="99157"/>
          </a:xfrm>
          <a:prstGeom prst="roundRect">
            <a:avLst>
              <a:gd name="adj" fmla="val 30000"/>
            </a:avLst>
          </a:prstGeom>
          <a:solidFill>
            <a:srgbClr val="1874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 name="!!p26_13"/>
          <p:cNvSpPr/>
          <p:nvPr/>
        </p:nvSpPr>
        <p:spPr>
          <a:xfrm>
            <a:off x="2537981" y="2647933"/>
            <a:ext cx="99157" cy="99157"/>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 name="!!p26_14"/>
          <p:cNvSpPr/>
          <p:nvPr/>
        </p:nvSpPr>
        <p:spPr>
          <a:xfrm>
            <a:off x="2696727" y="2647933"/>
            <a:ext cx="99157" cy="99157"/>
          </a:xfrm>
          <a:prstGeom prst="roundRect">
            <a:avLst>
              <a:gd name="adj" fmla="val 30000"/>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 name="!!p27_03"/>
          <p:cNvSpPr/>
          <p:nvPr/>
        </p:nvSpPr>
        <p:spPr>
          <a:xfrm>
            <a:off x="950521" y="2532634"/>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 name="!!p27_04"/>
          <p:cNvSpPr/>
          <p:nvPr/>
        </p:nvSpPr>
        <p:spPr>
          <a:xfrm>
            <a:off x="1109267" y="2532634"/>
            <a:ext cx="99157" cy="99157"/>
          </a:xfrm>
          <a:prstGeom prst="roundRect">
            <a:avLst>
              <a:gd name="adj" fmla="val 30000"/>
            </a:avLst>
          </a:prstGeom>
          <a:solidFill>
            <a:srgbClr val="1B84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 name="!!p27_05"/>
          <p:cNvSpPr/>
          <p:nvPr/>
        </p:nvSpPr>
        <p:spPr>
          <a:xfrm>
            <a:off x="1268013" y="2532634"/>
            <a:ext cx="99157" cy="99157"/>
          </a:xfrm>
          <a:prstGeom prst="roundRect">
            <a:avLst>
              <a:gd name="adj" fmla="val 30000"/>
            </a:avLst>
          </a:prstGeom>
          <a:solidFill>
            <a:srgbClr val="40A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 name="!!p27_06"/>
          <p:cNvSpPr/>
          <p:nvPr/>
        </p:nvSpPr>
        <p:spPr>
          <a:xfrm>
            <a:off x="1426759" y="2532634"/>
            <a:ext cx="99157" cy="99157"/>
          </a:xfrm>
          <a:prstGeom prst="roundRect">
            <a:avLst>
              <a:gd name="adj" fmla="val 30000"/>
            </a:avLst>
          </a:prstGeom>
          <a:solidFill>
            <a:srgbClr val="48B4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 name="!!p27_07"/>
          <p:cNvSpPr/>
          <p:nvPr/>
        </p:nvSpPr>
        <p:spPr>
          <a:xfrm>
            <a:off x="1585505" y="2532634"/>
            <a:ext cx="99157" cy="99157"/>
          </a:xfrm>
          <a:prstGeom prst="roundRect">
            <a:avLst>
              <a:gd name="adj" fmla="val 30000"/>
            </a:avLst>
          </a:prstGeom>
          <a:solidFill>
            <a:srgbClr val="85C3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 name="!!p27_08"/>
          <p:cNvSpPr/>
          <p:nvPr/>
        </p:nvSpPr>
        <p:spPr>
          <a:xfrm>
            <a:off x="1744251" y="2532634"/>
            <a:ext cx="99157" cy="99157"/>
          </a:xfrm>
          <a:prstGeom prst="roundRect">
            <a:avLst>
              <a:gd name="adj" fmla="val 30000"/>
            </a:avLst>
          </a:prstGeom>
          <a:solidFill>
            <a:srgbClr val="4FB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 name="!!p27_09"/>
          <p:cNvSpPr/>
          <p:nvPr/>
        </p:nvSpPr>
        <p:spPr>
          <a:xfrm>
            <a:off x="1902997" y="2532634"/>
            <a:ext cx="99157" cy="99157"/>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 name="!!p27_10"/>
          <p:cNvSpPr/>
          <p:nvPr/>
        </p:nvSpPr>
        <p:spPr>
          <a:xfrm>
            <a:off x="2061743" y="2532634"/>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 name="!!p27_11"/>
          <p:cNvSpPr/>
          <p:nvPr/>
        </p:nvSpPr>
        <p:spPr>
          <a:xfrm>
            <a:off x="2220489" y="2532634"/>
            <a:ext cx="99157" cy="99157"/>
          </a:xfrm>
          <a:prstGeom prst="roundRect">
            <a:avLst>
              <a:gd name="adj" fmla="val 30000"/>
            </a:avLst>
          </a:prstGeom>
          <a:solidFill>
            <a:srgbClr val="0F45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 name="!!p27_12"/>
          <p:cNvSpPr/>
          <p:nvPr/>
        </p:nvSpPr>
        <p:spPr>
          <a:xfrm>
            <a:off x="2379235" y="2532634"/>
            <a:ext cx="99157" cy="99157"/>
          </a:xfrm>
          <a:prstGeom prst="roundRect">
            <a:avLst>
              <a:gd name="adj" fmla="val 30000"/>
            </a:avLst>
          </a:prstGeom>
          <a:solidFill>
            <a:srgbClr val="1150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 name="!!p27_13"/>
          <p:cNvSpPr/>
          <p:nvPr/>
        </p:nvSpPr>
        <p:spPr>
          <a:xfrm>
            <a:off x="2537981" y="2532634"/>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 name="!!p27_14"/>
          <p:cNvSpPr/>
          <p:nvPr/>
        </p:nvSpPr>
        <p:spPr>
          <a:xfrm>
            <a:off x="2696727" y="2532634"/>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 name="!!p28_03"/>
          <p:cNvSpPr/>
          <p:nvPr/>
        </p:nvSpPr>
        <p:spPr>
          <a:xfrm>
            <a:off x="950521" y="2417334"/>
            <a:ext cx="99157" cy="99157"/>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 name="!!p28_04"/>
          <p:cNvSpPr/>
          <p:nvPr/>
        </p:nvSpPr>
        <p:spPr>
          <a:xfrm>
            <a:off x="1109267" y="2417334"/>
            <a:ext cx="99157" cy="99157"/>
          </a:xfrm>
          <a:prstGeom prst="roundRect">
            <a:avLst>
              <a:gd name="adj" fmla="val 30000"/>
            </a:avLst>
          </a:prstGeom>
          <a:solidFill>
            <a:srgbClr val="1460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 name="!!p28_05"/>
          <p:cNvSpPr/>
          <p:nvPr/>
        </p:nvSpPr>
        <p:spPr>
          <a:xfrm>
            <a:off x="1268013" y="2417334"/>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 name="!!p28_06"/>
          <p:cNvSpPr/>
          <p:nvPr/>
        </p:nvSpPr>
        <p:spPr>
          <a:xfrm>
            <a:off x="1426759" y="2417334"/>
            <a:ext cx="99157" cy="99157"/>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 name="!!p28_07"/>
          <p:cNvSpPr/>
          <p:nvPr/>
        </p:nvSpPr>
        <p:spPr>
          <a:xfrm>
            <a:off x="1585505" y="2417334"/>
            <a:ext cx="99157" cy="99157"/>
          </a:xfrm>
          <a:prstGeom prst="roundRect">
            <a:avLst>
              <a:gd name="adj" fmla="val 30000"/>
            </a:avLst>
          </a:prstGeom>
          <a:solidFill>
            <a:srgbClr val="2A99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 name="!!p28_08"/>
          <p:cNvSpPr/>
          <p:nvPr/>
        </p:nvSpPr>
        <p:spPr>
          <a:xfrm>
            <a:off x="1744251" y="2417334"/>
            <a:ext cx="99157" cy="99157"/>
          </a:xfrm>
          <a:prstGeom prst="roundRect">
            <a:avLst>
              <a:gd name="adj" fmla="val 30000"/>
            </a:avLst>
          </a:prstGeom>
          <a:solidFill>
            <a:srgbClr val="1F8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 name="!!p28_09"/>
          <p:cNvSpPr/>
          <p:nvPr/>
        </p:nvSpPr>
        <p:spPr>
          <a:xfrm>
            <a:off x="1902997" y="2417334"/>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 name="!!p28_10"/>
          <p:cNvSpPr/>
          <p:nvPr/>
        </p:nvSpPr>
        <p:spPr>
          <a:xfrm>
            <a:off x="2061743" y="2417334"/>
            <a:ext cx="99157" cy="99157"/>
          </a:xfrm>
          <a:prstGeom prst="roundRect">
            <a:avLst>
              <a:gd name="adj" fmla="val 30000"/>
            </a:avLst>
          </a:prstGeom>
          <a:solidFill>
            <a:srgbClr val="0C38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 name="!!p28_11"/>
          <p:cNvSpPr/>
          <p:nvPr/>
        </p:nvSpPr>
        <p:spPr>
          <a:xfrm>
            <a:off x="2220489" y="2417334"/>
            <a:ext cx="99157" cy="99157"/>
          </a:xfrm>
          <a:prstGeom prst="roundRect">
            <a:avLst>
              <a:gd name="adj" fmla="val 30000"/>
            </a:avLst>
          </a:prstGeom>
          <a:solidFill>
            <a:srgbClr val="0C37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 name="!!p28_12"/>
          <p:cNvSpPr/>
          <p:nvPr/>
        </p:nvSpPr>
        <p:spPr>
          <a:xfrm>
            <a:off x="2379235" y="2417334"/>
            <a:ext cx="99157" cy="99157"/>
          </a:xfrm>
          <a:prstGeom prst="roundRect">
            <a:avLst>
              <a:gd name="adj" fmla="val 30000"/>
            </a:avLst>
          </a:prstGeom>
          <a:solidFill>
            <a:srgbClr val="0D3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 name="!!p28_13"/>
          <p:cNvSpPr/>
          <p:nvPr/>
        </p:nvSpPr>
        <p:spPr>
          <a:xfrm>
            <a:off x="2537981" y="2417334"/>
            <a:ext cx="99157" cy="99157"/>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 name="!!p28_14"/>
          <p:cNvSpPr/>
          <p:nvPr/>
        </p:nvSpPr>
        <p:spPr>
          <a:xfrm>
            <a:off x="2696727" y="2417334"/>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 name="!!p29_03"/>
          <p:cNvSpPr/>
          <p:nvPr/>
        </p:nvSpPr>
        <p:spPr>
          <a:xfrm>
            <a:off x="950521" y="2302034"/>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 name="!!p29_04"/>
          <p:cNvSpPr/>
          <p:nvPr/>
        </p:nvSpPr>
        <p:spPr>
          <a:xfrm>
            <a:off x="1109267" y="2302034"/>
            <a:ext cx="99157" cy="99157"/>
          </a:xfrm>
          <a:prstGeom prst="roundRect">
            <a:avLst>
              <a:gd name="adj" fmla="val 30000"/>
            </a:avLst>
          </a:prstGeom>
          <a:solidFill>
            <a:srgbClr val="0F44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 name="!!p29_05"/>
          <p:cNvSpPr/>
          <p:nvPr/>
        </p:nvSpPr>
        <p:spPr>
          <a:xfrm>
            <a:off x="1268013" y="2302034"/>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 name="!!p29_06"/>
          <p:cNvSpPr/>
          <p:nvPr/>
        </p:nvSpPr>
        <p:spPr>
          <a:xfrm>
            <a:off x="1426759" y="2302034"/>
            <a:ext cx="99157" cy="99157"/>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 name="!!p29_07"/>
          <p:cNvSpPr/>
          <p:nvPr/>
        </p:nvSpPr>
        <p:spPr>
          <a:xfrm>
            <a:off x="1585505" y="2302034"/>
            <a:ext cx="99157" cy="99157"/>
          </a:xfrm>
          <a:prstGeom prst="roundRect">
            <a:avLst>
              <a:gd name="adj" fmla="val 30000"/>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 name="!!p29_08"/>
          <p:cNvSpPr/>
          <p:nvPr/>
        </p:nvSpPr>
        <p:spPr>
          <a:xfrm>
            <a:off x="1744251" y="2302034"/>
            <a:ext cx="99157" cy="99157"/>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2" name="!!p29_09"/>
          <p:cNvSpPr/>
          <p:nvPr/>
        </p:nvSpPr>
        <p:spPr>
          <a:xfrm>
            <a:off x="1902997" y="2302034"/>
            <a:ext cx="99157" cy="99157"/>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3" name="!!p29_10"/>
          <p:cNvSpPr/>
          <p:nvPr/>
        </p:nvSpPr>
        <p:spPr>
          <a:xfrm>
            <a:off x="2061743" y="2302034"/>
            <a:ext cx="99157" cy="99157"/>
          </a:xfrm>
          <a:prstGeom prst="roundRect">
            <a:avLst>
              <a:gd name="adj" fmla="val 30000"/>
            </a:avLst>
          </a:prstGeom>
          <a:solidFill>
            <a:srgbClr val="0B34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4" name="!!p29_11"/>
          <p:cNvSpPr/>
          <p:nvPr/>
        </p:nvSpPr>
        <p:spPr>
          <a:xfrm>
            <a:off x="2220489" y="2302034"/>
            <a:ext cx="99157" cy="99157"/>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5" name="!!p29_12"/>
          <p:cNvSpPr/>
          <p:nvPr/>
        </p:nvSpPr>
        <p:spPr>
          <a:xfrm>
            <a:off x="2379235" y="2302034"/>
            <a:ext cx="99157" cy="99157"/>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6" name="!!p29_13"/>
          <p:cNvSpPr/>
          <p:nvPr/>
        </p:nvSpPr>
        <p:spPr>
          <a:xfrm>
            <a:off x="2537981" y="2302034"/>
            <a:ext cx="99157" cy="99157"/>
          </a:xfrm>
          <a:prstGeom prst="roundRect">
            <a:avLst>
              <a:gd name="adj" fmla="val 30000"/>
            </a:avLst>
          </a:prstGeom>
          <a:solidFill>
            <a:srgbClr val="0A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7" name="!!p30_03"/>
          <p:cNvSpPr/>
          <p:nvPr/>
        </p:nvSpPr>
        <p:spPr>
          <a:xfrm>
            <a:off x="950521" y="2186734"/>
            <a:ext cx="99157" cy="99157"/>
          </a:xfrm>
          <a:prstGeom prst="roundRect">
            <a:avLst>
              <a:gd name="adj" fmla="val 30000"/>
            </a:avLst>
          </a:prstGeom>
          <a:solidFill>
            <a:srgbClr val="0B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8" name="!!p30_04"/>
          <p:cNvSpPr/>
          <p:nvPr/>
        </p:nvSpPr>
        <p:spPr>
          <a:xfrm>
            <a:off x="1109267" y="2186734"/>
            <a:ext cx="99157" cy="99157"/>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9" name="!!p30_05"/>
          <p:cNvSpPr/>
          <p:nvPr/>
        </p:nvSpPr>
        <p:spPr>
          <a:xfrm>
            <a:off x="1268013" y="2186734"/>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0" name="!!p30_06"/>
          <p:cNvSpPr/>
          <p:nvPr/>
        </p:nvSpPr>
        <p:spPr>
          <a:xfrm>
            <a:off x="1426759" y="2186734"/>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1" name="!!p30_07"/>
          <p:cNvSpPr/>
          <p:nvPr/>
        </p:nvSpPr>
        <p:spPr>
          <a:xfrm>
            <a:off x="1585505" y="2186734"/>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2" name="!!p30_08"/>
          <p:cNvSpPr/>
          <p:nvPr/>
        </p:nvSpPr>
        <p:spPr>
          <a:xfrm>
            <a:off x="1744251" y="2186734"/>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3" name="!!p30_09"/>
          <p:cNvSpPr/>
          <p:nvPr/>
        </p:nvSpPr>
        <p:spPr>
          <a:xfrm>
            <a:off x="1902997" y="2186734"/>
            <a:ext cx="99157" cy="99157"/>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4" name="!!p30_10"/>
          <p:cNvSpPr/>
          <p:nvPr/>
        </p:nvSpPr>
        <p:spPr>
          <a:xfrm>
            <a:off x="2061743" y="2186734"/>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5" name="!!p30_11"/>
          <p:cNvSpPr/>
          <p:nvPr/>
        </p:nvSpPr>
        <p:spPr>
          <a:xfrm>
            <a:off x="2220489" y="2186734"/>
            <a:ext cx="99157" cy="99157"/>
          </a:xfrm>
          <a:prstGeom prst="roundRect">
            <a:avLst>
              <a:gd name="adj" fmla="val 30000"/>
            </a:avLst>
          </a:prstGeom>
          <a:solidFill>
            <a:srgbClr val="0B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6" name="!!p30_12"/>
          <p:cNvSpPr/>
          <p:nvPr/>
        </p:nvSpPr>
        <p:spPr>
          <a:xfrm>
            <a:off x="2379235" y="2186734"/>
            <a:ext cx="99157" cy="99157"/>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7" name="!!p30_13"/>
          <p:cNvSpPr/>
          <p:nvPr/>
        </p:nvSpPr>
        <p:spPr>
          <a:xfrm>
            <a:off x="2537981" y="2186734"/>
            <a:ext cx="99157" cy="99157"/>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8" name="!!p31_03"/>
          <p:cNvSpPr/>
          <p:nvPr/>
        </p:nvSpPr>
        <p:spPr>
          <a:xfrm>
            <a:off x="950521" y="2071435"/>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9" name="!!p31_04"/>
          <p:cNvSpPr/>
          <p:nvPr/>
        </p:nvSpPr>
        <p:spPr>
          <a:xfrm>
            <a:off x="1109267" y="2071435"/>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0" name="!!p31_05"/>
          <p:cNvSpPr/>
          <p:nvPr/>
        </p:nvSpPr>
        <p:spPr>
          <a:xfrm>
            <a:off x="1268013" y="2071435"/>
            <a:ext cx="99157" cy="99157"/>
          </a:xfrm>
          <a:prstGeom prst="roundRect">
            <a:avLst>
              <a:gd name="adj" fmla="val 30000"/>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1" name="!!p31_06"/>
          <p:cNvSpPr/>
          <p:nvPr/>
        </p:nvSpPr>
        <p:spPr>
          <a:xfrm>
            <a:off x="1426759" y="2071435"/>
            <a:ext cx="99157" cy="99157"/>
          </a:xfrm>
          <a:prstGeom prst="roundRect">
            <a:avLst>
              <a:gd name="adj" fmla="val 30000"/>
            </a:avLst>
          </a:prstGeom>
          <a:solidFill>
            <a:srgbClr val="0D3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2" name="!!p31_07"/>
          <p:cNvSpPr/>
          <p:nvPr/>
        </p:nvSpPr>
        <p:spPr>
          <a:xfrm>
            <a:off x="1585505" y="2071435"/>
            <a:ext cx="99157" cy="99157"/>
          </a:xfrm>
          <a:prstGeom prst="roundRect">
            <a:avLst>
              <a:gd name="adj" fmla="val 30000"/>
            </a:avLst>
          </a:prstGeom>
          <a:solidFill>
            <a:srgbClr val="0B34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3" name="!!p31_08"/>
          <p:cNvSpPr/>
          <p:nvPr/>
        </p:nvSpPr>
        <p:spPr>
          <a:xfrm>
            <a:off x="1744251" y="2071435"/>
            <a:ext cx="99157" cy="99157"/>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4" name="!!p31_09"/>
          <p:cNvSpPr/>
          <p:nvPr/>
        </p:nvSpPr>
        <p:spPr>
          <a:xfrm>
            <a:off x="1902997" y="2071435"/>
            <a:ext cx="99157" cy="99157"/>
          </a:xfrm>
          <a:prstGeom prst="roundRect">
            <a:avLst>
              <a:gd name="adj" fmla="val 30000"/>
            </a:avLst>
          </a:prstGeom>
          <a:solidFill>
            <a:srgbClr val="0B32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5" name="!!p31_10"/>
          <p:cNvSpPr/>
          <p:nvPr/>
        </p:nvSpPr>
        <p:spPr>
          <a:xfrm>
            <a:off x="2061743" y="2071435"/>
            <a:ext cx="99157" cy="99157"/>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6" name="!!p31_11"/>
          <p:cNvSpPr/>
          <p:nvPr/>
        </p:nvSpPr>
        <p:spPr>
          <a:xfrm>
            <a:off x="2220489" y="2071435"/>
            <a:ext cx="99157" cy="99157"/>
          </a:xfrm>
          <a:prstGeom prst="roundRect">
            <a:avLst>
              <a:gd name="adj" fmla="val 30000"/>
            </a:avLst>
          </a:prstGeom>
          <a:solidFill>
            <a:srgbClr val="0A2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7" name="!!p31_12"/>
          <p:cNvSpPr/>
          <p:nvPr/>
        </p:nvSpPr>
        <p:spPr>
          <a:xfrm>
            <a:off x="2379235" y="2071435"/>
            <a:ext cx="99157" cy="99157"/>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8" name="!!p31_13"/>
          <p:cNvSpPr/>
          <p:nvPr/>
        </p:nvSpPr>
        <p:spPr>
          <a:xfrm>
            <a:off x="2537981" y="2071435"/>
            <a:ext cx="99157" cy="99157"/>
          </a:xfrm>
          <a:prstGeom prst="roundRect">
            <a:avLst>
              <a:gd name="adj" fmla="val 30000"/>
            </a:avLst>
          </a:prstGeom>
          <a:solidFill>
            <a:srgbClr val="092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9" name="!!p32_03"/>
          <p:cNvSpPr/>
          <p:nvPr/>
        </p:nvSpPr>
        <p:spPr>
          <a:xfrm>
            <a:off x="950521" y="1956135"/>
            <a:ext cx="99157" cy="99157"/>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0" name="!!p32_04"/>
          <p:cNvSpPr/>
          <p:nvPr/>
        </p:nvSpPr>
        <p:spPr>
          <a:xfrm>
            <a:off x="1109267" y="1956135"/>
            <a:ext cx="99157" cy="99157"/>
          </a:xfrm>
          <a:prstGeom prst="roundRect">
            <a:avLst>
              <a:gd name="adj" fmla="val 30000"/>
            </a:avLst>
          </a:prstGeom>
          <a:solidFill>
            <a:srgbClr val="156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1" name="!!p32_05"/>
          <p:cNvSpPr/>
          <p:nvPr/>
        </p:nvSpPr>
        <p:spPr>
          <a:xfrm>
            <a:off x="1268013" y="1956135"/>
            <a:ext cx="99157" cy="99157"/>
          </a:xfrm>
          <a:prstGeom prst="roundRect">
            <a:avLst>
              <a:gd name="adj" fmla="val 30000"/>
            </a:avLst>
          </a:prstGeom>
          <a:solidFill>
            <a:srgbClr val="176D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2" name="!!p32_06"/>
          <p:cNvSpPr/>
          <p:nvPr/>
        </p:nvSpPr>
        <p:spPr>
          <a:xfrm>
            <a:off x="1426759" y="1956135"/>
            <a:ext cx="99157" cy="99157"/>
          </a:xfrm>
          <a:prstGeom prst="roundRect">
            <a:avLst>
              <a:gd name="adj" fmla="val 30000"/>
            </a:avLst>
          </a:prstGeom>
          <a:solidFill>
            <a:srgbClr val="0D3C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3" name="!!p32_07"/>
          <p:cNvSpPr/>
          <p:nvPr/>
        </p:nvSpPr>
        <p:spPr>
          <a:xfrm>
            <a:off x="1585505" y="1956135"/>
            <a:ext cx="99157" cy="99157"/>
          </a:xfrm>
          <a:prstGeom prst="roundRect">
            <a:avLst>
              <a:gd name="adj" fmla="val 30000"/>
            </a:avLst>
          </a:prstGeom>
          <a:solidFill>
            <a:srgbClr val="0B32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4" name="!!p32_08"/>
          <p:cNvSpPr/>
          <p:nvPr/>
        </p:nvSpPr>
        <p:spPr>
          <a:xfrm>
            <a:off x="1744251" y="1956135"/>
            <a:ext cx="99157" cy="99157"/>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5" name="!!p32_09"/>
          <p:cNvSpPr/>
          <p:nvPr/>
        </p:nvSpPr>
        <p:spPr>
          <a:xfrm>
            <a:off x="1902997" y="1956135"/>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6" name="!!p32_10"/>
          <p:cNvSpPr/>
          <p:nvPr/>
        </p:nvSpPr>
        <p:spPr>
          <a:xfrm>
            <a:off x="2061743" y="1956135"/>
            <a:ext cx="99157" cy="99157"/>
          </a:xfrm>
          <a:prstGeom prst="roundRect">
            <a:avLst>
              <a:gd name="adj" fmla="val 30000"/>
            </a:avLst>
          </a:prstGeom>
          <a:solidFill>
            <a:srgbClr val="0A2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7" name="!!p32_11"/>
          <p:cNvSpPr/>
          <p:nvPr/>
        </p:nvSpPr>
        <p:spPr>
          <a:xfrm>
            <a:off x="2220489" y="1956135"/>
            <a:ext cx="99157" cy="99157"/>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8" name="!!p32_12"/>
          <p:cNvSpPr/>
          <p:nvPr/>
        </p:nvSpPr>
        <p:spPr>
          <a:xfrm>
            <a:off x="2379235" y="1956135"/>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9" name="!!p33_03"/>
          <p:cNvSpPr/>
          <p:nvPr/>
        </p:nvSpPr>
        <p:spPr>
          <a:xfrm>
            <a:off x="950521" y="1840835"/>
            <a:ext cx="99157" cy="99157"/>
          </a:xfrm>
          <a:prstGeom prst="roundRect">
            <a:avLst>
              <a:gd name="adj" fmla="val 30000"/>
            </a:avLst>
          </a:prstGeom>
          <a:solidFill>
            <a:srgbClr val="0D38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0" name="!!p33_04"/>
          <p:cNvSpPr/>
          <p:nvPr/>
        </p:nvSpPr>
        <p:spPr>
          <a:xfrm>
            <a:off x="1109267" y="1840835"/>
            <a:ext cx="99157" cy="99157"/>
          </a:xfrm>
          <a:prstGeom prst="roundRect">
            <a:avLst>
              <a:gd name="adj" fmla="val 30000"/>
            </a:avLst>
          </a:prstGeom>
          <a:solidFill>
            <a:srgbClr val="1B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1" name="!!p33_05"/>
          <p:cNvSpPr/>
          <p:nvPr/>
        </p:nvSpPr>
        <p:spPr>
          <a:xfrm>
            <a:off x="1268013" y="1840835"/>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2" name="!!p33_06"/>
          <p:cNvSpPr/>
          <p:nvPr/>
        </p:nvSpPr>
        <p:spPr>
          <a:xfrm>
            <a:off x="1426759" y="1840835"/>
            <a:ext cx="99157" cy="99157"/>
          </a:xfrm>
          <a:prstGeom prst="roundRect">
            <a:avLst>
              <a:gd name="adj" fmla="val 30000"/>
            </a:avLst>
          </a:prstGeom>
          <a:solidFill>
            <a:srgbClr val="0F44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3" name="!!p33_07"/>
          <p:cNvSpPr/>
          <p:nvPr/>
        </p:nvSpPr>
        <p:spPr>
          <a:xfrm>
            <a:off x="1585505" y="1840835"/>
            <a:ext cx="99157" cy="99157"/>
          </a:xfrm>
          <a:prstGeom prst="roundRect">
            <a:avLst>
              <a:gd name="adj" fmla="val 30000"/>
            </a:avLst>
          </a:prstGeom>
          <a:solidFill>
            <a:srgbClr val="0A31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4" name="!!p33_08"/>
          <p:cNvSpPr/>
          <p:nvPr/>
        </p:nvSpPr>
        <p:spPr>
          <a:xfrm>
            <a:off x="1744251" y="1840835"/>
            <a:ext cx="99157" cy="99157"/>
          </a:xfrm>
          <a:prstGeom prst="roundRect">
            <a:avLst>
              <a:gd name="adj" fmla="val 30000"/>
            </a:avLst>
          </a:prstGeom>
          <a:solidFill>
            <a:srgbClr val="0A2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5" name="!!p33_09"/>
          <p:cNvSpPr/>
          <p:nvPr/>
        </p:nvSpPr>
        <p:spPr>
          <a:xfrm>
            <a:off x="1902997" y="1840835"/>
            <a:ext cx="99157" cy="99157"/>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6" name="!!p33_10"/>
          <p:cNvSpPr/>
          <p:nvPr/>
        </p:nvSpPr>
        <p:spPr>
          <a:xfrm>
            <a:off x="2061743" y="1840835"/>
            <a:ext cx="99157" cy="99157"/>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7" name="!!p33_11"/>
          <p:cNvSpPr/>
          <p:nvPr/>
        </p:nvSpPr>
        <p:spPr>
          <a:xfrm>
            <a:off x="2220489" y="1840835"/>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8" name="!!p33_12"/>
          <p:cNvSpPr/>
          <p:nvPr/>
        </p:nvSpPr>
        <p:spPr>
          <a:xfrm>
            <a:off x="2379235" y="1840835"/>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9" name="!!p34_03"/>
          <p:cNvSpPr/>
          <p:nvPr/>
        </p:nvSpPr>
        <p:spPr>
          <a:xfrm>
            <a:off x="950521" y="1725535"/>
            <a:ext cx="99157" cy="99157"/>
          </a:xfrm>
          <a:prstGeom prst="roundRect">
            <a:avLst>
              <a:gd name="adj" fmla="val 30000"/>
            </a:avLst>
          </a:prstGeom>
          <a:solidFill>
            <a:srgbClr val="0D3A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0" name="!!p34_04"/>
          <p:cNvSpPr/>
          <p:nvPr/>
        </p:nvSpPr>
        <p:spPr>
          <a:xfrm>
            <a:off x="1109267" y="1725535"/>
            <a:ext cx="99157" cy="99157"/>
          </a:xfrm>
          <a:prstGeom prst="roundRect">
            <a:avLst>
              <a:gd name="adj" fmla="val 30000"/>
            </a:avLst>
          </a:prstGeom>
          <a:solidFill>
            <a:srgbClr val="2090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1" name="!!p34_05"/>
          <p:cNvSpPr/>
          <p:nvPr/>
        </p:nvSpPr>
        <p:spPr>
          <a:xfrm>
            <a:off x="1268013" y="1725535"/>
            <a:ext cx="99157" cy="99157"/>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2" name="!!p34_06"/>
          <p:cNvSpPr/>
          <p:nvPr/>
        </p:nvSpPr>
        <p:spPr>
          <a:xfrm>
            <a:off x="1426759" y="1725535"/>
            <a:ext cx="99157" cy="99157"/>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3" name="!!p34_07"/>
          <p:cNvSpPr/>
          <p:nvPr/>
        </p:nvSpPr>
        <p:spPr>
          <a:xfrm>
            <a:off x="1585505" y="1725535"/>
            <a:ext cx="99157" cy="99157"/>
          </a:xfrm>
          <a:prstGeom prst="roundRect">
            <a:avLst>
              <a:gd name="adj" fmla="val 30000"/>
            </a:avLst>
          </a:prstGeom>
          <a:solidFill>
            <a:srgbClr val="0A2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4" name="!!p34_08"/>
          <p:cNvSpPr/>
          <p:nvPr/>
        </p:nvSpPr>
        <p:spPr>
          <a:xfrm>
            <a:off x="1744251" y="1725535"/>
            <a:ext cx="99157" cy="99157"/>
          </a:xfrm>
          <a:prstGeom prst="roundRect">
            <a:avLst>
              <a:gd name="adj" fmla="val 30000"/>
            </a:avLst>
          </a:prstGeom>
          <a:solidFill>
            <a:srgbClr val="0A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5" name="!!p34_09"/>
          <p:cNvSpPr/>
          <p:nvPr/>
        </p:nvSpPr>
        <p:spPr>
          <a:xfrm>
            <a:off x="1902997" y="1725535"/>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6" name="!!p34_10"/>
          <p:cNvSpPr/>
          <p:nvPr/>
        </p:nvSpPr>
        <p:spPr>
          <a:xfrm>
            <a:off x="2061743" y="1725535"/>
            <a:ext cx="99157" cy="99157"/>
          </a:xfrm>
          <a:prstGeom prst="roundRect">
            <a:avLst>
              <a:gd name="adj" fmla="val 30000"/>
            </a:avLst>
          </a:prstGeom>
          <a:solidFill>
            <a:srgbClr val="092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7" name="!!p34_11"/>
          <p:cNvSpPr/>
          <p:nvPr/>
        </p:nvSpPr>
        <p:spPr>
          <a:xfrm>
            <a:off x="2220489" y="1725535"/>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8" name="!!p35_04"/>
          <p:cNvSpPr/>
          <p:nvPr/>
        </p:nvSpPr>
        <p:spPr>
          <a:xfrm>
            <a:off x="1109267" y="1610236"/>
            <a:ext cx="99157" cy="99157"/>
          </a:xfrm>
          <a:prstGeom prst="roundRect">
            <a:avLst>
              <a:gd name="adj" fmla="val 30000"/>
            </a:avLst>
          </a:prstGeom>
          <a:solidFill>
            <a:srgbClr val="1B83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9" name="!!p35_05"/>
          <p:cNvSpPr/>
          <p:nvPr/>
        </p:nvSpPr>
        <p:spPr>
          <a:xfrm>
            <a:off x="1268013" y="1610236"/>
            <a:ext cx="99157" cy="99157"/>
          </a:xfrm>
          <a:prstGeom prst="roundRect">
            <a:avLst>
              <a:gd name="adj" fmla="val 30000"/>
            </a:avLst>
          </a:prstGeom>
          <a:solidFill>
            <a:srgbClr val="1D8B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0" name="!!p35_06"/>
          <p:cNvSpPr/>
          <p:nvPr/>
        </p:nvSpPr>
        <p:spPr>
          <a:xfrm>
            <a:off x="1426759" y="1610236"/>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1" name="!!p35_07"/>
          <p:cNvSpPr/>
          <p:nvPr/>
        </p:nvSpPr>
        <p:spPr>
          <a:xfrm>
            <a:off x="1585505" y="1610236"/>
            <a:ext cx="99157" cy="99157"/>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2" name="!!p35_08"/>
          <p:cNvSpPr/>
          <p:nvPr/>
        </p:nvSpPr>
        <p:spPr>
          <a:xfrm>
            <a:off x="1744251" y="1610236"/>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3" name="!!p35_09"/>
          <p:cNvSpPr/>
          <p:nvPr/>
        </p:nvSpPr>
        <p:spPr>
          <a:xfrm>
            <a:off x="1902997" y="1610236"/>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4" name="!!p35_10"/>
          <p:cNvSpPr/>
          <p:nvPr/>
        </p:nvSpPr>
        <p:spPr>
          <a:xfrm>
            <a:off x="2061743" y="1610236"/>
            <a:ext cx="99157" cy="99157"/>
          </a:xfrm>
          <a:prstGeom prst="roundRect">
            <a:avLst>
              <a:gd name="adj" fmla="val 30000"/>
            </a:avLst>
          </a:prstGeom>
          <a:solidFill>
            <a:srgbClr val="092C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5" name="!!p35_11"/>
          <p:cNvSpPr/>
          <p:nvPr/>
        </p:nvSpPr>
        <p:spPr>
          <a:xfrm>
            <a:off x="2220489" y="1610236"/>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6" name="!!p36_04"/>
          <p:cNvSpPr/>
          <p:nvPr/>
        </p:nvSpPr>
        <p:spPr>
          <a:xfrm>
            <a:off x="1109267" y="1494936"/>
            <a:ext cx="99157" cy="99157"/>
          </a:xfrm>
          <a:prstGeom prst="roundRect">
            <a:avLst>
              <a:gd name="adj" fmla="val 30000"/>
            </a:avLst>
          </a:prstGeom>
          <a:solidFill>
            <a:srgbClr val="145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7" name="!!p36_05"/>
          <p:cNvSpPr/>
          <p:nvPr/>
        </p:nvSpPr>
        <p:spPr>
          <a:xfrm>
            <a:off x="1268013" y="1494936"/>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8" name="!!p36_06"/>
          <p:cNvSpPr/>
          <p:nvPr/>
        </p:nvSpPr>
        <p:spPr>
          <a:xfrm>
            <a:off x="1426759" y="1494936"/>
            <a:ext cx="99157" cy="99157"/>
          </a:xfrm>
          <a:prstGeom prst="roundRect">
            <a:avLst>
              <a:gd name="adj" fmla="val 30000"/>
            </a:avLst>
          </a:prstGeom>
          <a:solidFill>
            <a:srgbClr val="0C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9" name="!!p36_07"/>
          <p:cNvSpPr/>
          <p:nvPr/>
        </p:nvSpPr>
        <p:spPr>
          <a:xfrm>
            <a:off x="1585505" y="1494936"/>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0" name="!!p36_08"/>
          <p:cNvSpPr/>
          <p:nvPr/>
        </p:nvSpPr>
        <p:spPr>
          <a:xfrm>
            <a:off x="1744251" y="1494936"/>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1" name="!!p36_09"/>
          <p:cNvSpPr/>
          <p:nvPr/>
        </p:nvSpPr>
        <p:spPr>
          <a:xfrm>
            <a:off x="1902997" y="1494936"/>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2" name="!!p36_10"/>
          <p:cNvSpPr/>
          <p:nvPr/>
        </p:nvSpPr>
        <p:spPr>
          <a:xfrm>
            <a:off x="2061743" y="1494936"/>
            <a:ext cx="99157" cy="99157"/>
          </a:xfrm>
          <a:prstGeom prst="roundRect">
            <a:avLst>
              <a:gd name="adj" fmla="val 30000"/>
            </a:avLst>
          </a:prstGeom>
          <a:solidFill>
            <a:srgbClr val="09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3" name="!!p37_04"/>
          <p:cNvSpPr/>
          <p:nvPr/>
        </p:nvSpPr>
        <p:spPr>
          <a:xfrm>
            <a:off x="1109267" y="1379636"/>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4" name="!!p37_05"/>
          <p:cNvSpPr/>
          <p:nvPr/>
        </p:nvSpPr>
        <p:spPr>
          <a:xfrm>
            <a:off x="1268013" y="1379636"/>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5" name="!!p37_06"/>
          <p:cNvSpPr/>
          <p:nvPr/>
        </p:nvSpPr>
        <p:spPr>
          <a:xfrm>
            <a:off x="1426759" y="1379636"/>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6" name="!!p37_07"/>
          <p:cNvSpPr/>
          <p:nvPr/>
        </p:nvSpPr>
        <p:spPr>
          <a:xfrm>
            <a:off x="1585505" y="1379636"/>
            <a:ext cx="99157" cy="99157"/>
          </a:xfrm>
          <a:prstGeom prst="roundRect">
            <a:avLst>
              <a:gd name="adj" fmla="val 30000"/>
            </a:avLst>
          </a:prstGeom>
          <a:solidFill>
            <a:srgbClr val="09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7" name="!!p37_08"/>
          <p:cNvSpPr/>
          <p:nvPr/>
        </p:nvSpPr>
        <p:spPr>
          <a:xfrm>
            <a:off x="1744251" y="1379636"/>
            <a:ext cx="99157" cy="99157"/>
          </a:xfrm>
          <a:prstGeom prst="roundRect">
            <a:avLst>
              <a:gd name="adj" fmla="val 30000"/>
            </a:avLst>
          </a:prstGeom>
          <a:solidFill>
            <a:srgbClr val="09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8" name="!!p37_09"/>
          <p:cNvSpPr/>
          <p:nvPr/>
        </p:nvSpPr>
        <p:spPr>
          <a:xfrm>
            <a:off x="1902997" y="1379636"/>
            <a:ext cx="99157" cy="99157"/>
          </a:xfrm>
          <a:prstGeom prst="roundRect">
            <a:avLst>
              <a:gd name="adj" fmla="val 30000"/>
            </a:avLst>
          </a:prstGeom>
          <a:solidFill>
            <a:srgbClr val="08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9" name="Rectangle 328"/>
          <p:cNvSpPr/>
          <p:nvPr/>
        </p:nvSpPr>
        <p:spPr>
          <a:xfrm>
            <a:off x="920726" y="5905352"/>
            <a:ext cx="38099" cy="101597"/>
          </a:xfrm>
          <a:prstGeom prst="rect">
            <a:avLst/>
          </a:prstGeom>
          <a:solidFill>
            <a:srgbClr val="051D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0" name="Rectangle 329"/>
          <p:cNvSpPr/>
          <p:nvPr/>
        </p:nvSpPr>
        <p:spPr>
          <a:xfrm>
            <a:off x="952476" y="5905352"/>
            <a:ext cx="38099" cy="101597"/>
          </a:xfrm>
          <a:prstGeom prst="rect">
            <a:avLst/>
          </a:prstGeom>
          <a:solidFill>
            <a:srgbClr val="062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1" name="Rectangle 330"/>
          <p:cNvSpPr/>
          <p:nvPr/>
        </p:nvSpPr>
        <p:spPr>
          <a:xfrm>
            <a:off x="984225" y="5905352"/>
            <a:ext cx="38099" cy="101597"/>
          </a:xfrm>
          <a:prstGeom prst="rect">
            <a:avLst/>
          </a:prstGeom>
          <a:solidFill>
            <a:srgbClr val="07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2" name="Rectangle 331"/>
          <p:cNvSpPr/>
          <p:nvPr/>
        </p:nvSpPr>
        <p:spPr>
          <a:xfrm>
            <a:off x="1015974" y="5905352"/>
            <a:ext cx="38099" cy="101597"/>
          </a:xfrm>
          <a:prstGeom prst="rect">
            <a:avLst/>
          </a:prstGeom>
          <a:solidFill>
            <a:srgbClr val="0826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3" name="Rectangle 332"/>
          <p:cNvSpPr/>
          <p:nvPr/>
        </p:nvSpPr>
        <p:spPr>
          <a:xfrm>
            <a:off x="1047723" y="5905352"/>
            <a:ext cx="38099" cy="101597"/>
          </a:xfrm>
          <a:prstGeom prst="rect">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4" name="Rectangle 333"/>
          <p:cNvSpPr/>
          <p:nvPr/>
        </p:nvSpPr>
        <p:spPr>
          <a:xfrm>
            <a:off x="1079473" y="5905352"/>
            <a:ext cx="38099" cy="101597"/>
          </a:xfrm>
          <a:prstGeom prst="rect">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5" name="Rectangle 334"/>
          <p:cNvSpPr/>
          <p:nvPr/>
        </p:nvSpPr>
        <p:spPr>
          <a:xfrm>
            <a:off x="1111222" y="5905352"/>
            <a:ext cx="38099" cy="101597"/>
          </a:xfrm>
          <a:prstGeom prst="rect">
            <a:avLst/>
          </a:prstGeom>
          <a:solidFill>
            <a:srgbClr val="0A2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6" name="Rectangle 335"/>
          <p:cNvSpPr/>
          <p:nvPr/>
        </p:nvSpPr>
        <p:spPr>
          <a:xfrm>
            <a:off x="1142971" y="5905352"/>
            <a:ext cx="38099" cy="101597"/>
          </a:xfrm>
          <a:prstGeom prst="rect">
            <a:avLst/>
          </a:prstGeom>
          <a:solidFill>
            <a:srgbClr val="0B33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7" name="Rectangle 336"/>
          <p:cNvSpPr/>
          <p:nvPr/>
        </p:nvSpPr>
        <p:spPr>
          <a:xfrm>
            <a:off x="1174720" y="5905352"/>
            <a:ext cx="38099" cy="101597"/>
          </a:xfrm>
          <a:prstGeom prst="rect">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8" name="Rectangle 337"/>
          <p:cNvSpPr/>
          <p:nvPr/>
        </p:nvSpPr>
        <p:spPr>
          <a:xfrm>
            <a:off x="1206469" y="5905352"/>
            <a:ext cx="38099" cy="101597"/>
          </a:xfrm>
          <a:prstGeom prst="rect">
            <a:avLst/>
          </a:prstGeom>
          <a:solidFill>
            <a:srgbClr val="0D3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9" name="Rectangle 338"/>
          <p:cNvSpPr/>
          <p:nvPr/>
        </p:nvSpPr>
        <p:spPr>
          <a:xfrm>
            <a:off x="1238219" y="5905352"/>
            <a:ext cx="38099" cy="101597"/>
          </a:xfrm>
          <a:prstGeom prst="rect">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0" name="Rectangle 339"/>
          <p:cNvSpPr/>
          <p:nvPr/>
        </p:nvSpPr>
        <p:spPr>
          <a:xfrm>
            <a:off x="1269968" y="5905352"/>
            <a:ext cx="38099" cy="101597"/>
          </a:xfrm>
          <a:prstGeom prst="rect">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1" name="Rectangle 340"/>
          <p:cNvSpPr/>
          <p:nvPr/>
        </p:nvSpPr>
        <p:spPr>
          <a:xfrm>
            <a:off x="1301717" y="5905352"/>
            <a:ext cx="38099" cy="101597"/>
          </a:xfrm>
          <a:prstGeom prst="rect">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2" name="Rectangle 341"/>
          <p:cNvSpPr/>
          <p:nvPr/>
        </p:nvSpPr>
        <p:spPr>
          <a:xfrm>
            <a:off x="1333466" y="5905352"/>
            <a:ext cx="38099" cy="101597"/>
          </a:xfrm>
          <a:prstGeom prst="rect">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3" name="Rectangle 342"/>
          <p:cNvSpPr/>
          <p:nvPr/>
        </p:nvSpPr>
        <p:spPr>
          <a:xfrm>
            <a:off x="1365215" y="5905352"/>
            <a:ext cx="38099" cy="101597"/>
          </a:xfrm>
          <a:prstGeom prst="rect">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4" name="Rectangle 343"/>
          <p:cNvSpPr/>
          <p:nvPr/>
        </p:nvSpPr>
        <p:spPr>
          <a:xfrm>
            <a:off x="1396965" y="5905352"/>
            <a:ext cx="38099" cy="101597"/>
          </a:xfrm>
          <a:prstGeom prst="rect">
            <a:avLst/>
          </a:prstGeom>
          <a:solidFill>
            <a:srgbClr val="166B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5" name="Rectangle 344"/>
          <p:cNvSpPr/>
          <p:nvPr/>
        </p:nvSpPr>
        <p:spPr>
          <a:xfrm>
            <a:off x="1428714" y="5905352"/>
            <a:ext cx="38099" cy="101597"/>
          </a:xfrm>
          <a:prstGeom prst="rect">
            <a:avLst/>
          </a:prstGeom>
          <a:solidFill>
            <a:srgbClr val="1874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6" name="Rectangle 345"/>
          <p:cNvSpPr/>
          <p:nvPr/>
        </p:nvSpPr>
        <p:spPr>
          <a:xfrm>
            <a:off x="1460463" y="5905352"/>
            <a:ext cx="38099" cy="101597"/>
          </a:xfrm>
          <a:prstGeom prst="rect">
            <a:avLst/>
          </a:prstGeom>
          <a:solidFill>
            <a:srgbClr val="1A7C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7" name="Rectangle 346"/>
          <p:cNvSpPr/>
          <p:nvPr/>
        </p:nvSpPr>
        <p:spPr>
          <a:xfrm>
            <a:off x="1492212" y="5905352"/>
            <a:ext cx="38099" cy="101597"/>
          </a:xfrm>
          <a:prstGeom prst="rect">
            <a:avLst/>
          </a:prstGeom>
          <a:solidFill>
            <a:srgbClr val="1C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8" name="Rectangle 347"/>
          <p:cNvSpPr/>
          <p:nvPr/>
        </p:nvSpPr>
        <p:spPr>
          <a:xfrm>
            <a:off x="1523961" y="5905352"/>
            <a:ext cx="38099" cy="101597"/>
          </a:xfrm>
          <a:prstGeom prst="rect">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9" name="Rectangle 348"/>
          <p:cNvSpPr/>
          <p:nvPr/>
        </p:nvSpPr>
        <p:spPr>
          <a:xfrm>
            <a:off x="1555711" y="5905352"/>
            <a:ext cx="38099" cy="101597"/>
          </a:xfrm>
          <a:prstGeom prst="rect">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0" name="Rectangle 349"/>
          <p:cNvSpPr/>
          <p:nvPr/>
        </p:nvSpPr>
        <p:spPr>
          <a:xfrm>
            <a:off x="1587460" y="5905352"/>
            <a:ext cx="38099" cy="101597"/>
          </a:xfrm>
          <a:prstGeom prst="rect">
            <a:avLst/>
          </a:prstGeom>
          <a:solidFill>
            <a:srgbClr val="2998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1" name="Rectangle 350"/>
          <p:cNvSpPr/>
          <p:nvPr/>
        </p:nvSpPr>
        <p:spPr>
          <a:xfrm>
            <a:off x="1619209" y="5905352"/>
            <a:ext cx="38099" cy="101597"/>
          </a:xfrm>
          <a:prstGeom prst="rect">
            <a:avLst/>
          </a:prstGeom>
          <a:solidFill>
            <a:srgbClr val="2F9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2" name="Rectangle 351"/>
          <p:cNvSpPr/>
          <p:nvPr/>
        </p:nvSpPr>
        <p:spPr>
          <a:xfrm>
            <a:off x="1650958" y="5905352"/>
            <a:ext cx="38099" cy="101597"/>
          </a:xfrm>
          <a:prstGeom prst="rect">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3" name="Rectangle 352"/>
          <p:cNvSpPr/>
          <p:nvPr/>
        </p:nvSpPr>
        <p:spPr>
          <a:xfrm>
            <a:off x="1682707" y="5905352"/>
            <a:ext cx="38099" cy="101597"/>
          </a:xfrm>
          <a:prstGeom prst="rect">
            <a:avLst/>
          </a:prstGeom>
          <a:solidFill>
            <a:srgbClr val="3AA7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4" name="Rectangle 353"/>
          <p:cNvSpPr/>
          <p:nvPr/>
        </p:nvSpPr>
        <p:spPr>
          <a:xfrm>
            <a:off x="1714457" y="5905352"/>
            <a:ext cx="38099" cy="101597"/>
          </a:xfrm>
          <a:prstGeom prst="rect">
            <a:avLst/>
          </a:prstGeom>
          <a:solidFill>
            <a:srgbClr val="3FA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5" name="Rectangle 354"/>
          <p:cNvSpPr/>
          <p:nvPr/>
        </p:nvSpPr>
        <p:spPr>
          <a:xfrm>
            <a:off x="1746206" y="5905352"/>
            <a:ext cx="38099" cy="101597"/>
          </a:xfrm>
          <a:prstGeom prst="rect">
            <a:avLst/>
          </a:prstGeom>
          <a:solidFill>
            <a:srgbClr val="45B1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6" name="Rectangle 355"/>
          <p:cNvSpPr/>
          <p:nvPr/>
        </p:nvSpPr>
        <p:spPr>
          <a:xfrm>
            <a:off x="1777955" y="5905352"/>
            <a:ext cx="38099" cy="101597"/>
          </a:xfrm>
          <a:prstGeom prst="rect">
            <a:avLst/>
          </a:prstGeom>
          <a:solidFill>
            <a:srgbClr val="4BB6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7" name="Rectangle 356"/>
          <p:cNvSpPr/>
          <p:nvPr/>
        </p:nvSpPr>
        <p:spPr>
          <a:xfrm>
            <a:off x="1809704" y="5905352"/>
            <a:ext cx="38099" cy="101597"/>
          </a:xfrm>
          <a:prstGeom prst="rect">
            <a:avLst/>
          </a:prstGeom>
          <a:solidFill>
            <a:srgbClr val="50B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8" name="Rectangle 357"/>
          <p:cNvSpPr/>
          <p:nvPr/>
        </p:nvSpPr>
        <p:spPr>
          <a:xfrm>
            <a:off x="1841453" y="5905352"/>
            <a:ext cx="38099" cy="101597"/>
          </a:xfrm>
          <a:prstGeom prst="rect">
            <a:avLst/>
          </a:prstGeom>
          <a:solidFill>
            <a:srgbClr val="60BF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9" name="Rectangle 358"/>
          <p:cNvSpPr/>
          <p:nvPr/>
        </p:nvSpPr>
        <p:spPr>
          <a:xfrm>
            <a:off x="1873203" y="5905352"/>
            <a:ext cx="38099" cy="101597"/>
          </a:xfrm>
          <a:prstGeom prst="rect">
            <a:avLst/>
          </a:prstGeom>
          <a:solidFill>
            <a:srgbClr val="75C1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0" name="Rectangle 359"/>
          <p:cNvSpPr/>
          <p:nvPr/>
        </p:nvSpPr>
        <p:spPr>
          <a:xfrm>
            <a:off x="1904952" y="5905352"/>
            <a:ext cx="38099" cy="101597"/>
          </a:xfrm>
          <a:prstGeom prst="rect">
            <a:avLst/>
          </a:prstGeom>
          <a:solidFill>
            <a:srgbClr val="8AC4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1" name="Rectangle 360"/>
          <p:cNvSpPr/>
          <p:nvPr/>
        </p:nvSpPr>
        <p:spPr>
          <a:xfrm>
            <a:off x="1936701" y="5905352"/>
            <a:ext cx="38099" cy="101597"/>
          </a:xfrm>
          <a:prstGeom prst="rect">
            <a:avLst/>
          </a:prstGeom>
          <a:solidFill>
            <a:srgbClr val="9FC6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2" name="Rectangle 361"/>
          <p:cNvSpPr/>
          <p:nvPr/>
        </p:nvSpPr>
        <p:spPr>
          <a:xfrm>
            <a:off x="1968450" y="5905352"/>
            <a:ext cx="38099" cy="101597"/>
          </a:xfrm>
          <a:prstGeom prst="rect">
            <a:avLst/>
          </a:prstGeom>
          <a:solidFill>
            <a:srgbClr val="B4C9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3" name="Rectangle 362"/>
          <p:cNvSpPr/>
          <p:nvPr/>
        </p:nvSpPr>
        <p:spPr>
          <a:xfrm>
            <a:off x="2000199" y="5905352"/>
            <a:ext cx="38099" cy="101597"/>
          </a:xfrm>
          <a:prstGeom prst="rect">
            <a:avLst/>
          </a:prstGeom>
          <a:solidFill>
            <a:srgbClr val="C9CB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4" name="Rectangle 363"/>
          <p:cNvSpPr/>
          <p:nvPr/>
        </p:nvSpPr>
        <p:spPr>
          <a:xfrm>
            <a:off x="2031949" y="5905352"/>
            <a:ext cx="38099" cy="101597"/>
          </a:xfrm>
          <a:prstGeom prst="rect">
            <a:avLst/>
          </a:prstGeom>
          <a:solidFill>
            <a:srgbClr val="DECE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5" name="Rectangle 364"/>
          <p:cNvSpPr/>
          <p:nvPr/>
        </p:nvSpPr>
        <p:spPr>
          <a:xfrm>
            <a:off x="2063698" y="5905352"/>
            <a:ext cx="38099" cy="101597"/>
          </a:xfrm>
          <a:prstGeom prst="rect">
            <a:avLst/>
          </a:prstGeom>
          <a:solidFill>
            <a:srgbClr val="F3D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6" name="Rectangle 365"/>
          <p:cNvSpPr/>
          <p:nvPr/>
        </p:nvSpPr>
        <p:spPr>
          <a:xfrm>
            <a:off x="2095447" y="5905352"/>
            <a:ext cx="38099" cy="101597"/>
          </a:xfrm>
          <a:prstGeom prst="rect">
            <a:avLst/>
          </a:prstGeom>
          <a:solidFill>
            <a:srgbClr val="FFCF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7" name="Rectangle 366"/>
          <p:cNvSpPr/>
          <p:nvPr/>
        </p:nvSpPr>
        <p:spPr>
          <a:xfrm>
            <a:off x="2127196" y="5905352"/>
            <a:ext cx="38099" cy="101597"/>
          </a:xfrm>
          <a:prstGeom prst="rect">
            <a:avLst/>
          </a:prstGeom>
          <a:solidFill>
            <a:srgbClr val="FFC6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8" name="Rectangle 367"/>
          <p:cNvSpPr/>
          <p:nvPr/>
        </p:nvSpPr>
        <p:spPr>
          <a:xfrm>
            <a:off x="2158946" y="5905352"/>
            <a:ext cx="38099" cy="101597"/>
          </a:xfrm>
          <a:prstGeom prst="rect">
            <a:avLst/>
          </a:prstGeom>
          <a:solidFill>
            <a:srgbClr val="FFBE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9" name="Rectangle 368"/>
          <p:cNvSpPr/>
          <p:nvPr/>
        </p:nvSpPr>
        <p:spPr>
          <a:xfrm>
            <a:off x="2190695" y="5905352"/>
            <a:ext cx="38099" cy="101597"/>
          </a:xfrm>
          <a:prstGeom prst="rect">
            <a:avLst/>
          </a:prstGeom>
          <a:solidFill>
            <a:srgbClr val="FFB6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0" name="Rectangle 369"/>
          <p:cNvSpPr/>
          <p:nvPr/>
        </p:nvSpPr>
        <p:spPr>
          <a:xfrm>
            <a:off x="2222444" y="5905352"/>
            <a:ext cx="38099" cy="101597"/>
          </a:xfrm>
          <a:prstGeom prst="rect">
            <a:avLst/>
          </a:prstGeom>
          <a:solidFill>
            <a:srgbClr val="FFAD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1" name="Rectangle 370"/>
          <p:cNvSpPr/>
          <p:nvPr/>
        </p:nvSpPr>
        <p:spPr>
          <a:xfrm>
            <a:off x="2254193" y="5905352"/>
            <a:ext cx="38099" cy="101597"/>
          </a:xfrm>
          <a:prstGeom prst="rect">
            <a:avLst/>
          </a:prstGeom>
          <a:solidFill>
            <a:srgbClr val="FFA5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2" name="Rectangle 371"/>
          <p:cNvSpPr/>
          <p:nvPr/>
        </p:nvSpPr>
        <p:spPr>
          <a:xfrm>
            <a:off x="2285942" y="5905352"/>
            <a:ext cx="38099" cy="101597"/>
          </a:xfrm>
          <a:prstGeom prst="rect">
            <a:avLst/>
          </a:prstGeom>
          <a:solidFill>
            <a:srgbClr val="FF9D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3" name="Rectangle 372"/>
          <p:cNvSpPr/>
          <p:nvPr/>
        </p:nvSpPr>
        <p:spPr>
          <a:xfrm>
            <a:off x="2317692" y="5905352"/>
            <a:ext cx="38099" cy="101597"/>
          </a:xfrm>
          <a:prstGeom prst="rect">
            <a:avLst/>
          </a:prstGeom>
          <a:solidFill>
            <a:srgbClr val="FF95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4" name="Rectangle 373"/>
          <p:cNvSpPr/>
          <p:nvPr/>
        </p:nvSpPr>
        <p:spPr>
          <a:xfrm>
            <a:off x="2349441" y="5905352"/>
            <a:ext cx="38099" cy="101597"/>
          </a:xfrm>
          <a:prstGeom prst="rect">
            <a:avLst/>
          </a:prstGeom>
          <a:solidFill>
            <a:srgbClr val="FF8C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5" name="Rectangle 374"/>
          <p:cNvSpPr/>
          <p:nvPr/>
        </p:nvSpPr>
        <p:spPr>
          <a:xfrm>
            <a:off x="2381190" y="5905352"/>
            <a:ext cx="38099" cy="101597"/>
          </a:xfrm>
          <a:prstGeom prst="rect">
            <a:avLst/>
          </a:prstGeom>
          <a:solidFill>
            <a:srgbClr val="FF84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6" name="Rectangle 375"/>
          <p:cNvSpPr/>
          <p:nvPr/>
        </p:nvSpPr>
        <p:spPr>
          <a:xfrm>
            <a:off x="2412939" y="5905352"/>
            <a:ext cx="38099" cy="101597"/>
          </a:xfrm>
          <a:prstGeom prst="rect">
            <a:avLst/>
          </a:prstGeom>
          <a:solidFill>
            <a:srgbClr val="FF7C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7" name="Rectangle 376"/>
          <p:cNvSpPr/>
          <p:nvPr/>
        </p:nvSpPr>
        <p:spPr>
          <a:xfrm>
            <a:off x="2444688" y="5905352"/>
            <a:ext cx="38099" cy="101597"/>
          </a:xfrm>
          <a:prstGeom prst="rect">
            <a:avLst/>
          </a:prstGeom>
          <a:solidFill>
            <a:srgbClr val="FD750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8" name="Rectangle 377"/>
          <p:cNvSpPr/>
          <p:nvPr/>
        </p:nvSpPr>
        <p:spPr>
          <a:xfrm>
            <a:off x="2476438" y="5905352"/>
            <a:ext cx="38099" cy="101597"/>
          </a:xfrm>
          <a:prstGeom prst="rect">
            <a:avLst/>
          </a:prstGeom>
          <a:solidFill>
            <a:srgbClr val="FB6F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9" name="Rectangle 378"/>
          <p:cNvSpPr/>
          <p:nvPr/>
        </p:nvSpPr>
        <p:spPr>
          <a:xfrm>
            <a:off x="2508187" y="5905352"/>
            <a:ext cx="38099" cy="101597"/>
          </a:xfrm>
          <a:prstGeom prst="rect">
            <a:avLst/>
          </a:prstGeom>
          <a:solidFill>
            <a:srgbClr val="FA69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0" name="Rectangle 379"/>
          <p:cNvSpPr/>
          <p:nvPr/>
        </p:nvSpPr>
        <p:spPr>
          <a:xfrm>
            <a:off x="2539936" y="5905352"/>
            <a:ext cx="38099" cy="101597"/>
          </a:xfrm>
          <a:prstGeom prst="rect">
            <a:avLst/>
          </a:prstGeom>
          <a:solidFill>
            <a:srgbClr val="F863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1" name="Rectangle 380"/>
          <p:cNvSpPr/>
          <p:nvPr/>
        </p:nvSpPr>
        <p:spPr>
          <a:xfrm>
            <a:off x="2571685" y="5905352"/>
            <a:ext cx="38099" cy="101597"/>
          </a:xfrm>
          <a:prstGeom prst="rect">
            <a:avLst/>
          </a:prstGeom>
          <a:solidFill>
            <a:srgbClr val="F65D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2" name="Rectangle 381"/>
          <p:cNvSpPr/>
          <p:nvPr/>
        </p:nvSpPr>
        <p:spPr>
          <a:xfrm>
            <a:off x="2603434" y="5905352"/>
            <a:ext cx="38099" cy="101597"/>
          </a:xfrm>
          <a:prstGeom prst="rect">
            <a:avLst/>
          </a:prstGeom>
          <a:solidFill>
            <a:srgbClr val="F457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3" name="Rectangle 382"/>
          <p:cNvSpPr/>
          <p:nvPr/>
        </p:nvSpPr>
        <p:spPr>
          <a:xfrm>
            <a:off x="2635184" y="5905352"/>
            <a:ext cx="38099" cy="101597"/>
          </a:xfrm>
          <a:prstGeom prst="rect">
            <a:avLst/>
          </a:prstGeom>
          <a:solidFill>
            <a:srgbClr val="F25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4" name="Rectangle 383"/>
          <p:cNvSpPr/>
          <p:nvPr/>
        </p:nvSpPr>
        <p:spPr>
          <a:xfrm>
            <a:off x="2666933" y="5905352"/>
            <a:ext cx="38099" cy="101597"/>
          </a:xfrm>
          <a:prstGeom prst="rect">
            <a:avLst/>
          </a:prstGeom>
          <a:solidFill>
            <a:srgbClr val="F04B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5" name="Rectangle 384"/>
          <p:cNvSpPr/>
          <p:nvPr/>
        </p:nvSpPr>
        <p:spPr>
          <a:xfrm>
            <a:off x="2698682" y="5905352"/>
            <a:ext cx="38099" cy="101597"/>
          </a:xfrm>
          <a:prstGeom prst="rect">
            <a:avLst/>
          </a:prstGeom>
          <a:solidFill>
            <a:srgbClr val="EE45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6" name="Rectangle 385"/>
          <p:cNvSpPr/>
          <p:nvPr/>
        </p:nvSpPr>
        <p:spPr>
          <a:xfrm>
            <a:off x="2730431" y="5905352"/>
            <a:ext cx="38099" cy="101597"/>
          </a:xfrm>
          <a:prstGeom prst="rect">
            <a:avLst/>
          </a:prstGeom>
          <a:solidFill>
            <a:srgbClr val="EC3F1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7" name="Rectangle 386"/>
          <p:cNvSpPr/>
          <p:nvPr/>
        </p:nvSpPr>
        <p:spPr>
          <a:xfrm>
            <a:off x="2762180" y="5905352"/>
            <a:ext cx="38099" cy="101597"/>
          </a:xfrm>
          <a:prstGeom prst="rect">
            <a:avLst/>
          </a:prstGeom>
          <a:solidFill>
            <a:srgbClr val="EA39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8" name="Rectangle 387"/>
          <p:cNvSpPr/>
          <p:nvPr/>
        </p:nvSpPr>
        <p:spPr>
          <a:xfrm>
            <a:off x="2793930" y="5905352"/>
            <a:ext cx="38099" cy="101597"/>
          </a:xfrm>
          <a:prstGeom prst="rect">
            <a:avLst/>
          </a:prstGeom>
          <a:solidFill>
            <a:srgbClr val="E833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9" name="TextBox 388"/>
          <p:cNvSpPr txBox="1"/>
          <p:nvPr/>
        </p:nvSpPr>
        <p:spPr>
          <a:xfrm>
            <a:off x="539736"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0</a:t>
            </a:r>
          </a:p>
        </p:txBody>
      </p:sp>
      <p:sp>
        <p:nvSpPr>
          <p:cNvPr id="390" name="TextBox 389"/>
          <p:cNvSpPr txBox="1"/>
          <p:nvPr/>
        </p:nvSpPr>
        <p:spPr>
          <a:xfrm>
            <a:off x="1492212"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200</a:t>
            </a:r>
          </a:p>
        </p:txBody>
      </p:sp>
      <p:sp>
        <p:nvSpPr>
          <p:cNvPr id="391" name="TextBox 390"/>
          <p:cNvSpPr txBox="1"/>
          <p:nvPr/>
        </p:nvSpPr>
        <p:spPr>
          <a:xfrm>
            <a:off x="2444688"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400</a:t>
            </a:r>
          </a:p>
        </p:txBody>
      </p:sp>
      <p:sp>
        <p:nvSpPr>
          <p:cNvPr id="392" name="TextBox 391"/>
          <p:cNvSpPr txBox="1"/>
          <p:nvPr/>
        </p:nvSpPr>
        <p:spPr>
          <a:xfrm>
            <a:off x="2978075" y="5892652"/>
            <a:ext cx="1269968" cy="190495"/>
          </a:xfrm>
          <a:prstGeom prst="rect">
            <a:avLst/>
          </a:prstGeom>
          <a:noFill/>
        </p:spPr>
        <p:txBody>
          <a:bodyPr wrap="square" anchor="t" lIns="0" rIns="0" tIns="0" bIns="0">
            <a:spAutoFit/>
          </a:bodyPr>
          <a:lstStyle/>
          <a:p>
            <a:pPr algn="l">
              <a:lnSpc>
                <a:spcPct val="125000"/>
              </a:lnSpc>
            </a:pPr>
            <a:r>
              <a:rPr sz="1100" b="0">
                <a:solidFill>
                  <a:srgbClr val="8FB6D0"/>
                </a:solidFill>
                <a:latin typeface="Consolas"/>
              </a:rPr>
              <a:t>kPa</a:t>
            </a:r>
          </a:p>
        </p:txBody>
      </p:sp>
      <p:sp>
        <p:nvSpPr>
          <p:cNvPr id="393" name="!!piek"/>
          <p:cNvSpPr txBox="1"/>
          <p:nvPr/>
        </p:nvSpPr>
        <p:spPr>
          <a:xfrm>
            <a:off x="3555911" y="1587460"/>
            <a:ext cx="4444888" cy="1904952"/>
          </a:xfrm>
          <a:prstGeom prst="rect">
            <a:avLst/>
          </a:prstGeom>
          <a:noFill/>
        </p:spPr>
        <p:txBody>
          <a:bodyPr wrap="none" anchor="t" lIns="0" rIns="0" tIns="0" bIns="0">
            <a:spAutoFit/>
          </a:bodyPr>
          <a:lstStyle/>
          <a:p>
            <a:pPr algn="l">
              <a:lnSpc>
                <a:spcPct val="90000"/>
              </a:lnSpc>
            </a:pPr>
            <a:r>
              <a:rPr sz="15000" b="1">
                <a:solidFill>
                  <a:srgbClr val="FF7A00"/>
                </a:solidFill>
                <a:latin typeface="Segoe UI"/>
              </a:rPr>
              <a:t>312</a:t>
            </a:r>
          </a:p>
        </p:txBody>
      </p:sp>
      <p:sp>
        <p:nvSpPr>
          <p:cNvPr id="394" name="!!eenheid"/>
          <p:cNvSpPr txBox="1"/>
          <p:nvPr/>
        </p:nvSpPr>
        <p:spPr>
          <a:xfrm>
            <a:off x="6857828" y="1904952"/>
            <a:ext cx="1269968" cy="507987"/>
          </a:xfrm>
          <a:prstGeom prst="rect">
            <a:avLst/>
          </a:prstGeom>
          <a:noFill/>
        </p:spPr>
        <p:txBody>
          <a:bodyPr wrap="square" anchor="t" lIns="0" rIns="0" tIns="0" bIns="0">
            <a:spAutoFit/>
          </a:bodyPr>
          <a:lstStyle/>
          <a:p>
            <a:pPr algn="l">
              <a:lnSpc>
                <a:spcPct val="125000"/>
              </a:lnSpc>
            </a:pPr>
            <a:r>
              <a:rPr sz="4400" b="1">
                <a:solidFill>
                  <a:srgbClr val="FF7A00"/>
                </a:solidFill>
                <a:latin typeface="Segoe UI Light"/>
              </a:rPr>
              <a:t>kPa</a:t>
            </a:r>
          </a:p>
        </p:txBody>
      </p:sp>
      <p:sp>
        <p:nvSpPr>
          <p:cNvPr id="395" name="!!plek"/>
          <p:cNvSpPr txBox="1"/>
          <p:nvPr/>
        </p:nvSpPr>
        <p:spPr>
          <a:xfrm>
            <a:off x="3581310" y="3352716"/>
            <a:ext cx="7619809" cy="380990"/>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piekdruk op metatarsaal 2-3</a:t>
            </a:r>
          </a:p>
        </p:txBody>
      </p:sp>
      <p:sp>
        <p:nvSpPr>
          <p:cNvPr id="396" name="!!norm"/>
          <p:cNvSpPr/>
          <p:nvPr/>
        </p:nvSpPr>
        <p:spPr>
          <a:xfrm>
            <a:off x="3555911" y="3924201"/>
            <a:ext cx="8000799" cy="609584"/>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7" name="!!normtekst"/>
          <p:cNvSpPr txBox="1"/>
          <p:nvPr/>
        </p:nvSpPr>
        <p:spPr>
          <a:xfrm>
            <a:off x="3555911" y="4101997"/>
            <a:ext cx="8000799" cy="292092"/>
          </a:xfrm>
          <a:prstGeom prst="rect">
            <a:avLst/>
          </a:prstGeom>
          <a:noFill/>
        </p:spPr>
        <p:txBody>
          <a:bodyPr wrap="square" anchor="t" lIns="0" rIns="0" tIns="0" bIns="0">
            <a:spAutoFit/>
          </a:bodyPr>
          <a:lstStyle/>
          <a:p>
            <a:pPr algn="ctr">
              <a:lnSpc>
                <a:spcPct val="125000"/>
              </a:lnSpc>
            </a:pPr>
            <a:r>
              <a:rPr sz="2200" b="1">
                <a:solidFill>
                  <a:srgbClr val="FF7A00"/>
                </a:solidFill>
                <a:latin typeface="Consolas"/>
              </a:rPr>
              <a:t>Norm:  &lt; 200 kPa   óf   ≥ 25% lager</a:t>
            </a:r>
          </a:p>
        </p:txBody>
      </p:sp>
      <p:sp>
        <p:nvSpPr>
          <p:cNvPr id="398" name="TextBox 397"/>
          <p:cNvSpPr txBox="1"/>
          <p:nvPr/>
        </p:nvSpPr>
        <p:spPr>
          <a:xfrm>
            <a:off x="3555911" y="4825879"/>
            <a:ext cx="8000799" cy="1269968"/>
          </a:xfrm>
          <a:prstGeom prst="rect">
            <a:avLst/>
          </a:prstGeom>
          <a:noFill/>
        </p:spPr>
        <p:txBody>
          <a:bodyPr wrap="square" anchor="t" lIns="0" rIns="0" tIns="0" bIns="0">
            <a:spAutoFit/>
          </a:bodyPr>
          <a:lstStyle/>
          <a:p>
            <a:pPr algn="l">
              <a:lnSpc>
                <a:spcPct val="135000"/>
              </a:lnSpc>
            </a:pPr>
            <a:r>
              <a:rPr sz="1700" b="0">
                <a:solidFill>
                  <a:srgbClr val="8FB6D0"/>
                </a:solidFill>
                <a:latin typeface="Segoe UI"/>
              </a:rPr>
              <a:t>pedar®-sensorinsole in de schoen geplaatst, drie loopproeven uitgevoerd.</a:t>
            </a:r>
          </a:p>
          <a:p>
            <a:pPr algn="l">
              <a:lnSpc>
                <a:spcPct val="135000"/>
              </a:lnSpc>
              <a:spcBef>
                <a:spcPts val="1200"/>
              </a:spcBef>
            </a:pPr>
            <a:r>
              <a:rPr sz="1700" b="0">
                <a:solidFill>
                  <a:srgbClr val="8FB6D0"/>
                </a:solidFill>
                <a:latin typeface="Segoe UI"/>
              </a:rPr>
              <a:t>De middelste twaalf passen per voet geanalyseerd; daaruit berekent de software de gemiddelde piekdruk per voet.</a:t>
            </a:r>
          </a:p>
        </p:txBody>
      </p:sp>
      <p:sp>
        <p:nvSpPr>
          <p:cNvPr id="399" name="TextBox 398"/>
          <p:cNvSpPr txBox="1"/>
          <p:nvPr/>
        </p:nvSpPr>
        <p:spPr>
          <a:xfrm>
            <a:off x="634984" y="6387940"/>
            <a:ext cx="8889777"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eCRF-document 09 · Meting plantaire druk, baseline</a:t>
            </a:r>
          </a:p>
        </p:txBody>
      </p:sp>
      <p:sp>
        <p:nvSpPr>
          <p:cNvPr id="400" name="TextBox 399"/>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13 / 26</a:t>
            </a:r>
          </a:p>
        </p:txBody>
      </p:sp>
      <p:pic>
        <p:nvPicPr>
          <p:cNvPr id="401"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402" name="TextBox 401"/>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Bron  7 · Bus 2020   |   27 · Zwaferink 2024</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NA OPTIMALISATIE</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Wanneer is het goed genoeg</a:t>
            </a:r>
          </a:p>
        </p:txBody>
      </p:sp>
      <p:sp>
        <p:nvSpPr>
          <p:cNvPr id="5" name="!!p00_07"/>
          <p:cNvSpPr/>
          <p:nvPr/>
        </p:nvSpPr>
        <p:spPr>
          <a:xfrm>
            <a:off x="1585505" y="5645727"/>
            <a:ext cx="99157" cy="99157"/>
          </a:xfrm>
          <a:prstGeom prst="roundRect">
            <a:avLst>
              <a:gd name="adj" fmla="val 30000"/>
            </a:avLst>
          </a:prstGeom>
          <a:solidFill>
            <a:srgbClr val="145C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p00_08"/>
          <p:cNvSpPr/>
          <p:nvPr/>
        </p:nvSpPr>
        <p:spPr>
          <a:xfrm>
            <a:off x="1744251" y="5645727"/>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00_09"/>
          <p:cNvSpPr/>
          <p:nvPr/>
        </p:nvSpPr>
        <p:spPr>
          <a:xfrm>
            <a:off x="1902997" y="5645727"/>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p00_10"/>
          <p:cNvSpPr/>
          <p:nvPr/>
        </p:nvSpPr>
        <p:spPr>
          <a:xfrm>
            <a:off x="2061743" y="5645727"/>
            <a:ext cx="99157" cy="99157"/>
          </a:xfrm>
          <a:prstGeom prst="roundRect">
            <a:avLst>
              <a:gd name="adj" fmla="val 30000"/>
            </a:avLst>
          </a:prstGeom>
          <a:solidFill>
            <a:srgbClr val="14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p01_06"/>
          <p:cNvSpPr/>
          <p:nvPr/>
        </p:nvSpPr>
        <p:spPr>
          <a:xfrm>
            <a:off x="1426759" y="5530427"/>
            <a:ext cx="99157" cy="99157"/>
          </a:xfrm>
          <a:prstGeom prst="roundRect">
            <a:avLst>
              <a:gd name="adj" fmla="val 30000"/>
            </a:avLst>
          </a:prstGeom>
          <a:solidFill>
            <a:srgbClr val="104B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p01_07"/>
          <p:cNvSpPr/>
          <p:nvPr/>
        </p:nvSpPr>
        <p:spPr>
          <a:xfrm>
            <a:off x="1585505" y="5530427"/>
            <a:ext cx="99157" cy="99157"/>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p01_08"/>
          <p:cNvSpPr/>
          <p:nvPr/>
        </p:nvSpPr>
        <p:spPr>
          <a:xfrm>
            <a:off x="1744251" y="5530427"/>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p01_09"/>
          <p:cNvSpPr/>
          <p:nvPr/>
        </p:nvSpPr>
        <p:spPr>
          <a:xfrm>
            <a:off x="1902997" y="5530427"/>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p01_10"/>
          <p:cNvSpPr/>
          <p:nvPr/>
        </p:nvSpPr>
        <p:spPr>
          <a:xfrm>
            <a:off x="2061743" y="5530427"/>
            <a:ext cx="99157" cy="99157"/>
          </a:xfrm>
          <a:prstGeom prst="roundRect">
            <a:avLst>
              <a:gd name="adj" fmla="val 30000"/>
            </a:avLst>
          </a:prstGeom>
          <a:solidFill>
            <a:srgbClr val="176F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p01_11"/>
          <p:cNvSpPr/>
          <p:nvPr/>
        </p:nvSpPr>
        <p:spPr>
          <a:xfrm>
            <a:off x="2220489" y="5530427"/>
            <a:ext cx="99157" cy="99157"/>
          </a:xfrm>
          <a:prstGeom prst="roundRect">
            <a:avLst>
              <a:gd name="adj" fmla="val 30000"/>
            </a:avLst>
          </a:prstGeom>
          <a:solidFill>
            <a:srgbClr val="104B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02_05"/>
          <p:cNvSpPr/>
          <p:nvPr/>
        </p:nvSpPr>
        <p:spPr>
          <a:xfrm>
            <a:off x="1268013" y="5415127"/>
            <a:ext cx="99157" cy="99157"/>
          </a:xfrm>
          <a:prstGeom prst="roundRect">
            <a:avLst>
              <a:gd name="adj" fmla="val 30000"/>
            </a:avLst>
          </a:prstGeom>
          <a:solidFill>
            <a:srgbClr val="0C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p02_06"/>
          <p:cNvSpPr/>
          <p:nvPr/>
        </p:nvSpPr>
        <p:spPr>
          <a:xfrm>
            <a:off x="1426759" y="5415127"/>
            <a:ext cx="99157" cy="99157"/>
          </a:xfrm>
          <a:prstGeom prst="roundRect">
            <a:avLst>
              <a:gd name="adj" fmla="val 30000"/>
            </a:avLst>
          </a:prstGeom>
          <a:solidFill>
            <a:srgbClr val="1256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p02_07"/>
          <p:cNvSpPr/>
          <p:nvPr/>
        </p:nvSpPr>
        <p:spPr>
          <a:xfrm>
            <a:off x="1585505" y="5415127"/>
            <a:ext cx="99157" cy="99157"/>
          </a:xfrm>
          <a:prstGeom prst="roundRect">
            <a:avLst>
              <a:gd name="adj" fmla="val 30000"/>
            </a:avLst>
          </a:prstGeom>
          <a:solidFill>
            <a:srgbClr val="1B80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p02_08"/>
          <p:cNvSpPr/>
          <p:nvPr/>
        </p:nvSpPr>
        <p:spPr>
          <a:xfrm>
            <a:off x="1744251" y="5415127"/>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p02_09"/>
          <p:cNvSpPr/>
          <p:nvPr/>
        </p:nvSpPr>
        <p:spPr>
          <a:xfrm>
            <a:off x="1902997" y="5415127"/>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p02_10"/>
          <p:cNvSpPr/>
          <p:nvPr/>
        </p:nvSpPr>
        <p:spPr>
          <a:xfrm>
            <a:off x="2061743" y="5415127"/>
            <a:ext cx="99157" cy="99157"/>
          </a:xfrm>
          <a:prstGeom prst="roundRect">
            <a:avLst>
              <a:gd name="adj" fmla="val 30000"/>
            </a:avLst>
          </a:prstGeom>
          <a:solidFill>
            <a:srgbClr val="1B81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p02_11"/>
          <p:cNvSpPr/>
          <p:nvPr/>
        </p:nvSpPr>
        <p:spPr>
          <a:xfrm>
            <a:off x="2220489" y="5415127"/>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p02_12"/>
          <p:cNvSpPr/>
          <p:nvPr/>
        </p:nvSpPr>
        <p:spPr>
          <a:xfrm>
            <a:off x="2379235" y="5415127"/>
            <a:ext cx="99157" cy="99157"/>
          </a:xfrm>
          <a:prstGeom prst="roundRect">
            <a:avLst>
              <a:gd name="adj" fmla="val 30000"/>
            </a:avLst>
          </a:prstGeom>
          <a:solidFill>
            <a:srgbClr val="0C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p03_05"/>
          <p:cNvSpPr/>
          <p:nvPr/>
        </p:nvSpPr>
        <p:spPr>
          <a:xfrm>
            <a:off x="1268013" y="5299828"/>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p03_06"/>
          <p:cNvSpPr/>
          <p:nvPr/>
        </p:nvSpPr>
        <p:spPr>
          <a:xfrm>
            <a:off x="1426759" y="5299828"/>
            <a:ext cx="99157" cy="99157"/>
          </a:xfrm>
          <a:prstGeom prst="roundRect">
            <a:avLst>
              <a:gd name="adj" fmla="val 30000"/>
            </a:avLst>
          </a:prstGeom>
          <a:solidFill>
            <a:srgbClr val="145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p03_07"/>
          <p:cNvSpPr/>
          <p:nvPr/>
        </p:nvSpPr>
        <p:spPr>
          <a:xfrm>
            <a:off x="1585505" y="5299828"/>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p03_08"/>
          <p:cNvSpPr/>
          <p:nvPr/>
        </p:nvSpPr>
        <p:spPr>
          <a:xfrm>
            <a:off x="1744251" y="5299828"/>
            <a:ext cx="99157" cy="99157"/>
          </a:xfrm>
          <a:prstGeom prst="roundRect">
            <a:avLst>
              <a:gd name="adj" fmla="val 30000"/>
            </a:avLst>
          </a:prstGeom>
          <a:solidFill>
            <a:srgbClr val="32A0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p03_09"/>
          <p:cNvSpPr/>
          <p:nvPr/>
        </p:nvSpPr>
        <p:spPr>
          <a:xfrm>
            <a:off x="1902997" y="5299828"/>
            <a:ext cx="99157" cy="99157"/>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p03_10"/>
          <p:cNvSpPr/>
          <p:nvPr/>
        </p:nvSpPr>
        <p:spPr>
          <a:xfrm>
            <a:off x="2061743" y="5299828"/>
            <a:ext cx="99157" cy="99157"/>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p03_11"/>
          <p:cNvSpPr/>
          <p:nvPr/>
        </p:nvSpPr>
        <p:spPr>
          <a:xfrm>
            <a:off x="2220489" y="5299828"/>
            <a:ext cx="99157" cy="99157"/>
          </a:xfrm>
          <a:prstGeom prst="roundRect">
            <a:avLst>
              <a:gd name="adj" fmla="val 30000"/>
            </a:avLst>
          </a:prstGeom>
          <a:solidFill>
            <a:srgbClr val="15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p03_12"/>
          <p:cNvSpPr/>
          <p:nvPr/>
        </p:nvSpPr>
        <p:spPr>
          <a:xfrm>
            <a:off x="2379235" y="5299828"/>
            <a:ext cx="99157" cy="99157"/>
          </a:xfrm>
          <a:prstGeom prst="roundRect">
            <a:avLst>
              <a:gd name="adj" fmla="val 30000"/>
            </a:avLst>
          </a:prstGeom>
          <a:solidFill>
            <a:srgbClr val="0D3A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p04_05"/>
          <p:cNvSpPr/>
          <p:nvPr/>
        </p:nvSpPr>
        <p:spPr>
          <a:xfrm>
            <a:off x="1268013" y="5184528"/>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p04_06"/>
          <p:cNvSpPr/>
          <p:nvPr/>
        </p:nvSpPr>
        <p:spPr>
          <a:xfrm>
            <a:off x="1426759" y="5184528"/>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p04_07"/>
          <p:cNvSpPr/>
          <p:nvPr/>
        </p:nvSpPr>
        <p:spPr>
          <a:xfrm>
            <a:off x="1585505" y="5184528"/>
            <a:ext cx="99157" cy="99157"/>
          </a:xfrm>
          <a:prstGeom prst="roundRect">
            <a:avLst>
              <a:gd name="adj" fmla="val 30000"/>
            </a:avLst>
          </a:prstGeom>
          <a:solidFill>
            <a:srgbClr val="22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p04_08"/>
          <p:cNvSpPr/>
          <p:nvPr/>
        </p:nvSpPr>
        <p:spPr>
          <a:xfrm>
            <a:off x="1744251" y="5184528"/>
            <a:ext cx="99157" cy="99157"/>
          </a:xfrm>
          <a:prstGeom prst="roundRect">
            <a:avLst>
              <a:gd name="adj" fmla="val 30000"/>
            </a:avLst>
          </a:prstGeom>
          <a:solidFill>
            <a:srgbClr val="38A5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p04_09"/>
          <p:cNvSpPr/>
          <p:nvPr/>
        </p:nvSpPr>
        <p:spPr>
          <a:xfrm>
            <a:off x="1902997" y="5184528"/>
            <a:ext cx="99157" cy="99157"/>
          </a:xfrm>
          <a:prstGeom prst="roundRect">
            <a:avLst>
              <a:gd name="adj" fmla="val 30000"/>
            </a:avLst>
          </a:prstGeom>
          <a:solidFill>
            <a:srgbClr val="39A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p04_10"/>
          <p:cNvSpPr/>
          <p:nvPr/>
        </p:nvSpPr>
        <p:spPr>
          <a:xfrm>
            <a:off x="2061743" y="5184528"/>
            <a:ext cx="99157" cy="99157"/>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p04_11"/>
          <p:cNvSpPr/>
          <p:nvPr/>
        </p:nvSpPr>
        <p:spPr>
          <a:xfrm>
            <a:off x="2220489" y="5184528"/>
            <a:ext cx="99157" cy="99157"/>
          </a:xfrm>
          <a:prstGeom prst="roundRect">
            <a:avLst>
              <a:gd name="adj" fmla="val 30000"/>
            </a:avLst>
          </a:prstGeom>
          <a:solidFill>
            <a:srgbClr val="1669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p04_12"/>
          <p:cNvSpPr/>
          <p:nvPr/>
        </p:nvSpPr>
        <p:spPr>
          <a:xfrm>
            <a:off x="2379235" y="5184528"/>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p05_05"/>
          <p:cNvSpPr/>
          <p:nvPr/>
        </p:nvSpPr>
        <p:spPr>
          <a:xfrm>
            <a:off x="1268013" y="5069228"/>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p05_06"/>
          <p:cNvSpPr/>
          <p:nvPr/>
        </p:nvSpPr>
        <p:spPr>
          <a:xfrm>
            <a:off x="1426759" y="5069228"/>
            <a:ext cx="99157" cy="99157"/>
          </a:xfrm>
          <a:prstGeom prst="roundRect">
            <a:avLst>
              <a:gd name="adj" fmla="val 30000"/>
            </a:avLst>
          </a:prstGeom>
          <a:solidFill>
            <a:srgbClr val="1667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p05_07"/>
          <p:cNvSpPr/>
          <p:nvPr/>
        </p:nvSpPr>
        <p:spPr>
          <a:xfrm>
            <a:off x="1585505" y="5069228"/>
            <a:ext cx="99157" cy="99157"/>
          </a:xfrm>
          <a:prstGeom prst="roundRect">
            <a:avLst>
              <a:gd name="adj" fmla="val 30000"/>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p05_08"/>
          <p:cNvSpPr/>
          <p:nvPr/>
        </p:nvSpPr>
        <p:spPr>
          <a:xfrm>
            <a:off x="1744251" y="5069228"/>
            <a:ext cx="99157" cy="99157"/>
          </a:xfrm>
          <a:prstGeom prst="roundRect">
            <a:avLst>
              <a:gd name="adj" fmla="val 30000"/>
            </a:avLst>
          </a:prstGeom>
          <a:solidFill>
            <a:srgbClr val="3AA7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p05_09"/>
          <p:cNvSpPr/>
          <p:nvPr/>
        </p:nvSpPr>
        <p:spPr>
          <a:xfrm>
            <a:off x="1902997" y="5069228"/>
            <a:ext cx="99157" cy="99157"/>
          </a:xfrm>
          <a:prstGeom prst="roundRect">
            <a:avLst>
              <a:gd name="adj" fmla="val 30000"/>
            </a:avLst>
          </a:prstGeom>
          <a:solidFill>
            <a:srgbClr val="3BA8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p05_10"/>
          <p:cNvSpPr/>
          <p:nvPr/>
        </p:nvSpPr>
        <p:spPr>
          <a:xfrm>
            <a:off x="2061743" y="5069228"/>
            <a:ext cx="99157" cy="99157"/>
          </a:xfrm>
          <a:prstGeom prst="roundRect">
            <a:avLst>
              <a:gd name="adj" fmla="val 30000"/>
            </a:avLst>
          </a:prstGeom>
          <a:solidFill>
            <a:srgbClr val="2796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p05_11"/>
          <p:cNvSpPr/>
          <p:nvPr/>
        </p:nvSpPr>
        <p:spPr>
          <a:xfrm>
            <a:off x="2220489" y="5069228"/>
            <a:ext cx="99157" cy="99157"/>
          </a:xfrm>
          <a:prstGeom prst="roundRect">
            <a:avLst>
              <a:gd name="adj" fmla="val 30000"/>
            </a:avLst>
          </a:prstGeom>
          <a:solidFill>
            <a:srgbClr val="176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p05_12"/>
          <p:cNvSpPr/>
          <p:nvPr/>
        </p:nvSpPr>
        <p:spPr>
          <a:xfrm>
            <a:off x="2379235" y="5069228"/>
            <a:ext cx="99157" cy="99157"/>
          </a:xfrm>
          <a:prstGeom prst="roundRect">
            <a:avLst>
              <a:gd name="adj" fmla="val 30000"/>
            </a:avLst>
          </a:prstGeom>
          <a:solidFill>
            <a:srgbClr val="0F43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p06_05"/>
          <p:cNvSpPr/>
          <p:nvPr/>
        </p:nvSpPr>
        <p:spPr>
          <a:xfrm>
            <a:off x="1268013" y="4953928"/>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p06_06"/>
          <p:cNvSpPr/>
          <p:nvPr/>
        </p:nvSpPr>
        <p:spPr>
          <a:xfrm>
            <a:off x="1426759" y="4953928"/>
            <a:ext cx="99157" cy="99157"/>
          </a:xfrm>
          <a:prstGeom prst="roundRect">
            <a:avLst>
              <a:gd name="adj" fmla="val 30000"/>
            </a:avLst>
          </a:prstGeom>
          <a:solidFill>
            <a:srgbClr val="166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p06_07"/>
          <p:cNvSpPr/>
          <p:nvPr/>
        </p:nvSpPr>
        <p:spPr>
          <a:xfrm>
            <a:off x="1585505" y="4953928"/>
            <a:ext cx="99157" cy="99157"/>
          </a:xfrm>
          <a:prstGeom prst="roundRect">
            <a:avLst>
              <a:gd name="adj" fmla="val 30000"/>
            </a:avLst>
          </a:prstGeom>
          <a:solidFill>
            <a:srgbClr val="22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p06_08"/>
          <p:cNvSpPr/>
          <p:nvPr/>
        </p:nvSpPr>
        <p:spPr>
          <a:xfrm>
            <a:off x="1744251" y="4953928"/>
            <a:ext cx="99157" cy="99157"/>
          </a:xfrm>
          <a:prstGeom prst="roundRect">
            <a:avLst>
              <a:gd name="adj" fmla="val 30000"/>
            </a:avLst>
          </a:prstGeom>
          <a:solidFill>
            <a:srgbClr val="37A5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p06_09"/>
          <p:cNvSpPr/>
          <p:nvPr/>
        </p:nvSpPr>
        <p:spPr>
          <a:xfrm>
            <a:off x="1902997" y="4953928"/>
            <a:ext cx="99157" cy="99157"/>
          </a:xfrm>
          <a:prstGeom prst="roundRect">
            <a:avLst>
              <a:gd name="adj" fmla="val 30000"/>
            </a:avLst>
          </a:prstGeom>
          <a:solidFill>
            <a:srgbClr val="3AA7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p06_10"/>
          <p:cNvSpPr/>
          <p:nvPr/>
        </p:nvSpPr>
        <p:spPr>
          <a:xfrm>
            <a:off x="2061743" y="4953928"/>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p06_11"/>
          <p:cNvSpPr/>
          <p:nvPr/>
        </p:nvSpPr>
        <p:spPr>
          <a:xfrm>
            <a:off x="2220489" y="4953928"/>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p06_12"/>
          <p:cNvSpPr/>
          <p:nvPr/>
        </p:nvSpPr>
        <p:spPr>
          <a:xfrm>
            <a:off x="2379235" y="4953928"/>
            <a:ext cx="99157" cy="99157"/>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p07_05"/>
          <p:cNvSpPr/>
          <p:nvPr/>
        </p:nvSpPr>
        <p:spPr>
          <a:xfrm>
            <a:off x="1268013" y="4838629"/>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p07_06"/>
          <p:cNvSpPr/>
          <p:nvPr/>
        </p:nvSpPr>
        <p:spPr>
          <a:xfrm>
            <a:off x="1426759" y="4838629"/>
            <a:ext cx="99157" cy="99157"/>
          </a:xfrm>
          <a:prstGeom prst="roundRect">
            <a:avLst>
              <a:gd name="adj" fmla="val 30000"/>
            </a:avLst>
          </a:prstGeom>
          <a:solidFill>
            <a:srgbClr val="1563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p07_07"/>
          <p:cNvSpPr/>
          <p:nvPr/>
        </p:nvSpPr>
        <p:spPr>
          <a:xfrm>
            <a:off x="1585505" y="4838629"/>
            <a:ext cx="99157" cy="99157"/>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p07_08"/>
          <p:cNvSpPr/>
          <p:nvPr/>
        </p:nvSpPr>
        <p:spPr>
          <a:xfrm>
            <a:off x="1744251" y="4838629"/>
            <a:ext cx="99157" cy="99157"/>
          </a:xfrm>
          <a:prstGeom prst="roundRect">
            <a:avLst>
              <a:gd name="adj" fmla="val 30000"/>
            </a:avLst>
          </a:prstGeom>
          <a:solidFill>
            <a:srgbClr val="33A1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p07_09"/>
          <p:cNvSpPr/>
          <p:nvPr/>
        </p:nvSpPr>
        <p:spPr>
          <a:xfrm>
            <a:off x="1902997" y="4838629"/>
            <a:ext cx="99157" cy="99157"/>
          </a:xfrm>
          <a:prstGeom prst="roundRect">
            <a:avLst>
              <a:gd name="adj" fmla="val 30000"/>
            </a:avLst>
          </a:prstGeom>
          <a:solidFill>
            <a:srgbClr val="36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p07_10"/>
          <p:cNvSpPr/>
          <p:nvPr/>
        </p:nvSpPr>
        <p:spPr>
          <a:xfrm>
            <a:off x="2061743" y="4838629"/>
            <a:ext cx="99157" cy="99157"/>
          </a:xfrm>
          <a:prstGeom prst="roundRect">
            <a:avLst>
              <a:gd name="adj" fmla="val 30000"/>
            </a:avLst>
          </a:prstGeom>
          <a:solidFill>
            <a:srgbClr val="27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p07_11"/>
          <p:cNvSpPr/>
          <p:nvPr/>
        </p:nvSpPr>
        <p:spPr>
          <a:xfrm>
            <a:off x="2220489" y="4838629"/>
            <a:ext cx="99157" cy="99157"/>
          </a:xfrm>
          <a:prstGeom prst="roundRect">
            <a:avLst>
              <a:gd name="adj" fmla="val 30000"/>
            </a:avLst>
          </a:prstGeom>
          <a:solidFill>
            <a:srgbClr val="1873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p07_12"/>
          <p:cNvSpPr/>
          <p:nvPr/>
        </p:nvSpPr>
        <p:spPr>
          <a:xfrm>
            <a:off x="2379235" y="4838629"/>
            <a:ext cx="99157" cy="99157"/>
          </a:xfrm>
          <a:prstGeom prst="roundRect">
            <a:avLst>
              <a:gd name="adj" fmla="val 30000"/>
            </a:avLst>
          </a:prstGeom>
          <a:solidFill>
            <a:srgbClr val="104B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p08_05"/>
          <p:cNvSpPr/>
          <p:nvPr/>
        </p:nvSpPr>
        <p:spPr>
          <a:xfrm>
            <a:off x="1268013" y="4723329"/>
            <a:ext cx="99157" cy="99157"/>
          </a:xfrm>
          <a:prstGeom prst="roundRect">
            <a:avLst>
              <a:gd name="adj" fmla="val 30000"/>
            </a:avLst>
          </a:prstGeom>
          <a:solidFill>
            <a:srgbClr val="0E3D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p08_06"/>
          <p:cNvSpPr/>
          <p:nvPr/>
        </p:nvSpPr>
        <p:spPr>
          <a:xfrm>
            <a:off x="1426759" y="4723329"/>
            <a:ext cx="99157" cy="99157"/>
          </a:xfrm>
          <a:prstGeom prst="roundRect">
            <a:avLst>
              <a:gd name="adj" fmla="val 30000"/>
            </a:avLst>
          </a:prstGeom>
          <a:solidFill>
            <a:srgbClr val="145E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p08_07"/>
          <p:cNvSpPr/>
          <p:nvPr/>
        </p:nvSpPr>
        <p:spPr>
          <a:xfrm>
            <a:off x="1585505" y="4723329"/>
            <a:ext cx="99157" cy="99157"/>
          </a:xfrm>
          <a:prstGeom prst="roundRect">
            <a:avLst>
              <a:gd name="adj" fmla="val 30000"/>
            </a:avLst>
          </a:prstGeom>
          <a:solidFill>
            <a:srgbClr val="1C86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p08_08"/>
          <p:cNvSpPr/>
          <p:nvPr/>
        </p:nvSpPr>
        <p:spPr>
          <a:xfrm>
            <a:off x="1744251" y="4723329"/>
            <a:ext cx="99157" cy="99157"/>
          </a:xfrm>
          <a:prstGeom prst="roundRect">
            <a:avLst>
              <a:gd name="adj" fmla="val 30000"/>
            </a:avLst>
          </a:prstGeom>
          <a:solidFill>
            <a:srgbClr val="2C9B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p08_09"/>
          <p:cNvSpPr/>
          <p:nvPr/>
        </p:nvSpPr>
        <p:spPr>
          <a:xfrm>
            <a:off x="1902997" y="4723329"/>
            <a:ext cx="99157" cy="99157"/>
          </a:xfrm>
          <a:prstGeom prst="roundRect">
            <a:avLst>
              <a:gd name="adj" fmla="val 30000"/>
            </a:avLst>
          </a:prstGeom>
          <a:solidFill>
            <a:srgbClr val="319F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p08_10"/>
          <p:cNvSpPr/>
          <p:nvPr/>
        </p:nvSpPr>
        <p:spPr>
          <a:xfrm>
            <a:off x="2061743" y="4723329"/>
            <a:ext cx="99157" cy="99157"/>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p08_11"/>
          <p:cNvSpPr/>
          <p:nvPr/>
        </p:nvSpPr>
        <p:spPr>
          <a:xfrm>
            <a:off x="2220489" y="4723329"/>
            <a:ext cx="99157" cy="99157"/>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p08_12"/>
          <p:cNvSpPr/>
          <p:nvPr/>
        </p:nvSpPr>
        <p:spPr>
          <a:xfrm>
            <a:off x="2379235" y="4723329"/>
            <a:ext cx="99157" cy="99157"/>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p09_05"/>
          <p:cNvSpPr/>
          <p:nvPr/>
        </p:nvSpPr>
        <p:spPr>
          <a:xfrm>
            <a:off x="1268013" y="4608029"/>
            <a:ext cx="99157" cy="99157"/>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p09_06"/>
          <p:cNvSpPr/>
          <p:nvPr/>
        </p:nvSpPr>
        <p:spPr>
          <a:xfrm>
            <a:off x="1426759" y="4608029"/>
            <a:ext cx="99157" cy="99157"/>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p09_07"/>
          <p:cNvSpPr/>
          <p:nvPr/>
        </p:nvSpPr>
        <p:spPr>
          <a:xfrm>
            <a:off x="1585505" y="4608029"/>
            <a:ext cx="99157" cy="99157"/>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p09_08"/>
          <p:cNvSpPr/>
          <p:nvPr/>
        </p:nvSpPr>
        <p:spPr>
          <a:xfrm>
            <a:off x="1744251" y="4608029"/>
            <a:ext cx="99157" cy="99157"/>
          </a:xfrm>
          <a:prstGeom prst="roundRect">
            <a:avLst>
              <a:gd name="adj" fmla="val 30000"/>
            </a:avLst>
          </a:prstGeom>
          <a:solidFill>
            <a:srgbClr val="2695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p09_09"/>
          <p:cNvSpPr/>
          <p:nvPr/>
        </p:nvSpPr>
        <p:spPr>
          <a:xfrm>
            <a:off x="1902997" y="4608029"/>
            <a:ext cx="99157" cy="99157"/>
          </a:xfrm>
          <a:prstGeom prst="roundRect">
            <a:avLst>
              <a:gd name="adj" fmla="val 30000"/>
            </a:avLst>
          </a:prstGeom>
          <a:solidFill>
            <a:srgbClr val="2D9C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p09_10"/>
          <p:cNvSpPr/>
          <p:nvPr/>
        </p:nvSpPr>
        <p:spPr>
          <a:xfrm>
            <a:off x="2061743" y="4608029"/>
            <a:ext cx="99157" cy="99157"/>
          </a:xfrm>
          <a:prstGeom prst="roundRect">
            <a:avLst>
              <a:gd name="adj" fmla="val 30000"/>
            </a:avLst>
          </a:prstGeom>
          <a:solidFill>
            <a:srgbClr val="249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p09_11"/>
          <p:cNvSpPr/>
          <p:nvPr/>
        </p:nvSpPr>
        <p:spPr>
          <a:xfrm>
            <a:off x="2220489" y="4608029"/>
            <a:ext cx="99157" cy="99157"/>
          </a:xfrm>
          <a:prstGeom prst="roundRect">
            <a:avLst>
              <a:gd name="adj" fmla="val 30000"/>
            </a:avLst>
          </a:prstGeom>
          <a:solidFill>
            <a:srgbClr val="19799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p09_12"/>
          <p:cNvSpPr/>
          <p:nvPr/>
        </p:nvSpPr>
        <p:spPr>
          <a:xfrm>
            <a:off x="2379235" y="4608029"/>
            <a:ext cx="99157" cy="99157"/>
          </a:xfrm>
          <a:prstGeom prst="roundRect">
            <a:avLst>
              <a:gd name="adj" fmla="val 30000"/>
            </a:avLst>
          </a:prstGeom>
          <a:solidFill>
            <a:srgbClr val="1256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p10_06"/>
          <p:cNvSpPr/>
          <p:nvPr/>
        </p:nvSpPr>
        <p:spPr>
          <a:xfrm>
            <a:off x="1426759" y="4492729"/>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p10_07"/>
          <p:cNvSpPr/>
          <p:nvPr/>
        </p:nvSpPr>
        <p:spPr>
          <a:xfrm>
            <a:off x="1585505" y="4492729"/>
            <a:ext cx="99157" cy="99157"/>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p10_08"/>
          <p:cNvSpPr/>
          <p:nvPr/>
        </p:nvSpPr>
        <p:spPr>
          <a:xfrm>
            <a:off x="1744251" y="4492729"/>
            <a:ext cx="99157" cy="99157"/>
          </a:xfrm>
          <a:prstGeom prst="roundRect">
            <a:avLst>
              <a:gd name="adj" fmla="val 30000"/>
            </a:avLst>
          </a:prstGeom>
          <a:solidFill>
            <a:srgbClr val="22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p10_09"/>
          <p:cNvSpPr/>
          <p:nvPr/>
        </p:nvSpPr>
        <p:spPr>
          <a:xfrm>
            <a:off x="1902997" y="4492729"/>
            <a:ext cx="99157" cy="99157"/>
          </a:xfrm>
          <a:prstGeom prst="roundRect">
            <a:avLst>
              <a:gd name="adj" fmla="val 30000"/>
            </a:avLst>
          </a:prstGeom>
          <a:solidFill>
            <a:srgbClr val="2A99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p10_10"/>
          <p:cNvSpPr/>
          <p:nvPr/>
        </p:nvSpPr>
        <p:spPr>
          <a:xfrm>
            <a:off x="2061743" y="4492729"/>
            <a:ext cx="99157" cy="99157"/>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p10_11"/>
          <p:cNvSpPr/>
          <p:nvPr/>
        </p:nvSpPr>
        <p:spPr>
          <a:xfrm>
            <a:off x="2220489" y="4492729"/>
            <a:ext cx="99157" cy="99157"/>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p10_12"/>
          <p:cNvSpPr/>
          <p:nvPr/>
        </p:nvSpPr>
        <p:spPr>
          <a:xfrm>
            <a:off x="2379235" y="4492729"/>
            <a:ext cx="99157" cy="99157"/>
          </a:xfrm>
          <a:prstGeom prst="roundRect">
            <a:avLst>
              <a:gd name="adj" fmla="val 30000"/>
            </a:avLst>
          </a:prstGeom>
          <a:solidFill>
            <a:srgbClr val="145C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p11_06"/>
          <p:cNvSpPr/>
          <p:nvPr/>
        </p:nvSpPr>
        <p:spPr>
          <a:xfrm>
            <a:off x="1426759" y="4377430"/>
            <a:ext cx="99157" cy="99157"/>
          </a:xfrm>
          <a:prstGeom prst="roundRect">
            <a:avLst>
              <a:gd name="adj" fmla="val 30000"/>
            </a:avLst>
          </a:prstGeom>
          <a:solidFill>
            <a:srgbClr val="1252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p11_07"/>
          <p:cNvSpPr/>
          <p:nvPr/>
        </p:nvSpPr>
        <p:spPr>
          <a:xfrm>
            <a:off x="1585505" y="4377430"/>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p11_08"/>
          <p:cNvSpPr/>
          <p:nvPr/>
        </p:nvSpPr>
        <p:spPr>
          <a:xfrm>
            <a:off x="1744251" y="4377430"/>
            <a:ext cx="99157" cy="99157"/>
          </a:xfrm>
          <a:prstGeom prst="roundRect">
            <a:avLst>
              <a:gd name="adj" fmla="val 30000"/>
            </a:avLst>
          </a:prstGeom>
          <a:solidFill>
            <a:srgbClr val="1F8E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p11_09"/>
          <p:cNvSpPr/>
          <p:nvPr/>
        </p:nvSpPr>
        <p:spPr>
          <a:xfrm>
            <a:off x="1902997" y="4377430"/>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p11_10"/>
          <p:cNvSpPr/>
          <p:nvPr/>
        </p:nvSpPr>
        <p:spPr>
          <a:xfrm>
            <a:off x="2061743" y="4377430"/>
            <a:ext cx="99157" cy="99157"/>
          </a:xfrm>
          <a:prstGeom prst="roundRect">
            <a:avLst>
              <a:gd name="adj" fmla="val 30000"/>
            </a:avLst>
          </a:prstGeom>
          <a:solidFill>
            <a:srgbClr val="2695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p11_11"/>
          <p:cNvSpPr/>
          <p:nvPr/>
        </p:nvSpPr>
        <p:spPr>
          <a:xfrm>
            <a:off x="2220489" y="4377430"/>
            <a:ext cx="99157" cy="99157"/>
          </a:xfrm>
          <a:prstGeom prst="roundRect">
            <a:avLst>
              <a:gd name="adj" fmla="val 30000"/>
            </a:avLst>
          </a:prstGeom>
          <a:solidFill>
            <a:srgbClr val="1B84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p11_12"/>
          <p:cNvSpPr/>
          <p:nvPr/>
        </p:nvSpPr>
        <p:spPr>
          <a:xfrm>
            <a:off x="2379235" y="4377430"/>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p12_06"/>
          <p:cNvSpPr/>
          <p:nvPr/>
        </p:nvSpPr>
        <p:spPr>
          <a:xfrm>
            <a:off x="1426759" y="4262130"/>
            <a:ext cx="99157" cy="99157"/>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p12_07"/>
          <p:cNvSpPr/>
          <p:nvPr/>
        </p:nvSpPr>
        <p:spPr>
          <a:xfrm>
            <a:off x="1585505" y="4262130"/>
            <a:ext cx="99157" cy="99157"/>
          </a:xfrm>
          <a:prstGeom prst="roundRect">
            <a:avLst>
              <a:gd name="adj" fmla="val 30000"/>
            </a:avLst>
          </a:prstGeom>
          <a:solidFill>
            <a:srgbClr val="176E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p12_08"/>
          <p:cNvSpPr/>
          <p:nvPr/>
        </p:nvSpPr>
        <p:spPr>
          <a:xfrm>
            <a:off x="1744251" y="4262130"/>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p12_09"/>
          <p:cNvSpPr/>
          <p:nvPr/>
        </p:nvSpPr>
        <p:spPr>
          <a:xfrm>
            <a:off x="1902997" y="4262130"/>
            <a:ext cx="99157" cy="99157"/>
          </a:xfrm>
          <a:prstGeom prst="roundRect">
            <a:avLst>
              <a:gd name="adj" fmla="val 30000"/>
            </a:avLst>
          </a:prstGeom>
          <a:solidFill>
            <a:srgbClr val="2A99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p12_10"/>
          <p:cNvSpPr/>
          <p:nvPr/>
        </p:nvSpPr>
        <p:spPr>
          <a:xfrm>
            <a:off x="2061743" y="4262130"/>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p12_11"/>
          <p:cNvSpPr/>
          <p:nvPr/>
        </p:nvSpPr>
        <p:spPr>
          <a:xfrm>
            <a:off x="2220489" y="4262130"/>
            <a:ext cx="99157" cy="99157"/>
          </a:xfrm>
          <a:prstGeom prst="roundRect">
            <a:avLst>
              <a:gd name="adj" fmla="val 30000"/>
            </a:avLst>
          </a:prstGeom>
          <a:solidFill>
            <a:srgbClr val="1D8C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p12_12"/>
          <p:cNvSpPr/>
          <p:nvPr/>
        </p:nvSpPr>
        <p:spPr>
          <a:xfrm>
            <a:off x="2379235" y="4262130"/>
            <a:ext cx="99157" cy="99157"/>
          </a:xfrm>
          <a:prstGeom prst="roundRect">
            <a:avLst>
              <a:gd name="adj" fmla="val 30000"/>
            </a:avLst>
          </a:prstGeom>
          <a:solidFill>
            <a:srgbClr val="176B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p13_06"/>
          <p:cNvSpPr/>
          <p:nvPr/>
        </p:nvSpPr>
        <p:spPr>
          <a:xfrm>
            <a:off x="1426759" y="4146830"/>
            <a:ext cx="99157" cy="99157"/>
          </a:xfrm>
          <a:prstGeom prst="roundRect">
            <a:avLst>
              <a:gd name="adj" fmla="val 30000"/>
            </a:avLst>
          </a:prstGeom>
          <a:solidFill>
            <a:srgbClr val="114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p13_07"/>
          <p:cNvSpPr/>
          <p:nvPr/>
        </p:nvSpPr>
        <p:spPr>
          <a:xfrm>
            <a:off x="1585505" y="4146830"/>
            <a:ext cx="99157" cy="99157"/>
          </a:xfrm>
          <a:prstGeom prst="roundRect">
            <a:avLst>
              <a:gd name="adj" fmla="val 30000"/>
            </a:avLst>
          </a:prstGeom>
          <a:solidFill>
            <a:srgbClr val="176D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p13_08"/>
          <p:cNvSpPr/>
          <p:nvPr/>
        </p:nvSpPr>
        <p:spPr>
          <a:xfrm>
            <a:off x="1744251" y="4146830"/>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p13_09"/>
          <p:cNvSpPr/>
          <p:nvPr/>
        </p:nvSpPr>
        <p:spPr>
          <a:xfrm>
            <a:off x="1902997" y="4146830"/>
            <a:ext cx="99157" cy="99157"/>
          </a:xfrm>
          <a:prstGeom prst="roundRect">
            <a:avLst>
              <a:gd name="adj" fmla="val 30000"/>
            </a:avLst>
          </a:prstGeom>
          <a:solidFill>
            <a:srgbClr val="2B9A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p13_10"/>
          <p:cNvSpPr/>
          <p:nvPr/>
        </p:nvSpPr>
        <p:spPr>
          <a:xfrm>
            <a:off x="2061743" y="4146830"/>
            <a:ext cx="99157" cy="99157"/>
          </a:xfrm>
          <a:prstGeom prst="roundRect">
            <a:avLst>
              <a:gd name="adj" fmla="val 30000"/>
            </a:avLst>
          </a:prstGeom>
          <a:solidFill>
            <a:srgbClr val="2D9B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p13_11"/>
          <p:cNvSpPr/>
          <p:nvPr/>
        </p:nvSpPr>
        <p:spPr>
          <a:xfrm>
            <a:off x="2220489" y="4146830"/>
            <a:ext cx="99157" cy="99157"/>
          </a:xfrm>
          <a:prstGeom prst="roundRect">
            <a:avLst>
              <a:gd name="adj" fmla="val 30000"/>
            </a:avLst>
          </a:prstGeom>
          <a:solidFill>
            <a:srgbClr val="2190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p13_12"/>
          <p:cNvSpPr/>
          <p:nvPr/>
        </p:nvSpPr>
        <p:spPr>
          <a:xfrm>
            <a:off x="2379235" y="4146830"/>
            <a:ext cx="99157" cy="99157"/>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p14_06"/>
          <p:cNvSpPr/>
          <p:nvPr/>
        </p:nvSpPr>
        <p:spPr>
          <a:xfrm>
            <a:off x="1426759" y="4031530"/>
            <a:ext cx="99157" cy="99157"/>
          </a:xfrm>
          <a:prstGeom prst="roundRect">
            <a:avLst>
              <a:gd name="adj" fmla="val 30000"/>
            </a:avLst>
          </a:prstGeom>
          <a:solidFill>
            <a:srgbClr val="114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p14_07"/>
          <p:cNvSpPr/>
          <p:nvPr/>
        </p:nvSpPr>
        <p:spPr>
          <a:xfrm>
            <a:off x="1585505" y="4031530"/>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p14_08"/>
          <p:cNvSpPr/>
          <p:nvPr/>
        </p:nvSpPr>
        <p:spPr>
          <a:xfrm>
            <a:off x="1744251" y="4031530"/>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p14_09"/>
          <p:cNvSpPr/>
          <p:nvPr/>
        </p:nvSpPr>
        <p:spPr>
          <a:xfrm>
            <a:off x="1902997" y="4031530"/>
            <a:ext cx="99157" cy="99157"/>
          </a:xfrm>
          <a:prstGeom prst="roundRect">
            <a:avLst>
              <a:gd name="adj" fmla="val 30000"/>
            </a:avLst>
          </a:prstGeom>
          <a:solidFill>
            <a:srgbClr val="2D9B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p14_10"/>
          <p:cNvSpPr/>
          <p:nvPr/>
        </p:nvSpPr>
        <p:spPr>
          <a:xfrm>
            <a:off x="2061743" y="4031530"/>
            <a:ext cx="99157" cy="99157"/>
          </a:xfrm>
          <a:prstGeom prst="roundRect">
            <a:avLst>
              <a:gd name="adj" fmla="val 30000"/>
            </a:avLst>
          </a:prstGeom>
          <a:solidFill>
            <a:srgbClr val="309E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p14_11"/>
          <p:cNvSpPr/>
          <p:nvPr/>
        </p:nvSpPr>
        <p:spPr>
          <a:xfrm>
            <a:off x="2220489" y="4031530"/>
            <a:ext cx="99157" cy="99157"/>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p14_12"/>
          <p:cNvSpPr/>
          <p:nvPr/>
        </p:nvSpPr>
        <p:spPr>
          <a:xfrm>
            <a:off x="2379235" y="4031530"/>
            <a:ext cx="99157" cy="99157"/>
          </a:xfrm>
          <a:prstGeom prst="roundRect">
            <a:avLst>
              <a:gd name="adj" fmla="val 30000"/>
            </a:avLst>
          </a:prstGeom>
          <a:solidFill>
            <a:srgbClr val="1978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p15_07"/>
          <p:cNvSpPr/>
          <p:nvPr/>
        </p:nvSpPr>
        <p:spPr>
          <a:xfrm>
            <a:off x="1585505" y="3916231"/>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p15_08"/>
          <p:cNvSpPr/>
          <p:nvPr/>
        </p:nvSpPr>
        <p:spPr>
          <a:xfrm>
            <a:off x="1744251" y="3916231"/>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p15_09"/>
          <p:cNvSpPr/>
          <p:nvPr/>
        </p:nvSpPr>
        <p:spPr>
          <a:xfrm>
            <a:off x="1902997" y="3916231"/>
            <a:ext cx="99157" cy="99157"/>
          </a:xfrm>
          <a:prstGeom prst="roundRect">
            <a:avLst>
              <a:gd name="adj" fmla="val 30000"/>
            </a:avLst>
          </a:prstGeom>
          <a:solidFill>
            <a:srgbClr val="2D9C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p15_10"/>
          <p:cNvSpPr/>
          <p:nvPr/>
        </p:nvSpPr>
        <p:spPr>
          <a:xfrm>
            <a:off x="2061743" y="3916231"/>
            <a:ext cx="99157" cy="99157"/>
          </a:xfrm>
          <a:prstGeom prst="roundRect">
            <a:avLst>
              <a:gd name="adj" fmla="val 30000"/>
            </a:avLst>
          </a:prstGeom>
          <a:solidFill>
            <a:srgbClr val="319F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p15_11"/>
          <p:cNvSpPr/>
          <p:nvPr/>
        </p:nvSpPr>
        <p:spPr>
          <a:xfrm>
            <a:off x="2220489" y="3916231"/>
            <a:ext cx="99157" cy="99157"/>
          </a:xfrm>
          <a:prstGeom prst="roundRect">
            <a:avLst>
              <a:gd name="adj" fmla="val 30000"/>
            </a:avLst>
          </a:prstGeom>
          <a:solidFill>
            <a:srgbClr val="27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p15_12"/>
          <p:cNvSpPr/>
          <p:nvPr/>
        </p:nvSpPr>
        <p:spPr>
          <a:xfrm>
            <a:off x="2379235" y="3916231"/>
            <a:ext cx="99157" cy="99157"/>
          </a:xfrm>
          <a:prstGeom prst="roundRect">
            <a:avLst>
              <a:gd name="adj" fmla="val 30000"/>
            </a:avLst>
          </a:prstGeom>
          <a:solidFill>
            <a:srgbClr val="1A7B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p15_13"/>
          <p:cNvSpPr/>
          <p:nvPr/>
        </p:nvSpPr>
        <p:spPr>
          <a:xfrm>
            <a:off x="2537981" y="3916231"/>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p16_07"/>
          <p:cNvSpPr/>
          <p:nvPr/>
        </p:nvSpPr>
        <p:spPr>
          <a:xfrm>
            <a:off x="1585505" y="3800931"/>
            <a:ext cx="99157" cy="99157"/>
          </a:xfrm>
          <a:prstGeom prst="roundRect">
            <a:avLst>
              <a:gd name="adj" fmla="val 30000"/>
            </a:avLst>
          </a:prstGeom>
          <a:solidFill>
            <a:srgbClr val="176C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p16_08"/>
          <p:cNvSpPr/>
          <p:nvPr/>
        </p:nvSpPr>
        <p:spPr>
          <a:xfrm>
            <a:off x="1744251" y="3800931"/>
            <a:ext cx="99157" cy="99157"/>
          </a:xfrm>
          <a:prstGeom prst="roundRect">
            <a:avLst>
              <a:gd name="adj" fmla="val 30000"/>
            </a:avLst>
          </a:prstGeom>
          <a:solidFill>
            <a:srgbClr val="1D8C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p16_09"/>
          <p:cNvSpPr/>
          <p:nvPr/>
        </p:nvSpPr>
        <p:spPr>
          <a:xfrm>
            <a:off x="1902997" y="3800931"/>
            <a:ext cx="99157" cy="99157"/>
          </a:xfrm>
          <a:prstGeom prst="roundRect">
            <a:avLst>
              <a:gd name="adj" fmla="val 30000"/>
            </a:avLst>
          </a:prstGeom>
          <a:solidFill>
            <a:srgbClr val="2C9B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p16_10"/>
          <p:cNvSpPr/>
          <p:nvPr/>
        </p:nvSpPr>
        <p:spPr>
          <a:xfrm>
            <a:off x="2061743" y="3800931"/>
            <a:ext cx="99157" cy="99157"/>
          </a:xfrm>
          <a:prstGeom prst="roundRect">
            <a:avLst>
              <a:gd name="adj" fmla="val 30000"/>
            </a:avLst>
          </a:prstGeom>
          <a:solidFill>
            <a:srgbClr val="309E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p16_11"/>
          <p:cNvSpPr/>
          <p:nvPr/>
        </p:nvSpPr>
        <p:spPr>
          <a:xfrm>
            <a:off x="2220489" y="3800931"/>
            <a:ext cx="99157" cy="99157"/>
          </a:xfrm>
          <a:prstGeom prst="roundRect">
            <a:avLst>
              <a:gd name="adj" fmla="val 30000"/>
            </a:avLst>
          </a:prstGeom>
          <a:solidFill>
            <a:srgbClr val="27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p16_12"/>
          <p:cNvSpPr/>
          <p:nvPr/>
        </p:nvSpPr>
        <p:spPr>
          <a:xfrm>
            <a:off x="2379235" y="3800931"/>
            <a:ext cx="99157" cy="99157"/>
          </a:xfrm>
          <a:prstGeom prst="roundRect">
            <a:avLst>
              <a:gd name="adj" fmla="val 30000"/>
            </a:avLst>
          </a:prstGeom>
          <a:solidFill>
            <a:srgbClr val="1A7D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p16_13"/>
          <p:cNvSpPr/>
          <p:nvPr/>
        </p:nvSpPr>
        <p:spPr>
          <a:xfrm>
            <a:off x="2537981" y="3800931"/>
            <a:ext cx="99157" cy="99157"/>
          </a:xfrm>
          <a:prstGeom prst="roundRect">
            <a:avLst>
              <a:gd name="adj" fmla="val 30000"/>
            </a:avLst>
          </a:prstGeom>
          <a:solidFill>
            <a:srgbClr val="1359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p17_07"/>
          <p:cNvSpPr/>
          <p:nvPr/>
        </p:nvSpPr>
        <p:spPr>
          <a:xfrm>
            <a:off x="1585505" y="3685631"/>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p17_08"/>
          <p:cNvSpPr/>
          <p:nvPr/>
        </p:nvSpPr>
        <p:spPr>
          <a:xfrm>
            <a:off x="1744251" y="3685631"/>
            <a:ext cx="99157" cy="99157"/>
          </a:xfrm>
          <a:prstGeom prst="roundRect">
            <a:avLst>
              <a:gd name="adj" fmla="val 30000"/>
            </a:avLst>
          </a:prstGeom>
          <a:solidFill>
            <a:srgbClr val="1D8B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p17_09"/>
          <p:cNvSpPr/>
          <p:nvPr/>
        </p:nvSpPr>
        <p:spPr>
          <a:xfrm>
            <a:off x="1902997" y="3685631"/>
            <a:ext cx="99157" cy="99157"/>
          </a:xfrm>
          <a:prstGeom prst="roundRect">
            <a:avLst>
              <a:gd name="adj" fmla="val 30000"/>
            </a:avLst>
          </a:prstGeom>
          <a:solidFill>
            <a:srgbClr val="2A99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p17_10"/>
          <p:cNvSpPr/>
          <p:nvPr/>
        </p:nvSpPr>
        <p:spPr>
          <a:xfrm>
            <a:off x="2061743" y="3685631"/>
            <a:ext cx="99157" cy="99157"/>
          </a:xfrm>
          <a:prstGeom prst="roundRect">
            <a:avLst>
              <a:gd name="adj" fmla="val 30000"/>
            </a:avLst>
          </a:prstGeom>
          <a:solidFill>
            <a:srgbClr val="2E9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p17_11"/>
          <p:cNvSpPr/>
          <p:nvPr/>
        </p:nvSpPr>
        <p:spPr>
          <a:xfrm>
            <a:off x="2220489" y="3685631"/>
            <a:ext cx="99157" cy="99157"/>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p17_12"/>
          <p:cNvSpPr/>
          <p:nvPr/>
        </p:nvSpPr>
        <p:spPr>
          <a:xfrm>
            <a:off x="2379235" y="3685631"/>
            <a:ext cx="99157" cy="99157"/>
          </a:xfrm>
          <a:prstGeom prst="roundRect">
            <a:avLst>
              <a:gd name="adj" fmla="val 30000"/>
            </a:avLst>
          </a:prstGeom>
          <a:solidFill>
            <a:srgbClr val="1A7F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p17_13"/>
          <p:cNvSpPr/>
          <p:nvPr/>
        </p:nvSpPr>
        <p:spPr>
          <a:xfrm>
            <a:off x="2537981" y="3685631"/>
            <a:ext cx="99157" cy="99157"/>
          </a:xfrm>
          <a:prstGeom prst="roundRect">
            <a:avLst>
              <a:gd name="adj" fmla="val 30000"/>
            </a:avLst>
          </a:prstGeom>
          <a:solidFill>
            <a:srgbClr val="135B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p18_06"/>
          <p:cNvSpPr/>
          <p:nvPr/>
        </p:nvSpPr>
        <p:spPr>
          <a:xfrm>
            <a:off x="1426759" y="3570331"/>
            <a:ext cx="99157" cy="99157"/>
          </a:xfrm>
          <a:prstGeom prst="roundRect">
            <a:avLst>
              <a:gd name="adj" fmla="val 30000"/>
            </a:avLst>
          </a:prstGeom>
          <a:solidFill>
            <a:srgbClr val="125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p18_07"/>
          <p:cNvSpPr/>
          <p:nvPr/>
        </p:nvSpPr>
        <p:spPr>
          <a:xfrm>
            <a:off x="1585505" y="3570331"/>
            <a:ext cx="99157" cy="99157"/>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p18_08"/>
          <p:cNvSpPr/>
          <p:nvPr/>
        </p:nvSpPr>
        <p:spPr>
          <a:xfrm>
            <a:off x="1744251" y="3570331"/>
            <a:ext cx="99157" cy="99157"/>
          </a:xfrm>
          <a:prstGeom prst="roundRect">
            <a:avLst>
              <a:gd name="adj" fmla="val 30000"/>
            </a:avLst>
          </a:prstGeom>
          <a:solidFill>
            <a:srgbClr val="1C8A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p18_09"/>
          <p:cNvSpPr/>
          <p:nvPr/>
        </p:nvSpPr>
        <p:spPr>
          <a:xfrm>
            <a:off x="1902997" y="3570331"/>
            <a:ext cx="99157" cy="99157"/>
          </a:xfrm>
          <a:prstGeom prst="roundRect">
            <a:avLst>
              <a:gd name="adj" fmla="val 30000"/>
            </a:avLst>
          </a:prstGeom>
          <a:solidFill>
            <a:srgbClr val="27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p18_10"/>
          <p:cNvSpPr/>
          <p:nvPr/>
        </p:nvSpPr>
        <p:spPr>
          <a:xfrm>
            <a:off x="2061743" y="3570331"/>
            <a:ext cx="99157" cy="99157"/>
          </a:xfrm>
          <a:prstGeom prst="roundRect">
            <a:avLst>
              <a:gd name="adj" fmla="val 30000"/>
            </a:avLst>
          </a:prstGeom>
          <a:solidFill>
            <a:srgbClr val="2A99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p18_11"/>
          <p:cNvSpPr/>
          <p:nvPr/>
        </p:nvSpPr>
        <p:spPr>
          <a:xfrm>
            <a:off x="2220489" y="3570331"/>
            <a:ext cx="99157" cy="99157"/>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p18_12"/>
          <p:cNvSpPr/>
          <p:nvPr/>
        </p:nvSpPr>
        <p:spPr>
          <a:xfrm>
            <a:off x="2379235" y="3570331"/>
            <a:ext cx="99157" cy="99157"/>
          </a:xfrm>
          <a:prstGeom prst="roundRect">
            <a:avLst>
              <a:gd name="adj" fmla="val 30000"/>
            </a:avLst>
          </a:prstGeom>
          <a:solidFill>
            <a:srgbClr val="1B82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p18_13"/>
          <p:cNvSpPr/>
          <p:nvPr/>
        </p:nvSpPr>
        <p:spPr>
          <a:xfrm>
            <a:off x="2537981" y="3570331"/>
            <a:ext cx="99157" cy="99157"/>
          </a:xfrm>
          <a:prstGeom prst="roundRect">
            <a:avLst>
              <a:gd name="adj" fmla="val 30000"/>
            </a:avLst>
          </a:prstGeom>
          <a:solidFill>
            <a:srgbClr val="145E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p19_06"/>
          <p:cNvSpPr/>
          <p:nvPr/>
        </p:nvSpPr>
        <p:spPr>
          <a:xfrm>
            <a:off x="1426759" y="3455032"/>
            <a:ext cx="99157" cy="99157"/>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p19_07"/>
          <p:cNvSpPr/>
          <p:nvPr/>
        </p:nvSpPr>
        <p:spPr>
          <a:xfrm>
            <a:off x="1585505" y="3455032"/>
            <a:ext cx="99157" cy="99157"/>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p19_08"/>
          <p:cNvSpPr/>
          <p:nvPr/>
        </p:nvSpPr>
        <p:spPr>
          <a:xfrm>
            <a:off x="1744251" y="3455032"/>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p19_09"/>
          <p:cNvSpPr/>
          <p:nvPr/>
        </p:nvSpPr>
        <p:spPr>
          <a:xfrm>
            <a:off x="1902997" y="3455032"/>
            <a:ext cx="99157" cy="99157"/>
          </a:xfrm>
          <a:prstGeom prst="roundRect">
            <a:avLst>
              <a:gd name="adj" fmla="val 30000"/>
            </a:avLst>
          </a:prstGeom>
          <a:solidFill>
            <a:srgbClr val="249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p19_10"/>
          <p:cNvSpPr/>
          <p:nvPr/>
        </p:nvSpPr>
        <p:spPr>
          <a:xfrm>
            <a:off x="2061743" y="3455032"/>
            <a:ext cx="99157" cy="99157"/>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p19_11"/>
          <p:cNvSpPr/>
          <p:nvPr/>
        </p:nvSpPr>
        <p:spPr>
          <a:xfrm>
            <a:off x="2220489" y="3455032"/>
            <a:ext cx="99157" cy="99157"/>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p19_12"/>
          <p:cNvSpPr/>
          <p:nvPr/>
        </p:nvSpPr>
        <p:spPr>
          <a:xfrm>
            <a:off x="2379235" y="3455032"/>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p19_13"/>
          <p:cNvSpPr/>
          <p:nvPr/>
        </p:nvSpPr>
        <p:spPr>
          <a:xfrm>
            <a:off x="2537981" y="3455032"/>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p20_06"/>
          <p:cNvSpPr/>
          <p:nvPr/>
        </p:nvSpPr>
        <p:spPr>
          <a:xfrm>
            <a:off x="1426759" y="3339732"/>
            <a:ext cx="99157" cy="99157"/>
          </a:xfrm>
          <a:prstGeom prst="roundRect">
            <a:avLst>
              <a:gd name="adj" fmla="val 30000"/>
            </a:avLst>
          </a:prstGeom>
          <a:solidFill>
            <a:srgbClr val="1668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p20_07"/>
          <p:cNvSpPr/>
          <p:nvPr/>
        </p:nvSpPr>
        <p:spPr>
          <a:xfrm>
            <a:off x="1585505" y="3339732"/>
            <a:ext cx="99157" cy="99157"/>
          </a:xfrm>
          <a:prstGeom prst="roundRect">
            <a:avLst>
              <a:gd name="adj" fmla="val 30000"/>
            </a:avLst>
          </a:prstGeom>
          <a:solidFill>
            <a:srgbClr val="1B84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p20_08"/>
          <p:cNvSpPr/>
          <p:nvPr/>
        </p:nvSpPr>
        <p:spPr>
          <a:xfrm>
            <a:off x="1744251" y="3339732"/>
            <a:ext cx="99157" cy="99157"/>
          </a:xfrm>
          <a:prstGeom prst="roundRect">
            <a:avLst>
              <a:gd name="adj" fmla="val 30000"/>
            </a:avLst>
          </a:prstGeom>
          <a:solidFill>
            <a:srgbClr val="22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 name="!!p20_09"/>
          <p:cNvSpPr/>
          <p:nvPr/>
        </p:nvSpPr>
        <p:spPr>
          <a:xfrm>
            <a:off x="1902997" y="3339732"/>
            <a:ext cx="99157" cy="99157"/>
          </a:xfrm>
          <a:prstGeom prst="roundRect">
            <a:avLst>
              <a:gd name="adj" fmla="val 30000"/>
            </a:avLst>
          </a:prstGeom>
          <a:solidFill>
            <a:srgbClr val="23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p20_10"/>
          <p:cNvSpPr/>
          <p:nvPr/>
        </p:nvSpPr>
        <p:spPr>
          <a:xfrm>
            <a:off x="2061743" y="3339732"/>
            <a:ext cx="99157" cy="99157"/>
          </a:xfrm>
          <a:prstGeom prst="roundRect">
            <a:avLst>
              <a:gd name="adj" fmla="val 30000"/>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p20_11"/>
          <p:cNvSpPr/>
          <p:nvPr/>
        </p:nvSpPr>
        <p:spPr>
          <a:xfrm>
            <a:off x="2220489" y="3339732"/>
            <a:ext cx="99157" cy="99157"/>
          </a:xfrm>
          <a:prstGeom prst="roundRect">
            <a:avLst>
              <a:gd name="adj" fmla="val 30000"/>
            </a:avLst>
          </a:prstGeom>
          <a:solidFill>
            <a:srgbClr val="26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p20_12"/>
          <p:cNvSpPr/>
          <p:nvPr/>
        </p:nvSpPr>
        <p:spPr>
          <a:xfrm>
            <a:off x="2379235" y="3339732"/>
            <a:ext cx="99157" cy="99157"/>
          </a:xfrm>
          <a:prstGeom prst="roundRect">
            <a:avLst>
              <a:gd name="adj" fmla="val 30000"/>
            </a:avLst>
          </a:prstGeom>
          <a:solidFill>
            <a:srgbClr val="21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p20_13"/>
          <p:cNvSpPr/>
          <p:nvPr/>
        </p:nvSpPr>
        <p:spPr>
          <a:xfrm>
            <a:off x="2537981" y="3339732"/>
            <a:ext cx="99157" cy="99157"/>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p21_05"/>
          <p:cNvSpPr/>
          <p:nvPr/>
        </p:nvSpPr>
        <p:spPr>
          <a:xfrm>
            <a:off x="1268013" y="3224432"/>
            <a:ext cx="99157" cy="99157"/>
          </a:xfrm>
          <a:prstGeom prst="roundRect">
            <a:avLst>
              <a:gd name="adj" fmla="val 30000"/>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 name="!!p21_06"/>
          <p:cNvSpPr/>
          <p:nvPr/>
        </p:nvSpPr>
        <p:spPr>
          <a:xfrm>
            <a:off x="1426759" y="3224432"/>
            <a:ext cx="99157" cy="99157"/>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p21_07"/>
          <p:cNvSpPr/>
          <p:nvPr/>
        </p:nvSpPr>
        <p:spPr>
          <a:xfrm>
            <a:off x="1585505" y="3224432"/>
            <a:ext cx="99157" cy="99157"/>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p21_08"/>
          <p:cNvSpPr/>
          <p:nvPr/>
        </p:nvSpPr>
        <p:spPr>
          <a:xfrm>
            <a:off x="1744251" y="3224432"/>
            <a:ext cx="99157" cy="99157"/>
          </a:xfrm>
          <a:prstGeom prst="roundRect">
            <a:avLst>
              <a:gd name="adj" fmla="val 30000"/>
            </a:avLst>
          </a:prstGeom>
          <a:solidFill>
            <a:srgbClr val="2A99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 name="!!p21_09"/>
          <p:cNvSpPr/>
          <p:nvPr/>
        </p:nvSpPr>
        <p:spPr>
          <a:xfrm>
            <a:off x="1902997" y="3224432"/>
            <a:ext cx="99157" cy="99157"/>
          </a:xfrm>
          <a:prstGeom prst="roundRect">
            <a:avLst>
              <a:gd name="adj" fmla="val 30000"/>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p21_10"/>
          <p:cNvSpPr/>
          <p:nvPr/>
        </p:nvSpPr>
        <p:spPr>
          <a:xfrm>
            <a:off x="2061743" y="3224432"/>
            <a:ext cx="99157" cy="99157"/>
          </a:xfrm>
          <a:prstGeom prst="roundRect">
            <a:avLst>
              <a:gd name="adj" fmla="val 30000"/>
            </a:avLst>
          </a:prstGeom>
          <a:solidFill>
            <a:srgbClr val="2190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p21_11"/>
          <p:cNvSpPr/>
          <p:nvPr/>
        </p:nvSpPr>
        <p:spPr>
          <a:xfrm>
            <a:off x="2220489" y="3224432"/>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 name="!!p21_12"/>
          <p:cNvSpPr/>
          <p:nvPr/>
        </p:nvSpPr>
        <p:spPr>
          <a:xfrm>
            <a:off x="2379235" y="3224432"/>
            <a:ext cx="99157" cy="99157"/>
          </a:xfrm>
          <a:prstGeom prst="roundRect">
            <a:avLst>
              <a:gd name="adj" fmla="val 30000"/>
            </a:avLst>
          </a:prstGeom>
          <a:solidFill>
            <a:srgbClr val="2A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p21_13"/>
          <p:cNvSpPr/>
          <p:nvPr/>
        </p:nvSpPr>
        <p:spPr>
          <a:xfrm>
            <a:off x="2537981" y="3224432"/>
            <a:ext cx="99157" cy="99157"/>
          </a:xfrm>
          <a:prstGeom prst="roundRect">
            <a:avLst>
              <a:gd name="adj" fmla="val 30000"/>
            </a:avLst>
          </a:prstGeom>
          <a:solidFill>
            <a:srgbClr val="1A7B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 name="!!p22_05"/>
          <p:cNvSpPr/>
          <p:nvPr/>
        </p:nvSpPr>
        <p:spPr>
          <a:xfrm>
            <a:off x="1268013" y="3109132"/>
            <a:ext cx="99157" cy="99157"/>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 name="!!p22_06"/>
          <p:cNvSpPr/>
          <p:nvPr/>
        </p:nvSpPr>
        <p:spPr>
          <a:xfrm>
            <a:off x="1426759" y="3109132"/>
            <a:ext cx="99157" cy="99157"/>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 name="!!p22_07"/>
          <p:cNvSpPr/>
          <p:nvPr/>
        </p:nvSpPr>
        <p:spPr>
          <a:xfrm>
            <a:off x="1585505" y="3109132"/>
            <a:ext cx="99157" cy="99157"/>
          </a:xfrm>
          <a:prstGeom prst="roundRect">
            <a:avLst>
              <a:gd name="adj" fmla="val 30000"/>
            </a:avLst>
          </a:prstGeom>
          <a:solidFill>
            <a:srgbClr val="34A2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p22_08"/>
          <p:cNvSpPr/>
          <p:nvPr/>
        </p:nvSpPr>
        <p:spPr>
          <a:xfrm>
            <a:off x="1744251" y="3109132"/>
            <a:ext cx="99157" cy="99157"/>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 name="!!p22_09"/>
          <p:cNvSpPr/>
          <p:nvPr/>
        </p:nvSpPr>
        <p:spPr>
          <a:xfrm>
            <a:off x="1902997" y="3109132"/>
            <a:ext cx="99157" cy="99157"/>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 name="!!p22_10"/>
          <p:cNvSpPr/>
          <p:nvPr/>
        </p:nvSpPr>
        <p:spPr>
          <a:xfrm>
            <a:off x="2061743" y="3109132"/>
            <a:ext cx="99157" cy="99157"/>
          </a:xfrm>
          <a:prstGeom prst="roundRect">
            <a:avLst>
              <a:gd name="adj" fmla="val 30000"/>
            </a:avLst>
          </a:prstGeom>
          <a:solidFill>
            <a:srgbClr val="1F8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 name="!!p22_11"/>
          <p:cNvSpPr/>
          <p:nvPr/>
        </p:nvSpPr>
        <p:spPr>
          <a:xfrm>
            <a:off x="2220489" y="3109132"/>
            <a:ext cx="99157" cy="99157"/>
          </a:xfrm>
          <a:prstGeom prst="roundRect">
            <a:avLst>
              <a:gd name="adj" fmla="val 30000"/>
            </a:avLst>
          </a:prstGeom>
          <a:solidFill>
            <a:srgbClr val="2B99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 name="!!p22_12"/>
          <p:cNvSpPr/>
          <p:nvPr/>
        </p:nvSpPr>
        <p:spPr>
          <a:xfrm>
            <a:off x="2379235" y="3109132"/>
            <a:ext cx="99157" cy="99157"/>
          </a:xfrm>
          <a:prstGeom prst="roundRect">
            <a:avLst>
              <a:gd name="adj" fmla="val 30000"/>
            </a:avLst>
          </a:prstGeom>
          <a:solidFill>
            <a:srgbClr val="309F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 name="!!p22_13"/>
          <p:cNvSpPr/>
          <p:nvPr/>
        </p:nvSpPr>
        <p:spPr>
          <a:xfrm>
            <a:off x="2537981" y="3109132"/>
            <a:ext cx="99157" cy="99157"/>
          </a:xfrm>
          <a:prstGeom prst="roundRect">
            <a:avLst>
              <a:gd name="adj" fmla="val 30000"/>
            </a:avLst>
          </a:prstGeom>
          <a:solidFill>
            <a:srgbClr val="1C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 name="!!p23_04"/>
          <p:cNvSpPr/>
          <p:nvPr/>
        </p:nvSpPr>
        <p:spPr>
          <a:xfrm>
            <a:off x="1109267" y="2993833"/>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 name="!!p23_05"/>
          <p:cNvSpPr/>
          <p:nvPr/>
        </p:nvSpPr>
        <p:spPr>
          <a:xfrm>
            <a:off x="1268013" y="2993833"/>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 name="!!p23_06"/>
          <p:cNvSpPr/>
          <p:nvPr/>
        </p:nvSpPr>
        <p:spPr>
          <a:xfrm>
            <a:off x="1426759" y="2993833"/>
            <a:ext cx="99157" cy="99157"/>
          </a:xfrm>
          <a:prstGeom prst="roundRect">
            <a:avLst>
              <a:gd name="adj" fmla="val 30000"/>
            </a:avLst>
          </a:prstGeom>
          <a:solidFill>
            <a:srgbClr val="3AA7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 name="!!p23_07"/>
          <p:cNvSpPr/>
          <p:nvPr/>
        </p:nvSpPr>
        <p:spPr>
          <a:xfrm>
            <a:off x="1585505" y="2993833"/>
            <a:ext cx="99157" cy="99157"/>
          </a:xfrm>
          <a:prstGeom prst="roundRect">
            <a:avLst>
              <a:gd name="adj" fmla="val 30000"/>
            </a:avLst>
          </a:prstGeom>
          <a:solidFill>
            <a:srgbClr val="44B0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 name="!!p23_08"/>
          <p:cNvSpPr/>
          <p:nvPr/>
        </p:nvSpPr>
        <p:spPr>
          <a:xfrm>
            <a:off x="1744251" y="2993833"/>
            <a:ext cx="99157" cy="99157"/>
          </a:xfrm>
          <a:prstGeom prst="roundRect">
            <a:avLst>
              <a:gd name="adj" fmla="val 30000"/>
            </a:avLst>
          </a:prstGeom>
          <a:solidFill>
            <a:srgbClr val="3DAA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 name="!!p23_09"/>
          <p:cNvSpPr/>
          <p:nvPr/>
        </p:nvSpPr>
        <p:spPr>
          <a:xfrm>
            <a:off x="1902997" y="2993833"/>
            <a:ext cx="99157" cy="99157"/>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 name="!!p23_10"/>
          <p:cNvSpPr/>
          <p:nvPr/>
        </p:nvSpPr>
        <p:spPr>
          <a:xfrm>
            <a:off x="2061743" y="2993833"/>
            <a:ext cx="99157" cy="99157"/>
          </a:xfrm>
          <a:prstGeom prst="roundRect">
            <a:avLst>
              <a:gd name="adj" fmla="val 30000"/>
            </a:avLst>
          </a:prstGeom>
          <a:solidFill>
            <a:srgbClr val="1C8A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 name="!!p23_11"/>
          <p:cNvSpPr/>
          <p:nvPr/>
        </p:nvSpPr>
        <p:spPr>
          <a:xfrm>
            <a:off x="2220489" y="2993833"/>
            <a:ext cx="99157" cy="99157"/>
          </a:xfrm>
          <a:prstGeom prst="roundRect">
            <a:avLst>
              <a:gd name="adj" fmla="val 30000"/>
            </a:avLst>
          </a:prstGeom>
          <a:solidFill>
            <a:srgbClr val="2998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 name="!!p23_12"/>
          <p:cNvSpPr/>
          <p:nvPr/>
        </p:nvSpPr>
        <p:spPr>
          <a:xfrm>
            <a:off x="2379235" y="2993833"/>
            <a:ext cx="99157" cy="99157"/>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 name="!!p23_13"/>
          <p:cNvSpPr/>
          <p:nvPr/>
        </p:nvSpPr>
        <p:spPr>
          <a:xfrm>
            <a:off x="2537981" y="2993833"/>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 name="!!p23_14"/>
          <p:cNvSpPr/>
          <p:nvPr/>
        </p:nvSpPr>
        <p:spPr>
          <a:xfrm>
            <a:off x="2696727" y="2993833"/>
            <a:ext cx="99157" cy="99157"/>
          </a:xfrm>
          <a:prstGeom prst="roundRect">
            <a:avLst>
              <a:gd name="adj" fmla="val 30000"/>
            </a:avLst>
          </a:prstGeom>
          <a:solidFill>
            <a:srgbClr val="104B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 name="!!p24_04"/>
          <p:cNvSpPr/>
          <p:nvPr/>
        </p:nvSpPr>
        <p:spPr>
          <a:xfrm>
            <a:off x="1109267" y="2878533"/>
            <a:ext cx="99157" cy="99157"/>
          </a:xfrm>
          <a:prstGeom prst="roundRect">
            <a:avLst>
              <a:gd name="adj" fmla="val 30000"/>
            </a:avLst>
          </a:prstGeom>
          <a:solidFill>
            <a:srgbClr val="1A7F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 name="!!p24_05"/>
          <p:cNvSpPr/>
          <p:nvPr/>
        </p:nvSpPr>
        <p:spPr>
          <a:xfrm>
            <a:off x="1268013" y="2878533"/>
            <a:ext cx="99157" cy="99157"/>
          </a:xfrm>
          <a:prstGeom prst="roundRect">
            <a:avLst>
              <a:gd name="adj" fmla="val 30000"/>
            </a:avLst>
          </a:prstGeom>
          <a:solidFill>
            <a:srgbClr val="38A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 name="!!p24_06"/>
          <p:cNvSpPr/>
          <p:nvPr/>
        </p:nvSpPr>
        <p:spPr>
          <a:xfrm>
            <a:off x="1426759" y="2878533"/>
            <a:ext cx="99157" cy="99157"/>
          </a:xfrm>
          <a:prstGeom prst="roundRect">
            <a:avLst>
              <a:gd name="adj" fmla="val 30000"/>
            </a:avLst>
          </a:prstGeom>
          <a:solidFill>
            <a:srgbClr val="48B4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 name="!!p24_07"/>
          <p:cNvSpPr/>
          <p:nvPr/>
        </p:nvSpPr>
        <p:spPr>
          <a:xfrm>
            <a:off x="1585505" y="2878533"/>
            <a:ext cx="99157" cy="99157"/>
          </a:xfrm>
          <a:prstGeom prst="roundRect">
            <a:avLst>
              <a:gd name="adj" fmla="val 30000"/>
            </a:avLst>
          </a:prstGeom>
          <a:solidFill>
            <a:srgbClr val="4DB8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 name="!!p24_08"/>
          <p:cNvSpPr/>
          <p:nvPr/>
        </p:nvSpPr>
        <p:spPr>
          <a:xfrm>
            <a:off x="1744251" y="2878533"/>
            <a:ext cx="99157" cy="99157"/>
          </a:xfrm>
          <a:prstGeom prst="roundRect">
            <a:avLst>
              <a:gd name="adj" fmla="val 30000"/>
            </a:avLst>
          </a:prstGeom>
          <a:solidFill>
            <a:srgbClr val="41AE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 name="!!p24_09"/>
          <p:cNvSpPr/>
          <p:nvPr/>
        </p:nvSpPr>
        <p:spPr>
          <a:xfrm>
            <a:off x="1902997" y="2878533"/>
            <a:ext cx="99157" cy="99157"/>
          </a:xfrm>
          <a:prstGeom prst="roundRect">
            <a:avLst>
              <a:gd name="adj" fmla="val 30000"/>
            </a:avLst>
          </a:prstGeom>
          <a:solidFill>
            <a:srgbClr val="249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 name="!!p24_10"/>
          <p:cNvSpPr/>
          <p:nvPr/>
        </p:nvSpPr>
        <p:spPr>
          <a:xfrm>
            <a:off x="2061743" y="2878533"/>
            <a:ext cx="99157" cy="99157"/>
          </a:xfrm>
          <a:prstGeom prst="roundRect">
            <a:avLst>
              <a:gd name="adj" fmla="val 30000"/>
            </a:avLst>
          </a:prstGeom>
          <a:solidFill>
            <a:srgbClr val="1B81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 name="!!p24_11"/>
          <p:cNvSpPr/>
          <p:nvPr/>
        </p:nvSpPr>
        <p:spPr>
          <a:xfrm>
            <a:off x="2220489" y="2878533"/>
            <a:ext cx="99157" cy="99157"/>
          </a:xfrm>
          <a:prstGeom prst="roundRect">
            <a:avLst>
              <a:gd name="adj" fmla="val 30000"/>
            </a:avLst>
          </a:prstGeom>
          <a:solidFill>
            <a:srgbClr val="22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 name="!!p24_12"/>
          <p:cNvSpPr/>
          <p:nvPr/>
        </p:nvSpPr>
        <p:spPr>
          <a:xfrm>
            <a:off x="2379235" y="2878533"/>
            <a:ext cx="99157" cy="99157"/>
          </a:xfrm>
          <a:prstGeom prst="roundRect">
            <a:avLst>
              <a:gd name="adj" fmla="val 30000"/>
            </a:avLst>
          </a:prstGeom>
          <a:solidFill>
            <a:srgbClr val="2C9B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 name="!!p24_13"/>
          <p:cNvSpPr/>
          <p:nvPr/>
        </p:nvSpPr>
        <p:spPr>
          <a:xfrm>
            <a:off x="2537981" y="2878533"/>
            <a:ext cx="99157" cy="99157"/>
          </a:xfrm>
          <a:prstGeom prst="roundRect">
            <a:avLst>
              <a:gd name="adj" fmla="val 30000"/>
            </a:avLst>
          </a:prstGeom>
          <a:solidFill>
            <a:srgbClr val="1B82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 name="!!p24_14"/>
          <p:cNvSpPr/>
          <p:nvPr/>
        </p:nvSpPr>
        <p:spPr>
          <a:xfrm>
            <a:off x="2696727" y="2878533"/>
            <a:ext cx="99157" cy="99157"/>
          </a:xfrm>
          <a:prstGeom prst="roundRect">
            <a:avLst>
              <a:gd name="adj" fmla="val 30000"/>
            </a:avLst>
          </a:prstGeom>
          <a:solidFill>
            <a:srgbClr val="0F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 name="!!p25_04"/>
          <p:cNvSpPr/>
          <p:nvPr/>
        </p:nvSpPr>
        <p:spPr>
          <a:xfrm>
            <a:off x="1109267" y="2763233"/>
            <a:ext cx="99157" cy="99157"/>
          </a:xfrm>
          <a:prstGeom prst="roundRect">
            <a:avLst>
              <a:gd name="adj" fmla="val 30000"/>
            </a:avLst>
          </a:prstGeom>
          <a:solidFill>
            <a:srgbClr val="1C88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 name="!!p25_05"/>
          <p:cNvSpPr/>
          <p:nvPr/>
        </p:nvSpPr>
        <p:spPr>
          <a:xfrm>
            <a:off x="1268013" y="2763233"/>
            <a:ext cx="99157" cy="99157"/>
          </a:xfrm>
          <a:prstGeom prst="roundRect">
            <a:avLst>
              <a:gd name="adj" fmla="val 30000"/>
            </a:avLst>
          </a:prstGeom>
          <a:solidFill>
            <a:srgbClr val="40A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 name="!!p25_06"/>
          <p:cNvSpPr/>
          <p:nvPr/>
        </p:nvSpPr>
        <p:spPr>
          <a:xfrm>
            <a:off x="1426759" y="2763233"/>
            <a:ext cx="99157" cy="99157"/>
          </a:xfrm>
          <a:prstGeom prst="roundRect">
            <a:avLst>
              <a:gd name="adj" fmla="val 30000"/>
            </a:avLst>
          </a:prstGeom>
          <a:solidFill>
            <a:srgbClr val="4CB7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 name="!!p25_07"/>
          <p:cNvSpPr/>
          <p:nvPr/>
        </p:nvSpPr>
        <p:spPr>
          <a:xfrm>
            <a:off x="1585505" y="2763233"/>
            <a:ext cx="99157" cy="99157"/>
          </a:xfrm>
          <a:prstGeom prst="roundRect">
            <a:avLst>
              <a:gd name="adj" fmla="val 30000"/>
            </a:avLst>
          </a:prstGeom>
          <a:solidFill>
            <a:srgbClr val="4CB8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 name="!!p25_08"/>
          <p:cNvSpPr/>
          <p:nvPr/>
        </p:nvSpPr>
        <p:spPr>
          <a:xfrm>
            <a:off x="1744251" y="2763233"/>
            <a:ext cx="99157" cy="99157"/>
          </a:xfrm>
          <a:prstGeom prst="roundRect">
            <a:avLst>
              <a:gd name="adj" fmla="val 30000"/>
            </a:avLst>
          </a:prstGeom>
          <a:solidFill>
            <a:srgbClr val="3DAA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 name="!!p25_09"/>
          <p:cNvSpPr/>
          <p:nvPr/>
        </p:nvSpPr>
        <p:spPr>
          <a:xfrm>
            <a:off x="1902997" y="2763233"/>
            <a:ext cx="99157" cy="99157"/>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 name="!!p25_10"/>
          <p:cNvSpPr/>
          <p:nvPr/>
        </p:nvSpPr>
        <p:spPr>
          <a:xfrm>
            <a:off x="2061743" y="2763233"/>
            <a:ext cx="99157" cy="99157"/>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 name="!!p25_11"/>
          <p:cNvSpPr/>
          <p:nvPr/>
        </p:nvSpPr>
        <p:spPr>
          <a:xfrm>
            <a:off x="2220489" y="2763233"/>
            <a:ext cx="99157" cy="99157"/>
          </a:xfrm>
          <a:prstGeom prst="roundRect">
            <a:avLst>
              <a:gd name="adj" fmla="val 30000"/>
            </a:avLst>
          </a:prstGeom>
          <a:solidFill>
            <a:srgbClr val="1B81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 name="!!p25_12"/>
          <p:cNvSpPr/>
          <p:nvPr/>
        </p:nvSpPr>
        <p:spPr>
          <a:xfrm>
            <a:off x="2379235" y="2763233"/>
            <a:ext cx="99157" cy="99157"/>
          </a:xfrm>
          <a:prstGeom prst="roundRect">
            <a:avLst>
              <a:gd name="adj" fmla="val 30000"/>
            </a:avLst>
          </a:prstGeom>
          <a:solidFill>
            <a:srgbClr val="1E8E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 name="!!p25_13"/>
          <p:cNvSpPr/>
          <p:nvPr/>
        </p:nvSpPr>
        <p:spPr>
          <a:xfrm>
            <a:off x="2537981" y="2763233"/>
            <a:ext cx="99157" cy="99157"/>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 name="!!p25_14"/>
          <p:cNvSpPr/>
          <p:nvPr/>
        </p:nvSpPr>
        <p:spPr>
          <a:xfrm>
            <a:off x="2696727" y="2763233"/>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 name="!!p26_03"/>
          <p:cNvSpPr/>
          <p:nvPr/>
        </p:nvSpPr>
        <p:spPr>
          <a:xfrm>
            <a:off x="950521" y="2647933"/>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 name="!!p26_04"/>
          <p:cNvSpPr/>
          <p:nvPr/>
        </p:nvSpPr>
        <p:spPr>
          <a:xfrm>
            <a:off x="1109267" y="2647933"/>
            <a:ext cx="99157" cy="99157"/>
          </a:xfrm>
          <a:prstGeom prst="roundRect">
            <a:avLst>
              <a:gd name="adj" fmla="val 30000"/>
            </a:avLst>
          </a:prstGeom>
          <a:solidFill>
            <a:srgbClr val="1B83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 name="!!p26_05"/>
          <p:cNvSpPr/>
          <p:nvPr/>
        </p:nvSpPr>
        <p:spPr>
          <a:xfrm>
            <a:off x="1268013" y="2647933"/>
            <a:ext cx="99157" cy="99157"/>
          </a:xfrm>
          <a:prstGeom prst="roundRect">
            <a:avLst>
              <a:gd name="adj" fmla="val 30000"/>
            </a:avLst>
          </a:prstGeom>
          <a:solidFill>
            <a:srgbClr val="3AA7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 name="!!p26_06"/>
          <p:cNvSpPr/>
          <p:nvPr/>
        </p:nvSpPr>
        <p:spPr>
          <a:xfrm>
            <a:off x="1426759" y="2647933"/>
            <a:ext cx="99157" cy="99157"/>
          </a:xfrm>
          <a:prstGeom prst="roundRect">
            <a:avLst>
              <a:gd name="adj" fmla="val 30000"/>
            </a:avLst>
          </a:prstGeom>
          <a:solidFill>
            <a:srgbClr val="43AF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 name="!!p26_07"/>
          <p:cNvSpPr/>
          <p:nvPr/>
        </p:nvSpPr>
        <p:spPr>
          <a:xfrm>
            <a:off x="1585505" y="2647933"/>
            <a:ext cx="99157" cy="99157"/>
          </a:xfrm>
          <a:prstGeom prst="roundRect">
            <a:avLst>
              <a:gd name="adj" fmla="val 30000"/>
            </a:avLst>
          </a:prstGeom>
          <a:solidFill>
            <a:srgbClr val="40AD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 name="!!p26_08"/>
          <p:cNvSpPr/>
          <p:nvPr/>
        </p:nvSpPr>
        <p:spPr>
          <a:xfrm>
            <a:off x="1744251" y="2647933"/>
            <a:ext cx="99157" cy="99157"/>
          </a:xfrm>
          <a:prstGeom prst="roundRect">
            <a:avLst>
              <a:gd name="adj" fmla="val 30000"/>
            </a:avLst>
          </a:prstGeom>
          <a:solidFill>
            <a:srgbClr val="319F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 name="!!p26_09"/>
          <p:cNvSpPr/>
          <p:nvPr/>
        </p:nvSpPr>
        <p:spPr>
          <a:xfrm>
            <a:off x="1902997" y="2647933"/>
            <a:ext cx="99157" cy="99157"/>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 name="!!p26_10"/>
          <p:cNvSpPr/>
          <p:nvPr/>
        </p:nvSpPr>
        <p:spPr>
          <a:xfrm>
            <a:off x="2061743" y="2647933"/>
            <a:ext cx="99157" cy="99157"/>
          </a:xfrm>
          <a:prstGeom prst="roundRect">
            <a:avLst>
              <a:gd name="adj" fmla="val 30000"/>
            </a:avLst>
          </a:prstGeom>
          <a:solidFill>
            <a:srgbClr val="14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 name="!!p26_11"/>
          <p:cNvSpPr/>
          <p:nvPr/>
        </p:nvSpPr>
        <p:spPr>
          <a:xfrm>
            <a:off x="2220489" y="2647933"/>
            <a:ext cx="99157" cy="99157"/>
          </a:xfrm>
          <a:prstGeom prst="roundRect">
            <a:avLst>
              <a:gd name="adj" fmla="val 30000"/>
            </a:avLst>
          </a:prstGeom>
          <a:solidFill>
            <a:srgbClr val="1669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 name="!!p26_12"/>
          <p:cNvSpPr/>
          <p:nvPr/>
        </p:nvSpPr>
        <p:spPr>
          <a:xfrm>
            <a:off x="2379235" y="2647933"/>
            <a:ext cx="99157" cy="99157"/>
          </a:xfrm>
          <a:prstGeom prst="roundRect">
            <a:avLst>
              <a:gd name="adj" fmla="val 30000"/>
            </a:avLst>
          </a:prstGeom>
          <a:solidFill>
            <a:srgbClr val="1873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 name="!!p26_13"/>
          <p:cNvSpPr/>
          <p:nvPr/>
        </p:nvSpPr>
        <p:spPr>
          <a:xfrm>
            <a:off x="2537981" y="2647933"/>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 name="!!p26_14"/>
          <p:cNvSpPr/>
          <p:nvPr/>
        </p:nvSpPr>
        <p:spPr>
          <a:xfrm>
            <a:off x="2696727" y="2647933"/>
            <a:ext cx="99157" cy="99157"/>
          </a:xfrm>
          <a:prstGeom prst="roundRect">
            <a:avLst>
              <a:gd name="adj" fmla="val 30000"/>
            </a:avLst>
          </a:prstGeom>
          <a:solidFill>
            <a:srgbClr val="0C38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 name="!!p27_03"/>
          <p:cNvSpPr/>
          <p:nvPr/>
        </p:nvSpPr>
        <p:spPr>
          <a:xfrm>
            <a:off x="950521" y="2532634"/>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 name="!!p27_04"/>
          <p:cNvSpPr/>
          <p:nvPr/>
        </p:nvSpPr>
        <p:spPr>
          <a:xfrm>
            <a:off x="1109267" y="2532634"/>
            <a:ext cx="99157" cy="99157"/>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 name="!!p27_05"/>
          <p:cNvSpPr/>
          <p:nvPr/>
        </p:nvSpPr>
        <p:spPr>
          <a:xfrm>
            <a:off x="1268013" y="2532634"/>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 name="!!p27_06"/>
          <p:cNvSpPr/>
          <p:nvPr/>
        </p:nvSpPr>
        <p:spPr>
          <a:xfrm>
            <a:off x="1426759" y="2532634"/>
            <a:ext cx="99157" cy="99157"/>
          </a:xfrm>
          <a:prstGeom prst="roundRect">
            <a:avLst>
              <a:gd name="adj" fmla="val 30000"/>
            </a:avLst>
          </a:prstGeom>
          <a:solidFill>
            <a:srgbClr val="309E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 name="!!p27_07"/>
          <p:cNvSpPr/>
          <p:nvPr/>
        </p:nvSpPr>
        <p:spPr>
          <a:xfrm>
            <a:off x="1585505" y="2532634"/>
            <a:ext cx="99157" cy="99157"/>
          </a:xfrm>
          <a:prstGeom prst="roundRect">
            <a:avLst>
              <a:gd name="adj" fmla="val 30000"/>
            </a:avLst>
          </a:prstGeom>
          <a:solidFill>
            <a:srgbClr val="2C9A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 name="!!p27_08"/>
          <p:cNvSpPr/>
          <p:nvPr/>
        </p:nvSpPr>
        <p:spPr>
          <a:xfrm>
            <a:off x="1744251" y="2532634"/>
            <a:ext cx="99157" cy="99157"/>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 name="!!p27_09"/>
          <p:cNvSpPr/>
          <p:nvPr/>
        </p:nvSpPr>
        <p:spPr>
          <a:xfrm>
            <a:off x="1902997" y="2532634"/>
            <a:ext cx="99157" cy="99157"/>
          </a:xfrm>
          <a:prstGeom prst="roundRect">
            <a:avLst>
              <a:gd name="adj" fmla="val 30000"/>
            </a:avLst>
          </a:prstGeom>
          <a:solidFill>
            <a:srgbClr val="1667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 name="!!p27_10"/>
          <p:cNvSpPr/>
          <p:nvPr/>
        </p:nvSpPr>
        <p:spPr>
          <a:xfrm>
            <a:off x="2061743" y="2532634"/>
            <a:ext cx="99157" cy="99157"/>
          </a:xfrm>
          <a:prstGeom prst="roundRect">
            <a:avLst>
              <a:gd name="adj" fmla="val 30000"/>
            </a:avLst>
          </a:prstGeom>
          <a:solidFill>
            <a:srgbClr val="114E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 name="!!p27_11"/>
          <p:cNvSpPr/>
          <p:nvPr/>
        </p:nvSpPr>
        <p:spPr>
          <a:xfrm>
            <a:off x="2220489" y="2532634"/>
            <a:ext cx="99157" cy="99157"/>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 name="!!p27_12"/>
          <p:cNvSpPr/>
          <p:nvPr/>
        </p:nvSpPr>
        <p:spPr>
          <a:xfrm>
            <a:off x="2379235" y="2532634"/>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 name="!!p27_13"/>
          <p:cNvSpPr/>
          <p:nvPr/>
        </p:nvSpPr>
        <p:spPr>
          <a:xfrm>
            <a:off x="2537981" y="2532634"/>
            <a:ext cx="99157" cy="99157"/>
          </a:xfrm>
          <a:prstGeom prst="roundRect">
            <a:avLst>
              <a:gd name="adj" fmla="val 30000"/>
            </a:avLst>
          </a:prstGeom>
          <a:solidFill>
            <a:srgbClr val="0F44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 name="!!p27_14"/>
          <p:cNvSpPr/>
          <p:nvPr/>
        </p:nvSpPr>
        <p:spPr>
          <a:xfrm>
            <a:off x="2696727" y="2532634"/>
            <a:ext cx="99157" cy="99157"/>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 name="!!p28_03"/>
          <p:cNvSpPr/>
          <p:nvPr/>
        </p:nvSpPr>
        <p:spPr>
          <a:xfrm>
            <a:off x="950521" y="2417334"/>
            <a:ext cx="99157" cy="99157"/>
          </a:xfrm>
          <a:prstGeom prst="roundRect">
            <a:avLst>
              <a:gd name="adj" fmla="val 30000"/>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 name="!!p28_04"/>
          <p:cNvSpPr/>
          <p:nvPr/>
        </p:nvSpPr>
        <p:spPr>
          <a:xfrm>
            <a:off x="1109267" y="2417334"/>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 name="!!p28_05"/>
          <p:cNvSpPr/>
          <p:nvPr/>
        </p:nvSpPr>
        <p:spPr>
          <a:xfrm>
            <a:off x="1268013" y="2417334"/>
            <a:ext cx="99157" cy="99157"/>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 name="!!p28_06"/>
          <p:cNvSpPr/>
          <p:nvPr/>
        </p:nvSpPr>
        <p:spPr>
          <a:xfrm>
            <a:off x="1426759" y="2417334"/>
            <a:ext cx="99157" cy="99157"/>
          </a:xfrm>
          <a:prstGeom prst="roundRect">
            <a:avLst>
              <a:gd name="adj" fmla="val 30000"/>
            </a:avLst>
          </a:prstGeom>
          <a:solidFill>
            <a:srgbClr val="1B84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 name="!!p28_07"/>
          <p:cNvSpPr/>
          <p:nvPr/>
        </p:nvSpPr>
        <p:spPr>
          <a:xfrm>
            <a:off x="1585505" y="2417334"/>
            <a:ext cx="99157" cy="99157"/>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 name="!!p28_08"/>
          <p:cNvSpPr/>
          <p:nvPr/>
        </p:nvSpPr>
        <p:spPr>
          <a:xfrm>
            <a:off x="1744251" y="2417334"/>
            <a:ext cx="99157" cy="99157"/>
          </a:xfrm>
          <a:prstGeom prst="roundRect">
            <a:avLst>
              <a:gd name="adj" fmla="val 30000"/>
            </a:avLst>
          </a:prstGeom>
          <a:solidFill>
            <a:srgbClr val="176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 name="!!p28_09"/>
          <p:cNvSpPr/>
          <p:nvPr/>
        </p:nvSpPr>
        <p:spPr>
          <a:xfrm>
            <a:off x="1902997" y="2417334"/>
            <a:ext cx="99157" cy="99157"/>
          </a:xfrm>
          <a:prstGeom prst="roundRect">
            <a:avLst>
              <a:gd name="adj" fmla="val 30000"/>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 name="!!p28_10"/>
          <p:cNvSpPr/>
          <p:nvPr/>
        </p:nvSpPr>
        <p:spPr>
          <a:xfrm>
            <a:off x="2061743" y="2417334"/>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 name="!!p28_11"/>
          <p:cNvSpPr/>
          <p:nvPr/>
        </p:nvSpPr>
        <p:spPr>
          <a:xfrm>
            <a:off x="2220489" y="2417334"/>
            <a:ext cx="99157" cy="99157"/>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 name="!!p28_12"/>
          <p:cNvSpPr/>
          <p:nvPr/>
        </p:nvSpPr>
        <p:spPr>
          <a:xfrm>
            <a:off x="2379235" y="2417334"/>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 name="!!p28_13"/>
          <p:cNvSpPr/>
          <p:nvPr/>
        </p:nvSpPr>
        <p:spPr>
          <a:xfrm>
            <a:off x="2537981" y="2417334"/>
            <a:ext cx="99157" cy="99157"/>
          </a:xfrm>
          <a:prstGeom prst="roundRect">
            <a:avLst>
              <a:gd name="adj" fmla="val 30000"/>
            </a:avLst>
          </a:prstGeom>
          <a:solidFill>
            <a:srgbClr val="0C37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 name="!!p28_14"/>
          <p:cNvSpPr/>
          <p:nvPr/>
        </p:nvSpPr>
        <p:spPr>
          <a:xfrm>
            <a:off x="2696727" y="2417334"/>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 name="!!p29_03"/>
          <p:cNvSpPr/>
          <p:nvPr/>
        </p:nvSpPr>
        <p:spPr>
          <a:xfrm>
            <a:off x="950521" y="2302034"/>
            <a:ext cx="99157" cy="99157"/>
          </a:xfrm>
          <a:prstGeom prst="roundRect">
            <a:avLst>
              <a:gd name="adj" fmla="val 30000"/>
            </a:avLst>
          </a:prstGeom>
          <a:solidFill>
            <a:srgbClr val="0B33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 name="!!p29_04"/>
          <p:cNvSpPr/>
          <p:nvPr/>
        </p:nvSpPr>
        <p:spPr>
          <a:xfrm>
            <a:off x="1109267" y="2302034"/>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 name="!!p29_05"/>
          <p:cNvSpPr/>
          <p:nvPr/>
        </p:nvSpPr>
        <p:spPr>
          <a:xfrm>
            <a:off x="1268013" y="2302034"/>
            <a:ext cx="99157" cy="99157"/>
          </a:xfrm>
          <a:prstGeom prst="roundRect">
            <a:avLst>
              <a:gd name="adj" fmla="val 30000"/>
            </a:avLst>
          </a:prstGeom>
          <a:solidFill>
            <a:srgbClr val="1460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 name="!!p29_06"/>
          <p:cNvSpPr/>
          <p:nvPr/>
        </p:nvSpPr>
        <p:spPr>
          <a:xfrm>
            <a:off x="1426759" y="2302034"/>
            <a:ext cx="99157" cy="99157"/>
          </a:xfrm>
          <a:prstGeom prst="roundRect">
            <a:avLst>
              <a:gd name="adj" fmla="val 30000"/>
            </a:avLst>
          </a:prstGeom>
          <a:solidFill>
            <a:srgbClr val="14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 name="!!p29_07"/>
          <p:cNvSpPr/>
          <p:nvPr/>
        </p:nvSpPr>
        <p:spPr>
          <a:xfrm>
            <a:off x="1585505" y="2302034"/>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 name="!!p29_08"/>
          <p:cNvSpPr/>
          <p:nvPr/>
        </p:nvSpPr>
        <p:spPr>
          <a:xfrm>
            <a:off x="1744251" y="2302034"/>
            <a:ext cx="99157" cy="99157"/>
          </a:xfrm>
          <a:prstGeom prst="roundRect">
            <a:avLst>
              <a:gd name="adj" fmla="val 30000"/>
            </a:avLst>
          </a:prstGeom>
          <a:solidFill>
            <a:srgbClr val="1150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2" name="!!p29_09"/>
          <p:cNvSpPr/>
          <p:nvPr/>
        </p:nvSpPr>
        <p:spPr>
          <a:xfrm>
            <a:off x="1902997" y="2302034"/>
            <a:ext cx="99157" cy="99157"/>
          </a:xfrm>
          <a:prstGeom prst="roundRect">
            <a:avLst>
              <a:gd name="adj" fmla="val 30000"/>
            </a:avLst>
          </a:prstGeom>
          <a:solidFill>
            <a:srgbClr val="0D3D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3" name="!!p29_10"/>
          <p:cNvSpPr/>
          <p:nvPr/>
        </p:nvSpPr>
        <p:spPr>
          <a:xfrm>
            <a:off x="2061743" y="2302034"/>
            <a:ext cx="99157" cy="99157"/>
          </a:xfrm>
          <a:prstGeom prst="roundRect">
            <a:avLst>
              <a:gd name="adj" fmla="val 30000"/>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4" name="!!p29_11"/>
          <p:cNvSpPr/>
          <p:nvPr/>
        </p:nvSpPr>
        <p:spPr>
          <a:xfrm>
            <a:off x="2220489" y="2302034"/>
            <a:ext cx="99157" cy="99157"/>
          </a:xfrm>
          <a:prstGeom prst="roundRect">
            <a:avLst>
              <a:gd name="adj" fmla="val 30000"/>
            </a:avLst>
          </a:prstGeom>
          <a:solidFill>
            <a:srgbClr val="0C35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5" name="!!p29_12"/>
          <p:cNvSpPr/>
          <p:nvPr/>
        </p:nvSpPr>
        <p:spPr>
          <a:xfrm>
            <a:off x="2379235" y="2302034"/>
            <a:ext cx="99157" cy="99157"/>
          </a:xfrm>
          <a:prstGeom prst="roundRect">
            <a:avLst>
              <a:gd name="adj" fmla="val 30000"/>
            </a:avLst>
          </a:prstGeom>
          <a:solidFill>
            <a:srgbClr val="0B34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6" name="!!p29_13"/>
          <p:cNvSpPr/>
          <p:nvPr/>
        </p:nvSpPr>
        <p:spPr>
          <a:xfrm>
            <a:off x="2537981" y="2302034"/>
            <a:ext cx="99157" cy="99157"/>
          </a:xfrm>
          <a:prstGeom prst="roundRect">
            <a:avLst>
              <a:gd name="adj" fmla="val 30000"/>
            </a:avLst>
          </a:prstGeom>
          <a:solidFill>
            <a:srgbClr val="0B3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7" name="!!p30_03"/>
          <p:cNvSpPr/>
          <p:nvPr/>
        </p:nvSpPr>
        <p:spPr>
          <a:xfrm>
            <a:off x="950521" y="2186734"/>
            <a:ext cx="99157" cy="99157"/>
          </a:xfrm>
          <a:prstGeom prst="roundRect">
            <a:avLst>
              <a:gd name="adj" fmla="val 30000"/>
            </a:avLst>
          </a:prstGeom>
          <a:solidFill>
            <a:srgbClr val="0B32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8" name="!!p30_04"/>
          <p:cNvSpPr/>
          <p:nvPr/>
        </p:nvSpPr>
        <p:spPr>
          <a:xfrm>
            <a:off x="1109267" y="2186734"/>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9" name="!!p30_05"/>
          <p:cNvSpPr/>
          <p:nvPr/>
        </p:nvSpPr>
        <p:spPr>
          <a:xfrm>
            <a:off x="1268013" y="2186734"/>
            <a:ext cx="99157" cy="99157"/>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0" name="!!p30_06"/>
          <p:cNvSpPr/>
          <p:nvPr/>
        </p:nvSpPr>
        <p:spPr>
          <a:xfrm>
            <a:off x="1426759" y="2186734"/>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1" name="!!p30_07"/>
          <p:cNvSpPr/>
          <p:nvPr/>
        </p:nvSpPr>
        <p:spPr>
          <a:xfrm>
            <a:off x="1585505" y="2186734"/>
            <a:ext cx="99157" cy="99157"/>
          </a:xfrm>
          <a:prstGeom prst="roundRect">
            <a:avLst>
              <a:gd name="adj" fmla="val 30000"/>
            </a:avLst>
          </a:prstGeom>
          <a:solidFill>
            <a:srgbClr val="0E40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2" name="!!p30_08"/>
          <p:cNvSpPr/>
          <p:nvPr/>
        </p:nvSpPr>
        <p:spPr>
          <a:xfrm>
            <a:off x="1744251" y="2186734"/>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3" name="!!p30_09"/>
          <p:cNvSpPr/>
          <p:nvPr/>
        </p:nvSpPr>
        <p:spPr>
          <a:xfrm>
            <a:off x="1902997" y="2186734"/>
            <a:ext cx="99157" cy="99157"/>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4" name="!!p30_10"/>
          <p:cNvSpPr/>
          <p:nvPr/>
        </p:nvSpPr>
        <p:spPr>
          <a:xfrm>
            <a:off x="2061743" y="2186734"/>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5" name="!!p30_11"/>
          <p:cNvSpPr/>
          <p:nvPr/>
        </p:nvSpPr>
        <p:spPr>
          <a:xfrm>
            <a:off x="2220489" y="2186734"/>
            <a:ext cx="99157" cy="99157"/>
          </a:xfrm>
          <a:prstGeom prst="roundRect">
            <a:avLst>
              <a:gd name="adj" fmla="val 30000"/>
            </a:avLst>
          </a:prstGeom>
          <a:solidFill>
            <a:srgbClr val="0A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6" name="!!p30_12"/>
          <p:cNvSpPr/>
          <p:nvPr/>
        </p:nvSpPr>
        <p:spPr>
          <a:xfrm>
            <a:off x="2379235" y="2186734"/>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7" name="!!p30_13"/>
          <p:cNvSpPr/>
          <p:nvPr/>
        </p:nvSpPr>
        <p:spPr>
          <a:xfrm>
            <a:off x="2537981" y="2186734"/>
            <a:ext cx="99157" cy="99157"/>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8" name="!!p31_03"/>
          <p:cNvSpPr/>
          <p:nvPr/>
        </p:nvSpPr>
        <p:spPr>
          <a:xfrm>
            <a:off x="950521" y="2071435"/>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9" name="!!p31_04"/>
          <p:cNvSpPr/>
          <p:nvPr/>
        </p:nvSpPr>
        <p:spPr>
          <a:xfrm>
            <a:off x="1109267" y="2071435"/>
            <a:ext cx="99157" cy="99157"/>
          </a:xfrm>
          <a:prstGeom prst="roundRect">
            <a:avLst>
              <a:gd name="adj" fmla="val 30000"/>
            </a:avLst>
          </a:prstGeom>
          <a:solidFill>
            <a:srgbClr val="0F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0" name="!!p31_05"/>
          <p:cNvSpPr/>
          <p:nvPr/>
        </p:nvSpPr>
        <p:spPr>
          <a:xfrm>
            <a:off x="1268013" y="2071435"/>
            <a:ext cx="99157" cy="99157"/>
          </a:xfrm>
          <a:prstGeom prst="roundRect">
            <a:avLst>
              <a:gd name="adj" fmla="val 30000"/>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1" name="!!p31_06"/>
          <p:cNvSpPr/>
          <p:nvPr/>
        </p:nvSpPr>
        <p:spPr>
          <a:xfrm>
            <a:off x="1426759" y="2071435"/>
            <a:ext cx="99157" cy="99157"/>
          </a:xfrm>
          <a:prstGeom prst="roundRect">
            <a:avLst>
              <a:gd name="adj" fmla="val 30000"/>
            </a:avLst>
          </a:prstGeom>
          <a:solidFill>
            <a:srgbClr val="0E3D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2" name="!!p31_07"/>
          <p:cNvSpPr/>
          <p:nvPr/>
        </p:nvSpPr>
        <p:spPr>
          <a:xfrm>
            <a:off x="1585505" y="2071435"/>
            <a:ext cx="99157" cy="99157"/>
          </a:xfrm>
          <a:prstGeom prst="roundRect">
            <a:avLst>
              <a:gd name="adj" fmla="val 30000"/>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3" name="!!p31_08"/>
          <p:cNvSpPr/>
          <p:nvPr/>
        </p:nvSpPr>
        <p:spPr>
          <a:xfrm>
            <a:off x="1744251" y="2071435"/>
            <a:ext cx="99157" cy="99157"/>
          </a:xfrm>
          <a:prstGeom prst="roundRect">
            <a:avLst>
              <a:gd name="adj" fmla="val 30000"/>
            </a:avLst>
          </a:prstGeom>
          <a:solidFill>
            <a:srgbClr val="0B34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4" name="!!p31_09"/>
          <p:cNvSpPr/>
          <p:nvPr/>
        </p:nvSpPr>
        <p:spPr>
          <a:xfrm>
            <a:off x="1902997" y="2071435"/>
            <a:ext cx="99157" cy="99157"/>
          </a:xfrm>
          <a:prstGeom prst="roundRect">
            <a:avLst>
              <a:gd name="adj" fmla="val 30000"/>
            </a:avLst>
          </a:prstGeom>
          <a:solidFill>
            <a:srgbClr val="0B3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5" name="!!p31_10"/>
          <p:cNvSpPr/>
          <p:nvPr/>
        </p:nvSpPr>
        <p:spPr>
          <a:xfrm>
            <a:off x="2061743" y="2071435"/>
            <a:ext cx="99157" cy="99157"/>
          </a:xfrm>
          <a:prstGeom prst="roundRect">
            <a:avLst>
              <a:gd name="adj" fmla="val 30000"/>
            </a:avLst>
          </a:prstGeom>
          <a:solidFill>
            <a:srgbClr val="0A2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6" name="!!p31_11"/>
          <p:cNvSpPr/>
          <p:nvPr/>
        </p:nvSpPr>
        <p:spPr>
          <a:xfrm>
            <a:off x="2220489" y="2071435"/>
            <a:ext cx="99157" cy="99157"/>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7" name="!!p31_12"/>
          <p:cNvSpPr/>
          <p:nvPr/>
        </p:nvSpPr>
        <p:spPr>
          <a:xfrm>
            <a:off x="2379235" y="2071435"/>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8" name="!!p31_13"/>
          <p:cNvSpPr/>
          <p:nvPr/>
        </p:nvSpPr>
        <p:spPr>
          <a:xfrm>
            <a:off x="2537981" y="2071435"/>
            <a:ext cx="99157" cy="99157"/>
          </a:xfrm>
          <a:prstGeom prst="roundRect">
            <a:avLst>
              <a:gd name="adj" fmla="val 30000"/>
            </a:avLst>
          </a:prstGeom>
          <a:solidFill>
            <a:srgbClr val="092C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9" name="!!p32_03"/>
          <p:cNvSpPr/>
          <p:nvPr/>
        </p:nvSpPr>
        <p:spPr>
          <a:xfrm>
            <a:off x="950521" y="1956135"/>
            <a:ext cx="99157" cy="99157"/>
          </a:xfrm>
          <a:prstGeom prst="roundRect">
            <a:avLst>
              <a:gd name="adj" fmla="val 30000"/>
            </a:avLst>
          </a:prstGeom>
          <a:solidFill>
            <a:srgbClr val="0B35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0" name="!!p32_04"/>
          <p:cNvSpPr/>
          <p:nvPr/>
        </p:nvSpPr>
        <p:spPr>
          <a:xfrm>
            <a:off x="1109267" y="1956135"/>
            <a:ext cx="99157" cy="99157"/>
          </a:xfrm>
          <a:prstGeom prst="roundRect">
            <a:avLst>
              <a:gd name="adj" fmla="val 30000"/>
            </a:avLst>
          </a:prstGeom>
          <a:solidFill>
            <a:srgbClr val="1358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1" name="!!p32_05"/>
          <p:cNvSpPr/>
          <p:nvPr/>
        </p:nvSpPr>
        <p:spPr>
          <a:xfrm>
            <a:off x="1268013" y="1956135"/>
            <a:ext cx="99157" cy="99157"/>
          </a:xfrm>
          <a:prstGeom prst="roundRect">
            <a:avLst>
              <a:gd name="adj" fmla="val 30000"/>
            </a:avLst>
          </a:prstGeom>
          <a:solidFill>
            <a:srgbClr val="145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2" name="!!p32_06"/>
          <p:cNvSpPr/>
          <p:nvPr/>
        </p:nvSpPr>
        <p:spPr>
          <a:xfrm>
            <a:off x="1426759" y="1956135"/>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3" name="!!p32_07"/>
          <p:cNvSpPr/>
          <p:nvPr/>
        </p:nvSpPr>
        <p:spPr>
          <a:xfrm>
            <a:off x="1585505" y="1956135"/>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4" name="!!p32_08"/>
          <p:cNvSpPr/>
          <p:nvPr/>
        </p:nvSpPr>
        <p:spPr>
          <a:xfrm>
            <a:off x="1744251" y="1956135"/>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5" name="!!p32_09"/>
          <p:cNvSpPr/>
          <p:nvPr/>
        </p:nvSpPr>
        <p:spPr>
          <a:xfrm>
            <a:off x="1902997" y="1956135"/>
            <a:ext cx="99157" cy="99157"/>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6" name="!!p32_10"/>
          <p:cNvSpPr/>
          <p:nvPr/>
        </p:nvSpPr>
        <p:spPr>
          <a:xfrm>
            <a:off x="2061743" y="1956135"/>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7" name="!!p32_11"/>
          <p:cNvSpPr/>
          <p:nvPr/>
        </p:nvSpPr>
        <p:spPr>
          <a:xfrm>
            <a:off x="2220489" y="1956135"/>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8" name="!!p32_12"/>
          <p:cNvSpPr/>
          <p:nvPr/>
        </p:nvSpPr>
        <p:spPr>
          <a:xfrm>
            <a:off x="2379235" y="1956135"/>
            <a:ext cx="99157" cy="99157"/>
          </a:xfrm>
          <a:prstGeom prst="roundRect">
            <a:avLst>
              <a:gd name="adj" fmla="val 30000"/>
            </a:avLst>
          </a:prstGeom>
          <a:solidFill>
            <a:srgbClr val="092B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9" name="!!p33_03"/>
          <p:cNvSpPr/>
          <p:nvPr/>
        </p:nvSpPr>
        <p:spPr>
          <a:xfrm>
            <a:off x="950521" y="1840835"/>
            <a:ext cx="99157" cy="99157"/>
          </a:xfrm>
          <a:prstGeom prst="roundRect">
            <a:avLst>
              <a:gd name="adj" fmla="val 30000"/>
            </a:avLst>
          </a:prstGeom>
          <a:solidFill>
            <a:srgbClr val="0C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0" name="!!p33_04"/>
          <p:cNvSpPr/>
          <p:nvPr/>
        </p:nvSpPr>
        <p:spPr>
          <a:xfrm>
            <a:off x="1109267" y="1840835"/>
            <a:ext cx="99157" cy="99157"/>
          </a:xfrm>
          <a:prstGeom prst="roundRect">
            <a:avLst>
              <a:gd name="adj" fmla="val 30000"/>
            </a:avLst>
          </a:prstGeom>
          <a:solidFill>
            <a:srgbClr val="1669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1" name="!!p33_05"/>
          <p:cNvSpPr/>
          <p:nvPr/>
        </p:nvSpPr>
        <p:spPr>
          <a:xfrm>
            <a:off x="1268013" y="1840835"/>
            <a:ext cx="99157" cy="99157"/>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2" name="!!p33_06"/>
          <p:cNvSpPr/>
          <p:nvPr/>
        </p:nvSpPr>
        <p:spPr>
          <a:xfrm>
            <a:off x="1426759" y="1840835"/>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3" name="!!p33_07"/>
          <p:cNvSpPr/>
          <p:nvPr/>
        </p:nvSpPr>
        <p:spPr>
          <a:xfrm>
            <a:off x="1585505" y="1840835"/>
            <a:ext cx="99157" cy="99157"/>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4" name="!!p33_08"/>
          <p:cNvSpPr/>
          <p:nvPr/>
        </p:nvSpPr>
        <p:spPr>
          <a:xfrm>
            <a:off x="1744251" y="1840835"/>
            <a:ext cx="99157" cy="99157"/>
          </a:xfrm>
          <a:prstGeom prst="roundRect">
            <a:avLst>
              <a:gd name="adj" fmla="val 30000"/>
            </a:avLst>
          </a:prstGeom>
          <a:solidFill>
            <a:srgbClr val="0A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5" name="!!p33_09"/>
          <p:cNvSpPr/>
          <p:nvPr/>
        </p:nvSpPr>
        <p:spPr>
          <a:xfrm>
            <a:off x="1902997" y="1840835"/>
            <a:ext cx="99157" cy="99157"/>
          </a:xfrm>
          <a:prstGeom prst="roundRect">
            <a:avLst>
              <a:gd name="adj" fmla="val 30000"/>
            </a:avLst>
          </a:prstGeom>
          <a:solidFill>
            <a:srgbClr val="092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6" name="!!p33_10"/>
          <p:cNvSpPr/>
          <p:nvPr/>
        </p:nvSpPr>
        <p:spPr>
          <a:xfrm>
            <a:off x="2061743" y="1840835"/>
            <a:ext cx="99157" cy="99157"/>
          </a:xfrm>
          <a:prstGeom prst="roundRect">
            <a:avLst>
              <a:gd name="adj" fmla="val 30000"/>
            </a:avLst>
          </a:prstGeom>
          <a:solidFill>
            <a:srgbClr val="092C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7" name="!!p33_11"/>
          <p:cNvSpPr/>
          <p:nvPr/>
        </p:nvSpPr>
        <p:spPr>
          <a:xfrm>
            <a:off x="2220489" y="1840835"/>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8" name="!!p33_12"/>
          <p:cNvSpPr/>
          <p:nvPr/>
        </p:nvSpPr>
        <p:spPr>
          <a:xfrm>
            <a:off x="2379235" y="1840835"/>
            <a:ext cx="99157" cy="99157"/>
          </a:xfrm>
          <a:prstGeom prst="roundRect">
            <a:avLst>
              <a:gd name="adj" fmla="val 30000"/>
            </a:avLst>
          </a:prstGeom>
          <a:solidFill>
            <a:srgbClr val="09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9" name="!!p34_03"/>
          <p:cNvSpPr/>
          <p:nvPr/>
        </p:nvSpPr>
        <p:spPr>
          <a:xfrm>
            <a:off x="950521" y="1725535"/>
            <a:ext cx="99157" cy="99157"/>
          </a:xfrm>
          <a:prstGeom prst="roundRect">
            <a:avLst>
              <a:gd name="adj" fmla="val 30000"/>
            </a:avLst>
          </a:prstGeom>
          <a:solidFill>
            <a:srgbClr val="0C37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0" name="!!p34_04"/>
          <p:cNvSpPr/>
          <p:nvPr/>
        </p:nvSpPr>
        <p:spPr>
          <a:xfrm>
            <a:off x="1109267" y="1725535"/>
            <a:ext cx="99157" cy="99157"/>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1" name="!!p34_05"/>
          <p:cNvSpPr/>
          <p:nvPr/>
        </p:nvSpPr>
        <p:spPr>
          <a:xfrm>
            <a:off x="1268013" y="1725535"/>
            <a:ext cx="99157" cy="99157"/>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2" name="!!p34_06"/>
          <p:cNvSpPr/>
          <p:nvPr/>
        </p:nvSpPr>
        <p:spPr>
          <a:xfrm>
            <a:off x="1426759" y="1725535"/>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3" name="!!p34_07"/>
          <p:cNvSpPr/>
          <p:nvPr/>
        </p:nvSpPr>
        <p:spPr>
          <a:xfrm>
            <a:off x="1585505" y="1725535"/>
            <a:ext cx="99157" cy="99157"/>
          </a:xfrm>
          <a:prstGeom prst="roundRect">
            <a:avLst>
              <a:gd name="adj" fmla="val 30000"/>
            </a:avLst>
          </a:prstGeom>
          <a:solidFill>
            <a:srgbClr val="0A2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4" name="!!p34_08"/>
          <p:cNvSpPr/>
          <p:nvPr/>
        </p:nvSpPr>
        <p:spPr>
          <a:xfrm>
            <a:off x="1744251" y="1725535"/>
            <a:ext cx="99157" cy="99157"/>
          </a:xfrm>
          <a:prstGeom prst="roundRect">
            <a:avLst>
              <a:gd name="adj" fmla="val 30000"/>
            </a:avLst>
          </a:prstGeom>
          <a:solidFill>
            <a:srgbClr val="092C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5" name="!!p34_09"/>
          <p:cNvSpPr/>
          <p:nvPr/>
        </p:nvSpPr>
        <p:spPr>
          <a:xfrm>
            <a:off x="1902997" y="1725535"/>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6" name="!!p34_10"/>
          <p:cNvSpPr/>
          <p:nvPr/>
        </p:nvSpPr>
        <p:spPr>
          <a:xfrm>
            <a:off x="2061743" y="1725535"/>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7" name="!!p34_11"/>
          <p:cNvSpPr/>
          <p:nvPr/>
        </p:nvSpPr>
        <p:spPr>
          <a:xfrm>
            <a:off x="2220489" y="1725535"/>
            <a:ext cx="99157" cy="99157"/>
          </a:xfrm>
          <a:prstGeom prst="roundRect">
            <a:avLst>
              <a:gd name="adj" fmla="val 30000"/>
            </a:avLst>
          </a:prstGeom>
          <a:solidFill>
            <a:srgbClr val="09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8" name="!!p35_04"/>
          <p:cNvSpPr/>
          <p:nvPr/>
        </p:nvSpPr>
        <p:spPr>
          <a:xfrm>
            <a:off x="1109267" y="1610236"/>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9" name="!!p35_05"/>
          <p:cNvSpPr/>
          <p:nvPr/>
        </p:nvSpPr>
        <p:spPr>
          <a:xfrm>
            <a:off x="1268013" y="1610236"/>
            <a:ext cx="99157" cy="99157"/>
          </a:xfrm>
          <a:prstGeom prst="roundRect">
            <a:avLst>
              <a:gd name="adj" fmla="val 30000"/>
            </a:avLst>
          </a:prstGeom>
          <a:solidFill>
            <a:srgbClr val="166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0" name="!!p35_06"/>
          <p:cNvSpPr/>
          <p:nvPr/>
        </p:nvSpPr>
        <p:spPr>
          <a:xfrm>
            <a:off x="1426759" y="1610236"/>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1" name="!!p35_07"/>
          <p:cNvSpPr/>
          <p:nvPr/>
        </p:nvSpPr>
        <p:spPr>
          <a:xfrm>
            <a:off x="1585505" y="1610236"/>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2" name="!!p35_08"/>
          <p:cNvSpPr/>
          <p:nvPr/>
        </p:nvSpPr>
        <p:spPr>
          <a:xfrm>
            <a:off x="1744251" y="1610236"/>
            <a:ext cx="99157" cy="99157"/>
          </a:xfrm>
          <a:prstGeom prst="roundRect">
            <a:avLst>
              <a:gd name="adj" fmla="val 30000"/>
            </a:avLst>
          </a:prstGeom>
          <a:solidFill>
            <a:srgbClr val="09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3" name="!!p35_09"/>
          <p:cNvSpPr/>
          <p:nvPr/>
        </p:nvSpPr>
        <p:spPr>
          <a:xfrm>
            <a:off x="1902997" y="1610236"/>
            <a:ext cx="99157" cy="99157"/>
          </a:xfrm>
          <a:prstGeom prst="roundRect">
            <a:avLst>
              <a:gd name="adj" fmla="val 30000"/>
            </a:avLst>
          </a:prstGeom>
          <a:solidFill>
            <a:srgbClr val="09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4" name="!!p35_10"/>
          <p:cNvSpPr/>
          <p:nvPr/>
        </p:nvSpPr>
        <p:spPr>
          <a:xfrm>
            <a:off x="2061743" y="1610236"/>
            <a:ext cx="99157" cy="99157"/>
          </a:xfrm>
          <a:prstGeom prst="roundRect">
            <a:avLst>
              <a:gd name="adj" fmla="val 30000"/>
            </a:avLst>
          </a:prstGeom>
          <a:solidFill>
            <a:srgbClr val="08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5" name="!!p35_11"/>
          <p:cNvSpPr/>
          <p:nvPr/>
        </p:nvSpPr>
        <p:spPr>
          <a:xfrm>
            <a:off x="2220489" y="1610236"/>
            <a:ext cx="99157" cy="99157"/>
          </a:xfrm>
          <a:prstGeom prst="roundRect">
            <a:avLst>
              <a:gd name="adj" fmla="val 30000"/>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6" name="!!p36_04"/>
          <p:cNvSpPr/>
          <p:nvPr/>
        </p:nvSpPr>
        <p:spPr>
          <a:xfrm>
            <a:off x="1109267" y="1494936"/>
            <a:ext cx="99157" cy="99157"/>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7" name="!!p36_05"/>
          <p:cNvSpPr/>
          <p:nvPr/>
        </p:nvSpPr>
        <p:spPr>
          <a:xfrm>
            <a:off x="1268013" y="1494936"/>
            <a:ext cx="99157" cy="99157"/>
          </a:xfrm>
          <a:prstGeom prst="roundRect">
            <a:avLst>
              <a:gd name="adj" fmla="val 30000"/>
            </a:avLst>
          </a:prstGeom>
          <a:solidFill>
            <a:srgbClr val="1252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8" name="!!p36_06"/>
          <p:cNvSpPr/>
          <p:nvPr/>
        </p:nvSpPr>
        <p:spPr>
          <a:xfrm>
            <a:off x="1426759" y="1494936"/>
            <a:ext cx="99157" cy="99157"/>
          </a:xfrm>
          <a:prstGeom prst="roundRect">
            <a:avLst>
              <a:gd name="adj" fmla="val 30000"/>
            </a:avLst>
          </a:prstGeom>
          <a:solidFill>
            <a:srgbClr val="0C35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9" name="!!p36_07"/>
          <p:cNvSpPr/>
          <p:nvPr/>
        </p:nvSpPr>
        <p:spPr>
          <a:xfrm>
            <a:off x="1585505" y="1494936"/>
            <a:ext cx="99157" cy="99157"/>
          </a:xfrm>
          <a:prstGeom prst="roundRect">
            <a:avLst>
              <a:gd name="adj" fmla="val 30000"/>
            </a:avLst>
          </a:prstGeom>
          <a:solidFill>
            <a:srgbClr val="092B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0" name="!!p36_08"/>
          <p:cNvSpPr/>
          <p:nvPr/>
        </p:nvSpPr>
        <p:spPr>
          <a:xfrm>
            <a:off x="1744251" y="1494936"/>
            <a:ext cx="99157" cy="99157"/>
          </a:xfrm>
          <a:prstGeom prst="roundRect">
            <a:avLst>
              <a:gd name="adj" fmla="val 30000"/>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1" name="!!p36_09"/>
          <p:cNvSpPr/>
          <p:nvPr/>
        </p:nvSpPr>
        <p:spPr>
          <a:xfrm>
            <a:off x="1902997" y="1494936"/>
            <a:ext cx="99157" cy="99157"/>
          </a:xfrm>
          <a:prstGeom prst="roundRect">
            <a:avLst>
              <a:gd name="adj" fmla="val 30000"/>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2" name="!!p36_10"/>
          <p:cNvSpPr/>
          <p:nvPr/>
        </p:nvSpPr>
        <p:spPr>
          <a:xfrm>
            <a:off x="2061743" y="1494936"/>
            <a:ext cx="99157" cy="99157"/>
          </a:xfrm>
          <a:prstGeom prst="roundRect">
            <a:avLst>
              <a:gd name="adj" fmla="val 30000"/>
            </a:avLst>
          </a:prstGeom>
          <a:solidFill>
            <a:srgbClr val="082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3" name="!!p37_04"/>
          <p:cNvSpPr/>
          <p:nvPr/>
        </p:nvSpPr>
        <p:spPr>
          <a:xfrm>
            <a:off x="1109267" y="1379636"/>
            <a:ext cx="99157" cy="99157"/>
          </a:xfrm>
          <a:prstGeom prst="roundRect">
            <a:avLst>
              <a:gd name="adj" fmla="val 30000"/>
            </a:avLst>
          </a:prstGeom>
          <a:solidFill>
            <a:srgbClr val="0C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4" name="!!p37_05"/>
          <p:cNvSpPr/>
          <p:nvPr/>
        </p:nvSpPr>
        <p:spPr>
          <a:xfrm>
            <a:off x="1268013" y="1379636"/>
            <a:ext cx="99157" cy="99157"/>
          </a:xfrm>
          <a:prstGeom prst="roundRect">
            <a:avLst>
              <a:gd name="adj" fmla="val 30000"/>
            </a:avLst>
          </a:prstGeom>
          <a:solidFill>
            <a:srgbClr val="0C38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5" name="!!p37_06"/>
          <p:cNvSpPr/>
          <p:nvPr/>
        </p:nvSpPr>
        <p:spPr>
          <a:xfrm>
            <a:off x="1426759" y="1379636"/>
            <a:ext cx="99157" cy="99157"/>
          </a:xfrm>
          <a:prstGeom prst="roundRect">
            <a:avLst>
              <a:gd name="adj" fmla="val 30000"/>
            </a:avLst>
          </a:prstGeom>
          <a:solidFill>
            <a:srgbClr val="0A2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6" name="!!p37_07"/>
          <p:cNvSpPr/>
          <p:nvPr/>
        </p:nvSpPr>
        <p:spPr>
          <a:xfrm>
            <a:off x="1585505" y="1379636"/>
            <a:ext cx="99157" cy="99157"/>
          </a:xfrm>
          <a:prstGeom prst="roundRect">
            <a:avLst>
              <a:gd name="adj" fmla="val 30000"/>
            </a:avLst>
          </a:prstGeom>
          <a:solidFill>
            <a:srgbClr val="082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7" name="!!p37_08"/>
          <p:cNvSpPr/>
          <p:nvPr/>
        </p:nvSpPr>
        <p:spPr>
          <a:xfrm>
            <a:off x="1744251" y="1379636"/>
            <a:ext cx="99157" cy="99157"/>
          </a:xfrm>
          <a:prstGeom prst="roundRect">
            <a:avLst>
              <a:gd name="adj" fmla="val 30000"/>
            </a:avLst>
          </a:prstGeom>
          <a:solidFill>
            <a:srgbClr val="0828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8" name="!!p37_09"/>
          <p:cNvSpPr/>
          <p:nvPr/>
        </p:nvSpPr>
        <p:spPr>
          <a:xfrm>
            <a:off x="1902997" y="1379636"/>
            <a:ext cx="99157" cy="99157"/>
          </a:xfrm>
          <a:prstGeom prst="roundRect">
            <a:avLst>
              <a:gd name="adj" fmla="val 30000"/>
            </a:avLst>
          </a:prstGeom>
          <a:solidFill>
            <a:srgbClr val="0828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9" name="Rectangle 328"/>
          <p:cNvSpPr/>
          <p:nvPr/>
        </p:nvSpPr>
        <p:spPr>
          <a:xfrm>
            <a:off x="920726" y="5905352"/>
            <a:ext cx="38099" cy="101597"/>
          </a:xfrm>
          <a:prstGeom prst="rect">
            <a:avLst/>
          </a:prstGeom>
          <a:solidFill>
            <a:srgbClr val="051D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0" name="Rectangle 329"/>
          <p:cNvSpPr/>
          <p:nvPr/>
        </p:nvSpPr>
        <p:spPr>
          <a:xfrm>
            <a:off x="952476" y="5905352"/>
            <a:ext cx="38099" cy="101597"/>
          </a:xfrm>
          <a:prstGeom prst="rect">
            <a:avLst/>
          </a:prstGeom>
          <a:solidFill>
            <a:srgbClr val="062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1" name="Rectangle 330"/>
          <p:cNvSpPr/>
          <p:nvPr/>
        </p:nvSpPr>
        <p:spPr>
          <a:xfrm>
            <a:off x="984225" y="5905352"/>
            <a:ext cx="38099" cy="101597"/>
          </a:xfrm>
          <a:prstGeom prst="rect">
            <a:avLst/>
          </a:prstGeom>
          <a:solidFill>
            <a:srgbClr val="07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2" name="Rectangle 331"/>
          <p:cNvSpPr/>
          <p:nvPr/>
        </p:nvSpPr>
        <p:spPr>
          <a:xfrm>
            <a:off x="1015974" y="5905352"/>
            <a:ext cx="38099" cy="101597"/>
          </a:xfrm>
          <a:prstGeom prst="rect">
            <a:avLst/>
          </a:prstGeom>
          <a:solidFill>
            <a:srgbClr val="0826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3" name="Rectangle 332"/>
          <p:cNvSpPr/>
          <p:nvPr/>
        </p:nvSpPr>
        <p:spPr>
          <a:xfrm>
            <a:off x="1047723" y="5905352"/>
            <a:ext cx="38099" cy="101597"/>
          </a:xfrm>
          <a:prstGeom prst="rect">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4" name="Rectangle 333"/>
          <p:cNvSpPr/>
          <p:nvPr/>
        </p:nvSpPr>
        <p:spPr>
          <a:xfrm>
            <a:off x="1079473" y="5905352"/>
            <a:ext cx="38099" cy="101597"/>
          </a:xfrm>
          <a:prstGeom prst="rect">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5" name="Rectangle 334"/>
          <p:cNvSpPr/>
          <p:nvPr/>
        </p:nvSpPr>
        <p:spPr>
          <a:xfrm>
            <a:off x="1111222" y="5905352"/>
            <a:ext cx="38099" cy="101597"/>
          </a:xfrm>
          <a:prstGeom prst="rect">
            <a:avLst/>
          </a:prstGeom>
          <a:solidFill>
            <a:srgbClr val="0A2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6" name="Rectangle 335"/>
          <p:cNvSpPr/>
          <p:nvPr/>
        </p:nvSpPr>
        <p:spPr>
          <a:xfrm>
            <a:off x="1142971" y="5905352"/>
            <a:ext cx="38099" cy="101597"/>
          </a:xfrm>
          <a:prstGeom prst="rect">
            <a:avLst/>
          </a:prstGeom>
          <a:solidFill>
            <a:srgbClr val="0B33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7" name="Rectangle 336"/>
          <p:cNvSpPr/>
          <p:nvPr/>
        </p:nvSpPr>
        <p:spPr>
          <a:xfrm>
            <a:off x="1174720" y="5905352"/>
            <a:ext cx="38099" cy="101597"/>
          </a:xfrm>
          <a:prstGeom prst="rect">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8" name="Rectangle 337"/>
          <p:cNvSpPr/>
          <p:nvPr/>
        </p:nvSpPr>
        <p:spPr>
          <a:xfrm>
            <a:off x="1206469" y="5905352"/>
            <a:ext cx="38099" cy="101597"/>
          </a:xfrm>
          <a:prstGeom prst="rect">
            <a:avLst/>
          </a:prstGeom>
          <a:solidFill>
            <a:srgbClr val="0D3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9" name="Rectangle 338"/>
          <p:cNvSpPr/>
          <p:nvPr/>
        </p:nvSpPr>
        <p:spPr>
          <a:xfrm>
            <a:off x="1238219" y="5905352"/>
            <a:ext cx="38099" cy="101597"/>
          </a:xfrm>
          <a:prstGeom prst="rect">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0" name="Rectangle 339"/>
          <p:cNvSpPr/>
          <p:nvPr/>
        </p:nvSpPr>
        <p:spPr>
          <a:xfrm>
            <a:off x="1269968" y="5905352"/>
            <a:ext cx="38099" cy="101597"/>
          </a:xfrm>
          <a:prstGeom prst="rect">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1" name="Rectangle 340"/>
          <p:cNvSpPr/>
          <p:nvPr/>
        </p:nvSpPr>
        <p:spPr>
          <a:xfrm>
            <a:off x="1301717" y="5905352"/>
            <a:ext cx="38099" cy="101597"/>
          </a:xfrm>
          <a:prstGeom prst="rect">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2" name="Rectangle 341"/>
          <p:cNvSpPr/>
          <p:nvPr/>
        </p:nvSpPr>
        <p:spPr>
          <a:xfrm>
            <a:off x="1333466" y="5905352"/>
            <a:ext cx="38099" cy="101597"/>
          </a:xfrm>
          <a:prstGeom prst="rect">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3" name="Rectangle 342"/>
          <p:cNvSpPr/>
          <p:nvPr/>
        </p:nvSpPr>
        <p:spPr>
          <a:xfrm>
            <a:off x="1365215" y="5905352"/>
            <a:ext cx="38099" cy="101597"/>
          </a:xfrm>
          <a:prstGeom prst="rect">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4" name="Rectangle 343"/>
          <p:cNvSpPr/>
          <p:nvPr/>
        </p:nvSpPr>
        <p:spPr>
          <a:xfrm>
            <a:off x="1396965" y="5905352"/>
            <a:ext cx="38099" cy="101597"/>
          </a:xfrm>
          <a:prstGeom prst="rect">
            <a:avLst/>
          </a:prstGeom>
          <a:solidFill>
            <a:srgbClr val="166B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5" name="Rectangle 344"/>
          <p:cNvSpPr/>
          <p:nvPr/>
        </p:nvSpPr>
        <p:spPr>
          <a:xfrm>
            <a:off x="1428714" y="5905352"/>
            <a:ext cx="38099" cy="101597"/>
          </a:xfrm>
          <a:prstGeom prst="rect">
            <a:avLst/>
          </a:prstGeom>
          <a:solidFill>
            <a:srgbClr val="1874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6" name="Rectangle 345"/>
          <p:cNvSpPr/>
          <p:nvPr/>
        </p:nvSpPr>
        <p:spPr>
          <a:xfrm>
            <a:off x="1460463" y="5905352"/>
            <a:ext cx="38099" cy="101597"/>
          </a:xfrm>
          <a:prstGeom prst="rect">
            <a:avLst/>
          </a:prstGeom>
          <a:solidFill>
            <a:srgbClr val="1A7C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7" name="Rectangle 346"/>
          <p:cNvSpPr/>
          <p:nvPr/>
        </p:nvSpPr>
        <p:spPr>
          <a:xfrm>
            <a:off x="1492212" y="5905352"/>
            <a:ext cx="38099" cy="101597"/>
          </a:xfrm>
          <a:prstGeom prst="rect">
            <a:avLst/>
          </a:prstGeom>
          <a:solidFill>
            <a:srgbClr val="1C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8" name="Rectangle 347"/>
          <p:cNvSpPr/>
          <p:nvPr/>
        </p:nvSpPr>
        <p:spPr>
          <a:xfrm>
            <a:off x="1523961" y="5905352"/>
            <a:ext cx="38099" cy="101597"/>
          </a:xfrm>
          <a:prstGeom prst="rect">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9" name="Rectangle 348"/>
          <p:cNvSpPr/>
          <p:nvPr/>
        </p:nvSpPr>
        <p:spPr>
          <a:xfrm>
            <a:off x="1555711" y="5905352"/>
            <a:ext cx="38099" cy="101597"/>
          </a:xfrm>
          <a:prstGeom prst="rect">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0" name="Rectangle 349"/>
          <p:cNvSpPr/>
          <p:nvPr/>
        </p:nvSpPr>
        <p:spPr>
          <a:xfrm>
            <a:off x="1587460" y="5905352"/>
            <a:ext cx="38099" cy="101597"/>
          </a:xfrm>
          <a:prstGeom prst="rect">
            <a:avLst/>
          </a:prstGeom>
          <a:solidFill>
            <a:srgbClr val="2998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1" name="Rectangle 350"/>
          <p:cNvSpPr/>
          <p:nvPr/>
        </p:nvSpPr>
        <p:spPr>
          <a:xfrm>
            <a:off x="1619209" y="5905352"/>
            <a:ext cx="38099" cy="101597"/>
          </a:xfrm>
          <a:prstGeom prst="rect">
            <a:avLst/>
          </a:prstGeom>
          <a:solidFill>
            <a:srgbClr val="2F9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2" name="Rectangle 351"/>
          <p:cNvSpPr/>
          <p:nvPr/>
        </p:nvSpPr>
        <p:spPr>
          <a:xfrm>
            <a:off x="1650958" y="5905352"/>
            <a:ext cx="38099" cy="101597"/>
          </a:xfrm>
          <a:prstGeom prst="rect">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3" name="Rectangle 352"/>
          <p:cNvSpPr/>
          <p:nvPr/>
        </p:nvSpPr>
        <p:spPr>
          <a:xfrm>
            <a:off x="1682707" y="5905352"/>
            <a:ext cx="38099" cy="101597"/>
          </a:xfrm>
          <a:prstGeom prst="rect">
            <a:avLst/>
          </a:prstGeom>
          <a:solidFill>
            <a:srgbClr val="3AA7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4" name="Rectangle 353"/>
          <p:cNvSpPr/>
          <p:nvPr/>
        </p:nvSpPr>
        <p:spPr>
          <a:xfrm>
            <a:off x="1714457" y="5905352"/>
            <a:ext cx="38099" cy="101597"/>
          </a:xfrm>
          <a:prstGeom prst="rect">
            <a:avLst/>
          </a:prstGeom>
          <a:solidFill>
            <a:srgbClr val="3FA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5" name="Rectangle 354"/>
          <p:cNvSpPr/>
          <p:nvPr/>
        </p:nvSpPr>
        <p:spPr>
          <a:xfrm>
            <a:off x="1746206" y="5905352"/>
            <a:ext cx="38099" cy="101597"/>
          </a:xfrm>
          <a:prstGeom prst="rect">
            <a:avLst/>
          </a:prstGeom>
          <a:solidFill>
            <a:srgbClr val="45B1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6" name="Rectangle 355"/>
          <p:cNvSpPr/>
          <p:nvPr/>
        </p:nvSpPr>
        <p:spPr>
          <a:xfrm>
            <a:off x="1777955" y="5905352"/>
            <a:ext cx="38099" cy="101597"/>
          </a:xfrm>
          <a:prstGeom prst="rect">
            <a:avLst/>
          </a:prstGeom>
          <a:solidFill>
            <a:srgbClr val="4BB6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7" name="Rectangle 356"/>
          <p:cNvSpPr/>
          <p:nvPr/>
        </p:nvSpPr>
        <p:spPr>
          <a:xfrm>
            <a:off x="1809704" y="5905352"/>
            <a:ext cx="38099" cy="101597"/>
          </a:xfrm>
          <a:prstGeom prst="rect">
            <a:avLst/>
          </a:prstGeom>
          <a:solidFill>
            <a:srgbClr val="50B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8" name="Rectangle 357"/>
          <p:cNvSpPr/>
          <p:nvPr/>
        </p:nvSpPr>
        <p:spPr>
          <a:xfrm>
            <a:off x="1841453" y="5905352"/>
            <a:ext cx="38099" cy="101597"/>
          </a:xfrm>
          <a:prstGeom prst="rect">
            <a:avLst/>
          </a:prstGeom>
          <a:solidFill>
            <a:srgbClr val="60BF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9" name="Rectangle 358"/>
          <p:cNvSpPr/>
          <p:nvPr/>
        </p:nvSpPr>
        <p:spPr>
          <a:xfrm>
            <a:off x="1873203" y="5905352"/>
            <a:ext cx="38099" cy="101597"/>
          </a:xfrm>
          <a:prstGeom prst="rect">
            <a:avLst/>
          </a:prstGeom>
          <a:solidFill>
            <a:srgbClr val="75C1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0" name="Rectangle 359"/>
          <p:cNvSpPr/>
          <p:nvPr/>
        </p:nvSpPr>
        <p:spPr>
          <a:xfrm>
            <a:off x="1904952" y="5905352"/>
            <a:ext cx="38099" cy="101597"/>
          </a:xfrm>
          <a:prstGeom prst="rect">
            <a:avLst/>
          </a:prstGeom>
          <a:solidFill>
            <a:srgbClr val="8AC4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1" name="Rectangle 360"/>
          <p:cNvSpPr/>
          <p:nvPr/>
        </p:nvSpPr>
        <p:spPr>
          <a:xfrm>
            <a:off x="1936701" y="5905352"/>
            <a:ext cx="38099" cy="101597"/>
          </a:xfrm>
          <a:prstGeom prst="rect">
            <a:avLst/>
          </a:prstGeom>
          <a:solidFill>
            <a:srgbClr val="9FC6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2" name="Rectangle 361"/>
          <p:cNvSpPr/>
          <p:nvPr/>
        </p:nvSpPr>
        <p:spPr>
          <a:xfrm>
            <a:off x="1968450" y="5905352"/>
            <a:ext cx="38099" cy="101597"/>
          </a:xfrm>
          <a:prstGeom prst="rect">
            <a:avLst/>
          </a:prstGeom>
          <a:solidFill>
            <a:srgbClr val="B4C9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3" name="Rectangle 362"/>
          <p:cNvSpPr/>
          <p:nvPr/>
        </p:nvSpPr>
        <p:spPr>
          <a:xfrm>
            <a:off x="2000199" y="5905352"/>
            <a:ext cx="38099" cy="101597"/>
          </a:xfrm>
          <a:prstGeom prst="rect">
            <a:avLst/>
          </a:prstGeom>
          <a:solidFill>
            <a:srgbClr val="C9CB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4" name="Rectangle 363"/>
          <p:cNvSpPr/>
          <p:nvPr/>
        </p:nvSpPr>
        <p:spPr>
          <a:xfrm>
            <a:off x="2031949" y="5905352"/>
            <a:ext cx="38099" cy="101597"/>
          </a:xfrm>
          <a:prstGeom prst="rect">
            <a:avLst/>
          </a:prstGeom>
          <a:solidFill>
            <a:srgbClr val="DECE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5" name="Rectangle 364"/>
          <p:cNvSpPr/>
          <p:nvPr/>
        </p:nvSpPr>
        <p:spPr>
          <a:xfrm>
            <a:off x="2063698" y="5905352"/>
            <a:ext cx="38099" cy="101597"/>
          </a:xfrm>
          <a:prstGeom prst="rect">
            <a:avLst/>
          </a:prstGeom>
          <a:solidFill>
            <a:srgbClr val="F3D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6" name="Rectangle 365"/>
          <p:cNvSpPr/>
          <p:nvPr/>
        </p:nvSpPr>
        <p:spPr>
          <a:xfrm>
            <a:off x="2095447" y="5905352"/>
            <a:ext cx="38099" cy="101597"/>
          </a:xfrm>
          <a:prstGeom prst="rect">
            <a:avLst/>
          </a:prstGeom>
          <a:solidFill>
            <a:srgbClr val="FFCF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7" name="Rectangle 366"/>
          <p:cNvSpPr/>
          <p:nvPr/>
        </p:nvSpPr>
        <p:spPr>
          <a:xfrm>
            <a:off x="2127196" y="5905352"/>
            <a:ext cx="38099" cy="101597"/>
          </a:xfrm>
          <a:prstGeom prst="rect">
            <a:avLst/>
          </a:prstGeom>
          <a:solidFill>
            <a:srgbClr val="FFC6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8" name="Rectangle 367"/>
          <p:cNvSpPr/>
          <p:nvPr/>
        </p:nvSpPr>
        <p:spPr>
          <a:xfrm>
            <a:off x="2158946" y="5905352"/>
            <a:ext cx="38099" cy="101597"/>
          </a:xfrm>
          <a:prstGeom prst="rect">
            <a:avLst/>
          </a:prstGeom>
          <a:solidFill>
            <a:srgbClr val="FFBE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9" name="Rectangle 368"/>
          <p:cNvSpPr/>
          <p:nvPr/>
        </p:nvSpPr>
        <p:spPr>
          <a:xfrm>
            <a:off x="2190695" y="5905352"/>
            <a:ext cx="38099" cy="101597"/>
          </a:xfrm>
          <a:prstGeom prst="rect">
            <a:avLst/>
          </a:prstGeom>
          <a:solidFill>
            <a:srgbClr val="FFB6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0" name="Rectangle 369"/>
          <p:cNvSpPr/>
          <p:nvPr/>
        </p:nvSpPr>
        <p:spPr>
          <a:xfrm>
            <a:off x="2222444" y="5905352"/>
            <a:ext cx="38099" cy="101597"/>
          </a:xfrm>
          <a:prstGeom prst="rect">
            <a:avLst/>
          </a:prstGeom>
          <a:solidFill>
            <a:srgbClr val="FFAD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1" name="Rectangle 370"/>
          <p:cNvSpPr/>
          <p:nvPr/>
        </p:nvSpPr>
        <p:spPr>
          <a:xfrm>
            <a:off x="2254193" y="5905352"/>
            <a:ext cx="38099" cy="101597"/>
          </a:xfrm>
          <a:prstGeom prst="rect">
            <a:avLst/>
          </a:prstGeom>
          <a:solidFill>
            <a:srgbClr val="FFA5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2" name="Rectangle 371"/>
          <p:cNvSpPr/>
          <p:nvPr/>
        </p:nvSpPr>
        <p:spPr>
          <a:xfrm>
            <a:off x="2285942" y="5905352"/>
            <a:ext cx="38099" cy="101597"/>
          </a:xfrm>
          <a:prstGeom prst="rect">
            <a:avLst/>
          </a:prstGeom>
          <a:solidFill>
            <a:srgbClr val="FF9D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3" name="Rectangle 372"/>
          <p:cNvSpPr/>
          <p:nvPr/>
        </p:nvSpPr>
        <p:spPr>
          <a:xfrm>
            <a:off x="2317692" y="5905352"/>
            <a:ext cx="38099" cy="101597"/>
          </a:xfrm>
          <a:prstGeom prst="rect">
            <a:avLst/>
          </a:prstGeom>
          <a:solidFill>
            <a:srgbClr val="FF95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4" name="Rectangle 373"/>
          <p:cNvSpPr/>
          <p:nvPr/>
        </p:nvSpPr>
        <p:spPr>
          <a:xfrm>
            <a:off x="2349441" y="5905352"/>
            <a:ext cx="38099" cy="101597"/>
          </a:xfrm>
          <a:prstGeom prst="rect">
            <a:avLst/>
          </a:prstGeom>
          <a:solidFill>
            <a:srgbClr val="FF8C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5" name="Rectangle 374"/>
          <p:cNvSpPr/>
          <p:nvPr/>
        </p:nvSpPr>
        <p:spPr>
          <a:xfrm>
            <a:off x="2381190" y="5905352"/>
            <a:ext cx="38099" cy="101597"/>
          </a:xfrm>
          <a:prstGeom prst="rect">
            <a:avLst/>
          </a:prstGeom>
          <a:solidFill>
            <a:srgbClr val="FF84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6" name="Rectangle 375"/>
          <p:cNvSpPr/>
          <p:nvPr/>
        </p:nvSpPr>
        <p:spPr>
          <a:xfrm>
            <a:off x="2412939" y="5905352"/>
            <a:ext cx="38099" cy="101597"/>
          </a:xfrm>
          <a:prstGeom prst="rect">
            <a:avLst/>
          </a:prstGeom>
          <a:solidFill>
            <a:srgbClr val="FF7C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7" name="Rectangle 376"/>
          <p:cNvSpPr/>
          <p:nvPr/>
        </p:nvSpPr>
        <p:spPr>
          <a:xfrm>
            <a:off x="2444688" y="5905352"/>
            <a:ext cx="38099" cy="101597"/>
          </a:xfrm>
          <a:prstGeom prst="rect">
            <a:avLst/>
          </a:prstGeom>
          <a:solidFill>
            <a:srgbClr val="FD750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8" name="Rectangle 377"/>
          <p:cNvSpPr/>
          <p:nvPr/>
        </p:nvSpPr>
        <p:spPr>
          <a:xfrm>
            <a:off x="2476438" y="5905352"/>
            <a:ext cx="38099" cy="101597"/>
          </a:xfrm>
          <a:prstGeom prst="rect">
            <a:avLst/>
          </a:prstGeom>
          <a:solidFill>
            <a:srgbClr val="FB6F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9" name="Rectangle 378"/>
          <p:cNvSpPr/>
          <p:nvPr/>
        </p:nvSpPr>
        <p:spPr>
          <a:xfrm>
            <a:off x="2508187" y="5905352"/>
            <a:ext cx="38099" cy="101597"/>
          </a:xfrm>
          <a:prstGeom prst="rect">
            <a:avLst/>
          </a:prstGeom>
          <a:solidFill>
            <a:srgbClr val="FA69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0" name="Rectangle 379"/>
          <p:cNvSpPr/>
          <p:nvPr/>
        </p:nvSpPr>
        <p:spPr>
          <a:xfrm>
            <a:off x="2539936" y="5905352"/>
            <a:ext cx="38099" cy="101597"/>
          </a:xfrm>
          <a:prstGeom prst="rect">
            <a:avLst/>
          </a:prstGeom>
          <a:solidFill>
            <a:srgbClr val="F863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1" name="Rectangle 380"/>
          <p:cNvSpPr/>
          <p:nvPr/>
        </p:nvSpPr>
        <p:spPr>
          <a:xfrm>
            <a:off x="2571685" y="5905352"/>
            <a:ext cx="38099" cy="101597"/>
          </a:xfrm>
          <a:prstGeom prst="rect">
            <a:avLst/>
          </a:prstGeom>
          <a:solidFill>
            <a:srgbClr val="F65D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2" name="Rectangle 381"/>
          <p:cNvSpPr/>
          <p:nvPr/>
        </p:nvSpPr>
        <p:spPr>
          <a:xfrm>
            <a:off x="2603434" y="5905352"/>
            <a:ext cx="38099" cy="101597"/>
          </a:xfrm>
          <a:prstGeom prst="rect">
            <a:avLst/>
          </a:prstGeom>
          <a:solidFill>
            <a:srgbClr val="F457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3" name="Rectangle 382"/>
          <p:cNvSpPr/>
          <p:nvPr/>
        </p:nvSpPr>
        <p:spPr>
          <a:xfrm>
            <a:off x="2635184" y="5905352"/>
            <a:ext cx="38099" cy="101597"/>
          </a:xfrm>
          <a:prstGeom prst="rect">
            <a:avLst/>
          </a:prstGeom>
          <a:solidFill>
            <a:srgbClr val="F25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4" name="Rectangle 383"/>
          <p:cNvSpPr/>
          <p:nvPr/>
        </p:nvSpPr>
        <p:spPr>
          <a:xfrm>
            <a:off x="2666933" y="5905352"/>
            <a:ext cx="38099" cy="101597"/>
          </a:xfrm>
          <a:prstGeom prst="rect">
            <a:avLst/>
          </a:prstGeom>
          <a:solidFill>
            <a:srgbClr val="F04B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5" name="Rectangle 384"/>
          <p:cNvSpPr/>
          <p:nvPr/>
        </p:nvSpPr>
        <p:spPr>
          <a:xfrm>
            <a:off x="2698682" y="5905352"/>
            <a:ext cx="38099" cy="101597"/>
          </a:xfrm>
          <a:prstGeom prst="rect">
            <a:avLst/>
          </a:prstGeom>
          <a:solidFill>
            <a:srgbClr val="EE45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6" name="Rectangle 385"/>
          <p:cNvSpPr/>
          <p:nvPr/>
        </p:nvSpPr>
        <p:spPr>
          <a:xfrm>
            <a:off x="2730431" y="5905352"/>
            <a:ext cx="38099" cy="101597"/>
          </a:xfrm>
          <a:prstGeom prst="rect">
            <a:avLst/>
          </a:prstGeom>
          <a:solidFill>
            <a:srgbClr val="EC3F1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7" name="Rectangle 386"/>
          <p:cNvSpPr/>
          <p:nvPr/>
        </p:nvSpPr>
        <p:spPr>
          <a:xfrm>
            <a:off x="2762180" y="5905352"/>
            <a:ext cx="38099" cy="101597"/>
          </a:xfrm>
          <a:prstGeom prst="rect">
            <a:avLst/>
          </a:prstGeom>
          <a:solidFill>
            <a:srgbClr val="EA39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8" name="Rectangle 387"/>
          <p:cNvSpPr/>
          <p:nvPr/>
        </p:nvSpPr>
        <p:spPr>
          <a:xfrm>
            <a:off x="2793930" y="5905352"/>
            <a:ext cx="38099" cy="101597"/>
          </a:xfrm>
          <a:prstGeom prst="rect">
            <a:avLst/>
          </a:prstGeom>
          <a:solidFill>
            <a:srgbClr val="E833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9" name="TextBox 388"/>
          <p:cNvSpPr txBox="1"/>
          <p:nvPr/>
        </p:nvSpPr>
        <p:spPr>
          <a:xfrm>
            <a:off x="539736"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0</a:t>
            </a:r>
          </a:p>
        </p:txBody>
      </p:sp>
      <p:sp>
        <p:nvSpPr>
          <p:cNvPr id="390" name="TextBox 389"/>
          <p:cNvSpPr txBox="1"/>
          <p:nvPr/>
        </p:nvSpPr>
        <p:spPr>
          <a:xfrm>
            <a:off x="1492212"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200</a:t>
            </a:r>
          </a:p>
        </p:txBody>
      </p:sp>
      <p:sp>
        <p:nvSpPr>
          <p:cNvPr id="391" name="TextBox 390"/>
          <p:cNvSpPr txBox="1"/>
          <p:nvPr/>
        </p:nvSpPr>
        <p:spPr>
          <a:xfrm>
            <a:off x="2444688"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400</a:t>
            </a:r>
          </a:p>
        </p:txBody>
      </p:sp>
      <p:sp>
        <p:nvSpPr>
          <p:cNvPr id="392" name="TextBox 391"/>
          <p:cNvSpPr txBox="1"/>
          <p:nvPr/>
        </p:nvSpPr>
        <p:spPr>
          <a:xfrm>
            <a:off x="2978075" y="5892652"/>
            <a:ext cx="1269968" cy="190495"/>
          </a:xfrm>
          <a:prstGeom prst="rect">
            <a:avLst/>
          </a:prstGeom>
          <a:noFill/>
        </p:spPr>
        <p:txBody>
          <a:bodyPr wrap="square" anchor="t" lIns="0" rIns="0" tIns="0" bIns="0">
            <a:spAutoFit/>
          </a:bodyPr>
          <a:lstStyle/>
          <a:p>
            <a:pPr algn="l">
              <a:lnSpc>
                <a:spcPct val="125000"/>
              </a:lnSpc>
            </a:pPr>
            <a:r>
              <a:rPr sz="1100" b="0">
                <a:solidFill>
                  <a:srgbClr val="8FB6D0"/>
                </a:solidFill>
                <a:latin typeface="Consolas"/>
              </a:rPr>
              <a:t>kPa</a:t>
            </a:r>
          </a:p>
        </p:txBody>
      </p:sp>
      <p:sp>
        <p:nvSpPr>
          <p:cNvPr id="393" name="!!piek"/>
          <p:cNvSpPr txBox="1"/>
          <p:nvPr/>
        </p:nvSpPr>
        <p:spPr>
          <a:xfrm>
            <a:off x="3555911" y="1587460"/>
            <a:ext cx="4444888" cy="1904952"/>
          </a:xfrm>
          <a:prstGeom prst="rect">
            <a:avLst/>
          </a:prstGeom>
          <a:noFill/>
        </p:spPr>
        <p:txBody>
          <a:bodyPr wrap="none" anchor="t" lIns="0" rIns="0" tIns="0" bIns="0">
            <a:spAutoFit/>
          </a:bodyPr>
          <a:lstStyle/>
          <a:p>
            <a:pPr algn="l">
              <a:lnSpc>
                <a:spcPct val="90000"/>
              </a:lnSpc>
            </a:pPr>
            <a:r>
              <a:rPr sz="15000" b="1">
                <a:solidFill>
                  <a:srgbClr val="52BDEC"/>
                </a:solidFill>
                <a:latin typeface="Segoe UI"/>
              </a:rPr>
              <a:t>186</a:t>
            </a:r>
          </a:p>
        </p:txBody>
      </p:sp>
      <p:sp>
        <p:nvSpPr>
          <p:cNvPr id="394" name="!!eenheid"/>
          <p:cNvSpPr txBox="1"/>
          <p:nvPr/>
        </p:nvSpPr>
        <p:spPr>
          <a:xfrm>
            <a:off x="6857828" y="1904952"/>
            <a:ext cx="1269968" cy="507987"/>
          </a:xfrm>
          <a:prstGeom prst="rect">
            <a:avLst/>
          </a:prstGeom>
          <a:noFill/>
        </p:spPr>
        <p:txBody>
          <a:bodyPr wrap="square" anchor="t" lIns="0" rIns="0" tIns="0" bIns="0">
            <a:spAutoFit/>
          </a:bodyPr>
          <a:lstStyle/>
          <a:p>
            <a:pPr algn="l">
              <a:lnSpc>
                <a:spcPct val="125000"/>
              </a:lnSpc>
            </a:pPr>
            <a:r>
              <a:rPr sz="4400" b="1">
                <a:solidFill>
                  <a:srgbClr val="52BDEC"/>
                </a:solidFill>
                <a:latin typeface="Segoe UI Light"/>
              </a:rPr>
              <a:t>kPa</a:t>
            </a:r>
          </a:p>
        </p:txBody>
      </p:sp>
      <p:sp>
        <p:nvSpPr>
          <p:cNvPr id="395" name="!!plek"/>
          <p:cNvSpPr txBox="1"/>
          <p:nvPr/>
        </p:nvSpPr>
        <p:spPr>
          <a:xfrm>
            <a:off x="3581310" y="3352716"/>
            <a:ext cx="7619809" cy="380990"/>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piekdruk in de doelregio na aanpassing</a:t>
            </a:r>
          </a:p>
        </p:txBody>
      </p:sp>
      <p:sp>
        <p:nvSpPr>
          <p:cNvPr id="396" name="!!norm"/>
          <p:cNvSpPr/>
          <p:nvPr/>
        </p:nvSpPr>
        <p:spPr>
          <a:xfrm>
            <a:off x="3555911" y="3924201"/>
            <a:ext cx="8000799" cy="609584"/>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7" name="!!normtekst"/>
          <p:cNvSpPr txBox="1"/>
          <p:nvPr/>
        </p:nvSpPr>
        <p:spPr>
          <a:xfrm>
            <a:off x="3555911" y="4101997"/>
            <a:ext cx="8000799" cy="292092"/>
          </a:xfrm>
          <a:prstGeom prst="rect">
            <a:avLst/>
          </a:prstGeom>
          <a:noFill/>
        </p:spPr>
        <p:txBody>
          <a:bodyPr wrap="square" anchor="t" lIns="0" rIns="0" tIns="0" bIns="0">
            <a:spAutoFit/>
          </a:bodyPr>
          <a:lstStyle/>
          <a:p>
            <a:pPr algn="ctr">
              <a:lnSpc>
                <a:spcPct val="125000"/>
              </a:lnSpc>
            </a:pPr>
            <a:r>
              <a:rPr sz="2200" b="1">
                <a:solidFill>
                  <a:srgbClr val="FF7A00"/>
                </a:solidFill>
                <a:latin typeface="Consolas"/>
              </a:rPr>
              <a:t>40% lager  ·  onder 200 kPa  ·  beide criteria</a:t>
            </a:r>
          </a:p>
        </p:txBody>
      </p:sp>
      <p:sp>
        <p:nvSpPr>
          <p:cNvPr id="398" name="TextBox 397"/>
          <p:cNvSpPr txBox="1"/>
          <p:nvPr/>
        </p:nvSpPr>
        <p:spPr>
          <a:xfrm>
            <a:off x="3555911" y="4825879"/>
            <a:ext cx="8000799" cy="1269968"/>
          </a:xfrm>
          <a:prstGeom prst="rect">
            <a:avLst/>
          </a:prstGeom>
          <a:noFill/>
        </p:spPr>
        <p:txBody>
          <a:bodyPr wrap="square" anchor="t" lIns="0" rIns="0" tIns="0" bIns="0">
            <a:spAutoFit/>
          </a:bodyPr>
          <a:lstStyle/>
          <a:p>
            <a:pPr algn="l">
              <a:lnSpc>
                <a:spcPct val="135000"/>
              </a:lnSpc>
            </a:pPr>
            <a:r>
              <a:rPr sz="1700" b="0">
                <a:solidFill>
                  <a:srgbClr val="8FB6D0"/>
                </a:solidFill>
                <a:latin typeface="Segoe UI"/>
              </a:rPr>
              <a:t>De norm geldt per doelregio: piekdruk onder 200 kPa óf minstens 25% lager dan de meting zónder zool in dezelfde sessie.</a:t>
            </a:r>
          </a:p>
          <a:p>
            <a:pPr algn="l">
              <a:lnSpc>
                <a:spcPct val="135000"/>
              </a:lnSpc>
              <a:spcBef>
                <a:spcPts val="1200"/>
              </a:spcBef>
            </a:pPr>
            <a:r>
              <a:rPr sz="1700" b="0">
                <a:solidFill>
                  <a:srgbClr val="8FB6D0"/>
                </a:solidFill>
                <a:latin typeface="Segoe UI"/>
              </a:rPr>
              <a:t>Haalt u de norm niet, dan past u aan en meet u opnieuw. Het formulier voorziet twee extra ontlastingstests.</a:t>
            </a:r>
          </a:p>
        </p:txBody>
      </p:sp>
      <p:sp>
        <p:nvSpPr>
          <p:cNvPr id="399" name="TextBox 398"/>
          <p:cNvSpPr txBox="1"/>
          <p:nvPr/>
        </p:nvSpPr>
        <p:spPr>
          <a:xfrm>
            <a:off x="634984" y="6387940"/>
            <a:ext cx="8889777"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eCRF-document 24 · Meting drukherverdeling voetorthese</a:t>
            </a:r>
          </a:p>
        </p:txBody>
      </p:sp>
      <p:sp>
        <p:nvSpPr>
          <p:cNvPr id="400" name="TextBox 399"/>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14 / 26</a:t>
            </a:r>
          </a:p>
        </p:txBody>
      </p:sp>
      <p:pic>
        <p:nvPicPr>
          <p:cNvPr id="401"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402" name="TextBox 401"/>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Bron  6 · Bus 2011   |   7 · Bus 2020</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beeld" descr="knal_belasting.jpg"/>
          <p:cNvPicPr>
            <a:picLocks noChangeAspect="1"/>
          </p:cNvPicPr>
          <p:nvPr/>
        </p:nvPicPr>
        <p:blipFill>
          <a:blip r:embed="rId2"/>
          <a:stretch>
            <a:fillRect/>
          </a:stretch>
        </p:blipFill>
        <p:spPr>
          <a:xfrm>
            <a:off x="-22661" y="0"/>
            <a:ext cx="12237017" cy="6857828"/>
          </a:xfrm>
          <a:prstGeom prst="rect">
            <a:avLst/>
          </a:prstGeom>
        </p:spPr>
      </p:pic>
      <p:sp>
        <p:nvSpPr>
          <p:cNvPr id="4" name="Rectangle 3"/>
          <p:cNvSpPr/>
          <p:nvPr/>
        </p:nvSpPr>
        <p:spPr>
          <a:xfrm>
            <a:off x="0" y="0"/>
            <a:ext cx="12191695" cy="6857828"/>
          </a:xfrm>
          <a:prstGeom prst="rect">
            <a:avLst/>
          </a:prstGeom>
          <a:gradFill rotWithShape="1">
            <a:gsLst>
              <a:gs pos="0">
                <a:srgbClr val="04182A">
                  <a:alpha val="68000"/>
                </a:srgbClr>
              </a:gs>
              <a:gs pos="100000">
                <a:srgbClr val="072138">
                  <a:alpha val="95000"/>
                </a:srgbClr>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952476" y="1231869"/>
            <a:ext cx="812779" cy="50798"/>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knal"/>
          <p:cNvSpPr txBox="1"/>
          <p:nvPr/>
        </p:nvSpPr>
        <p:spPr>
          <a:xfrm>
            <a:off x="952476" y="1523961"/>
            <a:ext cx="10286742" cy="4190895"/>
          </a:xfrm>
          <a:prstGeom prst="rect">
            <a:avLst/>
          </a:prstGeom>
          <a:noFill/>
        </p:spPr>
        <p:txBody>
          <a:bodyPr wrap="square" anchor="t" lIns="0" rIns="0" tIns="0" bIns="0">
            <a:spAutoFit/>
          </a:bodyPr>
          <a:lstStyle/>
          <a:p>
            <a:pPr algn="l">
              <a:lnSpc>
                <a:spcPct val="106000"/>
              </a:lnSpc>
            </a:pPr>
            <a:r>
              <a:rPr sz="7200" b="1">
                <a:solidFill>
                  <a:srgbClr val="FFFFFF"/>
                </a:solidFill>
                <a:latin typeface="Segoe UI"/>
              </a:rPr>
              <a:t>Niet minder belasting.</a:t>
            </a:r>
          </a:p>
          <a:p>
            <a:pPr algn="l">
              <a:lnSpc>
                <a:spcPct val="106000"/>
              </a:lnSpc>
              <a:spcBef>
                <a:spcPts val="500"/>
              </a:spcBef>
            </a:pPr>
            <a:r>
              <a:rPr sz="7200" b="1">
                <a:solidFill>
                  <a:srgbClr val="FFFFFF"/>
                </a:solidFill>
                <a:latin typeface="Segoe UI"/>
              </a:rPr>
              <a:t>Belasting op een plek die het aankan.</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merkgroot" descr="merk.png"/>
          <p:cNvPicPr>
            <a:picLocks noChangeAspect="1"/>
          </p:cNvPicPr>
          <p:nvPr/>
        </p:nvPicPr>
        <p:blipFill>
          <a:blip r:embed="rId2">
            <a:alphaModFix amt="14000"/>
          </a:blip>
          <a:stretch>
            <a:fillRect/>
          </a:stretch>
        </p:blipFill>
        <p:spPr>
          <a:xfrm>
            <a:off x="6603834" y="-1126099"/>
            <a:ext cx="7873803" cy="9110028"/>
          </a:xfrm>
          <a:prstGeom prst="rect">
            <a:avLst/>
          </a:prstGeom>
        </p:spPr>
      </p:pic>
      <p:sp>
        <p:nvSpPr>
          <p:cNvPr id="4" name="hero"/>
          <p:cNvSpPr txBox="1"/>
          <p:nvPr/>
        </p:nvSpPr>
        <p:spPr>
          <a:xfrm>
            <a:off x="431789" y="723881"/>
            <a:ext cx="5714857" cy="2920926"/>
          </a:xfrm>
          <a:prstGeom prst="rect">
            <a:avLst/>
          </a:prstGeom>
          <a:noFill/>
        </p:spPr>
        <p:txBody>
          <a:bodyPr wrap="none" anchor="t" lIns="0" rIns="0" tIns="0" bIns="0">
            <a:spAutoFit/>
          </a:bodyPr>
          <a:lstStyle/>
          <a:p>
            <a:pPr algn="l">
              <a:lnSpc>
                <a:spcPct val="82000"/>
              </a:lnSpc>
            </a:pPr>
            <a:r>
              <a:rPr sz="26000" b="1">
                <a:solidFill>
                  <a:srgbClr val="52BDEC">
                    <a:alpha val="15000"/>
                  </a:srgbClr>
                </a:solidFill>
                <a:latin typeface="Segoe UI"/>
              </a:rPr>
              <a:t>03</a:t>
            </a:r>
          </a:p>
        </p:txBody>
      </p:sp>
      <p:sp>
        <p:nvSpPr>
          <p:cNvPr id="5" name="TextBox 4"/>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BLOK 03</a:t>
            </a:r>
          </a:p>
        </p:txBody>
      </p:sp>
      <p:sp>
        <p:nvSpPr>
          <p:cNvPr id="6" name="Rectangle 5"/>
          <p:cNvSpPr/>
          <p:nvPr/>
        </p:nvSpPr>
        <p:spPr>
          <a:xfrm>
            <a:off x="634984" y="3213019"/>
            <a:ext cx="812779" cy="50798"/>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ectietitel"/>
          <p:cNvSpPr txBox="1"/>
          <p:nvPr/>
        </p:nvSpPr>
        <p:spPr>
          <a:xfrm>
            <a:off x="634984" y="3555911"/>
            <a:ext cx="8889777" cy="1015974"/>
          </a:xfrm>
          <a:prstGeom prst="rect">
            <a:avLst/>
          </a:prstGeom>
          <a:noFill/>
        </p:spPr>
        <p:txBody>
          <a:bodyPr wrap="square" anchor="t" lIns="0" rIns="0" tIns="0" bIns="0">
            <a:spAutoFit/>
          </a:bodyPr>
          <a:lstStyle/>
          <a:p>
            <a:pPr algn="l">
              <a:lnSpc>
                <a:spcPct val="125000"/>
              </a:lnSpc>
            </a:pPr>
            <a:r>
              <a:rPr sz="7600" b="1">
                <a:solidFill>
                  <a:srgbClr val="F2F8FC"/>
                </a:solidFill>
                <a:latin typeface="Segoe UI"/>
              </a:rPr>
              <a:t>Het traject</a:t>
            </a:r>
          </a:p>
        </p:txBody>
      </p:sp>
      <p:sp>
        <p:nvSpPr>
          <p:cNvPr id="8" name="TextBox 7"/>
          <p:cNvSpPr txBox="1"/>
          <p:nvPr/>
        </p:nvSpPr>
        <p:spPr>
          <a:xfrm>
            <a:off x="660383" y="4825879"/>
            <a:ext cx="8254793" cy="507987"/>
          </a:xfrm>
          <a:prstGeom prst="rect">
            <a:avLst/>
          </a:prstGeom>
          <a:noFill/>
        </p:spPr>
        <p:txBody>
          <a:bodyPr wrap="square" anchor="t" lIns="0" rIns="0" tIns="0" bIns="0">
            <a:spAutoFit/>
          </a:bodyPr>
          <a:lstStyle/>
          <a:p>
            <a:pPr algn="l">
              <a:lnSpc>
                <a:spcPct val="125000"/>
              </a:lnSpc>
            </a:pPr>
            <a:r>
              <a:rPr sz="2300" b="0">
                <a:solidFill>
                  <a:srgbClr val="8FB6D0"/>
                </a:solidFill>
                <a:latin typeface="Segoe UI Light"/>
              </a:rPr>
              <a:t>Negen contactmomenten. Per moment: wat u doet en wat u invult.</a:t>
            </a:r>
          </a:p>
        </p:txBody>
      </p:sp>
      <p:sp>
        <p:nvSpPr>
          <p:cNvPr id="9" name="TextBox 8"/>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16 / 26</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355591"/>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HET TRAJECT</a:t>
            </a:r>
          </a:p>
        </p:txBody>
      </p:sp>
      <p:sp>
        <p:nvSpPr>
          <p:cNvPr id="4" name="!!sectietitel"/>
          <p:cNvSpPr txBox="1"/>
          <p:nvPr/>
        </p:nvSpPr>
        <p:spPr>
          <a:xfrm>
            <a:off x="634984" y="609584"/>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Screening plus negen visites</a:t>
            </a:r>
          </a:p>
        </p:txBody>
      </p:sp>
      <p:sp>
        <p:nvSpPr>
          <p:cNvPr id="5" name="!!band"/>
          <p:cNvSpPr/>
          <p:nvPr/>
        </p:nvSpPr>
        <p:spPr>
          <a:xfrm>
            <a:off x="0" y="1206469"/>
            <a:ext cx="12191695" cy="3301917"/>
          </a:xfrm>
          <a:prstGeom prst="rect">
            <a:avLst/>
          </a:prstGeom>
          <a:solidFill>
            <a:srgbClr val="0A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as"/>
          <p:cNvSpPr/>
          <p:nvPr/>
        </p:nvSpPr>
        <p:spPr>
          <a:xfrm>
            <a:off x="634984" y="2920926"/>
            <a:ext cx="1092172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tip0"/>
          <p:cNvSpPr/>
          <p:nvPr/>
        </p:nvSpPr>
        <p:spPr>
          <a:xfrm>
            <a:off x="1085822" y="2838379"/>
            <a:ext cx="190495" cy="190495"/>
          </a:xfrm>
          <a:prstGeom prst="ellipse">
            <a:avLst/>
          </a:prstGeom>
          <a:solidFill>
            <a:srgbClr val="FF7A0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maand0"/>
          <p:cNvSpPr txBox="1"/>
          <p:nvPr/>
        </p:nvSpPr>
        <p:spPr>
          <a:xfrm>
            <a:off x="634984" y="2133546"/>
            <a:ext cx="1092172" cy="279393"/>
          </a:xfrm>
          <a:prstGeom prst="rect">
            <a:avLst/>
          </a:prstGeom>
          <a:noFill/>
        </p:spPr>
        <p:txBody>
          <a:bodyPr wrap="square" anchor="t" lIns="0" rIns="0" tIns="0" bIns="0">
            <a:spAutoFit/>
          </a:bodyPr>
          <a:lstStyle/>
          <a:p>
            <a:pPr algn="ctr">
              <a:lnSpc>
                <a:spcPct val="125000"/>
              </a:lnSpc>
            </a:pPr>
            <a:r>
              <a:rPr sz="1500" b="1">
                <a:solidFill>
                  <a:srgbClr val="F2F8FC"/>
                </a:solidFill>
                <a:latin typeface="Consolas"/>
              </a:rPr>
              <a:t>Screen</a:t>
            </a:r>
          </a:p>
        </p:txBody>
      </p:sp>
      <p:sp>
        <p:nvSpPr>
          <p:cNvPr id="9" name="!!taak0"/>
          <p:cNvSpPr txBox="1"/>
          <p:nvPr/>
        </p:nvSpPr>
        <p:spPr>
          <a:xfrm>
            <a:off x="698482"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geschiktheid</a:t>
            </a:r>
          </a:p>
        </p:txBody>
      </p:sp>
      <p:sp>
        <p:nvSpPr>
          <p:cNvPr id="10" name="!!stip1"/>
          <p:cNvSpPr/>
          <p:nvPr/>
        </p:nvSpPr>
        <p:spPr>
          <a:xfrm>
            <a:off x="2177995" y="2838379"/>
            <a:ext cx="190495" cy="190495"/>
          </a:xfrm>
          <a:prstGeom prst="ellipse">
            <a:avLst/>
          </a:prstGeom>
          <a:solidFill>
            <a:srgbClr val="FF7A0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maand1"/>
          <p:cNvSpPr txBox="1"/>
          <p:nvPr/>
        </p:nvSpPr>
        <p:spPr>
          <a:xfrm>
            <a:off x="1727156"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V0</a:t>
            </a:r>
          </a:p>
        </p:txBody>
      </p:sp>
      <p:sp>
        <p:nvSpPr>
          <p:cNvPr id="12" name="!!taak1"/>
          <p:cNvSpPr txBox="1"/>
          <p:nvPr/>
        </p:nvSpPr>
        <p:spPr>
          <a:xfrm>
            <a:off x="1790655"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loting</a:t>
            </a:r>
          </a:p>
        </p:txBody>
      </p:sp>
      <p:sp>
        <p:nvSpPr>
          <p:cNvPr id="13" name="!!stip2"/>
          <p:cNvSpPr/>
          <p:nvPr/>
        </p:nvSpPr>
        <p:spPr>
          <a:xfrm>
            <a:off x="3289217"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maand2"/>
          <p:cNvSpPr txBox="1"/>
          <p:nvPr/>
        </p:nvSpPr>
        <p:spPr>
          <a:xfrm>
            <a:off x="2819329"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V1</a:t>
            </a:r>
          </a:p>
        </p:txBody>
      </p:sp>
      <p:sp>
        <p:nvSpPr>
          <p:cNvPr id="15" name="!!taak2"/>
          <p:cNvSpPr txBox="1"/>
          <p:nvPr/>
        </p:nvSpPr>
        <p:spPr>
          <a:xfrm>
            <a:off x="2882827"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baseline</a:t>
            </a:r>
          </a:p>
        </p:txBody>
      </p:sp>
      <p:sp>
        <p:nvSpPr>
          <p:cNvPr id="16" name="!!stip3"/>
          <p:cNvSpPr/>
          <p:nvPr/>
        </p:nvSpPr>
        <p:spPr>
          <a:xfrm>
            <a:off x="4381390"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maand3"/>
          <p:cNvSpPr txBox="1"/>
          <p:nvPr/>
        </p:nvSpPr>
        <p:spPr>
          <a:xfrm>
            <a:off x="3911502"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V2</a:t>
            </a:r>
          </a:p>
        </p:txBody>
      </p:sp>
      <p:sp>
        <p:nvSpPr>
          <p:cNvPr id="18" name="!!taak3"/>
          <p:cNvSpPr txBox="1"/>
          <p:nvPr/>
        </p:nvSpPr>
        <p:spPr>
          <a:xfrm>
            <a:off x="3975000"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zool + sensor</a:t>
            </a:r>
          </a:p>
        </p:txBody>
      </p:sp>
      <p:sp>
        <p:nvSpPr>
          <p:cNvPr id="19" name="!!stip4"/>
          <p:cNvSpPr/>
          <p:nvPr/>
        </p:nvSpPr>
        <p:spPr>
          <a:xfrm>
            <a:off x="5473563" y="2857428"/>
            <a:ext cx="152396" cy="152396"/>
          </a:xfrm>
          <a:prstGeom prst="ellipse">
            <a:avLst/>
          </a:prstGeom>
          <a:solidFill>
            <a:srgbClr val="1D8DB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maand4"/>
          <p:cNvSpPr txBox="1"/>
          <p:nvPr/>
        </p:nvSpPr>
        <p:spPr>
          <a:xfrm>
            <a:off x="5003674"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M3</a:t>
            </a:r>
          </a:p>
        </p:txBody>
      </p:sp>
      <p:sp>
        <p:nvSpPr>
          <p:cNvPr id="21" name="!!taak4"/>
          <p:cNvSpPr txBox="1"/>
          <p:nvPr/>
        </p:nvSpPr>
        <p:spPr>
          <a:xfrm>
            <a:off x="5067173"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opvolging</a:t>
            </a:r>
          </a:p>
        </p:txBody>
      </p:sp>
      <p:sp>
        <p:nvSpPr>
          <p:cNvPr id="22" name="!!stip5"/>
          <p:cNvSpPr/>
          <p:nvPr/>
        </p:nvSpPr>
        <p:spPr>
          <a:xfrm>
            <a:off x="6565735"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maand5"/>
          <p:cNvSpPr txBox="1"/>
          <p:nvPr/>
        </p:nvSpPr>
        <p:spPr>
          <a:xfrm>
            <a:off x="6095847"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M6</a:t>
            </a:r>
          </a:p>
        </p:txBody>
      </p:sp>
      <p:sp>
        <p:nvSpPr>
          <p:cNvPr id="24" name="!!taak5"/>
          <p:cNvSpPr txBox="1"/>
          <p:nvPr/>
        </p:nvSpPr>
        <p:spPr>
          <a:xfrm>
            <a:off x="6159346"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meting</a:t>
            </a:r>
          </a:p>
        </p:txBody>
      </p:sp>
      <p:sp>
        <p:nvSpPr>
          <p:cNvPr id="25" name="!!stip6"/>
          <p:cNvSpPr/>
          <p:nvPr/>
        </p:nvSpPr>
        <p:spPr>
          <a:xfrm>
            <a:off x="7657908" y="2857428"/>
            <a:ext cx="152396" cy="152396"/>
          </a:xfrm>
          <a:prstGeom prst="ellipse">
            <a:avLst/>
          </a:prstGeom>
          <a:solidFill>
            <a:srgbClr val="1D8DB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maand6"/>
          <p:cNvSpPr txBox="1"/>
          <p:nvPr/>
        </p:nvSpPr>
        <p:spPr>
          <a:xfrm>
            <a:off x="7188020"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M9</a:t>
            </a:r>
          </a:p>
        </p:txBody>
      </p:sp>
      <p:sp>
        <p:nvSpPr>
          <p:cNvPr id="27" name="!!taak6"/>
          <p:cNvSpPr txBox="1"/>
          <p:nvPr/>
        </p:nvSpPr>
        <p:spPr>
          <a:xfrm>
            <a:off x="7251518"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opvolging</a:t>
            </a:r>
          </a:p>
        </p:txBody>
      </p:sp>
      <p:sp>
        <p:nvSpPr>
          <p:cNvPr id="28" name="!!stip7"/>
          <p:cNvSpPr/>
          <p:nvPr/>
        </p:nvSpPr>
        <p:spPr>
          <a:xfrm>
            <a:off x="8750081"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maand7"/>
          <p:cNvSpPr txBox="1"/>
          <p:nvPr/>
        </p:nvSpPr>
        <p:spPr>
          <a:xfrm>
            <a:off x="8280192"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M12</a:t>
            </a:r>
          </a:p>
        </p:txBody>
      </p:sp>
      <p:sp>
        <p:nvSpPr>
          <p:cNvPr id="30" name="!!taak7"/>
          <p:cNvSpPr txBox="1"/>
          <p:nvPr/>
        </p:nvSpPr>
        <p:spPr>
          <a:xfrm>
            <a:off x="8343691"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meting</a:t>
            </a:r>
          </a:p>
        </p:txBody>
      </p:sp>
      <p:sp>
        <p:nvSpPr>
          <p:cNvPr id="31" name="!!stip8"/>
          <p:cNvSpPr/>
          <p:nvPr/>
        </p:nvSpPr>
        <p:spPr>
          <a:xfrm>
            <a:off x="9842253" y="2857428"/>
            <a:ext cx="152396" cy="152396"/>
          </a:xfrm>
          <a:prstGeom prst="ellipse">
            <a:avLst/>
          </a:prstGeom>
          <a:solidFill>
            <a:srgbClr val="1D8DB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maand8"/>
          <p:cNvSpPr txBox="1"/>
          <p:nvPr/>
        </p:nvSpPr>
        <p:spPr>
          <a:xfrm>
            <a:off x="9372365"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M15</a:t>
            </a:r>
          </a:p>
        </p:txBody>
      </p:sp>
      <p:sp>
        <p:nvSpPr>
          <p:cNvPr id="33" name="!!taak8"/>
          <p:cNvSpPr txBox="1"/>
          <p:nvPr/>
        </p:nvSpPr>
        <p:spPr>
          <a:xfrm>
            <a:off x="9435864"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opvolging</a:t>
            </a:r>
          </a:p>
        </p:txBody>
      </p:sp>
      <p:sp>
        <p:nvSpPr>
          <p:cNvPr id="34" name="!!stip9"/>
          <p:cNvSpPr/>
          <p:nvPr/>
        </p:nvSpPr>
        <p:spPr>
          <a:xfrm>
            <a:off x="10915377" y="2838379"/>
            <a:ext cx="190495" cy="190495"/>
          </a:xfrm>
          <a:prstGeom prst="ellipse">
            <a:avLst/>
          </a:prstGeom>
          <a:solidFill>
            <a:srgbClr val="FF7A0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maand9"/>
          <p:cNvSpPr txBox="1"/>
          <p:nvPr/>
        </p:nvSpPr>
        <p:spPr>
          <a:xfrm>
            <a:off x="10464538"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M18</a:t>
            </a:r>
          </a:p>
        </p:txBody>
      </p:sp>
      <p:sp>
        <p:nvSpPr>
          <p:cNvPr id="36" name="!!taak9"/>
          <p:cNvSpPr txBox="1"/>
          <p:nvPr/>
        </p:nvSpPr>
        <p:spPr>
          <a:xfrm>
            <a:off x="10528036"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meting + einde</a:t>
            </a:r>
          </a:p>
        </p:txBody>
      </p:sp>
      <p:sp>
        <p:nvSpPr>
          <p:cNvPr id="37" name="Oval 36"/>
          <p:cNvSpPr/>
          <p:nvPr/>
        </p:nvSpPr>
        <p:spPr>
          <a:xfrm>
            <a:off x="660383" y="4013099"/>
            <a:ext cx="114297" cy="114297"/>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50878" y="3975000"/>
            <a:ext cx="2285942"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meetmoment</a:t>
            </a:r>
          </a:p>
        </p:txBody>
      </p:sp>
      <p:sp>
        <p:nvSpPr>
          <p:cNvPr id="39" name="Oval 38"/>
          <p:cNvSpPr/>
          <p:nvPr/>
        </p:nvSpPr>
        <p:spPr>
          <a:xfrm>
            <a:off x="3200319" y="4013099"/>
            <a:ext cx="114297" cy="114297"/>
          </a:xfrm>
          <a:prstGeom prst="ellipse">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390815" y="3975000"/>
            <a:ext cx="2285942"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begeleiding</a:t>
            </a:r>
          </a:p>
        </p:txBody>
      </p:sp>
      <p:sp>
        <p:nvSpPr>
          <p:cNvPr id="41" name="Oval 40"/>
          <p:cNvSpPr/>
          <p:nvPr/>
        </p:nvSpPr>
        <p:spPr>
          <a:xfrm>
            <a:off x="5740256" y="4013099"/>
            <a:ext cx="114297" cy="114297"/>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930751" y="3975000"/>
            <a:ext cx="2285942"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start en afronding</a:t>
            </a:r>
          </a:p>
        </p:txBody>
      </p:sp>
      <p:sp>
        <p:nvSpPr>
          <p:cNvPr id="43" name="!!camera"/>
          <p:cNvSpPr txBox="1"/>
          <p:nvPr/>
        </p:nvSpPr>
        <p:spPr>
          <a:xfrm>
            <a:off x="634984" y="4711582"/>
            <a:ext cx="2031949" cy="1460463"/>
          </a:xfrm>
          <a:prstGeom prst="rect">
            <a:avLst/>
          </a:prstGeom>
          <a:noFill/>
        </p:spPr>
        <p:txBody>
          <a:bodyPr wrap="none" anchor="t" lIns="0" rIns="0" tIns="0" bIns="0">
            <a:spAutoFit/>
          </a:bodyPr>
          <a:lstStyle/>
          <a:p>
            <a:pPr algn="l">
              <a:lnSpc>
                <a:spcPct val="100000"/>
              </a:lnSpc>
            </a:pPr>
            <a:r>
              <a:rPr sz="9600" b="1">
                <a:solidFill>
                  <a:srgbClr val="52BDEC"/>
                </a:solidFill>
                <a:latin typeface="Segoe UI"/>
              </a:rPr>
              <a:t>18</a:t>
            </a:r>
          </a:p>
        </p:txBody>
      </p:sp>
      <p:sp>
        <p:nvSpPr>
          <p:cNvPr id="44" name="TextBox 43"/>
          <p:cNvSpPr txBox="1"/>
          <p:nvPr/>
        </p:nvSpPr>
        <p:spPr>
          <a:xfrm>
            <a:off x="2539936" y="4813179"/>
            <a:ext cx="8889777" cy="419089"/>
          </a:xfrm>
          <a:prstGeom prst="rect">
            <a:avLst/>
          </a:prstGeom>
          <a:noFill/>
        </p:spPr>
        <p:txBody>
          <a:bodyPr wrap="square" anchor="t" lIns="0" rIns="0" tIns="0" bIns="0">
            <a:spAutoFit/>
          </a:bodyPr>
          <a:lstStyle/>
          <a:p>
            <a:pPr algn="l">
              <a:lnSpc>
                <a:spcPct val="125000"/>
              </a:lnSpc>
            </a:pPr>
            <a:r>
              <a:rPr sz="3000" b="1">
                <a:solidFill>
                  <a:srgbClr val="F2F8FC"/>
                </a:solidFill>
                <a:latin typeface="Segoe UI"/>
              </a:rPr>
              <a:t>maanden, van screening tot afronding</a:t>
            </a:r>
          </a:p>
        </p:txBody>
      </p:sp>
      <p:sp>
        <p:nvSpPr>
          <p:cNvPr id="45" name="TextBox 44"/>
          <p:cNvSpPr txBox="1"/>
          <p:nvPr/>
        </p:nvSpPr>
        <p:spPr>
          <a:xfrm>
            <a:off x="2552636" y="5283067"/>
            <a:ext cx="8889777" cy="952476"/>
          </a:xfrm>
          <a:prstGeom prst="rect">
            <a:avLst/>
          </a:prstGeom>
          <a:noFill/>
        </p:spPr>
        <p:txBody>
          <a:bodyPr wrap="square" anchor="t" lIns="0" rIns="0" tIns="0" bIns="0">
            <a:spAutoFit/>
          </a:bodyPr>
          <a:lstStyle/>
          <a:p>
            <a:pPr algn="l">
              <a:lnSpc>
                <a:spcPct val="140000"/>
              </a:lnSpc>
            </a:pPr>
            <a:r>
              <a:rPr sz="1800" b="0">
                <a:solidFill>
                  <a:srgbClr val="8FB6D0"/>
                </a:solidFill>
                <a:latin typeface="Segoe UI"/>
              </a:rPr>
              <a:t>Visite 0 tot 2 liggen dicht op elkaar: toestemming, baseline, en de zool binnen de maand. Daarna is het ritme elke drie maanden, hetzelfde ritme als de controle die deze patiënten al krijgen.</a:t>
            </a:r>
          </a:p>
        </p:txBody>
      </p:sp>
      <p:sp>
        <p:nvSpPr>
          <p:cNvPr id="46" name="TextBox 45"/>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17 / 26</a:t>
            </a:r>
          </a:p>
        </p:txBody>
      </p:sp>
      <p:pic>
        <p:nvPicPr>
          <p:cNvPr id="47"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DE TECHNIEK</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Drie toestellen</a:t>
            </a:r>
          </a:p>
        </p:txBody>
      </p:sp>
      <p:sp>
        <p:nvSpPr>
          <p:cNvPr id="5" name="Rounded Rectangle 4"/>
          <p:cNvSpPr/>
          <p:nvPr/>
        </p:nvSpPr>
        <p:spPr>
          <a:xfrm>
            <a:off x="634984" y="1968450"/>
            <a:ext cx="5384538" cy="4000399"/>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pedar.png"/>
          <p:cNvPicPr>
            <a:picLocks noChangeAspect="1"/>
          </p:cNvPicPr>
          <p:nvPr/>
        </p:nvPicPr>
        <p:blipFill>
          <a:blip r:embed="rId2"/>
          <a:stretch>
            <a:fillRect/>
          </a:stretch>
        </p:blipFill>
        <p:spPr>
          <a:xfrm>
            <a:off x="2344719" y="2184345"/>
            <a:ext cx="1965067" cy="1663658"/>
          </a:xfrm>
          <a:prstGeom prst="rect">
            <a:avLst/>
          </a:prstGeom>
        </p:spPr>
      </p:pic>
      <p:sp>
        <p:nvSpPr>
          <p:cNvPr id="7" name="TextBox 6"/>
          <p:cNvSpPr txBox="1"/>
          <p:nvPr/>
        </p:nvSpPr>
        <p:spPr>
          <a:xfrm>
            <a:off x="914377" y="3975000"/>
            <a:ext cx="2412939" cy="444488"/>
          </a:xfrm>
          <a:prstGeom prst="rect">
            <a:avLst/>
          </a:prstGeom>
          <a:noFill/>
        </p:spPr>
        <p:txBody>
          <a:bodyPr wrap="square" anchor="t" lIns="0" rIns="0" tIns="0" bIns="0">
            <a:spAutoFit/>
          </a:bodyPr>
          <a:lstStyle/>
          <a:p>
            <a:pPr algn="l">
              <a:lnSpc>
                <a:spcPct val="125000"/>
              </a:lnSpc>
            </a:pPr>
            <a:r>
              <a:rPr sz="3200" b="1">
                <a:solidFill>
                  <a:srgbClr val="F2F8FC"/>
                </a:solidFill>
                <a:latin typeface="Segoe UI"/>
              </a:rPr>
              <a:t>Novel pedar</a:t>
            </a:r>
          </a:p>
        </p:txBody>
      </p:sp>
      <p:sp>
        <p:nvSpPr>
          <p:cNvPr id="8" name="TextBox 7"/>
          <p:cNvSpPr txBox="1"/>
          <p:nvPr/>
        </p:nvSpPr>
        <p:spPr>
          <a:xfrm>
            <a:off x="927076" y="4444888"/>
            <a:ext cx="2412939" cy="228594"/>
          </a:xfrm>
          <a:prstGeom prst="rect">
            <a:avLst/>
          </a:prstGeom>
          <a:noFill/>
        </p:spPr>
        <p:txBody>
          <a:bodyPr wrap="square" anchor="t" lIns="0" rIns="0" tIns="0" bIns="0">
            <a:spAutoFit/>
          </a:bodyPr>
          <a:lstStyle/>
          <a:p>
            <a:pPr algn="l">
              <a:lnSpc>
                <a:spcPct val="125000"/>
              </a:lnSpc>
            </a:pPr>
            <a:r>
              <a:rPr sz="1250" b="1" spc="160">
                <a:solidFill>
                  <a:srgbClr val="52BDEC"/>
                </a:solidFill>
                <a:latin typeface="Consolas"/>
              </a:rPr>
              <a:t>DRUK</a:t>
            </a:r>
          </a:p>
        </p:txBody>
      </p:sp>
      <p:sp>
        <p:nvSpPr>
          <p:cNvPr id="9" name="TextBox 8"/>
          <p:cNvSpPr txBox="1"/>
          <p:nvPr/>
        </p:nvSpPr>
        <p:spPr>
          <a:xfrm>
            <a:off x="914377" y="4660783"/>
            <a:ext cx="2412939" cy="380990"/>
          </a:xfrm>
          <a:prstGeom prst="rect">
            <a:avLst/>
          </a:prstGeom>
          <a:noFill/>
        </p:spPr>
        <p:txBody>
          <a:bodyPr wrap="square" anchor="t" lIns="0" rIns="0" tIns="0" bIns="0">
            <a:spAutoFit/>
          </a:bodyPr>
          <a:lstStyle/>
          <a:p>
            <a:pPr algn="l">
              <a:lnSpc>
                <a:spcPct val="100000"/>
              </a:lnSpc>
            </a:pPr>
            <a:r>
              <a:rPr sz="2400" b="1">
                <a:solidFill>
                  <a:srgbClr val="52BDEC"/>
                </a:solidFill>
                <a:latin typeface="Segoe UI"/>
              </a:rPr>
              <a:t>8  voetregio's</a:t>
            </a:r>
          </a:p>
        </p:txBody>
      </p:sp>
      <p:sp>
        <p:nvSpPr>
          <p:cNvPr id="10" name="TextBox 9"/>
          <p:cNvSpPr txBox="1"/>
          <p:nvPr/>
        </p:nvSpPr>
        <p:spPr>
          <a:xfrm>
            <a:off x="914377" y="5079873"/>
            <a:ext cx="2412939" cy="253993"/>
          </a:xfrm>
          <a:prstGeom prst="rect">
            <a:avLst/>
          </a:prstGeom>
          <a:noFill/>
        </p:spPr>
        <p:txBody>
          <a:bodyPr wrap="square" anchor="t" lIns="0" rIns="0" tIns="0" bIns="0">
            <a:spAutoFit/>
          </a:bodyPr>
          <a:lstStyle/>
          <a:p>
            <a:pPr algn="l">
              <a:lnSpc>
                <a:spcPct val="125000"/>
              </a:lnSpc>
            </a:pPr>
            <a:r>
              <a:rPr sz="1300" b="1" spc="130">
                <a:solidFill>
                  <a:srgbClr val="FF7A00"/>
                </a:solidFill>
                <a:latin typeface="Consolas"/>
              </a:rPr>
              <a:t>UW TEAM MEET</a:t>
            </a:r>
          </a:p>
        </p:txBody>
      </p:sp>
      <p:sp>
        <p:nvSpPr>
          <p:cNvPr id="11" name="TextBox 10"/>
          <p:cNvSpPr txBox="1"/>
          <p:nvPr/>
        </p:nvSpPr>
        <p:spPr>
          <a:xfrm>
            <a:off x="3479713" y="3975000"/>
            <a:ext cx="2260416" cy="1879553"/>
          </a:xfrm>
          <a:prstGeom prst="rect">
            <a:avLst/>
          </a:prstGeom>
          <a:noFill/>
        </p:spPr>
        <p:txBody>
          <a:bodyPr wrap="square" anchor="t" lIns="0" rIns="0" tIns="0" bIns="0">
            <a:spAutoFit/>
          </a:bodyPr>
          <a:lstStyle/>
          <a:p>
            <a:pPr algn="l">
              <a:lnSpc>
                <a:spcPct val="130000"/>
              </a:lnSpc>
            </a:pPr>
            <a:r>
              <a:rPr sz="1350" b="0">
                <a:solidFill>
                  <a:srgbClr val="8FB6D0"/>
                </a:solidFill>
                <a:latin typeface="Segoe UI"/>
              </a:rPr>
              <a:t>In de schoen, met de zool</a:t>
            </a:r>
          </a:p>
          <a:p>
            <a:pPr algn="l">
              <a:lnSpc>
                <a:spcPct val="130000"/>
              </a:lnSpc>
              <a:spcBef>
                <a:spcPts val="1000"/>
              </a:spcBef>
            </a:pPr>
            <a:r>
              <a:rPr sz="1350" b="0">
                <a:solidFill>
                  <a:srgbClr val="8FB6D0"/>
                </a:solidFill>
                <a:latin typeface="Segoe UI"/>
              </a:rPr>
              <a:t>Zeroing voor elke meting</a:t>
            </a:r>
          </a:p>
          <a:p>
            <a:pPr algn="l">
              <a:lnSpc>
                <a:spcPct val="130000"/>
              </a:lnSpc>
              <a:spcBef>
                <a:spcPts val="1000"/>
              </a:spcBef>
            </a:pPr>
            <a:r>
              <a:rPr sz="1350" b="0">
                <a:solidFill>
                  <a:srgbClr val="8FB6D0"/>
                </a:solidFill>
                <a:latin typeface="Segoe UI"/>
              </a:rPr>
              <a:t>De F-Scan GO is een aparte meting van het studieteam</a:t>
            </a:r>
          </a:p>
        </p:txBody>
      </p:sp>
      <p:sp>
        <p:nvSpPr>
          <p:cNvPr id="12" name="Rounded Rectangle 11"/>
          <p:cNvSpPr/>
          <p:nvPr/>
        </p:nvSpPr>
        <p:spPr>
          <a:xfrm>
            <a:off x="6171918" y="1968450"/>
            <a:ext cx="5384538" cy="191765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324314" y="2120846"/>
            <a:ext cx="1727156" cy="1612859"/>
          </a:xfrm>
          <a:prstGeom prst="roundRect">
            <a:avLst>
              <a:gd name="adj" fmla="val 45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orthotimer.png"/>
          <p:cNvPicPr>
            <a:picLocks noChangeAspect="1"/>
          </p:cNvPicPr>
          <p:nvPr/>
        </p:nvPicPr>
        <p:blipFill>
          <a:blip r:embed="rId3"/>
          <a:stretch>
            <a:fillRect/>
          </a:stretch>
        </p:blipFill>
        <p:spPr>
          <a:xfrm>
            <a:off x="6387813" y="2629374"/>
            <a:ext cx="1600159" cy="595804"/>
          </a:xfrm>
          <a:prstGeom prst="rect">
            <a:avLst/>
          </a:prstGeom>
        </p:spPr>
      </p:pic>
      <p:sp>
        <p:nvSpPr>
          <p:cNvPr id="15" name="TextBox 14"/>
          <p:cNvSpPr txBox="1"/>
          <p:nvPr/>
        </p:nvSpPr>
        <p:spPr>
          <a:xfrm>
            <a:off x="8241966" y="2133546"/>
            <a:ext cx="3060496" cy="342891"/>
          </a:xfrm>
          <a:prstGeom prst="rect">
            <a:avLst/>
          </a:prstGeom>
          <a:noFill/>
        </p:spPr>
        <p:txBody>
          <a:bodyPr wrap="square" anchor="t" lIns="0" rIns="0" tIns="0" bIns="0">
            <a:spAutoFit/>
          </a:bodyPr>
          <a:lstStyle/>
          <a:p>
            <a:pPr algn="l">
              <a:lnSpc>
                <a:spcPct val="125000"/>
              </a:lnSpc>
            </a:pPr>
            <a:r>
              <a:rPr sz="2500" b="1">
                <a:solidFill>
                  <a:srgbClr val="F2F8FC"/>
                </a:solidFill>
                <a:latin typeface="Segoe UI"/>
              </a:rPr>
              <a:t>Orthotimer</a:t>
            </a:r>
          </a:p>
        </p:txBody>
      </p:sp>
      <p:sp>
        <p:nvSpPr>
          <p:cNvPr id="16" name="TextBox 15"/>
          <p:cNvSpPr txBox="1"/>
          <p:nvPr/>
        </p:nvSpPr>
        <p:spPr>
          <a:xfrm>
            <a:off x="8254666" y="2501837"/>
            <a:ext cx="3060496" cy="215894"/>
          </a:xfrm>
          <a:prstGeom prst="rect">
            <a:avLst/>
          </a:prstGeom>
          <a:noFill/>
        </p:spPr>
        <p:txBody>
          <a:bodyPr wrap="square" anchor="t" lIns="0" rIns="0" tIns="0" bIns="0">
            <a:spAutoFit/>
          </a:bodyPr>
          <a:lstStyle/>
          <a:p>
            <a:pPr algn="l">
              <a:lnSpc>
                <a:spcPct val="125000"/>
              </a:lnSpc>
            </a:pPr>
            <a:r>
              <a:rPr sz="1200" b="1" spc="150">
                <a:solidFill>
                  <a:srgbClr val="52BDEC"/>
                </a:solidFill>
                <a:latin typeface="Consolas"/>
              </a:rPr>
              <a:t>DRAAGTIJD</a:t>
            </a:r>
          </a:p>
        </p:txBody>
      </p:sp>
      <p:sp>
        <p:nvSpPr>
          <p:cNvPr id="17" name="TextBox 16"/>
          <p:cNvSpPr txBox="1"/>
          <p:nvPr/>
        </p:nvSpPr>
        <p:spPr>
          <a:xfrm>
            <a:off x="8241966" y="2705032"/>
            <a:ext cx="3060496" cy="355591"/>
          </a:xfrm>
          <a:prstGeom prst="rect">
            <a:avLst/>
          </a:prstGeom>
          <a:noFill/>
        </p:spPr>
        <p:txBody>
          <a:bodyPr wrap="square" anchor="t" lIns="0" rIns="0" tIns="0" bIns="0">
            <a:spAutoFit/>
          </a:bodyPr>
          <a:lstStyle/>
          <a:p>
            <a:pPr algn="l">
              <a:lnSpc>
                <a:spcPct val="100000"/>
              </a:lnSpc>
            </a:pPr>
            <a:r>
              <a:rPr sz="2200" b="1">
                <a:solidFill>
                  <a:srgbClr val="52BDEC"/>
                </a:solidFill>
                <a:latin typeface="Segoe UI"/>
              </a:rPr>
              <a:t>15  minuten</a:t>
            </a:r>
          </a:p>
        </p:txBody>
      </p:sp>
      <p:sp>
        <p:nvSpPr>
          <p:cNvPr id="18" name="TextBox 17"/>
          <p:cNvSpPr txBox="1"/>
          <p:nvPr/>
        </p:nvSpPr>
        <p:spPr>
          <a:xfrm>
            <a:off x="8241966" y="3047923"/>
            <a:ext cx="3060496" cy="558786"/>
          </a:xfrm>
          <a:prstGeom prst="rect">
            <a:avLst/>
          </a:prstGeom>
          <a:noFill/>
        </p:spPr>
        <p:txBody>
          <a:bodyPr wrap="square" anchor="t" lIns="0" rIns="0" tIns="0" bIns="0">
            <a:spAutoFit/>
          </a:bodyPr>
          <a:lstStyle/>
          <a:p>
            <a:pPr algn="l">
              <a:lnSpc>
                <a:spcPct val="128000"/>
              </a:lnSpc>
            </a:pPr>
            <a:r>
              <a:rPr sz="1400" b="0">
                <a:solidFill>
                  <a:srgbClr val="8FB6D0"/>
                </a:solidFill>
                <a:latin typeface="Segoe UI"/>
              </a:rPr>
              <a:t>In de zool, 9 × 13 × 4,5 mm</a:t>
            </a:r>
          </a:p>
          <a:p>
            <a:pPr algn="l">
              <a:lnSpc>
                <a:spcPct val="128000"/>
              </a:lnSpc>
              <a:spcBef>
                <a:spcPts val="600"/>
              </a:spcBef>
            </a:pPr>
            <a:r>
              <a:rPr sz="1400" b="0">
                <a:solidFill>
                  <a:srgbClr val="8FB6D0"/>
                </a:solidFill>
                <a:latin typeface="Segoe UI"/>
              </a:rPr>
              <a:t>Batterij 100 dagen</a:t>
            </a:r>
          </a:p>
        </p:txBody>
      </p:sp>
      <p:sp>
        <p:nvSpPr>
          <p:cNvPr id="19" name="TextBox 18"/>
          <p:cNvSpPr txBox="1"/>
          <p:nvPr/>
        </p:nvSpPr>
        <p:spPr>
          <a:xfrm>
            <a:off x="8241966" y="3632109"/>
            <a:ext cx="3060496" cy="228594"/>
          </a:xfrm>
          <a:prstGeom prst="rect">
            <a:avLst/>
          </a:prstGeom>
          <a:noFill/>
        </p:spPr>
        <p:txBody>
          <a:bodyPr wrap="square" anchor="t" lIns="0" rIns="0" tIns="0" bIns="0">
            <a:spAutoFit/>
          </a:bodyPr>
          <a:lstStyle/>
          <a:p>
            <a:pPr algn="l">
              <a:lnSpc>
                <a:spcPct val="125000"/>
              </a:lnSpc>
            </a:pPr>
            <a:r>
              <a:rPr sz="1250" b="1" spc="130">
                <a:solidFill>
                  <a:srgbClr val="FF7A00"/>
                </a:solidFill>
                <a:latin typeface="Consolas"/>
              </a:rPr>
              <a:t>UW TEAM MEET</a:t>
            </a:r>
          </a:p>
        </p:txBody>
      </p:sp>
      <p:sp>
        <p:nvSpPr>
          <p:cNvPr id="20" name="Rounded Rectangle 19"/>
          <p:cNvSpPr/>
          <p:nvPr/>
        </p:nvSpPr>
        <p:spPr>
          <a:xfrm>
            <a:off x="6171918" y="4051198"/>
            <a:ext cx="5384538" cy="191765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324314" y="4203594"/>
            <a:ext cx="1727156" cy="1612859"/>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movemonitor.png"/>
          <p:cNvPicPr>
            <a:picLocks noChangeAspect="1"/>
          </p:cNvPicPr>
          <p:nvPr/>
        </p:nvPicPr>
        <p:blipFill>
          <a:blip r:embed="rId4"/>
          <a:stretch>
            <a:fillRect/>
          </a:stretch>
        </p:blipFill>
        <p:spPr>
          <a:xfrm>
            <a:off x="6387813" y="4567176"/>
            <a:ext cx="1600159" cy="885697"/>
          </a:xfrm>
          <a:prstGeom prst="rect">
            <a:avLst/>
          </a:prstGeom>
        </p:spPr>
      </p:pic>
      <p:sp>
        <p:nvSpPr>
          <p:cNvPr id="23" name="TextBox 22"/>
          <p:cNvSpPr txBox="1"/>
          <p:nvPr/>
        </p:nvSpPr>
        <p:spPr>
          <a:xfrm>
            <a:off x="8241966" y="4216294"/>
            <a:ext cx="3060496" cy="342891"/>
          </a:xfrm>
          <a:prstGeom prst="rect">
            <a:avLst/>
          </a:prstGeom>
          <a:noFill/>
        </p:spPr>
        <p:txBody>
          <a:bodyPr wrap="square" anchor="t" lIns="0" rIns="0" tIns="0" bIns="0">
            <a:spAutoFit/>
          </a:bodyPr>
          <a:lstStyle/>
          <a:p>
            <a:pPr algn="l">
              <a:lnSpc>
                <a:spcPct val="125000"/>
              </a:lnSpc>
            </a:pPr>
            <a:r>
              <a:rPr sz="2500" b="1">
                <a:solidFill>
                  <a:srgbClr val="F2F8FC"/>
                </a:solidFill>
                <a:latin typeface="Segoe UI"/>
              </a:rPr>
              <a:t>MoveMonitor</a:t>
            </a:r>
          </a:p>
        </p:txBody>
      </p:sp>
      <p:sp>
        <p:nvSpPr>
          <p:cNvPr id="24" name="TextBox 23"/>
          <p:cNvSpPr txBox="1"/>
          <p:nvPr/>
        </p:nvSpPr>
        <p:spPr>
          <a:xfrm>
            <a:off x="8254666" y="4584585"/>
            <a:ext cx="3060496" cy="215894"/>
          </a:xfrm>
          <a:prstGeom prst="rect">
            <a:avLst/>
          </a:prstGeom>
          <a:noFill/>
        </p:spPr>
        <p:txBody>
          <a:bodyPr wrap="square" anchor="t" lIns="0" rIns="0" tIns="0" bIns="0">
            <a:spAutoFit/>
          </a:bodyPr>
          <a:lstStyle/>
          <a:p>
            <a:pPr algn="l">
              <a:lnSpc>
                <a:spcPct val="125000"/>
              </a:lnSpc>
            </a:pPr>
            <a:r>
              <a:rPr sz="1200" b="1" spc="150">
                <a:solidFill>
                  <a:srgbClr val="52BDEC"/>
                </a:solidFill>
                <a:latin typeface="Consolas"/>
              </a:rPr>
              <a:t>ACTIVITEIT</a:t>
            </a:r>
          </a:p>
        </p:txBody>
      </p:sp>
      <p:sp>
        <p:nvSpPr>
          <p:cNvPr id="25" name="TextBox 24"/>
          <p:cNvSpPr txBox="1"/>
          <p:nvPr/>
        </p:nvSpPr>
        <p:spPr>
          <a:xfrm>
            <a:off x="8241966" y="4787780"/>
            <a:ext cx="3060496" cy="355591"/>
          </a:xfrm>
          <a:prstGeom prst="rect">
            <a:avLst/>
          </a:prstGeom>
          <a:noFill/>
        </p:spPr>
        <p:txBody>
          <a:bodyPr wrap="square" anchor="t" lIns="0" rIns="0" tIns="0" bIns="0">
            <a:spAutoFit/>
          </a:bodyPr>
          <a:lstStyle/>
          <a:p>
            <a:pPr algn="l">
              <a:lnSpc>
                <a:spcPct val="100000"/>
              </a:lnSpc>
            </a:pPr>
            <a:r>
              <a:rPr sz="2200" b="1">
                <a:solidFill>
                  <a:srgbClr val="52BDEC"/>
                </a:solidFill>
                <a:latin typeface="Segoe UI"/>
              </a:rPr>
              <a:t>7  dagen</a:t>
            </a:r>
          </a:p>
        </p:txBody>
      </p:sp>
      <p:sp>
        <p:nvSpPr>
          <p:cNvPr id="26" name="TextBox 25"/>
          <p:cNvSpPr txBox="1"/>
          <p:nvPr/>
        </p:nvSpPr>
        <p:spPr>
          <a:xfrm>
            <a:off x="8241966" y="5130671"/>
            <a:ext cx="3060496" cy="558786"/>
          </a:xfrm>
          <a:prstGeom prst="rect">
            <a:avLst/>
          </a:prstGeom>
          <a:noFill/>
        </p:spPr>
        <p:txBody>
          <a:bodyPr wrap="square" anchor="t" lIns="0" rIns="0" tIns="0" bIns="0">
            <a:spAutoFit/>
          </a:bodyPr>
          <a:lstStyle/>
          <a:p>
            <a:pPr algn="l">
              <a:lnSpc>
                <a:spcPct val="128000"/>
              </a:lnSpc>
            </a:pPr>
            <a:r>
              <a:rPr sz="1400" b="0">
                <a:solidFill>
                  <a:srgbClr val="8FB6D0"/>
                </a:solidFill>
                <a:latin typeface="Segoe UI"/>
              </a:rPr>
              <a:t>Om het middel, op de onderrug</a:t>
            </a:r>
          </a:p>
          <a:p>
            <a:pPr algn="l">
              <a:lnSpc>
                <a:spcPct val="128000"/>
              </a:lnSpc>
              <a:spcBef>
                <a:spcPts val="600"/>
              </a:spcBef>
            </a:pPr>
            <a:r>
              <a:rPr sz="1400" b="0">
                <a:solidFill>
                  <a:srgbClr val="8FB6D0"/>
                </a:solidFill>
                <a:latin typeface="Segoe UI"/>
              </a:rPr>
              <a:t>Baseline en 6 maanden</a:t>
            </a:r>
          </a:p>
        </p:txBody>
      </p:sp>
      <p:sp>
        <p:nvSpPr>
          <p:cNvPr id="27" name="TextBox 26"/>
          <p:cNvSpPr txBox="1"/>
          <p:nvPr/>
        </p:nvSpPr>
        <p:spPr>
          <a:xfrm>
            <a:off x="8241966" y="5714857"/>
            <a:ext cx="3060496" cy="228594"/>
          </a:xfrm>
          <a:prstGeom prst="rect">
            <a:avLst/>
          </a:prstGeom>
          <a:noFill/>
        </p:spPr>
        <p:txBody>
          <a:bodyPr wrap="square" anchor="t" lIns="0" rIns="0" tIns="0" bIns="0">
            <a:spAutoFit/>
          </a:bodyPr>
          <a:lstStyle/>
          <a:p>
            <a:pPr algn="l">
              <a:lnSpc>
                <a:spcPct val="125000"/>
              </a:lnSpc>
            </a:pPr>
            <a:r>
              <a:rPr sz="1250" b="1" spc="130">
                <a:solidFill>
                  <a:srgbClr val="FF7A00"/>
                </a:solidFill>
                <a:latin typeface="Consolas"/>
              </a:rPr>
              <a:t>UW TEAM MEET</a:t>
            </a:r>
          </a:p>
        </p:txBody>
      </p:sp>
      <p:sp>
        <p:nvSpPr>
          <p:cNvPr id="28" name="TextBox 27"/>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18 / 26</a:t>
            </a:r>
          </a:p>
        </p:txBody>
      </p:sp>
      <p:pic>
        <p:nvPicPr>
          <p:cNvPr id="29" name="merk" descr="merk.png"/>
          <p:cNvPicPr>
            <a:picLocks noChangeAspect="1"/>
          </p:cNvPicPr>
          <p:nvPr/>
        </p:nvPicPr>
        <p:blipFill>
          <a:blip r:embed="rId5"/>
          <a:stretch>
            <a:fillRect/>
          </a:stretch>
        </p:blipFill>
        <p:spPr>
          <a:xfrm>
            <a:off x="11094166" y="368290"/>
            <a:ext cx="417101" cy="482587"/>
          </a:xfrm>
          <a:prstGeom prst="rect">
            <a:avLst/>
          </a:prstGeom>
        </p:spPr>
      </p:pic>
      <p:sp>
        <p:nvSpPr>
          <p:cNvPr id="30" name="TextBox 29"/>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Bron  18 · Lutjeboer 2018</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FF7A00"/>
                </a:solidFill>
                <a:latin typeface="Consolas"/>
              </a:rPr>
              <a:t>DE ENIGE REGEL DIE U ÉCHT MOET ONTHOUDEN</a:t>
            </a:r>
          </a:p>
        </p:txBody>
      </p:sp>
      <p:sp>
        <p:nvSpPr>
          <p:cNvPr id="4" name="hero"/>
          <p:cNvSpPr txBox="1"/>
          <p:nvPr/>
        </p:nvSpPr>
        <p:spPr>
          <a:xfrm>
            <a:off x="634984" y="1066773"/>
            <a:ext cx="6857828" cy="2539936"/>
          </a:xfrm>
          <a:prstGeom prst="rect">
            <a:avLst/>
          </a:prstGeom>
          <a:noFill/>
        </p:spPr>
        <p:txBody>
          <a:bodyPr wrap="square" anchor="t" lIns="0" rIns="0" tIns="0" bIns="0">
            <a:spAutoFit/>
          </a:bodyPr>
          <a:lstStyle/>
          <a:p>
            <a:pPr algn="l">
              <a:lnSpc>
                <a:spcPct val="108000"/>
              </a:lnSpc>
            </a:pPr>
            <a:r>
              <a:rPr sz="5400" b="1">
                <a:solidFill>
                  <a:srgbClr val="F2F8FC"/>
                </a:solidFill>
                <a:latin typeface="Segoe UI"/>
              </a:rPr>
              <a:t>Meetwaarden gaan</a:t>
            </a:r>
          </a:p>
          <a:p>
            <a:pPr algn="l">
              <a:lnSpc>
                <a:spcPct val="108000"/>
              </a:lnSpc>
              <a:spcBef>
                <a:spcPts val="500"/>
              </a:spcBef>
            </a:pPr>
            <a:r>
              <a:rPr sz="5400" b="1">
                <a:solidFill>
                  <a:srgbClr val="F2F8FC"/>
                </a:solidFill>
                <a:latin typeface="Segoe UI"/>
              </a:rPr>
              <a:t>niet naar de</a:t>
            </a:r>
          </a:p>
          <a:p>
            <a:pPr algn="l">
              <a:lnSpc>
                <a:spcPct val="108000"/>
              </a:lnSpc>
              <a:spcBef>
                <a:spcPts val="500"/>
              </a:spcBef>
            </a:pPr>
            <a:r>
              <a:rPr sz="5400" b="1">
                <a:solidFill>
                  <a:srgbClr val="F2F8FC"/>
                </a:solidFill>
                <a:latin typeface="Segoe UI"/>
              </a:rPr>
              <a:t>controlegroep</a:t>
            </a:r>
          </a:p>
        </p:txBody>
      </p:sp>
      <p:sp>
        <p:nvSpPr>
          <p:cNvPr id="5" name="Rounded Rectangle 4"/>
          <p:cNvSpPr/>
          <p:nvPr/>
        </p:nvSpPr>
        <p:spPr>
          <a:xfrm>
            <a:off x="634984" y="4101997"/>
            <a:ext cx="6857828" cy="1549361"/>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377" y="4381390"/>
            <a:ext cx="6349841" cy="1206469"/>
          </a:xfrm>
          <a:prstGeom prst="rect">
            <a:avLst/>
          </a:prstGeom>
          <a:noFill/>
        </p:spPr>
        <p:txBody>
          <a:bodyPr wrap="square" anchor="t" lIns="0" rIns="0" tIns="0" bIns="0">
            <a:spAutoFit/>
          </a:bodyPr>
          <a:lstStyle/>
          <a:p>
            <a:pPr algn="l">
              <a:lnSpc>
                <a:spcPct val="145000"/>
              </a:lnSpc>
            </a:pPr>
            <a:r>
              <a:rPr sz="1750" b="0">
                <a:solidFill>
                  <a:srgbClr val="8FB6D0"/>
                </a:solidFill>
                <a:latin typeface="Segoe UI"/>
              </a:rPr>
              <a:t>Ook zij krijgen een drukmeting en dragen een sensor, anders kunnen we de groepen niet vergelijken. Maar die getallen blijven beperkt tot uzelf. Bespreekt u ze, dan lévert u de interventie en is die patiënt niet meer bruikbaar als controle.</a:t>
            </a:r>
          </a:p>
        </p:txBody>
      </p:sp>
      <p:sp>
        <p:nvSpPr>
          <p:cNvPr id="7" name="Rounded Rectangle 6"/>
          <p:cNvSpPr/>
          <p:nvPr/>
        </p:nvSpPr>
        <p:spPr>
          <a:xfrm>
            <a:off x="7873803" y="2031949"/>
            <a:ext cx="3682907" cy="3517812"/>
          </a:xfrm>
          <a:prstGeom prst="roundRect">
            <a:avLst>
              <a:gd name="adj" fmla="val 4500"/>
            </a:avLst>
          </a:prstGeom>
          <a:solidFill>
            <a:srgbClr val="113A57"/>
          </a:solidFill>
          <a:ln w="9525">
            <a:solidFill>
              <a:srgbClr val="FF7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178595" y="2324041"/>
            <a:ext cx="3111422" cy="241293"/>
          </a:xfrm>
          <a:prstGeom prst="rect">
            <a:avLst/>
          </a:prstGeom>
          <a:noFill/>
        </p:spPr>
        <p:txBody>
          <a:bodyPr wrap="square" anchor="t" lIns="0" rIns="0" tIns="0" bIns="0">
            <a:spAutoFit/>
          </a:bodyPr>
          <a:lstStyle/>
          <a:p>
            <a:pPr algn="l">
              <a:lnSpc>
                <a:spcPct val="125000"/>
              </a:lnSpc>
            </a:pPr>
            <a:r>
              <a:rPr sz="1250" b="1" spc="160">
                <a:solidFill>
                  <a:srgbClr val="FF7A00"/>
                </a:solidFill>
                <a:latin typeface="Consolas"/>
              </a:rPr>
              <a:t>UITZONDERING</a:t>
            </a:r>
          </a:p>
        </p:txBody>
      </p:sp>
      <p:sp>
        <p:nvSpPr>
          <p:cNvPr id="9" name="TextBox 8"/>
          <p:cNvSpPr txBox="1"/>
          <p:nvPr/>
        </p:nvSpPr>
        <p:spPr>
          <a:xfrm>
            <a:off x="8178595" y="2730431"/>
            <a:ext cx="3111422" cy="2539936"/>
          </a:xfrm>
          <a:prstGeom prst="rect">
            <a:avLst/>
          </a:prstGeom>
          <a:noFill/>
        </p:spPr>
        <p:txBody>
          <a:bodyPr wrap="square" anchor="t" lIns="0" rIns="0" tIns="0" bIns="0">
            <a:spAutoFit/>
          </a:bodyPr>
          <a:lstStyle/>
          <a:p>
            <a:pPr algn="l">
              <a:lnSpc>
                <a:spcPct val="145000"/>
              </a:lnSpc>
            </a:pPr>
            <a:r>
              <a:rPr sz="1800" b="0">
                <a:solidFill>
                  <a:srgbClr val="F2F8FC"/>
                </a:solidFill>
                <a:latin typeface="Segoe UI"/>
              </a:rPr>
              <a:t>Klinische bevindingen zijn géén meetwaarden. Elke laesie of huiddefect meldt en behandelt u meteen. In beide groepen.</a:t>
            </a:r>
          </a:p>
        </p:txBody>
      </p:sp>
      <p:sp>
        <p:nvSpPr>
          <p:cNvPr id="10" name="TextBox 9"/>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19 / 26</a:t>
            </a:r>
          </a:p>
        </p:txBody>
      </p:sp>
      <p:pic>
        <p:nvPicPr>
          <p:cNvPr id="11"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12" name="TextBox 11"/>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Bron  9 · Bus 2013, DIAFOS</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VERDELING</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Wie doet wat</a:t>
            </a:r>
          </a:p>
        </p:txBody>
      </p:sp>
      <p:sp>
        <p:nvSpPr>
          <p:cNvPr id="5" name="Rectangle 4"/>
          <p:cNvSpPr/>
          <p:nvPr/>
        </p:nvSpPr>
        <p:spPr>
          <a:xfrm>
            <a:off x="634984" y="1930351"/>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4984" y="2146246"/>
            <a:ext cx="2666933" cy="380990"/>
          </a:xfrm>
          <a:prstGeom prst="rect">
            <a:avLst/>
          </a:prstGeom>
          <a:noFill/>
        </p:spPr>
        <p:txBody>
          <a:bodyPr wrap="square" anchor="t" lIns="0" rIns="0" tIns="0" bIns="0">
            <a:spAutoFit/>
          </a:bodyPr>
          <a:lstStyle/>
          <a:p>
            <a:pPr algn="l">
              <a:lnSpc>
                <a:spcPct val="125000"/>
              </a:lnSpc>
            </a:pPr>
            <a:r>
              <a:rPr sz="2700" b="1">
                <a:solidFill>
                  <a:srgbClr val="F2F8FC"/>
                </a:solidFill>
                <a:latin typeface="Segoe UI"/>
              </a:rPr>
              <a:t>Podoloog</a:t>
            </a:r>
          </a:p>
        </p:txBody>
      </p:sp>
      <p:sp>
        <p:nvSpPr>
          <p:cNvPr id="7" name="Oval 6"/>
          <p:cNvSpPr/>
          <p:nvPr/>
        </p:nvSpPr>
        <p:spPr>
          <a:xfrm>
            <a:off x="3555911" y="2235144"/>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721006" y="2158946"/>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Voert de drukmetingen uit</a:t>
            </a:r>
          </a:p>
        </p:txBody>
      </p:sp>
      <p:sp>
        <p:nvSpPr>
          <p:cNvPr id="9" name="Oval 8"/>
          <p:cNvSpPr/>
          <p:nvPr/>
        </p:nvSpPr>
        <p:spPr>
          <a:xfrm>
            <a:off x="6273643" y="2235144"/>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38739" y="2158946"/>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Levert SEBIA</a:t>
            </a:r>
          </a:p>
        </p:txBody>
      </p:sp>
      <p:sp>
        <p:nvSpPr>
          <p:cNvPr id="11" name="Oval 10"/>
          <p:cNvSpPr/>
          <p:nvPr/>
        </p:nvSpPr>
        <p:spPr>
          <a:xfrm>
            <a:off x="8991375" y="2235144"/>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56471" y="2158946"/>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Leest de sensoren uit</a:t>
            </a:r>
          </a:p>
        </p:txBody>
      </p:sp>
      <p:sp>
        <p:nvSpPr>
          <p:cNvPr id="13" name="Rectangle 12"/>
          <p:cNvSpPr/>
          <p:nvPr/>
        </p:nvSpPr>
        <p:spPr>
          <a:xfrm>
            <a:off x="634984" y="2971725"/>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4984" y="3187620"/>
            <a:ext cx="2666933" cy="380990"/>
          </a:xfrm>
          <a:prstGeom prst="rect">
            <a:avLst/>
          </a:prstGeom>
          <a:noFill/>
        </p:spPr>
        <p:txBody>
          <a:bodyPr wrap="square" anchor="t" lIns="0" rIns="0" tIns="0" bIns="0">
            <a:spAutoFit/>
          </a:bodyPr>
          <a:lstStyle/>
          <a:p>
            <a:pPr algn="l">
              <a:lnSpc>
                <a:spcPct val="125000"/>
              </a:lnSpc>
            </a:pPr>
            <a:r>
              <a:rPr sz="2700" b="1">
                <a:solidFill>
                  <a:srgbClr val="F2F8FC"/>
                </a:solidFill>
                <a:latin typeface="Segoe UI"/>
              </a:rPr>
              <a:t>Pedorthist</a:t>
            </a:r>
          </a:p>
        </p:txBody>
      </p:sp>
      <p:sp>
        <p:nvSpPr>
          <p:cNvPr id="15" name="Oval 14"/>
          <p:cNvSpPr/>
          <p:nvPr/>
        </p:nvSpPr>
        <p:spPr>
          <a:xfrm>
            <a:off x="3555911" y="3276518"/>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721006" y="3200319"/>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Maakt de zool</a:t>
            </a:r>
          </a:p>
        </p:txBody>
      </p:sp>
      <p:sp>
        <p:nvSpPr>
          <p:cNvPr id="17" name="Oval 16"/>
          <p:cNvSpPr/>
          <p:nvPr/>
        </p:nvSpPr>
        <p:spPr>
          <a:xfrm>
            <a:off x="6273643" y="3276518"/>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38739" y="3200319"/>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Past aan tot de norm</a:t>
            </a:r>
          </a:p>
        </p:txBody>
      </p:sp>
      <p:sp>
        <p:nvSpPr>
          <p:cNvPr id="19" name="Rectangle 18"/>
          <p:cNvSpPr/>
          <p:nvPr/>
        </p:nvSpPr>
        <p:spPr>
          <a:xfrm>
            <a:off x="634984" y="4013099"/>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4984" y="4228994"/>
            <a:ext cx="2666933" cy="380990"/>
          </a:xfrm>
          <a:prstGeom prst="rect">
            <a:avLst/>
          </a:prstGeom>
          <a:noFill/>
        </p:spPr>
        <p:txBody>
          <a:bodyPr wrap="square" anchor="t" lIns="0" rIns="0" tIns="0" bIns="0">
            <a:spAutoFit/>
          </a:bodyPr>
          <a:lstStyle/>
          <a:p>
            <a:pPr algn="l">
              <a:lnSpc>
                <a:spcPct val="125000"/>
              </a:lnSpc>
            </a:pPr>
            <a:r>
              <a:rPr sz="2700" b="1">
                <a:solidFill>
                  <a:srgbClr val="F2F8FC"/>
                </a:solidFill>
                <a:latin typeface="Segoe UI"/>
              </a:rPr>
              <a:t>Arts</a:t>
            </a:r>
          </a:p>
        </p:txBody>
      </p:sp>
      <p:sp>
        <p:nvSpPr>
          <p:cNvPr id="21" name="Oval 20"/>
          <p:cNvSpPr/>
          <p:nvPr/>
        </p:nvSpPr>
        <p:spPr>
          <a:xfrm>
            <a:off x="3555911" y="4317892"/>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721006" y="4241693"/>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Bevestigt geschiktheid</a:t>
            </a:r>
          </a:p>
        </p:txBody>
      </p:sp>
      <p:sp>
        <p:nvSpPr>
          <p:cNvPr id="23" name="Oval 22"/>
          <p:cNvSpPr/>
          <p:nvPr/>
        </p:nvSpPr>
        <p:spPr>
          <a:xfrm>
            <a:off x="6273643" y="4317892"/>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38739" y="4241693"/>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Beoordeelt laesies</a:t>
            </a:r>
          </a:p>
        </p:txBody>
      </p:sp>
      <p:sp>
        <p:nvSpPr>
          <p:cNvPr id="25" name="Oval 24"/>
          <p:cNvSpPr/>
          <p:nvPr/>
        </p:nvSpPr>
        <p:spPr>
          <a:xfrm>
            <a:off x="8991375" y="4317892"/>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156471" y="4241693"/>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Meldt voorvallen</a:t>
            </a:r>
          </a:p>
        </p:txBody>
      </p:sp>
      <p:sp>
        <p:nvSpPr>
          <p:cNvPr id="27" name="Rectangle 26"/>
          <p:cNvSpPr/>
          <p:nvPr/>
        </p:nvSpPr>
        <p:spPr>
          <a:xfrm>
            <a:off x="634984" y="5054473"/>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34984" y="5270368"/>
            <a:ext cx="2666933" cy="380990"/>
          </a:xfrm>
          <a:prstGeom prst="rect">
            <a:avLst/>
          </a:prstGeom>
          <a:noFill/>
        </p:spPr>
        <p:txBody>
          <a:bodyPr wrap="square" anchor="t" lIns="0" rIns="0" tIns="0" bIns="0">
            <a:spAutoFit/>
          </a:bodyPr>
          <a:lstStyle/>
          <a:p>
            <a:pPr algn="l">
              <a:lnSpc>
                <a:spcPct val="125000"/>
              </a:lnSpc>
            </a:pPr>
            <a:r>
              <a:rPr sz="2700" b="1">
                <a:solidFill>
                  <a:srgbClr val="F2F8FC"/>
                </a:solidFill>
                <a:latin typeface="Segoe UI"/>
              </a:rPr>
              <a:t>Management</a:t>
            </a:r>
          </a:p>
        </p:txBody>
      </p:sp>
      <p:sp>
        <p:nvSpPr>
          <p:cNvPr id="29" name="Oval 28"/>
          <p:cNvSpPr/>
          <p:nvPr/>
        </p:nvSpPr>
        <p:spPr>
          <a:xfrm>
            <a:off x="3555911" y="5359266"/>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721006" y="5283067"/>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Maakt tijd vrij</a:t>
            </a:r>
          </a:p>
        </p:txBody>
      </p:sp>
      <p:sp>
        <p:nvSpPr>
          <p:cNvPr id="31" name="Oval 30"/>
          <p:cNvSpPr/>
          <p:nvPr/>
        </p:nvSpPr>
        <p:spPr>
          <a:xfrm>
            <a:off x="6273643" y="5359266"/>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38739" y="5283067"/>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Bewaakt 24 inclusies</a:t>
            </a:r>
          </a:p>
        </p:txBody>
      </p:sp>
      <p:sp>
        <p:nvSpPr>
          <p:cNvPr id="33" name="Oval 32"/>
          <p:cNvSpPr/>
          <p:nvPr/>
        </p:nvSpPr>
        <p:spPr>
          <a:xfrm>
            <a:off x="8991375" y="5359266"/>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156471" y="5283067"/>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Houdt het opleidingsregister bij</a:t>
            </a:r>
          </a:p>
        </p:txBody>
      </p:sp>
      <p:sp>
        <p:nvSpPr>
          <p:cNvPr id="35" name="Rectangle 34"/>
          <p:cNvSpPr/>
          <p:nvPr/>
        </p:nvSpPr>
        <p:spPr>
          <a:xfrm>
            <a:off x="634984" y="6095847"/>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20 / 26</a:t>
            </a:r>
          </a:p>
        </p:txBody>
      </p:sp>
      <p:pic>
        <p:nvPicPr>
          <p:cNvPr id="37"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38" name="TextBox 37"/>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Bron  8 · IWGDF 2023, preventie</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ONDERSTEUNING</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Wat u van ons krijgt</a:t>
            </a:r>
          </a:p>
        </p:txBody>
      </p:sp>
      <p:sp>
        <p:nvSpPr>
          <p:cNvPr id="5" name="Rectangle 4"/>
          <p:cNvSpPr/>
          <p:nvPr/>
        </p:nvSpPr>
        <p:spPr>
          <a:xfrm>
            <a:off x="634984" y="1993850"/>
            <a:ext cx="6222844"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4984" y="2158946"/>
            <a:ext cx="6222844" cy="317492"/>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Motiverende gespreksvoering</a:t>
            </a:r>
          </a:p>
        </p:txBody>
      </p:sp>
      <p:sp>
        <p:nvSpPr>
          <p:cNvPr id="7" name="TextBox 6"/>
          <p:cNvSpPr txBox="1"/>
          <p:nvPr/>
        </p:nvSpPr>
        <p:spPr>
          <a:xfrm>
            <a:off x="647683" y="2476438"/>
            <a:ext cx="6095847" cy="380990"/>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Training door een psycholoog — alle centra dezelfde</a:t>
            </a:r>
          </a:p>
        </p:txBody>
      </p:sp>
      <p:sp>
        <p:nvSpPr>
          <p:cNvPr id="8" name="Rectangle 7"/>
          <p:cNvSpPr/>
          <p:nvPr/>
        </p:nvSpPr>
        <p:spPr>
          <a:xfrm>
            <a:off x="634984" y="2959026"/>
            <a:ext cx="6222844"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4984" y="3124121"/>
            <a:ext cx="6222844" cy="317492"/>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SOP's en draaiboeken</a:t>
            </a:r>
          </a:p>
        </p:txBody>
      </p:sp>
      <p:sp>
        <p:nvSpPr>
          <p:cNvPr id="10" name="TextBox 9"/>
          <p:cNvSpPr txBox="1"/>
          <p:nvPr/>
        </p:nvSpPr>
        <p:spPr>
          <a:xfrm>
            <a:off x="647683" y="3441613"/>
            <a:ext cx="6095847" cy="380990"/>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Per handeling, met de eCRF-nummers erbij</a:t>
            </a:r>
          </a:p>
        </p:txBody>
      </p:sp>
      <p:sp>
        <p:nvSpPr>
          <p:cNvPr id="11" name="Rectangle 10"/>
          <p:cNvSpPr/>
          <p:nvPr/>
        </p:nvSpPr>
        <p:spPr>
          <a:xfrm>
            <a:off x="634984" y="3924201"/>
            <a:ext cx="6222844"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4984" y="4089297"/>
            <a:ext cx="6222844" cy="317492"/>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Gegevensinvoer</a:t>
            </a:r>
          </a:p>
        </p:txBody>
      </p:sp>
      <p:sp>
        <p:nvSpPr>
          <p:cNvPr id="13" name="TextBox 12"/>
          <p:cNvSpPr txBox="1"/>
          <p:nvPr/>
        </p:nvSpPr>
        <p:spPr>
          <a:xfrm>
            <a:off x="647683" y="4406789"/>
            <a:ext cx="6095847" cy="380990"/>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Doet het onderzoeksteam. U vult de formulieren in, verder niets</a:t>
            </a:r>
          </a:p>
        </p:txBody>
      </p:sp>
      <p:sp>
        <p:nvSpPr>
          <p:cNvPr id="14" name="Rectangle 13"/>
          <p:cNvSpPr/>
          <p:nvPr/>
        </p:nvSpPr>
        <p:spPr>
          <a:xfrm>
            <a:off x="634984" y="4889377"/>
            <a:ext cx="6222844"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4984" y="5054473"/>
            <a:ext cx="6222844" cy="317492"/>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Eén contactpunt</a:t>
            </a:r>
          </a:p>
        </p:txBody>
      </p:sp>
      <p:sp>
        <p:nvSpPr>
          <p:cNvPr id="16" name="TextBox 15"/>
          <p:cNvSpPr txBox="1"/>
          <p:nvPr/>
        </p:nvSpPr>
        <p:spPr>
          <a:xfrm>
            <a:off x="647683" y="5371965"/>
            <a:ext cx="6095847" cy="380990"/>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Eén nummer, één mailadres, voor alles</a:t>
            </a:r>
          </a:p>
        </p:txBody>
      </p:sp>
      <p:sp>
        <p:nvSpPr>
          <p:cNvPr id="17" name="Rounded Rectangle 16"/>
          <p:cNvSpPr/>
          <p:nvPr/>
        </p:nvSpPr>
        <p:spPr>
          <a:xfrm>
            <a:off x="7492812" y="1904952"/>
            <a:ext cx="4063898" cy="3949601"/>
          </a:xfrm>
          <a:prstGeom prst="roundRect">
            <a:avLst>
              <a:gd name="adj" fmla="val 4500"/>
            </a:avLst>
          </a:prstGeom>
          <a:solidFill>
            <a:srgbClr val="113A57"/>
          </a:solidFill>
          <a:ln w="9525">
            <a:solidFill>
              <a:srgbClr val="FF7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8000799" y="2044648"/>
            <a:ext cx="3047923" cy="3047923"/>
          </a:xfrm>
          <a:prstGeom prst="ellipse">
            <a:avLst/>
          </a:prstGeom>
          <a:solidFill>
            <a:srgbClr val="FF7A00">
              <a:alpha val="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hero"/>
          <p:cNvSpPr txBox="1"/>
          <p:nvPr/>
        </p:nvSpPr>
        <p:spPr>
          <a:xfrm>
            <a:off x="7772205" y="2158946"/>
            <a:ext cx="3555911" cy="1904952"/>
          </a:xfrm>
          <a:prstGeom prst="rect">
            <a:avLst/>
          </a:prstGeom>
          <a:noFill/>
        </p:spPr>
        <p:txBody>
          <a:bodyPr wrap="square" anchor="t" lIns="0" rIns="0" tIns="0" bIns="0">
            <a:spAutoFit/>
          </a:bodyPr>
          <a:lstStyle/>
          <a:p>
            <a:pPr algn="ctr">
              <a:lnSpc>
                <a:spcPct val="90000"/>
              </a:lnSpc>
            </a:pPr>
            <a:r>
              <a:rPr sz="15000" b="1">
                <a:solidFill>
                  <a:srgbClr val="FF7A00"/>
                </a:solidFill>
                <a:latin typeface="Segoe UI"/>
              </a:rPr>
              <a:t>0</a:t>
            </a:r>
          </a:p>
        </p:txBody>
      </p:sp>
      <p:sp>
        <p:nvSpPr>
          <p:cNvPr id="20" name="TextBox 19"/>
          <p:cNvSpPr txBox="1"/>
          <p:nvPr/>
        </p:nvSpPr>
        <p:spPr>
          <a:xfrm>
            <a:off x="7772205" y="4063898"/>
            <a:ext cx="3555911" cy="393690"/>
          </a:xfrm>
          <a:prstGeom prst="rect">
            <a:avLst/>
          </a:prstGeom>
          <a:noFill/>
        </p:spPr>
        <p:txBody>
          <a:bodyPr wrap="square" anchor="t" lIns="0" rIns="0" tIns="0" bIns="0">
            <a:spAutoFit/>
          </a:bodyPr>
          <a:lstStyle/>
          <a:p>
            <a:pPr algn="ctr">
              <a:lnSpc>
                <a:spcPct val="125000"/>
              </a:lnSpc>
            </a:pPr>
            <a:r>
              <a:rPr sz="3000" b="1">
                <a:solidFill>
                  <a:srgbClr val="F2F8FC"/>
                </a:solidFill>
                <a:latin typeface="Segoe UI"/>
              </a:rPr>
              <a:t>sancties</a:t>
            </a:r>
          </a:p>
        </p:txBody>
      </p:sp>
      <p:sp>
        <p:nvSpPr>
          <p:cNvPr id="21" name="TextBox 20"/>
          <p:cNvSpPr txBox="1"/>
          <p:nvPr/>
        </p:nvSpPr>
        <p:spPr>
          <a:xfrm>
            <a:off x="7810304" y="4584585"/>
            <a:ext cx="3428914" cy="1015974"/>
          </a:xfrm>
          <a:prstGeom prst="rect">
            <a:avLst/>
          </a:prstGeom>
          <a:noFill/>
        </p:spPr>
        <p:txBody>
          <a:bodyPr wrap="square" anchor="t" lIns="0" rIns="0" tIns="0" bIns="0">
            <a:spAutoFit/>
          </a:bodyPr>
          <a:lstStyle/>
          <a:p>
            <a:pPr algn="ctr">
              <a:lnSpc>
                <a:spcPct val="140000"/>
              </a:lnSpc>
            </a:pPr>
            <a:r>
              <a:rPr sz="1600" b="0">
                <a:solidFill>
                  <a:srgbClr val="8FB6D0"/>
                </a:solidFill>
                <a:latin typeface="Segoe UI"/>
              </a:rPr>
              <a:t>Wijkt u af van het protocol, dan meldt u dat. Het wordt geregistreerd, niet afgestraft.</a:t>
            </a:r>
          </a:p>
        </p:txBody>
      </p:sp>
      <p:sp>
        <p:nvSpPr>
          <p:cNvPr id="22" name="TextBox 21"/>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21 / 26</a:t>
            </a:r>
          </a:p>
        </p:txBody>
      </p:sp>
      <p:pic>
        <p:nvPicPr>
          <p:cNvPr id="23"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STAND VAN ZAKEN · SEPTEMBER 2026</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Wat af is, en waar het op wacht</a:t>
            </a:r>
          </a:p>
        </p:txBody>
      </p:sp>
      <p:sp>
        <p:nvSpPr>
          <p:cNvPr id="5" name="Rectangle 4"/>
          <p:cNvSpPr/>
          <p:nvPr/>
        </p:nvSpPr>
        <p:spPr>
          <a:xfrm>
            <a:off x="634984" y="1879553"/>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4984" y="2031949"/>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Protocol en formulieren</a:t>
            </a:r>
          </a:p>
        </p:txBody>
      </p:sp>
      <p:sp>
        <p:nvSpPr>
          <p:cNvPr id="7" name="TextBox 6"/>
          <p:cNvSpPr txBox="1"/>
          <p:nvPr/>
        </p:nvSpPr>
        <p:spPr>
          <a:xfrm>
            <a:off x="3301917" y="2031949"/>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Protocolversie 1.0 en zevenenveertig eCRF-documenten liggen er. De drukmeting is omgezet naar in-shoe, met acht regio's per voet.</a:t>
            </a:r>
          </a:p>
        </p:txBody>
      </p:sp>
      <p:sp>
        <p:nvSpPr>
          <p:cNvPr id="8" name="TextBox 7"/>
          <p:cNvSpPr txBox="1"/>
          <p:nvPr/>
        </p:nvSpPr>
        <p:spPr>
          <a:xfrm>
            <a:off x="9905752" y="2044648"/>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klaar</a:t>
            </a:r>
          </a:p>
        </p:txBody>
      </p:sp>
      <p:sp>
        <p:nvSpPr>
          <p:cNvPr id="9" name="Rectangle 8"/>
          <p:cNvSpPr/>
          <p:nvPr/>
        </p:nvSpPr>
        <p:spPr>
          <a:xfrm>
            <a:off x="634984" y="2717732"/>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4984" y="2870128"/>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Ethiek</a:t>
            </a:r>
          </a:p>
        </p:txBody>
      </p:sp>
      <p:sp>
        <p:nvSpPr>
          <p:cNvPr id="11" name="TextBox 10"/>
          <p:cNvSpPr txBox="1"/>
          <p:nvPr/>
        </p:nvSpPr>
        <p:spPr>
          <a:xfrm>
            <a:off x="3301917" y="2870128"/>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Centrale indiening bij de commissie van UZ Leuven en het FAGG in oktober. Uw lokale goedkeuring verwachten we tussen november en januari.</a:t>
            </a:r>
          </a:p>
        </p:txBody>
      </p:sp>
      <p:sp>
        <p:nvSpPr>
          <p:cNvPr id="12" name="TextBox 11"/>
          <p:cNvSpPr txBox="1"/>
          <p:nvPr/>
        </p:nvSpPr>
        <p:spPr>
          <a:xfrm>
            <a:off x="9905752" y="2882827"/>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okt</a:t>
            </a:r>
          </a:p>
        </p:txBody>
      </p:sp>
      <p:sp>
        <p:nvSpPr>
          <p:cNvPr id="13" name="Rectangle 12"/>
          <p:cNvSpPr/>
          <p:nvPr/>
        </p:nvSpPr>
        <p:spPr>
          <a:xfrm>
            <a:off x="634984" y="3555911"/>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4984" y="3708307"/>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Toestellen</a:t>
            </a:r>
          </a:p>
        </p:txBody>
      </p:sp>
      <p:sp>
        <p:nvSpPr>
          <p:cNvPr id="15" name="TextBox 14"/>
          <p:cNvSpPr txBox="1"/>
          <p:nvPr/>
        </p:nvSpPr>
        <p:spPr>
          <a:xfrm>
            <a:off x="3301917" y="3708307"/>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De drukmeetsystemen worden besteld. Zes tot acht weken levertijd, en ze moeten bij u staan vóór de opleidingsdag.</a:t>
            </a:r>
          </a:p>
        </p:txBody>
      </p:sp>
      <p:sp>
        <p:nvSpPr>
          <p:cNvPr id="16" name="TextBox 15"/>
          <p:cNvSpPr txBox="1"/>
          <p:nvPr/>
        </p:nvSpPr>
        <p:spPr>
          <a:xfrm>
            <a:off x="9905752" y="3721006"/>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6-8 w</a:t>
            </a:r>
          </a:p>
        </p:txBody>
      </p:sp>
      <p:sp>
        <p:nvSpPr>
          <p:cNvPr id="17" name="Rectangle 16"/>
          <p:cNvSpPr/>
          <p:nvPr/>
        </p:nvSpPr>
        <p:spPr>
          <a:xfrm>
            <a:off x="634984" y="4394090"/>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4984" y="4546486"/>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Databank</a:t>
            </a:r>
          </a:p>
        </p:txBody>
      </p:sp>
      <p:sp>
        <p:nvSpPr>
          <p:cNvPr id="19" name="TextBox 18"/>
          <p:cNvSpPr txBox="1"/>
          <p:nvPr/>
        </p:nvSpPr>
        <p:spPr>
          <a:xfrm>
            <a:off x="3301917" y="4546486"/>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Eén centrale databank. U vult papier in, het studieteam voert in. Acceptatietest in december.</a:t>
            </a:r>
          </a:p>
        </p:txBody>
      </p:sp>
      <p:sp>
        <p:nvSpPr>
          <p:cNvPr id="20" name="TextBox 19"/>
          <p:cNvSpPr txBox="1"/>
          <p:nvPr/>
        </p:nvSpPr>
        <p:spPr>
          <a:xfrm>
            <a:off x="9905752" y="4559186"/>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centraal</a:t>
            </a:r>
          </a:p>
        </p:txBody>
      </p:sp>
      <p:sp>
        <p:nvSpPr>
          <p:cNvPr id="21" name="Rounded Rectangle 20"/>
          <p:cNvSpPr/>
          <p:nvPr/>
        </p:nvSpPr>
        <p:spPr>
          <a:xfrm>
            <a:off x="634984" y="4992194"/>
            <a:ext cx="10921726" cy="1116352"/>
          </a:xfrm>
          <a:prstGeom prst="roundRect">
            <a:avLst>
              <a:gd name="adj" fmla="val 4500"/>
            </a:avLst>
          </a:prstGeom>
          <a:solidFill>
            <a:srgbClr val="0A2A44"/>
          </a:solidFill>
          <a:ln w="9525">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52476" y="5169989"/>
            <a:ext cx="10286742" cy="760761"/>
          </a:xfrm>
          <a:prstGeom prst="rect">
            <a:avLst/>
          </a:prstGeom>
          <a:noFill/>
        </p:spPr>
        <p:txBody>
          <a:bodyPr wrap="square" anchor="t" lIns="0" rIns="0" tIns="0" bIns="0">
            <a:spAutoFit/>
          </a:bodyPr>
          <a:lstStyle/>
          <a:p>
            <a:pPr algn="l">
              <a:lnSpc>
                <a:spcPct val="140000"/>
              </a:lnSpc>
            </a:pPr>
            <a:r>
              <a:rPr sz="1900" b="0">
                <a:solidFill>
                  <a:srgbClr val="F2F8FC"/>
                </a:solidFill>
                <a:latin typeface="Segoe UI"/>
              </a:rPr>
              <a:t>Na de acceptatietest gaat de databank op slot. Alles wat daarna bij moet, is een amendement.</a:t>
            </a:r>
          </a:p>
        </p:txBody>
      </p:sp>
      <p:sp>
        <p:nvSpPr>
          <p:cNvPr id="23" name="TextBox 2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22 / 26</a:t>
            </a:r>
          </a:p>
        </p:txBody>
      </p:sp>
      <p:pic>
        <p:nvPicPr>
          <p:cNvPr id="24"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VAN HIER TOT UW EERSTE PATIËNT</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Vijf stappen, de agenda volgt binnenkort</a:t>
            </a:r>
          </a:p>
        </p:txBody>
      </p:sp>
      <p:sp>
        <p:nvSpPr>
          <p:cNvPr id="5" name="Rectangle 4"/>
          <p:cNvSpPr/>
          <p:nvPr/>
        </p:nvSpPr>
        <p:spPr>
          <a:xfrm>
            <a:off x="634984" y="2463738"/>
            <a:ext cx="10921726" cy="1269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49281" y="2349441"/>
            <a:ext cx="228594" cy="228594"/>
          </a:xfrm>
          <a:prstGeom prst="ellipse">
            <a:avLst/>
          </a:prstGeom>
          <a:solidFill>
            <a:srgbClr val="52BDEC"/>
          </a:solidFill>
          <a:ln w="38100">
            <a:solidFill>
              <a:srgbClr val="0418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34984" y="2793930"/>
            <a:ext cx="2057348" cy="2539936"/>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12779" y="3009824"/>
            <a:ext cx="1650958" cy="380990"/>
          </a:xfrm>
          <a:prstGeom prst="rect">
            <a:avLst/>
          </a:prstGeom>
          <a:noFill/>
        </p:spPr>
        <p:txBody>
          <a:bodyPr wrap="square" anchor="t" lIns="0" rIns="0" tIns="0" bIns="0">
            <a:spAutoFit/>
          </a:bodyPr>
          <a:lstStyle/>
          <a:p>
            <a:pPr algn="l">
              <a:lnSpc>
                <a:spcPct val="125000"/>
              </a:lnSpc>
            </a:pPr>
            <a:r>
              <a:rPr sz="2700" b="1">
                <a:solidFill>
                  <a:srgbClr val="52BDEC"/>
                </a:solidFill>
                <a:latin typeface="Consolas"/>
              </a:rPr>
              <a:t>01</a:t>
            </a:r>
          </a:p>
        </p:txBody>
      </p:sp>
      <p:sp>
        <p:nvSpPr>
          <p:cNvPr id="9" name="TextBox 8"/>
          <p:cNvSpPr txBox="1"/>
          <p:nvPr/>
        </p:nvSpPr>
        <p:spPr>
          <a:xfrm>
            <a:off x="812779" y="3467013"/>
            <a:ext cx="1701757" cy="419089"/>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okt – nov</a:t>
            </a:r>
          </a:p>
        </p:txBody>
      </p:sp>
      <p:sp>
        <p:nvSpPr>
          <p:cNvPr id="10" name="TextBox 9"/>
          <p:cNvSpPr txBox="1"/>
          <p:nvPr/>
        </p:nvSpPr>
        <p:spPr>
          <a:xfrm>
            <a:off x="812779" y="3987700"/>
            <a:ext cx="1701757" cy="1206469"/>
          </a:xfrm>
          <a:prstGeom prst="rect">
            <a:avLst/>
          </a:prstGeom>
          <a:noFill/>
        </p:spPr>
        <p:txBody>
          <a:bodyPr wrap="square" anchor="t" lIns="0" rIns="0" tIns="0" bIns="0">
            <a:spAutoFit/>
          </a:bodyPr>
          <a:lstStyle/>
          <a:p>
            <a:pPr algn="l">
              <a:lnSpc>
                <a:spcPct val="138000"/>
              </a:lnSpc>
            </a:pPr>
            <a:r>
              <a:rPr sz="1500" b="0">
                <a:solidFill>
                  <a:srgbClr val="8FB6D0"/>
                </a:solidFill>
                <a:latin typeface="Segoe UI"/>
              </a:rPr>
              <a:t>Lokale goedkeuring rond, drukmeetsysteem geleverd en getest.</a:t>
            </a:r>
          </a:p>
        </p:txBody>
      </p:sp>
      <p:sp>
        <p:nvSpPr>
          <p:cNvPr id="11" name="Oval 10"/>
          <p:cNvSpPr/>
          <p:nvPr/>
        </p:nvSpPr>
        <p:spPr>
          <a:xfrm>
            <a:off x="2959026" y="2349441"/>
            <a:ext cx="228594" cy="228594"/>
          </a:xfrm>
          <a:prstGeom prst="ellipse">
            <a:avLst/>
          </a:prstGeom>
          <a:solidFill>
            <a:srgbClr val="52BDEC"/>
          </a:solidFill>
          <a:ln w="38100">
            <a:solidFill>
              <a:srgbClr val="0418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2844728" y="2793930"/>
            <a:ext cx="2057348" cy="2539936"/>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022524" y="3009824"/>
            <a:ext cx="1650958" cy="380990"/>
          </a:xfrm>
          <a:prstGeom prst="rect">
            <a:avLst/>
          </a:prstGeom>
          <a:noFill/>
        </p:spPr>
        <p:txBody>
          <a:bodyPr wrap="square" anchor="t" lIns="0" rIns="0" tIns="0" bIns="0">
            <a:spAutoFit/>
          </a:bodyPr>
          <a:lstStyle/>
          <a:p>
            <a:pPr algn="l">
              <a:lnSpc>
                <a:spcPct val="125000"/>
              </a:lnSpc>
            </a:pPr>
            <a:r>
              <a:rPr sz="2700" b="1">
                <a:solidFill>
                  <a:srgbClr val="52BDEC"/>
                </a:solidFill>
                <a:latin typeface="Consolas"/>
              </a:rPr>
              <a:t>02</a:t>
            </a:r>
          </a:p>
        </p:txBody>
      </p:sp>
      <p:sp>
        <p:nvSpPr>
          <p:cNvPr id="14" name="TextBox 13"/>
          <p:cNvSpPr txBox="1"/>
          <p:nvPr/>
        </p:nvSpPr>
        <p:spPr>
          <a:xfrm>
            <a:off x="3022524" y="3467013"/>
            <a:ext cx="1701757" cy="419089"/>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december</a:t>
            </a:r>
          </a:p>
        </p:txBody>
      </p:sp>
      <p:sp>
        <p:nvSpPr>
          <p:cNvPr id="15" name="TextBox 14"/>
          <p:cNvSpPr txBox="1"/>
          <p:nvPr/>
        </p:nvSpPr>
        <p:spPr>
          <a:xfrm>
            <a:off x="3022524" y="3987700"/>
            <a:ext cx="1701757" cy="1206469"/>
          </a:xfrm>
          <a:prstGeom prst="rect">
            <a:avLst/>
          </a:prstGeom>
          <a:noFill/>
        </p:spPr>
        <p:txBody>
          <a:bodyPr wrap="square" anchor="t" lIns="0" rIns="0" tIns="0" bIns="0">
            <a:spAutoFit/>
          </a:bodyPr>
          <a:lstStyle/>
          <a:p>
            <a:pPr algn="l">
              <a:lnSpc>
                <a:spcPct val="138000"/>
              </a:lnSpc>
            </a:pPr>
            <a:r>
              <a:rPr sz="1500" b="0">
                <a:solidFill>
                  <a:srgbClr val="8FB6D0"/>
                </a:solidFill>
                <a:latin typeface="Segoe UI"/>
              </a:rPr>
              <a:t>Opleidingsdag bij u. Technologie in de voormiddag, gedrag in de namiddag.</a:t>
            </a:r>
          </a:p>
        </p:txBody>
      </p:sp>
      <p:sp>
        <p:nvSpPr>
          <p:cNvPr id="16" name="Oval 15"/>
          <p:cNvSpPr/>
          <p:nvPr/>
        </p:nvSpPr>
        <p:spPr>
          <a:xfrm>
            <a:off x="5168770" y="2349441"/>
            <a:ext cx="228594" cy="228594"/>
          </a:xfrm>
          <a:prstGeom prst="ellipse">
            <a:avLst/>
          </a:prstGeom>
          <a:solidFill>
            <a:srgbClr val="52BDEC"/>
          </a:solidFill>
          <a:ln w="38100">
            <a:solidFill>
              <a:srgbClr val="0418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5054473" y="2793930"/>
            <a:ext cx="2057348" cy="2539936"/>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232269" y="3009824"/>
            <a:ext cx="1650958" cy="380990"/>
          </a:xfrm>
          <a:prstGeom prst="rect">
            <a:avLst/>
          </a:prstGeom>
          <a:noFill/>
        </p:spPr>
        <p:txBody>
          <a:bodyPr wrap="square" anchor="t" lIns="0" rIns="0" tIns="0" bIns="0">
            <a:spAutoFit/>
          </a:bodyPr>
          <a:lstStyle/>
          <a:p>
            <a:pPr algn="l">
              <a:lnSpc>
                <a:spcPct val="125000"/>
              </a:lnSpc>
            </a:pPr>
            <a:r>
              <a:rPr sz="2700" b="1">
                <a:solidFill>
                  <a:srgbClr val="52BDEC"/>
                </a:solidFill>
                <a:latin typeface="Consolas"/>
              </a:rPr>
              <a:t>03</a:t>
            </a:r>
          </a:p>
        </p:txBody>
      </p:sp>
      <p:sp>
        <p:nvSpPr>
          <p:cNvPr id="19" name="TextBox 18"/>
          <p:cNvSpPr txBox="1"/>
          <p:nvPr/>
        </p:nvSpPr>
        <p:spPr>
          <a:xfrm>
            <a:off x="5232269" y="3467013"/>
            <a:ext cx="1701757" cy="419089"/>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januari</a:t>
            </a:r>
          </a:p>
        </p:txBody>
      </p:sp>
      <p:sp>
        <p:nvSpPr>
          <p:cNvPr id="20" name="TextBox 19"/>
          <p:cNvSpPr txBox="1"/>
          <p:nvPr/>
        </p:nvSpPr>
        <p:spPr>
          <a:xfrm>
            <a:off x="5232269" y="3987700"/>
            <a:ext cx="1701757" cy="1206469"/>
          </a:xfrm>
          <a:prstGeom prst="rect">
            <a:avLst/>
          </a:prstGeom>
          <a:noFill/>
        </p:spPr>
        <p:txBody>
          <a:bodyPr wrap="square" anchor="t" lIns="0" rIns="0" tIns="0" bIns="0">
            <a:spAutoFit/>
          </a:bodyPr>
          <a:lstStyle/>
          <a:p>
            <a:pPr algn="l">
              <a:lnSpc>
                <a:spcPct val="138000"/>
              </a:lnSpc>
            </a:pPr>
            <a:r>
              <a:rPr sz="1500" b="0">
                <a:solidFill>
                  <a:srgbClr val="8FB6D0"/>
                </a:solidFill>
                <a:latin typeface="Segoe UI"/>
              </a:rPr>
              <a:t>Droogloop: de vier visitetypes op een verzonnen deelnemer, op uw toestellen.</a:t>
            </a:r>
          </a:p>
        </p:txBody>
      </p:sp>
      <p:sp>
        <p:nvSpPr>
          <p:cNvPr id="21" name="Oval 20"/>
          <p:cNvSpPr/>
          <p:nvPr/>
        </p:nvSpPr>
        <p:spPr>
          <a:xfrm>
            <a:off x="7378515" y="2349441"/>
            <a:ext cx="228594" cy="228594"/>
          </a:xfrm>
          <a:prstGeom prst="ellipse">
            <a:avLst/>
          </a:prstGeom>
          <a:solidFill>
            <a:srgbClr val="52BDEC"/>
          </a:solidFill>
          <a:ln w="38100">
            <a:solidFill>
              <a:srgbClr val="0418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7264218" y="2793930"/>
            <a:ext cx="2057348" cy="2539936"/>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442013" y="3009824"/>
            <a:ext cx="1650958" cy="380990"/>
          </a:xfrm>
          <a:prstGeom prst="rect">
            <a:avLst/>
          </a:prstGeom>
          <a:noFill/>
        </p:spPr>
        <p:txBody>
          <a:bodyPr wrap="square" anchor="t" lIns="0" rIns="0" tIns="0" bIns="0">
            <a:spAutoFit/>
          </a:bodyPr>
          <a:lstStyle/>
          <a:p>
            <a:pPr algn="l">
              <a:lnSpc>
                <a:spcPct val="125000"/>
              </a:lnSpc>
            </a:pPr>
            <a:r>
              <a:rPr sz="2700" b="1">
                <a:solidFill>
                  <a:srgbClr val="52BDEC"/>
                </a:solidFill>
                <a:latin typeface="Consolas"/>
              </a:rPr>
              <a:t>04</a:t>
            </a:r>
          </a:p>
        </p:txBody>
      </p:sp>
      <p:sp>
        <p:nvSpPr>
          <p:cNvPr id="24" name="TextBox 23"/>
          <p:cNvSpPr txBox="1"/>
          <p:nvPr/>
        </p:nvSpPr>
        <p:spPr>
          <a:xfrm>
            <a:off x="7442013" y="3467013"/>
            <a:ext cx="1701757" cy="419089"/>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februari</a:t>
            </a:r>
          </a:p>
        </p:txBody>
      </p:sp>
      <p:sp>
        <p:nvSpPr>
          <p:cNvPr id="25" name="TextBox 24"/>
          <p:cNvSpPr txBox="1"/>
          <p:nvPr/>
        </p:nvSpPr>
        <p:spPr>
          <a:xfrm>
            <a:off x="7442013" y="3987700"/>
            <a:ext cx="1701757" cy="1206469"/>
          </a:xfrm>
          <a:prstGeom prst="rect">
            <a:avLst/>
          </a:prstGeom>
          <a:noFill/>
        </p:spPr>
        <p:txBody>
          <a:bodyPr wrap="square" anchor="t" lIns="0" rIns="0" tIns="0" bIns="0">
            <a:spAutoFit/>
          </a:bodyPr>
          <a:lstStyle/>
          <a:p>
            <a:pPr algn="l">
              <a:lnSpc>
                <a:spcPct val="138000"/>
              </a:lnSpc>
            </a:pPr>
            <a:r>
              <a:rPr sz="1500" b="0">
                <a:solidFill>
                  <a:srgbClr val="8FB6D0"/>
                </a:solidFill>
                <a:latin typeface="Segoe UI"/>
              </a:rPr>
              <a:t>Pilootpatiënt, met debriefing binnen de week.</a:t>
            </a:r>
          </a:p>
        </p:txBody>
      </p:sp>
      <p:sp>
        <p:nvSpPr>
          <p:cNvPr id="26" name="Oval 25"/>
          <p:cNvSpPr/>
          <p:nvPr/>
        </p:nvSpPr>
        <p:spPr>
          <a:xfrm>
            <a:off x="9588260" y="2349441"/>
            <a:ext cx="228594" cy="228594"/>
          </a:xfrm>
          <a:prstGeom prst="ellipse">
            <a:avLst/>
          </a:prstGeom>
          <a:solidFill>
            <a:srgbClr val="52BDEC"/>
          </a:solidFill>
          <a:ln w="38100">
            <a:solidFill>
              <a:srgbClr val="0418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9473963" y="2793930"/>
            <a:ext cx="2057348" cy="2539936"/>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651758" y="3009824"/>
            <a:ext cx="1650958" cy="380990"/>
          </a:xfrm>
          <a:prstGeom prst="rect">
            <a:avLst/>
          </a:prstGeom>
          <a:noFill/>
        </p:spPr>
        <p:txBody>
          <a:bodyPr wrap="square" anchor="t" lIns="0" rIns="0" tIns="0" bIns="0">
            <a:spAutoFit/>
          </a:bodyPr>
          <a:lstStyle/>
          <a:p>
            <a:pPr algn="l">
              <a:lnSpc>
                <a:spcPct val="125000"/>
              </a:lnSpc>
            </a:pPr>
            <a:r>
              <a:rPr sz="2700" b="1">
                <a:solidFill>
                  <a:srgbClr val="52BDEC"/>
                </a:solidFill>
                <a:latin typeface="Consolas"/>
              </a:rPr>
              <a:t>05</a:t>
            </a:r>
          </a:p>
        </p:txBody>
      </p:sp>
      <p:sp>
        <p:nvSpPr>
          <p:cNvPr id="29" name="TextBox 28"/>
          <p:cNvSpPr txBox="1"/>
          <p:nvPr/>
        </p:nvSpPr>
        <p:spPr>
          <a:xfrm>
            <a:off x="9651758" y="3467013"/>
            <a:ext cx="1701757" cy="419089"/>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februari</a:t>
            </a:r>
          </a:p>
        </p:txBody>
      </p:sp>
      <p:sp>
        <p:nvSpPr>
          <p:cNvPr id="30" name="TextBox 29"/>
          <p:cNvSpPr txBox="1"/>
          <p:nvPr/>
        </p:nvSpPr>
        <p:spPr>
          <a:xfrm>
            <a:off x="9651758" y="3987700"/>
            <a:ext cx="1701757" cy="1206469"/>
          </a:xfrm>
          <a:prstGeom prst="rect">
            <a:avLst/>
          </a:prstGeom>
          <a:noFill/>
        </p:spPr>
        <p:txBody>
          <a:bodyPr wrap="square" anchor="t" lIns="0" rIns="0" tIns="0" bIns="0">
            <a:spAutoFit/>
          </a:bodyPr>
          <a:lstStyle/>
          <a:p>
            <a:pPr algn="l">
              <a:lnSpc>
                <a:spcPct val="138000"/>
              </a:lnSpc>
            </a:pPr>
            <a:r>
              <a:rPr sz="1500" b="0">
                <a:solidFill>
                  <a:srgbClr val="8FB6D0"/>
                </a:solidFill>
                <a:latin typeface="Segoe UI"/>
              </a:rPr>
              <a:t>Go/No-Go. Daarna start de inclusie.</a:t>
            </a:r>
          </a:p>
        </p:txBody>
      </p:sp>
      <p:sp>
        <p:nvSpPr>
          <p:cNvPr id="31" name="TextBox 30"/>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23 / 26</a:t>
            </a:r>
          </a:p>
        </p:txBody>
      </p:sp>
      <p:pic>
        <p:nvPicPr>
          <p:cNvPr id="32"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WAT WE VAN U NODIG HEBBEN</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Vier dingen, concreet</a:t>
            </a:r>
          </a:p>
        </p:txBody>
      </p:sp>
      <p:sp>
        <p:nvSpPr>
          <p:cNvPr id="5" name="Rectangle 4"/>
          <p:cNvSpPr/>
          <p:nvPr/>
        </p:nvSpPr>
        <p:spPr>
          <a:xfrm>
            <a:off x="634984" y="1879553"/>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4984" y="2031949"/>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Twee zorgverleners</a:t>
            </a:r>
          </a:p>
        </p:txBody>
      </p:sp>
      <p:sp>
        <p:nvSpPr>
          <p:cNvPr id="7" name="TextBox 6"/>
          <p:cNvSpPr txBox="1"/>
          <p:nvPr/>
        </p:nvSpPr>
        <p:spPr>
          <a:xfrm>
            <a:off x="3301917" y="2031949"/>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Podoloog en pedorthist, met een arts die de geschiktheid bevestigt. Allebei gecertificeerd. Met precies twee is er geen marge, dus een back-up met naam is geen luxe.</a:t>
            </a:r>
          </a:p>
        </p:txBody>
      </p:sp>
      <p:sp>
        <p:nvSpPr>
          <p:cNvPr id="8" name="TextBox 7"/>
          <p:cNvSpPr txBox="1"/>
          <p:nvPr/>
        </p:nvSpPr>
        <p:spPr>
          <a:xfrm>
            <a:off x="9905752" y="2044648"/>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2</a:t>
            </a:r>
          </a:p>
        </p:txBody>
      </p:sp>
      <p:sp>
        <p:nvSpPr>
          <p:cNvPr id="9" name="Rectangle 8"/>
          <p:cNvSpPr/>
          <p:nvPr/>
        </p:nvSpPr>
        <p:spPr>
          <a:xfrm>
            <a:off x="634984" y="2717732"/>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4984" y="2870128"/>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Vierentwintig deelnemers</a:t>
            </a:r>
          </a:p>
        </p:txBody>
      </p:sp>
      <p:sp>
        <p:nvSpPr>
          <p:cNvPr id="11" name="TextBox 10"/>
          <p:cNvSpPr txBox="1"/>
          <p:nvPr/>
        </p:nvSpPr>
        <p:spPr>
          <a:xfrm>
            <a:off x="3301917" y="2870128"/>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Twaalf in elke arm. Onder de twaalf per arm wordt het centrum onderbemand.</a:t>
            </a:r>
          </a:p>
        </p:txBody>
      </p:sp>
      <p:sp>
        <p:nvSpPr>
          <p:cNvPr id="12" name="TextBox 11"/>
          <p:cNvSpPr txBox="1"/>
          <p:nvPr/>
        </p:nvSpPr>
        <p:spPr>
          <a:xfrm>
            <a:off x="9905752" y="2882827"/>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24</a:t>
            </a:r>
          </a:p>
        </p:txBody>
      </p:sp>
      <p:sp>
        <p:nvSpPr>
          <p:cNvPr id="13" name="Rectangle 12"/>
          <p:cNvSpPr/>
          <p:nvPr/>
        </p:nvSpPr>
        <p:spPr>
          <a:xfrm>
            <a:off x="634984" y="3555911"/>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4984" y="3708307"/>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Een looppad</a:t>
            </a:r>
          </a:p>
        </p:txBody>
      </p:sp>
      <p:sp>
        <p:nvSpPr>
          <p:cNvPr id="15" name="TextBox 14"/>
          <p:cNvSpPr txBox="1"/>
          <p:nvPr/>
        </p:nvSpPr>
        <p:spPr>
          <a:xfrm>
            <a:off x="3301917" y="3708307"/>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Tien meter volstaat. Extra apparatuur is niet nodig.</a:t>
            </a:r>
          </a:p>
        </p:txBody>
      </p:sp>
      <p:sp>
        <p:nvSpPr>
          <p:cNvPr id="16" name="TextBox 15"/>
          <p:cNvSpPr txBox="1"/>
          <p:nvPr/>
        </p:nvSpPr>
        <p:spPr>
          <a:xfrm>
            <a:off x="9905752" y="3721006"/>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10 m</a:t>
            </a:r>
          </a:p>
        </p:txBody>
      </p:sp>
      <p:sp>
        <p:nvSpPr>
          <p:cNvPr id="17" name="Rectangle 16"/>
          <p:cNvSpPr/>
          <p:nvPr/>
        </p:nvSpPr>
        <p:spPr>
          <a:xfrm>
            <a:off x="634984" y="4394090"/>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4984" y="4546486"/>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Een back-up</a:t>
            </a:r>
          </a:p>
        </p:txBody>
      </p:sp>
      <p:sp>
        <p:nvSpPr>
          <p:cNvPr id="19" name="TextBox 18"/>
          <p:cNvSpPr txBox="1"/>
          <p:nvPr/>
        </p:nvSpPr>
        <p:spPr>
          <a:xfrm>
            <a:off x="3301917" y="4546486"/>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Eén zorgverlener met naam die invalt, en die de droogloop meedoet.</a:t>
            </a:r>
          </a:p>
        </p:txBody>
      </p:sp>
      <p:sp>
        <p:nvSpPr>
          <p:cNvPr id="20" name="TextBox 19"/>
          <p:cNvSpPr txBox="1"/>
          <p:nvPr/>
        </p:nvSpPr>
        <p:spPr>
          <a:xfrm>
            <a:off x="9905752" y="4559186"/>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1</a:t>
            </a:r>
          </a:p>
        </p:txBody>
      </p:sp>
      <p:sp>
        <p:nvSpPr>
          <p:cNvPr id="21" name="Rounded Rectangle 20"/>
          <p:cNvSpPr/>
          <p:nvPr/>
        </p:nvSpPr>
        <p:spPr>
          <a:xfrm>
            <a:off x="634984" y="4992194"/>
            <a:ext cx="10921726" cy="1116352"/>
          </a:xfrm>
          <a:prstGeom prst="roundRect">
            <a:avLst>
              <a:gd name="adj" fmla="val 4500"/>
            </a:avLst>
          </a:prstGeom>
          <a:solidFill>
            <a:srgbClr val="0A2A44"/>
          </a:solidFill>
          <a:ln w="9525">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52476" y="5169989"/>
            <a:ext cx="10286742" cy="760761"/>
          </a:xfrm>
          <a:prstGeom prst="rect">
            <a:avLst/>
          </a:prstGeom>
          <a:noFill/>
        </p:spPr>
        <p:txBody>
          <a:bodyPr wrap="square" anchor="t" lIns="0" rIns="0" tIns="0" bIns="0">
            <a:spAutoFit/>
          </a:bodyPr>
          <a:lstStyle/>
          <a:p>
            <a:pPr algn="l">
              <a:lnSpc>
                <a:spcPct val="140000"/>
              </a:lnSpc>
            </a:pPr>
            <a:r>
              <a:rPr sz="1900" b="0">
                <a:solidFill>
                  <a:srgbClr val="F2F8FC"/>
                </a:solidFill>
                <a:latin typeface="Segoe UI"/>
              </a:rPr>
              <a:t>Gegevensinvoer vragen we niet. U vult de papieren formulieren in, wij typen ze centraal over.</a:t>
            </a:r>
          </a:p>
        </p:txBody>
      </p:sp>
      <p:sp>
        <p:nvSpPr>
          <p:cNvPr id="23" name="TextBox 2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24 / 26</a:t>
            </a:r>
          </a:p>
        </p:txBody>
      </p:sp>
      <p:pic>
        <p:nvPicPr>
          <p:cNvPr id="24"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WIE U AANSPREEKT</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Voor als er iets misloopt</a:t>
            </a:r>
          </a:p>
        </p:txBody>
      </p:sp>
      <p:sp>
        <p:nvSpPr>
          <p:cNvPr id="5" name="Rounded Rectangle 4"/>
          <p:cNvSpPr/>
          <p:nvPr/>
        </p:nvSpPr>
        <p:spPr>
          <a:xfrm>
            <a:off x="634984" y="1904952"/>
            <a:ext cx="3174920" cy="393690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ortret" descr="janou.png"/>
          <p:cNvPicPr>
            <a:picLocks noChangeAspect="1"/>
          </p:cNvPicPr>
          <p:nvPr/>
        </p:nvPicPr>
        <p:blipFill>
          <a:blip r:embed="rId2"/>
          <a:stretch>
            <a:fillRect/>
          </a:stretch>
        </p:blipFill>
        <p:spPr>
          <a:xfrm>
            <a:off x="777502" y="2006549"/>
            <a:ext cx="2889883" cy="3733706"/>
          </a:xfrm>
          <a:prstGeom prst="rect">
            <a:avLst/>
          </a:prstGeom>
        </p:spPr>
      </p:pic>
      <p:sp>
        <p:nvSpPr>
          <p:cNvPr id="7" name="Rectangle 6"/>
          <p:cNvSpPr/>
          <p:nvPr/>
        </p:nvSpPr>
        <p:spPr>
          <a:xfrm>
            <a:off x="4317892" y="1904952"/>
            <a:ext cx="723881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317892" y="2070048"/>
            <a:ext cx="6349841" cy="380990"/>
          </a:xfrm>
          <a:prstGeom prst="rect">
            <a:avLst/>
          </a:prstGeom>
          <a:noFill/>
        </p:spPr>
        <p:txBody>
          <a:bodyPr wrap="square" anchor="t" lIns="0" rIns="0" tIns="0" bIns="0">
            <a:spAutoFit/>
          </a:bodyPr>
          <a:lstStyle/>
          <a:p>
            <a:pPr algn="l">
              <a:lnSpc>
                <a:spcPct val="125000"/>
              </a:lnSpc>
            </a:pPr>
            <a:r>
              <a:rPr sz="3000" b="1">
                <a:solidFill>
                  <a:srgbClr val="F2F8FC"/>
                </a:solidFill>
                <a:latin typeface="Segoe UI"/>
              </a:rPr>
              <a:t>Janou De Buyser</a:t>
            </a:r>
          </a:p>
        </p:txBody>
      </p:sp>
      <p:sp>
        <p:nvSpPr>
          <p:cNvPr id="9" name="TextBox 8"/>
          <p:cNvSpPr txBox="1"/>
          <p:nvPr/>
        </p:nvSpPr>
        <p:spPr>
          <a:xfrm>
            <a:off x="4330591" y="2539936"/>
            <a:ext cx="5714857" cy="228594"/>
          </a:xfrm>
          <a:prstGeom prst="rect">
            <a:avLst/>
          </a:prstGeom>
          <a:noFill/>
        </p:spPr>
        <p:txBody>
          <a:bodyPr wrap="square" anchor="t" lIns="0" rIns="0" tIns="0" bIns="0">
            <a:spAutoFit/>
          </a:bodyPr>
          <a:lstStyle/>
          <a:p>
            <a:pPr algn="l">
              <a:lnSpc>
                <a:spcPct val="125000"/>
              </a:lnSpc>
            </a:pPr>
            <a:r>
              <a:rPr sz="1300" b="1" spc="150">
                <a:solidFill>
                  <a:srgbClr val="52BDEC"/>
                </a:solidFill>
                <a:latin typeface="Consolas"/>
              </a:rPr>
              <a:t>DOCTORAATSONDERZOEKER · DAGELIJKSE OPVOLGING</a:t>
            </a:r>
          </a:p>
        </p:txBody>
      </p:sp>
      <p:sp>
        <p:nvSpPr>
          <p:cNvPr id="10" name="TextBox 9"/>
          <p:cNvSpPr txBox="1"/>
          <p:nvPr/>
        </p:nvSpPr>
        <p:spPr>
          <a:xfrm>
            <a:off x="4317892" y="2857428"/>
            <a:ext cx="7238819" cy="634984"/>
          </a:xfrm>
          <a:prstGeom prst="rect">
            <a:avLst/>
          </a:prstGeom>
          <a:noFill/>
        </p:spPr>
        <p:txBody>
          <a:bodyPr wrap="square" anchor="t" lIns="0" rIns="0" tIns="0" bIns="0">
            <a:spAutoFit/>
          </a:bodyPr>
          <a:lstStyle/>
          <a:p>
            <a:pPr algn="l">
              <a:lnSpc>
                <a:spcPct val="135000"/>
              </a:lnSpc>
            </a:pPr>
            <a:r>
              <a:rPr sz="1650" b="0">
                <a:solidFill>
                  <a:srgbClr val="8FB6D0"/>
                </a:solidFill>
                <a:latin typeface="Segoe UI"/>
              </a:rPr>
              <a:t>Uw eerste aanspreekpunt: inclusies, metingen, formulieren, sensoren en alles wat in de praktijk vastloopt.</a:t>
            </a:r>
          </a:p>
        </p:txBody>
      </p:sp>
      <p:sp>
        <p:nvSpPr>
          <p:cNvPr id="11" name="TextBox 10"/>
          <p:cNvSpPr txBox="1"/>
          <p:nvPr/>
        </p:nvSpPr>
        <p:spPr>
          <a:xfrm>
            <a:off x="4317892" y="3530511"/>
            <a:ext cx="3682907" cy="253993"/>
          </a:xfrm>
          <a:prstGeom prst="rect">
            <a:avLst/>
          </a:prstGeom>
          <a:noFill/>
        </p:spPr>
        <p:txBody>
          <a:bodyPr wrap="none" anchor="t" lIns="0" rIns="0" tIns="0" bIns="0">
            <a:spAutoFit/>
          </a:bodyPr>
          <a:lstStyle/>
          <a:p>
            <a:pPr algn="l">
              <a:lnSpc>
                <a:spcPct val="125000"/>
              </a:lnSpc>
            </a:pPr>
            <a:r>
              <a:rPr sz="1600" b="0">
                <a:solidFill>
                  <a:srgbClr val="F2F8FC"/>
                </a:solidFill>
                <a:latin typeface="Consolas"/>
              </a:rPr>
              <a:t>janou.debuyser@kuleuven.be</a:t>
            </a:r>
          </a:p>
        </p:txBody>
      </p:sp>
      <p:sp>
        <p:nvSpPr>
          <p:cNvPr id="12" name="TextBox 11"/>
          <p:cNvSpPr txBox="1"/>
          <p:nvPr/>
        </p:nvSpPr>
        <p:spPr>
          <a:xfrm>
            <a:off x="7873803" y="3530511"/>
            <a:ext cx="3682907" cy="253993"/>
          </a:xfrm>
          <a:prstGeom prst="rect">
            <a:avLst/>
          </a:prstGeom>
          <a:noFill/>
        </p:spPr>
        <p:txBody>
          <a:bodyPr wrap="none" anchor="t" lIns="0" rIns="0" tIns="0" bIns="0">
            <a:spAutoFit/>
          </a:bodyPr>
          <a:lstStyle/>
          <a:p>
            <a:pPr algn="l">
              <a:lnSpc>
                <a:spcPct val="125000"/>
              </a:lnSpc>
            </a:pPr>
            <a:r>
              <a:rPr sz="1600" b="0">
                <a:solidFill>
                  <a:srgbClr val="F2F8FC"/>
                </a:solidFill>
                <a:latin typeface="Consolas"/>
              </a:rPr>
              <a:t>Spoorwegstraat 12 · Brugge</a:t>
            </a:r>
          </a:p>
        </p:txBody>
      </p:sp>
      <p:sp>
        <p:nvSpPr>
          <p:cNvPr id="13" name="Rectangle 12"/>
          <p:cNvSpPr/>
          <p:nvPr/>
        </p:nvSpPr>
        <p:spPr>
          <a:xfrm>
            <a:off x="4317892" y="3873403"/>
            <a:ext cx="723881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317892" y="4038499"/>
            <a:ext cx="6349841" cy="380990"/>
          </a:xfrm>
          <a:prstGeom prst="rect">
            <a:avLst/>
          </a:prstGeom>
          <a:noFill/>
        </p:spPr>
        <p:txBody>
          <a:bodyPr wrap="square" anchor="t" lIns="0" rIns="0" tIns="0" bIns="0">
            <a:spAutoFit/>
          </a:bodyPr>
          <a:lstStyle/>
          <a:p>
            <a:pPr algn="l">
              <a:lnSpc>
                <a:spcPct val="125000"/>
              </a:lnSpc>
            </a:pPr>
            <a:r>
              <a:rPr sz="3000" b="1">
                <a:solidFill>
                  <a:srgbClr val="F2F8FC"/>
                </a:solidFill>
                <a:latin typeface="Segoe UI"/>
              </a:rPr>
              <a:t>prof. dr. Kevin Deschamps</a:t>
            </a:r>
          </a:p>
        </p:txBody>
      </p:sp>
      <p:sp>
        <p:nvSpPr>
          <p:cNvPr id="15" name="TextBox 14"/>
          <p:cNvSpPr txBox="1"/>
          <p:nvPr/>
        </p:nvSpPr>
        <p:spPr>
          <a:xfrm>
            <a:off x="4330591" y="4508387"/>
            <a:ext cx="5714857" cy="228594"/>
          </a:xfrm>
          <a:prstGeom prst="rect">
            <a:avLst/>
          </a:prstGeom>
          <a:noFill/>
        </p:spPr>
        <p:txBody>
          <a:bodyPr wrap="square" anchor="t" lIns="0" rIns="0" tIns="0" bIns="0">
            <a:spAutoFit/>
          </a:bodyPr>
          <a:lstStyle/>
          <a:p>
            <a:pPr algn="l">
              <a:lnSpc>
                <a:spcPct val="125000"/>
              </a:lnSpc>
            </a:pPr>
            <a:r>
              <a:rPr sz="1300" b="1" spc="150">
                <a:solidFill>
                  <a:srgbClr val="52BDEC"/>
                </a:solidFill>
                <a:latin typeface="Consolas"/>
              </a:rPr>
              <a:t>PROMOTOR</a:t>
            </a:r>
          </a:p>
        </p:txBody>
      </p:sp>
      <p:sp>
        <p:nvSpPr>
          <p:cNvPr id="16" name="TextBox 15"/>
          <p:cNvSpPr txBox="1"/>
          <p:nvPr/>
        </p:nvSpPr>
        <p:spPr>
          <a:xfrm>
            <a:off x="4317892" y="4825879"/>
            <a:ext cx="7238819" cy="634984"/>
          </a:xfrm>
          <a:prstGeom prst="rect">
            <a:avLst/>
          </a:prstGeom>
          <a:noFill/>
        </p:spPr>
        <p:txBody>
          <a:bodyPr wrap="square" anchor="t" lIns="0" rIns="0" tIns="0" bIns="0">
            <a:spAutoFit/>
          </a:bodyPr>
          <a:lstStyle/>
          <a:p>
            <a:pPr algn="l">
              <a:lnSpc>
                <a:spcPct val="135000"/>
              </a:lnSpc>
            </a:pPr>
            <a:r>
              <a:rPr sz="1650" b="0">
                <a:solidFill>
                  <a:srgbClr val="8FB6D0"/>
                </a:solidFill>
                <a:latin typeface="Segoe UI"/>
              </a:rPr>
              <a:t>Wetenschappelijke vragen, de opzet van de studie en afspraken op het niveau van uw centrum.</a:t>
            </a:r>
          </a:p>
        </p:txBody>
      </p:sp>
      <p:sp>
        <p:nvSpPr>
          <p:cNvPr id="17" name="TextBox 16"/>
          <p:cNvSpPr txBox="1"/>
          <p:nvPr/>
        </p:nvSpPr>
        <p:spPr>
          <a:xfrm>
            <a:off x="4317892" y="5498962"/>
            <a:ext cx="3682907" cy="253993"/>
          </a:xfrm>
          <a:prstGeom prst="rect">
            <a:avLst/>
          </a:prstGeom>
          <a:noFill/>
        </p:spPr>
        <p:txBody>
          <a:bodyPr wrap="none" anchor="t" lIns="0" rIns="0" tIns="0" bIns="0">
            <a:spAutoFit/>
          </a:bodyPr>
          <a:lstStyle/>
          <a:p>
            <a:pPr algn="l">
              <a:lnSpc>
                <a:spcPct val="125000"/>
              </a:lnSpc>
            </a:pPr>
            <a:r>
              <a:rPr sz="1600" b="0">
                <a:solidFill>
                  <a:srgbClr val="F2F8FC"/>
                </a:solidFill>
                <a:latin typeface="Consolas"/>
              </a:rPr>
              <a:t>Revalidatiewetenschappen</a:t>
            </a:r>
          </a:p>
        </p:txBody>
      </p:sp>
      <p:sp>
        <p:nvSpPr>
          <p:cNvPr id="18" name="TextBox 17"/>
          <p:cNvSpPr txBox="1"/>
          <p:nvPr/>
        </p:nvSpPr>
        <p:spPr>
          <a:xfrm>
            <a:off x="7873803" y="5498962"/>
            <a:ext cx="3682907" cy="253993"/>
          </a:xfrm>
          <a:prstGeom prst="rect">
            <a:avLst/>
          </a:prstGeom>
          <a:noFill/>
        </p:spPr>
        <p:txBody>
          <a:bodyPr wrap="none" anchor="t" lIns="0" rIns="0" tIns="0" bIns="0">
            <a:spAutoFit/>
          </a:bodyPr>
          <a:lstStyle/>
          <a:p>
            <a:pPr algn="l">
              <a:lnSpc>
                <a:spcPct val="125000"/>
              </a:lnSpc>
            </a:pPr>
            <a:r>
              <a:rPr sz="1600" b="0">
                <a:solidFill>
                  <a:srgbClr val="F2F8FC"/>
                </a:solidFill>
                <a:latin typeface="Consolas"/>
              </a:rPr>
              <a:t>KU Leuven · Campus Brugge</a:t>
            </a:r>
          </a:p>
        </p:txBody>
      </p:sp>
      <p:sp>
        <p:nvSpPr>
          <p:cNvPr id="19" name="Rectangle 18"/>
          <p:cNvSpPr/>
          <p:nvPr/>
        </p:nvSpPr>
        <p:spPr>
          <a:xfrm>
            <a:off x="634984" y="5968850"/>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4984" y="6108547"/>
            <a:ext cx="10921726" cy="380990"/>
          </a:xfrm>
          <a:prstGeom prst="rect">
            <a:avLst/>
          </a:prstGeom>
          <a:noFill/>
        </p:spPr>
        <p:txBody>
          <a:bodyPr wrap="square" anchor="t" lIns="0" rIns="0" tIns="0" bIns="0">
            <a:spAutoFit/>
          </a:bodyPr>
          <a:lstStyle/>
          <a:p>
            <a:pPr algn="l">
              <a:lnSpc>
                <a:spcPct val="135000"/>
              </a:lnSpc>
            </a:pPr>
            <a:r>
              <a:rPr sz="1300" b="0">
                <a:solidFill>
                  <a:srgbClr val="8FB6D0"/>
                </a:solidFill>
                <a:latin typeface="Segoe UI"/>
              </a:rPr>
              <a:t>Consortium: KU Leuven — Revalidatiewetenschappen (Musculoskeletal Research Group) en Volksgezondheid en Eerstelijnszorg · Vrije Universiteit Brussel — Geneeskunde en Farmacie. Co-promotoren: Fabienne Dobbels, Maaike Fobelets en Koen Putman.</a:t>
            </a:r>
          </a:p>
        </p:txBody>
      </p:sp>
      <p:sp>
        <p:nvSpPr>
          <p:cNvPr id="21" name="TextBox 20"/>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25 / 26</a:t>
            </a:r>
          </a:p>
        </p:txBody>
      </p:sp>
      <p:pic>
        <p:nvPicPr>
          <p:cNvPr id="22" name="merk" descr="merk.png"/>
          <p:cNvPicPr>
            <a:picLocks noChangeAspect="1"/>
          </p:cNvPicPr>
          <p:nvPr/>
        </p:nvPicPr>
        <p:blipFill>
          <a:blip r:embed="rId3"/>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WAAR DE CIJFERS VANDAAN KOMEN</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Referenties</a:t>
            </a:r>
          </a:p>
        </p:txBody>
      </p:sp>
      <p:sp>
        <p:nvSpPr>
          <p:cNvPr id="5" name="TextBox 4"/>
          <p:cNvSpPr txBox="1"/>
          <p:nvPr/>
        </p:nvSpPr>
        <p:spPr>
          <a:xfrm>
            <a:off x="634984" y="1854153"/>
            <a:ext cx="279393" cy="190495"/>
          </a:xfrm>
          <a:prstGeom prst="rect">
            <a:avLst/>
          </a:prstGeom>
          <a:noFill/>
        </p:spPr>
        <p:txBody>
          <a:bodyPr wrap="square" anchor="t" lIns="0" rIns="0" tIns="0" bIns="0">
            <a:spAutoFit/>
          </a:bodyPr>
          <a:lstStyle/>
          <a:p>
            <a:pPr algn="r">
              <a:lnSpc>
                <a:spcPct val="125000"/>
              </a:lnSpc>
            </a:pPr>
            <a:r>
              <a:rPr sz="1200" b="1">
                <a:solidFill>
                  <a:srgbClr val="52BDEC"/>
                </a:solidFill>
                <a:latin typeface="Consolas"/>
              </a:rPr>
              <a:t>1</a:t>
            </a:r>
          </a:p>
        </p:txBody>
      </p:sp>
      <p:sp>
        <p:nvSpPr>
          <p:cNvPr id="6" name="TextBox 5"/>
          <p:cNvSpPr txBox="1"/>
          <p:nvPr/>
        </p:nvSpPr>
        <p:spPr>
          <a:xfrm>
            <a:off x="965175" y="1854153"/>
            <a:ext cx="5054346" cy="296217"/>
          </a:xfrm>
          <a:prstGeom prst="rect">
            <a:avLst/>
          </a:prstGeom>
          <a:noFill/>
        </p:spPr>
        <p:txBody>
          <a:bodyPr wrap="square" anchor="t" lIns="0" rIns="0" tIns="0" bIns="0">
            <a:spAutoFit/>
          </a:bodyPr>
          <a:lstStyle/>
          <a:p>
            <a:pPr algn="l">
              <a:lnSpc>
                <a:spcPct val="132000"/>
              </a:lnSpc>
            </a:pPr>
            <a:r>
              <a:rPr sz="1200" b="0">
                <a:solidFill>
                  <a:srgbClr val="8FB6D0"/>
                </a:solidFill>
                <a:latin typeface="Segoe UI"/>
              </a:rPr>
              <a:t>Armstrong DG et al. N Engl J Med. 2017;376(24):2367–75.</a:t>
            </a:r>
          </a:p>
        </p:txBody>
      </p:sp>
      <p:sp>
        <p:nvSpPr>
          <p:cNvPr id="7" name="TextBox 6"/>
          <p:cNvSpPr txBox="1"/>
          <p:nvPr/>
        </p:nvSpPr>
        <p:spPr>
          <a:xfrm>
            <a:off x="634984" y="2188470"/>
            <a:ext cx="279393" cy="190495"/>
          </a:xfrm>
          <a:prstGeom prst="rect">
            <a:avLst/>
          </a:prstGeom>
          <a:noFill/>
        </p:spPr>
        <p:txBody>
          <a:bodyPr wrap="square" anchor="t" lIns="0" rIns="0" tIns="0" bIns="0">
            <a:spAutoFit/>
          </a:bodyPr>
          <a:lstStyle/>
          <a:p>
            <a:pPr algn="r">
              <a:lnSpc>
                <a:spcPct val="125000"/>
              </a:lnSpc>
            </a:pPr>
            <a:r>
              <a:rPr sz="1200" b="1">
                <a:solidFill>
                  <a:srgbClr val="52BDEC"/>
                </a:solidFill>
                <a:latin typeface="Consolas"/>
              </a:rPr>
              <a:t>5</a:t>
            </a:r>
          </a:p>
        </p:txBody>
      </p:sp>
      <p:sp>
        <p:nvSpPr>
          <p:cNvPr id="8" name="TextBox 7"/>
          <p:cNvSpPr txBox="1"/>
          <p:nvPr/>
        </p:nvSpPr>
        <p:spPr>
          <a:xfrm>
            <a:off x="965175" y="2188470"/>
            <a:ext cx="5054346" cy="296217"/>
          </a:xfrm>
          <a:prstGeom prst="rect">
            <a:avLst/>
          </a:prstGeom>
          <a:noFill/>
        </p:spPr>
        <p:txBody>
          <a:bodyPr wrap="square" anchor="t" lIns="0" rIns="0" tIns="0" bIns="0">
            <a:spAutoFit/>
          </a:bodyPr>
          <a:lstStyle/>
          <a:p>
            <a:pPr algn="l">
              <a:lnSpc>
                <a:spcPct val="132000"/>
              </a:lnSpc>
            </a:pPr>
            <a:r>
              <a:rPr sz="1200" b="0">
                <a:solidFill>
                  <a:srgbClr val="8FB6D0"/>
                </a:solidFill>
                <a:latin typeface="Segoe UI"/>
              </a:rPr>
              <a:t>Bus SA et al. Diabetes Metab Res Rev. 2016;32(Suppl 1):195–200.</a:t>
            </a:r>
          </a:p>
        </p:txBody>
      </p:sp>
      <p:sp>
        <p:nvSpPr>
          <p:cNvPr id="9" name="TextBox 8"/>
          <p:cNvSpPr txBox="1"/>
          <p:nvPr/>
        </p:nvSpPr>
        <p:spPr>
          <a:xfrm>
            <a:off x="634984" y="2522786"/>
            <a:ext cx="279393" cy="190495"/>
          </a:xfrm>
          <a:prstGeom prst="rect">
            <a:avLst/>
          </a:prstGeom>
          <a:noFill/>
        </p:spPr>
        <p:txBody>
          <a:bodyPr wrap="square" anchor="t" lIns="0" rIns="0" tIns="0" bIns="0">
            <a:spAutoFit/>
          </a:bodyPr>
          <a:lstStyle/>
          <a:p>
            <a:pPr algn="r">
              <a:lnSpc>
                <a:spcPct val="125000"/>
              </a:lnSpc>
            </a:pPr>
            <a:r>
              <a:rPr sz="1200" b="1">
                <a:solidFill>
                  <a:srgbClr val="52BDEC"/>
                </a:solidFill>
                <a:latin typeface="Consolas"/>
              </a:rPr>
              <a:t>6</a:t>
            </a:r>
          </a:p>
        </p:txBody>
      </p:sp>
      <p:sp>
        <p:nvSpPr>
          <p:cNvPr id="10" name="TextBox 9"/>
          <p:cNvSpPr txBox="1"/>
          <p:nvPr/>
        </p:nvSpPr>
        <p:spPr>
          <a:xfrm>
            <a:off x="965175" y="2522786"/>
            <a:ext cx="5054346" cy="296217"/>
          </a:xfrm>
          <a:prstGeom prst="rect">
            <a:avLst/>
          </a:prstGeom>
          <a:noFill/>
        </p:spPr>
        <p:txBody>
          <a:bodyPr wrap="square" anchor="t" lIns="0" rIns="0" tIns="0" bIns="0">
            <a:spAutoFit/>
          </a:bodyPr>
          <a:lstStyle/>
          <a:p>
            <a:pPr algn="l">
              <a:lnSpc>
                <a:spcPct val="132000"/>
              </a:lnSpc>
            </a:pPr>
            <a:r>
              <a:rPr sz="1200" b="0">
                <a:solidFill>
                  <a:srgbClr val="8FB6D0"/>
                </a:solidFill>
                <a:latin typeface="Segoe UI"/>
              </a:rPr>
              <a:t>Bus SA et al. Diabetes Care. 2011;34(7):1595–600.</a:t>
            </a:r>
          </a:p>
        </p:txBody>
      </p:sp>
      <p:sp>
        <p:nvSpPr>
          <p:cNvPr id="11" name="TextBox 10"/>
          <p:cNvSpPr txBox="1"/>
          <p:nvPr/>
        </p:nvSpPr>
        <p:spPr>
          <a:xfrm>
            <a:off x="634984" y="2857103"/>
            <a:ext cx="279393" cy="190495"/>
          </a:xfrm>
          <a:prstGeom prst="rect">
            <a:avLst/>
          </a:prstGeom>
          <a:noFill/>
        </p:spPr>
        <p:txBody>
          <a:bodyPr wrap="square" anchor="t" lIns="0" rIns="0" tIns="0" bIns="0">
            <a:spAutoFit/>
          </a:bodyPr>
          <a:lstStyle/>
          <a:p>
            <a:pPr algn="r">
              <a:lnSpc>
                <a:spcPct val="125000"/>
              </a:lnSpc>
            </a:pPr>
            <a:r>
              <a:rPr sz="1200" b="1">
                <a:solidFill>
                  <a:srgbClr val="52BDEC"/>
                </a:solidFill>
                <a:latin typeface="Consolas"/>
              </a:rPr>
              <a:t>7</a:t>
            </a:r>
          </a:p>
        </p:txBody>
      </p:sp>
      <p:sp>
        <p:nvSpPr>
          <p:cNvPr id="12" name="TextBox 11"/>
          <p:cNvSpPr txBox="1"/>
          <p:nvPr/>
        </p:nvSpPr>
        <p:spPr>
          <a:xfrm>
            <a:off x="965175" y="2857103"/>
            <a:ext cx="5054346" cy="296217"/>
          </a:xfrm>
          <a:prstGeom prst="rect">
            <a:avLst/>
          </a:prstGeom>
          <a:noFill/>
        </p:spPr>
        <p:txBody>
          <a:bodyPr wrap="square" anchor="t" lIns="0" rIns="0" tIns="0" bIns="0">
            <a:spAutoFit/>
          </a:bodyPr>
          <a:lstStyle/>
          <a:p>
            <a:pPr algn="l">
              <a:lnSpc>
                <a:spcPct val="132000"/>
              </a:lnSpc>
            </a:pPr>
            <a:r>
              <a:rPr sz="1200" b="0">
                <a:solidFill>
                  <a:srgbClr val="8FB6D0"/>
                </a:solidFill>
                <a:latin typeface="Segoe UI"/>
              </a:rPr>
              <a:t>Bus SA et al. Diabetes Metab Res Rev. 2020;36(S1):e3237.</a:t>
            </a:r>
          </a:p>
        </p:txBody>
      </p:sp>
      <p:sp>
        <p:nvSpPr>
          <p:cNvPr id="13" name="TextBox 12"/>
          <p:cNvSpPr txBox="1"/>
          <p:nvPr/>
        </p:nvSpPr>
        <p:spPr>
          <a:xfrm>
            <a:off x="634984" y="3191420"/>
            <a:ext cx="279393" cy="190495"/>
          </a:xfrm>
          <a:prstGeom prst="rect">
            <a:avLst/>
          </a:prstGeom>
          <a:noFill/>
        </p:spPr>
        <p:txBody>
          <a:bodyPr wrap="square" anchor="t" lIns="0" rIns="0" tIns="0" bIns="0">
            <a:spAutoFit/>
          </a:bodyPr>
          <a:lstStyle/>
          <a:p>
            <a:pPr algn="r">
              <a:lnSpc>
                <a:spcPct val="125000"/>
              </a:lnSpc>
            </a:pPr>
            <a:r>
              <a:rPr sz="1200" b="1">
                <a:solidFill>
                  <a:srgbClr val="52BDEC"/>
                </a:solidFill>
                <a:latin typeface="Consolas"/>
              </a:rPr>
              <a:t>8</a:t>
            </a:r>
          </a:p>
        </p:txBody>
      </p:sp>
      <p:sp>
        <p:nvSpPr>
          <p:cNvPr id="14" name="TextBox 13"/>
          <p:cNvSpPr txBox="1"/>
          <p:nvPr/>
        </p:nvSpPr>
        <p:spPr>
          <a:xfrm>
            <a:off x="965175" y="3191420"/>
            <a:ext cx="5054346" cy="296217"/>
          </a:xfrm>
          <a:prstGeom prst="rect">
            <a:avLst/>
          </a:prstGeom>
          <a:noFill/>
        </p:spPr>
        <p:txBody>
          <a:bodyPr wrap="square" anchor="t" lIns="0" rIns="0" tIns="0" bIns="0">
            <a:spAutoFit/>
          </a:bodyPr>
          <a:lstStyle/>
          <a:p>
            <a:pPr algn="l">
              <a:lnSpc>
                <a:spcPct val="132000"/>
              </a:lnSpc>
            </a:pPr>
            <a:r>
              <a:rPr sz="1200" b="0">
                <a:solidFill>
                  <a:srgbClr val="8FB6D0"/>
                </a:solidFill>
                <a:latin typeface="Segoe UI"/>
              </a:rPr>
              <a:t>Bus SA et al. Diabetes Metab Res Rev. 2024;40(3):e3651.</a:t>
            </a:r>
          </a:p>
        </p:txBody>
      </p:sp>
      <p:sp>
        <p:nvSpPr>
          <p:cNvPr id="15" name="TextBox 14"/>
          <p:cNvSpPr txBox="1"/>
          <p:nvPr/>
        </p:nvSpPr>
        <p:spPr>
          <a:xfrm>
            <a:off x="634984" y="3525736"/>
            <a:ext cx="279393" cy="190495"/>
          </a:xfrm>
          <a:prstGeom prst="rect">
            <a:avLst/>
          </a:prstGeom>
          <a:noFill/>
        </p:spPr>
        <p:txBody>
          <a:bodyPr wrap="square" anchor="t" lIns="0" rIns="0" tIns="0" bIns="0">
            <a:spAutoFit/>
          </a:bodyPr>
          <a:lstStyle/>
          <a:p>
            <a:pPr algn="r">
              <a:lnSpc>
                <a:spcPct val="125000"/>
              </a:lnSpc>
            </a:pPr>
            <a:r>
              <a:rPr sz="1200" b="1">
                <a:solidFill>
                  <a:srgbClr val="52BDEC"/>
                </a:solidFill>
                <a:latin typeface="Consolas"/>
              </a:rPr>
              <a:t>9</a:t>
            </a:r>
          </a:p>
        </p:txBody>
      </p:sp>
      <p:sp>
        <p:nvSpPr>
          <p:cNvPr id="16" name="TextBox 15"/>
          <p:cNvSpPr txBox="1"/>
          <p:nvPr/>
        </p:nvSpPr>
        <p:spPr>
          <a:xfrm>
            <a:off x="965175" y="3525736"/>
            <a:ext cx="5054346" cy="296217"/>
          </a:xfrm>
          <a:prstGeom prst="rect">
            <a:avLst/>
          </a:prstGeom>
          <a:noFill/>
        </p:spPr>
        <p:txBody>
          <a:bodyPr wrap="square" anchor="t" lIns="0" rIns="0" tIns="0" bIns="0">
            <a:spAutoFit/>
          </a:bodyPr>
          <a:lstStyle/>
          <a:p>
            <a:pPr algn="l">
              <a:lnSpc>
                <a:spcPct val="132000"/>
              </a:lnSpc>
            </a:pPr>
            <a:r>
              <a:rPr sz="1200" b="0">
                <a:solidFill>
                  <a:srgbClr val="8FB6D0"/>
                </a:solidFill>
                <a:latin typeface="Segoe UI"/>
              </a:rPr>
              <a:t>Bus SA et al. Diabetes Care. 2013;36(12):4109–16.</a:t>
            </a:r>
          </a:p>
        </p:txBody>
      </p:sp>
      <p:sp>
        <p:nvSpPr>
          <p:cNvPr id="17" name="TextBox 16"/>
          <p:cNvSpPr txBox="1"/>
          <p:nvPr/>
        </p:nvSpPr>
        <p:spPr>
          <a:xfrm>
            <a:off x="6171918" y="1854153"/>
            <a:ext cx="279393" cy="190495"/>
          </a:xfrm>
          <a:prstGeom prst="rect">
            <a:avLst/>
          </a:prstGeom>
          <a:noFill/>
        </p:spPr>
        <p:txBody>
          <a:bodyPr wrap="square" anchor="t" lIns="0" rIns="0" tIns="0" bIns="0">
            <a:spAutoFit/>
          </a:bodyPr>
          <a:lstStyle/>
          <a:p>
            <a:pPr algn="r">
              <a:lnSpc>
                <a:spcPct val="125000"/>
              </a:lnSpc>
            </a:pPr>
            <a:r>
              <a:rPr sz="1200" b="1">
                <a:solidFill>
                  <a:srgbClr val="52BDEC"/>
                </a:solidFill>
                <a:latin typeface="Consolas"/>
              </a:rPr>
              <a:t>13</a:t>
            </a:r>
          </a:p>
        </p:txBody>
      </p:sp>
      <p:sp>
        <p:nvSpPr>
          <p:cNvPr id="18" name="TextBox 17"/>
          <p:cNvSpPr txBox="1"/>
          <p:nvPr/>
        </p:nvSpPr>
        <p:spPr>
          <a:xfrm>
            <a:off x="6502110" y="1854153"/>
            <a:ext cx="5054346" cy="296217"/>
          </a:xfrm>
          <a:prstGeom prst="rect">
            <a:avLst/>
          </a:prstGeom>
          <a:noFill/>
        </p:spPr>
        <p:txBody>
          <a:bodyPr wrap="square" anchor="t" lIns="0" rIns="0" tIns="0" bIns="0">
            <a:spAutoFit/>
          </a:bodyPr>
          <a:lstStyle/>
          <a:p>
            <a:pPr algn="l">
              <a:lnSpc>
                <a:spcPct val="132000"/>
              </a:lnSpc>
            </a:pPr>
            <a:r>
              <a:rPr sz="1200" b="0">
                <a:solidFill>
                  <a:srgbClr val="8FB6D0"/>
                </a:solidFill>
                <a:latin typeface="Segoe UI"/>
              </a:rPr>
              <a:t>Waaijman R et al. Diabetes Care. 2013;36(6):1613–8.</a:t>
            </a:r>
          </a:p>
        </p:txBody>
      </p:sp>
      <p:sp>
        <p:nvSpPr>
          <p:cNvPr id="19" name="TextBox 18"/>
          <p:cNvSpPr txBox="1"/>
          <p:nvPr/>
        </p:nvSpPr>
        <p:spPr>
          <a:xfrm>
            <a:off x="6171918" y="2188470"/>
            <a:ext cx="279393" cy="190495"/>
          </a:xfrm>
          <a:prstGeom prst="rect">
            <a:avLst/>
          </a:prstGeom>
          <a:noFill/>
        </p:spPr>
        <p:txBody>
          <a:bodyPr wrap="square" anchor="t" lIns="0" rIns="0" tIns="0" bIns="0">
            <a:spAutoFit/>
          </a:bodyPr>
          <a:lstStyle/>
          <a:p>
            <a:pPr algn="r">
              <a:lnSpc>
                <a:spcPct val="125000"/>
              </a:lnSpc>
            </a:pPr>
            <a:r>
              <a:rPr sz="1200" b="1">
                <a:solidFill>
                  <a:srgbClr val="52BDEC"/>
                </a:solidFill>
                <a:latin typeface="Consolas"/>
              </a:rPr>
              <a:t>17</a:t>
            </a:r>
          </a:p>
        </p:txBody>
      </p:sp>
      <p:sp>
        <p:nvSpPr>
          <p:cNvPr id="20" name="TextBox 19"/>
          <p:cNvSpPr txBox="1"/>
          <p:nvPr/>
        </p:nvSpPr>
        <p:spPr>
          <a:xfrm>
            <a:off x="6502110" y="2188470"/>
            <a:ext cx="5054346" cy="296217"/>
          </a:xfrm>
          <a:prstGeom prst="rect">
            <a:avLst/>
          </a:prstGeom>
          <a:noFill/>
        </p:spPr>
        <p:txBody>
          <a:bodyPr wrap="square" anchor="t" lIns="0" rIns="0" tIns="0" bIns="0">
            <a:spAutoFit/>
          </a:bodyPr>
          <a:lstStyle/>
          <a:p>
            <a:pPr algn="l">
              <a:lnSpc>
                <a:spcPct val="132000"/>
              </a:lnSpc>
            </a:pPr>
            <a:r>
              <a:rPr sz="1200" b="0">
                <a:solidFill>
                  <a:srgbClr val="8FB6D0"/>
                </a:solidFill>
                <a:latin typeface="Segoe UI"/>
              </a:rPr>
              <a:t>Waaijman R et al. Diabetes Care. 2014;37(6):1697–705.</a:t>
            </a:r>
          </a:p>
        </p:txBody>
      </p:sp>
      <p:sp>
        <p:nvSpPr>
          <p:cNvPr id="21" name="TextBox 20"/>
          <p:cNvSpPr txBox="1"/>
          <p:nvPr/>
        </p:nvSpPr>
        <p:spPr>
          <a:xfrm>
            <a:off x="6171918" y="2522786"/>
            <a:ext cx="279393" cy="190495"/>
          </a:xfrm>
          <a:prstGeom prst="rect">
            <a:avLst/>
          </a:prstGeom>
          <a:noFill/>
        </p:spPr>
        <p:txBody>
          <a:bodyPr wrap="square" anchor="t" lIns="0" rIns="0" tIns="0" bIns="0">
            <a:spAutoFit/>
          </a:bodyPr>
          <a:lstStyle/>
          <a:p>
            <a:pPr algn="r">
              <a:lnSpc>
                <a:spcPct val="125000"/>
              </a:lnSpc>
            </a:pPr>
            <a:r>
              <a:rPr sz="1200" b="1">
                <a:solidFill>
                  <a:srgbClr val="52BDEC"/>
                </a:solidFill>
                <a:latin typeface="Consolas"/>
              </a:rPr>
              <a:t>18</a:t>
            </a:r>
          </a:p>
        </p:txBody>
      </p:sp>
      <p:sp>
        <p:nvSpPr>
          <p:cNvPr id="22" name="TextBox 21"/>
          <p:cNvSpPr txBox="1"/>
          <p:nvPr/>
        </p:nvSpPr>
        <p:spPr>
          <a:xfrm>
            <a:off x="6502110" y="2522786"/>
            <a:ext cx="5054346" cy="296217"/>
          </a:xfrm>
          <a:prstGeom prst="rect">
            <a:avLst/>
          </a:prstGeom>
          <a:noFill/>
        </p:spPr>
        <p:txBody>
          <a:bodyPr wrap="square" anchor="t" lIns="0" rIns="0" tIns="0" bIns="0">
            <a:spAutoFit/>
          </a:bodyPr>
          <a:lstStyle/>
          <a:p>
            <a:pPr algn="l">
              <a:lnSpc>
                <a:spcPct val="132000"/>
              </a:lnSpc>
            </a:pPr>
            <a:r>
              <a:rPr sz="1200" b="0">
                <a:solidFill>
                  <a:srgbClr val="8FB6D0"/>
                </a:solidFill>
                <a:latin typeface="Segoe UI"/>
              </a:rPr>
              <a:t>Lutjeboer T et al. J Rehabil Med. 2018;50(10):920–6.</a:t>
            </a:r>
          </a:p>
        </p:txBody>
      </p:sp>
      <p:sp>
        <p:nvSpPr>
          <p:cNvPr id="23" name="TextBox 22"/>
          <p:cNvSpPr txBox="1"/>
          <p:nvPr/>
        </p:nvSpPr>
        <p:spPr>
          <a:xfrm>
            <a:off x="6171918" y="2857103"/>
            <a:ext cx="279393" cy="190495"/>
          </a:xfrm>
          <a:prstGeom prst="rect">
            <a:avLst/>
          </a:prstGeom>
          <a:noFill/>
        </p:spPr>
        <p:txBody>
          <a:bodyPr wrap="square" anchor="t" lIns="0" rIns="0" tIns="0" bIns="0">
            <a:spAutoFit/>
          </a:bodyPr>
          <a:lstStyle/>
          <a:p>
            <a:pPr algn="r">
              <a:lnSpc>
                <a:spcPct val="125000"/>
              </a:lnSpc>
            </a:pPr>
            <a:r>
              <a:rPr sz="1200" b="1">
                <a:solidFill>
                  <a:srgbClr val="52BDEC"/>
                </a:solidFill>
                <a:latin typeface="Consolas"/>
              </a:rPr>
              <a:t>20</a:t>
            </a:r>
          </a:p>
        </p:txBody>
      </p:sp>
      <p:sp>
        <p:nvSpPr>
          <p:cNvPr id="24" name="TextBox 23"/>
          <p:cNvSpPr txBox="1"/>
          <p:nvPr/>
        </p:nvSpPr>
        <p:spPr>
          <a:xfrm>
            <a:off x="6502110" y="2857103"/>
            <a:ext cx="5054346" cy="296217"/>
          </a:xfrm>
          <a:prstGeom prst="rect">
            <a:avLst/>
          </a:prstGeom>
          <a:noFill/>
        </p:spPr>
        <p:txBody>
          <a:bodyPr wrap="square" anchor="t" lIns="0" rIns="0" tIns="0" bIns="0">
            <a:spAutoFit/>
          </a:bodyPr>
          <a:lstStyle/>
          <a:p>
            <a:pPr algn="l">
              <a:lnSpc>
                <a:spcPct val="132000"/>
              </a:lnSpc>
            </a:pPr>
            <a:r>
              <a:rPr sz="1200" b="0">
                <a:solidFill>
                  <a:srgbClr val="8FB6D0"/>
                </a:solidFill>
                <a:latin typeface="Segoe UI"/>
              </a:rPr>
              <a:t>Morbach S et al. Diabetes Metab Res Rev. 2016;32(Suppl 1):318–25.</a:t>
            </a:r>
          </a:p>
        </p:txBody>
      </p:sp>
      <p:sp>
        <p:nvSpPr>
          <p:cNvPr id="25" name="TextBox 24"/>
          <p:cNvSpPr txBox="1"/>
          <p:nvPr/>
        </p:nvSpPr>
        <p:spPr>
          <a:xfrm>
            <a:off x="6171918" y="3191420"/>
            <a:ext cx="279393" cy="190495"/>
          </a:xfrm>
          <a:prstGeom prst="rect">
            <a:avLst/>
          </a:prstGeom>
          <a:noFill/>
        </p:spPr>
        <p:txBody>
          <a:bodyPr wrap="square" anchor="t" lIns="0" rIns="0" tIns="0" bIns="0">
            <a:spAutoFit/>
          </a:bodyPr>
          <a:lstStyle/>
          <a:p>
            <a:pPr algn="r">
              <a:lnSpc>
                <a:spcPct val="125000"/>
              </a:lnSpc>
            </a:pPr>
            <a:r>
              <a:rPr sz="1200" b="1">
                <a:solidFill>
                  <a:srgbClr val="52BDEC"/>
                </a:solidFill>
                <a:latin typeface="Consolas"/>
              </a:rPr>
              <a:t>27</a:t>
            </a:r>
          </a:p>
        </p:txBody>
      </p:sp>
      <p:sp>
        <p:nvSpPr>
          <p:cNvPr id="26" name="TextBox 25"/>
          <p:cNvSpPr txBox="1"/>
          <p:nvPr/>
        </p:nvSpPr>
        <p:spPr>
          <a:xfrm>
            <a:off x="6502110" y="3191420"/>
            <a:ext cx="5054346" cy="296217"/>
          </a:xfrm>
          <a:prstGeom prst="rect">
            <a:avLst/>
          </a:prstGeom>
          <a:noFill/>
        </p:spPr>
        <p:txBody>
          <a:bodyPr wrap="square" anchor="t" lIns="0" rIns="0" tIns="0" bIns="0">
            <a:spAutoFit/>
          </a:bodyPr>
          <a:lstStyle/>
          <a:p>
            <a:pPr algn="l">
              <a:lnSpc>
                <a:spcPct val="132000"/>
              </a:lnSpc>
            </a:pPr>
            <a:r>
              <a:rPr sz="1200" b="0">
                <a:solidFill>
                  <a:srgbClr val="8FB6D0"/>
                </a:solidFill>
                <a:latin typeface="Segoe UI"/>
              </a:rPr>
              <a:t>Zwaferink JBJ et al. Sensors. 2024;24(6):1795.</a:t>
            </a:r>
          </a:p>
        </p:txBody>
      </p:sp>
      <p:sp>
        <p:nvSpPr>
          <p:cNvPr id="27" name="TextBox 26"/>
          <p:cNvSpPr txBox="1"/>
          <p:nvPr/>
        </p:nvSpPr>
        <p:spPr>
          <a:xfrm>
            <a:off x="634984" y="6387940"/>
            <a:ext cx="9524761" cy="190495"/>
          </a:xfrm>
          <a:prstGeom prst="rect">
            <a:avLst/>
          </a:prstGeom>
          <a:noFill/>
        </p:spPr>
        <p:txBody>
          <a:bodyPr wrap="square" anchor="t" lIns="0" rIns="0" tIns="0" bIns="0">
            <a:spAutoFit/>
          </a:bodyPr>
          <a:lstStyle/>
          <a:p>
            <a:pPr algn="l">
              <a:lnSpc>
                <a:spcPct val="125000"/>
              </a:lnSpc>
            </a:pPr>
            <a:r>
              <a:rPr sz="1100" b="0">
                <a:solidFill>
                  <a:srgbClr val="8FB6D0"/>
                </a:solidFill>
                <a:latin typeface="Consolas"/>
              </a:rPr>
              <a:t>De nummering volgt die van het protocolmanuscript.</a:t>
            </a:r>
          </a:p>
        </p:txBody>
      </p:sp>
      <p:sp>
        <p:nvSpPr>
          <p:cNvPr id="28" name="TextBox 27"/>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26 / 26</a:t>
            </a:r>
          </a:p>
        </p:txBody>
      </p:sp>
      <p:pic>
        <p:nvPicPr>
          <p:cNvPr id="29"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p:transition xmlns:p14="http://schemas.microsoft.com/office/powerpoint/2010/main" spd="slow" p14:dur="900">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