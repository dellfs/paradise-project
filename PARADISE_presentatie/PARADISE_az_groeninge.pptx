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studie loopt in zes voetklinieken, en u bent er één van. Elk centrum neemt vierentwintig deelnemers op, twaalf in elke arm. Samen maakt dat honderdvierenveertig. Hoe die vierentwintig bij u binnenkomen, ziet u zo in het traject.</a:t>
            </a:r>
          </a:p>
          <a:p/>
          <a:p>
            <a:r>
              <a:t>PRESENTATIETIP</a:t>
            </a:r>
          </a:p>
          <a:p>
            <a:r>
              <a:t>Wijs uw eigen centrum aan. Alle zes liggen in Vlaanderen; het verste centrum ligt op anderhalf uur.</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majeure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Waar die cijfers vandaan komen, ziet u hier. Elk punt is een cohort; de lijn erdoorheen is de trend. Na één jaar veertig procent, na vijf jaar vijfenzestig. Het risico verdwijnt niet, het stapelt op.</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in de schoen: driehonderdtwaalf kilopascal onder metatarsaal twee-drie. Drie loopproeven per voet, waarvan de middelste twaalf passen tellen. Hiertegen wordt alles afgezet.</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Het dossier is klaar; wat nu telt is de volgorde. Protocol en formulieren liggen er, de indiening vertrekt in oktober, en uw lokale goedkeuring verwachten we tussen november en januari. Het enige met een echte levertijd is het drukmeetsysteem: zes tot acht weken. Daarom staan de data van december zoals ze staan.</a:t>
            </a:r>
          </a:p>
          <a:p/>
          <a:p>
            <a:r>
              <a:t>PRESENTATIETIP</a:t>
            </a:r>
          </a:p>
          <a:p>
            <a:r>
              <a:t>Dit is de update waar ze om gevraagd hebben. Noem één termijn hardop, niet alle vier.</a:t>
            </a:r>
          </a:p>
          <a:p/>
          <a:p>
            <a:r>
              <a:t>INTERACTIE</a:t>
            </a:r>
          </a:p>
          <a:p>
            <a:r>
              <a:t>Vraag of hun lokale commissie in november zitting heeft.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Tussen vandaag en uw eerste patiënt liggen vijf stappen. De opleidingsdag bij u duurt een halve dag: technologie in de voormiddag, gedragsbijsturing in de namiddag. In januari doen we een droogloop met een verzonnen deelnemer, op uw eigen toestellen. Die twee data zijn een voorstel — zeg nu of ze passen.</a:t>
            </a:r>
          </a:p>
          <a:p/>
          <a:p>
            <a:r>
              <a:t>PRESENTATIETIP</a:t>
            </a:r>
          </a:p>
          <a:p>
            <a:r>
              <a:t>De data van december en januari zijn een voorstel. Ze liggen pas vast als de zes centra bevestigd hebben.</a:t>
            </a:r>
          </a:p>
          <a:p/>
          <a:p>
            <a:r>
              <a:t>INTERACTIE</a:t>
            </a:r>
          </a:p>
          <a:p>
            <a:r>
              <a:t>Vraag of 2 december en 15 januari passen, en wie er die dagen bij 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dingen hebben we van u nodig, en geen daarvan is gegevensinvoer. Drie zorgverleners die de opleiding volgen, waarvan er twee gecertificeerd raken. Vierentwintig deelnemers over de inclusieperiode. En een looppad van tien meter, meer niet.</a:t>
            </a:r>
          </a:p>
          <a:p/>
          <a:p>
            <a:r>
              <a:t>PRESENTATIETIP</a:t>
            </a:r>
          </a:p>
          <a:p>
            <a:r>
              <a:t>Dit is de vraag. Wees concreet en beloof niets wat u niet weet.</a:t>
            </a:r>
          </a:p>
          <a:p/>
          <a:p>
            <a:r>
              <a:t>INTERACTIE</a:t>
            </a:r>
          </a:p>
          <a:p>
            <a:r>
              <a:t>Overloop de vier punten één voor één en vraag per punt of het haalbaar 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AZ Groeninge · toelichting en stand van zaken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het eindpunt behaald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26</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ZES VOETKLINIEKEN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 de studie loopt</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CENTRA</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PER CENTRUM</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24</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AZ Groeninge is één van de zes</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aart_centra.png"/>
          <p:cNvPicPr>
            <a:picLocks noChangeAspect="1"/>
          </p:cNvPicPr>
          <p:nvPr/>
        </p:nvPicPr>
        <p:blipFill>
          <a:blip r:embed="rId2"/>
          <a:stretch>
            <a:fillRect/>
          </a:stretch>
        </p:blipFill>
        <p:spPr>
          <a:xfrm>
            <a:off x="5986993" y="2285942"/>
            <a:ext cx="5170585"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Twaalf Optimal Care en twaalf Usual Care per centrum, geloot per centrum</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26</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26</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RISICO NA GENEZING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derde recidiveert binnen vijf jaar</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1 JAAR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5 JAAR</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Incidentie van recidief tegenover follow-upduur</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Gepoolde data uit negen prospectieve studies, één retrospectieve studie en de controlegroepen van negen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26</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0" name="TextBox 2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26</a:t>
            </a:r>
          </a:p>
        </p:txBody>
      </p:sp>
      <p:pic>
        <p:nvPicPr>
          <p:cNvPr id="3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het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steunen.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pedar®-sensorinsole in de schoen geplaatst, drie loopproeven uitgevoerd.</a:t>
            </a:r>
          </a:p>
          <a:p>
            <a:pPr algn="l">
              <a:lnSpc>
                <a:spcPct val="135000"/>
              </a:lnSpc>
              <a:spcBef>
                <a:spcPts val="1200"/>
              </a:spcBef>
            </a:pPr>
            <a:r>
              <a:rPr sz="1700" b="0">
                <a:solidFill>
                  <a:srgbClr val="8FB6D0"/>
                </a:solidFill>
                <a:latin typeface="Segoe UI"/>
              </a:rPr>
              <a:t>De middelste twaalf passen per voet geanalyseerd; daaruit berekent de software de gemiddelde piekdruk per voet.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Zeroing voor elke meting</a:t>
            </a:r>
          </a:p>
          <a:p>
            <a:pPr algn="l">
              <a:lnSpc>
                <a:spcPct val="130000"/>
              </a:lnSpc>
              <a:spcBef>
                <a:spcPts val="1000"/>
              </a:spcBef>
            </a:pPr>
            <a:r>
              <a:rPr sz="13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26</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anders kunnen we de groepen niet vergelijken. Maar die getallen blijven beperkt tot uzelf.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26</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Rectangle 18"/>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1" name="Oval 20"/>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3" name="Oval 22"/>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5" name="Oval 24"/>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7" name="Rectangle 26"/>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29" name="Oval 28"/>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1" name="Oval 30"/>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3" name="Oval 32"/>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5" name="Rectangle 34"/>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26</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8" name="TextBox 37"/>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STAND VAN ZAKEN · SEPTEMBER 2026</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af is, en waar het op wacht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 en formulieren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Protocolversie 1.0 en zevenenveertig eCRF-documenten liggen er. De drukmeting is omgezet naar in-shoe, met acht regio's per voet.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klaar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Ethiek</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Centrale indiening bij de commissie van UZ Leuven en het FAGG in oktober. Uw lokale goedkeuring verwachten we tussen november en januari.</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okt</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Toestellen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drukmeetsystemen worden besteld. Zes tot acht weken levertijd, en ze moeten bij u staan vóór de opleidingsdag.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6-8 w</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Databank</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Eén centrale databank. U vult papier in, het studieteam voert in. Acceptatietest in december.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centraal</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Na de acceptatietest gaat de databank op slot. Alles wat daarna bij moet, is een amendement.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VAN HIER TOT UW EERSTE PATIËNT · VOORSTEL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stappen, vijf data</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okt – nov</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Lokale goedkeuring rond, drukmeetsysteem geleverd en getest.</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wo 2 dec</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Opleidingsdag bij u. Technologie in de voormiddag, gedrag in de namiddag.</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vr 15 jan</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Droogloop: de vier visitetypes op een verzonnen deelnemer, op uw toestellen.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februari</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Pilootpatiënt, met debriefing binnen de week.</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di 23 feb</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Go/No-Go. Daarna start de inclusie.</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VAN U NODIG HEBBEN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dingen, concreet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Drie zorgverleners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Podoloog, pedorthist en een arts. Twee moeten gecertificeerd zijn; de derde loopt mee, zodat één uitval het criterium niet doet kantelen.</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Vierentwintig deelnemers</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Twaalf in elke arm. Onder de twaalf per arm wordt het centrum onderbemand.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24</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looppad</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Tien meter volstaat. Extra apparatuur is niet nodig.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10 m</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back-up</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Eén zorgverlener met naam die invalt, en die de droogloop meedoet.</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Gegevensinvoer vragen we niet. U vult de papieren formulieren in, wij typen ze centraal over.</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26</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13</a:t>
            </a:r>
          </a:p>
        </p:txBody>
      </p:sp>
      <p:sp>
        <p:nvSpPr>
          <p:cNvPr id="18" name="TextBox 17"/>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2013;36(6):1613–8.</a:t>
            </a:r>
          </a:p>
        </p:txBody>
      </p:sp>
      <p:sp>
        <p:nvSpPr>
          <p:cNvPr id="19" name="TextBox 18"/>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0" name="TextBox 19"/>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1" name="TextBox 20"/>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2" name="TextBox 21"/>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3" name="TextBox 22"/>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4" name="TextBox 23"/>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5" name="TextBox 24"/>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26" name="TextBox 25"/>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27" name="TextBox 2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26</a:t>
            </a:r>
          </a:p>
        </p:txBody>
      </p:sp>
      <p:pic>
        <p:nvPicPr>
          <p:cNvPr id="2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