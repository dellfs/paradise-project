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PARADISE gaat niet over genezen maar over terugkomen. Zes Belgische voetklinieken, honderdvierenveertig patiënten, achttien maanden per patiënt. Ik neem u mee langs het waarom, de meting en het traject. Onderbreek me gerust.</a:t>
            </a:r>
          </a:p>
          <a:p/>
          <a:p>
            <a:r>
              <a:t>PRESENTATIETIP</a:t>
            </a:r>
          </a:p>
          <a:p>
            <a:r>
              <a:t>Het beeld draagt deze dia, dus de foto moet raak zijn. Zet hem in beeld\stock\, draai verwerk_stock.py, en vervang het kader met rechtsklik en Afbeelding wijzigen. Liggend, koele tonen, en rustig onderaan — daar staat de titel.</a:t>
            </a:r>
          </a:p>
          <a:p/>
          <a:p>
            <a:r>
              <a:t>INTERACTIE</a:t>
            </a:r>
          </a:p>
          <a:p>
            <a:r>
              <a:t>Laat de dia staan terwijl de zaal binnenkomt. Zeg pas iets als iedereen zit.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Veertig procent krijgt binnen één jaar een nieuw ulcus. Na vijf jaar is dat vijfenzestig. En de sterfte ligt tweeënhalf keer hoger dan bij diabetes zonder ulcus — na een amputatie zelfs boven de zeventig procent. Dit is geen wondprobleem. Dit is een overlevingsprobleem.</a:t>
            </a:r>
          </a:p>
          <a:p/>
          <a:p>
            <a:r>
              <a:t>PRESENTATIETIP</a:t>
            </a:r>
          </a:p>
          <a:p>
            <a:r>
              <a:t>Dit is het probleem waar de hele studie op staat. Eén dia, dan door.</a:t>
            </a:r>
          </a:p>
          <a:p/>
          <a:p>
            <a:r>
              <a:t>INTERACTIE</a:t>
            </a:r>
          </a:p>
          <a:p>
            <a:r>
              <a:t>Geen. Dit is context, geen discussie.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Diabetes doet drie dingen met een voet, en ze versterken elkaar. De druk op één plek loopt op, het gevoel verdwijnt, en daardoor wordt een wonde pas laat opgemerkt. Veertig procent krijgt binnen een jaar een nieuwe. Het goede nieuws is dat elk van die drie meetbaar is.</a:t>
            </a:r>
          </a:p>
          <a:p/>
          <a:p>
            <a:r>
              <a:t>PRESENTATIETIP</a:t>
            </a:r>
          </a:p>
          <a:p>
            <a:r>
              <a:t>Drie kaarten, drie zinnen. Niet meer. Het publiek moet het beeld onthouden, niet de cijfers.</a:t>
            </a:r>
          </a:p>
          <a:p/>
          <a:p>
            <a:r>
              <a:t>INTERACTIE</a:t>
            </a:r>
          </a:p>
          <a:p>
            <a:r>
              <a:t>Vraag wie ooit een blaar niet gevoeld heeft. Bijna iedereen herkent dat.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Wij meten voortaan wat tot nu toe geschat werd. Zes Belgische voetklinieken doen dit samen, en AZ Groeninge hier in Kortrijk is er een van. Per deelnemer loopt het achttien maanden. Ik zeg er meteen bij: de studie start nog, er zijn nog geen resultaten.</a:t>
            </a:r>
          </a:p>
          <a:p/>
          <a:p>
            <a:r>
              <a:t>PRESENTATIETIP</a:t>
            </a:r>
          </a:p>
          <a:p>
            <a:r>
              <a:t>Zeg uitdrukkelijk dat er nog geen resultaten zijn. Dat wekt meer vertrouwen dan een belofte.</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een gewone inlegzool met negenennegentig druksensoren erin. Ze gaat in uw eigen schoen, en een zendertje aan het onderbeen stuurt de metingen draadloos naar de laptop. Honderd metingen per seconde, terwijl u wandelt. Na één minuut weten we waar de druk te hoog oploopt.</a:t>
            </a:r>
          </a:p>
          <a:p/>
          <a:p>
            <a:r>
              <a:t>PRESENTATIETIP</a:t>
            </a:r>
          </a:p>
          <a:p>
            <a:r>
              <a:t>Houd een echte zool omhoog terwijl u dit zegt. Dat doet meer dan de dia.</a:t>
            </a:r>
          </a:p>
          <a:p/>
          <a:p>
            <a:r>
              <a:t>INTERACTIE</a:t>
            </a:r>
          </a:p>
          <a:p>
            <a:r>
              <a:t>Laat de zool rondgaan in de zaal.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Die metingen worden een kaart van uw voet, en rood is waar het misgaat. De norm is tweehonderd kilopascal, of een kwart lager dan zonder de zool. Haalt de zool dat niet, dan wordt hij bijgewerkt en opnieuw gemeten. Geen schatting dus, maar een cijfer waar u op kunt terugkomen.</a:t>
            </a:r>
          </a:p>
          <a:p/>
          <a:p>
            <a:r>
              <a:t>PRESENTATIETIP</a:t>
            </a:r>
          </a:p>
          <a:p>
            <a:r>
              <a:t>Dit is de kern van de dia ervoor, in vier stappen. Wijs ze aan terwijl u ze noemt.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 beste zool ter wereld doet niets in de kast. Net binnenshuis worden de meeste stappen gezet, en daar gaat de schoen het vaakst uit. Een sensor van negen bij dertien millimeter meet elk kwartier of de schoen gedragen wordt. Geen GPS, geen microfoon, geen camera — alleen temperatuur.</a:t>
            </a:r>
          </a:p>
          <a:p/>
          <a:p>
            <a:r>
              <a:t>PRESENTATIETIP</a:t>
            </a:r>
          </a:p>
          <a:p>
            <a:r>
              <a:t>Noem meteen wat de sensor níét doet. Dat is de eerste vraag die iemand stelt.</a:t>
            </a:r>
          </a:p>
          <a:p/>
          <a:p>
            <a:r>
              <a:t>INTERACTIE</a:t>
            </a:r>
          </a:p>
          <a:p>
            <a:r>
              <a:t>Vraag of iemand zich zou storen aan zo een sensor. Het antwoord verrast meestal.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Zo ziet dat eruit bij iemand zoals u of ik. Let op: dit is een verzonnen voorbeeld, geen echte patiënt. De druk bleek te hoog onder de bal van de voet, de zool werd bijgewerkt tot ze onder de norm zat, en daarna toonde de sensor dat hij thuis nog weinig gedragen werd. Daar ging het gesprek dan over.</a:t>
            </a:r>
          </a:p>
          <a:p/>
          <a:p>
            <a:r>
              <a:t>PRESENTATIETIP</a:t>
            </a:r>
          </a:p>
          <a:p>
            <a:r>
              <a:t>Zeg met zoveel woorden dat dit fictief is. Een publiek onthoudt een casus als waarheid als u dat niet doet.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richting waar het naartoe gaat, en ik zeg er eerlijk bij: nog niet waar we vandaag staan. Sensoren worden kleiner, analyse slimmer, en metingen gaan van af en toe naar continu. Het doel is het risico zien vóór de wonde er is.</a:t>
            </a:r>
          </a:p>
          <a:p/>
          <a:p>
            <a:r>
              <a:t>PRESENTATIETIP</a:t>
            </a:r>
          </a:p>
          <a:p>
            <a:r>
              <a:t>Blijf voorzichtig: dit is de richting, niet wat vandaag al kan.</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werkt alleen omdat onderzoek en kliniek aan dezelfde tafel zitten. KU Leuven Campus Brugge ontwerpt en analyseert, AZ Groeninge doet de zorg en de metingen. Zes voetklinieken in totaal. Wat in de studie werkt, kan daarna overal.</a:t>
            </a:r>
          </a:p>
          <a:p/>
          <a:p>
            <a:r>
              <a:t>PRESENTATIETIP</a:t>
            </a:r>
          </a:p>
          <a:p>
            <a:r>
              <a:t>Noem de mensen bij naam als er iemand van AZ Groeninge in de zaal zit. Dat maakt het concreet.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U kunt dit vandaag zelf voelen. Op de stand ligt een echte sensorzool van nog geen twee millimeter dik, en wie wil, wandelt tien meter met de zolen in de eigen schoenen en ziet meteen zijn eigen drukkaart. Kom langs, ook met de vraag of dit iets voor u is.</a:t>
            </a:r>
          </a:p>
          <a:p/>
          <a:p>
            <a:r>
              <a:t>PRESENTATIETIP</a:t>
            </a:r>
          </a:p>
          <a:p>
            <a:r>
              <a:t>Dit is de dia die mensen naar de stand brengt. Wijs aan waar u staat.</a:t>
            </a:r>
          </a:p>
          <a:p/>
          <a:p>
            <a:r>
              <a:t>INTERACTIE</a:t>
            </a:r>
          </a:p>
          <a:p>
            <a:r>
              <a:t>Vraag wie straks wil meten. Steek zelf uw hand 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Dank u wel. Als u één ding meeneemt: een wonde aan de voet is bij diabetes zelden toeval, en meestal te zien voor ze er is. Wij staan de hele dag op de stand — kom uw eigen drukkaart bekijken, of stel gewoon uw vraag. De QR-code brengt u naar de projectsite.</a:t>
            </a:r>
          </a:p>
          <a:p/>
          <a:p>
            <a:r>
              <a:t>PRESENTATIETIP</a:t>
            </a:r>
          </a:p>
          <a:p>
            <a:r>
              <a:t>Laat deze dia staan terwijl mensen naar de stand komen. Wijs de QR-code aan en zeg waar die naartoe gaat.</a:t>
            </a:r>
          </a:p>
          <a:p/>
          <a:p>
            <a:r>
              <a:t>INTERACTIE</a:t>
            </a:r>
          </a:p>
          <a:p>
            <a:r>
              <a:t>Nodig mensen uit om te komen meten. Noem het uur waarop u er staat.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Deze dia laat u staan tijdens de vragen. Alles wat u genoemd hebt, staat hier met nummer en citaat, in dezelfde nummering als het protocolmanuscript.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otokader" descr="plaatshouder.png"/>
          <p:cNvPicPr>
            <a:picLocks noChangeAspect="1"/>
          </p:cNvPicPr>
          <p:nvPr/>
        </p:nvPicPr>
        <p:blipFill>
          <a:blip r:embed="rId2"/>
          <a:stretch>
            <a:fillRect/>
          </a:stretch>
        </p:blipFill>
        <p:spPr>
          <a:xfrm>
            <a:off x="0" y="-380990"/>
            <a:ext cx="12191695" cy="7619809"/>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rk.png"/>
          <p:cNvPicPr>
            <a:picLocks noChangeAspect="1"/>
          </p:cNvPicPr>
          <p:nvPr/>
        </p:nvPicPr>
        <p:blipFill>
          <a:blip r:embed="rId3"/>
          <a:stretch>
            <a:fillRect/>
          </a:stretch>
        </p:blipFill>
        <p:spPr>
          <a:xfrm>
            <a:off x="647087" y="609584"/>
            <a:ext cx="801273" cy="927076"/>
          </a:xfrm>
          <a:prstGeom prst="rect">
            <a:avLst/>
          </a:prstGeom>
        </p:spPr>
      </p:pic>
      <p:sp>
        <p:nvSpPr>
          <p:cNvPr id="6" name="hero"/>
          <p:cNvSpPr txBox="1"/>
          <p:nvPr/>
        </p:nvSpPr>
        <p:spPr>
          <a:xfrm>
            <a:off x="634984" y="3848003"/>
            <a:ext cx="8889777" cy="1650958"/>
          </a:xfrm>
          <a:prstGeom prst="rect">
            <a:avLst/>
          </a:prstGeom>
          <a:noFill/>
        </p:spPr>
        <p:txBody>
          <a:bodyPr wrap="none" anchor="t" lIns="0" rIns="0" tIns="0" bIns="0">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anchor="t" lIns="0" rIns="0" tIns="0" bIns="0">
            <a:spAutoFit/>
          </a:bodyPr>
          <a:lstStyle/>
          <a:p>
            <a:pPr algn="l">
              <a:lnSpc>
                <a:spcPct val="125000"/>
              </a:lnSpc>
            </a:pPr>
            <a:r>
              <a:rPr sz="2800" b="1">
                <a:solidFill>
                  <a:srgbClr val="52BDEC"/>
                </a:solidFill>
                <a:latin typeface="Segoe UI"/>
              </a:rPr>
              <a:t>Kortrijk Kerngezond 2026 · voetgezondheid en zorgtechnologie</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leuven.png"/>
          <p:cNvPicPr>
            <a:picLocks noChangeAspect="1"/>
          </p:cNvPicPr>
          <p:nvPr/>
        </p:nvPicPr>
        <p:blipFill>
          <a:blip r:embed="rId4"/>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ub.png"/>
          <p:cNvPicPr>
            <a:picLocks noChangeAspect="1"/>
          </p:cNvPicPr>
          <p:nvPr/>
        </p:nvPicPr>
        <p:blipFill>
          <a:blip r:embed="rId5"/>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anchor="t" lIns="0" rIns="0" tIns="0" bIns="0">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anchor="t" lIns="0" rIns="0" tIns="0" bIns="0">
            <a:spAutoFit/>
          </a:bodyPr>
          <a:lstStyle/>
          <a:p>
            <a:pPr algn="r">
              <a:lnSpc>
                <a:spcPct val="125000"/>
              </a:lnSpc>
            </a:pPr>
            <a:r>
              <a:rPr sz="1100" b="0">
                <a:solidFill>
                  <a:srgbClr val="8FB6D0"/>
                </a:solidFill>
                <a:latin typeface="Consolas"/>
              </a:rPr>
              <a:t>Protocolversie 1.0 · 17 mei 2026 · S71769</a:t>
            </a:r>
          </a:p>
        </p:txBody>
      </p:sp>
    </p:spTree>
  </p:cSld>
  <p:clrMapOvr>
    <a:masterClrMapping/>
  </p:clrMapOvr>
  <p:transition xmlns:p14="http://schemas.microsoft.com/office/powerpoint/2010/main" spd="slow" p14:dur="9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krijgt binnen een jaar</a:t>
            </a:r>
          </a:p>
          <a:p>
            <a:pPr algn="l">
              <a:lnSpc>
                <a:spcPct val="120000"/>
              </a:lnSpc>
              <a:spcBef>
                <a:spcPts val="500"/>
              </a:spcBef>
            </a:pPr>
            <a:r>
              <a:rPr sz="3200" b="1">
                <a:solidFill>
                  <a:srgbClr val="F2F8FC"/>
                </a:solidFill>
                <a:latin typeface="Segoe UI"/>
              </a:rPr>
              <a:t>een nieuw ulcus</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758" y="1320766"/>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NA VIJF JAAR</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758" y="2692332"/>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HOGERE STERFTE</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758" y="4063898"/>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STERFTE NA AMPUTATIE</a:t>
            </a:r>
          </a:p>
        </p:txBody>
      </p:sp>
      <p:sp>
        <p:nvSpPr>
          <p:cNvPr id="16" name="TextBox 15"/>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13</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DIABETES MET EEN VOET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dingen tegelijk</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laatshouder.png"/>
          <p:cNvPicPr>
            <a:picLocks noChangeAspect="1"/>
          </p:cNvPicPr>
          <p:nvPr/>
        </p:nvPicPr>
        <p:blipFill>
          <a:blip r:embed="rId2"/>
          <a:stretch>
            <a:fillRect/>
          </a:stretch>
        </p:blipFill>
        <p:spPr>
          <a:xfrm>
            <a:off x="1996326" y="2184345"/>
            <a:ext cx="2661853"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De druk stijgt</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BELASTING</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200  kPa is de grens</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MEETBAAR</a:t>
            </a:r>
          </a:p>
        </p:txBody>
      </p:sp>
      <p:sp>
        <p:nvSpPr>
          <p:cNvPr id="11" name="TextBox 10"/>
          <p:cNvSpPr txBox="1"/>
          <p:nvPr/>
        </p:nvSpPr>
        <p:spPr>
          <a:xfrm>
            <a:off x="3479713" y="3975000"/>
            <a:ext cx="2260416" cy="1777955"/>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Een stijve voet verdeelt het gewicht slechter.</a:t>
            </a:r>
          </a:p>
          <a:p>
            <a:pPr algn="l">
              <a:lnSpc>
                <a:spcPct val="130000"/>
              </a:lnSpc>
              <a:spcBef>
                <a:spcPts val="1000"/>
              </a:spcBef>
            </a:pPr>
            <a:r>
              <a:rPr sz="1450" b="0">
                <a:solidFill>
                  <a:srgbClr val="8FB6D0"/>
                </a:solidFill>
                <a:latin typeface="Segoe UI"/>
              </a:rPr>
              <a:t>Op één plek kan de druk oplopen tot ver boven wat de huid verdraagt.</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215894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laatshouder.png"/>
          <p:cNvPicPr>
            <a:picLocks noChangeAspect="1"/>
          </p:cNvPicPr>
          <p:nvPr/>
        </p:nvPicPr>
        <p:blipFill>
          <a:blip r:embed="rId2"/>
          <a:stretch>
            <a:fillRect/>
          </a:stretch>
        </p:blipFill>
        <p:spPr>
          <a:xfrm>
            <a:off x="6400512" y="2300229"/>
            <a:ext cx="2006549" cy="1254093"/>
          </a:xfrm>
          <a:prstGeom prst="rect">
            <a:avLst/>
          </a:prstGeom>
        </p:spPr>
      </p:pic>
      <p:sp>
        <p:nvSpPr>
          <p:cNvPr id="15" name="TextBox 14"/>
          <p:cNvSpPr txBox="1"/>
          <p:nvPr/>
        </p:nvSpPr>
        <p:spPr>
          <a:xfrm>
            <a:off x="8711855" y="2158946"/>
            <a:ext cx="2666933"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Het gevoel verdwijnt</a:t>
            </a:r>
          </a:p>
        </p:txBody>
      </p:sp>
      <p:sp>
        <p:nvSpPr>
          <p:cNvPr id="16" name="TextBox 15"/>
          <p:cNvSpPr txBox="1"/>
          <p:nvPr/>
        </p:nvSpPr>
        <p:spPr>
          <a:xfrm>
            <a:off x="8724554" y="2527236"/>
            <a:ext cx="2666933"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ZENUWEN</a:t>
            </a:r>
          </a:p>
        </p:txBody>
      </p:sp>
      <p:sp>
        <p:nvSpPr>
          <p:cNvPr id="17" name="TextBox 16"/>
          <p:cNvSpPr txBox="1"/>
          <p:nvPr/>
        </p:nvSpPr>
        <p:spPr>
          <a:xfrm>
            <a:off x="8711855" y="2730431"/>
            <a:ext cx="2666933"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0  pijnsignaal</a:t>
            </a:r>
          </a:p>
        </p:txBody>
      </p:sp>
      <p:sp>
        <p:nvSpPr>
          <p:cNvPr id="18" name="TextBox 17"/>
          <p:cNvSpPr txBox="1"/>
          <p:nvPr/>
        </p:nvSpPr>
        <p:spPr>
          <a:xfrm>
            <a:off x="8711855" y="3073323"/>
            <a:ext cx="2590608" cy="571485"/>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Zenuwschade neemt de waarschuwing weg.</a:t>
            </a:r>
          </a:p>
          <a:p>
            <a:pPr algn="l">
              <a:lnSpc>
                <a:spcPct val="128000"/>
              </a:lnSpc>
              <a:spcBef>
                <a:spcPts val="600"/>
              </a:spcBef>
            </a:pPr>
            <a:r>
              <a:rPr sz="1400" b="0">
                <a:solidFill>
                  <a:srgbClr val="8FB6D0"/>
                </a:solidFill>
                <a:latin typeface="Segoe UI"/>
              </a:rPr>
              <a:t>Een wonde doet geen pijn, dus je loopt erop door.</a:t>
            </a:r>
          </a:p>
        </p:txBody>
      </p:sp>
      <p:sp>
        <p:nvSpPr>
          <p:cNvPr id="19" name="TextBox 18"/>
          <p:cNvSpPr txBox="1"/>
          <p:nvPr/>
        </p:nvSpPr>
        <p:spPr>
          <a:xfrm>
            <a:off x="8711855" y="3644808"/>
            <a:ext cx="2666933"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ONZICHTBAAR</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215894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laatshouder.png"/>
          <p:cNvPicPr>
            <a:picLocks noChangeAspect="1"/>
          </p:cNvPicPr>
          <p:nvPr/>
        </p:nvPicPr>
        <p:blipFill>
          <a:blip r:embed="rId2"/>
          <a:stretch>
            <a:fillRect/>
          </a:stretch>
        </p:blipFill>
        <p:spPr>
          <a:xfrm>
            <a:off x="6400512" y="4382977"/>
            <a:ext cx="2006549" cy="1254093"/>
          </a:xfrm>
          <a:prstGeom prst="rect">
            <a:avLst/>
          </a:prstGeom>
        </p:spPr>
      </p:pic>
      <p:sp>
        <p:nvSpPr>
          <p:cNvPr id="23" name="TextBox 22"/>
          <p:cNvSpPr txBox="1"/>
          <p:nvPr/>
        </p:nvSpPr>
        <p:spPr>
          <a:xfrm>
            <a:off x="8711855" y="4241693"/>
            <a:ext cx="2666933"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Het wordt laat ontdekt</a:t>
            </a:r>
          </a:p>
        </p:txBody>
      </p:sp>
      <p:sp>
        <p:nvSpPr>
          <p:cNvPr id="24" name="TextBox 23"/>
          <p:cNvSpPr txBox="1"/>
          <p:nvPr/>
        </p:nvSpPr>
        <p:spPr>
          <a:xfrm>
            <a:off x="8724554" y="4609984"/>
            <a:ext cx="2666933"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TIJD</a:t>
            </a:r>
          </a:p>
        </p:txBody>
      </p:sp>
      <p:sp>
        <p:nvSpPr>
          <p:cNvPr id="25" name="TextBox 24"/>
          <p:cNvSpPr txBox="1"/>
          <p:nvPr/>
        </p:nvSpPr>
        <p:spPr>
          <a:xfrm>
            <a:off x="8711855" y="4813179"/>
            <a:ext cx="2666933"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40  % opnieuw binnen een jaar</a:t>
            </a:r>
          </a:p>
        </p:txBody>
      </p:sp>
      <p:sp>
        <p:nvSpPr>
          <p:cNvPr id="26" name="TextBox 25"/>
          <p:cNvSpPr txBox="1"/>
          <p:nvPr/>
        </p:nvSpPr>
        <p:spPr>
          <a:xfrm>
            <a:off x="8711855" y="5156071"/>
            <a:ext cx="2590608" cy="571485"/>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Een genezen wonde komt vaak terug.</a:t>
            </a:r>
          </a:p>
          <a:p>
            <a:pPr algn="l">
              <a:lnSpc>
                <a:spcPct val="128000"/>
              </a:lnSpc>
              <a:spcBef>
                <a:spcPts val="600"/>
              </a:spcBef>
            </a:pPr>
            <a:r>
              <a:rPr sz="1400" b="0">
                <a:solidFill>
                  <a:srgbClr val="8FB6D0"/>
                </a:solidFill>
                <a:latin typeface="Segoe UI"/>
              </a:rPr>
              <a:t>Wie het vroeg ziet, kan het keren.</a:t>
            </a:r>
          </a:p>
        </p:txBody>
      </p:sp>
      <p:sp>
        <p:nvSpPr>
          <p:cNvPr id="27" name="TextBox 26"/>
          <p:cNvSpPr txBox="1"/>
          <p:nvPr/>
        </p:nvSpPr>
        <p:spPr>
          <a:xfrm>
            <a:off x="8711855" y="5727556"/>
            <a:ext cx="2666933"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TE VOORKOMEN</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03 / 13</a:t>
            </a:r>
          </a:p>
        </p:txBody>
      </p:sp>
      <p:pic>
        <p:nvPicPr>
          <p:cNvPr id="29"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FF7A00"/>
                </a:solidFill>
                <a:latin typeface="Consolas"/>
              </a:rPr>
              <a:t>HET ONDERZOEK</a:t>
            </a:r>
          </a:p>
        </p:txBody>
      </p:sp>
      <p:sp>
        <p:nvSpPr>
          <p:cNvPr id="4" name="hero"/>
          <p:cNvSpPr txBox="1"/>
          <p:nvPr/>
        </p:nvSpPr>
        <p:spPr>
          <a:xfrm>
            <a:off x="634984" y="1066773"/>
            <a:ext cx="6857828" cy="2539936"/>
          </a:xfrm>
          <a:prstGeom prst="rect">
            <a:avLst/>
          </a:prstGeom>
          <a:noFill/>
        </p:spPr>
        <p:txBody>
          <a:bodyPr wrap="square" anchor="t" lIns="0" rIns="0" tIns="0" bIns="0">
            <a:spAutoFit/>
          </a:bodyPr>
          <a:lstStyle/>
          <a:p>
            <a:pPr algn="l">
              <a:lnSpc>
                <a:spcPct val="108000"/>
              </a:lnSpc>
            </a:pPr>
            <a:r>
              <a:rPr sz="5400" b="1">
                <a:solidFill>
                  <a:srgbClr val="F2F8FC"/>
                </a:solidFill>
                <a:latin typeface="Segoe UI"/>
              </a:rPr>
              <a:t>PARADISE meet</a:t>
            </a:r>
          </a:p>
          <a:p>
            <a:pPr algn="l">
              <a:lnSpc>
                <a:spcPct val="108000"/>
              </a:lnSpc>
              <a:spcBef>
                <a:spcPts val="500"/>
              </a:spcBef>
            </a:pPr>
            <a:r>
              <a:rPr sz="5400" b="1">
                <a:solidFill>
                  <a:srgbClr val="F2F8FC"/>
                </a:solidFill>
                <a:latin typeface="Segoe UI"/>
              </a:rPr>
              <a:t>wat tot nu toe</a:t>
            </a:r>
          </a:p>
          <a:p>
            <a:pPr algn="l">
              <a:lnSpc>
                <a:spcPct val="108000"/>
              </a:lnSpc>
              <a:spcBef>
                <a:spcPts val="500"/>
              </a:spcBef>
            </a:pPr>
            <a:r>
              <a:rPr sz="5400" b="1">
                <a:solidFill>
                  <a:srgbClr val="F2F8FC"/>
                </a:solidFill>
                <a:latin typeface="Segoe UI"/>
              </a:rPr>
              <a:t>geschat werd</a:t>
            </a:r>
          </a:p>
        </p:txBody>
      </p:sp>
      <p:sp>
        <p:nvSpPr>
          <p:cNvPr id="5" name="Rounded Rectangle 4"/>
          <p:cNvSpPr/>
          <p:nvPr/>
        </p:nvSpPr>
        <p:spPr>
          <a:xfrm>
            <a:off x="634984" y="4101997"/>
            <a:ext cx="6857828" cy="154936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77" y="4381390"/>
            <a:ext cx="6349841" cy="1206469"/>
          </a:xfrm>
          <a:prstGeom prst="rect">
            <a:avLst/>
          </a:prstGeom>
          <a:noFill/>
        </p:spPr>
        <p:txBody>
          <a:bodyPr wrap="square" anchor="t" lIns="0" rIns="0" tIns="0" bIns="0">
            <a:spAutoFit/>
          </a:bodyPr>
          <a:lstStyle/>
          <a:p>
            <a:pPr algn="l">
              <a:lnSpc>
                <a:spcPct val="145000"/>
              </a:lnSpc>
            </a:pPr>
            <a:r>
              <a:rPr sz="1750" b="0">
                <a:solidFill>
                  <a:srgbClr val="8FB6D0"/>
                </a:solidFill>
                <a:latin typeface="Segoe UI"/>
              </a:rPr>
              <a:t>Zes Belgische voetklinieken onderzoeken samen of een zool die meetbaar ontlast, én die ook echt gedragen wordt, nieuwe wonden voorkomt. AZ Groeninge in Kortrijk is een van die zes. De studie loopt achttien maanden per deelnemer.</a:t>
            </a:r>
          </a:p>
        </p:txBody>
      </p:sp>
      <p:sp>
        <p:nvSpPr>
          <p:cNvPr id="7" name="Rounded Rectangle 6"/>
          <p:cNvSpPr/>
          <p:nvPr/>
        </p:nvSpPr>
        <p:spPr>
          <a:xfrm>
            <a:off x="7873803" y="2031949"/>
            <a:ext cx="3682907" cy="3517812"/>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78595" y="2324041"/>
            <a:ext cx="3111422" cy="241293"/>
          </a:xfrm>
          <a:prstGeom prst="rect">
            <a:avLst/>
          </a:prstGeom>
          <a:noFill/>
        </p:spPr>
        <p:txBody>
          <a:bodyPr wrap="square" anchor="t" lIns="0" rIns="0" tIns="0" bIns="0">
            <a:spAutoFit/>
          </a:bodyPr>
          <a:lstStyle/>
          <a:p>
            <a:pPr algn="l">
              <a:lnSpc>
                <a:spcPct val="125000"/>
              </a:lnSpc>
            </a:pPr>
            <a:r>
              <a:rPr sz="1250" b="1" spc="160">
                <a:solidFill>
                  <a:srgbClr val="FF7A00"/>
                </a:solidFill>
                <a:latin typeface="Consolas"/>
              </a:rPr>
              <a:t>UITZONDERING</a:t>
            </a:r>
          </a:p>
        </p:txBody>
      </p:sp>
      <p:sp>
        <p:nvSpPr>
          <p:cNvPr id="9" name="TextBox 8"/>
          <p:cNvSpPr txBox="1"/>
          <p:nvPr/>
        </p:nvSpPr>
        <p:spPr>
          <a:xfrm>
            <a:off x="8178595" y="2730431"/>
            <a:ext cx="3111422" cy="2539936"/>
          </a:xfrm>
          <a:prstGeom prst="rect">
            <a:avLst/>
          </a:prstGeom>
          <a:noFill/>
        </p:spPr>
        <p:txBody>
          <a:bodyPr wrap="square" anchor="t" lIns="0" rIns="0" tIns="0" bIns="0">
            <a:spAutoFit/>
          </a:bodyPr>
          <a:lstStyle/>
          <a:p>
            <a:pPr algn="l">
              <a:lnSpc>
                <a:spcPct val="145000"/>
              </a:lnSpc>
            </a:pPr>
            <a:r>
              <a:rPr sz="1800" b="0">
                <a:solidFill>
                  <a:srgbClr val="F2F8FC"/>
                </a:solidFill>
                <a:latin typeface="Segoe UI"/>
              </a:rPr>
              <a:t>De studie start binnenkort. Er zijn nog geen resultaten — wat u vandaag ziet, is de techniek en de aanpak.</a:t>
            </a:r>
          </a:p>
        </p:txBody>
      </p:sp>
      <p:sp>
        <p:nvSpPr>
          <p:cNvPr id="10" name="TextBox 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13</a:t>
            </a:r>
          </a:p>
        </p:txBody>
      </p:sp>
      <p:pic>
        <p:nvPicPr>
          <p:cNvPr id="11"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TECHNIEK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Een zool die meet terwijl u stapt</a:t>
            </a:r>
          </a:p>
        </p:txBody>
      </p:sp>
      <p:sp>
        <p:nvSpPr>
          <p:cNvPr id="5" name="Rounded Rectangle 4"/>
          <p:cNvSpPr/>
          <p:nvPr/>
        </p:nvSpPr>
        <p:spPr>
          <a:xfrm>
            <a:off x="634984" y="2031949"/>
            <a:ext cx="5384538" cy="364480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Wat het is</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99 sensoren per voet</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Een flinterdunne inlegzool met druksensoren.</a:t>
            </a:r>
          </a:p>
          <a:p>
            <a:pPr algn="l">
              <a:lnSpc>
                <a:spcPct val="132000"/>
              </a:lnSpc>
              <a:spcBef>
                <a:spcPts val="1200"/>
              </a:spcBef>
            </a:pPr>
            <a:r>
              <a:rPr sz="1450" b="0">
                <a:solidFill>
                  <a:srgbClr val="8FB6D0"/>
                </a:solidFill>
                <a:latin typeface="Segoe UI"/>
              </a:rPr>
              <a:t>Ze gaat gewoon in uw eigen schoen.</a:t>
            </a:r>
          </a:p>
          <a:p>
            <a:pPr algn="l">
              <a:lnSpc>
                <a:spcPct val="132000"/>
              </a:lnSpc>
              <a:spcBef>
                <a:spcPts val="1200"/>
              </a:spcBef>
            </a:pPr>
            <a:r>
              <a:rPr sz="1450" b="0">
                <a:solidFill>
                  <a:srgbClr val="8FB6D0"/>
                </a:solidFill>
                <a:latin typeface="Segoe UI"/>
              </a:rPr>
              <a:t>Een zendertje aan het onderbeen stuurt de gegevens draadloos door.</a:t>
            </a:r>
          </a:p>
        </p:txBody>
      </p:sp>
      <p:sp>
        <p:nvSpPr>
          <p:cNvPr id="11" name="Rounded Rectangle 10"/>
          <p:cNvSpPr/>
          <p:nvPr/>
        </p:nvSpPr>
        <p:spPr>
          <a:xfrm>
            <a:off x="6171918" y="2031949"/>
            <a:ext cx="5384538" cy="364480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Hoe het werkt</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100 metingen per seconde</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U wandelt tien meter, heen en weer.</a:t>
            </a:r>
          </a:p>
          <a:p>
            <a:pPr algn="l">
              <a:lnSpc>
                <a:spcPct val="132000"/>
              </a:lnSpc>
              <a:spcBef>
                <a:spcPts val="1200"/>
              </a:spcBef>
            </a:pPr>
            <a:r>
              <a:rPr sz="1450" b="0">
                <a:solidFill>
                  <a:srgbClr val="8FB6D0"/>
                </a:solidFill>
                <a:latin typeface="Segoe UI"/>
              </a:rPr>
              <a:t>Elke stap wordt opgemeten.</a:t>
            </a:r>
          </a:p>
          <a:p>
            <a:pPr algn="l">
              <a:lnSpc>
                <a:spcPct val="132000"/>
              </a:lnSpc>
              <a:spcBef>
                <a:spcPts val="1200"/>
              </a:spcBef>
            </a:pPr>
            <a:r>
              <a:rPr sz="1450" b="0">
                <a:solidFill>
                  <a:srgbClr val="8FB6D0"/>
                </a:solidFill>
                <a:latin typeface="Segoe UI"/>
              </a:rPr>
              <a:t>Na een minuut weet de zorgverlener waar de druk te hoog oploopt.</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05 / 13</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WAAROM HET ERTOE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Van meting naar maatwerk</a:t>
            </a:r>
          </a:p>
        </p:txBody>
      </p:sp>
      <p:sp>
        <p:nvSpPr>
          <p:cNvPr id="5" name="Rectangle 4"/>
          <p:cNvSpPr/>
          <p:nvPr/>
        </p:nvSpPr>
        <p:spPr>
          <a:xfrm>
            <a:off x="634984" y="193035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46246"/>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De kaart</a:t>
            </a:r>
          </a:p>
        </p:txBody>
      </p:sp>
      <p:sp>
        <p:nvSpPr>
          <p:cNvPr id="7" name="Oval 6"/>
          <p:cNvSpPr/>
          <p:nvPr/>
        </p:nvSpPr>
        <p:spPr>
          <a:xfrm>
            <a:off x="3555911"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006"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Elke sensor geeft een cijfer</a:t>
            </a:r>
          </a:p>
        </p:txBody>
      </p:sp>
      <p:sp>
        <p:nvSpPr>
          <p:cNvPr id="9" name="Oval 8"/>
          <p:cNvSpPr/>
          <p:nvPr/>
        </p:nvSpPr>
        <p:spPr>
          <a:xfrm>
            <a:off x="6273643"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739"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Samen een drukkaart van de voet</a:t>
            </a:r>
          </a:p>
        </p:txBody>
      </p:sp>
      <p:sp>
        <p:nvSpPr>
          <p:cNvPr id="11" name="Oval 10"/>
          <p:cNvSpPr/>
          <p:nvPr/>
        </p:nvSpPr>
        <p:spPr>
          <a:xfrm>
            <a:off x="8991375"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6471"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Rood is waar het misgaat</a:t>
            </a:r>
          </a:p>
        </p:txBody>
      </p:sp>
      <p:sp>
        <p:nvSpPr>
          <p:cNvPr id="13" name="Rectangle 12"/>
          <p:cNvSpPr/>
          <p:nvPr/>
        </p:nvSpPr>
        <p:spPr>
          <a:xfrm>
            <a:off x="634984" y="297172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187620"/>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De norm</a:t>
            </a:r>
          </a:p>
        </p:txBody>
      </p:sp>
      <p:sp>
        <p:nvSpPr>
          <p:cNvPr id="15" name="Oval 14"/>
          <p:cNvSpPr/>
          <p:nvPr/>
        </p:nvSpPr>
        <p:spPr>
          <a:xfrm>
            <a:off x="3555911"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006"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Onder 200 kPa met de zool</a:t>
            </a:r>
          </a:p>
        </p:txBody>
      </p:sp>
      <p:sp>
        <p:nvSpPr>
          <p:cNvPr id="17" name="Oval 16"/>
          <p:cNvSpPr/>
          <p:nvPr/>
        </p:nvSpPr>
        <p:spPr>
          <a:xfrm>
            <a:off x="6273643"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739"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Of een kwart lager dan zonder</a:t>
            </a:r>
          </a:p>
        </p:txBody>
      </p:sp>
      <p:sp>
        <p:nvSpPr>
          <p:cNvPr id="19" name="Oval 18"/>
          <p:cNvSpPr/>
          <p:nvPr/>
        </p:nvSpPr>
        <p:spPr>
          <a:xfrm>
            <a:off x="8991375"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56471"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Gemeten in dezelfde sessie</a:t>
            </a:r>
          </a:p>
        </p:txBody>
      </p:sp>
      <p:sp>
        <p:nvSpPr>
          <p:cNvPr id="21" name="Rectangle 20"/>
          <p:cNvSpPr/>
          <p:nvPr/>
        </p:nvSpPr>
        <p:spPr>
          <a:xfrm>
            <a:off x="634984" y="401309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228994"/>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De aanpassing</a:t>
            </a:r>
          </a:p>
        </p:txBody>
      </p:sp>
      <p:sp>
        <p:nvSpPr>
          <p:cNvPr id="23" name="Oval 22"/>
          <p:cNvSpPr/>
          <p:nvPr/>
        </p:nvSpPr>
        <p:spPr>
          <a:xfrm>
            <a:off x="3555911"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006"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De zool wordt bijgewerkt</a:t>
            </a:r>
          </a:p>
        </p:txBody>
      </p:sp>
      <p:sp>
        <p:nvSpPr>
          <p:cNvPr id="25" name="Oval 24"/>
          <p:cNvSpPr/>
          <p:nvPr/>
        </p:nvSpPr>
        <p:spPr>
          <a:xfrm>
            <a:off x="6273643"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39"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Opnieuw meten, tot het klopt</a:t>
            </a:r>
          </a:p>
        </p:txBody>
      </p:sp>
      <p:sp>
        <p:nvSpPr>
          <p:cNvPr id="27" name="Oval 26"/>
          <p:cNvSpPr/>
          <p:nvPr/>
        </p:nvSpPr>
        <p:spPr>
          <a:xfrm>
            <a:off x="8991375"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6471"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Geen schatting, een cijfer</a:t>
            </a:r>
          </a:p>
        </p:txBody>
      </p:sp>
      <p:sp>
        <p:nvSpPr>
          <p:cNvPr id="29" name="Rectangle 28"/>
          <p:cNvSpPr/>
          <p:nvPr/>
        </p:nvSpPr>
        <p:spPr>
          <a:xfrm>
            <a:off x="634984" y="505447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984" y="5270368"/>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De opvolging</a:t>
            </a:r>
          </a:p>
        </p:txBody>
      </p:sp>
      <p:sp>
        <p:nvSpPr>
          <p:cNvPr id="31" name="Oval 30"/>
          <p:cNvSpPr/>
          <p:nvPr/>
        </p:nvSpPr>
        <p:spPr>
          <a:xfrm>
            <a:off x="3555911"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21006"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Opnieuw op maand 6, 12 en 18</a:t>
            </a:r>
          </a:p>
        </p:txBody>
      </p:sp>
      <p:sp>
        <p:nvSpPr>
          <p:cNvPr id="33" name="Oval 32"/>
          <p:cNvSpPr/>
          <p:nvPr/>
        </p:nvSpPr>
        <p:spPr>
          <a:xfrm>
            <a:off x="6273643"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8739"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Een zool slijt</a:t>
            </a:r>
          </a:p>
        </p:txBody>
      </p:sp>
      <p:sp>
        <p:nvSpPr>
          <p:cNvPr id="35" name="Oval 34"/>
          <p:cNvSpPr/>
          <p:nvPr/>
        </p:nvSpPr>
        <p:spPr>
          <a:xfrm>
            <a:off x="8991375"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6471"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Wat ontlastte, moet blijven ontlasten</a:t>
            </a:r>
          </a:p>
        </p:txBody>
      </p:sp>
      <p:sp>
        <p:nvSpPr>
          <p:cNvPr id="37" name="Rectangle 36"/>
          <p:cNvSpPr/>
          <p:nvPr/>
        </p:nvSpPr>
        <p:spPr>
          <a:xfrm>
            <a:off x="634984" y="609584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06 / 13</a:t>
            </a:r>
          </a:p>
        </p:txBody>
      </p:sp>
      <p:pic>
        <p:nvPicPr>
          <p:cNvPr id="39"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TWEEDE HELFT VAN HET VERHAAL</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Een goede zool helpt alleen als hij aan staat</a:t>
            </a:r>
          </a:p>
        </p:txBody>
      </p:sp>
      <p:sp>
        <p:nvSpPr>
          <p:cNvPr id="5" name="Rounded Rectangle 4"/>
          <p:cNvSpPr/>
          <p:nvPr/>
        </p:nvSpPr>
        <p:spPr>
          <a:xfrm>
            <a:off x="634984" y="2031949"/>
            <a:ext cx="5384538" cy="364480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Het probleem</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Thuis gaat de schoen uit</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Net binnenshuis worden de meeste stappen gezet.</a:t>
            </a:r>
          </a:p>
          <a:p>
            <a:pPr algn="l">
              <a:lnSpc>
                <a:spcPct val="132000"/>
              </a:lnSpc>
              <a:spcBef>
                <a:spcPts val="1200"/>
              </a:spcBef>
            </a:pPr>
            <a:r>
              <a:rPr sz="1450" b="0">
                <a:solidFill>
                  <a:srgbClr val="8FB6D0"/>
                </a:solidFill>
                <a:latin typeface="Segoe UI"/>
              </a:rPr>
              <a:t>Precies daar wordt het schoeisel het minst gedragen.</a:t>
            </a:r>
          </a:p>
          <a:p>
            <a:pPr algn="l">
              <a:lnSpc>
                <a:spcPct val="132000"/>
              </a:lnSpc>
              <a:spcBef>
                <a:spcPts val="1200"/>
              </a:spcBef>
            </a:pPr>
            <a:r>
              <a:rPr sz="1450" b="0">
                <a:solidFill>
                  <a:srgbClr val="8FB6D0"/>
                </a:solidFill>
                <a:latin typeface="Segoe UI"/>
              </a:rPr>
              <a:t>Vragen hoe vaak iemand hem draagt, levert geen betrouwbaar antwoord.</a:t>
            </a:r>
          </a:p>
        </p:txBody>
      </p:sp>
      <p:sp>
        <p:nvSpPr>
          <p:cNvPr id="11" name="Rounded Rectangle 10"/>
          <p:cNvSpPr/>
          <p:nvPr/>
        </p:nvSpPr>
        <p:spPr>
          <a:xfrm>
            <a:off x="6171918" y="2031949"/>
            <a:ext cx="5384538" cy="364480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De oplossing</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Een sensor in de zool</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Een temperatuursensor van 9 bij 13 millimeter.</a:t>
            </a:r>
          </a:p>
          <a:p>
            <a:pPr algn="l">
              <a:lnSpc>
                <a:spcPct val="132000"/>
              </a:lnSpc>
              <a:spcBef>
                <a:spcPts val="1200"/>
              </a:spcBef>
            </a:pPr>
            <a:r>
              <a:rPr sz="1450" b="0">
                <a:solidFill>
                  <a:srgbClr val="8FB6D0"/>
                </a:solidFill>
                <a:latin typeface="Segoe UI"/>
              </a:rPr>
              <a:t>Hij meet elk kwartier of de schoen gedragen wordt.</a:t>
            </a:r>
          </a:p>
          <a:p>
            <a:pPr algn="l">
              <a:lnSpc>
                <a:spcPct val="132000"/>
              </a:lnSpc>
              <a:spcBef>
                <a:spcPts val="1200"/>
              </a:spcBef>
            </a:pPr>
            <a:r>
              <a:rPr sz="1450" b="0">
                <a:solidFill>
                  <a:srgbClr val="8FB6D0"/>
                </a:solidFill>
                <a:latin typeface="Segoe UI"/>
              </a:rPr>
              <a:t>Geen GPS, geen microfoon, geen camera.</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07 / 13</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EEN VOORBEELD</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Hoe dat er in de praktijk uitziet</a:t>
            </a:r>
          </a:p>
        </p:txBody>
      </p:sp>
      <p:sp>
        <p:nvSpPr>
          <p:cNvPr id="5" name="Rectangle 4"/>
          <p:cNvSpPr/>
          <p:nvPr/>
        </p:nvSpPr>
        <p:spPr>
          <a:xfrm>
            <a:off x="634984" y="1993850"/>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58946"/>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De situatie</a:t>
            </a:r>
          </a:p>
        </p:txBody>
      </p:sp>
      <p:sp>
        <p:nvSpPr>
          <p:cNvPr id="7" name="TextBox 6"/>
          <p:cNvSpPr txBox="1"/>
          <p:nvPr/>
        </p:nvSpPr>
        <p:spPr>
          <a:xfrm>
            <a:off x="647683" y="2476438"/>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Een man van 62, diabetes, vorig jaar een wonde onder de bal van de voet die genezen is</a:t>
            </a:r>
          </a:p>
        </p:txBody>
      </p:sp>
      <p:sp>
        <p:nvSpPr>
          <p:cNvPr id="8" name="Rectangle 7"/>
          <p:cNvSpPr/>
          <p:nvPr/>
        </p:nvSpPr>
        <p:spPr>
          <a:xfrm>
            <a:off x="634984" y="2959026"/>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984" y="3124121"/>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De meting</a:t>
            </a:r>
          </a:p>
        </p:txBody>
      </p:sp>
      <p:sp>
        <p:nvSpPr>
          <p:cNvPr id="10" name="TextBox 9"/>
          <p:cNvSpPr txBox="1"/>
          <p:nvPr/>
        </p:nvSpPr>
        <p:spPr>
          <a:xfrm>
            <a:off x="647683" y="3441613"/>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In de schoen zonder zool loopt de druk daar op tot boven de norm</a:t>
            </a:r>
          </a:p>
        </p:txBody>
      </p:sp>
      <p:sp>
        <p:nvSpPr>
          <p:cNvPr id="11" name="Rectangle 10"/>
          <p:cNvSpPr/>
          <p:nvPr/>
        </p:nvSpPr>
        <p:spPr>
          <a:xfrm>
            <a:off x="634984" y="3924201"/>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984" y="4089297"/>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De aanpassing</a:t>
            </a:r>
          </a:p>
        </p:txBody>
      </p:sp>
      <p:sp>
        <p:nvSpPr>
          <p:cNvPr id="13" name="TextBox 12"/>
          <p:cNvSpPr txBox="1"/>
          <p:nvPr/>
        </p:nvSpPr>
        <p:spPr>
          <a:xfrm>
            <a:off x="647683" y="4406789"/>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De pedorthist werkt de zool bij en er wordt opnieuw gemeten, tot de druk onder de grens zit</a:t>
            </a:r>
          </a:p>
        </p:txBody>
      </p:sp>
      <p:sp>
        <p:nvSpPr>
          <p:cNvPr id="14" name="Rectangle 13"/>
          <p:cNvSpPr/>
          <p:nvPr/>
        </p:nvSpPr>
        <p:spPr>
          <a:xfrm>
            <a:off x="634984" y="4889377"/>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984" y="5054473"/>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De opvolging</a:t>
            </a:r>
          </a:p>
        </p:txBody>
      </p:sp>
      <p:sp>
        <p:nvSpPr>
          <p:cNvPr id="16" name="TextBox 15"/>
          <p:cNvSpPr txBox="1"/>
          <p:nvPr/>
        </p:nvSpPr>
        <p:spPr>
          <a:xfrm>
            <a:off x="647683" y="5371965"/>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De sensor toont dat hij de schoen binnenshuis nog weinig draagt — daar gaat het gesprek dan over</a:t>
            </a:r>
          </a:p>
        </p:txBody>
      </p:sp>
      <p:sp>
        <p:nvSpPr>
          <p:cNvPr id="17" name="Rounded Rectangle 16"/>
          <p:cNvSpPr/>
          <p:nvPr/>
        </p:nvSpPr>
        <p:spPr>
          <a:xfrm>
            <a:off x="7492812" y="1904952"/>
            <a:ext cx="4063898" cy="3949601"/>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00799" y="2044648"/>
            <a:ext cx="3047923" cy="3047923"/>
          </a:xfrm>
          <a:prstGeom prst="ellipse">
            <a:avLst/>
          </a:prstGeom>
          <a:solidFill>
            <a:srgbClr val="FF7A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ro"/>
          <p:cNvSpPr txBox="1"/>
          <p:nvPr/>
        </p:nvSpPr>
        <p:spPr>
          <a:xfrm>
            <a:off x="7772205" y="2158946"/>
            <a:ext cx="3555911" cy="1904952"/>
          </a:xfrm>
          <a:prstGeom prst="rect">
            <a:avLst/>
          </a:prstGeom>
          <a:noFill/>
        </p:spPr>
        <p:txBody>
          <a:bodyPr wrap="square" anchor="t" lIns="0" rIns="0" tIns="0" bIns="0">
            <a:spAutoFit/>
          </a:bodyPr>
          <a:lstStyle/>
          <a:p>
            <a:pPr algn="ctr">
              <a:lnSpc>
                <a:spcPct val="90000"/>
              </a:lnSpc>
            </a:pPr>
            <a:r>
              <a:rPr sz="15000" b="1">
                <a:solidFill>
                  <a:srgbClr val="FF7A00"/>
                </a:solidFill>
                <a:latin typeface="Segoe UI"/>
              </a:rPr>
              <a:t>0</a:t>
            </a:r>
          </a:p>
        </p:txBody>
      </p:sp>
      <p:sp>
        <p:nvSpPr>
          <p:cNvPr id="20" name="TextBox 19"/>
          <p:cNvSpPr txBox="1"/>
          <p:nvPr/>
        </p:nvSpPr>
        <p:spPr>
          <a:xfrm>
            <a:off x="7772205" y="4063898"/>
            <a:ext cx="3555911" cy="393690"/>
          </a:xfrm>
          <a:prstGeom prst="rect">
            <a:avLst/>
          </a:prstGeom>
          <a:noFill/>
        </p:spPr>
        <p:txBody>
          <a:bodyPr wrap="square" anchor="t" lIns="0" rIns="0" tIns="0" bIns="0">
            <a:spAutoFit/>
          </a:bodyPr>
          <a:lstStyle/>
          <a:p>
            <a:pPr algn="ctr">
              <a:lnSpc>
                <a:spcPct val="125000"/>
              </a:lnSpc>
            </a:pPr>
            <a:r>
              <a:rPr sz="3000" b="1">
                <a:solidFill>
                  <a:srgbClr val="F2F8FC"/>
                </a:solidFill>
                <a:latin typeface="Segoe UI"/>
              </a:rPr>
              <a:t>wonden</a:t>
            </a:r>
          </a:p>
        </p:txBody>
      </p:sp>
      <p:sp>
        <p:nvSpPr>
          <p:cNvPr id="21" name="TextBox 20"/>
          <p:cNvSpPr txBox="1"/>
          <p:nvPr/>
        </p:nvSpPr>
        <p:spPr>
          <a:xfrm>
            <a:off x="7810304" y="4584585"/>
            <a:ext cx="3428914" cy="1015974"/>
          </a:xfrm>
          <a:prstGeom prst="rect">
            <a:avLst/>
          </a:prstGeom>
          <a:noFill/>
        </p:spPr>
        <p:txBody>
          <a:bodyPr wrap="square" anchor="t" lIns="0" rIns="0" tIns="0" bIns="0">
            <a:spAutoFit/>
          </a:bodyPr>
          <a:lstStyle/>
          <a:p>
            <a:pPr algn="ctr">
              <a:lnSpc>
                <a:spcPct val="140000"/>
              </a:lnSpc>
            </a:pPr>
            <a:r>
              <a:rPr sz="1600" b="0">
                <a:solidFill>
                  <a:srgbClr val="8FB6D0"/>
                </a:solidFill>
                <a:latin typeface="Segoe UI"/>
              </a:rPr>
              <a:t>Dit is een verzonnen voorbeeld, geen echte patiënt. Het toont de werkwijze, niet een resultaat.</a:t>
            </a:r>
          </a:p>
        </p:txBody>
      </p:sp>
      <p:sp>
        <p:nvSpPr>
          <p:cNvPr id="22" name="TextBox 2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08 / 13</a:t>
            </a:r>
          </a:p>
        </p:txBody>
      </p:sp>
      <p:pic>
        <p:nvPicPr>
          <p:cNvPr id="2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HET NAARTOE GAAT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Zorg die meedenkt</a:t>
            </a:r>
          </a:p>
        </p:txBody>
      </p:sp>
      <p:sp>
        <p:nvSpPr>
          <p:cNvPr id="5" name="Rectangle 4"/>
          <p:cNvSpPr/>
          <p:nvPr/>
        </p:nvSpPr>
        <p:spPr>
          <a:xfrm>
            <a:off x="634984" y="193035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46246"/>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Draagbare sensoren</a:t>
            </a:r>
          </a:p>
        </p:txBody>
      </p:sp>
      <p:sp>
        <p:nvSpPr>
          <p:cNvPr id="7" name="Oval 6"/>
          <p:cNvSpPr/>
          <p:nvPr/>
        </p:nvSpPr>
        <p:spPr>
          <a:xfrm>
            <a:off x="3555911"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006"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Kleiner en goedkoper</a:t>
            </a:r>
          </a:p>
        </p:txBody>
      </p:sp>
      <p:sp>
        <p:nvSpPr>
          <p:cNvPr id="9" name="Oval 8"/>
          <p:cNvSpPr/>
          <p:nvPr/>
        </p:nvSpPr>
        <p:spPr>
          <a:xfrm>
            <a:off x="6273643"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739"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Meten zonder op te vallen</a:t>
            </a:r>
          </a:p>
        </p:txBody>
      </p:sp>
      <p:sp>
        <p:nvSpPr>
          <p:cNvPr id="11" name="Oval 10"/>
          <p:cNvSpPr/>
          <p:nvPr/>
        </p:nvSpPr>
        <p:spPr>
          <a:xfrm>
            <a:off x="8991375"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6471"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Meer dan alleen in het ziekenhuis</a:t>
            </a:r>
          </a:p>
        </p:txBody>
      </p:sp>
      <p:sp>
        <p:nvSpPr>
          <p:cNvPr id="13" name="Rectangle 12"/>
          <p:cNvSpPr/>
          <p:nvPr/>
        </p:nvSpPr>
        <p:spPr>
          <a:xfrm>
            <a:off x="634984" y="297172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187620"/>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Slimme analyse</a:t>
            </a:r>
          </a:p>
        </p:txBody>
      </p:sp>
      <p:sp>
        <p:nvSpPr>
          <p:cNvPr id="15" name="Oval 14"/>
          <p:cNvSpPr/>
          <p:nvPr/>
        </p:nvSpPr>
        <p:spPr>
          <a:xfrm>
            <a:off x="3555911"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006"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Patronen in duizenden stappen</a:t>
            </a:r>
          </a:p>
        </p:txBody>
      </p:sp>
      <p:sp>
        <p:nvSpPr>
          <p:cNvPr id="17" name="Oval 16"/>
          <p:cNvSpPr/>
          <p:nvPr/>
        </p:nvSpPr>
        <p:spPr>
          <a:xfrm>
            <a:off x="6273643"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739"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Herkent wat een mens niet ziet</a:t>
            </a:r>
          </a:p>
        </p:txBody>
      </p:sp>
      <p:sp>
        <p:nvSpPr>
          <p:cNvPr id="19" name="Oval 18"/>
          <p:cNvSpPr/>
          <p:nvPr/>
        </p:nvSpPr>
        <p:spPr>
          <a:xfrm>
            <a:off x="8991375"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56471"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Ondersteunt de zorgverlener, vervangt hem niet</a:t>
            </a:r>
          </a:p>
        </p:txBody>
      </p:sp>
      <p:sp>
        <p:nvSpPr>
          <p:cNvPr id="21" name="Rectangle 20"/>
          <p:cNvSpPr/>
          <p:nvPr/>
        </p:nvSpPr>
        <p:spPr>
          <a:xfrm>
            <a:off x="634984" y="401309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228994"/>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Continu in plaats van af en toe</a:t>
            </a:r>
          </a:p>
        </p:txBody>
      </p:sp>
      <p:sp>
        <p:nvSpPr>
          <p:cNvPr id="23" name="Oval 22"/>
          <p:cNvSpPr/>
          <p:nvPr/>
        </p:nvSpPr>
        <p:spPr>
          <a:xfrm>
            <a:off x="3555911"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006"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Nu: een meting per half jaar</a:t>
            </a:r>
          </a:p>
        </p:txBody>
      </p:sp>
      <p:sp>
        <p:nvSpPr>
          <p:cNvPr id="25" name="Oval 24"/>
          <p:cNvSpPr/>
          <p:nvPr/>
        </p:nvSpPr>
        <p:spPr>
          <a:xfrm>
            <a:off x="6273643"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39"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Straks: een beeld dat meeloopt</a:t>
            </a:r>
          </a:p>
        </p:txBody>
      </p:sp>
      <p:sp>
        <p:nvSpPr>
          <p:cNvPr id="27" name="Oval 26"/>
          <p:cNvSpPr/>
          <p:nvPr/>
        </p:nvSpPr>
        <p:spPr>
          <a:xfrm>
            <a:off x="8991375"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6471"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Sneller bijsturen</a:t>
            </a:r>
          </a:p>
        </p:txBody>
      </p:sp>
      <p:sp>
        <p:nvSpPr>
          <p:cNvPr id="29" name="Rectangle 28"/>
          <p:cNvSpPr/>
          <p:nvPr/>
        </p:nvSpPr>
        <p:spPr>
          <a:xfrm>
            <a:off x="634984" y="505447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984" y="5270368"/>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Voorspellen in plaats van herstellen</a:t>
            </a:r>
          </a:p>
        </p:txBody>
      </p:sp>
      <p:sp>
        <p:nvSpPr>
          <p:cNvPr id="31" name="Oval 30"/>
          <p:cNvSpPr/>
          <p:nvPr/>
        </p:nvSpPr>
        <p:spPr>
          <a:xfrm>
            <a:off x="3555911"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21006"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Risico zien voor de wonde er is</a:t>
            </a:r>
          </a:p>
        </p:txBody>
      </p:sp>
      <p:sp>
        <p:nvSpPr>
          <p:cNvPr id="33" name="Oval 32"/>
          <p:cNvSpPr/>
          <p:nvPr/>
        </p:nvSpPr>
        <p:spPr>
          <a:xfrm>
            <a:off x="6273643"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8739"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Ingrijpen terwijl het nog klein is</a:t>
            </a:r>
          </a:p>
        </p:txBody>
      </p:sp>
      <p:sp>
        <p:nvSpPr>
          <p:cNvPr id="35" name="Oval 34"/>
          <p:cNvSpPr/>
          <p:nvPr/>
        </p:nvSpPr>
        <p:spPr>
          <a:xfrm>
            <a:off x="8991375"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6471"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Dat is het hele punt</a:t>
            </a:r>
          </a:p>
        </p:txBody>
      </p:sp>
      <p:sp>
        <p:nvSpPr>
          <p:cNvPr id="37" name="Rectangle 36"/>
          <p:cNvSpPr/>
          <p:nvPr/>
        </p:nvSpPr>
        <p:spPr>
          <a:xfrm>
            <a:off x="634984" y="609584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09 / 13</a:t>
            </a:r>
          </a:p>
        </p:txBody>
      </p:sp>
      <p:pic>
        <p:nvPicPr>
          <p:cNvPr id="39"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WIE DIT SAMEN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Onderzoek en kliniek, aan dezelfde tafel</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uleuven.png"/>
          <p:cNvPicPr>
            <a:picLocks noChangeAspect="1"/>
          </p:cNvPicPr>
          <p:nvPr/>
        </p:nvPicPr>
        <p:blipFill>
          <a:blip r:embed="rId2"/>
          <a:stretch>
            <a:fillRect/>
          </a:stretch>
        </p:blipFill>
        <p:spPr>
          <a:xfrm>
            <a:off x="888977" y="2321131"/>
            <a:ext cx="4876551" cy="1390086"/>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KU Leuven</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CAMPUS BRUGGE</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1  onderzoeksgroep</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HET ONDERZOEK</a:t>
            </a:r>
          </a:p>
        </p:txBody>
      </p:sp>
      <p:sp>
        <p:nvSpPr>
          <p:cNvPr id="11" name="TextBox 10"/>
          <p:cNvSpPr txBox="1"/>
          <p:nvPr/>
        </p:nvSpPr>
        <p:spPr>
          <a:xfrm>
            <a:off x="3479713" y="3975000"/>
            <a:ext cx="2260416" cy="1777955"/>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Revalidatiewetenschappen.</a:t>
            </a:r>
          </a:p>
          <a:p>
            <a:pPr algn="l">
              <a:lnSpc>
                <a:spcPct val="130000"/>
              </a:lnSpc>
              <a:spcBef>
                <a:spcPts val="1000"/>
              </a:spcBef>
            </a:pPr>
            <a:r>
              <a:rPr sz="1450" b="0">
                <a:solidFill>
                  <a:srgbClr val="8FB6D0"/>
                </a:solidFill>
                <a:latin typeface="Segoe UI"/>
              </a:rPr>
              <a:t>Ontwerpt de studie, meet en analyseert.</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215894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laatshouder.png"/>
          <p:cNvPicPr>
            <a:picLocks noChangeAspect="1"/>
          </p:cNvPicPr>
          <p:nvPr/>
        </p:nvPicPr>
        <p:blipFill>
          <a:blip r:embed="rId3"/>
          <a:stretch>
            <a:fillRect/>
          </a:stretch>
        </p:blipFill>
        <p:spPr>
          <a:xfrm>
            <a:off x="6400512" y="2300229"/>
            <a:ext cx="2006549" cy="1254093"/>
          </a:xfrm>
          <a:prstGeom prst="rect">
            <a:avLst/>
          </a:prstGeom>
        </p:spPr>
      </p:pic>
      <p:sp>
        <p:nvSpPr>
          <p:cNvPr id="15" name="TextBox 14"/>
          <p:cNvSpPr txBox="1"/>
          <p:nvPr/>
        </p:nvSpPr>
        <p:spPr>
          <a:xfrm>
            <a:off x="8711855" y="2158946"/>
            <a:ext cx="2666933"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AZ Groeninge</a:t>
            </a:r>
          </a:p>
        </p:txBody>
      </p:sp>
      <p:sp>
        <p:nvSpPr>
          <p:cNvPr id="16" name="TextBox 15"/>
          <p:cNvSpPr txBox="1"/>
          <p:nvPr/>
        </p:nvSpPr>
        <p:spPr>
          <a:xfrm>
            <a:off x="8724554" y="2527236"/>
            <a:ext cx="2666933"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KORTRIJK</a:t>
            </a:r>
          </a:p>
        </p:txBody>
      </p:sp>
      <p:sp>
        <p:nvSpPr>
          <p:cNvPr id="17" name="TextBox 16"/>
          <p:cNvSpPr txBox="1"/>
          <p:nvPr/>
        </p:nvSpPr>
        <p:spPr>
          <a:xfrm>
            <a:off x="8711855" y="2730431"/>
            <a:ext cx="2666933"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  van de zes centra</a:t>
            </a:r>
          </a:p>
        </p:txBody>
      </p:sp>
      <p:sp>
        <p:nvSpPr>
          <p:cNvPr id="18" name="TextBox 17"/>
          <p:cNvSpPr txBox="1"/>
          <p:nvPr/>
        </p:nvSpPr>
        <p:spPr>
          <a:xfrm>
            <a:off x="8711855" y="3073323"/>
            <a:ext cx="2590608" cy="571485"/>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Een erkende voetkliniek met een multidisciplinair team.</a:t>
            </a:r>
          </a:p>
          <a:p>
            <a:pPr algn="l">
              <a:lnSpc>
                <a:spcPct val="128000"/>
              </a:lnSpc>
              <a:spcBef>
                <a:spcPts val="600"/>
              </a:spcBef>
            </a:pPr>
            <a:r>
              <a:rPr sz="1400" b="0">
                <a:solidFill>
                  <a:srgbClr val="8FB6D0"/>
                </a:solidFill>
                <a:latin typeface="Segoe UI"/>
              </a:rPr>
              <a:t>Hier gebeurt de zorg, en hier wordt gemeten.</a:t>
            </a:r>
          </a:p>
        </p:txBody>
      </p:sp>
      <p:sp>
        <p:nvSpPr>
          <p:cNvPr id="19" name="TextBox 18"/>
          <p:cNvSpPr txBox="1"/>
          <p:nvPr/>
        </p:nvSpPr>
        <p:spPr>
          <a:xfrm>
            <a:off x="8711855" y="3644808"/>
            <a:ext cx="2666933"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DE PRAKTIJK</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215894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erk.png"/>
          <p:cNvPicPr>
            <a:picLocks noChangeAspect="1"/>
          </p:cNvPicPr>
          <p:nvPr/>
        </p:nvPicPr>
        <p:blipFill>
          <a:blip r:embed="rId4"/>
          <a:stretch>
            <a:fillRect/>
          </a:stretch>
        </p:blipFill>
        <p:spPr>
          <a:xfrm>
            <a:off x="6772648" y="4279793"/>
            <a:ext cx="1262279" cy="1460463"/>
          </a:xfrm>
          <a:prstGeom prst="rect">
            <a:avLst/>
          </a:prstGeom>
        </p:spPr>
      </p:pic>
      <p:sp>
        <p:nvSpPr>
          <p:cNvPr id="23" name="TextBox 22"/>
          <p:cNvSpPr txBox="1"/>
          <p:nvPr/>
        </p:nvSpPr>
        <p:spPr>
          <a:xfrm>
            <a:off x="8711855" y="4241693"/>
            <a:ext cx="2666933"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PARADISE</a:t>
            </a:r>
          </a:p>
        </p:txBody>
      </p:sp>
      <p:sp>
        <p:nvSpPr>
          <p:cNvPr id="24" name="TextBox 23"/>
          <p:cNvSpPr txBox="1"/>
          <p:nvPr/>
        </p:nvSpPr>
        <p:spPr>
          <a:xfrm>
            <a:off x="8724554" y="4609984"/>
            <a:ext cx="2666933"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DE STUDIE</a:t>
            </a:r>
          </a:p>
        </p:txBody>
      </p:sp>
      <p:sp>
        <p:nvSpPr>
          <p:cNvPr id="25" name="TextBox 24"/>
          <p:cNvSpPr txBox="1"/>
          <p:nvPr/>
        </p:nvSpPr>
        <p:spPr>
          <a:xfrm>
            <a:off x="8711855" y="4813179"/>
            <a:ext cx="2666933"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6  voetklinieken</a:t>
            </a:r>
          </a:p>
        </p:txBody>
      </p:sp>
      <p:sp>
        <p:nvSpPr>
          <p:cNvPr id="26" name="TextBox 25"/>
          <p:cNvSpPr txBox="1"/>
          <p:nvPr/>
        </p:nvSpPr>
        <p:spPr>
          <a:xfrm>
            <a:off x="8711855" y="5156071"/>
            <a:ext cx="2590608" cy="571485"/>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Gefinancierd door het FWO.</a:t>
            </a:r>
          </a:p>
          <a:p>
            <a:pPr algn="l">
              <a:lnSpc>
                <a:spcPct val="128000"/>
              </a:lnSpc>
              <a:spcBef>
                <a:spcPts val="600"/>
              </a:spcBef>
            </a:pPr>
            <a:r>
              <a:rPr sz="1400" b="0">
                <a:solidFill>
                  <a:srgbClr val="8FB6D0"/>
                </a:solidFill>
                <a:latin typeface="Segoe UI"/>
              </a:rPr>
              <a:t>Wat werkt in de studie, kan daarna overal.</a:t>
            </a:r>
          </a:p>
        </p:txBody>
      </p:sp>
      <p:sp>
        <p:nvSpPr>
          <p:cNvPr id="27" name="TextBox 26"/>
          <p:cNvSpPr txBox="1"/>
          <p:nvPr/>
        </p:nvSpPr>
        <p:spPr>
          <a:xfrm>
            <a:off x="8711855" y="5727556"/>
            <a:ext cx="2666933"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DE BRUG</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10 / 13</a:t>
            </a:r>
          </a:p>
        </p:txBody>
      </p:sp>
      <p:pic>
        <p:nvPicPr>
          <p:cNvPr id="29" name="merk" descr="merk.png"/>
          <p:cNvPicPr>
            <a:picLocks noChangeAspect="1"/>
          </p:cNvPicPr>
          <p:nvPr/>
        </p:nvPicPr>
        <p:blipFill>
          <a:blip r:embed="rId4"/>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VANDAAG OP DE STAND</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Kom het zelf proberen</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dar.png"/>
          <p:cNvPicPr>
            <a:picLocks noChangeAspect="1"/>
          </p:cNvPicPr>
          <p:nvPr/>
        </p:nvPicPr>
        <p:blipFill>
          <a:blip r:embed="rId2"/>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Voel de zool</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AANRAKEN</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1,9  millimeter dik</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BIJ DE STAND</a:t>
            </a:r>
          </a:p>
        </p:txBody>
      </p:sp>
      <p:sp>
        <p:nvSpPr>
          <p:cNvPr id="11" name="TextBox 10"/>
          <p:cNvSpPr txBox="1"/>
          <p:nvPr/>
        </p:nvSpPr>
        <p:spPr>
          <a:xfrm>
            <a:off x="3479713" y="3975000"/>
            <a:ext cx="2260416" cy="1777955"/>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Een echte sensorzool in de hand.</a:t>
            </a:r>
          </a:p>
          <a:p>
            <a:pPr algn="l">
              <a:lnSpc>
                <a:spcPct val="130000"/>
              </a:lnSpc>
              <a:spcBef>
                <a:spcPts val="1000"/>
              </a:spcBef>
            </a:pPr>
            <a:r>
              <a:rPr sz="1450" b="0">
                <a:solidFill>
                  <a:srgbClr val="8FB6D0"/>
                </a:solidFill>
                <a:latin typeface="Segoe UI"/>
              </a:rPr>
              <a:t>Dunner dan u verwacht.</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215894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laatshouder.png"/>
          <p:cNvPicPr>
            <a:picLocks noChangeAspect="1"/>
          </p:cNvPicPr>
          <p:nvPr/>
        </p:nvPicPr>
        <p:blipFill>
          <a:blip r:embed="rId3"/>
          <a:stretch>
            <a:fillRect/>
          </a:stretch>
        </p:blipFill>
        <p:spPr>
          <a:xfrm>
            <a:off x="6400512" y="2300229"/>
            <a:ext cx="2006549" cy="1254093"/>
          </a:xfrm>
          <a:prstGeom prst="rect">
            <a:avLst/>
          </a:prstGeom>
        </p:spPr>
      </p:pic>
      <p:sp>
        <p:nvSpPr>
          <p:cNvPr id="15" name="TextBox 14"/>
          <p:cNvSpPr txBox="1"/>
          <p:nvPr/>
        </p:nvSpPr>
        <p:spPr>
          <a:xfrm>
            <a:off x="8711855" y="2158946"/>
            <a:ext cx="2666933"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Meet uw stap</a:t>
            </a:r>
          </a:p>
        </p:txBody>
      </p:sp>
      <p:sp>
        <p:nvSpPr>
          <p:cNvPr id="16" name="TextBox 15"/>
          <p:cNvSpPr txBox="1"/>
          <p:nvPr/>
        </p:nvSpPr>
        <p:spPr>
          <a:xfrm>
            <a:off x="8724554" y="2527236"/>
            <a:ext cx="2666933"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WANDELEN</a:t>
            </a:r>
          </a:p>
        </p:txBody>
      </p:sp>
      <p:sp>
        <p:nvSpPr>
          <p:cNvPr id="17" name="TextBox 16"/>
          <p:cNvSpPr txBox="1"/>
          <p:nvPr/>
        </p:nvSpPr>
        <p:spPr>
          <a:xfrm>
            <a:off x="8711855" y="2730431"/>
            <a:ext cx="2666933"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10  meter</a:t>
            </a:r>
          </a:p>
        </p:txBody>
      </p:sp>
      <p:sp>
        <p:nvSpPr>
          <p:cNvPr id="18" name="TextBox 17"/>
          <p:cNvSpPr txBox="1"/>
          <p:nvPr/>
        </p:nvSpPr>
        <p:spPr>
          <a:xfrm>
            <a:off x="8711855" y="3073323"/>
            <a:ext cx="2590608" cy="571485"/>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Wandel met de zolen in uw eigen schoenen.</a:t>
            </a:r>
          </a:p>
          <a:p>
            <a:pPr algn="l">
              <a:lnSpc>
                <a:spcPct val="128000"/>
              </a:lnSpc>
              <a:spcBef>
                <a:spcPts val="600"/>
              </a:spcBef>
            </a:pPr>
            <a:r>
              <a:rPr sz="1400" b="0">
                <a:solidFill>
                  <a:srgbClr val="8FB6D0"/>
                </a:solidFill>
                <a:latin typeface="Segoe UI"/>
              </a:rPr>
              <a:t>Zie meteen uw eigen drukkaart.</a:t>
            </a:r>
          </a:p>
        </p:txBody>
      </p:sp>
      <p:sp>
        <p:nvSpPr>
          <p:cNvPr id="19" name="TextBox 18"/>
          <p:cNvSpPr txBox="1"/>
          <p:nvPr/>
        </p:nvSpPr>
        <p:spPr>
          <a:xfrm>
            <a:off x="8711855" y="3644808"/>
            <a:ext cx="2666933"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DOE MEE</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215894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laatshouder.png"/>
          <p:cNvPicPr>
            <a:picLocks noChangeAspect="1"/>
          </p:cNvPicPr>
          <p:nvPr/>
        </p:nvPicPr>
        <p:blipFill>
          <a:blip r:embed="rId3"/>
          <a:stretch>
            <a:fillRect/>
          </a:stretch>
        </p:blipFill>
        <p:spPr>
          <a:xfrm>
            <a:off x="6400512" y="4382977"/>
            <a:ext cx="2006549" cy="1254093"/>
          </a:xfrm>
          <a:prstGeom prst="rect">
            <a:avLst/>
          </a:prstGeom>
        </p:spPr>
      </p:pic>
      <p:sp>
        <p:nvSpPr>
          <p:cNvPr id="23" name="TextBox 22"/>
          <p:cNvSpPr txBox="1"/>
          <p:nvPr/>
        </p:nvSpPr>
        <p:spPr>
          <a:xfrm>
            <a:off x="8711855" y="4241693"/>
            <a:ext cx="2666933"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Stel uw vraag</a:t>
            </a:r>
          </a:p>
        </p:txBody>
      </p:sp>
      <p:sp>
        <p:nvSpPr>
          <p:cNvPr id="24" name="TextBox 23"/>
          <p:cNvSpPr txBox="1"/>
          <p:nvPr/>
        </p:nvSpPr>
        <p:spPr>
          <a:xfrm>
            <a:off x="8724554" y="4609984"/>
            <a:ext cx="2666933"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GESPREK</a:t>
            </a:r>
          </a:p>
        </p:txBody>
      </p:sp>
      <p:sp>
        <p:nvSpPr>
          <p:cNvPr id="25" name="TextBox 24"/>
          <p:cNvSpPr txBox="1"/>
          <p:nvPr/>
        </p:nvSpPr>
        <p:spPr>
          <a:xfrm>
            <a:off x="8711855" y="4813179"/>
            <a:ext cx="2666933"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  vragen welkom</a:t>
            </a:r>
          </a:p>
        </p:txBody>
      </p:sp>
      <p:sp>
        <p:nvSpPr>
          <p:cNvPr id="26" name="TextBox 25"/>
          <p:cNvSpPr txBox="1"/>
          <p:nvPr/>
        </p:nvSpPr>
        <p:spPr>
          <a:xfrm>
            <a:off x="8711855" y="5156071"/>
            <a:ext cx="2590608" cy="571485"/>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Over uw voeten, over de studie, over de techniek.</a:t>
            </a:r>
          </a:p>
          <a:p>
            <a:pPr algn="l">
              <a:lnSpc>
                <a:spcPct val="128000"/>
              </a:lnSpc>
              <a:spcBef>
                <a:spcPts val="600"/>
              </a:spcBef>
            </a:pPr>
            <a:r>
              <a:rPr sz="1400" b="0">
                <a:solidFill>
                  <a:srgbClr val="8FB6D0"/>
                </a:solidFill>
                <a:latin typeface="Segoe UI"/>
              </a:rPr>
              <a:t>Ook de vraag of dit iets voor u is.</a:t>
            </a:r>
          </a:p>
        </p:txBody>
      </p:sp>
      <p:sp>
        <p:nvSpPr>
          <p:cNvPr id="27" name="TextBox 26"/>
          <p:cNvSpPr txBox="1"/>
          <p:nvPr/>
        </p:nvSpPr>
        <p:spPr>
          <a:xfrm>
            <a:off x="8711855" y="5727556"/>
            <a:ext cx="2666933"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WIJ STAAN ER</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11 / 13</a:t>
            </a:r>
          </a:p>
        </p:txBody>
      </p:sp>
      <p:pic>
        <p:nvPicPr>
          <p:cNvPr id="29" name="merk" descr="merk.png"/>
          <p:cNvPicPr>
            <a:picLocks noChangeAspect="1"/>
          </p:cNvPicPr>
          <p:nvPr/>
        </p:nvPicPr>
        <p:blipFill>
          <a:blip r:embed="rId4"/>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BEDANKT VOOR UW AANDACHT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Kom gerust langs</a:t>
            </a:r>
          </a:p>
          <a:p>
            <a:pPr algn="l">
              <a:lnSpc>
                <a:spcPct val="110000"/>
              </a:lnSpc>
              <a:spcBef>
                <a:spcPts val="500"/>
              </a:spcBef>
            </a:pPr>
            <a:r>
              <a:rPr sz="4000" b="1">
                <a:solidFill>
                  <a:srgbClr val="F2F8FC"/>
                </a:solidFill>
                <a:latin typeface="Segoe UI"/>
              </a:rPr>
              <a:t>met uw vraag</a:t>
            </a:r>
          </a:p>
        </p:txBody>
      </p:sp>
      <p:sp>
        <p:nvSpPr>
          <p:cNvPr id="5" name="Rounded Rectangle 4"/>
          <p:cNvSpPr/>
          <p:nvPr/>
        </p:nvSpPr>
        <p:spPr>
          <a:xfrm>
            <a:off x="634984" y="1904952"/>
            <a:ext cx="3174920" cy="273043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1244405" y="2006549"/>
            <a:ext cx="1956077" cy="2527236"/>
          </a:xfrm>
          <a:prstGeom prst="rect">
            <a:avLst/>
          </a:prstGeom>
        </p:spPr>
      </p:pic>
      <p:sp>
        <p:nvSpPr>
          <p:cNvPr id="7" name="Rounded Rectangle 6"/>
          <p:cNvSpPr/>
          <p:nvPr/>
        </p:nvSpPr>
        <p:spPr>
          <a:xfrm>
            <a:off x="634984" y="4813179"/>
            <a:ext cx="3174920" cy="1028674"/>
          </a:xfrm>
          <a:prstGeom prst="roundRect">
            <a:avLst>
              <a:gd name="adj" fmla="val 4500"/>
            </a:avLst>
          </a:prstGeom>
          <a:solidFill>
            <a:srgbClr val="FFFFFF"/>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qr" descr="qr_project.png"/>
          <p:cNvPicPr>
            <a:picLocks noChangeAspect="1"/>
          </p:cNvPicPr>
          <p:nvPr/>
        </p:nvPicPr>
        <p:blipFill>
          <a:blip r:embed="rId3"/>
          <a:stretch>
            <a:fillRect/>
          </a:stretch>
        </p:blipFill>
        <p:spPr>
          <a:xfrm>
            <a:off x="749281" y="4927476"/>
            <a:ext cx="800079" cy="800079"/>
          </a:xfrm>
          <a:prstGeom prst="rect">
            <a:avLst/>
          </a:prstGeom>
        </p:spPr>
      </p:pic>
      <p:sp>
        <p:nvSpPr>
          <p:cNvPr id="9" name="TextBox 8"/>
          <p:cNvSpPr txBox="1"/>
          <p:nvPr/>
        </p:nvSpPr>
        <p:spPr>
          <a:xfrm>
            <a:off x="1663658" y="4978275"/>
            <a:ext cx="2031949" cy="253993"/>
          </a:xfrm>
          <a:prstGeom prst="rect">
            <a:avLst/>
          </a:prstGeom>
          <a:noFill/>
        </p:spPr>
        <p:txBody>
          <a:bodyPr wrap="square" anchor="t" lIns="0" rIns="0" tIns="0" bIns="0">
            <a:spAutoFit/>
          </a:bodyPr>
          <a:lstStyle/>
          <a:p>
            <a:pPr algn="l">
              <a:lnSpc>
                <a:spcPct val="125000"/>
              </a:lnSpc>
            </a:pPr>
            <a:r>
              <a:rPr sz="1700" b="1">
                <a:solidFill>
                  <a:srgbClr val="00407A"/>
                </a:solidFill>
                <a:latin typeface="Segoe UI"/>
              </a:rPr>
              <a:t>Meer over het project</a:t>
            </a:r>
          </a:p>
        </p:txBody>
      </p:sp>
      <p:sp>
        <p:nvSpPr>
          <p:cNvPr id="10" name="TextBox 9"/>
          <p:cNvSpPr txBox="1"/>
          <p:nvPr/>
        </p:nvSpPr>
        <p:spPr>
          <a:xfrm>
            <a:off x="1663658" y="5244968"/>
            <a:ext cx="2031949" cy="507987"/>
          </a:xfrm>
          <a:prstGeom prst="rect">
            <a:avLst/>
          </a:prstGeom>
          <a:noFill/>
        </p:spPr>
        <p:txBody>
          <a:bodyPr wrap="square" anchor="t" lIns="0" rIns="0" tIns="0" bIns="0">
            <a:spAutoFit/>
          </a:bodyPr>
          <a:lstStyle/>
          <a:p>
            <a:pPr algn="l">
              <a:lnSpc>
                <a:spcPct val="130000"/>
              </a:lnSpc>
            </a:pPr>
            <a:r>
              <a:rPr sz="1250" b="0">
                <a:solidFill>
                  <a:srgbClr val="00407A"/>
                </a:solidFill>
                <a:latin typeface="Consolas"/>
              </a:rPr>
              <a:t>Scan voor de projectsite met uitleg over de meting, de studie en de zes voetklinieken.</a:t>
            </a:r>
          </a:p>
        </p:txBody>
      </p:sp>
      <p:sp>
        <p:nvSpPr>
          <p:cNvPr id="11" name="Rectangle 10"/>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13" name="TextBox 12"/>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DOCTORAATSONDERZOEKER · DAGELIJKSE OPVOLGING</a:t>
            </a:r>
          </a:p>
        </p:txBody>
      </p:sp>
      <p:sp>
        <p:nvSpPr>
          <p:cNvPr id="14" name="TextBox 13"/>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5" name="TextBox 14"/>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6" name="TextBox 15"/>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Brugge</a:t>
            </a:r>
          </a:p>
        </p:txBody>
      </p:sp>
      <p:sp>
        <p:nvSpPr>
          <p:cNvPr id="17" name="Rectangle 16"/>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9" name="TextBox 18"/>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PROMOTOR</a:t>
            </a:r>
          </a:p>
        </p:txBody>
      </p:sp>
      <p:sp>
        <p:nvSpPr>
          <p:cNvPr id="20" name="TextBox 19"/>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21" name="TextBox 20"/>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Revalidatiewetenschappen</a:t>
            </a:r>
          </a:p>
        </p:txBody>
      </p:sp>
      <p:sp>
        <p:nvSpPr>
          <p:cNvPr id="22" name="TextBox 21"/>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Campus Brugge</a:t>
            </a:r>
          </a:p>
        </p:txBody>
      </p:sp>
      <p:sp>
        <p:nvSpPr>
          <p:cNvPr id="23" name="Rectangle 22"/>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PARADISE is een samenwerking van KU Leuven — Revalidatiewetenschappen, Campus Brugge — met zes Belgische voetklinieken, waaronder AZ Groeninge in Kortrijk. Gefinancierd door het FWO.</a:t>
            </a:r>
          </a:p>
        </p:txBody>
      </p:sp>
      <p:sp>
        <p:nvSpPr>
          <p:cNvPr id="25" name="TextBox 24"/>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13</a:t>
            </a:r>
          </a:p>
        </p:txBody>
      </p:sp>
      <p:pic>
        <p:nvPicPr>
          <p:cNvPr id="26" name="merk" descr="merk.png"/>
          <p:cNvPicPr>
            <a:picLocks noChangeAspect="1"/>
          </p:cNvPicPr>
          <p:nvPr/>
        </p:nvPicPr>
        <p:blipFill>
          <a:blip r:embed="rId4"/>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DE CIJFERS VANDAAN KOMEN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Referenties</a:t>
            </a:r>
          </a:p>
        </p:txBody>
      </p:sp>
      <p:sp>
        <p:nvSpPr>
          <p:cNvPr id="5" name="TextBox 4"/>
          <p:cNvSpPr txBox="1"/>
          <p:nvPr/>
        </p:nvSpPr>
        <p:spPr>
          <a:xfrm>
            <a:off x="634984"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a:t>
            </a:r>
          </a:p>
        </p:txBody>
      </p:sp>
      <p:sp>
        <p:nvSpPr>
          <p:cNvPr id="6" name="TextBox 5"/>
          <p:cNvSpPr txBox="1"/>
          <p:nvPr/>
        </p:nvSpPr>
        <p:spPr>
          <a:xfrm>
            <a:off x="965175"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Armstrong DG et al. N Engl J Med. 2017;376(24):2367–75.</a:t>
            </a:r>
          </a:p>
        </p:txBody>
      </p:sp>
      <p:sp>
        <p:nvSpPr>
          <p:cNvPr id="7" name="TextBox 6"/>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De nummering volgt die van het protocolmanuscript.</a:t>
            </a:r>
          </a:p>
        </p:txBody>
      </p:sp>
      <p:sp>
        <p:nvSpPr>
          <p:cNvPr id="8" name="TextBox 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13</a:t>
            </a:r>
          </a:p>
        </p:txBody>
      </p:sp>
      <p:pic>
        <p:nvPicPr>
          <p:cNvPr id="9"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p:transition xmlns:p14="http://schemas.microsoft.com/office/powerpoint/2010/main" spd="slow" p14:dur="9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