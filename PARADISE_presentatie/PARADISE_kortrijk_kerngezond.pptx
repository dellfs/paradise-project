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Goeiemiddag. Wat u rechts ziet, is een echte voet — gemeten terwijl iemand wandelt. Rood is waar de voet het hardst duwt. Ik doe onderzoek naar precies dat: hoe hard een voet duwt, en hoe je ervoor zorgt dat hij dat minder doet.</a:t>
            </a:r>
          </a:p>
          <a:p/>
          <a:p>
            <a:r>
              <a:t>PRESENTATIETIP</a:t>
            </a:r>
          </a:p>
          <a:p>
            <a:r>
              <a:t>Laat deze dia staan terwijl de zaal binnenkomt. De voet rechts is een echte meting; wacht tot mensen ernaar kijken.</a:t>
            </a:r>
          </a:p>
          <a:p/>
          <a:p>
            <a:r>
              <a:t>INTERACTIE</a:t>
            </a:r>
          </a:p>
          <a:p>
            <a:r>
              <a:t>Vraag wie al eens op een drukmat heeft gestaan.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Tienduizend stappen. Dat zet u vandaag, zonder er één keer bij na te denken. Zesentwintig botjes per voet, twee voeten, en geen reserve. Voor de meeste mensen gaat dat vanzelf — tot het dat niet meer doet.</a:t>
            </a:r>
          </a:p>
          <a:p/>
          <a:p>
            <a:r>
              <a:t>PRESENTATIETIP</a:t>
            </a:r>
          </a:p>
          <a:p>
            <a:r>
              <a:t>Begin hier bij het publiek zelf, niet bij de ziekte. Laat de zaal even voelen hoeveel stappen dat is.</a:t>
            </a:r>
          </a:p>
          <a:p/>
          <a:p>
            <a:r>
              <a:t>INTERACTIE</a:t>
            </a:r>
          </a:p>
          <a:p>
            <a:r>
              <a:t>Vraag wie vandaag al meer dan tienduizend stappen zette.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Bij diabetes gaan er drie dingen tegelijk mis, en samen zijn ze gevaarlijker dan apart. Op één plek duwt de voet te hard, als een steentje dat er altijd zit. Het gevoel verdwijnt, dus je merkt het niet. En daardoor wordt een wonde vaak pas laat gezien. Veertig procent krijgt er binnen een jaar opnieuw een.</a:t>
            </a:r>
          </a:p>
          <a:p/>
          <a:p>
            <a:r>
              <a:t>PRESENTATIETIP</a:t>
            </a:r>
          </a:p>
          <a:p>
            <a:r>
              <a:t>Drie kaarten, drie zinnen. Wijs ze aan terwijl u ze noemt.</a:t>
            </a:r>
          </a:p>
          <a:p/>
          <a:p>
            <a:r>
              <a:t>INTERACTIE</a:t>
            </a:r>
          </a:p>
          <a:p>
            <a:r>
              <a:t>Vraag wie ooit een blaar niet gevoeld heeft.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Wij meten voortaan wat vroeger geschat werd. Zes ziekenhuizen doen dit samen, en AZ Groeninge hier in Kortrijk is er één van. Ik zeg er meteen bij: het onderzoek start nog, er zijn nog geen resultaten. Wat u vandaag ziet, is hoe we meten.</a:t>
            </a:r>
          </a:p>
          <a:p/>
          <a:p>
            <a:r>
              <a:t>PRESENTATIETIP</a:t>
            </a:r>
          </a:p>
          <a:p>
            <a:r>
              <a:t>Zeg dat er nog geen resultaten zijn. Dat wekt vertrouwen.</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een zool met negenennegentig kleine sensoren erin. Ze gaat gewoon in je eigen schoen, en een kastje aan je been stuurt alles door naar de laptop. Honderd metingen per seconde, terwijl je wandelt. Na één minuutje weten we waar het knelt.</a:t>
            </a:r>
          </a:p>
          <a:p/>
          <a:p>
            <a:r>
              <a:t>PRESENTATIETIP</a:t>
            </a:r>
          </a:p>
          <a:p>
            <a:r>
              <a:t>Houd een echte zool omhoog. Dat doet meer dan de dia.</a:t>
            </a:r>
          </a:p>
          <a:p/>
          <a:p>
            <a:r>
              <a:t>INTERACTIE</a:t>
            </a:r>
          </a:p>
          <a:p>
            <a:r>
              <a:t>Laat de zool rondgaan in de zaal.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Kijk even. Elk vierkantje is één sensor, en hoe roder het is, hoe harder de voet daar duwt. Hier staat driehonderdtwaalf op de bal van de voet — alles boven tweehonderd is te veel. Precies daar ontstaat een wonde.</a:t>
            </a:r>
          </a:p>
          <a:p/>
          <a:p>
            <a:r>
              <a:t>PRESENTATIETIP</a:t>
            </a:r>
          </a:p>
          <a:p>
            <a:r>
              <a:t>Dit is het beeld dat blijft hangen. Zeg niets tot iedereen gekeken heeft, wijs dan de rode plek aan.</a:t>
            </a:r>
          </a:p>
          <a:p/>
          <a:p>
            <a:r>
              <a:t>INTERACTIE</a:t>
            </a:r>
          </a:p>
          <a:p>
            <a:r>
              <a:t>Vraag aan de kinderen waar zij denken dat het pijn doet.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zelfde stap, andere zool. Ziet u de rode plek afkoelen? Honderdzesentachtig nu, en dat is onder de grens. De druk zit niet meer op één plekje maar verdeeld over de hele voet. Dat is precies wat een zool op maat moet doen.</a:t>
            </a:r>
          </a:p>
          <a:p/>
          <a:p>
            <a:r>
              <a:t>PRESENTATIETIP</a:t>
            </a:r>
          </a:p>
          <a:p>
            <a:r>
              <a:t>Klik door zonder iets te zeggen. De zaal ziet de kleur veranderen — dat is het moment. Zeg pas daarna het cijfer.</a:t>
            </a:r>
          </a:p>
          <a:p/>
          <a:p>
            <a:r>
              <a:t>INTERACTIE</a:t>
            </a:r>
          </a:p>
          <a:p>
            <a:r>
              <a:t>Vraag of ze het zagen veranderen.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beste zool ter wereld doet niets in de kast. En net binnenshuis zetten mensen de meeste stappen, terwijl ze daar hun schoenen het minst dragen. Daarom zit er een sensortje in, zo groot als een halve suikerklont, dat elk kwartier voelt of de schoen warm is. Geen camera, geen microfoon, geen GPS.</a:t>
            </a:r>
          </a:p>
          <a:p/>
          <a:p>
            <a:r>
              <a:t>PRESENTATIETIP</a:t>
            </a:r>
          </a:p>
          <a:p>
            <a:r>
              <a:t>Noem meteen wat het níét doet. Dat is de eerste vraag.</a:t>
            </a:r>
          </a:p>
          <a:p/>
          <a:p>
            <a:r>
              <a:t>INTERACTIE</a:t>
            </a:r>
          </a:p>
          <a:p>
            <a:r>
              <a:t>Vraag of iemand zich daaraan zou storen.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waar het naartoe gaat, en ik zeg er eerlijk bij: nog niet waar we vandaag staan. Sensoren worden kleiner, computers slimmer, en metingen gaan van één keer per half jaar naar continu. Het doel is het risico zien vóór de wonde er is.</a:t>
            </a:r>
          </a:p>
          <a:p/>
          <a:p>
            <a:r>
              <a:t>PRESENTATIETIP</a:t>
            </a:r>
          </a:p>
          <a:p>
            <a:r>
              <a:t>Blijf voorzichtig: dit is de richting, niet wat vandaag al kan.</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werkt alleen omdat onderzoek en ziekenhuis samenwerken. KU Leuven Campus Brugge bedenkt het onderzoek en rekent uit, AZ Groeninge doet de zorg en de metingen. Zes ziekenhuizen in totaal. Wat hier werkt, kan daarna overal.</a:t>
            </a:r>
          </a:p>
          <a:p/>
          <a:p>
            <a:r>
              <a:t>PRESENTATIETIP</a:t>
            </a:r>
          </a:p>
          <a:p>
            <a:r>
              <a:t>Noem iemand van AZ Groeninge bij naam als die in de zaal zit.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U kunt dit vandaag zelf voelen. Op de stand ligt een echte zool van nog geen twee millimeter dik, en wie wil, wandelt tien meter en ziet meteen zijn eigen kleurenkaart. Kom gerust langs — ook met de gekke vragen.</a:t>
            </a:r>
          </a:p>
          <a:p/>
          <a:p>
            <a:r>
              <a:t>PRESENTATIETIP</a:t>
            </a:r>
          </a:p>
          <a:p>
            <a:r>
              <a:t>Dit is de dia die mensen naar de stand brengt. Wijs waar u staat.</a:t>
            </a:r>
          </a:p>
          <a:p/>
          <a:p>
            <a:r>
              <a:t>INTERACTIE</a:t>
            </a:r>
          </a:p>
          <a:p>
            <a:r>
              <a:t>Vraag wie straks wil meten. Steek zelf uw hand 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Dank u wel. Als u één ding meeneemt: een wonde aan de voet komt bij diabetes zelden uit het niets, en je kunt ze meestal zien aankomen. Wij staan de hele dag op de stand. Scan de code voor meer over het project.</a:t>
            </a:r>
          </a:p>
          <a:p/>
          <a:p>
            <a:r>
              <a:t>PRESENTATIETIP</a:t>
            </a:r>
          </a:p>
          <a:p>
            <a:r>
              <a:t>Laat deze dia staan terwijl mensen naar de stand komen. Wijs de QR-code aan en zeg waar die naartoe gaat.</a:t>
            </a:r>
          </a:p>
          <a:p/>
          <a:p>
            <a:r>
              <a:t>INTERACTIE</a:t>
            </a:r>
          </a:p>
          <a:p>
            <a:r>
              <a:t>Nodig mensen uit om te komen meten. Noem het uur waarop u er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00_07"/>
          <p:cNvSpPr/>
          <p:nvPr/>
        </p:nvSpPr>
        <p:spPr>
          <a:xfrm>
            <a:off x="8717062" y="7955081"/>
            <a:ext cx="218434" cy="218434"/>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00_08"/>
          <p:cNvSpPr/>
          <p:nvPr/>
        </p:nvSpPr>
        <p:spPr>
          <a:xfrm>
            <a:off x="9055720" y="7955081"/>
            <a:ext cx="218434" cy="218434"/>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00_09"/>
          <p:cNvSpPr/>
          <p:nvPr/>
        </p:nvSpPr>
        <p:spPr>
          <a:xfrm>
            <a:off x="9394378" y="7955081"/>
            <a:ext cx="218434" cy="218434"/>
          </a:xfrm>
          <a:prstGeom prst="roundRect">
            <a:avLst>
              <a:gd name="adj" fmla="val 30000"/>
            </a:avLst>
          </a:prstGeom>
          <a:solidFill>
            <a:srgbClr val="48B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00_10"/>
          <p:cNvSpPr/>
          <p:nvPr/>
        </p:nvSpPr>
        <p:spPr>
          <a:xfrm>
            <a:off x="9733036" y="7955081"/>
            <a:ext cx="218434" cy="218434"/>
          </a:xfrm>
          <a:prstGeom prst="roundRect">
            <a:avLst>
              <a:gd name="adj" fmla="val 30000"/>
            </a:avLst>
          </a:prstGeom>
          <a:solidFill>
            <a:srgbClr val="2C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01_06"/>
          <p:cNvSpPr/>
          <p:nvPr/>
        </p:nvSpPr>
        <p:spPr>
          <a:xfrm>
            <a:off x="8378403" y="7701087"/>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01_07"/>
          <p:cNvSpPr/>
          <p:nvPr/>
        </p:nvSpPr>
        <p:spPr>
          <a:xfrm>
            <a:off x="8717062" y="7701087"/>
            <a:ext cx="218434" cy="218434"/>
          </a:xfrm>
          <a:prstGeom prst="roundRect">
            <a:avLst>
              <a:gd name="adj" fmla="val 30000"/>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01_08"/>
          <p:cNvSpPr/>
          <p:nvPr/>
        </p:nvSpPr>
        <p:spPr>
          <a:xfrm>
            <a:off x="9055720" y="7701087"/>
            <a:ext cx="218434" cy="218434"/>
          </a:xfrm>
          <a:prstGeom prst="roundRect">
            <a:avLst>
              <a:gd name="adj" fmla="val 30000"/>
            </a:avLst>
          </a:prstGeom>
          <a:solidFill>
            <a:srgbClr val="87C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01_09"/>
          <p:cNvSpPr/>
          <p:nvPr/>
        </p:nvSpPr>
        <p:spPr>
          <a:xfrm>
            <a:off x="9394378" y="7701087"/>
            <a:ext cx="218434" cy="218434"/>
          </a:xfrm>
          <a:prstGeom prst="roundRect">
            <a:avLst>
              <a:gd name="adj" fmla="val 30000"/>
            </a:avLst>
          </a:prstGeom>
          <a:solidFill>
            <a:srgbClr val="86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01_10"/>
          <p:cNvSpPr/>
          <p:nvPr/>
        </p:nvSpPr>
        <p:spPr>
          <a:xfrm>
            <a:off x="9733036" y="7701087"/>
            <a:ext cx="218434" cy="218434"/>
          </a:xfrm>
          <a:prstGeom prst="roundRect">
            <a:avLst>
              <a:gd name="adj" fmla="val 30000"/>
            </a:avLst>
          </a:prstGeom>
          <a:solidFill>
            <a:srgbClr val="3EA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01_11"/>
          <p:cNvSpPr/>
          <p:nvPr/>
        </p:nvSpPr>
        <p:spPr>
          <a:xfrm>
            <a:off x="10071694" y="7701087"/>
            <a:ext cx="218434" cy="218434"/>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02_05"/>
          <p:cNvSpPr/>
          <p:nvPr/>
        </p:nvSpPr>
        <p:spPr>
          <a:xfrm>
            <a:off x="8039745" y="7447093"/>
            <a:ext cx="218434" cy="218434"/>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02_06"/>
          <p:cNvSpPr/>
          <p:nvPr/>
        </p:nvSpPr>
        <p:spPr>
          <a:xfrm>
            <a:off x="8378403" y="7447093"/>
            <a:ext cx="218434" cy="218434"/>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02_07"/>
          <p:cNvSpPr/>
          <p:nvPr/>
        </p:nvSpPr>
        <p:spPr>
          <a:xfrm>
            <a:off x="8717062" y="7447093"/>
            <a:ext cx="218434" cy="218434"/>
          </a:xfrm>
          <a:prstGeom prst="roundRect">
            <a:avLst>
              <a:gd name="adj" fmla="val 30000"/>
            </a:avLst>
          </a:prstGeom>
          <a:solidFill>
            <a:srgbClr val="4E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02_08"/>
          <p:cNvSpPr/>
          <p:nvPr/>
        </p:nvSpPr>
        <p:spPr>
          <a:xfrm>
            <a:off x="9055720" y="7447093"/>
            <a:ext cx="218434" cy="218434"/>
          </a:xfrm>
          <a:prstGeom prst="roundRect">
            <a:avLst>
              <a:gd name="adj" fmla="val 30000"/>
            </a:avLst>
          </a:prstGeom>
          <a:solidFill>
            <a:srgbClr val="CCCC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02_09"/>
          <p:cNvSpPr/>
          <p:nvPr/>
        </p:nvSpPr>
        <p:spPr>
          <a:xfrm>
            <a:off x="9394378" y="7447093"/>
            <a:ext cx="218434" cy="218434"/>
          </a:xfrm>
          <a:prstGeom prst="roundRect">
            <a:avLst>
              <a:gd name="adj" fmla="val 30000"/>
            </a:avLst>
          </a:prstGeom>
          <a:solidFill>
            <a:srgbClr val="CCC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02_10"/>
          <p:cNvSpPr/>
          <p:nvPr/>
        </p:nvSpPr>
        <p:spPr>
          <a:xfrm>
            <a:off x="9733036" y="7447093"/>
            <a:ext cx="218434" cy="218434"/>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02_11"/>
          <p:cNvSpPr/>
          <p:nvPr/>
        </p:nvSpPr>
        <p:spPr>
          <a:xfrm>
            <a:off x="10071694" y="7447093"/>
            <a:ext cx="218434" cy="218434"/>
          </a:xfrm>
          <a:prstGeom prst="roundRect">
            <a:avLst>
              <a:gd name="adj" fmla="val 30000"/>
            </a:avLst>
          </a:prstGeom>
          <a:solidFill>
            <a:srgbClr val="1D8A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02_12"/>
          <p:cNvSpPr/>
          <p:nvPr/>
        </p:nvSpPr>
        <p:spPr>
          <a:xfrm>
            <a:off x="10410353" y="7447093"/>
            <a:ext cx="218434" cy="218434"/>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03_05"/>
          <p:cNvSpPr/>
          <p:nvPr/>
        </p:nvSpPr>
        <p:spPr>
          <a:xfrm>
            <a:off x="8039745" y="7193100"/>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03_06"/>
          <p:cNvSpPr/>
          <p:nvPr/>
        </p:nvSpPr>
        <p:spPr>
          <a:xfrm>
            <a:off x="8378403" y="7193100"/>
            <a:ext cx="218434" cy="218434"/>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03_07"/>
          <p:cNvSpPr/>
          <p:nvPr/>
        </p:nvSpPr>
        <p:spPr>
          <a:xfrm>
            <a:off x="8717062" y="7193100"/>
            <a:ext cx="218434" cy="218434"/>
          </a:xfrm>
          <a:prstGeom prst="roundRect">
            <a:avLst>
              <a:gd name="adj" fmla="val 30000"/>
            </a:avLst>
          </a:prstGeom>
          <a:solidFill>
            <a:srgbClr val="63B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03_08"/>
          <p:cNvSpPr/>
          <p:nvPr/>
        </p:nvSpPr>
        <p:spPr>
          <a:xfrm>
            <a:off x="9055720" y="7193100"/>
            <a:ext cx="218434" cy="218434"/>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03_09"/>
          <p:cNvSpPr/>
          <p:nvPr/>
        </p:nvSpPr>
        <p:spPr>
          <a:xfrm>
            <a:off x="9394378" y="7193100"/>
            <a:ext cx="218434" cy="218434"/>
          </a:xfrm>
          <a:prstGeom prst="roundRect">
            <a:avLst>
              <a:gd name="adj" fmla="val 30000"/>
            </a:avLst>
          </a:prstGeom>
          <a:solidFill>
            <a:srgbClr val="F4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03_10"/>
          <p:cNvSpPr/>
          <p:nvPr/>
        </p:nvSpPr>
        <p:spPr>
          <a:xfrm>
            <a:off x="9733036" y="7193100"/>
            <a:ext cx="218434" cy="218434"/>
          </a:xfrm>
          <a:prstGeom prst="roundRect">
            <a:avLst>
              <a:gd name="adj" fmla="val 30000"/>
            </a:avLst>
          </a:prstGeom>
          <a:solidFill>
            <a:srgbClr val="61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03_11"/>
          <p:cNvSpPr/>
          <p:nvPr/>
        </p:nvSpPr>
        <p:spPr>
          <a:xfrm>
            <a:off x="10071694" y="7193100"/>
            <a:ext cx="218434" cy="218434"/>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03_12"/>
          <p:cNvSpPr/>
          <p:nvPr/>
        </p:nvSpPr>
        <p:spPr>
          <a:xfrm>
            <a:off x="10410353" y="7193100"/>
            <a:ext cx="218434" cy="218434"/>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04_05"/>
          <p:cNvSpPr/>
          <p:nvPr/>
        </p:nvSpPr>
        <p:spPr>
          <a:xfrm>
            <a:off x="8039745" y="6939106"/>
            <a:ext cx="218434" cy="218434"/>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04_06"/>
          <p:cNvSpPr/>
          <p:nvPr/>
        </p:nvSpPr>
        <p:spPr>
          <a:xfrm>
            <a:off x="8378403" y="6939106"/>
            <a:ext cx="218434" cy="218434"/>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04_07"/>
          <p:cNvSpPr/>
          <p:nvPr/>
        </p:nvSpPr>
        <p:spPr>
          <a:xfrm>
            <a:off x="8717062" y="6939106"/>
            <a:ext cx="218434" cy="218434"/>
          </a:xfrm>
          <a:prstGeom prst="roundRect">
            <a:avLst>
              <a:gd name="adj" fmla="val 30000"/>
            </a:avLst>
          </a:prstGeom>
          <a:solidFill>
            <a:srgbClr val="68C0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04_08"/>
          <p:cNvSpPr/>
          <p:nvPr/>
        </p:nvSpPr>
        <p:spPr>
          <a:xfrm>
            <a:off x="9055720" y="6939106"/>
            <a:ext cx="218434" cy="218434"/>
          </a:xfrm>
          <a:prstGeom prst="roundRect">
            <a:avLst>
              <a:gd name="adj" fmla="val 30000"/>
            </a:avLst>
          </a:prstGeom>
          <a:solidFill>
            <a:srgbClr val="F8D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04_09"/>
          <p:cNvSpPr/>
          <p:nvPr/>
        </p:nvSpPr>
        <p:spPr>
          <a:xfrm>
            <a:off x="9394378" y="6939106"/>
            <a:ext cx="218434" cy="218434"/>
          </a:xfrm>
          <a:prstGeom prst="roundRect">
            <a:avLst>
              <a:gd name="adj" fmla="val 30000"/>
            </a:avLst>
          </a:prstGeom>
          <a:solidFill>
            <a:srgbClr val="F8D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04_10"/>
          <p:cNvSpPr/>
          <p:nvPr/>
        </p:nvSpPr>
        <p:spPr>
          <a:xfrm>
            <a:off x="9733036" y="6939106"/>
            <a:ext cx="218434" cy="218434"/>
          </a:xfrm>
          <a:prstGeom prst="roundRect">
            <a:avLst>
              <a:gd name="adj" fmla="val 30000"/>
            </a:avLst>
          </a:prstGeom>
          <a:solidFill>
            <a:srgbClr val="68C0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04_11"/>
          <p:cNvSpPr/>
          <p:nvPr/>
        </p:nvSpPr>
        <p:spPr>
          <a:xfrm>
            <a:off x="10071694" y="6939106"/>
            <a:ext cx="218434" cy="218434"/>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04_12"/>
          <p:cNvSpPr/>
          <p:nvPr/>
        </p:nvSpPr>
        <p:spPr>
          <a:xfrm>
            <a:off x="10410353" y="6939106"/>
            <a:ext cx="218434" cy="218434"/>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05_05"/>
          <p:cNvSpPr/>
          <p:nvPr/>
        </p:nvSpPr>
        <p:spPr>
          <a:xfrm>
            <a:off x="8039745" y="6685112"/>
            <a:ext cx="218434" cy="218434"/>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05_06"/>
          <p:cNvSpPr/>
          <p:nvPr/>
        </p:nvSpPr>
        <p:spPr>
          <a:xfrm>
            <a:off x="8378403" y="6685112"/>
            <a:ext cx="218434" cy="218434"/>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05_07"/>
          <p:cNvSpPr/>
          <p:nvPr/>
        </p:nvSpPr>
        <p:spPr>
          <a:xfrm>
            <a:off x="8717062" y="6685112"/>
            <a:ext cx="218434" cy="218434"/>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05_08"/>
          <p:cNvSpPr/>
          <p:nvPr/>
        </p:nvSpPr>
        <p:spPr>
          <a:xfrm>
            <a:off x="9055720" y="6685112"/>
            <a:ext cx="218434" cy="218434"/>
          </a:xfrm>
          <a:prstGeom prst="roundRect">
            <a:avLst>
              <a:gd name="adj" fmla="val 30000"/>
            </a:avLst>
          </a:prstGeom>
          <a:solidFill>
            <a:srgbClr val="DA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05_09"/>
          <p:cNvSpPr/>
          <p:nvPr/>
        </p:nvSpPr>
        <p:spPr>
          <a:xfrm>
            <a:off x="9394378" y="6685112"/>
            <a:ext cx="218434" cy="218434"/>
          </a:xfrm>
          <a:prstGeom prst="roundRect">
            <a:avLst>
              <a:gd name="adj" fmla="val 30000"/>
            </a:avLst>
          </a:prstGeom>
          <a:solidFill>
            <a:srgbClr val="DCC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05_10"/>
          <p:cNvSpPr/>
          <p:nvPr/>
        </p:nvSpPr>
        <p:spPr>
          <a:xfrm>
            <a:off x="9733036" y="6685112"/>
            <a:ext cx="218434" cy="218434"/>
          </a:xfrm>
          <a:prstGeom prst="roundRect">
            <a:avLst>
              <a:gd name="adj" fmla="val 30000"/>
            </a:avLst>
          </a:prstGeom>
          <a:solidFill>
            <a:srgbClr val="56BD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05_11"/>
          <p:cNvSpPr/>
          <p:nvPr/>
        </p:nvSpPr>
        <p:spPr>
          <a:xfrm>
            <a:off x="10071694" y="6685112"/>
            <a:ext cx="218434" cy="218434"/>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05_12"/>
          <p:cNvSpPr/>
          <p:nvPr/>
        </p:nvSpPr>
        <p:spPr>
          <a:xfrm>
            <a:off x="10410353" y="6685112"/>
            <a:ext cx="218434" cy="218434"/>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06_05"/>
          <p:cNvSpPr/>
          <p:nvPr/>
        </p:nvSpPr>
        <p:spPr>
          <a:xfrm>
            <a:off x="8039745" y="6431119"/>
            <a:ext cx="218434" cy="218434"/>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06_06"/>
          <p:cNvSpPr/>
          <p:nvPr/>
        </p:nvSpPr>
        <p:spPr>
          <a:xfrm>
            <a:off x="8378403" y="6431119"/>
            <a:ext cx="218434" cy="218434"/>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06_07"/>
          <p:cNvSpPr/>
          <p:nvPr/>
        </p:nvSpPr>
        <p:spPr>
          <a:xfrm>
            <a:off x="8717062" y="6431119"/>
            <a:ext cx="218434" cy="218434"/>
          </a:xfrm>
          <a:prstGeom prst="roundRect">
            <a:avLst>
              <a:gd name="adj" fmla="val 30000"/>
            </a:avLst>
          </a:prstGeom>
          <a:solidFill>
            <a:srgbClr val="47B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06_08"/>
          <p:cNvSpPr/>
          <p:nvPr/>
        </p:nvSpPr>
        <p:spPr>
          <a:xfrm>
            <a:off x="9055720" y="6431119"/>
            <a:ext cx="218434" cy="218434"/>
          </a:xfrm>
          <a:prstGeom prst="roundRect">
            <a:avLst>
              <a:gd name="adj" fmla="val 30000"/>
            </a:avLst>
          </a:prstGeom>
          <a:solidFill>
            <a:srgbClr val="A2C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06_09"/>
          <p:cNvSpPr/>
          <p:nvPr/>
        </p:nvSpPr>
        <p:spPr>
          <a:xfrm>
            <a:off x="9394378" y="6431119"/>
            <a:ext cx="218434" cy="218434"/>
          </a:xfrm>
          <a:prstGeom prst="roundRect">
            <a:avLst>
              <a:gd name="adj" fmla="val 30000"/>
            </a:avLst>
          </a:prstGeom>
          <a:solidFill>
            <a:srgbClr val="A5C7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06_10"/>
          <p:cNvSpPr/>
          <p:nvPr/>
        </p:nvSpPr>
        <p:spPr>
          <a:xfrm>
            <a:off x="9733036" y="6431119"/>
            <a:ext cx="218434" cy="218434"/>
          </a:xfrm>
          <a:prstGeom prst="roundRect">
            <a:avLst>
              <a:gd name="adj" fmla="val 30000"/>
            </a:avLst>
          </a:prstGeom>
          <a:solidFill>
            <a:srgbClr val="49B5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06_11"/>
          <p:cNvSpPr/>
          <p:nvPr/>
        </p:nvSpPr>
        <p:spPr>
          <a:xfrm>
            <a:off x="10071694" y="6431119"/>
            <a:ext cx="218434" cy="218434"/>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06_12"/>
          <p:cNvSpPr/>
          <p:nvPr/>
        </p:nvSpPr>
        <p:spPr>
          <a:xfrm>
            <a:off x="10410353" y="6431119"/>
            <a:ext cx="218434" cy="218434"/>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07_05"/>
          <p:cNvSpPr/>
          <p:nvPr/>
        </p:nvSpPr>
        <p:spPr>
          <a:xfrm>
            <a:off x="8039745" y="6177125"/>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07_06"/>
          <p:cNvSpPr/>
          <p:nvPr/>
        </p:nvSpPr>
        <p:spPr>
          <a:xfrm>
            <a:off x="8378403" y="6177125"/>
            <a:ext cx="218434" cy="218434"/>
          </a:xfrm>
          <a:prstGeom prst="roundRect">
            <a:avLst>
              <a:gd name="adj" fmla="val 30000"/>
            </a:avLst>
          </a:prstGeom>
          <a:solidFill>
            <a:srgbClr val="1B82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07_07"/>
          <p:cNvSpPr/>
          <p:nvPr/>
        </p:nvSpPr>
        <p:spPr>
          <a:xfrm>
            <a:off x="8717062" y="6177125"/>
            <a:ext cx="218434" cy="218434"/>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07_08"/>
          <p:cNvSpPr/>
          <p:nvPr/>
        </p:nvSpPr>
        <p:spPr>
          <a:xfrm>
            <a:off x="9055720" y="6177125"/>
            <a:ext cx="218434" cy="218434"/>
          </a:xfrm>
          <a:prstGeom prst="roundRect">
            <a:avLst>
              <a:gd name="adj" fmla="val 30000"/>
            </a:avLst>
          </a:prstGeom>
          <a:solidFill>
            <a:srgbClr val="5BB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07_09"/>
          <p:cNvSpPr/>
          <p:nvPr/>
        </p:nvSpPr>
        <p:spPr>
          <a:xfrm>
            <a:off x="9394378" y="6177125"/>
            <a:ext cx="218434" cy="218434"/>
          </a:xfrm>
          <a:prstGeom prst="roundRect">
            <a:avLst>
              <a:gd name="adj" fmla="val 30000"/>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07_10"/>
          <p:cNvSpPr/>
          <p:nvPr/>
        </p:nvSpPr>
        <p:spPr>
          <a:xfrm>
            <a:off x="9733036" y="6177125"/>
            <a:ext cx="218434" cy="218434"/>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07_11"/>
          <p:cNvSpPr/>
          <p:nvPr/>
        </p:nvSpPr>
        <p:spPr>
          <a:xfrm>
            <a:off x="10071694" y="6177125"/>
            <a:ext cx="218434" cy="218434"/>
          </a:xfrm>
          <a:prstGeom prst="roundRect">
            <a:avLst>
              <a:gd name="adj" fmla="val 30000"/>
            </a:avLst>
          </a:prstGeom>
          <a:solidFill>
            <a:srgbClr val="1C87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07_12"/>
          <p:cNvSpPr/>
          <p:nvPr/>
        </p:nvSpPr>
        <p:spPr>
          <a:xfrm>
            <a:off x="10410353" y="6177125"/>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08_05"/>
          <p:cNvSpPr/>
          <p:nvPr/>
        </p:nvSpPr>
        <p:spPr>
          <a:xfrm>
            <a:off x="8039745" y="5923131"/>
            <a:ext cx="218434" cy="218434"/>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08_06"/>
          <p:cNvSpPr/>
          <p:nvPr/>
        </p:nvSpPr>
        <p:spPr>
          <a:xfrm>
            <a:off x="8378403" y="5923131"/>
            <a:ext cx="218434" cy="218434"/>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08_07"/>
          <p:cNvSpPr/>
          <p:nvPr/>
        </p:nvSpPr>
        <p:spPr>
          <a:xfrm>
            <a:off x="8717062" y="5923131"/>
            <a:ext cx="218434" cy="218434"/>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08_08"/>
          <p:cNvSpPr/>
          <p:nvPr/>
        </p:nvSpPr>
        <p:spPr>
          <a:xfrm>
            <a:off x="9055720" y="5923131"/>
            <a:ext cx="218434" cy="218434"/>
          </a:xfrm>
          <a:prstGeom prst="roundRect">
            <a:avLst>
              <a:gd name="adj" fmla="val 30000"/>
            </a:avLst>
          </a:prstGeom>
          <a:solidFill>
            <a:srgbClr val="41A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08_09"/>
          <p:cNvSpPr/>
          <p:nvPr/>
        </p:nvSpPr>
        <p:spPr>
          <a:xfrm>
            <a:off x="9394378" y="5923131"/>
            <a:ext cx="218434" cy="218434"/>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08_10"/>
          <p:cNvSpPr/>
          <p:nvPr/>
        </p:nvSpPr>
        <p:spPr>
          <a:xfrm>
            <a:off x="9733036" y="5923131"/>
            <a:ext cx="218434" cy="218434"/>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08_11"/>
          <p:cNvSpPr/>
          <p:nvPr/>
        </p:nvSpPr>
        <p:spPr>
          <a:xfrm>
            <a:off x="10071694" y="5923131"/>
            <a:ext cx="218434" cy="218434"/>
          </a:xfrm>
          <a:prstGeom prst="roundRect">
            <a:avLst>
              <a:gd name="adj" fmla="val 30000"/>
            </a:avLst>
          </a:prstGeom>
          <a:solidFill>
            <a:srgbClr val="1A7E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08_12"/>
          <p:cNvSpPr/>
          <p:nvPr/>
        </p:nvSpPr>
        <p:spPr>
          <a:xfrm>
            <a:off x="10410353" y="5923131"/>
            <a:ext cx="218434" cy="218434"/>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09_05"/>
          <p:cNvSpPr/>
          <p:nvPr/>
        </p:nvSpPr>
        <p:spPr>
          <a:xfrm>
            <a:off x="8039745" y="5669138"/>
            <a:ext cx="218434" cy="218434"/>
          </a:xfrm>
          <a:prstGeom prst="roundRect">
            <a:avLst>
              <a:gd name="adj" fmla="val 30000"/>
            </a:avLst>
          </a:prstGeom>
          <a:solidFill>
            <a:srgbClr val="114F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09_06"/>
          <p:cNvSpPr/>
          <p:nvPr/>
        </p:nvSpPr>
        <p:spPr>
          <a:xfrm>
            <a:off x="8378403" y="5669138"/>
            <a:ext cx="218434" cy="218434"/>
          </a:xfrm>
          <a:prstGeom prst="roundRect">
            <a:avLst>
              <a:gd name="adj" fmla="val 30000"/>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09_07"/>
          <p:cNvSpPr/>
          <p:nvPr/>
        </p:nvSpPr>
        <p:spPr>
          <a:xfrm>
            <a:off x="8717062" y="5669138"/>
            <a:ext cx="218434" cy="218434"/>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09_08"/>
          <p:cNvSpPr/>
          <p:nvPr/>
        </p:nvSpPr>
        <p:spPr>
          <a:xfrm>
            <a:off x="9055720" y="5669138"/>
            <a:ext cx="218434" cy="218434"/>
          </a:xfrm>
          <a:prstGeom prst="roundRect">
            <a:avLst>
              <a:gd name="adj" fmla="val 30000"/>
            </a:avLst>
          </a:prstGeom>
          <a:solidFill>
            <a:srgbClr val="2F9D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09_09"/>
          <p:cNvSpPr/>
          <p:nvPr/>
        </p:nvSpPr>
        <p:spPr>
          <a:xfrm>
            <a:off x="9394378" y="5669138"/>
            <a:ext cx="218434" cy="218434"/>
          </a:xfrm>
          <a:prstGeom prst="roundRect">
            <a:avLst>
              <a:gd name="adj" fmla="val 30000"/>
            </a:avLst>
          </a:prstGeom>
          <a:solidFill>
            <a:srgbClr val="33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09_10"/>
          <p:cNvSpPr/>
          <p:nvPr/>
        </p:nvSpPr>
        <p:spPr>
          <a:xfrm>
            <a:off x="9733036" y="5669138"/>
            <a:ext cx="218434" cy="218434"/>
          </a:xfrm>
          <a:prstGeom prst="roundRect">
            <a:avLst>
              <a:gd name="adj" fmla="val 30000"/>
            </a:avLst>
          </a:prstGeom>
          <a:solidFill>
            <a:srgbClr val="25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09_11"/>
          <p:cNvSpPr/>
          <p:nvPr/>
        </p:nvSpPr>
        <p:spPr>
          <a:xfrm>
            <a:off x="10071694" y="5669138"/>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09_12"/>
          <p:cNvSpPr/>
          <p:nvPr/>
        </p:nvSpPr>
        <p:spPr>
          <a:xfrm>
            <a:off x="10410353" y="5669138"/>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10_06"/>
          <p:cNvSpPr/>
          <p:nvPr/>
        </p:nvSpPr>
        <p:spPr>
          <a:xfrm>
            <a:off x="8378403" y="5415144"/>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10_07"/>
          <p:cNvSpPr/>
          <p:nvPr/>
        </p:nvSpPr>
        <p:spPr>
          <a:xfrm>
            <a:off x="8717062" y="5415144"/>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10_08"/>
          <p:cNvSpPr/>
          <p:nvPr/>
        </p:nvSpPr>
        <p:spPr>
          <a:xfrm>
            <a:off x="9055720" y="5415144"/>
            <a:ext cx="218434" cy="218434"/>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10_09"/>
          <p:cNvSpPr/>
          <p:nvPr/>
        </p:nvSpPr>
        <p:spPr>
          <a:xfrm>
            <a:off x="9394378" y="5415144"/>
            <a:ext cx="218434" cy="218434"/>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10_10"/>
          <p:cNvSpPr/>
          <p:nvPr/>
        </p:nvSpPr>
        <p:spPr>
          <a:xfrm>
            <a:off x="9733036" y="5415144"/>
            <a:ext cx="218434" cy="218434"/>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10_11"/>
          <p:cNvSpPr/>
          <p:nvPr/>
        </p:nvSpPr>
        <p:spPr>
          <a:xfrm>
            <a:off x="10071694" y="5415144"/>
            <a:ext cx="218434" cy="218434"/>
          </a:xfrm>
          <a:prstGeom prst="roundRect">
            <a:avLst>
              <a:gd name="adj" fmla="val 30000"/>
            </a:avLst>
          </a:prstGeom>
          <a:solidFill>
            <a:srgbClr val="19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10_12"/>
          <p:cNvSpPr/>
          <p:nvPr/>
        </p:nvSpPr>
        <p:spPr>
          <a:xfrm>
            <a:off x="10410353" y="5415144"/>
            <a:ext cx="218434" cy="218434"/>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11_06"/>
          <p:cNvSpPr/>
          <p:nvPr/>
        </p:nvSpPr>
        <p:spPr>
          <a:xfrm>
            <a:off x="8378403" y="5161150"/>
            <a:ext cx="218434" cy="218434"/>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11_07"/>
          <p:cNvSpPr/>
          <p:nvPr/>
        </p:nvSpPr>
        <p:spPr>
          <a:xfrm>
            <a:off x="8717062" y="5161150"/>
            <a:ext cx="218434" cy="218434"/>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11_08"/>
          <p:cNvSpPr/>
          <p:nvPr/>
        </p:nvSpPr>
        <p:spPr>
          <a:xfrm>
            <a:off x="9055720" y="5161150"/>
            <a:ext cx="218434" cy="218434"/>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11_09"/>
          <p:cNvSpPr/>
          <p:nvPr/>
        </p:nvSpPr>
        <p:spPr>
          <a:xfrm>
            <a:off x="9394378" y="5161150"/>
            <a:ext cx="218434" cy="218434"/>
          </a:xfrm>
          <a:prstGeom prst="roundRect">
            <a:avLst>
              <a:gd name="adj" fmla="val 30000"/>
            </a:avLst>
          </a:prstGeom>
          <a:solidFill>
            <a:srgbClr val="1E8D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11_10"/>
          <p:cNvSpPr/>
          <p:nvPr/>
        </p:nvSpPr>
        <p:spPr>
          <a:xfrm>
            <a:off x="9733036" y="5161150"/>
            <a:ext cx="218434" cy="218434"/>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11_11"/>
          <p:cNvSpPr/>
          <p:nvPr/>
        </p:nvSpPr>
        <p:spPr>
          <a:xfrm>
            <a:off x="10071694" y="5161150"/>
            <a:ext cx="218434" cy="218434"/>
          </a:xfrm>
          <a:prstGeom prst="roundRect">
            <a:avLst>
              <a:gd name="adj" fmla="val 30000"/>
            </a:avLst>
          </a:prstGeom>
          <a:solidFill>
            <a:srgbClr val="19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11_12"/>
          <p:cNvSpPr/>
          <p:nvPr/>
        </p:nvSpPr>
        <p:spPr>
          <a:xfrm>
            <a:off x="10410353" y="5161150"/>
            <a:ext cx="218434" cy="218434"/>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12_06"/>
          <p:cNvSpPr/>
          <p:nvPr/>
        </p:nvSpPr>
        <p:spPr>
          <a:xfrm>
            <a:off x="8378403" y="4907157"/>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12_07"/>
          <p:cNvSpPr/>
          <p:nvPr/>
        </p:nvSpPr>
        <p:spPr>
          <a:xfrm>
            <a:off x="8717062" y="4907157"/>
            <a:ext cx="218434" cy="218434"/>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12_08"/>
          <p:cNvSpPr/>
          <p:nvPr/>
        </p:nvSpPr>
        <p:spPr>
          <a:xfrm>
            <a:off x="9055720" y="4907157"/>
            <a:ext cx="218434" cy="218434"/>
          </a:xfrm>
          <a:prstGeom prst="roundRect">
            <a:avLst>
              <a:gd name="adj" fmla="val 30000"/>
            </a:avLst>
          </a:prstGeom>
          <a:solidFill>
            <a:srgbClr val="1A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12_09"/>
          <p:cNvSpPr/>
          <p:nvPr/>
        </p:nvSpPr>
        <p:spPr>
          <a:xfrm>
            <a:off x="9394378" y="4907157"/>
            <a:ext cx="218434" cy="218434"/>
          </a:xfrm>
          <a:prstGeom prst="roundRect">
            <a:avLst>
              <a:gd name="adj" fmla="val 30000"/>
            </a:avLst>
          </a:prstGeom>
          <a:solidFill>
            <a:srgbClr val="1C87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12_10"/>
          <p:cNvSpPr/>
          <p:nvPr/>
        </p:nvSpPr>
        <p:spPr>
          <a:xfrm>
            <a:off x="9733036" y="4907157"/>
            <a:ext cx="218434" cy="218434"/>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12_11"/>
          <p:cNvSpPr/>
          <p:nvPr/>
        </p:nvSpPr>
        <p:spPr>
          <a:xfrm>
            <a:off x="10071694" y="4907157"/>
            <a:ext cx="218434" cy="218434"/>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12_12"/>
          <p:cNvSpPr/>
          <p:nvPr/>
        </p:nvSpPr>
        <p:spPr>
          <a:xfrm>
            <a:off x="10410353" y="4907157"/>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13_06"/>
          <p:cNvSpPr/>
          <p:nvPr/>
        </p:nvSpPr>
        <p:spPr>
          <a:xfrm>
            <a:off x="8378403" y="4653163"/>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13_07"/>
          <p:cNvSpPr/>
          <p:nvPr/>
        </p:nvSpPr>
        <p:spPr>
          <a:xfrm>
            <a:off x="8717062" y="4653163"/>
            <a:ext cx="218434" cy="218434"/>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13_08"/>
          <p:cNvSpPr/>
          <p:nvPr/>
        </p:nvSpPr>
        <p:spPr>
          <a:xfrm>
            <a:off x="9055720" y="4653163"/>
            <a:ext cx="218434" cy="218434"/>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13_09"/>
          <p:cNvSpPr/>
          <p:nvPr/>
        </p:nvSpPr>
        <p:spPr>
          <a:xfrm>
            <a:off x="9394378" y="4653163"/>
            <a:ext cx="218434" cy="218434"/>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13_10"/>
          <p:cNvSpPr/>
          <p:nvPr/>
        </p:nvSpPr>
        <p:spPr>
          <a:xfrm>
            <a:off x="9733036" y="4653163"/>
            <a:ext cx="218434" cy="218434"/>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13_11"/>
          <p:cNvSpPr/>
          <p:nvPr/>
        </p:nvSpPr>
        <p:spPr>
          <a:xfrm>
            <a:off x="10071694" y="4653163"/>
            <a:ext cx="218434" cy="218434"/>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13_12"/>
          <p:cNvSpPr/>
          <p:nvPr/>
        </p:nvSpPr>
        <p:spPr>
          <a:xfrm>
            <a:off x="10410353" y="4653163"/>
            <a:ext cx="218434" cy="218434"/>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14_06"/>
          <p:cNvSpPr/>
          <p:nvPr/>
        </p:nvSpPr>
        <p:spPr>
          <a:xfrm>
            <a:off x="8378403" y="4399170"/>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14_07"/>
          <p:cNvSpPr/>
          <p:nvPr/>
        </p:nvSpPr>
        <p:spPr>
          <a:xfrm>
            <a:off x="8717062" y="4399170"/>
            <a:ext cx="218434" cy="218434"/>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14_08"/>
          <p:cNvSpPr/>
          <p:nvPr/>
        </p:nvSpPr>
        <p:spPr>
          <a:xfrm>
            <a:off x="9055720" y="4399170"/>
            <a:ext cx="218434" cy="218434"/>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14_09"/>
          <p:cNvSpPr/>
          <p:nvPr/>
        </p:nvSpPr>
        <p:spPr>
          <a:xfrm>
            <a:off x="9394378" y="4399170"/>
            <a:ext cx="218434" cy="218434"/>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14_10"/>
          <p:cNvSpPr/>
          <p:nvPr/>
        </p:nvSpPr>
        <p:spPr>
          <a:xfrm>
            <a:off x="9733036" y="4399170"/>
            <a:ext cx="218434" cy="218434"/>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14_11"/>
          <p:cNvSpPr/>
          <p:nvPr/>
        </p:nvSpPr>
        <p:spPr>
          <a:xfrm>
            <a:off x="10071694" y="4399170"/>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14_12"/>
          <p:cNvSpPr/>
          <p:nvPr/>
        </p:nvSpPr>
        <p:spPr>
          <a:xfrm>
            <a:off x="10410353" y="4399170"/>
            <a:ext cx="218434" cy="218434"/>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15_07"/>
          <p:cNvSpPr/>
          <p:nvPr/>
        </p:nvSpPr>
        <p:spPr>
          <a:xfrm>
            <a:off x="8717062" y="4145176"/>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15_08"/>
          <p:cNvSpPr/>
          <p:nvPr/>
        </p:nvSpPr>
        <p:spPr>
          <a:xfrm>
            <a:off x="9055720" y="4145176"/>
            <a:ext cx="218434" cy="218434"/>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15_09"/>
          <p:cNvSpPr/>
          <p:nvPr/>
        </p:nvSpPr>
        <p:spPr>
          <a:xfrm>
            <a:off x="9394378" y="4145176"/>
            <a:ext cx="218434" cy="218434"/>
          </a:xfrm>
          <a:prstGeom prst="roundRect">
            <a:avLst>
              <a:gd name="adj" fmla="val 30000"/>
            </a:avLst>
          </a:prstGeom>
          <a:solidFill>
            <a:srgbClr val="1A8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15_10"/>
          <p:cNvSpPr/>
          <p:nvPr/>
        </p:nvSpPr>
        <p:spPr>
          <a:xfrm>
            <a:off x="9733036" y="4145176"/>
            <a:ext cx="218434" cy="218434"/>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15_11"/>
          <p:cNvSpPr/>
          <p:nvPr/>
        </p:nvSpPr>
        <p:spPr>
          <a:xfrm>
            <a:off x="10071694" y="4145176"/>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15_12"/>
          <p:cNvSpPr/>
          <p:nvPr/>
        </p:nvSpPr>
        <p:spPr>
          <a:xfrm>
            <a:off x="10410353" y="4145176"/>
            <a:ext cx="218434" cy="218434"/>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15_13"/>
          <p:cNvSpPr/>
          <p:nvPr/>
        </p:nvSpPr>
        <p:spPr>
          <a:xfrm>
            <a:off x="10749011" y="4145176"/>
            <a:ext cx="218434" cy="218434"/>
          </a:xfrm>
          <a:prstGeom prst="roundRect">
            <a:avLst>
              <a:gd name="adj" fmla="val 30000"/>
            </a:avLst>
          </a:prstGeom>
          <a:solidFill>
            <a:srgbClr val="125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16_07"/>
          <p:cNvSpPr/>
          <p:nvPr/>
        </p:nvSpPr>
        <p:spPr>
          <a:xfrm>
            <a:off x="8717062" y="3891182"/>
            <a:ext cx="218434" cy="218434"/>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16_08"/>
          <p:cNvSpPr/>
          <p:nvPr/>
        </p:nvSpPr>
        <p:spPr>
          <a:xfrm>
            <a:off x="9055720" y="3891182"/>
            <a:ext cx="218434" cy="218434"/>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16_09"/>
          <p:cNvSpPr/>
          <p:nvPr/>
        </p:nvSpPr>
        <p:spPr>
          <a:xfrm>
            <a:off x="9394378" y="3891182"/>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16_10"/>
          <p:cNvSpPr/>
          <p:nvPr/>
        </p:nvSpPr>
        <p:spPr>
          <a:xfrm>
            <a:off x="9733036" y="3891182"/>
            <a:ext cx="218434" cy="218434"/>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16_11"/>
          <p:cNvSpPr/>
          <p:nvPr/>
        </p:nvSpPr>
        <p:spPr>
          <a:xfrm>
            <a:off x="10071694" y="3891182"/>
            <a:ext cx="218434" cy="218434"/>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16_12"/>
          <p:cNvSpPr/>
          <p:nvPr/>
        </p:nvSpPr>
        <p:spPr>
          <a:xfrm>
            <a:off x="10410353" y="3891182"/>
            <a:ext cx="218434" cy="218434"/>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16_13"/>
          <p:cNvSpPr/>
          <p:nvPr/>
        </p:nvSpPr>
        <p:spPr>
          <a:xfrm>
            <a:off x="10749011" y="3891182"/>
            <a:ext cx="218434" cy="218434"/>
          </a:xfrm>
          <a:prstGeom prst="roundRect">
            <a:avLst>
              <a:gd name="adj" fmla="val 30000"/>
            </a:avLst>
          </a:prstGeom>
          <a:solidFill>
            <a:srgbClr val="125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17_07"/>
          <p:cNvSpPr/>
          <p:nvPr/>
        </p:nvSpPr>
        <p:spPr>
          <a:xfrm>
            <a:off x="8717062" y="3637189"/>
            <a:ext cx="218434" cy="218434"/>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17_08"/>
          <p:cNvSpPr/>
          <p:nvPr/>
        </p:nvSpPr>
        <p:spPr>
          <a:xfrm>
            <a:off x="9055720" y="3637189"/>
            <a:ext cx="218434" cy="218434"/>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17_09"/>
          <p:cNvSpPr/>
          <p:nvPr/>
        </p:nvSpPr>
        <p:spPr>
          <a:xfrm>
            <a:off x="9394378" y="3637189"/>
            <a:ext cx="218434" cy="218434"/>
          </a:xfrm>
          <a:prstGeom prst="roundRect">
            <a:avLst>
              <a:gd name="adj" fmla="val 30000"/>
            </a:avLst>
          </a:prstGeom>
          <a:solidFill>
            <a:srgbClr val="1979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17_10"/>
          <p:cNvSpPr/>
          <p:nvPr/>
        </p:nvSpPr>
        <p:spPr>
          <a:xfrm>
            <a:off x="9733036" y="3637189"/>
            <a:ext cx="218434" cy="218434"/>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17_11"/>
          <p:cNvSpPr/>
          <p:nvPr/>
        </p:nvSpPr>
        <p:spPr>
          <a:xfrm>
            <a:off x="10071694" y="3637189"/>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17_12"/>
          <p:cNvSpPr/>
          <p:nvPr/>
        </p:nvSpPr>
        <p:spPr>
          <a:xfrm>
            <a:off x="10410353" y="3637189"/>
            <a:ext cx="218434" cy="218434"/>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17_13"/>
          <p:cNvSpPr/>
          <p:nvPr/>
        </p:nvSpPr>
        <p:spPr>
          <a:xfrm>
            <a:off x="10749011" y="3637189"/>
            <a:ext cx="218434" cy="218434"/>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18_06"/>
          <p:cNvSpPr/>
          <p:nvPr/>
        </p:nvSpPr>
        <p:spPr>
          <a:xfrm>
            <a:off x="8378403" y="3383195"/>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18_07"/>
          <p:cNvSpPr/>
          <p:nvPr/>
        </p:nvSpPr>
        <p:spPr>
          <a:xfrm>
            <a:off x="8717062" y="3383195"/>
            <a:ext cx="218434" cy="218434"/>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18_08"/>
          <p:cNvSpPr/>
          <p:nvPr/>
        </p:nvSpPr>
        <p:spPr>
          <a:xfrm>
            <a:off x="9055720" y="3383195"/>
            <a:ext cx="218434" cy="218434"/>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18_09"/>
          <p:cNvSpPr/>
          <p:nvPr/>
        </p:nvSpPr>
        <p:spPr>
          <a:xfrm>
            <a:off x="9394378" y="3383195"/>
            <a:ext cx="218434" cy="218434"/>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18_10"/>
          <p:cNvSpPr/>
          <p:nvPr/>
        </p:nvSpPr>
        <p:spPr>
          <a:xfrm>
            <a:off x="9733036" y="3383195"/>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18_11"/>
          <p:cNvSpPr/>
          <p:nvPr/>
        </p:nvSpPr>
        <p:spPr>
          <a:xfrm>
            <a:off x="10071694" y="3383195"/>
            <a:ext cx="218434" cy="218434"/>
          </a:xfrm>
          <a:prstGeom prst="roundRect">
            <a:avLst>
              <a:gd name="adj" fmla="val 30000"/>
            </a:avLst>
          </a:prstGeom>
          <a:solidFill>
            <a:srgbClr val="1977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18_12"/>
          <p:cNvSpPr/>
          <p:nvPr/>
        </p:nvSpPr>
        <p:spPr>
          <a:xfrm>
            <a:off x="10410353" y="3383195"/>
            <a:ext cx="218434" cy="218434"/>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18_13"/>
          <p:cNvSpPr/>
          <p:nvPr/>
        </p:nvSpPr>
        <p:spPr>
          <a:xfrm>
            <a:off x="10749011" y="3383195"/>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19_06"/>
          <p:cNvSpPr/>
          <p:nvPr/>
        </p:nvSpPr>
        <p:spPr>
          <a:xfrm>
            <a:off x="8378403" y="3129201"/>
            <a:ext cx="218434" cy="218434"/>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19_07"/>
          <p:cNvSpPr/>
          <p:nvPr/>
        </p:nvSpPr>
        <p:spPr>
          <a:xfrm>
            <a:off x="8717062" y="3129201"/>
            <a:ext cx="218434" cy="218434"/>
          </a:xfrm>
          <a:prstGeom prst="roundRect">
            <a:avLst>
              <a:gd name="adj" fmla="val 30000"/>
            </a:avLst>
          </a:prstGeom>
          <a:solidFill>
            <a:srgbClr val="1873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19_08"/>
          <p:cNvSpPr/>
          <p:nvPr/>
        </p:nvSpPr>
        <p:spPr>
          <a:xfrm>
            <a:off x="9055720" y="3129201"/>
            <a:ext cx="218434" cy="218434"/>
          </a:xfrm>
          <a:prstGeom prst="roundRect">
            <a:avLst>
              <a:gd name="adj" fmla="val 30000"/>
            </a:avLst>
          </a:prstGeom>
          <a:solidFill>
            <a:srgbClr val="19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19_09"/>
          <p:cNvSpPr/>
          <p:nvPr/>
        </p:nvSpPr>
        <p:spPr>
          <a:xfrm>
            <a:off x="9394378" y="3129201"/>
            <a:ext cx="218434" cy="218434"/>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19_10"/>
          <p:cNvSpPr/>
          <p:nvPr/>
        </p:nvSpPr>
        <p:spPr>
          <a:xfrm>
            <a:off x="9733036" y="3129201"/>
            <a:ext cx="218434" cy="218434"/>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19_11"/>
          <p:cNvSpPr/>
          <p:nvPr/>
        </p:nvSpPr>
        <p:spPr>
          <a:xfrm>
            <a:off x="10071694" y="3129201"/>
            <a:ext cx="218434" cy="218434"/>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19_12"/>
          <p:cNvSpPr/>
          <p:nvPr/>
        </p:nvSpPr>
        <p:spPr>
          <a:xfrm>
            <a:off x="10410353" y="3129201"/>
            <a:ext cx="218434" cy="218434"/>
          </a:xfrm>
          <a:prstGeom prst="roundRect">
            <a:avLst>
              <a:gd name="adj" fmla="val 30000"/>
            </a:avLst>
          </a:prstGeom>
          <a:solidFill>
            <a:srgbClr val="197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19_13"/>
          <p:cNvSpPr/>
          <p:nvPr/>
        </p:nvSpPr>
        <p:spPr>
          <a:xfrm>
            <a:off x="10749011" y="3129201"/>
            <a:ext cx="218434" cy="218434"/>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20_06"/>
          <p:cNvSpPr/>
          <p:nvPr/>
        </p:nvSpPr>
        <p:spPr>
          <a:xfrm>
            <a:off x="8378403" y="2875208"/>
            <a:ext cx="218434" cy="218434"/>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20_07"/>
          <p:cNvSpPr/>
          <p:nvPr/>
        </p:nvSpPr>
        <p:spPr>
          <a:xfrm>
            <a:off x="8717062" y="2875208"/>
            <a:ext cx="218434" cy="218434"/>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20_08"/>
          <p:cNvSpPr/>
          <p:nvPr/>
        </p:nvSpPr>
        <p:spPr>
          <a:xfrm>
            <a:off x="9055720" y="2875208"/>
            <a:ext cx="218434" cy="218434"/>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20_09"/>
          <p:cNvSpPr/>
          <p:nvPr/>
        </p:nvSpPr>
        <p:spPr>
          <a:xfrm>
            <a:off x="9394378" y="2875208"/>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20_10"/>
          <p:cNvSpPr/>
          <p:nvPr/>
        </p:nvSpPr>
        <p:spPr>
          <a:xfrm>
            <a:off x="9733036" y="2875208"/>
            <a:ext cx="218434" cy="218434"/>
          </a:xfrm>
          <a:prstGeom prst="roundRect">
            <a:avLst>
              <a:gd name="adj" fmla="val 30000"/>
            </a:avLst>
          </a:prstGeom>
          <a:solidFill>
            <a:srgbClr val="1875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20_11"/>
          <p:cNvSpPr/>
          <p:nvPr/>
        </p:nvSpPr>
        <p:spPr>
          <a:xfrm>
            <a:off x="10071694" y="2875208"/>
            <a:ext cx="218434" cy="218434"/>
          </a:xfrm>
          <a:prstGeom prst="roundRect">
            <a:avLst>
              <a:gd name="adj" fmla="val 30000"/>
            </a:avLst>
          </a:prstGeom>
          <a:solidFill>
            <a:srgbClr val="1C86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20_12"/>
          <p:cNvSpPr/>
          <p:nvPr/>
        </p:nvSpPr>
        <p:spPr>
          <a:xfrm>
            <a:off x="10410353" y="2875208"/>
            <a:ext cx="218434" cy="218434"/>
          </a:xfrm>
          <a:prstGeom prst="roundRect">
            <a:avLst>
              <a:gd name="adj" fmla="val 30000"/>
            </a:avLst>
          </a:prstGeom>
          <a:solidFill>
            <a:srgbClr val="20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20_13"/>
          <p:cNvSpPr/>
          <p:nvPr/>
        </p:nvSpPr>
        <p:spPr>
          <a:xfrm>
            <a:off x="10749011" y="2875208"/>
            <a:ext cx="218434" cy="218434"/>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21_05"/>
          <p:cNvSpPr/>
          <p:nvPr/>
        </p:nvSpPr>
        <p:spPr>
          <a:xfrm>
            <a:off x="8039745" y="2621214"/>
            <a:ext cx="218434" cy="218434"/>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21_06"/>
          <p:cNvSpPr/>
          <p:nvPr/>
        </p:nvSpPr>
        <p:spPr>
          <a:xfrm>
            <a:off x="8378403" y="2621214"/>
            <a:ext cx="218434" cy="218434"/>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21_07"/>
          <p:cNvSpPr/>
          <p:nvPr/>
        </p:nvSpPr>
        <p:spPr>
          <a:xfrm>
            <a:off x="8717062" y="2621214"/>
            <a:ext cx="218434" cy="218434"/>
          </a:xfrm>
          <a:prstGeom prst="roundRect">
            <a:avLst>
              <a:gd name="adj" fmla="val 30000"/>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21_08"/>
          <p:cNvSpPr/>
          <p:nvPr/>
        </p:nvSpPr>
        <p:spPr>
          <a:xfrm>
            <a:off x="9055720" y="2621214"/>
            <a:ext cx="218434" cy="218434"/>
          </a:xfrm>
          <a:prstGeom prst="roundRect">
            <a:avLst>
              <a:gd name="adj" fmla="val 30000"/>
            </a:avLst>
          </a:prstGeom>
          <a:solidFill>
            <a:srgbClr val="47B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21_09"/>
          <p:cNvSpPr/>
          <p:nvPr/>
        </p:nvSpPr>
        <p:spPr>
          <a:xfrm>
            <a:off x="9394378" y="2621214"/>
            <a:ext cx="218434" cy="218434"/>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21_10"/>
          <p:cNvSpPr/>
          <p:nvPr/>
        </p:nvSpPr>
        <p:spPr>
          <a:xfrm>
            <a:off x="9733036" y="2621214"/>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21_11"/>
          <p:cNvSpPr/>
          <p:nvPr/>
        </p:nvSpPr>
        <p:spPr>
          <a:xfrm>
            <a:off x="10071694" y="2621214"/>
            <a:ext cx="218434" cy="218434"/>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21_12"/>
          <p:cNvSpPr/>
          <p:nvPr/>
        </p:nvSpPr>
        <p:spPr>
          <a:xfrm>
            <a:off x="10410353" y="2621214"/>
            <a:ext cx="218434" cy="218434"/>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21_13"/>
          <p:cNvSpPr/>
          <p:nvPr/>
        </p:nvSpPr>
        <p:spPr>
          <a:xfrm>
            <a:off x="10749011" y="2621214"/>
            <a:ext cx="218434" cy="218434"/>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22_05"/>
          <p:cNvSpPr/>
          <p:nvPr/>
        </p:nvSpPr>
        <p:spPr>
          <a:xfrm>
            <a:off x="8039745" y="2367220"/>
            <a:ext cx="218434" cy="218434"/>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22_06"/>
          <p:cNvSpPr/>
          <p:nvPr/>
        </p:nvSpPr>
        <p:spPr>
          <a:xfrm>
            <a:off x="8378403" y="2367220"/>
            <a:ext cx="218434" cy="218434"/>
          </a:xfrm>
          <a:prstGeom prst="roundRect">
            <a:avLst>
              <a:gd name="adj" fmla="val 30000"/>
            </a:avLst>
          </a:prstGeom>
          <a:solidFill>
            <a:srgbClr val="50B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22_07"/>
          <p:cNvSpPr/>
          <p:nvPr/>
        </p:nvSpPr>
        <p:spPr>
          <a:xfrm>
            <a:off x="8717062" y="2367220"/>
            <a:ext cx="218434" cy="218434"/>
          </a:xfrm>
          <a:prstGeom prst="roundRect">
            <a:avLst>
              <a:gd name="adj" fmla="val 30000"/>
            </a:avLst>
          </a:prstGeom>
          <a:solidFill>
            <a:srgbClr val="FFC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22_08"/>
          <p:cNvSpPr/>
          <p:nvPr/>
        </p:nvSpPr>
        <p:spPr>
          <a:xfrm>
            <a:off x="9055720" y="2367220"/>
            <a:ext cx="218434" cy="218434"/>
          </a:xfrm>
          <a:prstGeom prst="roundRect">
            <a:avLst>
              <a:gd name="adj" fmla="val 30000"/>
            </a:avLst>
          </a:prstGeom>
          <a:solidFill>
            <a:srgbClr val="ECD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22_09"/>
          <p:cNvSpPr/>
          <p:nvPr/>
        </p:nvSpPr>
        <p:spPr>
          <a:xfrm>
            <a:off x="9394378" y="2367220"/>
            <a:ext cx="218434" cy="218434"/>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22_10"/>
          <p:cNvSpPr/>
          <p:nvPr/>
        </p:nvSpPr>
        <p:spPr>
          <a:xfrm>
            <a:off x="9733036" y="2367220"/>
            <a:ext cx="218434" cy="218434"/>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22_11"/>
          <p:cNvSpPr/>
          <p:nvPr/>
        </p:nvSpPr>
        <p:spPr>
          <a:xfrm>
            <a:off x="10071694" y="2367220"/>
            <a:ext cx="218434" cy="218434"/>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22_12"/>
          <p:cNvSpPr/>
          <p:nvPr/>
        </p:nvSpPr>
        <p:spPr>
          <a:xfrm>
            <a:off x="10410353" y="2367220"/>
            <a:ext cx="218434" cy="218434"/>
          </a:xfrm>
          <a:prstGeom prst="roundRect">
            <a:avLst>
              <a:gd name="adj" fmla="val 30000"/>
            </a:avLst>
          </a:prstGeom>
          <a:solidFill>
            <a:srgbClr val="4FBB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22_13"/>
          <p:cNvSpPr/>
          <p:nvPr/>
        </p:nvSpPr>
        <p:spPr>
          <a:xfrm>
            <a:off x="10749011" y="2367220"/>
            <a:ext cx="218434" cy="218434"/>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23_04"/>
          <p:cNvSpPr/>
          <p:nvPr/>
        </p:nvSpPr>
        <p:spPr>
          <a:xfrm>
            <a:off x="7701087" y="2113227"/>
            <a:ext cx="218434" cy="218434"/>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23_05"/>
          <p:cNvSpPr/>
          <p:nvPr/>
        </p:nvSpPr>
        <p:spPr>
          <a:xfrm>
            <a:off x="8039745" y="2113227"/>
            <a:ext cx="218434" cy="218434"/>
          </a:xfrm>
          <a:prstGeom prst="roundRect">
            <a:avLst>
              <a:gd name="adj" fmla="val 30000"/>
            </a:avLst>
          </a:prstGeom>
          <a:solidFill>
            <a:srgbClr val="64B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23_06"/>
          <p:cNvSpPr/>
          <p:nvPr/>
        </p:nvSpPr>
        <p:spPr>
          <a:xfrm>
            <a:off x="8378403" y="2113227"/>
            <a:ext cx="218434" cy="218434"/>
          </a:xfrm>
          <a:prstGeom prst="roundRect">
            <a:avLst>
              <a:gd name="adj" fmla="val 30000"/>
            </a:avLst>
          </a:prstGeom>
          <a:solidFill>
            <a:srgbClr val="FFCF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23_07"/>
          <p:cNvSpPr/>
          <p:nvPr/>
        </p:nvSpPr>
        <p:spPr>
          <a:xfrm>
            <a:off x="8717062" y="2113227"/>
            <a:ext cx="218434" cy="218434"/>
          </a:xfrm>
          <a:prstGeom prst="roundRect">
            <a:avLst>
              <a:gd name="adj" fmla="val 30000"/>
            </a:avLst>
          </a:prstGeom>
          <a:solidFill>
            <a:srgbClr val="FB6D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23_08"/>
          <p:cNvSpPr/>
          <p:nvPr/>
        </p:nvSpPr>
        <p:spPr>
          <a:xfrm>
            <a:off x="9055720" y="2113227"/>
            <a:ext cx="218434" cy="218434"/>
          </a:xfrm>
          <a:prstGeom prst="roundRect">
            <a:avLst>
              <a:gd name="adj" fmla="val 30000"/>
            </a:avLst>
          </a:prstGeom>
          <a:solidFill>
            <a:srgbClr val="FF86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23_09"/>
          <p:cNvSpPr/>
          <p:nvPr/>
        </p:nvSpPr>
        <p:spPr>
          <a:xfrm>
            <a:off x="9394378" y="2113227"/>
            <a:ext cx="218434" cy="218434"/>
          </a:xfrm>
          <a:prstGeom prst="roundRect">
            <a:avLst>
              <a:gd name="adj" fmla="val 30000"/>
            </a:avLst>
          </a:prstGeom>
          <a:solidFill>
            <a:srgbClr val="49B5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23_10"/>
          <p:cNvSpPr/>
          <p:nvPr/>
        </p:nvSpPr>
        <p:spPr>
          <a:xfrm>
            <a:off x="9733036" y="2113227"/>
            <a:ext cx="218434" cy="218434"/>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23_11"/>
          <p:cNvSpPr/>
          <p:nvPr/>
        </p:nvSpPr>
        <p:spPr>
          <a:xfrm>
            <a:off x="10071694" y="2113227"/>
            <a:ext cx="218434" cy="218434"/>
          </a:xfrm>
          <a:prstGeom prst="roundRect">
            <a:avLst>
              <a:gd name="adj" fmla="val 30000"/>
            </a:avLst>
          </a:prstGeom>
          <a:solidFill>
            <a:srgbClr val="39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23_12"/>
          <p:cNvSpPr/>
          <p:nvPr/>
        </p:nvSpPr>
        <p:spPr>
          <a:xfrm>
            <a:off x="10410353" y="2113227"/>
            <a:ext cx="218434" cy="218434"/>
          </a:xfrm>
          <a:prstGeom prst="roundRect">
            <a:avLst>
              <a:gd name="adj" fmla="val 30000"/>
            </a:avLst>
          </a:prstGeom>
          <a:solidFill>
            <a:srgbClr val="7DC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23_13"/>
          <p:cNvSpPr/>
          <p:nvPr/>
        </p:nvSpPr>
        <p:spPr>
          <a:xfrm>
            <a:off x="10749011" y="2113227"/>
            <a:ext cx="218434" cy="218434"/>
          </a:xfrm>
          <a:prstGeom prst="roundRect">
            <a:avLst>
              <a:gd name="adj" fmla="val 30000"/>
            </a:avLst>
          </a:prstGeom>
          <a:solidFill>
            <a:srgbClr val="39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23_14"/>
          <p:cNvSpPr/>
          <p:nvPr/>
        </p:nvSpPr>
        <p:spPr>
          <a:xfrm>
            <a:off x="11087669" y="2113227"/>
            <a:ext cx="218434" cy="218434"/>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24_04"/>
          <p:cNvSpPr/>
          <p:nvPr/>
        </p:nvSpPr>
        <p:spPr>
          <a:xfrm>
            <a:off x="7701087" y="1859233"/>
            <a:ext cx="218434" cy="218434"/>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24_05"/>
          <p:cNvSpPr/>
          <p:nvPr/>
        </p:nvSpPr>
        <p:spPr>
          <a:xfrm>
            <a:off x="8039745" y="1859233"/>
            <a:ext cx="218434" cy="218434"/>
          </a:xfrm>
          <a:prstGeom prst="roundRect">
            <a:avLst>
              <a:gd name="adj" fmla="val 30000"/>
            </a:avLst>
          </a:prstGeom>
          <a:solidFill>
            <a:srgbClr val="FFD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24_06"/>
          <p:cNvSpPr/>
          <p:nvPr/>
        </p:nvSpPr>
        <p:spPr>
          <a:xfrm>
            <a:off x="8378403" y="1859233"/>
            <a:ext cx="218434" cy="218434"/>
          </a:xfrm>
          <a:prstGeom prst="roundRect">
            <a:avLst>
              <a:gd name="adj" fmla="val 30000"/>
            </a:avLst>
          </a:prstGeom>
          <a:solidFill>
            <a:srgbClr val="FF93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24_07"/>
          <p:cNvSpPr/>
          <p:nvPr/>
        </p:nvSpPr>
        <p:spPr>
          <a:xfrm>
            <a:off x="8717062" y="1859233"/>
            <a:ext cx="218434" cy="218434"/>
          </a:xfrm>
          <a:prstGeom prst="roundRect">
            <a:avLst>
              <a:gd name="adj" fmla="val 30000"/>
            </a:avLst>
          </a:prstGeom>
          <a:solidFill>
            <a:srgbClr val="EB3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24_08"/>
          <p:cNvSpPr/>
          <p:nvPr/>
        </p:nvSpPr>
        <p:spPr>
          <a:xfrm>
            <a:off x="9055720" y="1859233"/>
            <a:ext cx="218434" cy="218434"/>
          </a:xfrm>
          <a:prstGeom prst="roundRect">
            <a:avLst>
              <a:gd name="adj" fmla="val 30000"/>
            </a:avLst>
          </a:prstGeom>
          <a:solidFill>
            <a:srgbClr val="F55A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24_09"/>
          <p:cNvSpPr/>
          <p:nvPr/>
        </p:nvSpPr>
        <p:spPr>
          <a:xfrm>
            <a:off x="9394378" y="1859233"/>
            <a:ext cx="218434" cy="218434"/>
          </a:xfrm>
          <a:prstGeom prst="roundRect">
            <a:avLst>
              <a:gd name="adj" fmla="val 30000"/>
            </a:avLst>
          </a:prstGeom>
          <a:solidFill>
            <a:srgbClr val="63B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24_10"/>
          <p:cNvSpPr/>
          <p:nvPr/>
        </p:nvSpPr>
        <p:spPr>
          <a:xfrm>
            <a:off x="9733036" y="1859233"/>
            <a:ext cx="218434" cy="218434"/>
          </a:xfrm>
          <a:prstGeom prst="roundRect">
            <a:avLst>
              <a:gd name="adj" fmla="val 30000"/>
            </a:avLst>
          </a:prstGeom>
          <a:solidFill>
            <a:srgbClr val="1B85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24_11"/>
          <p:cNvSpPr/>
          <p:nvPr/>
        </p:nvSpPr>
        <p:spPr>
          <a:xfrm>
            <a:off x="10071694" y="1859233"/>
            <a:ext cx="218434" cy="218434"/>
          </a:xfrm>
          <a:prstGeom prst="roundRect">
            <a:avLst>
              <a:gd name="adj" fmla="val 30000"/>
            </a:avLst>
          </a:prstGeom>
          <a:solidFill>
            <a:srgbClr val="35A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24_12"/>
          <p:cNvSpPr/>
          <p:nvPr/>
        </p:nvSpPr>
        <p:spPr>
          <a:xfrm>
            <a:off x="10410353" y="1859233"/>
            <a:ext cx="218434" cy="218434"/>
          </a:xfrm>
          <a:prstGeom prst="roundRect">
            <a:avLst>
              <a:gd name="adj" fmla="val 30000"/>
            </a:avLst>
          </a:prstGeom>
          <a:solidFill>
            <a:srgbClr val="6EC0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24_13"/>
          <p:cNvSpPr/>
          <p:nvPr/>
        </p:nvSpPr>
        <p:spPr>
          <a:xfrm>
            <a:off x="10749011" y="1859233"/>
            <a:ext cx="218434" cy="218434"/>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24_14"/>
          <p:cNvSpPr/>
          <p:nvPr/>
        </p:nvSpPr>
        <p:spPr>
          <a:xfrm>
            <a:off x="11087669" y="1859233"/>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25_04"/>
          <p:cNvSpPr/>
          <p:nvPr/>
        </p:nvSpPr>
        <p:spPr>
          <a:xfrm>
            <a:off x="7701087" y="1605239"/>
            <a:ext cx="218434" cy="218434"/>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25_05"/>
          <p:cNvSpPr/>
          <p:nvPr/>
        </p:nvSpPr>
        <p:spPr>
          <a:xfrm>
            <a:off x="8039745" y="1605239"/>
            <a:ext cx="218434" cy="218434"/>
          </a:xfrm>
          <a:prstGeom prst="roundRect">
            <a:avLst>
              <a:gd name="adj" fmla="val 30000"/>
            </a:avLst>
          </a:prstGeom>
          <a:solidFill>
            <a:srgbClr val="FFB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25_06"/>
          <p:cNvSpPr/>
          <p:nvPr/>
        </p:nvSpPr>
        <p:spPr>
          <a:xfrm>
            <a:off x="8378403" y="1605239"/>
            <a:ext cx="218434" cy="218434"/>
          </a:xfrm>
          <a:prstGeom prst="roundRect">
            <a:avLst>
              <a:gd name="adj" fmla="val 30000"/>
            </a:avLst>
          </a:prstGeom>
          <a:solidFill>
            <a:srgbClr val="FF7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25_07"/>
          <p:cNvSpPr/>
          <p:nvPr/>
        </p:nvSpPr>
        <p:spPr>
          <a:xfrm>
            <a:off x="8717062" y="1605239"/>
            <a:ext cx="218434" cy="218434"/>
          </a:xfrm>
          <a:prstGeom prst="roundRect">
            <a:avLst>
              <a:gd name="adj" fmla="val 30000"/>
            </a:avLst>
          </a:prstGeom>
          <a:solidFill>
            <a:srgbClr val="E93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25_08"/>
          <p:cNvSpPr/>
          <p:nvPr/>
        </p:nvSpPr>
        <p:spPr>
          <a:xfrm>
            <a:off x="9055720" y="1605239"/>
            <a:ext cx="218434" cy="218434"/>
          </a:xfrm>
          <a:prstGeom prst="roundRect">
            <a:avLst>
              <a:gd name="adj" fmla="val 30000"/>
            </a:avLst>
          </a:prstGeom>
          <a:solidFill>
            <a:srgbClr val="F459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25_09"/>
          <p:cNvSpPr/>
          <p:nvPr/>
        </p:nvSpPr>
        <p:spPr>
          <a:xfrm>
            <a:off x="9394378" y="1605239"/>
            <a:ext cx="218434" cy="218434"/>
          </a:xfrm>
          <a:prstGeom prst="roundRect">
            <a:avLst>
              <a:gd name="adj" fmla="val 30000"/>
            </a:avLst>
          </a:prstGeom>
          <a:solidFill>
            <a:srgbClr val="5CB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t25_10"/>
          <p:cNvSpPr/>
          <p:nvPr/>
        </p:nvSpPr>
        <p:spPr>
          <a:xfrm>
            <a:off x="9733036" y="1605239"/>
            <a:ext cx="218434" cy="218434"/>
          </a:xfrm>
          <a:prstGeom prst="roundRect">
            <a:avLst>
              <a:gd name="adj" fmla="val 30000"/>
            </a:avLst>
          </a:prstGeom>
          <a:solidFill>
            <a:srgbClr val="1A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t25_11"/>
          <p:cNvSpPr/>
          <p:nvPr/>
        </p:nvSpPr>
        <p:spPr>
          <a:xfrm>
            <a:off x="10071694" y="1605239"/>
            <a:ext cx="218434" cy="218434"/>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25_12"/>
          <p:cNvSpPr/>
          <p:nvPr/>
        </p:nvSpPr>
        <p:spPr>
          <a:xfrm>
            <a:off x="10410353" y="1605239"/>
            <a:ext cx="218434" cy="218434"/>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25_13"/>
          <p:cNvSpPr/>
          <p:nvPr/>
        </p:nvSpPr>
        <p:spPr>
          <a:xfrm>
            <a:off x="10749011" y="1605239"/>
            <a:ext cx="218434" cy="218434"/>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25_14"/>
          <p:cNvSpPr/>
          <p:nvPr/>
        </p:nvSpPr>
        <p:spPr>
          <a:xfrm>
            <a:off x="11087669" y="1605239"/>
            <a:ext cx="218434" cy="218434"/>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t26_03"/>
          <p:cNvSpPr/>
          <p:nvPr/>
        </p:nvSpPr>
        <p:spPr>
          <a:xfrm>
            <a:off x="7362429" y="1351246"/>
            <a:ext cx="218434" cy="218434"/>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26_04"/>
          <p:cNvSpPr/>
          <p:nvPr/>
        </p:nvSpPr>
        <p:spPr>
          <a:xfrm>
            <a:off x="7701087" y="1351246"/>
            <a:ext cx="218434" cy="218434"/>
          </a:xfrm>
          <a:prstGeom prst="roundRect">
            <a:avLst>
              <a:gd name="adj" fmla="val 30000"/>
            </a:avLst>
          </a:prstGeom>
          <a:solidFill>
            <a:srgbClr val="49B5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26_05"/>
          <p:cNvSpPr/>
          <p:nvPr/>
        </p:nvSpPr>
        <p:spPr>
          <a:xfrm>
            <a:off x="8039745" y="1351246"/>
            <a:ext cx="218434" cy="218434"/>
          </a:xfrm>
          <a:prstGeom prst="roundRect">
            <a:avLst>
              <a:gd name="adj" fmla="val 30000"/>
            </a:avLst>
          </a:prstGeom>
          <a:solidFill>
            <a:srgbClr val="FFC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26_06"/>
          <p:cNvSpPr/>
          <p:nvPr/>
        </p:nvSpPr>
        <p:spPr>
          <a:xfrm>
            <a:off x="8378403" y="1351246"/>
            <a:ext cx="218434" cy="218434"/>
          </a:xfrm>
          <a:prstGeom prst="roundRect">
            <a:avLst>
              <a:gd name="adj" fmla="val 30000"/>
            </a:avLst>
          </a:prstGeom>
          <a:solidFill>
            <a:srgbClr val="FFA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26_07"/>
          <p:cNvSpPr/>
          <p:nvPr/>
        </p:nvSpPr>
        <p:spPr>
          <a:xfrm>
            <a:off x="8717062" y="1351246"/>
            <a:ext cx="218434" cy="218434"/>
          </a:xfrm>
          <a:prstGeom prst="roundRect">
            <a:avLst>
              <a:gd name="adj" fmla="val 30000"/>
            </a:avLst>
          </a:prstGeom>
          <a:solidFill>
            <a:srgbClr val="F762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t26_08"/>
          <p:cNvSpPr/>
          <p:nvPr/>
        </p:nvSpPr>
        <p:spPr>
          <a:xfrm>
            <a:off x="9055720" y="1351246"/>
            <a:ext cx="218434" cy="218434"/>
          </a:xfrm>
          <a:prstGeom prst="roundRect">
            <a:avLst>
              <a:gd name="adj" fmla="val 30000"/>
            </a:avLst>
          </a:prstGeom>
          <a:solidFill>
            <a:srgbClr val="FF8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26_09"/>
          <p:cNvSpPr/>
          <p:nvPr/>
        </p:nvSpPr>
        <p:spPr>
          <a:xfrm>
            <a:off x="9394378" y="1351246"/>
            <a:ext cx="218434" cy="218434"/>
          </a:xfrm>
          <a:prstGeom prst="roundRect">
            <a:avLst>
              <a:gd name="adj" fmla="val 30000"/>
            </a:avLst>
          </a:prstGeom>
          <a:solidFill>
            <a:srgbClr val="42A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t26_10"/>
          <p:cNvSpPr/>
          <p:nvPr/>
        </p:nvSpPr>
        <p:spPr>
          <a:xfrm>
            <a:off x="9733036" y="1351246"/>
            <a:ext cx="218434" cy="218434"/>
          </a:xfrm>
          <a:prstGeom prst="roundRect">
            <a:avLst>
              <a:gd name="adj" fmla="val 30000"/>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26_11"/>
          <p:cNvSpPr/>
          <p:nvPr/>
        </p:nvSpPr>
        <p:spPr>
          <a:xfrm>
            <a:off x="10071694" y="1351246"/>
            <a:ext cx="218434" cy="218434"/>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26_12"/>
          <p:cNvSpPr/>
          <p:nvPr/>
        </p:nvSpPr>
        <p:spPr>
          <a:xfrm>
            <a:off x="10410353" y="1351246"/>
            <a:ext cx="218434" cy="218434"/>
          </a:xfrm>
          <a:prstGeom prst="roundRect">
            <a:avLst>
              <a:gd name="adj" fmla="val 30000"/>
            </a:avLst>
          </a:prstGeom>
          <a:solidFill>
            <a:srgbClr val="2595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t26_13"/>
          <p:cNvSpPr/>
          <p:nvPr/>
        </p:nvSpPr>
        <p:spPr>
          <a:xfrm>
            <a:off x="10749011" y="1351246"/>
            <a:ext cx="218434" cy="218434"/>
          </a:xfrm>
          <a:prstGeom prst="roundRect">
            <a:avLst>
              <a:gd name="adj" fmla="val 30000"/>
            </a:avLst>
          </a:prstGeom>
          <a:solidFill>
            <a:srgbClr val="197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t26_14"/>
          <p:cNvSpPr/>
          <p:nvPr/>
        </p:nvSpPr>
        <p:spPr>
          <a:xfrm>
            <a:off x="11087669" y="1351246"/>
            <a:ext cx="218434" cy="218434"/>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t27_03"/>
          <p:cNvSpPr/>
          <p:nvPr/>
        </p:nvSpPr>
        <p:spPr>
          <a:xfrm>
            <a:off x="7362429" y="1097252"/>
            <a:ext cx="218434" cy="218434"/>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27_04"/>
          <p:cNvSpPr/>
          <p:nvPr/>
        </p:nvSpPr>
        <p:spPr>
          <a:xfrm>
            <a:off x="7701087" y="1097252"/>
            <a:ext cx="218434" cy="218434"/>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27_05"/>
          <p:cNvSpPr/>
          <p:nvPr/>
        </p:nvSpPr>
        <p:spPr>
          <a:xfrm>
            <a:off x="8039745" y="1097252"/>
            <a:ext cx="218434" cy="218434"/>
          </a:xfrm>
          <a:prstGeom prst="roundRect">
            <a:avLst>
              <a:gd name="adj" fmla="val 30000"/>
            </a:avLst>
          </a:prstGeom>
          <a:solidFill>
            <a:srgbClr val="9AC6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27_06"/>
          <p:cNvSpPr/>
          <p:nvPr/>
        </p:nvSpPr>
        <p:spPr>
          <a:xfrm>
            <a:off x="8378403" y="1097252"/>
            <a:ext cx="218434" cy="218434"/>
          </a:xfrm>
          <a:prstGeom prst="roundRect">
            <a:avLst>
              <a:gd name="adj" fmla="val 30000"/>
            </a:avLst>
          </a:prstGeom>
          <a:solidFill>
            <a:srgbClr val="C4C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27_07"/>
          <p:cNvSpPr/>
          <p:nvPr/>
        </p:nvSpPr>
        <p:spPr>
          <a:xfrm>
            <a:off x="8717062" y="1097252"/>
            <a:ext cx="218434" cy="218434"/>
          </a:xfrm>
          <a:prstGeom prst="roundRect">
            <a:avLst>
              <a:gd name="adj" fmla="val 30000"/>
            </a:avLst>
          </a:prstGeom>
          <a:solidFill>
            <a:srgbClr val="FFB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27_08"/>
          <p:cNvSpPr/>
          <p:nvPr/>
        </p:nvSpPr>
        <p:spPr>
          <a:xfrm>
            <a:off x="9055720" y="1097252"/>
            <a:ext cx="218434" cy="218434"/>
          </a:xfrm>
          <a:prstGeom prst="roundRect">
            <a:avLst>
              <a:gd name="adj" fmla="val 30000"/>
            </a:avLst>
          </a:prstGeom>
          <a:solidFill>
            <a:srgbClr val="E1C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t27_09"/>
          <p:cNvSpPr/>
          <p:nvPr/>
        </p:nvSpPr>
        <p:spPr>
          <a:xfrm>
            <a:off x="9394378" y="1097252"/>
            <a:ext cx="218434" cy="218434"/>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27_10"/>
          <p:cNvSpPr/>
          <p:nvPr/>
        </p:nvSpPr>
        <p:spPr>
          <a:xfrm>
            <a:off x="9733036" y="1097252"/>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t27_11"/>
          <p:cNvSpPr/>
          <p:nvPr/>
        </p:nvSpPr>
        <p:spPr>
          <a:xfrm>
            <a:off x="10071694" y="1097252"/>
            <a:ext cx="218434" cy="218434"/>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27_12"/>
          <p:cNvSpPr/>
          <p:nvPr/>
        </p:nvSpPr>
        <p:spPr>
          <a:xfrm>
            <a:off x="10410353" y="1097252"/>
            <a:ext cx="218434" cy="218434"/>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27_13"/>
          <p:cNvSpPr/>
          <p:nvPr/>
        </p:nvSpPr>
        <p:spPr>
          <a:xfrm>
            <a:off x="10749011" y="1097252"/>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27_14"/>
          <p:cNvSpPr/>
          <p:nvPr/>
        </p:nvSpPr>
        <p:spPr>
          <a:xfrm>
            <a:off x="11087669" y="1097252"/>
            <a:ext cx="218434" cy="218434"/>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t28_03"/>
          <p:cNvSpPr/>
          <p:nvPr/>
        </p:nvSpPr>
        <p:spPr>
          <a:xfrm>
            <a:off x="7362429" y="843258"/>
            <a:ext cx="218434" cy="218434"/>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28_04"/>
          <p:cNvSpPr/>
          <p:nvPr/>
        </p:nvSpPr>
        <p:spPr>
          <a:xfrm>
            <a:off x="7701087" y="843258"/>
            <a:ext cx="218434" cy="218434"/>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28_05"/>
          <p:cNvSpPr/>
          <p:nvPr/>
        </p:nvSpPr>
        <p:spPr>
          <a:xfrm>
            <a:off x="8039745" y="843258"/>
            <a:ext cx="218434" cy="218434"/>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28_06"/>
          <p:cNvSpPr/>
          <p:nvPr/>
        </p:nvSpPr>
        <p:spPr>
          <a:xfrm>
            <a:off x="8378403" y="843258"/>
            <a:ext cx="218434" cy="218434"/>
          </a:xfrm>
          <a:prstGeom prst="roundRect">
            <a:avLst>
              <a:gd name="adj" fmla="val 30000"/>
            </a:avLst>
          </a:prstGeom>
          <a:solidFill>
            <a:srgbClr val="3AA8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28_07"/>
          <p:cNvSpPr/>
          <p:nvPr/>
        </p:nvSpPr>
        <p:spPr>
          <a:xfrm>
            <a:off x="8717062" y="843258"/>
            <a:ext cx="218434" cy="218434"/>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28_08"/>
          <p:cNvSpPr/>
          <p:nvPr/>
        </p:nvSpPr>
        <p:spPr>
          <a:xfrm>
            <a:off x="9055720" y="843258"/>
            <a:ext cx="218434" cy="218434"/>
          </a:xfrm>
          <a:prstGeom prst="roundRect">
            <a:avLst>
              <a:gd name="adj" fmla="val 30000"/>
            </a:avLst>
          </a:prstGeom>
          <a:solidFill>
            <a:srgbClr val="3CA9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t28_09"/>
          <p:cNvSpPr/>
          <p:nvPr/>
        </p:nvSpPr>
        <p:spPr>
          <a:xfrm>
            <a:off x="9394378" y="843258"/>
            <a:ext cx="218434" cy="218434"/>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28_10"/>
          <p:cNvSpPr/>
          <p:nvPr/>
        </p:nvSpPr>
        <p:spPr>
          <a:xfrm>
            <a:off x="9733036" y="843258"/>
            <a:ext cx="218434" cy="218434"/>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28_11"/>
          <p:cNvSpPr/>
          <p:nvPr/>
        </p:nvSpPr>
        <p:spPr>
          <a:xfrm>
            <a:off x="10071694" y="843258"/>
            <a:ext cx="218434" cy="218434"/>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28_12"/>
          <p:cNvSpPr/>
          <p:nvPr/>
        </p:nvSpPr>
        <p:spPr>
          <a:xfrm>
            <a:off x="10410353" y="843258"/>
            <a:ext cx="218434" cy="218434"/>
          </a:xfrm>
          <a:prstGeom prst="roundRect">
            <a:avLst>
              <a:gd name="adj" fmla="val 30000"/>
            </a:avLst>
          </a:prstGeom>
          <a:solidFill>
            <a:srgbClr val="104C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t28_13"/>
          <p:cNvSpPr/>
          <p:nvPr/>
        </p:nvSpPr>
        <p:spPr>
          <a:xfrm>
            <a:off x="10749011" y="843258"/>
            <a:ext cx="218434" cy="218434"/>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28_14"/>
          <p:cNvSpPr/>
          <p:nvPr/>
        </p:nvSpPr>
        <p:spPr>
          <a:xfrm>
            <a:off x="11087669" y="843258"/>
            <a:ext cx="218434" cy="218434"/>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t29_03"/>
          <p:cNvSpPr/>
          <p:nvPr/>
        </p:nvSpPr>
        <p:spPr>
          <a:xfrm>
            <a:off x="7362429" y="589265"/>
            <a:ext cx="218434" cy="218434"/>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29_04"/>
          <p:cNvSpPr/>
          <p:nvPr/>
        </p:nvSpPr>
        <p:spPr>
          <a:xfrm>
            <a:off x="7701087" y="589265"/>
            <a:ext cx="218434" cy="218434"/>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t29_05"/>
          <p:cNvSpPr/>
          <p:nvPr/>
        </p:nvSpPr>
        <p:spPr>
          <a:xfrm>
            <a:off x="8039745" y="589265"/>
            <a:ext cx="218434" cy="218434"/>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29_06"/>
          <p:cNvSpPr/>
          <p:nvPr/>
        </p:nvSpPr>
        <p:spPr>
          <a:xfrm>
            <a:off x="8378403" y="589265"/>
            <a:ext cx="218434" cy="218434"/>
          </a:xfrm>
          <a:prstGeom prst="roundRect">
            <a:avLst>
              <a:gd name="adj" fmla="val 30000"/>
            </a:avLst>
          </a:prstGeom>
          <a:solidFill>
            <a:srgbClr val="1979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29_07"/>
          <p:cNvSpPr/>
          <p:nvPr/>
        </p:nvSpPr>
        <p:spPr>
          <a:xfrm>
            <a:off x="8717062" y="589265"/>
            <a:ext cx="218434" cy="218434"/>
          </a:xfrm>
          <a:prstGeom prst="roundRect">
            <a:avLst>
              <a:gd name="adj" fmla="val 30000"/>
            </a:avLst>
          </a:prstGeom>
          <a:solidFill>
            <a:srgbClr val="1B8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29_08"/>
          <p:cNvSpPr/>
          <p:nvPr/>
        </p:nvSpPr>
        <p:spPr>
          <a:xfrm>
            <a:off x="9055720" y="589265"/>
            <a:ext cx="218434" cy="218434"/>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t29_09"/>
          <p:cNvSpPr/>
          <p:nvPr/>
        </p:nvSpPr>
        <p:spPr>
          <a:xfrm>
            <a:off x="9394378" y="589265"/>
            <a:ext cx="218434" cy="218434"/>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t29_10"/>
          <p:cNvSpPr/>
          <p:nvPr/>
        </p:nvSpPr>
        <p:spPr>
          <a:xfrm>
            <a:off x="9733036" y="589265"/>
            <a:ext cx="218434" cy="218434"/>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t29_11"/>
          <p:cNvSpPr/>
          <p:nvPr/>
        </p:nvSpPr>
        <p:spPr>
          <a:xfrm>
            <a:off x="10071694" y="589265"/>
            <a:ext cx="218434" cy="218434"/>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t29_12"/>
          <p:cNvSpPr/>
          <p:nvPr/>
        </p:nvSpPr>
        <p:spPr>
          <a:xfrm>
            <a:off x="10410353" y="589265"/>
            <a:ext cx="218434" cy="218434"/>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29_13"/>
          <p:cNvSpPr/>
          <p:nvPr/>
        </p:nvSpPr>
        <p:spPr>
          <a:xfrm>
            <a:off x="10749011" y="589265"/>
            <a:ext cx="218434" cy="218434"/>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30_03"/>
          <p:cNvSpPr/>
          <p:nvPr/>
        </p:nvSpPr>
        <p:spPr>
          <a:xfrm>
            <a:off x="7362429" y="335271"/>
            <a:ext cx="218434" cy="218434"/>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t30_04"/>
          <p:cNvSpPr/>
          <p:nvPr/>
        </p:nvSpPr>
        <p:spPr>
          <a:xfrm>
            <a:off x="7701087" y="335271"/>
            <a:ext cx="218434" cy="218434"/>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30_05"/>
          <p:cNvSpPr/>
          <p:nvPr/>
        </p:nvSpPr>
        <p:spPr>
          <a:xfrm>
            <a:off x="8039745" y="335271"/>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t30_06"/>
          <p:cNvSpPr/>
          <p:nvPr/>
        </p:nvSpPr>
        <p:spPr>
          <a:xfrm>
            <a:off x="8378403" y="335271"/>
            <a:ext cx="218434" cy="218434"/>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30_07"/>
          <p:cNvSpPr/>
          <p:nvPr/>
        </p:nvSpPr>
        <p:spPr>
          <a:xfrm>
            <a:off x="8717062" y="335271"/>
            <a:ext cx="218434" cy="218434"/>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30_08"/>
          <p:cNvSpPr/>
          <p:nvPr/>
        </p:nvSpPr>
        <p:spPr>
          <a:xfrm>
            <a:off x="9055720" y="335271"/>
            <a:ext cx="218434" cy="218434"/>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t30_09"/>
          <p:cNvSpPr/>
          <p:nvPr/>
        </p:nvSpPr>
        <p:spPr>
          <a:xfrm>
            <a:off x="9394378" y="335271"/>
            <a:ext cx="218434" cy="218434"/>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t30_10"/>
          <p:cNvSpPr/>
          <p:nvPr/>
        </p:nvSpPr>
        <p:spPr>
          <a:xfrm>
            <a:off x="9733036" y="335271"/>
            <a:ext cx="218434" cy="218434"/>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30_11"/>
          <p:cNvSpPr/>
          <p:nvPr/>
        </p:nvSpPr>
        <p:spPr>
          <a:xfrm>
            <a:off x="10071694" y="335271"/>
            <a:ext cx="218434" cy="218434"/>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30_12"/>
          <p:cNvSpPr/>
          <p:nvPr/>
        </p:nvSpPr>
        <p:spPr>
          <a:xfrm>
            <a:off x="10410353" y="335271"/>
            <a:ext cx="218434" cy="218434"/>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t30_13"/>
          <p:cNvSpPr/>
          <p:nvPr/>
        </p:nvSpPr>
        <p:spPr>
          <a:xfrm>
            <a:off x="10749011" y="335271"/>
            <a:ext cx="218434" cy="218434"/>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31_03"/>
          <p:cNvSpPr/>
          <p:nvPr/>
        </p:nvSpPr>
        <p:spPr>
          <a:xfrm>
            <a:off x="7362429" y="81277"/>
            <a:ext cx="218434" cy="218434"/>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t31_04"/>
          <p:cNvSpPr/>
          <p:nvPr/>
        </p:nvSpPr>
        <p:spPr>
          <a:xfrm>
            <a:off x="7701087" y="81277"/>
            <a:ext cx="218434" cy="218434"/>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t31_05"/>
          <p:cNvSpPr/>
          <p:nvPr/>
        </p:nvSpPr>
        <p:spPr>
          <a:xfrm>
            <a:off x="8039745" y="81277"/>
            <a:ext cx="218434" cy="218434"/>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31_06"/>
          <p:cNvSpPr/>
          <p:nvPr/>
        </p:nvSpPr>
        <p:spPr>
          <a:xfrm>
            <a:off x="8378403" y="81277"/>
            <a:ext cx="218434" cy="218434"/>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31_07"/>
          <p:cNvSpPr/>
          <p:nvPr/>
        </p:nvSpPr>
        <p:spPr>
          <a:xfrm>
            <a:off x="8717062" y="81277"/>
            <a:ext cx="218434" cy="218434"/>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31_08"/>
          <p:cNvSpPr/>
          <p:nvPr/>
        </p:nvSpPr>
        <p:spPr>
          <a:xfrm>
            <a:off x="9055720" y="81277"/>
            <a:ext cx="218434" cy="218434"/>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t31_09"/>
          <p:cNvSpPr/>
          <p:nvPr/>
        </p:nvSpPr>
        <p:spPr>
          <a:xfrm>
            <a:off x="9394378" y="81277"/>
            <a:ext cx="218434" cy="218434"/>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31_10"/>
          <p:cNvSpPr/>
          <p:nvPr/>
        </p:nvSpPr>
        <p:spPr>
          <a:xfrm>
            <a:off x="9733036" y="81277"/>
            <a:ext cx="218434" cy="218434"/>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31_11"/>
          <p:cNvSpPr/>
          <p:nvPr/>
        </p:nvSpPr>
        <p:spPr>
          <a:xfrm>
            <a:off x="10071694" y="81277"/>
            <a:ext cx="218434" cy="218434"/>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t31_12"/>
          <p:cNvSpPr/>
          <p:nvPr/>
        </p:nvSpPr>
        <p:spPr>
          <a:xfrm>
            <a:off x="10410353" y="81277"/>
            <a:ext cx="218434" cy="218434"/>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t31_13"/>
          <p:cNvSpPr/>
          <p:nvPr/>
        </p:nvSpPr>
        <p:spPr>
          <a:xfrm>
            <a:off x="10749011" y="81277"/>
            <a:ext cx="218434" cy="218434"/>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32_03"/>
          <p:cNvSpPr/>
          <p:nvPr/>
        </p:nvSpPr>
        <p:spPr>
          <a:xfrm>
            <a:off x="7362429" y="-172715"/>
            <a:ext cx="218434" cy="218434"/>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32_04"/>
          <p:cNvSpPr/>
          <p:nvPr/>
        </p:nvSpPr>
        <p:spPr>
          <a:xfrm>
            <a:off x="7701087" y="-172715"/>
            <a:ext cx="218434" cy="218434"/>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t32_05"/>
          <p:cNvSpPr/>
          <p:nvPr/>
        </p:nvSpPr>
        <p:spPr>
          <a:xfrm>
            <a:off x="8039745" y="-172715"/>
            <a:ext cx="218434" cy="218434"/>
          </a:xfrm>
          <a:prstGeom prst="roundRect">
            <a:avLst>
              <a:gd name="adj" fmla="val 30000"/>
            </a:avLst>
          </a:prstGeom>
          <a:solidFill>
            <a:srgbClr val="209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t32_06"/>
          <p:cNvSpPr/>
          <p:nvPr/>
        </p:nvSpPr>
        <p:spPr>
          <a:xfrm>
            <a:off x="8378403" y="-172715"/>
            <a:ext cx="218434" cy="218434"/>
          </a:xfrm>
          <a:prstGeom prst="roundRect">
            <a:avLst>
              <a:gd name="adj" fmla="val 30000"/>
            </a:avLst>
          </a:prstGeom>
          <a:solidFill>
            <a:srgbClr val="125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t32_07"/>
          <p:cNvSpPr/>
          <p:nvPr/>
        </p:nvSpPr>
        <p:spPr>
          <a:xfrm>
            <a:off x="8717062" y="-172715"/>
            <a:ext cx="218434" cy="218434"/>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t32_08"/>
          <p:cNvSpPr/>
          <p:nvPr/>
        </p:nvSpPr>
        <p:spPr>
          <a:xfrm>
            <a:off x="9055720" y="-172715"/>
            <a:ext cx="218434" cy="218434"/>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t32_09"/>
          <p:cNvSpPr/>
          <p:nvPr/>
        </p:nvSpPr>
        <p:spPr>
          <a:xfrm>
            <a:off x="9394378" y="-172715"/>
            <a:ext cx="218434" cy="218434"/>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32_10"/>
          <p:cNvSpPr/>
          <p:nvPr/>
        </p:nvSpPr>
        <p:spPr>
          <a:xfrm>
            <a:off x="9733036" y="-172715"/>
            <a:ext cx="218434" cy="218434"/>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32_11"/>
          <p:cNvSpPr/>
          <p:nvPr/>
        </p:nvSpPr>
        <p:spPr>
          <a:xfrm>
            <a:off x="10071694" y="-172715"/>
            <a:ext cx="218434" cy="218434"/>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32_12"/>
          <p:cNvSpPr/>
          <p:nvPr/>
        </p:nvSpPr>
        <p:spPr>
          <a:xfrm>
            <a:off x="10410353" y="-172715"/>
            <a:ext cx="218434" cy="218434"/>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t33_03"/>
          <p:cNvSpPr/>
          <p:nvPr/>
        </p:nvSpPr>
        <p:spPr>
          <a:xfrm>
            <a:off x="7362429" y="-426709"/>
            <a:ext cx="218434" cy="218434"/>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33_04"/>
          <p:cNvSpPr/>
          <p:nvPr/>
        </p:nvSpPr>
        <p:spPr>
          <a:xfrm>
            <a:off x="7701087" y="-426709"/>
            <a:ext cx="218434" cy="218434"/>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t33_05"/>
          <p:cNvSpPr/>
          <p:nvPr/>
        </p:nvSpPr>
        <p:spPr>
          <a:xfrm>
            <a:off x="8039745" y="-426709"/>
            <a:ext cx="218434" cy="218434"/>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33_06"/>
          <p:cNvSpPr/>
          <p:nvPr/>
        </p:nvSpPr>
        <p:spPr>
          <a:xfrm>
            <a:off x="8378403" y="-426709"/>
            <a:ext cx="218434" cy="218434"/>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t33_07"/>
          <p:cNvSpPr/>
          <p:nvPr/>
        </p:nvSpPr>
        <p:spPr>
          <a:xfrm>
            <a:off x="8717062" y="-426709"/>
            <a:ext cx="218434" cy="218434"/>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33_08"/>
          <p:cNvSpPr/>
          <p:nvPr/>
        </p:nvSpPr>
        <p:spPr>
          <a:xfrm>
            <a:off x="9055720" y="-426709"/>
            <a:ext cx="218434" cy="218434"/>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t33_09"/>
          <p:cNvSpPr/>
          <p:nvPr/>
        </p:nvSpPr>
        <p:spPr>
          <a:xfrm>
            <a:off x="9394378" y="-426709"/>
            <a:ext cx="218434" cy="218434"/>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33_10"/>
          <p:cNvSpPr/>
          <p:nvPr/>
        </p:nvSpPr>
        <p:spPr>
          <a:xfrm>
            <a:off x="9733036" y="-426709"/>
            <a:ext cx="218434" cy="218434"/>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t33_11"/>
          <p:cNvSpPr/>
          <p:nvPr/>
        </p:nvSpPr>
        <p:spPr>
          <a:xfrm>
            <a:off x="10071694" y="-426709"/>
            <a:ext cx="218434" cy="218434"/>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t33_12"/>
          <p:cNvSpPr/>
          <p:nvPr/>
        </p:nvSpPr>
        <p:spPr>
          <a:xfrm>
            <a:off x="10410353" y="-426709"/>
            <a:ext cx="218434" cy="218434"/>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t34_03"/>
          <p:cNvSpPr/>
          <p:nvPr/>
        </p:nvSpPr>
        <p:spPr>
          <a:xfrm>
            <a:off x="7362429" y="-680702"/>
            <a:ext cx="218434" cy="218434"/>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34_04"/>
          <p:cNvSpPr/>
          <p:nvPr/>
        </p:nvSpPr>
        <p:spPr>
          <a:xfrm>
            <a:off x="7701087" y="-680702"/>
            <a:ext cx="218434" cy="218434"/>
          </a:xfrm>
          <a:prstGeom prst="roundRect">
            <a:avLst>
              <a:gd name="adj" fmla="val 30000"/>
            </a:avLst>
          </a:prstGeom>
          <a:solidFill>
            <a:srgbClr val="3EA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t34_05"/>
          <p:cNvSpPr/>
          <p:nvPr/>
        </p:nvSpPr>
        <p:spPr>
          <a:xfrm>
            <a:off x="8039745" y="-680702"/>
            <a:ext cx="218434" cy="218434"/>
          </a:xfrm>
          <a:prstGeom prst="roundRect">
            <a:avLst>
              <a:gd name="adj" fmla="val 30000"/>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t34_06"/>
          <p:cNvSpPr/>
          <p:nvPr/>
        </p:nvSpPr>
        <p:spPr>
          <a:xfrm>
            <a:off x="8378403" y="-680702"/>
            <a:ext cx="218434" cy="218434"/>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t34_07"/>
          <p:cNvSpPr/>
          <p:nvPr/>
        </p:nvSpPr>
        <p:spPr>
          <a:xfrm>
            <a:off x="8717062" y="-680702"/>
            <a:ext cx="218434" cy="218434"/>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t34_08"/>
          <p:cNvSpPr/>
          <p:nvPr/>
        </p:nvSpPr>
        <p:spPr>
          <a:xfrm>
            <a:off x="9055720" y="-680702"/>
            <a:ext cx="218434" cy="218434"/>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t34_09"/>
          <p:cNvSpPr/>
          <p:nvPr/>
        </p:nvSpPr>
        <p:spPr>
          <a:xfrm>
            <a:off x="9394378" y="-680702"/>
            <a:ext cx="218434" cy="218434"/>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34_10"/>
          <p:cNvSpPr/>
          <p:nvPr/>
        </p:nvSpPr>
        <p:spPr>
          <a:xfrm>
            <a:off x="9733036" y="-680702"/>
            <a:ext cx="218434" cy="218434"/>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t34_11"/>
          <p:cNvSpPr/>
          <p:nvPr/>
        </p:nvSpPr>
        <p:spPr>
          <a:xfrm>
            <a:off x="10071694" y="-680702"/>
            <a:ext cx="218434" cy="218434"/>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t35_04"/>
          <p:cNvSpPr/>
          <p:nvPr/>
        </p:nvSpPr>
        <p:spPr>
          <a:xfrm>
            <a:off x="7701087" y="-934696"/>
            <a:ext cx="218434" cy="218434"/>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t35_05"/>
          <p:cNvSpPr/>
          <p:nvPr/>
        </p:nvSpPr>
        <p:spPr>
          <a:xfrm>
            <a:off x="8039745" y="-934696"/>
            <a:ext cx="218434" cy="218434"/>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t35_06"/>
          <p:cNvSpPr/>
          <p:nvPr/>
        </p:nvSpPr>
        <p:spPr>
          <a:xfrm>
            <a:off x="8378403" y="-934696"/>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t35_07"/>
          <p:cNvSpPr/>
          <p:nvPr/>
        </p:nvSpPr>
        <p:spPr>
          <a:xfrm>
            <a:off x="8717062" y="-934696"/>
            <a:ext cx="218434" cy="218434"/>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t35_08"/>
          <p:cNvSpPr/>
          <p:nvPr/>
        </p:nvSpPr>
        <p:spPr>
          <a:xfrm>
            <a:off x="9055720" y="-934696"/>
            <a:ext cx="218434" cy="218434"/>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t35_09"/>
          <p:cNvSpPr/>
          <p:nvPr/>
        </p:nvSpPr>
        <p:spPr>
          <a:xfrm>
            <a:off x="9394378" y="-934696"/>
            <a:ext cx="218434" cy="218434"/>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t35_10"/>
          <p:cNvSpPr/>
          <p:nvPr/>
        </p:nvSpPr>
        <p:spPr>
          <a:xfrm>
            <a:off x="9733036" y="-934696"/>
            <a:ext cx="218434" cy="218434"/>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t35_11"/>
          <p:cNvSpPr/>
          <p:nvPr/>
        </p:nvSpPr>
        <p:spPr>
          <a:xfrm>
            <a:off x="10071694" y="-934696"/>
            <a:ext cx="218434" cy="218434"/>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t36_04"/>
          <p:cNvSpPr/>
          <p:nvPr/>
        </p:nvSpPr>
        <p:spPr>
          <a:xfrm>
            <a:off x="7701087" y="-1188690"/>
            <a:ext cx="218434" cy="218434"/>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t36_05"/>
          <p:cNvSpPr/>
          <p:nvPr/>
        </p:nvSpPr>
        <p:spPr>
          <a:xfrm>
            <a:off x="8039745" y="-1188690"/>
            <a:ext cx="218434" cy="218434"/>
          </a:xfrm>
          <a:prstGeom prst="roundRect">
            <a:avLst>
              <a:gd name="adj" fmla="val 30000"/>
            </a:avLst>
          </a:prstGeom>
          <a:solidFill>
            <a:srgbClr val="1C8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t36_06"/>
          <p:cNvSpPr/>
          <p:nvPr/>
        </p:nvSpPr>
        <p:spPr>
          <a:xfrm>
            <a:off x="8378403" y="-1188690"/>
            <a:ext cx="218434" cy="218434"/>
          </a:xfrm>
          <a:prstGeom prst="roundRect">
            <a:avLst>
              <a:gd name="adj" fmla="val 30000"/>
            </a:avLst>
          </a:prstGeom>
          <a:solidFill>
            <a:srgbClr val="0F4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36_07"/>
          <p:cNvSpPr/>
          <p:nvPr/>
        </p:nvSpPr>
        <p:spPr>
          <a:xfrm>
            <a:off x="8717062" y="-1188690"/>
            <a:ext cx="218434" cy="218434"/>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t36_08"/>
          <p:cNvSpPr/>
          <p:nvPr/>
        </p:nvSpPr>
        <p:spPr>
          <a:xfrm>
            <a:off x="9055720" y="-1188690"/>
            <a:ext cx="218434" cy="218434"/>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t36_09"/>
          <p:cNvSpPr/>
          <p:nvPr/>
        </p:nvSpPr>
        <p:spPr>
          <a:xfrm>
            <a:off x="9394378" y="-1188690"/>
            <a:ext cx="218434" cy="218434"/>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t36_10"/>
          <p:cNvSpPr/>
          <p:nvPr/>
        </p:nvSpPr>
        <p:spPr>
          <a:xfrm>
            <a:off x="9733036" y="-1188690"/>
            <a:ext cx="218434" cy="218434"/>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t37_04"/>
          <p:cNvSpPr/>
          <p:nvPr/>
        </p:nvSpPr>
        <p:spPr>
          <a:xfrm>
            <a:off x="7701087" y="-1442683"/>
            <a:ext cx="218434" cy="218434"/>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t37_05"/>
          <p:cNvSpPr/>
          <p:nvPr/>
        </p:nvSpPr>
        <p:spPr>
          <a:xfrm>
            <a:off x="8039745" y="-1442683"/>
            <a:ext cx="218434" cy="218434"/>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t37_06"/>
          <p:cNvSpPr/>
          <p:nvPr/>
        </p:nvSpPr>
        <p:spPr>
          <a:xfrm>
            <a:off x="8378403" y="-1442683"/>
            <a:ext cx="218434" cy="218434"/>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t37_07"/>
          <p:cNvSpPr/>
          <p:nvPr/>
        </p:nvSpPr>
        <p:spPr>
          <a:xfrm>
            <a:off x="8717062" y="-1442683"/>
            <a:ext cx="218434" cy="218434"/>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t37_08"/>
          <p:cNvSpPr/>
          <p:nvPr/>
        </p:nvSpPr>
        <p:spPr>
          <a:xfrm>
            <a:off x="9055720" y="-1442683"/>
            <a:ext cx="218434" cy="218434"/>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t37_09"/>
          <p:cNvSpPr/>
          <p:nvPr/>
        </p:nvSpPr>
        <p:spPr>
          <a:xfrm>
            <a:off x="9394378" y="-1442683"/>
            <a:ext cx="218434" cy="218434"/>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0" y="0"/>
            <a:ext cx="12191695" cy="6857828"/>
          </a:xfrm>
          <a:prstGeom prst="rect">
            <a:avLst/>
          </a:prstGeom>
          <a:gradFill rotWithShape="1">
            <a:gsLst>
              <a:gs pos="0">
                <a:srgbClr val="04182A">
                  <a:alpha val="100000"/>
                </a:srgbClr>
              </a:gs>
              <a:gs pos="78000">
                <a:srgbClr val="04182A">
                  <a:alpha val="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8" name="merk" descr="merk.png"/>
          <p:cNvPicPr>
            <a:picLocks noChangeAspect="1"/>
          </p:cNvPicPr>
          <p:nvPr/>
        </p:nvPicPr>
        <p:blipFill>
          <a:blip r:embed="rId2"/>
          <a:stretch>
            <a:fillRect/>
          </a:stretch>
        </p:blipFill>
        <p:spPr>
          <a:xfrm>
            <a:off x="650215" y="761980"/>
            <a:ext cx="922012" cy="1066773"/>
          </a:xfrm>
          <a:prstGeom prst="rect">
            <a:avLst/>
          </a:prstGeom>
        </p:spPr>
      </p:pic>
      <p:sp>
        <p:nvSpPr>
          <p:cNvPr id="329" name="hero"/>
          <p:cNvSpPr txBox="1"/>
          <p:nvPr/>
        </p:nvSpPr>
        <p:spPr>
          <a:xfrm>
            <a:off x="634984" y="2133546"/>
            <a:ext cx="8254793" cy="1904952"/>
          </a:xfrm>
          <a:prstGeom prst="rect">
            <a:avLst/>
          </a:prstGeom>
          <a:noFill/>
        </p:spPr>
        <p:txBody>
          <a:bodyPr wrap="none" anchor="t" lIns="0" rIns="0" tIns="0" bIns="0">
            <a:spAutoFit/>
          </a:bodyPr>
          <a:lstStyle/>
          <a:p>
            <a:pPr algn="l">
              <a:lnSpc>
                <a:spcPct val="90000"/>
              </a:lnSpc>
            </a:pPr>
            <a:r>
              <a:rPr sz="13200" b="1">
                <a:solidFill>
                  <a:srgbClr val="F2F8FC"/>
                </a:solidFill>
                <a:latin typeface="Segoe UI"/>
              </a:rPr>
              <a:t>PARADISE</a:t>
            </a:r>
          </a:p>
        </p:txBody>
      </p:sp>
      <p:sp>
        <p:nvSpPr>
          <p:cNvPr id="330" name="TextBox 329"/>
          <p:cNvSpPr txBox="1"/>
          <p:nvPr/>
        </p:nvSpPr>
        <p:spPr>
          <a:xfrm>
            <a:off x="673083" y="3746406"/>
            <a:ext cx="6984825" cy="571485"/>
          </a:xfrm>
          <a:prstGeom prst="rect">
            <a:avLst/>
          </a:prstGeom>
          <a:noFill/>
        </p:spPr>
        <p:txBody>
          <a:bodyPr wrap="square" anchor="t" lIns="0" rIns="0" tIns="0" bIns="0">
            <a:spAutoFit/>
          </a:bodyPr>
          <a:lstStyle/>
          <a:p>
            <a:pPr algn="l">
              <a:lnSpc>
                <a:spcPct val="125000"/>
              </a:lnSpc>
            </a:pPr>
            <a:r>
              <a:rPr sz="4000" b="1">
                <a:solidFill>
                  <a:srgbClr val="52BDEC"/>
                </a:solidFill>
                <a:latin typeface="Segoe UI"/>
              </a:rPr>
              <a:t>Kortrijk Kerngezond 2026</a:t>
            </a:r>
          </a:p>
        </p:txBody>
      </p:sp>
      <p:sp>
        <p:nvSpPr>
          <p:cNvPr id="331" name="TextBox 330"/>
          <p:cNvSpPr txBox="1"/>
          <p:nvPr/>
        </p:nvSpPr>
        <p:spPr>
          <a:xfrm>
            <a:off x="685782" y="4330591"/>
            <a:ext cx="6349841" cy="444488"/>
          </a:xfrm>
          <a:prstGeom prst="rect">
            <a:avLst/>
          </a:prstGeom>
          <a:noFill/>
        </p:spPr>
        <p:txBody>
          <a:bodyPr wrap="square" anchor="t" lIns="0" rIns="0" tIns="0" bIns="0">
            <a:spAutoFit/>
          </a:bodyPr>
          <a:lstStyle/>
          <a:p>
            <a:pPr algn="l">
              <a:lnSpc>
                <a:spcPct val="125000"/>
              </a:lnSpc>
            </a:pPr>
            <a:r>
              <a:rPr sz="1800" b="0">
                <a:solidFill>
                  <a:srgbClr val="8FB6D0"/>
                </a:solidFill>
                <a:latin typeface="Segoe UI Light"/>
              </a:rPr>
              <a:t>Hoe meet je de druk onder een voet?</a:t>
            </a:r>
          </a:p>
        </p:txBody>
      </p:sp>
      <p:sp>
        <p:nvSpPr>
          <p:cNvPr id="332" name="Rectangle 331"/>
          <p:cNvSpPr/>
          <p:nvPr/>
        </p:nvSpPr>
        <p:spPr>
          <a:xfrm>
            <a:off x="634984" y="4914777"/>
            <a:ext cx="6349841"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 y="5067173"/>
            <a:ext cx="1904952" cy="571485"/>
          </a:xfrm>
          <a:prstGeom prst="rect">
            <a:avLst/>
          </a:prstGeom>
          <a:noFill/>
        </p:spPr>
        <p:txBody>
          <a:bodyPr wrap="square" anchor="t" lIns="0" rIns="0" tIns="0" bIns="0">
            <a:spAutoFit/>
          </a:bodyPr>
          <a:lstStyle/>
          <a:p>
            <a:pPr algn="l">
              <a:lnSpc>
                <a:spcPct val="100000"/>
              </a:lnSpc>
            </a:pPr>
            <a:r>
              <a:rPr sz="4400" b="1">
                <a:solidFill>
                  <a:srgbClr val="52BDEC"/>
                </a:solidFill>
                <a:latin typeface="Segoe UI"/>
              </a:rPr>
              <a:t>99</a:t>
            </a:r>
          </a:p>
        </p:txBody>
      </p:sp>
      <p:sp>
        <p:nvSpPr>
          <p:cNvPr id="334" name="TextBox 333"/>
          <p:cNvSpPr txBox="1"/>
          <p:nvPr/>
        </p:nvSpPr>
        <p:spPr>
          <a:xfrm>
            <a:off x="647683" y="5575160"/>
            <a:ext cx="1904952" cy="253993"/>
          </a:xfrm>
          <a:prstGeom prst="rect">
            <a:avLst/>
          </a:prstGeom>
          <a:noFill/>
        </p:spPr>
        <p:txBody>
          <a:bodyPr wrap="square" anchor="t" lIns="0" rIns="0" tIns="0" bIns="0">
            <a:spAutoFit/>
          </a:bodyPr>
          <a:lstStyle/>
          <a:p>
            <a:pPr algn="l">
              <a:lnSpc>
                <a:spcPct val="125000"/>
              </a:lnSpc>
            </a:pPr>
            <a:r>
              <a:rPr sz="1250" b="0" spc="140">
                <a:solidFill>
                  <a:srgbClr val="8FB6D0"/>
                </a:solidFill>
                <a:latin typeface="Consolas"/>
              </a:rPr>
              <a:t>SENSOREN</a:t>
            </a:r>
          </a:p>
        </p:txBody>
      </p:sp>
      <p:sp>
        <p:nvSpPr>
          <p:cNvPr id="335" name="TextBox 334"/>
          <p:cNvSpPr txBox="1"/>
          <p:nvPr/>
        </p:nvSpPr>
        <p:spPr>
          <a:xfrm>
            <a:off x="2730431" y="5067173"/>
            <a:ext cx="1904952" cy="571485"/>
          </a:xfrm>
          <a:prstGeom prst="rect">
            <a:avLst/>
          </a:prstGeom>
          <a:noFill/>
        </p:spPr>
        <p:txBody>
          <a:bodyPr wrap="square" anchor="t" lIns="0" rIns="0" tIns="0" bIns="0">
            <a:spAutoFit/>
          </a:bodyPr>
          <a:lstStyle/>
          <a:p>
            <a:pPr algn="l">
              <a:lnSpc>
                <a:spcPct val="100000"/>
              </a:lnSpc>
            </a:pPr>
            <a:r>
              <a:rPr sz="4400" b="1">
                <a:solidFill>
                  <a:srgbClr val="52BDEC"/>
                </a:solidFill>
                <a:latin typeface="Segoe UI"/>
              </a:rPr>
              <a:t>100</a:t>
            </a:r>
          </a:p>
        </p:txBody>
      </p:sp>
      <p:sp>
        <p:nvSpPr>
          <p:cNvPr id="336" name="TextBox 335"/>
          <p:cNvSpPr txBox="1"/>
          <p:nvPr/>
        </p:nvSpPr>
        <p:spPr>
          <a:xfrm>
            <a:off x="2743131" y="5575160"/>
            <a:ext cx="1904952" cy="253993"/>
          </a:xfrm>
          <a:prstGeom prst="rect">
            <a:avLst/>
          </a:prstGeom>
          <a:noFill/>
        </p:spPr>
        <p:txBody>
          <a:bodyPr wrap="square" anchor="t" lIns="0" rIns="0" tIns="0" bIns="0">
            <a:spAutoFit/>
          </a:bodyPr>
          <a:lstStyle/>
          <a:p>
            <a:pPr algn="l">
              <a:lnSpc>
                <a:spcPct val="125000"/>
              </a:lnSpc>
            </a:pPr>
            <a:r>
              <a:rPr sz="1250" b="0" spc="140">
                <a:solidFill>
                  <a:srgbClr val="8FB6D0"/>
                </a:solidFill>
                <a:latin typeface="Consolas"/>
              </a:rPr>
              <a:t>PER SECONDE</a:t>
            </a:r>
          </a:p>
        </p:txBody>
      </p:sp>
      <p:sp>
        <p:nvSpPr>
          <p:cNvPr id="337" name="TextBox 336"/>
          <p:cNvSpPr txBox="1"/>
          <p:nvPr/>
        </p:nvSpPr>
        <p:spPr>
          <a:xfrm>
            <a:off x="4825879" y="5067173"/>
            <a:ext cx="1904952" cy="571485"/>
          </a:xfrm>
          <a:prstGeom prst="rect">
            <a:avLst/>
          </a:prstGeom>
          <a:noFill/>
        </p:spPr>
        <p:txBody>
          <a:bodyPr wrap="square" anchor="t" lIns="0" rIns="0" tIns="0" bIns="0">
            <a:spAutoFit/>
          </a:bodyPr>
          <a:lstStyle/>
          <a:p>
            <a:pPr algn="l">
              <a:lnSpc>
                <a:spcPct val="100000"/>
              </a:lnSpc>
            </a:pPr>
            <a:r>
              <a:rPr sz="4400" b="1">
                <a:solidFill>
                  <a:srgbClr val="52BDEC"/>
                </a:solidFill>
                <a:latin typeface="Segoe UI"/>
              </a:rPr>
              <a:t>6</a:t>
            </a:r>
          </a:p>
        </p:txBody>
      </p:sp>
      <p:sp>
        <p:nvSpPr>
          <p:cNvPr id="338" name="TextBox 337"/>
          <p:cNvSpPr txBox="1"/>
          <p:nvPr/>
        </p:nvSpPr>
        <p:spPr>
          <a:xfrm>
            <a:off x="4838579" y="5575160"/>
            <a:ext cx="1904952" cy="253993"/>
          </a:xfrm>
          <a:prstGeom prst="rect">
            <a:avLst/>
          </a:prstGeom>
          <a:noFill/>
        </p:spPr>
        <p:txBody>
          <a:bodyPr wrap="square" anchor="t" lIns="0" rIns="0" tIns="0" bIns="0">
            <a:spAutoFit/>
          </a:bodyPr>
          <a:lstStyle/>
          <a:p>
            <a:pPr algn="l">
              <a:lnSpc>
                <a:spcPct val="125000"/>
              </a:lnSpc>
            </a:pPr>
            <a:r>
              <a:rPr sz="1250" b="0" spc="140">
                <a:solidFill>
                  <a:srgbClr val="8FB6D0"/>
                </a:solidFill>
                <a:latin typeface="Consolas"/>
              </a:rPr>
              <a:t>ZIEKENHUIZEN</a:t>
            </a:r>
          </a:p>
        </p:txBody>
      </p:sp>
      <p:sp>
        <p:nvSpPr>
          <p:cNvPr id="339" name="Rectangle 338"/>
          <p:cNvSpPr/>
          <p:nvPr/>
        </p:nvSpPr>
        <p:spPr>
          <a:xfrm>
            <a:off x="0" y="5651358"/>
            <a:ext cx="12191695" cy="1206469"/>
          </a:xfrm>
          <a:prstGeom prst="rect">
            <a:avLst/>
          </a:prstGeom>
          <a:gradFill rotWithShape="1">
            <a:gsLst>
              <a:gs pos="0">
                <a:srgbClr val="04182A">
                  <a:alpha val="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ounded Rectangle 340"/>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2" name="Picture 341" descr="kuleuven.png"/>
          <p:cNvPicPr>
            <a:picLocks noChangeAspect="1"/>
          </p:cNvPicPr>
          <p:nvPr/>
        </p:nvPicPr>
        <p:blipFill>
          <a:blip r:embed="rId3"/>
          <a:stretch>
            <a:fillRect/>
          </a:stretch>
        </p:blipFill>
        <p:spPr>
          <a:xfrm>
            <a:off x="787380" y="6152996"/>
            <a:ext cx="1381100" cy="393690"/>
          </a:xfrm>
          <a:prstGeom prst="rect">
            <a:avLst/>
          </a:prstGeom>
        </p:spPr>
      </p:pic>
      <p:sp>
        <p:nvSpPr>
          <p:cNvPr id="343" name="Rounded Rectangle 342"/>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4" name="Picture 343" descr="vub.png"/>
          <p:cNvPicPr>
            <a:picLocks noChangeAspect="1"/>
          </p:cNvPicPr>
          <p:nvPr/>
        </p:nvPicPr>
        <p:blipFill>
          <a:blip r:embed="rId4"/>
          <a:stretch>
            <a:fillRect/>
          </a:stretch>
        </p:blipFill>
        <p:spPr>
          <a:xfrm>
            <a:off x="2727267" y="6152996"/>
            <a:ext cx="1116092" cy="393690"/>
          </a:xfrm>
          <a:prstGeom prst="rect">
            <a:avLst/>
          </a:prstGeom>
        </p:spPr>
      </p:pic>
      <p:sp>
        <p:nvSpPr>
          <p:cNvPr id="345" name="TextBox 344"/>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346" name="TextBox 345"/>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347" name="TextBox 346"/>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KU Leuven · Campus Brugge  ·  AZ Groeninge Kortrijk</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4FC08D">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17352" b="1">
                <a:solidFill>
                  <a:srgbClr val="4FC08D"/>
                </a:solidFill>
                <a:latin typeface="Segoe UI"/>
              </a:rPr>
              <a:t>10.000</a:t>
            </a:r>
          </a:p>
        </p:txBody>
      </p:sp>
      <p:sp>
        <p:nvSpPr>
          <p:cNvPr id="5" name="TextBox 4"/>
          <p:cNvSpPr txBox="1"/>
          <p:nvPr/>
        </p:nvSpPr>
        <p:spPr>
          <a:xfrm>
            <a:off x="8000799" y="1587833"/>
            <a:ext cx="1523961" cy="1015974"/>
          </a:xfrm>
          <a:prstGeom prst="rect">
            <a:avLst/>
          </a:prstGeom>
          <a:noFill/>
        </p:spPr>
        <p:txBody>
          <a:bodyPr wrap="square" anchor="t" lIns="0" rIns="0" tIns="0" bIns="0">
            <a:spAutoFit/>
          </a:bodyPr>
          <a:lstStyle/>
          <a:p>
            <a:pPr algn="l">
              <a:lnSpc>
                <a:spcPct val="125000"/>
              </a:lnSpc>
            </a:pPr>
            <a:r>
              <a:rPr sz="7600" b="1">
                <a:solidFill>
                  <a:srgbClr val="4FC08D"/>
                </a:solidFill>
                <a:latin typeface="Segoe UI Light"/>
              </a:rPr>
              <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stappen zet je</a:t>
            </a:r>
          </a:p>
          <a:p>
            <a:pPr algn="l">
              <a:lnSpc>
                <a:spcPct val="120000"/>
              </a:lnSpc>
              <a:spcBef>
                <a:spcPts val="500"/>
              </a:spcBef>
            </a:pPr>
            <a:r>
              <a:rPr sz="3200" b="1">
                <a:solidFill>
                  <a:srgbClr val="F2F8FC"/>
                </a:solidFill>
                <a:latin typeface="Segoe UI"/>
              </a:rPr>
              <a:t>elke dag</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26</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BOTJES PER VOET</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VOETEN, HEEL JE LEVEN</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RESERVE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Je voeten dragen je overal naartoe — en ze klagen zelden.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12</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DIABETES MET EEN VOET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dingen tegelijk</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994521" y="3082720"/>
            <a:ext cx="698736" cy="698736"/>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027794" y="2749989"/>
            <a:ext cx="632190" cy="532370"/>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828155" y="2483803"/>
            <a:ext cx="1031468" cy="598917"/>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844792" y="2217618"/>
            <a:ext cx="299458" cy="299458"/>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194160" y="2184345"/>
            <a:ext cx="232912" cy="232912"/>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427072" y="2217618"/>
            <a:ext cx="207957" cy="207957"/>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626711" y="2284164"/>
            <a:ext cx="191320" cy="191320"/>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809714" y="2367347"/>
            <a:ext cx="174684" cy="174684"/>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94702" y="2350711"/>
            <a:ext cx="698736" cy="698736"/>
          </a:xfrm>
          <a:prstGeom prst="ellipse">
            <a:avLst/>
          </a:prstGeom>
          <a:solidFill>
            <a:srgbClr val="FF7A00">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27794" y="2483803"/>
            <a:ext cx="432551" cy="432551"/>
          </a:xfrm>
          <a:prstGeom prst="ellipse">
            <a:avLst/>
          </a:prstGeom>
          <a:solidFill>
            <a:srgbClr val="FF7A00">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144250" y="2600259"/>
            <a:ext cx="199639" cy="199639"/>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Te veel druk</a:t>
            </a:r>
          </a:p>
        </p:txBody>
      </p:sp>
      <p:sp>
        <p:nvSpPr>
          <p:cNvPr id="18" name="TextBox 1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DUWEN</a:t>
            </a:r>
          </a:p>
        </p:txBody>
      </p:sp>
      <p:sp>
        <p:nvSpPr>
          <p:cNvPr id="19" name="TextBox 1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200  kPa is veel</a:t>
            </a:r>
          </a:p>
        </p:txBody>
      </p:sp>
      <p:sp>
        <p:nvSpPr>
          <p:cNvPr id="20" name="TextBox 1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MEETBAAR</a:t>
            </a:r>
          </a:p>
        </p:txBody>
      </p:sp>
      <p:sp>
        <p:nvSpPr>
          <p:cNvPr id="21" name="TextBox 2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Op één plekje duwt de voet te hard.</a:t>
            </a:r>
          </a:p>
          <a:p>
            <a:pPr algn="l">
              <a:lnSpc>
                <a:spcPct val="130000"/>
              </a:lnSpc>
              <a:spcBef>
                <a:spcPts val="1000"/>
              </a:spcBef>
            </a:pPr>
            <a:r>
              <a:rPr sz="1450" b="0">
                <a:solidFill>
                  <a:srgbClr val="8FB6D0"/>
                </a:solidFill>
                <a:latin typeface="Segoe UI"/>
              </a:rPr>
              <a:t>Als een steentje dat er altijd zit.</a:t>
            </a:r>
          </a:p>
        </p:txBody>
      </p:sp>
      <p:sp>
        <p:nvSpPr>
          <p:cNvPr id="22" name="Rounded Rectangle 2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885640" y="2987727"/>
            <a:ext cx="634730" cy="634730"/>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915866" y="2685474"/>
            <a:ext cx="574279" cy="483603"/>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734514" y="2443672"/>
            <a:ext cx="936982" cy="544054"/>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749627" y="2201870"/>
            <a:ext cx="272027" cy="272027"/>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066992" y="2171645"/>
            <a:ext cx="211576" cy="211576"/>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278569" y="2201870"/>
            <a:ext cx="188907" cy="188907"/>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459920" y="2262321"/>
            <a:ext cx="173795" cy="173795"/>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26159" y="2337884"/>
            <a:ext cx="158682" cy="158682"/>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ightning Bolt 31"/>
          <p:cNvSpPr/>
          <p:nvPr/>
        </p:nvSpPr>
        <p:spPr>
          <a:xfrm>
            <a:off x="7036767" y="2473898"/>
            <a:ext cx="332477" cy="604504"/>
          </a:xfrm>
          <a:prstGeom prst="lightningBolt">
            <a:avLst/>
          </a:prstGeom>
          <a:solidFill>
            <a:srgbClr val="52BDE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74064" y="2413447"/>
            <a:ext cx="1027658" cy="1027658"/>
          </a:xfrm>
          <a:prstGeom prst="ellipse">
            <a:avLst/>
          </a:prstGeom>
          <a:noFill/>
          <a:ln w="635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rot="18900000">
            <a:off x="6643838" y="2866826"/>
            <a:ext cx="1088108" cy="90675"/>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Geen gevoel</a:t>
            </a:r>
          </a:p>
        </p:txBody>
      </p:sp>
      <p:sp>
        <p:nvSpPr>
          <p:cNvPr id="36" name="TextBox 3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VOELEN</a:t>
            </a:r>
          </a:p>
        </p:txBody>
      </p:sp>
      <p:sp>
        <p:nvSpPr>
          <p:cNvPr id="37" name="TextBox 3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0  pijn</a:t>
            </a:r>
          </a:p>
        </p:txBody>
      </p:sp>
      <p:sp>
        <p:nvSpPr>
          <p:cNvPr id="38" name="TextBox 3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De zenuw geeft geen seintje.</a:t>
            </a:r>
          </a:p>
          <a:p>
            <a:pPr algn="l">
              <a:lnSpc>
                <a:spcPct val="128000"/>
              </a:lnSpc>
              <a:spcBef>
                <a:spcPts val="600"/>
              </a:spcBef>
            </a:pPr>
            <a:r>
              <a:rPr sz="1400" b="0">
                <a:solidFill>
                  <a:srgbClr val="8FB6D0"/>
                </a:solidFill>
                <a:latin typeface="Segoe UI"/>
              </a:rPr>
              <a:t>Je voelt een wonde niet.</a:t>
            </a:r>
          </a:p>
        </p:txBody>
      </p:sp>
      <p:sp>
        <p:nvSpPr>
          <p:cNvPr id="39" name="TextBox 3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ONZICHTBAAR</a:t>
            </a:r>
          </a:p>
        </p:txBody>
      </p:sp>
      <p:sp>
        <p:nvSpPr>
          <p:cNvPr id="40" name="Rounded Rectangle 3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324314" y="4203594"/>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583388" y="4405519"/>
            <a:ext cx="1209009" cy="1209009"/>
          </a:xfrm>
          <a:prstGeom prst="ellipse">
            <a:avLst/>
          </a:prstGeom>
          <a:solidFill>
            <a:srgbClr val="113A57"/>
          </a:solidFill>
          <a:ln w="635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7668" y="4647321"/>
            <a:ext cx="60450" cy="392928"/>
          </a:xfrm>
          <a:prstGeom prst="rect">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87893" y="4979799"/>
            <a:ext cx="362702" cy="60450"/>
          </a:xfrm>
          <a:prstGeom prst="rect">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097217" y="4919349"/>
            <a:ext cx="181351" cy="181351"/>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Te laat gezien</a:t>
            </a:r>
          </a:p>
        </p:txBody>
      </p:sp>
      <p:sp>
        <p:nvSpPr>
          <p:cNvPr id="47" name="TextBox 46"/>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TIJD</a:t>
            </a:r>
          </a:p>
        </p:txBody>
      </p:sp>
      <p:sp>
        <p:nvSpPr>
          <p:cNvPr id="48" name="TextBox 47"/>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40  procent</a:t>
            </a:r>
          </a:p>
        </p:txBody>
      </p:sp>
      <p:sp>
        <p:nvSpPr>
          <p:cNvPr id="49" name="TextBox 48"/>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Pas gezien als het al stuk is.</a:t>
            </a:r>
          </a:p>
          <a:p>
            <a:pPr algn="l">
              <a:lnSpc>
                <a:spcPct val="128000"/>
              </a:lnSpc>
              <a:spcBef>
                <a:spcPts val="600"/>
              </a:spcBef>
            </a:pPr>
            <a:r>
              <a:rPr sz="1400" b="0">
                <a:solidFill>
                  <a:srgbClr val="8FB6D0"/>
                </a:solidFill>
                <a:latin typeface="Segoe UI"/>
              </a:rPr>
              <a:t>Op tijd kijken helpt.</a:t>
            </a:r>
          </a:p>
        </p:txBody>
      </p:sp>
      <p:sp>
        <p:nvSpPr>
          <p:cNvPr id="50" name="TextBox 49"/>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TE VOORKOMEN</a:t>
            </a:r>
          </a:p>
        </p:txBody>
      </p:sp>
      <p:sp>
        <p:nvSpPr>
          <p:cNvPr id="51" name="TextBox 5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12</a:t>
            </a:r>
          </a:p>
        </p:txBody>
      </p:sp>
      <p:pic>
        <p:nvPicPr>
          <p:cNvPr id="5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WAT WIJ DOEN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Wij meten wat</a:t>
            </a:r>
          </a:p>
          <a:p>
            <a:pPr algn="l">
              <a:lnSpc>
                <a:spcPct val="108000"/>
              </a:lnSpc>
              <a:spcBef>
                <a:spcPts val="500"/>
              </a:spcBef>
            </a:pPr>
            <a:r>
              <a:rPr sz="5400" b="1">
                <a:solidFill>
                  <a:srgbClr val="F2F8FC"/>
                </a:solidFill>
                <a:latin typeface="Segoe UI"/>
              </a:rPr>
              <a:t>eerst alleen</a:t>
            </a:r>
          </a:p>
          <a:p>
            <a:pPr algn="l">
              <a:lnSpc>
                <a:spcPct val="108000"/>
              </a:lnSpc>
              <a:spcBef>
                <a:spcPts val="500"/>
              </a:spcBef>
            </a:pPr>
            <a:r>
              <a:rPr sz="5400" b="1">
                <a:solidFill>
                  <a:srgbClr val="F2F8FC"/>
                </a:solidFill>
                <a:latin typeface="Segoe UI"/>
              </a:rPr>
              <a:t>geschat werd</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Zes ziekenhuizen in België zoeken samen uit of een zool die de druk echt wegneemt, én die ook gedragen wordt, nieuwe wonden voorkomt. AZ Groeninge in Kortrijk is er een van.</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EERLIJK GEZEGD</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Het onderzoek start binnenkort. Er zijn nog geen resultaten — wat u vandaag ziet, is hoe we het meten.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12</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Een zool die voelt</a:t>
            </a:r>
          </a:p>
        </p:txBody>
      </p:sp>
      <p:sp>
        <p:nvSpPr>
          <p:cNvPr id="5" name="Rounded Rectangle 4"/>
          <p:cNvSpPr/>
          <p:nvPr/>
        </p:nvSpPr>
        <p:spPr>
          <a:xfrm>
            <a:off x="634984" y="2031949"/>
            <a:ext cx="5384538" cy="353051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35144"/>
            <a:ext cx="838179" cy="83817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dar.png"/>
          <p:cNvPicPr>
            <a:picLocks noChangeAspect="1"/>
          </p:cNvPicPr>
          <p:nvPr/>
        </p:nvPicPr>
        <p:blipFill>
          <a:blip r:embed="rId2"/>
          <a:stretch>
            <a:fillRect/>
          </a:stretch>
        </p:blipFill>
        <p:spPr>
          <a:xfrm>
            <a:off x="965175" y="2363936"/>
            <a:ext cx="685782" cy="580595"/>
          </a:xfrm>
          <a:prstGeom prst="rect">
            <a:avLst/>
          </a:prstGeom>
        </p:spPr>
      </p:pic>
      <p:sp>
        <p:nvSpPr>
          <p:cNvPr id="8" name="TextBox 7"/>
          <p:cNvSpPr txBox="1"/>
          <p:nvPr/>
        </p:nvSpPr>
        <p:spPr>
          <a:xfrm>
            <a:off x="1879553"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9" name="TextBox 8"/>
          <p:cNvSpPr txBox="1"/>
          <p:nvPr/>
        </p:nvSpPr>
        <p:spPr>
          <a:xfrm>
            <a:off x="1879553" y="2654233"/>
            <a:ext cx="3885975"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Wat het is</a:t>
            </a:r>
          </a:p>
        </p:txBody>
      </p:sp>
      <p:sp>
        <p:nvSpPr>
          <p:cNvPr id="10" name="Rounded Rectangle 9"/>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99 sensoren</a:t>
            </a:r>
          </a:p>
        </p:txBody>
      </p:sp>
      <p:sp>
        <p:nvSpPr>
          <p:cNvPr id="12" name="TextBox 11"/>
          <p:cNvSpPr txBox="1"/>
          <p:nvPr/>
        </p:nvSpPr>
        <p:spPr>
          <a:xfrm>
            <a:off x="888977" y="4165495"/>
            <a:ext cx="4876551" cy="1219834"/>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flinterdunne zool vol kleine sensoren.</a:t>
            </a:r>
          </a:p>
          <a:p>
            <a:pPr algn="l">
              <a:lnSpc>
                <a:spcPct val="132000"/>
              </a:lnSpc>
              <a:spcBef>
                <a:spcPts val="1200"/>
              </a:spcBef>
            </a:pPr>
            <a:r>
              <a:rPr sz="1450" b="0">
                <a:solidFill>
                  <a:srgbClr val="8FB6D0"/>
                </a:solidFill>
                <a:latin typeface="Segoe UI"/>
              </a:rPr>
              <a:t>Ze past in je eigen schoen.</a:t>
            </a:r>
          </a:p>
          <a:p>
            <a:pPr algn="l">
              <a:lnSpc>
                <a:spcPct val="132000"/>
              </a:lnSpc>
              <a:spcBef>
                <a:spcPts val="1200"/>
              </a:spcBef>
            </a:pPr>
            <a:r>
              <a:rPr sz="1450" b="0">
                <a:solidFill>
                  <a:srgbClr val="8FB6D0"/>
                </a:solidFill>
                <a:latin typeface="Segoe UI"/>
              </a:rPr>
              <a:t>Een kastje aan je been stuurt alles door.</a:t>
            </a:r>
          </a:p>
        </p:txBody>
      </p:sp>
      <p:sp>
        <p:nvSpPr>
          <p:cNvPr id="13" name="Rounded Rectangle 12"/>
          <p:cNvSpPr/>
          <p:nvPr/>
        </p:nvSpPr>
        <p:spPr>
          <a:xfrm>
            <a:off x="6171918" y="2031949"/>
            <a:ext cx="5384538" cy="353051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25912" y="2235144"/>
            <a:ext cx="838179" cy="83817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575717" y="2802576"/>
            <a:ext cx="152121" cy="152121"/>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2961" y="2730137"/>
            <a:ext cx="137634" cy="115902"/>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39498" y="2672185"/>
            <a:ext cx="224560" cy="130390"/>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43120" y="2614234"/>
            <a:ext cx="65195" cy="65195"/>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619181" y="2606990"/>
            <a:ext cx="50707" cy="50707"/>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669888" y="2614234"/>
            <a:ext cx="45274" cy="45274"/>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713351" y="2628722"/>
            <a:ext cx="41652" cy="41652"/>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753193" y="2646832"/>
            <a:ext cx="38030" cy="38030"/>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906417" y="2550614"/>
            <a:ext cx="152121" cy="152121"/>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913661" y="2478175"/>
            <a:ext cx="137634" cy="115902"/>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70198" y="2420224"/>
            <a:ext cx="224560" cy="130390"/>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73819" y="2362273"/>
            <a:ext cx="65195" cy="651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949880" y="2355029"/>
            <a:ext cx="50707" cy="5070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000588" y="2362273"/>
            <a:ext cx="45274" cy="45274"/>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44051" y="2376760"/>
            <a:ext cx="41652" cy="41652"/>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083893" y="2394870"/>
            <a:ext cx="38030" cy="38030"/>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498554" y="2433767"/>
            <a:ext cx="55116" cy="55116"/>
          </a:xfrm>
          <a:prstGeom prst="ellipse">
            <a:avLst/>
          </a:prstGeom>
          <a:solidFill>
            <a:srgbClr val="FF7A0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5166" y="2370776"/>
            <a:ext cx="47242" cy="47242"/>
          </a:xfrm>
          <a:prstGeom prst="ellipse">
            <a:avLst/>
          </a:prstGeom>
          <a:solidFill>
            <a:srgbClr val="FF7A0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63904" y="2323533"/>
            <a:ext cx="39369" cy="39369"/>
          </a:xfrm>
          <a:prstGeom prst="ellipse">
            <a:avLst/>
          </a:prstGeom>
          <a:solidFill>
            <a:srgbClr val="FF7A0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1648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35" name="TextBox 34"/>
          <p:cNvSpPr txBox="1"/>
          <p:nvPr/>
        </p:nvSpPr>
        <p:spPr>
          <a:xfrm>
            <a:off x="7416487" y="2654233"/>
            <a:ext cx="3885975"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Wat het doet</a:t>
            </a:r>
          </a:p>
        </p:txBody>
      </p:sp>
      <p:sp>
        <p:nvSpPr>
          <p:cNvPr id="36" name="Rounded Rectangle 35"/>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100 metingen per seconde</a:t>
            </a:r>
          </a:p>
        </p:txBody>
      </p:sp>
      <p:sp>
        <p:nvSpPr>
          <p:cNvPr id="38" name="TextBox 37"/>
          <p:cNvSpPr txBox="1"/>
          <p:nvPr/>
        </p:nvSpPr>
        <p:spPr>
          <a:xfrm>
            <a:off x="6425912" y="4165495"/>
            <a:ext cx="4876551" cy="1219834"/>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Je wandelt tien meter, heen en weer.</a:t>
            </a:r>
          </a:p>
          <a:p>
            <a:pPr algn="l">
              <a:lnSpc>
                <a:spcPct val="132000"/>
              </a:lnSpc>
              <a:spcBef>
                <a:spcPts val="1200"/>
              </a:spcBef>
            </a:pPr>
            <a:r>
              <a:rPr sz="1450" b="0">
                <a:solidFill>
                  <a:srgbClr val="8FB6D0"/>
                </a:solidFill>
                <a:latin typeface="Segoe UI"/>
              </a:rPr>
              <a:t>Elke stap wordt opgemeten.</a:t>
            </a:r>
          </a:p>
          <a:p>
            <a:pPr algn="l">
              <a:lnSpc>
                <a:spcPct val="132000"/>
              </a:lnSpc>
              <a:spcBef>
                <a:spcPts val="1200"/>
              </a:spcBef>
            </a:pPr>
            <a:r>
              <a:rPr sz="1450" b="0">
                <a:solidFill>
                  <a:srgbClr val="8FB6D0"/>
                </a:solidFill>
                <a:latin typeface="Segoe UI"/>
              </a:rPr>
              <a:t>Na één minuut weten we waar het knelt.</a:t>
            </a:r>
          </a:p>
        </p:txBody>
      </p:sp>
      <p:sp>
        <p:nvSpPr>
          <p:cNvPr id="39" name="TextBox 3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12</a:t>
            </a:r>
          </a:p>
        </p:txBody>
      </p:sp>
      <p:pic>
        <p:nvPicPr>
          <p:cNvPr id="40"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ZO ZIET DAT ERUIT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Rood is waar het duwt</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op de bal van de voet</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Alles boven 200 is te veel</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Elk vierkantje is één sensor. Hoe roder, hoe harder de voet daar duwt.</a:t>
            </a:r>
          </a:p>
          <a:p>
            <a:pPr algn="l">
              <a:lnSpc>
                <a:spcPct val="135000"/>
              </a:lnSpc>
              <a:spcBef>
                <a:spcPts val="1200"/>
              </a:spcBef>
            </a:pPr>
            <a:r>
              <a:rPr sz="1700" b="0">
                <a:solidFill>
                  <a:srgbClr val="8FB6D0"/>
                </a:solidFill>
                <a:latin typeface="Segoe UI"/>
              </a:rPr>
              <a:t>Hier duwt het veel te hard op één plek — precies waar een wonde ontstaat.</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Een echte meting duurt ongeveer één minuut.</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12</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EN MET DE JUISTE ZOOL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De rode plek koelt af</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op dezelfde plek,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Onder 200 — gelukt</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Dezelfde voet, dezelfde stap, maar nu met een zool die op maat gemaakt is.</a:t>
            </a:r>
          </a:p>
          <a:p>
            <a:pPr algn="l">
              <a:lnSpc>
                <a:spcPct val="135000"/>
              </a:lnSpc>
              <a:spcBef>
                <a:spcPts val="1200"/>
              </a:spcBef>
            </a:pPr>
            <a:r>
              <a:rPr sz="1700" b="0">
                <a:solidFill>
                  <a:srgbClr val="8FB6D0"/>
                </a:solidFill>
                <a:latin typeface="Segoe UI"/>
              </a:rPr>
              <a:t>De druk is verdeeld over de hele voet in plaats van één plekje.</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Lukt het niet in één keer, dan past de maker de zool bij.</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12</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EN DAN NOG IETS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Een goede zool in de kast helpt niemand</a:t>
            </a:r>
          </a:p>
        </p:txBody>
      </p:sp>
      <p:sp>
        <p:nvSpPr>
          <p:cNvPr id="5" name="Rounded Rectangle 4"/>
          <p:cNvSpPr/>
          <p:nvPr/>
        </p:nvSpPr>
        <p:spPr>
          <a:xfrm>
            <a:off x="634984" y="2031949"/>
            <a:ext cx="5384538" cy="353051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35144"/>
            <a:ext cx="838179" cy="83817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977367" y="2402271"/>
            <a:ext cx="661399" cy="267709"/>
          </a:xfrm>
          <a:prstGeom prst="triangl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71853" y="2654233"/>
            <a:ext cx="472428" cy="314952"/>
          </a:xfrm>
          <a:prstGeom prst="roundRect">
            <a:avLst/>
          </a:prstGeom>
          <a:solidFill>
            <a:srgbClr val="17486B"/>
          </a:solidFill>
          <a:ln w="31750">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52950" y="2780214"/>
            <a:ext cx="110233" cy="188971"/>
          </a:xfrm>
          <a:prstGeom prst="rect">
            <a:avLst/>
          </a:prstGeom>
          <a:solidFill>
            <a:srgbClr val="52BDEC">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348" y="2858952"/>
            <a:ext cx="125980" cy="78738"/>
          </a:xfrm>
          <a:prstGeom prst="ellipse">
            <a:avLst/>
          </a:prstGeom>
          <a:solidFill>
            <a:srgbClr val="FF7A00">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79553"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12" name="TextBox 11"/>
          <p:cNvSpPr txBox="1"/>
          <p:nvPr/>
        </p:nvSpPr>
        <p:spPr>
          <a:xfrm>
            <a:off x="1879553" y="2654233"/>
            <a:ext cx="3885975"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Het probleem</a:t>
            </a:r>
          </a:p>
        </p:txBody>
      </p:sp>
      <p:sp>
        <p:nvSpPr>
          <p:cNvPr id="13" name="Rounded Rectangle 12"/>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Thuis gaat de schoen uit</a:t>
            </a:r>
          </a:p>
        </p:txBody>
      </p:sp>
      <p:sp>
        <p:nvSpPr>
          <p:cNvPr id="15" name="TextBox 14"/>
          <p:cNvSpPr txBox="1"/>
          <p:nvPr/>
        </p:nvSpPr>
        <p:spPr>
          <a:xfrm>
            <a:off x="888977" y="4165495"/>
            <a:ext cx="4876551" cy="1219834"/>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Binnenshuis zet je de meeste stappen.</a:t>
            </a:r>
          </a:p>
          <a:p>
            <a:pPr algn="l">
              <a:lnSpc>
                <a:spcPct val="132000"/>
              </a:lnSpc>
              <a:spcBef>
                <a:spcPts val="1200"/>
              </a:spcBef>
            </a:pPr>
            <a:r>
              <a:rPr sz="1450" b="0">
                <a:solidFill>
                  <a:srgbClr val="8FB6D0"/>
                </a:solidFill>
                <a:latin typeface="Segoe UI"/>
              </a:rPr>
              <a:t>Net daar draag je je schoenen het minst.</a:t>
            </a:r>
          </a:p>
          <a:p>
            <a:pPr algn="l">
              <a:lnSpc>
                <a:spcPct val="132000"/>
              </a:lnSpc>
              <a:spcBef>
                <a:spcPts val="1200"/>
              </a:spcBef>
            </a:pPr>
            <a:r>
              <a:rPr sz="1450" b="0">
                <a:solidFill>
                  <a:srgbClr val="8FB6D0"/>
                </a:solidFill>
                <a:latin typeface="Segoe UI"/>
              </a:rPr>
              <a:t>Vragen hoe vaak helpt niet — niemand weet dat.</a:t>
            </a:r>
          </a:p>
        </p:txBody>
      </p:sp>
      <p:sp>
        <p:nvSpPr>
          <p:cNvPr id="16" name="Rounded Rectangle 15"/>
          <p:cNvSpPr/>
          <p:nvPr/>
        </p:nvSpPr>
        <p:spPr>
          <a:xfrm>
            <a:off x="6171918" y="2031949"/>
            <a:ext cx="5384538" cy="353051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25912" y="2235144"/>
            <a:ext cx="838179" cy="83817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orthotimer.png"/>
          <p:cNvPicPr>
            <a:picLocks noChangeAspect="1"/>
          </p:cNvPicPr>
          <p:nvPr/>
        </p:nvPicPr>
        <p:blipFill>
          <a:blip r:embed="rId2"/>
          <a:stretch>
            <a:fillRect/>
          </a:stretch>
        </p:blipFill>
        <p:spPr>
          <a:xfrm>
            <a:off x="6502110" y="2526561"/>
            <a:ext cx="685782" cy="255344"/>
          </a:xfrm>
          <a:prstGeom prst="rect">
            <a:avLst/>
          </a:prstGeom>
        </p:spPr>
      </p:pic>
      <p:sp>
        <p:nvSpPr>
          <p:cNvPr id="19" name="TextBox 18"/>
          <p:cNvSpPr txBox="1"/>
          <p:nvPr/>
        </p:nvSpPr>
        <p:spPr>
          <a:xfrm>
            <a:off x="741648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20" name="TextBox 19"/>
          <p:cNvSpPr txBox="1"/>
          <p:nvPr/>
        </p:nvSpPr>
        <p:spPr>
          <a:xfrm>
            <a:off x="7416487" y="2654233"/>
            <a:ext cx="3885975"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oplossing</a:t>
            </a:r>
          </a:p>
        </p:txBody>
      </p:sp>
      <p:sp>
        <p:nvSpPr>
          <p:cNvPr id="21" name="Rounded Rectangle 20"/>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Een piepklein sensortje</a:t>
            </a:r>
          </a:p>
        </p:txBody>
      </p:sp>
      <p:sp>
        <p:nvSpPr>
          <p:cNvPr id="23" name="TextBox 22"/>
          <p:cNvSpPr txBox="1"/>
          <p:nvPr/>
        </p:nvSpPr>
        <p:spPr>
          <a:xfrm>
            <a:off x="6425912" y="4165495"/>
            <a:ext cx="4876551" cy="1219834"/>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Zo groot als een halve suikerklont.</a:t>
            </a:r>
          </a:p>
          <a:p>
            <a:pPr algn="l">
              <a:lnSpc>
                <a:spcPct val="132000"/>
              </a:lnSpc>
              <a:spcBef>
                <a:spcPts val="1200"/>
              </a:spcBef>
            </a:pPr>
            <a:r>
              <a:rPr sz="1450" b="0">
                <a:solidFill>
                  <a:srgbClr val="8FB6D0"/>
                </a:solidFill>
                <a:latin typeface="Segoe UI"/>
              </a:rPr>
              <a:t>Het meet elk kwartier of de schoen warm is.</a:t>
            </a:r>
          </a:p>
          <a:p>
            <a:pPr algn="l">
              <a:lnSpc>
                <a:spcPct val="132000"/>
              </a:lnSpc>
              <a:spcBef>
                <a:spcPts val="1200"/>
              </a:spcBef>
            </a:pPr>
            <a:r>
              <a:rPr sz="1450" b="0">
                <a:solidFill>
                  <a:srgbClr val="8FB6D0"/>
                </a:solidFill>
                <a:latin typeface="Segoe UI"/>
              </a:rPr>
              <a:t>Geen camera, geen microfoon, geen GPS.</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12</a:t>
            </a:r>
          </a:p>
        </p:txBody>
      </p:sp>
      <p:pic>
        <p:nvPicPr>
          <p:cNvPr id="2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HET NAARTOE GAAT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Zorg die meedenkt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Kleiner</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Sensoren passen overal in</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Je merkt ze niet meer</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Ook gewoon thuis</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Slimmer</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Computers zien patronen in duizenden stappen</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Ze merken op wat een mens mist</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De dokter beslist, niet de computer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Altijd</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Nu: één meting per half jaar</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Straks: een beeld dat meeloopt</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Sneller bijsturen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Op tijd</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Het risico zien voor de wonde er is</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Ingrijpen als het nog klein is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Geen wonde, geen litteken</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12</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DIT SAMEN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Onderzoek en ziekenhuis</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uleuven.png"/>
          <p:cNvPicPr>
            <a:picLocks noChangeAspect="1"/>
          </p:cNvPicPr>
          <p:nvPr/>
        </p:nvPicPr>
        <p:blipFill>
          <a:blip r:embed="rId2"/>
          <a:stretch>
            <a:fillRect/>
          </a:stretch>
        </p:blipFill>
        <p:spPr>
          <a:xfrm>
            <a:off x="888977" y="2321131"/>
            <a:ext cx="4876551" cy="1390086"/>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KU Leuven</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CAMPUS BRUGGE</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1  onderzoek</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DE WETENSCHAP</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Bedenkt het onderzoek.</a:t>
            </a:r>
          </a:p>
          <a:p>
            <a:pPr algn="l">
              <a:lnSpc>
                <a:spcPct val="130000"/>
              </a:lnSpc>
              <a:spcBef>
                <a:spcPts val="1000"/>
              </a:spcBef>
            </a:pPr>
            <a:r>
              <a:rPr sz="1450" b="0">
                <a:solidFill>
                  <a:srgbClr val="8FB6D0"/>
                </a:solidFill>
                <a:latin typeface="Segoe UI"/>
              </a:rPr>
              <a:t>Meet en rekent uit.</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643838" y="2655249"/>
            <a:ext cx="1088108" cy="876532"/>
          </a:xfrm>
          <a:prstGeom prst="roundRect">
            <a:avLst/>
          </a:prstGeom>
          <a:solidFill>
            <a:srgbClr val="17486B"/>
          </a:solidFill>
          <a:ln w="31750">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ross 14"/>
          <p:cNvSpPr/>
          <p:nvPr/>
        </p:nvSpPr>
        <p:spPr>
          <a:xfrm>
            <a:off x="7036767" y="2262321"/>
            <a:ext cx="302252" cy="302252"/>
          </a:xfrm>
          <a:prstGeom prst="plus">
            <a:avLst/>
          </a:prstGeom>
          <a:solidFill>
            <a:srgbClr val="4FC0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94965" y="2836601"/>
            <a:ext cx="181351" cy="151126"/>
          </a:xfrm>
          <a:prstGeom prst="rect">
            <a:avLst/>
          </a:prstGeom>
          <a:solidFill>
            <a:srgbClr val="52BDEC">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94965" y="3108628"/>
            <a:ext cx="181351" cy="151126"/>
          </a:xfrm>
          <a:prstGeom prst="rect">
            <a:avLst/>
          </a:prstGeom>
          <a:solidFill>
            <a:srgbClr val="52BDEC">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097217" y="2836601"/>
            <a:ext cx="181351" cy="151126"/>
          </a:xfrm>
          <a:prstGeom prst="rect">
            <a:avLst/>
          </a:prstGeom>
          <a:solidFill>
            <a:srgbClr val="52BDEC">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097217" y="3108628"/>
            <a:ext cx="181351" cy="151126"/>
          </a:xfrm>
          <a:prstGeom prst="rect">
            <a:avLst/>
          </a:prstGeom>
          <a:solidFill>
            <a:srgbClr val="52BDEC">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99470" y="2836601"/>
            <a:ext cx="181351" cy="151126"/>
          </a:xfrm>
          <a:prstGeom prst="rect">
            <a:avLst/>
          </a:prstGeom>
          <a:solidFill>
            <a:srgbClr val="52BDEC">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99470" y="3108628"/>
            <a:ext cx="181351" cy="151126"/>
          </a:xfrm>
          <a:prstGeom prst="rect">
            <a:avLst/>
          </a:prstGeom>
          <a:solidFill>
            <a:srgbClr val="52BDEC">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082104" y="3320204"/>
            <a:ext cx="211576" cy="211576"/>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AZ Groeninge</a:t>
            </a:r>
          </a:p>
        </p:txBody>
      </p:sp>
      <p:sp>
        <p:nvSpPr>
          <p:cNvPr id="24" name="TextBox 23"/>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KORTRIJK</a:t>
            </a:r>
          </a:p>
        </p:txBody>
      </p:sp>
      <p:sp>
        <p:nvSpPr>
          <p:cNvPr id="25" name="TextBox 24"/>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  van de zes</a:t>
            </a:r>
          </a:p>
        </p:txBody>
      </p:sp>
      <p:sp>
        <p:nvSpPr>
          <p:cNvPr id="26" name="TextBox 25"/>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Hier gebeurt de zorg.</a:t>
            </a:r>
          </a:p>
          <a:p>
            <a:pPr algn="l">
              <a:lnSpc>
                <a:spcPct val="128000"/>
              </a:lnSpc>
              <a:spcBef>
                <a:spcPts val="600"/>
              </a:spcBef>
            </a:pPr>
            <a:r>
              <a:rPr sz="1400" b="0">
                <a:solidFill>
                  <a:srgbClr val="8FB6D0"/>
                </a:solidFill>
                <a:latin typeface="Segoe UI"/>
              </a:rPr>
              <a:t>En hier wordt gemeten.</a:t>
            </a:r>
          </a:p>
        </p:txBody>
      </p:sp>
      <p:sp>
        <p:nvSpPr>
          <p:cNvPr id="27" name="TextBox 26"/>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DE PRAKTIJK</a:t>
            </a:r>
          </a:p>
        </p:txBody>
      </p:sp>
      <p:sp>
        <p:nvSpPr>
          <p:cNvPr id="28" name="Rounded Rectangle 27"/>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merk.png"/>
          <p:cNvPicPr>
            <a:picLocks noChangeAspect="1"/>
          </p:cNvPicPr>
          <p:nvPr/>
        </p:nvPicPr>
        <p:blipFill>
          <a:blip r:embed="rId3"/>
          <a:stretch>
            <a:fillRect/>
          </a:stretch>
        </p:blipFill>
        <p:spPr>
          <a:xfrm>
            <a:off x="6556753" y="4279793"/>
            <a:ext cx="1262279" cy="1460463"/>
          </a:xfrm>
          <a:prstGeom prst="rect">
            <a:avLst/>
          </a:prstGeom>
        </p:spPr>
      </p:pic>
      <p:sp>
        <p:nvSpPr>
          <p:cNvPr id="31" name="TextBox 30"/>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PARADISE</a:t>
            </a:r>
          </a:p>
        </p:txBody>
      </p:sp>
      <p:sp>
        <p:nvSpPr>
          <p:cNvPr id="32" name="TextBox 31"/>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DE STUDIE</a:t>
            </a:r>
          </a:p>
        </p:txBody>
      </p:sp>
      <p:sp>
        <p:nvSpPr>
          <p:cNvPr id="33" name="TextBox 32"/>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6  ziekenhuizen</a:t>
            </a:r>
          </a:p>
        </p:txBody>
      </p:sp>
      <p:sp>
        <p:nvSpPr>
          <p:cNvPr id="34" name="TextBox 33"/>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Betaald door het FWO.</a:t>
            </a:r>
          </a:p>
          <a:p>
            <a:pPr algn="l">
              <a:lnSpc>
                <a:spcPct val="128000"/>
              </a:lnSpc>
              <a:spcBef>
                <a:spcPts val="600"/>
              </a:spcBef>
            </a:pPr>
            <a:r>
              <a:rPr sz="1400" b="0">
                <a:solidFill>
                  <a:srgbClr val="8FB6D0"/>
                </a:solidFill>
                <a:latin typeface="Segoe UI"/>
              </a:rPr>
              <a:t>Wat werkt, kan daarna overal.</a:t>
            </a:r>
          </a:p>
        </p:txBody>
      </p:sp>
      <p:sp>
        <p:nvSpPr>
          <p:cNvPr id="35" name="TextBox 34"/>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DE BRUG</a:t>
            </a:r>
          </a:p>
        </p:txBody>
      </p:sp>
      <p:sp>
        <p:nvSpPr>
          <p:cNvPr id="36" name="TextBox 3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12</a:t>
            </a:r>
          </a:p>
        </p:txBody>
      </p:sp>
      <p:pic>
        <p:nvPicPr>
          <p:cNvPr id="37"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VANDAAG OP DE STAND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Kom het zelf proberen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Voel de zool</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AANRAKEN</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1,9  millimeter</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BIJ DE STAND</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Dunner dan je denkt.</a:t>
            </a:r>
          </a:p>
          <a:p>
            <a:pPr algn="l">
              <a:lnSpc>
                <a:spcPct val="130000"/>
              </a:lnSpc>
              <a:spcBef>
                <a:spcPts val="1000"/>
              </a:spcBef>
            </a:pPr>
            <a:r>
              <a:rPr sz="1450" b="0">
                <a:solidFill>
                  <a:srgbClr val="8FB6D0"/>
                </a:solidFill>
                <a:latin typeface="Segoe UI"/>
              </a:rPr>
              <a:t>Mag je gerust vasthouden.</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1041" y="3211998"/>
            <a:ext cx="291975" cy="291975"/>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684945" y="3072962"/>
            <a:ext cx="264168" cy="222457"/>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601523" y="2961733"/>
            <a:ext cx="431011" cy="250265"/>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08475" y="2850504"/>
            <a:ext cx="125132" cy="125132"/>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754463" y="2836601"/>
            <a:ext cx="97325" cy="97325"/>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51788" y="2850504"/>
            <a:ext cx="86897" cy="86897"/>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935210" y="2878311"/>
            <a:ext cx="79945" cy="79945"/>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11680" y="2913070"/>
            <a:ext cx="72993" cy="72993"/>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5771" y="2728394"/>
            <a:ext cx="291975" cy="29197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19675" y="2589358"/>
            <a:ext cx="264168" cy="22245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36253" y="2478129"/>
            <a:ext cx="431011" cy="25026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243205" y="2366900"/>
            <a:ext cx="125132" cy="125132"/>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389193" y="2352997"/>
            <a:ext cx="97325" cy="9732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486518" y="2366900"/>
            <a:ext cx="86897" cy="868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9940" y="2394708"/>
            <a:ext cx="79945" cy="7994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46410" y="2429467"/>
            <a:ext cx="72993" cy="72993"/>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22937" y="2504123"/>
            <a:ext cx="105788" cy="105788"/>
          </a:xfrm>
          <a:prstGeom prst="ellipse">
            <a:avLst/>
          </a:prstGeom>
          <a:solidFill>
            <a:srgbClr val="FF7A0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89176" y="2383222"/>
            <a:ext cx="90675" cy="90675"/>
          </a:xfrm>
          <a:prstGeom prst="ellipse">
            <a:avLst/>
          </a:prstGeom>
          <a:solidFill>
            <a:srgbClr val="FF7A0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840302" y="2292546"/>
            <a:ext cx="75563" cy="75563"/>
          </a:xfrm>
          <a:prstGeom prst="ellipse">
            <a:avLst/>
          </a:prstGeom>
          <a:solidFill>
            <a:srgbClr val="FF7A0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Meet je stap</a:t>
            </a:r>
          </a:p>
        </p:txBody>
      </p:sp>
      <p:sp>
        <p:nvSpPr>
          <p:cNvPr id="34" name="TextBox 33"/>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WANDELEN</a:t>
            </a:r>
          </a:p>
        </p:txBody>
      </p:sp>
      <p:sp>
        <p:nvSpPr>
          <p:cNvPr id="35" name="TextBox 34"/>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10  meter</a:t>
            </a:r>
          </a:p>
        </p:txBody>
      </p:sp>
      <p:sp>
        <p:nvSpPr>
          <p:cNvPr id="36" name="TextBox 35"/>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350" b="0">
                <a:solidFill>
                  <a:srgbClr val="8FB6D0"/>
                </a:solidFill>
                <a:latin typeface="Segoe UI"/>
              </a:rPr>
              <a:t>Wandel met de zolen in je schoen.</a:t>
            </a:r>
          </a:p>
          <a:p>
            <a:pPr algn="l">
              <a:lnSpc>
                <a:spcPct val="128000"/>
              </a:lnSpc>
              <a:spcBef>
                <a:spcPts val="600"/>
              </a:spcBef>
            </a:pPr>
            <a:r>
              <a:rPr sz="1350" b="0">
                <a:solidFill>
                  <a:srgbClr val="8FB6D0"/>
                </a:solidFill>
                <a:latin typeface="Segoe UI"/>
              </a:rPr>
              <a:t>Zie je eigen kleurenkaart.</a:t>
            </a:r>
          </a:p>
        </p:txBody>
      </p:sp>
      <p:sp>
        <p:nvSpPr>
          <p:cNvPr id="37" name="TextBox 36"/>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DOE MEE</a:t>
            </a:r>
          </a:p>
        </p:txBody>
      </p:sp>
      <p:sp>
        <p:nvSpPr>
          <p:cNvPr id="38" name="Rounded Rectangle 37"/>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ular Callout 39"/>
          <p:cNvSpPr/>
          <p:nvPr/>
        </p:nvSpPr>
        <p:spPr>
          <a:xfrm>
            <a:off x="6553163" y="4465970"/>
            <a:ext cx="1269460" cy="876532"/>
          </a:xfrm>
          <a:prstGeom prst="wedgeRoundRectCallout">
            <a:avLst/>
          </a:prstGeom>
          <a:solidFill>
            <a:srgbClr val="113A57"/>
          </a:solidFill>
          <a:ln w="381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3163" y="4556646"/>
            <a:ext cx="1269460" cy="725405"/>
          </a:xfrm>
          <a:prstGeom prst="rect">
            <a:avLst/>
          </a:prstGeom>
          <a:noFill/>
        </p:spPr>
        <p:txBody>
          <a:bodyPr wrap="square" anchor="t" lIns="0" rIns="0" tIns="0" bIns="0">
            <a:spAutoFit/>
          </a:bodyPr>
          <a:lstStyle/>
          <a:p>
            <a:pPr algn="ctr">
              <a:lnSpc>
                <a:spcPct val="100000"/>
              </a:lnSpc>
            </a:pPr>
            <a:r>
              <a:rPr sz="4046" b="1">
                <a:solidFill>
                  <a:srgbClr val="52BDEC"/>
                </a:solidFill>
                <a:latin typeface="Segoe UI"/>
              </a:rPr>
              <a:t>?</a:t>
            </a:r>
          </a:p>
        </p:txBody>
      </p:sp>
      <p:sp>
        <p:nvSpPr>
          <p:cNvPr id="42" name="TextBox 41"/>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Stel je vraag</a:t>
            </a:r>
          </a:p>
        </p:txBody>
      </p:sp>
      <p:sp>
        <p:nvSpPr>
          <p:cNvPr id="43" name="TextBox 42"/>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GESPREK</a:t>
            </a:r>
          </a:p>
        </p:txBody>
      </p:sp>
      <p:sp>
        <p:nvSpPr>
          <p:cNvPr id="44" name="TextBox 43"/>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  vragen</a:t>
            </a:r>
          </a:p>
        </p:txBody>
      </p:sp>
      <p:sp>
        <p:nvSpPr>
          <p:cNvPr id="45" name="TextBox 44"/>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350" b="0">
                <a:solidFill>
                  <a:srgbClr val="8FB6D0"/>
                </a:solidFill>
                <a:latin typeface="Segoe UI"/>
              </a:rPr>
              <a:t>Over voeten of over techniek.</a:t>
            </a:r>
          </a:p>
          <a:p>
            <a:pPr algn="l">
              <a:lnSpc>
                <a:spcPct val="128000"/>
              </a:lnSpc>
              <a:spcBef>
                <a:spcPts val="600"/>
              </a:spcBef>
            </a:pPr>
            <a:r>
              <a:rPr sz="1350" b="0">
                <a:solidFill>
                  <a:srgbClr val="8FB6D0"/>
                </a:solidFill>
                <a:latin typeface="Segoe UI"/>
              </a:rPr>
              <a:t>Ook de gekke vragen.</a:t>
            </a:r>
          </a:p>
        </p:txBody>
      </p:sp>
      <p:sp>
        <p:nvSpPr>
          <p:cNvPr id="46" name="TextBox 45"/>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WIJ STAAN ER</a:t>
            </a:r>
          </a:p>
        </p:txBody>
      </p:sp>
      <p:sp>
        <p:nvSpPr>
          <p:cNvPr id="47" name="TextBox 4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12</a:t>
            </a:r>
          </a:p>
        </p:txBody>
      </p:sp>
      <p:pic>
        <p:nvPicPr>
          <p:cNvPr id="4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BEDANKT VOOR UW AANDACHT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Bedankt — kom langs</a:t>
            </a:r>
          </a:p>
        </p:txBody>
      </p:sp>
      <p:sp>
        <p:nvSpPr>
          <p:cNvPr id="5" name="Rounded Rectangle 4"/>
          <p:cNvSpPr/>
          <p:nvPr/>
        </p:nvSpPr>
        <p:spPr>
          <a:xfrm>
            <a:off x="634984" y="1904952"/>
            <a:ext cx="3174920" cy="2362140"/>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1386933" y="2006549"/>
            <a:ext cx="1671020" cy="2158946"/>
          </a:xfrm>
          <a:prstGeom prst="rect">
            <a:avLst/>
          </a:prstGeom>
        </p:spPr>
      </p:pic>
      <p:sp>
        <p:nvSpPr>
          <p:cNvPr id="7" name="Rounded Rectangle 6"/>
          <p:cNvSpPr/>
          <p:nvPr/>
        </p:nvSpPr>
        <p:spPr>
          <a:xfrm>
            <a:off x="634984" y="4444888"/>
            <a:ext cx="3174920" cy="1396965"/>
          </a:xfrm>
          <a:prstGeom prst="roundRect">
            <a:avLst>
              <a:gd name="adj" fmla="val 4500"/>
            </a:avLst>
          </a:prstGeom>
          <a:solidFill>
            <a:srgbClr val="FFFFFF"/>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qr" descr="qr_project.png"/>
          <p:cNvPicPr>
            <a:picLocks noChangeAspect="1"/>
          </p:cNvPicPr>
          <p:nvPr/>
        </p:nvPicPr>
        <p:blipFill>
          <a:blip r:embed="rId3"/>
          <a:stretch>
            <a:fillRect/>
          </a:stretch>
        </p:blipFill>
        <p:spPr>
          <a:xfrm>
            <a:off x="774680" y="4584585"/>
            <a:ext cx="1117572" cy="1117572"/>
          </a:xfrm>
          <a:prstGeom prst="rect">
            <a:avLst/>
          </a:prstGeom>
        </p:spPr>
      </p:pic>
      <p:sp>
        <p:nvSpPr>
          <p:cNvPr id="9" name="TextBox 8"/>
          <p:cNvSpPr txBox="1"/>
          <p:nvPr/>
        </p:nvSpPr>
        <p:spPr>
          <a:xfrm>
            <a:off x="2031949" y="4673483"/>
            <a:ext cx="1663658" cy="507987"/>
          </a:xfrm>
          <a:prstGeom prst="rect">
            <a:avLst/>
          </a:prstGeom>
          <a:noFill/>
        </p:spPr>
        <p:txBody>
          <a:bodyPr wrap="square" anchor="t" lIns="0" rIns="0" tIns="0" bIns="0">
            <a:spAutoFit/>
          </a:bodyPr>
          <a:lstStyle/>
          <a:p>
            <a:pPr algn="l">
              <a:lnSpc>
                <a:spcPct val="115000"/>
              </a:lnSpc>
            </a:pPr>
            <a:r>
              <a:rPr sz="1800" b="1">
                <a:solidFill>
                  <a:srgbClr val="00407A"/>
                </a:solidFill>
                <a:latin typeface="Segoe UI"/>
              </a:rPr>
              <a:t>Meer weten?</a:t>
            </a:r>
          </a:p>
        </p:txBody>
      </p:sp>
      <p:sp>
        <p:nvSpPr>
          <p:cNvPr id="10" name="TextBox 9"/>
          <p:cNvSpPr txBox="1"/>
          <p:nvPr/>
        </p:nvSpPr>
        <p:spPr>
          <a:xfrm>
            <a:off x="2031949" y="5194170"/>
            <a:ext cx="1663658" cy="507987"/>
          </a:xfrm>
          <a:prstGeom prst="rect">
            <a:avLst/>
          </a:prstGeom>
          <a:noFill/>
        </p:spPr>
        <p:txBody>
          <a:bodyPr wrap="square" anchor="t" lIns="0" rIns="0" tIns="0" bIns="0">
            <a:spAutoFit/>
          </a:bodyPr>
          <a:lstStyle/>
          <a:p>
            <a:pPr algn="l">
              <a:lnSpc>
                <a:spcPct val="130000"/>
              </a:lnSpc>
            </a:pPr>
            <a:r>
              <a:rPr sz="1300" b="0">
                <a:solidFill>
                  <a:srgbClr val="00407A"/>
                </a:solidFill>
                <a:latin typeface="Consolas"/>
              </a:rPr>
              <a:t>Scan de code.</a:t>
            </a:r>
          </a:p>
        </p:txBody>
      </p:sp>
      <p:sp>
        <p:nvSpPr>
          <p:cNvPr id="11" name="Rectangle 10"/>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13" name="TextBox 12"/>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ONDERZOEKER · DOET DE METINGEN</a:t>
            </a:r>
          </a:p>
        </p:txBody>
      </p:sp>
      <p:sp>
        <p:nvSpPr>
          <p:cNvPr id="14" name="TextBox 13"/>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Vraag me gerust alles over de zolen, de sensoren en wat we ermee te weten komen.</a:t>
            </a:r>
          </a:p>
        </p:txBody>
      </p:sp>
      <p:sp>
        <p:nvSpPr>
          <p:cNvPr id="15" name="TextBox 14"/>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6" name="TextBox 15"/>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Vandaag op de stand</a:t>
            </a:r>
          </a:p>
        </p:txBody>
      </p:sp>
      <p:sp>
        <p:nvSpPr>
          <p:cNvPr id="17" name="Rectangle 16"/>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9" name="TextBox 18"/>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LEIDT HET ONDERZOEK</a:t>
            </a:r>
          </a:p>
        </p:txBody>
      </p:sp>
      <p:sp>
        <p:nvSpPr>
          <p:cNvPr id="20" name="TextBox 19"/>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Voor de vragen achter de vragen: waarom we dit meten en wat we ermee willen bereiken.</a:t>
            </a:r>
          </a:p>
        </p:txBody>
      </p:sp>
      <p:sp>
        <p:nvSpPr>
          <p:cNvPr id="21" name="TextBox 20"/>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22" name="TextBox 21"/>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23" name="Rectangle 22"/>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PARADISE is een samenwerking van KU Leuven — Revalidatiewetenschappen, Campus Brugge — met zes Belgische voetklinieken, waaronder AZ Groeninge in Kortrijk. Gefinancierd door het FWO.</a:t>
            </a:r>
          </a:p>
        </p:txBody>
      </p:sp>
      <p:sp>
        <p:nvSpPr>
          <p:cNvPr id="25" name="TextBox 2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12</a:t>
            </a:r>
          </a:p>
        </p:txBody>
      </p:sp>
      <p:pic>
        <p:nvPicPr>
          <p:cNvPr id="26" name="merk" descr="merk.png"/>
          <p:cNvPicPr>
            <a:picLocks noChangeAspect="1"/>
          </p:cNvPicPr>
          <p:nvPr/>
        </p:nvPicPr>
        <p:blipFill>
          <a:blip r:embed="rId4"/>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