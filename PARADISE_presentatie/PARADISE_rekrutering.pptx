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kans</c:v>
                </c:pt>
              </c:strCache>
            </c:strRef>
          </c:tx>
          <c:dPt>
            <c:idx val="0"/>
            <c:spPr>
              <a:solidFill>
                <a:srgbClr val="DD6A00"/>
              </a:solidFill>
              <a:ln>
                <a:noFill/>
              </a:ln>
            </c:spPr>
          </c:dPt>
          <c:dPt>
            <c:idx val="1"/>
            <c:spPr>
              <a:solidFill>
                <a:srgbClr val="DD6A00"/>
              </a:solidFill>
              <a:ln>
                <a:noFill/>
              </a:ln>
            </c:spPr>
          </c:dPt>
          <c:dPt>
            <c:idx val="2"/>
            <c:spPr>
              <a:solidFill>
                <a:srgbClr val="DD6A00"/>
              </a:solidFill>
              <a:ln>
                <a:noFill/>
              </a:ln>
            </c:spPr>
          </c:dPt>
          <c:dPt>
            <c:idx val="3"/>
            <c:spPr>
              <a:solidFill>
                <a:srgbClr val="DD6A00"/>
              </a:solidFill>
              <a:ln>
                <a:noFill/>
              </a:ln>
            </c:spPr>
          </c:dPt>
          <c:dPt>
            <c:idx val="4"/>
            <c:spPr>
              <a:solidFill>
                <a:srgbClr val="DD6A00"/>
              </a:solidFill>
              <a:ln>
                <a:noFill/>
              </a:ln>
            </c:spPr>
          </c:dPt>
          <c:dPt>
            <c:idx val="5"/>
            <c:spPr>
              <a:solidFill>
                <a:srgbClr val="DD6A00"/>
              </a:solidFill>
              <a:ln>
                <a:noFill/>
              </a:ln>
            </c:spPr>
          </c:dPt>
          <c:dPt>
            <c:idx val="6"/>
            <c:spPr>
              <a:solidFill>
                <a:srgbClr val="DD6A00"/>
              </a:solidFill>
              <a:ln>
                <a:noFill/>
              </a:ln>
            </c:spPr>
          </c:dPt>
          <c:dPt>
            <c:idx val="7"/>
            <c:spPr>
              <a:solidFill>
                <a:srgbClr val="DD6A00"/>
              </a:solidFill>
              <a:ln>
                <a:noFill/>
              </a:ln>
            </c:spPr>
          </c:dPt>
          <c:dPt>
            <c:idx val="8"/>
            <c:spPr>
              <a:solidFill>
                <a:srgbClr val="DD6A00"/>
              </a:solidFill>
              <a:ln>
                <a:noFill/>
              </a:ln>
            </c:spPr>
          </c:dPt>
          <c:dPt>
            <c:idx val="9"/>
            <c:spPr>
              <a:solidFill>
                <a:srgbClr val="DD6A00"/>
              </a:solidFill>
              <a:ln>
                <a:noFill/>
              </a:ln>
            </c:spPr>
          </c:dPt>
          <c:dPt>
            <c:idx val="10"/>
            <c:spPr>
              <a:solidFill>
                <a:srgbClr val="DD6A00"/>
              </a:solidFill>
              <a:ln>
                <a:noFill/>
              </a:ln>
            </c:spPr>
          </c:dPt>
          <c:dPt>
            <c:idx val="11"/>
            <c:spPr>
              <a:solidFill>
                <a:srgbClr val="DD6A00"/>
              </a:solidFill>
              <a:ln>
                <a:noFill/>
              </a:ln>
            </c:spPr>
          </c:dPt>
          <c:dPt>
            <c:idx val="12"/>
            <c:spPr>
              <a:solidFill>
                <a:srgbClr val="DD6A00"/>
              </a:solidFill>
              <a:ln>
                <a:noFill/>
              </a:ln>
            </c:spPr>
          </c:dPt>
          <c:dPt>
            <c:idx val="13"/>
            <c:spPr>
              <a:solidFill>
                <a:srgbClr val="DD6A00"/>
              </a:solidFill>
              <a:ln>
                <a:noFill/>
              </a:ln>
            </c:spPr>
          </c:dPt>
          <c:dPt>
            <c:idx val="14"/>
            <c:spPr>
              <a:solidFill>
                <a:srgbClr val="2E9ECF"/>
              </a:solidFill>
              <a:ln>
                <a:noFill/>
              </a:ln>
            </c:spPr>
          </c:dPt>
          <c:dPt>
            <c:idx val="15"/>
            <c:spPr>
              <a:solidFill>
                <a:srgbClr val="2E9ECF"/>
              </a:solidFill>
              <a:ln>
                <a:noFill/>
              </a:ln>
            </c:spPr>
          </c:dPt>
          <c:dPt>
            <c:idx val="16"/>
            <c:spPr>
              <a:solidFill>
                <a:srgbClr val="2E9ECF"/>
              </a:solidFill>
              <a:ln>
                <a:noFill/>
              </a:ln>
            </c:spPr>
          </c:dPt>
          <c:dPt>
            <c:idx val="17"/>
            <c:spPr>
              <a:solidFill>
                <a:srgbClr val="2E9ECF"/>
              </a:solidFill>
              <a:ln>
                <a:noFill/>
              </a:ln>
            </c:spPr>
          </c:dPt>
          <c:dPt>
            <c:idx val="18"/>
            <c:spPr>
              <a:solidFill>
                <a:srgbClr val="2E9ECF"/>
              </a:solidFill>
              <a:ln>
                <a:noFill/>
              </a:ln>
            </c:spPr>
          </c:dPt>
          <c:dPt>
            <c:idx val="19"/>
            <c:spPr>
              <a:solidFill>
                <a:srgbClr val="2E9ECF"/>
              </a:solidFill>
              <a:ln>
                <a:noFill/>
              </a:ln>
            </c:spPr>
          </c:dPt>
          <c:dPt>
            <c:idx val="20"/>
            <c:spPr>
              <a:solidFill>
                <a:srgbClr val="2E9ECF"/>
              </a:solidFill>
              <a:ln>
                <a:noFill/>
              </a:ln>
            </c:spPr>
          </c:dPt>
          <c:dPt>
            <c:idx val="21"/>
            <c:spPr>
              <a:solidFill>
                <a:srgbClr val="2E9ECF"/>
              </a:solidFill>
              <a:ln>
                <a:noFill/>
              </a:ln>
            </c:spPr>
          </c:dPt>
          <c:dPt>
            <c:idx val="22"/>
            <c:spPr>
              <a:solidFill>
                <a:srgbClr val="2E9ECF"/>
              </a:solidFill>
              <a:ln>
                <a:noFill/>
              </a:ln>
            </c:spPr>
          </c:dPt>
          <c:dPt>
            <c:idx val="23"/>
            <c:spPr>
              <a:solidFill>
                <a:srgbClr val="2E9ECF"/>
              </a:solidFill>
              <a:ln>
                <a:noFill/>
              </a:ln>
            </c:spPr>
          </c:dPt>
          <c:dPt>
            <c:idx val="24"/>
            <c:spPr>
              <a:solidFill>
                <a:srgbClr val="2E9ECF"/>
              </a:solidFill>
              <a:ln>
                <a:noFill/>
              </a:ln>
            </c:spPr>
          </c:dPt>
          <c:dPt>
            <c:idx val="25"/>
            <c:spPr>
              <a:solidFill>
                <a:srgbClr val="2E9ECF"/>
              </a:solidFill>
              <a:ln>
                <a:noFill/>
              </a:ln>
            </c:spPr>
          </c:dPt>
          <c:dPt>
            <c:idx val="26"/>
            <c:spPr>
              <a:solidFill>
                <a:srgbClr val="2E9ECF"/>
              </a:solidFill>
              <a:ln>
                <a:noFill/>
              </a:ln>
            </c:spPr>
          </c:dPt>
          <c:dPt>
            <c:idx val="27"/>
            <c:spPr>
              <a:solidFill>
                <a:srgbClr val="2E9ECF"/>
              </a:solidFill>
              <a:ln>
                <a:noFill/>
              </a:ln>
            </c:spPr>
          </c:dPt>
          <c:dPt>
            <c:idx val="28"/>
            <c:spPr>
              <a:solidFill>
                <a:srgbClr val="2E9ECF"/>
              </a:solidFill>
              <a:ln>
                <a:noFill/>
              </a:ln>
            </c:spPr>
          </c:dPt>
          <c:dPt>
            <c:idx val="29"/>
            <c:spPr>
              <a:solidFill>
                <a:srgbClr val="2E9ECF"/>
              </a:solidFill>
              <a:ln>
                <a:noFill/>
              </a:ln>
            </c:spPr>
          </c:dPt>
          <c:dPt>
            <c:idx val="30"/>
            <c:spPr>
              <a:solidFill>
                <a:srgbClr val="2E9ECF"/>
              </a:solidFill>
              <a:ln>
                <a:noFill/>
              </a:ln>
            </c:spPr>
          </c:dPt>
          <c:dPt>
            <c:idx val="31"/>
            <c:spPr>
              <a:solidFill>
                <a:srgbClr val="2E9ECF"/>
              </a:solidFill>
              <a:ln>
                <a:noFill/>
              </a:ln>
            </c:spPr>
          </c:dPt>
          <c:dPt>
            <c:idx val="32"/>
            <c:spPr>
              <a:solidFill>
                <a:srgbClr val="2E9ECF"/>
              </a:solidFill>
              <a:ln>
                <a:noFill/>
              </a:ln>
            </c:spPr>
          </c:dPt>
          <c:dPt>
            <c:idx val="33"/>
            <c:spPr>
              <a:solidFill>
                <a:srgbClr val="2E9ECF"/>
              </a:solidFill>
              <a:ln>
                <a:noFill/>
              </a:ln>
            </c:spPr>
          </c:dPt>
          <c:dPt>
            <c:idx val="34"/>
            <c:spPr>
              <a:solidFill>
                <a:srgbClr val="2E9ECF"/>
              </a:solidFill>
              <a:ln>
                <a:noFill/>
              </a:ln>
            </c:spPr>
          </c:dPt>
          <c:dPt>
            <c:idx val="35"/>
            <c:spPr>
              <a:solidFill>
                <a:srgbClr val="2E9ECF"/>
              </a:solidFill>
              <a:ln>
                <a:noFill/>
              </a:ln>
            </c:spPr>
          </c:dPt>
          <c:dPt>
            <c:idx val="36"/>
            <c:spPr>
              <a:solidFill>
                <a:srgbClr val="2E9ECF"/>
              </a:solidFill>
              <a:ln>
                <a:noFill/>
              </a:ln>
            </c:spPr>
          </c:dPt>
          <c:cat>
            <c:strRef>
              <c:f>Sheet1!$A$2:$A$38</c:f>
              <c:strCache>
                <c:ptCount val="37"/>
                <c:pt idx="0">
                  <c:v/>
                </c:pt>
                <c:pt idx="1">
                  <c:v/>
                </c:pt>
                <c:pt idx="2">
                  <c:v>12</c:v>
                </c:pt>
                <c:pt idx="3">
                  <c:v/>
                </c:pt>
                <c:pt idx="4">
                  <c:v/>
                </c:pt>
                <c:pt idx="5">
                  <c:v/>
                </c:pt>
                <c:pt idx="6">
                  <c:v/>
                </c:pt>
                <c:pt idx="7">
                  <c:v/>
                </c:pt>
                <c:pt idx="8">
                  <c:v>18</c:v>
                </c:pt>
                <c:pt idx="9">
                  <c:v/>
                </c:pt>
                <c:pt idx="10">
                  <c:v/>
                </c:pt>
                <c:pt idx="11">
                  <c:v/>
                </c:pt>
                <c:pt idx="12">
                  <c:v/>
                </c:pt>
                <c:pt idx="13">
                  <c:v/>
                </c:pt>
                <c:pt idx="14">
                  <c:v>24</c:v>
                </c:pt>
                <c:pt idx="15">
                  <c:v/>
                </c:pt>
                <c:pt idx="16">
                  <c:v/>
                </c:pt>
                <c:pt idx="17">
                  <c:v/>
                </c:pt>
                <c:pt idx="18">
                  <c:v/>
                </c:pt>
                <c:pt idx="19">
                  <c:v/>
                </c:pt>
                <c:pt idx="20">
                  <c:v>30</c:v>
                </c:pt>
                <c:pt idx="21">
                  <c:v/>
                </c:pt>
                <c:pt idx="22">
                  <c:v/>
                </c:pt>
                <c:pt idx="23">
                  <c:v/>
                </c:pt>
                <c:pt idx="24">
                  <c:v/>
                </c:pt>
                <c:pt idx="25">
                  <c:v/>
                </c:pt>
                <c:pt idx="26">
                  <c:v>36</c:v>
                </c:pt>
                <c:pt idx="27">
                  <c:v/>
                </c:pt>
                <c:pt idx="28">
                  <c:v/>
                </c:pt>
                <c:pt idx="29">
                  <c:v/>
                </c:pt>
                <c:pt idx="30">
                  <c:v/>
                </c:pt>
                <c:pt idx="31">
                  <c:v/>
                </c:pt>
                <c:pt idx="32">
                  <c:v>42</c:v>
                </c:pt>
                <c:pt idx="33">
                  <c:v/>
                </c:pt>
                <c:pt idx="34">
                  <c:v/>
                </c:pt>
                <c:pt idx="35">
                  <c:v/>
                </c:pt>
                <c:pt idx="36">
                  <c:v/>
                </c:pt>
              </c:strCache>
            </c:strRef>
          </c:cat>
          <c:val>
            <c:numRef>
              <c:f>Sheet1!$B$2:$B$38</c:f>
              <c:numCache>
                <c:formatCode>General</c:formatCode>
                <c:ptCount val="37"/>
                <c:pt idx="0">
                  <c:v>0.000659601779393956</c:v>
                </c:pt>
                <c:pt idx="1">
                  <c:v>0.0014391311550413586</c:v>
                </c:pt>
                <c:pt idx="2">
                  <c:v>0.0028782623100827172</c:v>
                </c:pt>
                <c:pt idx="3">
                  <c:v>0.005313715033998862</c:v>
                </c:pt>
                <c:pt idx="4">
                  <c:v>0.009109225772569477</c:v>
                </c:pt>
                <c:pt idx="5">
                  <c:v>0.014574761236111166</c:v>
                </c:pt>
                <c:pt idx="6">
                  <c:v>0.021862141854166746</c:v>
                </c:pt>
                <c:pt idx="7">
                  <c:v>0.030864200264705995</c:v>
                </c:pt>
                <c:pt idx="8">
                  <c:v>0.041152267019607995</c:v>
                </c:pt>
                <c:pt idx="9">
                  <c:v>0.051981810972136416</c:v>
                </c:pt>
                <c:pt idx="10">
                  <c:v>0.062378173166563695</c:v>
                </c:pt>
                <c:pt idx="11">
                  <c:v>0.07128934076178708</c:v>
                </c:pt>
                <c:pt idx="12">
                  <c:v>0.07777018992194955</c:v>
                </c:pt>
                <c:pt idx="13">
                  <c:v>0.08115150252725169</c:v>
                </c:pt>
                <c:pt idx="14">
                  <c:v>0.0811515025272517</c:v>
                </c:pt>
                <c:pt idx="15">
                  <c:v>0.07790544242616163</c:v>
                </c:pt>
                <c:pt idx="16">
                  <c:v>0.07191271608568765</c:v>
                </c:pt>
                <c:pt idx="17">
                  <c:v>0.06392241429838903</c:v>
                </c:pt>
                <c:pt idx="18">
                  <c:v>0.054790640827190595</c:v>
                </c:pt>
                <c:pt idx="19">
                  <c:v>0.04534397861560601</c:v>
                </c:pt>
                <c:pt idx="20">
                  <c:v>0.03627518289248481</c:v>
                </c:pt>
                <c:pt idx="21">
                  <c:v>0.028084012561923725</c:v>
                </c:pt>
                <c:pt idx="22">
                  <c:v>0.02106300942144279</c:v>
                </c:pt>
                <c:pt idx="23">
                  <c:v>0.01531855230650385</c:v>
                </c:pt>
                <c:pt idx="24">
                  <c:v>0.010813095745767422</c:v>
                </c:pt>
                <c:pt idx="25">
                  <c:v>0.007414694225669089</c:v>
                </c:pt>
                <c:pt idx="26">
                  <c:v>0.004943129483779393</c:v>
                </c:pt>
                <c:pt idx="27">
                  <c:v>0.0032063542597487956</c:v>
                </c:pt>
                <c:pt idx="28">
                  <c:v>0.002025065848262397</c:v>
                </c:pt>
                <c:pt idx="29">
                  <c:v>0.001246194368161475</c:v>
                </c:pt>
                <c:pt idx="30">
                  <c:v>0.0007477166208968852</c:v>
                </c:pt>
                <c:pt idx="31">
                  <c:v>0.0004376877780859816</c:v>
                </c:pt>
                <c:pt idx="32">
                  <c:v>0.00025010730176341803</c:v>
                </c:pt>
                <c:pt idx="33">
                  <c:v>0.00013959477307725658</c:v>
                </c:pt>
                <c:pt idx="34">
                  <c:v>7.61426034966854e-05</c:v>
                </c:pt>
                <c:pt idx="35">
                  <c:v>4.0609388531565546e-05</c:v>
                </c:pt>
                <c:pt idx="36">
                  <c:v>2.1187507059947245e-05</c:v>
                </c:pt>
              </c:numCache>
            </c:numRef>
          </c:val>
        </c:ser>
        <c:gapWidth val="25"/>
        <c:axId val="-2068027336"/>
        <c:axId val="-2113994440"/>
      </c:barChart>
      <c:catAx>
        <c:axId val="-2068027336"/>
        <c:scaling>
          <c:orientation val="minMax"/>
        </c:scaling>
        <c:delete val="0"/>
        <c:axPos val="b"/>
        <c:majorTickMark val="none"/>
        <c:minorTickMark val="none"/>
        <c:tickLblPos val="nextTo"/>
        <c:spPr>
          <a:ln w="9525">
            <a:solidFill>
              <a:srgbClr val="215B84"/>
            </a:solidFill>
          </a:ln>
        </c:spPr>
        <c:crossAx val="-2113994440"/>
        <c:crosses val="autoZero"/>
        <c:auto val="1"/>
        <c:lblAlgn val="ctr"/>
        <c:lblOffset val="100"/>
        <c:noMultiLvlLbl val="0"/>
      </c:catAx>
      <c:valAx>
        <c:axId val="-2113994440"/>
        <c:scaling>
          <c:max val="0.1"/>
          <c:min val="0.0"/>
        </c:scaling>
        <c:delete val="0"/>
        <c:axPos val="l"/>
        <c:majorGridlines>
          <c:spPr>
            <a:ln w="9525">
              <a:solidFill>
                <a:srgbClr val="17486B"/>
              </a:solidFill>
            </a:ln>
          </c:spPr>
        </c:majorGridlines>
        <c:numFmt formatCode="0%" sourceLinked="0"/>
        <c:majorTickMark val="none"/>
        <c:minorTickMark val="none"/>
        <c:tickLblPos val="nextTo"/>
        <c:spPr>
          <a:ln>
            <a:noFill/>
          </a:ln>
        </c:spPr>
        <c:crossAx val="-2068027336"/>
        <c:crosses val="autoZero"/>
        <c:majorUnit val="0.02"/>
      </c:valAx>
      <c:spPr>
        <a:noFill/>
        <a:ln>
          <a:noFill/>
        </a:ln>
      </c:spPr>
    </c:plotArea>
    <c:dispBlanksAs val="gap"/>
  </c:chart>
  <c:spPr>
    <a:noFill/>
    <a:ln>
      <a:noFill/>
    </a:ln>
  </c:spPr>
  <c:txPr>
    <a:bodyPr/>
    <a:lstStyle/>
    <a:p>
      <a:pPr>
        <a:defRPr sz="1200">
          <a:solidFill>
            <a:srgbClr val="8FB6D0"/>
          </a:solidFill>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kans</c:v>
                </c:pt>
              </c:strCache>
            </c:strRef>
          </c:tx>
          <c:dPt>
            <c:idx val="0"/>
            <c:spPr>
              <a:solidFill>
                <a:srgbClr val="DD6A00"/>
              </a:solidFill>
              <a:ln>
                <a:noFill/>
              </a:ln>
            </c:spPr>
          </c:dPt>
          <c:dPt>
            <c:idx val="1"/>
            <c:spPr>
              <a:solidFill>
                <a:srgbClr val="DD6A00"/>
              </a:solidFill>
              <a:ln>
                <a:noFill/>
              </a:ln>
            </c:spPr>
          </c:dPt>
          <c:dPt>
            <c:idx val="2"/>
            <c:spPr>
              <a:solidFill>
                <a:srgbClr val="DD6A00"/>
              </a:solidFill>
              <a:ln>
                <a:noFill/>
              </a:ln>
            </c:spPr>
          </c:dPt>
          <c:dPt>
            <c:idx val="3"/>
            <c:spPr>
              <a:solidFill>
                <a:srgbClr val="DD6A00"/>
              </a:solidFill>
              <a:ln>
                <a:noFill/>
              </a:ln>
            </c:spPr>
          </c:dPt>
          <c:dPt>
            <c:idx val="4"/>
            <c:spPr>
              <a:solidFill>
                <a:srgbClr val="DD6A00"/>
              </a:solidFill>
              <a:ln>
                <a:noFill/>
              </a:ln>
            </c:spPr>
          </c:dPt>
          <c:dPt>
            <c:idx val="5"/>
            <c:spPr>
              <a:solidFill>
                <a:srgbClr val="DD6A00"/>
              </a:solidFill>
              <a:ln>
                <a:noFill/>
              </a:ln>
            </c:spPr>
          </c:dPt>
          <c:dPt>
            <c:idx val="6"/>
            <c:spPr>
              <a:solidFill>
                <a:srgbClr val="DD6A00"/>
              </a:solidFill>
              <a:ln>
                <a:noFill/>
              </a:ln>
            </c:spPr>
          </c:dPt>
          <c:dPt>
            <c:idx val="7"/>
            <c:spPr>
              <a:solidFill>
                <a:srgbClr val="DD6A00"/>
              </a:solidFill>
              <a:ln>
                <a:noFill/>
              </a:ln>
            </c:spPr>
          </c:dPt>
          <c:dPt>
            <c:idx val="8"/>
            <c:spPr>
              <a:solidFill>
                <a:srgbClr val="DD6A00"/>
              </a:solidFill>
              <a:ln>
                <a:noFill/>
              </a:ln>
            </c:spPr>
          </c:dPt>
          <c:dPt>
            <c:idx val="9"/>
            <c:spPr>
              <a:solidFill>
                <a:srgbClr val="DD6A00"/>
              </a:solidFill>
              <a:ln>
                <a:noFill/>
              </a:ln>
            </c:spPr>
          </c:dPt>
          <c:dPt>
            <c:idx val="10"/>
            <c:spPr>
              <a:solidFill>
                <a:srgbClr val="DD6A00"/>
              </a:solidFill>
              <a:ln>
                <a:noFill/>
              </a:ln>
            </c:spPr>
          </c:dPt>
          <c:dPt>
            <c:idx val="11"/>
            <c:spPr>
              <a:solidFill>
                <a:srgbClr val="DD6A00"/>
              </a:solidFill>
              <a:ln>
                <a:noFill/>
              </a:ln>
            </c:spPr>
          </c:dPt>
          <c:dPt>
            <c:idx val="12"/>
            <c:spPr>
              <a:solidFill>
                <a:srgbClr val="DD6A00"/>
              </a:solidFill>
              <a:ln>
                <a:noFill/>
              </a:ln>
            </c:spPr>
          </c:dPt>
          <c:dPt>
            <c:idx val="13"/>
            <c:spPr>
              <a:solidFill>
                <a:srgbClr val="DD6A00"/>
              </a:solidFill>
              <a:ln>
                <a:noFill/>
              </a:ln>
            </c:spPr>
          </c:dPt>
          <c:dPt>
            <c:idx val="14"/>
            <c:spPr>
              <a:solidFill>
                <a:srgbClr val="2E9ECF"/>
              </a:solidFill>
              <a:ln>
                <a:noFill/>
              </a:ln>
            </c:spPr>
          </c:dPt>
          <c:dPt>
            <c:idx val="15"/>
            <c:spPr>
              <a:solidFill>
                <a:srgbClr val="2E9ECF"/>
              </a:solidFill>
              <a:ln>
                <a:noFill/>
              </a:ln>
            </c:spPr>
          </c:dPt>
          <c:dPt>
            <c:idx val="16"/>
            <c:spPr>
              <a:solidFill>
                <a:srgbClr val="2E9ECF"/>
              </a:solidFill>
              <a:ln>
                <a:noFill/>
              </a:ln>
            </c:spPr>
          </c:dPt>
          <c:dPt>
            <c:idx val="17"/>
            <c:spPr>
              <a:solidFill>
                <a:srgbClr val="2E9ECF"/>
              </a:solidFill>
              <a:ln>
                <a:noFill/>
              </a:ln>
            </c:spPr>
          </c:dPt>
          <c:dPt>
            <c:idx val="18"/>
            <c:spPr>
              <a:solidFill>
                <a:srgbClr val="2E9ECF"/>
              </a:solidFill>
              <a:ln>
                <a:noFill/>
              </a:ln>
            </c:spPr>
          </c:dPt>
          <c:dPt>
            <c:idx val="19"/>
            <c:spPr>
              <a:solidFill>
                <a:srgbClr val="2E9ECF"/>
              </a:solidFill>
              <a:ln>
                <a:noFill/>
              </a:ln>
            </c:spPr>
          </c:dPt>
          <c:dPt>
            <c:idx val="20"/>
            <c:spPr>
              <a:solidFill>
                <a:srgbClr val="2E9ECF"/>
              </a:solidFill>
              <a:ln>
                <a:noFill/>
              </a:ln>
            </c:spPr>
          </c:dPt>
          <c:dPt>
            <c:idx val="21"/>
            <c:spPr>
              <a:solidFill>
                <a:srgbClr val="2E9ECF"/>
              </a:solidFill>
              <a:ln>
                <a:noFill/>
              </a:ln>
            </c:spPr>
          </c:dPt>
          <c:dPt>
            <c:idx val="22"/>
            <c:spPr>
              <a:solidFill>
                <a:srgbClr val="2E9ECF"/>
              </a:solidFill>
              <a:ln>
                <a:noFill/>
              </a:ln>
            </c:spPr>
          </c:dPt>
          <c:dPt>
            <c:idx val="23"/>
            <c:spPr>
              <a:solidFill>
                <a:srgbClr val="2E9ECF"/>
              </a:solidFill>
              <a:ln>
                <a:noFill/>
              </a:ln>
            </c:spPr>
          </c:dPt>
          <c:dPt>
            <c:idx val="24"/>
            <c:spPr>
              <a:solidFill>
                <a:srgbClr val="2E9ECF"/>
              </a:solidFill>
              <a:ln>
                <a:noFill/>
              </a:ln>
            </c:spPr>
          </c:dPt>
          <c:dPt>
            <c:idx val="25"/>
            <c:spPr>
              <a:solidFill>
                <a:srgbClr val="2E9ECF"/>
              </a:solidFill>
              <a:ln>
                <a:noFill/>
              </a:ln>
            </c:spPr>
          </c:dPt>
          <c:dPt>
            <c:idx val="26"/>
            <c:spPr>
              <a:solidFill>
                <a:srgbClr val="2E9ECF"/>
              </a:solidFill>
              <a:ln>
                <a:noFill/>
              </a:ln>
            </c:spPr>
          </c:dPt>
          <c:dPt>
            <c:idx val="27"/>
            <c:spPr>
              <a:solidFill>
                <a:srgbClr val="2E9ECF"/>
              </a:solidFill>
              <a:ln>
                <a:noFill/>
              </a:ln>
            </c:spPr>
          </c:dPt>
          <c:dPt>
            <c:idx val="28"/>
            <c:spPr>
              <a:solidFill>
                <a:srgbClr val="2E9ECF"/>
              </a:solidFill>
              <a:ln>
                <a:noFill/>
              </a:ln>
            </c:spPr>
          </c:dPt>
          <c:dPt>
            <c:idx val="29"/>
            <c:spPr>
              <a:solidFill>
                <a:srgbClr val="2E9ECF"/>
              </a:solidFill>
              <a:ln>
                <a:noFill/>
              </a:ln>
            </c:spPr>
          </c:dPt>
          <c:dPt>
            <c:idx val="30"/>
            <c:spPr>
              <a:solidFill>
                <a:srgbClr val="2E9ECF"/>
              </a:solidFill>
              <a:ln>
                <a:noFill/>
              </a:ln>
            </c:spPr>
          </c:dPt>
          <c:dPt>
            <c:idx val="31"/>
            <c:spPr>
              <a:solidFill>
                <a:srgbClr val="2E9ECF"/>
              </a:solidFill>
              <a:ln>
                <a:noFill/>
              </a:ln>
            </c:spPr>
          </c:dPt>
          <c:dPt>
            <c:idx val="32"/>
            <c:spPr>
              <a:solidFill>
                <a:srgbClr val="2E9ECF"/>
              </a:solidFill>
              <a:ln>
                <a:noFill/>
              </a:ln>
            </c:spPr>
          </c:dPt>
          <c:dPt>
            <c:idx val="33"/>
            <c:spPr>
              <a:solidFill>
                <a:srgbClr val="2E9ECF"/>
              </a:solidFill>
              <a:ln>
                <a:noFill/>
              </a:ln>
            </c:spPr>
          </c:dPt>
          <c:dPt>
            <c:idx val="34"/>
            <c:spPr>
              <a:solidFill>
                <a:srgbClr val="2E9ECF"/>
              </a:solidFill>
              <a:ln>
                <a:noFill/>
              </a:ln>
            </c:spPr>
          </c:dPt>
          <c:dPt>
            <c:idx val="35"/>
            <c:spPr>
              <a:solidFill>
                <a:srgbClr val="2E9ECF"/>
              </a:solidFill>
              <a:ln>
                <a:noFill/>
              </a:ln>
            </c:spPr>
          </c:dPt>
          <c:dPt>
            <c:idx val="36"/>
            <c:spPr>
              <a:solidFill>
                <a:srgbClr val="2E9ECF"/>
              </a:solidFill>
              <a:ln>
                <a:noFill/>
              </a:ln>
            </c:spPr>
          </c:dPt>
          <c:cat>
            <c:strRef>
              <c:f>Sheet1!$A$2:$A$38</c:f>
              <c:strCache>
                <c:ptCount val="37"/>
                <c:pt idx="0">
                  <c:v/>
                </c:pt>
                <c:pt idx="1">
                  <c:v/>
                </c:pt>
                <c:pt idx="2">
                  <c:v>12</c:v>
                </c:pt>
                <c:pt idx="3">
                  <c:v/>
                </c:pt>
                <c:pt idx="4">
                  <c:v/>
                </c:pt>
                <c:pt idx="5">
                  <c:v/>
                </c:pt>
                <c:pt idx="6">
                  <c:v/>
                </c:pt>
                <c:pt idx="7">
                  <c:v/>
                </c:pt>
                <c:pt idx="8">
                  <c:v>18</c:v>
                </c:pt>
                <c:pt idx="9">
                  <c:v/>
                </c:pt>
                <c:pt idx="10">
                  <c:v/>
                </c:pt>
                <c:pt idx="11">
                  <c:v/>
                </c:pt>
                <c:pt idx="12">
                  <c:v/>
                </c:pt>
                <c:pt idx="13">
                  <c:v/>
                </c:pt>
                <c:pt idx="14">
                  <c:v>24</c:v>
                </c:pt>
                <c:pt idx="15">
                  <c:v/>
                </c:pt>
                <c:pt idx="16">
                  <c:v/>
                </c:pt>
                <c:pt idx="17">
                  <c:v/>
                </c:pt>
                <c:pt idx="18">
                  <c:v/>
                </c:pt>
                <c:pt idx="19">
                  <c:v/>
                </c:pt>
                <c:pt idx="20">
                  <c:v>30</c:v>
                </c:pt>
                <c:pt idx="21">
                  <c:v/>
                </c:pt>
                <c:pt idx="22">
                  <c:v/>
                </c:pt>
                <c:pt idx="23">
                  <c:v/>
                </c:pt>
                <c:pt idx="24">
                  <c:v/>
                </c:pt>
                <c:pt idx="25">
                  <c:v/>
                </c:pt>
                <c:pt idx="26">
                  <c:v>36</c:v>
                </c:pt>
                <c:pt idx="27">
                  <c:v/>
                </c:pt>
                <c:pt idx="28">
                  <c:v/>
                </c:pt>
                <c:pt idx="29">
                  <c:v/>
                </c:pt>
                <c:pt idx="30">
                  <c:v/>
                </c:pt>
                <c:pt idx="31">
                  <c:v/>
                </c:pt>
                <c:pt idx="32">
                  <c:v>42</c:v>
                </c:pt>
                <c:pt idx="33">
                  <c:v/>
                </c:pt>
                <c:pt idx="34">
                  <c:v/>
                </c:pt>
                <c:pt idx="35">
                  <c:v/>
                </c:pt>
                <c:pt idx="36">
                  <c:v/>
                </c:pt>
              </c:strCache>
            </c:strRef>
          </c:cat>
          <c:val>
            <c:numRef>
              <c:f>Sheet1!$B$2:$B$38</c:f>
              <c:numCache>
                <c:formatCode>General</c:formatCode>
                <c:ptCount val="37"/>
                <c:pt idx="0">
                  <c:v>6.788832162540283e-06</c:v>
                </c:pt>
                <c:pt idx="1">
                  <c:v>1.9255596679205168e-05</c:v>
                </c:pt>
                <c:pt idx="2">
                  <c:v>5.006455136593345e-05</c:v>
                </c:pt>
                <c:pt idx="3">
                  <c:v>0.00012015492327824027</c:v>
                </c:pt>
                <c:pt idx="4">
                  <c:v>0.00026777382902007835</c:v>
                </c:pt>
                <c:pt idx="5">
                  <c:v>0.000556969564361763</c:v>
                </c:pt>
                <c:pt idx="6">
                  <c:v>0.001086090650505438</c:v>
                </c:pt>
                <c:pt idx="7">
                  <c:v>0.001993295782104098</c:v>
                </c:pt>
                <c:pt idx="8">
                  <c:v>0.00345504602231377</c:v>
                </c:pt>
                <c:pt idx="9">
                  <c:v>0.005673549257694191</c:v>
                </c:pt>
                <c:pt idx="10">
                  <c:v>0.008850736842002941</c:v>
                </c:pt>
                <c:pt idx="11">
                  <c:v>0.013149666165261512</c:v>
                </c:pt>
                <c:pt idx="12">
                  <c:v>0.01864861747073451</c:v>
                </c:pt>
                <c:pt idx="13">
                  <c:v>0.025297255003778985</c:v>
                </c:pt>
                <c:pt idx="14">
                  <c:v>0.032886431504912696</c:v>
                </c:pt>
                <c:pt idx="15">
                  <c:v>0.04104226651813104</c:v>
                </c:pt>
                <c:pt idx="16">
                  <c:v>0.04925071982175725</c:v>
                </c:pt>
                <c:pt idx="17">
                  <c:v>0.056911942905141726</c:v>
                </c:pt>
                <c:pt idx="18">
                  <c:v>0.06341616495144363</c:v>
                </c:pt>
                <c:pt idx="19">
                  <c:v>0.06822704643051868</c:v>
                </c:pt>
                <c:pt idx="20">
                  <c:v>0.07095612828773944</c:v>
                </c:pt>
                <c:pt idx="21">
                  <c:v>0.07141390976056357</c:v>
                </c:pt>
                <c:pt idx="22">
                  <c:v>0.06962856201654949</c:v>
                </c:pt>
                <c:pt idx="23">
                  <c:v>0.06583064045201042</c:v>
                </c:pt>
                <c:pt idx="24">
                  <c:v>0.06040929359125663</c:v>
                </c:pt>
                <c:pt idx="25">
                  <c:v>0.05385057028706305</c:v>
                </c:pt>
                <c:pt idx="26">
                  <c:v>0.046670494248787976</c:v>
                </c:pt>
                <c:pt idx="27">
                  <c:v>0.039354578934113114</c:v>
                </c:pt>
                <c:pt idx="28">
                  <c:v>0.03231218059853498</c:v>
                </c:pt>
                <c:pt idx="29">
                  <c:v>0.025849744478827992</c:v>
                </c:pt>
                <c:pt idx="30">
                  <c:v>0.020162800693485836</c:v>
                </c:pt>
                <c:pt idx="31">
                  <c:v>0.015343399552116048</c:v>
                </c:pt>
                <c:pt idx="32">
                  <c:v>0.011397953953000495</c:v>
                </c:pt>
                <c:pt idx="33">
                  <c:v>0.008270143333339895</c:v>
                </c:pt>
                <c:pt idx="34">
                  <c:v>0.005864283454550107</c:v>
                </c:pt>
                <c:pt idx="35">
                  <c:v>0.004065903195154742</c:v>
                </c:pt>
                <c:pt idx="36">
                  <c:v>0.002757743036713651</c:v>
                </c:pt>
              </c:numCache>
            </c:numRef>
          </c:val>
        </c:ser>
        <c:gapWidth val="25"/>
        <c:axId val="-2068027336"/>
        <c:axId val="-2113994440"/>
      </c:barChart>
      <c:catAx>
        <c:axId val="-2068027336"/>
        <c:scaling>
          <c:orientation val="minMax"/>
        </c:scaling>
        <c:delete val="0"/>
        <c:axPos val="b"/>
        <c:majorTickMark val="none"/>
        <c:minorTickMark val="none"/>
        <c:tickLblPos val="nextTo"/>
        <c:spPr>
          <a:ln w="9525">
            <a:solidFill>
              <a:srgbClr val="215B84"/>
            </a:solidFill>
          </a:ln>
        </c:spPr>
        <c:crossAx val="-2113994440"/>
        <c:crosses val="autoZero"/>
        <c:auto val="1"/>
        <c:lblAlgn val="ctr"/>
        <c:lblOffset val="100"/>
        <c:noMultiLvlLbl val="0"/>
      </c:catAx>
      <c:valAx>
        <c:axId val="-2113994440"/>
        <c:scaling>
          <c:max val="0.1"/>
          <c:min val="0.0"/>
        </c:scaling>
        <c:delete val="0"/>
        <c:axPos val="l"/>
        <c:majorGridlines>
          <c:spPr>
            <a:ln w="9525">
              <a:solidFill>
                <a:srgbClr val="17486B"/>
              </a:solidFill>
            </a:ln>
          </c:spPr>
        </c:majorGridlines>
        <c:numFmt formatCode="0%" sourceLinked="0"/>
        <c:majorTickMark val="none"/>
        <c:minorTickMark val="none"/>
        <c:tickLblPos val="none"/>
        <c:spPr>
          <a:ln>
            <a:noFill/>
          </a:ln>
        </c:spPr>
        <c:crossAx val="-2068027336"/>
        <c:crosses val="autoZero"/>
        <c:majorUnit val="0.02"/>
      </c:valAx>
      <c:spPr>
        <a:noFill/>
        <a:ln>
          <a:noFill/>
        </a:ln>
      </c:spPr>
    </c:plotArea>
    <c:dispBlanksAs val="gap"/>
  </c:chart>
  <c:spPr>
    <a:noFill/>
    <a:ln>
      <a:noFill/>
    </a:ln>
  </c:spPr>
  <c:txPr>
    <a:bodyPr/>
    <a:lstStyle/>
    <a:p>
      <a:pPr>
        <a:defRPr sz="1200">
          <a:solidFill>
            <a:srgbClr val="8FB6D0"/>
          </a:solidFill>
          <a:latin typeface="Segoe U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kans</c:v>
                </c:pt>
              </c:strCache>
            </c:strRef>
          </c:tx>
          <c:spPr>
            <a:ln w="38100">
              <a:solidFill>
                <a:srgbClr val="2E9ECF"/>
              </a:solidFill>
            </a:ln>
          </c:spPr>
          <c:marker>
            <c:symbol val="none"/>
          </c:marker>
          <c:xVal>
            <c:numRef>
              <c:f>Sheet1!$A$2:$A$127</c:f>
              <c:numCache>
                <c:formatCode>General</c:formatCode>
                <c:ptCount val="126"/>
                <c:pt idx="0">
                  <c:v>1.5</c:v>
                </c:pt>
                <c:pt idx="1">
                  <c:v>1.52</c:v>
                </c:pt>
                <c:pt idx="2">
                  <c:v>1.54</c:v>
                </c:pt>
                <c:pt idx="3">
                  <c:v>1.56</c:v>
                </c:pt>
                <c:pt idx="4">
                  <c:v>1.58</c:v>
                </c:pt>
                <c:pt idx="5">
                  <c:v>1.6</c:v>
                </c:pt>
                <c:pt idx="6">
                  <c:v>1.62</c:v>
                </c:pt>
                <c:pt idx="7">
                  <c:v>1.6400000000000001</c:v>
                </c:pt>
                <c:pt idx="8">
                  <c:v>1.6600000000000001</c:v>
                </c:pt>
                <c:pt idx="9">
                  <c:v>1.6800000000000002</c:v>
                </c:pt>
                <c:pt idx="10">
                  <c:v>1.7000000000000002</c:v>
                </c:pt>
                <c:pt idx="11">
                  <c:v>1.7200000000000002</c:v>
                </c:pt>
                <c:pt idx="12">
                  <c:v>1.7400000000000002</c:v>
                </c:pt>
                <c:pt idx="13">
                  <c:v>1.7600000000000002</c:v>
                </c:pt>
                <c:pt idx="14">
                  <c:v>1.7800000000000002</c:v>
                </c:pt>
                <c:pt idx="15">
                  <c:v>1.8000000000000003</c:v>
                </c:pt>
                <c:pt idx="16">
                  <c:v>1.8200000000000003</c:v>
                </c:pt>
                <c:pt idx="17">
                  <c:v>1.8400000000000003</c:v>
                </c:pt>
                <c:pt idx="18">
                  <c:v>1.8600000000000003</c:v>
                </c:pt>
                <c:pt idx="19">
                  <c:v>1.8800000000000003</c:v>
                </c:pt>
                <c:pt idx="20">
                  <c:v>1.9000000000000004</c:v>
                </c:pt>
                <c:pt idx="21">
                  <c:v>1.9200000000000004</c:v>
                </c:pt>
                <c:pt idx="22">
                  <c:v>1.9400000000000004</c:v>
                </c:pt>
                <c:pt idx="23">
                  <c:v>1.9600000000000004</c:v>
                </c:pt>
                <c:pt idx="24">
                  <c:v>1.9800000000000004</c:v>
                </c:pt>
                <c:pt idx="25">
                  <c:v>2.0000000000000004</c:v>
                </c:pt>
                <c:pt idx="26">
                  <c:v>2.0200000000000005</c:v>
                </c:pt>
                <c:pt idx="27">
                  <c:v>2.0400000000000005</c:v>
                </c:pt>
                <c:pt idx="28">
                  <c:v>2.0600000000000005</c:v>
                </c:pt>
                <c:pt idx="29">
                  <c:v>2.0800000000000005</c:v>
                </c:pt>
                <c:pt idx="30">
                  <c:v>2.1000000000000005</c:v>
                </c:pt>
                <c:pt idx="31">
                  <c:v>2.1200000000000006</c:v>
                </c:pt>
                <c:pt idx="32">
                  <c:v>2.1400000000000006</c:v>
                </c:pt>
                <c:pt idx="33">
                  <c:v>2.1600000000000006</c:v>
                </c:pt>
                <c:pt idx="34">
                  <c:v>2.1800000000000006</c:v>
                </c:pt>
                <c:pt idx="35">
                  <c:v>2.2000000000000006</c:v>
                </c:pt>
                <c:pt idx="36">
                  <c:v>2.2200000000000006</c:v>
                </c:pt>
                <c:pt idx="37">
                  <c:v>2.2400000000000007</c:v>
                </c:pt>
                <c:pt idx="38">
                  <c:v>2.2600000000000007</c:v>
                </c:pt>
                <c:pt idx="39">
                  <c:v>2.2800000000000007</c:v>
                </c:pt>
                <c:pt idx="40">
                  <c:v>2.3000000000000007</c:v>
                </c:pt>
                <c:pt idx="41">
                  <c:v>2.3200000000000007</c:v>
                </c:pt>
                <c:pt idx="42">
                  <c:v>2.3400000000000007</c:v>
                </c:pt>
                <c:pt idx="43">
                  <c:v>2.3600000000000008</c:v>
                </c:pt>
                <c:pt idx="44">
                  <c:v>2.380000000000001</c:v>
                </c:pt>
                <c:pt idx="45">
                  <c:v>2.400000000000001</c:v>
                </c:pt>
                <c:pt idx="46">
                  <c:v>2.420000000000001</c:v>
                </c:pt>
                <c:pt idx="47">
                  <c:v>2.440000000000001</c:v>
                </c:pt>
                <c:pt idx="48">
                  <c:v>2.460000000000001</c:v>
                </c:pt>
                <c:pt idx="49">
                  <c:v>2.480000000000001</c:v>
                </c:pt>
                <c:pt idx="50">
                  <c:v>2.500000000000001</c:v>
                </c:pt>
                <c:pt idx="51">
                  <c:v>2.520000000000001</c:v>
                </c:pt>
                <c:pt idx="52">
                  <c:v>2.540000000000001</c:v>
                </c:pt>
                <c:pt idx="53">
                  <c:v>2.560000000000001</c:v>
                </c:pt>
                <c:pt idx="54">
                  <c:v>2.580000000000001</c:v>
                </c:pt>
                <c:pt idx="55">
                  <c:v>2.600000000000001</c:v>
                </c:pt>
                <c:pt idx="56">
                  <c:v>2.620000000000001</c:v>
                </c:pt>
                <c:pt idx="57">
                  <c:v>2.640000000000001</c:v>
                </c:pt>
                <c:pt idx="58">
                  <c:v>2.660000000000001</c:v>
                </c:pt>
                <c:pt idx="59">
                  <c:v>2.680000000000001</c:v>
                </c:pt>
                <c:pt idx="60">
                  <c:v>2.700000000000001</c:v>
                </c:pt>
                <c:pt idx="61">
                  <c:v>2.720000000000001</c:v>
                </c:pt>
                <c:pt idx="62">
                  <c:v>2.740000000000001</c:v>
                </c:pt>
                <c:pt idx="63">
                  <c:v>2.760000000000001</c:v>
                </c:pt>
                <c:pt idx="64">
                  <c:v>2.780000000000001</c:v>
                </c:pt>
                <c:pt idx="65">
                  <c:v>2.800000000000001</c:v>
                </c:pt>
                <c:pt idx="66">
                  <c:v>2.820000000000001</c:v>
                </c:pt>
                <c:pt idx="67">
                  <c:v>2.840000000000001</c:v>
                </c:pt>
                <c:pt idx="68">
                  <c:v>2.860000000000001</c:v>
                </c:pt>
                <c:pt idx="69">
                  <c:v>2.8800000000000012</c:v>
                </c:pt>
                <c:pt idx="70">
                  <c:v>2.9000000000000012</c:v>
                </c:pt>
                <c:pt idx="71">
                  <c:v>2.9200000000000013</c:v>
                </c:pt>
                <c:pt idx="72">
                  <c:v>2.9400000000000013</c:v>
                </c:pt>
                <c:pt idx="73">
                  <c:v>2.9600000000000013</c:v>
                </c:pt>
                <c:pt idx="74">
                  <c:v>2.9800000000000013</c:v>
                </c:pt>
                <c:pt idx="75">
                  <c:v>3.0000000000000013</c:v>
                </c:pt>
                <c:pt idx="76">
                  <c:v>3.0200000000000014</c:v>
                </c:pt>
                <c:pt idx="77">
                  <c:v>3.0400000000000014</c:v>
                </c:pt>
                <c:pt idx="78">
                  <c:v>3.0600000000000014</c:v>
                </c:pt>
                <c:pt idx="79">
                  <c:v>3.0800000000000014</c:v>
                </c:pt>
                <c:pt idx="80">
                  <c:v>3.1000000000000014</c:v>
                </c:pt>
                <c:pt idx="81">
                  <c:v>3.1200000000000014</c:v>
                </c:pt>
                <c:pt idx="82">
                  <c:v>3.1400000000000015</c:v>
                </c:pt>
                <c:pt idx="83">
                  <c:v>3.1600000000000015</c:v>
                </c:pt>
                <c:pt idx="84">
                  <c:v>3.1800000000000015</c:v>
                </c:pt>
                <c:pt idx="85">
                  <c:v>3.2000000000000015</c:v>
                </c:pt>
                <c:pt idx="86">
                  <c:v>3.2200000000000015</c:v>
                </c:pt>
                <c:pt idx="87">
                  <c:v>3.2400000000000015</c:v>
                </c:pt>
                <c:pt idx="88">
                  <c:v>3.2600000000000016</c:v>
                </c:pt>
                <c:pt idx="89">
                  <c:v>3.2800000000000016</c:v>
                </c:pt>
                <c:pt idx="90">
                  <c:v>3.3000000000000016</c:v>
                </c:pt>
                <c:pt idx="91">
                  <c:v>3.3200000000000016</c:v>
                </c:pt>
                <c:pt idx="92">
                  <c:v>3.3400000000000016</c:v>
                </c:pt>
                <c:pt idx="93">
                  <c:v>3.3600000000000017</c:v>
                </c:pt>
                <c:pt idx="94">
                  <c:v>3.3800000000000017</c:v>
                </c:pt>
                <c:pt idx="95">
                  <c:v>3.4000000000000017</c:v>
                </c:pt>
                <c:pt idx="96">
                  <c:v>3.4200000000000017</c:v>
                </c:pt>
                <c:pt idx="97">
                  <c:v>3.4400000000000017</c:v>
                </c:pt>
                <c:pt idx="98">
                  <c:v>3.4600000000000017</c:v>
                </c:pt>
                <c:pt idx="99">
                  <c:v>3.4800000000000018</c:v>
                </c:pt>
                <c:pt idx="100">
                  <c:v>3.5000000000000018</c:v>
                </c:pt>
                <c:pt idx="101">
                  <c:v>3.520000000000002</c:v>
                </c:pt>
                <c:pt idx="102">
                  <c:v>3.540000000000002</c:v>
                </c:pt>
                <c:pt idx="103">
                  <c:v>3.560000000000002</c:v>
                </c:pt>
                <c:pt idx="104">
                  <c:v>3.580000000000002</c:v>
                </c:pt>
                <c:pt idx="105">
                  <c:v>3.600000000000002</c:v>
                </c:pt>
                <c:pt idx="106">
                  <c:v>3.620000000000002</c:v>
                </c:pt>
                <c:pt idx="107">
                  <c:v>3.640000000000002</c:v>
                </c:pt>
                <c:pt idx="108">
                  <c:v>3.660000000000002</c:v>
                </c:pt>
                <c:pt idx="109">
                  <c:v>3.680000000000002</c:v>
                </c:pt>
                <c:pt idx="110">
                  <c:v>3.700000000000002</c:v>
                </c:pt>
                <c:pt idx="111">
                  <c:v>3.720000000000002</c:v>
                </c:pt>
                <c:pt idx="112">
                  <c:v>3.740000000000002</c:v>
                </c:pt>
                <c:pt idx="113">
                  <c:v>3.760000000000002</c:v>
                </c:pt>
                <c:pt idx="114">
                  <c:v>3.780000000000002</c:v>
                </c:pt>
                <c:pt idx="115">
                  <c:v>3.800000000000002</c:v>
                </c:pt>
                <c:pt idx="116">
                  <c:v>3.820000000000002</c:v>
                </c:pt>
                <c:pt idx="117">
                  <c:v>3.840000000000002</c:v>
                </c:pt>
                <c:pt idx="118">
                  <c:v>3.860000000000002</c:v>
                </c:pt>
                <c:pt idx="119">
                  <c:v>3.880000000000002</c:v>
                </c:pt>
                <c:pt idx="120">
                  <c:v>3.900000000000002</c:v>
                </c:pt>
                <c:pt idx="121">
                  <c:v>3.920000000000002</c:v>
                </c:pt>
                <c:pt idx="122">
                  <c:v>3.940000000000002</c:v>
                </c:pt>
                <c:pt idx="123">
                  <c:v>3.960000000000002</c:v>
                </c:pt>
                <c:pt idx="124">
                  <c:v>3.980000000000002</c:v>
                </c:pt>
                <c:pt idx="125">
                  <c:v>4.000000000000002</c:v>
                </c:pt>
              </c:numCache>
            </c:numRef>
          </c:xVal>
          <c:yVal>
            <c:numRef>
              <c:f>Sheet1!$B$2:$B$127</c:f>
              <c:numCache>
                <c:formatCode>General</c:formatCode>
                <c:ptCount val="126"/>
                <c:pt idx="0">
                  <c:v>0.10111009185570807</c:v>
                </c:pt>
                <c:pt idx="1">
                  <c:v>0.11197289303461289</c:v>
                </c:pt>
                <c:pt idx="2">
                  <c:v>0.12353766690916668</c:v>
                </c:pt>
                <c:pt idx="3">
                  <c:v>0.13580149911675732</c:v>
                </c:pt>
                <c:pt idx="4">
                  <c:v>0.14875695552560542</c:v>
                </c:pt>
                <c:pt idx="5">
                  <c:v>0.16239206917639626</c:v>
                </c:pt>
                <c:pt idx="6">
                  <c:v>0.17669038292769357</c:v>
                </c:pt>
                <c:pt idx="7">
                  <c:v>0.1916310465739447</c:v>
                </c:pt>
                <c:pt idx="8">
                  <c:v>0.20718896625717564</c:v>
                </c:pt>
                <c:pt idx="9">
                  <c:v>0.2233350031265241</c:v>
                </c:pt>
                <c:pt idx="10">
                  <c:v>0.2400362174296644</c:v>
                </c:pt>
                <c:pt idx="11">
                  <c:v>0.25725615355949505</c:v>
                </c:pt>
                <c:pt idx="12">
                  <c:v>0.27495516103715567</c:v>
                </c:pt>
                <c:pt idx="13">
                  <c:v>0.2930907459938571</c:v>
                </c:pt>
                <c:pt idx="14">
                  <c:v>0.31161794742108895</c:v>
                </c:pt>
                <c:pt idx="15">
                  <c:v>0.3304897322901773</c:v>
                </c:pt>
                <c:pt idx="16">
                  <c:v>0.3496574035937009</c:v>
                </c:pt>
                <c:pt idx="17">
                  <c:v>0.3690710154261546</c:v>
                </c:pt>
                <c:pt idx="18">
                  <c:v>0.38867978939051706</c:v>
                </c:pt>
                <c:pt idx="19">
                  <c:v>0.40843252688036213</c:v>
                </c:pt>
                <c:pt idx="20">
                  <c:v>0.42827801213185646</c:v>
                </c:pt>
                <c:pt idx="21">
                  <c:v>0.44816540135354654</c:v>
                </c:pt>
                <c:pt idx="22">
                  <c:v>0.46804459371086016</c:v>
                </c:pt>
                <c:pt idx="23">
                  <c:v>0.48786658045330056</c:v>
                </c:pt>
                <c:pt idx="24">
                  <c:v>0.5075837690121315</c:v>
                </c:pt>
                <c:pt idx="25">
                  <c:v>0.5271502794522566</c:v>
                </c:pt>
                <c:pt idx="26">
                  <c:v>0.5465222112220461</c:v>
                </c:pt>
                <c:pt idx="27">
                  <c:v>0.565657878698135</c:v>
                </c:pt>
                <c:pt idx="28">
                  <c:v>0.584518014558912</c:v>
                </c:pt>
                <c:pt idx="29">
                  <c:v>0.603065940532014</c:v>
                </c:pt>
                <c:pt idx="30">
                  <c:v>0.621267705540415</c:v>
                </c:pt>
                <c:pt idx="31">
                  <c:v>0.639092191712773</c:v>
                </c:pt>
                <c:pt idx="32">
                  <c:v>0.6565111891220814</c:v>
                </c:pt>
                <c:pt idx="33">
                  <c:v>0.6734994404690886</c:v>
                </c:pt>
                <c:pt idx="34">
                  <c:v>0.6900346572314344</c:v>
                </c:pt>
                <c:pt idx="35">
                  <c:v>0.7060975090551067</c:v>
                </c:pt>
                <c:pt idx="36">
                  <c:v>0.7216715883718445</c:v>
                </c:pt>
                <c:pt idx="37">
                  <c:v>0.7367433523855734</c:v>
                </c:pt>
                <c:pt idx="38">
                  <c:v>0.7513020446847198</c:v>
                </c:pt>
                <c:pt idx="39">
                  <c:v>0.765339598807875</c:v>
                </c:pt>
                <c:pt idx="40">
                  <c:v>0.7788505261208093</c:v>
                </c:pt>
                <c:pt idx="41">
                  <c:v>0.7918317903567755</c:v>
                </c:pt>
                <c:pt idx="42">
                  <c:v>0.8042826711331538</c:v>
                </c:pt>
                <c:pt idx="43">
                  <c:v>0.8162046186897264</c:v>
                </c:pt>
                <c:pt idx="44">
                  <c:v>0.8276011020012877</c:v>
                </c:pt>
                <c:pt idx="45">
                  <c:v>0.8384774523039102</c:v>
                </c:pt>
                <c:pt idx="46">
                  <c:v>0.8488407039439569</c:v>
                </c:pt>
                <c:pt idx="47">
                  <c:v>0.8586994343156406</c:v>
                </c:pt>
                <c:pt idx="48">
                  <c:v>0.8680636045001905</c:v>
                </c:pt>
                <c:pt idx="49">
                  <c:v>0.8769444020608153</c:v>
                </c:pt>
                <c:pt idx="50">
                  <c:v>0.8853540872857265</c:v>
                </c:pt>
                <c:pt idx="51">
                  <c:v>0.8933058440092546</c:v>
                </c:pt>
                <c:pt idx="52">
                  <c:v>0.9008136359809888</c:v>
                </c:pt>
                <c:pt idx="53">
                  <c:v>0.9078920695970241</c:v>
                </c:pt>
                <c:pt idx="54">
                  <c:v>0.9145562636575901</c:v>
                </c:pt>
                <c:pt idx="55">
                  <c:v>0.9208217266730538</c:v>
                </c:pt>
                <c:pt idx="56">
                  <c:v>0.9267042421067102</c:v>
                </c:pt>
                <c:pt idx="57">
                  <c:v>0.9322197618188071</c:v>
                </c:pt>
                <c:pt idx="58">
                  <c:v>0.9373843078625256</c:v>
                </c:pt>
                <c:pt idx="59">
                  <c:v>0.9422138826795532</c:v>
                </c:pt>
                <c:pt idx="60">
                  <c:v>0.9467243876506289</c:v>
                </c:pt>
                <c:pt idx="61">
                  <c:v>0.950931549875009</c:v>
                </c:pt>
                <c:pt idx="62">
                  <c:v>0.9548508569820073</c:v>
                </c:pt>
                <c:pt idx="63">
                  <c:v>0.9584974997173121</c:v>
                </c:pt>
                <c:pt idx="64">
                  <c:v>0.961886321996234</c:v>
                </c:pt>
                <c:pt idx="65">
                  <c:v>0.9650317780748756</c:v>
                </c:pt>
                <c:pt idx="66">
                  <c:v>0.9679478964578312</c:v>
                </c:pt>
                <c:pt idx="67">
                  <c:v>0.9706482501367886</c:v>
                </c:pt>
                <c:pt idx="68">
                  <c:v>0.9731459327376173</c:v>
                </c:pt>
                <c:pt idx="69">
                  <c:v>0.975453540143485</c:v>
                </c:pt>
                <c:pt idx="70">
                  <c:v>0.9775831571575498</c:v>
                </c:pt>
                <c:pt idx="71">
                  <c:v>0.9795463487701092</c:v>
                </c:pt>
                <c:pt idx="72">
                  <c:v>0.9813541556010663</c:v>
                </c:pt>
                <c:pt idx="73">
                  <c:v>0.983017093098554</c:v>
                </c:pt>
                <c:pt idx="74">
                  <c:v>0.9845451540878745</c:v>
                </c:pt>
                <c:pt idx="75">
                  <c:v>0.9859478142810087</c:v>
                </c:pt>
                <c:pt idx="76">
                  <c:v>0.9872340403752534</c:v>
                </c:pt>
                <c:pt idx="77">
                  <c:v>0.9884123003895474</c:v>
                </c:pt>
                <c:pt idx="78">
                  <c:v>0.9894905759083044</c:v>
                </c:pt>
                <c:pt idx="79">
                  <c:v>0.9904763759246421</c:v>
                </c:pt>
                <c:pt idx="80">
                  <c:v>0.9913767519974285</c:v>
                </c:pt>
                <c:pt idx="81">
                  <c:v>0.9921983144592251</c:v>
                </c:pt>
                <c:pt idx="82">
                  <c:v>0.9929472494347116</c:v>
                </c:pt>
                <c:pt idx="83">
                  <c:v>0.9936293364512793</c:v>
                </c:pt>
                <c:pt idx="84">
                  <c:v>0.9942499664449889</c:v>
                </c:pt>
                <c:pt idx="85">
                  <c:v>0.9948141599858212</c:v>
                </c:pt>
                <c:pt idx="86">
                  <c:v>0.9953265855659842</c:v>
                </c:pt>
                <c:pt idx="87">
                  <c:v>0.9957915778138623</c:v>
                </c:pt>
                <c:pt idx="88">
                  <c:v>0.9962131555139392</c:v>
                </c:pt>
                <c:pt idx="89">
                  <c:v>0.9965950393296236</c:v>
                </c:pt>
                <c:pt idx="90">
                  <c:v>0.9969406691413535</c:v>
                </c:pt>
                <c:pt idx="91">
                  <c:v>0.9972532209266051</c:v>
                </c:pt>
                <c:pt idx="92">
                  <c:v>0.9975356231215247</c:v>
                </c:pt>
                <c:pt idx="93">
                  <c:v>0.9977905724158248</c:v>
                </c:pt>
                <c:pt idx="94">
                  <c:v>0.9980205489433944</c:v>
                </c:pt>
                <c:pt idx="95">
                  <c:v>0.9982278308407846</c:v>
                </c:pt>
                <c:pt idx="96">
                  <c:v>0.9984145081544097</c:v>
                </c:pt>
                <c:pt idx="97">
                  <c:v>0.9985824960849914</c:v>
                </c:pt>
                <c:pt idx="98">
                  <c:v>0.998733547564532</c:v>
                </c:pt>
                <c:pt idx="99">
                  <c:v>0.9988692651669865</c:v>
                </c:pt>
                <c:pt idx="100">
                  <c:v>0.9989911123588787</c:v>
                </c:pt>
                <c:pt idx="101">
                  <c:v>0.9991004241004376</c:v>
                </c:pt>
                <c:pt idx="102">
                  <c:v>0.9991984168114599</c:v>
                </c:pt>
                <c:pt idx="103">
                  <c:v>0.9992861977191244</c:v>
                </c:pt>
                <c:pt idx="104">
                  <c:v>0.9993647736074227</c:v>
                </c:pt>
                <c:pt idx="105">
                  <c:v>0.9994350589898</c:v>
                </c:pt>
                <c:pt idx="106">
                  <c:v>0.999497883728075</c:v>
                </c:pt>
                <c:pt idx="107">
                  <c:v>0.9995540001217689</c:v>
                </c:pt>
                <c:pt idx="108">
                  <c:v>0.9996040894926826</c:v>
                </c:pt>
                <c:pt idx="109">
                  <c:v>0.99964876828995</c:v>
                </c:pt>
                <c:pt idx="110">
                  <c:v>0.9996885937409133</c:v>
                </c:pt>
                <c:pt idx="111">
                  <c:v>0.9997240690730562</c:v>
                </c:pt>
                <c:pt idx="112">
                  <c:v>0.9997556483319069</c:v>
                </c:pt>
                <c:pt idx="113">
                  <c:v>0.9997837408193517</c:v>
                </c:pt>
                <c:pt idx="114">
                  <c:v>0.9998087151761756</c:v>
                </c:pt>
                <c:pt idx="115">
                  <c:v>0.9998309031319145</c:v>
                </c:pt>
                <c:pt idx="116">
                  <c:v>0.9998506029442908</c:v>
                </c:pt>
                <c:pt idx="117">
                  <c:v>0.9998680825496127</c:v>
                </c:pt>
                <c:pt idx="118">
                  <c:v>0.9998835824445843</c:v>
                </c:pt>
                <c:pt idx="119">
                  <c:v>0.9998973183190075</c:v>
                </c:pt>
                <c:pt idx="120">
                  <c:v>0.999909483457864</c:v>
                </c:pt>
                <c:pt idx="121">
                  <c:v>0.9999202509302791</c:v>
                </c:pt>
                <c:pt idx="122">
                  <c:v>0.9999297755818695</c:v>
                </c:pt>
                <c:pt idx="123">
                  <c:v>0.9999381958460045</c:v>
                </c:pt>
                <c:pt idx="124">
                  <c:v>0.9999456353885461</c:v>
                </c:pt>
                <c:pt idx="125">
                  <c:v>0.9999522045996968</c:v>
                </c:pt>
              </c:numCache>
            </c:numRef>
          </c:yVal>
          <c:smooth val="0"/>
        </c:ser>
        <c:ser>
          <c:idx val="1"/>
          <c:order val="1"/>
          <c:tx>
            <c:strRef>
              <c:f>Sheet1!$B$129</c:f>
              <c:strCache>
                <c:ptCount val="1"/>
                <c:pt idx="0">
                  <c:v>90%</c:v>
                </c:pt>
              </c:strCache>
            </c:strRef>
          </c:tx>
          <c:spPr>
            <a:ln w="15875">
              <a:solidFill>
                <a:srgbClr val="8FB6D0"/>
              </a:solidFill>
            </a:ln>
          </c:spPr>
          <c:marker>
            <c:symbol val="none"/>
          </c:marker>
          <c:dLbls>
            <c:dLbl>
              <c:idx val="1"/>
              <c:tx>
                <c:rich>
                  <a:bodyPr/>
                  <a:lstStyle/>
                  <a:p>
                    <a:r>
                      <a:rPr sz="1200">
                        <a:solidFill>
                          <a:srgbClr val="8FB6D0"/>
                        </a:solidFill>
                        <a:latin typeface="Segoe UI"/>
                      </a:rPr>
                      <a:t>90%</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xVal>
            <c:numRef>
              <c:f>Sheet1!$A$130:$A$131</c:f>
              <c:numCache>
                <c:formatCode>General</c:formatCode>
                <c:ptCount val="2"/>
                <c:pt idx="0">
                  <c:v>1.5</c:v>
                </c:pt>
                <c:pt idx="1">
                  <c:v>4.0</c:v>
                </c:pt>
              </c:numCache>
            </c:numRef>
          </c:xVal>
          <c:yVal>
            <c:numRef>
              <c:f>Sheet1!$B$130:$B$131</c:f>
              <c:numCache>
                <c:formatCode>General</c:formatCode>
                <c:ptCount val="2"/>
                <c:pt idx="0">
                  <c:v>0.9</c:v>
                </c:pt>
                <c:pt idx="1">
                  <c:v>0.9</c:v>
                </c:pt>
              </c:numCache>
            </c:numRef>
          </c:yVal>
          <c:smooth val="0"/>
        </c:ser>
        <c:ser>
          <c:idx val="2"/>
          <c:order val="2"/>
          <c:tx>
            <c:strRef>
              <c:f>Sheet1!$B$133</c:f>
              <c:strCache>
                <c:ptCount val="1"/>
                <c:pt idx="0">
                  <c:v>punten</c:v>
                </c:pt>
              </c:strCache>
            </c:strRef>
          </c:tx>
          <c:spPr>
            <a:ln>
              <a:noFill/>
            </a:ln>
          </c:spPr>
          <c:marker>
            <c:symbol val="circle"/>
            <c:size val="11"/>
            <c:spPr>
              <a:solidFill>
                <a:srgbClr val="F2F8FC"/>
              </a:solidFill>
              <a:ln w="25400">
                <a:solidFill>
                  <a:srgbClr val="04182A"/>
                </a:solidFill>
              </a:ln>
            </c:spPr>
          </c:marker>
          <c:dLbls>
            <c:dLbl>
              <c:idx val="0"/>
              <c:tx>
                <c:rich>
                  <a:bodyPr/>
                  <a:lstStyle/>
                  <a:p>
                    <a:r>
                      <a:rPr sz="1300">
                        <a:solidFill>
                          <a:srgbClr val="F2F8FC"/>
                        </a:solidFill>
                        <a:latin typeface="Segoe UI"/>
                      </a:rPr>
                      <a:t>2,0 → 53%</a:t>
                    </a:r>
                  </a:p>
                </c:rich>
              </c:tx>
              <c:dLblPos val="r"/>
              <c:showLegendKey val="0"/>
              <c:showVal val="1"/>
              <c:showCatName val="0"/>
              <c:showSerName val="0"/>
              <c:showPercent val="0"/>
              <c:showBubbleSize val="0"/>
            </c:dLbl>
            <c:dLbl>
              <c:idx val="1"/>
              <c:tx>
                <c:rich>
                  <a:bodyPr/>
                  <a:lstStyle/>
                  <a:p>
                    <a:r>
                      <a:rPr sz="1300">
                        <a:solidFill>
                          <a:srgbClr val="F2F8FC"/>
                        </a:solidFill>
                        <a:latin typeface="Segoe UI"/>
                      </a:rPr>
                      <a:t>2,6 → 92%</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Sheet1!$A$134:$A$135</c:f>
              <c:numCache>
                <c:formatCode>General</c:formatCode>
                <c:ptCount val="2"/>
                <c:pt idx="0">
                  <c:v>2.0</c:v>
                </c:pt>
                <c:pt idx="1">
                  <c:v>2.6</c:v>
                </c:pt>
              </c:numCache>
            </c:numRef>
          </c:xVal>
          <c:yVal>
            <c:numRef>
              <c:f>Sheet1!$B$134:$B$135</c:f>
              <c:numCache>
                <c:formatCode>General</c:formatCode>
                <c:ptCount val="2"/>
                <c:pt idx="0">
                  <c:v>0.527150279452256</c:v>
                </c:pt>
                <c:pt idx="1">
                  <c:v>0.9208217266730537</c:v>
                </c:pt>
              </c:numCache>
            </c:numRef>
          </c:yVal>
          <c:smooth val="0"/>
        </c:ser>
        <c:axId val="-2128940872"/>
        <c:axId val="-2129643912"/>
      </c:scatterChart>
      <c:valAx>
        <c:axId val="-2128940872"/>
        <c:scaling>
          <c:orientation val="minMax"/>
          <c:max val="4.0"/>
          <c:min val="1.5"/>
        </c:scaling>
        <c:delete val="0"/>
        <c:axPos val="b"/>
        <c:numFmt formatCode="0.0" sourceLinked="0"/>
        <c:majorTickMark val="none"/>
        <c:minorTickMark val="none"/>
        <c:tickLblPos val="nextTo"/>
        <c:spPr>
          <a:ln w="9525">
            <a:solidFill>
              <a:srgbClr val="215B84"/>
            </a:solidFill>
          </a:ln>
        </c:spPr>
        <c:crossAx val="-2129643912"/>
        <c:crosses val="autoZero"/>
        <c:crossBetween val="midCat"/>
        <c:majorUnit val="0.5"/>
      </c:valAx>
      <c:valAx>
        <c:axId val="-2129643912"/>
        <c:scaling>
          <c:orientation val="minMax"/>
          <c:max val="1.0"/>
          <c:min val="0.0"/>
        </c:scaling>
        <c:delete val="0"/>
        <c:axPos val="l"/>
        <c:majorGridlines>
          <c:spPr>
            <a:ln w="9525">
              <a:solidFill>
                <a:srgbClr val="17486B"/>
              </a:solidFill>
            </a:ln>
          </c:spPr>
        </c:majorGridlines>
        <c:numFmt formatCode="0%" sourceLinked="0"/>
        <c:majorTickMark val="none"/>
        <c:minorTickMark val="none"/>
        <c:tickLblPos val="nextTo"/>
        <c:spPr>
          <a:ln>
            <a:noFill/>
          </a:ln>
        </c:spPr>
        <c:crossAx val="-2128940872"/>
        <c:crosses val="autoZero"/>
        <c:crossBetween val="midCat"/>
        <c:majorUnit val="0.2"/>
      </c:valAx>
      <c:spPr>
        <a:noFill/>
        <a:ln>
          <a:noFill/>
        </a:ln>
      </c:spPr>
    </c:plotArea>
    <c:plotVisOnly val="1"/>
    <c:dispBlanksAs val="gap"/>
    <c:showDLblsOverMax val="0"/>
  </c:chart>
  <c:spPr>
    <a:noFill/>
    <a:ln>
      <a:noFill/>
    </a:ln>
  </c:spPr>
  <c:txPr>
    <a:bodyPr/>
    <a:lstStyle/>
    <a:p>
      <a:pPr>
        <a:defRPr sz="1200">
          <a:solidFill>
            <a:srgbClr val="8FB6D0"/>
          </a:solidFill>
          <a:latin typeface="Segoe U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Inclusie</c:v>
                </c:pt>
              </c:strCache>
            </c:strRef>
          </c:tx>
          <c:spPr>
            <a:solidFill>
              <a:srgbClr val="1D6FA0"/>
            </a:solidFill>
            <a:ln w="9525">
              <a:solidFill>
                <a:srgbClr val="04182A"/>
              </a:solidFill>
            </a:ln>
          </c:spPr>
          <c:cat>
            <c:strRef>
              <c:f>Sheet1!$A$2:$A$25</c:f>
              <c:strCache>
                <c:ptCount val="24"/>
                <c:pt idx="0">
                  <c:v>1</c:v>
                </c:pt>
                <c:pt idx="1">
                  <c:v/>
                </c:pt>
                <c:pt idx="2">
                  <c:v/>
                </c:pt>
                <c:pt idx="3">
                  <c:v/>
                </c:pt>
                <c:pt idx="4">
                  <c:v/>
                </c:pt>
                <c:pt idx="5">
                  <c:v>6</c:v>
                </c:pt>
                <c:pt idx="6">
                  <c:v/>
                </c:pt>
                <c:pt idx="7">
                  <c:v/>
                </c:pt>
                <c:pt idx="8">
                  <c:v/>
                </c:pt>
                <c:pt idx="9">
                  <c:v/>
                </c:pt>
                <c:pt idx="10">
                  <c:v/>
                </c:pt>
                <c:pt idx="11">
                  <c:v>12</c:v>
                </c:pt>
                <c:pt idx="12">
                  <c:v/>
                </c:pt>
                <c:pt idx="13">
                  <c:v/>
                </c:pt>
                <c:pt idx="14">
                  <c:v/>
                </c:pt>
                <c:pt idx="15">
                  <c:v/>
                </c:pt>
                <c:pt idx="16">
                  <c:v/>
                </c:pt>
                <c:pt idx="17">
                  <c:v>18</c:v>
                </c:pt>
                <c:pt idx="18">
                  <c:v/>
                </c:pt>
                <c:pt idx="19">
                  <c:v/>
                </c:pt>
                <c:pt idx="20">
                  <c:v/>
                </c:pt>
                <c:pt idx="21">
                  <c:v/>
                </c:pt>
                <c:pt idx="22">
                  <c:v/>
                </c:pt>
                <c:pt idx="23">
                  <c:v>24</c:v>
                </c:pt>
              </c:strCache>
            </c:strRef>
          </c:cat>
          <c:val>
            <c:numRef>
              <c:f>Sheet1!$B$2:$B$25</c:f>
              <c:numCache>
                <c:formatCode>General</c:formatCode>
                <c:ptCount val="24"/>
                <c:pt idx="0">
                  <c:v>4.8665</c:v>
                </c:pt>
                <c:pt idx="1">
                  <c:v>8.49325</c:v>
                </c:pt>
                <c:pt idx="2">
                  <c:v>7.917875</c:v>
                </c:pt>
                <c:pt idx="3">
                  <c:v>8.177875</c:v>
                </c:pt>
                <c:pt idx="4">
                  <c:v>7.92475</c:v>
                </c:pt>
                <c:pt idx="5">
                  <c:v>7.7835</c:v>
                </c:pt>
                <c:pt idx="6">
                  <c:v>8.5955</c:v>
                </c:pt>
                <c:pt idx="7">
                  <c:v>7.872375</c:v>
                </c:pt>
                <c:pt idx="8">
                  <c:v>7.262125</c:v>
                </c:pt>
                <c:pt idx="9">
                  <c:v>7.34075</c:v>
                </c:pt>
                <c:pt idx="10">
                  <c:v>6.117125</c:v>
                </c:pt>
                <c:pt idx="11">
                  <c:v>4.951375</c:v>
                </c:pt>
                <c:pt idx="12">
                  <c:v>3.285</c:v>
                </c:pt>
                <c:pt idx="13">
                  <c:v>2.3495</c:v>
                </c:pt>
                <c:pt idx="14">
                  <c:v>1.3835</c:v>
                </c:pt>
                <c:pt idx="15">
                  <c:v>0.89</c:v>
                </c:pt>
                <c:pt idx="16">
                  <c:v>0.402625</c:v>
                </c:pt>
                <c:pt idx="17">
                  <c:v>0.216</c:v>
                </c:pt>
                <c:pt idx="18">
                  <c:v>0.085375</c:v>
                </c:pt>
                <c:pt idx="19">
                  <c:v>0.047</c:v>
                </c:pt>
                <c:pt idx="20">
                  <c:v>0.026875</c:v>
                </c:pt>
                <c:pt idx="21">
                  <c:v>0.00925</c:v>
                </c:pt>
                <c:pt idx="22">
                  <c:v>0.001875</c:v>
                </c:pt>
                <c:pt idx="23">
                  <c:v>0.0</c:v>
                </c:pt>
              </c:numCache>
            </c:numRef>
          </c:val>
        </c:ser>
        <c:ser>
          <c:idx val="1"/>
          <c:order val="1"/>
          <c:tx>
            <c:strRef>
              <c:f>Sheet1!$C$1</c:f>
              <c:strCache>
                <c:ptCount val="1"/>
                <c:pt idx="0">
                  <c:v>Maand 6, 12, 18</c:v>
                </c:pt>
              </c:strCache>
            </c:strRef>
          </c:tx>
          <c:spPr>
            <a:solidFill>
              <a:srgbClr val="DD6A00"/>
            </a:solidFill>
            <a:ln w="9525">
              <a:solidFill>
                <a:srgbClr val="04182A"/>
              </a:solidFill>
            </a:ln>
          </c:spPr>
          <c:cat>
            <c:strRef>
              <c:f>Sheet1!$A$2:$A$25</c:f>
              <c:strCache>
                <c:ptCount val="24"/>
                <c:pt idx="0">
                  <c:v>1</c:v>
                </c:pt>
                <c:pt idx="1">
                  <c:v/>
                </c:pt>
                <c:pt idx="2">
                  <c:v/>
                </c:pt>
                <c:pt idx="3">
                  <c:v/>
                </c:pt>
                <c:pt idx="4">
                  <c:v/>
                </c:pt>
                <c:pt idx="5">
                  <c:v>6</c:v>
                </c:pt>
                <c:pt idx="6">
                  <c:v/>
                </c:pt>
                <c:pt idx="7">
                  <c:v/>
                </c:pt>
                <c:pt idx="8">
                  <c:v/>
                </c:pt>
                <c:pt idx="9">
                  <c:v/>
                </c:pt>
                <c:pt idx="10">
                  <c:v/>
                </c:pt>
                <c:pt idx="11">
                  <c:v>12</c:v>
                </c:pt>
                <c:pt idx="12">
                  <c:v/>
                </c:pt>
                <c:pt idx="13">
                  <c:v/>
                </c:pt>
                <c:pt idx="14">
                  <c:v/>
                </c:pt>
                <c:pt idx="15">
                  <c:v/>
                </c:pt>
                <c:pt idx="16">
                  <c:v/>
                </c:pt>
                <c:pt idx="17">
                  <c:v>18</c:v>
                </c:pt>
                <c:pt idx="18">
                  <c:v/>
                </c:pt>
                <c:pt idx="19">
                  <c:v/>
                </c:pt>
                <c:pt idx="20">
                  <c:v/>
                </c:pt>
                <c:pt idx="21">
                  <c:v/>
                </c:pt>
                <c:pt idx="22">
                  <c:v/>
                </c:pt>
                <c:pt idx="23">
                  <c:v>24</c:v>
                </c:pt>
              </c:strCache>
            </c:strRef>
          </c:cat>
          <c:val>
            <c:numRef>
              <c:f>Sheet1!$C$2:$C$25</c:f>
              <c:numCache>
                <c:formatCode>General</c:formatCode>
                <c:ptCount val="24"/>
                <c:pt idx="0">
                  <c:v>0.0</c:v>
                </c:pt>
                <c:pt idx="1">
                  <c:v>0.0</c:v>
                </c:pt>
                <c:pt idx="2">
                  <c:v>0.0</c:v>
                </c:pt>
                <c:pt idx="3">
                  <c:v>0.0</c:v>
                </c:pt>
                <c:pt idx="4">
                  <c:v>0.0</c:v>
                </c:pt>
                <c:pt idx="5">
                  <c:v>0.0</c:v>
                </c:pt>
                <c:pt idx="6">
                  <c:v>2.611125</c:v>
                </c:pt>
                <c:pt idx="7">
                  <c:v>2.715625</c:v>
                </c:pt>
                <c:pt idx="8">
                  <c:v>2.618</c:v>
                </c:pt>
                <c:pt idx="9">
                  <c:v>2.9095</c:v>
                </c:pt>
                <c:pt idx="10">
                  <c:v>2.8001875</c:v>
                </c:pt>
                <c:pt idx="11">
                  <c:v>2.773375</c:v>
                </c:pt>
                <c:pt idx="12">
                  <c:v>4.7679375</c:v>
                </c:pt>
                <c:pt idx="13">
                  <c:v>5.053875</c:v>
                </c:pt>
                <c:pt idx="14">
                  <c:v>4.4530625</c:v>
                </c:pt>
                <c:pt idx="15">
                  <c:v>4.9905625</c:v>
                </c:pt>
                <c:pt idx="16">
                  <c:v>4.16775</c:v>
                </c:pt>
                <c:pt idx="17">
                  <c:v>3.7183125</c:v>
                </c:pt>
                <c:pt idx="18">
                  <c:v>5.7821875</c:v>
                </c:pt>
                <c:pt idx="19">
                  <c:v>4.9478125</c:v>
                </c:pt>
                <c:pt idx="20">
                  <c:v>5.0309375</c:v>
                </c:pt>
                <c:pt idx="21">
                  <c:v>4.337625</c:v>
                </c:pt>
                <c:pt idx="22">
                  <c:v>3.8046875</c:v>
                </c:pt>
                <c:pt idx="23">
                  <c:v>3.8475</c:v>
                </c:pt>
              </c:numCache>
            </c:numRef>
          </c:val>
        </c:ser>
        <c:ser>
          <c:idx val="2"/>
          <c:order val="2"/>
          <c:tx>
            <c:strRef>
              <c:f>Sheet1!$D$1</c:f>
              <c:strCache>
                <c:ptCount val="1"/>
                <c:pt idx="0">
                  <c:v>Maand 3, 9, 15</c:v>
                </c:pt>
              </c:strCache>
            </c:strRef>
          </c:tx>
          <c:spPr>
            <a:solidFill>
              <a:srgbClr val="2E9ECF"/>
            </a:solidFill>
            <a:ln w="9525">
              <a:solidFill>
                <a:srgbClr val="04182A"/>
              </a:solidFill>
            </a:ln>
          </c:spPr>
          <c:cat>
            <c:strRef>
              <c:f>Sheet1!$A$2:$A$25</c:f>
              <c:strCache>
                <c:ptCount val="24"/>
                <c:pt idx="0">
                  <c:v>1</c:v>
                </c:pt>
                <c:pt idx="1">
                  <c:v/>
                </c:pt>
                <c:pt idx="2">
                  <c:v/>
                </c:pt>
                <c:pt idx="3">
                  <c:v/>
                </c:pt>
                <c:pt idx="4">
                  <c:v/>
                </c:pt>
                <c:pt idx="5">
                  <c:v>6</c:v>
                </c:pt>
                <c:pt idx="6">
                  <c:v/>
                </c:pt>
                <c:pt idx="7">
                  <c:v/>
                </c:pt>
                <c:pt idx="8">
                  <c:v/>
                </c:pt>
                <c:pt idx="9">
                  <c:v/>
                </c:pt>
                <c:pt idx="10">
                  <c:v/>
                </c:pt>
                <c:pt idx="11">
                  <c:v>12</c:v>
                </c:pt>
                <c:pt idx="12">
                  <c:v/>
                </c:pt>
                <c:pt idx="13">
                  <c:v/>
                </c:pt>
                <c:pt idx="14">
                  <c:v/>
                </c:pt>
                <c:pt idx="15">
                  <c:v/>
                </c:pt>
                <c:pt idx="16">
                  <c:v/>
                </c:pt>
                <c:pt idx="17">
                  <c:v>18</c:v>
                </c:pt>
                <c:pt idx="18">
                  <c:v/>
                </c:pt>
                <c:pt idx="19">
                  <c:v/>
                </c:pt>
                <c:pt idx="20">
                  <c:v/>
                </c:pt>
                <c:pt idx="21">
                  <c:v/>
                </c:pt>
                <c:pt idx="22">
                  <c:v/>
                </c:pt>
                <c:pt idx="23">
                  <c:v>24</c:v>
                </c:pt>
              </c:strCache>
            </c:strRef>
          </c:cat>
          <c:val>
            <c:numRef>
              <c:f>Sheet1!$D$2:$D$25</c:f>
              <c:numCache>
                <c:formatCode>General</c:formatCode>
                <c:ptCount val="24"/>
                <c:pt idx="0">
                  <c:v>0.0</c:v>
                </c:pt>
                <c:pt idx="1">
                  <c:v>0.0</c:v>
                </c:pt>
                <c:pt idx="2">
                  <c:v>0.0</c:v>
                </c:pt>
                <c:pt idx="3">
                  <c:v>1.144375</c:v>
                </c:pt>
                <c:pt idx="4">
                  <c:v>1.233125</c:v>
                </c:pt>
                <c:pt idx="5">
                  <c:v>1.23375</c:v>
                </c:pt>
                <c:pt idx="6">
                  <c:v>1.3225</c:v>
                </c:pt>
                <c:pt idx="7">
                  <c:v>1.2371875</c:v>
                </c:pt>
                <c:pt idx="8">
                  <c:v>1.1696875</c:v>
                </c:pt>
                <c:pt idx="9">
                  <c:v>2.544375</c:v>
                </c:pt>
                <c:pt idx="10">
                  <c:v>2.52875</c:v>
                </c:pt>
                <c:pt idx="11">
                  <c:v>2.4653125</c:v>
                </c:pt>
                <c:pt idx="12">
                  <c:v>2.2065625</c:v>
                </c:pt>
                <c:pt idx="13">
                  <c:v>2.190625</c:v>
                </c:pt>
                <c:pt idx="14">
                  <c:v>1.813125</c:v>
                </c:pt>
                <c:pt idx="15">
                  <c:v>3.1125</c:v>
                </c:pt>
                <c:pt idx="16">
                  <c:v>2.7653125</c:v>
                </c:pt>
                <c:pt idx="17">
                  <c:v>2.58</c:v>
                </c:pt>
                <c:pt idx="18">
                  <c:v>2.5484375</c:v>
                </c:pt>
                <c:pt idx="19">
                  <c:v>2.09625</c:v>
                </c:pt>
                <c:pt idx="20">
                  <c:v>2.0746875</c:v>
                </c:pt>
                <c:pt idx="21">
                  <c:v>1.7471875</c:v>
                </c:pt>
                <c:pt idx="22">
                  <c:v>1.4890625</c:v>
                </c:pt>
                <c:pt idx="23">
                  <c:v>1.47625</c:v>
                </c:pt>
              </c:numCache>
            </c:numRef>
          </c:val>
        </c:ser>
        <c:gapWidth val="35"/>
        <c:overlap val="100"/>
        <c:axId val="-2068027336"/>
        <c:axId val="-2113994440"/>
      </c:barChart>
      <c:catAx>
        <c:axId val="-2068027336"/>
        <c:scaling>
          <c:orientation val="minMax"/>
        </c:scaling>
        <c:delete val="0"/>
        <c:axPos val="b"/>
        <c:majorTickMark val="none"/>
        <c:minorTickMark val="none"/>
        <c:tickLblPos val="nextTo"/>
        <c:spPr>
          <a:ln w="9525">
            <a:solidFill>
              <a:srgbClr val="215B84"/>
            </a:solidFill>
          </a:ln>
        </c:spPr>
        <c:crossAx val="-2113994440"/>
        <c:crosses val="autoZero"/>
        <c:auto val="1"/>
        <c:lblAlgn val="ctr"/>
        <c:lblOffset val="100"/>
        <c:noMultiLvlLbl val="0"/>
      </c:catAx>
      <c:valAx>
        <c:axId val="-2113994440"/>
        <c:scaling>
          <c:max val="25.0"/>
          <c:min val="0.0"/>
        </c:scaling>
        <c:delete val="0"/>
        <c:axPos val="l"/>
        <c:majorGridlines>
          <c:spPr>
            <a:ln w="9525">
              <a:solidFill>
                <a:srgbClr val="17486B"/>
              </a:solidFill>
            </a:ln>
          </c:spPr>
        </c:majorGridlines>
        <c:majorTickMark val="none"/>
        <c:minorTickMark val="none"/>
        <c:tickLblPos val="nextTo"/>
        <c:spPr>
          <a:ln>
            <a:noFill/>
          </a:ln>
        </c:spPr>
        <c:crossAx val="-2068027336"/>
        <c:crosses val="autoZero"/>
        <c:majorUnit val="5.0"/>
      </c:valAx>
      <c:spPr>
        <a:noFill/>
        <a:ln>
          <a:noFill/>
        </a:ln>
      </c:spPr>
    </c:plotArea>
    <c:dispBlanksAs val="gap"/>
  </c:chart>
  <c:spPr>
    <a:noFill/>
    <a:ln>
      <a:noFill/>
    </a:ln>
  </c:spPr>
  <c:txPr>
    <a:bodyPr/>
    <a:lstStyle/>
    <a:p>
      <a:pPr>
        <a:defRPr sz="1200">
          <a:solidFill>
            <a:srgbClr val="8FB6D0"/>
          </a:solidFill>
          <a:latin typeface="Segoe U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Inclusie</c:v>
                </c:pt>
              </c:strCache>
            </c:strRef>
          </c:tx>
          <c:spPr>
            <a:solidFill>
              <a:srgbClr val="1D6FA0"/>
            </a:solidFill>
            <a:ln w="9525">
              <a:solidFill>
                <a:srgbClr val="04182A"/>
              </a:solidFill>
            </a:ln>
          </c:spPr>
          <c:cat>
            <c:strRef>
              <c:f>Sheet1!$A$2:$A$25</c:f>
              <c:strCache>
                <c:ptCount val="24"/>
                <c:pt idx="0">
                  <c:v>1</c:v>
                </c:pt>
                <c:pt idx="1">
                  <c:v/>
                </c:pt>
                <c:pt idx="2">
                  <c:v/>
                </c:pt>
                <c:pt idx="3">
                  <c:v/>
                </c:pt>
                <c:pt idx="4">
                  <c:v/>
                </c:pt>
                <c:pt idx="5">
                  <c:v>6</c:v>
                </c:pt>
                <c:pt idx="6">
                  <c:v/>
                </c:pt>
                <c:pt idx="7">
                  <c:v/>
                </c:pt>
                <c:pt idx="8">
                  <c:v/>
                </c:pt>
                <c:pt idx="9">
                  <c:v/>
                </c:pt>
                <c:pt idx="10">
                  <c:v/>
                </c:pt>
                <c:pt idx="11">
                  <c:v>12</c:v>
                </c:pt>
                <c:pt idx="12">
                  <c:v/>
                </c:pt>
                <c:pt idx="13">
                  <c:v/>
                </c:pt>
                <c:pt idx="14">
                  <c:v/>
                </c:pt>
                <c:pt idx="15">
                  <c:v/>
                </c:pt>
                <c:pt idx="16">
                  <c:v/>
                </c:pt>
                <c:pt idx="17">
                  <c:v>18</c:v>
                </c:pt>
                <c:pt idx="18">
                  <c:v/>
                </c:pt>
                <c:pt idx="19">
                  <c:v/>
                </c:pt>
                <c:pt idx="20">
                  <c:v/>
                </c:pt>
                <c:pt idx="21">
                  <c:v/>
                </c:pt>
                <c:pt idx="22">
                  <c:v/>
                </c:pt>
                <c:pt idx="23">
                  <c:v>24</c:v>
                </c:pt>
              </c:strCache>
            </c:strRef>
          </c:cat>
          <c:val>
            <c:numRef>
              <c:f>Sheet1!$B$2:$B$25</c:f>
              <c:numCache>
                <c:formatCode>General</c:formatCode>
                <c:ptCount val="24"/>
                <c:pt idx="0">
                  <c:v>7.76825</c:v>
                </c:pt>
                <c:pt idx="1">
                  <c:v>12.9435</c:v>
                </c:pt>
                <c:pt idx="2">
                  <c:v>11.90325</c:v>
                </c:pt>
                <c:pt idx="3">
                  <c:v>12.154375</c:v>
                </c:pt>
                <c:pt idx="4">
                  <c:v>11.86075</c:v>
                </c:pt>
                <c:pt idx="5">
                  <c:v>11.41225</c:v>
                </c:pt>
                <c:pt idx="6">
                  <c:v>10.659</c:v>
                </c:pt>
                <c:pt idx="7">
                  <c:v>7.616375</c:v>
                </c:pt>
                <c:pt idx="8">
                  <c:v>4.82025</c:v>
                </c:pt>
                <c:pt idx="9">
                  <c:v>2.918375</c:v>
                </c:pt>
                <c:pt idx="10">
                  <c:v>1.24225</c:v>
                </c:pt>
                <c:pt idx="11">
                  <c:v>0.47775</c:v>
                </c:pt>
                <c:pt idx="12">
                  <c:v>0.161625</c:v>
                </c:pt>
                <c:pt idx="13">
                  <c:v>0.05425</c:v>
                </c:pt>
                <c:pt idx="14">
                  <c:v>0.00775</c:v>
                </c:pt>
                <c:pt idx="15">
                  <c:v>0.0</c:v>
                </c:pt>
                <c:pt idx="16">
                  <c:v>0.0</c:v>
                </c:pt>
                <c:pt idx="17">
                  <c:v>0.0</c:v>
                </c:pt>
                <c:pt idx="18">
                  <c:v>0.0</c:v>
                </c:pt>
                <c:pt idx="19">
                  <c:v>0.0</c:v>
                </c:pt>
                <c:pt idx="20">
                  <c:v>0.0</c:v>
                </c:pt>
                <c:pt idx="21">
                  <c:v>0.0</c:v>
                </c:pt>
                <c:pt idx="22">
                  <c:v>0.0</c:v>
                </c:pt>
                <c:pt idx="23">
                  <c:v>0.0</c:v>
                </c:pt>
              </c:numCache>
            </c:numRef>
          </c:val>
        </c:ser>
        <c:ser>
          <c:idx val="1"/>
          <c:order val="1"/>
          <c:tx>
            <c:strRef>
              <c:f>Sheet1!$C$1</c:f>
              <c:strCache>
                <c:ptCount val="1"/>
                <c:pt idx="0">
                  <c:v>Maand 6, 12, 18</c:v>
                </c:pt>
              </c:strCache>
            </c:strRef>
          </c:tx>
          <c:spPr>
            <a:solidFill>
              <a:srgbClr val="DD6A00"/>
            </a:solidFill>
            <a:ln w="9525">
              <a:solidFill>
                <a:srgbClr val="04182A"/>
              </a:solidFill>
            </a:ln>
          </c:spPr>
          <c:cat>
            <c:strRef>
              <c:f>Sheet1!$A$2:$A$25</c:f>
              <c:strCache>
                <c:ptCount val="24"/>
                <c:pt idx="0">
                  <c:v>1</c:v>
                </c:pt>
                <c:pt idx="1">
                  <c:v/>
                </c:pt>
                <c:pt idx="2">
                  <c:v/>
                </c:pt>
                <c:pt idx="3">
                  <c:v/>
                </c:pt>
                <c:pt idx="4">
                  <c:v/>
                </c:pt>
                <c:pt idx="5">
                  <c:v>6</c:v>
                </c:pt>
                <c:pt idx="6">
                  <c:v/>
                </c:pt>
                <c:pt idx="7">
                  <c:v/>
                </c:pt>
                <c:pt idx="8">
                  <c:v/>
                </c:pt>
                <c:pt idx="9">
                  <c:v/>
                </c:pt>
                <c:pt idx="10">
                  <c:v/>
                </c:pt>
                <c:pt idx="11">
                  <c:v>12</c:v>
                </c:pt>
                <c:pt idx="12">
                  <c:v/>
                </c:pt>
                <c:pt idx="13">
                  <c:v/>
                </c:pt>
                <c:pt idx="14">
                  <c:v/>
                </c:pt>
                <c:pt idx="15">
                  <c:v/>
                </c:pt>
                <c:pt idx="16">
                  <c:v/>
                </c:pt>
                <c:pt idx="17">
                  <c:v>18</c:v>
                </c:pt>
                <c:pt idx="18">
                  <c:v/>
                </c:pt>
                <c:pt idx="19">
                  <c:v/>
                </c:pt>
                <c:pt idx="20">
                  <c:v/>
                </c:pt>
                <c:pt idx="21">
                  <c:v/>
                </c:pt>
                <c:pt idx="22">
                  <c:v/>
                </c:pt>
                <c:pt idx="23">
                  <c:v>24</c:v>
                </c:pt>
              </c:strCache>
            </c:strRef>
          </c:cat>
          <c:val>
            <c:numRef>
              <c:f>Sheet1!$C$2:$C$25</c:f>
              <c:numCache>
                <c:formatCode>General</c:formatCode>
                <c:ptCount val="24"/>
                <c:pt idx="0">
                  <c:v>0.0</c:v>
                </c:pt>
                <c:pt idx="1">
                  <c:v>0.0</c:v>
                </c:pt>
                <c:pt idx="2">
                  <c:v>0.0</c:v>
                </c:pt>
                <c:pt idx="3">
                  <c:v>0.0</c:v>
                </c:pt>
                <c:pt idx="4">
                  <c:v>0.0</c:v>
                </c:pt>
                <c:pt idx="5">
                  <c:v>0.0</c:v>
                </c:pt>
                <c:pt idx="6">
                  <c:v>4.1518125</c:v>
                </c:pt>
                <c:pt idx="7">
                  <c:v>4.0514375</c:v>
                </c:pt>
                <c:pt idx="8">
                  <c:v>3.944875</c:v>
                </c:pt>
                <c:pt idx="9">
                  <c:v>4.335375</c:v>
                </c:pt>
                <c:pt idx="10">
                  <c:v>4.18</c:v>
                </c:pt>
                <c:pt idx="11">
                  <c:v>4.0088125</c:v>
                </c:pt>
                <c:pt idx="12">
                  <c:v>6.404625</c:v>
                </c:pt>
                <c:pt idx="13">
                  <c:v>5.9075</c:v>
                </c:pt>
                <c:pt idx="14">
                  <c:v>4.491375</c:v>
                </c:pt>
                <c:pt idx="15">
                  <c:v>4.526</c:v>
                </c:pt>
                <c:pt idx="16">
                  <c:v>3.6275</c:v>
                </c:pt>
                <c:pt idx="17">
                  <c:v>3.1833125</c:v>
                </c:pt>
                <c:pt idx="18">
                  <c:v>6.51725</c:v>
                </c:pt>
                <c:pt idx="19">
                  <c:v>5.1006875</c:v>
                </c:pt>
                <c:pt idx="20">
                  <c:v>4.834375</c:v>
                </c:pt>
                <c:pt idx="21">
                  <c:v>3.9425625</c:v>
                </c:pt>
                <c:pt idx="22">
                  <c:v>3.447</c:v>
                </c:pt>
                <c:pt idx="23">
                  <c:v>3.596625</c:v>
                </c:pt>
              </c:numCache>
            </c:numRef>
          </c:val>
        </c:ser>
        <c:ser>
          <c:idx val="2"/>
          <c:order val="2"/>
          <c:tx>
            <c:strRef>
              <c:f>Sheet1!$D$1</c:f>
              <c:strCache>
                <c:ptCount val="1"/>
                <c:pt idx="0">
                  <c:v>Maand 3, 9, 15</c:v>
                </c:pt>
              </c:strCache>
            </c:strRef>
          </c:tx>
          <c:spPr>
            <a:solidFill>
              <a:srgbClr val="2E9ECF"/>
            </a:solidFill>
            <a:ln w="9525">
              <a:solidFill>
                <a:srgbClr val="04182A"/>
              </a:solidFill>
            </a:ln>
          </c:spPr>
          <c:cat>
            <c:strRef>
              <c:f>Sheet1!$A$2:$A$25</c:f>
              <c:strCache>
                <c:ptCount val="24"/>
                <c:pt idx="0">
                  <c:v>1</c:v>
                </c:pt>
                <c:pt idx="1">
                  <c:v/>
                </c:pt>
                <c:pt idx="2">
                  <c:v/>
                </c:pt>
                <c:pt idx="3">
                  <c:v/>
                </c:pt>
                <c:pt idx="4">
                  <c:v/>
                </c:pt>
                <c:pt idx="5">
                  <c:v>6</c:v>
                </c:pt>
                <c:pt idx="6">
                  <c:v/>
                </c:pt>
                <c:pt idx="7">
                  <c:v/>
                </c:pt>
                <c:pt idx="8">
                  <c:v/>
                </c:pt>
                <c:pt idx="9">
                  <c:v/>
                </c:pt>
                <c:pt idx="10">
                  <c:v/>
                </c:pt>
                <c:pt idx="11">
                  <c:v>12</c:v>
                </c:pt>
                <c:pt idx="12">
                  <c:v/>
                </c:pt>
                <c:pt idx="13">
                  <c:v/>
                </c:pt>
                <c:pt idx="14">
                  <c:v/>
                </c:pt>
                <c:pt idx="15">
                  <c:v/>
                </c:pt>
                <c:pt idx="16">
                  <c:v/>
                </c:pt>
                <c:pt idx="17">
                  <c:v>18</c:v>
                </c:pt>
                <c:pt idx="18">
                  <c:v/>
                </c:pt>
                <c:pt idx="19">
                  <c:v/>
                </c:pt>
                <c:pt idx="20">
                  <c:v/>
                </c:pt>
                <c:pt idx="21">
                  <c:v/>
                </c:pt>
                <c:pt idx="22">
                  <c:v/>
                </c:pt>
                <c:pt idx="23">
                  <c:v>24</c:v>
                </c:pt>
              </c:strCache>
            </c:strRef>
          </c:cat>
          <c:val>
            <c:numRef>
              <c:f>Sheet1!$D$2:$D$25</c:f>
              <c:numCache>
                <c:formatCode>General</c:formatCode>
                <c:ptCount val="24"/>
                <c:pt idx="0">
                  <c:v>0.0</c:v>
                </c:pt>
                <c:pt idx="1">
                  <c:v>0.0</c:v>
                </c:pt>
                <c:pt idx="2">
                  <c:v>0.0</c:v>
                </c:pt>
                <c:pt idx="3">
                  <c:v>1.81875</c:v>
                </c:pt>
                <c:pt idx="4">
                  <c:v>1.8465625</c:v>
                </c:pt>
                <c:pt idx="5">
                  <c:v>1.8565625</c:v>
                </c:pt>
                <c:pt idx="6">
                  <c:v>1.970625</c:v>
                </c:pt>
                <c:pt idx="7">
                  <c:v>1.841875</c:v>
                </c:pt>
                <c:pt idx="8">
                  <c:v>1.7028125</c:v>
                </c:pt>
                <c:pt idx="9">
                  <c:v>3.4878125</c:v>
                </c:pt>
                <c:pt idx="10">
                  <c:v>3.0365625</c:v>
                </c:pt>
                <c:pt idx="11">
                  <c:v>2.585625</c:v>
                </c:pt>
                <c:pt idx="12">
                  <c:v>2.1175</c:v>
                </c:pt>
                <c:pt idx="13">
                  <c:v>2.049375</c:v>
                </c:pt>
                <c:pt idx="14">
                  <c:v>1.6953125</c:v>
                </c:pt>
                <c:pt idx="15">
                  <c:v>3.5559375</c:v>
                </c:pt>
                <c:pt idx="16">
                  <c:v>2.923125</c:v>
                </c:pt>
                <c:pt idx="17">
                  <c:v>2.469375</c:v>
                </c:pt>
                <c:pt idx="18">
                  <c:v>2.3875</c:v>
                </c:pt>
                <c:pt idx="19">
                  <c:v>1.910625</c:v>
                </c:pt>
                <c:pt idx="20">
                  <c:v>1.9359375</c:v>
                </c:pt>
                <c:pt idx="21">
                  <c:v>1.4865625</c:v>
                </c:pt>
                <c:pt idx="22">
                  <c:v>1.054375</c:v>
                </c:pt>
                <c:pt idx="23">
                  <c:v>0.71875</c:v>
                </c:pt>
              </c:numCache>
            </c:numRef>
          </c:val>
        </c:ser>
        <c:gapWidth val="35"/>
        <c:overlap val="100"/>
        <c:axId val="-2068027336"/>
        <c:axId val="-2113994440"/>
      </c:barChart>
      <c:catAx>
        <c:axId val="-2068027336"/>
        <c:scaling>
          <c:orientation val="minMax"/>
        </c:scaling>
        <c:delete val="0"/>
        <c:axPos val="b"/>
        <c:majorTickMark val="none"/>
        <c:minorTickMark val="none"/>
        <c:tickLblPos val="nextTo"/>
        <c:spPr>
          <a:ln w="9525">
            <a:solidFill>
              <a:srgbClr val="215B84"/>
            </a:solidFill>
          </a:ln>
        </c:spPr>
        <c:crossAx val="-2113994440"/>
        <c:crosses val="autoZero"/>
        <c:auto val="1"/>
        <c:lblAlgn val="ctr"/>
        <c:lblOffset val="100"/>
        <c:noMultiLvlLbl val="0"/>
      </c:catAx>
      <c:valAx>
        <c:axId val="-2113994440"/>
        <c:scaling>
          <c:max val="25.0"/>
          <c:min val="0.0"/>
        </c:scaling>
        <c:delete val="0"/>
        <c:axPos val="l"/>
        <c:majorGridlines>
          <c:spPr>
            <a:ln w="9525">
              <a:solidFill>
                <a:srgbClr val="17486B"/>
              </a:solidFill>
            </a:ln>
          </c:spPr>
        </c:majorGridlines>
        <c:majorTickMark val="none"/>
        <c:minorTickMark val="none"/>
        <c:tickLblPos val="none"/>
        <c:spPr>
          <a:ln>
            <a:noFill/>
          </a:ln>
        </c:spPr>
        <c:crossAx val="-2068027336"/>
        <c:crosses val="autoZero"/>
        <c:majorUnit val="5.0"/>
      </c:valAx>
      <c:spPr>
        <a:noFill/>
        <a:ln>
          <a:noFill/>
        </a:ln>
      </c:spPr>
    </c:plotArea>
    <c:dispBlanksAs val="gap"/>
  </c:chart>
  <c:spPr>
    <a:noFill/>
    <a:ln>
      <a:noFill/>
    </a:ln>
  </c:spPr>
  <c:txPr>
    <a:bodyPr/>
    <a:lstStyle/>
    <a:p>
      <a:pPr>
        <a:defRPr sz="1200">
          <a:solidFill>
            <a:srgbClr val="8FB6D0"/>
          </a:solidFill>
          <a:latin typeface="Segoe U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Inclusie</c:v>
                </c:pt>
              </c:strCache>
            </c:strRef>
          </c:tx>
          <c:spPr>
            <a:solidFill>
              <a:srgbClr val="1D6FA0"/>
            </a:solidFill>
            <a:ln w="9525">
              <a:solidFill>
                <a:srgbClr val="04182A"/>
              </a:solidFill>
            </a:ln>
          </c:spPr>
          <c:cat>
            <c:strRef>
              <c:f>Sheet1!$A$2:$A$25</c:f>
              <c:strCache>
                <c:ptCount val="24"/>
                <c:pt idx="0">
                  <c:v>1</c:v>
                </c:pt>
                <c:pt idx="1">
                  <c:v/>
                </c:pt>
                <c:pt idx="2">
                  <c:v/>
                </c:pt>
                <c:pt idx="3">
                  <c:v/>
                </c:pt>
                <c:pt idx="4">
                  <c:v/>
                </c:pt>
                <c:pt idx="5">
                  <c:v>6</c:v>
                </c:pt>
                <c:pt idx="6">
                  <c:v/>
                </c:pt>
                <c:pt idx="7">
                  <c:v/>
                </c:pt>
                <c:pt idx="8">
                  <c:v/>
                </c:pt>
                <c:pt idx="9">
                  <c:v/>
                </c:pt>
                <c:pt idx="10">
                  <c:v/>
                </c:pt>
                <c:pt idx="11">
                  <c:v>12</c:v>
                </c:pt>
                <c:pt idx="12">
                  <c:v/>
                </c:pt>
                <c:pt idx="13">
                  <c:v/>
                </c:pt>
                <c:pt idx="14">
                  <c:v/>
                </c:pt>
                <c:pt idx="15">
                  <c:v/>
                </c:pt>
                <c:pt idx="16">
                  <c:v/>
                </c:pt>
                <c:pt idx="17">
                  <c:v>18</c:v>
                </c:pt>
                <c:pt idx="18">
                  <c:v/>
                </c:pt>
                <c:pt idx="19">
                  <c:v/>
                </c:pt>
                <c:pt idx="20">
                  <c:v/>
                </c:pt>
                <c:pt idx="21">
                  <c:v/>
                </c:pt>
                <c:pt idx="22">
                  <c:v/>
                </c:pt>
                <c:pt idx="23">
                  <c:v>24</c:v>
                </c:pt>
              </c:strCache>
            </c:strRef>
          </c:cat>
          <c:val>
            <c:numRef>
              <c:f>Sheet1!$B$2:$B$25</c:f>
              <c:numCache>
                <c:formatCode>General</c:formatCode>
                <c:ptCount val="24"/>
                <c:pt idx="0">
                  <c:v>10.113625</c:v>
                </c:pt>
                <c:pt idx="1">
                  <c:v>17.362625</c:v>
                </c:pt>
                <c:pt idx="2">
                  <c:v>15.761</c:v>
                </c:pt>
                <c:pt idx="3">
                  <c:v>16.354875</c:v>
                </c:pt>
                <c:pt idx="4">
                  <c:v>14.932</c:v>
                </c:pt>
                <c:pt idx="5">
                  <c:v>11.226875</c:v>
                </c:pt>
                <c:pt idx="6">
                  <c:v>6.739125</c:v>
                </c:pt>
                <c:pt idx="7">
                  <c:v>2.501625</c:v>
                </c:pt>
                <c:pt idx="8">
                  <c:v>0.777</c:v>
                </c:pt>
                <c:pt idx="9">
                  <c:v>0.19375</c:v>
                </c:pt>
                <c:pt idx="10">
                  <c:v>0.033625</c:v>
                </c:pt>
                <c:pt idx="11">
                  <c:v>0.00325</c:v>
                </c:pt>
                <c:pt idx="12">
                  <c:v>0.000625</c:v>
                </c:pt>
                <c:pt idx="13">
                  <c:v>0.0</c:v>
                </c:pt>
                <c:pt idx="14">
                  <c:v>0.0</c:v>
                </c:pt>
                <c:pt idx="15">
                  <c:v>0.0</c:v>
                </c:pt>
                <c:pt idx="16">
                  <c:v>0.0</c:v>
                </c:pt>
                <c:pt idx="17">
                  <c:v>0.0</c:v>
                </c:pt>
                <c:pt idx="18">
                  <c:v>0.0</c:v>
                </c:pt>
                <c:pt idx="19">
                  <c:v>0.0</c:v>
                </c:pt>
                <c:pt idx="20">
                  <c:v>0.0</c:v>
                </c:pt>
                <c:pt idx="21">
                  <c:v>0.0</c:v>
                </c:pt>
                <c:pt idx="22">
                  <c:v>0.0</c:v>
                </c:pt>
                <c:pt idx="23">
                  <c:v>0.0</c:v>
                </c:pt>
              </c:numCache>
            </c:numRef>
          </c:val>
        </c:ser>
        <c:ser>
          <c:idx val="1"/>
          <c:order val="1"/>
          <c:tx>
            <c:strRef>
              <c:f>Sheet1!$C$1</c:f>
              <c:strCache>
                <c:ptCount val="1"/>
                <c:pt idx="0">
                  <c:v>Maand 6, 12, 18</c:v>
                </c:pt>
              </c:strCache>
            </c:strRef>
          </c:tx>
          <c:spPr>
            <a:solidFill>
              <a:srgbClr val="DD6A00"/>
            </a:solidFill>
            <a:ln w="9525">
              <a:solidFill>
                <a:srgbClr val="04182A"/>
              </a:solidFill>
            </a:ln>
          </c:spPr>
          <c:cat>
            <c:strRef>
              <c:f>Sheet1!$A$2:$A$25</c:f>
              <c:strCache>
                <c:ptCount val="24"/>
                <c:pt idx="0">
                  <c:v>1</c:v>
                </c:pt>
                <c:pt idx="1">
                  <c:v/>
                </c:pt>
                <c:pt idx="2">
                  <c:v/>
                </c:pt>
                <c:pt idx="3">
                  <c:v/>
                </c:pt>
                <c:pt idx="4">
                  <c:v/>
                </c:pt>
                <c:pt idx="5">
                  <c:v>6</c:v>
                </c:pt>
                <c:pt idx="6">
                  <c:v/>
                </c:pt>
                <c:pt idx="7">
                  <c:v/>
                </c:pt>
                <c:pt idx="8">
                  <c:v/>
                </c:pt>
                <c:pt idx="9">
                  <c:v/>
                </c:pt>
                <c:pt idx="10">
                  <c:v/>
                </c:pt>
                <c:pt idx="11">
                  <c:v>12</c:v>
                </c:pt>
                <c:pt idx="12">
                  <c:v/>
                </c:pt>
                <c:pt idx="13">
                  <c:v/>
                </c:pt>
                <c:pt idx="14">
                  <c:v/>
                </c:pt>
                <c:pt idx="15">
                  <c:v/>
                </c:pt>
                <c:pt idx="16">
                  <c:v/>
                </c:pt>
                <c:pt idx="17">
                  <c:v>18</c:v>
                </c:pt>
                <c:pt idx="18">
                  <c:v/>
                </c:pt>
                <c:pt idx="19">
                  <c:v/>
                </c:pt>
                <c:pt idx="20">
                  <c:v/>
                </c:pt>
                <c:pt idx="21">
                  <c:v/>
                </c:pt>
                <c:pt idx="22">
                  <c:v/>
                </c:pt>
                <c:pt idx="23">
                  <c:v>24</c:v>
                </c:pt>
              </c:strCache>
            </c:strRef>
          </c:cat>
          <c:val>
            <c:numRef>
              <c:f>Sheet1!$C$2:$C$25</c:f>
              <c:numCache>
                <c:formatCode>General</c:formatCode>
                <c:ptCount val="24"/>
                <c:pt idx="0">
                  <c:v>0.0</c:v>
                </c:pt>
                <c:pt idx="1">
                  <c:v>0.0</c:v>
                </c:pt>
                <c:pt idx="2">
                  <c:v>0.0</c:v>
                </c:pt>
                <c:pt idx="3">
                  <c:v>0.0</c:v>
                </c:pt>
                <c:pt idx="4">
                  <c:v>0.0</c:v>
                </c:pt>
                <c:pt idx="5">
                  <c:v>0.0</c:v>
                </c:pt>
                <c:pt idx="6">
                  <c:v>5.4649375</c:v>
                </c:pt>
                <c:pt idx="7">
                  <c:v>5.4443125</c:v>
                </c:pt>
                <c:pt idx="8">
                  <c:v>5.204375</c:v>
                </c:pt>
                <c:pt idx="9">
                  <c:v>5.842375</c:v>
                </c:pt>
                <c:pt idx="10">
                  <c:v>5.0689375</c:v>
                </c:pt>
                <c:pt idx="11">
                  <c:v>3.496625</c:v>
                </c:pt>
                <c:pt idx="12">
                  <c:v>5.9615625</c:v>
                </c:pt>
                <c:pt idx="13">
                  <c:v>5.2315625</c:v>
                </c:pt>
                <c:pt idx="14">
                  <c:v>4.259125</c:v>
                </c:pt>
                <c:pt idx="15">
                  <c:v>4.984</c:v>
                </c:pt>
                <c:pt idx="16">
                  <c:v>4.0481875</c:v>
                </c:pt>
                <c:pt idx="17">
                  <c:v>2.7513125</c:v>
                </c:pt>
                <c:pt idx="18">
                  <c:v>6.1858125</c:v>
                </c:pt>
                <c:pt idx="19">
                  <c:v>4.79925</c:v>
                </c:pt>
                <c:pt idx="20">
                  <c:v>4.867875</c:v>
                </c:pt>
                <c:pt idx="21">
                  <c:v>4.4836875</c:v>
                </c:pt>
                <c:pt idx="22">
                  <c:v>3.9121875</c:v>
                </c:pt>
                <c:pt idx="23">
                  <c:v>3.03525</c:v>
                </c:pt>
              </c:numCache>
            </c:numRef>
          </c:val>
        </c:ser>
        <c:ser>
          <c:idx val="2"/>
          <c:order val="2"/>
          <c:tx>
            <c:strRef>
              <c:f>Sheet1!$D$1</c:f>
              <c:strCache>
                <c:ptCount val="1"/>
                <c:pt idx="0">
                  <c:v>Maand 3, 9, 15</c:v>
                </c:pt>
              </c:strCache>
            </c:strRef>
          </c:tx>
          <c:spPr>
            <a:solidFill>
              <a:srgbClr val="2E9ECF"/>
            </a:solidFill>
            <a:ln w="9525">
              <a:solidFill>
                <a:srgbClr val="04182A"/>
              </a:solidFill>
            </a:ln>
          </c:spPr>
          <c:cat>
            <c:strRef>
              <c:f>Sheet1!$A$2:$A$25</c:f>
              <c:strCache>
                <c:ptCount val="24"/>
                <c:pt idx="0">
                  <c:v>1</c:v>
                </c:pt>
                <c:pt idx="1">
                  <c:v/>
                </c:pt>
                <c:pt idx="2">
                  <c:v/>
                </c:pt>
                <c:pt idx="3">
                  <c:v/>
                </c:pt>
                <c:pt idx="4">
                  <c:v/>
                </c:pt>
                <c:pt idx="5">
                  <c:v>6</c:v>
                </c:pt>
                <c:pt idx="6">
                  <c:v/>
                </c:pt>
                <c:pt idx="7">
                  <c:v/>
                </c:pt>
                <c:pt idx="8">
                  <c:v/>
                </c:pt>
                <c:pt idx="9">
                  <c:v/>
                </c:pt>
                <c:pt idx="10">
                  <c:v/>
                </c:pt>
                <c:pt idx="11">
                  <c:v>12</c:v>
                </c:pt>
                <c:pt idx="12">
                  <c:v/>
                </c:pt>
                <c:pt idx="13">
                  <c:v/>
                </c:pt>
                <c:pt idx="14">
                  <c:v/>
                </c:pt>
                <c:pt idx="15">
                  <c:v/>
                </c:pt>
                <c:pt idx="16">
                  <c:v/>
                </c:pt>
                <c:pt idx="17">
                  <c:v>18</c:v>
                </c:pt>
                <c:pt idx="18">
                  <c:v/>
                </c:pt>
                <c:pt idx="19">
                  <c:v/>
                </c:pt>
                <c:pt idx="20">
                  <c:v/>
                </c:pt>
                <c:pt idx="21">
                  <c:v/>
                </c:pt>
                <c:pt idx="22">
                  <c:v/>
                </c:pt>
                <c:pt idx="23">
                  <c:v>24</c:v>
                </c:pt>
              </c:strCache>
            </c:strRef>
          </c:cat>
          <c:val>
            <c:numRef>
              <c:f>Sheet1!$D$2:$D$25</c:f>
              <c:numCache>
                <c:formatCode>General</c:formatCode>
                <c:ptCount val="24"/>
                <c:pt idx="0">
                  <c:v>0.0</c:v>
                </c:pt>
                <c:pt idx="1">
                  <c:v>0.0</c:v>
                </c:pt>
                <c:pt idx="2">
                  <c:v>0.0</c:v>
                </c:pt>
                <c:pt idx="3">
                  <c:v>2.39875</c:v>
                </c:pt>
                <c:pt idx="4">
                  <c:v>2.4715625</c:v>
                </c:pt>
                <c:pt idx="5">
                  <c:v>2.4540625</c:v>
                </c:pt>
                <c:pt idx="6">
                  <c:v>2.655625</c:v>
                </c:pt>
                <c:pt idx="7">
                  <c:v>2.2459375</c:v>
                </c:pt>
                <c:pt idx="8">
                  <c:v>1.528125</c:v>
                </c:pt>
                <c:pt idx="9">
                  <c:v>3.350625</c:v>
                </c:pt>
                <c:pt idx="10">
                  <c:v>2.8359375</c:v>
                </c:pt>
                <c:pt idx="11">
                  <c:v>2.620625</c:v>
                </c:pt>
                <c:pt idx="12">
                  <c:v>2.415625</c:v>
                </c:pt>
                <c:pt idx="13">
                  <c:v>2.306875</c:v>
                </c:pt>
                <c:pt idx="14">
                  <c:v>1.4703125</c:v>
                </c:pt>
                <c:pt idx="15">
                  <c:v>3.365</c:v>
                </c:pt>
                <c:pt idx="16">
                  <c:v>2.74375</c:v>
                </c:pt>
                <c:pt idx="17">
                  <c:v>2.444375</c:v>
                </c:pt>
                <c:pt idx="18">
                  <c:v>2.745</c:v>
                </c:pt>
                <c:pt idx="19">
                  <c:v>2.1734375</c:v>
                </c:pt>
                <c:pt idx="20">
                  <c:v>1.6478125</c:v>
                </c:pt>
                <c:pt idx="21">
                  <c:v>0.7615625</c:v>
                </c:pt>
                <c:pt idx="22">
                  <c:v>0.263125</c:v>
                </c:pt>
                <c:pt idx="23">
                  <c:v>0.085625</c:v>
                </c:pt>
              </c:numCache>
            </c:numRef>
          </c:val>
        </c:ser>
        <c:gapWidth val="35"/>
        <c:overlap val="100"/>
        <c:axId val="-2068027336"/>
        <c:axId val="-2113994440"/>
      </c:barChart>
      <c:catAx>
        <c:axId val="-2068027336"/>
        <c:scaling>
          <c:orientation val="minMax"/>
        </c:scaling>
        <c:delete val="0"/>
        <c:axPos val="b"/>
        <c:majorTickMark val="none"/>
        <c:minorTickMark val="none"/>
        <c:tickLblPos val="nextTo"/>
        <c:spPr>
          <a:ln w="9525">
            <a:solidFill>
              <a:srgbClr val="215B84"/>
            </a:solidFill>
          </a:ln>
        </c:spPr>
        <c:crossAx val="-2113994440"/>
        <c:crosses val="autoZero"/>
        <c:auto val="1"/>
        <c:lblAlgn val="ctr"/>
        <c:lblOffset val="100"/>
        <c:noMultiLvlLbl val="0"/>
      </c:catAx>
      <c:valAx>
        <c:axId val="-2113994440"/>
        <c:scaling>
          <c:max val="25.0"/>
          <c:min val="0.0"/>
        </c:scaling>
        <c:delete val="0"/>
        <c:axPos val="l"/>
        <c:majorGridlines>
          <c:spPr>
            <a:ln w="9525">
              <a:solidFill>
                <a:srgbClr val="17486B"/>
              </a:solidFill>
            </a:ln>
          </c:spPr>
        </c:majorGridlines>
        <c:majorTickMark val="none"/>
        <c:minorTickMark val="none"/>
        <c:tickLblPos val="none"/>
        <c:spPr>
          <a:ln>
            <a:noFill/>
          </a:ln>
        </c:spPr>
        <c:crossAx val="-2068027336"/>
        <c:crosses val="autoZero"/>
        <c:majorUnit val="5.0"/>
      </c:valAx>
      <c:spPr>
        <a:noFill/>
        <a:ln>
          <a:noFill/>
        </a:ln>
      </c:spPr>
    </c:plotArea>
    <c:dispBlanksAs val="gap"/>
  </c:chart>
  <c:spPr>
    <a:noFill/>
    <a:ln>
      <a:noFill/>
    </a:ln>
  </c:spPr>
  <c:txPr>
    <a:bodyPr/>
    <a:lstStyle/>
    <a:p>
      <a:pPr>
        <a:defRPr sz="1200">
          <a:solidFill>
            <a:srgbClr val="8FB6D0"/>
          </a:solidFill>
          <a:latin typeface="Segoe U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Inclusie</c:v>
                </c:pt>
              </c:strCache>
            </c:strRef>
          </c:tx>
          <c:spPr>
            <a:solidFill>
              <a:srgbClr val="1D6FA0"/>
            </a:solidFill>
            <a:ln w="9525">
              <a:solidFill>
                <a:srgbClr val="04182A"/>
              </a:solidFill>
            </a:ln>
          </c:spPr>
          <c:cat>
            <c:strRef>
              <c:f>Sheet1!$A$2:$A$25</c:f>
              <c:strCache>
                <c:ptCount val="24"/>
                <c:pt idx="0">
                  <c:v>1</c:v>
                </c:pt>
                <c:pt idx="1">
                  <c:v/>
                </c:pt>
                <c:pt idx="2">
                  <c:v/>
                </c:pt>
                <c:pt idx="3">
                  <c:v/>
                </c:pt>
                <c:pt idx="4">
                  <c:v/>
                </c:pt>
                <c:pt idx="5">
                  <c:v>6</c:v>
                </c:pt>
                <c:pt idx="6">
                  <c:v/>
                </c:pt>
                <c:pt idx="7">
                  <c:v/>
                </c:pt>
                <c:pt idx="8">
                  <c:v/>
                </c:pt>
                <c:pt idx="9">
                  <c:v/>
                </c:pt>
                <c:pt idx="10">
                  <c:v/>
                </c:pt>
                <c:pt idx="11">
                  <c:v>12</c:v>
                </c:pt>
                <c:pt idx="12">
                  <c:v/>
                </c:pt>
                <c:pt idx="13">
                  <c:v/>
                </c:pt>
                <c:pt idx="14">
                  <c:v/>
                </c:pt>
                <c:pt idx="15">
                  <c:v/>
                </c:pt>
                <c:pt idx="16">
                  <c:v/>
                </c:pt>
                <c:pt idx="17">
                  <c:v>18</c:v>
                </c:pt>
                <c:pt idx="18">
                  <c:v/>
                </c:pt>
                <c:pt idx="19">
                  <c:v/>
                </c:pt>
                <c:pt idx="20">
                  <c:v/>
                </c:pt>
                <c:pt idx="21">
                  <c:v/>
                </c:pt>
                <c:pt idx="22">
                  <c:v/>
                </c:pt>
                <c:pt idx="23">
                  <c:v>24</c:v>
                </c:pt>
              </c:strCache>
            </c:strRef>
          </c:cat>
          <c:val>
            <c:numRef>
              <c:f>Sheet1!$B$2:$B$25</c:f>
              <c:numCache>
                <c:formatCode>General</c:formatCode>
                <c:ptCount val="24"/>
                <c:pt idx="0">
                  <c:v>12.841625</c:v>
                </c:pt>
                <c:pt idx="1">
                  <c:v>21.39075</c:v>
                </c:pt>
                <c:pt idx="2">
                  <c:v>19.513375</c:v>
                </c:pt>
                <c:pt idx="3">
                  <c:v>19.370625</c:v>
                </c:pt>
                <c:pt idx="4">
                  <c:v>13.80675</c:v>
                </c:pt>
                <c:pt idx="5">
                  <c:v>6.55275</c:v>
                </c:pt>
                <c:pt idx="6">
                  <c:v>2.1145</c:v>
                </c:pt>
                <c:pt idx="7">
                  <c:v>0.355375</c:v>
                </c:pt>
                <c:pt idx="8">
                  <c:v>0.0505</c:v>
                </c:pt>
                <c:pt idx="9">
                  <c:v>0.00375</c:v>
                </c:pt>
                <c:pt idx="10">
                  <c:v>0.0</c:v>
                </c:pt>
                <c:pt idx="11">
                  <c:v>0.0</c:v>
                </c:pt>
                <c:pt idx="12">
                  <c:v>0.0</c:v>
                </c:pt>
                <c:pt idx="13">
                  <c:v>0.0</c:v>
                </c:pt>
                <c:pt idx="14">
                  <c:v>0.0</c:v>
                </c:pt>
                <c:pt idx="15">
                  <c:v>0.0</c:v>
                </c:pt>
                <c:pt idx="16">
                  <c:v>0.0</c:v>
                </c:pt>
                <c:pt idx="17">
                  <c:v>0.0</c:v>
                </c:pt>
                <c:pt idx="18">
                  <c:v>0.0</c:v>
                </c:pt>
                <c:pt idx="19">
                  <c:v>0.0</c:v>
                </c:pt>
                <c:pt idx="20">
                  <c:v>0.0</c:v>
                </c:pt>
                <c:pt idx="21">
                  <c:v>0.0</c:v>
                </c:pt>
                <c:pt idx="22">
                  <c:v>0.0</c:v>
                </c:pt>
                <c:pt idx="23">
                  <c:v>0.0</c:v>
                </c:pt>
              </c:numCache>
            </c:numRef>
          </c:val>
        </c:ser>
        <c:ser>
          <c:idx val="1"/>
          <c:order val="1"/>
          <c:tx>
            <c:strRef>
              <c:f>Sheet1!$C$1</c:f>
              <c:strCache>
                <c:ptCount val="1"/>
                <c:pt idx="0">
                  <c:v>Maand 6, 12, 18</c:v>
                </c:pt>
              </c:strCache>
            </c:strRef>
          </c:tx>
          <c:spPr>
            <a:solidFill>
              <a:srgbClr val="DD6A00"/>
            </a:solidFill>
            <a:ln w="9525">
              <a:solidFill>
                <a:srgbClr val="04182A"/>
              </a:solidFill>
            </a:ln>
          </c:spPr>
          <c:cat>
            <c:strRef>
              <c:f>Sheet1!$A$2:$A$25</c:f>
              <c:strCache>
                <c:ptCount val="24"/>
                <c:pt idx="0">
                  <c:v>1</c:v>
                </c:pt>
                <c:pt idx="1">
                  <c:v/>
                </c:pt>
                <c:pt idx="2">
                  <c:v/>
                </c:pt>
                <c:pt idx="3">
                  <c:v/>
                </c:pt>
                <c:pt idx="4">
                  <c:v/>
                </c:pt>
                <c:pt idx="5">
                  <c:v>6</c:v>
                </c:pt>
                <c:pt idx="6">
                  <c:v/>
                </c:pt>
                <c:pt idx="7">
                  <c:v/>
                </c:pt>
                <c:pt idx="8">
                  <c:v/>
                </c:pt>
                <c:pt idx="9">
                  <c:v/>
                </c:pt>
                <c:pt idx="10">
                  <c:v/>
                </c:pt>
                <c:pt idx="11">
                  <c:v>12</c:v>
                </c:pt>
                <c:pt idx="12">
                  <c:v/>
                </c:pt>
                <c:pt idx="13">
                  <c:v/>
                </c:pt>
                <c:pt idx="14">
                  <c:v/>
                </c:pt>
                <c:pt idx="15">
                  <c:v/>
                </c:pt>
                <c:pt idx="16">
                  <c:v/>
                </c:pt>
                <c:pt idx="17">
                  <c:v>18</c:v>
                </c:pt>
                <c:pt idx="18">
                  <c:v/>
                </c:pt>
                <c:pt idx="19">
                  <c:v/>
                </c:pt>
                <c:pt idx="20">
                  <c:v/>
                </c:pt>
                <c:pt idx="21">
                  <c:v/>
                </c:pt>
                <c:pt idx="22">
                  <c:v/>
                </c:pt>
                <c:pt idx="23">
                  <c:v>24</c:v>
                </c:pt>
              </c:strCache>
            </c:strRef>
          </c:cat>
          <c:val>
            <c:numRef>
              <c:f>Sheet1!$C$2:$C$25</c:f>
              <c:numCache>
                <c:formatCode>General</c:formatCode>
                <c:ptCount val="24"/>
                <c:pt idx="0">
                  <c:v>0.0</c:v>
                </c:pt>
                <c:pt idx="1">
                  <c:v>0.0</c:v>
                </c:pt>
                <c:pt idx="2">
                  <c:v>0.0</c:v>
                </c:pt>
                <c:pt idx="3">
                  <c:v>0.0</c:v>
                </c:pt>
                <c:pt idx="4">
                  <c:v>0.0</c:v>
                </c:pt>
                <c:pt idx="5">
                  <c:v>0.0</c:v>
                </c:pt>
                <c:pt idx="6">
                  <c:v>6.864</c:v>
                </c:pt>
                <c:pt idx="7">
                  <c:v>6.700375</c:v>
                </c:pt>
                <c:pt idx="8">
                  <c:v>6.4700625</c:v>
                </c:pt>
                <c:pt idx="9">
                  <c:v>6.7203125</c:v>
                </c:pt>
                <c:pt idx="10">
                  <c:v>4.21025</c:v>
                </c:pt>
                <c:pt idx="11">
                  <c:v>1.5943125</c:v>
                </c:pt>
                <c:pt idx="12">
                  <c:v>5.7976875</c:v>
                </c:pt>
                <c:pt idx="13">
                  <c:v>5.732875</c:v>
                </c:pt>
                <c:pt idx="14">
                  <c:v>5.11125</c:v>
                </c:pt>
                <c:pt idx="15">
                  <c:v>5.689125</c:v>
                </c:pt>
                <c:pt idx="16">
                  <c:v>3.3688125</c:v>
                </c:pt>
                <c:pt idx="17">
                  <c:v>1.3145625</c:v>
                </c:pt>
                <c:pt idx="18">
                  <c:v>6.1785</c:v>
                </c:pt>
                <c:pt idx="19">
                  <c:v>5.338125</c:v>
                </c:pt>
                <c:pt idx="20">
                  <c:v>5.8449375</c:v>
                </c:pt>
                <c:pt idx="21">
                  <c:v>5.1080625</c:v>
                </c:pt>
                <c:pt idx="22">
                  <c:v>3.2158125</c:v>
                </c:pt>
                <c:pt idx="23">
                  <c:v>1.3995</c:v>
                </c:pt>
              </c:numCache>
            </c:numRef>
          </c:val>
        </c:ser>
        <c:ser>
          <c:idx val="2"/>
          <c:order val="2"/>
          <c:tx>
            <c:strRef>
              <c:f>Sheet1!$D$1</c:f>
              <c:strCache>
                <c:ptCount val="1"/>
                <c:pt idx="0">
                  <c:v>Maand 3, 9, 15</c:v>
                </c:pt>
              </c:strCache>
            </c:strRef>
          </c:tx>
          <c:spPr>
            <a:solidFill>
              <a:srgbClr val="2E9ECF"/>
            </a:solidFill>
            <a:ln w="9525">
              <a:solidFill>
                <a:srgbClr val="04182A"/>
              </a:solidFill>
            </a:ln>
          </c:spPr>
          <c:cat>
            <c:strRef>
              <c:f>Sheet1!$A$2:$A$25</c:f>
              <c:strCache>
                <c:ptCount val="24"/>
                <c:pt idx="0">
                  <c:v>1</c:v>
                </c:pt>
                <c:pt idx="1">
                  <c:v/>
                </c:pt>
                <c:pt idx="2">
                  <c:v/>
                </c:pt>
                <c:pt idx="3">
                  <c:v/>
                </c:pt>
                <c:pt idx="4">
                  <c:v/>
                </c:pt>
                <c:pt idx="5">
                  <c:v>6</c:v>
                </c:pt>
                <c:pt idx="6">
                  <c:v/>
                </c:pt>
                <c:pt idx="7">
                  <c:v/>
                </c:pt>
                <c:pt idx="8">
                  <c:v/>
                </c:pt>
                <c:pt idx="9">
                  <c:v/>
                </c:pt>
                <c:pt idx="10">
                  <c:v/>
                </c:pt>
                <c:pt idx="11">
                  <c:v>12</c:v>
                </c:pt>
                <c:pt idx="12">
                  <c:v/>
                </c:pt>
                <c:pt idx="13">
                  <c:v/>
                </c:pt>
                <c:pt idx="14">
                  <c:v/>
                </c:pt>
                <c:pt idx="15">
                  <c:v/>
                </c:pt>
                <c:pt idx="16">
                  <c:v/>
                </c:pt>
                <c:pt idx="17">
                  <c:v>18</c:v>
                </c:pt>
                <c:pt idx="18">
                  <c:v/>
                </c:pt>
                <c:pt idx="19">
                  <c:v/>
                </c:pt>
                <c:pt idx="20">
                  <c:v/>
                </c:pt>
                <c:pt idx="21">
                  <c:v/>
                </c:pt>
                <c:pt idx="22">
                  <c:v/>
                </c:pt>
                <c:pt idx="23">
                  <c:v>24</c:v>
                </c:pt>
              </c:strCache>
            </c:strRef>
          </c:cat>
          <c:val>
            <c:numRef>
              <c:f>Sheet1!$D$2:$D$25</c:f>
              <c:numCache>
                <c:formatCode>General</c:formatCode>
                <c:ptCount val="24"/>
                <c:pt idx="0">
                  <c:v>0.0</c:v>
                </c:pt>
                <c:pt idx="1">
                  <c:v>0.0</c:v>
                </c:pt>
                <c:pt idx="2">
                  <c:v>0.0</c:v>
                </c:pt>
                <c:pt idx="3">
                  <c:v>3.01125</c:v>
                </c:pt>
                <c:pt idx="4">
                  <c:v>3.0509375</c:v>
                </c:pt>
                <c:pt idx="5">
                  <c:v>3.044375</c:v>
                </c:pt>
                <c:pt idx="6">
                  <c:v>3.0546875</c:v>
                </c:pt>
                <c:pt idx="7">
                  <c:v>1.8715625</c:v>
                </c:pt>
                <c:pt idx="8">
                  <c:v>0.7303125</c:v>
                </c:pt>
                <c:pt idx="9">
                  <c:v>3.328125</c:v>
                </c:pt>
                <c:pt idx="10">
                  <c:v>3.175625</c:v>
                </c:pt>
                <c:pt idx="11">
                  <c:v>3.1415625</c:v>
                </c:pt>
                <c:pt idx="12">
                  <c:v>2.7528125</c:v>
                </c:pt>
                <c:pt idx="13">
                  <c:v>1.91375</c:v>
                </c:pt>
                <c:pt idx="14">
                  <c:v>0.688125</c:v>
                </c:pt>
                <c:pt idx="15">
                  <c:v>3.330625</c:v>
                </c:pt>
                <c:pt idx="16">
                  <c:v>3.068125</c:v>
                </c:pt>
                <c:pt idx="17">
                  <c:v>2.9446875</c:v>
                </c:pt>
                <c:pt idx="18">
                  <c:v>3.1396875</c:v>
                </c:pt>
                <c:pt idx="19">
                  <c:v>1.7865625</c:v>
                </c:pt>
                <c:pt idx="20">
                  <c:v>0.766875</c:v>
                </c:pt>
                <c:pt idx="21">
                  <c:v>0.1740625</c:v>
                </c:pt>
                <c:pt idx="22">
                  <c:v>0.021875</c:v>
                </c:pt>
                <c:pt idx="23">
                  <c:v>0.004375</c:v>
                </c:pt>
              </c:numCache>
            </c:numRef>
          </c:val>
        </c:ser>
        <c:gapWidth val="35"/>
        <c:overlap val="100"/>
        <c:axId val="-2068027336"/>
        <c:axId val="-2113994440"/>
      </c:barChart>
      <c:catAx>
        <c:axId val="-2068027336"/>
        <c:scaling>
          <c:orientation val="minMax"/>
        </c:scaling>
        <c:delete val="0"/>
        <c:axPos val="b"/>
        <c:majorTickMark val="none"/>
        <c:minorTickMark val="none"/>
        <c:tickLblPos val="nextTo"/>
        <c:spPr>
          <a:ln w="9525">
            <a:solidFill>
              <a:srgbClr val="215B84"/>
            </a:solidFill>
          </a:ln>
        </c:spPr>
        <c:crossAx val="-2113994440"/>
        <c:crosses val="autoZero"/>
        <c:auto val="1"/>
        <c:lblAlgn val="ctr"/>
        <c:lblOffset val="100"/>
        <c:noMultiLvlLbl val="0"/>
      </c:catAx>
      <c:valAx>
        <c:axId val="-2113994440"/>
        <c:scaling>
          <c:max val="25.0"/>
          <c:min val="0.0"/>
        </c:scaling>
        <c:delete val="0"/>
        <c:axPos val="l"/>
        <c:majorGridlines>
          <c:spPr>
            <a:ln w="9525">
              <a:solidFill>
                <a:srgbClr val="17486B"/>
              </a:solidFill>
            </a:ln>
          </c:spPr>
        </c:majorGridlines>
        <c:majorTickMark val="none"/>
        <c:minorTickMark val="none"/>
        <c:tickLblPos val="none"/>
        <c:spPr>
          <a:ln>
            <a:noFill/>
          </a:ln>
        </c:spPr>
        <c:crossAx val="-2068027336"/>
        <c:crosses val="autoZero"/>
        <c:majorUnit val="5.0"/>
      </c:valAx>
      <c:spPr>
        <a:noFill/>
        <a:ln>
          <a:noFill/>
        </a:ln>
      </c:spPr>
    </c:plotArea>
    <c:dispBlanksAs val="gap"/>
  </c:chart>
  <c:spPr>
    <a:noFill/>
    <a:ln>
      <a:noFill/>
    </a:ln>
  </c:spPr>
  <c:txPr>
    <a:bodyPr/>
    <a:lstStyle/>
    <a:p>
      <a:pPr>
        <a:defRPr sz="1200">
          <a:solidFill>
            <a:srgbClr val="8FB6D0"/>
          </a:solidFill>
          <a:latin typeface="Segoe U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3 per maand</c:v>
                </c:pt>
              </c:strCache>
            </c:strRef>
          </c:tx>
          <c:spPr>
            <a:ln w="38100">
              <a:solidFill>
                <a:srgbClr val="2E9ECF"/>
              </a:solidFill>
            </a:ln>
          </c:spPr>
          <c:marker>
            <c:symbol val="none"/>
          </c:marker>
          <c:cat>
            <c:strRef>
              <c:f>Sheet1!$A$2:$A$25</c:f>
              <c:strCache>
                <c:ptCount val="24"/>
                <c:pt idx="0">
                  <c:v>1</c:v>
                </c:pt>
                <c:pt idx="1">
                  <c:v/>
                </c:pt>
                <c:pt idx="2">
                  <c:v/>
                </c:pt>
                <c:pt idx="3">
                  <c:v/>
                </c:pt>
                <c:pt idx="4">
                  <c:v/>
                </c:pt>
                <c:pt idx="5">
                  <c:v>6</c:v>
                </c:pt>
                <c:pt idx="6">
                  <c:v/>
                </c:pt>
                <c:pt idx="7">
                  <c:v/>
                </c:pt>
                <c:pt idx="8">
                  <c:v/>
                </c:pt>
                <c:pt idx="9">
                  <c:v/>
                </c:pt>
                <c:pt idx="10">
                  <c:v/>
                </c:pt>
                <c:pt idx="11">
                  <c:v>12</c:v>
                </c:pt>
                <c:pt idx="12">
                  <c:v/>
                </c:pt>
                <c:pt idx="13">
                  <c:v/>
                </c:pt>
                <c:pt idx="14">
                  <c:v/>
                </c:pt>
                <c:pt idx="15">
                  <c:v/>
                </c:pt>
                <c:pt idx="16">
                  <c:v/>
                </c:pt>
                <c:pt idx="17">
                  <c:v>18</c:v>
                </c:pt>
                <c:pt idx="18">
                  <c:v/>
                </c:pt>
                <c:pt idx="19">
                  <c:v/>
                </c:pt>
                <c:pt idx="20">
                  <c:v/>
                </c:pt>
                <c:pt idx="21">
                  <c:v/>
                </c:pt>
                <c:pt idx="22">
                  <c:v/>
                </c:pt>
                <c:pt idx="23">
                  <c:v>24</c:v>
                </c:pt>
              </c:strCache>
            </c:strRef>
          </c:cat>
          <c:val>
            <c:numRef>
              <c:f>Sheet1!$B$2:$B$25</c:f>
              <c:numCache>
                <c:formatCode>General</c:formatCode>
                <c:ptCount val="24"/>
                <c:pt idx="0">
                  <c:v>7.76825</c:v>
                </c:pt>
                <c:pt idx="1">
                  <c:v>12.9435</c:v>
                </c:pt>
                <c:pt idx="2">
                  <c:v>11.90325</c:v>
                </c:pt>
                <c:pt idx="3">
                  <c:v>13.973125</c:v>
                </c:pt>
                <c:pt idx="4">
                  <c:v>13.7073125</c:v>
                </c:pt>
                <c:pt idx="5">
                  <c:v>13.2688125</c:v>
                </c:pt>
                <c:pt idx="6">
                  <c:v>16.7814375</c:v>
                </c:pt>
                <c:pt idx="7">
                  <c:v>13.5096875</c:v>
                </c:pt>
                <c:pt idx="8">
                  <c:v>10.4679375</c:v>
                </c:pt>
                <c:pt idx="9">
                  <c:v>10.7415625</c:v>
                </c:pt>
                <c:pt idx="10">
                  <c:v>8.4588125</c:v>
                </c:pt>
                <c:pt idx="11">
                  <c:v>7.0721875</c:v>
                </c:pt>
                <c:pt idx="12">
                  <c:v>8.68375</c:v>
                </c:pt>
                <c:pt idx="13">
                  <c:v>8.011125</c:v>
                </c:pt>
                <c:pt idx="14">
                  <c:v>6.1944375</c:v>
                </c:pt>
                <c:pt idx="15">
                  <c:v>8.0819375</c:v>
                </c:pt>
                <c:pt idx="16">
                  <c:v>6.550625</c:v>
                </c:pt>
                <c:pt idx="17">
                  <c:v>5.6526875</c:v>
                </c:pt>
                <c:pt idx="18">
                  <c:v>8.90475</c:v>
                </c:pt>
                <c:pt idx="19">
                  <c:v>7.0113125</c:v>
                </c:pt>
                <c:pt idx="20">
                  <c:v>6.7703125</c:v>
                </c:pt>
                <c:pt idx="21">
                  <c:v>5.429125</c:v>
                </c:pt>
                <c:pt idx="22">
                  <c:v>4.501375</c:v>
                </c:pt>
                <c:pt idx="23">
                  <c:v>4.315375</c:v>
                </c:pt>
              </c:numCache>
            </c:numRef>
          </c:val>
          <c:smooth val="0"/>
        </c:ser>
        <c:ser>
          <c:idx val="1"/>
          <c:order val="1"/>
          <c:tx>
            <c:strRef>
              <c:f>Sheet1!$C$1</c:f>
              <c:strCache>
                <c:ptCount val="1"/>
                <c:pt idx="0">
                  <c:v>4 per maand</c:v>
                </c:pt>
              </c:strCache>
            </c:strRef>
          </c:tx>
          <c:spPr>
            <a:ln w="38100">
              <a:solidFill>
                <a:srgbClr val="DD6A00"/>
              </a:solidFill>
            </a:ln>
          </c:spPr>
          <c:marker>
            <c:symbol val="none"/>
          </c:marker>
          <c:cat>
            <c:strRef>
              <c:f>Sheet1!$A$2:$A$25</c:f>
              <c:strCache>
                <c:ptCount val="24"/>
                <c:pt idx="0">
                  <c:v>1</c:v>
                </c:pt>
                <c:pt idx="1">
                  <c:v/>
                </c:pt>
                <c:pt idx="2">
                  <c:v/>
                </c:pt>
                <c:pt idx="3">
                  <c:v/>
                </c:pt>
                <c:pt idx="4">
                  <c:v/>
                </c:pt>
                <c:pt idx="5">
                  <c:v>6</c:v>
                </c:pt>
                <c:pt idx="6">
                  <c:v/>
                </c:pt>
                <c:pt idx="7">
                  <c:v/>
                </c:pt>
                <c:pt idx="8">
                  <c:v/>
                </c:pt>
                <c:pt idx="9">
                  <c:v/>
                </c:pt>
                <c:pt idx="10">
                  <c:v/>
                </c:pt>
                <c:pt idx="11">
                  <c:v>12</c:v>
                </c:pt>
                <c:pt idx="12">
                  <c:v/>
                </c:pt>
                <c:pt idx="13">
                  <c:v/>
                </c:pt>
                <c:pt idx="14">
                  <c:v/>
                </c:pt>
                <c:pt idx="15">
                  <c:v/>
                </c:pt>
                <c:pt idx="16">
                  <c:v/>
                </c:pt>
                <c:pt idx="17">
                  <c:v>18</c:v>
                </c:pt>
                <c:pt idx="18">
                  <c:v/>
                </c:pt>
                <c:pt idx="19">
                  <c:v/>
                </c:pt>
                <c:pt idx="20">
                  <c:v/>
                </c:pt>
                <c:pt idx="21">
                  <c:v/>
                </c:pt>
                <c:pt idx="22">
                  <c:v/>
                </c:pt>
                <c:pt idx="23">
                  <c:v>24</c:v>
                </c:pt>
              </c:strCache>
            </c:strRef>
          </c:cat>
          <c:val>
            <c:numRef>
              <c:f>Sheet1!$C$2:$C$25</c:f>
              <c:numCache>
                <c:formatCode>General</c:formatCode>
                <c:ptCount val="24"/>
                <c:pt idx="0">
                  <c:v>10.113625</c:v>
                </c:pt>
                <c:pt idx="1">
                  <c:v>17.362625</c:v>
                </c:pt>
                <c:pt idx="2">
                  <c:v>15.761</c:v>
                </c:pt>
                <c:pt idx="3">
                  <c:v>18.753625</c:v>
                </c:pt>
                <c:pt idx="4">
                  <c:v>17.4035625</c:v>
                </c:pt>
                <c:pt idx="5">
                  <c:v>13.6809375</c:v>
                </c:pt>
                <c:pt idx="6">
                  <c:v>14.8596875</c:v>
                </c:pt>
                <c:pt idx="7">
                  <c:v>10.191875</c:v>
                </c:pt>
                <c:pt idx="8">
                  <c:v>7.5095</c:v>
                </c:pt>
                <c:pt idx="9">
                  <c:v>9.38675</c:v>
                </c:pt>
                <c:pt idx="10">
                  <c:v>7.9385</c:v>
                </c:pt>
                <c:pt idx="11">
                  <c:v>6.1205</c:v>
                </c:pt>
                <c:pt idx="12">
                  <c:v>8.3778125</c:v>
                </c:pt>
                <c:pt idx="13">
                  <c:v>7.5384375</c:v>
                </c:pt>
                <c:pt idx="14">
                  <c:v>5.7294375</c:v>
                </c:pt>
                <c:pt idx="15">
                  <c:v>8.349</c:v>
                </c:pt>
                <c:pt idx="16">
                  <c:v>6.7919375</c:v>
                </c:pt>
                <c:pt idx="17">
                  <c:v>5.1956875</c:v>
                </c:pt>
                <c:pt idx="18">
                  <c:v>8.9308125</c:v>
                </c:pt>
                <c:pt idx="19">
                  <c:v>6.9726875</c:v>
                </c:pt>
                <c:pt idx="20">
                  <c:v>6.5156875</c:v>
                </c:pt>
                <c:pt idx="21">
                  <c:v>5.24525</c:v>
                </c:pt>
                <c:pt idx="22">
                  <c:v>4.1753125</c:v>
                </c:pt>
                <c:pt idx="23">
                  <c:v>3.120875</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spPr>
          <a:ln w="9525">
            <a:solidFill>
              <a:srgbClr val="215B84"/>
            </a:solidFill>
          </a:ln>
        </c:spPr>
        <c:crossAx val="2140495176"/>
        <c:crosses val="autoZero"/>
        <c:auto val="1"/>
        <c:lblAlgn val="ctr"/>
        <c:lblOffset val="100"/>
        <c:noMultiLvlLbl val="0"/>
      </c:catAx>
      <c:valAx>
        <c:axId val="2140495176"/>
        <c:scaling>
          <c:max val="20.0"/>
          <c:min val="0.0"/>
        </c:scaling>
        <c:delete val="0"/>
        <c:axPos val="l"/>
        <c:majorGridlines>
          <c:spPr>
            <a:ln w="9525">
              <a:solidFill>
                <a:srgbClr val="17486B"/>
              </a:solidFill>
            </a:ln>
          </c:spPr>
        </c:majorGridlines>
        <c:majorTickMark val="none"/>
        <c:minorTickMark val="none"/>
        <c:tickLblPos val="nextTo"/>
        <c:spPr>
          <a:ln>
            <a:noFill/>
          </a:ln>
        </c:spPr>
        <c:crossAx val="2118791784"/>
        <c:crosses val="autoZero"/>
        <c:majorUnit val="5.0"/>
      </c:valAx>
      <c:spPr>
        <a:noFill/>
        <a:ln>
          <a:noFill/>
        </a:ln>
      </c:spPr>
    </c:plotArea>
    <c:plotVisOnly val="1"/>
    <c:dispBlanksAs val="gap"/>
    <c:showDLblsOverMax val="0"/>
  </c:chart>
  <c:spPr>
    <a:noFill/>
    <a:ln>
      <a:noFill/>
    </a:ln>
  </c:spPr>
  <c:txPr>
    <a:bodyPr/>
    <a:lstStyle/>
    <a:p>
      <a:pPr>
        <a:defRPr sz="1200">
          <a:solidFill>
            <a:srgbClr val="8FB6D0"/>
          </a:solidFill>
          <a:latin typeface="Segoe U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2 per maand</c:v>
                </c:pt>
              </c:strCache>
            </c:strRef>
          </c:tx>
          <c:spPr>
            <a:ln w="38100">
              <a:solidFill>
                <a:srgbClr val="1D6FA0"/>
              </a:solidFill>
            </a:ln>
          </c:spPr>
          <c:marker>
            <c:symbol val="none"/>
          </c:marker>
          <c:cat>
            <c:strRef>
              <c:f>Sheet1!$A$2:$A$32</c:f>
              <c:strCache>
                <c:ptCount val="31"/>
                <c:pt idx="0">
                  <c:v>1</c:v>
                </c:pt>
                <c:pt idx="1">
                  <c:v/>
                </c:pt>
                <c:pt idx="2">
                  <c:v/>
                </c:pt>
                <c:pt idx="3">
                  <c:v/>
                </c:pt>
                <c:pt idx="4">
                  <c:v/>
                </c:pt>
                <c:pt idx="5">
                  <c:v>6</c:v>
                </c:pt>
                <c:pt idx="6">
                  <c:v/>
                </c:pt>
                <c:pt idx="7">
                  <c:v/>
                </c:pt>
                <c:pt idx="8">
                  <c:v/>
                </c:pt>
                <c:pt idx="9">
                  <c:v/>
                </c:pt>
                <c:pt idx="10">
                  <c:v/>
                </c:pt>
                <c:pt idx="11">
                  <c:v>12</c:v>
                </c:pt>
                <c:pt idx="12">
                  <c:v/>
                </c:pt>
                <c:pt idx="13">
                  <c:v/>
                </c:pt>
                <c:pt idx="14">
                  <c:v/>
                </c:pt>
                <c:pt idx="15">
                  <c:v/>
                </c:pt>
                <c:pt idx="16">
                  <c:v/>
                </c:pt>
                <c:pt idx="17">
                  <c:v>18</c:v>
                </c:pt>
                <c:pt idx="18">
                  <c:v/>
                </c:pt>
                <c:pt idx="19">
                  <c:v/>
                </c:pt>
                <c:pt idx="20">
                  <c:v/>
                </c:pt>
                <c:pt idx="21">
                  <c:v/>
                </c:pt>
                <c:pt idx="22">
                  <c:v/>
                </c:pt>
                <c:pt idx="23">
                  <c:v>24</c:v>
                </c:pt>
                <c:pt idx="24">
                  <c:v/>
                </c:pt>
                <c:pt idx="25">
                  <c:v/>
                </c:pt>
                <c:pt idx="26">
                  <c:v/>
                </c:pt>
                <c:pt idx="27">
                  <c:v/>
                </c:pt>
                <c:pt idx="28">
                  <c:v/>
                </c:pt>
                <c:pt idx="29">
                  <c:v>30</c:v>
                </c:pt>
                <c:pt idx="30">
                  <c:v/>
                </c:pt>
              </c:strCache>
            </c:strRef>
          </c:cat>
          <c:val>
            <c:numRef>
              <c:f>Sheet1!$B$2:$B$32</c:f>
              <c:numCache>
                <c:formatCode>General</c:formatCode>
                <c:ptCount val="31"/>
                <c:pt idx="0">
                  <c:v>4.8665</c:v>
                </c:pt>
                <c:pt idx="1">
                  <c:v>13.35975</c:v>
                </c:pt>
                <c:pt idx="2">
                  <c:v>21.277625</c:v>
                </c:pt>
                <c:pt idx="3">
                  <c:v>30.599875</c:v>
                </c:pt>
                <c:pt idx="4">
                  <c:v>39.75775</c:v>
                </c:pt>
                <c:pt idx="5">
                  <c:v>48.775000000000006</c:v>
                </c:pt>
                <c:pt idx="6">
                  <c:v>61.304125000000006</c:v>
                </c:pt>
                <c:pt idx="7">
                  <c:v>73.12931250000001</c:v>
                </c:pt>
                <c:pt idx="8">
                  <c:v>84.17912500000001</c:v>
                </c:pt>
                <c:pt idx="9">
                  <c:v>96.97375000000001</c:v>
                </c:pt>
                <c:pt idx="10">
                  <c:v>108.4198125</c:v>
                </c:pt>
                <c:pt idx="11">
                  <c:v>118.609875</c:v>
                </c:pt>
                <c:pt idx="12">
                  <c:v>128.869375</c:v>
                </c:pt>
                <c:pt idx="13">
                  <c:v>138.46337499999998</c:v>
                </c:pt>
                <c:pt idx="14">
                  <c:v>146.11306249999998</c:v>
                </c:pt>
                <c:pt idx="15">
                  <c:v>155.106125</c:v>
                </c:pt>
                <c:pt idx="16">
                  <c:v>162.4418125</c:v>
                </c:pt>
                <c:pt idx="17">
                  <c:v>168.956125</c:v>
                </c:pt>
                <c:pt idx="18">
                  <c:v>177.37212499999998</c:v>
                </c:pt>
                <c:pt idx="19">
                  <c:v>184.46318749999998</c:v>
                </c:pt>
                <c:pt idx="20">
                  <c:v>191.59568749999997</c:v>
                </c:pt>
                <c:pt idx="21">
                  <c:v>197.68974999999998</c:v>
                </c:pt>
                <c:pt idx="22">
                  <c:v>202.98537499999998</c:v>
                </c:pt>
                <c:pt idx="23">
                  <c:v>208.30912499999997</c:v>
                </c:pt>
                <c:pt idx="24">
                  <c:v>212.35293749999997</c:v>
                </c:pt>
                <c:pt idx="25">
                  <c:v>216.08612499999998</c:v>
                </c:pt>
                <c:pt idx="26">
                  <c:v>219.18824999999998</c:v>
                </c:pt>
                <c:pt idx="27">
                  <c:v>222.02012499999998</c:v>
                </c:pt>
                <c:pt idx="28">
                  <c:v>223.974125</c:v>
                </c:pt>
                <c:pt idx="29">
                  <c:v>225.60087499999997</c:v>
                </c:pt>
                <c:pt idx="30">
                  <c:v>226.59437499999999</c:v>
                </c:pt>
              </c:numCache>
            </c:numRef>
          </c:val>
          <c:smooth val="0"/>
        </c:ser>
        <c:ser>
          <c:idx val="1"/>
          <c:order val="1"/>
          <c:tx>
            <c:strRef>
              <c:f>Sheet1!$C$1</c:f>
              <c:strCache>
                <c:ptCount val="1"/>
                <c:pt idx="0">
                  <c:v>3 per maand</c:v>
                </c:pt>
              </c:strCache>
            </c:strRef>
          </c:tx>
          <c:spPr>
            <a:ln w="38100">
              <a:solidFill>
                <a:srgbClr val="2E9FCC"/>
              </a:solidFill>
            </a:ln>
          </c:spPr>
          <c:marker>
            <c:symbol val="none"/>
          </c:marker>
          <c:cat>
            <c:strRef>
              <c:f>Sheet1!$A$2:$A$32</c:f>
              <c:strCache>
                <c:ptCount val="31"/>
                <c:pt idx="0">
                  <c:v>1</c:v>
                </c:pt>
                <c:pt idx="1">
                  <c:v/>
                </c:pt>
                <c:pt idx="2">
                  <c:v/>
                </c:pt>
                <c:pt idx="3">
                  <c:v/>
                </c:pt>
                <c:pt idx="4">
                  <c:v/>
                </c:pt>
                <c:pt idx="5">
                  <c:v>6</c:v>
                </c:pt>
                <c:pt idx="6">
                  <c:v/>
                </c:pt>
                <c:pt idx="7">
                  <c:v/>
                </c:pt>
                <c:pt idx="8">
                  <c:v/>
                </c:pt>
                <c:pt idx="9">
                  <c:v/>
                </c:pt>
                <c:pt idx="10">
                  <c:v/>
                </c:pt>
                <c:pt idx="11">
                  <c:v>12</c:v>
                </c:pt>
                <c:pt idx="12">
                  <c:v/>
                </c:pt>
                <c:pt idx="13">
                  <c:v/>
                </c:pt>
                <c:pt idx="14">
                  <c:v/>
                </c:pt>
                <c:pt idx="15">
                  <c:v/>
                </c:pt>
                <c:pt idx="16">
                  <c:v/>
                </c:pt>
                <c:pt idx="17">
                  <c:v>18</c:v>
                </c:pt>
                <c:pt idx="18">
                  <c:v/>
                </c:pt>
                <c:pt idx="19">
                  <c:v/>
                </c:pt>
                <c:pt idx="20">
                  <c:v/>
                </c:pt>
                <c:pt idx="21">
                  <c:v/>
                </c:pt>
                <c:pt idx="22">
                  <c:v/>
                </c:pt>
                <c:pt idx="23">
                  <c:v>24</c:v>
                </c:pt>
                <c:pt idx="24">
                  <c:v/>
                </c:pt>
                <c:pt idx="25">
                  <c:v/>
                </c:pt>
                <c:pt idx="26">
                  <c:v/>
                </c:pt>
                <c:pt idx="27">
                  <c:v/>
                </c:pt>
                <c:pt idx="28">
                  <c:v/>
                </c:pt>
                <c:pt idx="29">
                  <c:v>30</c:v>
                </c:pt>
                <c:pt idx="30">
                  <c:v/>
                </c:pt>
              </c:strCache>
            </c:strRef>
          </c:cat>
          <c:val>
            <c:numRef>
              <c:f>Sheet1!$C$2:$C$32</c:f>
              <c:numCache>
                <c:formatCode>General</c:formatCode>
                <c:ptCount val="31"/>
                <c:pt idx="0">
                  <c:v>7.76825</c:v>
                </c:pt>
                <c:pt idx="1">
                  <c:v>20.711750000000002</c:v>
                </c:pt>
                <c:pt idx="2">
                  <c:v>32.615</c:v>
                </c:pt>
                <c:pt idx="3">
                  <c:v>46.588125000000005</c:v>
                </c:pt>
                <c:pt idx="4">
                  <c:v>60.295437500000006</c:v>
                </c:pt>
                <c:pt idx="5">
                  <c:v>73.56425</c:v>
                </c:pt>
                <c:pt idx="6">
                  <c:v>90.3456875</c:v>
                </c:pt>
                <c:pt idx="7">
                  <c:v>103.855375</c:v>
                </c:pt>
                <c:pt idx="8">
                  <c:v>114.3233125</c:v>
                </c:pt>
                <c:pt idx="9">
                  <c:v>125.064875</c:v>
                </c:pt>
                <c:pt idx="10">
                  <c:v>133.5236875</c:v>
                </c:pt>
                <c:pt idx="11">
                  <c:v>140.595875</c:v>
                </c:pt>
                <c:pt idx="12">
                  <c:v>149.279625</c:v>
                </c:pt>
                <c:pt idx="13">
                  <c:v>157.29075</c:v>
                </c:pt>
                <c:pt idx="14">
                  <c:v>163.4851875</c:v>
                </c:pt>
                <c:pt idx="15">
                  <c:v>171.567125</c:v>
                </c:pt>
                <c:pt idx="16">
                  <c:v>178.11775</c:v>
                </c:pt>
                <c:pt idx="17">
                  <c:v>183.7704375</c:v>
                </c:pt>
                <c:pt idx="18">
                  <c:v>192.67518750000002</c:v>
                </c:pt>
                <c:pt idx="19">
                  <c:v>199.68650000000002</c:v>
                </c:pt>
                <c:pt idx="20">
                  <c:v>206.4568125</c:v>
                </c:pt>
                <c:pt idx="21">
                  <c:v>211.8859375</c:v>
                </c:pt>
                <c:pt idx="22">
                  <c:v>216.3873125</c:v>
                </c:pt>
                <c:pt idx="23">
                  <c:v>220.7026875</c:v>
                </c:pt>
                <c:pt idx="24">
                  <c:v>223.51125</c:v>
                </c:pt>
                <c:pt idx="25">
                  <c:v>225.63718749999998</c:v>
                </c:pt>
                <c:pt idx="26">
                  <c:v>226.8663125</c:v>
                </c:pt>
                <c:pt idx="27">
                  <c:v>227.5984375</c:v>
                </c:pt>
                <c:pt idx="28">
                  <c:v>227.85199999999998</c:v>
                </c:pt>
                <c:pt idx="29">
                  <c:v>227.95556249999998</c:v>
                </c:pt>
                <c:pt idx="30">
                  <c:v>227.9915625</c:v>
                </c:pt>
              </c:numCache>
            </c:numRef>
          </c:val>
          <c:smooth val="0"/>
        </c:ser>
        <c:ser>
          <c:idx val="2"/>
          <c:order val="2"/>
          <c:tx>
            <c:strRef>
              <c:f>Sheet1!$D$1</c:f>
              <c:strCache>
                <c:ptCount val="1"/>
                <c:pt idx="0">
                  <c:v>4 per maand</c:v>
                </c:pt>
              </c:strCache>
            </c:strRef>
          </c:tx>
          <c:spPr>
            <a:ln w="38100">
              <a:solidFill>
                <a:srgbClr val="52BDEC"/>
              </a:solidFill>
            </a:ln>
          </c:spPr>
          <c:marker>
            <c:symbol val="none"/>
          </c:marker>
          <c:cat>
            <c:strRef>
              <c:f>Sheet1!$A$2:$A$32</c:f>
              <c:strCache>
                <c:ptCount val="31"/>
                <c:pt idx="0">
                  <c:v>1</c:v>
                </c:pt>
                <c:pt idx="1">
                  <c:v/>
                </c:pt>
                <c:pt idx="2">
                  <c:v/>
                </c:pt>
                <c:pt idx="3">
                  <c:v/>
                </c:pt>
                <c:pt idx="4">
                  <c:v/>
                </c:pt>
                <c:pt idx="5">
                  <c:v>6</c:v>
                </c:pt>
                <c:pt idx="6">
                  <c:v/>
                </c:pt>
                <c:pt idx="7">
                  <c:v/>
                </c:pt>
                <c:pt idx="8">
                  <c:v/>
                </c:pt>
                <c:pt idx="9">
                  <c:v/>
                </c:pt>
                <c:pt idx="10">
                  <c:v/>
                </c:pt>
                <c:pt idx="11">
                  <c:v>12</c:v>
                </c:pt>
                <c:pt idx="12">
                  <c:v/>
                </c:pt>
                <c:pt idx="13">
                  <c:v/>
                </c:pt>
                <c:pt idx="14">
                  <c:v/>
                </c:pt>
                <c:pt idx="15">
                  <c:v/>
                </c:pt>
                <c:pt idx="16">
                  <c:v/>
                </c:pt>
                <c:pt idx="17">
                  <c:v>18</c:v>
                </c:pt>
                <c:pt idx="18">
                  <c:v/>
                </c:pt>
                <c:pt idx="19">
                  <c:v/>
                </c:pt>
                <c:pt idx="20">
                  <c:v/>
                </c:pt>
                <c:pt idx="21">
                  <c:v/>
                </c:pt>
                <c:pt idx="22">
                  <c:v/>
                </c:pt>
                <c:pt idx="23">
                  <c:v>24</c:v>
                </c:pt>
                <c:pt idx="24">
                  <c:v/>
                </c:pt>
                <c:pt idx="25">
                  <c:v/>
                </c:pt>
                <c:pt idx="26">
                  <c:v/>
                </c:pt>
                <c:pt idx="27">
                  <c:v/>
                </c:pt>
                <c:pt idx="28">
                  <c:v/>
                </c:pt>
                <c:pt idx="29">
                  <c:v>30</c:v>
                </c:pt>
                <c:pt idx="30">
                  <c:v/>
                </c:pt>
              </c:strCache>
            </c:strRef>
          </c:cat>
          <c:val>
            <c:numRef>
              <c:f>Sheet1!$D$2:$D$32</c:f>
              <c:numCache>
                <c:formatCode>General</c:formatCode>
                <c:ptCount val="31"/>
                <c:pt idx="0">
                  <c:v>10.113625</c:v>
                </c:pt>
                <c:pt idx="1">
                  <c:v>27.47625</c:v>
                </c:pt>
                <c:pt idx="2">
                  <c:v>43.23725</c:v>
                </c:pt>
                <c:pt idx="3">
                  <c:v>61.990875</c:v>
                </c:pt>
                <c:pt idx="4">
                  <c:v>79.39443750000001</c:v>
                </c:pt>
                <c:pt idx="5">
                  <c:v>93.07537500000001</c:v>
                </c:pt>
                <c:pt idx="6">
                  <c:v>107.93506250000002</c:v>
                </c:pt>
                <c:pt idx="7">
                  <c:v>118.12693750000001</c:v>
                </c:pt>
                <c:pt idx="8">
                  <c:v>125.63643750000001</c:v>
                </c:pt>
                <c:pt idx="9">
                  <c:v>135.0231875</c:v>
                </c:pt>
                <c:pt idx="10">
                  <c:v>142.9616875</c:v>
                </c:pt>
                <c:pt idx="11">
                  <c:v>149.0821875</c:v>
                </c:pt>
                <c:pt idx="12">
                  <c:v>157.46</c:v>
                </c:pt>
                <c:pt idx="13">
                  <c:v>164.9984375</c:v>
                </c:pt>
                <c:pt idx="14">
                  <c:v>170.72787499999998</c:v>
                </c:pt>
                <c:pt idx="15">
                  <c:v>179.07687499999997</c:v>
                </c:pt>
                <c:pt idx="16">
                  <c:v>185.86881249999996</c:v>
                </c:pt>
                <c:pt idx="17">
                  <c:v>191.06449999999995</c:v>
                </c:pt>
                <c:pt idx="18">
                  <c:v>199.99531249999995</c:v>
                </c:pt>
                <c:pt idx="19">
                  <c:v>206.96799999999996</c:v>
                </c:pt>
                <c:pt idx="20">
                  <c:v>213.48368749999997</c:v>
                </c:pt>
                <c:pt idx="21">
                  <c:v>218.72893749999997</c:v>
                </c:pt>
                <c:pt idx="22">
                  <c:v>222.90424999999996</c:v>
                </c:pt>
                <c:pt idx="23">
                  <c:v>226.02512499999997</c:v>
                </c:pt>
                <c:pt idx="24">
                  <c:v>227.31399999999996</c:v>
                </c:pt>
                <c:pt idx="25">
                  <c:v>227.81631249999995</c:v>
                </c:pt>
                <c:pt idx="26">
                  <c:v>227.96343749999994</c:v>
                </c:pt>
                <c:pt idx="27">
                  <c:v>227.99493749999993</c:v>
                </c:pt>
                <c:pt idx="28">
                  <c:v>227.99943749999994</c:v>
                </c:pt>
                <c:pt idx="29">
                  <c:v>227.99999999999994</c:v>
                </c:pt>
                <c:pt idx="30">
                  <c:v>227.99999999999994</c:v>
                </c:pt>
              </c:numCache>
            </c:numRef>
          </c:val>
          <c:smooth val="0"/>
        </c:ser>
        <c:ser>
          <c:idx val="3"/>
          <c:order val="3"/>
          <c:tx>
            <c:strRef>
              <c:f>Sheet1!$E$1</c:f>
              <c:strCache>
                <c:ptCount val="1"/>
                <c:pt idx="0">
                  <c:v>5 per maand</c:v>
                </c:pt>
              </c:strCache>
            </c:strRef>
          </c:tx>
          <c:spPr>
            <a:ln w="38100">
              <a:solidFill>
                <a:srgbClr val="A6DCF5"/>
              </a:solidFill>
            </a:ln>
          </c:spPr>
          <c:marker>
            <c:symbol val="none"/>
          </c:marker>
          <c:cat>
            <c:strRef>
              <c:f>Sheet1!$A$2:$A$32</c:f>
              <c:strCache>
                <c:ptCount val="31"/>
                <c:pt idx="0">
                  <c:v>1</c:v>
                </c:pt>
                <c:pt idx="1">
                  <c:v/>
                </c:pt>
                <c:pt idx="2">
                  <c:v/>
                </c:pt>
                <c:pt idx="3">
                  <c:v/>
                </c:pt>
                <c:pt idx="4">
                  <c:v/>
                </c:pt>
                <c:pt idx="5">
                  <c:v>6</c:v>
                </c:pt>
                <c:pt idx="6">
                  <c:v/>
                </c:pt>
                <c:pt idx="7">
                  <c:v/>
                </c:pt>
                <c:pt idx="8">
                  <c:v/>
                </c:pt>
                <c:pt idx="9">
                  <c:v/>
                </c:pt>
                <c:pt idx="10">
                  <c:v/>
                </c:pt>
                <c:pt idx="11">
                  <c:v>12</c:v>
                </c:pt>
                <c:pt idx="12">
                  <c:v/>
                </c:pt>
                <c:pt idx="13">
                  <c:v/>
                </c:pt>
                <c:pt idx="14">
                  <c:v/>
                </c:pt>
                <c:pt idx="15">
                  <c:v/>
                </c:pt>
                <c:pt idx="16">
                  <c:v/>
                </c:pt>
                <c:pt idx="17">
                  <c:v>18</c:v>
                </c:pt>
                <c:pt idx="18">
                  <c:v/>
                </c:pt>
                <c:pt idx="19">
                  <c:v/>
                </c:pt>
                <c:pt idx="20">
                  <c:v/>
                </c:pt>
                <c:pt idx="21">
                  <c:v/>
                </c:pt>
                <c:pt idx="22">
                  <c:v/>
                </c:pt>
                <c:pt idx="23">
                  <c:v>24</c:v>
                </c:pt>
                <c:pt idx="24">
                  <c:v/>
                </c:pt>
                <c:pt idx="25">
                  <c:v/>
                </c:pt>
                <c:pt idx="26">
                  <c:v/>
                </c:pt>
                <c:pt idx="27">
                  <c:v/>
                </c:pt>
                <c:pt idx="28">
                  <c:v/>
                </c:pt>
                <c:pt idx="29">
                  <c:v>30</c:v>
                </c:pt>
                <c:pt idx="30">
                  <c:v/>
                </c:pt>
              </c:strCache>
            </c:strRef>
          </c:cat>
          <c:val>
            <c:numRef>
              <c:f>Sheet1!$E$2:$E$32</c:f>
              <c:numCache>
                <c:formatCode>General</c:formatCode>
                <c:ptCount val="31"/>
                <c:pt idx="0">
                  <c:v>12.841625</c:v>
                </c:pt>
                <c:pt idx="1">
                  <c:v>34.232375000000005</c:v>
                </c:pt>
                <c:pt idx="2">
                  <c:v>53.74575</c:v>
                </c:pt>
                <c:pt idx="3">
                  <c:v>76.127625</c:v>
                </c:pt>
                <c:pt idx="4">
                  <c:v>92.98531249999999</c:v>
                </c:pt>
                <c:pt idx="5">
                  <c:v>102.5824375</c:v>
                </c:pt>
                <c:pt idx="6">
                  <c:v>114.615625</c:v>
                </c:pt>
                <c:pt idx="7">
                  <c:v>123.5429375</c:v>
                </c:pt>
                <c:pt idx="8">
                  <c:v>130.7938125</c:v>
                </c:pt>
                <c:pt idx="9">
                  <c:v>140.846</c:v>
                </c:pt>
                <c:pt idx="10">
                  <c:v>148.231875</c:v>
                </c:pt>
                <c:pt idx="11">
                  <c:v>152.96775</c:v>
                </c:pt>
                <c:pt idx="12">
                  <c:v>161.51825</c:v>
                </c:pt>
                <c:pt idx="13">
                  <c:v>169.164875</c:v>
                </c:pt>
                <c:pt idx="14">
                  <c:v>174.96425</c:v>
                </c:pt>
                <c:pt idx="15">
                  <c:v>183.98399999999998</c:v>
                </c:pt>
                <c:pt idx="16">
                  <c:v>190.42093749999998</c:v>
                </c:pt>
                <c:pt idx="17">
                  <c:v>194.6801875</c:v>
                </c:pt>
                <c:pt idx="18">
                  <c:v>203.99837499999998</c:v>
                </c:pt>
                <c:pt idx="19">
                  <c:v>211.12306249999997</c:v>
                </c:pt>
                <c:pt idx="20">
                  <c:v>217.734875</c:v>
                </c:pt>
                <c:pt idx="21">
                  <c:v>223.017</c:v>
                </c:pt>
                <c:pt idx="22">
                  <c:v>226.2546875</c:v>
                </c:pt>
                <c:pt idx="23">
                  <c:v>227.6585625</c:v>
                </c:pt>
                <c:pt idx="24">
                  <c:v>227.94825</c:v>
                </c:pt>
                <c:pt idx="25">
                  <c:v>227.99212500000002</c:v>
                </c:pt>
                <c:pt idx="26">
                  <c:v>228.00000000000003</c:v>
                </c:pt>
                <c:pt idx="27">
                  <c:v>228.00000000000003</c:v>
                </c:pt>
                <c:pt idx="28">
                  <c:v>228.00000000000003</c:v>
                </c:pt>
                <c:pt idx="29">
                  <c:v>228.00000000000003</c:v>
                </c:pt>
                <c:pt idx="30">
                  <c:v>228.00000000000003</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spPr>
          <a:ln w="9525">
            <a:solidFill>
              <a:srgbClr val="215B84"/>
            </a:solidFill>
          </a:ln>
        </c:spPr>
        <c:crossAx val="2140495176"/>
        <c:crosses val="autoZero"/>
        <c:auto val="1"/>
        <c:lblAlgn val="ctr"/>
        <c:lblOffset val="100"/>
        <c:noMultiLvlLbl val="0"/>
      </c:catAx>
      <c:valAx>
        <c:axId val="2140495176"/>
        <c:scaling>
          <c:max val="250.0"/>
          <c:min val="0.0"/>
        </c:scaling>
        <c:delete val="0"/>
        <c:axPos val="l"/>
        <c:majorGridlines>
          <c:spPr>
            <a:ln w="9525">
              <a:solidFill>
                <a:srgbClr val="17486B"/>
              </a:solidFill>
            </a:ln>
          </c:spPr>
        </c:majorGridlines>
        <c:majorTickMark val="none"/>
        <c:minorTickMark val="none"/>
        <c:tickLblPos val="nextTo"/>
        <c:spPr>
          <a:ln>
            <a:noFill/>
          </a:ln>
        </c:spPr>
        <c:crossAx val="2118791784"/>
        <c:crosses val="autoZero"/>
        <c:majorUnit val="50.0"/>
      </c:valAx>
      <c:spPr>
        <a:noFill/>
        <a:ln>
          <a:noFill/>
        </a:ln>
      </c:spPr>
    </c:plotArea>
    <c:plotVisOnly val="1"/>
    <c:dispBlanksAs val="gap"/>
    <c:showDLblsOverMax val="0"/>
  </c:chart>
  <c:spPr>
    <a:noFill/>
    <a:ln>
      <a:noFill/>
    </a:ln>
  </c:spPr>
  <c:txPr>
    <a:bodyPr/>
    <a:lstStyle/>
    <a:p>
      <a:pPr>
        <a:defRPr sz="1200">
          <a:solidFill>
            <a:srgbClr val="8FB6D0"/>
          </a:solidFill>
          <a:latin typeface="Segoe U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Terug na de meetweek</c:v>
                </c:pt>
              </c:strCache>
            </c:strRef>
          </c:tx>
          <c:spPr>
            <a:solidFill>
              <a:srgbClr val="2E9ECF"/>
            </a:solidFill>
            <a:ln>
              <a:noFill/>
            </a:ln>
          </c:spPr>
          <c:cat>
            <c:strRef>
              <c:f>Sheet1!$A$2:$A$5</c:f>
              <c:strCache>
                <c:ptCount val="4"/>
                <c:pt idx="0">
                  <c:v>2 per maand</c:v>
                </c:pt>
                <c:pt idx="1">
                  <c:v>3 per maand</c:v>
                </c:pt>
                <c:pt idx="2">
                  <c:v>4 per maand</c:v>
                </c:pt>
                <c:pt idx="3">
                  <c:v>5 per maand</c:v>
                </c:pt>
              </c:strCache>
            </c:strRef>
          </c:cat>
          <c:val>
            <c:numRef>
              <c:f>Sheet1!$B$2:$B$5</c:f>
              <c:numCache>
                <c:formatCode>General</c:formatCode>
                <c:ptCount val="4"/>
                <c:pt idx="0">
                  <c:v>0.036291666666666667</c:v>
                </c:pt>
                <c:pt idx="1">
                  <c:v>0.0606875</c:v>
                </c:pt>
                <c:pt idx="2">
                  <c:v>0.08272916666666667</c:v>
                </c:pt>
                <c:pt idx="3">
                  <c:v>0.12735416666666666</c:v>
                </c:pt>
              </c:numCache>
            </c:numRef>
          </c:val>
        </c:ser>
        <c:ser>
          <c:idx val="1"/>
          <c:order val="1"/>
          <c:tx>
            <c:strRef>
              <c:f>Sheet1!$C$1</c:f>
              <c:strCache>
                <c:ptCount val="1"/>
                <c:pt idx="0">
                  <c:v>Terug op visite 2</c:v>
                </c:pt>
              </c:strCache>
            </c:strRef>
          </c:tx>
          <c:spPr>
            <a:solidFill>
              <a:srgbClr val="DD6A00"/>
            </a:solidFill>
            <a:ln>
              <a:noFill/>
            </a:ln>
          </c:spPr>
          <c:cat>
            <c:strRef>
              <c:f>Sheet1!$A$2:$A$5</c:f>
              <c:strCache>
                <c:ptCount val="4"/>
                <c:pt idx="0">
                  <c:v>2 per maand</c:v>
                </c:pt>
                <c:pt idx="1">
                  <c:v>3 per maand</c:v>
                </c:pt>
                <c:pt idx="2">
                  <c:v>4 per maand</c:v>
                </c:pt>
                <c:pt idx="3">
                  <c:v>5 per maand</c:v>
                </c:pt>
              </c:strCache>
            </c:strRef>
          </c:cat>
          <c:val>
            <c:numRef>
              <c:f>Sheet1!$C$2:$C$5</c:f>
              <c:numCache>
                <c:formatCode>General</c:formatCode>
                <c:ptCount val="4"/>
                <c:pt idx="0">
                  <c:v>0.13108333333333333</c:v>
                </c:pt>
                <c:pt idx="1">
                  <c:v>0.25445833333333334</c:v>
                </c:pt>
                <c:pt idx="2">
                  <c:v>0.3912291666666667</c:v>
                </c:pt>
                <c:pt idx="3">
                  <c:v>0.5549375</c:v>
                </c:pt>
              </c:numCache>
            </c:numRef>
          </c:val>
        </c:ser>
        <c:dLbls>
          <c:numFmt formatCode="0%" sourceLinked="0"/>
          <c:txPr>
            <a:bodyPr/>
            <a:lstStyle/>
            <a:p>
              <a:pPr>
                <a:defRPr sz="1300">
                  <a:solidFill>
                    <a:srgbClr val="F2F8FC"/>
                  </a:solidFill>
                </a:defRPr>
              </a:pPr>
            </a:p>
          </c:txPr>
          <c:dLblPos val="outEnd"/>
          <c:showLegendKey val="0"/>
          <c:showVal val="1"/>
          <c:showCatName val="0"/>
          <c:showSerName val="0"/>
          <c:showPercent val="0"/>
          <c:showBubbleSize val="0"/>
          <c:showLeaderLines val="1"/>
        </c:dLbls>
        <c:gapWidth val="80"/>
        <c:overlap val="-6"/>
        <c:axId val="-2068027336"/>
        <c:axId val="-2113994440"/>
      </c:barChart>
      <c:catAx>
        <c:axId val="-2068027336"/>
        <c:scaling>
          <c:orientation val="minMax"/>
        </c:scaling>
        <c:delete val="0"/>
        <c:axPos val="b"/>
        <c:majorTickMark val="none"/>
        <c:minorTickMark val="none"/>
        <c:tickLblPos val="nextTo"/>
        <c:spPr>
          <a:ln w="9525">
            <a:solidFill>
              <a:srgbClr val="215B84"/>
            </a:solidFill>
          </a:ln>
        </c:spPr>
        <c:crossAx val="-2113994440"/>
        <c:crosses val="autoZero"/>
        <c:auto val="1"/>
        <c:lblAlgn val="ctr"/>
        <c:lblOffset val="100"/>
        <c:noMultiLvlLbl val="0"/>
      </c:catAx>
      <c:valAx>
        <c:axId val="-2113994440"/>
        <c:scaling>
          <c:max val="0.6"/>
          <c:min val="0.0"/>
        </c:scaling>
        <c:delete val="0"/>
        <c:axPos val="l"/>
        <c:majorGridlines>
          <c:spPr>
            <a:ln w="9525">
              <a:solidFill>
                <a:srgbClr val="17486B"/>
              </a:solidFill>
            </a:ln>
          </c:spPr>
        </c:majorGridlines>
        <c:numFmt formatCode="0%" sourceLinked="0"/>
        <c:majorTickMark val="none"/>
        <c:minorTickMark val="none"/>
        <c:tickLblPos val="nextTo"/>
        <c:spPr>
          <a:ln>
            <a:noFill/>
          </a:ln>
        </c:spPr>
        <c:crossAx val="-2068027336"/>
        <c:crosses val="autoZero"/>
        <c:majorUnit val="0.2"/>
      </c:valAx>
      <c:spPr>
        <a:noFill/>
        <a:ln>
          <a:noFill/>
        </a:ln>
      </c:spPr>
    </c:plotArea>
    <c:dispBlanksAs val="gap"/>
  </c:chart>
  <c:spPr>
    <a:noFill/>
    <a:ln>
      <a:noFill/>
    </a:ln>
  </c:spPr>
  <c:txPr>
    <a:bodyPr/>
    <a:lstStyle/>
    <a:p>
      <a:pPr>
        <a:defRPr sz="1200">
          <a:solidFill>
            <a:srgbClr val="8FB6D0"/>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Vier tempo’s doorgerekend: 2, 3, 4 en 5 inclusies per centrum per maand. Per tempo: hoe snel de 24 er zijn, wat de vier MoveMonitors aankunnen, en hoeveel uur het de voetkliniek kost.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Het doel is twee per maand. De vier MoveMonitors zijn per centrum. De visiteduur komt uit de opleidingsplanning; screening en toestemming zijn geschat op 30 tot 60 minuten. Elk tempo is 2.000 keer gesimuleerd met willekeurige instroom.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Twee per maand is het gemiddelde, niet wat elk centrum haalt. Het aantal na twaalf maanden schommelt rond 24, met een spreiding van ongeveer vijf. Het doel ligt dus op het midden: bijna de helft valt eronder. Bij 2,6 per maand schuift de hele verdeling op en blijft nog 8% onder 24.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Het aantal inclusies in twaalf maanden volgt een Poisson-verdeling: gemiddeld twaalf keer het maandtempo, met als spreiding de vierkantswortel daarvan. Voor 90% zekerheid moet 24 ongeveer 1,28 spreidingen onder het gemiddelde liggen; dat geeft een gemiddelde van 31 in twaalf maanden, of 2,6 per maand. Omdat de studie pas rond is als het traagste centrum klaar is, is 3 per maand het tempo dat alle zes samen met 92% zekerheid haalt.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Hoe sneller, hoe hoger en korter de berg. Bij twee per maand is het een jaar lang ongeveer tien uur per maand, bij vijf per maand vijf maanden lang negentien uur. De inclusiemaand zelf kost het meest: vier uur per nieuwe deelnemer.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Drie per maand haalt het doel al: 98% per centrum, 92% voor alle zes samen. Vier per maand wint twee maanden en kost 2,5 uur per maand meer, 13 tegenover 16. De MoveMonitors houden beide aan, zolang het toestel na de meetweek terugkomt.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Per deelnemer blijft het 9,5 uur, dus 228 uur per centrum, welk tempo ook. Sneller includeren schuift die uren naar voren en haalt de laatste visite tot zeven maanden vroeger: december 2028 bij vijf per maand, juli 2029 bij twee.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Niet de meetweek bepaalt hoeveel deelnemers vier toestellen aankunnen, maar hoe lang het toestel daarna nog weg is. Komt het na de week terug, dan wacht bij vier per maand 8% een paar dagen. Komt het pas terug op visite 2, dan is dat 39%.</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Samengevat per tempo. Drie en vier per maand zijn gemarkeerd: beide halen het doel, het verschil zit in de duur van de inclusie en de uren per maand.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Drie beslissingen. Het tempo dat we vragen, of een centrum naar vier mag, en hoe de MoveMonitor terugkomt. De derde is de goedkoopste en heeft het grootste effect.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xml"/><Relationship Id="rId4" Type="http://schemas.openxmlformats.org/officeDocument/2006/relationships/chart" Target="../charts/chart5.xml"/><Relationship Id="rId5" Type="http://schemas.openxmlformats.org/officeDocument/2006/relationships/chart" Target="../charts/chart6.xml"/><Relationship Id="rId6" Type="http://schemas.openxmlformats.org/officeDocument/2006/relationships/chart" Target="../charts/chart7.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erk.png"/>
          <p:cNvPicPr>
            <a:picLocks noChangeAspect="1"/>
          </p:cNvPicPr>
          <p:nvPr/>
        </p:nvPicPr>
        <p:blipFill>
          <a:blip r:embed="rId2"/>
          <a:stretch>
            <a:fillRect/>
          </a:stretch>
        </p:blipFill>
        <p:spPr>
          <a:xfrm>
            <a:off x="634984" y="571485"/>
            <a:ext cx="823226" cy="952476"/>
          </a:xfrm>
          <a:prstGeom prst="rect">
            <a:avLst/>
          </a:prstGeom>
        </p:spPr>
      </p:pic>
      <p:sp>
        <p:nvSpPr>
          <p:cNvPr id="4" name="TextBox 3"/>
          <p:cNvSpPr txBox="1"/>
          <p:nvPr/>
        </p:nvSpPr>
        <p:spPr>
          <a:xfrm>
            <a:off x="634984" y="3428914"/>
            <a:ext cx="9524761" cy="215894"/>
          </a:xfrm>
          <a:prstGeom prst="rect">
            <a:avLst/>
          </a:prstGeom>
          <a:noFill/>
        </p:spPr>
        <p:txBody>
          <a:bodyPr wrap="square" anchor="t" lIns="0" rIns="0" tIns="0" bIns="0">
            <a:spAutoFit/>
          </a:bodyPr>
          <a:lstStyle/>
          <a:p>
            <a:pPr algn="l">
              <a:lnSpc>
                <a:spcPct val="120000"/>
              </a:lnSpc>
            </a:pPr>
            <a:r>
              <a:rPr sz="1300" b="1" spc="240">
                <a:solidFill>
                  <a:srgbClr val="52BDEC"/>
                </a:solidFill>
                <a:latin typeface="Consolas"/>
              </a:rPr>
              <a:t>PARADISE  ·  WERKPAKKET 1</a:t>
            </a:r>
          </a:p>
        </p:txBody>
      </p:sp>
      <p:sp>
        <p:nvSpPr>
          <p:cNvPr id="5" name="TextBox 4"/>
          <p:cNvSpPr txBox="1"/>
          <p:nvPr/>
        </p:nvSpPr>
        <p:spPr>
          <a:xfrm>
            <a:off x="634984" y="3746406"/>
            <a:ext cx="10921726" cy="1079473"/>
          </a:xfrm>
          <a:prstGeom prst="rect">
            <a:avLst/>
          </a:prstGeom>
          <a:noFill/>
        </p:spPr>
        <p:txBody>
          <a:bodyPr wrap="square" anchor="t" lIns="0" rIns="0" tIns="0" bIns="0">
            <a:spAutoFit/>
          </a:bodyPr>
          <a:lstStyle/>
          <a:p>
            <a:pPr algn="l">
              <a:lnSpc>
                <a:spcPct val="100000"/>
              </a:lnSpc>
            </a:pPr>
            <a:r>
              <a:rPr sz="7200" b="1">
                <a:solidFill>
                  <a:srgbClr val="F2F8FC"/>
                </a:solidFill>
                <a:latin typeface="Segoe UI"/>
              </a:rPr>
              <a:t>Rekrutering per centrum</a:t>
            </a:r>
          </a:p>
        </p:txBody>
      </p:sp>
      <p:sp>
        <p:nvSpPr>
          <p:cNvPr id="6" name="TextBox 5"/>
          <p:cNvSpPr txBox="1"/>
          <p:nvPr/>
        </p:nvSpPr>
        <p:spPr>
          <a:xfrm>
            <a:off x="634984" y="4927476"/>
            <a:ext cx="10921726" cy="444488"/>
          </a:xfrm>
          <a:prstGeom prst="rect">
            <a:avLst/>
          </a:prstGeom>
          <a:noFill/>
        </p:spPr>
        <p:txBody>
          <a:bodyPr wrap="square" anchor="t" lIns="0" rIns="0" tIns="0" bIns="0">
            <a:spAutoFit/>
          </a:bodyPr>
          <a:lstStyle/>
          <a:p>
            <a:pPr algn="l">
              <a:lnSpc>
                <a:spcPct val="120000"/>
              </a:lnSpc>
            </a:pPr>
            <a:r>
              <a:rPr sz="3000" b="1">
                <a:solidFill>
                  <a:srgbClr val="52BDEC"/>
                </a:solidFill>
                <a:latin typeface="Segoe UI"/>
              </a:rPr>
              <a:t>Tempo, MoveMonitors en belasting</a:t>
            </a:r>
          </a:p>
        </p:txBody>
      </p:sp>
      <p:sp>
        <p:nvSpPr>
          <p:cNvPr id="7" name="Rectangle 6"/>
          <p:cNvSpPr/>
          <p:nvPr/>
        </p:nvSpPr>
        <p:spPr>
          <a:xfrm>
            <a:off x="634984" y="5537061"/>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4984" y="5702157"/>
            <a:ext cx="10921726" cy="190495"/>
          </a:xfrm>
          <a:prstGeom prst="rect">
            <a:avLst/>
          </a:prstGeom>
          <a:noFill/>
        </p:spPr>
        <p:txBody>
          <a:bodyPr wrap="square" anchor="t" lIns="0" rIns="0" tIns="0" bIns="0">
            <a:spAutoFit/>
          </a:bodyPr>
          <a:lstStyle/>
          <a:p>
            <a:pPr algn="l">
              <a:lnSpc>
                <a:spcPct val="120000"/>
              </a:lnSpc>
            </a:pPr>
            <a:r>
              <a:rPr sz="1300" b="0">
                <a:solidFill>
                  <a:srgbClr val="8FB6D0"/>
                </a:solidFill>
                <a:latin typeface="Consolas"/>
              </a:rPr>
              <a:t>Simulatie  ·  2.000 runs per tempo  ·  28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erk.png"/>
          <p:cNvPicPr>
            <a:picLocks noChangeAspect="1"/>
          </p:cNvPicPr>
          <p:nvPr/>
        </p:nvPicPr>
        <p:blipFill>
          <a:blip r:embed="rId2"/>
          <a:stretch>
            <a:fillRect/>
          </a:stretch>
        </p:blipFill>
        <p:spPr>
          <a:xfrm>
            <a:off x="11061423" y="368290"/>
            <a:ext cx="417100" cy="482587"/>
          </a:xfrm>
          <a:prstGeom prst="rect">
            <a:avLst/>
          </a:prstGeom>
        </p:spPr>
      </p:pic>
      <p:sp>
        <p:nvSpPr>
          <p:cNvPr id="4" name="TextBox 3"/>
          <p:cNvSpPr txBox="1"/>
          <p:nvPr/>
        </p:nvSpPr>
        <p:spPr>
          <a:xfrm>
            <a:off x="10540736" y="6387940"/>
            <a:ext cx="1015974" cy="177795"/>
          </a:xfrm>
          <a:prstGeom prst="rect">
            <a:avLst/>
          </a:prstGeom>
          <a:noFill/>
        </p:spPr>
        <p:txBody>
          <a:bodyPr wrap="square" anchor="t" lIns="0" rIns="0" tIns="0" bIns="0">
            <a:spAutoFit/>
          </a:bodyPr>
          <a:lstStyle/>
          <a:p>
            <a:pPr algn="r">
              <a:lnSpc>
                <a:spcPct val="120000"/>
              </a:lnSpc>
            </a:pPr>
            <a:r>
              <a:rPr sz="1050" b="0">
                <a:solidFill>
                  <a:srgbClr val="8FB6D0"/>
                </a:solidFill>
                <a:latin typeface="Consolas"/>
              </a:rPr>
              <a:t>02 / 10</a:t>
            </a:r>
          </a:p>
        </p:txBody>
      </p:sp>
      <p:sp>
        <p:nvSpPr>
          <p:cNvPr id="5" name="TextBox 4"/>
          <p:cNvSpPr txBox="1"/>
          <p:nvPr/>
        </p:nvSpPr>
        <p:spPr>
          <a:xfrm>
            <a:off x="634984" y="571485"/>
            <a:ext cx="9524761" cy="215894"/>
          </a:xfrm>
          <a:prstGeom prst="rect">
            <a:avLst/>
          </a:prstGeom>
          <a:noFill/>
        </p:spPr>
        <p:txBody>
          <a:bodyPr wrap="square" anchor="t" lIns="0" rIns="0" tIns="0" bIns="0">
            <a:spAutoFit/>
          </a:bodyPr>
          <a:lstStyle/>
          <a:p>
            <a:pPr algn="l">
              <a:lnSpc>
                <a:spcPct val="120000"/>
              </a:lnSpc>
            </a:pPr>
            <a:r>
              <a:rPr sz="1250" b="1" spc="240">
                <a:solidFill>
                  <a:srgbClr val="52BDEC"/>
                </a:solidFill>
                <a:latin typeface="Consolas"/>
              </a:rPr>
              <a:t>WAT WE DOORREKENEN</a:t>
            </a:r>
          </a:p>
        </p:txBody>
      </p:sp>
      <p:sp>
        <p:nvSpPr>
          <p:cNvPr id="6" name="TextBox 5"/>
          <p:cNvSpPr txBox="1"/>
          <p:nvPr/>
        </p:nvSpPr>
        <p:spPr>
          <a:xfrm>
            <a:off x="634984" y="838179"/>
            <a:ext cx="10032749" cy="571485"/>
          </a:xfrm>
          <a:prstGeom prst="rect">
            <a:avLst/>
          </a:prstGeom>
          <a:noFill/>
        </p:spPr>
        <p:txBody>
          <a:bodyPr wrap="square" anchor="t" lIns="0" rIns="0" tIns="0" bIns="0">
            <a:spAutoFit/>
          </a:bodyPr>
          <a:lstStyle/>
          <a:p>
            <a:pPr algn="l">
              <a:lnSpc>
                <a:spcPct val="110000"/>
              </a:lnSpc>
            </a:pPr>
            <a:r>
              <a:rPr sz="3600" b="1">
                <a:solidFill>
                  <a:srgbClr val="F2F8FC"/>
                </a:solidFill>
                <a:latin typeface="Segoe UI"/>
              </a:rPr>
              <a:t>Vier vaste gegevens</a:t>
            </a:r>
          </a:p>
        </p:txBody>
      </p:sp>
      <p:sp>
        <p:nvSpPr>
          <p:cNvPr id="7" name="Rounded Rectangle 6"/>
          <p:cNvSpPr/>
          <p:nvPr/>
        </p:nvSpPr>
        <p:spPr>
          <a:xfrm>
            <a:off x="634984" y="2031949"/>
            <a:ext cx="2616134" cy="2920926"/>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3578" y="2222444"/>
            <a:ext cx="2222444" cy="952476"/>
          </a:xfrm>
          <a:prstGeom prst="rect">
            <a:avLst/>
          </a:prstGeom>
          <a:noFill/>
        </p:spPr>
        <p:txBody>
          <a:bodyPr wrap="square" anchor="t" lIns="0" rIns="0" tIns="0" bIns="0">
            <a:spAutoFit/>
          </a:bodyPr>
          <a:lstStyle/>
          <a:p>
            <a:pPr algn="l">
              <a:lnSpc>
                <a:spcPct val="100000"/>
              </a:lnSpc>
            </a:pPr>
            <a:r>
              <a:rPr sz="6600" b="1">
                <a:solidFill>
                  <a:srgbClr val="52BDEC"/>
                </a:solidFill>
                <a:latin typeface="Segoe UI"/>
              </a:rPr>
              <a:t>24</a:t>
            </a:r>
          </a:p>
        </p:txBody>
      </p:sp>
      <p:sp>
        <p:nvSpPr>
          <p:cNvPr id="9" name="TextBox 8"/>
          <p:cNvSpPr txBox="1"/>
          <p:nvPr/>
        </p:nvSpPr>
        <p:spPr>
          <a:xfrm>
            <a:off x="863578" y="3276518"/>
            <a:ext cx="2222444" cy="253993"/>
          </a:xfrm>
          <a:prstGeom prst="rect">
            <a:avLst/>
          </a:prstGeom>
          <a:noFill/>
        </p:spPr>
        <p:txBody>
          <a:bodyPr wrap="square" anchor="t" lIns="0" rIns="0" tIns="0" bIns="0">
            <a:spAutoFit/>
          </a:bodyPr>
          <a:lstStyle/>
          <a:p>
            <a:pPr algn="l">
              <a:lnSpc>
                <a:spcPct val="120000"/>
              </a:lnSpc>
            </a:pPr>
            <a:r>
              <a:rPr sz="1900" b="1">
                <a:solidFill>
                  <a:srgbClr val="F2F8FC"/>
                </a:solidFill>
                <a:latin typeface="Segoe UI"/>
              </a:rPr>
              <a:t>per centrum</a:t>
            </a:r>
          </a:p>
        </p:txBody>
      </p:sp>
      <p:sp>
        <p:nvSpPr>
          <p:cNvPr id="10" name="TextBox 9"/>
          <p:cNvSpPr txBox="1"/>
          <p:nvPr/>
        </p:nvSpPr>
        <p:spPr>
          <a:xfrm>
            <a:off x="863578" y="3682907"/>
            <a:ext cx="2158946" cy="1142971"/>
          </a:xfrm>
          <a:prstGeom prst="rect">
            <a:avLst/>
          </a:prstGeom>
          <a:noFill/>
        </p:spPr>
        <p:txBody>
          <a:bodyPr wrap="square" anchor="t" lIns="0" rIns="0" tIns="0" bIns="0">
            <a:spAutoFit/>
          </a:bodyPr>
          <a:lstStyle/>
          <a:p>
            <a:pPr algn="l">
              <a:lnSpc>
                <a:spcPct val="135000"/>
              </a:lnSpc>
            </a:pPr>
            <a:r>
              <a:rPr sz="1500" b="0">
                <a:solidFill>
                  <a:srgbClr val="8FB6D0"/>
                </a:solidFill>
                <a:latin typeface="Segoe UI"/>
              </a:rPr>
              <a:t>In 12 maanden: gemiddeld 2 per maand.</a:t>
            </a:r>
          </a:p>
        </p:txBody>
      </p:sp>
      <p:sp>
        <p:nvSpPr>
          <p:cNvPr id="11" name="Rounded Rectangle 10"/>
          <p:cNvSpPr/>
          <p:nvPr/>
        </p:nvSpPr>
        <p:spPr>
          <a:xfrm>
            <a:off x="3403514" y="2031949"/>
            <a:ext cx="2616134" cy="2920926"/>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2109" y="2222444"/>
            <a:ext cx="2222444" cy="952476"/>
          </a:xfrm>
          <a:prstGeom prst="rect">
            <a:avLst/>
          </a:prstGeom>
          <a:noFill/>
        </p:spPr>
        <p:txBody>
          <a:bodyPr wrap="square" anchor="t" lIns="0" rIns="0" tIns="0" bIns="0">
            <a:spAutoFit/>
          </a:bodyPr>
          <a:lstStyle/>
          <a:p>
            <a:pPr algn="l">
              <a:lnSpc>
                <a:spcPct val="100000"/>
              </a:lnSpc>
            </a:pPr>
            <a:r>
              <a:rPr sz="6600" b="1">
                <a:solidFill>
                  <a:srgbClr val="52BDEC"/>
                </a:solidFill>
                <a:latin typeface="Segoe UI"/>
              </a:rPr>
              <a:t>4</a:t>
            </a:r>
          </a:p>
        </p:txBody>
      </p:sp>
      <p:sp>
        <p:nvSpPr>
          <p:cNvPr id="13" name="TextBox 12"/>
          <p:cNvSpPr txBox="1"/>
          <p:nvPr/>
        </p:nvSpPr>
        <p:spPr>
          <a:xfrm>
            <a:off x="3632109" y="3276518"/>
            <a:ext cx="2222444" cy="253993"/>
          </a:xfrm>
          <a:prstGeom prst="rect">
            <a:avLst/>
          </a:prstGeom>
          <a:noFill/>
        </p:spPr>
        <p:txBody>
          <a:bodyPr wrap="square" anchor="t" lIns="0" rIns="0" tIns="0" bIns="0">
            <a:spAutoFit/>
          </a:bodyPr>
          <a:lstStyle/>
          <a:p>
            <a:pPr algn="l">
              <a:lnSpc>
                <a:spcPct val="120000"/>
              </a:lnSpc>
            </a:pPr>
            <a:r>
              <a:rPr sz="1900" b="1">
                <a:solidFill>
                  <a:srgbClr val="F2F8FC"/>
                </a:solidFill>
                <a:latin typeface="Segoe UI"/>
              </a:rPr>
              <a:t>MoveMonitors</a:t>
            </a:r>
          </a:p>
        </p:txBody>
      </p:sp>
      <p:sp>
        <p:nvSpPr>
          <p:cNvPr id="14" name="TextBox 13"/>
          <p:cNvSpPr txBox="1"/>
          <p:nvPr/>
        </p:nvSpPr>
        <p:spPr>
          <a:xfrm>
            <a:off x="3632109" y="3682907"/>
            <a:ext cx="2158946" cy="1142971"/>
          </a:xfrm>
          <a:prstGeom prst="rect">
            <a:avLst/>
          </a:prstGeom>
          <a:noFill/>
        </p:spPr>
        <p:txBody>
          <a:bodyPr wrap="square" anchor="t" lIns="0" rIns="0" tIns="0" bIns="0">
            <a:spAutoFit/>
          </a:bodyPr>
          <a:lstStyle/>
          <a:p>
            <a:pPr algn="l">
              <a:lnSpc>
                <a:spcPct val="135000"/>
              </a:lnSpc>
            </a:pPr>
            <a:r>
              <a:rPr sz="1500" b="0">
                <a:solidFill>
                  <a:srgbClr val="8FB6D0"/>
                </a:solidFill>
                <a:latin typeface="Segoe UI"/>
              </a:rPr>
              <a:t>Per centrum. Zeven dagen op baseline en op maand 6.</a:t>
            </a:r>
          </a:p>
        </p:txBody>
      </p:sp>
      <p:sp>
        <p:nvSpPr>
          <p:cNvPr id="15" name="Rounded Rectangle 14"/>
          <p:cNvSpPr/>
          <p:nvPr/>
        </p:nvSpPr>
        <p:spPr>
          <a:xfrm>
            <a:off x="6172045" y="2031949"/>
            <a:ext cx="2616134" cy="2920926"/>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639" y="2222444"/>
            <a:ext cx="2222444" cy="952476"/>
          </a:xfrm>
          <a:prstGeom prst="rect">
            <a:avLst/>
          </a:prstGeom>
          <a:noFill/>
        </p:spPr>
        <p:txBody>
          <a:bodyPr wrap="square" anchor="t" lIns="0" rIns="0" tIns="0" bIns="0">
            <a:spAutoFit/>
          </a:bodyPr>
          <a:lstStyle/>
          <a:p>
            <a:pPr algn="l">
              <a:lnSpc>
                <a:spcPct val="100000"/>
              </a:lnSpc>
            </a:pPr>
            <a:r>
              <a:rPr sz="6600" b="1">
                <a:solidFill>
                  <a:srgbClr val="52BDEC"/>
                </a:solidFill>
                <a:latin typeface="Segoe UI"/>
              </a:rPr>
              <a:t>9,5</a:t>
            </a:r>
          </a:p>
        </p:txBody>
      </p:sp>
      <p:sp>
        <p:nvSpPr>
          <p:cNvPr id="17" name="TextBox 16"/>
          <p:cNvSpPr txBox="1"/>
          <p:nvPr/>
        </p:nvSpPr>
        <p:spPr>
          <a:xfrm>
            <a:off x="6400639" y="3276518"/>
            <a:ext cx="2222444" cy="253993"/>
          </a:xfrm>
          <a:prstGeom prst="rect">
            <a:avLst/>
          </a:prstGeom>
          <a:noFill/>
        </p:spPr>
        <p:txBody>
          <a:bodyPr wrap="square" anchor="t" lIns="0" rIns="0" tIns="0" bIns="0">
            <a:spAutoFit/>
          </a:bodyPr>
          <a:lstStyle/>
          <a:p>
            <a:pPr algn="l">
              <a:lnSpc>
                <a:spcPct val="120000"/>
              </a:lnSpc>
            </a:pPr>
            <a:r>
              <a:rPr sz="1900" b="1">
                <a:solidFill>
                  <a:srgbClr val="F2F8FC"/>
                </a:solidFill>
                <a:latin typeface="Segoe UI"/>
              </a:rPr>
              <a:t>uur per deelnemer</a:t>
            </a:r>
          </a:p>
        </p:txBody>
      </p:sp>
      <p:sp>
        <p:nvSpPr>
          <p:cNvPr id="18" name="TextBox 17"/>
          <p:cNvSpPr txBox="1"/>
          <p:nvPr/>
        </p:nvSpPr>
        <p:spPr>
          <a:xfrm>
            <a:off x="6400639" y="3682907"/>
            <a:ext cx="2158946" cy="1142971"/>
          </a:xfrm>
          <a:prstGeom prst="rect">
            <a:avLst/>
          </a:prstGeom>
          <a:noFill/>
        </p:spPr>
        <p:txBody>
          <a:bodyPr wrap="square" anchor="t" lIns="0" rIns="0" tIns="0" bIns="0">
            <a:spAutoFit/>
          </a:bodyPr>
          <a:lstStyle/>
          <a:p>
            <a:pPr algn="l">
              <a:lnSpc>
                <a:spcPct val="135000"/>
              </a:lnSpc>
            </a:pPr>
            <a:r>
              <a:rPr sz="1500" b="0">
                <a:solidFill>
                  <a:srgbClr val="8FB6D0"/>
                </a:solidFill>
                <a:latin typeface="Segoe UI"/>
              </a:rPr>
              <a:t>Alle visites over 18 maanden. Duur uit de opleidingsplanning.</a:t>
            </a:r>
          </a:p>
        </p:txBody>
      </p:sp>
      <p:sp>
        <p:nvSpPr>
          <p:cNvPr id="19" name="Rounded Rectangle 18"/>
          <p:cNvSpPr/>
          <p:nvPr/>
        </p:nvSpPr>
        <p:spPr>
          <a:xfrm>
            <a:off x="8940576" y="2031949"/>
            <a:ext cx="2616134" cy="2920926"/>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69170" y="2222444"/>
            <a:ext cx="2222444" cy="952476"/>
          </a:xfrm>
          <a:prstGeom prst="rect">
            <a:avLst/>
          </a:prstGeom>
          <a:noFill/>
        </p:spPr>
        <p:txBody>
          <a:bodyPr wrap="square" anchor="t" lIns="0" rIns="0" tIns="0" bIns="0">
            <a:spAutoFit/>
          </a:bodyPr>
          <a:lstStyle/>
          <a:p>
            <a:pPr algn="l">
              <a:lnSpc>
                <a:spcPct val="100000"/>
              </a:lnSpc>
            </a:pPr>
            <a:r>
              <a:rPr sz="6600" b="1">
                <a:solidFill>
                  <a:srgbClr val="52BDEC"/>
                </a:solidFill>
                <a:latin typeface="Segoe UI"/>
              </a:rPr>
              <a:t>2.000</a:t>
            </a:r>
          </a:p>
        </p:txBody>
      </p:sp>
      <p:sp>
        <p:nvSpPr>
          <p:cNvPr id="21" name="TextBox 20"/>
          <p:cNvSpPr txBox="1"/>
          <p:nvPr/>
        </p:nvSpPr>
        <p:spPr>
          <a:xfrm>
            <a:off x="9169170" y="3276518"/>
            <a:ext cx="2222444" cy="253993"/>
          </a:xfrm>
          <a:prstGeom prst="rect">
            <a:avLst/>
          </a:prstGeom>
          <a:noFill/>
        </p:spPr>
        <p:txBody>
          <a:bodyPr wrap="square" anchor="t" lIns="0" rIns="0" tIns="0" bIns="0">
            <a:spAutoFit/>
          </a:bodyPr>
          <a:lstStyle/>
          <a:p>
            <a:pPr algn="l">
              <a:lnSpc>
                <a:spcPct val="120000"/>
              </a:lnSpc>
            </a:pPr>
            <a:r>
              <a:rPr sz="1900" b="1">
                <a:solidFill>
                  <a:srgbClr val="F2F8FC"/>
                </a:solidFill>
                <a:latin typeface="Segoe UI"/>
              </a:rPr>
              <a:t>runs per tempo</a:t>
            </a:r>
          </a:p>
        </p:txBody>
      </p:sp>
      <p:sp>
        <p:nvSpPr>
          <p:cNvPr id="22" name="TextBox 21"/>
          <p:cNvSpPr txBox="1"/>
          <p:nvPr/>
        </p:nvSpPr>
        <p:spPr>
          <a:xfrm>
            <a:off x="9169170" y="3682907"/>
            <a:ext cx="2158946" cy="1142971"/>
          </a:xfrm>
          <a:prstGeom prst="rect">
            <a:avLst/>
          </a:prstGeom>
          <a:noFill/>
        </p:spPr>
        <p:txBody>
          <a:bodyPr wrap="square" anchor="t" lIns="0" rIns="0" tIns="0" bIns="0">
            <a:spAutoFit/>
          </a:bodyPr>
          <a:lstStyle/>
          <a:p>
            <a:pPr algn="l">
              <a:lnSpc>
                <a:spcPct val="135000"/>
              </a:lnSpc>
            </a:pPr>
            <a:r>
              <a:rPr sz="1500" b="0">
                <a:solidFill>
                  <a:srgbClr val="8FB6D0"/>
                </a:solidFill>
                <a:latin typeface="Segoe UI"/>
              </a:rPr>
              <a:t>Instroom is toeval: patiënten komen niet om de twee weken.</a:t>
            </a:r>
          </a:p>
        </p:txBody>
      </p:sp>
      <p:sp>
        <p:nvSpPr>
          <p:cNvPr id="23" name="TextBox 22"/>
          <p:cNvSpPr txBox="1"/>
          <p:nvPr/>
        </p:nvSpPr>
        <p:spPr>
          <a:xfrm>
            <a:off x="634984" y="5244968"/>
            <a:ext cx="10921726" cy="253993"/>
          </a:xfrm>
          <a:prstGeom prst="rect">
            <a:avLst/>
          </a:prstGeom>
          <a:noFill/>
        </p:spPr>
        <p:txBody>
          <a:bodyPr wrap="square" anchor="t" lIns="0" rIns="0" tIns="0" bIns="0">
            <a:spAutoFit/>
          </a:bodyPr>
          <a:lstStyle/>
          <a:p>
            <a:pPr algn="l">
              <a:lnSpc>
                <a:spcPct val="120000"/>
              </a:lnSpc>
            </a:pPr>
            <a:r>
              <a:rPr sz="1900" b="0">
                <a:solidFill>
                  <a:srgbClr val="F2F8FC"/>
                </a:solidFill>
                <a:latin typeface="Segoe UI"/>
              </a:rPr>
              <a:t>Vergeleken: 2, 3, 4 en 5 inclusies per centrum per maand.</a:t>
            </a:r>
          </a:p>
        </p:txBody>
      </p:sp>
      <p:sp>
        <p:nvSpPr>
          <p:cNvPr id="24" name="TextBox 23"/>
          <p:cNvSpPr txBox="1"/>
          <p:nvPr/>
        </p:nvSpPr>
        <p:spPr>
          <a:xfrm>
            <a:off x="634984" y="6387940"/>
            <a:ext cx="9397765" cy="177795"/>
          </a:xfrm>
          <a:prstGeom prst="rect">
            <a:avLst/>
          </a:prstGeom>
          <a:noFill/>
        </p:spPr>
        <p:txBody>
          <a:bodyPr wrap="square" anchor="t" lIns="0" rIns="0" tIns="0" bIns="0">
            <a:spAutoFit/>
          </a:bodyPr>
          <a:lstStyle/>
          <a:p>
            <a:pPr algn="l">
              <a:lnSpc>
                <a:spcPct val="120000"/>
              </a:lnSpc>
            </a:pPr>
            <a:r>
              <a:rPr sz="1000" b="0">
                <a:solidFill>
                  <a:srgbClr val="8FB6D0"/>
                </a:solidFill>
                <a:latin typeface="Consolas"/>
              </a:rPr>
              <a:t>Bron: afvinklijst WP1 taak 1.6c · eCRF 19b · opleidingsplanning, kolom “in de praktijk”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erk.png"/>
          <p:cNvPicPr>
            <a:picLocks noChangeAspect="1"/>
          </p:cNvPicPr>
          <p:nvPr/>
        </p:nvPicPr>
        <p:blipFill>
          <a:blip r:embed="rId2"/>
          <a:stretch>
            <a:fillRect/>
          </a:stretch>
        </p:blipFill>
        <p:spPr>
          <a:xfrm>
            <a:off x="11061423" y="368290"/>
            <a:ext cx="417100" cy="482587"/>
          </a:xfrm>
          <a:prstGeom prst="rect">
            <a:avLst/>
          </a:prstGeom>
        </p:spPr>
      </p:pic>
      <p:sp>
        <p:nvSpPr>
          <p:cNvPr id="4" name="TextBox 3"/>
          <p:cNvSpPr txBox="1"/>
          <p:nvPr/>
        </p:nvSpPr>
        <p:spPr>
          <a:xfrm>
            <a:off x="10540736" y="6387940"/>
            <a:ext cx="1015974" cy="177795"/>
          </a:xfrm>
          <a:prstGeom prst="rect">
            <a:avLst/>
          </a:prstGeom>
          <a:noFill/>
        </p:spPr>
        <p:txBody>
          <a:bodyPr wrap="square" anchor="t" lIns="0" rIns="0" tIns="0" bIns="0">
            <a:spAutoFit/>
          </a:bodyPr>
          <a:lstStyle/>
          <a:p>
            <a:pPr algn="r">
              <a:lnSpc>
                <a:spcPct val="120000"/>
              </a:lnSpc>
            </a:pPr>
            <a:r>
              <a:rPr sz="1050" b="0">
                <a:solidFill>
                  <a:srgbClr val="8FB6D0"/>
                </a:solidFill>
                <a:latin typeface="Consolas"/>
              </a:rPr>
              <a:t>03 / 10</a:t>
            </a:r>
          </a:p>
        </p:txBody>
      </p:sp>
      <p:sp>
        <p:nvSpPr>
          <p:cNvPr id="5" name="TextBox 4"/>
          <p:cNvSpPr txBox="1"/>
          <p:nvPr/>
        </p:nvSpPr>
        <p:spPr>
          <a:xfrm>
            <a:off x="634984" y="571485"/>
            <a:ext cx="9524761" cy="215894"/>
          </a:xfrm>
          <a:prstGeom prst="rect">
            <a:avLst/>
          </a:prstGeom>
          <a:noFill/>
        </p:spPr>
        <p:txBody>
          <a:bodyPr wrap="square" anchor="t" lIns="0" rIns="0" tIns="0" bIns="0">
            <a:spAutoFit/>
          </a:bodyPr>
          <a:lstStyle/>
          <a:p>
            <a:pPr algn="l">
              <a:lnSpc>
                <a:spcPct val="120000"/>
              </a:lnSpc>
            </a:pPr>
            <a:r>
              <a:rPr sz="1250" b="1" spc="240">
                <a:solidFill>
                  <a:srgbClr val="52BDEC"/>
                </a:solidFill>
                <a:latin typeface="Consolas"/>
              </a:rPr>
              <a:t>HET DOEL</a:t>
            </a:r>
          </a:p>
        </p:txBody>
      </p:sp>
      <p:sp>
        <p:nvSpPr>
          <p:cNvPr id="6" name="TextBox 5"/>
          <p:cNvSpPr txBox="1"/>
          <p:nvPr/>
        </p:nvSpPr>
        <p:spPr>
          <a:xfrm>
            <a:off x="634984" y="838179"/>
            <a:ext cx="10032749" cy="571485"/>
          </a:xfrm>
          <a:prstGeom prst="rect">
            <a:avLst/>
          </a:prstGeom>
          <a:noFill/>
        </p:spPr>
        <p:txBody>
          <a:bodyPr wrap="square" anchor="t" lIns="0" rIns="0" tIns="0" bIns="0">
            <a:spAutoFit/>
          </a:bodyPr>
          <a:lstStyle/>
          <a:p>
            <a:pPr algn="l">
              <a:lnSpc>
                <a:spcPct val="110000"/>
              </a:lnSpc>
            </a:pPr>
            <a:r>
              <a:rPr sz="3600" b="1">
                <a:solidFill>
                  <a:srgbClr val="F2F8FC"/>
                </a:solidFill>
                <a:latin typeface="Segoe UI"/>
              </a:rPr>
              <a:t>Twee per maand is een muntworp</a:t>
            </a:r>
          </a:p>
        </p:txBody>
      </p:sp>
      <p:sp>
        <p:nvSpPr>
          <p:cNvPr id="7" name="TextBox 6"/>
          <p:cNvSpPr txBox="1"/>
          <p:nvPr/>
        </p:nvSpPr>
        <p:spPr>
          <a:xfrm>
            <a:off x="634984" y="1409664"/>
            <a:ext cx="10032749" cy="279393"/>
          </a:xfrm>
          <a:prstGeom prst="rect">
            <a:avLst/>
          </a:prstGeom>
          <a:noFill/>
        </p:spPr>
        <p:txBody>
          <a:bodyPr wrap="square" anchor="t" lIns="0" rIns="0" tIns="0" bIns="0">
            <a:spAutoFit/>
          </a:bodyPr>
          <a:lstStyle/>
          <a:p>
            <a:pPr algn="l">
              <a:lnSpc>
                <a:spcPct val="120000"/>
              </a:lnSpc>
            </a:pPr>
            <a:r>
              <a:rPr sz="1900" b="0">
                <a:solidFill>
                  <a:srgbClr val="8FB6D0"/>
                </a:solidFill>
                <a:latin typeface="Segoe UI"/>
              </a:rPr>
              <a:t>Het doel ligt op het gemiddelde: bijna de helft haalt 24 niet op tijd.</a:t>
            </a:r>
          </a:p>
        </p:txBody>
      </p:sp>
      <p:sp>
        <p:nvSpPr>
          <p:cNvPr id="8" name="TextBox 7"/>
          <p:cNvSpPr txBox="1"/>
          <p:nvPr/>
        </p:nvSpPr>
        <p:spPr>
          <a:xfrm>
            <a:off x="634984" y="1943051"/>
            <a:ext cx="5206869" cy="317492"/>
          </a:xfrm>
          <a:prstGeom prst="rect">
            <a:avLst/>
          </a:prstGeom>
          <a:noFill/>
        </p:spPr>
        <p:txBody>
          <a:bodyPr wrap="square" anchor="t" lIns="0" rIns="0" tIns="0" bIns="0">
            <a:spAutoFit/>
          </a:bodyPr>
          <a:lstStyle/>
          <a:p>
            <a:pPr algn="l">
              <a:lnSpc>
                <a:spcPct val="120000"/>
              </a:lnSpc>
            </a:pPr>
            <a:r>
              <a:rPr sz="2200" b="1">
                <a:solidFill>
                  <a:srgbClr val="F2F8FC"/>
                </a:solidFill>
                <a:latin typeface="Segoe UI"/>
              </a:rPr>
              <a:t>Gemiddeld 2,0 per maand</a:t>
            </a:r>
          </a:p>
        </p:txBody>
      </p:sp>
      <p:sp>
        <p:nvSpPr>
          <p:cNvPr id="9" name="TextBox 8"/>
          <p:cNvSpPr txBox="1"/>
          <p:nvPr/>
        </p:nvSpPr>
        <p:spPr>
          <a:xfrm>
            <a:off x="634984" y="2298642"/>
            <a:ext cx="5206869" cy="253993"/>
          </a:xfrm>
          <a:prstGeom prst="rect">
            <a:avLst/>
          </a:prstGeom>
          <a:noFill/>
        </p:spPr>
        <p:txBody>
          <a:bodyPr wrap="square" anchor="t" lIns="0" rIns="0" tIns="0" bIns="0">
            <a:spAutoFit/>
          </a:bodyPr>
          <a:lstStyle/>
          <a:p>
            <a:pPr algn="l">
              <a:lnSpc>
                <a:spcPct val="120000"/>
              </a:lnSpc>
            </a:pPr>
            <a:r>
              <a:rPr sz="1700" b="0">
                <a:solidFill>
                  <a:srgbClr val="8FB6D0"/>
                </a:solidFill>
                <a:latin typeface="Segoe UI"/>
              </a:rPr>
              <a:t>47% blijft onder 24</a:t>
            </a:r>
          </a:p>
        </p:txBody>
      </p:sp>
      <p:graphicFrame>
        <p:nvGraphicFramePr>
          <p:cNvPr id="10" name="Chart 9"/>
          <p:cNvGraphicFramePr>
            <a:graphicFrameLocks noGrp="1"/>
          </p:cNvGraphicFramePr>
          <p:nvPr/>
        </p:nvGraphicFramePr>
        <p:xfrm>
          <a:off x="571485" y="2603434"/>
          <a:ext cx="5270368" cy="3174920"/>
        </p:xfrm>
        <a:graphic>
          <a:graphicData uri="http://schemas.openxmlformats.org/drawingml/2006/chart">
            <c:chart xmlns:c="http://schemas.openxmlformats.org/drawingml/2006/chart" r:id="rId3"/>
          </a:graphicData>
        </a:graphic>
      </p:graphicFrame>
      <p:sp>
        <p:nvSpPr>
          <p:cNvPr id="11" name="TextBox 10"/>
          <p:cNvSpPr txBox="1"/>
          <p:nvPr/>
        </p:nvSpPr>
        <p:spPr>
          <a:xfrm>
            <a:off x="6222844" y="1943051"/>
            <a:ext cx="5206869" cy="317492"/>
          </a:xfrm>
          <a:prstGeom prst="rect">
            <a:avLst/>
          </a:prstGeom>
          <a:noFill/>
        </p:spPr>
        <p:txBody>
          <a:bodyPr wrap="square" anchor="t" lIns="0" rIns="0" tIns="0" bIns="0">
            <a:spAutoFit/>
          </a:bodyPr>
          <a:lstStyle/>
          <a:p>
            <a:pPr algn="l">
              <a:lnSpc>
                <a:spcPct val="120000"/>
              </a:lnSpc>
            </a:pPr>
            <a:r>
              <a:rPr sz="2200" b="1">
                <a:solidFill>
                  <a:srgbClr val="F2F8FC"/>
                </a:solidFill>
                <a:latin typeface="Segoe UI"/>
              </a:rPr>
              <a:t>Gemiddeld 2,6 per maand</a:t>
            </a:r>
          </a:p>
        </p:txBody>
      </p:sp>
      <p:sp>
        <p:nvSpPr>
          <p:cNvPr id="12" name="TextBox 11"/>
          <p:cNvSpPr txBox="1"/>
          <p:nvPr/>
        </p:nvSpPr>
        <p:spPr>
          <a:xfrm>
            <a:off x="6222844" y="2298642"/>
            <a:ext cx="5206869" cy="253993"/>
          </a:xfrm>
          <a:prstGeom prst="rect">
            <a:avLst/>
          </a:prstGeom>
          <a:noFill/>
        </p:spPr>
        <p:txBody>
          <a:bodyPr wrap="square" anchor="t" lIns="0" rIns="0" tIns="0" bIns="0">
            <a:spAutoFit/>
          </a:bodyPr>
          <a:lstStyle/>
          <a:p>
            <a:pPr algn="l">
              <a:lnSpc>
                <a:spcPct val="120000"/>
              </a:lnSpc>
            </a:pPr>
            <a:r>
              <a:rPr sz="1700" b="0">
                <a:solidFill>
                  <a:srgbClr val="8FB6D0"/>
                </a:solidFill>
                <a:latin typeface="Segoe UI"/>
              </a:rPr>
              <a:t>8% blijft onder 24</a:t>
            </a:r>
          </a:p>
        </p:txBody>
      </p:sp>
      <p:graphicFrame>
        <p:nvGraphicFramePr>
          <p:cNvPr id="13" name="Chart 12"/>
          <p:cNvGraphicFramePr>
            <a:graphicFrameLocks noGrp="1"/>
          </p:cNvGraphicFramePr>
          <p:nvPr/>
        </p:nvGraphicFramePr>
        <p:xfrm>
          <a:off x="6159346" y="2603434"/>
          <a:ext cx="5270368" cy="3174920"/>
        </p:xfrm>
        <a:graphic>
          <a:graphicData uri="http://schemas.openxmlformats.org/drawingml/2006/chart">
            <c:chart xmlns:c="http://schemas.openxmlformats.org/drawingml/2006/chart" r:id="rId4"/>
          </a:graphicData>
        </a:graphic>
      </p:graphicFrame>
      <p:sp>
        <p:nvSpPr>
          <p:cNvPr id="14" name="Rounded Rectangle 13"/>
          <p:cNvSpPr/>
          <p:nvPr/>
        </p:nvSpPr>
        <p:spPr>
          <a:xfrm>
            <a:off x="634984" y="5924401"/>
            <a:ext cx="114297" cy="114297"/>
          </a:xfrm>
          <a:prstGeom prst="roundRect">
            <a:avLst>
              <a:gd name="adj" fmla="val 20000"/>
            </a:avLst>
          </a:prstGeom>
          <a:solidFill>
            <a:srgbClr val="DD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5479" y="5892652"/>
            <a:ext cx="1269968" cy="190495"/>
          </a:xfrm>
          <a:prstGeom prst="rect">
            <a:avLst/>
          </a:prstGeom>
          <a:noFill/>
        </p:spPr>
        <p:txBody>
          <a:bodyPr wrap="square" anchor="t" lIns="0" rIns="0" tIns="0" bIns="0">
            <a:spAutoFit/>
          </a:bodyPr>
          <a:lstStyle/>
          <a:p>
            <a:pPr algn="l">
              <a:lnSpc>
                <a:spcPct val="120000"/>
              </a:lnSpc>
            </a:pPr>
            <a:r>
              <a:rPr sz="1300" b="0">
                <a:solidFill>
                  <a:srgbClr val="8FB6D0"/>
                </a:solidFill>
                <a:latin typeface="Segoe UI"/>
              </a:rPr>
              <a:t>onder 24</a:t>
            </a:r>
          </a:p>
        </p:txBody>
      </p:sp>
      <p:sp>
        <p:nvSpPr>
          <p:cNvPr id="16" name="Rounded Rectangle 15"/>
          <p:cNvSpPr/>
          <p:nvPr/>
        </p:nvSpPr>
        <p:spPr>
          <a:xfrm>
            <a:off x="1904952" y="5924401"/>
            <a:ext cx="114297" cy="114297"/>
          </a:xfrm>
          <a:prstGeom prst="roundRect">
            <a:avLst>
              <a:gd name="adj" fmla="val 20000"/>
            </a:avLst>
          </a:prstGeom>
          <a:solidFill>
            <a:srgbClr val="2E9E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95447" y="5892652"/>
            <a:ext cx="1904952" cy="190495"/>
          </a:xfrm>
          <a:prstGeom prst="rect">
            <a:avLst/>
          </a:prstGeom>
          <a:noFill/>
        </p:spPr>
        <p:txBody>
          <a:bodyPr wrap="square" anchor="t" lIns="0" rIns="0" tIns="0" bIns="0">
            <a:spAutoFit/>
          </a:bodyPr>
          <a:lstStyle/>
          <a:p>
            <a:pPr algn="l">
              <a:lnSpc>
                <a:spcPct val="120000"/>
              </a:lnSpc>
            </a:pPr>
            <a:r>
              <a:rPr sz="1300" b="0">
                <a:solidFill>
                  <a:srgbClr val="8FB6D0"/>
                </a:solidFill>
                <a:latin typeface="Segoe UI"/>
              </a:rPr>
              <a:t>24 of meer</a:t>
            </a:r>
          </a:p>
        </p:txBody>
      </p:sp>
      <p:sp>
        <p:nvSpPr>
          <p:cNvPr id="18" name="TextBox 17"/>
          <p:cNvSpPr txBox="1"/>
          <p:nvPr/>
        </p:nvSpPr>
        <p:spPr>
          <a:xfrm>
            <a:off x="4063898" y="5892652"/>
            <a:ext cx="7619809" cy="190495"/>
          </a:xfrm>
          <a:prstGeom prst="rect">
            <a:avLst/>
          </a:prstGeom>
          <a:noFill/>
        </p:spPr>
        <p:txBody>
          <a:bodyPr wrap="square" anchor="t" lIns="0" rIns="0" tIns="0" bIns="0">
            <a:spAutoFit/>
          </a:bodyPr>
          <a:lstStyle/>
          <a:p>
            <a:pPr algn="l">
              <a:lnSpc>
                <a:spcPct val="120000"/>
              </a:lnSpc>
            </a:pPr>
            <a:r>
              <a:rPr sz="1300" b="0">
                <a:solidFill>
                  <a:srgbClr val="8FB6D0"/>
                </a:solidFill>
                <a:latin typeface="Segoe UI"/>
              </a:rPr>
              <a:t>Aantal inclusies na 12 maanden, per centrum</a:t>
            </a:r>
          </a:p>
        </p:txBody>
      </p:sp>
      <p:sp>
        <p:nvSpPr>
          <p:cNvPr id="19" name="TextBox 18"/>
          <p:cNvSpPr txBox="1"/>
          <p:nvPr/>
        </p:nvSpPr>
        <p:spPr>
          <a:xfrm>
            <a:off x="634984" y="6387940"/>
            <a:ext cx="9397765" cy="177795"/>
          </a:xfrm>
          <a:prstGeom prst="rect">
            <a:avLst/>
          </a:prstGeom>
          <a:noFill/>
        </p:spPr>
        <p:txBody>
          <a:bodyPr wrap="square" anchor="t" lIns="0" rIns="0" tIns="0" bIns="0">
            <a:spAutoFit/>
          </a:bodyPr>
          <a:lstStyle/>
          <a:p>
            <a:pPr algn="l">
              <a:lnSpc>
                <a:spcPct val="120000"/>
              </a:lnSpc>
            </a:pPr>
            <a:r>
              <a:rPr sz="1000" b="0">
                <a:solidFill>
                  <a:srgbClr val="8FB6D0"/>
                </a:solidFill>
                <a:latin typeface="Consolas"/>
              </a:rPr>
              <a:t>Poisson-verdeling van het aantal inclusies in 12 maanden · gelijk aan de simulatie (53% bij 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erk.png"/>
          <p:cNvPicPr>
            <a:picLocks noChangeAspect="1"/>
          </p:cNvPicPr>
          <p:nvPr/>
        </p:nvPicPr>
        <p:blipFill>
          <a:blip r:embed="rId2"/>
          <a:stretch>
            <a:fillRect/>
          </a:stretch>
        </p:blipFill>
        <p:spPr>
          <a:xfrm>
            <a:off x="11061423" y="368290"/>
            <a:ext cx="417100" cy="482587"/>
          </a:xfrm>
          <a:prstGeom prst="rect">
            <a:avLst/>
          </a:prstGeom>
        </p:spPr>
      </p:pic>
      <p:sp>
        <p:nvSpPr>
          <p:cNvPr id="4" name="TextBox 3"/>
          <p:cNvSpPr txBox="1"/>
          <p:nvPr/>
        </p:nvSpPr>
        <p:spPr>
          <a:xfrm>
            <a:off x="10540736" y="6387940"/>
            <a:ext cx="1015974" cy="177795"/>
          </a:xfrm>
          <a:prstGeom prst="rect">
            <a:avLst/>
          </a:prstGeom>
          <a:noFill/>
        </p:spPr>
        <p:txBody>
          <a:bodyPr wrap="square" anchor="t" lIns="0" rIns="0" tIns="0" bIns="0">
            <a:spAutoFit/>
          </a:bodyPr>
          <a:lstStyle/>
          <a:p>
            <a:pPr algn="r">
              <a:lnSpc>
                <a:spcPct val="120000"/>
              </a:lnSpc>
            </a:pPr>
            <a:r>
              <a:rPr sz="1050" b="0">
                <a:solidFill>
                  <a:srgbClr val="8FB6D0"/>
                </a:solidFill>
                <a:latin typeface="Consolas"/>
              </a:rPr>
              <a:t>04 / 10</a:t>
            </a:r>
          </a:p>
        </p:txBody>
      </p:sp>
      <p:sp>
        <p:nvSpPr>
          <p:cNvPr id="5" name="TextBox 4"/>
          <p:cNvSpPr txBox="1"/>
          <p:nvPr/>
        </p:nvSpPr>
        <p:spPr>
          <a:xfrm>
            <a:off x="634984" y="571485"/>
            <a:ext cx="9524761" cy="215894"/>
          </a:xfrm>
          <a:prstGeom prst="rect">
            <a:avLst/>
          </a:prstGeom>
          <a:noFill/>
        </p:spPr>
        <p:txBody>
          <a:bodyPr wrap="square" anchor="t" lIns="0" rIns="0" tIns="0" bIns="0">
            <a:spAutoFit/>
          </a:bodyPr>
          <a:lstStyle/>
          <a:p>
            <a:pPr algn="l">
              <a:lnSpc>
                <a:spcPct val="120000"/>
              </a:lnSpc>
            </a:pPr>
            <a:r>
              <a:rPr sz="1250" b="1" spc="240">
                <a:solidFill>
                  <a:srgbClr val="52BDEC"/>
                </a:solidFill>
                <a:latin typeface="Consolas"/>
              </a:rPr>
              <a:t>HET DOELTEMPO</a:t>
            </a:r>
          </a:p>
        </p:txBody>
      </p:sp>
      <p:sp>
        <p:nvSpPr>
          <p:cNvPr id="6" name="TextBox 5"/>
          <p:cNvSpPr txBox="1"/>
          <p:nvPr/>
        </p:nvSpPr>
        <p:spPr>
          <a:xfrm>
            <a:off x="634984" y="838179"/>
            <a:ext cx="10032749" cy="571485"/>
          </a:xfrm>
          <a:prstGeom prst="rect">
            <a:avLst/>
          </a:prstGeom>
          <a:noFill/>
        </p:spPr>
        <p:txBody>
          <a:bodyPr wrap="square" anchor="t" lIns="0" rIns="0" tIns="0" bIns="0">
            <a:spAutoFit/>
          </a:bodyPr>
          <a:lstStyle/>
          <a:p>
            <a:pPr algn="l">
              <a:lnSpc>
                <a:spcPct val="110000"/>
              </a:lnSpc>
            </a:pPr>
            <a:r>
              <a:rPr sz="3600" b="1">
                <a:solidFill>
                  <a:srgbClr val="F2F8FC"/>
                </a:solidFill>
                <a:latin typeface="Segoe UI"/>
              </a:rPr>
              <a:t>Waar 2,6 vandaan komt</a:t>
            </a:r>
          </a:p>
        </p:txBody>
      </p:sp>
      <p:sp>
        <p:nvSpPr>
          <p:cNvPr id="7" name="TextBox 6"/>
          <p:cNvSpPr txBox="1"/>
          <p:nvPr/>
        </p:nvSpPr>
        <p:spPr>
          <a:xfrm>
            <a:off x="634984" y="1409664"/>
            <a:ext cx="10032749" cy="279393"/>
          </a:xfrm>
          <a:prstGeom prst="rect">
            <a:avLst/>
          </a:prstGeom>
          <a:noFill/>
        </p:spPr>
        <p:txBody>
          <a:bodyPr wrap="square" anchor="t" lIns="0" rIns="0" tIns="0" bIns="0">
            <a:spAutoFit/>
          </a:bodyPr>
          <a:lstStyle/>
          <a:p>
            <a:pPr algn="l">
              <a:lnSpc>
                <a:spcPct val="120000"/>
              </a:lnSpc>
            </a:pPr>
            <a:r>
              <a:rPr sz="1900" b="0">
                <a:solidFill>
                  <a:srgbClr val="8FB6D0"/>
                </a:solidFill>
                <a:latin typeface="Segoe UI"/>
              </a:rPr>
              <a:t>Het tempo waarbij een centrum 24 met 90% zekerheid binnen 12 maanden haalt.</a:t>
            </a:r>
          </a:p>
        </p:txBody>
      </p:sp>
      <p:graphicFrame>
        <p:nvGraphicFramePr>
          <p:cNvPr id="8" name="Chart 7"/>
          <p:cNvGraphicFramePr>
            <a:graphicFrameLocks noGrp="1"/>
          </p:cNvGraphicFramePr>
          <p:nvPr/>
        </p:nvGraphicFramePr>
        <p:xfrm>
          <a:off x="571485" y="2095447"/>
          <a:ext cx="5714857" cy="3809904"/>
        </p:xfrm>
        <a:graphic>
          <a:graphicData uri="http://schemas.openxmlformats.org/drawingml/2006/chart">
            <c:chart xmlns:c="http://schemas.openxmlformats.org/drawingml/2006/chart" r:id="rId3"/>
          </a:graphicData>
        </a:graphic>
      </p:graphicFrame>
      <p:sp>
        <p:nvSpPr>
          <p:cNvPr id="9" name="TextBox 8"/>
          <p:cNvSpPr txBox="1"/>
          <p:nvPr/>
        </p:nvSpPr>
        <p:spPr>
          <a:xfrm>
            <a:off x="634984" y="5968850"/>
            <a:ext cx="5587860" cy="190495"/>
          </a:xfrm>
          <a:prstGeom prst="rect">
            <a:avLst/>
          </a:prstGeom>
          <a:noFill/>
        </p:spPr>
        <p:txBody>
          <a:bodyPr wrap="square" anchor="t" lIns="0" rIns="0" tIns="0" bIns="0">
            <a:spAutoFit/>
          </a:bodyPr>
          <a:lstStyle/>
          <a:p>
            <a:pPr algn="l">
              <a:lnSpc>
                <a:spcPct val="120000"/>
              </a:lnSpc>
            </a:pPr>
            <a:r>
              <a:rPr sz="1300" b="0">
                <a:solidFill>
                  <a:srgbClr val="8FB6D0"/>
                </a:solidFill>
                <a:latin typeface="Segoe UI"/>
              </a:rPr>
              <a:t>Gemiddeld aantal inclusies per maand  →  kans op 24 binnen 12 maanden</a:t>
            </a:r>
          </a:p>
        </p:txBody>
      </p:sp>
      <p:sp>
        <p:nvSpPr>
          <p:cNvPr id="10" name="Rectangle 9"/>
          <p:cNvSpPr/>
          <p:nvPr/>
        </p:nvSpPr>
        <p:spPr>
          <a:xfrm>
            <a:off x="6730831" y="2006549"/>
            <a:ext cx="482587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0831" y="2133546"/>
            <a:ext cx="380990" cy="253993"/>
          </a:xfrm>
          <a:prstGeom prst="rect">
            <a:avLst/>
          </a:prstGeom>
          <a:noFill/>
        </p:spPr>
        <p:txBody>
          <a:bodyPr wrap="square" anchor="t" lIns="0" rIns="0" tIns="0" bIns="0">
            <a:spAutoFit/>
          </a:bodyPr>
          <a:lstStyle/>
          <a:p>
            <a:pPr algn="l">
              <a:lnSpc>
                <a:spcPct val="120000"/>
              </a:lnSpc>
            </a:pPr>
            <a:r>
              <a:rPr sz="2000" b="1">
                <a:solidFill>
                  <a:srgbClr val="52BDEC"/>
                </a:solidFill>
                <a:latin typeface="Consolas"/>
              </a:rPr>
              <a:t>1</a:t>
            </a:r>
          </a:p>
        </p:txBody>
      </p:sp>
      <p:sp>
        <p:nvSpPr>
          <p:cNvPr id="12" name="TextBox 11"/>
          <p:cNvSpPr txBox="1"/>
          <p:nvPr/>
        </p:nvSpPr>
        <p:spPr>
          <a:xfrm>
            <a:off x="7111822" y="2120846"/>
            <a:ext cx="4444888" cy="279393"/>
          </a:xfrm>
          <a:prstGeom prst="rect">
            <a:avLst/>
          </a:prstGeom>
          <a:noFill/>
        </p:spPr>
        <p:txBody>
          <a:bodyPr wrap="square" anchor="t" lIns="0" rIns="0" tIns="0" bIns="0">
            <a:spAutoFit/>
          </a:bodyPr>
          <a:lstStyle/>
          <a:p>
            <a:pPr algn="l">
              <a:lnSpc>
                <a:spcPct val="120000"/>
              </a:lnSpc>
            </a:pPr>
            <a:r>
              <a:rPr sz="1800" b="1">
                <a:solidFill>
                  <a:srgbClr val="F2F8FC"/>
                </a:solidFill>
                <a:latin typeface="Segoe UI"/>
              </a:rPr>
              <a:t>Het aantal na 12 maanden is toeval</a:t>
            </a:r>
          </a:p>
        </p:txBody>
      </p:sp>
      <p:sp>
        <p:nvSpPr>
          <p:cNvPr id="13" name="TextBox 12"/>
          <p:cNvSpPr txBox="1"/>
          <p:nvPr/>
        </p:nvSpPr>
        <p:spPr>
          <a:xfrm>
            <a:off x="7111822" y="2438339"/>
            <a:ext cx="4444888" cy="533386"/>
          </a:xfrm>
          <a:prstGeom prst="rect">
            <a:avLst/>
          </a:prstGeom>
          <a:noFill/>
        </p:spPr>
        <p:txBody>
          <a:bodyPr wrap="square" anchor="t" lIns="0" rIns="0" tIns="0" bIns="0">
            <a:spAutoFit/>
          </a:bodyPr>
          <a:lstStyle/>
          <a:p>
            <a:pPr algn="l">
              <a:lnSpc>
                <a:spcPct val="130000"/>
              </a:lnSpc>
            </a:pPr>
            <a:r>
              <a:rPr sz="1500" b="0">
                <a:solidFill>
                  <a:srgbClr val="8FB6D0"/>
                </a:solidFill>
                <a:latin typeface="Segoe UI"/>
              </a:rPr>
              <a:t>Bij gemiddeld λ per maand volgt het een Poisson-verdeling: gemiddeld 12λ, spreiding √12λ.</a:t>
            </a:r>
          </a:p>
        </p:txBody>
      </p:sp>
      <p:sp>
        <p:nvSpPr>
          <p:cNvPr id="14" name="Rectangle 13"/>
          <p:cNvSpPr/>
          <p:nvPr/>
        </p:nvSpPr>
        <p:spPr>
          <a:xfrm>
            <a:off x="6730831" y="3022524"/>
            <a:ext cx="482587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0831" y="3149521"/>
            <a:ext cx="380990" cy="253993"/>
          </a:xfrm>
          <a:prstGeom prst="rect">
            <a:avLst/>
          </a:prstGeom>
          <a:noFill/>
        </p:spPr>
        <p:txBody>
          <a:bodyPr wrap="square" anchor="t" lIns="0" rIns="0" tIns="0" bIns="0">
            <a:spAutoFit/>
          </a:bodyPr>
          <a:lstStyle/>
          <a:p>
            <a:pPr algn="l">
              <a:lnSpc>
                <a:spcPct val="120000"/>
              </a:lnSpc>
            </a:pPr>
            <a:r>
              <a:rPr sz="2000" b="1">
                <a:solidFill>
                  <a:srgbClr val="52BDEC"/>
                </a:solidFill>
                <a:latin typeface="Consolas"/>
              </a:rPr>
              <a:t>2</a:t>
            </a:r>
          </a:p>
        </p:txBody>
      </p:sp>
      <p:sp>
        <p:nvSpPr>
          <p:cNvPr id="16" name="TextBox 15"/>
          <p:cNvSpPr txBox="1"/>
          <p:nvPr/>
        </p:nvSpPr>
        <p:spPr>
          <a:xfrm>
            <a:off x="7111822" y="3136821"/>
            <a:ext cx="4444888" cy="279393"/>
          </a:xfrm>
          <a:prstGeom prst="rect">
            <a:avLst/>
          </a:prstGeom>
          <a:noFill/>
        </p:spPr>
        <p:txBody>
          <a:bodyPr wrap="square" anchor="t" lIns="0" rIns="0" tIns="0" bIns="0">
            <a:spAutoFit/>
          </a:bodyPr>
          <a:lstStyle/>
          <a:p>
            <a:pPr algn="l">
              <a:lnSpc>
                <a:spcPct val="120000"/>
              </a:lnSpc>
            </a:pPr>
            <a:r>
              <a:rPr sz="1800" b="1">
                <a:solidFill>
                  <a:srgbClr val="F2F8FC"/>
                </a:solidFill>
                <a:latin typeface="Segoe UI"/>
              </a:rPr>
              <a:t>Bij 2 per maand is 24 het midden</a:t>
            </a:r>
          </a:p>
        </p:txBody>
      </p:sp>
      <p:sp>
        <p:nvSpPr>
          <p:cNvPr id="17" name="TextBox 16"/>
          <p:cNvSpPr txBox="1"/>
          <p:nvPr/>
        </p:nvSpPr>
        <p:spPr>
          <a:xfrm>
            <a:off x="7111822" y="3454313"/>
            <a:ext cx="4444888" cy="533386"/>
          </a:xfrm>
          <a:prstGeom prst="rect">
            <a:avLst/>
          </a:prstGeom>
          <a:noFill/>
        </p:spPr>
        <p:txBody>
          <a:bodyPr wrap="square" anchor="t" lIns="0" rIns="0" tIns="0" bIns="0">
            <a:spAutoFit/>
          </a:bodyPr>
          <a:lstStyle/>
          <a:p>
            <a:pPr algn="l">
              <a:lnSpc>
                <a:spcPct val="130000"/>
              </a:lnSpc>
            </a:pPr>
            <a:r>
              <a:rPr sz="1500" b="0">
                <a:solidFill>
                  <a:srgbClr val="8FB6D0"/>
                </a:solidFill>
                <a:latin typeface="Segoe UI"/>
              </a:rPr>
              <a:t>24 ± 5: bijna de helft valt eronder. 53% haalt het.</a:t>
            </a:r>
          </a:p>
        </p:txBody>
      </p:sp>
      <p:sp>
        <p:nvSpPr>
          <p:cNvPr id="18" name="Rectangle 17"/>
          <p:cNvSpPr/>
          <p:nvPr/>
        </p:nvSpPr>
        <p:spPr>
          <a:xfrm>
            <a:off x="6730831" y="4038499"/>
            <a:ext cx="482587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30831" y="4165495"/>
            <a:ext cx="380990" cy="253993"/>
          </a:xfrm>
          <a:prstGeom prst="rect">
            <a:avLst/>
          </a:prstGeom>
          <a:noFill/>
        </p:spPr>
        <p:txBody>
          <a:bodyPr wrap="square" anchor="t" lIns="0" rIns="0" tIns="0" bIns="0">
            <a:spAutoFit/>
          </a:bodyPr>
          <a:lstStyle/>
          <a:p>
            <a:pPr algn="l">
              <a:lnSpc>
                <a:spcPct val="120000"/>
              </a:lnSpc>
            </a:pPr>
            <a:r>
              <a:rPr sz="2000" b="1">
                <a:solidFill>
                  <a:srgbClr val="52BDEC"/>
                </a:solidFill>
                <a:latin typeface="Consolas"/>
              </a:rPr>
              <a:t>3</a:t>
            </a:r>
          </a:p>
        </p:txBody>
      </p:sp>
      <p:sp>
        <p:nvSpPr>
          <p:cNvPr id="20" name="TextBox 19"/>
          <p:cNvSpPr txBox="1"/>
          <p:nvPr/>
        </p:nvSpPr>
        <p:spPr>
          <a:xfrm>
            <a:off x="7111822" y="4152796"/>
            <a:ext cx="4444888" cy="279393"/>
          </a:xfrm>
          <a:prstGeom prst="rect">
            <a:avLst/>
          </a:prstGeom>
          <a:noFill/>
        </p:spPr>
        <p:txBody>
          <a:bodyPr wrap="square" anchor="t" lIns="0" rIns="0" tIns="0" bIns="0">
            <a:spAutoFit/>
          </a:bodyPr>
          <a:lstStyle/>
          <a:p>
            <a:pPr algn="l">
              <a:lnSpc>
                <a:spcPct val="120000"/>
              </a:lnSpc>
            </a:pPr>
            <a:r>
              <a:rPr sz="1800" b="1">
                <a:solidFill>
                  <a:srgbClr val="F2F8FC"/>
                </a:solidFill>
                <a:latin typeface="Segoe UI"/>
              </a:rPr>
              <a:t>Voor 90% is 1,28 spreiding marge nodig</a:t>
            </a:r>
          </a:p>
        </p:txBody>
      </p:sp>
      <p:sp>
        <p:nvSpPr>
          <p:cNvPr id="21" name="TextBox 20"/>
          <p:cNvSpPr txBox="1"/>
          <p:nvPr/>
        </p:nvSpPr>
        <p:spPr>
          <a:xfrm>
            <a:off x="7111822" y="4470288"/>
            <a:ext cx="4444888" cy="533386"/>
          </a:xfrm>
          <a:prstGeom prst="rect">
            <a:avLst/>
          </a:prstGeom>
          <a:noFill/>
        </p:spPr>
        <p:txBody>
          <a:bodyPr wrap="square" anchor="t" lIns="0" rIns="0" tIns="0" bIns="0">
            <a:spAutoFit/>
          </a:bodyPr>
          <a:lstStyle/>
          <a:p>
            <a:pPr algn="l">
              <a:lnSpc>
                <a:spcPct val="130000"/>
              </a:lnSpc>
            </a:pPr>
            <a:r>
              <a:rPr sz="1500" b="0">
                <a:solidFill>
                  <a:srgbClr val="8FB6D0"/>
                </a:solidFill>
                <a:latin typeface="Segoe UI"/>
              </a:rPr>
              <a:t>12λ − 1,28·√12λ = 24  →  12λ ≈ 31  →  λ ≈ 2,6. Exact 2,54, naar boven afgerond.</a:t>
            </a:r>
          </a:p>
        </p:txBody>
      </p:sp>
      <p:sp>
        <p:nvSpPr>
          <p:cNvPr id="22" name="Rounded Rectangle 21"/>
          <p:cNvSpPr/>
          <p:nvPr/>
        </p:nvSpPr>
        <p:spPr>
          <a:xfrm>
            <a:off x="6730831" y="5143371"/>
            <a:ext cx="4825879" cy="952476"/>
          </a:xfrm>
          <a:prstGeom prst="roundRect">
            <a:avLst>
              <a:gd name="adj" fmla="val 4500"/>
            </a:avLst>
          </a:prstGeom>
          <a:solidFill>
            <a:srgbClr val="0A2A44"/>
          </a:solidFill>
          <a:ln w="9525">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59426" y="5295767"/>
            <a:ext cx="4381390" cy="698482"/>
          </a:xfrm>
          <a:prstGeom prst="rect">
            <a:avLst/>
          </a:prstGeom>
          <a:noFill/>
        </p:spPr>
        <p:txBody>
          <a:bodyPr wrap="square" anchor="t" lIns="0" rIns="0" tIns="0" bIns="0">
            <a:spAutoFit/>
          </a:bodyPr>
          <a:lstStyle/>
          <a:p>
            <a:pPr algn="l">
              <a:lnSpc>
                <a:spcPct val="130000"/>
              </a:lnSpc>
            </a:pPr>
            <a:r>
              <a:rPr sz="1600" b="0">
                <a:solidFill>
                  <a:srgbClr val="F2F8FC"/>
                </a:solidFill>
                <a:latin typeface="Segoe UI"/>
              </a:rPr>
              <a:t>Dat is per centrum. Alle zes op tijd: 61% bij 2,6, 92% bij 3 per maand.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erk.png"/>
          <p:cNvPicPr>
            <a:picLocks noChangeAspect="1"/>
          </p:cNvPicPr>
          <p:nvPr/>
        </p:nvPicPr>
        <p:blipFill>
          <a:blip r:embed="rId2"/>
          <a:stretch>
            <a:fillRect/>
          </a:stretch>
        </p:blipFill>
        <p:spPr>
          <a:xfrm>
            <a:off x="11061423" y="368290"/>
            <a:ext cx="417100" cy="482587"/>
          </a:xfrm>
          <a:prstGeom prst="rect">
            <a:avLst/>
          </a:prstGeom>
        </p:spPr>
      </p:pic>
      <p:sp>
        <p:nvSpPr>
          <p:cNvPr id="4" name="TextBox 3"/>
          <p:cNvSpPr txBox="1"/>
          <p:nvPr/>
        </p:nvSpPr>
        <p:spPr>
          <a:xfrm>
            <a:off x="10540736" y="6387940"/>
            <a:ext cx="1015974" cy="177795"/>
          </a:xfrm>
          <a:prstGeom prst="rect">
            <a:avLst/>
          </a:prstGeom>
          <a:noFill/>
        </p:spPr>
        <p:txBody>
          <a:bodyPr wrap="square" anchor="t" lIns="0" rIns="0" tIns="0" bIns="0">
            <a:spAutoFit/>
          </a:bodyPr>
          <a:lstStyle/>
          <a:p>
            <a:pPr algn="r">
              <a:lnSpc>
                <a:spcPct val="120000"/>
              </a:lnSpc>
            </a:pPr>
            <a:r>
              <a:rPr sz="1050" b="0">
                <a:solidFill>
                  <a:srgbClr val="8FB6D0"/>
                </a:solidFill>
                <a:latin typeface="Consolas"/>
              </a:rPr>
              <a:t>05 / 10</a:t>
            </a:r>
          </a:p>
        </p:txBody>
      </p:sp>
      <p:sp>
        <p:nvSpPr>
          <p:cNvPr id="5" name="TextBox 4"/>
          <p:cNvSpPr txBox="1"/>
          <p:nvPr/>
        </p:nvSpPr>
        <p:spPr>
          <a:xfrm>
            <a:off x="634984" y="571485"/>
            <a:ext cx="9524761" cy="215894"/>
          </a:xfrm>
          <a:prstGeom prst="rect">
            <a:avLst/>
          </a:prstGeom>
          <a:noFill/>
        </p:spPr>
        <p:txBody>
          <a:bodyPr wrap="square" anchor="t" lIns="0" rIns="0" tIns="0" bIns="0">
            <a:spAutoFit/>
          </a:bodyPr>
          <a:lstStyle/>
          <a:p>
            <a:pPr algn="l">
              <a:lnSpc>
                <a:spcPct val="120000"/>
              </a:lnSpc>
            </a:pPr>
            <a:r>
              <a:rPr sz="1250" b="1" spc="240">
                <a:solidFill>
                  <a:srgbClr val="52BDEC"/>
                </a:solidFill>
                <a:latin typeface="Consolas"/>
              </a:rPr>
              <a:t>BELASTING</a:t>
            </a:r>
          </a:p>
        </p:txBody>
      </p:sp>
      <p:sp>
        <p:nvSpPr>
          <p:cNvPr id="6" name="TextBox 5"/>
          <p:cNvSpPr txBox="1"/>
          <p:nvPr/>
        </p:nvSpPr>
        <p:spPr>
          <a:xfrm>
            <a:off x="634984" y="838179"/>
            <a:ext cx="10032749" cy="571485"/>
          </a:xfrm>
          <a:prstGeom prst="rect">
            <a:avLst/>
          </a:prstGeom>
          <a:noFill/>
        </p:spPr>
        <p:txBody>
          <a:bodyPr wrap="square" anchor="t" lIns="0" rIns="0" tIns="0" bIns="0">
            <a:spAutoFit/>
          </a:bodyPr>
          <a:lstStyle/>
          <a:p>
            <a:pPr algn="l">
              <a:lnSpc>
                <a:spcPct val="110000"/>
              </a:lnSpc>
            </a:pPr>
            <a:r>
              <a:rPr sz="3600" b="1">
                <a:solidFill>
                  <a:srgbClr val="F2F8FC"/>
                </a:solidFill>
                <a:latin typeface="Segoe UI"/>
              </a:rPr>
              <a:t>Uren per maand, per tempo</a:t>
            </a:r>
          </a:p>
        </p:txBody>
      </p:sp>
      <p:sp>
        <p:nvSpPr>
          <p:cNvPr id="7" name="TextBox 6"/>
          <p:cNvSpPr txBox="1"/>
          <p:nvPr/>
        </p:nvSpPr>
        <p:spPr>
          <a:xfrm>
            <a:off x="634984" y="1409664"/>
            <a:ext cx="10032749" cy="279393"/>
          </a:xfrm>
          <a:prstGeom prst="rect">
            <a:avLst/>
          </a:prstGeom>
          <a:noFill/>
        </p:spPr>
        <p:txBody>
          <a:bodyPr wrap="square" anchor="t" lIns="0" rIns="0" tIns="0" bIns="0">
            <a:spAutoFit/>
          </a:bodyPr>
          <a:lstStyle/>
          <a:p>
            <a:pPr algn="l">
              <a:lnSpc>
                <a:spcPct val="120000"/>
              </a:lnSpc>
            </a:pPr>
            <a:r>
              <a:rPr sz="1900" b="0">
                <a:solidFill>
                  <a:srgbClr val="8FB6D0"/>
                </a:solidFill>
                <a:latin typeface="Segoe UI"/>
              </a:rPr>
              <a:t>Per centrum. Hoe sneller, hoe hoger en korter de piek.</a:t>
            </a:r>
          </a:p>
        </p:txBody>
      </p:sp>
      <p:sp>
        <p:nvSpPr>
          <p:cNvPr id="8" name="TextBox 7"/>
          <p:cNvSpPr txBox="1"/>
          <p:nvPr/>
        </p:nvSpPr>
        <p:spPr>
          <a:xfrm>
            <a:off x="634984" y="1904952"/>
            <a:ext cx="2603434" cy="279393"/>
          </a:xfrm>
          <a:prstGeom prst="rect">
            <a:avLst/>
          </a:prstGeom>
          <a:noFill/>
        </p:spPr>
        <p:txBody>
          <a:bodyPr wrap="square" anchor="t" lIns="0" rIns="0" tIns="0" bIns="0">
            <a:spAutoFit/>
          </a:bodyPr>
          <a:lstStyle/>
          <a:p>
            <a:pPr algn="l">
              <a:lnSpc>
                <a:spcPct val="120000"/>
              </a:lnSpc>
            </a:pPr>
            <a:r>
              <a:rPr sz="2000" b="1">
                <a:solidFill>
                  <a:srgbClr val="F2F8FC"/>
                </a:solidFill>
                <a:latin typeface="Segoe UI"/>
              </a:rPr>
              <a:t>2 per maand</a:t>
            </a:r>
          </a:p>
        </p:txBody>
      </p:sp>
      <p:sp>
        <p:nvSpPr>
          <p:cNvPr id="9" name="TextBox 8"/>
          <p:cNvSpPr txBox="1"/>
          <p:nvPr/>
        </p:nvSpPr>
        <p:spPr>
          <a:xfrm>
            <a:off x="634984" y="2235144"/>
            <a:ext cx="2603434" cy="215894"/>
          </a:xfrm>
          <a:prstGeom prst="rect">
            <a:avLst/>
          </a:prstGeom>
          <a:noFill/>
        </p:spPr>
        <p:txBody>
          <a:bodyPr wrap="square" anchor="t" lIns="0" rIns="0" tIns="0" bIns="0">
            <a:spAutoFit/>
          </a:bodyPr>
          <a:lstStyle/>
          <a:p>
            <a:pPr algn="l">
              <a:lnSpc>
                <a:spcPct val="120000"/>
              </a:lnSpc>
            </a:pPr>
            <a:r>
              <a:rPr sz="1400" b="0">
                <a:solidFill>
                  <a:srgbClr val="8FB6D0"/>
                </a:solidFill>
                <a:latin typeface="Segoe UI"/>
              </a:rPr>
              <a:t>10 u/maand  ·  12 maanden</a:t>
            </a:r>
          </a:p>
        </p:txBody>
      </p:sp>
      <p:graphicFrame>
        <p:nvGraphicFramePr>
          <p:cNvPr id="10" name="Chart 9"/>
          <p:cNvGraphicFramePr>
            <a:graphicFrameLocks noGrp="1"/>
          </p:cNvGraphicFramePr>
          <p:nvPr/>
        </p:nvGraphicFramePr>
        <p:xfrm>
          <a:off x="558786" y="2514537"/>
          <a:ext cx="2768530" cy="3174920"/>
        </p:xfrm>
        <a:graphic>
          <a:graphicData uri="http://schemas.openxmlformats.org/drawingml/2006/chart">
            <c:chart xmlns:c="http://schemas.openxmlformats.org/drawingml/2006/chart" r:id="rId3"/>
          </a:graphicData>
        </a:graphic>
      </p:graphicFrame>
      <p:sp>
        <p:nvSpPr>
          <p:cNvPr id="11" name="TextBox 10"/>
          <p:cNvSpPr txBox="1"/>
          <p:nvPr/>
        </p:nvSpPr>
        <p:spPr>
          <a:xfrm>
            <a:off x="3403514" y="1904952"/>
            <a:ext cx="2603434" cy="279393"/>
          </a:xfrm>
          <a:prstGeom prst="rect">
            <a:avLst/>
          </a:prstGeom>
          <a:noFill/>
        </p:spPr>
        <p:txBody>
          <a:bodyPr wrap="square" anchor="t" lIns="0" rIns="0" tIns="0" bIns="0">
            <a:spAutoFit/>
          </a:bodyPr>
          <a:lstStyle/>
          <a:p>
            <a:pPr algn="l">
              <a:lnSpc>
                <a:spcPct val="120000"/>
              </a:lnSpc>
            </a:pPr>
            <a:r>
              <a:rPr sz="2000" b="1">
                <a:solidFill>
                  <a:srgbClr val="F2F8FC"/>
                </a:solidFill>
                <a:latin typeface="Segoe UI"/>
              </a:rPr>
              <a:t>3 per maand</a:t>
            </a:r>
          </a:p>
        </p:txBody>
      </p:sp>
      <p:sp>
        <p:nvSpPr>
          <p:cNvPr id="12" name="TextBox 11"/>
          <p:cNvSpPr txBox="1"/>
          <p:nvPr/>
        </p:nvSpPr>
        <p:spPr>
          <a:xfrm>
            <a:off x="3403514" y="2235144"/>
            <a:ext cx="2603434" cy="215894"/>
          </a:xfrm>
          <a:prstGeom prst="rect">
            <a:avLst/>
          </a:prstGeom>
          <a:noFill/>
        </p:spPr>
        <p:txBody>
          <a:bodyPr wrap="square" anchor="t" lIns="0" rIns="0" tIns="0" bIns="0">
            <a:spAutoFit/>
          </a:bodyPr>
          <a:lstStyle/>
          <a:p>
            <a:pPr algn="l">
              <a:lnSpc>
                <a:spcPct val="120000"/>
              </a:lnSpc>
            </a:pPr>
            <a:r>
              <a:rPr sz="1400" b="0">
                <a:solidFill>
                  <a:srgbClr val="8FB6D0"/>
                </a:solidFill>
                <a:latin typeface="Segoe UI"/>
              </a:rPr>
              <a:t>13 u/maand  ·  8 maanden</a:t>
            </a:r>
          </a:p>
        </p:txBody>
      </p:sp>
      <p:graphicFrame>
        <p:nvGraphicFramePr>
          <p:cNvPr id="13" name="Chart 12"/>
          <p:cNvGraphicFramePr>
            <a:graphicFrameLocks noGrp="1"/>
          </p:cNvGraphicFramePr>
          <p:nvPr/>
        </p:nvGraphicFramePr>
        <p:xfrm>
          <a:off x="3327316" y="2514537"/>
          <a:ext cx="2768530" cy="3174920"/>
        </p:xfrm>
        <a:graphic>
          <a:graphicData uri="http://schemas.openxmlformats.org/drawingml/2006/chart">
            <c:chart xmlns:c="http://schemas.openxmlformats.org/drawingml/2006/chart" r:id="rId4"/>
          </a:graphicData>
        </a:graphic>
      </p:graphicFrame>
      <p:sp>
        <p:nvSpPr>
          <p:cNvPr id="14" name="TextBox 13"/>
          <p:cNvSpPr txBox="1"/>
          <p:nvPr/>
        </p:nvSpPr>
        <p:spPr>
          <a:xfrm>
            <a:off x="6172045" y="1904952"/>
            <a:ext cx="2603434" cy="279393"/>
          </a:xfrm>
          <a:prstGeom prst="rect">
            <a:avLst/>
          </a:prstGeom>
          <a:noFill/>
        </p:spPr>
        <p:txBody>
          <a:bodyPr wrap="square" anchor="t" lIns="0" rIns="0" tIns="0" bIns="0">
            <a:spAutoFit/>
          </a:bodyPr>
          <a:lstStyle/>
          <a:p>
            <a:pPr algn="l">
              <a:lnSpc>
                <a:spcPct val="120000"/>
              </a:lnSpc>
            </a:pPr>
            <a:r>
              <a:rPr sz="2000" b="1">
                <a:solidFill>
                  <a:srgbClr val="F2F8FC"/>
                </a:solidFill>
                <a:latin typeface="Segoe UI"/>
              </a:rPr>
              <a:t>4 per maand</a:t>
            </a:r>
          </a:p>
        </p:txBody>
      </p:sp>
      <p:sp>
        <p:nvSpPr>
          <p:cNvPr id="15" name="TextBox 14"/>
          <p:cNvSpPr txBox="1"/>
          <p:nvPr/>
        </p:nvSpPr>
        <p:spPr>
          <a:xfrm>
            <a:off x="6172045" y="2235144"/>
            <a:ext cx="2603434" cy="215894"/>
          </a:xfrm>
          <a:prstGeom prst="rect">
            <a:avLst/>
          </a:prstGeom>
          <a:noFill/>
        </p:spPr>
        <p:txBody>
          <a:bodyPr wrap="square" anchor="t" lIns="0" rIns="0" tIns="0" bIns="0">
            <a:spAutoFit/>
          </a:bodyPr>
          <a:lstStyle/>
          <a:p>
            <a:pPr algn="l">
              <a:lnSpc>
                <a:spcPct val="120000"/>
              </a:lnSpc>
            </a:pPr>
            <a:r>
              <a:rPr sz="1400" b="0">
                <a:solidFill>
                  <a:srgbClr val="8FB6D0"/>
                </a:solidFill>
                <a:latin typeface="Segoe UI"/>
              </a:rPr>
              <a:t>16 u/maand  ·  6 maanden</a:t>
            </a:r>
          </a:p>
        </p:txBody>
      </p:sp>
      <p:graphicFrame>
        <p:nvGraphicFramePr>
          <p:cNvPr id="16" name="Chart 15"/>
          <p:cNvGraphicFramePr>
            <a:graphicFrameLocks noGrp="1"/>
          </p:cNvGraphicFramePr>
          <p:nvPr/>
        </p:nvGraphicFramePr>
        <p:xfrm>
          <a:off x="6095847" y="2514537"/>
          <a:ext cx="2768530" cy="3174920"/>
        </p:xfrm>
        <a:graphic>
          <a:graphicData uri="http://schemas.openxmlformats.org/drawingml/2006/chart">
            <c:chart xmlns:c="http://schemas.openxmlformats.org/drawingml/2006/chart" r:id="rId5"/>
          </a:graphicData>
        </a:graphic>
      </p:graphicFrame>
      <p:sp>
        <p:nvSpPr>
          <p:cNvPr id="17" name="TextBox 16"/>
          <p:cNvSpPr txBox="1"/>
          <p:nvPr/>
        </p:nvSpPr>
        <p:spPr>
          <a:xfrm>
            <a:off x="8940576" y="1904952"/>
            <a:ext cx="2603434" cy="279393"/>
          </a:xfrm>
          <a:prstGeom prst="rect">
            <a:avLst/>
          </a:prstGeom>
          <a:noFill/>
        </p:spPr>
        <p:txBody>
          <a:bodyPr wrap="square" anchor="t" lIns="0" rIns="0" tIns="0" bIns="0">
            <a:spAutoFit/>
          </a:bodyPr>
          <a:lstStyle/>
          <a:p>
            <a:pPr algn="l">
              <a:lnSpc>
                <a:spcPct val="120000"/>
              </a:lnSpc>
            </a:pPr>
            <a:r>
              <a:rPr sz="2000" b="1">
                <a:solidFill>
                  <a:srgbClr val="F2F8FC"/>
                </a:solidFill>
                <a:latin typeface="Segoe UI"/>
              </a:rPr>
              <a:t>5 per maand</a:t>
            </a:r>
          </a:p>
        </p:txBody>
      </p:sp>
      <p:sp>
        <p:nvSpPr>
          <p:cNvPr id="18" name="TextBox 17"/>
          <p:cNvSpPr txBox="1"/>
          <p:nvPr/>
        </p:nvSpPr>
        <p:spPr>
          <a:xfrm>
            <a:off x="8940576" y="2235144"/>
            <a:ext cx="2603434" cy="215894"/>
          </a:xfrm>
          <a:prstGeom prst="rect">
            <a:avLst/>
          </a:prstGeom>
          <a:noFill/>
        </p:spPr>
        <p:txBody>
          <a:bodyPr wrap="square" anchor="t" lIns="0" rIns="0" tIns="0" bIns="0">
            <a:spAutoFit/>
          </a:bodyPr>
          <a:lstStyle/>
          <a:p>
            <a:pPr algn="l">
              <a:lnSpc>
                <a:spcPct val="120000"/>
              </a:lnSpc>
            </a:pPr>
            <a:r>
              <a:rPr sz="1400" b="0">
                <a:solidFill>
                  <a:srgbClr val="8FB6D0"/>
                </a:solidFill>
                <a:latin typeface="Segoe UI"/>
              </a:rPr>
              <a:t>19 u/maand  ·  5 maanden</a:t>
            </a:r>
          </a:p>
        </p:txBody>
      </p:sp>
      <p:graphicFrame>
        <p:nvGraphicFramePr>
          <p:cNvPr id="19" name="Chart 18"/>
          <p:cNvGraphicFramePr>
            <a:graphicFrameLocks noGrp="1"/>
          </p:cNvGraphicFramePr>
          <p:nvPr/>
        </p:nvGraphicFramePr>
        <p:xfrm>
          <a:off x="8864378" y="2514537"/>
          <a:ext cx="2768530" cy="3174920"/>
        </p:xfrm>
        <a:graphic>
          <a:graphicData uri="http://schemas.openxmlformats.org/drawingml/2006/chart">
            <c:chart xmlns:c="http://schemas.openxmlformats.org/drawingml/2006/chart" r:id="rId6"/>
          </a:graphicData>
        </a:graphic>
      </p:graphicFrame>
      <p:sp>
        <p:nvSpPr>
          <p:cNvPr id="20" name="Rounded Rectangle 19"/>
          <p:cNvSpPr/>
          <p:nvPr/>
        </p:nvSpPr>
        <p:spPr>
          <a:xfrm>
            <a:off x="634984" y="5784705"/>
            <a:ext cx="114297" cy="114297"/>
          </a:xfrm>
          <a:prstGeom prst="roundRect">
            <a:avLst>
              <a:gd name="adj" fmla="val 20000"/>
            </a:avLst>
          </a:prstGeom>
          <a:solidFill>
            <a:srgbClr val="1D6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5479" y="5752956"/>
            <a:ext cx="3555911" cy="190495"/>
          </a:xfrm>
          <a:prstGeom prst="rect">
            <a:avLst/>
          </a:prstGeom>
          <a:noFill/>
        </p:spPr>
        <p:txBody>
          <a:bodyPr wrap="square" anchor="t" lIns="0" rIns="0" tIns="0" bIns="0">
            <a:spAutoFit/>
          </a:bodyPr>
          <a:lstStyle/>
          <a:p>
            <a:pPr algn="l">
              <a:lnSpc>
                <a:spcPct val="120000"/>
              </a:lnSpc>
            </a:pPr>
            <a:r>
              <a:rPr sz="1300" b="0">
                <a:solidFill>
                  <a:srgbClr val="8FB6D0"/>
                </a:solidFill>
                <a:latin typeface="Segoe UI"/>
              </a:rPr>
              <a:t>Inclusie: screening, toestemming, visite 1 en 2</a:t>
            </a:r>
          </a:p>
        </p:txBody>
      </p:sp>
      <p:sp>
        <p:nvSpPr>
          <p:cNvPr id="22" name="Rounded Rectangle 21"/>
          <p:cNvSpPr/>
          <p:nvPr/>
        </p:nvSpPr>
        <p:spPr>
          <a:xfrm>
            <a:off x="4444888" y="5784705"/>
            <a:ext cx="114297" cy="114297"/>
          </a:xfrm>
          <a:prstGeom prst="roundRect">
            <a:avLst>
              <a:gd name="adj" fmla="val 20000"/>
            </a:avLst>
          </a:prstGeom>
          <a:solidFill>
            <a:srgbClr val="DD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35384" y="5752956"/>
            <a:ext cx="2666933" cy="190495"/>
          </a:xfrm>
          <a:prstGeom prst="rect">
            <a:avLst/>
          </a:prstGeom>
          <a:noFill/>
        </p:spPr>
        <p:txBody>
          <a:bodyPr wrap="square" anchor="t" lIns="0" rIns="0" tIns="0" bIns="0">
            <a:spAutoFit/>
          </a:bodyPr>
          <a:lstStyle/>
          <a:p>
            <a:pPr algn="l">
              <a:lnSpc>
                <a:spcPct val="120000"/>
              </a:lnSpc>
            </a:pPr>
            <a:r>
              <a:rPr sz="1300" b="0">
                <a:solidFill>
                  <a:srgbClr val="8FB6D0"/>
                </a:solidFill>
                <a:latin typeface="Segoe UI"/>
              </a:rPr>
              <a:t>Maand 6, 12, 18 (met drukmeting)</a:t>
            </a:r>
          </a:p>
        </p:txBody>
      </p:sp>
      <p:sp>
        <p:nvSpPr>
          <p:cNvPr id="24" name="Rounded Rectangle 23"/>
          <p:cNvSpPr/>
          <p:nvPr/>
        </p:nvSpPr>
        <p:spPr>
          <a:xfrm>
            <a:off x="7365815" y="5784705"/>
            <a:ext cx="114297" cy="114297"/>
          </a:xfrm>
          <a:prstGeom prst="roundRect">
            <a:avLst>
              <a:gd name="adj" fmla="val 20000"/>
            </a:avLst>
          </a:prstGeom>
          <a:solidFill>
            <a:srgbClr val="2E9E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56311" y="5752956"/>
            <a:ext cx="1904952" cy="190495"/>
          </a:xfrm>
          <a:prstGeom prst="rect">
            <a:avLst/>
          </a:prstGeom>
          <a:noFill/>
        </p:spPr>
        <p:txBody>
          <a:bodyPr wrap="square" anchor="t" lIns="0" rIns="0" tIns="0" bIns="0">
            <a:spAutoFit/>
          </a:bodyPr>
          <a:lstStyle/>
          <a:p>
            <a:pPr algn="l">
              <a:lnSpc>
                <a:spcPct val="120000"/>
              </a:lnSpc>
            </a:pPr>
            <a:r>
              <a:rPr sz="1300" b="0">
                <a:solidFill>
                  <a:srgbClr val="8FB6D0"/>
                </a:solidFill>
                <a:latin typeface="Segoe UI"/>
              </a:rPr>
              <a:t>Maand 3, 9, 15</a:t>
            </a:r>
          </a:p>
        </p:txBody>
      </p:sp>
      <p:sp>
        <p:nvSpPr>
          <p:cNvPr id="26" name="TextBox 25"/>
          <p:cNvSpPr txBox="1"/>
          <p:nvPr/>
        </p:nvSpPr>
        <p:spPr>
          <a:xfrm>
            <a:off x="634984" y="6032349"/>
            <a:ext cx="10921726" cy="190495"/>
          </a:xfrm>
          <a:prstGeom prst="rect">
            <a:avLst/>
          </a:prstGeom>
          <a:noFill/>
        </p:spPr>
        <p:txBody>
          <a:bodyPr wrap="square" anchor="t" lIns="0" rIns="0" tIns="0" bIns="0">
            <a:spAutoFit/>
          </a:bodyPr>
          <a:lstStyle/>
          <a:p>
            <a:pPr algn="l">
              <a:lnSpc>
                <a:spcPct val="120000"/>
              </a:lnSpc>
            </a:pPr>
            <a:r>
              <a:rPr sz="1200" b="0">
                <a:solidFill>
                  <a:srgbClr val="8FB6D0"/>
                </a:solidFill>
                <a:latin typeface="Segoe UI"/>
              </a:rPr>
              <a:t>Uren per maand (verticaal) · maand na de start van de inclusie (horizontaal)</a:t>
            </a:r>
          </a:p>
        </p:txBody>
      </p:sp>
      <p:sp>
        <p:nvSpPr>
          <p:cNvPr id="27" name="TextBox 26"/>
          <p:cNvSpPr txBox="1"/>
          <p:nvPr/>
        </p:nvSpPr>
        <p:spPr>
          <a:xfrm>
            <a:off x="634984" y="6387940"/>
            <a:ext cx="9397765" cy="177795"/>
          </a:xfrm>
          <a:prstGeom prst="rect">
            <a:avLst/>
          </a:prstGeom>
          <a:noFill/>
        </p:spPr>
        <p:txBody>
          <a:bodyPr wrap="square" anchor="t" lIns="0" rIns="0" tIns="0" bIns="0">
            <a:spAutoFit/>
          </a:bodyPr>
          <a:lstStyle/>
          <a:p>
            <a:pPr algn="l">
              <a:lnSpc>
                <a:spcPct val="120000"/>
              </a:lnSpc>
            </a:pPr>
            <a:r>
              <a:rPr sz="1000" b="0">
                <a:solidFill>
                  <a:srgbClr val="8FB6D0"/>
                </a:solidFill>
                <a:latin typeface="Consolas"/>
              </a:rPr>
              <a:t>Gemiddelde van 2.000 runs · middenwaarde van de visiteduur · zonder uitval en ulcusvisites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erk.png"/>
          <p:cNvPicPr>
            <a:picLocks noChangeAspect="1"/>
          </p:cNvPicPr>
          <p:nvPr/>
        </p:nvPicPr>
        <p:blipFill>
          <a:blip r:embed="rId2"/>
          <a:stretch>
            <a:fillRect/>
          </a:stretch>
        </p:blipFill>
        <p:spPr>
          <a:xfrm>
            <a:off x="11061423" y="368290"/>
            <a:ext cx="417100" cy="482587"/>
          </a:xfrm>
          <a:prstGeom prst="rect">
            <a:avLst/>
          </a:prstGeom>
        </p:spPr>
      </p:pic>
      <p:sp>
        <p:nvSpPr>
          <p:cNvPr id="4" name="TextBox 3"/>
          <p:cNvSpPr txBox="1"/>
          <p:nvPr/>
        </p:nvSpPr>
        <p:spPr>
          <a:xfrm>
            <a:off x="10540736" y="6387940"/>
            <a:ext cx="1015974" cy="177795"/>
          </a:xfrm>
          <a:prstGeom prst="rect">
            <a:avLst/>
          </a:prstGeom>
          <a:noFill/>
        </p:spPr>
        <p:txBody>
          <a:bodyPr wrap="square" anchor="t" lIns="0" rIns="0" tIns="0" bIns="0">
            <a:spAutoFit/>
          </a:bodyPr>
          <a:lstStyle/>
          <a:p>
            <a:pPr algn="r">
              <a:lnSpc>
                <a:spcPct val="120000"/>
              </a:lnSpc>
            </a:pPr>
            <a:r>
              <a:rPr sz="1050" b="0">
                <a:solidFill>
                  <a:srgbClr val="8FB6D0"/>
                </a:solidFill>
                <a:latin typeface="Consolas"/>
              </a:rPr>
              <a:t>06 / 10</a:t>
            </a:r>
          </a:p>
        </p:txBody>
      </p:sp>
      <p:sp>
        <p:nvSpPr>
          <p:cNvPr id="5" name="TextBox 4"/>
          <p:cNvSpPr txBox="1"/>
          <p:nvPr/>
        </p:nvSpPr>
        <p:spPr>
          <a:xfrm>
            <a:off x="634984" y="571485"/>
            <a:ext cx="9524761" cy="215894"/>
          </a:xfrm>
          <a:prstGeom prst="rect">
            <a:avLst/>
          </a:prstGeom>
          <a:noFill/>
        </p:spPr>
        <p:txBody>
          <a:bodyPr wrap="square" anchor="t" lIns="0" rIns="0" tIns="0" bIns="0">
            <a:spAutoFit/>
          </a:bodyPr>
          <a:lstStyle/>
          <a:p>
            <a:pPr algn="l">
              <a:lnSpc>
                <a:spcPct val="120000"/>
              </a:lnSpc>
            </a:pPr>
            <a:r>
              <a:rPr sz="1250" b="1" spc="240">
                <a:solidFill>
                  <a:srgbClr val="52BDEC"/>
                </a:solidFill>
                <a:latin typeface="Consolas"/>
              </a:rPr>
              <a:t>BELASTING TEN OPZICHTE VAN ELKAAR</a:t>
            </a:r>
          </a:p>
        </p:txBody>
      </p:sp>
      <p:sp>
        <p:nvSpPr>
          <p:cNvPr id="6" name="TextBox 5"/>
          <p:cNvSpPr txBox="1"/>
          <p:nvPr/>
        </p:nvSpPr>
        <p:spPr>
          <a:xfrm>
            <a:off x="634984" y="838179"/>
            <a:ext cx="10032749" cy="571485"/>
          </a:xfrm>
          <a:prstGeom prst="rect">
            <a:avLst/>
          </a:prstGeom>
          <a:noFill/>
        </p:spPr>
        <p:txBody>
          <a:bodyPr wrap="square" anchor="t" lIns="0" rIns="0" tIns="0" bIns="0">
            <a:spAutoFit/>
          </a:bodyPr>
          <a:lstStyle/>
          <a:p>
            <a:pPr algn="l">
              <a:lnSpc>
                <a:spcPct val="110000"/>
              </a:lnSpc>
            </a:pPr>
            <a:r>
              <a:rPr sz="3600" b="1">
                <a:solidFill>
                  <a:srgbClr val="F2F8FC"/>
                </a:solidFill>
                <a:latin typeface="Segoe UI"/>
              </a:rPr>
              <a:t>Drie of vier per maand</a:t>
            </a:r>
          </a:p>
        </p:txBody>
      </p:sp>
      <p:sp>
        <p:nvSpPr>
          <p:cNvPr id="7" name="TextBox 6"/>
          <p:cNvSpPr txBox="1"/>
          <p:nvPr/>
        </p:nvSpPr>
        <p:spPr>
          <a:xfrm>
            <a:off x="634984" y="1409664"/>
            <a:ext cx="10032749" cy="279393"/>
          </a:xfrm>
          <a:prstGeom prst="rect">
            <a:avLst/>
          </a:prstGeom>
          <a:noFill/>
        </p:spPr>
        <p:txBody>
          <a:bodyPr wrap="square" anchor="t" lIns="0" rIns="0" tIns="0" bIns="0">
            <a:spAutoFit/>
          </a:bodyPr>
          <a:lstStyle/>
          <a:p>
            <a:pPr algn="l">
              <a:lnSpc>
                <a:spcPct val="120000"/>
              </a:lnSpc>
            </a:pPr>
            <a:r>
              <a:rPr sz="1900" b="0">
                <a:solidFill>
                  <a:srgbClr val="8FB6D0"/>
                </a:solidFill>
                <a:latin typeface="Segoe UI"/>
              </a:rPr>
              <a:t>Vier wint twee maanden en kost 2,5 uur per maand meer.</a:t>
            </a:r>
          </a:p>
        </p:txBody>
      </p:sp>
      <p:graphicFrame>
        <p:nvGraphicFramePr>
          <p:cNvPr id="8" name="Chart 7"/>
          <p:cNvGraphicFramePr>
            <a:graphicFrameLocks noGrp="1"/>
          </p:cNvGraphicFramePr>
          <p:nvPr/>
        </p:nvGraphicFramePr>
        <p:xfrm>
          <a:off x="571485" y="2031949"/>
          <a:ext cx="4952876" cy="3619409"/>
        </p:xfrm>
        <a:graphic>
          <a:graphicData uri="http://schemas.openxmlformats.org/drawingml/2006/chart">
            <c:chart xmlns:c="http://schemas.openxmlformats.org/drawingml/2006/chart" r:id="rId3"/>
          </a:graphicData>
        </a:graphic>
      </p:graphicFrame>
      <p:sp>
        <p:nvSpPr>
          <p:cNvPr id="9" name="Rounded Rectangle 8"/>
          <p:cNvSpPr/>
          <p:nvPr/>
        </p:nvSpPr>
        <p:spPr>
          <a:xfrm>
            <a:off x="634984" y="5784705"/>
            <a:ext cx="114297" cy="114297"/>
          </a:xfrm>
          <a:prstGeom prst="roundRect">
            <a:avLst>
              <a:gd name="adj" fmla="val 20000"/>
            </a:avLst>
          </a:prstGeom>
          <a:solidFill>
            <a:srgbClr val="2E9E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5479" y="5752956"/>
            <a:ext cx="1269968" cy="190495"/>
          </a:xfrm>
          <a:prstGeom prst="rect">
            <a:avLst/>
          </a:prstGeom>
          <a:noFill/>
        </p:spPr>
        <p:txBody>
          <a:bodyPr wrap="square" anchor="t" lIns="0" rIns="0" tIns="0" bIns="0">
            <a:spAutoFit/>
          </a:bodyPr>
          <a:lstStyle/>
          <a:p>
            <a:pPr algn="l">
              <a:lnSpc>
                <a:spcPct val="120000"/>
              </a:lnSpc>
            </a:pPr>
            <a:r>
              <a:rPr sz="1300" b="0">
                <a:solidFill>
                  <a:srgbClr val="8FB6D0"/>
                </a:solidFill>
                <a:latin typeface="Segoe UI"/>
              </a:rPr>
              <a:t>3 per maand</a:t>
            </a:r>
          </a:p>
        </p:txBody>
      </p:sp>
      <p:sp>
        <p:nvSpPr>
          <p:cNvPr id="11" name="Rounded Rectangle 10"/>
          <p:cNvSpPr/>
          <p:nvPr/>
        </p:nvSpPr>
        <p:spPr>
          <a:xfrm>
            <a:off x="2031949" y="5784705"/>
            <a:ext cx="114297" cy="114297"/>
          </a:xfrm>
          <a:prstGeom prst="roundRect">
            <a:avLst>
              <a:gd name="adj" fmla="val 20000"/>
            </a:avLst>
          </a:prstGeom>
          <a:solidFill>
            <a:srgbClr val="DD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22444" y="5752956"/>
            <a:ext cx="1269968" cy="190495"/>
          </a:xfrm>
          <a:prstGeom prst="rect">
            <a:avLst/>
          </a:prstGeom>
          <a:noFill/>
        </p:spPr>
        <p:txBody>
          <a:bodyPr wrap="square" anchor="t" lIns="0" rIns="0" tIns="0" bIns="0">
            <a:spAutoFit/>
          </a:bodyPr>
          <a:lstStyle/>
          <a:p>
            <a:pPr algn="l">
              <a:lnSpc>
                <a:spcPct val="120000"/>
              </a:lnSpc>
            </a:pPr>
            <a:r>
              <a:rPr sz="1300" b="0">
                <a:solidFill>
                  <a:srgbClr val="8FB6D0"/>
                </a:solidFill>
                <a:latin typeface="Segoe UI"/>
              </a:rPr>
              <a:t>4 per maand</a:t>
            </a:r>
          </a:p>
        </p:txBody>
      </p:sp>
      <p:sp>
        <p:nvSpPr>
          <p:cNvPr id="13" name="TextBox 12"/>
          <p:cNvSpPr txBox="1"/>
          <p:nvPr/>
        </p:nvSpPr>
        <p:spPr>
          <a:xfrm>
            <a:off x="634984" y="6032349"/>
            <a:ext cx="4952876" cy="190495"/>
          </a:xfrm>
          <a:prstGeom prst="rect">
            <a:avLst/>
          </a:prstGeom>
          <a:noFill/>
        </p:spPr>
        <p:txBody>
          <a:bodyPr wrap="square" anchor="t" lIns="0" rIns="0" tIns="0" bIns="0">
            <a:spAutoFit/>
          </a:bodyPr>
          <a:lstStyle/>
          <a:p>
            <a:pPr algn="l">
              <a:lnSpc>
                <a:spcPct val="120000"/>
              </a:lnSpc>
            </a:pPr>
            <a:r>
              <a:rPr sz="1200" b="0">
                <a:solidFill>
                  <a:srgbClr val="8FB6D0"/>
                </a:solidFill>
                <a:latin typeface="Segoe UI"/>
              </a:rPr>
              <a:t>Uren per maand per centrum · maand na de start</a:t>
            </a:r>
          </a:p>
        </p:txBody>
      </p:sp>
      <p:sp>
        <p:nvSpPr>
          <p:cNvPr id="14" name="TextBox 13"/>
          <p:cNvSpPr txBox="1"/>
          <p:nvPr/>
        </p:nvSpPr>
        <p:spPr>
          <a:xfrm>
            <a:off x="9397765" y="1955751"/>
            <a:ext cx="1015974" cy="190495"/>
          </a:xfrm>
          <a:prstGeom prst="rect">
            <a:avLst/>
          </a:prstGeom>
          <a:noFill/>
        </p:spPr>
        <p:txBody>
          <a:bodyPr wrap="square" anchor="t" lIns="0" rIns="0" tIns="0" bIns="0">
            <a:spAutoFit/>
          </a:bodyPr>
          <a:lstStyle/>
          <a:p>
            <a:pPr algn="r">
              <a:lnSpc>
                <a:spcPct val="120000"/>
              </a:lnSpc>
            </a:pPr>
            <a:r>
              <a:rPr sz="1300" b="1">
                <a:solidFill>
                  <a:srgbClr val="52BDEC"/>
                </a:solidFill>
                <a:latin typeface="Consolas"/>
              </a:rPr>
              <a:t>3 / mnd</a:t>
            </a:r>
          </a:p>
        </p:txBody>
      </p:sp>
      <p:sp>
        <p:nvSpPr>
          <p:cNvPr id="15" name="TextBox 14"/>
          <p:cNvSpPr txBox="1"/>
          <p:nvPr/>
        </p:nvSpPr>
        <p:spPr>
          <a:xfrm>
            <a:off x="10540736" y="1955751"/>
            <a:ext cx="1015974" cy="190495"/>
          </a:xfrm>
          <a:prstGeom prst="rect">
            <a:avLst/>
          </a:prstGeom>
          <a:noFill/>
        </p:spPr>
        <p:txBody>
          <a:bodyPr wrap="square" anchor="t" lIns="0" rIns="0" tIns="0" bIns="0">
            <a:spAutoFit/>
          </a:bodyPr>
          <a:lstStyle/>
          <a:p>
            <a:pPr algn="r">
              <a:lnSpc>
                <a:spcPct val="120000"/>
              </a:lnSpc>
            </a:pPr>
            <a:r>
              <a:rPr sz="1300" b="1">
                <a:solidFill>
                  <a:srgbClr val="52BDEC"/>
                </a:solidFill>
                <a:latin typeface="Consolas"/>
              </a:rPr>
              <a:t>4 / mnd</a:t>
            </a:r>
          </a:p>
        </p:txBody>
      </p:sp>
      <p:sp>
        <p:nvSpPr>
          <p:cNvPr id="16" name="Rectangle 15"/>
          <p:cNvSpPr/>
          <p:nvPr/>
        </p:nvSpPr>
        <p:spPr>
          <a:xfrm>
            <a:off x="5905352" y="2209744"/>
            <a:ext cx="5651358" cy="63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05352" y="2336741"/>
            <a:ext cx="3428914" cy="253993"/>
          </a:xfrm>
          <a:prstGeom prst="rect">
            <a:avLst/>
          </a:prstGeom>
          <a:noFill/>
        </p:spPr>
        <p:txBody>
          <a:bodyPr wrap="square" anchor="t" lIns="0" rIns="0" tIns="0" bIns="0">
            <a:spAutoFit/>
          </a:bodyPr>
          <a:lstStyle/>
          <a:p>
            <a:pPr algn="l">
              <a:lnSpc>
                <a:spcPct val="120000"/>
              </a:lnSpc>
            </a:pPr>
            <a:r>
              <a:rPr sz="1500" b="0">
                <a:solidFill>
                  <a:srgbClr val="8FB6D0"/>
                </a:solidFill>
                <a:latin typeface="Segoe UI"/>
              </a:rPr>
              <a:t>Inclusie klaar na</a:t>
            </a:r>
          </a:p>
        </p:txBody>
      </p:sp>
      <p:sp>
        <p:nvSpPr>
          <p:cNvPr id="18" name="TextBox 17"/>
          <p:cNvSpPr txBox="1"/>
          <p:nvPr/>
        </p:nvSpPr>
        <p:spPr>
          <a:xfrm>
            <a:off x="9270768" y="2317692"/>
            <a:ext cx="1142971" cy="253993"/>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7,9 mnd</a:t>
            </a:r>
          </a:p>
        </p:txBody>
      </p:sp>
      <p:sp>
        <p:nvSpPr>
          <p:cNvPr id="19" name="TextBox 18"/>
          <p:cNvSpPr txBox="1"/>
          <p:nvPr/>
        </p:nvSpPr>
        <p:spPr>
          <a:xfrm>
            <a:off x="10413739" y="2317692"/>
            <a:ext cx="1142971" cy="253993"/>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5,9 mnd</a:t>
            </a:r>
          </a:p>
        </p:txBody>
      </p:sp>
      <p:sp>
        <p:nvSpPr>
          <p:cNvPr id="20" name="Rectangle 19"/>
          <p:cNvSpPr/>
          <p:nvPr/>
        </p:nvSpPr>
        <p:spPr>
          <a:xfrm>
            <a:off x="5905352" y="2666933"/>
            <a:ext cx="5651358" cy="63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05352" y="2793930"/>
            <a:ext cx="3428914" cy="253993"/>
          </a:xfrm>
          <a:prstGeom prst="rect">
            <a:avLst/>
          </a:prstGeom>
          <a:noFill/>
        </p:spPr>
        <p:txBody>
          <a:bodyPr wrap="square" anchor="t" lIns="0" rIns="0" tIns="0" bIns="0">
            <a:spAutoFit/>
          </a:bodyPr>
          <a:lstStyle/>
          <a:p>
            <a:pPr algn="l">
              <a:lnSpc>
                <a:spcPct val="120000"/>
              </a:lnSpc>
            </a:pPr>
            <a:r>
              <a:rPr sz="1500" b="0">
                <a:solidFill>
                  <a:srgbClr val="8FB6D0"/>
                </a:solidFill>
                <a:latin typeface="Segoe UI"/>
              </a:rPr>
              <a:t>Uur per maand, tijdens inclusie</a:t>
            </a:r>
          </a:p>
        </p:txBody>
      </p:sp>
      <p:sp>
        <p:nvSpPr>
          <p:cNvPr id="22" name="TextBox 21"/>
          <p:cNvSpPr txBox="1"/>
          <p:nvPr/>
        </p:nvSpPr>
        <p:spPr>
          <a:xfrm>
            <a:off x="9270768" y="2774880"/>
            <a:ext cx="1142971" cy="253993"/>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13</a:t>
            </a:r>
          </a:p>
        </p:txBody>
      </p:sp>
      <p:sp>
        <p:nvSpPr>
          <p:cNvPr id="23" name="TextBox 22"/>
          <p:cNvSpPr txBox="1"/>
          <p:nvPr/>
        </p:nvSpPr>
        <p:spPr>
          <a:xfrm>
            <a:off x="10413739" y="2774880"/>
            <a:ext cx="1142971" cy="253993"/>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16</a:t>
            </a:r>
          </a:p>
        </p:txBody>
      </p:sp>
      <p:sp>
        <p:nvSpPr>
          <p:cNvPr id="24" name="Rectangle 23"/>
          <p:cNvSpPr/>
          <p:nvPr/>
        </p:nvSpPr>
        <p:spPr>
          <a:xfrm>
            <a:off x="5905352" y="3124121"/>
            <a:ext cx="5651358" cy="63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05352" y="3251118"/>
            <a:ext cx="3428914" cy="253993"/>
          </a:xfrm>
          <a:prstGeom prst="rect">
            <a:avLst/>
          </a:prstGeom>
          <a:noFill/>
        </p:spPr>
        <p:txBody>
          <a:bodyPr wrap="square" anchor="t" lIns="0" rIns="0" tIns="0" bIns="0">
            <a:spAutoFit/>
          </a:bodyPr>
          <a:lstStyle/>
          <a:p>
            <a:pPr algn="l">
              <a:lnSpc>
                <a:spcPct val="120000"/>
              </a:lnSpc>
            </a:pPr>
            <a:r>
              <a:rPr sz="1500" b="0">
                <a:solidFill>
                  <a:srgbClr val="8FB6D0"/>
                </a:solidFill>
                <a:latin typeface="Segoe UI"/>
              </a:rPr>
              <a:t>Uur per week</a:t>
            </a:r>
          </a:p>
        </p:txBody>
      </p:sp>
      <p:sp>
        <p:nvSpPr>
          <p:cNvPr id="26" name="TextBox 25"/>
          <p:cNvSpPr txBox="1"/>
          <p:nvPr/>
        </p:nvSpPr>
        <p:spPr>
          <a:xfrm>
            <a:off x="9270768" y="3232069"/>
            <a:ext cx="1142971" cy="253993"/>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3,0</a:t>
            </a:r>
          </a:p>
        </p:txBody>
      </p:sp>
      <p:sp>
        <p:nvSpPr>
          <p:cNvPr id="27" name="TextBox 26"/>
          <p:cNvSpPr txBox="1"/>
          <p:nvPr/>
        </p:nvSpPr>
        <p:spPr>
          <a:xfrm>
            <a:off x="10413739" y="3232069"/>
            <a:ext cx="1142971" cy="253993"/>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3,6</a:t>
            </a:r>
          </a:p>
        </p:txBody>
      </p:sp>
      <p:sp>
        <p:nvSpPr>
          <p:cNvPr id="28" name="Rectangle 27"/>
          <p:cNvSpPr/>
          <p:nvPr/>
        </p:nvSpPr>
        <p:spPr>
          <a:xfrm>
            <a:off x="5905352" y="3581310"/>
            <a:ext cx="5651358" cy="63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05352" y="3708307"/>
            <a:ext cx="3428914" cy="253993"/>
          </a:xfrm>
          <a:prstGeom prst="rect">
            <a:avLst/>
          </a:prstGeom>
          <a:noFill/>
        </p:spPr>
        <p:txBody>
          <a:bodyPr wrap="square" anchor="t" lIns="0" rIns="0" tIns="0" bIns="0">
            <a:spAutoFit/>
          </a:bodyPr>
          <a:lstStyle/>
          <a:p>
            <a:pPr algn="l">
              <a:lnSpc>
                <a:spcPct val="120000"/>
              </a:lnSpc>
            </a:pPr>
            <a:r>
              <a:rPr sz="1500" b="0">
                <a:solidFill>
                  <a:srgbClr val="8FB6D0"/>
                </a:solidFill>
                <a:latin typeface="Segoe UI"/>
              </a:rPr>
              <a:t>Drukste maand</a:t>
            </a:r>
          </a:p>
        </p:txBody>
      </p:sp>
      <p:sp>
        <p:nvSpPr>
          <p:cNvPr id="30" name="TextBox 29"/>
          <p:cNvSpPr txBox="1"/>
          <p:nvPr/>
        </p:nvSpPr>
        <p:spPr>
          <a:xfrm>
            <a:off x="9270768" y="3689257"/>
            <a:ext cx="1142971" cy="253993"/>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23 u</a:t>
            </a:r>
          </a:p>
        </p:txBody>
      </p:sp>
      <p:sp>
        <p:nvSpPr>
          <p:cNvPr id="31" name="TextBox 30"/>
          <p:cNvSpPr txBox="1"/>
          <p:nvPr/>
        </p:nvSpPr>
        <p:spPr>
          <a:xfrm>
            <a:off x="10413739" y="3689257"/>
            <a:ext cx="1142971" cy="253993"/>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26 u</a:t>
            </a:r>
          </a:p>
        </p:txBody>
      </p:sp>
      <p:sp>
        <p:nvSpPr>
          <p:cNvPr id="32" name="Rectangle 31"/>
          <p:cNvSpPr/>
          <p:nvPr/>
        </p:nvSpPr>
        <p:spPr>
          <a:xfrm>
            <a:off x="5905352" y="4038499"/>
            <a:ext cx="5651358" cy="63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05352" y="4165495"/>
            <a:ext cx="3428914" cy="253993"/>
          </a:xfrm>
          <a:prstGeom prst="rect">
            <a:avLst/>
          </a:prstGeom>
          <a:noFill/>
        </p:spPr>
        <p:txBody>
          <a:bodyPr wrap="square" anchor="t" lIns="0" rIns="0" tIns="0" bIns="0">
            <a:spAutoFit/>
          </a:bodyPr>
          <a:lstStyle/>
          <a:p>
            <a:pPr algn="l">
              <a:lnSpc>
                <a:spcPct val="120000"/>
              </a:lnSpc>
            </a:pPr>
            <a:r>
              <a:rPr sz="1500" b="0">
                <a:solidFill>
                  <a:srgbClr val="8FB6D0"/>
                </a:solidFill>
                <a:latin typeface="Segoe UI"/>
              </a:rPr>
              <a:t>MoveMonitor: wacht, na meetweek</a:t>
            </a:r>
          </a:p>
        </p:txBody>
      </p:sp>
      <p:sp>
        <p:nvSpPr>
          <p:cNvPr id="34" name="TextBox 33"/>
          <p:cNvSpPr txBox="1"/>
          <p:nvPr/>
        </p:nvSpPr>
        <p:spPr>
          <a:xfrm>
            <a:off x="9270768" y="4146446"/>
            <a:ext cx="1142971" cy="253993"/>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6%</a:t>
            </a:r>
          </a:p>
        </p:txBody>
      </p:sp>
      <p:sp>
        <p:nvSpPr>
          <p:cNvPr id="35" name="TextBox 34"/>
          <p:cNvSpPr txBox="1"/>
          <p:nvPr/>
        </p:nvSpPr>
        <p:spPr>
          <a:xfrm>
            <a:off x="10413739" y="4146446"/>
            <a:ext cx="1142971" cy="253993"/>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8%</a:t>
            </a:r>
          </a:p>
        </p:txBody>
      </p:sp>
      <p:sp>
        <p:nvSpPr>
          <p:cNvPr id="36" name="Rectangle 35"/>
          <p:cNvSpPr/>
          <p:nvPr/>
        </p:nvSpPr>
        <p:spPr>
          <a:xfrm>
            <a:off x="5905352" y="4495687"/>
            <a:ext cx="5651358" cy="63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05352" y="4622684"/>
            <a:ext cx="3428914" cy="253993"/>
          </a:xfrm>
          <a:prstGeom prst="rect">
            <a:avLst/>
          </a:prstGeom>
          <a:noFill/>
        </p:spPr>
        <p:txBody>
          <a:bodyPr wrap="square" anchor="t" lIns="0" rIns="0" tIns="0" bIns="0">
            <a:spAutoFit/>
          </a:bodyPr>
          <a:lstStyle/>
          <a:p>
            <a:pPr algn="l">
              <a:lnSpc>
                <a:spcPct val="120000"/>
              </a:lnSpc>
            </a:pPr>
            <a:r>
              <a:rPr sz="1500" b="0">
                <a:solidFill>
                  <a:srgbClr val="8FB6D0"/>
                </a:solidFill>
                <a:latin typeface="Segoe UI"/>
              </a:rPr>
              <a:t>MoveMonitor: wacht, op visite 2</a:t>
            </a:r>
          </a:p>
        </p:txBody>
      </p:sp>
      <p:sp>
        <p:nvSpPr>
          <p:cNvPr id="38" name="TextBox 37"/>
          <p:cNvSpPr txBox="1"/>
          <p:nvPr/>
        </p:nvSpPr>
        <p:spPr>
          <a:xfrm>
            <a:off x="9270768" y="4603634"/>
            <a:ext cx="1142971" cy="253993"/>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25%</a:t>
            </a:r>
          </a:p>
        </p:txBody>
      </p:sp>
      <p:sp>
        <p:nvSpPr>
          <p:cNvPr id="39" name="TextBox 38"/>
          <p:cNvSpPr txBox="1"/>
          <p:nvPr/>
        </p:nvSpPr>
        <p:spPr>
          <a:xfrm>
            <a:off x="10413739" y="4603634"/>
            <a:ext cx="1142971" cy="253993"/>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39%</a:t>
            </a:r>
          </a:p>
        </p:txBody>
      </p:sp>
      <p:sp>
        <p:nvSpPr>
          <p:cNvPr id="40" name="Rectangle 39"/>
          <p:cNvSpPr/>
          <p:nvPr/>
        </p:nvSpPr>
        <p:spPr>
          <a:xfrm>
            <a:off x="5905352" y="4952876"/>
            <a:ext cx="5651358" cy="63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05352" y="5079873"/>
            <a:ext cx="3428914" cy="253993"/>
          </a:xfrm>
          <a:prstGeom prst="rect">
            <a:avLst/>
          </a:prstGeom>
          <a:noFill/>
        </p:spPr>
        <p:txBody>
          <a:bodyPr wrap="square" anchor="t" lIns="0" rIns="0" tIns="0" bIns="0">
            <a:spAutoFit/>
          </a:bodyPr>
          <a:lstStyle/>
          <a:p>
            <a:pPr algn="l">
              <a:lnSpc>
                <a:spcPct val="120000"/>
              </a:lnSpc>
            </a:pPr>
            <a:r>
              <a:rPr sz="1500" b="0">
                <a:solidFill>
                  <a:srgbClr val="8FB6D0"/>
                </a:solidFill>
                <a:latin typeface="Segoe UI"/>
              </a:rPr>
              <a:t>Alle zes centra op tijd</a:t>
            </a:r>
          </a:p>
        </p:txBody>
      </p:sp>
      <p:sp>
        <p:nvSpPr>
          <p:cNvPr id="42" name="TextBox 41"/>
          <p:cNvSpPr txBox="1"/>
          <p:nvPr/>
        </p:nvSpPr>
        <p:spPr>
          <a:xfrm>
            <a:off x="9270768" y="5060823"/>
            <a:ext cx="1142971" cy="253993"/>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92%</a:t>
            </a:r>
          </a:p>
        </p:txBody>
      </p:sp>
      <p:sp>
        <p:nvSpPr>
          <p:cNvPr id="43" name="TextBox 42"/>
          <p:cNvSpPr txBox="1"/>
          <p:nvPr/>
        </p:nvSpPr>
        <p:spPr>
          <a:xfrm>
            <a:off x="10413739" y="5060823"/>
            <a:ext cx="1142971" cy="253993"/>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100%</a:t>
            </a:r>
          </a:p>
        </p:txBody>
      </p:sp>
      <p:sp>
        <p:nvSpPr>
          <p:cNvPr id="44" name="Rectangle 43"/>
          <p:cNvSpPr/>
          <p:nvPr/>
        </p:nvSpPr>
        <p:spPr>
          <a:xfrm>
            <a:off x="5905352" y="5410064"/>
            <a:ext cx="5651358" cy="63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05352" y="5537061"/>
            <a:ext cx="3428914" cy="253993"/>
          </a:xfrm>
          <a:prstGeom prst="rect">
            <a:avLst/>
          </a:prstGeom>
          <a:noFill/>
        </p:spPr>
        <p:txBody>
          <a:bodyPr wrap="square" anchor="t" lIns="0" rIns="0" tIns="0" bIns="0">
            <a:spAutoFit/>
          </a:bodyPr>
          <a:lstStyle/>
          <a:p>
            <a:pPr algn="l">
              <a:lnSpc>
                <a:spcPct val="120000"/>
              </a:lnSpc>
            </a:pPr>
            <a:r>
              <a:rPr sz="1500" b="0">
                <a:solidFill>
                  <a:srgbClr val="8FB6D0"/>
                </a:solidFill>
                <a:latin typeface="Segoe UI"/>
              </a:rPr>
              <a:t>Laatste visite</a:t>
            </a:r>
          </a:p>
        </p:txBody>
      </p:sp>
      <p:sp>
        <p:nvSpPr>
          <p:cNvPr id="46" name="TextBox 45"/>
          <p:cNvSpPr txBox="1"/>
          <p:nvPr/>
        </p:nvSpPr>
        <p:spPr>
          <a:xfrm>
            <a:off x="9270768" y="5518012"/>
            <a:ext cx="1142971" cy="253993"/>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mrt 2029</a:t>
            </a:r>
          </a:p>
        </p:txBody>
      </p:sp>
      <p:sp>
        <p:nvSpPr>
          <p:cNvPr id="47" name="TextBox 46"/>
          <p:cNvSpPr txBox="1"/>
          <p:nvPr/>
        </p:nvSpPr>
        <p:spPr>
          <a:xfrm>
            <a:off x="10413739" y="5518012"/>
            <a:ext cx="1142971" cy="253993"/>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jan 2029</a:t>
            </a:r>
          </a:p>
        </p:txBody>
      </p:sp>
      <p:sp>
        <p:nvSpPr>
          <p:cNvPr id="48" name="TextBox 47"/>
          <p:cNvSpPr txBox="1"/>
          <p:nvPr/>
        </p:nvSpPr>
        <p:spPr>
          <a:xfrm>
            <a:off x="634984" y="6387940"/>
            <a:ext cx="9397765" cy="177795"/>
          </a:xfrm>
          <a:prstGeom prst="rect">
            <a:avLst/>
          </a:prstGeom>
          <a:noFill/>
        </p:spPr>
        <p:txBody>
          <a:bodyPr wrap="square" anchor="t" lIns="0" rIns="0" tIns="0" bIns="0">
            <a:spAutoFit/>
          </a:bodyPr>
          <a:lstStyle/>
          <a:p>
            <a:pPr algn="l">
              <a:lnSpc>
                <a:spcPct val="120000"/>
              </a:lnSpc>
            </a:pPr>
            <a:r>
              <a:rPr sz="1000" b="0">
                <a:solidFill>
                  <a:srgbClr val="8FB6D0"/>
                </a:solidFill>
                <a:latin typeface="Consolas"/>
              </a:rPr>
              <a:t>Gemiddelde van 2.000 runs · “alle zes op tijd”: kans dat elk centrum 24 haalt binnen 12 maanden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erk.png"/>
          <p:cNvPicPr>
            <a:picLocks noChangeAspect="1"/>
          </p:cNvPicPr>
          <p:nvPr/>
        </p:nvPicPr>
        <p:blipFill>
          <a:blip r:embed="rId2"/>
          <a:stretch>
            <a:fillRect/>
          </a:stretch>
        </p:blipFill>
        <p:spPr>
          <a:xfrm>
            <a:off x="11061423" y="368290"/>
            <a:ext cx="417100" cy="482587"/>
          </a:xfrm>
          <a:prstGeom prst="rect">
            <a:avLst/>
          </a:prstGeom>
        </p:spPr>
      </p:pic>
      <p:sp>
        <p:nvSpPr>
          <p:cNvPr id="4" name="TextBox 3"/>
          <p:cNvSpPr txBox="1"/>
          <p:nvPr/>
        </p:nvSpPr>
        <p:spPr>
          <a:xfrm>
            <a:off x="10540736" y="6387940"/>
            <a:ext cx="1015974" cy="177795"/>
          </a:xfrm>
          <a:prstGeom prst="rect">
            <a:avLst/>
          </a:prstGeom>
          <a:noFill/>
        </p:spPr>
        <p:txBody>
          <a:bodyPr wrap="square" anchor="t" lIns="0" rIns="0" tIns="0" bIns="0">
            <a:spAutoFit/>
          </a:bodyPr>
          <a:lstStyle/>
          <a:p>
            <a:pPr algn="r">
              <a:lnSpc>
                <a:spcPct val="120000"/>
              </a:lnSpc>
            </a:pPr>
            <a:r>
              <a:rPr sz="1050" b="0">
                <a:solidFill>
                  <a:srgbClr val="8FB6D0"/>
                </a:solidFill>
                <a:latin typeface="Consolas"/>
              </a:rPr>
              <a:t>07 / 10</a:t>
            </a:r>
          </a:p>
        </p:txBody>
      </p:sp>
      <p:sp>
        <p:nvSpPr>
          <p:cNvPr id="5" name="TextBox 4"/>
          <p:cNvSpPr txBox="1"/>
          <p:nvPr/>
        </p:nvSpPr>
        <p:spPr>
          <a:xfrm>
            <a:off x="634984" y="571485"/>
            <a:ext cx="9524761" cy="215894"/>
          </a:xfrm>
          <a:prstGeom prst="rect">
            <a:avLst/>
          </a:prstGeom>
          <a:noFill/>
        </p:spPr>
        <p:txBody>
          <a:bodyPr wrap="square" anchor="t" lIns="0" rIns="0" tIns="0" bIns="0">
            <a:spAutoFit/>
          </a:bodyPr>
          <a:lstStyle/>
          <a:p>
            <a:pPr algn="l">
              <a:lnSpc>
                <a:spcPct val="120000"/>
              </a:lnSpc>
            </a:pPr>
            <a:r>
              <a:rPr sz="1250" b="1" spc="240">
                <a:solidFill>
                  <a:srgbClr val="52BDEC"/>
                </a:solidFill>
                <a:latin typeface="Consolas"/>
              </a:rPr>
              <a:t>ZELFDE TOTAAL</a:t>
            </a:r>
          </a:p>
        </p:txBody>
      </p:sp>
      <p:sp>
        <p:nvSpPr>
          <p:cNvPr id="6" name="TextBox 5"/>
          <p:cNvSpPr txBox="1"/>
          <p:nvPr/>
        </p:nvSpPr>
        <p:spPr>
          <a:xfrm>
            <a:off x="634984" y="838179"/>
            <a:ext cx="10032749" cy="571485"/>
          </a:xfrm>
          <a:prstGeom prst="rect">
            <a:avLst/>
          </a:prstGeom>
          <a:noFill/>
        </p:spPr>
        <p:txBody>
          <a:bodyPr wrap="square" anchor="t" lIns="0" rIns="0" tIns="0" bIns="0">
            <a:spAutoFit/>
          </a:bodyPr>
          <a:lstStyle/>
          <a:p>
            <a:pPr algn="l">
              <a:lnSpc>
                <a:spcPct val="110000"/>
              </a:lnSpc>
            </a:pPr>
            <a:r>
              <a:rPr sz="3600" b="1">
                <a:solidFill>
                  <a:srgbClr val="F2F8FC"/>
                </a:solidFill>
                <a:latin typeface="Segoe UI"/>
              </a:rPr>
              <a:t>Zelfde totaal, ander ritme</a:t>
            </a:r>
          </a:p>
        </p:txBody>
      </p:sp>
      <p:sp>
        <p:nvSpPr>
          <p:cNvPr id="7" name="TextBox 6"/>
          <p:cNvSpPr txBox="1"/>
          <p:nvPr/>
        </p:nvSpPr>
        <p:spPr>
          <a:xfrm>
            <a:off x="634984" y="1409664"/>
            <a:ext cx="10032749" cy="279393"/>
          </a:xfrm>
          <a:prstGeom prst="rect">
            <a:avLst/>
          </a:prstGeom>
          <a:noFill/>
        </p:spPr>
        <p:txBody>
          <a:bodyPr wrap="square" anchor="t" lIns="0" rIns="0" tIns="0" bIns="0">
            <a:spAutoFit/>
          </a:bodyPr>
          <a:lstStyle/>
          <a:p>
            <a:pPr algn="l">
              <a:lnSpc>
                <a:spcPct val="120000"/>
              </a:lnSpc>
            </a:pPr>
            <a:r>
              <a:rPr sz="1900" b="0">
                <a:solidFill>
                  <a:srgbClr val="8FB6D0"/>
                </a:solidFill>
                <a:latin typeface="Segoe UI"/>
              </a:rPr>
              <a:t>Sneller includeren maakt de studie korter, niet lichter.</a:t>
            </a:r>
          </a:p>
        </p:txBody>
      </p:sp>
      <p:graphicFrame>
        <p:nvGraphicFramePr>
          <p:cNvPr id="8" name="Chart 7"/>
          <p:cNvGraphicFramePr>
            <a:graphicFrameLocks noGrp="1"/>
          </p:cNvGraphicFramePr>
          <p:nvPr/>
        </p:nvGraphicFramePr>
        <p:xfrm>
          <a:off x="571485" y="1904952"/>
          <a:ext cx="7492812" cy="3936901"/>
        </p:xfrm>
        <a:graphic>
          <a:graphicData uri="http://schemas.openxmlformats.org/drawingml/2006/chart">
            <c:chart xmlns:c="http://schemas.openxmlformats.org/drawingml/2006/chart" r:id="rId3"/>
          </a:graphicData>
        </a:graphic>
      </p:graphicFrame>
      <p:sp>
        <p:nvSpPr>
          <p:cNvPr id="9" name="Rounded Rectangle 8"/>
          <p:cNvSpPr/>
          <p:nvPr/>
        </p:nvSpPr>
        <p:spPr>
          <a:xfrm>
            <a:off x="634984" y="5975200"/>
            <a:ext cx="114297" cy="114297"/>
          </a:xfrm>
          <a:prstGeom prst="roundRect">
            <a:avLst>
              <a:gd name="adj" fmla="val 20000"/>
            </a:avLst>
          </a:prstGeom>
          <a:solidFill>
            <a:srgbClr val="1D6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5479" y="5943451"/>
            <a:ext cx="1142971" cy="190495"/>
          </a:xfrm>
          <a:prstGeom prst="rect">
            <a:avLst/>
          </a:prstGeom>
          <a:noFill/>
        </p:spPr>
        <p:txBody>
          <a:bodyPr wrap="square" anchor="t" lIns="0" rIns="0" tIns="0" bIns="0">
            <a:spAutoFit/>
          </a:bodyPr>
          <a:lstStyle/>
          <a:p>
            <a:pPr algn="l">
              <a:lnSpc>
                <a:spcPct val="120000"/>
              </a:lnSpc>
            </a:pPr>
            <a:r>
              <a:rPr sz="1300" b="0">
                <a:solidFill>
                  <a:srgbClr val="8FB6D0"/>
                </a:solidFill>
                <a:latin typeface="Segoe UI"/>
              </a:rPr>
              <a:t>2 per maand</a:t>
            </a:r>
          </a:p>
        </p:txBody>
      </p:sp>
      <p:sp>
        <p:nvSpPr>
          <p:cNvPr id="11" name="Rounded Rectangle 10"/>
          <p:cNvSpPr/>
          <p:nvPr/>
        </p:nvSpPr>
        <p:spPr>
          <a:xfrm>
            <a:off x="2031949" y="5975200"/>
            <a:ext cx="114297" cy="114297"/>
          </a:xfrm>
          <a:prstGeom prst="roundRect">
            <a:avLst>
              <a:gd name="adj" fmla="val 20000"/>
            </a:avLst>
          </a:prstGeom>
          <a:solidFill>
            <a:srgbClr val="2E9F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22444" y="5943451"/>
            <a:ext cx="1142971" cy="190495"/>
          </a:xfrm>
          <a:prstGeom prst="rect">
            <a:avLst/>
          </a:prstGeom>
          <a:noFill/>
        </p:spPr>
        <p:txBody>
          <a:bodyPr wrap="square" anchor="t" lIns="0" rIns="0" tIns="0" bIns="0">
            <a:spAutoFit/>
          </a:bodyPr>
          <a:lstStyle/>
          <a:p>
            <a:pPr algn="l">
              <a:lnSpc>
                <a:spcPct val="120000"/>
              </a:lnSpc>
            </a:pPr>
            <a:r>
              <a:rPr sz="1300" b="0">
                <a:solidFill>
                  <a:srgbClr val="8FB6D0"/>
                </a:solidFill>
                <a:latin typeface="Segoe UI"/>
              </a:rPr>
              <a:t>3 per maand</a:t>
            </a:r>
          </a:p>
        </p:txBody>
      </p:sp>
      <p:sp>
        <p:nvSpPr>
          <p:cNvPr id="13" name="Rounded Rectangle 12"/>
          <p:cNvSpPr/>
          <p:nvPr/>
        </p:nvSpPr>
        <p:spPr>
          <a:xfrm>
            <a:off x="3428914" y="5975200"/>
            <a:ext cx="114297" cy="114297"/>
          </a:xfrm>
          <a:prstGeom prst="roundRect">
            <a:avLst>
              <a:gd name="adj" fmla="val 2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19409" y="5943451"/>
            <a:ext cx="1142971" cy="190495"/>
          </a:xfrm>
          <a:prstGeom prst="rect">
            <a:avLst/>
          </a:prstGeom>
          <a:noFill/>
        </p:spPr>
        <p:txBody>
          <a:bodyPr wrap="square" anchor="t" lIns="0" rIns="0" tIns="0" bIns="0">
            <a:spAutoFit/>
          </a:bodyPr>
          <a:lstStyle/>
          <a:p>
            <a:pPr algn="l">
              <a:lnSpc>
                <a:spcPct val="120000"/>
              </a:lnSpc>
            </a:pPr>
            <a:r>
              <a:rPr sz="1300" b="0">
                <a:solidFill>
                  <a:srgbClr val="8FB6D0"/>
                </a:solidFill>
                <a:latin typeface="Segoe UI"/>
              </a:rPr>
              <a:t>4 per maand</a:t>
            </a:r>
          </a:p>
        </p:txBody>
      </p:sp>
      <p:sp>
        <p:nvSpPr>
          <p:cNvPr id="15" name="Rounded Rectangle 14"/>
          <p:cNvSpPr/>
          <p:nvPr/>
        </p:nvSpPr>
        <p:spPr>
          <a:xfrm>
            <a:off x="4825879" y="5975200"/>
            <a:ext cx="114297" cy="114297"/>
          </a:xfrm>
          <a:prstGeom prst="roundRect">
            <a:avLst>
              <a:gd name="adj" fmla="val 20000"/>
            </a:avLst>
          </a:prstGeom>
          <a:solidFill>
            <a:srgbClr val="A6DC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16374" y="5943451"/>
            <a:ext cx="1142971" cy="190495"/>
          </a:xfrm>
          <a:prstGeom prst="rect">
            <a:avLst/>
          </a:prstGeom>
          <a:noFill/>
        </p:spPr>
        <p:txBody>
          <a:bodyPr wrap="square" anchor="t" lIns="0" rIns="0" tIns="0" bIns="0">
            <a:spAutoFit/>
          </a:bodyPr>
          <a:lstStyle/>
          <a:p>
            <a:pPr algn="l">
              <a:lnSpc>
                <a:spcPct val="120000"/>
              </a:lnSpc>
            </a:pPr>
            <a:r>
              <a:rPr sz="1300" b="0">
                <a:solidFill>
                  <a:srgbClr val="8FB6D0"/>
                </a:solidFill>
                <a:latin typeface="Segoe UI"/>
              </a:rPr>
              <a:t>5 per maand</a:t>
            </a:r>
          </a:p>
        </p:txBody>
      </p:sp>
      <p:sp>
        <p:nvSpPr>
          <p:cNvPr id="17" name="Rounded Rectangle 16"/>
          <p:cNvSpPr/>
          <p:nvPr/>
        </p:nvSpPr>
        <p:spPr>
          <a:xfrm>
            <a:off x="8508787" y="1904952"/>
            <a:ext cx="3047923" cy="3936901"/>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62780" y="2095447"/>
            <a:ext cx="2666933" cy="952476"/>
          </a:xfrm>
          <a:prstGeom prst="rect">
            <a:avLst/>
          </a:prstGeom>
          <a:noFill/>
        </p:spPr>
        <p:txBody>
          <a:bodyPr wrap="square" anchor="t" lIns="0" rIns="0" tIns="0" bIns="0">
            <a:spAutoFit/>
          </a:bodyPr>
          <a:lstStyle/>
          <a:p>
            <a:pPr algn="l">
              <a:lnSpc>
                <a:spcPct val="100000"/>
              </a:lnSpc>
            </a:pPr>
            <a:r>
              <a:rPr sz="7200" b="1">
                <a:solidFill>
                  <a:srgbClr val="52BDEC"/>
                </a:solidFill>
                <a:latin typeface="Segoe UI"/>
              </a:rPr>
              <a:t>228</a:t>
            </a:r>
          </a:p>
        </p:txBody>
      </p:sp>
      <p:sp>
        <p:nvSpPr>
          <p:cNvPr id="19" name="TextBox 18"/>
          <p:cNvSpPr txBox="1"/>
          <p:nvPr/>
        </p:nvSpPr>
        <p:spPr>
          <a:xfrm>
            <a:off x="8762780" y="3124121"/>
            <a:ext cx="2666933" cy="279393"/>
          </a:xfrm>
          <a:prstGeom prst="rect">
            <a:avLst/>
          </a:prstGeom>
          <a:noFill/>
        </p:spPr>
        <p:txBody>
          <a:bodyPr wrap="square" anchor="t" lIns="0" rIns="0" tIns="0" bIns="0">
            <a:spAutoFit/>
          </a:bodyPr>
          <a:lstStyle/>
          <a:p>
            <a:pPr algn="l">
              <a:lnSpc>
                <a:spcPct val="120000"/>
              </a:lnSpc>
            </a:pPr>
            <a:r>
              <a:rPr sz="1900" b="1">
                <a:solidFill>
                  <a:srgbClr val="F2F8FC"/>
                </a:solidFill>
                <a:latin typeface="Segoe UI"/>
              </a:rPr>
              <a:t>uur per centrum</a:t>
            </a:r>
          </a:p>
        </p:txBody>
      </p:sp>
      <p:sp>
        <p:nvSpPr>
          <p:cNvPr id="20" name="TextBox 19"/>
          <p:cNvSpPr txBox="1"/>
          <p:nvPr/>
        </p:nvSpPr>
        <p:spPr>
          <a:xfrm>
            <a:off x="8762780" y="3682907"/>
            <a:ext cx="2539936" cy="190495"/>
          </a:xfrm>
          <a:prstGeom prst="rect">
            <a:avLst/>
          </a:prstGeom>
          <a:noFill/>
        </p:spPr>
        <p:txBody>
          <a:bodyPr wrap="square" anchor="t" lIns="0" rIns="0" tIns="0" bIns="0">
            <a:spAutoFit/>
          </a:bodyPr>
          <a:lstStyle/>
          <a:p>
            <a:pPr algn="l">
              <a:lnSpc>
                <a:spcPct val="120000"/>
              </a:lnSpc>
            </a:pPr>
            <a:r>
              <a:rPr sz="1400" b="0">
                <a:solidFill>
                  <a:srgbClr val="8FB6D0"/>
                </a:solidFill>
                <a:latin typeface="Segoe UI"/>
              </a:rPr>
              <a:t>Laatste visite</a:t>
            </a:r>
          </a:p>
        </p:txBody>
      </p:sp>
      <p:sp>
        <p:nvSpPr>
          <p:cNvPr id="21" name="Rectangle 20"/>
          <p:cNvSpPr/>
          <p:nvPr/>
        </p:nvSpPr>
        <p:spPr>
          <a:xfrm>
            <a:off x="8762780" y="3975000"/>
            <a:ext cx="2539936" cy="63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62780" y="4076598"/>
            <a:ext cx="1269968" cy="215894"/>
          </a:xfrm>
          <a:prstGeom prst="rect">
            <a:avLst/>
          </a:prstGeom>
          <a:noFill/>
        </p:spPr>
        <p:txBody>
          <a:bodyPr wrap="square" anchor="t" lIns="0" rIns="0" tIns="0" bIns="0">
            <a:spAutoFit/>
          </a:bodyPr>
          <a:lstStyle/>
          <a:p>
            <a:pPr algn="l">
              <a:lnSpc>
                <a:spcPct val="120000"/>
              </a:lnSpc>
            </a:pPr>
            <a:r>
              <a:rPr sz="1600" b="0">
                <a:solidFill>
                  <a:srgbClr val="8FB6D0"/>
                </a:solidFill>
                <a:latin typeface="Segoe UI"/>
              </a:rPr>
              <a:t>2 per maand</a:t>
            </a:r>
          </a:p>
        </p:txBody>
      </p:sp>
      <p:sp>
        <p:nvSpPr>
          <p:cNvPr id="23" name="TextBox 22"/>
          <p:cNvSpPr txBox="1"/>
          <p:nvPr/>
        </p:nvSpPr>
        <p:spPr>
          <a:xfrm>
            <a:off x="10032749" y="4076598"/>
            <a:ext cx="1269968" cy="215894"/>
          </a:xfrm>
          <a:prstGeom prst="rect">
            <a:avLst/>
          </a:prstGeom>
          <a:noFill/>
        </p:spPr>
        <p:txBody>
          <a:bodyPr wrap="square" anchor="t" lIns="0" rIns="0" tIns="0" bIns="0">
            <a:spAutoFit/>
          </a:bodyPr>
          <a:lstStyle/>
          <a:p>
            <a:pPr algn="r">
              <a:lnSpc>
                <a:spcPct val="120000"/>
              </a:lnSpc>
            </a:pPr>
            <a:r>
              <a:rPr sz="1600" b="1">
                <a:solidFill>
                  <a:srgbClr val="F2F8FC"/>
                </a:solidFill>
                <a:latin typeface="Segoe UI"/>
              </a:rPr>
              <a:t>jul 2029</a:t>
            </a:r>
          </a:p>
        </p:txBody>
      </p:sp>
      <p:sp>
        <p:nvSpPr>
          <p:cNvPr id="24" name="Rectangle 23"/>
          <p:cNvSpPr/>
          <p:nvPr/>
        </p:nvSpPr>
        <p:spPr>
          <a:xfrm>
            <a:off x="8762780" y="4381390"/>
            <a:ext cx="2539936" cy="63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62780" y="4482987"/>
            <a:ext cx="1269968" cy="215894"/>
          </a:xfrm>
          <a:prstGeom prst="rect">
            <a:avLst/>
          </a:prstGeom>
          <a:noFill/>
        </p:spPr>
        <p:txBody>
          <a:bodyPr wrap="square" anchor="t" lIns="0" rIns="0" tIns="0" bIns="0">
            <a:spAutoFit/>
          </a:bodyPr>
          <a:lstStyle/>
          <a:p>
            <a:pPr algn="l">
              <a:lnSpc>
                <a:spcPct val="120000"/>
              </a:lnSpc>
            </a:pPr>
            <a:r>
              <a:rPr sz="1600" b="0">
                <a:solidFill>
                  <a:srgbClr val="8FB6D0"/>
                </a:solidFill>
                <a:latin typeface="Segoe UI"/>
              </a:rPr>
              <a:t>3 per maand</a:t>
            </a:r>
          </a:p>
        </p:txBody>
      </p:sp>
      <p:sp>
        <p:nvSpPr>
          <p:cNvPr id="26" name="TextBox 25"/>
          <p:cNvSpPr txBox="1"/>
          <p:nvPr/>
        </p:nvSpPr>
        <p:spPr>
          <a:xfrm>
            <a:off x="10032749" y="4482987"/>
            <a:ext cx="1269968" cy="215894"/>
          </a:xfrm>
          <a:prstGeom prst="rect">
            <a:avLst/>
          </a:prstGeom>
          <a:noFill/>
        </p:spPr>
        <p:txBody>
          <a:bodyPr wrap="square" anchor="t" lIns="0" rIns="0" tIns="0" bIns="0">
            <a:spAutoFit/>
          </a:bodyPr>
          <a:lstStyle/>
          <a:p>
            <a:pPr algn="r">
              <a:lnSpc>
                <a:spcPct val="120000"/>
              </a:lnSpc>
            </a:pPr>
            <a:r>
              <a:rPr sz="1600" b="1">
                <a:solidFill>
                  <a:srgbClr val="F2F8FC"/>
                </a:solidFill>
                <a:latin typeface="Segoe UI"/>
              </a:rPr>
              <a:t>mrt 2029</a:t>
            </a:r>
          </a:p>
        </p:txBody>
      </p:sp>
      <p:sp>
        <p:nvSpPr>
          <p:cNvPr id="27" name="Rectangle 26"/>
          <p:cNvSpPr/>
          <p:nvPr/>
        </p:nvSpPr>
        <p:spPr>
          <a:xfrm>
            <a:off x="8762780" y="4787780"/>
            <a:ext cx="2539936" cy="63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62780" y="4889377"/>
            <a:ext cx="1269968" cy="215894"/>
          </a:xfrm>
          <a:prstGeom prst="rect">
            <a:avLst/>
          </a:prstGeom>
          <a:noFill/>
        </p:spPr>
        <p:txBody>
          <a:bodyPr wrap="square" anchor="t" lIns="0" rIns="0" tIns="0" bIns="0">
            <a:spAutoFit/>
          </a:bodyPr>
          <a:lstStyle/>
          <a:p>
            <a:pPr algn="l">
              <a:lnSpc>
                <a:spcPct val="120000"/>
              </a:lnSpc>
            </a:pPr>
            <a:r>
              <a:rPr sz="1600" b="0">
                <a:solidFill>
                  <a:srgbClr val="8FB6D0"/>
                </a:solidFill>
                <a:latin typeface="Segoe UI"/>
              </a:rPr>
              <a:t>4 per maand</a:t>
            </a:r>
          </a:p>
        </p:txBody>
      </p:sp>
      <p:sp>
        <p:nvSpPr>
          <p:cNvPr id="29" name="TextBox 28"/>
          <p:cNvSpPr txBox="1"/>
          <p:nvPr/>
        </p:nvSpPr>
        <p:spPr>
          <a:xfrm>
            <a:off x="10032749" y="4889377"/>
            <a:ext cx="1269968" cy="215894"/>
          </a:xfrm>
          <a:prstGeom prst="rect">
            <a:avLst/>
          </a:prstGeom>
          <a:noFill/>
        </p:spPr>
        <p:txBody>
          <a:bodyPr wrap="square" anchor="t" lIns="0" rIns="0" tIns="0" bIns="0">
            <a:spAutoFit/>
          </a:bodyPr>
          <a:lstStyle/>
          <a:p>
            <a:pPr algn="r">
              <a:lnSpc>
                <a:spcPct val="120000"/>
              </a:lnSpc>
            </a:pPr>
            <a:r>
              <a:rPr sz="1600" b="1">
                <a:solidFill>
                  <a:srgbClr val="F2F8FC"/>
                </a:solidFill>
                <a:latin typeface="Segoe UI"/>
              </a:rPr>
              <a:t>jan 2029</a:t>
            </a:r>
          </a:p>
        </p:txBody>
      </p:sp>
      <p:sp>
        <p:nvSpPr>
          <p:cNvPr id="30" name="Rectangle 29"/>
          <p:cNvSpPr/>
          <p:nvPr/>
        </p:nvSpPr>
        <p:spPr>
          <a:xfrm>
            <a:off x="8762780" y="5194170"/>
            <a:ext cx="2539936" cy="63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762780" y="5295767"/>
            <a:ext cx="1269968" cy="215894"/>
          </a:xfrm>
          <a:prstGeom prst="rect">
            <a:avLst/>
          </a:prstGeom>
          <a:noFill/>
        </p:spPr>
        <p:txBody>
          <a:bodyPr wrap="square" anchor="t" lIns="0" rIns="0" tIns="0" bIns="0">
            <a:spAutoFit/>
          </a:bodyPr>
          <a:lstStyle/>
          <a:p>
            <a:pPr algn="l">
              <a:lnSpc>
                <a:spcPct val="120000"/>
              </a:lnSpc>
            </a:pPr>
            <a:r>
              <a:rPr sz="1600" b="0">
                <a:solidFill>
                  <a:srgbClr val="8FB6D0"/>
                </a:solidFill>
                <a:latin typeface="Segoe UI"/>
              </a:rPr>
              <a:t>5 per maand</a:t>
            </a:r>
          </a:p>
        </p:txBody>
      </p:sp>
      <p:sp>
        <p:nvSpPr>
          <p:cNvPr id="32" name="TextBox 31"/>
          <p:cNvSpPr txBox="1"/>
          <p:nvPr/>
        </p:nvSpPr>
        <p:spPr>
          <a:xfrm>
            <a:off x="10032749" y="5295767"/>
            <a:ext cx="1269968" cy="215894"/>
          </a:xfrm>
          <a:prstGeom prst="rect">
            <a:avLst/>
          </a:prstGeom>
          <a:noFill/>
        </p:spPr>
        <p:txBody>
          <a:bodyPr wrap="square" anchor="t" lIns="0" rIns="0" tIns="0" bIns="0">
            <a:spAutoFit/>
          </a:bodyPr>
          <a:lstStyle/>
          <a:p>
            <a:pPr algn="r">
              <a:lnSpc>
                <a:spcPct val="120000"/>
              </a:lnSpc>
            </a:pPr>
            <a:r>
              <a:rPr sz="1600" b="1">
                <a:solidFill>
                  <a:srgbClr val="F2F8FC"/>
                </a:solidFill>
                <a:latin typeface="Segoe UI"/>
              </a:rPr>
              <a:t>dec 2028</a:t>
            </a:r>
          </a:p>
        </p:txBody>
      </p:sp>
      <p:sp>
        <p:nvSpPr>
          <p:cNvPr id="33" name="TextBox 32"/>
          <p:cNvSpPr txBox="1"/>
          <p:nvPr/>
        </p:nvSpPr>
        <p:spPr>
          <a:xfrm>
            <a:off x="634984" y="6387940"/>
            <a:ext cx="9397765" cy="177795"/>
          </a:xfrm>
          <a:prstGeom prst="rect">
            <a:avLst/>
          </a:prstGeom>
          <a:noFill/>
        </p:spPr>
        <p:txBody>
          <a:bodyPr wrap="square" anchor="t" lIns="0" rIns="0" tIns="0" bIns="0">
            <a:spAutoFit/>
          </a:bodyPr>
          <a:lstStyle/>
          <a:p>
            <a:pPr algn="l">
              <a:lnSpc>
                <a:spcPct val="120000"/>
              </a:lnSpc>
            </a:pPr>
            <a:r>
              <a:rPr sz="1000" b="0">
                <a:solidFill>
                  <a:srgbClr val="8FB6D0"/>
                </a:solidFill>
                <a:latin typeface="Consolas"/>
              </a:rPr>
              <a:t>Opgetelde uren per centrum · 9,5 uur per deelnemer over 18 maanden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erk.png"/>
          <p:cNvPicPr>
            <a:picLocks noChangeAspect="1"/>
          </p:cNvPicPr>
          <p:nvPr/>
        </p:nvPicPr>
        <p:blipFill>
          <a:blip r:embed="rId2"/>
          <a:stretch>
            <a:fillRect/>
          </a:stretch>
        </p:blipFill>
        <p:spPr>
          <a:xfrm>
            <a:off x="11061423" y="368290"/>
            <a:ext cx="417100" cy="482587"/>
          </a:xfrm>
          <a:prstGeom prst="rect">
            <a:avLst/>
          </a:prstGeom>
        </p:spPr>
      </p:pic>
      <p:sp>
        <p:nvSpPr>
          <p:cNvPr id="4" name="TextBox 3"/>
          <p:cNvSpPr txBox="1"/>
          <p:nvPr/>
        </p:nvSpPr>
        <p:spPr>
          <a:xfrm>
            <a:off x="10540736" y="6387940"/>
            <a:ext cx="1015974" cy="177795"/>
          </a:xfrm>
          <a:prstGeom prst="rect">
            <a:avLst/>
          </a:prstGeom>
          <a:noFill/>
        </p:spPr>
        <p:txBody>
          <a:bodyPr wrap="square" anchor="t" lIns="0" rIns="0" tIns="0" bIns="0">
            <a:spAutoFit/>
          </a:bodyPr>
          <a:lstStyle/>
          <a:p>
            <a:pPr algn="r">
              <a:lnSpc>
                <a:spcPct val="120000"/>
              </a:lnSpc>
            </a:pPr>
            <a:r>
              <a:rPr sz="1050" b="0">
                <a:solidFill>
                  <a:srgbClr val="8FB6D0"/>
                </a:solidFill>
                <a:latin typeface="Consolas"/>
              </a:rPr>
              <a:t>08 / 10</a:t>
            </a:r>
          </a:p>
        </p:txBody>
      </p:sp>
      <p:sp>
        <p:nvSpPr>
          <p:cNvPr id="5" name="TextBox 4"/>
          <p:cNvSpPr txBox="1"/>
          <p:nvPr/>
        </p:nvSpPr>
        <p:spPr>
          <a:xfrm>
            <a:off x="634984" y="571485"/>
            <a:ext cx="9524761" cy="215894"/>
          </a:xfrm>
          <a:prstGeom prst="rect">
            <a:avLst/>
          </a:prstGeom>
          <a:noFill/>
        </p:spPr>
        <p:txBody>
          <a:bodyPr wrap="square" anchor="t" lIns="0" rIns="0" tIns="0" bIns="0">
            <a:spAutoFit/>
          </a:bodyPr>
          <a:lstStyle/>
          <a:p>
            <a:pPr algn="l">
              <a:lnSpc>
                <a:spcPct val="120000"/>
              </a:lnSpc>
            </a:pPr>
            <a:r>
              <a:rPr sz="1250" b="1" spc="240">
                <a:solidFill>
                  <a:srgbClr val="52BDEC"/>
                </a:solidFill>
                <a:latin typeface="Consolas"/>
              </a:rPr>
              <a:t>MOVEMONITORS</a:t>
            </a:r>
          </a:p>
        </p:txBody>
      </p:sp>
      <p:sp>
        <p:nvSpPr>
          <p:cNvPr id="6" name="TextBox 5"/>
          <p:cNvSpPr txBox="1"/>
          <p:nvPr/>
        </p:nvSpPr>
        <p:spPr>
          <a:xfrm>
            <a:off x="634984" y="838179"/>
            <a:ext cx="10032749" cy="571485"/>
          </a:xfrm>
          <a:prstGeom prst="rect">
            <a:avLst/>
          </a:prstGeom>
          <a:noFill/>
        </p:spPr>
        <p:txBody>
          <a:bodyPr wrap="square" anchor="t" lIns="0" rIns="0" tIns="0" bIns="0">
            <a:spAutoFit/>
          </a:bodyPr>
          <a:lstStyle/>
          <a:p>
            <a:pPr algn="l">
              <a:lnSpc>
                <a:spcPct val="110000"/>
              </a:lnSpc>
            </a:pPr>
            <a:r>
              <a:rPr sz="3600" b="1">
                <a:solidFill>
                  <a:srgbClr val="F2F8FC"/>
                </a:solidFill>
                <a:latin typeface="Segoe UI"/>
              </a:rPr>
              <a:t>Vier per centrum volstaan</a:t>
            </a:r>
          </a:p>
        </p:txBody>
      </p:sp>
      <p:sp>
        <p:nvSpPr>
          <p:cNvPr id="7" name="TextBox 6"/>
          <p:cNvSpPr txBox="1"/>
          <p:nvPr/>
        </p:nvSpPr>
        <p:spPr>
          <a:xfrm>
            <a:off x="634984" y="1409664"/>
            <a:ext cx="10032749" cy="279393"/>
          </a:xfrm>
          <a:prstGeom prst="rect">
            <a:avLst/>
          </a:prstGeom>
          <a:noFill/>
        </p:spPr>
        <p:txBody>
          <a:bodyPr wrap="square" anchor="t" lIns="0" rIns="0" tIns="0" bIns="0">
            <a:spAutoFit/>
          </a:bodyPr>
          <a:lstStyle/>
          <a:p>
            <a:pPr algn="l">
              <a:lnSpc>
                <a:spcPct val="120000"/>
              </a:lnSpc>
            </a:pPr>
            <a:r>
              <a:rPr sz="1900" b="0">
                <a:solidFill>
                  <a:srgbClr val="8FB6D0"/>
                </a:solidFill>
                <a:latin typeface="Segoe UI"/>
              </a:rPr>
              <a:t>Als het toestel na de meetweek terugkomt, niet pas op visite 2.</a:t>
            </a:r>
          </a:p>
        </p:txBody>
      </p:sp>
      <p:graphicFrame>
        <p:nvGraphicFramePr>
          <p:cNvPr id="8" name="Chart 7"/>
          <p:cNvGraphicFramePr>
            <a:graphicFrameLocks noGrp="1"/>
          </p:cNvGraphicFramePr>
          <p:nvPr/>
        </p:nvGraphicFramePr>
        <p:xfrm>
          <a:off x="571485" y="1904952"/>
          <a:ext cx="7492812" cy="3809904"/>
        </p:xfrm>
        <a:graphic>
          <a:graphicData uri="http://schemas.openxmlformats.org/drawingml/2006/chart">
            <c:chart xmlns:c="http://schemas.openxmlformats.org/drawingml/2006/chart" r:id="rId3"/>
          </a:graphicData>
        </a:graphic>
      </p:graphicFrame>
      <p:sp>
        <p:nvSpPr>
          <p:cNvPr id="9" name="Rounded Rectangle 8"/>
          <p:cNvSpPr/>
          <p:nvPr/>
        </p:nvSpPr>
        <p:spPr>
          <a:xfrm>
            <a:off x="634984" y="5848203"/>
            <a:ext cx="114297" cy="114297"/>
          </a:xfrm>
          <a:prstGeom prst="roundRect">
            <a:avLst>
              <a:gd name="adj" fmla="val 20000"/>
            </a:avLst>
          </a:prstGeom>
          <a:solidFill>
            <a:srgbClr val="2E9E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5479" y="5816454"/>
            <a:ext cx="3174920" cy="190495"/>
          </a:xfrm>
          <a:prstGeom prst="rect">
            <a:avLst/>
          </a:prstGeom>
          <a:noFill/>
        </p:spPr>
        <p:txBody>
          <a:bodyPr wrap="square" anchor="t" lIns="0" rIns="0" tIns="0" bIns="0">
            <a:spAutoFit/>
          </a:bodyPr>
          <a:lstStyle/>
          <a:p>
            <a:pPr algn="l">
              <a:lnSpc>
                <a:spcPct val="120000"/>
              </a:lnSpc>
            </a:pPr>
            <a:r>
              <a:rPr sz="1300" b="0">
                <a:solidFill>
                  <a:srgbClr val="8FB6D0"/>
                </a:solidFill>
                <a:latin typeface="Segoe UI"/>
              </a:rPr>
              <a:t>Terug na de meetweek (post of balie)</a:t>
            </a:r>
          </a:p>
        </p:txBody>
      </p:sp>
      <p:sp>
        <p:nvSpPr>
          <p:cNvPr id="11" name="Rounded Rectangle 10"/>
          <p:cNvSpPr/>
          <p:nvPr/>
        </p:nvSpPr>
        <p:spPr>
          <a:xfrm>
            <a:off x="4063898" y="5848203"/>
            <a:ext cx="114297" cy="114297"/>
          </a:xfrm>
          <a:prstGeom prst="roundRect">
            <a:avLst>
              <a:gd name="adj" fmla="val 20000"/>
            </a:avLst>
          </a:prstGeom>
          <a:solidFill>
            <a:srgbClr val="DD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54393" y="5816454"/>
            <a:ext cx="3174920" cy="190495"/>
          </a:xfrm>
          <a:prstGeom prst="rect">
            <a:avLst/>
          </a:prstGeom>
          <a:noFill/>
        </p:spPr>
        <p:txBody>
          <a:bodyPr wrap="square" anchor="t" lIns="0" rIns="0" tIns="0" bIns="0">
            <a:spAutoFit/>
          </a:bodyPr>
          <a:lstStyle/>
          <a:p>
            <a:pPr algn="l">
              <a:lnSpc>
                <a:spcPct val="120000"/>
              </a:lnSpc>
            </a:pPr>
            <a:r>
              <a:rPr sz="1300" b="0">
                <a:solidFill>
                  <a:srgbClr val="8FB6D0"/>
                </a:solidFill>
                <a:latin typeface="Segoe UI"/>
              </a:rPr>
              <a:t>Terug op visite 2 (eCRF 27 nu)</a:t>
            </a:r>
          </a:p>
        </p:txBody>
      </p:sp>
      <p:sp>
        <p:nvSpPr>
          <p:cNvPr id="13" name="TextBox 12"/>
          <p:cNvSpPr txBox="1"/>
          <p:nvPr/>
        </p:nvSpPr>
        <p:spPr>
          <a:xfrm>
            <a:off x="634984" y="6070448"/>
            <a:ext cx="7492812" cy="190495"/>
          </a:xfrm>
          <a:prstGeom prst="rect">
            <a:avLst/>
          </a:prstGeom>
          <a:noFill/>
        </p:spPr>
        <p:txBody>
          <a:bodyPr wrap="square" anchor="t" lIns="0" rIns="0" tIns="0" bIns="0">
            <a:spAutoFit/>
          </a:bodyPr>
          <a:lstStyle/>
          <a:p>
            <a:pPr algn="l">
              <a:lnSpc>
                <a:spcPct val="120000"/>
              </a:lnSpc>
            </a:pPr>
            <a:r>
              <a:rPr sz="1200" b="0">
                <a:solidFill>
                  <a:srgbClr val="8FB6D0"/>
                </a:solidFill>
                <a:latin typeface="Segoe UI"/>
              </a:rPr>
              <a:t>Aandeel deelnemers van wie visite 1 wacht op een vrij toestel</a:t>
            </a:r>
          </a:p>
        </p:txBody>
      </p:sp>
      <p:sp>
        <p:nvSpPr>
          <p:cNvPr id="14" name="Rounded Rectangle 13"/>
          <p:cNvSpPr/>
          <p:nvPr/>
        </p:nvSpPr>
        <p:spPr>
          <a:xfrm>
            <a:off x="8508787" y="1904952"/>
            <a:ext cx="3047923" cy="3936901"/>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62780" y="2108147"/>
            <a:ext cx="2603434" cy="3619409"/>
          </a:xfrm>
          <a:prstGeom prst="rect">
            <a:avLst/>
          </a:prstGeom>
          <a:noFill/>
        </p:spPr>
        <p:txBody>
          <a:bodyPr wrap="square" anchor="t" lIns="0" rIns="0" tIns="0" bIns="0">
            <a:spAutoFit/>
          </a:bodyPr>
          <a:lstStyle/>
          <a:p>
            <a:pPr algn="l">
              <a:lnSpc>
                <a:spcPct val="125000"/>
              </a:lnSpc>
            </a:pPr>
            <a:r>
              <a:rPr sz="1700" b="1">
                <a:solidFill>
                  <a:srgbClr val="F2F8FC"/>
                </a:solidFill>
                <a:latin typeface="Segoe UI"/>
              </a:rPr>
              <a:t>Terug op visite 2</a:t>
            </a:r>
          </a:p>
          <a:p>
            <a:pPr algn="l">
              <a:lnSpc>
                <a:spcPct val="125000"/>
              </a:lnSpc>
              <a:spcBef>
                <a:spcPts val="600"/>
              </a:spcBef>
            </a:pPr>
            <a:r>
              <a:rPr sz="1400" b="0">
                <a:solidFill>
                  <a:srgbClr val="8FB6D0"/>
                </a:solidFill>
                <a:latin typeface="Segoe UI"/>
              </a:rPr>
              <a:t>Meet één week, maar ligt twee tot vier weken bij de patiënt.</a:t>
            </a:r>
          </a:p>
          <a:p>
            <a:pPr algn="l">
              <a:lnSpc>
                <a:spcPct val="125000"/>
              </a:lnSpc>
              <a:spcBef>
                <a:spcPts val="1800"/>
              </a:spcBef>
            </a:pPr>
            <a:r>
              <a:rPr sz="1700" b="1">
                <a:solidFill>
                  <a:srgbClr val="F2F8FC"/>
                </a:solidFill>
                <a:latin typeface="Segoe UI"/>
              </a:rPr>
              <a:t>Rapport vóór visite 2</a:t>
            </a:r>
          </a:p>
          <a:p>
            <a:pPr algn="l">
              <a:lnSpc>
                <a:spcPct val="125000"/>
              </a:lnSpc>
              <a:spcBef>
                <a:spcPts val="600"/>
              </a:spcBef>
            </a:pPr>
            <a:r>
              <a:rPr sz="1400" b="0">
                <a:solidFill>
                  <a:srgbClr val="8FB6D0"/>
                </a:solidFill>
                <a:latin typeface="Segoe UI"/>
              </a:rPr>
              <a:t>De draagtijdnorm van de Orthotimer komt uit die week.</a:t>
            </a:r>
          </a:p>
          <a:p>
            <a:pPr algn="l">
              <a:lnSpc>
                <a:spcPct val="125000"/>
              </a:lnSpc>
              <a:spcBef>
                <a:spcPts val="1800"/>
              </a:spcBef>
            </a:pPr>
            <a:r>
              <a:rPr sz="1700" b="1">
                <a:solidFill>
                  <a:srgbClr val="F2F8FC"/>
                </a:solidFill>
                <a:latin typeface="Segoe UI"/>
              </a:rPr>
              <a:t>Maand 6</a:t>
            </a:r>
          </a:p>
          <a:p>
            <a:pPr algn="l">
              <a:lnSpc>
                <a:spcPct val="125000"/>
              </a:lnSpc>
              <a:spcBef>
                <a:spcPts val="600"/>
              </a:spcBef>
            </a:pPr>
            <a:r>
              <a:rPr sz="1400" b="0">
                <a:solidFill>
                  <a:srgbClr val="8FB6D0"/>
                </a:solidFill>
                <a:latin typeface="Segoe UI"/>
              </a:rPr>
              <a:t>Geen visite een week later: ook hier een retourroute.</a:t>
            </a:r>
          </a:p>
        </p:txBody>
      </p:sp>
      <p:sp>
        <p:nvSpPr>
          <p:cNvPr id="16" name="TextBox 15"/>
          <p:cNvSpPr txBox="1"/>
          <p:nvPr/>
        </p:nvSpPr>
        <p:spPr>
          <a:xfrm>
            <a:off x="634984" y="6387940"/>
            <a:ext cx="9397765" cy="177795"/>
          </a:xfrm>
          <a:prstGeom prst="rect">
            <a:avLst/>
          </a:prstGeom>
          <a:noFill/>
        </p:spPr>
        <p:txBody>
          <a:bodyPr wrap="square" anchor="t" lIns="0" rIns="0" tIns="0" bIns="0">
            <a:spAutoFit/>
          </a:bodyPr>
          <a:lstStyle/>
          <a:p>
            <a:pPr algn="l">
              <a:lnSpc>
                <a:spcPct val="120000"/>
              </a:lnSpc>
            </a:pPr>
            <a:r>
              <a:rPr sz="1000" b="0">
                <a:solidFill>
                  <a:srgbClr val="8FB6D0"/>
                </a:solidFill>
                <a:latin typeface="Consolas"/>
              </a:rPr>
              <a:t>Vier toestellen per centrum · baseline en maand 6 · start de dag na het meegeven, zeven dagen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erk.png"/>
          <p:cNvPicPr>
            <a:picLocks noChangeAspect="1"/>
          </p:cNvPicPr>
          <p:nvPr/>
        </p:nvPicPr>
        <p:blipFill>
          <a:blip r:embed="rId2"/>
          <a:stretch>
            <a:fillRect/>
          </a:stretch>
        </p:blipFill>
        <p:spPr>
          <a:xfrm>
            <a:off x="11061423" y="368290"/>
            <a:ext cx="417100" cy="482587"/>
          </a:xfrm>
          <a:prstGeom prst="rect">
            <a:avLst/>
          </a:prstGeom>
        </p:spPr>
      </p:pic>
      <p:sp>
        <p:nvSpPr>
          <p:cNvPr id="4" name="TextBox 3"/>
          <p:cNvSpPr txBox="1"/>
          <p:nvPr/>
        </p:nvSpPr>
        <p:spPr>
          <a:xfrm>
            <a:off x="10540736" y="6387940"/>
            <a:ext cx="1015974" cy="177795"/>
          </a:xfrm>
          <a:prstGeom prst="rect">
            <a:avLst/>
          </a:prstGeom>
          <a:noFill/>
        </p:spPr>
        <p:txBody>
          <a:bodyPr wrap="square" anchor="t" lIns="0" rIns="0" tIns="0" bIns="0">
            <a:spAutoFit/>
          </a:bodyPr>
          <a:lstStyle/>
          <a:p>
            <a:pPr algn="r">
              <a:lnSpc>
                <a:spcPct val="120000"/>
              </a:lnSpc>
            </a:pPr>
            <a:r>
              <a:rPr sz="1050" b="0">
                <a:solidFill>
                  <a:srgbClr val="8FB6D0"/>
                </a:solidFill>
                <a:latin typeface="Consolas"/>
              </a:rPr>
              <a:t>09 / 10</a:t>
            </a:r>
          </a:p>
        </p:txBody>
      </p:sp>
      <p:sp>
        <p:nvSpPr>
          <p:cNvPr id="5" name="TextBox 4"/>
          <p:cNvSpPr txBox="1"/>
          <p:nvPr/>
        </p:nvSpPr>
        <p:spPr>
          <a:xfrm>
            <a:off x="634984" y="571485"/>
            <a:ext cx="9524761" cy="215894"/>
          </a:xfrm>
          <a:prstGeom prst="rect">
            <a:avLst/>
          </a:prstGeom>
          <a:noFill/>
        </p:spPr>
        <p:txBody>
          <a:bodyPr wrap="square" anchor="t" lIns="0" rIns="0" tIns="0" bIns="0">
            <a:spAutoFit/>
          </a:bodyPr>
          <a:lstStyle/>
          <a:p>
            <a:pPr algn="l">
              <a:lnSpc>
                <a:spcPct val="120000"/>
              </a:lnSpc>
            </a:pPr>
            <a:r>
              <a:rPr sz="1250" b="1" spc="240">
                <a:solidFill>
                  <a:srgbClr val="52BDEC"/>
                </a:solidFill>
                <a:latin typeface="Consolas"/>
              </a:rPr>
              <a:t>ALLES NAAST ELKAAR</a:t>
            </a:r>
          </a:p>
        </p:txBody>
      </p:sp>
      <p:sp>
        <p:nvSpPr>
          <p:cNvPr id="6" name="TextBox 5"/>
          <p:cNvSpPr txBox="1"/>
          <p:nvPr/>
        </p:nvSpPr>
        <p:spPr>
          <a:xfrm>
            <a:off x="634984" y="838179"/>
            <a:ext cx="10032749" cy="571485"/>
          </a:xfrm>
          <a:prstGeom prst="rect">
            <a:avLst/>
          </a:prstGeom>
          <a:noFill/>
        </p:spPr>
        <p:txBody>
          <a:bodyPr wrap="square" anchor="t" lIns="0" rIns="0" tIns="0" bIns="0">
            <a:spAutoFit/>
          </a:bodyPr>
          <a:lstStyle/>
          <a:p>
            <a:pPr algn="l">
              <a:lnSpc>
                <a:spcPct val="110000"/>
              </a:lnSpc>
            </a:pPr>
            <a:r>
              <a:rPr sz="3600" b="1">
                <a:solidFill>
                  <a:srgbClr val="F2F8FC"/>
                </a:solidFill>
                <a:latin typeface="Segoe UI"/>
              </a:rPr>
              <a:t>Vier tempo’s vergeleken</a:t>
            </a:r>
          </a:p>
        </p:txBody>
      </p:sp>
      <p:sp>
        <p:nvSpPr>
          <p:cNvPr id="7" name="TextBox 6"/>
          <p:cNvSpPr txBox="1"/>
          <p:nvPr/>
        </p:nvSpPr>
        <p:spPr>
          <a:xfrm>
            <a:off x="4825879" y="1943051"/>
            <a:ext cx="1428714" cy="215894"/>
          </a:xfrm>
          <a:prstGeom prst="rect">
            <a:avLst/>
          </a:prstGeom>
          <a:noFill/>
        </p:spPr>
        <p:txBody>
          <a:bodyPr wrap="square" anchor="t" lIns="0" rIns="0" tIns="0" bIns="0">
            <a:spAutoFit/>
          </a:bodyPr>
          <a:lstStyle/>
          <a:p>
            <a:pPr algn="r">
              <a:lnSpc>
                <a:spcPct val="120000"/>
              </a:lnSpc>
            </a:pPr>
            <a:r>
              <a:rPr sz="1500" b="1">
                <a:solidFill>
                  <a:srgbClr val="52BDEC"/>
                </a:solidFill>
                <a:latin typeface="Consolas"/>
              </a:rPr>
              <a:t>2 / maand</a:t>
            </a:r>
          </a:p>
        </p:txBody>
      </p:sp>
      <p:sp>
        <p:nvSpPr>
          <p:cNvPr id="8" name="Rounded Rectangle 7"/>
          <p:cNvSpPr/>
          <p:nvPr/>
        </p:nvSpPr>
        <p:spPr>
          <a:xfrm>
            <a:off x="6508587" y="1816054"/>
            <a:ext cx="1581110" cy="4470288"/>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08587" y="1943051"/>
            <a:ext cx="1428714" cy="215894"/>
          </a:xfrm>
          <a:prstGeom prst="rect">
            <a:avLst/>
          </a:prstGeom>
          <a:noFill/>
        </p:spPr>
        <p:txBody>
          <a:bodyPr wrap="square" anchor="t" lIns="0" rIns="0" tIns="0" bIns="0">
            <a:spAutoFit/>
          </a:bodyPr>
          <a:lstStyle/>
          <a:p>
            <a:pPr algn="r">
              <a:lnSpc>
                <a:spcPct val="120000"/>
              </a:lnSpc>
            </a:pPr>
            <a:r>
              <a:rPr sz="1500" b="1">
                <a:solidFill>
                  <a:srgbClr val="52BDEC"/>
                </a:solidFill>
                <a:latin typeface="Consolas"/>
              </a:rPr>
              <a:t>3 / maand</a:t>
            </a:r>
          </a:p>
        </p:txBody>
      </p:sp>
      <p:sp>
        <p:nvSpPr>
          <p:cNvPr id="10" name="Rounded Rectangle 9"/>
          <p:cNvSpPr/>
          <p:nvPr/>
        </p:nvSpPr>
        <p:spPr>
          <a:xfrm>
            <a:off x="8191295" y="1816054"/>
            <a:ext cx="1581110" cy="4470288"/>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91295" y="1943051"/>
            <a:ext cx="1428714" cy="215894"/>
          </a:xfrm>
          <a:prstGeom prst="rect">
            <a:avLst/>
          </a:prstGeom>
          <a:noFill/>
        </p:spPr>
        <p:txBody>
          <a:bodyPr wrap="square" anchor="t" lIns="0" rIns="0" tIns="0" bIns="0">
            <a:spAutoFit/>
          </a:bodyPr>
          <a:lstStyle/>
          <a:p>
            <a:pPr algn="r">
              <a:lnSpc>
                <a:spcPct val="120000"/>
              </a:lnSpc>
            </a:pPr>
            <a:r>
              <a:rPr sz="1500" b="1">
                <a:solidFill>
                  <a:srgbClr val="52BDEC"/>
                </a:solidFill>
                <a:latin typeface="Consolas"/>
              </a:rPr>
              <a:t>4 / maand</a:t>
            </a:r>
          </a:p>
        </p:txBody>
      </p:sp>
      <p:sp>
        <p:nvSpPr>
          <p:cNvPr id="12" name="TextBox 11"/>
          <p:cNvSpPr txBox="1"/>
          <p:nvPr/>
        </p:nvSpPr>
        <p:spPr>
          <a:xfrm>
            <a:off x="9874003" y="1943051"/>
            <a:ext cx="1428714" cy="215894"/>
          </a:xfrm>
          <a:prstGeom prst="rect">
            <a:avLst/>
          </a:prstGeom>
          <a:noFill/>
        </p:spPr>
        <p:txBody>
          <a:bodyPr wrap="square" anchor="t" lIns="0" rIns="0" tIns="0" bIns="0">
            <a:spAutoFit/>
          </a:bodyPr>
          <a:lstStyle/>
          <a:p>
            <a:pPr algn="r">
              <a:lnSpc>
                <a:spcPct val="120000"/>
              </a:lnSpc>
            </a:pPr>
            <a:r>
              <a:rPr sz="1500" b="1">
                <a:solidFill>
                  <a:srgbClr val="52BDEC"/>
                </a:solidFill>
                <a:latin typeface="Consolas"/>
              </a:rPr>
              <a:t>5 / maand</a:t>
            </a:r>
          </a:p>
        </p:txBody>
      </p:sp>
      <p:sp>
        <p:nvSpPr>
          <p:cNvPr id="13" name="Rectangle 12"/>
          <p:cNvSpPr/>
          <p:nvPr/>
        </p:nvSpPr>
        <p:spPr>
          <a:xfrm>
            <a:off x="634984" y="2222444"/>
            <a:ext cx="10921726" cy="63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984" y="2324041"/>
            <a:ext cx="4063898" cy="228594"/>
          </a:xfrm>
          <a:prstGeom prst="rect">
            <a:avLst/>
          </a:prstGeom>
          <a:noFill/>
        </p:spPr>
        <p:txBody>
          <a:bodyPr wrap="square" anchor="t" lIns="0" rIns="0" tIns="0" bIns="0">
            <a:spAutoFit/>
          </a:bodyPr>
          <a:lstStyle/>
          <a:p>
            <a:pPr algn="l">
              <a:lnSpc>
                <a:spcPct val="110000"/>
              </a:lnSpc>
            </a:pPr>
            <a:r>
              <a:rPr sz="1500" b="0">
                <a:solidFill>
                  <a:srgbClr val="8FB6D0"/>
                </a:solidFill>
                <a:latin typeface="Segoe UI"/>
              </a:rPr>
              <a:t>Inclusie klaar na, maanden</a:t>
            </a:r>
          </a:p>
        </p:txBody>
      </p:sp>
      <p:sp>
        <p:nvSpPr>
          <p:cNvPr id="15" name="TextBox 14"/>
          <p:cNvSpPr txBox="1"/>
          <p:nvPr/>
        </p:nvSpPr>
        <p:spPr>
          <a:xfrm>
            <a:off x="4825879" y="231134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11,8</a:t>
            </a:r>
          </a:p>
        </p:txBody>
      </p:sp>
      <p:sp>
        <p:nvSpPr>
          <p:cNvPr id="16" name="TextBox 15"/>
          <p:cNvSpPr txBox="1"/>
          <p:nvPr/>
        </p:nvSpPr>
        <p:spPr>
          <a:xfrm>
            <a:off x="6508587" y="231134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7,9</a:t>
            </a:r>
          </a:p>
        </p:txBody>
      </p:sp>
      <p:sp>
        <p:nvSpPr>
          <p:cNvPr id="17" name="TextBox 16"/>
          <p:cNvSpPr txBox="1"/>
          <p:nvPr/>
        </p:nvSpPr>
        <p:spPr>
          <a:xfrm>
            <a:off x="8191295" y="231134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5,9</a:t>
            </a:r>
          </a:p>
        </p:txBody>
      </p:sp>
      <p:sp>
        <p:nvSpPr>
          <p:cNvPr id="18" name="TextBox 17"/>
          <p:cNvSpPr txBox="1"/>
          <p:nvPr/>
        </p:nvSpPr>
        <p:spPr>
          <a:xfrm>
            <a:off x="9874003" y="231134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4,7</a:t>
            </a:r>
          </a:p>
        </p:txBody>
      </p:sp>
      <p:sp>
        <p:nvSpPr>
          <p:cNvPr id="19" name="Rectangle 18"/>
          <p:cNvSpPr/>
          <p:nvPr/>
        </p:nvSpPr>
        <p:spPr>
          <a:xfrm>
            <a:off x="634984" y="2622484"/>
            <a:ext cx="10921726" cy="63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984" y="2724081"/>
            <a:ext cx="4063898" cy="228594"/>
          </a:xfrm>
          <a:prstGeom prst="rect">
            <a:avLst/>
          </a:prstGeom>
          <a:noFill/>
        </p:spPr>
        <p:txBody>
          <a:bodyPr wrap="square" anchor="t" lIns="0" rIns="0" tIns="0" bIns="0">
            <a:spAutoFit/>
          </a:bodyPr>
          <a:lstStyle/>
          <a:p>
            <a:pPr algn="l">
              <a:lnSpc>
                <a:spcPct val="110000"/>
              </a:lnSpc>
            </a:pPr>
            <a:r>
              <a:rPr sz="1500" b="0">
                <a:solidFill>
                  <a:srgbClr val="8FB6D0"/>
                </a:solidFill>
                <a:latin typeface="Segoe UI"/>
              </a:rPr>
              <a:t>24 binnen 12 maanden, per centrum</a:t>
            </a:r>
          </a:p>
        </p:txBody>
      </p:sp>
      <p:sp>
        <p:nvSpPr>
          <p:cNvPr id="21" name="TextBox 20"/>
          <p:cNvSpPr txBox="1"/>
          <p:nvPr/>
        </p:nvSpPr>
        <p:spPr>
          <a:xfrm>
            <a:off x="4825879" y="271138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53%</a:t>
            </a:r>
          </a:p>
        </p:txBody>
      </p:sp>
      <p:sp>
        <p:nvSpPr>
          <p:cNvPr id="22" name="TextBox 21"/>
          <p:cNvSpPr txBox="1"/>
          <p:nvPr/>
        </p:nvSpPr>
        <p:spPr>
          <a:xfrm>
            <a:off x="6508587" y="271138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98%</a:t>
            </a:r>
          </a:p>
        </p:txBody>
      </p:sp>
      <p:sp>
        <p:nvSpPr>
          <p:cNvPr id="23" name="TextBox 22"/>
          <p:cNvSpPr txBox="1"/>
          <p:nvPr/>
        </p:nvSpPr>
        <p:spPr>
          <a:xfrm>
            <a:off x="8191295" y="271138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100%</a:t>
            </a:r>
          </a:p>
        </p:txBody>
      </p:sp>
      <p:sp>
        <p:nvSpPr>
          <p:cNvPr id="24" name="TextBox 23"/>
          <p:cNvSpPr txBox="1"/>
          <p:nvPr/>
        </p:nvSpPr>
        <p:spPr>
          <a:xfrm>
            <a:off x="9874003" y="271138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100%</a:t>
            </a:r>
          </a:p>
        </p:txBody>
      </p:sp>
      <p:sp>
        <p:nvSpPr>
          <p:cNvPr id="25" name="Rectangle 24"/>
          <p:cNvSpPr/>
          <p:nvPr/>
        </p:nvSpPr>
        <p:spPr>
          <a:xfrm>
            <a:off x="634984" y="3022524"/>
            <a:ext cx="10921726" cy="63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4984" y="3124121"/>
            <a:ext cx="4063898" cy="228594"/>
          </a:xfrm>
          <a:prstGeom prst="rect">
            <a:avLst/>
          </a:prstGeom>
          <a:noFill/>
        </p:spPr>
        <p:txBody>
          <a:bodyPr wrap="square" anchor="t" lIns="0" rIns="0" tIns="0" bIns="0">
            <a:spAutoFit/>
          </a:bodyPr>
          <a:lstStyle/>
          <a:p>
            <a:pPr algn="l">
              <a:lnSpc>
                <a:spcPct val="110000"/>
              </a:lnSpc>
            </a:pPr>
            <a:r>
              <a:rPr sz="1500" b="0">
                <a:solidFill>
                  <a:srgbClr val="8FB6D0"/>
                </a:solidFill>
                <a:latin typeface="Segoe UI"/>
              </a:rPr>
              <a:t>Alle zes centra op tijd</a:t>
            </a:r>
          </a:p>
        </p:txBody>
      </p:sp>
      <p:sp>
        <p:nvSpPr>
          <p:cNvPr id="27" name="TextBox 26"/>
          <p:cNvSpPr txBox="1"/>
          <p:nvPr/>
        </p:nvSpPr>
        <p:spPr>
          <a:xfrm>
            <a:off x="4825879" y="311142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2%</a:t>
            </a:r>
          </a:p>
        </p:txBody>
      </p:sp>
      <p:sp>
        <p:nvSpPr>
          <p:cNvPr id="28" name="TextBox 27"/>
          <p:cNvSpPr txBox="1"/>
          <p:nvPr/>
        </p:nvSpPr>
        <p:spPr>
          <a:xfrm>
            <a:off x="6508587" y="311142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92%</a:t>
            </a:r>
          </a:p>
        </p:txBody>
      </p:sp>
      <p:sp>
        <p:nvSpPr>
          <p:cNvPr id="29" name="TextBox 28"/>
          <p:cNvSpPr txBox="1"/>
          <p:nvPr/>
        </p:nvSpPr>
        <p:spPr>
          <a:xfrm>
            <a:off x="8191295" y="311142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100%</a:t>
            </a:r>
          </a:p>
        </p:txBody>
      </p:sp>
      <p:sp>
        <p:nvSpPr>
          <p:cNvPr id="30" name="TextBox 29"/>
          <p:cNvSpPr txBox="1"/>
          <p:nvPr/>
        </p:nvSpPr>
        <p:spPr>
          <a:xfrm>
            <a:off x="9874003" y="311142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100%</a:t>
            </a:r>
          </a:p>
        </p:txBody>
      </p:sp>
      <p:sp>
        <p:nvSpPr>
          <p:cNvPr id="31" name="Rectangle 30"/>
          <p:cNvSpPr/>
          <p:nvPr/>
        </p:nvSpPr>
        <p:spPr>
          <a:xfrm>
            <a:off x="634984" y="3422564"/>
            <a:ext cx="10921726" cy="63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4984" y="3524161"/>
            <a:ext cx="4063898" cy="228594"/>
          </a:xfrm>
          <a:prstGeom prst="rect">
            <a:avLst/>
          </a:prstGeom>
          <a:noFill/>
        </p:spPr>
        <p:txBody>
          <a:bodyPr wrap="square" anchor="t" lIns="0" rIns="0" tIns="0" bIns="0">
            <a:spAutoFit/>
          </a:bodyPr>
          <a:lstStyle/>
          <a:p>
            <a:pPr algn="l">
              <a:lnSpc>
                <a:spcPct val="110000"/>
              </a:lnSpc>
            </a:pPr>
            <a:r>
              <a:rPr sz="1500" b="0">
                <a:solidFill>
                  <a:srgbClr val="8FB6D0"/>
                </a:solidFill>
                <a:latin typeface="Segoe UI"/>
              </a:rPr>
              <a:t>Uur per maand, tijdens inclusie</a:t>
            </a:r>
          </a:p>
        </p:txBody>
      </p:sp>
      <p:sp>
        <p:nvSpPr>
          <p:cNvPr id="33" name="TextBox 32"/>
          <p:cNvSpPr txBox="1"/>
          <p:nvPr/>
        </p:nvSpPr>
        <p:spPr>
          <a:xfrm>
            <a:off x="4825879" y="351146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10</a:t>
            </a:r>
          </a:p>
        </p:txBody>
      </p:sp>
      <p:sp>
        <p:nvSpPr>
          <p:cNvPr id="34" name="TextBox 33"/>
          <p:cNvSpPr txBox="1"/>
          <p:nvPr/>
        </p:nvSpPr>
        <p:spPr>
          <a:xfrm>
            <a:off x="6508587" y="351146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13</a:t>
            </a:r>
          </a:p>
        </p:txBody>
      </p:sp>
      <p:sp>
        <p:nvSpPr>
          <p:cNvPr id="35" name="TextBox 34"/>
          <p:cNvSpPr txBox="1"/>
          <p:nvPr/>
        </p:nvSpPr>
        <p:spPr>
          <a:xfrm>
            <a:off x="8191295" y="351146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16</a:t>
            </a:r>
          </a:p>
        </p:txBody>
      </p:sp>
      <p:sp>
        <p:nvSpPr>
          <p:cNvPr id="36" name="TextBox 35"/>
          <p:cNvSpPr txBox="1"/>
          <p:nvPr/>
        </p:nvSpPr>
        <p:spPr>
          <a:xfrm>
            <a:off x="9874003" y="351146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19</a:t>
            </a:r>
          </a:p>
        </p:txBody>
      </p:sp>
      <p:sp>
        <p:nvSpPr>
          <p:cNvPr id="37" name="Rectangle 36"/>
          <p:cNvSpPr/>
          <p:nvPr/>
        </p:nvSpPr>
        <p:spPr>
          <a:xfrm>
            <a:off x="634984" y="3822604"/>
            <a:ext cx="10921726" cy="63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4984" y="3924201"/>
            <a:ext cx="4063898" cy="228594"/>
          </a:xfrm>
          <a:prstGeom prst="rect">
            <a:avLst/>
          </a:prstGeom>
          <a:noFill/>
        </p:spPr>
        <p:txBody>
          <a:bodyPr wrap="square" anchor="t" lIns="0" rIns="0" tIns="0" bIns="0">
            <a:spAutoFit/>
          </a:bodyPr>
          <a:lstStyle/>
          <a:p>
            <a:pPr algn="l">
              <a:lnSpc>
                <a:spcPct val="110000"/>
              </a:lnSpc>
            </a:pPr>
            <a:r>
              <a:rPr sz="1400" b="0">
                <a:solidFill>
                  <a:srgbClr val="8FB6D0"/>
                </a:solidFill>
                <a:latin typeface="Segoe UI"/>
              </a:rPr>
              <a:t>t.o.v. 2 per maand</a:t>
            </a:r>
          </a:p>
        </p:txBody>
      </p:sp>
      <p:sp>
        <p:nvSpPr>
          <p:cNvPr id="39" name="TextBox 38"/>
          <p:cNvSpPr txBox="1"/>
          <p:nvPr/>
        </p:nvSpPr>
        <p:spPr>
          <a:xfrm>
            <a:off x="4825879" y="3911502"/>
            <a:ext cx="1428714" cy="228594"/>
          </a:xfrm>
          <a:prstGeom prst="rect">
            <a:avLst/>
          </a:prstGeom>
          <a:noFill/>
        </p:spPr>
        <p:txBody>
          <a:bodyPr wrap="square" anchor="t" lIns="0" rIns="0" tIns="0" bIns="0">
            <a:spAutoFit/>
          </a:bodyPr>
          <a:lstStyle/>
          <a:p>
            <a:pPr algn="r">
              <a:lnSpc>
                <a:spcPct val="120000"/>
              </a:lnSpc>
            </a:pPr>
            <a:r>
              <a:rPr sz="1500" b="0">
                <a:solidFill>
                  <a:srgbClr val="8FB6D0"/>
                </a:solidFill>
                <a:latin typeface="Segoe UI"/>
              </a:rPr>
              <a:t>1,0×</a:t>
            </a:r>
          </a:p>
        </p:txBody>
      </p:sp>
      <p:sp>
        <p:nvSpPr>
          <p:cNvPr id="40" name="TextBox 39"/>
          <p:cNvSpPr txBox="1"/>
          <p:nvPr/>
        </p:nvSpPr>
        <p:spPr>
          <a:xfrm>
            <a:off x="6508587" y="3911502"/>
            <a:ext cx="1428714" cy="228594"/>
          </a:xfrm>
          <a:prstGeom prst="rect">
            <a:avLst/>
          </a:prstGeom>
          <a:noFill/>
        </p:spPr>
        <p:txBody>
          <a:bodyPr wrap="square" anchor="t" lIns="0" rIns="0" tIns="0" bIns="0">
            <a:spAutoFit/>
          </a:bodyPr>
          <a:lstStyle/>
          <a:p>
            <a:pPr algn="r">
              <a:lnSpc>
                <a:spcPct val="120000"/>
              </a:lnSpc>
            </a:pPr>
            <a:r>
              <a:rPr sz="1500" b="0">
                <a:solidFill>
                  <a:srgbClr val="8FB6D0"/>
                </a:solidFill>
                <a:latin typeface="Segoe UI"/>
              </a:rPr>
              <a:t>1,3×</a:t>
            </a:r>
          </a:p>
        </p:txBody>
      </p:sp>
      <p:sp>
        <p:nvSpPr>
          <p:cNvPr id="41" name="TextBox 40"/>
          <p:cNvSpPr txBox="1"/>
          <p:nvPr/>
        </p:nvSpPr>
        <p:spPr>
          <a:xfrm>
            <a:off x="8191295" y="3911502"/>
            <a:ext cx="1428714" cy="228594"/>
          </a:xfrm>
          <a:prstGeom prst="rect">
            <a:avLst/>
          </a:prstGeom>
          <a:noFill/>
        </p:spPr>
        <p:txBody>
          <a:bodyPr wrap="square" anchor="t" lIns="0" rIns="0" tIns="0" bIns="0">
            <a:spAutoFit/>
          </a:bodyPr>
          <a:lstStyle/>
          <a:p>
            <a:pPr algn="r">
              <a:lnSpc>
                <a:spcPct val="120000"/>
              </a:lnSpc>
            </a:pPr>
            <a:r>
              <a:rPr sz="1500" b="0">
                <a:solidFill>
                  <a:srgbClr val="8FB6D0"/>
                </a:solidFill>
                <a:latin typeface="Segoe UI"/>
              </a:rPr>
              <a:t>1,6×</a:t>
            </a:r>
          </a:p>
        </p:txBody>
      </p:sp>
      <p:sp>
        <p:nvSpPr>
          <p:cNvPr id="42" name="TextBox 41"/>
          <p:cNvSpPr txBox="1"/>
          <p:nvPr/>
        </p:nvSpPr>
        <p:spPr>
          <a:xfrm>
            <a:off x="9874003" y="3911502"/>
            <a:ext cx="1428714" cy="228594"/>
          </a:xfrm>
          <a:prstGeom prst="rect">
            <a:avLst/>
          </a:prstGeom>
          <a:noFill/>
        </p:spPr>
        <p:txBody>
          <a:bodyPr wrap="square" anchor="t" lIns="0" rIns="0" tIns="0" bIns="0">
            <a:spAutoFit/>
          </a:bodyPr>
          <a:lstStyle/>
          <a:p>
            <a:pPr algn="r">
              <a:lnSpc>
                <a:spcPct val="120000"/>
              </a:lnSpc>
            </a:pPr>
            <a:r>
              <a:rPr sz="1500" b="0">
                <a:solidFill>
                  <a:srgbClr val="8FB6D0"/>
                </a:solidFill>
                <a:latin typeface="Segoe UI"/>
              </a:rPr>
              <a:t>1,9×</a:t>
            </a:r>
          </a:p>
        </p:txBody>
      </p:sp>
      <p:sp>
        <p:nvSpPr>
          <p:cNvPr id="43" name="Rectangle 42"/>
          <p:cNvSpPr/>
          <p:nvPr/>
        </p:nvSpPr>
        <p:spPr>
          <a:xfrm>
            <a:off x="634984" y="4222644"/>
            <a:ext cx="10921726" cy="63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4984" y="4324241"/>
            <a:ext cx="4063898" cy="228594"/>
          </a:xfrm>
          <a:prstGeom prst="rect">
            <a:avLst/>
          </a:prstGeom>
          <a:noFill/>
        </p:spPr>
        <p:txBody>
          <a:bodyPr wrap="square" anchor="t" lIns="0" rIns="0" tIns="0" bIns="0">
            <a:spAutoFit/>
          </a:bodyPr>
          <a:lstStyle/>
          <a:p>
            <a:pPr algn="l">
              <a:lnSpc>
                <a:spcPct val="110000"/>
              </a:lnSpc>
            </a:pPr>
            <a:r>
              <a:rPr sz="1500" b="0">
                <a:solidFill>
                  <a:srgbClr val="8FB6D0"/>
                </a:solidFill>
                <a:latin typeface="Segoe UI"/>
              </a:rPr>
              <a:t>Uur per week</a:t>
            </a:r>
          </a:p>
        </p:txBody>
      </p:sp>
      <p:sp>
        <p:nvSpPr>
          <p:cNvPr id="45" name="TextBox 44"/>
          <p:cNvSpPr txBox="1"/>
          <p:nvPr/>
        </p:nvSpPr>
        <p:spPr>
          <a:xfrm>
            <a:off x="4825879" y="431154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2,3</a:t>
            </a:r>
          </a:p>
        </p:txBody>
      </p:sp>
      <p:sp>
        <p:nvSpPr>
          <p:cNvPr id="46" name="TextBox 45"/>
          <p:cNvSpPr txBox="1"/>
          <p:nvPr/>
        </p:nvSpPr>
        <p:spPr>
          <a:xfrm>
            <a:off x="6508587" y="431154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3,0</a:t>
            </a:r>
          </a:p>
        </p:txBody>
      </p:sp>
      <p:sp>
        <p:nvSpPr>
          <p:cNvPr id="47" name="TextBox 46"/>
          <p:cNvSpPr txBox="1"/>
          <p:nvPr/>
        </p:nvSpPr>
        <p:spPr>
          <a:xfrm>
            <a:off x="8191295" y="431154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3,6</a:t>
            </a:r>
          </a:p>
        </p:txBody>
      </p:sp>
      <p:sp>
        <p:nvSpPr>
          <p:cNvPr id="48" name="TextBox 47"/>
          <p:cNvSpPr txBox="1"/>
          <p:nvPr/>
        </p:nvSpPr>
        <p:spPr>
          <a:xfrm>
            <a:off x="9874003" y="431154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4,3</a:t>
            </a:r>
          </a:p>
        </p:txBody>
      </p:sp>
      <p:sp>
        <p:nvSpPr>
          <p:cNvPr id="49" name="Rectangle 48"/>
          <p:cNvSpPr/>
          <p:nvPr/>
        </p:nvSpPr>
        <p:spPr>
          <a:xfrm>
            <a:off x="634984" y="4622684"/>
            <a:ext cx="10921726" cy="63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4984" y="4724281"/>
            <a:ext cx="4063898" cy="228594"/>
          </a:xfrm>
          <a:prstGeom prst="rect">
            <a:avLst/>
          </a:prstGeom>
          <a:noFill/>
        </p:spPr>
        <p:txBody>
          <a:bodyPr wrap="square" anchor="t" lIns="0" rIns="0" tIns="0" bIns="0">
            <a:spAutoFit/>
          </a:bodyPr>
          <a:lstStyle/>
          <a:p>
            <a:pPr algn="l">
              <a:lnSpc>
                <a:spcPct val="110000"/>
              </a:lnSpc>
            </a:pPr>
            <a:r>
              <a:rPr sz="1500" b="0">
                <a:solidFill>
                  <a:srgbClr val="8FB6D0"/>
                </a:solidFill>
                <a:latin typeface="Segoe UI"/>
              </a:rPr>
              <a:t>Drukste maand, uur</a:t>
            </a:r>
          </a:p>
        </p:txBody>
      </p:sp>
      <p:sp>
        <p:nvSpPr>
          <p:cNvPr id="51" name="TextBox 50"/>
          <p:cNvSpPr txBox="1"/>
          <p:nvPr/>
        </p:nvSpPr>
        <p:spPr>
          <a:xfrm>
            <a:off x="4825879" y="471158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20</a:t>
            </a:r>
          </a:p>
        </p:txBody>
      </p:sp>
      <p:sp>
        <p:nvSpPr>
          <p:cNvPr id="52" name="TextBox 51"/>
          <p:cNvSpPr txBox="1"/>
          <p:nvPr/>
        </p:nvSpPr>
        <p:spPr>
          <a:xfrm>
            <a:off x="6508587" y="471158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23</a:t>
            </a:r>
          </a:p>
        </p:txBody>
      </p:sp>
      <p:sp>
        <p:nvSpPr>
          <p:cNvPr id="53" name="TextBox 52"/>
          <p:cNvSpPr txBox="1"/>
          <p:nvPr/>
        </p:nvSpPr>
        <p:spPr>
          <a:xfrm>
            <a:off x="8191295" y="471158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26</a:t>
            </a:r>
          </a:p>
        </p:txBody>
      </p:sp>
      <p:sp>
        <p:nvSpPr>
          <p:cNvPr id="54" name="TextBox 53"/>
          <p:cNvSpPr txBox="1"/>
          <p:nvPr/>
        </p:nvSpPr>
        <p:spPr>
          <a:xfrm>
            <a:off x="9874003" y="471158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29</a:t>
            </a:r>
          </a:p>
        </p:txBody>
      </p:sp>
      <p:sp>
        <p:nvSpPr>
          <p:cNvPr id="55" name="Rectangle 54"/>
          <p:cNvSpPr/>
          <p:nvPr/>
        </p:nvSpPr>
        <p:spPr>
          <a:xfrm>
            <a:off x="634984" y="5022724"/>
            <a:ext cx="10921726" cy="63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34984" y="5124321"/>
            <a:ext cx="4063898" cy="228594"/>
          </a:xfrm>
          <a:prstGeom prst="rect">
            <a:avLst/>
          </a:prstGeom>
          <a:noFill/>
        </p:spPr>
        <p:txBody>
          <a:bodyPr wrap="square" anchor="t" lIns="0" rIns="0" tIns="0" bIns="0">
            <a:spAutoFit/>
          </a:bodyPr>
          <a:lstStyle/>
          <a:p>
            <a:pPr algn="l">
              <a:lnSpc>
                <a:spcPct val="110000"/>
              </a:lnSpc>
            </a:pPr>
            <a:r>
              <a:rPr sz="1500" b="0">
                <a:solidFill>
                  <a:srgbClr val="8FB6D0"/>
                </a:solidFill>
                <a:latin typeface="Segoe UI"/>
              </a:rPr>
              <a:t>MoveMonitor wacht, terug na meetweek</a:t>
            </a:r>
          </a:p>
        </p:txBody>
      </p:sp>
      <p:sp>
        <p:nvSpPr>
          <p:cNvPr id="57" name="TextBox 56"/>
          <p:cNvSpPr txBox="1"/>
          <p:nvPr/>
        </p:nvSpPr>
        <p:spPr>
          <a:xfrm>
            <a:off x="4825879" y="511162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4%</a:t>
            </a:r>
          </a:p>
        </p:txBody>
      </p:sp>
      <p:sp>
        <p:nvSpPr>
          <p:cNvPr id="58" name="TextBox 57"/>
          <p:cNvSpPr txBox="1"/>
          <p:nvPr/>
        </p:nvSpPr>
        <p:spPr>
          <a:xfrm>
            <a:off x="6508587" y="511162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6%</a:t>
            </a:r>
          </a:p>
        </p:txBody>
      </p:sp>
      <p:sp>
        <p:nvSpPr>
          <p:cNvPr id="59" name="TextBox 58"/>
          <p:cNvSpPr txBox="1"/>
          <p:nvPr/>
        </p:nvSpPr>
        <p:spPr>
          <a:xfrm>
            <a:off x="8191295" y="511162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8%</a:t>
            </a:r>
          </a:p>
        </p:txBody>
      </p:sp>
      <p:sp>
        <p:nvSpPr>
          <p:cNvPr id="60" name="TextBox 59"/>
          <p:cNvSpPr txBox="1"/>
          <p:nvPr/>
        </p:nvSpPr>
        <p:spPr>
          <a:xfrm>
            <a:off x="9874003" y="511162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13%</a:t>
            </a:r>
          </a:p>
        </p:txBody>
      </p:sp>
      <p:sp>
        <p:nvSpPr>
          <p:cNvPr id="61" name="Rectangle 60"/>
          <p:cNvSpPr/>
          <p:nvPr/>
        </p:nvSpPr>
        <p:spPr>
          <a:xfrm>
            <a:off x="634984" y="5422764"/>
            <a:ext cx="10921726" cy="63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34984" y="5524361"/>
            <a:ext cx="4063898" cy="228594"/>
          </a:xfrm>
          <a:prstGeom prst="rect">
            <a:avLst/>
          </a:prstGeom>
          <a:noFill/>
        </p:spPr>
        <p:txBody>
          <a:bodyPr wrap="square" anchor="t" lIns="0" rIns="0" tIns="0" bIns="0">
            <a:spAutoFit/>
          </a:bodyPr>
          <a:lstStyle/>
          <a:p>
            <a:pPr algn="l">
              <a:lnSpc>
                <a:spcPct val="110000"/>
              </a:lnSpc>
            </a:pPr>
            <a:r>
              <a:rPr sz="1500" b="0">
                <a:solidFill>
                  <a:srgbClr val="8FB6D0"/>
                </a:solidFill>
                <a:latin typeface="Segoe UI"/>
              </a:rPr>
              <a:t>MoveMonitor wacht, terug op visite 2</a:t>
            </a:r>
          </a:p>
        </p:txBody>
      </p:sp>
      <p:sp>
        <p:nvSpPr>
          <p:cNvPr id="63" name="TextBox 62"/>
          <p:cNvSpPr txBox="1"/>
          <p:nvPr/>
        </p:nvSpPr>
        <p:spPr>
          <a:xfrm>
            <a:off x="4825879" y="551166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13%</a:t>
            </a:r>
          </a:p>
        </p:txBody>
      </p:sp>
      <p:sp>
        <p:nvSpPr>
          <p:cNvPr id="64" name="TextBox 63"/>
          <p:cNvSpPr txBox="1"/>
          <p:nvPr/>
        </p:nvSpPr>
        <p:spPr>
          <a:xfrm>
            <a:off x="6508587" y="551166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25%</a:t>
            </a:r>
          </a:p>
        </p:txBody>
      </p:sp>
      <p:sp>
        <p:nvSpPr>
          <p:cNvPr id="65" name="TextBox 64"/>
          <p:cNvSpPr txBox="1"/>
          <p:nvPr/>
        </p:nvSpPr>
        <p:spPr>
          <a:xfrm>
            <a:off x="8191295" y="551166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39%</a:t>
            </a:r>
          </a:p>
        </p:txBody>
      </p:sp>
      <p:sp>
        <p:nvSpPr>
          <p:cNvPr id="66" name="TextBox 65"/>
          <p:cNvSpPr txBox="1"/>
          <p:nvPr/>
        </p:nvSpPr>
        <p:spPr>
          <a:xfrm>
            <a:off x="9874003" y="551166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55%</a:t>
            </a:r>
          </a:p>
        </p:txBody>
      </p:sp>
      <p:sp>
        <p:nvSpPr>
          <p:cNvPr id="67" name="Rectangle 66"/>
          <p:cNvSpPr/>
          <p:nvPr/>
        </p:nvSpPr>
        <p:spPr>
          <a:xfrm>
            <a:off x="634984" y="5822804"/>
            <a:ext cx="10921726" cy="63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34984" y="5924401"/>
            <a:ext cx="4063898" cy="228594"/>
          </a:xfrm>
          <a:prstGeom prst="rect">
            <a:avLst/>
          </a:prstGeom>
          <a:noFill/>
        </p:spPr>
        <p:txBody>
          <a:bodyPr wrap="square" anchor="t" lIns="0" rIns="0" tIns="0" bIns="0">
            <a:spAutoFit/>
          </a:bodyPr>
          <a:lstStyle/>
          <a:p>
            <a:pPr algn="l">
              <a:lnSpc>
                <a:spcPct val="110000"/>
              </a:lnSpc>
            </a:pPr>
            <a:r>
              <a:rPr sz="1500" b="0">
                <a:solidFill>
                  <a:srgbClr val="8FB6D0"/>
                </a:solidFill>
                <a:latin typeface="Segoe UI"/>
              </a:rPr>
              <a:t>Laatste visite</a:t>
            </a:r>
          </a:p>
        </p:txBody>
      </p:sp>
      <p:sp>
        <p:nvSpPr>
          <p:cNvPr id="69" name="TextBox 68"/>
          <p:cNvSpPr txBox="1"/>
          <p:nvPr/>
        </p:nvSpPr>
        <p:spPr>
          <a:xfrm>
            <a:off x="4825879" y="591170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jul 2029</a:t>
            </a:r>
          </a:p>
        </p:txBody>
      </p:sp>
      <p:sp>
        <p:nvSpPr>
          <p:cNvPr id="70" name="TextBox 69"/>
          <p:cNvSpPr txBox="1"/>
          <p:nvPr/>
        </p:nvSpPr>
        <p:spPr>
          <a:xfrm>
            <a:off x="6508587" y="591170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mrt 2029</a:t>
            </a:r>
          </a:p>
        </p:txBody>
      </p:sp>
      <p:sp>
        <p:nvSpPr>
          <p:cNvPr id="71" name="TextBox 70"/>
          <p:cNvSpPr txBox="1"/>
          <p:nvPr/>
        </p:nvSpPr>
        <p:spPr>
          <a:xfrm>
            <a:off x="8191295" y="591170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jan 2029</a:t>
            </a:r>
          </a:p>
        </p:txBody>
      </p:sp>
      <p:sp>
        <p:nvSpPr>
          <p:cNvPr id="72" name="TextBox 71"/>
          <p:cNvSpPr txBox="1"/>
          <p:nvPr/>
        </p:nvSpPr>
        <p:spPr>
          <a:xfrm>
            <a:off x="9874003" y="5911702"/>
            <a:ext cx="1428714" cy="228594"/>
          </a:xfrm>
          <a:prstGeom prst="rect">
            <a:avLst/>
          </a:prstGeom>
          <a:noFill/>
        </p:spPr>
        <p:txBody>
          <a:bodyPr wrap="square" anchor="t" lIns="0" rIns="0" tIns="0" bIns="0">
            <a:spAutoFit/>
          </a:bodyPr>
          <a:lstStyle/>
          <a:p>
            <a:pPr algn="r">
              <a:lnSpc>
                <a:spcPct val="120000"/>
              </a:lnSpc>
            </a:pPr>
            <a:r>
              <a:rPr sz="1700" b="1">
                <a:solidFill>
                  <a:srgbClr val="F2F8FC"/>
                </a:solidFill>
                <a:latin typeface="Segoe UI"/>
              </a:rPr>
              <a:t>dec 2028</a:t>
            </a:r>
          </a:p>
        </p:txBody>
      </p:sp>
      <p:sp>
        <p:nvSpPr>
          <p:cNvPr id="73" name="TextBox 72"/>
          <p:cNvSpPr txBox="1"/>
          <p:nvPr/>
        </p:nvSpPr>
        <p:spPr>
          <a:xfrm>
            <a:off x="634984" y="6387940"/>
            <a:ext cx="9397765" cy="177795"/>
          </a:xfrm>
          <a:prstGeom prst="rect">
            <a:avLst/>
          </a:prstGeom>
          <a:noFill/>
        </p:spPr>
        <p:txBody>
          <a:bodyPr wrap="square" anchor="t" lIns="0" rIns="0" tIns="0" bIns="0">
            <a:spAutoFit/>
          </a:bodyPr>
          <a:lstStyle/>
          <a:p>
            <a:pPr algn="l">
              <a:lnSpc>
                <a:spcPct val="120000"/>
              </a:lnSpc>
            </a:pPr>
            <a:r>
              <a:rPr sz="1000" b="0">
                <a:solidFill>
                  <a:srgbClr val="8FB6D0"/>
                </a:solidFill>
                <a:latin typeface="Consolas"/>
              </a:rPr>
              <a:t>Gemiddelde van 2.000 runs per tempo · “alle zes op tijd” uit de Poisson-verdeling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erk.png"/>
          <p:cNvPicPr>
            <a:picLocks noChangeAspect="1"/>
          </p:cNvPicPr>
          <p:nvPr/>
        </p:nvPicPr>
        <p:blipFill>
          <a:blip r:embed="rId2"/>
          <a:stretch>
            <a:fillRect/>
          </a:stretch>
        </p:blipFill>
        <p:spPr>
          <a:xfrm>
            <a:off x="11061423" y="368290"/>
            <a:ext cx="417100" cy="482587"/>
          </a:xfrm>
          <a:prstGeom prst="rect">
            <a:avLst/>
          </a:prstGeom>
        </p:spPr>
      </p:pic>
      <p:sp>
        <p:nvSpPr>
          <p:cNvPr id="4" name="TextBox 3"/>
          <p:cNvSpPr txBox="1"/>
          <p:nvPr/>
        </p:nvSpPr>
        <p:spPr>
          <a:xfrm>
            <a:off x="10540736" y="6387940"/>
            <a:ext cx="1015974" cy="177795"/>
          </a:xfrm>
          <a:prstGeom prst="rect">
            <a:avLst/>
          </a:prstGeom>
          <a:noFill/>
        </p:spPr>
        <p:txBody>
          <a:bodyPr wrap="square" anchor="t" lIns="0" rIns="0" tIns="0" bIns="0">
            <a:spAutoFit/>
          </a:bodyPr>
          <a:lstStyle/>
          <a:p>
            <a:pPr algn="r">
              <a:lnSpc>
                <a:spcPct val="120000"/>
              </a:lnSpc>
            </a:pPr>
            <a:r>
              <a:rPr sz="1050" b="0">
                <a:solidFill>
                  <a:srgbClr val="8FB6D0"/>
                </a:solidFill>
                <a:latin typeface="Consolas"/>
              </a:rPr>
              <a:t>10 / 10</a:t>
            </a:r>
          </a:p>
        </p:txBody>
      </p:sp>
      <p:sp>
        <p:nvSpPr>
          <p:cNvPr id="5" name="TextBox 4"/>
          <p:cNvSpPr txBox="1"/>
          <p:nvPr/>
        </p:nvSpPr>
        <p:spPr>
          <a:xfrm>
            <a:off x="634984" y="571485"/>
            <a:ext cx="9524761" cy="215894"/>
          </a:xfrm>
          <a:prstGeom prst="rect">
            <a:avLst/>
          </a:prstGeom>
          <a:noFill/>
        </p:spPr>
        <p:txBody>
          <a:bodyPr wrap="square" anchor="t" lIns="0" rIns="0" tIns="0" bIns="0">
            <a:spAutoFit/>
          </a:bodyPr>
          <a:lstStyle/>
          <a:p>
            <a:pPr algn="l">
              <a:lnSpc>
                <a:spcPct val="120000"/>
              </a:lnSpc>
            </a:pPr>
            <a:r>
              <a:rPr sz="1250" b="1" spc="240">
                <a:solidFill>
                  <a:srgbClr val="52BDEC"/>
                </a:solidFill>
                <a:latin typeface="Consolas"/>
              </a:rPr>
              <a:t>TE BESLISSEN</a:t>
            </a:r>
          </a:p>
        </p:txBody>
      </p:sp>
      <p:sp>
        <p:nvSpPr>
          <p:cNvPr id="6" name="TextBox 5"/>
          <p:cNvSpPr txBox="1"/>
          <p:nvPr/>
        </p:nvSpPr>
        <p:spPr>
          <a:xfrm>
            <a:off x="634984" y="838179"/>
            <a:ext cx="10032749" cy="571485"/>
          </a:xfrm>
          <a:prstGeom prst="rect">
            <a:avLst/>
          </a:prstGeom>
          <a:noFill/>
        </p:spPr>
        <p:txBody>
          <a:bodyPr wrap="square" anchor="t" lIns="0" rIns="0" tIns="0" bIns="0">
            <a:spAutoFit/>
          </a:bodyPr>
          <a:lstStyle/>
          <a:p>
            <a:pPr algn="l">
              <a:lnSpc>
                <a:spcPct val="110000"/>
              </a:lnSpc>
            </a:pPr>
            <a:r>
              <a:rPr sz="3600" b="1">
                <a:solidFill>
                  <a:srgbClr val="F2F8FC"/>
                </a:solidFill>
                <a:latin typeface="Segoe UI"/>
              </a:rPr>
              <a:t>Drie beslissingen</a:t>
            </a:r>
          </a:p>
        </p:txBody>
      </p:sp>
      <p:sp>
        <p:nvSpPr>
          <p:cNvPr id="7" name="Rectangle 6"/>
          <p:cNvSpPr/>
          <p:nvPr/>
        </p:nvSpPr>
        <p:spPr>
          <a:xfrm>
            <a:off x="634984" y="2031949"/>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4984" y="2222444"/>
            <a:ext cx="2285942" cy="317492"/>
          </a:xfrm>
          <a:prstGeom prst="rect">
            <a:avLst/>
          </a:prstGeom>
          <a:noFill/>
        </p:spPr>
        <p:txBody>
          <a:bodyPr wrap="square" anchor="t" lIns="0" rIns="0" tIns="0" bIns="0">
            <a:spAutoFit/>
          </a:bodyPr>
          <a:lstStyle/>
          <a:p>
            <a:pPr algn="l">
              <a:lnSpc>
                <a:spcPct val="120000"/>
              </a:lnSpc>
            </a:pPr>
            <a:r>
              <a:rPr sz="2400" b="1">
                <a:solidFill>
                  <a:srgbClr val="52BDEC"/>
                </a:solidFill>
                <a:latin typeface="Segoe UI"/>
              </a:rPr>
              <a:t>Tempo</a:t>
            </a:r>
          </a:p>
        </p:txBody>
      </p:sp>
      <p:sp>
        <p:nvSpPr>
          <p:cNvPr id="9" name="TextBox 8"/>
          <p:cNvSpPr txBox="1"/>
          <p:nvPr/>
        </p:nvSpPr>
        <p:spPr>
          <a:xfrm>
            <a:off x="3047923" y="2222444"/>
            <a:ext cx="8508787" cy="761980"/>
          </a:xfrm>
          <a:prstGeom prst="rect">
            <a:avLst/>
          </a:prstGeom>
          <a:noFill/>
        </p:spPr>
        <p:txBody>
          <a:bodyPr wrap="square" anchor="t" lIns="0" rIns="0" tIns="0" bIns="0">
            <a:spAutoFit/>
          </a:bodyPr>
          <a:lstStyle/>
          <a:p>
            <a:pPr algn="l">
              <a:lnSpc>
                <a:spcPct val="135000"/>
              </a:lnSpc>
            </a:pPr>
            <a:r>
              <a:rPr sz="1900" b="0">
                <a:solidFill>
                  <a:srgbClr val="F2F8FC"/>
                </a:solidFill>
                <a:latin typeface="Segoe UI"/>
              </a:rPr>
              <a:t>Vraag 3 per maand per centrum. Dan haalt elk centrum 24 binnen 12 maanden in 98% van de gevallen, alle zes samen in 92%.</a:t>
            </a:r>
          </a:p>
        </p:txBody>
      </p:sp>
      <p:sp>
        <p:nvSpPr>
          <p:cNvPr id="10" name="Rectangle 9"/>
          <p:cNvSpPr/>
          <p:nvPr/>
        </p:nvSpPr>
        <p:spPr>
          <a:xfrm>
            <a:off x="634984" y="3111422"/>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4984" y="3301917"/>
            <a:ext cx="2285942" cy="317492"/>
          </a:xfrm>
          <a:prstGeom prst="rect">
            <a:avLst/>
          </a:prstGeom>
          <a:noFill/>
        </p:spPr>
        <p:txBody>
          <a:bodyPr wrap="square" anchor="t" lIns="0" rIns="0" tIns="0" bIns="0">
            <a:spAutoFit/>
          </a:bodyPr>
          <a:lstStyle/>
          <a:p>
            <a:pPr algn="l">
              <a:lnSpc>
                <a:spcPct val="120000"/>
              </a:lnSpc>
            </a:pPr>
            <a:r>
              <a:rPr sz="2400" b="1">
                <a:solidFill>
                  <a:srgbClr val="52BDEC"/>
                </a:solidFill>
                <a:latin typeface="Segoe UI"/>
              </a:rPr>
              <a:t>3 of 4</a:t>
            </a:r>
          </a:p>
        </p:txBody>
      </p:sp>
      <p:sp>
        <p:nvSpPr>
          <p:cNvPr id="12" name="TextBox 11"/>
          <p:cNvSpPr txBox="1"/>
          <p:nvPr/>
        </p:nvSpPr>
        <p:spPr>
          <a:xfrm>
            <a:off x="3047923" y="3301917"/>
            <a:ext cx="8508787" cy="761980"/>
          </a:xfrm>
          <a:prstGeom prst="rect">
            <a:avLst/>
          </a:prstGeom>
          <a:noFill/>
        </p:spPr>
        <p:txBody>
          <a:bodyPr wrap="square" anchor="t" lIns="0" rIns="0" tIns="0" bIns="0">
            <a:spAutoFit/>
          </a:bodyPr>
          <a:lstStyle/>
          <a:p>
            <a:pPr algn="l">
              <a:lnSpc>
                <a:spcPct val="135000"/>
              </a:lnSpc>
            </a:pPr>
            <a:r>
              <a:rPr sz="1900" b="0">
                <a:solidFill>
                  <a:srgbClr val="F2F8FC"/>
                </a:solidFill>
                <a:latin typeface="Segoe UI"/>
              </a:rPr>
              <a:t>4 per maand wint twee maanden en kost 2,5 uur per maand meer (13 → 16). Alleen waar podoloog en pedorthist dat dragen.</a:t>
            </a:r>
          </a:p>
        </p:txBody>
      </p:sp>
      <p:sp>
        <p:nvSpPr>
          <p:cNvPr id="13" name="Rectangle 12"/>
          <p:cNvSpPr/>
          <p:nvPr/>
        </p:nvSpPr>
        <p:spPr>
          <a:xfrm>
            <a:off x="634984" y="4190895"/>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984" y="4381390"/>
            <a:ext cx="2285942" cy="317492"/>
          </a:xfrm>
          <a:prstGeom prst="rect">
            <a:avLst/>
          </a:prstGeom>
          <a:noFill/>
        </p:spPr>
        <p:txBody>
          <a:bodyPr wrap="square" anchor="t" lIns="0" rIns="0" tIns="0" bIns="0">
            <a:spAutoFit/>
          </a:bodyPr>
          <a:lstStyle/>
          <a:p>
            <a:pPr algn="l">
              <a:lnSpc>
                <a:spcPct val="120000"/>
              </a:lnSpc>
            </a:pPr>
            <a:r>
              <a:rPr sz="2400" b="1">
                <a:solidFill>
                  <a:srgbClr val="52BDEC"/>
                </a:solidFill>
                <a:latin typeface="Segoe UI"/>
              </a:rPr>
              <a:t>MoveMonitor</a:t>
            </a:r>
          </a:p>
        </p:txBody>
      </p:sp>
      <p:sp>
        <p:nvSpPr>
          <p:cNvPr id="15" name="TextBox 14"/>
          <p:cNvSpPr txBox="1"/>
          <p:nvPr/>
        </p:nvSpPr>
        <p:spPr>
          <a:xfrm>
            <a:off x="3047923" y="4381390"/>
            <a:ext cx="8508787" cy="761980"/>
          </a:xfrm>
          <a:prstGeom prst="rect">
            <a:avLst/>
          </a:prstGeom>
          <a:noFill/>
        </p:spPr>
        <p:txBody>
          <a:bodyPr wrap="square" anchor="t" lIns="0" rIns="0" tIns="0" bIns="0">
            <a:spAutoFit/>
          </a:bodyPr>
          <a:lstStyle/>
          <a:p>
            <a:pPr algn="l">
              <a:lnSpc>
                <a:spcPct val="135000"/>
              </a:lnSpc>
            </a:pPr>
            <a:r>
              <a:rPr sz="1900" b="0">
                <a:solidFill>
                  <a:srgbClr val="F2F8FC"/>
                </a:solidFill>
                <a:latin typeface="Segoe UI"/>
              </a:rPr>
              <a:t>Terug na de meetweek, per post of aan de balie, op baseline én op maand 6. eCRF 27 en de beschrijving van maand 6 aanpassen.</a:t>
            </a:r>
          </a:p>
        </p:txBody>
      </p:sp>
      <p:sp>
        <p:nvSpPr>
          <p:cNvPr id="16" name="TextBox 15"/>
          <p:cNvSpPr txBox="1"/>
          <p:nvPr/>
        </p:nvSpPr>
        <p:spPr>
          <a:xfrm>
            <a:off x="634984" y="6387940"/>
            <a:ext cx="9397765" cy="177795"/>
          </a:xfrm>
          <a:prstGeom prst="rect">
            <a:avLst/>
          </a:prstGeom>
          <a:noFill/>
        </p:spPr>
        <p:txBody>
          <a:bodyPr wrap="square" anchor="t" lIns="0" rIns="0" tIns="0" bIns="0">
            <a:spAutoFit/>
          </a:bodyPr>
          <a:lstStyle/>
          <a:p>
            <a:pPr algn="l">
              <a:lnSpc>
                <a:spcPct val="120000"/>
              </a:lnSpc>
            </a:pPr>
            <a:r>
              <a:rPr sz="1000" b="0">
                <a:solidFill>
                  <a:srgbClr val="8FB6D0"/>
                </a:solidFill>
                <a:latin typeface="Consolas"/>
              </a:rPr>
              <a:t>Details en aannames: PARADISE_rekruteringssimulatie.docx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