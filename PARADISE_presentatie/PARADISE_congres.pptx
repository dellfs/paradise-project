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PARADISE is not about healing. It is about coming back. Six Belgian foot clinics, one hundred and forty-four participants, eighteen months each. I will take you through the rationale, the measurement and the pathway.</a:t>
            </a:r>
          </a:p>
          <a:p/>
          <a:p>
            <a:r>
              <a:t>PRESENTATIETIP</a:t>
            </a:r>
          </a:p>
          <a:p>
            <a:r>
              <a:t>Het beeld draagt deze dia. Wilt u een ander beeld: zet het in beeld\stock\, draai verwerk_stock.py en zet de bestandsnaam hier. Liggend, koele tonen, en rustig onderaan — daar staat de titel.</a:t>
            </a:r>
          </a:p>
          <a:p/>
          <a:p>
            <a:r>
              <a:t>INTERACTIE</a:t>
            </a:r>
          </a:p>
          <a:p>
            <a:r>
              <a:t>Laat de dia staan terwijl de zaal binnenkomt. Zeg pas iets als iedereen zit.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Every dot is a participant. Twenty-four come from each clinic, twelve in each arm. Six times twenty-four is one hundred and forty-four. If one centre falls behind, the trial does not get there.</a:t>
            </a:r>
          </a:p>
          <a:p/>
          <a:p>
            <a:r>
              <a:t>PRESENTATIETIP</a:t>
            </a:r>
          </a:p>
          <a:p>
            <a:r>
              <a:t>Wijs hun eigen centrum aan: 24 van die 144 stippen zijn van hen. Zes keer 24 is 144 — als één centrum achterblijft, haalt de studie het niet.</a:t>
            </a:r>
          </a:p>
          <a:p/>
          <a:p>
            <a:r>
              <a:t>INTERACTIE</a:t>
            </a:r>
          </a:p>
          <a:p>
            <a:r>
              <a:t>Vraag of ze de andere vijf centra kennen. Het maakt van zes losse klinieken één netwerk.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One sentence, then I move on. Every component of PARADISE already exists. Not one of them worked on its own. What we test is whether they work together, in ordinary clinics under ordinary caseloads.</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Chapter one. I will give you four numbers. After the fourth you will know why this trial has two targets rather than one, and why nobody has met both at once.</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Forty per cent develop a new ulcer within one year. At five years it is sixty-five. And mortality is two and a half times higher than in diabetes without an ulcer — after a major amputation above seventy per cent. This is not a wound problem. This is a survival problem.</a:t>
            </a:r>
          </a:p>
          <a:p/>
          <a:p>
            <a:r>
              <a:t>PRESENTATIETIP</a:t>
            </a:r>
          </a:p>
          <a:p>
            <a:r>
              <a:t>Dit is het probleem waar de hele studie op staat. Eén dia, dan door.</a:t>
            </a:r>
          </a:p>
          <a:p/>
          <a:p>
            <a:r>
              <a:t>INTERACTIE</a:t>
            </a:r>
          </a:p>
          <a:p>
            <a:r>
              <a:t>Geen. Dit is context, geen discussie.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This is where those figures come from. Each point is a cohort; the line through them is the trend. Forty per cent at one year, sixty-five at five. The risk does not disappear, it accumulates.</a:t>
            </a:r>
          </a:p>
          <a:p/>
          <a:p>
            <a:r>
              <a:t>PRESENTATIETIP</a:t>
            </a:r>
          </a:p>
          <a:p>
            <a:r>
              <a:t>De vorige dia noemt de cijfers; deze laat zien waar ze vandaan komen. Wijs de trendlijn aan, niet de losse punten.</a:t>
            </a:r>
          </a:p>
          <a:p/>
          <a:p>
            <a:r>
              <a:t>INTERACTIE</a:t>
            </a:r>
          </a:p>
          <a:p>
            <a:r>
              <a:t>Geen. Laat de spreiding het werk doen.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And then the number that makes it intolerable. Three quarters of these ulcers are preventable in principle. Yet forty per cent return within the year. That gap, between what is possible and what happens, is what this trial is about.</a:t>
            </a:r>
          </a:p>
          <a:p/>
          <a:p>
            <a:r>
              <a:t>PRESENTATIETIP</a:t>
            </a:r>
          </a:p>
          <a:p>
            <a:r>
              <a:t>Zeg dit traag en zwijg dan twee tellen. Dit is de enige dia in blok 1 waar de zaal niet leest maar luistert.</a:t>
            </a:r>
          </a:p>
          <a:p/>
          <a:p>
            <a:r>
              <a:t>INTERACTIE</a:t>
            </a:r>
          </a:p>
          <a:p>
            <a:r>
              <a:t>Geen. De stilte doet het werk.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It is not that nobody has tried. Pressure-guided footwear missed its endpoint. Education alone had a negative median effect. Digital feedback worked, but again only among those who kept using the device.</a:t>
            </a:r>
          </a:p>
          <a:p/>
          <a:p>
            <a:r>
              <a:t>PRESENTATIETIP</a:t>
            </a:r>
          </a:p>
          <a:p>
            <a:r>
              <a:t>Dit is de dia die de zaal het argument geeft. Neem er tijd voor; de rest van de studieopzet volgt hieruit.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This is the best attempt on record: pressure-optimised custom footwear, multicentre and randomised. Across everyone: no difference. Among those who wore it: almost halved. The difference was not in the shoe.</a:t>
            </a:r>
          </a:p>
          <a:p/>
          <a:p>
            <a:r>
              <a:t>PRESENTATIETIP</a:t>
            </a:r>
          </a:p>
          <a:p>
            <a:r>
              <a:t>Hier komt de tweede norm vandaan. Zonder deze dia is 80% draagtijd een willekeurig getal.</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There it is. Seventy-one per cent adherence, measured by sensor and not asked for. At home it falls to sixty-one, and home is where most steps are taken. The footwear sat in the hallway while the patient walked through the house.</a:t>
            </a:r>
          </a:p>
          <a:p/>
          <a:p>
            <a:r>
              <a:t>PRESENTATIETIP</a:t>
            </a:r>
          </a:p>
          <a:p>
            <a:r>
              <a:t>Binnenshuis wordt het schoeisel het minst gedragen, en juist daar worden veel stappen gezet. Dat is uw belangrijkste gesprekspunt bij SEBIA.</a:t>
            </a:r>
          </a:p>
          <a:p/>
          <a:p>
            <a:r>
              <a:t>INTERACTIE</a:t>
            </a:r>
          </a:p>
          <a:p>
            <a:r>
              <a:t>Vraag wat zij schatten bij hun eigen patiënten.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Loading is a product, not a sum. Peak pressure times activity times wear time. One factor at zero makes the whole product zero. A perfect insole in the cupboard protects nothing.</a:t>
            </a:r>
          </a:p>
          <a:p/>
          <a:p>
            <a:r>
              <a:t>PRESENTATIETIP</a:t>
            </a:r>
          </a:p>
          <a:p>
            <a:r>
              <a:t>Dit is het scharnier van blok 1. Wie dit snapt, snapt waarom de meting én de sensor allebei moeten kloppen.</a:t>
            </a:r>
          </a:p>
          <a:p/>
          <a:p>
            <a:r>
              <a:t>INTERACTIE</a:t>
            </a:r>
          </a:p>
          <a:p>
            <a:r>
              <a:t>Morph: de drie tegels komen samen uit één punt.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Why is this trial possible only now? Three things have changed. The sensor makes adherence measurable, COM-B explains why education failed, and Belgium has accredited foot clinics with training requirements. The components are on the table.</a:t>
            </a:r>
          </a:p>
          <a:p/>
          <a:p>
            <a:r>
              <a:t>PRESENTATIETIP</a:t>
            </a:r>
          </a:p>
          <a:p>
            <a:r>
              <a:t>Drie redenen, drie zinnen. Dit is het scharnier naar de opzet.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So we do it differently. Not three separate measures, but one service with two targets: the insole must méet the pressure target, and it must be wórn. Both measured, both corrected, both by the clinic’s own team. That has never been tested together.</a:t>
            </a:r>
          </a:p>
          <a:p/>
          <a:p>
            <a:r>
              <a:t>PRESENTATIETIP</a:t>
            </a:r>
          </a:p>
          <a:p>
            <a:r>
              <a:t>Dit is de kanteldia. Alles ervoor is het probleem, alles erna is de uitvoering. Zeg met zoveel woorden dat dit nog nooit samen getoetst is.</a:t>
            </a:r>
          </a:p>
          <a:p/>
          <a:p>
            <a:r>
              <a:t>INTERACTIE</a:t>
            </a:r>
          </a:p>
          <a:p>
            <a:r>
              <a:t>Vraag welke van de twee normen zij het moeilijkst achten. Het antwoord is bijna altijd de tweede.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Chapter two: the measurement. What is measured, how, and when it is good enough.</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Every sensor gives a number. This is baseline, in-shoe: three hundred and twelve kilopascals under metatarsal two-three. Three walking trials per foot, of which the middle twelve steps count. Everything is referenced against this.</a:t>
            </a:r>
          </a:p>
          <a:p/>
          <a:p>
            <a:r>
              <a:t>PRESENTATIETIP</a:t>
            </a:r>
          </a:p>
          <a:p>
            <a:r>
              <a:t>De meest gemaakte fout is één loopproef per voet. Het protocol vraagt er drie, en het gemiddelde telt.</a:t>
            </a:r>
          </a:p>
          <a:p/>
          <a:p>
            <a:r>
              <a:t>INTERACTIE</a:t>
            </a:r>
          </a:p>
          <a:p>
            <a:r>
              <a:t>Vraag wie er vandaag al in de schoen meet.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The software divides the foot into eight regions. Three of them are designated target regions and written on the prescription. The target is tested there, and nowhere else.</a:t>
            </a:r>
          </a:p>
          <a:p/>
          <a:p>
            <a:r>
              <a:t>PRESENTATIETIP</a:t>
            </a:r>
          </a:p>
          <a:p>
            <a:r>
              <a:t>Uit deze acht kiest u er drie om te ontlasten: de regio met de ulcusvoorgeschiedenis, plus één of twee met de hoogste piekdruk. Die drie legt u vast — daarop wordt de norm getoetst.</a:t>
            </a:r>
          </a:p>
          <a:p/>
          <a:p>
            <a:r>
              <a:t>INTERACTIE</a:t>
            </a:r>
          </a:p>
          <a:p>
            <a:r>
              <a:t>Laat ze op deze dia aanwijzen welke drie zij zouden kiezen.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Same foot, after modification. One hundred and eighty-six kilopascals: forty per cent lower and below two hundred. The target applies per region. If it is not met, you modify and measure again.</a:t>
            </a:r>
          </a:p>
          <a:p/>
          <a:p>
            <a:r>
              <a:t>PRESENTATIETIP</a:t>
            </a:r>
          </a:p>
          <a:p>
            <a:r>
              <a:t>Zeg expliciet: "óf". Twee wegen naar dezelfde norm, geen dubbele eis. En de vergelijking gebeurt per regio, niet over de hele voet.</a:t>
            </a:r>
          </a:p>
          <a:p/>
          <a:p>
            <a:r>
              <a:t>INTERACTIE</a:t>
            </a:r>
          </a:p>
          <a:p>
            <a:r>
              <a:t>Vraag de pedorthisten hoeveel aanpassingsrondes realistisch zijn.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A moment on this one. The aim is not less loading. The aim is loading where the tissue can take it. That is the entire intervention.</a:t>
            </a:r>
          </a:p>
          <a:p/>
          <a:p>
            <a:r>
              <a:t>PRESENTATIETIP</a:t>
            </a:r>
          </a:p>
          <a:p>
            <a:r>
              <a:t>Zeg deze twee zinnen en zwijg dan. Laat de dia staan tot iemand ongemakkelijk wordt. Dit is het enige moment in blok 2 waarop de zaal niets te lezen heeft.</a:t>
            </a:r>
          </a:p>
          <a:p/>
          <a:p>
            <a:r>
              <a:t>INTERACTIE</a:t>
            </a:r>
          </a:p>
          <a:p>
            <a:r>
              <a:t>Geen. Bewust geen.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At delivery you measure in the shoe, wíth the insole. That is the measurement against which the target is tested, per target region. Nothing is measured barefoot; the comparator is the measurement without the insole for the same region at delivery, which remains the reference at months 6, 12 and 18.</a:t>
            </a:r>
          </a:p>
          <a:p/>
          <a:p>
            <a:r>
              <a:t>PRESENTATIETIP</a:t>
            </a:r>
          </a:p>
          <a:p>
            <a:r>
              <a:t>Alle metingen gebeuren in de schoen; er wordt niet blootsvoets gemeten. Dezelfde meting komt terug op maand 6, 12 en 18.</a:t>
            </a:r>
          </a:p>
          <a:p/>
          <a:p>
            <a:r>
              <a:t>INTERACTIE</a:t>
            </a:r>
          </a:p>
          <a:p>
            <a:r>
              <a:t>Vraag: "wie meet er vandaag al in de schoen?"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Chapter three: the pathway. Nine contacts. For each one: what is done and what is recorded.</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and nine visits across eighteen months. The first three fall close together. After that the rhythm is three-monthly, the same rhythm as the review these patients already receive.</a:t>
            </a:r>
          </a:p>
          <a:p/>
          <a:p>
            <a:r>
              <a:t>PRESENTATIETIP</a:t>
            </a:r>
          </a:p>
          <a:p>
            <a:r>
              <a:t>Geef eerst het overzicht. De volgende dia's lopen elk moment af.</a:t>
            </a:r>
          </a:p>
          <a:p/>
          <a:p>
            <a:r>
              <a:t>INTERACTIE</a:t>
            </a:r>
          </a:p>
          <a:p>
            <a:r>
              <a:t>Geen. De detaildia's komen hierna.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IWGDF risk category three: a healed plantar ulcer, or a minor amputation. On the left what admits, on the right what excludes. The logic throughout: offloading must be the appropriate treatment, so critical ischaemia and active Charcot are out.</a:t>
            </a:r>
          </a:p>
          <a:p/>
          <a:p>
            <a:r>
              <a:t>PRESENTATIETIP</a:t>
            </a:r>
          </a:p>
          <a:p>
            <a:r>
              <a:t>Twee criteria worden het vaakst gemist: een resectie van de eerste metatarsaalkop komt wél in aanmerking, en een enkel-voetorthese sluit uit omdat de sensoren er niet in passen.</a:t>
            </a:r>
          </a:p>
          <a:p/>
          <a:p>
            <a:r>
              <a:t>INTERACTIE</a:t>
            </a:r>
          </a:p>
          <a:p>
            <a:r>
              <a:t>Vraag per criterium of het in hun patiëntenbestand vaak voorkomt.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Three devices, three jobs. The pedar measures pressure, the Orthotimer records whether the insole was worn, the MoveMonitor records how much walking is done. Only the pedar is operated at every measurement; the other two are fitted once and read out.</a:t>
            </a:r>
          </a:p>
          <a:p/>
          <a:p>
            <a:r>
              <a:t>PRESENTATIETIP</a:t>
            </a:r>
          </a:p>
          <a:p>
            <a:r>
              <a:t>Benoem dat de Orthotimer géén GPS, microfoon of camera heeft. Die vraag komt gegarandeerd.</a:t>
            </a:r>
          </a:p>
          <a:p/>
          <a:p>
            <a:r>
              <a:t>INTERACTIE</a:t>
            </a:r>
          </a:p>
          <a:p>
            <a:r>
              <a:t>Laat de toestellen rondgaan. Fysiek werkt beter dan een dia.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SEBIA is five conversations, not one session. First knowledge and education, then teach-back at delivery, then two joint reviews of the sensor data, then demonstration, and closure at eighteen months. What separates it from conventional education: it repeats, and it stands on data.</a:t>
            </a:r>
          </a:p>
          <a:p/>
          <a:p>
            <a:r>
              <a:t>PRESENTATIETIP</a:t>
            </a:r>
          </a:p>
          <a:p>
            <a:r>
              <a:t>Het script begint met toestemming vragen voor het gesprek zelf, en duurt twintig tot dertig minuten. Wie nee zegt, krijgt de brochure mee en een nieuwe afspraak.</a:t>
            </a:r>
          </a:p>
          <a:p/>
          <a:p>
            <a:r>
              <a:t>INTERACTIE</a:t>
            </a:r>
          </a:p>
          <a:p>
            <a:r>
              <a:t>Rollenspel van twee minuten met een vrijwilliger uit de zaal.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This is the one rule that really matters. The control arm is measured and wears a sensor too, but those numbers stay closed. Discuss them and you have delivered the intervention. Clinical findings are not measured values: a lesion is reported and treated immediately, in both arms.</a:t>
            </a:r>
          </a:p>
          <a:p/>
          <a:p>
            <a:r>
              <a:t>PRESENTATIETIP</a:t>
            </a:r>
          </a:p>
          <a:p>
            <a:r>
              <a:t>Dit is de dia waar u stilvalt. Geen haast. Vraag of het helder is voordat u doorgaat.</a:t>
            </a:r>
          </a:p>
          <a:p/>
          <a:p>
            <a:r>
              <a:t>INTERACTIE</a:t>
            </a:r>
          </a:p>
          <a:p>
            <a:r>
              <a:t>Laat iemand het in eigen woorden herhalen. Zo weet u of het zit.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Block four: the endpoint and the analysis. One endpoint, and the mediator that explains it.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The sample size follows from one endpoint. On the left, recurrence: fifty against twenty-five per cent, which requires forty-one events and a hundred and thirty participants. On the right, adherence: measured in full, but without a success criterion of its own. A hundred and forty-four comes from per-centre capacity and exceeds the minimum.</a:t>
            </a:r>
          </a:p>
          <a:p/>
          <a:p>
            <a:r>
              <a:t>PRESENTATIETIP</a:t>
            </a:r>
          </a:p>
          <a:p>
            <a:r>
              <a:t>Eén eindpunt bepaalt de omvang. Zeg erbij dat de therapietrouw volledig gemeten wordt maar geen eigen succescriterium draagt — de volgende dia legt uit waarom.</a:t>
            </a:r>
          </a:p>
          <a:p/>
          <a:p>
            <a:r>
              <a:t>INTERACTIE</a:t>
            </a:r>
          </a:p>
          <a:p>
            <a:r>
              <a:t>Geen. Laat de vraag komen.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And then the question you would otherwise get from the floor. On recurrence we have eighty-four per cent power. With two co-primary endpoints that would drop to seventy-four, because the bar then sits at the intersection. One endpoint plus a prespecified mediator tests the same causal model without that cost.</a:t>
            </a:r>
          </a:p>
          <a:p/>
          <a:p>
            <a:r>
              <a:t>PRESENTATIETIP</a:t>
            </a:r>
          </a:p>
          <a:p>
            <a:r>
              <a:t>Dit is de dia die u onderscheidt van de rest van het programma. Benoem dat de mediator geen achterdeur is: hij ligt vooraf vast en wordt volledig gemeten.</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The analysis plan in four lines. Recurrence with Cox, stratified by centre, with death as a competing risk. Adherence with beta regression, since it is a proportion with a ceiling, and then as a mediator. A recurrence is its intercurrent event: a patient who ulcerates rightly stops wearing the insole.</a:t>
            </a:r>
          </a:p>
          <a:p/>
          <a:p>
            <a:r>
              <a:t>PRESENTATIETIP</a:t>
            </a:r>
          </a:p>
          <a:p>
            <a:r>
              <a:t>Kort houden. Wie meer wil weten vraagt het, en dan hebt u het SAP.</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Two evaluations run alongside the trial. The economic one reports cost per ulcer prevented and cost per QALY, with a Markov model out to five years. The process evaluation measures whether the intervention was actually delivered. That second one is not an appendix — under a null result it is the only thing separating mechanism from delivery.</a:t>
            </a:r>
          </a:p>
          <a:p/>
          <a:p>
            <a:r>
              <a:t>PRESENTATIETIP</a:t>
            </a:r>
          </a:p>
          <a:p>
            <a:r>
              <a:t>De procesevaluatie is geen bijlage. Bij een nulresultaat is zij het enige wat mechanisme van uitvoering onderscheidt.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I will close with what we learn either way. If adherence rises but recurrence does not, the biomechanical premise fails. If adherence does not rise, the behavioural component failed. Either way we learn which link in the chain gives way — and that is exactly what this field does not yet know.</a:t>
            </a:r>
          </a:p>
          <a:p/>
          <a:p>
            <a:r>
              <a:t>PRESENTATIETIP</a:t>
            </a:r>
          </a:p>
          <a:p>
            <a:r>
              <a:t>Sluit hiermee af. Dit is het antwoord op de vraag of de studie de moeite waard is als ze negatief uitvalt.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Finally, who to contact. Practical questions — inclusions, measurements, forms, sensors — come to me. Scientific questions and arrangements at centre level go to Professor Deschamps. Thank you.</a:t>
            </a:r>
          </a:p>
          <a:p/>
          <a:p>
            <a:r>
              <a:t>PRESENTATIETIP</a:t>
            </a:r>
          </a:p>
          <a:p>
            <a:r>
              <a:t>Laat deze dia staan tijdens het napraten. Zeg erbij dat kleine dingen ook mogen — een sensor die niet uitleest is geen domme vraag.</a:t>
            </a:r>
          </a:p>
          <a:p/>
          <a:p>
            <a:r>
              <a:t>INTERACTIE</a:t>
            </a:r>
          </a:p>
          <a:p>
            <a:r>
              <a:t>Loop rond terwijl de dia staat. Wie een vraag heeft, komt naar het gezicht dat op het scherm staat.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Deze dia laat u staan tijdens de vragen. Alles wat u genoemd hebt, staat hier met nummer en citaat, in dezelfde nummering als het protocolmanuscript.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otokader" descr="titel_voetonderzoek.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radise_merk.png"/>
          <p:cNvPicPr>
            <a:picLocks noChangeAspect="1"/>
          </p:cNvPicPr>
          <p:nvPr/>
        </p:nvPicPr>
        <p:blipFill>
          <a:blip r:embed="rId3"/>
          <a:stretch>
            <a:fillRect/>
          </a:stretch>
        </p:blipFill>
        <p:spPr>
          <a:xfrm>
            <a:off x="516169" y="482587"/>
            <a:ext cx="1177404" cy="1346166"/>
          </a:xfrm>
          <a:prstGeom prst="rect">
            <a:avLst/>
          </a:prstGeom>
        </p:spPr>
      </p:pic>
      <p:sp>
        <p:nvSpPr>
          <p:cNvPr id="6" name="hero"/>
          <p:cNvSpPr txBox="1"/>
          <p:nvPr/>
        </p:nvSpPr>
        <p:spPr>
          <a:xfrm>
            <a:off x="634984" y="3848003"/>
            <a:ext cx="8889777" cy="1650958"/>
          </a:xfrm>
          <a:prstGeom prst="rect">
            <a:avLst/>
          </a:prstGeom>
          <a:noFill/>
        </p:spPr>
        <p:txBody>
          <a:bodyPr wrap="none" anchor="t" lIns="0" rIns="0" tIns="0" bIns="0">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anchor="t" lIns="0" rIns="0" tIns="0" bIns="0">
            <a:spAutoFit/>
          </a:bodyPr>
          <a:lstStyle/>
          <a:p>
            <a:pPr algn="l">
              <a:lnSpc>
                <a:spcPct val="125000"/>
              </a:lnSpc>
            </a:pPr>
            <a:r>
              <a:rPr sz="2800" b="1">
                <a:solidFill>
                  <a:srgbClr val="52BDEC"/>
                </a:solidFill>
                <a:latin typeface="Segoe UI"/>
              </a:rPr>
              <a:t>Trial design · scientific session</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leuven.png"/>
          <p:cNvPicPr>
            <a:picLocks noChangeAspect="1"/>
          </p:cNvPicPr>
          <p:nvPr/>
        </p:nvPicPr>
        <p:blipFill>
          <a:blip r:embed="rId4"/>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ub.png"/>
          <p:cNvPicPr>
            <a:picLocks noChangeAspect="1"/>
          </p:cNvPicPr>
          <p:nvPr/>
        </p:nvPicPr>
        <p:blipFill>
          <a:blip r:embed="rId5"/>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anchor="t" lIns="0" rIns="0" tIns="0" bIns="0">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anchor="t" lIns="0" rIns="0" tIns="0" bIns="0">
            <a:spAutoFit/>
          </a:bodyPr>
          <a:lstStyle/>
          <a:p>
            <a:pPr algn="r">
              <a:lnSpc>
                <a:spcPct val="125000"/>
              </a:lnSpc>
            </a:pPr>
            <a:r>
              <a:rPr sz="1100" b="0">
                <a:solidFill>
                  <a:srgbClr val="8FB6D0"/>
                </a:solidFill>
                <a:latin typeface="Consolas"/>
              </a:rPr>
              <a:t>Protocol version 1.0 · 17 May 2026 · S71769</a:t>
            </a:r>
          </a:p>
        </p:txBody>
      </p:sp>
    </p:spTree>
  </p:cSld>
  <p:clrMapOvr>
    <a:masterClrMapping/>
  </p:clrMapOvr>
  <p:transition xmlns:p14="http://schemas.microsoft.com/office/powerpoint/2010/main" spd="slow" p14:dur="9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WHERE WE STAND</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144 participants, 24 per centre</a:t>
            </a:r>
          </a:p>
        </p:txBody>
      </p:sp>
      <p:sp>
        <p:nvSpPr>
          <p:cNvPr id="5" name="Oval 4"/>
          <p:cNvSpPr/>
          <p:nvPr/>
        </p:nvSpPr>
        <p:spPr>
          <a:xfrm>
            <a:off x="634984"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278"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7572"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58866"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0015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145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8274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2404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6533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0662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4792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8921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051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7180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01309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5439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568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3698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7827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1956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6086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0215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45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8474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4984"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6278"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17572"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58866"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60015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84145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8274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2404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6533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0662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4792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8921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3051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7180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01309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25439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49568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3698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97827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21956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46086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70215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94345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18474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34984"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76278"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7572"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58866"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0015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84145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8274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2404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56533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80662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04792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28921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3051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77180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01309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25439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49568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73698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7827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21956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46086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0215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4345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8474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984"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76278"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117572"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358866"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60015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4145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08274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32404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56533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0662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04792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28921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53051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7180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01309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25439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49568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73698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97827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21956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46086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70215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94345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18474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34984"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76278"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17572"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358866"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60015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84145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08274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32404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56533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0662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04792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28921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3051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77180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01309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25439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49568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73698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7827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21956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46086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70215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4345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18474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634984"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76278"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117572"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358866"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60015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84145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08274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32404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56533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80662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04792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28921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53051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7180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01309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25439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49568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73698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97827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21956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46086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70215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594345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618474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34984" y="3301917"/>
            <a:ext cx="2539936" cy="253993"/>
          </a:xfrm>
          <a:prstGeom prst="rect">
            <a:avLst/>
          </a:prstGeom>
          <a:noFill/>
        </p:spPr>
        <p:txBody>
          <a:bodyPr wrap="square" anchor="t" lIns="0" rIns="0" tIns="0" bIns="0">
            <a:spAutoFit/>
          </a:bodyPr>
          <a:lstStyle/>
          <a:p>
            <a:pPr algn="l">
              <a:lnSpc>
                <a:spcPct val="125000"/>
              </a:lnSpc>
            </a:pPr>
            <a:r>
              <a:rPr sz="1300" b="1" spc="140">
                <a:solidFill>
                  <a:srgbClr val="52BDEC"/>
                </a:solidFill>
                <a:latin typeface="Consolas"/>
              </a:rPr>
              <a:t>72 PARADISE</a:t>
            </a:r>
          </a:p>
        </p:txBody>
      </p:sp>
      <p:sp>
        <p:nvSpPr>
          <p:cNvPr id="150" name="TextBox 149"/>
          <p:cNvSpPr txBox="1"/>
          <p:nvPr/>
        </p:nvSpPr>
        <p:spPr>
          <a:xfrm>
            <a:off x="2412939" y="3301917"/>
            <a:ext cx="2539936" cy="253993"/>
          </a:xfrm>
          <a:prstGeom prst="rect">
            <a:avLst/>
          </a:prstGeom>
          <a:noFill/>
        </p:spPr>
        <p:txBody>
          <a:bodyPr wrap="square" anchor="t" lIns="0" rIns="0" tIns="0" bIns="0">
            <a:spAutoFit/>
          </a:bodyPr>
          <a:lstStyle/>
          <a:p>
            <a:pPr algn="l">
              <a:lnSpc>
                <a:spcPct val="125000"/>
              </a:lnSpc>
            </a:pPr>
            <a:r>
              <a:rPr sz="1300" b="1" spc="140">
                <a:solidFill>
                  <a:srgbClr val="FF7A00"/>
                </a:solidFill>
                <a:latin typeface="Consolas"/>
              </a:rPr>
              <a:t>72 GEBRUIKELIJKE ZORG</a:t>
            </a:r>
          </a:p>
        </p:txBody>
      </p:sp>
      <p:sp>
        <p:nvSpPr>
          <p:cNvPr id="151" name="Rounded Rectangle 150"/>
          <p:cNvSpPr/>
          <p:nvPr/>
        </p:nvSpPr>
        <p:spPr>
          <a:xfrm>
            <a:off x="634984"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25479"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PER CENTRE</a:t>
            </a:r>
          </a:p>
        </p:txBody>
      </p:sp>
      <p:sp>
        <p:nvSpPr>
          <p:cNvPr id="153" name="TextBox 152"/>
          <p:cNvSpPr txBox="1"/>
          <p:nvPr/>
        </p:nvSpPr>
        <p:spPr>
          <a:xfrm>
            <a:off x="825479"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24 participants — 12 PARADISE and 12 usual care</a:t>
            </a:r>
          </a:p>
        </p:txBody>
      </p:sp>
      <p:sp>
        <p:nvSpPr>
          <p:cNvPr id="154" name="Rounded Rectangle 153"/>
          <p:cNvSpPr/>
          <p:nvPr/>
        </p:nvSpPr>
        <p:spPr>
          <a:xfrm>
            <a:off x="6171918"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362413"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CONTROL ARM</a:t>
            </a:r>
          </a:p>
        </p:txBody>
      </p:sp>
      <p:sp>
        <p:nvSpPr>
          <p:cNvPr id="156" name="TextBox 155"/>
          <p:cNvSpPr txBox="1"/>
          <p:nvPr/>
        </p:nvSpPr>
        <p:spPr>
          <a:xfrm>
            <a:off x="6362413"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Usual care, unchanged</a:t>
            </a:r>
          </a:p>
        </p:txBody>
      </p:sp>
      <p:sp>
        <p:nvSpPr>
          <p:cNvPr id="157" name="Rounded Rectangle 156"/>
          <p:cNvSpPr/>
          <p:nvPr/>
        </p:nvSpPr>
        <p:spPr>
          <a:xfrm>
            <a:off x="634984"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25479"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PRIMARY</a:t>
            </a:r>
          </a:p>
        </p:txBody>
      </p:sp>
      <p:sp>
        <p:nvSpPr>
          <p:cNvPr id="159" name="TextBox 158"/>
          <p:cNvSpPr txBox="1"/>
          <p:nvPr/>
        </p:nvSpPr>
        <p:spPr>
          <a:xfrm>
            <a:off x="825479"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Recurrence at 18 months</a:t>
            </a:r>
          </a:p>
        </p:txBody>
      </p:sp>
      <p:sp>
        <p:nvSpPr>
          <p:cNvPr id="160" name="Rounded Rectangle 159"/>
          <p:cNvSpPr/>
          <p:nvPr/>
        </p:nvSpPr>
        <p:spPr>
          <a:xfrm>
            <a:off x="6171918"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362413"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POSITIVE</a:t>
            </a:r>
          </a:p>
        </p:txBody>
      </p:sp>
      <p:sp>
        <p:nvSpPr>
          <p:cNvPr id="162" name="TextBox 161"/>
          <p:cNvSpPr txBox="1"/>
          <p:nvPr/>
        </p:nvSpPr>
        <p:spPr>
          <a:xfrm>
            <a:off x="6362413"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Only if the endpoint is met</a:t>
            </a:r>
          </a:p>
        </p:txBody>
      </p:sp>
      <p:sp>
        <p:nvSpPr>
          <p:cNvPr id="163" name="Rectangle 162"/>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34984" y="5575160"/>
            <a:ext cx="5714857" cy="215894"/>
          </a:xfrm>
          <a:prstGeom prst="rect">
            <a:avLst/>
          </a:prstGeom>
          <a:noFill/>
        </p:spPr>
        <p:txBody>
          <a:bodyPr wrap="square" anchor="t" lIns="0" rIns="0" tIns="0" bIns="0">
            <a:spAutoFit/>
          </a:bodyPr>
          <a:lstStyle/>
          <a:p>
            <a:pPr algn="l">
              <a:lnSpc>
                <a:spcPct val="125000"/>
              </a:lnSpc>
            </a:pPr>
            <a:r>
              <a:rPr sz="1200" b="1" spc="140">
                <a:solidFill>
                  <a:srgbClr val="8FB6D0"/>
                </a:solidFill>
                <a:latin typeface="Consolas"/>
              </a:rPr>
              <a:t>THE SIX PARTICIPATING FOOT CLINICS</a:t>
            </a:r>
          </a:p>
        </p:txBody>
      </p:sp>
      <p:sp>
        <p:nvSpPr>
          <p:cNvPr id="165" name="Rounded Rectangle 164"/>
          <p:cNvSpPr/>
          <p:nvPr/>
        </p:nvSpPr>
        <p:spPr>
          <a:xfrm>
            <a:off x="634984"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34984"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AZORG</a:t>
            </a:r>
          </a:p>
        </p:txBody>
      </p:sp>
      <p:sp>
        <p:nvSpPr>
          <p:cNvPr id="167" name="Rounded Rectangle 166"/>
          <p:cNvSpPr/>
          <p:nvPr/>
        </p:nvSpPr>
        <p:spPr>
          <a:xfrm>
            <a:off x="2463738"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2463738"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Sint-Jan Brugge</a:t>
            </a:r>
          </a:p>
        </p:txBody>
      </p:sp>
      <p:sp>
        <p:nvSpPr>
          <p:cNvPr id="169" name="Rounded Rectangle 168"/>
          <p:cNvSpPr/>
          <p:nvPr/>
        </p:nvSpPr>
        <p:spPr>
          <a:xfrm>
            <a:off x="4292492"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292492"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Groeninge</a:t>
            </a:r>
          </a:p>
        </p:txBody>
      </p:sp>
      <p:sp>
        <p:nvSpPr>
          <p:cNvPr id="171" name="Rounded Rectangle 170"/>
          <p:cNvSpPr/>
          <p:nvPr/>
        </p:nvSpPr>
        <p:spPr>
          <a:xfrm>
            <a:off x="6121246"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121246"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Gent</a:t>
            </a:r>
          </a:p>
        </p:txBody>
      </p:sp>
      <p:sp>
        <p:nvSpPr>
          <p:cNvPr id="173" name="Rounded Rectangle 172"/>
          <p:cNvSpPr/>
          <p:nvPr/>
        </p:nvSpPr>
        <p:spPr>
          <a:xfrm>
            <a:off x="7950001"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950001"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Leuven</a:t>
            </a:r>
          </a:p>
        </p:txBody>
      </p:sp>
      <p:sp>
        <p:nvSpPr>
          <p:cNvPr id="175" name="Rounded Rectangle 174"/>
          <p:cNvSpPr/>
          <p:nvPr/>
        </p:nvSpPr>
        <p:spPr>
          <a:xfrm>
            <a:off x="9778755"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9778755"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Antwerpen</a:t>
            </a:r>
          </a:p>
        </p:txBody>
      </p:sp>
      <p:sp>
        <p:nvSpPr>
          <p:cNvPr id="177" name="TextBox 17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33</a:t>
            </a:r>
          </a:p>
        </p:txBody>
      </p:sp>
      <p:pic>
        <p:nvPicPr>
          <p:cNvPr id="17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79" name="TextBox 17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7828"/>
          </a:xfrm>
          <a:prstGeom prst="rect">
            <a:avLst/>
          </a:prstGeom>
          <a:gradFill rotWithShape="1">
            <a:gsLst>
              <a:gs pos="0">
                <a:srgbClr val="52BDEC"/>
              </a:gs>
              <a:gs pos="100000">
                <a:srgbClr val="1D8DB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5400" b="1">
                <a:solidFill>
                  <a:srgbClr val="04182A"/>
                </a:solidFill>
                <a:latin typeface="Segoe UI"/>
              </a:rPr>
              <a:t>PARADISE does not test efficacy.</a:t>
            </a:r>
          </a:p>
          <a:p>
            <a:pPr algn="l">
              <a:lnSpc>
                <a:spcPct val="106000"/>
              </a:lnSpc>
              <a:spcBef>
                <a:spcPts val="500"/>
              </a:spcBef>
            </a:pPr>
            <a:r>
              <a:rPr sz="5400" b="1">
                <a:solidFill>
                  <a:srgbClr val="04182A"/>
                </a:solidFill>
                <a:latin typeface="Segoe UI"/>
              </a:rPr>
              <a:t>PARADISE tests translation.</a:t>
            </a:r>
          </a:p>
        </p:txBody>
      </p:sp>
      <p:sp>
        <p:nvSpPr>
          <p:cNvPr id="5" name="TextBox 4"/>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04182A"/>
                </a:solidFill>
                <a:latin typeface="Consolas"/>
              </a:rPr>
              <a:t>Every component already exists. No component worked on its own.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01</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BLOCK 01</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Why</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Four numbers explain why there are two targets, not one.</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33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develop a new ulcer</a:t>
            </a:r>
          </a:p>
          <a:p>
            <a:pPr algn="l">
              <a:lnSpc>
                <a:spcPct val="120000"/>
              </a:lnSpc>
              <a:spcBef>
                <a:spcPts val="500"/>
              </a:spcBef>
            </a:pPr>
            <a:r>
              <a:rPr sz="3200" b="1">
                <a:solidFill>
                  <a:srgbClr val="F2F8FC"/>
                </a:solidFill>
                <a:latin typeface="Segoe UI"/>
              </a:rPr>
              <a:t>within one year</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758" y="1320766"/>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AT FIVE YEARS</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758" y="2692332"/>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HIGHER MORTALITY</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758" y="4063898"/>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MORTALITY AFTER MAJOR AMPUTATION</a:t>
            </a:r>
          </a:p>
        </p:txBody>
      </p:sp>
      <p:sp>
        <p:nvSpPr>
          <p:cNvPr id="16" name="TextBox 15"/>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05 / 33</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THE RISK AFTER HEALING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Two thirds recur within five years</a:t>
            </a:r>
          </a:p>
        </p:txBody>
      </p:sp>
      <p:sp>
        <p:nvSpPr>
          <p:cNvPr id="5" name="TextBox 4"/>
          <p:cNvSpPr txBox="1"/>
          <p:nvPr/>
        </p:nvSpPr>
        <p:spPr>
          <a:xfrm>
            <a:off x="634984" y="2489137"/>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AT 1 YEAR</a:t>
            </a:r>
          </a:p>
        </p:txBody>
      </p:sp>
      <p:sp>
        <p:nvSpPr>
          <p:cNvPr id="6" name="TextBox 5"/>
          <p:cNvSpPr txBox="1"/>
          <p:nvPr/>
        </p:nvSpPr>
        <p:spPr>
          <a:xfrm>
            <a:off x="634984" y="2717732"/>
            <a:ext cx="4063898" cy="939776"/>
          </a:xfrm>
          <a:prstGeom prst="rect">
            <a:avLst/>
          </a:prstGeom>
          <a:noFill/>
        </p:spPr>
        <p:txBody>
          <a:bodyPr wrap="square" anchor="t" lIns="0" rIns="0" tIns="0" bIns="0">
            <a:spAutoFit/>
          </a:bodyPr>
          <a:lstStyle/>
          <a:p>
            <a:pPr algn="l">
              <a:lnSpc>
                <a:spcPct val="100000"/>
              </a:lnSpc>
            </a:pPr>
            <a:r>
              <a:rPr sz="5400" b="1">
                <a:solidFill>
                  <a:srgbClr val="52BDEC"/>
                </a:solidFill>
                <a:latin typeface="Segoe UI"/>
              </a:rPr>
              <a:t>40%</a:t>
            </a:r>
          </a:p>
        </p:txBody>
      </p:sp>
      <p:sp>
        <p:nvSpPr>
          <p:cNvPr id="7" name="TextBox 6"/>
          <p:cNvSpPr txBox="1"/>
          <p:nvPr/>
        </p:nvSpPr>
        <p:spPr>
          <a:xfrm>
            <a:off x="634984" y="4038499"/>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AT 5 YEARS</a:t>
            </a:r>
          </a:p>
        </p:txBody>
      </p:sp>
      <p:sp>
        <p:nvSpPr>
          <p:cNvPr id="8" name="TextBox 7"/>
          <p:cNvSpPr txBox="1"/>
          <p:nvPr/>
        </p:nvSpPr>
        <p:spPr>
          <a:xfrm>
            <a:off x="634984" y="4267093"/>
            <a:ext cx="4063898" cy="939776"/>
          </a:xfrm>
          <a:prstGeom prst="rect">
            <a:avLst/>
          </a:prstGeom>
          <a:noFill/>
        </p:spPr>
        <p:txBody>
          <a:bodyPr wrap="square" anchor="t" lIns="0" rIns="0" tIns="0" bIns="0">
            <a:spAutoFit/>
          </a:bodyPr>
          <a:lstStyle/>
          <a:p>
            <a:pPr algn="l">
              <a:lnSpc>
                <a:spcPct val="100000"/>
              </a:lnSpc>
            </a:pPr>
            <a:r>
              <a:rPr sz="5400" b="1">
                <a:solidFill>
                  <a:srgbClr val="FF7A00"/>
                </a:solidFill>
                <a:latin typeface="Segoe UI"/>
              </a:rPr>
              <a:t>65%</a:t>
            </a:r>
          </a:p>
        </p:txBody>
      </p:sp>
      <p:sp>
        <p:nvSpPr>
          <p:cNvPr id="9" name="TextBox 8"/>
          <p:cNvSpPr txBox="1"/>
          <p:nvPr/>
        </p:nvSpPr>
        <p:spPr>
          <a:xfrm>
            <a:off x="5587860" y="1777955"/>
            <a:ext cx="5968850" cy="279393"/>
          </a:xfrm>
          <a:prstGeom prst="rect">
            <a:avLst/>
          </a:prstGeom>
          <a:noFill/>
        </p:spPr>
        <p:txBody>
          <a:bodyPr wrap="square" anchor="t" lIns="0" rIns="0" tIns="0" bIns="0">
            <a:spAutoFit/>
          </a:bodyPr>
          <a:lstStyle/>
          <a:p>
            <a:pPr algn="l">
              <a:lnSpc>
                <a:spcPct val="125000"/>
              </a:lnSpc>
            </a:pPr>
            <a:r>
              <a:rPr sz="1300" b="0">
                <a:solidFill>
                  <a:srgbClr val="8FB6D0"/>
                </a:solidFill>
                <a:latin typeface="Segoe UI"/>
              </a:rPr>
              <a:t>Recurrence incidence against follow-up duration</a:t>
            </a:r>
          </a:p>
        </p:txBody>
      </p:sp>
      <p:sp>
        <p:nvSpPr>
          <p:cNvPr id="10" name="Rounded Rectangle 9"/>
          <p:cNvSpPr/>
          <p:nvPr/>
        </p:nvSpPr>
        <p:spPr>
          <a:xfrm>
            <a:off x="5587860" y="2133546"/>
            <a:ext cx="5968850" cy="406389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cidief_curve.png"/>
          <p:cNvPicPr>
            <a:picLocks noChangeAspect="1"/>
          </p:cNvPicPr>
          <p:nvPr/>
        </p:nvPicPr>
        <p:blipFill>
          <a:blip r:embed="rId2"/>
          <a:stretch>
            <a:fillRect/>
          </a:stretch>
        </p:blipFill>
        <p:spPr>
          <a:xfrm>
            <a:off x="5748364" y="2285942"/>
            <a:ext cx="5647842" cy="3860703"/>
          </a:xfrm>
          <a:prstGeom prst="rect">
            <a:avLst/>
          </a:prstGeom>
        </p:spPr>
      </p:pic>
      <p:sp>
        <p:nvSpPr>
          <p:cNvPr id="12" name="TextBox 11"/>
          <p:cNvSpPr txBox="1"/>
          <p:nvPr/>
        </p:nvSpPr>
        <p:spPr>
          <a:xfrm>
            <a:off x="634984" y="6273643"/>
            <a:ext cx="9524761" cy="203194"/>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Pooled data from nine prospective studies, one retrospective study and the control arms of nine RCTs</a:t>
            </a: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06 / 33</a:t>
            </a:r>
          </a:p>
        </p:txBody>
      </p:sp>
      <p:pic>
        <p:nvPicPr>
          <p:cNvPr id="1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5" name="TextBox 1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voorkomen.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6200" b="1">
                <a:solidFill>
                  <a:srgbClr val="FFFFFF"/>
                </a:solidFill>
                <a:latin typeface="Segoe UI"/>
              </a:rPr>
              <a:t>Three quarters are preventable.</a:t>
            </a:r>
          </a:p>
          <a:p>
            <a:pPr algn="l">
              <a:lnSpc>
                <a:spcPct val="106000"/>
              </a:lnSpc>
              <a:spcBef>
                <a:spcPts val="500"/>
              </a:spcBef>
            </a:pPr>
            <a:r>
              <a:rPr sz="6200" b="1">
                <a:solidFill>
                  <a:srgbClr val="FFFFFF"/>
                </a:solidFill>
                <a:latin typeface="Segoe UI"/>
              </a:rPr>
              <a:t>Forty per cent come back.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WHAT HAS ALREADY BEEN TRIED</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Three strategies, one pattern</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Pressure-guided footwear</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The pivotal multicentre trial missed its primary endpoint: 38.8% versus 44.2% recurrence. The difference was in who actually wore the footwear.</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p = 0.48</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Patient education</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In the IWGDF review, stand-alone education showed no demonstrable preventive effect. The median treatment effect was negative.</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median −13.4%</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Continuous digital feedback</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An intelligent insole with real-time alerts reduced recurrence — again mainly among those who kept using the device.</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proof of concept</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The pattern</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Each component addresses a necessary condition. None addresses a sufficient one.</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a:t>
            </a:r>
          </a:p>
        </p:txBody>
      </p:sp>
      <p:sp>
        <p:nvSpPr>
          <p:cNvPr id="21" name="Rounded Rectangle 20"/>
          <p:cNvSpPr/>
          <p:nvPr/>
        </p:nvSpPr>
        <p:spPr>
          <a:xfrm>
            <a:off x="634984" y="4992194"/>
            <a:ext cx="10921726" cy="1116352"/>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169989"/>
            <a:ext cx="10286742" cy="760761"/>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Not three disappointments but one: the effect is real every time, and conditional every time.</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08 / 33</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9 · Bus 2013, DIAFOS   |   10 · van Netten 2016   |   12 · Abbott 2019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THE SAME SHOE, TWO OUTCOMES</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Why pressure alone is not enough</a:t>
            </a:r>
          </a:p>
        </p:txBody>
      </p:sp>
      <p:sp>
        <p:nvSpPr>
          <p:cNvPr id="5" name="Rectangle 4"/>
          <p:cNvSpPr/>
          <p:nvPr/>
        </p:nvSpPr>
        <p:spPr>
          <a:xfrm>
            <a:off x="634984" y="1828754"/>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993850"/>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Everyone</a:t>
            </a:r>
          </a:p>
        </p:txBody>
      </p:sp>
      <p:sp>
        <p:nvSpPr>
          <p:cNvPr id="7" name="TextBox 6"/>
          <p:cNvSpPr txBox="1"/>
          <p:nvPr/>
        </p:nvSpPr>
        <p:spPr>
          <a:xfrm>
            <a:off x="647683" y="2349441"/>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intention-to-treat</a:t>
            </a:r>
          </a:p>
        </p:txBody>
      </p:sp>
      <p:sp>
        <p:nvSpPr>
          <p:cNvPr id="8" name="TextBox 7"/>
          <p:cNvSpPr txBox="1"/>
          <p:nvPr/>
        </p:nvSpPr>
        <p:spPr>
          <a:xfrm>
            <a:off x="634984" y="276853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Standard custom insole</a:t>
            </a:r>
          </a:p>
        </p:txBody>
      </p:sp>
      <p:sp>
        <p:nvSpPr>
          <p:cNvPr id="9" name="Rounded Rectangle 8"/>
          <p:cNvSpPr/>
          <p:nvPr/>
        </p:nvSpPr>
        <p:spPr>
          <a:xfrm>
            <a:off x="2793930" y="2717732"/>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93930" y="2717732"/>
            <a:ext cx="6062320"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05752" y="2692332"/>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44,2%</a:t>
            </a:r>
          </a:p>
        </p:txBody>
      </p:sp>
      <p:sp>
        <p:nvSpPr>
          <p:cNvPr id="12" name="TextBox 11"/>
          <p:cNvSpPr txBox="1"/>
          <p:nvPr/>
        </p:nvSpPr>
        <p:spPr>
          <a:xfrm>
            <a:off x="634984" y="318762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Pressure-optimised</a:t>
            </a:r>
          </a:p>
        </p:txBody>
      </p:sp>
      <p:sp>
        <p:nvSpPr>
          <p:cNvPr id="13" name="Rounded Rectangle 12"/>
          <p:cNvSpPr/>
          <p:nvPr/>
        </p:nvSpPr>
        <p:spPr>
          <a:xfrm>
            <a:off x="2793930" y="3136821"/>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93930" y="3136821"/>
            <a:ext cx="5321674" cy="292092"/>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5752" y="3111422"/>
            <a:ext cx="1396965" cy="342891"/>
          </a:xfrm>
          <a:prstGeom prst="rect">
            <a:avLst/>
          </a:prstGeom>
          <a:noFill/>
        </p:spPr>
        <p:txBody>
          <a:bodyPr wrap="square" anchor="t" lIns="0" rIns="0" tIns="0" bIns="0">
            <a:spAutoFit/>
          </a:bodyPr>
          <a:lstStyle/>
          <a:p>
            <a:pPr algn="l">
              <a:lnSpc>
                <a:spcPct val="125000"/>
              </a:lnSpc>
            </a:pPr>
            <a:r>
              <a:rPr sz="2700" b="1">
                <a:solidFill>
                  <a:srgbClr val="FF7A00"/>
                </a:solidFill>
                <a:latin typeface="Segoe UI"/>
              </a:rPr>
              <a:t>38,8%</a:t>
            </a:r>
          </a:p>
        </p:txBody>
      </p:sp>
      <p:sp>
        <p:nvSpPr>
          <p:cNvPr id="16" name="TextBox 15"/>
          <p:cNvSpPr txBox="1"/>
          <p:nvPr/>
        </p:nvSpPr>
        <p:spPr>
          <a:xfrm>
            <a:off x="634984" y="3568610"/>
            <a:ext cx="5714857" cy="279393"/>
          </a:xfrm>
          <a:prstGeom prst="rect">
            <a:avLst/>
          </a:prstGeom>
          <a:noFill/>
        </p:spPr>
        <p:txBody>
          <a:bodyPr wrap="square" anchor="t" lIns="0" rIns="0" tIns="0" bIns="0">
            <a:spAutoFit/>
          </a:bodyPr>
          <a:lstStyle/>
          <a:p>
            <a:pPr algn="l">
              <a:lnSpc>
                <a:spcPct val="125000"/>
              </a:lnSpc>
            </a:pPr>
            <a:r>
              <a:rPr sz="1800" b="1">
                <a:solidFill>
                  <a:srgbClr val="FF7A00"/>
                </a:solidFill>
                <a:latin typeface="Segoe UI"/>
              </a:rPr>
              <a:t>No difference — p = 0.48</a:t>
            </a:r>
          </a:p>
        </p:txBody>
      </p:sp>
      <p:sp>
        <p:nvSpPr>
          <p:cNvPr id="17" name="Rectangle 16"/>
          <p:cNvSpPr/>
          <p:nvPr/>
        </p:nvSpPr>
        <p:spPr>
          <a:xfrm>
            <a:off x="634984" y="408929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254393"/>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Those who wore it</a:t>
            </a:r>
          </a:p>
        </p:txBody>
      </p:sp>
      <p:sp>
        <p:nvSpPr>
          <p:cNvPr id="19" name="TextBox 18"/>
          <p:cNvSpPr txBox="1"/>
          <p:nvPr/>
        </p:nvSpPr>
        <p:spPr>
          <a:xfrm>
            <a:off x="647683" y="4609984"/>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 80% of steps</a:t>
            </a:r>
          </a:p>
        </p:txBody>
      </p:sp>
      <p:sp>
        <p:nvSpPr>
          <p:cNvPr id="20" name="TextBox 19"/>
          <p:cNvSpPr txBox="1"/>
          <p:nvPr/>
        </p:nvSpPr>
        <p:spPr>
          <a:xfrm>
            <a:off x="634984" y="5029074"/>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Standard custom insole</a:t>
            </a:r>
          </a:p>
        </p:txBody>
      </p:sp>
      <p:sp>
        <p:nvSpPr>
          <p:cNvPr id="21" name="Rounded Rectangle 20"/>
          <p:cNvSpPr/>
          <p:nvPr/>
        </p:nvSpPr>
        <p:spPr>
          <a:xfrm>
            <a:off x="2793930" y="497827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93930" y="4978275"/>
            <a:ext cx="6556084"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05752" y="4952876"/>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47,8%</a:t>
            </a:r>
          </a:p>
        </p:txBody>
      </p:sp>
      <p:sp>
        <p:nvSpPr>
          <p:cNvPr id="24" name="TextBox 23"/>
          <p:cNvSpPr txBox="1"/>
          <p:nvPr/>
        </p:nvSpPr>
        <p:spPr>
          <a:xfrm>
            <a:off x="634984" y="5448163"/>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Pressure-optimised</a:t>
            </a:r>
          </a:p>
        </p:txBody>
      </p:sp>
      <p:sp>
        <p:nvSpPr>
          <p:cNvPr id="25" name="Rounded Rectangle 24"/>
          <p:cNvSpPr/>
          <p:nvPr/>
        </p:nvSpPr>
        <p:spPr>
          <a:xfrm>
            <a:off x="2793930" y="539736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93930" y="5397365"/>
            <a:ext cx="3524923" cy="292092"/>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05752" y="5371965"/>
            <a:ext cx="1396965" cy="342891"/>
          </a:xfrm>
          <a:prstGeom prst="rect">
            <a:avLst/>
          </a:prstGeom>
          <a:noFill/>
        </p:spPr>
        <p:txBody>
          <a:bodyPr wrap="square" anchor="t" lIns="0" rIns="0" tIns="0" bIns="0">
            <a:spAutoFit/>
          </a:bodyPr>
          <a:lstStyle/>
          <a:p>
            <a:pPr algn="l">
              <a:lnSpc>
                <a:spcPct val="125000"/>
              </a:lnSpc>
            </a:pPr>
            <a:r>
              <a:rPr sz="2700" b="1">
                <a:solidFill>
                  <a:srgbClr val="52BDEC"/>
                </a:solidFill>
                <a:latin typeface="Segoe UI"/>
              </a:rPr>
              <a:t>25,7%</a:t>
            </a:r>
          </a:p>
        </p:txBody>
      </p:sp>
      <p:sp>
        <p:nvSpPr>
          <p:cNvPr id="28" name="TextBox 27"/>
          <p:cNvSpPr txBox="1"/>
          <p:nvPr/>
        </p:nvSpPr>
        <p:spPr>
          <a:xfrm>
            <a:off x="634984" y="5829154"/>
            <a:ext cx="5714857" cy="279393"/>
          </a:xfrm>
          <a:prstGeom prst="rect">
            <a:avLst/>
          </a:prstGeom>
          <a:noFill/>
        </p:spPr>
        <p:txBody>
          <a:bodyPr wrap="square" anchor="t" lIns="0" rIns="0" tIns="0" bIns="0">
            <a:spAutoFit/>
          </a:bodyPr>
          <a:lstStyle/>
          <a:p>
            <a:pPr algn="l">
              <a:lnSpc>
                <a:spcPct val="125000"/>
              </a:lnSpc>
            </a:pPr>
            <a:r>
              <a:rPr sz="1800" b="1">
                <a:solidFill>
                  <a:srgbClr val="52BDEC"/>
                </a:solidFill>
                <a:latin typeface="Segoe UI"/>
              </a:rPr>
              <a:t>Almost halved — p = 0.045</a:t>
            </a:r>
          </a:p>
        </p:txBody>
      </p:sp>
      <p:sp>
        <p:nvSpPr>
          <p:cNvPr id="29" name="TextBox 2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Bus et al. · Diabetes Care 2013 · DIAFOS, 171 participants</a:t>
            </a:r>
          </a:p>
        </p:txBody>
      </p:sp>
      <p:sp>
        <p:nvSpPr>
          <p:cNvPr id="30" name="TextBox 2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09 / 33</a:t>
            </a:r>
          </a:p>
        </p:txBody>
      </p:sp>
      <p:pic>
        <p:nvPicPr>
          <p:cNvPr id="3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2" name="TextBox 3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52BDEC">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52BDEC"/>
                </a:solidFill>
                <a:latin typeface="Segoe UI"/>
              </a:rPr>
              <a:t>71</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52BDEC"/>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adherence — measured,</a:t>
            </a:r>
          </a:p>
          <a:p>
            <a:pPr algn="l">
              <a:lnSpc>
                <a:spcPct val="120000"/>
              </a:lnSpc>
              <a:spcBef>
                <a:spcPts val="500"/>
              </a:spcBef>
            </a:pPr>
            <a:r>
              <a:rPr sz="3200" b="1">
                <a:solidFill>
                  <a:srgbClr val="F2F8FC"/>
                </a:solidFill>
                <a:latin typeface="Segoe UI"/>
              </a:rPr>
              <a:t>not asked</a:t>
            </a:r>
          </a:p>
        </p:txBody>
      </p:sp>
      <p:sp>
        <p:nvSpPr>
          <p:cNvPr id="7" name="TextBox 6"/>
          <p:cNvSpPr txBox="1"/>
          <p:nvPr/>
        </p:nvSpPr>
        <p:spPr>
          <a:xfrm>
            <a:off x="6349841" y="1904952"/>
            <a:ext cx="5079873" cy="228594"/>
          </a:xfrm>
          <a:prstGeom prst="rect">
            <a:avLst/>
          </a:prstGeom>
          <a:noFill/>
        </p:spPr>
        <p:txBody>
          <a:bodyPr wrap="square" anchor="t" lIns="0" rIns="0" tIns="0" bIns="0">
            <a:spAutoFit/>
          </a:bodyPr>
          <a:lstStyle/>
          <a:p>
            <a:pPr algn="l">
              <a:lnSpc>
                <a:spcPct val="125000"/>
              </a:lnSpc>
            </a:pPr>
            <a:r>
              <a:rPr sz="1300" b="0" spc="140">
                <a:solidFill>
                  <a:srgbClr val="8FB6D0"/>
                </a:solidFill>
                <a:latin typeface="Consolas"/>
              </a:rPr>
              <a:t>ADHERENCE AGAINST THE 80% TARGET</a:t>
            </a:r>
          </a:p>
        </p:txBody>
      </p:sp>
      <p:sp>
        <p:nvSpPr>
          <p:cNvPr id="8" name="TextBox 7"/>
          <p:cNvSpPr txBox="1"/>
          <p:nvPr/>
        </p:nvSpPr>
        <p:spPr>
          <a:xfrm>
            <a:off x="6349841" y="2222444"/>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Overall</a:t>
            </a:r>
          </a:p>
        </p:txBody>
      </p:sp>
      <p:sp>
        <p:nvSpPr>
          <p:cNvPr id="9" name="Rounded Rectangle 8"/>
          <p:cNvSpPr/>
          <p:nvPr/>
        </p:nvSpPr>
        <p:spPr>
          <a:xfrm>
            <a:off x="6349841" y="2489137"/>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49841" y="2489137"/>
            <a:ext cx="3155871"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21726" y="2463738"/>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71%</a:t>
            </a:r>
          </a:p>
        </p:txBody>
      </p:sp>
      <p:sp>
        <p:nvSpPr>
          <p:cNvPr id="12" name="TextBox 11"/>
          <p:cNvSpPr txBox="1"/>
          <p:nvPr/>
        </p:nvSpPr>
        <p:spPr>
          <a:xfrm>
            <a:off x="6349841" y="2971725"/>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At home</a:t>
            </a:r>
          </a:p>
        </p:txBody>
      </p:sp>
      <p:sp>
        <p:nvSpPr>
          <p:cNvPr id="13" name="Rounded Rectangle 12"/>
          <p:cNvSpPr/>
          <p:nvPr/>
        </p:nvSpPr>
        <p:spPr>
          <a:xfrm>
            <a:off x="6349841" y="3238419"/>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49841" y="3238419"/>
            <a:ext cx="2711382"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21726" y="3213019"/>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61%</a:t>
            </a:r>
          </a:p>
        </p:txBody>
      </p:sp>
      <p:sp>
        <p:nvSpPr>
          <p:cNvPr id="16" name="TextBox 15"/>
          <p:cNvSpPr txBox="1"/>
          <p:nvPr/>
        </p:nvSpPr>
        <p:spPr>
          <a:xfrm>
            <a:off x="6349841" y="3721006"/>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Outdoors</a:t>
            </a:r>
          </a:p>
        </p:txBody>
      </p:sp>
      <p:sp>
        <p:nvSpPr>
          <p:cNvPr id="17" name="Rounded Rectangle 16"/>
          <p:cNvSpPr/>
          <p:nvPr/>
        </p:nvSpPr>
        <p:spPr>
          <a:xfrm>
            <a:off x="6349841" y="3987700"/>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49841" y="3987700"/>
            <a:ext cx="3867053"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21726" y="3962300"/>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87%</a:t>
            </a:r>
          </a:p>
        </p:txBody>
      </p:sp>
      <p:sp>
        <p:nvSpPr>
          <p:cNvPr id="20" name="Rectangle 19"/>
          <p:cNvSpPr/>
          <p:nvPr/>
        </p:nvSpPr>
        <p:spPr>
          <a:xfrm>
            <a:off x="9905752" y="2184345"/>
            <a:ext cx="19049" cy="2209744"/>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70768" y="4470288"/>
            <a:ext cx="1269968" cy="228594"/>
          </a:xfrm>
          <a:prstGeom prst="rect">
            <a:avLst/>
          </a:prstGeom>
          <a:noFill/>
        </p:spPr>
        <p:txBody>
          <a:bodyPr wrap="square" anchor="t" lIns="0" rIns="0" tIns="0" bIns="0">
            <a:spAutoFit/>
          </a:bodyPr>
          <a:lstStyle/>
          <a:p>
            <a:pPr algn="ctr">
              <a:lnSpc>
                <a:spcPct val="125000"/>
              </a:lnSpc>
            </a:pPr>
            <a:r>
              <a:rPr sz="1300" b="1">
                <a:solidFill>
                  <a:srgbClr val="FF7A00"/>
                </a:solidFill>
                <a:latin typeface="Consolas"/>
              </a:rPr>
              <a:t>80% target</a:t>
            </a:r>
          </a:p>
        </p:txBody>
      </p:sp>
      <p:sp>
        <p:nvSpPr>
          <p:cNvPr id="22" name="TextBox 21"/>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Waaijman et al. · Diabetes Care 2013 · 107 patients</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10 / 33</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THE MECHANISM</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Loading is a product, not a sum</a:t>
            </a:r>
          </a:p>
        </p:txBody>
      </p:sp>
      <p:sp>
        <p:nvSpPr>
          <p:cNvPr id="5" name="Rounded Rectangle 4"/>
          <p:cNvSpPr/>
          <p:nvPr/>
        </p:nvSpPr>
        <p:spPr>
          <a:xfrm>
            <a:off x="634984"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Peak pressure</a:t>
            </a:r>
          </a:p>
        </p:txBody>
      </p:sp>
      <p:sp>
        <p:nvSpPr>
          <p:cNvPr id="7" name="TextBox 6"/>
          <p:cNvSpPr txBox="1"/>
          <p:nvPr/>
        </p:nvSpPr>
        <p:spPr>
          <a:xfrm>
            <a:off x="82547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per step</a:t>
            </a:r>
          </a:p>
        </p:txBody>
      </p:sp>
      <p:sp>
        <p:nvSpPr>
          <p:cNvPr id="8" name="Rounded Rectangle 7"/>
          <p:cNvSpPr/>
          <p:nvPr/>
        </p:nvSpPr>
        <p:spPr>
          <a:xfrm>
            <a:off x="825479"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47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MODIFIED</a:t>
            </a:r>
          </a:p>
        </p:txBody>
      </p:sp>
      <p:sp>
        <p:nvSpPr>
          <p:cNvPr id="10" name="TextBox 9"/>
          <p:cNvSpPr txBox="1"/>
          <p:nvPr/>
        </p:nvSpPr>
        <p:spPr>
          <a:xfrm>
            <a:off x="3869085"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1" name="Rounded Rectangle 10"/>
          <p:cNvSpPr/>
          <p:nvPr/>
        </p:nvSpPr>
        <p:spPr>
          <a:xfrm>
            <a:off x="432627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676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Activity</a:t>
            </a:r>
          </a:p>
        </p:txBody>
      </p:sp>
      <p:sp>
        <p:nvSpPr>
          <p:cNvPr id="13" name="TextBox 12"/>
          <p:cNvSpPr txBox="1"/>
          <p:nvPr/>
        </p:nvSpPr>
        <p:spPr>
          <a:xfrm>
            <a:off x="451676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steps per day</a:t>
            </a:r>
          </a:p>
        </p:txBody>
      </p:sp>
      <p:sp>
        <p:nvSpPr>
          <p:cNvPr id="14" name="Rounded Rectangle 13"/>
          <p:cNvSpPr/>
          <p:nvPr/>
        </p:nvSpPr>
        <p:spPr>
          <a:xfrm>
            <a:off x="4516769" y="3797205"/>
            <a:ext cx="1015974"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676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8FB6D0"/>
                </a:solidFill>
                <a:latin typeface="Consolas"/>
              </a:rPr>
              <a:t>MEASURED</a:t>
            </a:r>
          </a:p>
        </p:txBody>
      </p:sp>
      <p:sp>
        <p:nvSpPr>
          <p:cNvPr id="16" name="TextBox 15"/>
          <p:cNvSpPr txBox="1"/>
          <p:nvPr/>
        </p:nvSpPr>
        <p:spPr>
          <a:xfrm>
            <a:off x="7560374"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7" name="Rounded Rectangle 16"/>
          <p:cNvSpPr/>
          <p:nvPr/>
        </p:nvSpPr>
        <p:spPr>
          <a:xfrm>
            <a:off x="801756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8058"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Wear time</a:t>
            </a:r>
          </a:p>
        </p:txBody>
      </p:sp>
      <p:sp>
        <p:nvSpPr>
          <p:cNvPr id="19" name="TextBox 18"/>
          <p:cNvSpPr txBox="1"/>
          <p:nvPr/>
        </p:nvSpPr>
        <p:spPr>
          <a:xfrm>
            <a:off x="8208058"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was it worn</a:t>
            </a:r>
          </a:p>
        </p:txBody>
      </p:sp>
      <p:sp>
        <p:nvSpPr>
          <p:cNvPr id="20" name="Rounded Rectangle 19"/>
          <p:cNvSpPr/>
          <p:nvPr/>
        </p:nvSpPr>
        <p:spPr>
          <a:xfrm>
            <a:off x="8208058"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8058"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MODIFIED</a:t>
            </a:r>
          </a:p>
        </p:txBody>
      </p:sp>
      <p:sp>
        <p:nvSpPr>
          <p:cNvPr id="22" name="TextBox 21"/>
          <p:cNvSpPr txBox="1"/>
          <p:nvPr/>
        </p:nvSpPr>
        <p:spPr>
          <a:xfrm>
            <a:off x="634984" y="4889377"/>
            <a:ext cx="10921726" cy="571485"/>
          </a:xfrm>
          <a:prstGeom prst="rect">
            <a:avLst/>
          </a:prstGeom>
          <a:noFill/>
        </p:spPr>
        <p:txBody>
          <a:bodyPr wrap="square" anchor="t" lIns="0" rIns="0" tIns="0" bIns="0">
            <a:spAutoFit/>
          </a:bodyPr>
          <a:lstStyle/>
          <a:p>
            <a:pPr algn="l">
              <a:lnSpc>
                <a:spcPct val="140000"/>
              </a:lnSpc>
            </a:pPr>
            <a:r>
              <a:rPr sz="2000" b="0">
                <a:solidFill>
                  <a:srgbClr val="8FB6D0"/>
                </a:solidFill>
                <a:latin typeface="Segoe UI"/>
              </a:rPr>
              <a:t>One factor at zero makes the whole product zero. That is why PARADISE has two targets: one for pressure and one for wear time.</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11 / 33</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14 · van Netten 2018   |   16 · Hulshof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WHY THIS TRIAL IS POSSIBLE ONLY NOW</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Three things have changed</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Adherence is measurable</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The temperature sensor in orthopaedic footwear has been validated. Self-report systematically overestimates; wear time is now a testable target rather than an assumption.</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sensor</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The failure is explicable</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Under COM-B, knowledge transfer addresses capability alone. Opportunity and motivation — what happens at home, for years, unseen — were left untouched.</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COM-B</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The setting exists</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Belgium accredits multidisciplinary foot clinics with training requirements and minimum caseloads. That is where prevention ultimately has to land.</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RIZIV-INAMI</a:t>
            </a:r>
          </a:p>
        </p:txBody>
      </p:sp>
      <p:sp>
        <p:nvSpPr>
          <p:cNvPr id="17" name="Rounded Rectangle 16"/>
          <p:cNvSpPr/>
          <p:nvPr/>
        </p:nvSpPr>
        <p:spPr>
          <a:xfrm>
            <a:off x="634984" y="4992194"/>
            <a:ext cx="10921726" cy="1116352"/>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2476" y="5169989"/>
            <a:ext cx="10286742" cy="760761"/>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That is why adherence here is a prespecified mediator, measured in full, rather than an assumption justified after the fact.</a:t>
            </a:r>
          </a:p>
        </p:txBody>
      </p:sp>
      <p:sp>
        <p:nvSpPr>
          <p:cNvPr id="19" name="TextBox 1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33</a:t>
            </a:r>
          </a:p>
        </p:txBody>
      </p:sp>
      <p:pic>
        <p:nvPicPr>
          <p:cNvPr id="20"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1" name="TextBox 20"/>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18 · Lutjeboer 2018   |   19 · Michie 2011, COM-B   |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WHAT PARADISE DOES DIFFERENTLY</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One service, not three separate measures</a:t>
            </a: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The insole méets the target</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&lt; 200 kPa ór 25% lower</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Measured at delivery.</a:t>
            </a:r>
          </a:p>
          <a:p>
            <a:pPr algn="l">
              <a:lnSpc>
                <a:spcPct val="132000"/>
              </a:lnSpc>
              <a:spcBef>
                <a:spcPts val="1200"/>
              </a:spcBef>
            </a:pPr>
            <a:r>
              <a:rPr sz="1450" b="0">
                <a:solidFill>
                  <a:srgbClr val="8FB6D0"/>
                </a:solidFill>
                <a:latin typeface="Segoe UI"/>
              </a:rPr>
              <a:t>Modified until the target is met in each of the three target regions.</a:t>
            </a:r>
          </a:p>
          <a:p>
            <a:pPr algn="l">
              <a:lnSpc>
                <a:spcPct val="132000"/>
              </a:lnSpc>
              <a:spcBef>
                <a:spcPts val="1200"/>
              </a:spcBef>
            </a:pPr>
            <a:r>
              <a:rPr sz="1450" b="0">
                <a:solidFill>
                  <a:srgbClr val="8FB6D0"/>
                </a:solidFill>
                <a:latin typeface="Segoe UI"/>
              </a:rPr>
              <a:t>Repeated at months 6, 12 and 18.</a:t>
            </a: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And it ís worn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80% of the patient’s own waking time</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A sensor in the insole records wear time continuously.</a:t>
            </a:r>
          </a:p>
          <a:p>
            <a:pPr algn="l">
              <a:lnSpc>
                <a:spcPct val="132000"/>
              </a:lnSpc>
              <a:spcBef>
                <a:spcPts val="1200"/>
              </a:spcBef>
            </a:pPr>
            <a:r>
              <a:rPr sz="1450" b="0">
                <a:solidFill>
                  <a:srgbClr val="8FB6D0"/>
                </a:solidFill>
                <a:latin typeface="Segoe UI"/>
              </a:rPr>
              <a:t>Read out every three months and reviewed together.</a:t>
            </a:r>
          </a:p>
          <a:p>
            <a:pPr algn="l">
              <a:lnSpc>
                <a:spcPct val="132000"/>
              </a:lnSpc>
              <a:spcBef>
                <a:spcPts val="1200"/>
              </a:spcBef>
            </a:pPr>
            <a:r>
              <a:rPr sz="1450" b="0">
                <a:solidFill>
                  <a:srgbClr val="8FB6D0"/>
                </a:solidFill>
                <a:latin typeface="Segoe UI"/>
              </a:rPr>
              <a:t>Five conversations resting on those data.</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33</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6 · Bus 2011   |   7 · Bus 2020   |   17 · Waaijman 2014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02</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BLOCK 02</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The measurement</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What is measured, how, and when it is good enough.</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14 / 33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BASELINE · IN-SHOE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Every sensor a number</a:t>
            </a:r>
          </a:p>
        </p:txBody>
      </p:sp>
      <p:sp>
        <p:nvSpPr>
          <p:cNvPr id="5" name="!!p00_07"/>
          <p:cNvSpPr/>
          <p:nvPr/>
        </p:nvSpPr>
        <p:spPr>
          <a:xfrm>
            <a:off x="1585505" y="5645727"/>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FF7A00"/>
                </a:solidFill>
                <a:latin typeface="Segoe UI"/>
              </a:rPr>
              <a:t>312</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FF7A00"/>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peak pressure at metatarsal 2-3</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Target:  &lt; 200 kPa   or   ≥ 25% lower</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pedar® sensor insole placed in the shoe, three walking trials performed.</a:t>
            </a:r>
          </a:p>
          <a:p>
            <a:pPr algn="l">
              <a:lnSpc>
                <a:spcPct val="135000"/>
              </a:lnSpc>
              <a:spcBef>
                <a:spcPts val="1200"/>
              </a:spcBef>
            </a:pPr>
            <a:r>
              <a:rPr sz="1700" b="0">
                <a:solidFill>
                  <a:srgbClr val="8FB6D0"/>
                </a:solidFill>
                <a:latin typeface="Segoe UI"/>
              </a:rPr>
              <a:t>The middle twelve steps per foot are analysed; from these the software computes the mean peak pressure per foot.</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 document 09 · Plantar pressure measurement, baseline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15 / 33</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7 · Bus 2020   |   27 · Zwaferink 2024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00_07"/>
          <p:cNvSpPr/>
          <p:nvPr/>
        </p:nvSpPr>
        <p:spPr>
          <a:xfrm>
            <a:off x="2426905" y="12636782"/>
            <a:ext cx="257810" cy="257810"/>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00_08"/>
          <p:cNvSpPr/>
          <p:nvPr/>
        </p:nvSpPr>
        <p:spPr>
          <a:xfrm>
            <a:off x="2839645" y="12636782"/>
            <a:ext cx="257810" cy="257810"/>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0_09"/>
          <p:cNvSpPr/>
          <p:nvPr/>
        </p:nvSpPr>
        <p:spPr>
          <a:xfrm>
            <a:off x="3252385" y="12636782"/>
            <a:ext cx="257810" cy="257810"/>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10"/>
          <p:cNvSpPr/>
          <p:nvPr/>
        </p:nvSpPr>
        <p:spPr>
          <a:xfrm>
            <a:off x="3665125" y="12636782"/>
            <a:ext cx="257810" cy="257810"/>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1_06"/>
          <p:cNvSpPr/>
          <p:nvPr/>
        </p:nvSpPr>
        <p:spPr>
          <a:xfrm>
            <a:off x="2014166" y="12337002"/>
            <a:ext cx="257810" cy="257810"/>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_07"/>
          <p:cNvSpPr/>
          <p:nvPr/>
        </p:nvSpPr>
        <p:spPr>
          <a:xfrm>
            <a:off x="2426905" y="12337002"/>
            <a:ext cx="257810" cy="257810"/>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8"/>
          <p:cNvSpPr/>
          <p:nvPr/>
        </p:nvSpPr>
        <p:spPr>
          <a:xfrm>
            <a:off x="2839645" y="12337002"/>
            <a:ext cx="257810" cy="257810"/>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9"/>
          <p:cNvSpPr/>
          <p:nvPr/>
        </p:nvSpPr>
        <p:spPr>
          <a:xfrm>
            <a:off x="3252385" y="12337002"/>
            <a:ext cx="257810" cy="257810"/>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10"/>
          <p:cNvSpPr/>
          <p:nvPr/>
        </p:nvSpPr>
        <p:spPr>
          <a:xfrm>
            <a:off x="3665125" y="12337002"/>
            <a:ext cx="257810" cy="257810"/>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11"/>
          <p:cNvSpPr/>
          <p:nvPr/>
        </p:nvSpPr>
        <p:spPr>
          <a:xfrm>
            <a:off x="4077864" y="12337002"/>
            <a:ext cx="257810" cy="257810"/>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_05"/>
          <p:cNvSpPr/>
          <p:nvPr/>
        </p:nvSpPr>
        <p:spPr>
          <a:xfrm>
            <a:off x="1601426" y="12037223"/>
            <a:ext cx="257810" cy="257810"/>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2_06"/>
          <p:cNvSpPr/>
          <p:nvPr/>
        </p:nvSpPr>
        <p:spPr>
          <a:xfrm>
            <a:off x="2014166" y="12037223"/>
            <a:ext cx="257810" cy="257810"/>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7"/>
          <p:cNvSpPr/>
          <p:nvPr/>
        </p:nvSpPr>
        <p:spPr>
          <a:xfrm>
            <a:off x="2426905" y="12037223"/>
            <a:ext cx="257810" cy="257810"/>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8"/>
          <p:cNvSpPr/>
          <p:nvPr/>
        </p:nvSpPr>
        <p:spPr>
          <a:xfrm>
            <a:off x="2839645" y="12037223"/>
            <a:ext cx="257810" cy="257810"/>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9"/>
          <p:cNvSpPr/>
          <p:nvPr/>
        </p:nvSpPr>
        <p:spPr>
          <a:xfrm>
            <a:off x="3252385" y="12037223"/>
            <a:ext cx="257810" cy="257810"/>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10"/>
          <p:cNvSpPr/>
          <p:nvPr/>
        </p:nvSpPr>
        <p:spPr>
          <a:xfrm>
            <a:off x="3665125" y="12037223"/>
            <a:ext cx="257810" cy="257810"/>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11"/>
          <p:cNvSpPr/>
          <p:nvPr/>
        </p:nvSpPr>
        <p:spPr>
          <a:xfrm>
            <a:off x="4077864" y="12037223"/>
            <a:ext cx="257810" cy="257810"/>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2"/>
          <p:cNvSpPr/>
          <p:nvPr/>
        </p:nvSpPr>
        <p:spPr>
          <a:xfrm>
            <a:off x="4490604" y="12037223"/>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3_05"/>
          <p:cNvSpPr/>
          <p:nvPr/>
        </p:nvSpPr>
        <p:spPr>
          <a:xfrm>
            <a:off x="1601426" y="11737444"/>
            <a:ext cx="257810" cy="257810"/>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3_06"/>
          <p:cNvSpPr/>
          <p:nvPr/>
        </p:nvSpPr>
        <p:spPr>
          <a:xfrm>
            <a:off x="2014166" y="11737444"/>
            <a:ext cx="257810" cy="257810"/>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7"/>
          <p:cNvSpPr/>
          <p:nvPr/>
        </p:nvSpPr>
        <p:spPr>
          <a:xfrm>
            <a:off x="2426905" y="11737444"/>
            <a:ext cx="257810" cy="257810"/>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8"/>
          <p:cNvSpPr/>
          <p:nvPr/>
        </p:nvSpPr>
        <p:spPr>
          <a:xfrm>
            <a:off x="2839645" y="11737444"/>
            <a:ext cx="257810" cy="257810"/>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9"/>
          <p:cNvSpPr/>
          <p:nvPr/>
        </p:nvSpPr>
        <p:spPr>
          <a:xfrm>
            <a:off x="3252385" y="11737444"/>
            <a:ext cx="257810" cy="257810"/>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10"/>
          <p:cNvSpPr/>
          <p:nvPr/>
        </p:nvSpPr>
        <p:spPr>
          <a:xfrm>
            <a:off x="3665125" y="11737444"/>
            <a:ext cx="257810" cy="257810"/>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11"/>
          <p:cNvSpPr/>
          <p:nvPr/>
        </p:nvSpPr>
        <p:spPr>
          <a:xfrm>
            <a:off x="4077864" y="11737444"/>
            <a:ext cx="257810" cy="257810"/>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2"/>
          <p:cNvSpPr/>
          <p:nvPr/>
        </p:nvSpPr>
        <p:spPr>
          <a:xfrm>
            <a:off x="4490604" y="11737444"/>
            <a:ext cx="257810" cy="257810"/>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4_05"/>
          <p:cNvSpPr/>
          <p:nvPr/>
        </p:nvSpPr>
        <p:spPr>
          <a:xfrm>
            <a:off x="1601426" y="11437664"/>
            <a:ext cx="257810" cy="257810"/>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4_06"/>
          <p:cNvSpPr/>
          <p:nvPr/>
        </p:nvSpPr>
        <p:spPr>
          <a:xfrm>
            <a:off x="2014166" y="11437664"/>
            <a:ext cx="257810" cy="257810"/>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7"/>
          <p:cNvSpPr/>
          <p:nvPr/>
        </p:nvSpPr>
        <p:spPr>
          <a:xfrm>
            <a:off x="2426905" y="11437664"/>
            <a:ext cx="257810" cy="257810"/>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8"/>
          <p:cNvSpPr/>
          <p:nvPr/>
        </p:nvSpPr>
        <p:spPr>
          <a:xfrm>
            <a:off x="2839645" y="11437664"/>
            <a:ext cx="257810" cy="257810"/>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9"/>
          <p:cNvSpPr/>
          <p:nvPr/>
        </p:nvSpPr>
        <p:spPr>
          <a:xfrm>
            <a:off x="3252385" y="11437664"/>
            <a:ext cx="257810" cy="257810"/>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10"/>
          <p:cNvSpPr/>
          <p:nvPr/>
        </p:nvSpPr>
        <p:spPr>
          <a:xfrm>
            <a:off x="3665125" y="11437664"/>
            <a:ext cx="257810" cy="257810"/>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11"/>
          <p:cNvSpPr/>
          <p:nvPr/>
        </p:nvSpPr>
        <p:spPr>
          <a:xfrm>
            <a:off x="4077864" y="11437664"/>
            <a:ext cx="257810" cy="257810"/>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2"/>
          <p:cNvSpPr/>
          <p:nvPr/>
        </p:nvSpPr>
        <p:spPr>
          <a:xfrm>
            <a:off x="4490604" y="11437664"/>
            <a:ext cx="257810" cy="257810"/>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5_05"/>
          <p:cNvSpPr/>
          <p:nvPr/>
        </p:nvSpPr>
        <p:spPr>
          <a:xfrm>
            <a:off x="1601426" y="11137885"/>
            <a:ext cx="257810" cy="257810"/>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5_06"/>
          <p:cNvSpPr/>
          <p:nvPr/>
        </p:nvSpPr>
        <p:spPr>
          <a:xfrm>
            <a:off x="2014166" y="11137885"/>
            <a:ext cx="257810" cy="257810"/>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7"/>
          <p:cNvSpPr/>
          <p:nvPr/>
        </p:nvSpPr>
        <p:spPr>
          <a:xfrm>
            <a:off x="2426905" y="11137885"/>
            <a:ext cx="257810" cy="257810"/>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8"/>
          <p:cNvSpPr/>
          <p:nvPr/>
        </p:nvSpPr>
        <p:spPr>
          <a:xfrm>
            <a:off x="2839645" y="11137885"/>
            <a:ext cx="257810" cy="257810"/>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9"/>
          <p:cNvSpPr/>
          <p:nvPr/>
        </p:nvSpPr>
        <p:spPr>
          <a:xfrm>
            <a:off x="3252385" y="11137885"/>
            <a:ext cx="257810" cy="257810"/>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10"/>
          <p:cNvSpPr/>
          <p:nvPr/>
        </p:nvSpPr>
        <p:spPr>
          <a:xfrm>
            <a:off x="3665125" y="11137885"/>
            <a:ext cx="257810" cy="257810"/>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11"/>
          <p:cNvSpPr/>
          <p:nvPr/>
        </p:nvSpPr>
        <p:spPr>
          <a:xfrm>
            <a:off x="4077864" y="11137885"/>
            <a:ext cx="257810" cy="257810"/>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2"/>
          <p:cNvSpPr/>
          <p:nvPr/>
        </p:nvSpPr>
        <p:spPr>
          <a:xfrm>
            <a:off x="4490604" y="11137885"/>
            <a:ext cx="257810" cy="257810"/>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6_05"/>
          <p:cNvSpPr/>
          <p:nvPr/>
        </p:nvSpPr>
        <p:spPr>
          <a:xfrm>
            <a:off x="1601426" y="10838106"/>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6_06"/>
          <p:cNvSpPr/>
          <p:nvPr/>
        </p:nvSpPr>
        <p:spPr>
          <a:xfrm>
            <a:off x="2014166" y="10838106"/>
            <a:ext cx="257810" cy="257810"/>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7"/>
          <p:cNvSpPr/>
          <p:nvPr/>
        </p:nvSpPr>
        <p:spPr>
          <a:xfrm>
            <a:off x="2426905" y="10838106"/>
            <a:ext cx="257810" cy="257810"/>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8"/>
          <p:cNvSpPr/>
          <p:nvPr/>
        </p:nvSpPr>
        <p:spPr>
          <a:xfrm>
            <a:off x="2839645" y="10838106"/>
            <a:ext cx="257810" cy="257810"/>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9"/>
          <p:cNvSpPr/>
          <p:nvPr/>
        </p:nvSpPr>
        <p:spPr>
          <a:xfrm>
            <a:off x="3252385" y="10838106"/>
            <a:ext cx="257810" cy="257810"/>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10"/>
          <p:cNvSpPr/>
          <p:nvPr/>
        </p:nvSpPr>
        <p:spPr>
          <a:xfrm>
            <a:off x="3665125" y="10838106"/>
            <a:ext cx="257810" cy="257810"/>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11"/>
          <p:cNvSpPr/>
          <p:nvPr/>
        </p:nvSpPr>
        <p:spPr>
          <a:xfrm>
            <a:off x="4077864" y="10838106"/>
            <a:ext cx="257810" cy="257810"/>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2"/>
          <p:cNvSpPr/>
          <p:nvPr/>
        </p:nvSpPr>
        <p:spPr>
          <a:xfrm>
            <a:off x="4490604" y="10838106"/>
            <a:ext cx="257810" cy="257810"/>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7_05"/>
          <p:cNvSpPr/>
          <p:nvPr/>
        </p:nvSpPr>
        <p:spPr>
          <a:xfrm>
            <a:off x="1601426" y="10538326"/>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7_06"/>
          <p:cNvSpPr/>
          <p:nvPr/>
        </p:nvSpPr>
        <p:spPr>
          <a:xfrm>
            <a:off x="2014166" y="10538326"/>
            <a:ext cx="257810" cy="257810"/>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7"/>
          <p:cNvSpPr/>
          <p:nvPr/>
        </p:nvSpPr>
        <p:spPr>
          <a:xfrm>
            <a:off x="2426905" y="10538326"/>
            <a:ext cx="257810" cy="257810"/>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8"/>
          <p:cNvSpPr/>
          <p:nvPr/>
        </p:nvSpPr>
        <p:spPr>
          <a:xfrm>
            <a:off x="2839645" y="10538326"/>
            <a:ext cx="257810" cy="257810"/>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9"/>
          <p:cNvSpPr/>
          <p:nvPr/>
        </p:nvSpPr>
        <p:spPr>
          <a:xfrm>
            <a:off x="3252385" y="10538326"/>
            <a:ext cx="257810" cy="257810"/>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10"/>
          <p:cNvSpPr/>
          <p:nvPr/>
        </p:nvSpPr>
        <p:spPr>
          <a:xfrm>
            <a:off x="3665125" y="10538326"/>
            <a:ext cx="257810" cy="257810"/>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11"/>
          <p:cNvSpPr/>
          <p:nvPr/>
        </p:nvSpPr>
        <p:spPr>
          <a:xfrm>
            <a:off x="4077864" y="10538326"/>
            <a:ext cx="257810" cy="257810"/>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2"/>
          <p:cNvSpPr/>
          <p:nvPr/>
        </p:nvSpPr>
        <p:spPr>
          <a:xfrm>
            <a:off x="4490604" y="10538326"/>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8_05"/>
          <p:cNvSpPr/>
          <p:nvPr/>
        </p:nvSpPr>
        <p:spPr>
          <a:xfrm>
            <a:off x="1601426" y="10238547"/>
            <a:ext cx="257810" cy="257810"/>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8_06"/>
          <p:cNvSpPr/>
          <p:nvPr/>
        </p:nvSpPr>
        <p:spPr>
          <a:xfrm>
            <a:off x="2014166" y="10238547"/>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7"/>
          <p:cNvSpPr/>
          <p:nvPr/>
        </p:nvSpPr>
        <p:spPr>
          <a:xfrm>
            <a:off x="2426905" y="10238547"/>
            <a:ext cx="257810" cy="257810"/>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8"/>
          <p:cNvSpPr/>
          <p:nvPr/>
        </p:nvSpPr>
        <p:spPr>
          <a:xfrm>
            <a:off x="2839645" y="10238547"/>
            <a:ext cx="257810" cy="257810"/>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9"/>
          <p:cNvSpPr/>
          <p:nvPr/>
        </p:nvSpPr>
        <p:spPr>
          <a:xfrm>
            <a:off x="3252385" y="10238547"/>
            <a:ext cx="257810" cy="257810"/>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10"/>
          <p:cNvSpPr/>
          <p:nvPr/>
        </p:nvSpPr>
        <p:spPr>
          <a:xfrm>
            <a:off x="3665125" y="10238547"/>
            <a:ext cx="257810" cy="257810"/>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11"/>
          <p:cNvSpPr/>
          <p:nvPr/>
        </p:nvSpPr>
        <p:spPr>
          <a:xfrm>
            <a:off x="4077864" y="10238547"/>
            <a:ext cx="257810" cy="257810"/>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2"/>
          <p:cNvSpPr/>
          <p:nvPr/>
        </p:nvSpPr>
        <p:spPr>
          <a:xfrm>
            <a:off x="4490604" y="10238547"/>
            <a:ext cx="257810" cy="257810"/>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9_05"/>
          <p:cNvSpPr/>
          <p:nvPr/>
        </p:nvSpPr>
        <p:spPr>
          <a:xfrm>
            <a:off x="1601426" y="9938768"/>
            <a:ext cx="257810" cy="257810"/>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9_06"/>
          <p:cNvSpPr/>
          <p:nvPr/>
        </p:nvSpPr>
        <p:spPr>
          <a:xfrm>
            <a:off x="2014166" y="9938768"/>
            <a:ext cx="257810" cy="257810"/>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7"/>
          <p:cNvSpPr/>
          <p:nvPr/>
        </p:nvSpPr>
        <p:spPr>
          <a:xfrm>
            <a:off x="2426905" y="9938768"/>
            <a:ext cx="257810" cy="257810"/>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8"/>
          <p:cNvSpPr/>
          <p:nvPr/>
        </p:nvSpPr>
        <p:spPr>
          <a:xfrm>
            <a:off x="2839645" y="9938768"/>
            <a:ext cx="257810" cy="257810"/>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9"/>
          <p:cNvSpPr/>
          <p:nvPr/>
        </p:nvSpPr>
        <p:spPr>
          <a:xfrm>
            <a:off x="3252385" y="9938768"/>
            <a:ext cx="257810" cy="257810"/>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10"/>
          <p:cNvSpPr/>
          <p:nvPr/>
        </p:nvSpPr>
        <p:spPr>
          <a:xfrm>
            <a:off x="3665125" y="9938768"/>
            <a:ext cx="257810" cy="257810"/>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11"/>
          <p:cNvSpPr/>
          <p:nvPr/>
        </p:nvSpPr>
        <p:spPr>
          <a:xfrm>
            <a:off x="4077864" y="9938768"/>
            <a:ext cx="257810" cy="257810"/>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2"/>
          <p:cNvSpPr/>
          <p:nvPr/>
        </p:nvSpPr>
        <p:spPr>
          <a:xfrm>
            <a:off x="4490604" y="9938768"/>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10_06"/>
          <p:cNvSpPr/>
          <p:nvPr/>
        </p:nvSpPr>
        <p:spPr>
          <a:xfrm>
            <a:off x="2014166" y="9638988"/>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10_07"/>
          <p:cNvSpPr/>
          <p:nvPr/>
        </p:nvSpPr>
        <p:spPr>
          <a:xfrm>
            <a:off x="2426905" y="9638988"/>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8"/>
          <p:cNvSpPr/>
          <p:nvPr/>
        </p:nvSpPr>
        <p:spPr>
          <a:xfrm>
            <a:off x="2839645" y="9638988"/>
            <a:ext cx="257810" cy="257810"/>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9"/>
          <p:cNvSpPr/>
          <p:nvPr/>
        </p:nvSpPr>
        <p:spPr>
          <a:xfrm>
            <a:off x="3252385" y="9638988"/>
            <a:ext cx="257810" cy="257810"/>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10"/>
          <p:cNvSpPr/>
          <p:nvPr/>
        </p:nvSpPr>
        <p:spPr>
          <a:xfrm>
            <a:off x="3665125" y="9638988"/>
            <a:ext cx="257810" cy="257810"/>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11"/>
          <p:cNvSpPr/>
          <p:nvPr/>
        </p:nvSpPr>
        <p:spPr>
          <a:xfrm>
            <a:off x="4077864" y="9638988"/>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2"/>
          <p:cNvSpPr/>
          <p:nvPr/>
        </p:nvSpPr>
        <p:spPr>
          <a:xfrm>
            <a:off x="4490604" y="9638988"/>
            <a:ext cx="257810" cy="257810"/>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1_06"/>
          <p:cNvSpPr/>
          <p:nvPr/>
        </p:nvSpPr>
        <p:spPr>
          <a:xfrm>
            <a:off x="2014166" y="9339209"/>
            <a:ext cx="257810" cy="257810"/>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1_07"/>
          <p:cNvSpPr/>
          <p:nvPr/>
        </p:nvSpPr>
        <p:spPr>
          <a:xfrm>
            <a:off x="2426905" y="9339209"/>
            <a:ext cx="257810" cy="257810"/>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8"/>
          <p:cNvSpPr/>
          <p:nvPr/>
        </p:nvSpPr>
        <p:spPr>
          <a:xfrm>
            <a:off x="2839645" y="9339209"/>
            <a:ext cx="257810" cy="257810"/>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9"/>
          <p:cNvSpPr/>
          <p:nvPr/>
        </p:nvSpPr>
        <p:spPr>
          <a:xfrm>
            <a:off x="3252385" y="9339209"/>
            <a:ext cx="257810" cy="257810"/>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10"/>
          <p:cNvSpPr/>
          <p:nvPr/>
        </p:nvSpPr>
        <p:spPr>
          <a:xfrm>
            <a:off x="3665125" y="9339209"/>
            <a:ext cx="257810" cy="257810"/>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11"/>
          <p:cNvSpPr/>
          <p:nvPr/>
        </p:nvSpPr>
        <p:spPr>
          <a:xfrm>
            <a:off x="4077864" y="9339209"/>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2"/>
          <p:cNvSpPr/>
          <p:nvPr/>
        </p:nvSpPr>
        <p:spPr>
          <a:xfrm>
            <a:off x="4490604" y="9339209"/>
            <a:ext cx="257810" cy="257810"/>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2_06"/>
          <p:cNvSpPr/>
          <p:nvPr/>
        </p:nvSpPr>
        <p:spPr>
          <a:xfrm>
            <a:off x="2014166" y="9039430"/>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2_07"/>
          <p:cNvSpPr/>
          <p:nvPr/>
        </p:nvSpPr>
        <p:spPr>
          <a:xfrm>
            <a:off x="2426905" y="9039430"/>
            <a:ext cx="257810" cy="257810"/>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8"/>
          <p:cNvSpPr/>
          <p:nvPr/>
        </p:nvSpPr>
        <p:spPr>
          <a:xfrm>
            <a:off x="2839645" y="9039430"/>
            <a:ext cx="257810" cy="257810"/>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9"/>
          <p:cNvSpPr/>
          <p:nvPr/>
        </p:nvSpPr>
        <p:spPr>
          <a:xfrm>
            <a:off x="3252385" y="9039430"/>
            <a:ext cx="257810" cy="257810"/>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10"/>
          <p:cNvSpPr/>
          <p:nvPr/>
        </p:nvSpPr>
        <p:spPr>
          <a:xfrm>
            <a:off x="3665125" y="9039430"/>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11"/>
          <p:cNvSpPr/>
          <p:nvPr/>
        </p:nvSpPr>
        <p:spPr>
          <a:xfrm>
            <a:off x="4077864" y="9039430"/>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2"/>
          <p:cNvSpPr/>
          <p:nvPr/>
        </p:nvSpPr>
        <p:spPr>
          <a:xfrm>
            <a:off x="4490604" y="9039430"/>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3_06"/>
          <p:cNvSpPr/>
          <p:nvPr/>
        </p:nvSpPr>
        <p:spPr>
          <a:xfrm>
            <a:off x="2014166" y="8739650"/>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3_07"/>
          <p:cNvSpPr/>
          <p:nvPr/>
        </p:nvSpPr>
        <p:spPr>
          <a:xfrm>
            <a:off x="2426905" y="8739650"/>
            <a:ext cx="257810" cy="257810"/>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8"/>
          <p:cNvSpPr/>
          <p:nvPr/>
        </p:nvSpPr>
        <p:spPr>
          <a:xfrm>
            <a:off x="2839645" y="8739650"/>
            <a:ext cx="257810" cy="257810"/>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9"/>
          <p:cNvSpPr/>
          <p:nvPr/>
        </p:nvSpPr>
        <p:spPr>
          <a:xfrm>
            <a:off x="3252385" y="8739650"/>
            <a:ext cx="257810" cy="257810"/>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10"/>
          <p:cNvSpPr/>
          <p:nvPr/>
        </p:nvSpPr>
        <p:spPr>
          <a:xfrm>
            <a:off x="3665125" y="8739650"/>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11"/>
          <p:cNvSpPr/>
          <p:nvPr/>
        </p:nvSpPr>
        <p:spPr>
          <a:xfrm>
            <a:off x="4077864" y="8739650"/>
            <a:ext cx="257810" cy="257810"/>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2"/>
          <p:cNvSpPr/>
          <p:nvPr/>
        </p:nvSpPr>
        <p:spPr>
          <a:xfrm>
            <a:off x="4490604" y="8739650"/>
            <a:ext cx="257810" cy="257810"/>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4_06"/>
          <p:cNvSpPr/>
          <p:nvPr/>
        </p:nvSpPr>
        <p:spPr>
          <a:xfrm>
            <a:off x="2014166" y="8439871"/>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4_07"/>
          <p:cNvSpPr/>
          <p:nvPr/>
        </p:nvSpPr>
        <p:spPr>
          <a:xfrm>
            <a:off x="2426905" y="8439871"/>
            <a:ext cx="257810" cy="257810"/>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8"/>
          <p:cNvSpPr/>
          <p:nvPr/>
        </p:nvSpPr>
        <p:spPr>
          <a:xfrm>
            <a:off x="2839645" y="8439871"/>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9"/>
          <p:cNvSpPr/>
          <p:nvPr/>
        </p:nvSpPr>
        <p:spPr>
          <a:xfrm>
            <a:off x="3252385" y="8439871"/>
            <a:ext cx="257810" cy="257810"/>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10"/>
          <p:cNvSpPr/>
          <p:nvPr/>
        </p:nvSpPr>
        <p:spPr>
          <a:xfrm>
            <a:off x="3665125" y="8439871"/>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11"/>
          <p:cNvSpPr/>
          <p:nvPr/>
        </p:nvSpPr>
        <p:spPr>
          <a:xfrm>
            <a:off x="4077864" y="8439871"/>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2"/>
          <p:cNvSpPr/>
          <p:nvPr/>
        </p:nvSpPr>
        <p:spPr>
          <a:xfrm>
            <a:off x="4490604" y="8439871"/>
            <a:ext cx="257810" cy="257810"/>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5_07"/>
          <p:cNvSpPr/>
          <p:nvPr/>
        </p:nvSpPr>
        <p:spPr>
          <a:xfrm>
            <a:off x="2426905" y="8140092"/>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5_08"/>
          <p:cNvSpPr/>
          <p:nvPr/>
        </p:nvSpPr>
        <p:spPr>
          <a:xfrm>
            <a:off x="2839645" y="8140092"/>
            <a:ext cx="257810" cy="257810"/>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9"/>
          <p:cNvSpPr/>
          <p:nvPr/>
        </p:nvSpPr>
        <p:spPr>
          <a:xfrm>
            <a:off x="3252385" y="8140092"/>
            <a:ext cx="257810" cy="257810"/>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10"/>
          <p:cNvSpPr/>
          <p:nvPr/>
        </p:nvSpPr>
        <p:spPr>
          <a:xfrm>
            <a:off x="3665125" y="8140092"/>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11"/>
          <p:cNvSpPr/>
          <p:nvPr/>
        </p:nvSpPr>
        <p:spPr>
          <a:xfrm>
            <a:off x="4077864" y="8140092"/>
            <a:ext cx="257810" cy="257810"/>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2"/>
          <p:cNvSpPr/>
          <p:nvPr/>
        </p:nvSpPr>
        <p:spPr>
          <a:xfrm>
            <a:off x="4490604" y="8140092"/>
            <a:ext cx="257810" cy="257810"/>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3"/>
          <p:cNvSpPr/>
          <p:nvPr/>
        </p:nvSpPr>
        <p:spPr>
          <a:xfrm>
            <a:off x="4903344" y="8140092"/>
            <a:ext cx="257810" cy="257810"/>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6_07"/>
          <p:cNvSpPr/>
          <p:nvPr/>
        </p:nvSpPr>
        <p:spPr>
          <a:xfrm>
            <a:off x="2426905" y="7840312"/>
            <a:ext cx="257810" cy="257810"/>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6_08"/>
          <p:cNvSpPr/>
          <p:nvPr/>
        </p:nvSpPr>
        <p:spPr>
          <a:xfrm>
            <a:off x="2839645" y="7840312"/>
            <a:ext cx="257810" cy="257810"/>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9"/>
          <p:cNvSpPr/>
          <p:nvPr/>
        </p:nvSpPr>
        <p:spPr>
          <a:xfrm>
            <a:off x="3252385" y="7840312"/>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10"/>
          <p:cNvSpPr/>
          <p:nvPr/>
        </p:nvSpPr>
        <p:spPr>
          <a:xfrm>
            <a:off x="3665125" y="7840312"/>
            <a:ext cx="257810" cy="257810"/>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11"/>
          <p:cNvSpPr/>
          <p:nvPr/>
        </p:nvSpPr>
        <p:spPr>
          <a:xfrm>
            <a:off x="4077864" y="7840312"/>
            <a:ext cx="257810" cy="257810"/>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2"/>
          <p:cNvSpPr/>
          <p:nvPr/>
        </p:nvSpPr>
        <p:spPr>
          <a:xfrm>
            <a:off x="4490604" y="7840312"/>
            <a:ext cx="257810" cy="257810"/>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3"/>
          <p:cNvSpPr/>
          <p:nvPr/>
        </p:nvSpPr>
        <p:spPr>
          <a:xfrm>
            <a:off x="4903344" y="7840312"/>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7_07"/>
          <p:cNvSpPr/>
          <p:nvPr/>
        </p:nvSpPr>
        <p:spPr>
          <a:xfrm>
            <a:off x="2426905" y="7540533"/>
            <a:ext cx="257810" cy="257810"/>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7_08"/>
          <p:cNvSpPr/>
          <p:nvPr/>
        </p:nvSpPr>
        <p:spPr>
          <a:xfrm>
            <a:off x="2839645" y="7540533"/>
            <a:ext cx="257810" cy="257810"/>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9"/>
          <p:cNvSpPr/>
          <p:nvPr/>
        </p:nvSpPr>
        <p:spPr>
          <a:xfrm>
            <a:off x="3252385" y="7540533"/>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10"/>
          <p:cNvSpPr/>
          <p:nvPr/>
        </p:nvSpPr>
        <p:spPr>
          <a:xfrm>
            <a:off x="3665125" y="7540533"/>
            <a:ext cx="257810" cy="257810"/>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11"/>
          <p:cNvSpPr/>
          <p:nvPr/>
        </p:nvSpPr>
        <p:spPr>
          <a:xfrm>
            <a:off x="4077864" y="7540533"/>
            <a:ext cx="257810" cy="257810"/>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2"/>
          <p:cNvSpPr/>
          <p:nvPr/>
        </p:nvSpPr>
        <p:spPr>
          <a:xfrm>
            <a:off x="4490604" y="7540533"/>
            <a:ext cx="257810" cy="257810"/>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3"/>
          <p:cNvSpPr/>
          <p:nvPr/>
        </p:nvSpPr>
        <p:spPr>
          <a:xfrm>
            <a:off x="4903344" y="7540533"/>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8_06"/>
          <p:cNvSpPr/>
          <p:nvPr/>
        </p:nvSpPr>
        <p:spPr>
          <a:xfrm>
            <a:off x="2014166" y="7240754"/>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8_07"/>
          <p:cNvSpPr/>
          <p:nvPr/>
        </p:nvSpPr>
        <p:spPr>
          <a:xfrm>
            <a:off x="2426905" y="7240754"/>
            <a:ext cx="257810" cy="257810"/>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8"/>
          <p:cNvSpPr/>
          <p:nvPr/>
        </p:nvSpPr>
        <p:spPr>
          <a:xfrm>
            <a:off x="2839645" y="7240754"/>
            <a:ext cx="257810" cy="257810"/>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9"/>
          <p:cNvSpPr/>
          <p:nvPr/>
        </p:nvSpPr>
        <p:spPr>
          <a:xfrm>
            <a:off x="3252385" y="7240754"/>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10"/>
          <p:cNvSpPr/>
          <p:nvPr/>
        </p:nvSpPr>
        <p:spPr>
          <a:xfrm>
            <a:off x="3665125" y="7240754"/>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11"/>
          <p:cNvSpPr/>
          <p:nvPr/>
        </p:nvSpPr>
        <p:spPr>
          <a:xfrm>
            <a:off x="4077864" y="7240754"/>
            <a:ext cx="257810" cy="257810"/>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2"/>
          <p:cNvSpPr/>
          <p:nvPr/>
        </p:nvSpPr>
        <p:spPr>
          <a:xfrm>
            <a:off x="4490604" y="7240754"/>
            <a:ext cx="257810" cy="257810"/>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3"/>
          <p:cNvSpPr/>
          <p:nvPr/>
        </p:nvSpPr>
        <p:spPr>
          <a:xfrm>
            <a:off x="4903344" y="7240754"/>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9_06"/>
          <p:cNvSpPr/>
          <p:nvPr/>
        </p:nvSpPr>
        <p:spPr>
          <a:xfrm>
            <a:off x="2014166" y="6940974"/>
            <a:ext cx="257810" cy="257810"/>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9_07"/>
          <p:cNvSpPr/>
          <p:nvPr/>
        </p:nvSpPr>
        <p:spPr>
          <a:xfrm>
            <a:off x="2426905" y="6940974"/>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8"/>
          <p:cNvSpPr/>
          <p:nvPr/>
        </p:nvSpPr>
        <p:spPr>
          <a:xfrm>
            <a:off x="2839645" y="6940974"/>
            <a:ext cx="257810" cy="257810"/>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9"/>
          <p:cNvSpPr/>
          <p:nvPr/>
        </p:nvSpPr>
        <p:spPr>
          <a:xfrm>
            <a:off x="3252385" y="6940974"/>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10"/>
          <p:cNvSpPr/>
          <p:nvPr/>
        </p:nvSpPr>
        <p:spPr>
          <a:xfrm>
            <a:off x="3665125" y="6940974"/>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11"/>
          <p:cNvSpPr/>
          <p:nvPr/>
        </p:nvSpPr>
        <p:spPr>
          <a:xfrm>
            <a:off x="4077864" y="6940974"/>
            <a:ext cx="257810" cy="257810"/>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2"/>
          <p:cNvSpPr/>
          <p:nvPr/>
        </p:nvSpPr>
        <p:spPr>
          <a:xfrm>
            <a:off x="4490604" y="6940974"/>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3"/>
          <p:cNvSpPr/>
          <p:nvPr/>
        </p:nvSpPr>
        <p:spPr>
          <a:xfrm>
            <a:off x="4903344" y="6940974"/>
            <a:ext cx="257810" cy="257810"/>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20_06"/>
          <p:cNvSpPr/>
          <p:nvPr/>
        </p:nvSpPr>
        <p:spPr>
          <a:xfrm>
            <a:off x="2014166" y="6641195"/>
            <a:ext cx="257810" cy="257810"/>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20_07"/>
          <p:cNvSpPr/>
          <p:nvPr/>
        </p:nvSpPr>
        <p:spPr>
          <a:xfrm>
            <a:off x="2426905" y="6641195"/>
            <a:ext cx="257810" cy="257810"/>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8"/>
          <p:cNvSpPr/>
          <p:nvPr/>
        </p:nvSpPr>
        <p:spPr>
          <a:xfrm>
            <a:off x="2839645" y="6641195"/>
            <a:ext cx="257810" cy="257810"/>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9"/>
          <p:cNvSpPr/>
          <p:nvPr/>
        </p:nvSpPr>
        <p:spPr>
          <a:xfrm>
            <a:off x="3252385" y="6641195"/>
            <a:ext cx="257810" cy="257810"/>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10"/>
          <p:cNvSpPr/>
          <p:nvPr/>
        </p:nvSpPr>
        <p:spPr>
          <a:xfrm>
            <a:off x="3665125" y="6641195"/>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11"/>
          <p:cNvSpPr/>
          <p:nvPr/>
        </p:nvSpPr>
        <p:spPr>
          <a:xfrm>
            <a:off x="4077864" y="6641195"/>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2"/>
          <p:cNvSpPr/>
          <p:nvPr/>
        </p:nvSpPr>
        <p:spPr>
          <a:xfrm>
            <a:off x="4490604" y="6641195"/>
            <a:ext cx="257810" cy="257810"/>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3"/>
          <p:cNvSpPr/>
          <p:nvPr/>
        </p:nvSpPr>
        <p:spPr>
          <a:xfrm>
            <a:off x="4903344" y="6641195"/>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1_05"/>
          <p:cNvSpPr/>
          <p:nvPr/>
        </p:nvSpPr>
        <p:spPr>
          <a:xfrm>
            <a:off x="1601426" y="6341416"/>
            <a:ext cx="257810" cy="257810"/>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1_06"/>
          <p:cNvSpPr/>
          <p:nvPr/>
        </p:nvSpPr>
        <p:spPr>
          <a:xfrm>
            <a:off x="2014166" y="6341416"/>
            <a:ext cx="257810" cy="257810"/>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7"/>
          <p:cNvSpPr/>
          <p:nvPr/>
        </p:nvSpPr>
        <p:spPr>
          <a:xfrm>
            <a:off x="2426905" y="6341416"/>
            <a:ext cx="257810" cy="257810"/>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8"/>
          <p:cNvSpPr/>
          <p:nvPr/>
        </p:nvSpPr>
        <p:spPr>
          <a:xfrm>
            <a:off x="2839645" y="6341416"/>
            <a:ext cx="257810" cy="257810"/>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9"/>
          <p:cNvSpPr/>
          <p:nvPr/>
        </p:nvSpPr>
        <p:spPr>
          <a:xfrm>
            <a:off x="3252385" y="6341416"/>
            <a:ext cx="257810" cy="257810"/>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10"/>
          <p:cNvSpPr/>
          <p:nvPr/>
        </p:nvSpPr>
        <p:spPr>
          <a:xfrm>
            <a:off x="3665125" y="6341416"/>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11"/>
          <p:cNvSpPr/>
          <p:nvPr/>
        </p:nvSpPr>
        <p:spPr>
          <a:xfrm>
            <a:off x="4077864" y="6341416"/>
            <a:ext cx="257810" cy="257810"/>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2"/>
          <p:cNvSpPr/>
          <p:nvPr/>
        </p:nvSpPr>
        <p:spPr>
          <a:xfrm>
            <a:off x="4490604" y="6341416"/>
            <a:ext cx="257810" cy="257810"/>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3"/>
          <p:cNvSpPr/>
          <p:nvPr/>
        </p:nvSpPr>
        <p:spPr>
          <a:xfrm>
            <a:off x="4903344" y="6341416"/>
            <a:ext cx="257810" cy="257810"/>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2_05"/>
          <p:cNvSpPr/>
          <p:nvPr/>
        </p:nvSpPr>
        <p:spPr>
          <a:xfrm>
            <a:off x="1601426" y="6041636"/>
            <a:ext cx="257810" cy="257810"/>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2_06"/>
          <p:cNvSpPr/>
          <p:nvPr/>
        </p:nvSpPr>
        <p:spPr>
          <a:xfrm>
            <a:off x="2014166" y="6041636"/>
            <a:ext cx="257810" cy="257810"/>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7"/>
          <p:cNvSpPr/>
          <p:nvPr/>
        </p:nvSpPr>
        <p:spPr>
          <a:xfrm>
            <a:off x="2426905" y="6041636"/>
            <a:ext cx="257810" cy="257810"/>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8"/>
          <p:cNvSpPr/>
          <p:nvPr/>
        </p:nvSpPr>
        <p:spPr>
          <a:xfrm>
            <a:off x="2839645" y="6041636"/>
            <a:ext cx="257810" cy="257810"/>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9"/>
          <p:cNvSpPr/>
          <p:nvPr/>
        </p:nvSpPr>
        <p:spPr>
          <a:xfrm>
            <a:off x="3252385" y="6041636"/>
            <a:ext cx="257810" cy="257810"/>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10"/>
          <p:cNvSpPr/>
          <p:nvPr/>
        </p:nvSpPr>
        <p:spPr>
          <a:xfrm>
            <a:off x="3665125" y="6041636"/>
            <a:ext cx="257810" cy="257810"/>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11"/>
          <p:cNvSpPr/>
          <p:nvPr/>
        </p:nvSpPr>
        <p:spPr>
          <a:xfrm>
            <a:off x="4077864" y="6041636"/>
            <a:ext cx="257810" cy="257810"/>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2"/>
          <p:cNvSpPr/>
          <p:nvPr/>
        </p:nvSpPr>
        <p:spPr>
          <a:xfrm>
            <a:off x="4490604" y="6041636"/>
            <a:ext cx="257810" cy="257810"/>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3"/>
          <p:cNvSpPr/>
          <p:nvPr/>
        </p:nvSpPr>
        <p:spPr>
          <a:xfrm>
            <a:off x="4903344" y="6041636"/>
            <a:ext cx="257810" cy="257810"/>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3_04"/>
          <p:cNvSpPr/>
          <p:nvPr/>
        </p:nvSpPr>
        <p:spPr>
          <a:xfrm>
            <a:off x="1188686" y="5741857"/>
            <a:ext cx="257810" cy="257810"/>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3_05"/>
          <p:cNvSpPr/>
          <p:nvPr/>
        </p:nvSpPr>
        <p:spPr>
          <a:xfrm>
            <a:off x="1601426" y="5741857"/>
            <a:ext cx="257810" cy="257810"/>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6"/>
          <p:cNvSpPr/>
          <p:nvPr/>
        </p:nvSpPr>
        <p:spPr>
          <a:xfrm>
            <a:off x="2014166" y="5741857"/>
            <a:ext cx="257810" cy="257810"/>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7"/>
          <p:cNvSpPr/>
          <p:nvPr/>
        </p:nvSpPr>
        <p:spPr>
          <a:xfrm>
            <a:off x="2426905" y="5741857"/>
            <a:ext cx="257810" cy="257810"/>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8"/>
          <p:cNvSpPr/>
          <p:nvPr/>
        </p:nvSpPr>
        <p:spPr>
          <a:xfrm>
            <a:off x="2839645" y="5741857"/>
            <a:ext cx="257810" cy="257810"/>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9"/>
          <p:cNvSpPr/>
          <p:nvPr/>
        </p:nvSpPr>
        <p:spPr>
          <a:xfrm>
            <a:off x="3252385" y="5741857"/>
            <a:ext cx="257810" cy="257810"/>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10"/>
          <p:cNvSpPr/>
          <p:nvPr/>
        </p:nvSpPr>
        <p:spPr>
          <a:xfrm>
            <a:off x="3665125" y="5741857"/>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11"/>
          <p:cNvSpPr/>
          <p:nvPr/>
        </p:nvSpPr>
        <p:spPr>
          <a:xfrm>
            <a:off x="4077864" y="5741857"/>
            <a:ext cx="257810" cy="257810"/>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2"/>
          <p:cNvSpPr/>
          <p:nvPr/>
        </p:nvSpPr>
        <p:spPr>
          <a:xfrm>
            <a:off x="4490604" y="5741857"/>
            <a:ext cx="257810" cy="257810"/>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3"/>
          <p:cNvSpPr/>
          <p:nvPr/>
        </p:nvSpPr>
        <p:spPr>
          <a:xfrm>
            <a:off x="4903344" y="5741857"/>
            <a:ext cx="257810" cy="257810"/>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4"/>
          <p:cNvSpPr/>
          <p:nvPr/>
        </p:nvSpPr>
        <p:spPr>
          <a:xfrm>
            <a:off x="5316083" y="5741857"/>
            <a:ext cx="257810" cy="257810"/>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4_04"/>
          <p:cNvSpPr/>
          <p:nvPr/>
        </p:nvSpPr>
        <p:spPr>
          <a:xfrm>
            <a:off x="1188686" y="5442077"/>
            <a:ext cx="257810" cy="257810"/>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4_05"/>
          <p:cNvSpPr/>
          <p:nvPr/>
        </p:nvSpPr>
        <p:spPr>
          <a:xfrm>
            <a:off x="1601426" y="5442077"/>
            <a:ext cx="257810" cy="257810"/>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6"/>
          <p:cNvSpPr/>
          <p:nvPr/>
        </p:nvSpPr>
        <p:spPr>
          <a:xfrm>
            <a:off x="2014166" y="5442077"/>
            <a:ext cx="257810" cy="257810"/>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7"/>
          <p:cNvSpPr/>
          <p:nvPr/>
        </p:nvSpPr>
        <p:spPr>
          <a:xfrm>
            <a:off x="2426905" y="5442077"/>
            <a:ext cx="257810" cy="257810"/>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8"/>
          <p:cNvSpPr/>
          <p:nvPr/>
        </p:nvSpPr>
        <p:spPr>
          <a:xfrm>
            <a:off x="2839645" y="5442077"/>
            <a:ext cx="257810" cy="257810"/>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9"/>
          <p:cNvSpPr/>
          <p:nvPr/>
        </p:nvSpPr>
        <p:spPr>
          <a:xfrm>
            <a:off x="3252385" y="5442077"/>
            <a:ext cx="257810" cy="257810"/>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10"/>
          <p:cNvSpPr/>
          <p:nvPr/>
        </p:nvSpPr>
        <p:spPr>
          <a:xfrm>
            <a:off x="3665125" y="5442077"/>
            <a:ext cx="257810" cy="257810"/>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11"/>
          <p:cNvSpPr/>
          <p:nvPr/>
        </p:nvSpPr>
        <p:spPr>
          <a:xfrm>
            <a:off x="4077864" y="5442077"/>
            <a:ext cx="257810" cy="257810"/>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2"/>
          <p:cNvSpPr/>
          <p:nvPr/>
        </p:nvSpPr>
        <p:spPr>
          <a:xfrm>
            <a:off x="4490604" y="5442077"/>
            <a:ext cx="257810" cy="257810"/>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3"/>
          <p:cNvSpPr/>
          <p:nvPr/>
        </p:nvSpPr>
        <p:spPr>
          <a:xfrm>
            <a:off x="4903344" y="5442077"/>
            <a:ext cx="257810" cy="257810"/>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4"/>
          <p:cNvSpPr/>
          <p:nvPr/>
        </p:nvSpPr>
        <p:spPr>
          <a:xfrm>
            <a:off x="5316083" y="5442077"/>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5_04"/>
          <p:cNvSpPr/>
          <p:nvPr/>
        </p:nvSpPr>
        <p:spPr>
          <a:xfrm>
            <a:off x="1188686" y="5142298"/>
            <a:ext cx="257810" cy="257810"/>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5_05"/>
          <p:cNvSpPr/>
          <p:nvPr/>
        </p:nvSpPr>
        <p:spPr>
          <a:xfrm>
            <a:off x="1601426" y="5142298"/>
            <a:ext cx="257810" cy="257810"/>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6"/>
          <p:cNvSpPr/>
          <p:nvPr/>
        </p:nvSpPr>
        <p:spPr>
          <a:xfrm>
            <a:off x="2014166" y="5142298"/>
            <a:ext cx="257810" cy="257810"/>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7"/>
          <p:cNvSpPr/>
          <p:nvPr/>
        </p:nvSpPr>
        <p:spPr>
          <a:xfrm>
            <a:off x="2426905" y="5142298"/>
            <a:ext cx="257810" cy="257810"/>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8"/>
          <p:cNvSpPr/>
          <p:nvPr/>
        </p:nvSpPr>
        <p:spPr>
          <a:xfrm>
            <a:off x="2839645" y="5142298"/>
            <a:ext cx="257810" cy="257810"/>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9"/>
          <p:cNvSpPr/>
          <p:nvPr/>
        </p:nvSpPr>
        <p:spPr>
          <a:xfrm>
            <a:off x="3252385" y="5142298"/>
            <a:ext cx="257810" cy="257810"/>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10"/>
          <p:cNvSpPr/>
          <p:nvPr/>
        </p:nvSpPr>
        <p:spPr>
          <a:xfrm>
            <a:off x="3665125" y="5142298"/>
            <a:ext cx="257810" cy="257810"/>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11"/>
          <p:cNvSpPr/>
          <p:nvPr/>
        </p:nvSpPr>
        <p:spPr>
          <a:xfrm>
            <a:off x="4077864" y="5142298"/>
            <a:ext cx="257810" cy="257810"/>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2"/>
          <p:cNvSpPr/>
          <p:nvPr/>
        </p:nvSpPr>
        <p:spPr>
          <a:xfrm>
            <a:off x="4490604" y="5142298"/>
            <a:ext cx="257810" cy="257810"/>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3"/>
          <p:cNvSpPr/>
          <p:nvPr/>
        </p:nvSpPr>
        <p:spPr>
          <a:xfrm>
            <a:off x="4903344" y="5142298"/>
            <a:ext cx="257810" cy="257810"/>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4"/>
          <p:cNvSpPr/>
          <p:nvPr/>
        </p:nvSpPr>
        <p:spPr>
          <a:xfrm>
            <a:off x="5316083" y="5142298"/>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6_03"/>
          <p:cNvSpPr/>
          <p:nvPr/>
        </p:nvSpPr>
        <p:spPr>
          <a:xfrm>
            <a:off x="775947" y="4842519"/>
            <a:ext cx="257810" cy="257810"/>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6_04"/>
          <p:cNvSpPr/>
          <p:nvPr/>
        </p:nvSpPr>
        <p:spPr>
          <a:xfrm>
            <a:off x="1188686" y="4842519"/>
            <a:ext cx="257810" cy="257810"/>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5"/>
          <p:cNvSpPr/>
          <p:nvPr/>
        </p:nvSpPr>
        <p:spPr>
          <a:xfrm>
            <a:off x="1601426" y="4842519"/>
            <a:ext cx="257810" cy="257810"/>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6"/>
          <p:cNvSpPr/>
          <p:nvPr/>
        </p:nvSpPr>
        <p:spPr>
          <a:xfrm>
            <a:off x="2014166" y="4842519"/>
            <a:ext cx="257810" cy="257810"/>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7"/>
          <p:cNvSpPr/>
          <p:nvPr/>
        </p:nvSpPr>
        <p:spPr>
          <a:xfrm>
            <a:off x="2426905" y="4842519"/>
            <a:ext cx="257810" cy="257810"/>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8"/>
          <p:cNvSpPr/>
          <p:nvPr/>
        </p:nvSpPr>
        <p:spPr>
          <a:xfrm>
            <a:off x="2839645" y="4842519"/>
            <a:ext cx="257810" cy="257810"/>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9"/>
          <p:cNvSpPr/>
          <p:nvPr/>
        </p:nvSpPr>
        <p:spPr>
          <a:xfrm>
            <a:off x="3252385" y="4842519"/>
            <a:ext cx="257810" cy="257810"/>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10"/>
          <p:cNvSpPr/>
          <p:nvPr/>
        </p:nvSpPr>
        <p:spPr>
          <a:xfrm>
            <a:off x="3665125" y="4842519"/>
            <a:ext cx="257810" cy="257810"/>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11"/>
          <p:cNvSpPr/>
          <p:nvPr/>
        </p:nvSpPr>
        <p:spPr>
          <a:xfrm>
            <a:off x="4077864" y="4842519"/>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2"/>
          <p:cNvSpPr/>
          <p:nvPr/>
        </p:nvSpPr>
        <p:spPr>
          <a:xfrm>
            <a:off x="4490604" y="4842519"/>
            <a:ext cx="257810" cy="257810"/>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3"/>
          <p:cNvSpPr/>
          <p:nvPr/>
        </p:nvSpPr>
        <p:spPr>
          <a:xfrm>
            <a:off x="4903344" y="4842519"/>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4"/>
          <p:cNvSpPr/>
          <p:nvPr/>
        </p:nvSpPr>
        <p:spPr>
          <a:xfrm>
            <a:off x="5316083" y="4842519"/>
            <a:ext cx="257810" cy="257810"/>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7_03"/>
          <p:cNvSpPr/>
          <p:nvPr/>
        </p:nvSpPr>
        <p:spPr>
          <a:xfrm>
            <a:off x="775947" y="4542739"/>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7_04"/>
          <p:cNvSpPr/>
          <p:nvPr/>
        </p:nvSpPr>
        <p:spPr>
          <a:xfrm>
            <a:off x="1188686" y="4542739"/>
            <a:ext cx="257810" cy="257810"/>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5"/>
          <p:cNvSpPr/>
          <p:nvPr/>
        </p:nvSpPr>
        <p:spPr>
          <a:xfrm>
            <a:off x="1601426" y="4542739"/>
            <a:ext cx="257810" cy="257810"/>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6"/>
          <p:cNvSpPr/>
          <p:nvPr/>
        </p:nvSpPr>
        <p:spPr>
          <a:xfrm>
            <a:off x="2014166" y="4542739"/>
            <a:ext cx="257810" cy="257810"/>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7"/>
          <p:cNvSpPr/>
          <p:nvPr/>
        </p:nvSpPr>
        <p:spPr>
          <a:xfrm>
            <a:off x="2426905" y="4542739"/>
            <a:ext cx="257810" cy="257810"/>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8"/>
          <p:cNvSpPr/>
          <p:nvPr/>
        </p:nvSpPr>
        <p:spPr>
          <a:xfrm>
            <a:off x="2839645" y="4542739"/>
            <a:ext cx="257810" cy="257810"/>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9"/>
          <p:cNvSpPr/>
          <p:nvPr/>
        </p:nvSpPr>
        <p:spPr>
          <a:xfrm>
            <a:off x="3252385" y="4542739"/>
            <a:ext cx="257810" cy="257810"/>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10"/>
          <p:cNvSpPr/>
          <p:nvPr/>
        </p:nvSpPr>
        <p:spPr>
          <a:xfrm>
            <a:off x="3665125" y="4542739"/>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11"/>
          <p:cNvSpPr/>
          <p:nvPr/>
        </p:nvSpPr>
        <p:spPr>
          <a:xfrm>
            <a:off x="4077864" y="4542739"/>
            <a:ext cx="257810" cy="257810"/>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2"/>
          <p:cNvSpPr/>
          <p:nvPr/>
        </p:nvSpPr>
        <p:spPr>
          <a:xfrm>
            <a:off x="4490604" y="4542739"/>
            <a:ext cx="257810" cy="257810"/>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3"/>
          <p:cNvSpPr/>
          <p:nvPr/>
        </p:nvSpPr>
        <p:spPr>
          <a:xfrm>
            <a:off x="4903344" y="4542739"/>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4"/>
          <p:cNvSpPr/>
          <p:nvPr/>
        </p:nvSpPr>
        <p:spPr>
          <a:xfrm>
            <a:off x="5316083" y="4542739"/>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8_03"/>
          <p:cNvSpPr/>
          <p:nvPr/>
        </p:nvSpPr>
        <p:spPr>
          <a:xfrm>
            <a:off x="775947" y="4242960"/>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8_04"/>
          <p:cNvSpPr/>
          <p:nvPr/>
        </p:nvSpPr>
        <p:spPr>
          <a:xfrm>
            <a:off x="1188686" y="4242960"/>
            <a:ext cx="257810" cy="257810"/>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5"/>
          <p:cNvSpPr/>
          <p:nvPr/>
        </p:nvSpPr>
        <p:spPr>
          <a:xfrm>
            <a:off x="1601426" y="4242960"/>
            <a:ext cx="257810" cy="257810"/>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6"/>
          <p:cNvSpPr/>
          <p:nvPr/>
        </p:nvSpPr>
        <p:spPr>
          <a:xfrm>
            <a:off x="2014166" y="4242960"/>
            <a:ext cx="257810" cy="257810"/>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7"/>
          <p:cNvSpPr/>
          <p:nvPr/>
        </p:nvSpPr>
        <p:spPr>
          <a:xfrm>
            <a:off x="2426905" y="4242960"/>
            <a:ext cx="257810" cy="257810"/>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8"/>
          <p:cNvSpPr/>
          <p:nvPr/>
        </p:nvSpPr>
        <p:spPr>
          <a:xfrm>
            <a:off x="2839645" y="4242960"/>
            <a:ext cx="257810" cy="257810"/>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9"/>
          <p:cNvSpPr/>
          <p:nvPr/>
        </p:nvSpPr>
        <p:spPr>
          <a:xfrm>
            <a:off x="3252385" y="4242960"/>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10"/>
          <p:cNvSpPr/>
          <p:nvPr/>
        </p:nvSpPr>
        <p:spPr>
          <a:xfrm>
            <a:off x="3665125" y="4242960"/>
            <a:ext cx="257810" cy="257810"/>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11"/>
          <p:cNvSpPr/>
          <p:nvPr/>
        </p:nvSpPr>
        <p:spPr>
          <a:xfrm>
            <a:off x="4077864" y="4242960"/>
            <a:ext cx="257810" cy="257810"/>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2"/>
          <p:cNvSpPr/>
          <p:nvPr/>
        </p:nvSpPr>
        <p:spPr>
          <a:xfrm>
            <a:off x="4490604" y="4242960"/>
            <a:ext cx="257810" cy="257810"/>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3"/>
          <p:cNvSpPr/>
          <p:nvPr/>
        </p:nvSpPr>
        <p:spPr>
          <a:xfrm>
            <a:off x="4903344" y="4242960"/>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4"/>
          <p:cNvSpPr/>
          <p:nvPr/>
        </p:nvSpPr>
        <p:spPr>
          <a:xfrm>
            <a:off x="5316083" y="4242960"/>
            <a:ext cx="257810" cy="257810"/>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9_03"/>
          <p:cNvSpPr/>
          <p:nvPr/>
        </p:nvSpPr>
        <p:spPr>
          <a:xfrm>
            <a:off x="775947" y="3943181"/>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9_04"/>
          <p:cNvSpPr/>
          <p:nvPr/>
        </p:nvSpPr>
        <p:spPr>
          <a:xfrm>
            <a:off x="1188686" y="3943181"/>
            <a:ext cx="257810" cy="257810"/>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5"/>
          <p:cNvSpPr/>
          <p:nvPr/>
        </p:nvSpPr>
        <p:spPr>
          <a:xfrm>
            <a:off x="1601426" y="3943181"/>
            <a:ext cx="257810" cy="257810"/>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6"/>
          <p:cNvSpPr/>
          <p:nvPr/>
        </p:nvSpPr>
        <p:spPr>
          <a:xfrm>
            <a:off x="2014166" y="3943181"/>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7"/>
          <p:cNvSpPr/>
          <p:nvPr/>
        </p:nvSpPr>
        <p:spPr>
          <a:xfrm>
            <a:off x="2426905" y="3943181"/>
            <a:ext cx="257810" cy="257810"/>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8"/>
          <p:cNvSpPr/>
          <p:nvPr/>
        </p:nvSpPr>
        <p:spPr>
          <a:xfrm>
            <a:off x="2839645" y="3943181"/>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9"/>
          <p:cNvSpPr/>
          <p:nvPr/>
        </p:nvSpPr>
        <p:spPr>
          <a:xfrm>
            <a:off x="3252385" y="3943181"/>
            <a:ext cx="257810" cy="257810"/>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10"/>
          <p:cNvSpPr/>
          <p:nvPr/>
        </p:nvSpPr>
        <p:spPr>
          <a:xfrm>
            <a:off x="3665125" y="3943181"/>
            <a:ext cx="257810" cy="257810"/>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11"/>
          <p:cNvSpPr/>
          <p:nvPr/>
        </p:nvSpPr>
        <p:spPr>
          <a:xfrm>
            <a:off x="4077864" y="3943181"/>
            <a:ext cx="257810" cy="257810"/>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2"/>
          <p:cNvSpPr/>
          <p:nvPr/>
        </p:nvSpPr>
        <p:spPr>
          <a:xfrm>
            <a:off x="4490604" y="3943181"/>
            <a:ext cx="257810" cy="257810"/>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3"/>
          <p:cNvSpPr/>
          <p:nvPr/>
        </p:nvSpPr>
        <p:spPr>
          <a:xfrm>
            <a:off x="4903344" y="3943181"/>
            <a:ext cx="257810" cy="257810"/>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30_03"/>
          <p:cNvSpPr/>
          <p:nvPr/>
        </p:nvSpPr>
        <p:spPr>
          <a:xfrm>
            <a:off x="775947" y="3643401"/>
            <a:ext cx="257810" cy="257810"/>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30_04"/>
          <p:cNvSpPr/>
          <p:nvPr/>
        </p:nvSpPr>
        <p:spPr>
          <a:xfrm>
            <a:off x="1188686" y="3643401"/>
            <a:ext cx="257810" cy="257810"/>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5"/>
          <p:cNvSpPr/>
          <p:nvPr/>
        </p:nvSpPr>
        <p:spPr>
          <a:xfrm>
            <a:off x="1601426" y="3643401"/>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6"/>
          <p:cNvSpPr/>
          <p:nvPr/>
        </p:nvSpPr>
        <p:spPr>
          <a:xfrm>
            <a:off x="2014166" y="3643401"/>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7"/>
          <p:cNvSpPr/>
          <p:nvPr/>
        </p:nvSpPr>
        <p:spPr>
          <a:xfrm>
            <a:off x="2426905" y="3643401"/>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8"/>
          <p:cNvSpPr/>
          <p:nvPr/>
        </p:nvSpPr>
        <p:spPr>
          <a:xfrm>
            <a:off x="2839645" y="3643401"/>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9"/>
          <p:cNvSpPr/>
          <p:nvPr/>
        </p:nvSpPr>
        <p:spPr>
          <a:xfrm>
            <a:off x="3252385" y="3643401"/>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10"/>
          <p:cNvSpPr/>
          <p:nvPr/>
        </p:nvSpPr>
        <p:spPr>
          <a:xfrm>
            <a:off x="3665125" y="3643401"/>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11"/>
          <p:cNvSpPr/>
          <p:nvPr/>
        </p:nvSpPr>
        <p:spPr>
          <a:xfrm>
            <a:off x="4077864" y="3643401"/>
            <a:ext cx="257810" cy="257810"/>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2"/>
          <p:cNvSpPr/>
          <p:nvPr/>
        </p:nvSpPr>
        <p:spPr>
          <a:xfrm>
            <a:off x="4490604" y="3643401"/>
            <a:ext cx="257810" cy="257810"/>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3"/>
          <p:cNvSpPr/>
          <p:nvPr/>
        </p:nvSpPr>
        <p:spPr>
          <a:xfrm>
            <a:off x="4903344" y="3643401"/>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1_03"/>
          <p:cNvSpPr/>
          <p:nvPr/>
        </p:nvSpPr>
        <p:spPr>
          <a:xfrm>
            <a:off x="775947" y="3343622"/>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1_04"/>
          <p:cNvSpPr/>
          <p:nvPr/>
        </p:nvSpPr>
        <p:spPr>
          <a:xfrm>
            <a:off x="1188686" y="3343622"/>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5"/>
          <p:cNvSpPr/>
          <p:nvPr/>
        </p:nvSpPr>
        <p:spPr>
          <a:xfrm>
            <a:off x="1601426" y="3343622"/>
            <a:ext cx="257810" cy="257810"/>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6"/>
          <p:cNvSpPr/>
          <p:nvPr/>
        </p:nvSpPr>
        <p:spPr>
          <a:xfrm>
            <a:off x="2014166" y="3343622"/>
            <a:ext cx="257810" cy="257810"/>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7"/>
          <p:cNvSpPr/>
          <p:nvPr/>
        </p:nvSpPr>
        <p:spPr>
          <a:xfrm>
            <a:off x="2426905" y="3343622"/>
            <a:ext cx="257810" cy="257810"/>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8"/>
          <p:cNvSpPr/>
          <p:nvPr/>
        </p:nvSpPr>
        <p:spPr>
          <a:xfrm>
            <a:off x="2839645" y="3343622"/>
            <a:ext cx="257810" cy="257810"/>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9"/>
          <p:cNvSpPr/>
          <p:nvPr/>
        </p:nvSpPr>
        <p:spPr>
          <a:xfrm>
            <a:off x="3252385" y="3343622"/>
            <a:ext cx="257810" cy="257810"/>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10"/>
          <p:cNvSpPr/>
          <p:nvPr/>
        </p:nvSpPr>
        <p:spPr>
          <a:xfrm>
            <a:off x="3665125" y="3343622"/>
            <a:ext cx="257810" cy="257810"/>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11"/>
          <p:cNvSpPr/>
          <p:nvPr/>
        </p:nvSpPr>
        <p:spPr>
          <a:xfrm>
            <a:off x="4077864" y="3343622"/>
            <a:ext cx="257810" cy="257810"/>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2"/>
          <p:cNvSpPr/>
          <p:nvPr/>
        </p:nvSpPr>
        <p:spPr>
          <a:xfrm>
            <a:off x="4490604" y="3343622"/>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3"/>
          <p:cNvSpPr/>
          <p:nvPr/>
        </p:nvSpPr>
        <p:spPr>
          <a:xfrm>
            <a:off x="4903344" y="3343622"/>
            <a:ext cx="257810" cy="257810"/>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2_03"/>
          <p:cNvSpPr/>
          <p:nvPr/>
        </p:nvSpPr>
        <p:spPr>
          <a:xfrm>
            <a:off x="775947" y="3043843"/>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2_04"/>
          <p:cNvSpPr/>
          <p:nvPr/>
        </p:nvSpPr>
        <p:spPr>
          <a:xfrm>
            <a:off x="1188686" y="3043843"/>
            <a:ext cx="257810" cy="257810"/>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5"/>
          <p:cNvSpPr/>
          <p:nvPr/>
        </p:nvSpPr>
        <p:spPr>
          <a:xfrm>
            <a:off x="1601426" y="3043843"/>
            <a:ext cx="257810" cy="257810"/>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6"/>
          <p:cNvSpPr/>
          <p:nvPr/>
        </p:nvSpPr>
        <p:spPr>
          <a:xfrm>
            <a:off x="2014166" y="3043843"/>
            <a:ext cx="257810" cy="257810"/>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7"/>
          <p:cNvSpPr/>
          <p:nvPr/>
        </p:nvSpPr>
        <p:spPr>
          <a:xfrm>
            <a:off x="2426905" y="3043843"/>
            <a:ext cx="257810" cy="257810"/>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8"/>
          <p:cNvSpPr/>
          <p:nvPr/>
        </p:nvSpPr>
        <p:spPr>
          <a:xfrm>
            <a:off x="2839645" y="3043843"/>
            <a:ext cx="257810" cy="257810"/>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9"/>
          <p:cNvSpPr/>
          <p:nvPr/>
        </p:nvSpPr>
        <p:spPr>
          <a:xfrm>
            <a:off x="3252385" y="3043843"/>
            <a:ext cx="257810" cy="257810"/>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10"/>
          <p:cNvSpPr/>
          <p:nvPr/>
        </p:nvSpPr>
        <p:spPr>
          <a:xfrm>
            <a:off x="3665125" y="3043843"/>
            <a:ext cx="257810" cy="257810"/>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11"/>
          <p:cNvSpPr/>
          <p:nvPr/>
        </p:nvSpPr>
        <p:spPr>
          <a:xfrm>
            <a:off x="4077864" y="3043843"/>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2"/>
          <p:cNvSpPr/>
          <p:nvPr/>
        </p:nvSpPr>
        <p:spPr>
          <a:xfrm>
            <a:off x="4490604" y="3043843"/>
            <a:ext cx="257810" cy="257810"/>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3_03"/>
          <p:cNvSpPr/>
          <p:nvPr/>
        </p:nvSpPr>
        <p:spPr>
          <a:xfrm>
            <a:off x="775947" y="2744063"/>
            <a:ext cx="257810" cy="257810"/>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3_04"/>
          <p:cNvSpPr/>
          <p:nvPr/>
        </p:nvSpPr>
        <p:spPr>
          <a:xfrm>
            <a:off x="1188686" y="2744063"/>
            <a:ext cx="257810" cy="257810"/>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5"/>
          <p:cNvSpPr/>
          <p:nvPr/>
        </p:nvSpPr>
        <p:spPr>
          <a:xfrm>
            <a:off x="1601426" y="2744063"/>
            <a:ext cx="257810" cy="257810"/>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6"/>
          <p:cNvSpPr/>
          <p:nvPr/>
        </p:nvSpPr>
        <p:spPr>
          <a:xfrm>
            <a:off x="2014166" y="2744063"/>
            <a:ext cx="257810" cy="257810"/>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7"/>
          <p:cNvSpPr/>
          <p:nvPr/>
        </p:nvSpPr>
        <p:spPr>
          <a:xfrm>
            <a:off x="2426905" y="2744063"/>
            <a:ext cx="257810" cy="257810"/>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8"/>
          <p:cNvSpPr/>
          <p:nvPr/>
        </p:nvSpPr>
        <p:spPr>
          <a:xfrm>
            <a:off x="2839645" y="2744063"/>
            <a:ext cx="257810" cy="257810"/>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9"/>
          <p:cNvSpPr/>
          <p:nvPr/>
        </p:nvSpPr>
        <p:spPr>
          <a:xfrm>
            <a:off x="3252385" y="2744063"/>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10"/>
          <p:cNvSpPr/>
          <p:nvPr/>
        </p:nvSpPr>
        <p:spPr>
          <a:xfrm>
            <a:off x="3665125" y="2744063"/>
            <a:ext cx="257810" cy="257810"/>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11"/>
          <p:cNvSpPr/>
          <p:nvPr/>
        </p:nvSpPr>
        <p:spPr>
          <a:xfrm>
            <a:off x="4077864" y="2744063"/>
            <a:ext cx="257810" cy="257810"/>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2"/>
          <p:cNvSpPr/>
          <p:nvPr/>
        </p:nvSpPr>
        <p:spPr>
          <a:xfrm>
            <a:off x="4490604" y="2744063"/>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4_03"/>
          <p:cNvSpPr/>
          <p:nvPr/>
        </p:nvSpPr>
        <p:spPr>
          <a:xfrm>
            <a:off x="775947" y="2444284"/>
            <a:ext cx="257810" cy="257810"/>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4_04"/>
          <p:cNvSpPr/>
          <p:nvPr/>
        </p:nvSpPr>
        <p:spPr>
          <a:xfrm>
            <a:off x="1188686" y="2444284"/>
            <a:ext cx="257810" cy="257810"/>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5"/>
          <p:cNvSpPr/>
          <p:nvPr/>
        </p:nvSpPr>
        <p:spPr>
          <a:xfrm>
            <a:off x="1601426" y="2444284"/>
            <a:ext cx="257810" cy="257810"/>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6"/>
          <p:cNvSpPr/>
          <p:nvPr/>
        </p:nvSpPr>
        <p:spPr>
          <a:xfrm>
            <a:off x="2014166" y="2444284"/>
            <a:ext cx="257810" cy="257810"/>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7"/>
          <p:cNvSpPr/>
          <p:nvPr/>
        </p:nvSpPr>
        <p:spPr>
          <a:xfrm>
            <a:off x="2426905" y="2444284"/>
            <a:ext cx="257810" cy="257810"/>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8"/>
          <p:cNvSpPr/>
          <p:nvPr/>
        </p:nvSpPr>
        <p:spPr>
          <a:xfrm>
            <a:off x="2839645" y="2444284"/>
            <a:ext cx="257810" cy="257810"/>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9"/>
          <p:cNvSpPr/>
          <p:nvPr/>
        </p:nvSpPr>
        <p:spPr>
          <a:xfrm>
            <a:off x="3252385" y="2444284"/>
            <a:ext cx="257810" cy="257810"/>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10"/>
          <p:cNvSpPr/>
          <p:nvPr/>
        </p:nvSpPr>
        <p:spPr>
          <a:xfrm>
            <a:off x="3665125" y="2444284"/>
            <a:ext cx="257810" cy="257810"/>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11"/>
          <p:cNvSpPr/>
          <p:nvPr/>
        </p:nvSpPr>
        <p:spPr>
          <a:xfrm>
            <a:off x="4077864" y="2444284"/>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5_04"/>
          <p:cNvSpPr/>
          <p:nvPr/>
        </p:nvSpPr>
        <p:spPr>
          <a:xfrm>
            <a:off x="1188686" y="2144505"/>
            <a:ext cx="257810" cy="257810"/>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5_05"/>
          <p:cNvSpPr/>
          <p:nvPr/>
        </p:nvSpPr>
        <p:spPr>
          <a:xfrm>
            <a:off x="1601426" y="2144505"/>
            <a:ext cx="257810" cy="257810"/>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6"/>
          <p:cNvSpPr/>
          <p:nvPr/>
        </p:nvSpPr>
        <p:spPr>
          <a:xfrm>
            <a:off x="2014166" y="2144505"/>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7"/>
          <p:cNvSpPr/>
          <p:nvPr/>
        </p:nvSpPr>
        <p:spPr>
          <a:xfrm>
            <a:off x="2426905" y="2144505"/>
            <a:ext cx="257810" cy="257810"/>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8"/>
          <p:cNvSpPr/>
          <p:nvPr/>
        </p:nvSpPr>
        <p:spPr>
          <a:xfrm>
            <a:off x="2839645" y="2144505"/>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9"/>
          <p:cNvSpPr/>
          <p:nvPr/>
        </p:nvSpPr>
        <p:spPr>
          <a:xfrm>
            <a:off x="3252385" y="2144505"/>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10"/>
          <p:cNvSpPr/>
          <p:nvPr/>
        </p:nvSpPr>
        <p:spPr>
          <a:xfrm>
            <a:off x="3665125" y="2144505"/>
            <a:ext cx="257810" cy="257810"/>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11"/>
          <p:cNvSpPr/>
          <p:nvPr/>
        </p:nvSpPr>
        <p:spPr>
          <a:xfrm>
            <a:off x="4077864" y="2144505"/>
            <a:ext cx="257810" cy="257810"/>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6_04"/>
          <p:cNvSpPr/>
          <p:nvPr/>
        </p:nvSpPr>
        <p:spPr>
          <a:xfrm>
            <a:off x="1188686" y="1844725"/>
            <a:ext cx="257810" cy="257810"/>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6_05"/>
          <p:cNvSpPr/>
          <p:nvPr/>
        </p:nvSpPr>
        <p:spPr>
          <a:xfrm>
            <a:off x="1601426" y="1844725"/>
            <a:ext cx="257810" cy="257810"/>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6"/>
          <p:cNvSpPr/>
          <p:nvPr/>
        </p:nvSpPr>
        <p:spPr>
          <a:xfrm>
            <a:off x="2014166" y="1844725"/>
            <a:ext cx="257810" cy="257810"/>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7"/>
          <p:cNvSpPr/>
          <p:nvPr/>
        </p:nvSpPr>
        <p:spPr>
          <a:xfrm>
            <a:off x="2426905" y="1844725"/>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8"/>
          <p:cNvSpPr/>
          <p:nvPr/>
        </p:nvSpPr>
        <p:spPr>
          <a:xfrm>
            <a:off x="2839645" y="1844725"/>
            <a:ext cx="257810" cy="257810"/>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9"/>
          <p:cNvSpPr/>
          <p:nvPr/>
        </p:nvSpPr>
        <p:spPr>
          <a:xfrm>
            <a:off x="3252385" y="1844725"/>
            <a:ext cx="257810" cy="257810"/>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10"/>
          <p:cNvSpPr/>
          <p:nvPr/>
        </p:nvSpPr>
        <p:spPr>
          <a:xfrm>
            <a:off x="3665125" y="1844725"/>
            <a:ext cx="257810" cy="257810"/>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7_04"/>
          <p:cNvSpPr/>
          <p:nvPr/>
        </p:nvSpPr>
        <p:spPr>
          <a:xfrm>
            <a:off x="1188686" y="1544946"/>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7_05"/>
          <p:cNvSpPr/>
          <p:nvPr/>
        </p:nvSpPr>
        <p:spPr>
          <a:xfrm>
            <a:off x="1601426" y="1544946"/>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6"/>
          <p:cNvSpPr/>
          <p:nvPr/>
        </p:nvSpPr>
        <p:spPr>
          <a:xfrm>
            <a:off x="2014166" y="1544946"/>
            <a:ext cx="257810" cy="257810"/>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7"/>
          <p:cNvSpPr/>
          <p:nvPr/>
        </p:nvSpPr>
        <p:spPr>
          <a:xfrm>
            <a:off x="2426905" y="1544946"/>
            <a:ext cx="257810" cy="257810"/>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8"/>
          <p:cNvSpPr/>
          <p:nvPr/>
        </p:nvSpPr>
        <p:spPr>
          <a:xfrm>
            <a:off x="2839645" y="1544946"/>
            <a:ext cx="257810" cy="257810"/>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9"/>
          <p:cNvSpPr/>
          <p:nvPr/>
        </p:nvSpPr>
        <p:spPr>
          <a:xfrm>
            <a:off x="3252385" y="1544946"/>
            <a:ext cx="257810" cy="257810"/>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ZOOMING IN ON THE FOREFOOT</a:t>
            </a:r>
          </a:p>
        </p:txBody>
      </p:sp>
      <p:sp>
        <p:nvSpPr>
          <p:cNvPr id="328"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Eight regions, three target regions</a:t>
            </a:r>
          </a:p>
        </p:txBody>
      </p:sp>
      <p:sp>
        <p:nvSpPr>
          <p:cNvPr id="329" name="Oval 328"/>
          <p:cNvSpPr/>
          <p:nvPr/>
        </p:nvSpPr>
        <p:spPr>
          <a:xfrm>
            <a:off x="1549361" y="5029582"/>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1549361" y="5029582"/>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1</a:t>
            </a:r>
          </a:p>
        </p:txBody>
      </p:sp>
      <p:sp>
        <p:nvSpPr>
          <p:cNvPr id="331" name="Rectangle 330"/>
          <p:cNvSpPr/>
          <p:nvPr/>
        </p:nvSpPr>
        <p:spPr>
          <a:xfrm>
            <a:off x="6349841" y="1904952"/>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6349841" y="2070048"/>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349841" y="2070048"/>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1</a:t>
            </a:r>
          </a:p>
        </p:txBody>
      </p:sp>
      <p:sp>
        <p:nvSpPr>
          <p:cNvPr id="334" name="TextBox 333"/>
          <p:cNvSpPr txBox="1"/>
          <p:nvPr/>
        </p:nvSpPr>
        <p:spPr>
          <a:xfrm>
            <a:off x="6756231" y="2044648"/>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Metatarsal 1</a:t>
            </a:r>
          </a:p>
        </p:txBody>
      </p:sp>
      <p:sp>
        <p:nvSpPr>
          <p:cNvPr id="335" name="TextBox 334"/>
          <p:cNvSpPr txBox="1"/>
          <p:nvPr/>
        </p:nvSpPr>
        <p:spPr>
          <a:xfrm>
            <a:off x="6768930" y="2311342"/>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under the great toe — second most affected site</a:t>
            </a:r>
          </a:p>
        </p:txBody>
      </p:sp>
      <p:sp>
        <p:nvSpPr>
          <p:cNvPr id="336" name="Oval 335"/>
          <p:cNvSpPr/>
          <p:nvPr/>
        </p:nvSpPr>
        <p:spPr>
          <a:xfrm>
            <a:off x="2589465" y="5257414"/>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2589465" y="5257414"/>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2</a:t>
            </a:r>
          </a:p>
        </p:txBody>
      </p:sp>
      <p:sp>
        <p:nvSpPr>
          <p:cNvPr id="338" name="Rectangle 337"/>
          <p:cNvSpPr/>
          <p:nvPr/>
        </p:nvSpPr>
        <p:spPr>
          <a:xfrm>
            <a:off x="6349841" y="2641533"/>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6349841" y="2806629"/>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6349841" y="2806629"/>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2</a:t>
            </a:r>
          </a:p>
        </p:txBody>
      </p:sp>
      <p:sp>
        <p:nvSpPr>
          <p:cNvPr id="341" name="TextBox 340"/>
          <p:cNvSpPr txBox="1"/>
          <p:nvPr/>
        </p:nvSpPr>
        <p:spPr>
          <a:xfrm>
            <a:off x="6756231" y="2781230"/>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Metatarsal 2-3</a:t>
            </a:r>
          </a:p>
        </p:txBody>
      </p:sp>
      <p:sp>
        <p:nvSpPr>
          <p:cNvPr id="342" name="TextBox 341"/>
          <p:cNvSpPr txBox="1"/>
          <p:nvPr/>
        </p:nvSpPr>
        <p:spPr>
          <a:xfrm>
            <a:off x="6768930" y="3047923"/>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the hot spot in this measurement, and the classic ulcer site</a:t>
            </a:r>
          </a:p>
        </p:txBody>
      </p:sp>
      <p:sp>
        <p:nvSpPr>
          <p:cNvPr id="343" name="Oval 342"/>
          <p:cNvSpPr/>
          <p:nvPr/>
        </p:nvSpPr>
        <p:spPr>
          <a:xfrm>
            <a:off x="4521086" y="5599163"/>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4521086" y="5599163"/>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3</a:t>
            </a:r>
          </a:p>
        </p:txBody>
      </p:sp>
      <p:sp>
        <p:nvSpPr>
          <p:cNvPr id="345" name="Rectangle 344"/>
          <p:cNvSpPr/>
          <p:nvPr/>
        </p:nvSpPr>
        <p:spPr>
          <a:xfrm>
            <a:off x="6349841" y="3378115"/>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6349841" y="3543211"/>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6349841" y="3543211"/>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3</a:t>
            </a:r>
          </a:p>
        </p:txBody>
      </p:sp>
      <p:sp>
        <p:nvSpPr>
          <p:cNvPr id="348" name="TextBox 347"/>
          <p:cNvSpPr txBox="1"/>
          <p:nvPr/>
        </p:nvSpPr>
        <p:spPr>
          <a:xfrm>
            <a:off x="6756231" y="3517812"/>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Metatarsal 4-5</a:t>
            </a:r>
          </a:p>
        </p:txBody>
      </p:sp>
      <p:sp>
        <p:nvSpPr>
          <p:cNvPr id="349" name="TextBox 348"/>
          <p:cNvSpPr txBox="1"/>
          <p:nvPr/>
        </p:nvSpPr>
        <p:spPr>
          <a:xfrm>
            <a:off x="6768930" y="3784505"/>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lateral forefoot, usually lower pressure</a:t>
            </a:r>
          </a:p>
        </p:txBody>
      </p:sp>
      <p:sp>
        <p:nvSpPr>
          <p:cNvPr id="350" name="Oval 349"/>
          <p:cNvSpPr/>
          <p:nvPr/>
        </p:nvSpPr>
        <p:spPr>
          <a:xfrm>
            <a:off x="1400774" y="2409510"/>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1400774" y="2409510"/>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4</a:t>
            </a:r>
          </a:p>
        </p:txBody>
      </p:sp>
      <p:sp>
        <p:nvSpPr>
          <p:cNvPr id="352" name="Rectangle 351"/>
          <p:cNvSpPr/>
          <p:nvPr/>
        </p:nvSpPr>
        <p:spPr>
          <a:xfrm>
            <a:off x="6349841" y="4114697"/>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6349841" y="4279793"/>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6349841" y="4279793"/>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4</a:t>
            </a:r>
          </a:p>
        </p:txBody>
      </p:sp>
      <p:sp>
        <p:nvSpPr>
          <p:cNvPr id="355" name="TextBox 354"/>
          <p:cNvSpPr txBox="1"/>
          <p:nvPr/>
        </p:nvSpPr>
        <p:spPr>
          <a:xfrm>
            <a:off x="6756231" y="4254393"/>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Hallux</a:t>
            </a:r>
          </a:p>
        </p:txBody>
      </p:sp>
      <p:sp>
        <p:nvSpPr>
          <p:cNvPr id="356" name="TextBox 355"/>
          <p:cNvSpPr txBox="1"/>
          <p:nvPr/>
        </p:nvSpPr>
        <p:spPr>
          <a:xfrm>
            <a:off x="6768930" y="4521086"/>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
            </a:r>
          </a:p>
        </p:txBody>
      </p:sp>
      <p:sp>
        <p:nvSpPr>
          <p:cNvPr id="357" name="Oval 356"/>
          <p:cNvSpPr/>
          <p:nvPr/>
        </p:nvSpPr>
        <p:spPr>
          <a:xfrm>
            <a:off x="3406689" y="2523426"/>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3406689" y="2523426"/>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5</a:t>
            </a:r>
          </a:p>
        </p:txBody>
      </p:sp>
      <p:sp>
        <p:nvSpPr>
          <p:cNvPr id="359" name="Rectangle 358"/>
          <p:cNvSpPr/>
          <p:nvPr/>
        </p:nvSpPr>
        <p:spPr>
          <a:xfrm>
            <a:off x="6349841" y="4851278"/>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6349841" y="5016374"/>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360"/>
          <p:cNvSpPr txBox="1"/>
          <p:nvPr/>
        </p:nvSpPr>
        <p:spPr>
          <a:xfrm>
            <a:off x="6349841" y="5016374"/>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5</a:t>
            </a:r>
          </a:p>
        </p:txBody>
      </p:sp>
      <p:sp>
        <p:nvSpPr>
          <p:cNvPr id="362" name="TextBox 361"/>
          <p:cNvSpPr txBox="1"/>
          <p:nvPr/>
        </p:nvSpPr>
        <p:spPr>
          <a:xfrm>
            <a:off x="6756231" y="4990975"/>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Toes 2-5</a:t>
            </a:r>
          </a:p>
        </p:txBody>
      </p:sp>
      <p:sp>
        <p:nvSpPr>
          <p:cNvPr id="363" name="TextBox 362"/>
          <p:cNvSpPr txBox="1"/>
          <p:nvPr/>
        </p:nvSpPr>
        <p:spPr>
          <a:xfrm>
            <a:off x="6768930" y="5257668"/>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
            </a:r>
          </a:p>
        </p:txBody>
      </p:sp>
      <p:sp>
        <p:nvSpPr>
          <p:cNvPr id="364" name="TextBox 363"/>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
            </a:r>
          </a:p>
        </p:txBody>
      </p:sp>
      <p:sp>
        <p:nvSpPr>
          <p:cNvPr id="365" name="TextBox 364"/>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16 / 33</a:t>
            </a:r>
          </a:p>
        </p:txBody>
      </p:sp>
      <p:pic>
        <p:nvPicPr>
          <p:cNvPr id="366"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67" name="TextBox 366"/>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AFTER OPTIMISATION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When is it good enough</a:t>
            </a:r>
          </a:p>
        </p:txBody>
      </p:sp>
      <p:sp>
        <p:nvSpPr>
          <p:cNvPr id="5" name="!!p00_07"/>
          <p:cNvSpPr/>
          <p:nvPr/>
        </p:nvSpPr>
        <p:spPr>
          <a:xfrm>
            <a:off x="1585505" y="5645727"/>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32A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5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38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39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279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37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3A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6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C8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97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F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7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2B9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9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76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309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A7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6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26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2A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34A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2B9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30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44B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38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4DB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1C88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4CB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4CB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1E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43A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40A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2C9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7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B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82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C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82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52BDEC"/>
                </a:solidFill>
                <a:latin typeface="Segoe UI"/>
              </a:rPr>
              <a:t>186</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52BDEC"/>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peak pressure in the target region after modification</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40% lower  ·  below 200 kPa  ·  both criteria</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The target applies per region: peak pressure below 200 kPa or at least 25% lower than the baseline value for that same region.</a:t>
            </a:r>
          </a:p>
          <a:p>
            <a:pPr algn="l">
              <a:lnSpc>
                <a:spcPct val="135000"/>
              </a:lnSpc>
              <a:spcBef>
                <a:spcPts val="1200"/>
              </a:spcBef>
            </a:pPr>
            <a:r>
              <a:rPr sz="1700" b="0">
                <a:solidFill>
                  <a:srgbClr val="8FB6D0"/>
                </a:solidFill>
                <a:latin typeface="Segoe UI"/>
              </a:rPr>
              <a:t>If the target is not met, modify and measure again. The form provides for two further offloading attempts.</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 document 24 · Pressure redistribution of the orthosis</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17 / 33</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belasting.jpg"/>
          <p:cNvPicPr>
            <a:picLocks noChangeAspect="1"/>
          </p:cNvPicPr>
          <p:nvPr/>
        </p:nvPicPr>
        <p:blipFill>
          <a:blip r:embed="rId2"/>
          <a:stretch>
            <a:fillRect/>
          </a:stretch>
        </p:blipFill>
        <p:spPr>
          <a:xfrm>
            <a:off x="-22661" y="0"/>
            <a:ext cx="12237017"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FFFFFF"/>
                </a:solidFill>
                <a:latin typeface="Segoe UI"/>
              </a:rPr>
              <a:t>Not less loading.</a:t>
            </a:r>
          </a:p>
          <a:p>
            <a:pPr algn="l">
              <a:lnSpc>
                <a:spcPct val="106000"/>
              </a:lnSpc>
              <a:spcBef>
                <a:spcPts val="500"/>
              </a:spcBef>
            </a:pPr>
            <a:r>
              <a:rPr sz="7200" b="1">
                <a:solidFill>
                  <a:srgbClr val="FFFFFF"/>
                </a:solidFill>
                <a:latin typeface="Segoe UI"/>
              </a:rPr>
              <a:t>Loading where the tissue can take 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THE MEASUREMENT PROTOCOL</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At delivery</a:t>
            </a:r>
          </a:p>
        </p:txBody>
      </p:sp>
      <p:pic>
        <p:nvPicPr>
          <p:cNvPr id="5" name="Picture 4" descr="pedar_schoen.png"/>
          <p:cNvPicPr>
            <a:picLocks noChangeAspect="1"/>
          </p:cNvPicPr>
          <p:nvPr/>
        </p:nvPicPr>
        <p:blipFill>
          <a:blip r:embed="rId2"/>
          <a:stretch>
            <a:fillRect/>
          </a:stretch>
        </p:blipFill>
        <p:spPr>
          <a:xfrm>
            <a:off x="7825601" y="2565335"/>
            <a:ext cx="3245925" cy="2539936"/>
          </a:xfrm>
          <a:prstGeom prst="rect">
            <a:avLst/>
          </a:prstGeom>
        </p:spPr>
      </p:pic>
      <p:sp>
        <p:nvSpPr>
          <p:cNvPr id="6" name="Rounded Rectangle 5"/>
          <p:cNvSpPr/>
          <p:nvPr/>
        </p:nvSpPr>
        <p:spPr>
          <a:xfrm>
            <a:off x="634984" y="2971725"/>
            <a:ext cx="6730831" cy="965175"/>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9776" y="3162220"/>
            <a:ext cx="3936901" cy="342891"/>
          </a:xfrm>
          <a:prstGeom prst="rect">
            <a:avLst/>
          </a:prstGeom>
          <a:noFill/>
        </p:spPr>
        <p:txBody>
          <a:bodyPr wrap="square" anchor="t" lIns="0" rIns="0" tIns="0" bIns="0">
            <a:spAutoFit/>
          </a:bodyPr>
          <a:lstStyle/>
          <a:p>
            <a:pPr algn="l">
              <a:lnSpc>
                <a:spcPct val="125000"/>
              </a:lnSpc>
            </a:pPr>
            <a:r>
              <a:rPr sz="2400" b="1">
                <a:solidFill>
                  <a:srgbClr val="F2F8FC"/>
                </a:solidFill>
                <a:latin typeface="Segoe UI"/>
              </a:rPr>
              <a:t>In the shoe, wíth the insole</a:t>
            </a:r>
          </a:p>
        </p:txBody>
      </p:sp>
      <p:sp>
        <p:nvSpPr>
          <p:cNvPr id="8" name="TextBox 7"/>
          <p:cNvSpPr txBox="1"/>
          <p:nvPr/>
        </p:nvSpPr>
        <p:spPr>
          <a:xfrm>
            <a:off x="939776" y="3530511"/>
            <a:ext cx="6121246" cy="380990"/>
          </a:xfrm>
          <a:prstGeom prst="rect">
            <a:avLst/>
          </a:prstGeom>
          <a:noFill/>
        </p:spPr>
        <p:txBody>
          <a:bodyPr wrap="square" anchor="t" lIns="0" rIns="0" tIns="0" bIns="0">
            <a:spAutoFit/>
          </a:bodyPr>
          <a:lstStyle/>
          <a:p>
            <a:pPr algn="l">
              <a:lnSpc>
                <a:spcPct val="132000"/>
              </a:lnSpc>
            </a:pPr>
            <a:r>
              <a:rPr sz="1550" b="0">
                <a:solidFill>
                  <a:srgbClr val="8FB6D0"/>
                </a:solidFill>
                <a:latin typeface="Segoe UI"/>
              </a:rPr>
              <a:t>The measurement against which the target is tested, per target region.</a:t>
            </a:r>
          </a:p>
        </p:txBody>
      </p:sp>
      <p:sp>
        <p:nvSpPr>
          <p:cNvPr id="9" name="TextBox 8"/>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 document 24 · the target is tested per region, not across the whole foot</a:t>
            </a:r>
          </a:p>
        </p:txBody>
      </p:sp>
      <p:sp>
        <p:nvSpPr>
          <p:cNvPr id="10" name="TextBox 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19 / 33</a:t>
            </a:r>
          </a:p>
        </p:txBody>
      </p:sp>
      <p:pic>
        <p:nvPicPr>
          <p:cNvPr id="11"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2" name="TextBox 1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03</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BLOCK 03</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The pathway</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Nine contacts. For each: what is done and what is recorded.</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20 / 33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THE PATHWAY</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Screening plus nine visits</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eligibility</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allocation</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insole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follow-up</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measure</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follow-up</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measure</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follow-up</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measure + end</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measurement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behavioural support</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and completion</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18</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months, from screening to completion</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Visits 0 to 2 fall close together: consent, baseline, and the insole within the month. After that the rhythm is three-monthly — the same rhythm as the review these patients already receive.</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21 / 33</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Who is eligible</a:t>
            </a:r>
          </a:p>
        </p:txBody>
      </p:sp>
      <p:sp>
        <p:nvSpPr>
          <p:cNvPr id="5" name="Rounded Rectangle 4"/>
          <p:cNvSpPr/>
          <p:nvPr/>
        </p:nvSpPr>
        <p:spPr>
          <a:xfrm>
            <a:off x="634984" y="1993850"/>
            <a:ext cx="5384538" cy="384800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8977" y="2209744"/>
            <a:ext cx="965175" cy="292092"/>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285942"/>
            <a:ext cx="965175" cy="215894"/>
          </a:xfrm>
          <a:prstGeom prst="rect">
            <a:avLst/>
          </a:prstGeom>
          <a:noFill/>
        </p:spPr>
        <p:txBody>
          <a:bodyPr wrap="none" anchor="t" lIns="0" rIns="0" tIns="0" bIns="0">
            <a:spAutoFit/>
          </a:bodyPr>
          <a:lstStyle/>
          <a:p>
            <a:pPr algn="ctr">
              <a:lnSpc>
                <a:spcPct val="125000"/>
              </a:lnSpc>
            </a:pPr>
            <a:r>
              <a:rPr sz="1350" b="1" spc="130">
                <a:solidFill>
                  <a:srgbClr val="04182A"/>
                </a:solidFill>
                <a:latin typeface="Consolas"/>
              </a:rPr>
              <a:t>ELIGIBLE</a:t>
            </a:r>
          </a:p>
        </p:txBody>
      </p:sp>
      <p:sp>
        <p:nvSpPr>
          <p:cNvPr id="8" name="TextBox 7"/>
          <p:cNvSpPr txBox="1"/>
          <p:nvPr/>
        </p:nvSpPr>
        <p:spPr>
          <a:xfrm>
            <a:off x="888977" y="2743131"/>
            <a:ext cx="4876551" cy="2984425"/>
          </a:xfrm>
          <a:prstGeom prst="rect">
            <a:avLst/>
          </a:prstGeom>
          <a:noFill/>
        </p:spPr>
        <p:txBody>
          <a:bodyPr wrap="square" anchor="t" lIns="0" rIns="0" tIns="0" bIns="0">
            <a:spAutoFit/>
          </a:bodyPr>
          <a:lstStyle/>
          <a:p>
            <a:pPr algn="l">
              <a:lnSpc>
                <a:spcPct val="130000"/>
              </a:lnSpc>
            </a:pPr>
            <a:r>
              <a:rPr sz="1300" b="0">
                <a:solidFill>
                  <a:srgbClr val="8FB6D0"/>
                </a:solidFill>
                <a:latin typeface="Segoe UI"/>
              </a:rPr>
              <a:t>Adult, understands Dutch</a:t>
            </a:r>
          </a:p>
          <a:p>
            <a:pPr algn="l">
              <a:lnSpc>
                <a:spcPct val="130000"/>
              </a:lnSpc>
              <a:spcBef>
                <a:spcPts val="1200"/>
              </a:spcBef>
            </a:pPr>
            <a:r>
              <a:rPr sz="1300" b="0">
                <a:solidFill>
                  <a:srgbClr val="8FB6D0"/>
                </a:solidFill>
                <a:latin typeface="Segoe UI"/>
              </a:rPr>
              <a:t>Diabetes type 1 or 2</a:t>
            </a:r>
          </a:p>
          <a:p>
            <a:pPr algn="l">
              <a:lnSpc>
                <a:spcPct val="130000"/>
              </a:lnSpc>
              <a:spcBef>
                <a:spcPts val="1200"/>
              </a:spcBef>
            </a:pPr>
            <a:r>
              <a:rPr sz="1300" b="0">
                <a:solidFill>
                  <a:srgbClr val="8FB6D0"/>
                </a:solidFill>
                <a:latin typeface="Segoe UI"/>
              </a:rPr>
              <a:t>IWGDF risk category 3 with a healed plantar ulcer, or partial amputation or resection of a metatarsal head — the first included — between 18 months and 2 weeks ago</a:t>
            </a:r>
          </a:p>
          <a:p>
            <a:pPr algn="l">
              <a:lnSpc>
                <a:spcPct val="130000"/>
              </a:lnSpc>
              <a:spcBef>
                <a:spcPts val="1200"/>
              </a:spcBef>
            </a:pPr>
            <a:r>
              <a:rPr sz="1300" b="0">
                <a:solidFill>
                  <a:srgbClr val="8FB6D0"/>
                </a:solidFill>
                <a:latin typeface="Segoe UI"/>
              </a:rPr>
              <a:t>Walks barefoot independently, without walking aids</a:t>
            </a:r>
          </a:p>
          <a:p>
            <a:pPr algn="l">
              <a:lnSpc>
                <a:spcPct val="130000"/>
              </a:lnSpc>
              <a:spcBef>
                <a:spcPts val="1200"/>
              </a:spcBef>
            </a:pPr>
            <a:r>
              <a:rPr sz="1300" b="0">
                <a:solidFill>
                  <a:srgbClr val="8FB6D0"/>
                </a:solidFill>
                <a:latin typeface="Segoe UI"/>
              </a:rPr>
              <a:t>Has protective footwear, or accepts it: fully custom-made, or custom insoles in semi-orthopaedic or extra-depth off-the-shelf footwear</a:t>
            </a:r>
          </a:p>
        </p:txBody>
      </p:sp>
      <p:sp>
        <p:nvSpPr>
          <p:cNvPr id="9" name="Rounded Rectangle 8"/>
          <p:cNvSpPr/>
          <p:nvPr/>
        </p:nvSpPr>
        <p:spPr>
          <a:xfrm>
            <a:off x="6171918" y="1993850"/>
            <a:ext cx="5384538" cy="384800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25912" y="2209744"/>
            <a:ext cx="965175" cy="292092"/>
          </a:xfrm>
          <a:prstGeom prst="roundRect">
            <a:avLst>
              <a:gd name="adj" fmla="val 45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5912" y="2285942"/>
            <a:ext cx="965175" cy="215894"/>
          </a:xfrm>
          <a:prstGeom prst="rect">
            <a:avLst/>
          </a:prstGeom>
          <a:noFill/>
        </p:spPr>
        <p:txBody>
          <a:bodyPr wrap="none" anchor="t" lIns="0" rIns="0" tIns="0" bIns="0">
            <a:spAutoFit/>
          </a:bodyPr>
          <a:lstStyle/>
          <a:p>
            <a:pPr algn="ctr">
              <a:lnSpc>
                <a:spcPct val="125000"/>
              </a:lnSpc>
            </a:pPr>
            <a:r>
              <a:rPr sz="1350" b="1" spc="130">
                <a:solidFill>
                  <a:srgbClr val="04182A"/>
                </a:solidFill>
                <a:latin typeface="Consolas"/>
              </a:rPr>
              <a:t>EXCLUDED</a:t>
            </a:r>
          </a:p>
        </p:txBody>
      </p:sp>
      <p:sp>
        <p:nvSpPr>
          <p:cNvPr id="12" name="TextBox 11"/>
          <p:cNvSpPr txBox="1"/>
          <p:nvPr/>
        </p:nvSpPr>
        <p:spPr>
          <a:xfrm>
            <a:off x="6425912" y="2743131"/>
            <a:ext cx="4876551" cy="2984425"/>
          </a:xfrm>
          <a:prstGeom prst="rect">
            <a:avLst/>
          </a:prstGeom>
          <a:noFill/>
        </p:spPr>
        <p:txBody>
          <a:bodyPr wrap="square" anchor="t" lIns="0" rIns="0" tIns="0" bIns="0">
            <a:spAutoFit/>
          </a:bodyPr>
          <a:lstStyle/>
          <a:p>
            <a:pPr algn="l">
              <a:lnSpc>
                <a:spcPct val="130000"/>
              </a:lnSpc>
            </a:pPr>
            <a:r>
              <a:rPr sz="1000" b="0">
                <a:solidFill>
                  <a:srgbClr val="8FB6D0"/>
                </a:solidFill>
                <a:latin typeface="Segoe UI"/>
              </a:rPr>
              <a:t>Amputation proximal to the MTP joints</a:t>
            </a:r>
          </a:p>
          <a:p>
            <a:pPr algn="l">
              <a:lnSpc>
                <a:spcPct val="130000"/>
              </a:lnSpc>
              <a:spcBef>
                <a:spcPts val="1200"/>
              </a:spcBef>
            </a:pPr>
            <a:r>
              <a:rPr sz="1000" b="0">
                <a:solidFill>
                  <a:srgbClr val="8FB6D0"/>
                </a:solidFill>
                <a:latin typeface="Segoe UI"/>
              </a:rPr>
              <a:t>Active ulcer or Charcot deformity</a:t>
            </a:r>
          </a:p>
          <a:p>
            <a:pPr algn="l">
              <a:lnSpc>
                <a:spcPct val="130000"/>
              </a:lnSpc>
              <a:spcBef>
                <a:spcPts val="1200"/>
              </a:spcBef>
            </a:pPr>
            <a:r>
              <a:rPr sz="1000" b="0">
                <a:solidFill>
                  <a:srgbClr val="8FB6D0"/>
                </a:solidFill>
                <a:latin typeface="Segoe UI"/>
              </a:rPr>
              <a:t>Critical ischaemia — PEDIS grade 3</a:t>
            </a:r>
          </a:p>
          <a:p>
            <a:pPr algn="l">
              <a:lnSpc>
                <a:spcPct val="130000"/>
              </a:lnSpc>
              <a:spcBef>
                <a:spcPts val="1200"/>
              </a:spcBef>
            </a:pPr>
            <a:r>
              <a:rPr sz="1000" b="0">
                <a:solidFill>
                  <a:srgbClr val="8FB6D0"/>
                </a:solidFill>
                <a:latin typeface="Segoe UI"/>
              </a:rPr>
              <a:t>Immunosuppressive therapy</a:t>
            </a:r>
          </a:p>
          <a:p>
            <a:pPr algn="l">
              <a:lnSpc>
                <a:spcPct val="130000"/>
              </a:lnSpc>
              <a:spcBef>
                <a:spcPts val="1200"/>
              </a:spcBef>
            </a:pPr>
            <a:r>
              <a:rPr sz="1000" b="0">
                <a:solidFill>
                  <a:srgbClr val="8FB6D0"/>
                </a:solidFill>
                <a:latin typeface="Segoe UI"/>
              </a:rPr>
              <a:t>Renal replacement therapy</a:t>
            </a:r>
          </a:p>
          <a:p>
            <a:pPr algn="l">
              <a:lnSpc>
                <a:spcPct val="130000"/>
              </a:lnSpc>
              <a:spcBef>
                <a:spcPts val="1200"/>
              </a:spcBef>
            </a:pPr>
            <a:r>
              <a:rPr sz="1000" b="0">
                <a:solidFill>
                  <a:srgbClr val="8FB6D0"/>
                </a:solidFill>
                <a:latin typeface="Segoe UI"/>
              </a:rPr>
              <a:t>Survival &lt; 18 months, in the judgement of the treating physician</a:t>
            </a:r>
          </a:p>
          <a:p>
            <a:pPr algn="l">
              <a:lnSpc>
                <a:spcPct val="130000"/>
              </a:lnSpc>
              <a:spcBef>
                <a:spcPts val="1200"/>
              </a:spcBef>
            </a:pPr>
            <a:r>
              <a:rPr sz="1000" b="0">
                <a:solidFill>
                  <a:srgbClr val="8FB6D0"/>
                </a:solidFill>
                <a:latin typeface="Segoe UI"/>
              </a:rPr>
              <a:t>Unable to consent or to follow instructions</a:t>
            </a:r>
          </a:p>
          <a:p>
            <a:pPr algn="l">
              <a:lnSpc>
                <a:spcPct val="130000"/>
              </a:lnSpc>
              <a:spcBef>
                <a:spcPts val="1200"/>
              </a:spcBef>
            </a:pPr>
            <a:r>
              <a:rPr sz="1000" b="0">
                <a:solidFill>
                  <a:srgbClr val="8FB6D0"/>
                </a:solidFill>
                <a:latin typeface="Segoe UI"/>
              </a:rPr>
              <a:t>A device preventing sensor application, e.g. an ankle-foot orthosis</a:t>
            </a:r>
          </a:p>
          <a:p>
            <a:pPr algn="l">
              <a:lnSpc>
                <a:spcPct val="130000"/>
              </a:lnSpc>
              <a:spcBef>
                <a:spcPts val="1200"/>
              </a:spcBef>
            </a:pPr>
            <a:r>
              <a:rPr sz="1000" b="0">
                <a:solidFill>
                  <a:srgbClr val="8FB6D0"/>
                </a:solidFill>
                <a:latin typeface="Segoe UI"/>
              </a:rPr>
              <a:t>Declines the prescribed footwear or the wear-time sensor</a:t>
            </a: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22 / 33</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5" name="TextBox 1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8 · IWGDF 2023, preventie   |   25 · IWGDF 2023, definities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THE TECHNOLOGY</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Three devices</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dar.png"/>
          <p:cNvPicPr>
            <a:picLocks noChangeAspect="1"/>
          </p:cNvPicPr>
          <p:nvPr/>
        </p:nvPicPr>
        <p:blipFill>
          <a:blip r:embed="rId2"/>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Novel pedar</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PRESSURE</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8  foot regions</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YOUR TEAM MEASURES</a:t>
            </a:r>
          </a:p>
        </p:txBody>
      </p:sp>
      <p:sp>
        <p:nvSpPr>
          <p:cNvPr id="11" name="TextBox 10"/>
          <p:cNvSpPr txBox="1"/>
          <p:nvPr/>
        </p:nvSpPr>
        <p:spPr>
          <a:xfrm>
            <a:off x="3479713" y="3975000"/>
            <a:ext cx="2260416" cy="1879553"/>
          </a:xfrm>
          <a:prstGeom prst="rect">
            <a:avLst/>
          </a:prstGeom>
          <a:noFill/>
        </p:spPr>
        <p:txBody>
          <a:bodyPr wrap="square" anchor="t" lIns="0" rIns="0" tIns="0" bIns="0">
            <a:spAutoFit/>
          </a:bodyPr>
          <a:lstStyle/>
          <a:p>
            <a:pPr algn="l">
              <a:lnSpc>
                <a:spcPct val="130000"/>
              </a:lnSpc>
            </a:pPr>
            <a:r>
              <a:rPr sz="1350" b="0">
                <a:solidFill>
                  <a:srgbClr val="8FB6D0"/>
                </a:solidFill>
                <a:latin typeface="Segoe UI"/>
              </a:rPr>
              <a:t>In-shoe, with the insole</a:t>
            </a:r>
          </a:p>
          <a:p>
            <a:pPr algn="l">
              <a:lnSpc>
                <a:spcPct val="130000"/>
              </a:lnSpc>
              <a:spcBef>
                <a:spcPts val="1000"/>
              </a:spcBef>
            </a:pPr>
            <a:r>
              <a:rPr sz="1350" b="0">
                <a:solidFill>
                  <a:srgbClr val="8FB6D0"/>
                </a:solidFill>
                <a:latin typeface="Segoe UI"/>
              </a:rPr>
              <a:t>Zeroing once per session</a:t>
            </a:r>
          </a:p>
          <a:p>
            <a:pPr algn="l">
              <a:lnSpc>
                <a:spcPct val="130000"/>
              </a:lnSpc>
              <a:spcBef>
                <a:spcPts val="1000"/>
              </a:spcBef>
            </a:pPr>
            <a:r>
              <a:rPr sz="1350" b="0">
                <a:solidFill>
                  <a:srgbClr val="8FB6D0"/>
                </a:solidFill>
                <a:latin typeface="Segoe UI"/>
              </a:rPr>
              <a:t>F-Scan GO: a separate study-team measurement</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172715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thotimer.png"/>
          <p:cNvPicPr>
            <a:picLocks noChangeAspect="1"/>
          </p:cNvPicPr>
          <p:nvPr/>
        </p:nvPicPr>
        <p:blipFill>
          <a:blip r:embed="rId3"/>
          <a:stretch>
            <a:fillRect/>
          </a:stretch>
        </p:blipFill>
        <p:spPr>
          <a:xfrm>
            <a:off x="6387813" y="2629374"/>
            <a:ext cx="1600159" cy="595804"/>
          </a:xfrm>
          <a:prstGeom prst="rect">
            <a:avLst/>
          </a:prstGeom>
        </p:spPr>
      </p:pic>
      <p:sp>
        <p:nvSpPr>
          <p:cNvPr id="15" name="TextBox 14"/>
          <p:cNvSpPr txBox="1"/>
          <p:nvPr/>
        </p:nvSpPr>
        <p:spPr>
          <a:xfrm>
            <a:off x="8241966" y="2133546"/>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Orthotimer</a:t>
            </a:r>
          </a:p>
        </p:txBody>
      </p:sp>
      <p:sp>
        <p:nvSpPr>
          <p:cNvPr id="16" name="TextBox 15"/>
          <p:cNvSpPr txBox="1"/>
          <p:nvPr/>
        </p:nvSpPr>
        <p:spPr>
          <a:xfrm>
            <a:off x="8254666" y="2501837"/>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WEAR TIME</a:t>
            </a:r>
          </a:p>
        </p:txBody>
      </p:sp>
      <p:sp>
        <p:nvSpPr>
          <p:cNvPr id="17" name="TextBox 16"/>
          <p:cNvSpPr txBox="1"/>
          <p:nvPr/>
        </p:nvSpPr>
        <p:spPr>
          <a:xfrm>
            <a:off x="8241966" y="2705032"/>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15  minutes</a:t>
            </a:r>
          </a:p>
        </p:txBody>
      </p:sp>
      <p:sp>
        <p:nvSpPr>
          <p:cNvPr id="18" name="TextBox 17"/>
          <p:cNvSpPr txBox="1"/>
          <p:nvPr/>
        </p:nvSpPr>
        <p:spPr>
          <a:xfrm>
            <a:off x="8241966" y="3047923"/>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In the insole, 9 × 13 × 4.5 mm</a:t>
            </a:r>
          </a:p>
          <a:p>
            <a:pPr algn="l">
              <a:lnSpc>
                <a:spcPct val="128000"/>
              </a:lnSpc>
              <a:spcBef>
                <a:spcPts val="600"/>
              </a:spcBef>
            </a:pPr>
            <a:r>
              <a:rPr sz="1400" b="0">
                <a:solidFill>
                  <a:srgbClr val="8FB6D0"/>
                </a:solidFill>
                <a:latin typeface="Segoe UI"/>
              </a:rPr>
              <a:t>Memory 100 days</a:t>
            </a:r>
          </a:p>
        </p:txBody>
      </p:sp>
      <p:sp>
        <p:nvSpPr>
          <p:cNvPr id="19" name="TextBox 18"/>
          <p:cNvSpPr txBox="1"/>
          <p:nvPr/>
        </p:nvSpPr>
        <p:spPr>
          <a:xfrm>
            <a:off x="8241966" y="3632109"/>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YOUR TEAM MEASURES</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172715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ovemonitor.png"/>
          <p:cNvPicPr>
            <a:picLocks noChangeAspect="1"/>
          </p:cNvPicPr>
          <p:nvPr/>
        </p:nvPicPr>
        <p:blipFill>
          <a:blip r:embed="rId4"/>
          <a:stretch>
            <a:fillRect/>
          </a:stretch>
        </p:blipFill>
        <p:spPr>
          <a:xfrm>
            <a:off x="6387813" y="4567176"/>
            <a:ext cx="1600159" cy="885697"/>
          </a:xfrm>
          <a:prstGeom prst="rect">
            <a:avLst/>
          </a:prstGeom>
        </p:spPr>
      </p:pic>
      <p:sp>
        <p:nvSpPr>
          <p:cNvPr id="23" name="TextBox 22"/>
          <p:cNvSpPr txBox="1"/>
          <p:nvPr/>
        </p:nvSpPr>
        <p:spPr>
          <a:xfrm>
            <a:off x="8241966" y="4216294"/>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MoveMonitor</a:t>
            </a:r>
          </a:p>
        </p:txBody>
      </p:sp>
      <p:sp>
        <p:nvSpPr>
          <p:cNvPr id="24" name="TextBox 23"/>
          <p:cNvSpPr txBox="1"/>
          <p:nvPr/>
        </p:nvSpPr>
        <p:spPr>
          <a:xfrm>
            <a:off x="8254666" y="4584585"/>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ACTIVITY</a:t>
            </a:r>
          </a:p>
        </p:txBody>
      </p:sp>
      <p:sp>
        <p:nvSpPr>
          <p:cNvPr id="25" name="TextBox 24"/>
          <p:cNvSpPr txBox="1"/>
          <p:nvPr/>
        </p:nvSpPr>
        <p:spPr>
          <a:xfrm>
            <a:off x="8241966" y="4787780"/>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7  days</a:t>
            </a:r>
          </a:p>
        </p:txBody>
      </p:sp>
      <p:sp>
        <p:nvSpPr>
          <p:cNvPr id="26" name="TextBox 25"/>
          <p:cNvSpPr txBox="1"/>
          <p:nvPr/>
        </p:nvSpPr>
        <p:spPr>
          <a:xfrm>
            <a:off x="8241966" y="5130671"/>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At the waist, on the lower back</a:t>
            </a:r>
          </a:p>
          <a:p>
            <a:pPr algn="l">
              <a:lnSpc>
                <a:spcPct val="128000"/>
              </a:lnSpc>
              <a:spcBef>
                <a:spcPts val="600"/>
              </a:spcBef>
            </a:pPr>
            <a:r>
              <a:rPr sz="1400" b="0">
                <a:solidFill>
                  <a:srgbClr val="8FB6D0"/>
                </a:solidFill>
                <a:latin typeface="Segoe UI"/>
              </a:rPr>
              <a:t>Baseline and 6 months</a:t>
            </a:r>
          </a:p>
        </p:txBody>
      </p:sp>
      <p:sp>
        <p:nvSpPr>
          <p:cNvPr id="27" name="TextBox 26"/>
          <p:cNvSpPr txBox="1"/>
          <p:nvPr/>
        </p:nvSpPr>
        <p:spPr>
          <a:xfrm>
            <a:off x="8241966" y="5714857"/>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YOUR TEAM MEASURES</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23 / 33</a:t>
            </a:r>
          </a:p>
        </p:txBody>
      </p:sp>
      <p:pic>
        <p:nvPicPr>
          <p:cNvPr id="29" name="merk" descr="merk.png"/>
          <p:cNvPicPr>
            <a:picLocks noChangeAspect="1"/>
          </p:cNvPicPr>
          <p:nvPr/>
        </p:nvPicPr>
        <p:blipFill>
          <a:blip r:embed="rId5"/>
          <a:stretch>
            <a:fillRect/>
          </a:stretch>
        </p:blipFill>
        <p:spPr>
          <a:xfrm>
            <a:off x="11094166" y="368290"/>
            <a:ext cx="417101" cy="482587"/>
          </a:xfrm>
          <a:prstGeom prst="rect">
            <a:avLst/>
          </a:prstGeom>
        </p:spPr>
      </p:pic>
      <p:sp>
        <p:nvSpPr>
          <p:cNvPr id="30" name="TextBox 2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SEBIA · ECRF DOCUMENT 17</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Five conversations</a:t>
            </a:r>
          </a:p>
        </p:txBody>
      </p:sp>
      <p:sp>
        <p:nvSpPr>
          <p:cNvPr id="5" name="Rectangle 4"/>
          <p:cNvSpPr/>
          <p:nvPr/>
        </p:nvSpPr>
        <p:spPr>
          <a:xfrm>
            <a:off x="634984" y="2463738"/>
            <a:ext cx="10921726" cy="1269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281"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4984"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779"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01</a:t>
            </a:r>
          </a:p>
        </p:txBody>
      </p:sp>
      <p:sp>
        <p:nvSpPr>
          <p:cNvPr id="9" name="TextBox 8"/>
          <p:cNvSpPr txBox="1"/>
          <p:nvPr/>
        </p:nvSpPr>
        <p:spPr>
          <a:xfrm>
            <a:off x="812779"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Baseline</a:t>
            </a:r>
          </a:p>
        </p:txBody>
      </p:sp>
      <p:sp>
        <p:nvSpPr>
          <p:cNvPr id="10" name="TextBox 9"/>
          <p:cNvSpPr txBox="1"/>
          <p:nvPr/>
        </p:nvSpPr>
        <p:spPr>
          <a:xfrm>
            <a:off x="812779"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Questionnaires first, then tailored education, with demonstration.</a:t>
            </a:r>
          </a:p>
        </p:txBody>
      </p:sp>
      <p:sp>
        <p:nvSpPr>
          <p:cNvPr id="11" name="Oval 10"/>
          <p:cNvSpPr/>
          <p:nvPr/>
        </p:nvSpPr>
        <p:spPr>
          <a:xfrm>
            <a:off x="2959026"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4472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22524"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02</a:t>
            </a:r>
          </a:p>
        </p:txBody>
      </p:sp>
      <p:sp>
        <p:nvSpPr>
          <p:cNvPr id="14" name="TextBox 13"/>
          <p:cNvSpPr txBox="1"/>
          <p:nvPr/>
        </p:nvSpPr>
        <p:spPr>
          <a:xfrm>
            <a:off x="3022524"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3 mo</a:t>
            </a:r>
          </a:p>
        </p:txBody>
      </p:sp>
      <p:sp>
        <p:nvSpPr>
          <p:cNvPr id="15" name="TextBox 14"/>
          <p:cNvSpPr txBox="1"/>
          <p:nvPr/>
        </p:nvSpPr>
        <p:spPr>
          <a:xfrm>
            <a:off x="3022524"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Teach-back, with the emphasis on índoor wear.</a:t>
            </a:r>
          </a:p>
        </p:txBody>
      </p:sp>
      <p:sp>
        <p:nvSpPr>
          <p:cNvPr id="16" name="Oval 15"/>
          <p:cNvSpPr/>
          <p:nvPr/>
        </p:nvSpPr>
        <p:spPr>
          <a:xfrm>
            <a:off x="516877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5447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32269"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03</a:t>
            </a:r>
          </a:p>
        </p:txBody>
      </p:sp>
      <p:sp>
        <p:nvSpPr>
          <p:cNvPr id="19" name="TextBox 18"/>
          <p:cNvSpPr txBox="1"/>
          <p:nvPr/>
        </p:nvSpPr>
        <p:spPr>
          <a:xfrm>
            <a:off x="5232269"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6 · 12 mo</a:t>
            </a:r>
          </a:p>
        </p:txBody>
      </p:sp>
      <p:sp>
        <p:nvSpPr>
          <p:cNvPr id="20" name="TextBox 19"/>
          <p:cNvSpPr txBox="1"/>
          <p:nvPr/>
        </p:nvSpPr>
        <p:spPr>
          <a:xfrm>
            <a:off x="5232269"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Self-assessment, then reviewing the data together.</a:t>
            </a:r>
          </a:p>
        </p:txBody>
      </p:sp>
      <p:sp>
        <p:nvSpPr>
          <p:cNvPr id="21" name="Oval 20"/>
          <p:cNvSpPr/>
          <p:nvPr/>
        </p:nvSpPr>
        <p:spPr>
          <a:xfrm>
            <a:off x="7378515"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421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42013"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04</a:t>
            </a:r>
          </a:p>
        </p:txBody>
      </p:sp>
      <p:sp>
        <p:nvSpPr>
          <p:cNvPr id="24" name="TextBox 23"/>
          <p:cNvSpPr txBox="1"/>
          <p:nvPr/>
        </p:nvSpPr>
        <p:spPr>
          <a:xfrm>
            <a:off x="7442013"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9 · 15 mo</a:t>
            </a:r>
          </a:p>
        </p:txBody>
      </p:sp>
      <p:sp>
        <p:nvSpPr>
          <p:cNvPr id="25" name="TextBox 24"/>
          <p:cNvSpPr txBox="1"/>
          <p:nvPr/>
        </p:nvSpPr>
        <p:spPr>
          <a:xfrm>
            <a:off x="7442013"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Demonstration, comparing the printout with the previous visit.</a:t>
            </a:r>
          </a:p>
        </p:txBody>
      </p:sp>
      <p:sp>
        <p:nvSpPr>
          <p:cNvPr id="26" name="Oval 25"/>
          <p:cNvSpPr/>
          <p:nvPr/>
        </p:nvSpPr>
        <p:spPr>
          <a:xfrm>
            <a:off x="958826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7396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51758"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05</a:t>
            </a:r>
          </a:p>
        </p:txBody>
      </p:sp>
      <p:sp>
        <p:nvSpPr>
          <p:cNvPr id="29" name="TextBox 28"/>
          <p:cNvSpPr txBox="1"/>
          <p:nvPr/>
        </p:nvSpPr>
        <p:spPr>
          <a:xfrm>
            <a:off x="9651758"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18 mo</a:t>
            </a:r>
          </a:p>
        </p:txBody>
      </p:sp>
      <p:sp>
        <p:nvSpPr>
          <p:cNvPr id="30" name="TextBox 29"/>
          <p:cNvSpPr txBox="1"/>
          <p:nvPr/>
        </p:nvSpPr>
        <p:spPr>
          <a:xfrm>
            <a:off x="9651758"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Closing, and sharing the results.</a:t>
            </a:r>
          </a:p>
        </p:txBody>
      </p:sp>
      <p:sp>
        <p:nvSpPr>
          <p:cNvPr id="31" name="TextBox 3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24 / 33</a:t>
            </a:r>
          </a:p>
        </p:txBody>
      </p:sp>
      <p:pic>
        <p:nvPicPr>
          <p:cNvPr id="32"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3" name="TextBox 32"/>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19 · Michie 2011, COM-B   |   26 · Lincoln 2007, NAFF   |   31 · Keukenkamp 2022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FF7A00"/>
                </a:solidFill>
                <a:latin typeface="Consolas"/>
              </a:rPr>
              <a:t>THE ONE RULE THAT REALLY MATTERS</a:t>
            </a:r>
          </a:p>
        </p:txBody>
      </p:sp>
      <p:sp>
        <p:nvSpPr>
          <p:cNvPr id="4" name="hero"/>
          <p:cNvSpPr txBox="1"/>
          <p:nvPr/>
        </p:nvSpPr>
        <p:spPr>
          <a:xfrm>
            <a:off x="634984" y="1066773"/>
            <a:ext cx="6857828" cy="2539936"/>
          </a:xfrm>
          <a:prstGeom prst="rect">
            <a:avLst/>
          </a:prstGeom>
          <a:noFill/>
        </p:spPr>
        <p:txBody>
          <a:bodyPr wrap="square" anchor="t" lIns="0" rIns="0" tIns="0" bIns="0">
            <a:spAutoFit/>
          </a:bodyPr>
          <a:lstStyle/>
          <a:p>
            <a:pPr algn="l">
              <a:lnSpc>
                <a:spcPct val="108000"/>
              </a:lnSpc>
            </a:pPr>
            <a:r>
              <a:rPr sz="5400" b="1">
                <a:solidFill>
                  <a:srgbClr val="F2F8FC"/>
                </a:solidFill>
                <a:latin typeface="Segoe UI"/>
              </a:rPr>
              <a:t>Measured values do</a:t>
            </a:r>
          </a:p>
          <a:p>
            <a:pPr algn="l">
              <a:lnSpc>
                <a:spcPct val="108000"/>
              </a:lnSpc>
              <a:spcBef>
                <a:spcPts val="500"/>
              </a:spcBef>
            </a:pPr>
            <a:r>
              <a:rPr sz="5400" b="1">
                <a:solidFill>
                  <a:srgbClr val="F2F8FC"/>
                </a:solidFill>
                <a:latin typeface="Segoe UI"/>
              </a:rPr>
              <a:t>not go to the</a:t>
            </a:r>
          </a:p>
          <a:p>
            <a:pPr algn="l">
              <a:lnSpc>
                <a:spcPct val="108000"/>
              </a:lnSpc>
              <a:spcBef>
                <a:spcPts val="500"/>
              </a:spcBef>
            </a:pPr>
            <a:r>
              <a:rPr sz="5400" b="1">
                <a:solidFill>
                  <a:srgbClr val="F2F8FC"/>
                </a:solidFill>
                <a:latin typeface="Segoe UI"/>
              </a:rPr>
              <a:t>control arm</a:t>
            </a:r>
          </a:p>
        </p:txBody>
      </p:sp>
      <p:sp>
        <p:nvSpPr>
          <p:cNvPr id="5" name="Rounded Rectangle 4"/>
          <p:cNvSpPr/>
          <p:nvPr/>
        </p:nvSpPr>
        <p:spPr>
          <a:xfrm>
            <a:off x="634984" y="4101997"/>
            <a:ext cx="6857828" cy="154936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77" y="4381390"/>
            <a:ext cx="6349841" cy="1206469"/>
          </a:xfrm>
          <a:prstGeom prst="rect">
            <a:avLst/>
          </a:prstGeom>
          <a:noFill/>
        </p:spPr>
        <p:txBody>
          <a:bodyPr wrap="square" anchor="t" lIns="0" rIns="0" tIns="0" bIns="0">
            <a:spAutoFit/>
          </a:bodyPr>
          <a:lstStyle/>
          <a:p>
            <a:pPr algn="l">
              <a:lnSpc>
                <a:spcPct val="145000"/>
              </a:lnSpc>
            </a:pPr>
            <a:r>
              <a:rPr sz="1750" b="0">
                <a:solidFill>
                  <a:srgbClr val="8FB6D0"/>
                </a:solidFill>
                <a:latin typeface="Segoe UI"/>
              </a:rPr>
              <a:t>They too undergo pressure measurement and wear a sensor, otherwise the groups cannot be compared. But those numbers stay with you. Discuss them and you have delivered the intervention, and that patient is no longer usable as a control.</a:t>
            </a:r>
          </a:p>
        </p:txBody>
      </p:sp>
      <p:sp>
        <p:nvSpPr>
          <p:cNvPr id="7" name="Rounded Rectangle 6"/>
          <p:cNvSpPr/>
          <p:nvPr/>
        </p:nvSpPr>
        <p:spPr>
          <a:xfrm>
            <a:off x="7873803" y="2031949"/>
            <a:ext cx="3682907" cy="3517812"/>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78595" y="2324041"/>
            <a:ext cx="3111422" cy="241293"/>
          </a:xfrm>
          <a:prstGeom prst="rect">
            <a:avLst/>
          </a:prstGeom>
          <a:noFill/>
        </p:spPr>
        <p:txBody>
          <a:bodyPr wrap="square" anchor="t" lIns="0" rIns="0" tIns="0" bIns="0">
            <a:spAutoFit/>
          </a:bodyPr>
          <a:lstStyle/>
          <a:p>
            <a:pPr algn="l">
              <a:lnSpc>
                <a:spcPct val="125000"/>
              </a:lnSpc>
            </a:pPr>
            <a:r>
              <a:rPr sz="1250" b="1" spc="160">
                <a:solidFill>
                  <a:srgbClr val="FF7A00"/>
                </a:solidFill>
                <a:latin typeface="Consolas"/>
              </a:rPr>
              <a:t>EXCEPTION</a:t>
            </a:r>
          </a:p>
        </p:txBody>
      </p:sp>
      <p:sp>
        <p:nvSpPr>
          <p:cNvPr id="9" name="TextBox 8"/>
          <p:cNvSpPr txBox="1"/>
          <p:nvPr/>
        </p:nvSpPr>
        <p:spPr>
          <a:xfrm>
            <a:off x="8178595" y="2730431"/>
            <a:ext cx="3111422" cy="2539936"/>
          </a:xfrm>
          <a:prstGeom prst="rect">
            <a:avLst/>
          </a:prstGeom>
          <a:noFill/>
        </p:spPr>
        <p:txBody>
          <a:bodyPr wrap="square" anchor="t" lIns="0" rIns="0" tIns="0" bIns="0">
            <a:spAutoFit/>
          </a:bodyPr>
          <a:lstStyle/>
          <a:p>
            <a:pPr algn="l">
              <a:lnSpc>
                <a:spcPct val="145000"/>
              </a:lnSpc>
            </a:pPr>
            <a:r>
              <a:rPr sz="1800" b="0">
                <a:solidFill>
                  <a:srgbClr val="F2F8FC"/>
                </a:solidFill>
                <a:latin typeface="Segoe UI"/>
              </a:rPr>
              <a:t>Clinical findings are not measured values. Any lesion or skin defect is reported and treated immediately. In both arms.</a:t>
            </a:r>
          </a:p>
        </p:txBody>
      </p:sp>
      <p:sp>
        <p:nvSpPr>
          <p:cNvPr id="10" name="TextBox 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25 / 33</a:t>
            </a:r>
          </a:p>
        </p:txBody>
      </p:sp>
      <p:pic>
        <p:nvPicPr>
          <p:cNvPr id="1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2" name="TextBox 1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04</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BLOCK 04</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Endpoints and analysis</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One endpoint, and the mediator that explains it.</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26 / 33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SAMPLE SIZE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Powered on recurrence</a:t>
            </a:r>
          </a:p>
        </p:txBody>
      </p:sp>
      <p:sp>
        <p:nvSpPr>
          <p:cNvPr id="5" name="Rounded Rectangle 4"/>
          <p:cNvSpPr/>
          <p:nvPr/>
        </p:nvSpPr>
        <p:spPr>
          <a:xfrm>
            <a:off x="634984" y="1816054"/>
            <a:ext cx="5384538" cy="353228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578" y="1993850"/>
            <a:ext cx="4927349" cy="253993"/>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PRIMARY ENDPOINT</a:t>
            </a:r>
          </a:p>
        </p:txBody>
      </p:sp>
      <p:sp>
        <p:nvSpPr>
          <p:cNvPr id="7" name="TextBox 6"/>
          <p:cNvSpPr txBox="1"/>
          <p:nvPr/>
        </p:nvSpPr>
        <p:spPr>
          <a:xfrm>
            <a:off x="863578" y="2260543"/>
            <a:ext cx="4927349" cy="444488"/>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Ulcer recurrence at 18 months</a:t>
            </a:r>
          </a:p>
        </p:txBody>
      </p:sp>
      <p:sp>
        <p:nvSpPr>
          <p:cNvPr id="8" name="Rectangle 7"/>
          <p:cNvSpPr/>
          <p:nvPr/>
        </p:nvSpPr>
        <p:spPr>
          <a:xfrm>
            <a:off x="863578" y="2717732"/>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578" y="2819329"/>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Assumed, control</a:t>
            </a:r>
          </a:p>
        </p:txBody>
      </p:sp>
      <p:sp>
        <p:nvSpPr>
          <p:cNvPr id="10" name="TextBox 9"/>
          <p:cNvSpPr txBox="1"/>
          <p:nvPr/>
        </p:nvSpPr>
        <p:spPr>
          <a:xfrm>
            <a:off x="2539936" y="2806629"/>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50% recurrence</a:t>
            </a:r>
          </a:p>
        </p:txBody>
      </p:sp>
      <p:sp>
        <p:nvSpPr>
          <p:cNvPr id="11" name="Rectangle 10"/>
          <p:cNvSpPr/>
          <p:nvPr/>
        </p:nvSpPr>
        <p:spPr>
          <a:xfrm>
            <a:off x="863578" y="3127017"/>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578" y="3228614"/>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Assumed, intervention</a:t>
            </a:r>
          </a:p>
        </p:txBody>
      </p:sp>
      <p:sp>
        <p:nvSpPr>
          <p:cNvPr id="13" name="TextBox 12"/>
          <p:cNvSpPr txBox="1"/>
          <p:nvPr/>
        </p:nvSpPr>
        <p:spPr>
          <a:xfrm>
            <a:off x="2539936" y="3215915"/>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25%, hazard ratio 0.42</a:t>
            </a:r>
          </a:p>
        </p:txBody>
      </p:sp>
      <p:sp>
        <p:nvSpPr>
          <p:cNvPr id="14" name="Rectangle 13"/>
          <p:cNvSpPr/>
          <p:nvPr/>
        </p:nvSpPr>
        <p:spPr>
          <a:xfrm>
            <a:off x="863578" y="3536302"/>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578" y="3637900"/>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Test</a:t>
            </a:r>
          </a:p>
        </p:txBody>
      </p:sp>
      <p:sp>
        <p:nvSpPr>
          <p:cNvPr id="16" name="TextBox 15"/>
          <p:cNvSpPr txBox="1"/>
          <p:nvPr/>
        </p:nvSpPr>
        <p:spPr>
          <a:xfrm>
            <a:off x="2539936" y="3625200"/>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log-rank, two-sided, α = 0.05</a:t>
            </a:r>
          </a:p>
        </p:txBody>
      </p:sp>
      <p:sp>
        <p:nvSpPr>
          <p:cNvPr id="17" name="Rectangle 16"/>
          <p:cNvSpPr/>
          <p:nvPr/>
        </p:nvSpPr>
        <p:spPr>
          <a:xfrm>
            <a:off x="863578" y="3945588"/>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3578" y="4047185"/>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Power</a:t>
            </a:r>
          </a:p>
        </p:txBody>
      </p:sp>
      <p:sp>
        <p:nvSpPr>
          <p:cNvPr id="19" name="TextBox 18"/>
          <p:cNvSpPr txBox="1"/>
          <p:nvPr/>
        </p:nvSpPr>
        <p:spPr>
          <a:xfrm>
            <a:off x="2539936" y="4034485"/>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80% → 41 events required</a:t>
            </a:r>
          </a:p>
        </p:txBody>
      </p:sp>
      <p:sp>
        <p:nvSpPr>
          <p:cNvPr id="20" name="Rectangle 19"/>
          <p:cNvSpPr/>
          <p:nvPr/>
        </p:nvSpPr>
        <p:spPr>
          <a:xfrm>
            <a:off x="863578" y="4354873"/>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3578" y="4456470"/>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Attrition</a:t>
            </a:r>
          </a:p>
        </p:txBody>
      </p:sp>
      <p:sp>
        <p:nvSpPr>
          <p:cNvPr id="22" name="TextBox 21"/>
          <p:cNvSpPr txBox="1"/>
          <p:nvPr/>
        </p:nvSpPr>
        <p:spPr>
          <a:xfrm>
            <a:off x="2539936" y="4443771"/>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15%</a:t>
            </a:r>
          </a:p>
        </p:txBody>
      </p:sp>
      <p:sp>
        <p:nvSpPr>
          <p:cNvPr id="23" name="Rounded Rectangle 22"/>
          <p:cNvSpPr/>
          <p:nvPr/>
        </p:nvSpPr>
        <p:spPr>
          <a:xfrm>
            <a:off x="863578" y="4827657"/>
            <a:ext cx="4927349" cy="317492"/>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3578" y="4903855"/>
            <a:ext cx="4927349" cy="253993"/>
          </a:xfrm>
          <a:prstGeom prst="rect">
            <a:avLst/>
          </a:prstGeom>
          <a:noFill/>
        </p:spPr>
        <p:txBody>
          <a:bodyPr wrap="square" anchor="t" lIns="0" rIns="0" tIns="0" bIns="0">
            <a:spAutoFit/>
          </a:bodyPr>
          <a:lstStyle/>
          <a:p>
            <a:pPr algn="ctr">
              <a:lnSpc>
                <a:spcPct val="125000"/>
              </a:lnSpc>
            </a:pPr>
            <a:r>
              <a:rPr sz="1600" b="1">
                <a:solidFill>
                  <a:srgbClr val="52BDEC"/>
                </a:solidFill>
                <a:latin typeface="Consolas"/>
              </a:rPr>
              <a:t>108 → 127 with attrition → 130 stratified</a:t>
            </a:r>
          </a:p>
        </p:txBody>
      </p:sp>
      <p:sp>
        <p:nvSpPr>
          <p:cNvPr id="25" name="Rounded Rectangle 24"/>
          <p:cNvSpPr/>
          <p:nvPr/>
        </p:nvSpPr>
        <p:spPr>
          <a:xfrm>
            <a:off x="6171918" y="1816054"/>
            <a:ext cx="5384538" cy="353228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512" y="1993850"/>
            <a:ext cx="4927349" cy="253993"/>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MEDIATOR</a:t>
            </a:r>
          </a:p>
        </p:txBody>
      </p:sp>
      <p:sp>
        <p:nvSpPr>
          <p:cNvPr id="27" name="TextBox 26"/>
          <p:cNvSpPr txBox="1"/>
          <p:nvPr/>
        </p:nvSpPr>
        <p:spPr>
          <a:xfrm>
            <a:off x="6400512" y="2260543"/>
            <a:ext cx="4927349" cy="444488"/>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Footwear adherence at 12 months</a:t>
            </a:r>
          </a:p>
        </p:txBody>
      </p:sp>
      <p:sp>
        <p:nvSpPr>
          <p:cNvPr id="28" name="Rectangle 27"/>
          <p:cNvSpPr/>
          <p:nvPr/>
        </p:nvSpPr>
        <p:spPr>
          <a:xfrm>
            <a:off x="6400512" y="2717732"/>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512" y="2819329"/>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Assumed, control</a:t>
            </a:r>
          </a:p>
        </p:txBody>
      </p:sp>
      <p:sp>
        <p:nvSpPr>
          <p:cNvPr id="30" name="TextBox 29"/>
          <p:cNvSpPr txBox="1"/>
          <p:nvPr/>
        </p:nvSpPr>
        <p:spPr>
          <a:xfrm>
            <a:off x="8076871" y="2806629"/>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71%, SD 25%</a:t>
            </a:r>
          </a:p>
        </p:txBody>
      </p:sp>
      <p:sp>
        <p:nvSpPr>
          <p:cNvPr id="31" name="Rectangle 30"/>
          <p:cNvSpPr/>
          <p:nvPr/>
        </p:nvSpPr>
        <p:spPr>
          <a:xfrm>
            <a:off x="6400512" y="3127017"/>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512" y="3228614"/>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Assumed, intervention</a:t>
            </a:r>
          </a:p>
        </p:txBody>
      </p:sp>
      <p:sp>
        <p:nvSpPr>
          <p:cNvPr id="33" name="TextBox 32"/>
          <p:cNvSpPr txBox="1"/>
          <p:nvPr/>
        </p:nvSpPr>
        <p:spPr>
          <a:xfrm>
            <a:off x="8076871" y="3215915"/>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85%, effect size 0.56</a:t>
            </a:r>
          </a:p>
        </p:txBody>
      </p:sp>
      <p:sp>
        <p:nvSpPr>
          <p:cNvPr id="34" name="Rectangle 33"/>
          <p:cNvSpPr/>
          <p:nvPr/>
        </p:nvSpPr>
        <p:spPr>
          <a:xfrm>
            <a:off x="6400512" y="3536302"/>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512" y="3637900"/>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Role</a:t>
            </a:r>
          </a:p>
        </p:txBody>
      </p:sp>
      <p:sp>
        <p:nvSpPr>
          <p:cNvPr id="36" name="TextBox 35"/>
          <p:cNvSpPr txBox="1"/>
          <p:nvPr/>
        </p:nvSpPr>
        <p:spPr>
          <a:xfrm>
            <a:off x="8076871" y="3625200"/>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prespecified mediator</a:t>
            </a:r>
          </a:p>
        </p:txBody>
      </p:sp>
      <p:sp>
        <p:nvSpPr>
          <p:cNvPr id="37" name="Rectangle 36"/>
          <p:cNvSpPr/>
          <p:nvPr/>
        </p:nvSpPr>
        <p:spPr>
          <a:xfrm>
            <a:off x="6400512" y="3945588"/>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512" y="4047185"/>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Own criterion</a:t>
            </a:r>
          </a:p>
        </p:txBody>
      </p:sp>
      <p:sp>
        <p:nvSpPr>
          <p:cNvPr id="39" name="TextBox 38"/>
          <p:cNvSpPr txBox="1"/>
          <p:nvPr/>
        </p:nvSpPr>
        <p:spPr>
          <a:xfrm>
            <a:off x="8076871" y="4034485"/>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geen</a:t>
            </a:r>
          </a:p>
        </p:txBody>
      </p:sp>
      <p:sp>
        <p:nvSpPr>
          <p:cNvPr id="40" name="Rectangle 39"/>
          <p:cNvSpPr/>
          <p:nvPr/>
        </p:nvSpPr>
        <p:spPr>
          <a:xfrm>
            <a:off x="6400512" y="4354873"/>
            <a:ext cx="492734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512" y="4456470"/>
            <a:ext cx="1587460" cy="215894"/>
          </a:xfrm>
          <a:prstGeom prst="rect">
            <a:avLst/>
          </a:prstGeom>
          <a:noFill/>
        </p:spPr>
        <p:txBody>
          <a:bodyPr wrap="none" anchor="t" lIns="0" rIns="0" tIns="0" bIns="0">
            <a:spAutoFit/>
          </a:bodyPr>
          <a:lstStyle/>
          <a:p>
            <a:pPr algn="l">
              <a:lnSpc>
                <a:spcPct val="125000"/>
              </a:lnSpc>
            </a:pPr>
            <a:r>
              <a:rPr sz="1300" b="0">
                <a:solidFill>
                  <a:srgbClr val="8FB6D0"/>
                </a:solidFill>
                <a:latin typeface="Segoe UI"/>
              </a:rPr>
              <a:t>Measured in full</a:t>
            </a:r>
          </a:p>
        </p:txBody>
      </p:sp>
      <p:sp>
        <p:nvSpPr>
          <p:cNvPr id="42" name="TextBox 41"/>
          <p:cNvSpPr txBox="1"/>
          <p:nvPr/>
        </p:nvSpPr>
        <p:spPr>
          <a:xfrm>
            <a:off x="8076871" y="4443771"/>
            <a:ext cx="3250991" cy="333087"/>
          </a:xfrm>
          <a:prstGeom prst="rect">
            <a:avLst/>
          </a:prstGeom>
          <a:noFill/>
        </p:spPr>
        <p:txBody>
          <a:bodyPr wrap="square" anchor="t" lIns="0" rIns="0" tIns="0" bIns="0">
            <a:spAutoFit/>
          </a:bodyPr>
          <a:lstStyle/>
          <a:p>
            <a:pPr algn="l">
              <a:lnSpc>
                <a:spcPct val="120000"/>
              </a:lnSpc>
            </a:pPr>
            <a:r>
              <a:rPr sz="1450" b="1">
                <a:solidFill>
                  <a:srgbClr val="F2F8FC"/>
                </a:solidFill>
                <a:latin typeface="Segoe UI"/>
              </a:rPr>
              <a:t>7 days a week, every 3 months</a:t>
            </a:r>
          </a:p>
        </p:txBody>
      </p:sp>
      <p:sp>
        <p:nvSpPr>
          <p:cNvPr id="43" name="Rounded Rectangle 42"/>
          <p:cNvSpPr/>
          <p:nvPr/>
        </p:nvSpPr>
        <p:spPr>
          <a:xfrm>
            <a:off x="6400512" y="4827657"/>
            <a:ext cx="4927349" cy="317492"/>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512" y="4903855"/>
            <a:ext cx="4927349" cy="253993"/>
          </a:xfrm>
          <a:prstGeom prst="rect">
            <a:avLst/>
          </a:prstGeom>
          <a:noFill/>
        </p:spPr>
        <p:txBody>
          <a:bodyPr wrap="square" anchor="t" lIns="0" rIns="0" tIns="0" bIns="0">
            <a:spAutoFit/>
          </a:bodyPr>
          <a:lstStyle/>
          <a:p>
            <a:pPr algn="ctr">
              <a:lnSpc>
                <a:spcPct val="125000"/>
              </a:lnSpc>
            </a:pPr>
            <a:r>
              <a:rPr sz="1600" b="1">
                <a:solidFill>
                  <a:srgbClr val="52BDEC"/>
                </a:solidFill>
                <a:latin typeface="Consolas"/>
              </a:rPr>
              <a:t>amply covered at 144</a:t>
            </a:r>
          </a:p>
        </p:txBody>
      </p:sp>
      <p:sp>
        <p:nvSpPr>
          <p:cNvPr id="45" name="Rounded Rectangle 44"/>
          <p:cNvSpPr/>
          <p:nvPr/>
        </p:nvSpPr>
        <p:spPr>
          <a:xfrm>
            <a:off x="634984" y="5462641"/>
            <a:ext cx="10921726" cy="1106980"/>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9776" y="5576938"/>
            <a:ext cx="4444888" cy="215894"/>
          </a:xfrm>
          <a:prstGeom prst="rect">
            <a:avLst/>
          </a:prstGeom>
          <a:noFill/>
        </p:spPr>
        <p:txBody>
          <a:bodyPr wrap="none" anchor="t" lIns="0" rIns="0" tIns="0" bIns="0">
            <a:spAutoFit/>
          </a:bodyPr>
          <a:lstStyle/>
          <a:p>
            <a:pPr algn="l">
              <a:lnSpc>
                <a:spcPct val="125000"/>
              </a:lnSpc>
            </a:pPr>
            <a:r>
              <a:rPr sz="1250" b="1" spc="150">
                <a:solidFill>
                  <a:srgbClr val="FF7A00"/>
                </a:solidFill>
                <a:latin typeface="Consolas"/>
              </a:rPr>
              <a:t>SO WHY 144</a:t>
            </a:r>
          </a:p>
        </p:txBody>
      </p:sp>
      <p:sp>
        <p:nvSpPr>
          <p:cNvPr id="47" name="TextBox 46"/>
          <p:cNvSpPr txBox="1"/>
          <p:nvPr/>
        </p:nvSpPr>
        <p:spPr>
          <a:xfrm>
            <a:off x="939776" y="5805532"/>
            <a:ext cx="10286742" cy="738689"/>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Six centres times 24 is 144. That figure comes from per-centre recruitment capacity rather than from the calculation, and it exceeds the minimum of 130.</a:t>
            </a:r>
          </a:p>
        </p:txBody>
      </p:sp>
      <p:sp>
        <p:nvSpPr>
          <p:cNvPr id="48" name="TextBox 4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27 / 33</a:t>
            </a:r>
          </a:p>
        </p:txBody>
      </p:sp>
      <p:pic>
        <p:nvPicPr>
          <p:cNvPr id="49"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50" name="TextBox 4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9 · Bus 2013, DIAFOS   |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WHY ADHERENCE IS NOT A SECOND ENDPOINT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The mediator carries the explanation, not the verdict</a:t>
            </a:r>
          </a:p>
        </p:txBody>
      </p:sp>
      <p:sp>
        <p:nvSpPr>
          <p:cNvPr id="5" name="TextBox 4"/>
          <p:cNvSpPr txBox="1"/>
          <p:nvPr/>
        </p:nvSpPr>
        <p:spPr>
          <a:xfrm>
            <a:off x="634984" y="1676358"/>
            <a:ext cx="8889777" cy="279393"/>
          </a:xfrm>
          <a:prstGeom prst="rect">
            <a:avLst/>
          </a:prstGeom>
          <a:noFill/>
        </p:spPr>
        <p:txBody>
          <a:bodyPr wrap="square" anchor="t" lIns="0" rIns="0" tIns="0" bIns="0">
            <a:spAutoFit/>
          </a:bodyPr>
          <a:lstStyle/>
          <a:p>
            <a:pPr algn="l">
              <a:lnSpc>
                <a:spcPct val="125000"/>
              </a:lnSpc>
            </a:pPr>
            <a:r>
              <a:rPr sz="1650" b="0">
                <a:solidFill>
                  <a:srgbClr val="8FB6D0"/>
                </a:solidFill>
                <a:latin typeface="Segoe UI"/>
              </a:rPr>
              <a:t>The trial is positive if recurrence falls significantly. Adherence says whý.</a:t>
            </a:r>
          </a:p>
        </p:txBody>
      </p:sp>
      <p:sp>
        <p:nvSpPr>
          <p:cNvPr id="6" name="Rounded Rectangle 5"/>
          <p:cNvSpPr/>
          <p:nvPr/>
        </p:nvSpPr>
        <p:spPr>
          <a:xfrm>
            <a:off x="634984" y="2133546"/>
            <a:ext cx="5384538" cy="77468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179" y="2273243"/>
            <a:ext cx="4978148" cy="228594"/>
          </a:xfrm>
          <a:prstGeom prst="rect">
            <a:avLst/>
          </a:prstGeom>
          <a:noFill/>
        </p:spPr>
        <p:txBody>
          <a:bodyPr wrap="square" anchor="t" lIns="0" rIns="0" tIns="0" bIns="0">
            <a:spAutoFit/>
          </a:bodyPr>
          <a:lstStyle/>
          <a:p>
            <a:pPr algn="l">
              <a:lnSpc>
                <a:spcPct val="125000"/>
              </a:lnSpc>
            </a:pPr>
            <a:r>
              <a:rPr sz="1250" b="1" spc="140">
                <a:solidFill>
                  <a:srgbClr val="52BDEC"/>
                </a:solidFill>
                <a:latin typeface="Consolas"/>
              </a:rPr>
              <a:t>POWER ON RECURRENCE</a:t>
            </a:r>
          </a:p>
        </p:txBody>
      </p:sp>
      <p:sp>
        <p:nvSpPr>
          <p:cNvPr id="8" name="TextBox 7"/>
          <p:cNvSpPr txBox="1"/>
          <p:nvPr/>
        </p:nvSpPr>
        <p:spPr>
          <a:xfrm>
            <a:off x="838179" y="2539936"/>
            <a:ext cx="4978148" cy="292092"/>
          </a:xfrm>
          <a:prstGeom prst="rect">
            <a:avLst/>
          </a:prstGeom>
          <a:noFill/>
        </p:spPr>
        <p:txBody>
          <a:bodyPr wrap="square" anchor="t" lIns="0" rIns="0" tIns="0" bIns="0">
            <a:spAutoFit/>
          </a:bodyPr>
          <a:lstStyle/>
          <a:p>
            <a:pPr algn="l">
              <a:lnSpc>
                <a:spcPct val="125000"/>
              </a:lnSpc>
            </a:pPr>
            <a:r>
              <a:rPr sz="1700" b="0">
                <a:solidFill>
                  <a:srgbClr val="F2F8FC"/>
                </a:solidFill>
                <a:latin typeface="Segoe UI"/>
              </a:rPr>
              <a:t>84% — and 90% with complete follow-up</a:t>
            </a:r>
          </a:p>
        </p:txBody>
      </p:sp>
      <p:sp>
        <p:nvSpPr>
          <p:cNvPr id="9" name="Rounded Rectangle 8"/>
          <p:cNvSpPr/>
          <p:nvPr/>
        </p:nvSpPr>
        <p:spPr>
          <a:xfrm>
            <a:off x="6171918" y="2133546"/>
            <a:ext cx="5384538" cy="77468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113" y="2273243"/>
            <a:ext cx="4978148" cy="228594"/>
          </a:xfrm>
          <a:prstGeom prst="rect">
            <a:avLst/>
          </a:prstGeom>
          <a:noFill/>
        </p:spPr>
        <p:txBody>
          <a:bodyPr wrap="square" anchor="t" lIns="0" rIns="0" tIns="0" bIns="0">
            <a:spAutoFit/>
          </a:bodyPr>
          <a:lstStyle/>
          <a:p>
            <a:pPr algn="l">
              <a:lnSpc>
                <a:spcPct val="125000"/>
              </a:lnSpc>
            </a:pPr>
            <a:r>
              <a:rPr sz="1250" b="1" spc="140">
                <a:solidFill>
                  <a:srgbClr val="52BDEC"/>
                </a:solidFill>
                <a:latin typeface="Consolas"/>
              </a:rPr>
              <a:t>WHAT THE MEDIATOR IS FOR</a:t>
            </a:r>
          </a:p>
        </p:txBody>
      </p:sp>
      <p:sp>
        <p:nvSpPr>
          <p:cNvPr id="11" name="TextBox 10"/>
          <p:cNvSpPr txBox="1"/>
          <p:nvPr/>
        </p:nvSpPr>
        <p:spPr>
          <a:xfrm>
            <a:off x="6375113" y="2539936"/>
            <a:ext cx="4978148" cy="292092"/>
          </a:xfrm>
          <a:prstGeom prst="rect">
            <a:avLst/>
          </a:prstGeom>
          <a:noFill/>
        </p:spPr>
        <p:txBody>
          <a:bodyPr wrap="square" anchor="t" lIns="0" rIns="0" tIns="0" bIns="0">
            <a:spAutoFit/>
          </a:bodyPr>
          <a:lstStyle/>
          <a:p>
            <a:pPr algn="l">
              <a:lnSpc>
                <a:spcPct val="125000"/>
              </a:lnSpc>
            </a:pPr>
            <a:r>
              <a:rPr sz="1700" b="0">
                <a:solidFill>
                  <a:srgbClr val="F2F8FC"/>
                </a:solidFill>
                <a:latin typeface="Segoe UI"/>
              </a:rPr>
              <a:t>decomposing the effect into pressure and wear time, prespecified</a:t>
            </a:r>
          </a:p>
        </p:txBody>
      </p:sp>
      <p:sp>
        <p:nvSpPr>
          <p:cNvPr id="12" name="Rounded Rectangle 11"/>
          <p:cNvSpPr/>
          <p:nvPr/>
        </p:nvSpPr>
        <p:spPr>
          <a:xfrm>
            <a:off x="634984" y="3035224"/>
            <a:ext cx="5384538" cy="77468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179" y="3174920"/>
            <a:ext cx="4978148" cy="228594"/>
          </a:xfrm>
          <a:prstGeom prst="rect">
            <a:avLst/>
          </a:prstGeom>
          <a:noFill/>
        </p:spPr>
        <p:txBody>
          <a:bodyPr wrap="square" anchor="t" lIns="0" rIns="0" tIns="0" bIns="0">
            <a:spAutoFit/>
          </a:bodyPr>
          <a:lstStyle/>
          <a:p>
            <a:pPr algn="l">
              <a:lnSpc>
                <a:spcPct val="125000"/>
              </a:lnSpc>
            </a:pPr>
            <a:r>
              <a:rPr sz="1250" b="1" spc="140">
                <a:solidFill>
                  <a:srgbClr val="52BDEC"/>
                </a:solidFill>
                <a:latin typeface="Consolas"/>
              </a:rPr>
              <a:t>ANALYSIS POINT</a:t>
            </a:r>
          </a:p>
        </p:txBody>
      </p:sp>
      <p:sp>
        <p:nvSpPr>
          <p:cNvPr id="14" name="TextBox 13"/>
          <p:cNvSpPr txBox="1"/>
          <p:nvPr/>
        </p:nvSpPr>
        <p:spPr>
          <a:xfrm>
            <a:off x="838179" y="3441613"/>
            <a:ext cx="4978148" cy="292092"/>
          </a:xfrm>
          <a:prstGeom prst="rect">
            <a:avLst/>
          </a:prstGeom>
          <a:noFill/>
        </p:spPr>
        <p:txBody>
          <a:bodyPr wrap="square" anchor="t" lIns="0" rIns="0" tIns="0" bIns="0">
            <a:spAutoFit/>
          </a:bodyPr>
          <a:lstStyle/>
          <a:p>
            <a:pPr algn="l">
              <a:lnSpc>
                <a:spcPct val="125000"/>
              </a:lnSpc>
            </a:pPr>
            <a:r>
              <a:rPr sz="1700" b="0">
                <a:solidFill>
                  <a:srgbClr val="F2F8FC"/>
                </a:solidFill>
                <a:latin typeface="Segoe UI"/>
              </a:rPr>
              <a:t>12 months, with the full 18-month profile as a secondary summary</a:t>
            </a:r>
          </a:p>
        </p:txBody>
      </p:sp>
      <p:sp>
        <p:nvSpPr>
          <p:cNvPr id="15" name="Rounded Rectangle 14"/>
          <p:cNvSpPr/>
          <p:nvPr/>
        </p:nvSpPr>
        <p:spPr>
          <a:xfrm>
            <a:off x="6171918" y="3035224"/>
            <a:ext cx="5384538" cy="77468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113" y="3174920"/>
            <a:ext cx="4978148" cy="228594"/>
          </a:xfrm>
          <a:prstGeom prst="rect">
            <a:avLst/>
          </a:prstGeom>
          <a:noFill/>
        </p:spPr>
        <p:txBody>
          <a:bodyPr wrap="square" anchor="t" lIns="0" rIns="0" tIns="0" bIns="0">
            <a:spAutoFit/>
          </a:bodyPr>
          <a:lstStyle/>
          <a:p>
            <a:pPr algn="l">
              <a:lnSpc>
                <a:spcPct val="125000"/>
              </a:lnSpc>
            </a:pPr>
            <a:r>
              <a:rPr sz="1250" b="1" spc="140">
                <a:solidFill>
                  <a:srgbClr val="52BDEC"/>
                </a:solidFill>
                <a:latin typeface="Consolas"/>
              </a:rPr>
              <a:t>AT HALF THE EFFECT SIZE</a:t>
            </a:r>
          </a:p>
        </p:txBody>
      </p:sp>
      <p:sp>
        <p:nvSpPr>
          <p:cNvPr id="17" name="TextBox 16"/>
          <p:cNvSpPr txBox="1"/>
          <p:nvPr/>
        </p:nvSpPr>
        <p:spPr>
          <a:xfrm>
            <a:off x="6375113" y="3441613"/>
            <a:ext cx="4978148" cy="292092"/>
          </a:xfrm>
          <a:prstGeom prst="rect">
            <a:avLst/>
          </a:prstGeom>
          <a:noFill/>
        </p:spPr>
        <p:txBody>
          <a:bodyPr wrap="square" anchor="t" lIns="0" rIns="0" tIns="0" bIns="0">
            <a:spAutoFit/>
          </a:bodyPr>
          <a:lstStyle/>
          <a:p>
            <a:pPr algn="l">
              <a:lnSpc>
                <a:spcPct val="125000"/>
              </a:lnSpc>
            </a:pPr>
            <a:r>
              <a:rPr sz="1700" b="0">
                <a:solidFill>
                  <a:srgbClr val="F2F8FC"/>
                </a:solidFill>
                <a:latin typeface="Segoe UI"/>
              </a:rPr>
              <a:t>64% at 30% · 40% at 35%</a:t>
            </a:r>
          </a:p>
        </p:txBody>
      </p:sp>
      <p:sp>
        <p:nvSpPr>
          <p:cNvPr id="18" name="Rounded Rectangle 17"/>
          <p:cNvSpPr/>
          <p:nvPr/>
        </p:nvSpPr>
        <p:spPr>
          <a:xfrm>
            <a:off x="634984" y="4101997"/>
            <a:ext cx="10921726" cy="1769776"/>
          </a:xfrm>
          <a:prstGeom prst="roundRect">
            <a:avLst>
              <a:gd name="adj" fmla="val 4500"/>
            </a:avLst>
          </a:prstGeom>
          <a:solidFill>
            <a:srgbClr val="113A57"/>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2476" y="4394090"/>
            <a:ext cx="10286742" cy="1312588"/>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Two co-primary endpoints would place the bar at the intersection and push joint power down to 74%. One endpoint plus a prespecified mediator tests the same causal model without that cost.</a:t>
            </a:r>
          </a:p>
        </p:txBody>
      </p:sp>
      <p:sp>
        <p:nvSpPr>
          <p:cNvPr id="20" name="TextBox 1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28 / 33</a:t>
            </a:r>
          </a:p>
        </p:txBody>
      </p:sp>
      <p:pic>
        <p:nvPicPr>
          <p:cNvPr id="2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2" name="TextBox 2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ANALYSIS PLAN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How we test it</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Recurrence</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Cox regression stratified by centre, with allocation as the only covariate. Death is a competing risk, not censoring: Fine-Gray and cumulative incidence alongside.</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primary</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Adherence</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Beta regression with a logit link, since it is a proportion with a ceiling, followed by causal mediation analysis on recurrence.</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mediator</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Intercurrent events</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A recurrence is the intercurrent event for the mediator: a patient who ulcerates rightly stops wearing the insole. Hypothetical strategy for adherence.</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estimand</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Missing data</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Multiple imputation, 50 datasets. A tipping-point analysis shows how extreme a departure would have to be to overturn the conclusion.</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MAR</a:t>
            </a:r>
          </a:p>
        </p:txBody>
      </p:sp>
      <p:sp>
        <p:nvSpPr>
          <p:cNvPr id="21" name="Rounded Rectangle 20"/>
          <p:cNvSpPr/>
          <p:nvPr/>
        </p:nvSpPr>
        <p:spPr>
          <a:xfrm>
            <a:off x="634984" y="4992194"/>
            <a:ext cx="10921726" cy="1116352"/>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169989"/>
            <a:ext cx="10286742" cy="760761"/>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One primary endpoint, so no intersection-union and no multiplicity correction. The mediation analysis is explanatory and carries no success criterion of its own.</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29 / 33</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21 · SPIRIT 2025   |   24 · CONSORT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WHAT RUNS ALONGSIDE THE TRIAL</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Two evaluations, in parallel</a:t>
            </a:r>
          </a:p>
        </p:txBody>
      </p:sp>
      <p:sp>
        <p:nvSpPr>
          <p:cNvPr id="5" name="Rounded Rectangle 4"/>
          <p:cNvSpPr/>
          <p:nvPr/>
        </p:nvSpPr>
        <p:spPr>
          <a:xfrm>
            <a:off x="634984" y="2031949"/>
            <a:ext cx="5384538" cy="441948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Health-economic evaluation</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Cost-utility, payer perspective</a:t>
            </a:r>
          </a:p>
        </p:txBody>
      </p:sp>
      <p:sp>
        <p:nvSpPr>
          <p:cNvPr id="10" name="TextBox 9"/>
          <p:cNvSpPr txBox="1"/>
          <p:nvPr/>
        </p:nvSpPr>
        <p:spPr>
          <a:xfrm>
            <a:off x="888977" y="4165495"/>
            <a:ext cx="4876551" cy="2109478"/>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EQ-5D-5L every three months, valued with the Belgian value set.</a:t>
            </a:r>
          </a:p>
          <a:p>
            <a:pPr algn="l">
              <a:lnSpc>
                <a:spcPct val="132000"/>
              </a:lnSpc>
              <a:spcBef>
                <a:spcPts val="1200"/>
              </a:spcBef>
            </a:pPr>
            <a:r>
              <a:rPr sz="1450" b="0">
                <a:solidFill>
                  <a:srgbClr val="8FB6D0"/>
                </a:solidFill>
                <a:latin typeface="Segoe UI"/>
              </a:rPr>
              <a:t>Resource use collected prospectively with the iMCQ and iPCQ, plus diary and medical records.</a:t>
            </a:r>
          </a:p>
          <a:p>
            <a:pPr algn="l">
              <a:lnSpc>
                <a:spcPct val="132000"/>
              </a:lnSpc>
              <a:spcBef>
                <a:spcPts val="1200"/>
              </a:spcBef>
            </a:pPr>
            <a:r>
              <a:rPr sz="1450" b="0">
                <a:solidFill>
                  <a:srgbClr val="8FB6D0"/>
                </a:solidFill>
                <a:latin typeface="Segoe UI"/>
              </a:rPr>
              <a:t>Markov extrapolation to five years. Cost per ulcer prevented and cost per QALY, reported side by side.</a:t>
            </a:r>
          </a:p>
        </p:txBody>
      </p:sp>
      <p:sp>
        <p:nvSpPr>
          <p:cNvPr id="11" name="Rounded Rectangle 10"/>
          <p:cNvSpPr/>
          <p:nvPr/>
        </p:nvSpPr>
        <p:spPr>
          <a:xfrm>
            <a:off x="6171918" y="2031949"/>
            <a:ext cx="5384538" cy="441948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Process evaluation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MRC framework, three domains</a:t>
            </a:r>
          </a:p>
        </p:txBody>
      </p:sp>
      <p:sp>
        <p:nvSpPr>
          <p:cNvPr id="16" name="TextBox 15"/>
          <p:cNvSpPr txBox="1"/>
          <p:nvPr/>
        </p:nvSpPr>
        <p:spPr>
          <a:xfrm>
            <a:off x="6425912" y="4165495"/>
            <a:ext cx="4876551" cy="2109478"/>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Implementation: fidelity, dose, reach, adaptations.</a:t>
            </a:r>
          </a:p>
          <a:p>
            <a:pPr algn="l">
              <a:lnSpc>
                <a:spcPct val="132000"/>
              </a:lnSpc>
              <a:spcBef>
                <a:spcPts val="1200"/>
              </a:spcBef>
            </a:pPr>
            <a:r>
              <a:rPr sz="1450" b="0">
                <a:solidFill>
                  <a:srgbClr val="8FB6D0"/>
                </a:solidFill>
                <a:latin typeface="Segoe UI"/>
              </a:rPr>
              <a:t>Mechanisms and context: what governs delivery at each centre.</a:t>
            </a:r>
          </a:p>
          <a:p>
            <a:pPr algn="l">
              <a:lnSpc>
                <a:spcPct val="132000"/>
              </a:lnSpc>
              <a:spcBef>
                <a:spcPts val="1200"/>
              </a:spcBef>
            </a:pPr>
            <a:r>
              <a:rPr sz="1450" b="0">
                <a:solidFill>
                  <a:srgbClr val="8FB6D0"/>
                </a:solidFill>
                <a:latin typeface="Segoe UI"/>
              </a:rPr>
              <a:t>Interviews, structured observation and therapist diaries.</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30 / 33</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33 · Bus 2026, kosten   |   34 · CHEERS   |   35 · Kostenhandleiding 2024   |   40 · MRC 2015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WHAT WE LEARN EITHER WAY</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A null result is also a result</a:t>
            </a:r>
          </a:p>
        </p:txBody>
      </p:sp>
      <p:sp>
        <p:nvSpPr>
          <p:cNvPr id="5" name="Rectangle 4"/>
          <p:cNvSpPr/>
          <p:nvPr/>
        </p:nvSpPr>
        <p:spPr>
          <a:xfrm>
            <a:off x="634984" y="190495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7004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Adherence rises, recurrence does not</a:t>
            </a:r>
          </a:p>
        </p:txBody>
      </p:sp>
      <p:sp>
        <p:nvSpPr>
          <p:cNvPr id="7" name="TextBox 6"/>
          <p:cNvSpPr txBox="1"/>
          <p:nvPr/>
        </p:nvSpPr>
        <p:spPr>
          <a:xfrm>
            <a:off x="634984" y="251453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8" name="TextBox 7"/>
          <p:cNvSpPr txBox="1"/>
          <p:nvPr/>
        </p:nvSpPr>
        <p:spPr>
          <a:xfrm>
            <a:off x="888977" y="2501837"/>
            <a:ext cx="5130544" cy="901677"/>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Then the biomechanical premise fails: wearing optimised footwear is not enough. The field should stop attributing prevention failures to patient behaviour.</a:t>
            </a:r>
          </a:p>
        </p:txBody>
      </p:sp>
      <p:sp>
        <p:nvSpPr>
          <p:cNvPr id="9" name="Rectangle 8"/>
          <p:cNvSpPr/>
          <p:nvPr/>
        </p:nvSpPr>
        <p:spPr>
          <a:xfrm>
            <a:off x="6171918" y="190495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1918" y="207004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Adherence does not rise</a:t>
            </a:r>
          </a:p>
        </p:txBody>
      </p:sp>
      <p:sp>
        <p:nvSpPr>
          <p:cNvPr id="11" name="TextBox 10"/>
          <p:cNvSpPr txBox="1"/>
          <p:nvPr/>
        </p:nvSpPr>
        <p:spPr>
          <a:xfrm>
            <a:off x="6171918" y="251453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12" name="TextBox 11"/>
          <p:cNvSpPr txBox="1"/>
          <p:nvPr/>
        </p:nvSpPr>
        <p:spPr>
          <a:xfrm>
            <a:off x="6425912" y="2501837"/>
            <a:ext cx="5130544" cy="901677"/>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Then the behavioural component failed. The fidelity data distinguish inadequate design from inadequate delivery.</a:t>
            </a:r>
          </a:p>
        </p:txBody>
      </p:sp>
      <p:sp>
        <p:nvSpPr>
          <p:cNvPr id="13" name="Rectangle 12"/>
          <p:cNvSpPr/>
          <p:nvPr/>
        </p:nvSpPr>
        <p:spPr>
          <a:xfrm>
            <a:off x="634984" y="350511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67020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Both rise</a:t>
            </a:r>
          </a:p>
        </p:txBody>
      </p:sp>
      <p:sp>
        <p:nvSpPr>
          <p:cNvPr id="15" name="TextBox 14"/>
          <p:cNvSpPr txBox="1"/>
          <p:nvPr/>
        </p:nvSpPr>
        <p:spPr>
          <a:xfrm>
            <a:off x="634984" y="411469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16" name="TextBox 15"/>
          <p:cNvSpPr txBox="1"/>
          <p:nvPr/>
        </p:nvSpPr>
        <p:spPr>
          <a:xfrm>
            <a:off x="888977" y="4101997"/>
            <a:ext cx="5130544" cy="901677"/>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Then an integrated service works under routine conditions — without our knowing which component did it. Decomposition would require a factorial design the Belgian network cannot supply.</a:t>
            </a:r>
          </a:p>
        </p:txBody>
      </p:sp>
      <p:sp>
        <p:nvSpPr>
          <p:cNvPr id="17" name="Rectangle 16"/>
          <p:cNvSpPr/>
          <p:nvPr/>
        </p:nvSpPr>
        <p:spPr>
          <a:xfrm>
            <a:off x="6171918" y="350511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1918" y="367020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Either way</a:t>
            </a:r>
          </a:p>
        </p:txBody>
      </p:sp>
      <p:sp>
        <p:nvSpPr>
          <p:cNvPr id="19" name="TextBox 18"/>
          <p:cNvSpPr txBox="1"/>
          <p:nvPr/>
        </p:nvSpPr>
        <p:spPr>
          <a:xfrm>
            <a:off x="6171918" y="411469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20" name="TextBox 19"/>
          <p:cNvSpPr txBox="1"/>
          <p:nvPr/>
        </p:nvSpPr>
        <p:spPr>
          <a:xfrm>
            <a:off x="6425912" y="4101997"/>
            <a:ext cx="5130544" cy="901677"/>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Pressure, activity and wear time are recorded concurrently in 144 participants over eighteen months. That is the first dataset of that size, whatever the result.</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31 / 33</a:t>
            </a:r>
          </a:p>
        </p:txBody>
      </p:sp>
      <p:pic>
        <p:nvPicPr>
          <p:cNvPr id="22"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3" name="TextBox 22"/>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Source  15 · Hulshof 2024   |   16 · Hulshof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WHO TO CONTACT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If something goes wrong</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DOCTORAL RESEARCHER · DAY-TO-DAY CONDUCT</a:t>
            </a:r>
          </a:p>
        </p:txBody>
      </p:sp>
      <p:sp>
        <p:nvSpPr>
          <p:cNvPr id="10" name="TextBox 9"/>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Your first point of contact: inclusions, measurements, forms, sensors and anything that gets stuck in practice.</a:t>
            </a:r>
          </a:p>
        </p:txBody>
      </p:sp>
      <p:sp>
        <p:nvSpPr>
          <p:cNvPr id="11" name="TextBox 10"/>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2" name="TextBox 11"/>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Bruges</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PRINCIPAL INVESTIGATOR</a:t>
            </a:r>
          </a:p>
        </p:txBody>
      </p:sp>
      <p:sp>
        <p:nvSpPr>
          <p:cNvPr id="16" name="TextBox 15"/>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Scientific questions, trial design, and arrangements at the level of your centre.</a:t>
            </a:r>
          </a:p>
        </p:txBody>
      </p:sp>
      <p:sp>
        <p:nvSpPr>
          <p:cNvPr id="17" name="TextBox 16"/>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Rehabilitation Sciences</a:t>
            </a:r>
          </a:p>
        </p:txBody>
      </p:sp>
      <p:sp>
        <p:nvSpPr>
          <p:cNvPr id="18" name="TextBox 17"/>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Bruges Campus</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Consortium: KU Leuven — Rehabilitation Sciences (Musculoskeletal Research Group) and Public Health and Primary Care · Vrije Universiteit Brussel — Medicine and Pharmacy. Co-promotors: Fabienne Dobbels, Maaike Fobelets and Koen Putman.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32 / 33</a:t>
            </a:r>
          </a:p>
        </p:txBody>
      </p:sp>
      <p:pic>
        <p:nvPicPr>
          <p:cNvPr id="2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WHERE THE NUMBERS COME FROM</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References</a:t>
            </a:r>
          </a:p>
        </p:txBody>
      </p:sp>
      <p:sp>
        <p:nvSpPr>
          <p:cNvPr id="5" name="TextBox 4"/>
          <p:cNvSpPr txBox="1"/>
          <p:nvPr/>
        </p:nvSpPr>
        <p:spPr>
          <a:xfrm>
            <a:off x="634984" y="185415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a:t>
            </a:r>
          </a:p>
        </p:txBody>
      </p:sp>
      <p:sp>
        <p:nvSpPr>
          <p:cNvPr id="6" name="TextBox 5"/>
          <p:cNvSpPr txBox="1"/>
          <p:nvPr/>
        </p:nvSpPr>
        <p:spPr>
          <a:xfrm>
            <a:off x="965175" y="185415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Armstrong DG et al. N Engl J Med. 2017;376(24):2367–75.</a:t>
            </a:r>
          </a:p>
        </p:txBody>
      </p:sp>
      <p:sp>
        <p:nvSpPr>
          <p:cNvPr id="7" name="TextBox 6"/>
          <p:cNvSpPr txBox="1"/>
          <p:nvPr/>
        </p:nvSpPr>
        <p:spPr>
          <a:xfrm>
            <a:off x="634984" y="237253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5</a:t>
            </a:r>
          </a:p>
        </p:txBody>
      </p:sp>
      <p:sp>
        <p:nvSpPr>
          <p:cNvPr id="8" name="TextBox 7"/>
          <p:cNvSpPr txBox="1"/>
          <p:nvPr/>
        </p:nvSpPr>
        <p:spPr>
          <a:xfrm>
            <a:off x="965175" y="237253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Metab Res Rev. 2016;32(Suppl 1):195–200.</a:t>
            </a:r>
          </a:p>
        </p:txBody>
      </p:sp>
      <p:sp>
        <p:nvSpPr>
          <p:cNvPr id="9" name="TextBox 8"/>
          <p:cNvSpPr txBox="1"/>
          <p:nvPr/>
        </p:nvSpPr>
        <p:spPr>
          <a:xfrm>
            <a:off x="634984" y="289091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6</a:t>
            </a:r>
          </a:p>
        </p:txBody>
      </p:sp>
      <p:sp>
        <p:nvSpPr>
          <p:cNvPr id="10" name="TextBox 9"/>
          <p:cNvSpPr txBox="1"/>
          <p:nvPr/>
        </p:nvSpPr>
        <p:spPr>
          <a:xfrm>
            <a:off x="965175" y="2890915"/>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Care. 2011;34(7):1595–600.</a:t>
            </a:r>
          </a:p>
        </p:txBody>
      </p:sp>
      <p:sp>
        <p:nvSpPr>
          <p:cNvPr id="11" name="TextBox 10"/>
          <p:cNvSpPr txBox="1"/>
          <p:nvPr/>
        </p:nvSpPr>
        <p:spPr>
          <a:xfrm>
            <a:off x="634984" y="340929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7</a:t>
            </a:r>
          </a:p>
        </p:txBody>
      </p:sp>
      <p:sp>
        <p:nvSpPr>
          <p:cNvPr id="12" name="TextBox 11"/>
          <p:cNvSpPr txBox="1"/>
          <p:nvPr/>
        </p:nvSpPr>
        <p:spPr>
          <a:xfrm>
            <a:off x="965175" y="3409295"/>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Metab Res Rev. 2020;36(S1):e3237.</a:t>
            </a:r>
          </a:p>
        </p:txBody>
      </p:sp>
      <p:sp>
        <p:nvSpPr>
          <p:cNvPr id="13" name="TextBox 12"/>
          <p:cNvSpPr txBox="1"/>
          <p:nvPr/>
        </p:nvSpPr>
        <p:spPr>
          <a:xfrm>
            <a:off x="634984" y="3927676"/>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8</a:t>
            </a:r>
          </a:p>
        </p:txBody>
      </p:sp>
      <p:sp>
        <p:nvSpPr>
          <p:cNvPr id="14" name="TextBox 13"/>
          <p:cNvSpPr txBox="1"/>
          <p:nvPr/>
        </p:nvSpPr>
        <p:spPr>
          <a:xfrm>
            <a:off x="965175" y="3927676"/>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Metab Res Rev. 2024;40(3):e3651.</a:t>
            </a:r>
          </a:p>
        </p:txBody>
      </p:sp>
      <p:sp>
        <p:nvSpPr>
          <p:cNvPr id="15" name="TextBox 14"/>
          <p:cNvSpPr txBox="1"/>
          <p:nvPr/>
        </p:nvSpPr>
        <p:spPr>
          <a:xfrm>
            <a:off x="634984" y="4446057"/>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9</a:t>
            </a:r>
          </a:p>
        </p:txBody>
      </p:sp>
      <p:sp>
        <p:nvSpPr>
          <p:cNvPr id="16" name="TextBox 15"/>
          <p:cNvSpPr txBox="1"/>
          <p:nvPr/>
        </p:nvSpPr>
        <p:spPr>
          <a:xfrm>
            <a:off x="965175" y="4446057"/>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Care. 2013;36(12):4109–16.</a:t>
            </a:r>
          </a:p>
        </p:txBody>
      </p:sp>
      <p:sp>
        <p:nvSpPr>
          <p:cNvPr id="17" name="TextBox 16"/>
          <p:cNvSpPr txBox="1"/>
          <p:nvPr/>
        </p:nvSpPr>
        <p:spPr>
          <a:xfrm>
            <a:off x="634984" y="4964437"/>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10</a:t>
            </a:r>
          </a:p>
        </p:txBody>
      </p:sp>
      <p:sp>
        <p:nvSpPr>
          <p:cNvPr id="18" name="TextBox 17"/>
          <p:cNvSpPr txBox="1"/>
          <p:nvPr/>
        </p:nvSpPr>
        <p:spPr>
          <a:xfrm>
            <a:off x="965175" y="4964437"/>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van Netten JJ et al. Diabetes Metab Res Rev. 2016;32(Suppl 1):84–98.</a:t>
            </a:r>
          </a:p>
        </p:txBody>
      </p:sp>
      <p:sp>
        <p:nvSpPr>
          <p:cNvPr id="19" name="TextBox 18"/>
          <p:cNvSpPr txBox="1"/>
          <p:nvPr/>
        </p:nvSpPr>
        <p:spPr>
          <a:xfrm>
            <a:off x="634984" y="5482818"/>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12</a:t>
            </a:r>
          </a:p>
        </p:txBody>
      </p:sp>
      <p:sp>
        <p:nvSpPr>
          <p:cNvPr id="20" name="TextBox 19"/>
          <p:cNvSpPr txBox="1"/>
          <p:nvPr/>
        </p:nvSpPr>
        <p:spPr>
          <a:xfrm>
            <a:off x="965175" y="5482818"/>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Abbott CA et al. Lancet Digit Health. 2019;1(6):e308–18.</a:t>
            </a:r>
          </a:p>
        </p:txBody>
      </p:sp>
      <p:sp>
        <p:nvSpPr>
          <p:cNvPr id="21" name="TextBox 20"/>
          <p:cNvSpPr txBox="1"/>
          <p:nvPr/>
        </p:nvSpPr>
        <p:spPr>
          <a:xfrm>
            <a:off x="634984" y="6001199"/>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13</a:t>
            </a:r>
          </a:p>
        </p:txBody>
      </p:sp>
      <p:sp>
        <p:nvSpPr>
          <p:cNvPr id="22" name="TextBox 21"/>
          <p:cNvSpPr txBox="1"/>
          <p:nvPr/>
        </p:nvSpPr>
        <p:spPr>
          <a:xfrm>
            <a:off x="965175" y="6001199"/>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Waaijman R et al. Diabetes Care. 2013;36(6):1613–8.</a:t>
            </a:r>
          </a:p>
        </p:txBody>
      </p:sp>
      <p:sp>
        <p:nvSpPr>
          <p:cNvPr id="23" name="TextBox 22"/>
          <p:cNvSpPr txBox="1"/>
          <p:nvPr/>
        </p:nvSpPr>
        <p:spPr>
          <a:xfrm>
            <a:off x="4326273" y="185415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14</a:t>
            </a:r>
          </a:p>
        </p:txBody>
      </p:sp>
      <p:sp>
        <p:nvSpPr>
          <p:cNvPr id="24" name="TextBox 23"/>
          <p:cNvSpPr txBox="1"/>
          <p:nvPr/>
        </p:nvSpPr>
        <p:spPr>
          <a:xfrm>
            <a:off x="4656465" y="185415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van Netten JJ et al. Clin Biomech. 2018;53:86–92.</a:t>
            </a:r>
          </a:p>
        </p:txBody>
      </p:sp>
      <p:sp>
        <p:nvSpPr>
          <p:cNvPr id="25" name="TextBox 24"/>
          <p:cNvSpPr txBox="1"/>
          <p:nvPr/>
        </p:nvSpPr>
        <p:spPr>
          <a:xfrm>
            <a:off x="4326273" y="237253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15</a:t>
            </a:r>
          </a:p>
        </p:txBody>
      </p:sp>
      <p:sp>
        <p:nvSpPr>
          <p:cNvPr id="26" name="TextBox 25"/>
          <p:cNvSpPr txBox="1"/>
          <p:nvPr/>
        </p:nvSpPr>
        <p:spPr>
          <a:xfrm>
            <a:off x="4656465" y="2372534"/>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Hulshof CM et al. Sensors. 2024;24(8):2411.</a:t>
            </a:r>
          </a:p>
        </p:txBody>
      </p:sp>
      <p:sp>
        <p:nvSpPr>
          <p:cNvPr id="27" name="TextBox 26"/>
          <p:cNvSpPr txBox="1"/>
          <p:nvPr/>
        </p:nvSpPr>
        <p:spPr>
          <a:xfrm>
            <a:off x="4326273" y="267617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16</a:t>
            </a:r>
          </a:p>
        </p:txBody>
      </p:sp>
      <p:sp>
        <p:nvSpPr>
          <p:cNvPr id="28" name="TextBox 27"/>
          <p:cNvSpPr txBox="1"/>
          <p:nvPr/>
        </p:nvSpPr>
        <p:spPr>
          <a:xfrm>
            <a:off x="4656465" y="2676173"/>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Hulshof CM et al. Diabet Med. 2025;42:e70099.</a:t>
            </a:r>
          </a:p>
        </p:txBody>
      </p:sp>
      <p:sp>
        <p:nvSpPr>
          <p:cNvPr id="29" name="TextBox 28"/>
          <p:cNvSpPr txBox="1"/>
          <p:nvPr/>
        </p:nvSpPr>
        <p:spPr>
          <a:xfrm>
            <a:off x="4326273" y="2979812"/>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17</a:t>
            </a:r>
          </a:p>
        </p:txBody>
      </p:sp>
      <p:sp>
        <p:nvSpPr>
          <p:cNvPr id="30" name="TextBox 29"/>
          <p:cNvSpPr txBox="1"/>
          <p:nvPr/>
        </p:nvSpPr>
        <p:spPr>
          <a:xfrm>
            <a:off x="4656465" y="2979812"/>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Waaijman R et al. Diabetes Care. 2014;37(6):1697–705.</a:t>
            </a:r>
          </a:p>
        </p:txBody>
      </p:sp>
      <p:sp>
        <p:nvSpPr>
          <p:cNvPr id="31" name="TextBox 30"/>
          <p:cNvSpPr txBox="1"/>
          <p:nvPr/>
        </p:nvSpPr>
        <p:spPr>
          <a:xfrm>
            <a:off x="4326273" y="349819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18</a:t>
            </a:r>
          </a:p>
        </p:txBody>
      </p:sp>
      <p:sp>
        <p:nvSpPr>
          <p:cNvPr id="32" name="TextBox 31"/>
          <p:cNvSpPr txBox="1"/>
          <p:nvPr/>
        </p:nvSpPr>
        <p:spPr>
          <a:xfrm>
            <a:off x="4656465" y="349819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Lutjeboer T et al. J Rehabil Med. 2018;50(10):920–6.</a:t>
            </a:r>
          </a:p>
        </p:txBody>
      </p:sp>
      <p:sp>
        <p:nvSpPr>
          <p:cNvPr id="33" name="TextBox 32"/>
          <p:cNvSpPr txBox="1"/>
          <p:nvPr/>
        </p:nvSpPr>
        <p:spPr>
          <a:xfrm>
            <a:off x="4326273" y="401657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19</a:t>
            </a:r>
          </a:p>
        </p:txBody>
      </p:sp>
      <p:sp>
        <p:nvSpPr>
          <p:cNvPr id="34" name="TextBox 33"/>
          <p:cNvSpPr txBox="1"/>
          <p:nvPr/>
        </p:nvSpPr>
        <p:spPr>
          <a:xfrm>
            <a:off x="4656465" y="4016574"/>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Michie S et al. Implement Sci. 2011;6:42.</a:t>
            </a:r>
          </a:p>
        </p:txBody>
      </p:sp>
      <p:sp>
        <p:nvSpPr>
          <p:cNvPr id="35" name="TextBox 34"/>
          <p:cNvSpPr txBox="1"/>
          <p:nvPr/>
        </p:nvSpPr>
        <p:spPr>
          <a:xfrm>
            <a:off x="4326273" y="432021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20</a:t>
            </a:r>
          </a:p>
        </p:txBody>
      </p:sp>
      <p:sp>
        <p:nvSpPr>
          <p:cNvPr id="36" name="TextBox 35"/>
          <p:cNvSpPr txBox="1"/>
          <p:nvPr/>
        </p:nvSpPr>
        <p:spPr>
          <a:xfrm>
            <a:off x="4656465" y="432021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Morbach S et al. Diabetes Metab Res Rev. 2016;32(Suppl 1):318–25.</a:t>
            </a:r>
          </a:p>
        </p:txBody>
      </p:sp>
      <p:sp>
        <p:nvSpPr>
          <p:cNvPr id="37" name="TextBox 36"/>
          <p:cNvSpPr txBox="1"/>
          <p:nvPr/>
        </p:nvSpPr>
        <p:spPr>
          <a:xfrm>
            <a:off x="4326273" y="483859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21</a:t>
            </a:r>
          </a:p>
        </p:txBody>
      </p:sp>
      <p:sp>
        <p:nvSpPr>
          <p:cNvPr id="38" name="TextBox 37"/>
          <p:cNvSpPr txBox="1"/>
          <p:nvPr/>
        </p:nvSpPr>
        <p:spPr>
          <a:xfrm>
            <a:off x="4656465" y="4838594"/>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Chan A-W et al. BMJ. 2025;389:e081477.</a:t>
            </a:r>
          </a:p>
        </p:txBody>
      </p:sp>
      <p:sp>
        <p:nvSpPr>
          <p:cNvPr id="39" name="TextBox 38"/>
          <p:cNvSpPr txBox="1"/>
          <p:nvPr/>
        </p:nvSpPr>
        <p:spPr>
          <a:xfrm>
            <a:off x="4326273" y="514223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24</a:t>
            </a:r>
          </a:p>
        </p:txBody>
      </p:sp>
      <p:sp>
        <p:nvSpPr>
          <p:cNvPr id="40" name="TextBox 39"/>
          <p:cNvSpPr txBox="1"/>
          <p:nvPr/>
        </p:nvSpPr>
        <p:spPr>
          <a:xfrm>
            <a:off x="4656465" y="5142233"/>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Hopewell S et al. BMJ. 2025;389:e081123.</a:t>
            </a:r>
          </a:p>
        </p:txBody>
      </p:sp>
      <p:sp>
        <p:nvSpPr>
          <p:cNvPr id="41" name="TextBox 40"/>
          <p:cNvSpPr txBox="1"/>
          <p:nvPr/>
        </p:nvSpPr>
        <p:spPr>
          <a:xfrm>
            <a:off x="8017563" y="185415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25</a:t>
            </a:r>
          </a:p>
        </p:txBody>
      </p:sp>
      <p:sp>
        <p:nvSpPr>
          <p:cNvPr id="42" name="TextBox 41"/>
          <p:cNvSpPr txBox="1"/>
          <p:nvPr/>
        </p:nvSpPr>
        <p:spPr>
          <a:xfrm>
            <a:off x="8347755" y="185415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van Netten JJ et al. Diabetes Metab Res Rev. 2024;40(3):e3654.</a:t>
            </a:r>
          </a:p>
        </p:txBody>
      </p:sp>
      <p:sp>
        <p:nvSpPr>
          <p:cNvPr id="43" name="TextBox 42"/>
          <p:cNvSpPr txBox="1"/>
          <p:nvPr/>
        </p:nvSpPr>
        <p:spPr>
          <a:xfrm>
            <a:off x="8017563" y="237253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26</a:t>
            </a:r>
          </a:p>
        </p:txBody>
      </p:sp>
      <p:sp>
        <p:nvSpPr>
          <p:cNvPr id="44" name="TextBox 43"/>
          <p:cNvSpPr txBox="1"/>
          <p:nvPr/>
        </p:nvSpPr>
        <p:spPr>
          <a:xfrm>
            <a:off x="8347755" y="237253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Lincoln NB et al. Pract Diabetes Int. 2007;24(4):207–11.</a:t>
            </a:r>
          </a:p>
        </p:txBody>
      </p:sp>
      <p:sp>
        <p:nvSpPr>
          <p:cNvPr id="45" name="TextBox 44"/>
          <p:cNvSpPr txBox="1"/>
          <p:nvPr/>
        </p:nvSpPr>
        <p:spPr>
          <a:xfrm>
            <a:off x="8017563" y="289091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27</a:t>
            </a:r>
          </a:p>
        </p:txBody>
      </p:sp>
      <p:sp>
        <p:nvSpPr>
          <p:cNvPr id="46" name="TextBox 45"/>
          <p:cNvSpPr txBox="1"/>
          <p:nvPr/>
        </p:nvSpPr>
        <p:spPr>
          <a:xfrm>
            <a:off x="8347755" y="2890915"/>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Zwaferink JBJ et al. Sensors. 2024;24(6):1795.</a:t>
            </a:r>
          </a:p>
        </p:txBody>
      </p:sp>
      <p:sp>
        <p:nvSpPr>
          <p:cNvPr id="47" name="TextBox 46"/>
          <p:cNvSpPr txBox="1"/>
          <p:nvPr/>
        </p:nvSpPr>
        <p:spPr>
          <a:xfrm>
            <a:off x="8017563" y="319455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31</a:t>
            </a:r>
          </a:p>
        </p:txBody>
      </p:sp>
      <p:sp>
        <p:nvSpPr>
          <p:cNvPr id="48" name="TextBox 47"/>
          <p:cNvSpPr txBox="1"/>
          <p:nvPr/>
        </p:nvSpPr>
        <p:spPr>
          <a:xfrm>
            <a:off x="8347755" y="319455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Keukenkamp R et al. BMJ Open Diabetes Res Care. 2022;10(1):e002593.</a:t>
            </a:r>
          </a:p>
        </p:txBody>
      </p:sp>
      <p:sp>
        <p:nvSpPr>
          <p:cNvPr id="49" name="TextBox 48"/>
          <p:cNvSpPr txBox="1"/>
          <p:nvPr/>
        </p:nvSpPr>
        <p:spPr>
          <a:xfrm>
            <a:off x="8017563" y="371293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33</a:t>
            </a:r>
          </a:p>
        </p:txBody>
      </p:sp>
      <p:sp>
        <p:nvSpPr>
          <p:cNvPr id="50" name="TextBox 49"/>
          <p:cNvSpPr txBox="1"/>
          <p:nvPr/>
        </p:nvSpPr>
        <p:spPr>
          <a:xfrm>
            <a:off x="8347755" y="3712935"/>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Diabetology. 2026;7(4):70.</a:t>
            </a:r>
          </a:p>
        </p:txBody>
      </p:sp>
      <p:sp>
        <p:nvSpPr>
          <p:cNvPr id="51" name="TextBox 50"/>
          <p:cNvSpPr txBox="1"/>
          <p:nvPr/>
        </p:nvSpPr>
        <p:spPr>
          <a:xfrm>
            <a:off x="8017563" y="401657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34</a:t>
            </a:r>
          </a:p>
        </p:txBody>
      </p:sp>
      <p:sp>
        <p:nvSpPr>
          <p:cNvPr id="52" name="TextBox 51"/>
          <p:cNvSpPr txBox="1"/>
          <p:nvPr/>
        </p:nvSpPr>
        <p:spPr>
          <a:xfrm>
            <a:off x="8347755" y="401657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Husereau D et al. Pharmacoeconomics. 2013;31(5):361–7.</a:t>
            </a:r>
          </a:p>
        </p:txBody>
      </p:sp>
      <p:sp>
        <p:nvSpPr>
          <p:cNvPr id="53" name="TextBox 52"/>
          <p:cNvSpPr txBox="1"/>
          <p:nvPr/>
        </p:nvSpPr>
        <p:spPr>
          <a:xfrm>
            <a:off x="8017563" y="453495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35</a:t>
            </a:r>
          </a:p>
        </p:txBody>
      </p:sp>
      <p:sp>
        <p:nvSpPr>
          <p:cNvPr id="54" name="TextBox 53"/>
          <p:cNvSpPr txBox="1"/>
          <p:nvPr/>
        </p:nvSpPr>
        <p:spPr>
          <a:xfrm>
            <a:off x="8347755" y="4534955"/>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Hakkaart-van Roijen L et al. Diemen: Zorginstituut Nederland; 2024.</a:t>
            </a:r>
          </a:p>
        </p:txBody>
      </p:sp>
      <p:sp>
        <p:nvSpPr>
          <p:cNvPr id="55" name="TextBox 54"/>
          <p:cNvSpPr txBox="1"/>
          <p:nvPr/>
        </p:nvSpPr>
        <p:spPr>
          <a:xfrm>
            <a:off x="8017563" y="505333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40</a:t>
            </a:r>
          </a:p>
        </p:txBody>
      </p:sp>
      <p:sp>
        <p:nvSpPr>
          <p:cNvPr id="56" name="TextBox 55"/>
          <p:cNvSpPr txBox="1"/>
          <p:nvPr/>
        </p:nvSpPr>
        <p:spPr>
          <a:xfrm>
            <a:off x="8347755" y="5053335"/>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Moore GF et al. BMJ. 2015;350:h1258.</a:t>
            </a:r>
          </a:p>
        </p:txBody>
      </p:sp>
      <p:sp>
        <p:nvSpPr>
          <p:cNvPr id="57" name="TextBox 56"/>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Numbering follows the protocol manuscript.</a:t>
            </a:r>
          </a:p>
        </p:txBody>
      </p:sp>
      <p:sp>
        <p:nvSpPr>
          <p:cNvPr id="58" name="TextBox 5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33 / 33</a:t>
            </a:r>
          </a:p>
        </p:txBody>
      </p:sp>
      <p:pic>
        <p:nvPicPr>
          <p:cNvPr id="59"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p:transition xmlns:p14="http://schemas.microsoft.com/office/powerpoint/2010/main" spd="slow" p14:dur="9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