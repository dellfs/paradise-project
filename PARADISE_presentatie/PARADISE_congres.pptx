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PARADISE is not about healing. It is about coming back. Six Belgian foot clinics, one hundred and forty-four participants, eighteen months each. I will take you through the rationale, the measurement and the pathway.</a:t>
            </a:r>
          </a:p>
          <a:p/>
          <a:p>
            <a:r>
              <a:t>PRESENTATIETIP</a:t>
            </a:r>
          </a:p>
          <a:p>
            <a:r>
              <a:t>Het beeld draagt deze dia, dus de foto moet raak zijn. Zet hem in beeld\stock\, draai verwerk_stock.py, en vervang het kader met rechtsklik en Afbeelding wijzigen.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Every dot is a participant. Twenty-four come from each clinic, twelve in each arm. Six times twenty-four is one hundred and forty-four. If one centre falls behind, the trial does not get there.</a:t>
            </a:r>
          </a:p>
          <a:p/>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One sentence, then I move on. Every component of PARADISE already exists. Not one of them worked on its own. What we test is whether they work together, in ordinary clinics under ordinary caseloads.</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Chapter one. I will give you four numbers. After the fourth you will know why this trial has two targets rather than one, and why nobody has met both at once.</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Forty per cent develop a new ulcer within one year. At five years it is sixty-five. Mortality is two and a half times that of diabetes without ulceration, and after amputation it exceeds seventy per cent. This is not a wound problem. It is a survival problem.</a:t>
            </a:r>
          </a:p>
          <a:p/>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And then the number that makes it intolerable. Three quarters of these ulcers are preventable in principle. Yet forty per cent return within the year. That gap, between what is possible and what happens, is what this trial is about.</a:t>
            </a:r>
          </a:p>
          <a:p/>
          <a:p>
            <a:r>
              <a:t>PRESENTATIETIP</a:t>
            </a:r>
          </a:p>
          <a:p>
            <a:r>
              <a:t>Zeg dit traag en zwijg dan twee tellen. Dit is de enige dia in blok 1 waar de zaal niet leest maar luistert.</a:t>
            </a:r>
          </a:p>
          <a:p/>
          <a:p>
            <a:r>
              <a:t>INTERACTIE</a:t>
            </a:r>
          </a:p>
          <a:p>
            <a:r>
              <a:t>Geen. De stilte doet het werk.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It is not that nobody has tried. Pressure-guided footwear missed its endpoint. Education alone had a negative median effect. Digital feedback worked, but again only among those who kept using the device.</a:t>
            </a:r>
          </a:p>
          <a:p/>
          <a:p>
            <a:r>
              <a:t>PRESENTATIETIP</a:t>
            </a:r>
          </a:p>
          <a:p>
            <a:r>
              <a:t>Dit is de dia die de zaal het argument geeft. Neem er tijd voor; de rest van de studieopzet volgt hieruit.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This is the best attempt on record: pressure-optimised custom footwear, multicentre and randomised. Across everyone: no difference. Among those who wore it: almost halved. The difference was not in the shoe.</a:t>
            </a:r>
          </a:p>
          <a:p/>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There it is. Seventy-one per cent adherence, measured by sensor and not asked for. At home it falls to sixty-one, and home is where most steps are taken. The footwear sat in the hallway while the patient walked through the house.</a:t>
            </a:r>
          </a:p>
          <a:p/>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Loading is a product, not a sum. Peak pressure times activity times wear time. One factor at zero makes the whole product zero. A perfect insole in the cupboard protects nothing.</a:t>
            </a:r>
          </a:p>
          <a:p/>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Why is this trial possible only now? Three things have changed. The sensor makes adherence measurable, COM-B explains why education failed, and Belgium has accredited foot clinics with training requirements. The components are on the table.</a:t>
            </a:r>
          </a:p>
          <a:p/>
          <a:p>
            <a:r>
              <a:t>PRESENTATIETIP</a:t>
            </a:r>
          </a:p>
          <a:p>
            <a:r>
              <a:t>Drie redenen, drie zinnen. Dit is het scharnier naar de opzet.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So we do it differently. Not three separate measures, but one service with two targets: the insole must méet the pressure target, and it must be wórn. Both measured, both corrected, both by the clinic’s own team. That has never been tested together.</a:t>
            </a:r>
          </a:p>
          <a:p/>
          <a:p>
            <a:r>
              <a:t>PRESENTATIETIP</a:t>
            </a:r>
          </a:p>
          <a:p>
            <a:r>
              <a:t>Dit is de kanteldia. Alles ervoor is het probleem, alles erna is de uitvoering. Zeg met zoveel woorden dat dit nog nooit samen getoetst is.</a:t>
            </a:r>
          </a:p>
          <a:p/>
          <a:p>
            <a:r>
              <a:t>INTERACTIE</a:t>
            </a:r>
          </a:p>
          <a:p>
            <a:r>
              <a:t>Vraag welke van de twee normen zij het moeilijkst achten. Het antwoord is bijna altijd de tweede.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Chapter two: the measurement. What is measured, how, and when it is good enough.</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Every sensor gives a number. This is baseline, barefoot: three hundred and twelve kilopascals under metatarsal two-three. Three measurements per foot, from which the software builds one map. Everything else is referenced against this.</a:t>
            </a:r>
          </a:p>
          <a:p/>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The software divides the foot into eight regions. Three of them are designated target regions and written on the prescription. The target is tested there, and nowhere else.</a:t>
            </a:r>
          </a:p>
          <a:p/>
          <a:p>
            <a:r>
              <a:t>PRESENTATIETIP</a:t>
            </a:r>
          </a:p>
          <a:p>
            <a:r>
              <a:t>Uit deze acht kiest u er drie om te ontlasten: de regio met de ulcusvoorgeschiedenis, plus één of twee met de hoogste piekdruk. Die drie legt u vast — daarop wordt de norm getoetst.</a:t>
            </a:r>
          </a:p>
          <a:p/>
          <a:p>
            <a:r>
              <a:t>INTERACTIE</a:t>
            </a:r>
          </a:p>
          <a:p>
            <a:r>
              <a:t>Laat ze op deze dia aanwijzen welke drie zij zouden kiezen.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Same foot, after modification. One hundred and eighty-six kilopascals: forty per cent lower and below two hundred. The target applies per region. If it is not met, you modify and measure again.</a:t>
            </a:r>
          </a:p>
          <a:p/>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A moment on this one. The aim is not less loading. The aim is loading where the tissue can take it. That is the entire intervention.</a:t>
            </a:r>
          </a:p>
          <a:p/>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Three conditions, always in this order. Barefoot is the reference. In the shoe without the insole shows what the footwear does alone. In the shoe with the insole is the measurement the target is tested on. Skip one and the comparison is unusable.</a:t>
            </a:r>
          </a:p>
          <a:p/>
          <a:p>
            <a:r>
              <a:t>PRESENTATIETIP</a:t>
            </a:r>
          </a:p>
          <a:p>
            <a:r>
              <a:t>Dit is de dia waar in de praktijk de meeste fouten gemaakt worden. Loop de drie condities traag door en benoem dat conditie 2 vaak vergeten wordt. Dezelfde drie condities komen terug op maand 6, 12 en 18.</a:t>
            </a:r>
          </a:p>
          <a:p/>
          <a:p>
            <a:r>
              <a:t>INTERACTIE</a:t>
            </a:r>
          </a:p>
          <a:p>
            <a:r>
              <a:t>Vraag: "wie meet er vandaag al in de schoen zonder zool?"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Chapter three: the pathway. Nine contacts. For each one: what is done and what is recorded.</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and nine visits across eighteen months. The first three fall close together. After that the rhythm is three-monthly, the same rhythm as the review these patients already receive.</a:t>
            </a:r>
          </a:p>
          <a:p/>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IWGDF risk category three: a healed plantar ulcer, or a minor amputation. On the left what admits, on the right what excludes. The logic throughout: offloading must be the appropriate treatment, so critical ischaemia and active Charcot are out.</a:t>
            </a:r>
          </a:p>
          <a:p/>
          <a:p>
            <a:r>
              <a:t>PRESENTATIETIP</a:t>
            </a:r>
          </a:p>
          <a:p>
            <a:r>
              <a:t>Twee criteria worden het vaakst gemist: de resectie mag niet de eerste metatarsaalkop betreffen, en een enkel-voetorthese sluit uit omdat de sensoren er niet in passen.</a:t>
            </a:r>
          </a:p>
          <a:p/>
          <a:p>
            <a:r>
              <a:t>INTERACTIE</a:t>
            </a:r>
          </a:p>
          <a:p>
            <a:r>
              <a:t>Vraag per criterium of het in hun patiëntenbestand vaak voorkomt.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Three devices, three jobs. The pedar measures pressure, the Orthotimer records whether the insole was worn, the MoveMonitor records how much walking is done. Only the pedar is operated at every measurement; the other two are fitted once and read out.</a:t>
            </a:r>
          </a:p>
          <a:p/>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SEBIA is five conversations, not one session. First knowledge and education, then teach-back at delivery, then two joint reviews of the sensor data, then demonstration, and closure at eighteen months. What separates it from conventional education: it repeats, and it stands on data.</a:t>
            </a:r>
          </a:p>
          <a:p/>
          <a:p>
            <a:r>
              <a:t>PRESENTATIETIP</a:t>
            </a:r>
          </a:p>
          <a:p>
            <a:r>
              <a:t>Het script begint met toestemming vragen voor het gesprek zelf, en duurt twintig tot dertig minuten. Wie nee zegt, krijgt de brochure mee en een nieuwe afspraak.</a:t>
            </a:r>
          </a:p>
          <a:p/>
          <a:p>
            <a:r>
              <a:t>INTERACTIE</a:t>
            </a:r>
          </a:p>
          <a:p>
            <a:r>
              <a:t>Rollenspel van twee minuten met een vrijwilliger uit de zaal.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This is the one rule that really matters. The control arm is measured and wears a sensor too, but those numbers stay closed. Discuss them and you have delivered the intervention. Clinical findings are not measured values: a lesion is reported and treated immediately, in both arms.</a:t>
            </a:r>
          </a:p>
          <a:p/>
          <a:p>
            <a:r>
              <a:t>PRESENTATIETIP</a:t>
            </a:r>
          </a:p>
          <a:p>
            <a:r>
              <a:t>Dit is de dia waar u stilvalt. Geen haast. Vraag of het helder is voordat u doorgaat.</a:t>
            </a:r>
          </a:p>
          <a:p/>
          <a:p>
            <a:r>
              <a:t>INTERACTIE</a:t>
            </a:r>
          </a:p>
          <a:p>
            <a:r>
              <a:t>Laat iemand het in eigen woorden herhalen. Zo weet u of het zit.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Chapter four: endpoints and analysis. Two endpoints, mapped one to one onto the causal model.</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Two endpoints means two calculations. On the left, recurrence: fifty versus twenty-five per cent, requiring forty-one events and one hundred and thirty participants. On the right, adherence: fifty per group. One hundred and forty-four comes from per-centre capacity and exceeds both minima.</a:t>
            </a:r>
          </a:p>
          <a:p/>
          <a:p>
            <a:r>
              <a:t>PRESENTATIETIP</a:t>
            </a:r>
          </a:p>
          <a:p>
            <a:r>
              <a:t>Dit is de dia waar de vraag komt. Benoem de gezamenlijke power zelf, vóór iemand in de zaal het doet — de volgende dia doet dat.</a:t>
            </a:r>
          </a:p>
          <a:p/>
          <a:p>
            <a:r>
              <a:t>INTERACTIE</a:t>
            </a:r>
          </a:p>
          <a:p>
            <a:r>
              <a:t>Geen. Laat de vraag komen.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And now the question you would otherwise get from the floor. Separately we have eighty-four and eighty-seven per cent power. But the trial is positive only if both endpoints are met, and then it falls to between seventy-four and eighty-four. We report that ourselves, because the separate figures overstate the prospect.</a:t>
            </a:r>
          </a:p>
          <a:p/>
          <a:p>
            <a:r>
              <a:t>PRESENTATIETIP</a:t>
            </a:r>
          </a:p>
          <a:p>
            <a:r>
              <a:t>Dit is de dia die u onderscheidt van de rest van het programma. Niemand rapporteert dit uit zichzelf.</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The analysis plan in four lines. Recurrence by Cox, stratified by centre, with death as a competing risk. Adherence by beta regression, because it is a proportion with a ceiling. And the two endpoints are intercurrent events for one another: a participant who ulcerates rightly stops wearing the insole.</a:t>
            </a:r>
          </a:p>
          <a:p/>
          <a:p>
            <a:r>
              <a:t>PRESENTATIETIP</a:t>
            </a:r>
          </a:p>
          <a:p>
            <a:r>
              <a:t>Kort houden. Wie meer wil weten vraagt het, en dan hebt u het SAP.</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Two evaluations run alongside the trial. The economic one reports cost per ulcer prevented and cost per QALY, with a Markov model out to five years. The process evaluation measures whether the intervention was actually delivered. That second one is not an appendix — under a null result it is the only thing separating mechanism from delivery.</a:t>
            </a:r>
          </a:p>
          <a:p/>
          <a:p>
            <a:r>
              <a:t>PRESENTATIETIP</a:t>
            </a:r>
          </a:p>
          <a:p>
            <a:r>
              <a:t>De procesevaluatie is geen bijlage. Bij een nulresultaat is zij het enige wat mechanisme van uitvoering onderscheidt.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I will close with what we learn either way. If adherence rises but recurrence does not, the biomechanical premise fails. If adherence does not rise, the behavioural component failed. Either way we learn which link in the chain gives way — and that is exactly what this field does not yet know.</a:t>
            </a:r>
          </a:p>
          <a:p/>
          <a:p>
            <a:r>
              <a:t>PRESENTATIETIP</a:t>
            </a:r>
          </a:p>
          <a:p>
            <a:r>
              <a:t>Sluit hiermee af. Dit is het antwoord op de vraag of de studie de moeite waard is als ze negatief uitvalt.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Finally, who to contact. Practical questions — inclusions, measurements, forms, sensors — come to me. Scientific questions and arrangements at centre level go to Professor Deschamps. Thank you.</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Deze dia laat u staan tijdens de vragen. Alles wat u genoemd hebt, staat hier met nummer en citaat, in dezelfde nummering als het protocolmanuscript.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plaatshouder.png"/>
          <p:cNvPicPr>
            <a:picLocks noChangeAspect="1"/>
          </p:cNvPicPr>
          <p:nvPr/>
        </p:nvPicPr>
        <p:blipFill>
          <a:blip r:embed="rId2"/>
          <a:stretch>
            <a:fillRect/>
          </a:stretch>
        </p:blipFill>
        <p:spPr>
          <a:xfrm>
            <a:off x="0" y="-380990"/>
            <a:ext cx="12191695" cy="7619809"/>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rk.png"/>
          <p:cNvPicPr>
            <a:picLocks noChangeAspect="1"/>
          </p:cNvPicPr>
          <p:nvPr/>
        </p:nvPicPr>
        <p:blipFill>
          <a:blip r:embed="rId3"/>
          <a:stretch>
            <a:fillRect/>
          </a:stretch>
        </p:blipFill>
        <p:spPr>
          <a:xfrm>
            <a:off x="647087" y="609584"/>
            <a:ext cx="801273" cy="92707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Trial design · scientific session</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 version 1.0 · 17 May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WHERE WE STAND</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participants, 24 per centre</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Every dot is a participant your clinic includes.</a:t>
            </a:r>
          </a:p>
          <a:p>
            <a:pPr algn="l">
              <a:lnSpc>
                <a:spcPct val="130000"/>
              </a:lnSpc>
              <a:spcBef>
                <a:spcPts val="500"/>
              </a:spcBef>
            </a:pPr>
            <a:r>
              <a:rPr sz="3000" b="1">
                <a:solidFill>
                  <a:srgbClr val="F2F8FC"/>
                </a:solidFill>
                <a:latin typeface="Segoe UI"/>
              </a:rPr>
              <a:t>24 per centre.</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CENTRE</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participants — 12 PARADISE and 12 usual care</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 ARM</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Usual care, unchanged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CO-PRIMARY</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Recurrence at 18 months, adherence at 12</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POSITIVE</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Only if bóth endpoints are met</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THE SIX PARTICIPATING FOOT CLINICS</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32</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80" name="TextBox 17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52BDEC"/>
              </a:gs>
              <a:gs pos="100000">
                <a:srgbClr val="1D8DB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5400" b="1">
                <a:solidFill>
                  <a:srgbClr val="04182A"/>
                </a:solidFill>
                <a:latin typeface="Segoe UI"/>
              </a:rPr>
              <a:t>PARADISE does not test efficacy.</a:t>
            </a:r>
          </a:p>
          <a:p>
            <a:pPr algn="l">
              <a:lnSpc>
                <a:spcPct val="106000"/>
              </a:lnSpc>
              <a:spcBef>
                <a:spcPts val="500"/>
              </a:spcBef>
            </a:pPr>
            <a:r>
              <a:rPr sz="5400" b="1">
                <a:solidFill>
                  <a:srgbClr val="04182A"/>
                </a:solidFill>
                <a:latin typeface="Segoe UI"/>
              </a:rPr>
              <a:t>PARADISE tests translation.</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Every component already exists. No component worked on its own.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Why this design</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Four numbers explain why there are two targets, not one.</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32</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develop a new ulcer</a:t>
            </a:r>
          </a:p>
          <a:p>
            <a:pPr algn="l">
              <a:lnSpc>
                <a:spcPct val="120000"/>
              </a:lnSpc>
              <a:spcBef>
                <a:spcPts val="500"/>
              </a:spcBef>
            </a:pPr>
            <a:r>
              <a:rPr sz="3200" b="1">
                <a:solidFill>
                  <a:srgbClr val="F2F8FC"/>
                </a:solidFill>
                <a:latin typeface="Segoe UI"/>
              </a:rPr>
              <a:t>within one year</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AT FIVE YEARS</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HIGHER MORTALITY</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&gt; 70%</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MORTALITY AFTER AMPUTATION</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32</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6200" b="1">
                <a:solidFill>
                  <a:srgbClr val="04182A"/>
                </a:solidFill>
                <a:latin typeface="Segoe UI"/>
              </a:rPr>
              <a:t>Three quarters are preventable.</a:t>
            </a:r>
          </a:p>
          <a:p>
            <a:pPr algn="l">
              <a:lnSpc>
                <a:spcPct val="106000"/>
              </a:lnSpc>
              <a:spcBef>
                <a:spcPts val="500"/>
              </a:spcBef>
            </a:pPr>
            <a:r>
              <a:rPr sz="6200" b="1">
                <a:solidFill>
                  <a:srgbClr val="04182A"/>
                </a:solidFill>
                <a:latin typeface="Segoe UI"/>
              </a:rPr>
              <a:t>Forty per cent come back.</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That gap is what this trial is about.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WHAT HAS ALREADY BEEN TRIED</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Three strategies, one pattern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Pressure-guided footwear</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The pivotal multicentre trial missed its primary endpoint: 38.8% versus 44.2% recurrence. The difference was in who actually wore the footwear.</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p = 0.48</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Patient education</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In the IWGDF review, stand-alone education showed no demonstrable preventive effect. The median treatment effect was negative.</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median −13.4%</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Continuous digital feedback</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An intelligent insole with real-time alerts reduced recurrence — again mainly among those who kept using the device.</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proof of concept</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The pattern</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Each component addresses a necessary condition. None addresses a sufficient one.</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Not three disappointments but one: the effect is real every time, and conditional every time.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32</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9 · Bus 2013, DIAFOS   |   10 · van Netten 2016   |   12 · Abbott 2019</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THE SAME SHOE, TWO OUTCOMES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Why pressure alone is not enough</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Everyone</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Standard custom insole</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Pressure-optimised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No difference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Those who wore it</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of steps</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Standard custom insole</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Pressure-optimised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Almost halved — p = 0.045</a:t>
            </a:r>
          </a:p>
        </p:txBody>
      </p:sp>
      <p:sp>
        <p:nvSpPr>
          <p:cNvPr id="29" name="TextBox 28"/>
          <p:cNvSpPr txBox="1"/>
          <p:nvPr/>
        </p:nvSpPr>
        <p:spPr>
          <a:xfrm>
            <a:off x="5714857" y="5930751"/>
            <a:ext cx="5841853" cy="380990"/>
          </a:xfrm>
          <a:prstGeom prst="rect">
            <a:avLst/>
          </a:prstGeom>
          <a:noFill/>
        </p:spPr>
        <p:txBody>
          <a:bodyPr wrap="square" anchor="t" lIns="0" rIns="0" tIns="0" bIns="0">
            <a:spAutoFit/>
          </a:bodyPr>
          <a:lstStyle/>
          <a:p>
            <a:pPr algn="r">
              <a:lnSpc>
                <a:spcPct val="125000"/>
              </a:lnSpc>
            </a:pPr>
            <a:r>
              <a:rPr sz="2400" b="1">
                <a:solidFill>
                  <a:srgbClr val="F2F8FC"/>
                </a:solidFill>
                <a:latin typeface="Segoe UI"/>
              </a:rPr>
              <a:t>That is why we measure not only pressure, but wear time.</a:t>
            </a:r>
          </a:p>
        </p:txBody>
      </p:sp>
      <p:sp>
        <p:nvSpPr>
          <p:cNvPr id="30" name="TextBox 29"/>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participants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32</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3" name="TextBox 32"/>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adherence — measured,</a:t>
            </a:r>
          </a:p>
          <a:p>
            <a:pPr algn="l">
              <a:lnSpc>
                <a:spcPct val="120000"/>
              </a:lnSpc>
              <a:spcBef>
                <a:spcPts val="500"/>
              </a:spcBef>
            </a:pPr>
            <a:r>
              <a:rPr sz="3200" b="1">
                <a:solidFill>
                  <a:srgbClr val="F2F8FC"/>
                </a:solidFill>
                <a:latin typeface="Segoe UI"/>
              </a:rPr>
              <a:t>not asked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ADHERENCE AGAINST THE 80% TARGET</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Overall</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At home</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Outdoors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80% target</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patients</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32</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13 · Waaijman 2013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THE MECHANISM</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Loading is a product,</a:t>
            </a:r>
          </a:p>
          <a:p>
            <a:pPr algn="l">
              <a:lnSpc>
                <a:spcPct val="110000"/>
              </a:lnSpc>
              <a:spcBef>
                <a:spcPts val="500"/>
              </a:spcBef>
            </a:pPr>
            <a:r>
              <a:rPr sz="4000" b="1">
                <a:solidFill>
                  <a:srgbClr val="F2F8FC"/>
                </a:solidFill>
                <a:latin typeface="Segoe UI"/>
              </a:rPr>
              <a:t>not a sum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Peak pressure</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step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MODIFIED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Activity</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steps per day</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MEASURED</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Wear time</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was it worn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MODIFIED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One factor at zero makes the whole product zero. That is why PARADISE has two targets: one for pressure and one for wear time.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32</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14 · van Netten 2018   |   16 · Hulshof 2025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WHY THIS TRIAL IS POSSIBLE ONLY NOW</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Three things have changed</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Adherence is measurable</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The temperature sensor in orthopaedic footwear has been validated. Self-report systematically overestimates; wear time is now a testable target rather than an assumption.</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sensor</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The failure is explicable</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Under COM-B, knowledge transfer addresses capability alone. Opportunity and motivation — what happens at home, for years, unseen — were left untouched.</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COM-B</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The setting exists</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Belgium accredits multidisciplinary foot clinics with training requirements and minimum caseloads. That is where prevention ultimately has to land.</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RIZIV-INAMI</a:t>
            </a:r>
          </a:p>
        </p:txBody>
      </p:sp>
      <p:sp>
        <p:nvSpPr>
          <p:cNvPr id="17" name="Rounded Rectangle 16"/>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That is why adherence here is a co-primary endpoint, not a mediator inferred after the fact.</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32</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1" name="TextBox 20"/>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18 · Lutjeboer 2018   |   19 · Michie 2011, COM-B   |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WHAT PARADISE DOES DIFFERENTLY</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One service, not three separate measures</a:t>
            </a:r>
          </a:p>
        </p:txBody>
      </p:sp>
      <p:sp>
        <p:nvSpPr>
          <p:cNvPr id="5" name="Rounded Rectangle 4"/>
          <p:cNvSpPr/>
          <p:nvPr/>
        </p:nvSpPr>
        <p:spPr>
          <a:xfrm>
            <a:off x="634984" y="2031949"/>
            <a:ext cx="5384538" cy="394325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The insole méets the target</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&lt; 200 kPa ór 25% lower</a:t>
            </a:r>
          </a:p>
        </p:txBody>
      </p:sp>
      <p:sp>
        <p:nvSpPr>
          <p:cNvPr id="10" name="TextBox 9"/>
          <p:cNvSpPr txBox="1"/>
          <p:nvPr/>
        </p:nvSpPr>
        <p:spPr>
          <a:xfrm>
            <a:off x="888977" y="4165495"/>
            <a:ext cx="4876551" cy="1812930"/>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Measured at delivery, in three conditions.</a:t>
            </a:r>
          </a:p>
          <a:p>
            <a:pPr algn="l">
              <a:lnSpc>
                <a:spcPct val="132000"/>
              </a:lnSpc>
              <a:spcBef>
                <a:spcPts val="1200"/>
              </a:spcBef>
            </a:pPr>
            <a:r>
              <a:rPr sz="1450" b="0">
                <a:solidFill>
                  <a:srgbClr val="8FB6D0"/>
                </a:solidFill>
                <a:latin typeface="Segoe UI"/>
              </a:rPr>
              <a:t>Modified until the target is met in each of the three target regions.</a:t>
            </a:r>
          </a:p>
          <a:p>
            <a:pPr algn="l">
              <a:lnSpc>
                <a:spcPct val="132000"/>
              </a:lnSpc>
              <a:spcBef>
                <a:spcPts val="1200"/>
              </a:spcBef>
            </a:pPr>
            <a:r>
              <a:rPr sz="1450" b="0">
                <a:solidFill>
                  <a:srgbClr val="8FB6D0"/>
                </a:solidFill>
                <a:latin typeface="Segoe UI"/>
              </a:rPr>
              <a:t>Repeated at months 6, 12 and 18.</a:t>
            </a:r>
          </a:p>
        </p:txBody>
      </p:sp>
      <p:sp>
        <p:nvSpPr>
          <p:cNvPr id="11" name="Rounded Rectangle 10"/>
          <p:cNvSpPr/>
          <p:nvPr/>
        </p:nvSpPr>
        <p:spPr>
          <a:xfrm>
            <a:off x="6171918" y="2031949"/>
            <a:ext cx="5384538" cy="394325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And it ís worn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80% of the participant’s own activity profile</a:t>
            </a:r>
          </a:p>
        </p:txBody>
      </p:sp>
      <p:sp>
        <p:nvSpPr>
          <p:cNvPr id="16" name="TextBox 15"/>
          <p:cNvSpPr txBox="1"/>
          <p:nvPr/>
        </p:nvSpPr>
        <p:spPr>
          <a:xfrm>
            <a:off x="6425912" y="4165495"/>
            <a:ext cx="4876551" cy="1812930"/>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A sensor in the insole records wear time continuously.</a:t>
            </a:r>
          </a:p>
          <a:p>
            <a:pPr algn="l">
              <a:lnSpc>
                <a:spcPct val="132000"/>
              </a:lnSpc>
              <a:spcBef>
                <a:spcPts val="1200"/>
              </a:spcBef>
            </a:pPr>
            <a:r>
              <a:rPr sz="1450" b="0">
                <a:solidFill>
                  <a:srgbClr val="8FB6D0"/>
                </a:solidFill>
                <a:latin typeface="Segoe UI"/>
              </a:rPr>
              <a:t>Read out every three months and reviewed together.</a:t>
            </a:r>
          </a:p>
          <a:p>
            <a:pPr algn="l">
              <a:lnSpc>
                <a:spcPct val="132000"/>
              </a:lnSpc>
              <a:spcBef>
                <a:spcPts val="1200"/>
              </a:spcBef>
            </a:pPr>
            <a:r>
              <a:rPr sz="1450" b="0">
                <a:solidFill>
                  <a:srgbClr val="8FB6D0"/>
                </a:solidFill>
                <a:latin typeface="Segoe UI"/>
              </a:rPr>
              <a:t>Five conversations built on that data, not on good advice.</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32</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6 · Bus 2011   |   7 · Bus 2020   |   17 · Waaijman 2014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The measurement</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What is measured, how, and when it is good enough.</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32</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BAREFOOT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Every sensor a number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peak pressure at metatarsal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Target:  &lt; 200 kPa   or   ≥ 25% lower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is measured barefoot: sensors are taped directly to the foot with double-sided tape, with a standardised sock over them.</a:t>
            </a:r>
          </a:p>
          <a:p>
            <a:pPr algn="l">
              <a:lnSpc>
                <a:spcPct val="135000"/>
              </a:lnSpc>
              <a:spcBef>
                <a:spcPts val="1200"/>
              </a:spcBef>
            </a:pPr>
            <a:r>
              <a:rPr sz="1700" b="0">
                <a:solidFill>
                  <a:srgbClr val="8FB6D0"/>
                </a:solidFill>
                <a:latin typeface="Segoe UI"/>
              </a:rPr>
              <a:t>Three measurements per foot, left and right separately, from which the software derives one averaged peak-pressure map.</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 document 09 · Plantar pressure measurement,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32</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7 · Bus 2020   |   27 · Zwaferink 2024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p00_07"/>
          <p:cNvSpPr/>
          <p:nvPr/>
        </p:nvSpPr>
        <p:spPr>
          <a:xfrm>
            <a:off x="2426905" y="12636782"/>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00_08"/>
          <p:cNvSpPr/>
          <p:nvPr/>
        </p:nvSpPr>
        <p:spPr>
          <a:xfrm>
            <a:off x="283964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00_09"/>
          <p:cNvSpPr/>
          <p:nvPr/>
        </p:nvSpPr>
        <p:spPr>
          <a:xfrm>
            <a:off x="325238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10"/>
          <p:cNvSpPr/>
          <p:nvPr/>
        </p:nvSpPr>
        <p:spPr>
          <a:xfrm>
            <a:off x="3665125" y="12636782"/>
            <a:ext cx="257810" cy="257810"/>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1_06"/>
          <p:cNvSpPr/>
          <p:nvPr/>
        </p:nvSpPr>
        <p:spPr>
          <a:xfrm>
            <a:off x="2014166" y="1233700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1_07"/>
          <p:cNvSpPr/>
          <p:nvPr/>
        </p:nvSpPr>
        <p:spPr>
          <a:xfrm>
            <a:off x="2426905" y="12337002"/>
            <a:ext cx="257810" cy="257810"/>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8"/>
          <p:cNvSpPr/>
          <p:nvPr/>
        </p:nvSpPr>
        <p:spPr>
          <a:xfrm>
            <a:off x="2839645" y="12337002"/>
            <a:ext cx="257810" cy="257810"/>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9"/>
          <p:cNvSpPr/>
          <p:nvPr/>
        </p:nvSpPr>
        <p:spPr>
          <a:xfrm>
            <a:off x="3252385" y="12337002"/>
            <a:ext cx="257810" cy="257810"/>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10"/>
          <p:cNvSpPr/>
          <p:nvPr/>
        </p:nvSpPr>
        <p:spPr>
          <a:xfrm>
            <a:off x="3665125" y="12337002"/>
            <a:ext cx="257810" cy="257810"/>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11"/>
          <p:cNvSpPr/>
          <p:nvPr/>
        </p:nvSpPr>
        <p:spPr>
          <a:xfrm>
            <a:off x="4077864" y="1233700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2_05"/>
          <p:cNvSpPr/>
          <p:nvPr/>
        </p:nvSpPr>
        <p:spPr>
          <a:xfrm>
            <a:off x="1601426" y="12037223"/>
            <a:ext cx="257810" cy="257810"/>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2_06"/>
          <p:cNvSpPr/>
          <p:nvPr/>
        </p:nvSpPr>
        <p:spPr>
          <a:xfrm>
            <a:off x="2014166" y="12037223"/>
            <a:ext cx="257810" cy="257810"/>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7"/>
          <p:cNvSpPr/>
          <p:nvPr/>
        </p:nvSpPr>
        <p:spPr>
          <a:xfrm>
            <a:off x="2426905" y="12037223"/>
            <a:ext cx="257810" cy="257810"/>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8"/>
          <p:cNvSpPr/>
          <p:nvPr/>
        </p:nvSpPr>
        <p:spPr>
          <a:xfrm>
            <a:off x="283964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9"/>
          <p:cNvSpPr/>
          <p:nvPr/>
        </p:nvSpPr>
        <p:spPr>
          <a:xfrm>
            <a:off x="325238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10"/>
          <p:cNvSpPr/>
          <p:nvPr/>
        </p:nvSpPr>
        <p:spPr>
          <a:xfrm>
            <a:off x="3665125" y="12037223"/>
            <a:ext cx="257810" cy="257810"/>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11"/>
          <p:cNvSpPr/>
          <p:nvPr/>
        </p:nvSpPr>
        <p:spPr>
          <a:xfrm>
            <a:off x="4077864" y="12037223"/>
            <a:ext cx="257810" cy="257810"/>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2"/>
          <p:cNvSpPr/>
          <p:nvPr/>
        </p:nvSpPr>
        <p:spPr>
          <a:xfrm>
            <a:off x="4490604" y="12037223"/>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3_05"/>
          <p:cNvSpPr/>
          <p:nvPr/>
        </p:nvSpPr>
        <p:spPr>
          <a:xfrm>
            <a:off x="1601426" y="11737444"/>
            <a:ext cx="257810" cy="257810"/>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3_06"/>
          <p:cNvSpPr/>
          <p:nvPr/>
        </p:nvSpPr>
        <p:spPr>
          <a:xfrm>
            <a:off x="2014166" y="11737444"/>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7"/>
          <p:cNvSpPr/>
          <p:nvPr/>
        </p:nvSpPr>
        <p:spPr>
          <a:xfrm>
            <a:off x="2426905" y="11737444"/>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8"/>
          <p:cNvSpPr/>
          <p:nvPr/>
        </p:nvSpPr>
        <p:spPr>
          <a:xfrm>
            <a:off x="2839645" y="11737444"/>
            <a:ext cx="257810" cy="257810"/>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9"/>
          <p:cNvSpPr/>
          <p:nvPr/>
        </p:nvSpPr>
        <p:spPr>
          <a:xfrm>
            <a:off x="3252385" y="11737444"/>
            <a:ext cx="257810" cy="257810"/>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10"/>
          <p:cNvSpPr/>
          <p:nvPr/>
        </p:nvSpPr>
        <p:spPr>
          <a:xfrm>
            <a:off x="3665125" y="11737444"/>
            <a:ext cx="257810" cy="257810"/>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11"/>
          <p:cNvSpPr/>
          <p:nvPr/>
        </p:nvSpPr>
        <p:spPr>
          <a:xfrm>
            <a:off x="4077864" y="11737444"/>
            <a:ext cx="257810" cy="257810"/>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2"/>
          <p:cNvSpPr/>
          <p:nvPr/>
        </p:nvSpPr>
        <p:spPr>
          <a:xfrm>
            <a:off x="4490604" y="11737444"/>
            <a:ext cx="257810" cy="257810"/>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4_05"/>
          <p:cNvSpPr/>
          <p:nvPr/>
        </p:nvSpPr>
        <p:spPr>
          <a:xfrm>
            <a:off x="1601426" y="11437664"/>
            <a:ext cx="257810" cy="257810"/>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4_06"/>
          <p:cNvSpPr/>
          <p:nvPr/>
        </p:nvSpPr>
        <p:spPr>
          <a:xfrm>
            <a:off x="2014166" y="11437664"/>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7"/>
          <p:cNvSpPr/>
          <p:nvPr/>
        </p:nvSpPr>
        <p:spPr>
          <a:xfrm>
            <a:off x="242690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8"/>
          <p:cNvSpPr/>
          <p:nvPr/>
        </p:nvSpPr>
        <p:spPr>
          <a:xfrm>
            <a:off x="283964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9"/>
          <p:cNvSpPr/>
          <p:nvPr/>
        </p:nvSpPr>
        <p:spPr>
          <a:xfrm>
            <a:off x="325238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10"/>
          <p:cNvSpPr/>
          <p:nvPr/>
        </p:nvSpPr>
        <p:spPr>
          <a:xfrm>
            <a:off x="366512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11"/>
          <p:cNvSpPr/>
          <p:nvPr/>
        </p:nvSpPr>
        <p:spPr>
          <a:xfrm>
            <a:off x="4077864" y="11437664"/>
            <a:ext cx="257810" cy="257810"/>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2"/>
          <p:cNvSpPr/>
          <p:nvPr/>
        </p:nvSpPr>
        <p:spPr>
          <a:xfrm>
            <a:off x="4490604" y="11437664"/>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5_05"/>
          <p:cNvSpPr/>
          <p:nvPr/>
        </p:nvSpPr>
        <p:spPr>
          <a:xfrm>
            <a:off x="1601426" y="11137885"/>
            <a:ext cx="257810" cy="257810"/>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5_06"/>
          <p:cNvSpPr/>
          <p:nvPr/>
        </p:nvSpPr>
        <p:spPr>
          <a:xfrm>
            <a:off x="2014166"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7"/>
          <p:cNvSpPr/>
          <p:nvPr/>
        </p:nvSpPr>
        <p:spPr>
          <a:xfrm>
            <a:off x="2426905" y="11137885"/>
            <a:ext cx="257810" cy="257810"/>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8"/>
          <p:cNvSpPr/>
          <p:nvPr/>
        </p:nvSpPr>
        <p:spPr>
          <a:xfrm>
            <a:off x="2839645" y="11137885"/>
            <a:ext cx="257810" cy="257810"/>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9"/>
          <p:cNvSpPr/>
          <p:nvPr/>
        </p:nvSpPr>
        <p:spPr>
          <a:xfrm>
            <a:off x="3252385" y="11137885"/>
            <a:ext cx="257810" cy="257810"/>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10"/>
          <p:cNvSpPr/>
          <p:nvPr/>
        </p:nvSpPr>
        <p:spPr>
          <a:xfrm>
            <a:off x="3665125" y="11137885"/>
            <a:ext cx="257810" cy="257810"/>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11"/>
          <p:cNvSpPr/>
          <p:nvPr/>
        </p:nvSpPr>
        <p:spPr>
          <a:xfrm>
            <a:off x="4077864"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2"/>
          <p:cNvSpPr/>
          <p:nvPr/>
        </p:nvSpPr>
        <p:spPr>
          <a:xfrm>
            <a:off x="4490604" y="11137885"/>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6_05"/>
          <p:cNvSpPr/>
          <p:nvPr/>
        </p:nvSpPr>
        <p:spPr>
          <a:xfrm>
            <a:off x="1601426" y="1083810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6_06"/>
          <p:cNvSpPr/>
          <p:nvPr/>
        </p:nvSpPr>
        <p:spPr>
          <a:xfrm>
            <a:off x="2014166" y="1083810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7"/>
          <p:cNvSpPr/>
          <p:nvPr/>
        </p:nvSpPr>
        <p:spPr>
          <a:xfrm>
            <a:off x="2426905" y="1083810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8"/>
          <p:cNvSpPr/>
          <p:nvPr/>
        </p:nvSpPr>
        <p:spPr>
          <a:xfrm>
            <a:off x="2839645" y="10838106"/>
            <a:ext cx="257810" cy="257810"/>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9"/>
          <p:cNvSpPr/>
          <p:nvPr/>
        </p:nvSpPr>
        <p:spPr>
          <a:xfrm>
            <a:off x="3252385" y="10838106"/>
            <a:ext cx="257810" cy="257810"/>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10"/>
          <p:cNvSpPr/>
          <p:nvPr/>
        </p:nvSpPr>
        <p:spPr>
          <a:xfrm>
            <a:off x="3665125" y="10838106"/>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11"/>
          <p:cNvSpPr/>
          <p:nvPr/>
        </p:nvSpPr>
        <p:spPr>
          <a:xfrm>
            <a:off x="4077864" y="10838106"/>
            <a:ext cx="257810" cy="257810"/>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2"/>
          <p:cNvSpPr/>
          <p:nvPr/>
        </p:nvSpPr>
        <p:spPr>
          <a:xfrm>
            <a:off x="4490604" y="10838106"/>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7_05"/>
          <p:cNvSpPr/>
          <p:nvPr/>
        </p:nvSpPr>
        <p:spPr>
          <a:xfrm>
            <a:off x="1601426" y="10538326"/>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7_06"/>
          <p:cNvSpPr/>
          <p:nvPr/>
        </p:nvSpPr>
        <p:spPr>
          <a:xfrm>
            <a:off x="2014166" y="10538326"/>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7"/>
          <p:cNvSpPr/>
          <p:nvPr/>
        </p:nvSpPr>
        <p:spPr>
          <a:xfrm>
            <a:off x="2426905" y="10538326"/>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8"/>
          <p:cNvSpPr/>
          <p:nvPr/>
        </p:nvSpPr>
        <p:spPr>
          <a:xfrm>
            <a:off x="2839645" y="10538326"/>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9"/>
          <p:cNvSpPr/>
          <p:nvPr/>
        </p:nvSpPr>
        <p:spPr>
          <a:xfrm>
            <a:off x="3252385" y="10538326"/>
            <a:ext cx="257810" cy="257810"/>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10"/>
          <p:cNvSpPr/>
          <p:nvPr/>
        </p:nvSpPr>
        <p:spPr>
          <a:xfrm>
            <a:off x="3665125" y="10538326"/>
            <a:ext cx="257810" cy="257810"/>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11"/>
          <p:cNvSpPr/>
          <p:nvPr/>
        </p:nvSpPr>
        <p:spPr>
          <a:xfrm>
            <a:off x="4077864" y="10538326"/>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2"/>
          <p:cNvSpPr/>
          <p:nvPr/>
        </p:nvSpPr>
        <p:spPr>
          <a:xfrm>
            <a:off x="4490604" y="1053832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8_05"/>
          <p:cNvSpPr/>
          <p:nvPr/>
        </p:nvSpPr>
        <p:spPr>
          <a:xfrm>
            <a:off x="1601426" y="10238547"/>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8_06"/>
          <p:cNvSpPr/>
          <p:nvPr/>
        </p:nvSpPr>
        <p:spPr>
          <a:xfrm>
            <a:off x="2014166" y="10238547"/>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7"/>
          <p:cNvSpPr/>
          <p:nvPr/>
        </p:nvSpPr>
        <p:spPr>
          <a:xfrm>
            <a:off x="2426905" y="10238547"/>
            <a:ext cx="257810" cy="257810"/>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8"/>
          <p:cNvSpPr/>
          <p:nvPr/>
        </p:nvSpPr>
        <p:spPr>
          <a:xfrm>
            <a:off x="2839645" y="10238547"/>
            <a:ext cx="257810" cy="257810"/>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9"/>
          <p:cNvSpPr/>
          <p:nvPr/>
        </p:nvSpPr>
        <p:spPr>
          <a:xfrm>
            <a:off x="3252385" y="10238547"/>
            <a:ext cx="257810" cy="257810"/>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10"/>
          <p:cNvSpPr/>
          <p:nvPr/>
        </p:nvSpPr>
        <p:spPr>
          <a:xfrm>
            <a:off x="3665125" y="10238547"/>
            <a:ext cx="257810" cy="257810"/>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11"/>
          <p:cNvSpPr/>
          <p:nvPr/>
        </p:nvSpPr>
        <p:spPr>
          <a:xfrm>
            <a:off x="4077864" y="10238547"/>
            <a:ext cx="257810" cy="257810"/>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2"/>
          <p:cNvSpPr/>
          <p:nvPr/>
        </p:nvSpPr>
        <p:spPr>
          <a:xfrm>
            <a:off x="4490604" y="10238547"/>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9_05"/>
          <p:cNvSpPr/>
          <p:nvPr/>
        </p:nvSpPr>
        <p:spPr>
          <a:xfrm>
            <a:off x="1601426" y="9938768"/>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9_06"/>
          <p:cNvSpPr/>
          <p:nvPr/>
        </p:nvSpPr>
        <p:spPr>
          <a:xfrm>
            <a:off x="2014166" y="9938768"/>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7"/>
          <p:cNvSpPr/>
          <p:nvPr/>
        </p:nvSpPr>
        <p:spPr>
          <a:xfrm>
            <a:off x="2426905" y="9938768"/>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8"/>
          <p:cNvSpPr/>
          <p:nvPr/>
        </p:nvSpPr>
        <p:spPr>
          <a:xfrm>
            <a:off x="2839645" y="9938768"/>
            <a:ext cx="257810" cy="257810"/>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9"/>
          <p:cNvSpPr/>
          <p:nvPr/>
        </p:nvSpPr>
        <p:spPr>
          <a:xfrm>
            <a:off x="3252385" y="9938768"/>
            <a:ext cx="257810" cy="257810"/>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10"/>
          <p:cNvSpPr/>
          <p:nvPr/>
        </p:nvSpPr>
        <p:spPr>
          <a:xfrm>
            <a:off x="3665125" y="9938768"/>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11"/>
          <p:cNvSpPr/>
          <p:nvPr/>
        </p:nvSpPr>
        <p:spPr>
          <a:xfrm>
            <a:off x="4077864" y="9938768"/>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2"/>
          <p:cNvSpPr/>
          <p:nvPr/>
        </p:nvSpPr>
        <p:spPr>
          <a:xfrm>
            <a:off x="4490604" y="9938768"/>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10_06"/>
          <p:cNvSpPr/>
          <p:nvPr/>
        </p:nvSpPr>
        <p:spPr>
          <a:xfrm>
            <a:off x="2014166" y="9638988"/>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10_07"/>
          <p:cNvSpPr/>
          <p:nvPr/>
        </p:nvSpPr>
        <p:spPr>
          <a:xfrm>
            <a:off x="2426905" y="9638988"/>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8"/>
          <p:cNvSpPr/>
          <p:nvPr/>
        </p:nvSpPr>
        <p:spPr>
          <a:xfrm>
            <a:off x="2839645" y="9638988"/>
            <a:ext cx="257810" cy="257810"/>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9"/>
          <p:cNvSpPr/>
          <p:nvPr/>
        </p:nvSpPr>
        <p:spPr>
          <a:xfrm>
            <a:off x="3252385" y="963898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10"/>
          <p:cNvSpPr/>
          <p:nvPr/>
        </p:nvSpPr>
        <p:spPr>
          <a:xfrm>
            <a:off x="3665125" y="9638988"/>
            <a:ext cx="257810" cy="257810"/>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11"/>
          <p:cNvSpPr/>
          <p:nvPr/>
        </p:nvSpPr>
        <p:spPr>
          <a:xfrm>
            <a:off x="4077864" y="9638988"/>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2"/>
          <p:cNvSpPr/>
          <p:nvPr/>
        </p:nvSpPr>
        <p:spPr>
          <a:xfrm>
            <a:off x="4490604" y="9638988"/>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1_06"/>
          <p:cNvSpPr/>
          <p:nvPr/>
        </p:nvSpPr>
        <p:spPr>
          <a:xfrm>
            <a:off x="2014166" y="9339209"/>
            <a:ext cx="257810" cy="257810"/>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1_07"/>
          <p:cNvSpPr/>
          <p:nvPr/>
        </p:nvSpPr>
        <p:spPr>
          <a:xfrm>
            <a:off x="2426905" y="9339209"/>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8"/>
          <p:cNvSpPr/>
          <p:nvPr/>
        </p:nvSpPr>
        <p:spPr>
          <a:xfrm>
            <a:off x="2839645" y="9339209"/>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9"/>
          <p:cNvSpPr/>
          <p:nvPr/>
        </p:nvSpPr>
        <p:spPr>
          <a:xfrm>
            <a:off x="3252385" y="9339209"/>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10"/>
          <p:cNvSpPr/>
          <p:nvPr/>
        </p:nvSpPr>
        <p:spPr>
          <a:xfrm>
            <a:off x="3665125" y="9339209"/>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11"/>
          <p:cNvSpPr/>
          <p:nvPr/>
        </p:nvSpPr>
        <p:spPr>
          <a:xfrm>
            <a:off x="4077864" y="9339209"/>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2"/>
          <p:cNvSpPr/>
          <p:nvPr/>
        </p:nvSpPr>
        <p:spPr>
          <a:xfrm>
            <a:off x="4490604" y="933920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2_06"/>
          <p:cNvSpPr/>
          <p:nvPr/>
        </p:nvSpPr>
        <p:spPr>
          <a:xfrm>
            <a:off x="2014166" y="9039430"/>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2_07"/>
          <p:cNvSpPr/>
          <p:nvPr/>
        </p:nvSpPr>
        <p:spPr>
          <a:xfrm>
            <a:off x="2426905" y="9039430"/>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8"/>
          <p:cNvSpPr/>
          <p:nvPr/>
        </p:nvSpPr>
        <p:spPr>
          <a:xfrm>
            <a:off x="2839645" y="9039430"/>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9"/>
          <p:cNvSpPr/>
          <p:nvPr/>
        </p:nvSpPr>
        <p:spPr>
          <a:xfrm>
            <a:off x="3252385" y="9039430"/>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10"/>
          <p:cNvSpPr/>
          <p:nvPr/>
        </p:nvSpPr>
        <p:spPr>
          <a:xfrm>
            <a:off x="3665125" y="903943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11"/>
          <p:cNvSpPr/>
          <p:nvPr/>
        </p:nvSpPr>
        <p:spPr>
          <a:xfrm>
            <a:off x="4077864" y="9039430"/>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2"/>
          <p:cNvSpPr/>
          <p:nvPr/>
        </p:nvSpPr>
        <p:spPr>
          <a:xfrm>
            <a:off x="4490604" y="9039430"/>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3_06"/>
          <p:cNvSpPr/>
          <p:nvPr/>
        </p:nvSpPr>
        <p:spPr>
          <a:xfrm>
            <a:off x="2014166" y="8739650"/>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3_07"/>
          <p:cNvSpPr/>
          <p:nvPr/>
        </p:nvSpPr>
        <p:spPr>
          <a:xfrm>
            <a:off x="2426905" y="8739650"/>
            <a:ext cx="257810" cy="257810"/>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8"/>
          <p:cNvSpPr/>
          <p:nvPr/>
        </p:nvSpPr>
        <p:spPr>
          <a:xfrm>
            <a:off x="2839645" y="8739650"/>
            <a:ext cx="257810" cy="257810"/>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9"/>
          <p:cNvSpPr/>
          <p:nvPr/>
        </p:nvSpPr>
        <p:spPr>
          <a:xfrm>
            <a:off x="3252385" y="8739650"/>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10"/>
          <p:cNvSpPr/>
          <p:nvPr/>
        </p:nvSpPr>
        <p:spPr>
          <a:xfrm>
            <a:off x="3665125" y="873965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11"/>
          <p:cNvSpPr/>
          <p:nvPr/>
        </p:nvSpPr>
        <p:spPr>
          <a:xfrm>
            <a:off x="4077864" y="8739650"/>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2"/>
          <p:cNvSpPr/>
          <p:nvPr/>
        </p:nvSpPr>
        <p:spPr>
          <a:xfrm>
            <a:off x="4490604" y="8739650"/>
            <a:ext cx="257810" cy="257810"/>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4_06"/>
          <p:cNvSpPr/>
          <p:nvPr/>
        </p:nvSpPr>
        <p:spPr>
          <a:xfrm>
            <a:off x="2014166" y="843987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4_07"/>
          <p:cNvSpPr/>
          <p:nvPr/>
        </p:nvSpPr>
        <p:spPr>
          <a:xfrm>
            <a:off x="2426905" y="8439871"/>
            <a:ext cx="257810" cy="257810"/>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8"/>
          <p:cNvSpPr/>
          <p:nvPr/>
        </p:nvSpPr>
        <p:spPr>
          <a:xfrm>
            <a:off x="2839645" y="8439871"/>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9"/>
          <p:cNvSpPr/>
          <p:nvPr/>
        </p:nvSpPr>
        <p:spPr>
          <a:xfrm>
            <a:off x="3252385" y="8439871"/>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10"/>
          <p:cNvSpPr/>
          <p:nvPr/>
        </p:nvSpPr>
        <p:spPr>
          <a:xfrm>
            <a:off x="3665125" y="8439871"/>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11"/>
          <p:cNvSpPr/>
          <p:nvPr/>
        </p:nvSpPr>
        <p:spPr>
          <a:xfrm>
            <a:off x="4077864" y="8439871"/>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2"/>
          <p:cNvSpPr/>
          <p:nvPr/>
        </p:nvSpPr>
        <p:spPr>
          <a:xfrm>
            <a:off x="4490604" y="8439871"/>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5_07"/>
          <p:cNvSpPr/>
          <p:nvPr/>
        </p:nvSpPr>
        <p:spPr>
          <a:xfrm>
            <a:off x="2426905" y="814009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5_08"/>
          <p:cNvSpPr/>
          <p:nvPr/>
        </p:nvSpPr>
        <p:spPr>
          <a:xfrm>
            <a:off x="2839645" y="8140092"/>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9"/>
          <p:cNvSpPr/>
          <p:nvPr/>
        </p:nvSpPr>
        <p:spPr>
          <a:xfrm>
            <a:off x="3252385" y="8140092"/>
            <a:ext cx="257810" cy="257810"/>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10"/>
          <p:cNvSpPr/>
          <p:nvPr/>
        </p:nvSpPr>
        <p:spPr>
          <a:xfrm>
            <a:off x="3665125" y="8140092"/>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11"/>
          <p:cNvSpPr/>
          <p:nvPr/>
        </p:nvSpPr>
        <p:spPr>
          <a:xfrm>
            <a:off x="4077864" y="814009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2"/>
          <p:cNvSpPr/>
          <p:nvPr/>
        </p:nvSpPr>
        <p:spPr>
          <a:xfrm>
            <a:off x="4490604" y="8140092"/>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3"/>
          <p:cNvSpPr/>
          <p:nvPr/>
        </p:nvSpPr>
        <p:spPr>
          <a:xfrm>
            <a:off x="4903344" y="8140092"/>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6_07"/>
          <p:cNvSpPr/>
          <p:nvPr/>
        </p:nvSpPr>
        <p:spPr>
          <a:xfrm>
            <a:off x="2426905" y="7840312"/>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6_08"/>
          <p:cNvSpPr/>
          <p:nvPr/>
        </p:nvSpPr>
        <p:spPr>
          <a:xfrm>
            <a:off x="2839645" y="7840312"/>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9"/>
          <p:cNvSpPr/>
          <p:nvPr/>
        </p:nvSpPr>
        <p:spPr>
          <a:xfrm>
            <a:off x="3252385" y="7840312"/>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10"/>
          <p:cNvSpPr/>
          <p:nvPr/>
        </p:nvSpPr>
        <p:spPr>
          <a:xfrm>
            <a:off x="3665125" y="7840312"/>
            <a:ext cx="257810" cy="257810"/>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11"/>
          <p:cNvSpPr/>
          <p:nvPr/>
        </p:nvSpPr>
        <p:spPr>
          <a:xfrm>
            <a:off x="4077864" y="784031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2"/>
          <p:cNvSpPr/>
          <p:nvPr/>
        </p:nvSpPr>
        <p:spPr>
          <a:xfrm>
            <a:off x="4490604" y="7840312"/>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3"/>
          <p:cNvSpPr/>
          <p:nvPr/>
        </p:nvSpPr>
        <p:spPr>
          <a:xfrm>
            <a:off x="4903344" y="7840312"/>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7_07"/>
          <p:cNvSpPr/>
          <p:nvPr/>
        </p:nvSpPr>
        <p:spPr>
          <a:xfrm>
            <a:off x="2426905" y="7540533"/>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7_08"/>
          <p:cNvSpPr/>
          <p:nvPr/>
        </p:nvSpPr>
        <p:spPr>
          <a:xfrm>
            <a:off x="2839645" y="7540533"/>
            <a:ext cx="257810" cy="257810"/>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9"/>
          <p:cNvSpPr/>
          <p:nvPr/>
        </p:nvSpPr>
        <p:spPr>
          <a:xfrm>
            <a:off x="3252385" y="7540533"/>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10"/>
          <p:cNvSpPr/>
          <p:nvPr/>
        </p:nvSpPr>
        <p:spPr>
          <a:xfrm>
            <a:off x="3665125" y="7540533"/>
            <a:ext cx="257810" cy="257810"/>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11"/>
          <p:cNvSpPr/>
          <p:nvPr/>
        </p:nvSpPr>
        <p:spPr>
          <a:xfrm>
            <a:off x="4077864" y="7540533"/>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2"/>
          <p:cNvSpPr/>
          <p:nvPr/>
        </p:nvSpPr>
        <p:spPr>
          <a:xfrm>
            <a:off x="4490604" y="7540533"/>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3"/>
          <p:cNvSpPr/>
          <p:nvPr/>
        </p:nvSpPr>
        <p:spPr>
          <a:xfrm>
            <a:off x="4903344" y="7540533"/>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8_06"/>
          <p:cNvSpPr/>
          <p:nvPr/>
        </p:nvSpPr>
        <p:spPr>
          <a:xfrm>
            <a:off x="2014166" y="7240754"/>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8_07"/>
          <p:cNvSpPr/>
          <p:nvPr/>
        </p:nvSpPr>
        <p:spPr>
          <a:xfrm>
            <a:off x="2426905" y="7240754"/>
            <a:ext cx="257810" cy="257810"/>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8"/>
          <p:cNvSpPr/>
          <p:nvPr/>
        </p:nvSpPr>
        <p:spPr>
          <a:xfrm>
            <a:off x="2839645" y="7240754"/>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9"/>
          <p:cNvSpPr/>
          <p:nvPr/>
        </p:nvSpPr>
        <p:spPr>
          <a:xfrm>
            <a:off x="3252385" y="724075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10"/>
          <p:cNvSpPr/>
          <p:nvPr/>
        </p:nvSpPr>
        <p:spPr>
          <a:xfrm>
            <a:off x="3665125" y="7240754"/>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11"/>
          <p:cNvSpPr/>
          <p:nvPr/>
        </p:nvSpPr>
        <p:spPr>
          <a:xfrm>
            <a:off x="4077864" y="7240754"/>
            <a:ext cx="257810" cy="257810"/>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2"/>
          <p:cNvSpPr/>
          <p:nvPr/>
        </p:nvSpPr>
        <p:spPr>
          <a:xfrm>
            <a:off x="4490604" y="7240754"/>
            <a:ext cx="257810" cy="257810"/>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3"/>
          <p:cNvSpPr/>
          <p:nvPr/>
        </p:nvSpPr>
        <p:spPr>
          <a:xfrm>
            <a:off x="4903344" y="7240754"/>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9_06"/>
          <p:cNvSpPr/>
          <p:nvPr/>
        </p:nvSpPr>
        <p:spPr>
          <a:xfrm>
            <a:off x="2014166"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9_07"/>
          <p:cNvSpPr/>
          <p:nvPr/>
        </p:nvSpPr>
        <p:spPr>
          <a:xfrm>
            <a:off x="2426905" y="6940974"/>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8"/>
          <p:cNvSpPr/>
          <p:nvPr/>
        </p:nvSpPr>
        <p:spPr>
          <a:xfrm>
            <a:off x="2839645" y="6940974"/>
            <a:ext cx="257810" cy="257810"/>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9"/>
          <p:cNvSpPr/>
          <p:nvPr/>
        </p:nvSpPr>
        <p:spPr>
          <a:xfrm>
            <a:off x="325238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10"/>
          <p:cNvSpPr/>
          <p:nvPr/>
        </p:nvSpPr>
        <p:spPr>
          <a:xfrm>
            <a:off x="366512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11"/>
          <p:cNvSpPr/>
          <p:nvPr/>
        </p:nvSpPr>
        <p:spPr>
          <a:xfrm>
            <a:off x="4077864" y="6940974"/>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2"/>
          <p:cNvSpPr/>
          <p:nvPr/>
        </p:nvSpPr>
        <p:spPr>
          <a:xfrm>
            <a:off x="4490604" y="6940974"/>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3"/>
          <p:cNvSpPr/>
          <p:nvPr/>
        </p:nvSpPr>
        <p:spPr>
          <a:xfrm>
            <a:off x="4903344"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20_06"/>
          <p:cNvSpPr/>
          <p:nvPr/>
        </p:nvSpPr>
        <p:spPr>
          <a:xfrm>
            <a:off x="2014166" y="6641195"/>
            <a:ext cx="257810" cy="257810"/>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20_07"/>
          <p:cNvSpPr/>
          <p:nvPr/>
        </p:nvSpPr>
        <p:spPr>
          <a:xfrm>
            <a:off x="2426905" y="664119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8"/>
          <p:cNvSpPr/>
          <p:nvPr/>
        </p:nvSpPr>
        <p:spPr>
          <a:xfrm>
            <a:off x="2839645" y="6641195"/>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9"/>
          <p:cNvSpPr/>
          <p:nvPr/>
        </p:nvSpPr>
        <p:spPr>
          <a:xfrm>
            <a:off x="3252385" y="6641195"/>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10"/>
          <p:cNvSpPr/>
          <p:nvPr/>
        </p:nvSpPr>
        <p:spPr>
          <a:xfrm>
            <a:off x="3665125" y="6641195"/>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11"/>
          <p:cNvSpPr/>
          <p:nvPr/>
        </p:nvSpPr>
        <p:spPr>
          <a:xfrm>
            <a:off x="4077864" y="6641195"/>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2"/>
          <p:cNvSpPr/>
          <p:nvPr/>
        </p:nvSpPr>
        <p:spPr>
          <a:xfrm>
            <a:off x="4490604" y="6641195"/>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3"/>
          <p:cNvSpPr/>
          <p:nvPr/>
        </p:nvSpPr>
        <p:spPr>
          <a:xfrm>
            <a:off x="4903344" y="6641195"/>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1_05"/>
          <p:cNvSpPr/>
          <p:nvPr/>
        </p:nvSpPr>
        <p:spPr>
          <a:xfrm>
            <a:off x="1601426" y="6341416"/>
            <a:ext cx="257810" cy="257810"/>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1_06"/>
          <p:cNvSpPr/>
          <p:nvPr/>
        </p:nvSpPr>
        <p:spPr>
          <a:xfrm>
            <a:off x="2014166" y="6341416"/>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7"/>
          <p:cNvSpPr/>
          <p:nvPr/>
        </p:nvSpPr>
        <p:spPr>
          <a:xfrm>
            <a:off x="2426905" y="6341416"/>
            <a:ext cx="257810" cy="257810"/>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8"/>
          <p:cNvSpPr/>
          <p:nvPr/>
        </p:nvSpPr>
        <p:spPr>
          <a:xfrm>
            <a:off x="2839645" y="634141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9"/>
          <p:cNvSpPr/>
          <p:nvPr/>
        </p:nvSpPr>
        <p:spPr>
          <a:xfrm>
            <a:off x="3252385" y="6341416"/>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10"/>
          <p:cNvSpPr/>
          <p:nvPr/>
        </p:nvSpPr>
        <p:spPr>
          <a:xfrm>
            <a:off x="3665125" y="6341416"/>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11"/>
          <p:cNvSpPr/>
          <p:nvPr/>
        </p:nvSpPr>
        <p:spPr>
          <a:xfrm>
            <a:off x="4077864" y="6341416"/>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2"/>
          <p:cNvSpPr/>
          <p:nvPr/>
        </p:nvSpPr>
        <p:spPr>
          <a:xfrm>
            <a:off x="4490604" y="6341416"/>
            <a:ext cx="257810" cy="257810"/>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3"/>
          <p:cNvSpPr/>
          <p:nvPr/>
        </p:nvSpPr>
        <p:spPr>
          <a:xfrm>
            <a:off x="4903344" y="634141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2_05"/>
          <p:cNvSpPr/>
          <p:nvPr/>
        </p:nvSpPr>
        <p:spPr>
          <a:xfrm>
            <a:off x="1601426" y="6041636"/>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2_06"/>
          <p:cNvSpPr/>
          <p:nvPr/>
        </p:nvSpPr>
        <p:spPr>
          <a:xfrm>
            <a:off x="2014166" y="6041636"/>
            <a:ext cx="257810" cy="257810"/>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7"/>
          <p:cNvSpPr/>
          <p:nvPr/>
        </p:nvSpPr>
        <p:spPr>
          <a:xfrm>
            <a:off x="2426905" y="6041636"/>
            <a:ext cx="257810" cy="257810"/>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8"/>
          <p:cNvSpPr/>
          <p:nvPr/>
        </p:nvSpPr>
        <p:spPr>
          <a:xfrm>
            <a:off x="2839645" y="6041636"/>
            <a:ext cx="257810" cy="257810"/>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9"/>
          <p:cNvSpPr/>
          <p:nvPr/>
        </p:nvSpPr>
        <p:spPr>
          <a:xfrm>
            <a:off x="3252385" y="6041636"/>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10"/>
          <p:cNvSpPr/>
          <p:nvPr/>
        </p:nvSpPr>
        <p:spPr>
          <a:xfrm>
            <a:off x="3665125" y="6041636"/>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11"/>
          <p:cNvSpPr/>
          <p:nvPr/>
        </p:nvSpPr>
        <p:spPr>
          <a:xfrm>
            <a:off x="4077864" y="6041636"/>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2"/>
          <p:cNvSpPr/>
          <p:nvPr/>
        </p:nvSpPr>
        <p:spPr>
          <a:xfrm>
            <a:off x="4490604" y="6041636"/>
            <a:ext cx="257810" cy="257810"/>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3"/>
          <p:cNvSpPr/>
          <p:nvPr/>
        </p:nvSpPr>
        <p:spPr>
          <a:xfrm>
            <a:off x="4903344" y="6041636"/>
            <a:ext cx="257810" cy="257810"/>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3_04"/>
          <p:cNvSpPr/>
          <p:nvPr/>
        </p:nvSpPr>
        <p:spPr>
          <a:xfrm>
            <a:off x="1188686" y="5741857"/>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3_05"/>
          <p:cNvSpPr/>
          <p:nvPr/>
        </p:nvSpPr>
        <p:spPr>
          <a:xfrm>
            <a:off x="1601426" y="574185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6"/>
          <p:cNvSpPr/>
          <p:nvPr/>
        </p:nvSpPr>
        <p:spPr>
          <a:xfrm>
            <a:off x="2014166" y="5741857"/>
            <a:ext cx="257810" cy="257810"/>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7"/>
          <p:cNvSpPr/>
          <p:nvPr/>
        </p:nvSpPr>
        <p:spPr>
          <a:xfrm>
            <a:off x="2426905" y="5741857"/>
            <a:ext cx="257810" cy="257810"/>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8"/>
          <p:cNvSpPr/>
          <p:nvPr/>
        </p:nvSpPr>
        <p:spPr>
          <a:xfrm>
            <a:off x="2839645" y="5741857"/>
            <a:ext cx="257810" cy="257810"/>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9"/>
          <p:cNvSpPr/>
          <p:nvPr/>
        </p:nvSpPr>
        <p:spPr>
          <a:xfrm>
            <a:off x="3252385" y="5741857"/>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10"/>
          <p:cNvSpPr/>
          <p:nvPr/>
        </p:nvSpPr>
        <p:spPr>
          <a:xfrm>
            <a:off x="3665125" y="5741857"/>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11"/>
          <p:cNvSpPr/>
          <p:nvPr/>
        </p:nvSpPr>
        <p:spPr>
          <a:xfrm>
            <a:off x="4077864" y="5741857"/>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2"/>
          <p:cNvSpPr/>
          <p:nvPr/>
        </p:nvSpPr>
        <p:spPr>
          <a:xfrm>
            <a:off x="4490604" y="5741857"/>
            <a:ext cx="257810" cy="257810"/>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3"/>
          <p:cNvSpPr/>
          <p:nvPr/>
        </p:nvSpPr>
        <p:spPr>
          <a:xfrm>
            <a:off x="4903344" y="5741857"/>
            <a:ext cx="257810" cy="257810"/>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4"/>
          <p:cNvSpPr/>
          <p:nvPr/>
        </p:nvSpPr>
        <p:spPr>
          <a:xfrm>
            <a:off x="5316083" y="5741857"/>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4_04"/>
          <p:cNvSpPr/>
          <p:nvPr/>
        </p:nvSpPr>
        <p:spPr>
          <a:xfrm>
            <a:off x="1188686" y="5442077"/>
            <a:ext cx="257810" cy="257810"/>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4_05"/>
          <p:cNvSpPr/>
          <p:nvPr/>
        </p:nvSpPr>
        <p:spPr>
          <a:xfrm>
            <a:off x="1601426" y="5442077"/>
            <a:ext cx="257810" cy="257810"/>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6"/>
          <p:cNvSpPr/>
          <p:nvPr/>
        </p:nvSpPr>
        <p:spPr>
          <a:xfrm>
            <a:off x="2014166" y="5442077"/>
            <a:ext cx="257810" cy="257810"/>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7"/>
          <p:cNvSpPr/>
          <p:nvPr/>
        </p:nvSpPr>
        <p:spPr>
          <a:xfrm>
            <a:off x="2426905" y="5442077"/>
            <a:ext cx="257810" cy="257810"/>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8"/>
          <p:cNvSpPr/>
          <p:nvPr/>
        </p:nvSpPr>
        <p:spPr>
          <a:xfrm>
            <a:off x="2839645" y="5442077"/>
            <a:ext cx="257810" cy="257810"/>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9"/>
          <p:cNvSpPr/>
          <p:nvPr/>
        </p:nvSpPr>
        <p:spPr>
          <a:xfrm>
            <a:off x="3252385" y="544207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10"/>
          <p:cNvSpPr/>
          <p:nvPr/>
        </p:nvSpPr>
        <p:spPr>
          <a:xfrm>
            <a:off x="3665125" y="5442077"/>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11"/>
          <p:cNvSpPr/>
          <p:nvPr/>
        </p:nvSpPr>
        <p:spPr>
          <a:xfrm>
            <a:off x="4077864" y="5442077"/>
            <a:ext cx="257810" cy="257810"/>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2"/>
          <p:cNvSpPr/>
          <p:nvPr/>
        </p:nvSpPr>
        <p:spPr>
          <a:xfrm>
            <a:off x="4490604" y="5442077"/>
            <a:ext cx="257810" cy="257810"/>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3"/>
          <p:cNvSpPr/>
          <p:nvPr/>
        </p:nvSpPr>
        <p:spPr>
          <a:xfrm>
            <a:off x="4903344" y="5442077"/>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4"/>
          <p:cNvSpPr/>
          <p:nvPr/>
        </p:nvSpPr>
        <p:spPr>
          <a:xfrm>
            <a:off x="5316083" y="5442077"/>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5_04"/>
          <p:cNvSpPr/>
          <p:nvPr/>
        </p:nvSpPr>
        <p:spPr>
          <a:xfrm>
            <a:off x="1188686" y="5142298"/>
            <a:ext cx="257810" cy="257810"/>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5_05"/>
          <p:cNvSpPr/>
          <p:nvPr/>
        </p:nvSpPr>
        <p:spPr>
          <a:xfrm>
            <a:off x="1601426" y="5142298"/>
            <a:ext cx="257810" cy="257810"/>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6"/>
          <p:cNvSpPr/>
          <p:nvPr/>
        </p:nvSpPr>
        <p:spPr>
          <a:xfrm>
            <a:off x="2014166" y="5142298"/>
            <a:ext cx="257810" cy="257810"/>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7"/>
          <p:cNvSpPr/>
          <p:nvPr/>
        </p:nvSpPr>
        <p:spPr>
          <a:xfrm>
            <a:off x="2426905" y="5142298"/>
            <a:ext cx="257810" cy="257810"/>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8"/>
          <p:cNvSpPr/>
          <p:nvPr/>
        </p:nvSpPr>
        <p:spPr>
          <a:xfrm>
            <a:off x="2839645" y="5142298"/>
            <a:ext cx="257810" cy="257810"/>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9"/>
          <p:cNvSpPr/>
          <p:nvPr/>
        </p:nvSpPr>
        <p:spPr>
          <a:xfrm>
            <a:off x="3252385" y="5142298"/>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10"/>
          <p:cNvSpPr/>
          <p:nvPr/>
        </p:nvSpPr>
        <p:spPr>
          <a:xfrm>
            <a:off x="3665125" y="5142298"/>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11"/>
          <p:cNvSpPr/>
          <p:nvPr/>
        </p:nvSpPr>
        <p:spPr>
          <a:xfrm>
            <a:off x="4077864" y="5142298"/>
            <a:ext cx="257810" cy="257810"/>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2"/>
          <p:cNvSpPr/>
          <p:nvPr/>
        </p:nvSpPr>
        <p:spPr>
          <a:xfrm>
            <a:off x="4490604" y="5142298"/>
            <a:ext cx="257810" cy="257810"/>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3"/>
          <p:cNvSpPr/>
          <p:nvPr/>
        </p:nvSpPr>
        <p:spPr>
          <a:xfrm>
            <a:off x="4903344" y="514229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4"/>
          <p:cNvSpPr/>
          <p:nvPr/>
        </p:nvSpPr>
        <p:spPr>
          <a:xfrm>
            <a:off x="5316083" y="5142298"/>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6_03"/>
          <p:cNvSpPr/>
          <p:nvPr/>
        </p:nvSpPr>
        <p:spPr>
          <a:xfrm>
            <a:off x="775947" y="4842519"/>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6_04"/>
          <p:cNvSpPr/>
          <p:nvPr/>
        </p:nvSpPr>
        <p:spPr>
          <a:xfrm>
            <a:off x="1188686" y="4842519"/>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5"/>
          <p:cNvSpPr/>
          <p:nvPr/>
        </p:nvSpPr>
        <p:spPr>
          <a:xfrm>
            <a:off x="1601426" y="4842519"/>
            <a:ext cx="257810" cy="257810"/>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6"/>
          <p:cNvSpPr/>
          <p:nvPr/>
        </p:nvSpPr>
        <p:spPr>
          <a:xfrm>
            <a:off x="2014166" y="4842519"/>
            <a:ext cx="257810" cy="257810"/>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7"/>
          <p:cNvSpPr/>
          <p:nvPr/>
        </p:nvSpPr>
        <p:spPr>
          <a:xfrm>
            <a:off x="2426905" y="4842519"/>
            <a:ext cx="257810" cy="257810"/>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8"/>
          <p:cNvSpPr/>
          <p:nvPr/>
        </p:nvSpPr>
        <p:spPr>
          <a:xfrm>
            <a:off x="2839645" y="4842519"/>
            <a:ext cx="257810" cy="257810"/>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9"/>
          <p:cNvSpPr/>
          <p:nvPr/>
        </p:nvSpPr>
        <p:spPr>
          <a:xfrm>
            <a:off x="3252385" y="4842519"/>
            <a:ext cx="257810" cy="257810"/>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10"/>
          <p:cNvSpPr/>
          <p:nvPr/>
        </p:nvSpPr>
        <p:spPr>
          <a:xfrm>
            <a:off x="3665125" y="4842519"/>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11"/>
          <p:cNvSpPr/>
          <p:nvPr/>
        </p:nvSpPr>
        <p:spPr>
          <a:xfrm>
            <a:off x="4077864" y="4842519"/>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2"/>
          <p:cNvSpPr/>
          <p:nvPr/>
        </p:nvSpPr>
        <p:spPr>
          <a:xfrm>
            <a:off x="4490604" y="4842519"/>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3"/>
          <p:cNvSpPr/>
          <p:nvPr/>
        </p:nvSpPr>
        <p:spPr>
          <a:xfrm>
            <a:off x="4903344" y="4842519"/>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4"/>
          <p:cNvSpPr/>
          <p:nvPr/>
        </p:nvSpPr>
        <p:spPr>
          <a:xfrm>
            <a:off x="5316083" y="4842519"/>
            <a:ext cx="257810" cy="257810"/>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7_03"/>
          <p:cNvSpPr/>
          <p:nvPr/>
        </p:nvSpPr>
        <p:spPr>
          <a:xfrm>
            <a:off x="775947" y="4542739"/>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7_04"/>
          <p:cNvSpPr/>
          <p:nvPr/>
        </p:nvSpPr>
        <p:spPr>
          <a:xfrm>
            <a:off x="1188686" y="4542739"/>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5"/>
          <p:cNvSpPr/>
          <p:nvPr/>
        </p:nvSpPr>
        <p:spPr>
          <a:xfrm>
            <a:off x="1601426" y="4542739"/>
            <a:ext cx="257810" cy="257810"/>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6"/>
          <p:cNvSpPr/>
          <p:nvPr/>
        </p:nvSpPr>
        <p:spPr>
          <a:xfrm>
            <a:off x="2014166" y="4542739"/>
            <a:ext cx="257810" cy="257810"/>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7"/>
          <p:cNvSpPr/>
          <p:nvPr/>
        </p:nvSpPr>
        <p:spPr>
          <a:xfrm>
            <a:off x="2426905" y="4542739"/>
            <a:ext cx="257810" cy="257810"/>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8"/>
          <p:cNvSpPr/>
          <p:nvPr/>
        </p:nvSpPr>
        <p:spPr>
          <a:xfrm>
            <a:off x="2839645" y="4542739"/>
            <a:ext cx="257810" cy="257810"/>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9"/>
          <p:cNvSpPr/>
          <p:nvPr/>
        </p:nvSpPr>
        <p:spPr>
          <a:xfrm>
            <a:off x="3252385" y="4542739"/>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10"/>
          <p:cNvSpPr/>
          <p:nvPr/>
        </p:nvSpPr>
        <p:spPr>
          <a:xfrm>
            <a:off x="3665125" y="4542739"/>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11"/>
          <p:cNvSpPr/>
          <p:nvPr/>
        </p:nvSpPr>
        <p:spPr>
          <a:xfrm>
            <a:off x="4077864" y="454273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2"/>
          <p:cNvSpPr/>
          <p:nvPr/>
        </p:nvSpPr>
        <p:spPr>
          <a:xfrm>
            <a:off x="4490604" y="4542739"/>
            <a:ext cx="257810" cy="257810"/>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3"/>
          <p:cNvSpPr/>
          <p:nvPr/>
        </p:nvSpPr>
        <p:spPr>
          <a:xfrm>
            <a:off x="4903344" y="4542739"/>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4"/>
          <p:cNvSpPr/>
          <p:nvPr/>
        </p:nvSpPr>
        <p:spPr>
          <a:xfrm>
            <a:off x="5316083" y="4542739"/>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8_03"/>
          <p:cNvSpPr/>
          <p:nvPr/>
        </p:nvSpPr>
        <p:spPr>
          <a:xfrm>
            <a:off x="775947"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8_04"/>
          <p:cNvSpPr/>
          <p:nvPr/>
        </p:nvSpPr>
        <p:spPr>
          <a:xfrm>
            <a:off x="1188686" y="4242960"/>
            <a:ext cx="257810" cy="257810"/>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5"/>
          <p:cNvSpPr/>
          <p:nvPr/>
        </p:nvSpPr>
        <p:spPr>
          <a:xfrm>
            <a:off x="1601426" y="4242960"/>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6"/>
          <p:cNvSpPr/>
          <p:nvPr/>
        </p:nvSpPr>
        <p:spPr>
          <a:xfrm>
            <a:off x="2014166" y="4242960"/>
            <a:ext cx="257810" cy="257810"/>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7"/>
          <p:cNvSpPr/>
          <p:nvPr/>
        </p:nvSpPr>
        <p:spPr>
          <a:xfrm>
            <a:off x="2426905" y="4242960"/>
            <a:ext cx="257810" cy="257810"/>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8"/>
          <p:cNvSpPr/>
          <p:nvPr/>
        </p:nvSpPr>
        <p:spPr>
          <a:xfrm>
            <a:off x="2839645" y="4242960"/>
            <a:ext cx="257810" cy="257810"/>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9"/>
          <p:cNvSpPr/>
          <p:nvPr/>
        </p:nvSpPr>
        <p:spPr>
          <a:xfrm>
            <a:off x="3252385" y="4242960"/>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10"/>
          <p:cNvSpPr/>
          <p:nvPr/>
        </p:nvSpPr>
        <p:spPr>
          <a:xfrm>
            <a:off x="3665125" y="4242960"/>
            <a:ext cx="257810" cy="257810"/>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11"/>
          <p:cNvSpPr/>
          <p:nvPr/>
        </p:nvSpPr>
        <p:spPr>
          <a:xfrm>
            <a:off x="4077864" y="4242960"/>
            <a:ext cx="257810" cy="257810"/>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2"/>
          <p:cNvSpPr/>
          <p:nvPr/>
        </p:nvSpPr>
        <p:spPr>
          <a:xfrm>
            <a:off x="4490604" y="4242960"/>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3"/>
          <p:cNvSpPr/>
          <p:nvPr/>
        </p:nvSpPr>
        <p:spPr>
          <a:xfrm>
            <a:off x="4903344"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4"/>
          <p:cNvSpPr/>
          <p:nvPr/>
        </p:nvSpPr>
        <p:spPr>
          <a:xfrm>
            <a:off x="5316083" y="4242960"/>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9_03"/>
          <p:cNvSpPr/>
          <p:nvPr/>
        </p:nvSpPr>
        <p:spPr>
          <a:xfrm>
            <a:off x="775947" y="394318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9_04"/>
          <p:cNvSpPr/>
          <p:nvPr/>
        </p:nvSpPr>
        <p:spPr>
          <a:xfrm>
            <a:off x="1188686" y="3943181"/>
            <a:ext cx="257810" cy="257810"/>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5"/>
          <p:cNvSpPr/>
          <p:nvPr/>
        </p:nvSpPr>
        <p:spPr>
          <a:xfrm>
            <a:off x="1601426" y="3943181"/>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6"/>
          <p:cNvSpPr/>
          <p:nvPr/>
        </p:nvSpPr>
        <p:spPr>
          <a:xfrm>
            <a:off x="2014166" y="3943181"/>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7"/>
          <p:cNvSpPr/>
          <p:nvPr/>
        </p:nvSpPr>
        <p:spPr>
          <a:xfrm>
            <a:off x="2426905" y="3943181"/>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8"/>
          <p:cNvSpPr/>
          <p:nvPr/>
        </p:nvSpPr>
        <p:spPr>
          <a:xfrm>
            <a:off x="2839645" y="3943181"/>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9"/>
          <p:cNvSpPr/>
          <p:nvPr/>
        </p:nvSpPr>
        <p:spPr>
          <a:xfrm>
            <a:off x="3252385" y="394318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10"/>
          <p:cNvSpPr/>
          <p:nvPr/>
        </p:nvSpPr>
        <p:spPr>
          <a:xfrm>
            <a:off x="3665125" y="3943181"/>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11"/>
          <p:cNvSpPr/>
          <p:nvPr/>
        </p:nvSpPr>
        <p:spPr>
          <a:xfrm>
            <a:off x="407786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2"/>
          <p:cNvSpPr/>
          <p:nvPr/>
        </p:nvSpPr>
        <p:spPr>
          <a:xfrm>
            <a:off x="449060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3"/>
          <p:cNvSpPr/>
          <p:nvPr/>
        </p:nvSpPr>
        <p:spPr>
          <a:xfrm>
            <a:off x="4903344" y="3943181"/>
            <a:ext cx="257810" cy="257810"/>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30_03"/>
          <p:cNvSpPr/>
          <p:nvPr/>
        </p:nvSpPr>
        <p:spPr>
          <a:xfrm>
            <a:off x="775947"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30_04"/>
          <p:cNvSpPr/>
          <p:nvPr/>
        </p:nvSpPr>
        <p:spPr>
          <a:xfrm>
            <a:off x="1188686" y="364340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5"/>
          <p:cNvSpPr/>
          <p:nvPr/>
        </p:nvSpPr>
        <p:spPr>
          <a:xfrm>
            <a:off x="1601426" y="3643401"/>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6"/>
          <p:cNvSpPr/>
          <p:nvPr/>
        </p:nvSpPr>
        <p:spPr>
          <a:xfrm>
            <a:off x="2014166" y="364340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7"/>
          <p:cNvSpPr/>
          <p:nvPr/>
        </p:nvSpPr>
        <p:spPr>
          <a:xfrm>
            <a:off x="2426905" y="3643401"/>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8"/>
          <p:cNvSpPr/>
          <p:nvPr/>
        </p:nvSpPr>
        <p:spPr>
          <a:xfrm>
            <a:off x="2839645" y="3643401"/>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9"/>
          <p:cNvSpPr/>
          <p:nvPr/>
        </p:nvSpPr>
        <p:spPr>
          <a:xfrm>
            <a:off x="3252385" y="3643401"/>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10"/>
          <p:cNvSpPr/>
          <p:nvPr/>
        </p:nvSpPr>
        <p:spPr>
          <a:xfrm>
            <a:off x="3665125" y="364340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11"/>
          <p:cNvSpPr/>
          <p:nvPr/>
        </p:nvSpPr>
        <p:spPr>
          <a:xfrm>
            <a:off x="4077864"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2"/>
          <p:cNvSpPr/>
          <p:nvPr/>
        </p:nvSpPr>
        <p:spPr>
          <a:xfrm>
            <a:off x="4490604" y="3643401"/>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3"/>
          <p:cNvSpPr/>
          <p:nvPr/>
        </p:nvSpPr>
        <p:spPr>
          <a:xfrm>
            <a:off x="4903344" y="3643401"/>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1_03"/>
          <p:cNvSpPr/>
          <p:nvPr/>
        </p:nvSpPr>
        <p:spPr>
          <a:xfrm>
            <a:off x="775947" y="3343622"/>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1_04"/>
          <p:cNvSpPr/>
          <p:nvPr/>
        </p:nvSpPr>
        <p:spPr>
          <a:xfrm>
            <a:off x="1188686" y="334362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5"/>
          <p:cNvSpPr/>
          <p:nvPr/>
        </p:nvSpPr>
        <p:spPr>
          <a:xfrm>
            <a:off x="1601426" y="3343622"/>
            <a:ext cx="257810" cy="257810"/>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6"/>
          <p:cNvSpPr/>
          <p:nvPr/>
        </p:nvSpPr>
        <p:spPr>
          <a:xfrm>
            <a:off x="2014166" y="3343622"/>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7"/>
          <p:cNvSpPr/>
          <p:nvPr/>
        </p:nvSpPr>
        <p:spPr>
          <a:xfrm>
            <a:off x="2426905" y="3343622"/>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8"/>
          <p:cNvSpPr/>
          <p:nvPr/>
        </p:nvSpPr>
        <p:spPr>
          <a:xfrm>
            <a:off x="2839645" y="3343622"/>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9"/>
          <p:cNvSpPr/>
          <p:nvPr/>
        </p:nvSpPr>
        <p:spPr>
          <a:xfrm>
            <a:off x="3252385" y="3343622"/>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10"/>
          <p:cNvSpPr/>
          <p:nvPr/>
        </p:nvSpPr>
        <p:spPr>
          <a:xfrm>
            <a:off x="3665125" y="3343622"/>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11"/>
          <p:cNvSpPr/>
          <p:nvPr/>
        </p:nvSpPr>
        <p:spPr>
          <a:xfrm>
            <a:off x="4077864" y="3343622"/>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2"/>
          <p:cNvSpPr/>
          <p:nvPr/>
        </p:nvSpPr>
        <p:spPr>
          <a:xfrm>
            <a:off x="4490604" y="3343622"/>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3"/>
          <p:cNvSpPr/>
          <p:nvPr/>
        </p:nvSpPr>
        <p:spPr>
          <a:xfrm>
            <a:off x="4903344" y="3343622"/>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2_03"/>
          <p:cNvSpPr/>
          <p:nvPr/>
        </p:nvSpPr>
        <p:spPr>
          <a:xfrm>
            <a:off x="775947" y="3043843"/>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2_04"/>
          <p:cNvSpPr/>
          <p:nvPr/>
        </p:nvSpPr>
        <p:spPr>
          <a:xfrm>
            <a:off x="1188686" y="3043843"/>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5"/>
          <p:cNvSpPr/>
          <p:nvPr/>
        </p:nvSpPr>
        <p:spPr>
          <a:xfrm>
            <a:off x="1601426" y="3043843"/>
            <a:ext cx="257810" cy="257810"/>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6"/>
          <p:cNvSpPr/>
          <p:nvPr/>
        </p:nvSpPr>
        <p:spPr>
          <a:xfrm>
            <a:off x="2014166" y="3043843"/>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7"/>
          <p:cNvSpPr/>
          <p:nvPr/>
        </p:nvSpPr>
        <p:spPr>
          <a:xfrm>
            <a:off x="2426905" y="3043843"/>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8"/>
          <p:cNvSpPr/>
          <p:nvPr/>
        </p:nvSpPr>
        <p:spPr>
          <a:xfrm>
            <a:off x="2839645" y="3043843"/>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9"/>
          <p:cNvSpPr/>
          <p:nvPr/>
        </p:nvSpPr>
        <p:spPr>
          <a:xfrm>
            <a:off x="3252385" y="3043843"/>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10"/>
          <p:cNvSpPr/>
          <p:nvPr/>
        </p:nvSpPr>
        <p:spPr>
          <a:xfrm>
            <a:off x="3665125" y="3043843"/>
            <a:ext cx="257810" cy="257810"/>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11"/>
          <p:cNvSpPr/>
          <p:nvPr/>
        </p:nvSpPr>
        <p:spPr>
          <a:xfrm>
            <a:off x="4077864" y="304384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2"/>
          <p:cNvSpPr/>
          <p:nvPr/>
        </p:nvSpPr>
        <p:spPr>
          <a:xfrm>
            <a:off x="4490604" y="304384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3_03"/>
          <p:cNvSpPr/>
          <p:nvPr/>
        </p:nvSpPr>
        <p:spPr>
          <a:xfrm>
            <a:off x="775947" y="2744063"/>
            <a:ext cx="257810" cy="257810"/>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3_04"/>
          <p:cNvSpPr/>
          <p:nvPr/>
        </p:nvSpPr>
        <p:spPr>
          <a:xfrm>
            <a:off x="1188686" y="2744063"/>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5"/>
          <p:cNvSpPr/>
          <p:nvPr/>
        </p:nvSpPr>
        <p:spPr>
          <a:xfrm>
            <a:off x="1601426" y="2744063"/>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6"/>
          <p:cNvSpPr/>
          <p:nvPr/>
        </p:nvSpPr>
        <p:spPr>
          <a:xfrm>
            <a:off x="2014166" y="2744063"/>
            <a:ext cx="257810" cy="257810"/>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7"/>
          <p:cNvSpPr/>
          <p:nvPr/>
        </p:nvSpPr>
        <p:spPr>
          <a:xfrm>
            <a:off x="2426905" y="2744063"/>
            <a:ext cx="257810" cy="257810"/>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8"/>
          <p:cNvSpPr/>
          <p:nvPr/>
        </p:nvSpPr>
        <p:spPr>
          <a:xfrm>
            <a:off x="2839645" y="2744063"/>
            <a:ext cx="257810" cy="257810"/>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9"/>
          <p:cNvSpPr/>
          <p:nvPr/>
        </p:nvSpPr>
        <p:spPr>
          <a:xfrm>
            <a:off x="3252385" y="274406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10"/>
          <p:cNvSpPr/>
          <p:nvPr/>
        </p:nvSpPr>
        <p:spPr>
          <a:xfrm>
            <a:off x="3665125" y="2744063"/>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11"/>
          <p:cNvSpPr/>
          <p:nvPr/>
        </p:nvSpPr>
        <p:spPr>
          <a:xfrm>
            <a:off x="4077864" y="274406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2"/>
          <p:cNvSpPr/>
          <p:nvPr/>
        </p:nvSpPr>
        <p:spPr>
          <a:xfrm>
            <a:off x="4490604" y="2744063"/>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4_03"/>
          <p:cNvSpPr/>
          <p:nvPr/>
        </p:nvSpPr>
        <p:spPr>
          <a:xfrm>
            <a:off x="775947" y="2444284"/>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4_04"/>
          <p:cNvSpPr/>
          <p:nvPr/>
        </p:nvSpPr>
        <p:spPr>
          <a:xfrm>
            <a:off x="1188686" y="2444284"/>
            <a:ext cx="257810" cy="257810"/>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5"/>
          <p:cNvSpPr/>
          <p:nvPr/>
        </p:nvSpPr>
        <p:spPr>
          <a:xfrm>
            <a:off x="1601426" y="2444284"/>
            <a:ext cx="257810" cy="257810"/>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6"/>
          <p:cNvSpPr/>
          <p:nvPr/>
        </p:nvSpPr>
        <p:spPr>
          <a:xfrm>
            <a:off x="2014166" y="2444284"/>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7"/>
          <p:cNvSpPr/>
          <p:nvPr/>
        </p:nvSpPr>
        <p:spPr>
          <a:xfrm>
            <a:off x="2426905" y="2444284"/>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8"/>
          <p:cNvSpPr/>
          <p:nvPr/>
        </p:nvSpPr>
        <p:spPr>
          <a:xfrm>
            <a:off x="2839645" y="2444284"/>
            <a:ext cx="257810" cy="257810"/>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9"/>
          <p:cNvSpPr/>
          <p:nvPr/>
        </p:nvSpPr>
        <p:spPr>
          <a:xfrm>
            <a:off x="3252385" y="2444284"/>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10"/>
          <p:cNvSpPr/>
          <p:nvPr/>
        </p:nvSpPr>
        <p:spPr>
          <a:xfrm>
            <a:off x="3665125" y="2444284"/>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11"/>
          <p:cNvSpPr/>
          <p:nvPr/>
        </p:nvSpPr>
        <p:spPr>
          <a:xfrm>
            <a:off x="4077864" y="2444284"/>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5_04"/>
          <p:cNvSpPr/>
          <p:nvPr/>
        </p:nvSpPr>
        <p:spPr>
          <a:xfrm>
            <a:off x="1188686" y="2144505"/>
            <a:ext cx="257810" cy="257810"/>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5_05"/>
          <p:cNvSpPr/>
          <p:nvPr/>
        </p:nvSpPr>
        <p:spPr>
          <a:xfrm>
            <a:off x="1601426" y="2144505"/>
            <a:ext cx="257810" cy="257810"/>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6"/>
          <p:cNvSpPr/>
          <p:nvPr/>
        </p:nvSpPr>
        <p:spPr>
          <a:xfrm>
            <a:off x="2014166" y="2144505"/>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7"/>
          <p:cNvSpPr/>
          <p:nvPr/>
        </p:nvSpPr>
        <p:spPr>
          <a:xfrm>
            <a:off x="2426905" y="2144505"/>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8"/>
          <p:cNvSpPr/>
          <p:nvPr/>
        </p:nvSpPr>
        <p:spPr>
          <a:xfrm>
            <a:off x="283964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9"/>
          <p:cNvSpPr/>
          <p:nvPr/>
        </p:nvSpPr>
        <p:spPr>
          <a:xfrm>
            <a:off x="325238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10"/>
          <p:cNvSpPr/>
          <p:nvPr/>
        </p:nvSpPr>
        <p:spPr>
          <a:xfrm>
            <a:off x="3665125" y="2144505"/>
            <a:ext cx="257810" cy="257810"/>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11"/>
          <p:cNvSpPr/>
          <p:nvPr/>
        </p:nvSpPr>
        <p:spPr>
          <a:xfrm>
            <a:off x="4077864" y="214450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6_04"/>
          <p:cNvSpPr/>
          <p:nvPr/>
        </p:nvSpPr>
        <p:spPr>
          <a:xfrm>
            <a:off x="1188686" y="1844725"/>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6_05"/>
          <p:cNvSpPr/>
          <p:nvPr/>
        </p:nvSpPr>
        <p:spPr>
          <a:xfrm>
            <a:off x="1601426" y="1844725"/>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6"/>
          <p:cNvSpPr/>
          <p:nvPr/>
        </p:nvSpPr>
        <p:spPr>
          <a:xfrm>
            <a:off x="2014166" y="1844725"/>
            <a:ext cx="257810" cy="257810"/>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7"/>
          <p:cNvSpPr/>
          <p:nvPr/>
        </p:nvSpPr>
        <p:spPr>
          <a:xfrm>
            <a:off x="2426905" y="184472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8"/>
          <p:cNvSpPr/>
          <p:nvPr/>
        </p:nvSpPr>
        <p:spPr>
          <a:xfrm>
            <a:off x="283964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9"/>
          <p:cNvSpPr/>
          <p:nvPr/>
        </p:nvSpPr>
        <p:spPr>
          <a:xfrm>
            <a:off x="325238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10"/>
          <p:cNvSpPr/>
          <p:nvPr/>
        </p:nvSpPr>
        <p:spPr>
          <a:xfrm>
            <a:off x="3665125" y="1844725"/>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7_04"/>
          <p:cNvSpPr/>
          <p:nvPr/>
        </p:nvSpPr>
        <p:spPr>
          <a:xfrm>
            <a:off x="1188686" y="1544946"/>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7_05"/>
          <p:cNvSpPr/>
          <p:nvPr/>
        </p:nvSpPr>
        <p:spPr>
          <a:xfrm>
            <a:off x="1601426" y="1544946"/>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6"/>
          <p:cNvSpPr/>
          <p:nvPr/>
        </p:nvSpPr>
        <p:spPr>
          <a:xfrm>
            <a:off x="2014166" y="1544946"/>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7"/>
          <p:cNvSpPr/>
          <p:nvPr/>
        </p:nvSpPr>
        <p:spPr>
          <a:xfrm>
            <a:off x="2426905" y="1544946"/>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8"/>
          <p:cNvSpPr/>
          <p:nvPr/>
        </p:nvSpPr>
        <p:spPr>
          <a:xfrm>
            <a:off x="2839645" y="1544946"/>
            <a:ext cx="257810" cy="257810"/>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9"/>
          <p:cNvSpPr/>
          <p:nvPr/>
        </p:nvSpPr>
        <p:spPr>
          <a:xfrm>
            <a:off x="3252385" y="1544946"/>
            <a:ext cx="257810" cy="257810"/>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TextBox 326"/>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ZOOMING IN ON THE FOREFOOT</a:t>
            </a:r>
          </a:p>
        </p:txBody>
      </p:sp>
      <p:sp>
        <p:nvSpPr>
          <p:cNvPr id="328"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Eight regions, three target regions</a:t>
            </a:r>
          </a:p>
        </p:txBody>
      </p:sp>
      <p:sp>
        <p:nvSpPr>
          <p:cNvPr id="329" name="Oval 328"/>
          <p:cNvSpPr/>
          <p:nvPr/>
        </p:nvSpPr>
        <p:spPr>
          <a:xfrm>
            <a:off x="1549361" y="5029582"/>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TextBox 329"/>
          <p:cNvSpPr txBox="1"/>
          <p:nvPr/>
        </p:nvSpPr>
        <p:spPr>
          <a:xfrm>
            <a:off x="1549361" y="5029582"/>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1</a:t>
            </a:r>
          </a:p>
        </p:txBody>
      </p:sp>
      <p:sp>
        <p:nvSpPr>
          <p:cNvPr id="331" name="Rectangle 330"/>
          <p:cNvSpPr/>
          <p:nvPr/>
        </p:nvSpPr>
        <p:spPr>
          <a:xfrm>
            <a:off x="6349841" y="190495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Oval 331"/>
          <p:cNvSpPr/>
          <p:nvPr/>
        </p:nvSpPr>
        <p:spPr>
          <a:xfrm>
            <a:off x="6349841" y="2070048"/>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349841" y="2070048"/>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334" name="TextBox 333"/>
          <p:cNvSpPr txBox="1"/>
          <p:nvPr/>
        </p:nvSpPr>
        <p:spPr>
          <a:xfrm>
            <a:off x="6756231" y="2044648"/>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Metatarsal 1</a:t>
            </a:r>
          </a:p>
        </p:txBody>
      </p:sp>
      <p:sp>
        <p:nvSpPr>
          <p:cNvPr id="335" name="TextBox 334"/>
          <p:cNvSpPr txBox="1"/>
          <p:nvPr/>
        </p:nvSpPr>
        <p:spPr>
          <a:xfrm>
            <a:off x="6768930" y="2311342"/>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under the great toe — second most affected site</a:t>
            </a:r>
          </a:p>
        </p:txBody>
      </p:sp>
      <p:sp>
        <p:nvSpPr>
          <p:cNvPr id="336" name="Oval 335"/>
          <p:cNvSpPr/>
          <p:nvPr/>
        </p:nvSpPr>
        <p:spPr>
          <a:xfrm>
            <a:off x="2589465" y="5257414"/>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TextBox 336"/>
          <p:cNvSpPr txBox="1"/>
          <p:nvPr/>
        </p:nvSpPr>
        <p:spPr>
          <a:xfrm>
            <a:off x="2589465" y="5257414"/>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2</a:t>
            </a:r>
          </a:p>
        </p:txBody>
      </p:sp>
      <p:sp>
        <p:nvSpPr>
          <p:cNvPr id="338" name="Rectangle 337"/>
          <p:cNvSpPr/>
          <p:nvPr/>
        </p:nvSpPr>
        <p:spPr>
          <a:xfrm>
            <a:off x="6349841" y="264153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Oval 338"/>
          <p:cNvSpPr/>
          <p:nvPr/>
        </p:nvSpPr>
        <p:spPr>
          <a:xfrm>
            <a:off x="6349841" y="2806629"/>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TextBox 339"/>
          <p:cNvSpPr txBox="1"/>
          <p:nvPr/>
        </p:nvSpPr>
        <p:spPr>
          <a:xfrm>
            <a:off x="6349841" y="2806629"/>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341" name="TextBox 340"/>
          <p:cNvSpPr txBox="1"/>
          <p:nvPr/>
        </p:nvSpPr>
        <p:spPr>
          <a:xfrm>
            <a:off x="6756231" y="2781230"/>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Metatarsal 2-3</a:t>
            </a:r>
          </a:p>
        </p:txBody>
      </p:sp>
      <p:sp>
        <p:nvSpPr>
          <p:cNvPr id="342" name="TextBox 341"/>
          <p:cNvSpPr txBox="1"/>
          <p:nvPr/>
        </p:nvSpPr>
        <p:spPr>
          <a:xfrm>
            <a:off x="6768930" y="3047923"/>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the hot spot in this measurement, and the classic ulcer site</a:t>
            </a:r>
          </a:p>
        </p:txBody>
      </p:sp>
      <p:sp>
        <p:nvSpPr>
          <p:cNvPr id="343" name="Oval 342"/>
          <p:cNvSpPr/>
          <p:nvPr/>
        </p:nvSpPr>
        <p:spPr>
          <a:xfrm>
            <a:off x="4521086" y="5599163"/>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TextBox 343"/>
          <p:cNvSpPr txBox="1"/>
          <p:nvPr/>
        </p:nvSpPr>
        <p:spPr>
          <a:xfrm>
            <a:off x="4521086" y="5599163"/>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3</a:t>
            </a:r>
          </a:p>
        </p:txBody>
      </p:sp>
      <p:sp>
        <p:nvSpPr>
          <p:cNvPr id="345" name="Rectangle 344"/>
          <p:cNvSpPr/>
          <p:nvPr/>
        </p:nvSpPr>
        <p:spPr>
          <a:xfrm>
            <a:off x="6349841" y="3378115"/>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Oval 345"/>
          <p:cNvSpPr/>
          <p:nvPr/>
        </p:nvSpPr>
        <p:spPr>
          <a:xfrm>
            <a:off x="6349841" y="3543211"/>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TextBox 346"/>
          <p:cNvSpPr txBox="1"/>
          <p:nvPr/>
        </p:nvSpPr>
        <p:spPr>
          <a:xfrm>
            <a:off x="6349841" y="3543211"/>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348" name="TextBox 347"/>
          <p:cNvSpPr txBox="1"/>
          <p:nvPr/>
        </p:nvSpPr>
        <p:spPr>
          <a:xfrm>
            <a:off x="6756231" y="3517812"/>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Metatarsal 4-5</a:t>
            </a:r>
          </a:p>
        </p:txBody>
      </p:sp>
      <p:sp>
        <p:nvSpPr>
          <p:cNvPr id="349" name="TextBox 348"/>
          <p:cNvSpPr txBox="1"/>
          <p:nvPr/>
        </p:nvSpPr>
        <p:spPr>
          <a:xfrm>
            <a:off x="6768930" y="3784505"/>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lateral forefoot, usually lower pressure</a:t>
            </a:r>
          </a:p>
        </p:txBody>
      </p:sp>
      <p:sp>
        <p:nvSpPr>
          <p:cNvPr id="350" name="Oval 349"/>
          <p:cNvSpPr/>
          <p:nvPr/>
        </p:nvSpPr>
        <p:spPr>
          <a:xfrm>
            <a:off x="1400774" y="2409510"/>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TextBox 350"/>
          <p:cNvSpPr txBox="1"/>
          <p:nvPr/>
        </p:nvSpPr>
        <p:spPr>
          <a:xfrm>
            <a:off x="1400774" y="2409510"/>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4</a:t>
            </a:r>
          </a:p>
        </p:txBody>
      </p:sp>
      <p:sp>
        <p:nvSpPr>
          <p:cNvPr id="352" name="Rectangle 351"/>
          <p:cNvSpPr/>
          <p:nvPr/>
        </p:nvSpPr>
        <p:spPr>
          <a:xfrm>
            <a:off x="6349841" y="4114697"/>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Oval 352"/>
          <p:cNvSpPr/>
          <p:nvPr/>
        </p:nvSpPr>
        <p:spPr>
          <a:xfrm>
            <a:off x="6349841" y="4279793"/>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TextBox 353"/>
          <p:cNvSpPr txBox="1"/>
          <p:nvPr/>
        </p:nvSpPr>
        <p:spPr>
          <a:xfrm>
            <a:off x="6349841" y="4279793"/>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355" name="TextBox 354"/>
          <p:cNvSpPr txBox="1"/>
          <p:nvPr/>
        </p:nvSpPr>
        <p:spPr>
          <a:xfrm>
            <a:off x="6756231" y="4254393"/>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Hallux</a:t>
            </a:r>
          </a:p>
        </p:txBody>
      </p:sp>
      <p:sp>
        <p:nvSpPr>
          <p:cNvPr id="356" name="TextBox 355"/>
          <p:cNvSpPr txBox="1"/>
          <p:nvPr/>
        </p:nvSpPr>
        <p:spPr>
          <a:xfrm>
            <a:off x="6768930" y="4521086"/>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scored separately, no longer combined with the lesser toes</a:t>
            </a:r>
          </a:p>
        </p:txBody>
      </p:sp>
      <p:sp>
        <p:nvSpPr>
          <p:cNvPr id="357" name="Oval 356"/>
          <p:cNvSpPr/>
          <p:nvPr/>
        </p:nvSpPr>
        <p:spPr>
          <a:xfrm>
            <a:off x="3406689" y="2523426"/>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TextBox 357"/>
          <p:cNvSpPr txBox="1"/>
          <p:nvPr/>
        </p:nvSpPr>
        <p:spPr>
          <a:xfrm>
            <a:off x="3406689" y="2523426"/>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5</a:t>
            </a:r>
          </a:p>
        </p:txBody>
      </p:sp>
      <p:sp>
        <p:nvSpPr>
          <p:cNvPr id="359" name="Rectangle 358"/>
          <p:cNvSpPr/>
          <p:nvPr/>
        </p:nvSpPr>
        <p:spPr>
          <a:xfrm>
            <a:off x="6349841" y="4851278"/>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Oval 359"/>
          <p:cNvSpPr/>
          <p:nvPr/>
        </p:nvSpPr>
        <p:spPr>
          <a:xfrm>
            <a:off x="6349841" y="5016374"/>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TextBox 360"/>
          <p:cNvSpPr txBox="1"/>
          <p:nvPr/>
        </p:nvSpPr>
        <p:spPr>
          <a:xfrm>
            <a:off x="6349841" y="5016374"/>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362" name="TextBox 361"/>
          <p:cNvSpPr txBox="1"/>
          <p:nvPr/>
        </p:nvSpPr>
        <p:spPr>
          <a:xfrm>
            <a:off x="6756231" y="4990975"/>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Toes 2-5</a:t>
            </a:r>
          </a:p>
        </p:txBody>
      </p:sp>
      <p:sp>
        <p:nvSpPr>
          <p:cNvPr id="363" name="TextBox 362"/>
          <p:cNvSpPr txBox="1"/>
          <p:nvPr/>
        </p:nvSpPr>
        <p:spPr>
          <a:xfrm>
            <a:off x="6768930" y="5257668"/>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a region of its own since the latest mask version</a:t>
            </a:r>
          </a:p>
        </p:txBody>
      </p:sp>
      <p:sp>
        <p:nvSpPr>
          <p:cNvPr id="364" name="TextBox 363"/>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Eight regions via Multimask · heel and medial and lateral midfoot fall outside the frame</a:t>
            </a:r>
          </a:p>
        </p:txBody>
      </p:sp>
      <p:sp>
        <p:nvSpPr>
          <p:cNvPr id="365" name="TextBox 36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32</a:t>
            </a:r>
          </a:p>
        </p:txBody>
      </p:sp>
      <p:pic>
        <p:nvPicPr>
          <p:cNvPr id="366"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67" name="TextBox 366"/>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AFTER OPTIMISATION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When is it good enough</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peak pressure in the target region after modification</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lower  ·  below 200 kPa  ·  both criteria met</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The target applies per region: peak pressure below 200 kPa or at least 25% lower than the baseline value for that same region.</a:t>
            </a:r>
          </a:p>
          <a:p>
            <a:pPr algn="l">
              <a:lnSpc>
                <a:spcPct val="135000"/>
              </a:lnSpc>
              <a:spcBef>
                <a:spcPts val="1200"/>
              </a:spcBef>
            </a:pPr>
            <a:r>
              <a:rPr sz="1700" b="0">
                <a:solidFill>
                  <a:srgbClr val="8FB6D0"/>
                </a:solidFill>
                <a:latin typeface="Segoe UI"/>
              </a:rPr>
              <a:t>If the target is not met, modify and measure again. The form provides for two further offloading attempts.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 document 24 · Pressure redistribution of the orthosis</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32</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6 · Bus 2011   |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Not less loading.</a:t>
            </a:r>
          </a:p>
          <a:p>
            <a:pPr algn="l">
              <a:lnSpc>
                <a:spcPct val="106000"/>
              </a:lnSpc>
              <a:spcBef>
                <a:spcPts val="500"/>
              </a:spcBef>
            </a:pPr>
            <a:r>
              <a:rPr sz="7200" b="1">
                <a:solidFill>
                  <a:srgbClr val="04182A"/>
                </a:solidFill>
                <a:latin typeface="Segoe UI"/>
              </a:rPr>
              <a:t>Loading where the tissue can take it.</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That is the entire intervention.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THE MEASUREMENT PROTOCOL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Three conditions at delivery</a:t>
            </a:r>
          </a:p>
        </p:txBody>
      </p:sp>
      <p:sp>
        <p:nvSpPr>
          <p:cNvPr id="5" name="Rounded Rectangle 4"/>
          <p:cNvSpPr/>
          <p:nvPr/>
        </p:nvSpPr>
        <p:spPr>
          <a:xfrm>
            <a:off x="634984" y="1854153"/>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9776" y="2070048"/>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01</a:t>
            </a:r>
          </a:p>
        </p:txBody>
      </p:sp>
      <p:sp>
        <p:nvSpPr>
          <p:cNvPr id="7" name="TextBox 6"/>
          <p:cNvSpPr txBox="1"/>
          <p:nvPr/>
        </p:nvSpPr>
        <p:spPr>
          <a:xfrm>
            <a:off x="1904952" y="2044648"/>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Barefoot</a:t>
            </a:r>
          </a:p>
        </p:txBody>
      </p:sp>
      <p:sp>
        <p:nvSpPr>
          <p:cNvPr id="8" name="TextBox 7"/>
          <p:cNvSpPr txBox="1"/>
          <p:nvPr/>
        </p:nvSpPr>
        <p:spPr>
          <a:xfrm>
            <a:off x="6095847" y="2044648"/>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Sensors taped to the foot, standardised sock over them. This is the reference map.</a:t>
            </a:r>
          </a:p>
        </p:txBody>
      </p:sp>
      <p:sp>
        <p:nvSpPr>
          <p:cNvPr id="9" name="Rounded Rectangle 8"/>
          <p:cNvSpPr/>
          <p:nvPr/>
        </p:nvSpPr>
        <p:spPr>
          <a:xfrm>
            <a:off x="634984" y="2971725"/>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9776" y="3187620"/>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02</a:t>
            </a:r>
          </a:p>
        </p:txBody>
      </p:sp>
      <p:sp>
        <p:nvSpPr>
          <p:cNvPr id="11" name="TextBox 10"/>
          <p:cNvSpPr txBox="1"/>
          <p:nvPr/>
        </p:nvSpPr>
        <p:spPr>
          <a:xfrm>
            <a:off x="1904952" y="3162220"/>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the shoe, wíthout the insole</a:t>
            </a:r>
          </a:p>
        </p:txBody>
      </p:sp>
      <p:sp>
        <p:nvSpPr>
          <p:cNvPr id="12" name="TextBox 11"/>
          <p:cNvSpPr txBox="1"/>
          <p:nvPr/>
        </p:nvSpPr>
        <p:spPr>
          <a:xfrm>
            <a:off x="6095847" y="3162220"/>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Shows what the footwear does on its own. This is the comparison that reveals whether the insole adds anything.</a:t>
            </a:r>
          </a:p>
        </p:txBody>
      </p:sp>
      <p:sp>
        <p:nvSpPr>
          <p:cNvPr id="13" name="Rounded Rectangle 12"/>
          <p:cNvSpPr/>
          <p:nvPr/>
        </p:nvSpPr>
        <p:spPr>
          <a:xfrm>
            <a:off x="634984" y="4089297"/>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9776" y="4305192"/>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03</a:t>
            </a:r>
          </a:p>
        </p:txBody>
      </p:sp>
      <p:sp>
        <p:nvSpPr>
          <p:cNvPr id="15" name="TextBox 14"/>
          <p:cNvSpPr txBox="1"/>
          <p:nvPr/>
        </p:nvSpPr>
        <p:spPr>
          <a:xfrm>
            <a:off x="1904952" y="4279793"/>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the shoe, wíth the insole</a:t>
            </a:r>
          </a:p>
        </p:txBody>
      </p:sp>
      <p:sp>
        <p:nvSpPr>
          <p:cNvPr id="16" name="TextBox 15"/>
          <p:cNvSpPr txBox="1"/>
          <p:nvPr/>
        </p:nvSpPr>
        <p:spPr>
          <a:xfrm>
            <a:off x="6095847" y="4279793"/>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The measurement against which the target is tested, per region.</a:t>
            </a:r>
          </a:p>
        </p:txBody>
      </p:sp>
      <p:sp>
        <p:nvSpPr>
          <p:cNvPr id="17" name="TextBox 16"/>
          <p:cNvSpPr txBox="1"/>
          <p:nvPr/>
        </p:nvSpPr>
        <p:spPr>
          <a:xfrm>
            <a:off x="634984" y="5384665"/>
            <a:ext cx="10921726" cy="571485"/>
          </a:xfrm>
          <a:prstGeom prst="rect">
            <a:avLst/>
          </a:prstGeom>
          <a:noFill/>
        </p:spPr>
        <p:txBody>
          <a:bodyPr wrap="square" anchor="t" lIns="0" rIns="0" tIns="0" bIns="0">
            <a:spAutoFit/>
          </a:bodyPr>
          <a:lstStyle/>
          <a:p>
            <a:pPr algn="l">
              <a:lnSpc>
                <a:spcPct val="140000"/>
              </a:lnSpc>
            </a:pPr>
            <a:r>
              <a:rPr sz="1900" b="1">
                <a:solidFill>
                  <a:srgbClr val="FF7A00"/>
                </a:solidFill>
                <a:latin typeface="Segoe UI"/>
              </a:rPr>
              <a:t>All three conditions are on the same form. Skip one and the comparison is unusable.</a:t>
            </a:r>
          </a:p>
        </p:txBody>
      </p:sp>
      <p:sp>
        <p:nvSpPr>
          <p:cNvPr id="18" name="TextBox 17"/>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 document 24 · the target is tested per region, not across the whole foot</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32</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1" name="TextBox 20"/>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The pathway</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Nine contacts. For each: what is done and what is recorded.</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32</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THE PATHWAY</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nine visits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eligibility</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allocation</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insole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follow-up</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measure</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follow-up</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measure</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follow-up</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measure + end</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measurement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behavioural support</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and completion</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months, from screening to completion</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Visits 0 to 2 fall close together: consent, baseline, and the insole within the month. After that the rhythm is three-monthly — the same rhythm as the review these patients already receive.</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32</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Who is eligible</a:t>
            </a:r>
          </a:p>
        </p:txBody>
      </p:sp>
      <p:sp>
        <p:nvSpPr>
          <p:cNvPr id="5" name="Rounded Rectangle 4"/>
          <p:cNvSpPr/>
          <p:nvPr/>
        </p:nvSpPr>
        <p:spPr>
          <a:xfrm>
            <a:off x="634984"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8977" y="2209744"/>
            <a:ext cx="761980" cy="292092"/>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8977"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WÉL</a:t>
            </a:r>
          </a:p>
        </p:txBody>
      </p:sp>
      <p:sp>
        <p:nvSpPr>
          <p:cNvPr id="8" name="TextBox 7"/>
          <p:cNvSpPr txBox="1"/>
          <p:nvPr/>
        </p:nvSpPr>
        <p:spPr>
          <a:xfrm>
            <a:off x="888977"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Adult, understands Dutch</a:t>
            </a:r>
          </a:p>
          <a:p>
            <a:pPr algn="l">
              <a:lnSpc>
                <a:spcPct val="130000"/>
              </a:lnSpc>
              <a:spcBef>
                <a:spcPts val="1200"/>
              </a:spcBef>
            </a:pPr>
            <a:r>
              <a:rPr sz="1400" b="0">
                <a:solidFill>
                  <a:srgbClr val="8FB6D0"/>
                </a:solidFill>
                <a:latin typeface="Segoe UI"/>
              </a:rPr>
              <a:t>Diabetes type 1 or 2</a:t>
            </a:r>
          </a:p>
          <a:p>
            <a:pPr algn="l">
              <a:lnSpc>
                <a:spcPct val="130000"/>
              </a:lnSpc>
              <a:spcBef>
                <a:spcPts val="1200"/>
              </a:spcBef>
            </a:pPr>
            <a:r>
              <a:rPr sz="1400" b="0">
                <a:solidFill>
                  <a:srgbClr val="8FB6D0"/>
                </a:solidFill>
                <a:latin typeface="Segoe UI"/>
              </a:rPr>
              <a:t>IWGDF risk category 3 with a healed plantar ulcer, or partial amputation or resection of a metatarsal head — not the first — between 18 months and 2 weeks ago</a:t>
            </a:r>
          </a:p>
          <a:p>
            <a:pPr algn="l">
              <a:lnSpc>
                <a:spcPct val="130000"/>
              </a:lnSpc>
              <a:spcBef>
                <a:spcPts val="1200"/>
              </a:spcBef>
            </a:pPr>
            <a:r>
              <a:rPr sz="1400" b="0">
                <a:solidFill>
                  <a:srgbClr val="8FB6D0"/>
                </a:solidFill>
                <a:latin typeface="Segoe UI"/>
              </a:rPr>
              <a:t>Walks barefoot independently, without walking aids</a:t>
            </a:r>
          </a:p>
          <a:p>
            <a:pPr algn="l">
              <a:lnSpc>
                <a:spcPct val="130000"/>
              </a:lnSpc>
              <a:spcBef>
                <a:spcPts val="1200"/>
              </a:spcBef>
            </a:pPr>
            <a:r>
              <a:rPr sz="1400" b="0">
                <a:solidFill>
                  <a:srgbClr val="8FB6D0"/>
                </a:solidFill>
                <a:latin typeface="Segoe UI"/>
              </a:rPr>
              <a:t>Has protective footwear, or accepts it: fully custom-made, or custom insoles in semi-orthopaedic or extra-depth off-the-shelf footwear</a:t>
            </a:r>
          </a:p>
        </p:txBody>
      </p:sp>
      <p:sp>
        <p:nvSpPr>
          <p:cNvPr id="9" name="Rounded Rectangle 8"/>
          <p:cNvSpPr/>
          <p:nvPr/>
        </p:nvSpPr>
        <p:spPr>
          <a:xfrm>
            <a:off x="6171918"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25912" y="2209744"/>
            <a:ext cx="761980" cy="292092"/>
          </a:xfrm>
          <a:prstGeom prst="roundRect">
            <a:avLst>
              <a:gd name="adj" fmla="val 45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5912"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NIET</a:t>
            </a:r>
          </a:p>
        </p:txBody>
      </p:sp>
      <p:sp>
        <p:nvSpPr>
          <p:cNvPr id="12" name="TextBox 11"/>
          <p:cNvSpPr txBox="1"/>
          <p:nvPr/>
        </p:nvSpPr>
        <p:spPr>
          <a:xfrm>
            <a:off x="6425912"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Amputation proximal to the MTP joints</a:t>
            </a:r>
          </a:p>
          <a:p>
            <a:pPr algn="l">
              <a:lnSpc>
                <a:spcPct val="130000"/>
              </a:lnSpc>
              <a:spcBef>
                <a:spcPts val="1200"/>
              </a:spcBef>
            </a:pPr>
            <a:r>
              <a:rPr sz="1400" b="0">
                <a:solidFill>
                  <a:srgbClr val="8FB6D0"/>
                </a:solidFill>
                <a:latin typeface="Segoe UI"/>
              </a:rPr>
              <a:t>Active ulcer or Charcot deformity</a:t>
            </a:r>
          </a:p>
          <a:p>
            <a:pPr algn="l">
              <a:lnSpc>
                <a:spcPct val="130000"/>
              </a:lnSpc>
              <a:spcBef>
                <a:spcPts val="1200"/>
              </a:spcBef>
            </a:pPr>
            <a:r>
              <a:rPr sz="1400" b="0">
                <a:solidFill>
                  <a:srgbClr val="8FB6D0"/>
                </a:solidFill>
                <a:latin typeface="Segoe UI"/>
              </a:rPr>
              <a:t>Critical ischaemia — PEDIS grade 3</a:t>
            </a:r>
          </a:p>
          <a:p>
            <a:pPr algn="l">
              <a:lnSpc>
                <a:spcPct val="130000"/>
              </a:lnSpc>
              <a:spcBef>
                <a:spcPts val="1200"/>
              </a:spcBef>
            </a:pPr>
            <a:r>
              <a:rPr sz="1400" b="0">
                <a:solidFill>
                  <a:srgbClr val="8FB6D0"/>
                </a:solidFill>
                <a:latin typeface="Segoe UI"/>
              </a:rPr>
              <a:t>Immunosuppressive therapy</a:t>
            </a:r>
          </a:p>
          <a:p>
            <a:pPr algn="l">
              <a:lnSpc>
                <a:spcPct val="130000"/>
              </a:lnSpc>
              <a:spcBef>
                <a:spcPts val="1200"/>
              </a:spcBef>
            </a:pPr>
            <a:r>
              <a:rPr sz="1400" b="0">
                <a:solidFill>
                  <a:srgbClr val="8FB6D0"/>
                </a:solidFill>
                <a:latin typeface="Segoe UI"/>
              </a:rPr>
              <a:t>Renal replacement therapy</a:t>
            </a:r>
          </a:p>
          <a:p>
            <a:pPr algn="l">
              <a:lnSpc>
                <a:spcPct val="130000"/>
              </a:lnSpc>
              <a:spcBef>
                <a:spcPts val="1200"/>
              </a:spcBef>
            </a:pPr>
            <a:r>
              <a:rPr sz="1400" b="0">
                <a:solidFill>
                  <a:srgbClr val="8FB6D0"/>
                </a:solidFill>
                <a:latin typeface="Segoe UI"/>
              </a:rPr>
              <a:t>Survival &lt; 18 months, in the judgement of the treating physician</a:t>
            </a:r>
          </a:p>
          <a:p>
            <a:pPr algn="l">
              <a:lnSpc>
                <a:spcPct val="130000"/>
              </a:lnSpc>
              <a:spcBef>
                <a:spcPts val="1200"/>
              </a:spcBef>
            </a:pPr>
            <a:r>
              <a:rPr sz="1400" b="0">
                <a:solidFill>
                  <a:srgbClr val="8FB6D0"/>
                </a:solidFill>
                <a:latin typeface="Segoe UI"/>
              </a:rPr>
              <a:t>Unable to consent or to follow instructions</a:t>
            </a:r>
          </a:p>
          <a:p>
            <a:pPr algn="l">
              <a:lnSpc>
                <a:spcPct val="130000"/>
              </a:lnSpc>
              <a:spcBef>
                <a:spcPts val="1200"/>
              </a:spcBef>
            </a:pPr>
            <a:r>
              <a:rPr sz="1400" b="0">
                <a:solidFill>
                  <a:srgbClr val="8FB6D0"/>
                </a:solidFill>
                <a:latin typeface="Segoe UI"/>
              </a:rPr>
              <a:t>A device preventing sensor application, e.g. an ankle-foot orthosis</a:t>
            </a:r>
          </a:p>
          <a:p>
            <a:pPr algn="l">
              <a:lnSpc>
                <a:spcPct val="130000"/>
              </a:lnSpc>
              <a:spcBef>
                <a:spcPts val="1200"/>
              </a:spcBef>
            </a:pPr>
            <a:r>
              <a:rPr sz="1400" b="0">
                <a:solidFill>
                  <a:srgbClr val="8FB6D0"/>
                </a:solidFill>
                <a:latin typeface="Segoe UI"/>
              </a:rPr>
              <a:t>Declines the prescribed footwear</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32</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5" name="TextBox 1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8 · IWGDF 2023, preventie   |   25 · IWGDF 2023, definities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THE TECHNOLOGY</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Three devices</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PRESSURE</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foot regions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YOUR TEAM MEASURES</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Barefoot with tape, and in the shoe with and without the insole</a:t>
            </a:r>
          </a:p>
          <a:p>
            <a:pPr algn="l">
              <a:lnSpc>
                <a:spcPct val="130000"/>
              </a:lnSpc>
              <a:spcBef>
                <a:spcPts val="1000"/>
              </a:spcBef>
            </a:pPr>
            <a:r>
              <a:rPr sz="1450" b="0">
                <a:solidFill>
                  <a:srgbClr val="8FB6D0"/>
                </a:solidFill>
                <a:latin typeface="Segoe UI"/>
              </a:rPr>
              <a:t>Trublu calibration at least every three months</a:t>
            </a:r>
          </a:p>
          <a:p>
            <a:pPr algn="l">
              <a:lnSpc>
                <a:spcPct val="130000"/>
              </a:lnSpc>
              <a:spcBef>
                <a:spcPts val="1000"/>
              </a:spcBef>
            </a:pPr>
            <a:r>
              <a:rPr sz="1450" b="0">
                <a:solidFill>
                  <a:srgbClr val="8FB6D0"/>
                </a:solidFill>
                <a:latin typeface="Segoe UI"/>
              </a:rPr>
              <a:t>F-Scan GO: a separate study-team measurement</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WEAR TIME</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minutes</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the insole, 9 × 13 × 4.5 mm</a:t>
            </a:r>
          </a:p>
          <a:p>
            <a:pPr algn="l">
              <a:lnSpc>
                <a:spcPct val="128000"/>
              </a:lnSpc>
              <a:spcBef>
                <a:spcPts val="600"/>
              </a:spcBef>
            </a:pPr>
            <a:r>
              <a:rPr sz="1400" b="0">
                <a:solidFill>
                  <a:srgbClr val="8FB6D0"/>
                </a:solidFill>
                <a:latin typeface="Segoe UI"/>
              </a:rPr>
              <a:t>Battery 100 days</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CALL IT: YOUR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ACTIVITY</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days</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At the waist, on the lower back</a:t>
            </a:r>
          </a:p>
          <a:p>
            <a:pPr algn="l">
              <a:lnSpc>
                <a:spcPct val="128000"/>
              </a:lnSpc>
              <a:spcBef>
                <a:spcPts val="600"/>
              </a:spcBef>
            </a:pPr>
            <a:r>
              <a:rPr sz="1400" b="0">
                <a:solidFill>
                  <a:srgbClr val="8FB6D0"/>
                </a:solidFill>
                <a:latin typeface="Segoe UI"/>
              </a:rPr>
              <a:t>Baseline and 6 months</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SETS THE TARGET PER PATIENT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32</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
        <p:nvSpPr>
          <p:cNvPr id="30" name="TextBox 2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SEBIA · ECRF DOCUMENT 17</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Five conversations</a:t>
            </a: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77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Baseline</a:t>
            </a:r>
          </a:p>
        </p:txBody>
      </p:sp>
      <p:sp>
        <p:nvSpPr>
          <p:cNvPr id="10" name="TextBox 9"/>
          <p:cNvSpPr txBox="1"/>
          <p:nvPr/>
        </p:nvSpPr>
        <p:spPr>
          <a:xfrm>
            <a:off x="81277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Questionnaires first, then tailored education, with demonstration.</a:t>
            </a: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2524"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3 mo</a:t>
            </a:r>
          </a:p>
        </p:txBody>
      </p:sp>
      <p:sp>
        <p:nvSpPr>
          <p:cNvPr id="15" name="TextBox 14"/>
          <p:cNvSpPr txBox="1"/>
          <p:nvPr/>
        </p:nvSpPr>
        <p:spPr>
          <a:xfrm>
            <a:off x="3022524"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Teach-back, with the emphasis on índoor wear.</a:t>
            </a: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226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6 · 12 mo</a:t>
            </a:r>
          </a:p>
        </p:txBody>
      </p:sp>
      <p:sp>
        <p:nvSpPr>
          <p:cNvPr id="20" name="TextBox 19"/>
          <p:cNvSpPr txBox="1"/>
          <p:nvPr/>
        </p:nvSpPr>
        <p:spPr>
          <a:xfrm>
            <a:off x="523226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Self-assessment, then reviewing the data together.</a:t>
            </a: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013"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9 · 15 mo</a:t>
            </a:r>
          </a:p>
        </p:txBody>
      </p:sp>
      <p:sp>
        <p:nvSpPr>
          <p:cNvPr id="25" name="TextBox 24"/>
          <p:cNvSpPr txBox="1"/>
          <p:nvPr/>
        </p:nvSpPr>
        <p:spPr>
          <a:xfrm>
            <a:off x="7442013"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Demonstration, comparing the printout with the previous visit.</a:t>
            </a: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1758"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18 mo</a:t>
            </a:r>
          </a:p>
        </p:txBody>
      </p:sp>
      <p:sp>
        <p:nvSpPr>
          <p:cNvPr id="30" name="TextBox 29"/>
          <p:cNvSpPr txBox="1"/>
          <p:nvPr/>
        </p:nvSpPr>
        <p:spPr>
          <a:xfrm>
            <a:off x="9651758"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Closing, and sharing the results.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32</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3" name="TextBox 32"/>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19 · Michie 2011, COM-B   |   26 · Lincoln 2007, NAFF   |   31 · Keukenkamp 2022</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THE ONE RULE THAT REALLY MATTERS</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Measured values do</a:t>
            </a:r>
          </a:p>
          <a:p>
            <a:pPr algn="l">
              <a:lnSpc>
                <a:spcPct val="108000"/>
              </a:lnSpc>
              <a:spcBef>
                <a:spcPts val="500"/>
              </a:spcBef>
            </a:pPr>
            <a:r>
              <a:rPr sz="5400" b="1">
                <a:solidFill>
                  <a:srgbClr val="F2F8FC"/>
                </a:solidFill>
                <a:latin typeface="Segoe UI"/>
              </a:rPr>
              <a:t>not go to the</a:t>
            </a:r>
          </a:p>
          <a:p>
            <a:pPr algn="l">
              <a:lnSpc>
                <a:spcPct val="108000"/>
              </a:lnSpc>
              <a:spcBef>
                <a:spcPts val="500"/>
              </a:spcBef>
            </a:pPr>
            <a:r>
              <a:rPr sz="5400" b="1">
                <a:solidFill>
                  <a:srgbClr val="F2F8FC"/>
                </a:solidFill>
                <a:latin typeface="Segoe UI"/>
              </a:rPr>
              <a:t>control arm</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They too undergo pressure measurement and wear a sensor — otherwise the arms cannot be compared. But those numbers stay closed. Discuss them and you have delivered the intervention, and that participant is no longer usable as a control.</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EXCEPTION</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Clinical findings are not measured values. Any lesion or skin defect is reported and treated immediately. In both arms.</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32</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2" name="TextBox 1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Endpoints and analysis</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Two endpoints, mapped one to one onto the causal model.</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25 / 32</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SAMPLE SIZE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Two endpoints, two calculations</a:t>
            </a:r>
          </a:p>
        </p:txBody>
      </p:sp>
      <p:sp>
        <p:nvSpPr>
          <p:cNvPr id="5" name="Rounded Rectangle 4"/>
          <p:cNvSpPr/>
          <p:nvPr/>
        </p:nvSpPr>
        <p:spPr>
          <a:xfrm>
            <a:off x="634984" y="1816054"/>
            <a:ext cx="5384538" cy="353228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578" y="1993850"/>
            <a:ext cx="4927349" cy="253993"/>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CO-PRIMARY 1</a:t>
            </a:r>
          </a:p>
        </p:txBody>
      </p:sp>
      <p:sp>
        <p:nvSpPr>
          <p:cNvPr id="7" name="TextBox 6"/>
          <p:cNvSpPr txBox="1"/>
          <p:nvPr/>
        </p:nvSpPr>
        <p:spPr>
          <a:xfrm>
            <a:off x="863578" y="2260543"/>
            <a:ext cx="4927349" cy="444488"/>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Ulcer recurrence at 18 months</a:t>
            </a:r>
          </a:p>
        </p:txBody>
      </p:sp>
      <p:sp>
        <p:nvSpPr>
          <p:cNvPr id="8" name="Rectangle 7"/>
          <p:cNvSpPr/>
          <p:nvPr/>
        </p:nvSpPr>
        <p:spPr>
          <a:xfrm>
            <a:off x="863578" y="2717732"/>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3578" y="2819329"/>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Assumed, control</a:t>
            </a:r>
          </a:p>
        </p:txBody>
      </p:sp>
      <p:sp>
        <p:nvSpPr>
          <p:cNvPr id="10" name="TextBox 9"/>
          <p:cNvSpPr txBox="1"/>
          <p:nvPr/>
        </p:nvSpPr>
        <p:spPr>
          <a:xfrm>
            <a:off x="2539936" y="2806629"/>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50% recurrence</a:t>
            </a:r>
          </a:p>
        </p:txBody>
      </p:sp>
      <p:sp>
        <p:nvSpPr>
          <p:cNvPr id="11" name="Rectangle 10"/>
          <p:cNvSpPr/>
          <p:nvPr/>
        </p:nvSpPr>
        <p:spPr>
          <a:xfrm>
            <a:off x="863578" y="3127017"/>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578" y="3228614"/>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Assumed, intervention</a:t>
            </a:r>
          </a:p>
        </p:txBody>
      </p:sp>
      <p:sp>
        <p:nvSpPr>
          <p:cNvPr id="13" name="TextBox 12"/>
          <p:cNvSpPr txBox="1"/>
          <p:nvPr/>
        </p:nvSpPr>
        <p:spPr>
          <a:xfrm>
            <a:off x="2539936" y="3215915"/>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25%, hazard ratio 0.42</a:t>
            </a:r>
          </a:p>
        </p:txBody>
      </p:sp>
      <p:sp>
        <p:nvSpPr>
          <p:cNvPr id="14" name="Rectangle 13"/>
          <p:cNvSpPr/>
          <p:nvPr/>
        </p:nvSpPr>
        <p:spPr>
          <a:xfrm>
            <a:off x="863578" y="3536302"/>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3578" y="3637900"/>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Test</a:t>
            </a:r>
          </a:p>
        </p:txBody>
      </p:sp>
      <p:sp>
        <p:nvSpPr>
          <p:cNvPr id="16" name="TextBox 15"/>
          <p:cNvSpPr txBox="1"/>
          <p:nvPr/>
        </p:nvSpPr>
        <p:spPr>
          <a:xfrm>
            <a:off x="2539936" y="3625200"/>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log-rank, two-sided, α = 0.05</a:t>
            </a:r>
          </a:p>
        </p:txBody>
      </p:sp>
      <p:sp>
        <p:nvSpPr>
          <p:cNvPr id="17" name="Rectangle 16"/>
          <p:cNvSpPr/>
          <p:nvPr/>
        </p:nvSpPr>
        <p:spPr>
          <a:xfrm>
            <a:off x="863578" y="3945588"/>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3578" y="4047185"/>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Power</a:t>
            </a:r>
          </a:p>
        </p:txBody>
      </p:sp>
      <p:sp>
        <p:nvSpPr>
          <p:cNvPr id="19" name="TextBox 18"/>
          <p:cNvSpPr txBox="1"/>
          <p:nvPr/>
        </p:nvSpPr>
        <p:spPr>
          <a:xfrm>
            <a:off x="2539936" y="4034485"/>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80% → 41 events required</a:t>
            </a:r>
          </a:p>
        </p:txBody>
      </p:sp>
      <p:sp>
        <p:nvSpPr>
          <p:cNvPr id="20" name="Rectangle 19"/>
          <p:cNvSpPr/>
          <p:nvPr/>
        </p:nvSpPr>
        <p:spPr>
          <a:xfrm>
            <a:off x="863578" y="4354873"/>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3578" y="4456470"/>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Attrition</a:t>
            </a:r>
          </a:p>
        </p:txBody>
      </p:sp>
      <p:sp>
        <p:nvSpPr>
          <p:cNvPr id="22" name="TextBox 21"/>
          <p:cNvSpPr txBox="1"/>
          <p:nvPr/>
        </p:nvSpPr>
        <p:spPr>
          <a:xfrm>
            <a:off x="2539936" y="4443771"/>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15%</a:t>
            </a:r>
          </a:p>
        </p:txBody>
      </p:sp>
      <p:sp>
        <p:nvSpPr>
          <p:cNvPr id="23" name="Rounded Rectangle 22"/>
          <p:cNvSpPr/>
          <p:nvPr/>
        </p:nvSpPr>
        <p:spPr>
          <a:xfrm>
            <a:off x="863578" y="4827657"/>
            <a:ext cx="4927349" cy="3174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3578" y="4903855"/>
            <a:ext cx="4927349" cy="253993"/>
          </a:xfrm>
          <a:prstGeom prst="rect">
            <a:avLst/>
          </a:prstGeom>
          <a:noFill/>
        </p:spPr>
        <p:txBody>
          <a:bodyPr wrap="square" anchor="t" lIns="0" rIns="0" tIns="0" bIns="0">
            <a:spAutoFit/>
          </a:bodyPr>
          <a:lstStyle/>
          <a:p>
            <a:pPr algn="ctr">
              <a:lnSpc>
                <a:spcPct val="125000"/>
              </a:lnSpc>
            </a:pPr>
            <a:r>
              <a:rPr sz="1600" b="1">
                <a:solidFill>
                  <a:srgbClr val="52BDEC"/>
                </a:solidFill>
                <a:latin typeface="Consolas"/>
              </a:rPr>
              <a:t>108 → 127 with attrition → 130 stratified</a:t>
            </a:r>
          </a:p>
        </p:txBody>
      </p:sp>
      <p:sp>
        <p:nvSpPr>
          <p:cNvPr id="25" name="Rounded Rectangle 24"/>
          <p:cNvSpPr/>
          <p:nvPr/>
        </p:nvSpPr>
        <p:spPr>
          <a:xfrm>
            <a:off x="6171918" y="1816054"/>
            <a:ext cx="5384538" cy="353228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512" y="1993850"/>
            <a:ext cx="4927349" cy="253993"/>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CO-PRIMARY 2</a:t>
            </a:r>
          </a:p>
        </p:txBody>
      </p:sp>
      <p:sp>
        <p:nvSpPr>
          <p:cNvPr id="27" name="TextBox 26"/>
          <p:cNvSpPr txBox="1"/>
          <p:nvPr/>
        </p:nvSpPr>
        <p:spPr>
          <a:xfrm>
            <a:off x="6400512" y="2260543"/>
            <a:ext cx="4927349" cy="444488"/>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Footwear adherence at 12 months</a:t>
            </a:r>
          </a:p>
        </p:txBody>
      </p:sp>
      <p:sp>
        <p:nvSpPr>
          <p:cNvPr id="28" name="Rectangle 27"/>
          <p:cNvSpPr/>
          <p:nvPr/>
        </p:nvSpPr>
        <p:spPr>
          <a:xfrm>
            <a:off x="6400512" y="2717732"/>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512" y="2819329"/>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Assumed, control</a:t>
            </a:r>
          </a:p>
        </p:txBody>
      </p:sp>
      <p:sp>
        <p:nvSpPr>
          <p:cNvPr id="30" name="TextBox 29"/>
          <p:cNvSpPr txBox="1"/>
          <p:nvPr/>
        </p:nvSpPr>
        <p:spPr>
          <a:xfrm>
            <a:off x="8076871" y="2806629"/>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71%, SD 25%</a:t>
            </a:r>
          </a:p>
        </p:txBody>
      </p:sp>
      <p:sp>
        <p:nvSpPr>
          <p:cNvPr id="31" name="Rectangle 30"/>
          <p:cNvSpPr/>
          <p:nvPr/>
        </p:nvSpPr>
        <p:spPr>
          <a:xfrm>
            <a:off x="6400512" y="3127017"/>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512" y="3228614"/>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Assumed, intervention</a:t>
            </a:r>
          </a:p>
        </p:txBody>
      </p:sp>
      <p:sp>
        <p:nvSpPr>
          <p:cNvPr id="33" name="TextBox 32"/>
          <p:cNvSpPr txBox="1"/>
          <p:nvPr/>
        </p:nvSpPr>
        <p:spPr>
          <a:xfrm>
            <a:off x="8076871" y="3215915"/>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85%, effect size 0.56</a:t>
            </a:r>
          </a:p>
        </p:txBody>
      </p:sp>
      <p:sp>
        <p:nvSpPr>
          <p:cNvPr id="34" name="Rectangle 33"/>
          <p:cNvSpPr/>
          <p:nvPr/>
        </p:nvSpPr>
        <p:spPr>
          <a:xfrm>
            <a:off x="6400512" y="3536302"/>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512" y="3637900"/>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Test</a:t>
            </a:r>
          </a:p>
        </p:txBody>
      </p:sp>
      <p:sp>
        <p:nvSpPr>
          <p:cNvPr id="36" name="TextBox 35"/>
          <p:cNvSpPr txBox="1"/>
          <p:nvPr/>
        </p:nvSpPr>
        <p:spPr>
          <a:xfrm>
            <a:off x="8076871" y="3625200"/>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t-test, two-sided, α = 0.05</a:t>
            </a:r>
          </a:p>
        </p:txBody>
      </p:sp>
      <p:sp>
        <p:nvSpPr>
          <p:cNvPr id="37" name="Rectangle 36"/>
          <p:cNvSpPr/>
          <p:nvPr/>
        </p:nvSpPr>
        <p:spPr>
          <a:xfrm>
            <a:off x="6400512" y="3945588"/>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512" y="4047185"/>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Power</a:t>
            </a:r>
          </a:p>
        </p:txBody>
      </p:sp>
      <p:sp>
        <p:nvSpPr>
          <p:cNvPr id="39" name="TextBox 38"/>
          <p:cNvSpPr txBox="1"/>
          <p:nvPr/>
        </p:nvSpPr>
        <p:spPr>
          <a:xfrm>
            <a:off x="8076871" y="4034485"/>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80% → 50 per group</a:t>
            </a:r>
          </a:p>
        </p:txBody>
      </p:sp>
      <p:sp>
        <p:nvSpPr>
          <p:cNvPr id="40" name="Rectangle 39"/>
          <p:cNvSpPr/>
          <p:nvPr/>
        </p:nvSpPr>
        <p:spPr>
          <a:xfrm>
            <a:off x="6400512" y="4354873"/>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512" y="4456470"/>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Attrition</a:t>
            </a:r>
          </a:p>
        </p:txBody>
      </p:sp>
      <p:sp>
        <p:nvSpPr>
          <p:cNvPr id="42" name="TextBox 41"/>
          <p:cNvSpPr txBox="1"/>
          <p:nvPr/>
        </p:nvSpPr>
        <p:spPr>
          <a:xfrm>
            <a:off x="8076871" y="4443771"/>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15%</a:t>
            </a:r>
          </a:p>
        </p:txBody>
      </p:sp>
      <p:sp>
        <p:nvSpPr>
          <p:cNvPr id="43" name="Rounded Rectangle 42"/>
          <p:cNvSpPr/>
          <p:nvPr/>
        </p:nvSpPr>
        <p:spPr>
          <a:xfrm>
            <a:off x="6400512" y="4827657"/>
            <a:ext cx="4927349" cy="3174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512" y="4903855"/>
            <a:ext cx="4927349" cy="253993"/>
          </a:xfrm>
          <a:prstGeom prst="rect">
            <a:avLst/>
          </a:prstGeom>
          <a:noFill/>
        </p:spPr>
        <p:txBody>
          <a:bodyPr wrap="square" anchor="t" lIns="0" rIns="0" tIns="0" bIns="0">
            <a:spAutoFit/>
          </a:bodyPr>
          <a:lstStyle/>
          <a:p>
            <a:pPr algn="ctr">
              <a:lnSpc>
                <a:spcPct val="125000"/>
              </a:lnSpc>
            </a:pPr>
            <a:r>
              <a:rPr sz="1600" b="1">
                <a:solidFill>
                  <a:srgbClr val="52BDEC"/>
                </a:solidFill>
                <a:latin typeface="Consolas"/>
              </a:rPr>
              <a:t>100 → 118 with attrition</a:t>
            </a:r>
          </a:p>
        </p:txBody>
      </p:sp>
      <p:sp>
        <p:nvSpPr>
          <p:cNvPr id="45" name="Rounded Rectangle 44"/>
          <p:cNvSpPr/>
          <p:nvPr/>
        </p:nvSpPr>
        <p:spPr>
          <a:xfrm>
            <a:off x="634984" y="5462641"/>
            <a:ext cx="10921726" cy="1106980"/>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39776" y="5576938"/>
            <a:ext cx="4444888" cy="215894"/>
          </a:xfrm>
          <a:prstGeom prst="rect">
            <a:avLst/>
          </a:prstGeom>
          <a:noFill/>
        </p:spPr>
        <p:txBody>
          <a:bodyPr wrap="none" anchor="t" lIns="0" rIns="0" tIns="0" bIns="0">
            <a:spAutoFit/>
          </a:bodyPr>
          <a:lstStyle/>
          <a:p>
            <a:pPr algn="l">
              <a:lnSpc>
                <a:spcPct val="125000"/>
              </a:lnSpc>
            </a:pPr>
            <a:r>
              <a:rPr sz="1250" b="1" spc="150">
                <a:solidFill>
                  <a:srgbClr val="FF7A00"/>
                </a:solidFill>
                <a:latin typeface="Consolas"/>
              </a:rPr>
              <a:t>SO WHY 144</a:t>
            </a:r>
          </a:p>
        </p:txBody>
      </p:sp>
      <p:sp>
        <p:nvSpPr>
          <p:cNvPr id="47" name="TextBox 46"/>
          <p:cNvSpPr txBox="1"/>
          <p:nvPr/>
        </p:nvSpPr>
        <p:spPr>
          <a:xfrm>
            <a:off x="939776" y="5805532"/>
            <a:ext cx="10286742" cy="738689"/>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Six centres times 24 is 144. That figure comes from per-centre recruitment capacity rather than from the calculation, and it exceeds both minima.</a:t>
            </a:r>
          </a:p>
        </p:txBody>
      </p:sp>
      <p:sp>
        <p:nvSpPr>
          <p:cNvPr id="48" name="TextBox 4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26 / 32</a:t>
            </a:r>
          </a:p>
        </p:txBody>
      </p:sp>
      <p:pic>
        <p:nvPicPr>
          <p:cNvPr id="49"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50" name="TextBox 4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9 · Bus 2013, DIAFOS   |   13 · Waaijman 2013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WHAT THE CO-PRIMARY CRITERION COSTS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The power that counts is the joint one</a:t>
            </a:r>
          </a:p>
        </p:txBody>
      </p:sp>
      <p:sp>
        <p:nvSpPr>
          <p:cNvPr id="5" name="TextBox 4"/>
          <p:cNvSpPr txBox="1"/>
          <p:nvPr/>
        </p:nvSpPr>
        <p:spPr>
          <a:xfrm>
            <a:off x="634984" y="1676358"/>
            <a:ext cx="8889777" cy="279393"/>
          </a:xfrm>
          <a:prstGeom prst="rect">
            <a:avLst/>
          </a:prstGeom>
          <a:noFill/>
        </p:spPr>
        <p:txBody>
          <a:bodyPr wrap="square" anchor="t" lIns="0" rIns="0" tIns="0" bIns="0">
            <a:spAutoFit/>
          </a:bodyPr>
          <a:lstStyle/>
          <a:p>
            <a:pPr algn="l">
              <a:lnSpc>
                <a:spcPct val="125000"/>
              </a:lnSpc>
            </a:pPr>
            <a:r>
              <a:rPr sz="1650" b="0">
                <a:solidFill>
                  <a:srgbClr val="8FB6D0"/>
                </a:solidFill>
                <a:latin typeface="Segoe UI"/>
              </a:rPr>
              <a:t>The trial is positive only if bóth endpoints reach significance.</a:t>
            </a:r>
          </a:p>
        </p:txBody>
      </p:sp>
      <p:sp>
        <p:nvSpPr>
          <p:cNvPr id="6" name="Rounded Rectangle 5"/>
          <p:cNvSpPr/>
          <p:nvPr/>
        </p:nvSpPr>
        <p:spPr>
          <a:xfrm>
            <a:off x="634984" y="2133546"/>
            <a:ext cx="5384538" cy="77468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179" y="2273243"/>
            <a:ext cx="4978148" cy="228594"/>
          </a:xfrm>
          <a:prstGeom prst="rect">
            <a:avLst/>
          </a:prstGeom>
          <a:noFill/>
        </p:spPr>
        <p:txBody>
          <a:bodyPr wrap="square" anchor="t" lIns="0" rIns="0" tIns="0" bIns="0">
            <a:spAutoFit/>
          </a:bodyPr>
          <a:lstStyle/>
          <a:p>
            <a:pPr algn="l">
              <a:lnSpc>
                <a:spcPct val="125000"/>
              </a:lnSpc>
            </a:pPr>
            <a:r>
              <a:rPr sz="1250" b="1" spc="140">
                <a:solidFill>
                  <a:srgbClr val="52BDEC"/>
                </a:solidFill>
                <a:latin typeface="Consolas"/>
              </a:rPr>
              <a:t>RECURRENCE ALONE</a:t>
            </a:r>
          </a:p>
        </p:txBody>
      </p:sp>
      <p:sp>
        <p:nvSpPr>
          <p:cNvPr id="8" name="TextBox 7"/>
          <p:cNvSpPr txBox="1"/>
          <p:nvPr/>
        </p:nvSpPr>
        <p:spPr>
          <a:xfrm>
            <a:off x="838179" y="2539936"/>
            <a:ext cx="4978148" cy="292092"/>
          </a:xfrm>
          <a:prstGeom prst="rect">
            <a:avLst/>
          </a:prstGeom>
          <a:noFill/>
        </p:spPr>
        <p:txBody>
          <a:bodyPr wrap="square" anchor="t" lIns="0" rIns="0" tIns="0" bIns="0">
            <a:spAutoFit/>
          </a:bodyPr>
          <a:lstStyle/>
          <a:p>
            <a:pPr algn="l">
              <a:lnSpc>
                <a:spcPct val="125000"/>
              </a:lnSpc>
            </a:pPr>
            <a:r>
              <a:rPr sz="1700" b="0">
                <a:solidFill>
                  <a:srgbClr val="F2F8FC"/>
                </a:solidFill>
                <a:latin typeface="Segoe UI"/>
              </a:rPr>
              <a:t>84% — and 90% with complete follow-up</a:t>
            </a:r>
          </a:p>
        </p:txBody>
      </p:sp>
      <p:sp>
        <p:nvSpPr>
          <p:cNvPr id="9" name="Rounded Rectangle 8"/>
          <p:cNvSpPr/>
          <p:nvPr/>
        </p:nvSpPr>
        <p:spPr>
          <a:xfrm>
            <a:off x="6171918" y="2133546"/>
            <a:ext cx="5384538" cy="77468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5113" y="2273243"/>
            <a:ext cx="4978148" cy="228594"/>
          </a:xfrm>
          <a:prstGeom prst="rect">
            <a:avLst/>
          </a:prstGeom>
          <a:noFill/>
        </p:spPr>
        <p:txBody>
          <a:bodyPr wrap="square" anchor="t" lIns="0" rIns="0" tIns="0" bIns="0">
            <a:spAutoFit/>
          </a:bodyPr>
          <a:lstStyle/>
          <a:p>
            <a:pPr algn="l">
              <a:lnSpc>
                <a:spcPct val="125000"/>
              </a:lnSpc>
            </a:pPr>
            <a:r>
              <a:rPr sz="1250" b="1" spc="140">
                <a:solidFill>
                  <a:srgbClr val="52BDEC"/>
                </a:solidFill>
                <a:latin typeface="Consolas"/>
              </a:rPr>
              <a:t>ADHERENCE ALONE</a:t>
            </a:r>
          </a:p>
        </p:txBody>
      </p:sp>
      <p:sp>
        <p:nvSpPr>
          <p:cNvPr id="11" name="TextBox 10"/>
          <p:cNvSpPr txBox="1"/>
          <p:nvPr/>
        </p:nvSpPr>
        <p:spPr>
          <a:xfrm>
            <a:off x="6375113" y="2539936"/>
            <a:ext cx="4978148" cy="292092"/>
          </a:xfrm>
          <a:prstGeom prst="rect">
            <a:avLst/>
          </a:prstGeom>
          <a:noFill/>
        </p:spPr>
        <p:txBody>
          <a:bodyPr wrap="square" anchor="t" lIns="0" rIns="0" tIns="0" bIns="0">
            <a:spAutoFit/>
          </a:bodyPr>
          <a:lstStyle/>
          <a:p>
            <a:pPr algn="l">
              <a:lnSpc>
                <a:spcPct val="125000"/>
              </a:lnSpc>
            </a:pPr>
            <a:r>
              <a:rPr sz="1700" b="0">
                <a:solidFill>
                  <a:srgbClr val="F2F8FC"/>
                </a:solidFill>
                <a:latin typeface="Segoe UI"/>
              </a:rPr>
              <a:t>87% — and 92% with complete follow-up</a:t>
            </a:r>
          </a:p>
        </p:txBody>
      </p:sp>
      <p:sp>
        <p:nvSpPr>
          <p:cNvPr id="12" name="Rounded Rectangle 11"/>
          <p:cNvSpPr/>
          <p:nvPr/>
        </p:nvSpPr>
        <p:spPr>
          <a:xfrm>
            <a:off x="634984" y="3035224"/>
            <a:ext cx="5384538" cy="77468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179" y="3174920"/>
            <a:ext cx="4978148" cy="228594"/>
          </a:xfrm>
          <a:prstGeom prst="rect">
            <a:avLst/>
          </a:prstGeom>
          <a:noFill/>
        </p:spPr>
        <p:txBody>
          <a:bodyPr wrap="square" anchor="t" lIns="0" rIns="0" tIns="0" bIns="0">
            <a:spAutoFit/>
          </a:bodyPr>
          <a:lstStyle/>
          <a:p>
            <a:pPr algn="l">
              <a:lnSpc>
                <a:spcPct val="125000"/>
              </a:lnSpc>
            </a:pPr>
            <a:r>
              <a:rPr sz="1250" b="1" spc="140">
                <a:solidFill>
                  <a:srgbClr val="52BDEC"/>
                </a:solidFill>
                <a:latin typeface="Consolas"/>
              </a:rPr>
              <a:t>BOTH TOGETHER</a:t>
            </a:r>
          </a:p>
        </p:txBody>
      </p:sp>
      <p:sp>
        <p:nvSpPr>
          <p:cNvPr id="14" name="TextBox 13"/>
          <p:cNvSpPr txBox="1"/>
          <p:nvPr/>
        </p:nvSpPr>
        <p:spPr>
          <a:xfrm>
            <a:off x="838179" y="3441613"/>
            <a:ext cx="4978148" cy="292092"/>
          </a:xfrm>
          <a:prstGeom prst="rect">
            <a:avLst/>
          </a:prstGeom>
          <a:noFill/>
        </p:spPr>
        <p:txBody>
          <a:bodyPr wrap="square" anchor="t" lIns="0" rIns="0" tIns="0" bIns="0">
            <a:spAutoFit/>
          </a:bodyPr>
          <a:lstStyle/>
          <a:p>
            <a:pPr algn="l">
              <a:lnSpc>
                <a:spcPct val="125000"/>
              </a:lnSpc>
            </a:pPr>
            <a:r>
              <a:rPr sz="1700" b="0">
                <a:solidFill>
                  <a:srgbClr val="F2F8FC"/>
                </a:solidFill>
                <a:latin typeface="Segoe UI"/>
              </a:rPr>
              <a:t>74% to 84%, depending on the correlation</a:t>
            </a:r>
          </a:p>
        </p:txBody>
      </p:sp>
      <p:sp>
        <p:nvSpPr>
          <p:cNvPr id="15" name="Rounded Rectangle 14"/>
          <p:cNvSpPr/>
          <p:nvPr/>
        </p:nvSpPr>
        <p:spPr>
          <a:xfrm>
            <a:off x="6171918" y="3035224"/>
            <a:ext cx="5384538" cy="77468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5113" y="3174920"/>
            <a:ext cx="4978148" cy="228594"/>
          </a:xfrm>
          <a:prstGeom prst="rect">
            <a:avLst/>
          </a:prstGeom>
          <a:noFill/>
        </p:spPr>
        <p:txBody>
          <a:bodyPr wrap="square" anchor="t" lIns="0" rIns="0" tIns="0" bIns="0">
            <a:spAutoFit/>
          </a:bodyPr>
          <a:lstStyle/>
          <a:p>
            <a:pPr algn="l">
              <a:lnSpc>
                <a:spcPct val="125000"/>
              </a:lnSpc>
            </a:pPr>
            <a:r>
              <a:rPr sz="1250" b="1" spc="140">
                <a:solidFill>
                  <a:srgbClr val="52BDEC"/>
                </a:solidFill>
                <a:latin typeface="Consolas"/>
              </a:rPr>
              <a:t>AT HALF THE EFFECT SIZE</a:t>
            </a:r>
          </a:p>
        </p:txBody>
      </p:sp>
      <p:sp>
        <p:nvSpPr>
          <p:cNvPr id="17" name="TextBox 16"/>
          <p:cNvSpPr txBox="1"/>
          <p:nvPr/>
        </p:nvSpPr>
        <p:spPr>
          <a:xfrm>
            <a:off x="6375113" y="3441613"/>
            <a:ext cx="4978148" cy="292092"/>
          </a:xfrm>
          <a:prstGeom prst="rect">
            <a:avLst/>
          </a:prstGeom>
          <a:noFill/>
        </p:spPr>
        <p:txBody>
          <a:bodyPr wrap="square" anchor="t" lIns="0" rIns="0" tIns="0" bIns="0">
            <a:spAutoFit/>
          </a:bodyPr>
          <a:lstStyle/>
          <a:p>
            <a:pPr algn="l">
              <a:lnSpc>
                <a:spcPct val="125000"/>
              </a:lnSpc>
            </a:pPr>
            <a:r>
              <a:rPr sz="1700" b="0">
                <a:solidFill>
                  <a:srgbClr val="F2F8FC"/>
                </a:solidFill>
                <a:latin typeface="Segoe UI"/>
              </a:rPr>
              <a:t>64% at 30% · 40% at 35%</a:t>
            </a:r>
          </a:p>
        </p:txBody>
      </p:sp>
      <p:sp>
        <p:nvSpPr>
          <p:cNvPr id="18" name="Rounded Rectangle 17"/>
          <p:cNvSpPr/>
          <p:nvPr/>
        </p:nvSpPr>
        <p:spPr>
          <a:xfrm>
            <a:off x="634984" y="4101997"/>
            <a:ext cx="10921726" cy="1769776"/>
          </a:xfrm>
          <a:prstGeom prst="roundRect">
            <a:avLst>
              <a:gd name="adj" fmla="val 4500"/>
            </a:avLst>
          </a:prstGeom>
          <a:solidFill>
            <a:srgbClr val="113A57"/>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2476" y="4394090"/>
            <a:ext cx="10286742" cy="13125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Protocols with co-primary endpoints usually report only the endpoint-specific figure. That overstates the prospect on the criterion by which the trial will actually be judged.</a:t>
            </a:r>
          </a:p>
        </p:txBody>
      </p:sp>
      <p:sp>
        <p:nvSpPr>
          <p:cNvPr id="20" name="TextBox 1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27 / 32</a:t>
            </a:r>
          </a:p>
        </p:txBody>
      </p:sp>
      <p:pic>
        <p:nvPicPr>
          <p:cNvPr id="2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2" name="TextBox 2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ANALYSIS PLAN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How we test it</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Recurrence</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Cox regression stratified by centre, with allocation as the only covariate. Death is a competing risk, not censoring: Fine-Gray and cumulative incidence alongside.</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co-primary</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Adherence</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Beta regression with a logit link, since it is a proportion with a ceiling. Linear regression as a sensitivity analysis.</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co-primary</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Intercurrent events</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The two endpoints are intercurrent events for one another: a participant who ulcerates rightly stops wearing the insole. Hypothetical strategy for adherence.</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estimand</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Missing data</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Multiple imputation, 50 datasets. A tipping-point analysis shows how extreme a departure would have to be to overturn the conclusion.</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MAR</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Positive only if both endpoints are significant. The family-wise error rate therefore stays below 0.05 and no adjustment is applied.</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28 / 32</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21 · SPIRIT 2025   |   24 · CONSORT 2025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WHAT RUNS ALONGSIDE THE TRIAL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Two evaluations, in parallel</a:t>
            </a:r>
          </a:p>
        </p:txBody>
      </p:sp>
      <p:sp>
        <p:nvSpPr>
          <p:cNvPr id="5" name="Rounded Rectangle 4"/>
          <p:cNvSpPr/>
          <p:nvPr/>
        </p:nvSpPr>
        <p:spPr>
          <a:xfrm>
            <a:off x="634984" y="2031949"/>
            <a:ext cx="5384538" cy="424169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Health-economic evaluation</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Cost-utility, payer perspective</a:t>
            </a:r>
          </a:p>
        </p:txBody>
      </p:sp>
      <p:sp>
        <p:nvSpPr>
          <p:cNvPr id="10" name="TextBox 9"/>
          <p:cNvSpPr txBox="1"/>
          <p:nvPr/>
        </p:nvSpPr>
        <p:spPr>
          <a:xfrm>
            <a:off x="888977" y="4165495"/>
            <a:ext cx="4876551" cy="2109478"/>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EQ-5D-5L every three months, valued with the Belgian value set.</a:t>
            </a:r>
          </a:p>
          <a:p>
            <a:pPr algn="l">
              <a:lnSpc>
                <a:spcPct val="132000"/>
              </a:lnSpc>
              <a:spcBef>
                <a:spcPts val="1200"/>
              </a:spcBef>
            </a:pPr>
            <a:r>
              <a:rPr sz="1450" b="0">
                <a:solidFill>
                  <a:srgbClr val="8FB6D0"/>
                </a:solidFill>
                <a:latin typeface="Segoe UI"/>
              </a:rPr>
              <a:t>Resource use collected prospectively with the iMCQ and iPCQ, plus diary and medical records.</a:t>
            </a:r>
          </a:p>
          <a:p>
            <a:pPr algn="l">
              <a:lnSpc>
                <a:spcPct val="132000"/>
              </a:lnSpc>
              <a:spcBef>
                <a:spcPts val="1200"/>
              </a:spcBef>
            </a:pPr>
            <a:r>
              <a:rPr sz="1450" b="0">
                <a:solidFill>
                  <a:srgbClr val="8FB6D0"/>
                </a:solidFill>
                <a:latin typeface="Segoe UI"/>
              </a:rPr>
              <a:t>Markov extrapolation to five years. Cost per ulcer prevented and cost per QALY, reported side by side.</a:t>
            </a:r>
          </a:p>
        </p:txBody>
      </p:sp>
      <p:sp>
        <p:nvSpPr>
          <p:cNvPr id="11" name="Rounded Rectangle 10"/>
          <p:cNvSpPr/>
          <p:nvPr/>
        </p:nvSpPr>
        <p:spPr>
          <a:xfrm>
            <a:off x="6171918" y="2031949"/>
            <a:ext cx="5384538" cy="424169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Process evaluation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MRC framework, three domains</a:t>
            </a:r>
          </a:p>
        </p:txBody>
      </p:sp>
      <p:sp>
        <p:nvSpPr>
          <p:cNvPr id="16" name="TextBox 15"/>
          <p:cNvSpPr txBox="1"/>
          <p:nvPr/>
        </p:nvSpPr>
        <p:spPr>
          <a:xfrm>
            <a:off x="6425912" y="4165495"/>
            <a:ext cx="4876551" cy="2109478"/>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Implementation: fidelity, dose, reach, adaptations.</a:t>
            </a:r>
          </a:p>
          <a:p>
            <a:pPr algn="l">
              <a:lnSpc>
                <a:spcPct val="132000"/>
              </a:lnSpc>
              <a:spcBef>
                <a:spcPts val="1200"/>
              </a:spcBef>
            </a:pPr>
            <a:r>
              <a:rPr sz="1450" b="0">
                <a:solidFill>
                  <a:srgbClr val="8FB6D0"/>
                </a:solidFill>
                <a:latin typeface="Segoe UI"/>
              </a:rPr>
              <a:t>Mechanisms and context: what governs delivery at each centre.</a:t>
            </a:r>
          </a:p>
          <a:p>
            <a:pPr algn="l">
              <a:lnSpc>
                <a:spcPct val="132000"/>
              </a:lnSpc>
              <a:spcBef>
                <a:spcPts val="1200"/>
              </a:spcBef>
            </a:pPr>
            <a:r>
              <a:rPr sz="1450" b="0">
                <a:solidFill>
                  <a:srgbClr val="8FB6D0"/>
                </a:solidFill>
                <a:latin typeface="Segoe UI"/>
              </a:rPr>
              <a:t>Interviews, structured observation and therapist diaries.</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29 / 32</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33 · Bus 2026, kosten   |   34 · CHEERS   |   35 · Kostenhandleiding 2024   |   40 · MRC 2015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WHAT WE LEARN EITHER WAY</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 null result is also a result</a:t>
            </a:r>
          </a:p>
        </p:txBody>
      </p:sp>
      <p:sp>
        <p:nvSpPr>
          <p:cNvPr id="5" name="Rectangle 4"/>
          <p:cNvSpPr/>
          <p:nvPr/>
        </p:nvSpPr>
        <p:spPr>
          <a:xfrm>
            <a:off x="634984"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Adherence rises, recurrence does not</a:t>
            </a:r>
          </a:p>
        </p:txBody>
      </p:sp>
      <p:sp>
        <p:nvSpPr>
          <p:cNvPr id="7" name="TextBox 6"/>
          <p:cNvSpPr txBox="1"/>
          <p:nvPr/>
        </p:nvSpPr>
        <p:spPr>
          <a:xfrm>
            <a:off x="634984"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8" name="TextBox 7"/>
          <p:cNvSpPr txBox="1"/>
          <p:nvPr/>
        </p:nvSpPr>
        <p:spPr>
          <a:xfrm>
            <a:off x="888977" y="2501837"/>
            <a:ext cx="5130544" cy="901677"/>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Then the biomechanical premise fails: wearing optimised footwear is not enough. The field should stop attributing prevention failures to patient behaviour.</a:t>
            </a:r>
          </a:p>
        </p:txBody>
      </p:sp>
      <p:sp>
        <p:nvSpPr>
          <p:cNvPr id="9" name="Rectangle 8"/>
          <p:cNvSpPr/>
          <p:nvPr/>
        </p:nvSpPr>
        <p:spPr>
          <a:xfrm>
            <a:off x="6171918"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1918"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Adherence does not rise</a:t>
            </a:r>
          </a:p>
        </p:txBody>
      </p:sp>
      <p:sp>
        <p:nvSpPr>
          <p:cNvPr id="11" name="TextBox 10"/>
          <p:cNvSpPr txBox="1"/>
          <p:nvPr/>
        </p:nvSpPr>
        <p:spPr>
          <a:xfrm>
            <a:off x="6171918"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2" name="TextBox 11"/>
          <p:cNvSpPr txBox="1"/>
          <p:nvPr/>
        </p:nvSpPr>
        <p:spPr>
          <a:xfrm>
            <a:off x="6425912" y="2501837"/>
            <a:ext cx="5130544" cy="901677"/>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Then the behavioural component failed. The fidelity data distinguish inadequate design from inadequate delivery.</a:t>
            </a:r>
          </a:p>
        </p:txBody>
      </p:sp>
      <p:sp>
        <p:nvSpPr>
          <p:cNvPr id="13" name="Rectangle 12"/>
          <p:cNvSpPr/>
          <p:nvPr/>
        </p:nvSpPr>
        <p:spPr>
          <a:xfrm>
            <a:off x="634984" y="350511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67020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Both rise</a:t>
            </a:r>
          </a:p>
        </p:txBody>
      </p:sp>
      <p:sp>
        <p:nvSpPr>
          <p:cNvPr id="15" name="TextBox 14"/>
          <p:cNvSpPr txBox="1"/>
          <p:nvPr/>
        </p:nvSpPr>
        <p:spPr>
          <a:xfrm>
            <a:off x="634984" y="411469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6" name="TextBox 15"/>
          <p:cNvSpPr txBox="1"/>
          <p:nvPr/>
        </p:nvSpPr>
        <p:spPr>
          <a:xfrm>
            <a:off x="888977" y="4101997"/>
            <a:ext cx="5130544" cy="901677"/>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Then an integrated service works under routine conditions — without our knowing which component did it. Decomposition would require a factorial design the Belgian network cannot supply.</a:t>
            </a:r>
          </a:p>
        </p:txBody>
      </p:sp>
      <p:sp>
        <p:nvSpPr>
          <p:cNvPr id="17" name="Rectangle 16"/>
          <p:cNvSpPr/>
          <p:nvPr/>
        </p:nvSpPr>
        <p:spPr>
          <a:xfrm>
            <a:off x="6171918" y="350511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1918" y="367020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Either way</a:t>
            </a:r>
          </a:p>
        </p:txBody>
      </p:sp>
      <p:sp>
        <p:nvSpPr>
          <p:cNvPr id="19" name="TextBox 18"/>
          <p:cNvSpPr txBox="1"/>
          <p:nvPr/>
        </p:nvSpPr>
        <p:spPr>
          <a:xfrm>
            <a:off x="6171918" y="411469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0" name="TextBox 19"/>
          <p:cNvSpPr txBox="1"/>
          <p:nvPr/>
        </p:nvSpPr>
        <p:spPr>
          <a:xfrm>
            <a:off x="6425912" y="4101997"/>
            <a:ext cx="5130544" cy="901677"/>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Pressure, activity and wear time are recorded concurrently in 144 participants over eighteen months. That is the first dataset of that size, whatever the result.</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30 / 32</a:t>
            </a:r>
          </a:p>
        </p:txBody>
      </p:sp>
      <p:pic>
        <p:nvPicPr>
          <p:cNvPr id="22"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3" name="TextBox 22"/>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15 · Hulshof 2024   |   16 · Hulshof 2025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WHO TO CONTACT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If something goes wrong</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DOCTORAL RESEARCHER · DAY-TO-DAY CONDUCT</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Your first point of contact: inclusions, measurements, forms, sensors and anything that gets stuck in practice.</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Bruges</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PRINCIPAL INVESTIGATOR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Scientific questions, trial design, and arrangements at the level of your centre.</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Rehabilitation Sciences</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Bruges Campus</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Rehabilitation Sciences (Musculoskeletal Research Group) and Public Health and Primary Care · Vrije Universiteit Brussel — Medicine and Pharmacy. Co-promotors: Fabienne Dobbels, Maaike Fobelets and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31 / 32</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WHERE THE NUMBERS COME FROM</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References</a:t>
            </a:r>
          </a:p>
        </p:txBody>
      </p:sp>
      <p:sp>
        <p:nvSpPr>
          <p:cNvPr id="5" name="TextBox 4"/>
          <p:cNvSpPr txBox="1"/>
          <p:nvPr/>
        </p:nvSpPr>
        <p:spPr>
          <a:xfrm>
            <a:off x="634984" y="185415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a:t>
            </a:r>
          </a:p>
        </p:txBody>
      </p:sp>
      <p:sp>
        <p:nvSpPr>
          <p:cNvPr id="6" name="TextBox 5"/>
          <p:cNvSpPr txBox="1"/>
          <p:nvPr/>
        </p:nvSpPr>
        <p:spPr>
          <a:xfrm>
            <a:off x="965175" y="1854153"/>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Armstrong DG et al. N Engl J Med. 2017;376(24):2367–75.</a:t>
            </a:r>
          </a:p>
        </p:txBody>
      </p:sp>
      <p:sp>
        <p:nvSpPr>
          <p:cNvPr id="7" name="TextBox 6"/>
          <p:cNvSpPr txBox="1"/>
          <p:nvPr/>
        </p:nvSpPr>
        <p:spPr>
          <a:xfrm>
            <a:off x="634984" y="237253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5</a:t>
            </a:r>
          </a:p>
        </p:txBody>
      </p:sp>
      <p:sp>
        <p:nvSpPr>
          <p:cNvPr id="8" name="TextBox 7"/>
          <p:cNvSpPr txBox="1"/>
          <p:nvPr/>
        </p:nvSpPr>
        <p:spPr>
          <a:xfrm>
            <a:off x="965175" y="2372534"/>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Diabetes Metab Res Rev. 2016;32(Suppl 1):195–200.</a:t>
            </a:r>
          </a:p>
        </p:txBody>
      </p:sp>
      <p:sp>
        <p:nvSpPr>
          <p:cNvPr id="9" name="TextBox 8"/>
          <p:cNvSpPr txBox="1"/>
          <p:nvPr/>
        </p:nvSpPr>
        <p:spPr>
          <a:xfrm>
            <a:off x="634984" y="289091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6</a:t>
            </a:r>
          </a:p>
        </p:txBody>
      </p:sp>
      <p:sp>
        <p:nvSpPr>
          <p:cNvPr id="10" name="TextBox 9"/>
          <p:cNvSpPr txBox="1"/>
          <p:nvPr/>
        </p:nvSpPr>
        <p:spPr>
          <a:xfrm>
            <a:off x="965175" y="2890915"/>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Diabetes Care. 2011;34(7):1595–600.</a:t>
            </a:r>
          </a:p>
        </p:txBody>
      </p:sp>
      <p:sp>
        <p:nvSpPr>
          <p:cNvPr id="11" name="TextBox 10"/>
          <p:cNvSpPr txBox="1"/>
          <p:nvPr/>
        </p:nvSpPr>
        <p:spPr>
          <a:xfrm>
            <a:off x="634984" y="340929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7</a:t>
            </a:r>
          </a:p>
        </p:txBody>
      </p:sp>
      <p:sp>
        <p:nvSpPr>
          <p:cNvPr id="12" name="TextBox 11"/>
          <p:cNvSpPr txBox="1"/>
          <p:nvPr/>
        </p:nvSpPr>
        <p:spPr>
          <a:xfrm>
            <a:off x="965175" y="3409295"/>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Diabetes Metab Res Rev. 2020;36(S1):e3237.</a:t>
            </a:r>
          </a:p>
        </p:txBody>
      </p:sp>
      <p:sp>
        <p:nvSpPr>
          <p:cNvPr id="13" name="TextBox 12"/>
          <p:cNvSpPr txBox="1"/>
          <p:nvPr/>
        </p:nvSpPr>
        <p:spPr>
          <a:xfrm>
            <a:off x="634984" y="3927676"/>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8</a:t>
            </a:r>
          </a:p>
        </p:txBody>
      </p:sp>
      <p:sp>
        <p:nvSpPr>
          <p:cNvPr id="14" name="TextBox 13"/>
          <p:cNvSpPr txBox="1"/>
          <p:nvPr/>
        </p:nvSpPr>
        <p:spPr>
          <a:xfrm>
            <a:off x="965175" y="3927676"/>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Diabetes Metab Res Rev. 2024;40(3):e3651.</a:t>
            </a:r>
          </a:p>
        </p:txBody>
      </p:sp>
      <p:sp>
        <p:nvSpPr>
          <p:cNvPr id="15" name="TextBox 14"/>
          <p:cNvSpPr txBox="1"/>
          <p:nvPr/>
        </p:nvSpPr>
        <p:spPr>
          <a:xfrm>
            <a:off x="634984" y="4446057"/>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9</a:t>
            </a:r>
          </a:p>
        </p:txBody>
      </p:sp>
      <p:sp>
        <p:nvSpPr>
          <p:cNvPr id="16" name="TextBox 15"/>
          <p:cNvSpPr txBox="1"/>
          <p:nvPr/>
        </p:nvSpPr>
        <p:spPr>
          <a:xfrm>
            <a:off x="965175" y="4446057"/>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Diabetes Care. 2013;36(12):4109–16.</a:t>
            </a:r>
          </a:p>
        </p:txBody>
      </p:sp>
      <p:sp>
        <p:nvSpPr>
          <p:cNvPr id="17" name="TextBox 16"/>
          <p:cNvSpPr txBox="1"/>
          <p:nvPr/>
        </p:nvSpPr>
        <p:spPr>
          <a:xfrm>
            <a:off x="634984" y="4964437"/>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10</a:t>
            </a:r>
          </a:p>
        </p:txBody>
      </p:sp>
      <p:sp>
        <p:nvSpPr>
          <p:cNvPr id="18" name="TextBox 17"/>
          <p:cNvSpPr txBox="1"/>
          <p:nvPr/>
        </p:nvSpPr>
        <p:spPr>
          <a:xfrm>
            <a:off x="965175" y="4964437"/>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van Netten JJ et al. Diabetes Metab Res Rev. 2016;32(Suppl 1):84–98.</a:t>
            </a:r>
          </a:p>
        </p:txBody>
      </p:sp>
      <p:sp>
        <p:nvSpPr>
          <p:cNvPr id="19" name="TextBox 18"/>
          <p:cNvSpPr txBox="1"/>
          <p:nvPr/>
        </p:nvSpPr>
        <p:spPr>
          <a:xfrm>
            <a:off x="634984" y="5482818"/>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12</a:t>
            </a:r>
          </a:p>
        </p:txBody>
      </p:sp>
      <p:sp>
        <p:nvSpPr>
          <p:cNvPr id="20" name="TextBox 19"/>
          <p:cNvSpPr txBox="1"/>
          <p:nvPr/>
        </p:nvSpPr>
        <p:spPr>
          <a:xfrm>
            <a:off x="965175" y="5482818"/>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Abbott CA et al. Lancet Digit Health. 2019;1(6):e308–18.</a:t>
            </a:r>
          </a:p>
        </p:txBody>
      </p:sp>
      <p:sp>
        <p:nvSpPr>
          <p:cNvPr id="21" name="TextBox 20"/>
          <p:cNvSpPr txBox="1"/>
          <p:nvPr/>
        </p:nvSpPr>
        <p:spPr>
          <a:xfrm>
            <a:off x="634984" y="6001199"/>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13</a:t>
            </a:r>
          </a:p>
        </p:txBody>
      </p:sp>
      <p:sp>
        <p:nvSpPr>
          <p:cNvPr id="22" name="TextBox 21"/>
          <p:cNvSpPr txBox="1"/>
          <p:nvPr/>
        </p:nvSpPr>
        <p:spPr>
          <a:xfrm>
            <a:off x="965175" y="6001199"/>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Waaijman R et al. Diabetes Care. 2013;36(6):1613–8.</a:t>
            </a:r>
          </a:p>
        </p:txBody>
      </p:sp>
      <p:sp>
        <p:nvSpPr>
          <p:cNvPr id="23" name="TextBox 22"/>
          <p:cNvSpPr txBox="1"/>
          <p:nvPr/>
        </p:nvSpPr>
        <p:spPr>
          <a:xfrm>
            <a:off x="4326273" y="185415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14</a:t>
            </a:r>
          </a:p>
        </p:txBody>
      </p:sp>
      <p:sp>
        <p:nvSpPr>
          <p:cNvPr id="24" name="TextBox 23"/>
          <p:cNvSpPr txBox="1"/>
          <p:nvPr/>
        </p:nvSpPr>
        <p:spPr>
          <a:xfrm>
            <a:off x="4656465" y="1854153"/>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van Netten JJ et al. Clin Biomech. 2018;53:86–92.</a:t>
            </a:r>
          </a:p>
        </p:txBody>
      </p:sp>
      <p:sp>
        <p:nvSpPr>
          <p:cNvPr id="25" name="TextBox 24"/>
          <p:cNvSpPr txBox="1"/>
          <p:nvPr/>
        </p:nvSpPr>
        <p:spPr>
          <a:xfrm>
            <a:off x="4326273" y="237253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15</a:t>
            </a:r>
          </a:p>
        </p:txBody>
      </p:sp>
      <p:sp>
        <p:nvSpPr>
          <p:cNvPr id="26" name="TextBox 25"/>
          <p:cNvSpPr txBox="1"/>
          <p:nvPr/>
        </p:nvSpPr>
        <p:spPr>
          <a:xfrm>
            <a:off x="4656465" y="2372534"/>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Hulshof CM et al. Sensors. 2024;24(8):2411.</a:t>
            </a:r>
          </a:p>
        </p:txBody>
      </p:sp>
      <p:sp>
        <p:nvSpPr>
          <p:cNvPr id="27" name="TextBox 26"/>
          <p:cNvSpPr txBox="1"/>
          <p:nvPr/>
        </p:nvSpPr>
        <p:spPr>
          <a:xfrm>
            <a:off x="4326273" y="267617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16</a:t>
            </a:r>
          </a:p>
        </p:txBody>
      </p:sp>
      <p:sp>
        <p:nvSpPr>
          <p:cNvPr id="28" name="TextBox 27"/>
          <p:cNvSpPr txBox="1"/>
          <p:nvPr/>
        </p:nvSpPr>
        <p:spPr>
          <a:xfrm>
            <a:off x="4656465" y="2676173"/>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Hulshof CM et al. Diabet Med. 2025;42:e70099.</a:t>
            </a:r>
          </a:p>
        </p:txBody>
      </p:sp>
      <p:sp>
        <p:nvSpPr>
          <p:cNvPr id="29" name="TextBox 28"/>
          <p:cNvSpPr txBox="1"/>
          <p:nvPr/>
        </p:nvSpPr>
        <p:spPr>
          <a:xfrm>
            <a:off x="4326273" y="2979812"/>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17</a:t>
            </a:r>
          </a:p>
        </p:txBody>
      </p:sp>
      <p:sp>
        <p:nvSpPr>
          <p:cNvPr id="30" name="TextBox 29"/>
          <p:cNvSpPr txBox="1"/>
          <p:nvPr/>
        </p:nvSpPr>
        <p:spPr>
          <a:xfrm>
            <a:off x="4656465" y="2979812"/>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Waaijman R et al. Diabetes Care. 2014;37(6):1697–705.</a:t>
            </a:r>
          </a:p>
        </p:txBody>
      </p:sp>
      <p:sp>
        <p:nvSpPr>
          <p:cNvPr id="31" name="TextBox 30"/>
          <p:cNvSpPr txBox="1"/>
          <p:nvPr/>
        </p:nvSpPr>
        <p:spPr>
          <a:xfrm>
            <a:off x="4326273" y="349819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18</a:t>
            </a:r>
          </a:p>
        </p:txBody>
      </p:sp>
      <p:sp>
        <p:nvSpPr>
          <p:cNvPr id="32" name="TextBox 31"/>
          <p:cNvSpPr txBox="1"/>
          <p:nvPr/>
        </p:nvSpPr>
        <p:spPr>
          <a:xfrm>
            <a:off x="4656465" y="3498193"/>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Lutjeboer T et al. J Rehabil Med. 2018;50(10):920–6.</a:t>
            </a:r>
          </a:p>
        </p:txBody>
      </p:sp>
      <p:sp>
        <p:nvSpPr>
          <p:cNvPr id="33" name="TextBox 32"/>
          <p:cNvSpPr txBox="1"/>
          <p:nvPr/>
        </p:nvSpPr>
        <p:spPr>
          <a:xfrm>
            <a:off x="4326273" y="401657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19</a:t>
            </a:r>
          </a:p>
        </p:txBody>
      </p:sp>
      <p:sp>
        <p:nvSpPr>
          <p:cNvPr id="34" name="TextBox 33"/>
          <p:cNvSpPr txBox="1"/>
          <p:nvPr/>
        </p:nvSpPr>
        <p:spPr>
          <a:xfrm>
            <a:off x="4656465" y="4016574"/>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Michie S et al. Implement Sci. 2011;6:42.</a:t>
            </a:r>
          </a:p>
        </p:txBody>
      </p:sp>
      <p:sp>
        <p:nvSpPr>
          <p:cNvPr id="35" name="TextBox 34"/>
          <p:cNvSpPr txBox="1"/>
          <p:nvPr/>
        </p:nvSpPr>
        <p:spPr>
          <a:xfrm>
            <a:off x="4326273" y="432021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20</a:t>
            </a:r>
          </a:p>
        </p:txBody>
      </p:sp>
      <p:sp>
        <p:nvSpPr>
          <p:cNvPr id="36" name="TextBox 35"/>
          <p:cNvSpPr txBox="1"/>
          <p:nvPr/>
        </p:nvSpPr>
        <p:spPr>
          <a:xfrm>
            <a:off x="4656465" y="4320213"/>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Morbach S et al. Diabetes Metab Res Rev. 2016;32(Suppl 1):318–25.</a:t>
            </a:r>
          </a:p>
        </p:txBody>
      </p:sp>
      <p:sp>
        <p:nvSpPr>
          <p:cNvPr id="37" name="TextBox 36"/>
          <p:cNvSpPr txBox="1"/>
          <p:nvPr/>
        </p:nvSpPr>
        <p:spPr>
          <a:xfrm>
            <a:off x="4326273" y="483859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21</a:t>
            </a:r>
          </a:p>
        </p:txBody>
      </p:sp>
      <p:sp>
        <p:nvSpPr>
          <p:cNvPr id="38" name="TextBox 37"/>
          <p:cNvSpPr txBox="1"/>
          <p:nvPr/>
        </p:nvSpPr>
        <p:spPr>
          <a:xfrm>
            <a:off x="4656465" y="4838594"/>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Chan A-W et al. BMJ. 2025;389:e081477.</a:t>
            </a:r>
          </a:p>
        </p:txBody>
      </p:sp>
      <p:sp>
        <p:nvSpPr>
          <p:cNvPr id="39" name="TextBox 38"/>
          <p:cNvSpPr txBox="1"/>
          <p:nvPr/>
        </p:nvSpPr>
        <p:spPr>
          <a:xfrm>
            <a:off x="4326273" y="514223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24</a:t>
            </a:r>
          </a:p>
        </p:txBody>
      </p:sp>
      <p:sp>
        <p:nvSpPr>
          <p:cNvPr id="40" name="TextBox 39"/>
          <p:cNvSpPr txBox="1"/>
          <p:nvPr/>
        </p:nvSpPr>
        <p:spPr>
          <a:xfrm>
            <a:off x="4656465" y="5142233"/>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Hopewell S et al. BMJ. 2025;389:e081123.</a:t>
            </a:r>
          </a:p>
        </p:txBody>
      </p:sp>
      <p:sp>
        <p:nvSpPr>
          <p:cNvPr id="41" name="TextBox 40"/>
          <p:cNvSpPr txBox="1"/>
          <p:nvPr/>
        </p:nvSpPr>
        <p:spPr>
          <a:xfrm>
            <a:off x="8017563" y="185415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25</a:t>
            </a:r>
          </a:p>
        </p:txBody>
      </p:sp>
      <p:sp>
        <p:nvSpPr>
          <p:cNvPr id="42" name="TextBox 41"/>
          <p:cNvSpPr txBox="1"/>
          <p:nvPr/>
        </p:nvSpPr>
        <p:spPr>
          <a:xfrm>
            <a:off x="8347755" y="1854153"/>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van Netten JJ et al. Diabetes Metab Res Rev. 2024;40(3):e3654.</a:t>
            </a:r>
          </a:p>
        </p:txBody>
      </p:sp>
      <p:sp>
        <p:nvSpPr>
          <p:cNvPr id="43" name="TextBox 42"/>
          <p:cNvSpPr txBox="1"/>
          <p:nvPr/>
        </p:nvSpPr>
        <p:spPr>
          <a:xfrm>
            <a:off x="8017563" y="237253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26</a:t>
            </a:r>
          </a:p>
        </p:txBody>
      </p:sp>
      <p:sp>
        <p:nvSpPr>
          <p:cNvPr id="44" name="TextBox 43"/>
          <p:cNvSpPr txBox="1"/>
          <p:nvPr/>
        </p:nvSpPr>
        <p:spPr>
          <a:xfrm>
            <a:off x="8347755" y="2372534"/>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Lincoln NB et al. Pract Diabetes Int. 2007;24(4):207–11.</a:t>
            </a:r>
          </a:p>
        </p:txBody>
      </p:sp>
      <p:sp>
        <p:nvSpPr>
          <p:cNvPr id="45" name="TextBox 44"/>
          <p:cNvSpPr txBox="1"/>
          <p:nvPr/>
        </p:nvSpPr>
        <p:spPr>
          <a:xfrm>
            <a:off x="8017563" y="289091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27</a:t>
            </a:r>
          </a:p>
        </p:txBody>
      </p:sp>
      <p:sp>
        <p:nvSpPr>
          <p:cNvPr id="46" name="TextBox 45"/>
          <p:cNvSpPr txBox="1"/>
          <p:nvPr/>
        </p:nvSpPr>
        <p:spPr>
          <a:xfrm>
            <a:off x="8347755" y="2890915"/>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Zwaferink JBJ et al. Sensors. 2024;24(6):1795.</a:t>
            </a:r>
          </a:p>
        </p:txBody>
      </p:sp>
      <p:sp>
        <p:nvSpPr>
          <p:cNvPr id="47" name="TextBox 46"/>
          <p:cNvSpPr txBox="1"/>
          <p:nvPr/>
        </p:nvSpPr>
        <p:spPr>
          <a:xfrm>
            <a:off x="8017563" y="319455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31</a:t>
            </a:r>
          </a:p>
        </p:txBody>
      </p:sp>
      <p:sp>
        <p:nvSpPr>
          <p:cNvPr id="48" name="TextBox 47"/>
          <p:cNvSpPr txBox="1"/>
          <p:nvPr/>
        </p:nvSpPr>
        <p:spPr>
          <a:xfrm>
            <a:off x="8347755" y="3194554"/>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Keukenkamp R et al. BMJ Open Diabetes Res Care. 2022;10(1):e002593.</a:t>
            </a:r>
          </a:p>
        </p:txBody>
      </p:sp>
      <p:sp>
        <p:nvSpPr>
          <p:cNvPr id="49" name="TextBox 48"/>
          <p:cNvSpPr txBox="1"/>
          <p:nvPr/>
        </p:nvSpPr>
        <p:spPr>
          <a:xfrm>
            <a:off x="8017563" y="371293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33</a:t>
            </a:r>
          </a:p>
        </p:txBody>
      </p:sp>
      <p:sp>
        <p:nvSpPr>
          <p:cNvPr id="50" name="TextBox 49"/>
          <p:cNvSpPr txBox="1"/>
          <p:nvPr/>
        </p:nvSpPr>
        <p:spPr>
          <a:xfrm>
            <a:off x="8347755" y="3712935"/>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Diabetology. 2026;7(4):70.</a:t>
            </a:r>
          </a:p>
        </p:txBody>
      </p:sp>
      <p:sp>
        <p:nvSpPr>
          <p:cNvPr id="51" name="TextBox 50"/>
          <p:cNvSpPr txBox="1"/>
          <p:nvPr/>
        </p:nvSpPr>
        <p:spPr>
          <a:xfrm>
            <a:off x="8017563" y="401657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34</a:t>
            </a:r>
          </a:p>
        </p:txBody>
      </p:sp>
      <p:sp>
        <p:nvSpPr>
          <p:cNvPr id="52" name="TextBox 51"/>
          <p:cNvSpPr txBox="1"/>
          <p:nvPr/>
        </p:nvSpPr>
        <p:spPr>
          <a:xfrm>
            <a:off x="8347755" y="4016574"/>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Husereau D et al. Pharmacoeconomics. 2013;31(5):361–7.</a:t>
            </a:r>
          </a:p>
        </p:txBody>
      </p:sp>
      <p:sp>
        <p:nvSpPr>
          <p:cNvPr id="53" name="TextBox 52"/>
          <p:cNvSpPr txBox="1"/>
          <p:nvPr/>
        </p:nvSpPr>
        <p:spPr>
          <a:xfrm>
            <a:off x="8017563" y="453495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35</a:t>
            </a:r>
          </a:p>
        </p:txBody>
      </p:sp>
      <p:sp>
        <p:nvSpPr>
          <p:cNvPr id="54" name="TextBox 53"/>
          <p:cNvSpPr txBox="1"/>
          <p:nvPr/>
        </p:nvSpPr>
        <p:spPr>
          <a:xfrm>
            <a:off x="8347755" y="4534955"/>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Hakkaart-van Roijen L et al. Diemen: Zorginstituut Nederland; 2024.</a:t>
            </a:r>
          </a:p>
        </p:txBody>
      </p:sp>
      <p:sp>
        <p:nvSpPr>
          <p:cNvPr id="55" name="TextBox 54"/>
          <p:cNvSpPr txBox="1"/>
          <p:nvPr/>
        </p:nvSpPr>
        <p:spPr>
          <a:xfrm>
            <a:off x="8017563" y="505333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40</a:t>
            </a:r>
          </a:p>
        </p:txBody>
      </p:sp>
      <p:sp>
        <p:nvSpPr>
          <p:cNvPr id="56" name="TextBox 55"/>
          <p:cNvSpPr txBox="1"/>
          <p:nvPr/>
        </p:nvSpPr>
        <p:spPr>
          <a:xfrm>
            <a:off x="8347755" y="5053335"/>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Moore GF et al. BMJ. 2015;350:h1258.</a:t>
            </a:r>
          </a:p>
        </p:txBody>
      </p:sp>
      <p:sp>
        <p:nvSpPr>
          <p:cNvPr id="57" name="TextBox 56"/>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Numbering follows the protocol manuscript.</a:t>
            </a:r>
          </a:p>
        </p:txBody>
      </p:sp>
      <p:sp>
        <p:nvSpPr>
          <p:cNvPr id="58" name="TextBox 5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32 / 32</a:t>
            </a:r>
          </a:p>
        </p:txBody>
      </p:sp>
      <p:pic>
        <p:nvPicPr>
          <p:cNvPr id="5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p:transition xmlns:p14="http://schemas.microsoft.com/office/powerpoint/2010/main" spd="slow" p14:dur="9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