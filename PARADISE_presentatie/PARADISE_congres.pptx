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de zaal het argument geeft. Neem er tijd voor; de rest van de studieopzet volgt hieruit.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komt de tweede norm vandaan. Zonder deze dia is 80% draagtijd een willekeurig getal.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Binnenshuis wordt het schoeisel het minst gedragen, en juist daar worden veel stappen gezet. Dat is uw belangrijkste gesprekspunt bij SEBIA.</a:t>
            </a:r>
          </a:p>
          <a:p/>
          <a:p>
            <a:r>
              <a:t>INTERACTIE</a:t>
            </a:r>
          </a:p>
          <a:p>
            <a:r>
              <a:t>Vraag wat zij schatten bij hun eigen patiënten.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Drie redenen, drie zinnen. Dit is het scharnier naar de opzet.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Uit deze acht kiest u er drie om te ontlasten: de regio met de ulcusvoorgeschiedenis, plus één of twee met de hoogste piekdruk. Die drie legt u vast — daarop wordt de norm getoetst.</a:t>
            </a:r>
          </a:p>
          <a:p/>
          <a:p>
            <a:r>
              <a:t>INTERACTIE</a:t>
            </a:r>
          </a:p>
          <a:p>
            <a:r>
              <a:t>Laat ze op deze dia aanwijzen welke drie zij zouden kiezen.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in de praktijk de meeste fouten gemaakt worden. Loop de drie condities traag door en benoem dat conditie 2 vaak vergeten wordt. Dezelfde drie condities komen terug op maand 6, 12 en 18.</a:t>
            </a:r>
          </a:p>
          <a:p/>
          <a:p>
            <a:r>
              <a:t>INTERACTIE</a:t>
            </a:r>
          </a:p>
          <a:p>
            <a:r>
              <a:t>Vraag: "wie meet er vandaag al in de schoen zonder zool?"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Twee criteria worden het vaakst gemist: de resectie mag niet de eerste metatarsaalkop betreffen, en een enkel-voetorthese sluit uit omdat de sensoren er niet in passen.</a:t>
            </a:r>
          </a:p>
          <a:p/>
          <a:p>
            <a:r>
              <a:t>INTERACTIE</a:t>
            </a:r>
          </a:p>
          <a:p>
            <a:r>
              <a:t>Vraag per criterium of het in hun patiëntenbestand vaak voorkomt.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script begint met toestemming vragen voor het gesprek zelf, en duurt twintig tot dertig minuten. Wie nee zegt, krijgt de brochure mee en een nieuwe afspraak.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de vraag komt. Benoem de gezamenlijke power zelf, vóór iemand in de zaal het doet — de volgende dia doet dat.</a:t>
            </a:r>
          </a:p>
          <a:p/>
          <a:p>
            <a:r>
              <a:t>INTERACTIE</a:t>
            </a:r>
          </a:p>
          <a:p>
            <a:r>
              <a:t>Geen. Laat de vraag komen.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u onderscheidt van de rest van het programma. Niemand rapporteert dit uit zichzelf.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Kort houden. Wie meer wil weten vraagt het, en dan hebt u het SAP.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procesevaluatie is geen bijlage. Bij een nulresultaat is zij het enige wat mechanisme van uitvoering onderscheidt.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hiermee af. Dit is het antwoord op de vraag of de studie de moeite waard is als ze negatief uitvalt.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Studieopzet · wetenschappelijke sessie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maanden, draagtijd op 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29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52BDEC"/>
              </a:gs>
              <a:gs pos="100000">
                <a:srgbClr val="1D8DB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400" b="1">
                <a:solidFill>
                  <a:srgbClr val="04182A"/>
                </a:solidFill>
                <a:latin typeface="Segoe UI"/>
              </a:rPr>
              <a:t>PARADISE toetst geen werkzaamheid.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5400" b="1">
                <a:solidFill>
                  <a:srgbClr val="04182A"/>
                </a:solidFill>
                <a:latin typeface="Segoe UI"/>
              </a:rPr>
              <a:t>PARADISE toetst overdracht.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Elk onderdeel bestaat al. Geen enkel onderdeel werkte alleen.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Waarom zo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Vier cijfers verklaren waarom er twee normen zijn.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29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ER AL GEPROBEERD IS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strategieën, één patroon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Drukgestuurd schoeisel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De pivotale multicentrische trial haalde haar primaire eindpunt niet: 38,8% tegenover 44,2% recidief. Het verschil zat bij wie de schoen dróég.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p = 0,48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Patienteneducatie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 de IWGDF-review had losstaande educatie geen aantoonbaar preventief effect. Het mediane behandeleffect was negatief.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mediaan −13,4%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Continue digitale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Een slimme inlegzool met realtime waarschuwingen verminderde recidief — opnieuw vooral bij wie het toestel bleef gebruiken.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proof of concept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Het patroon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Elk onderdeel adresseert een noodzakelijke voorwaarde. Geen enkel onderdeel adresseert een voldoende voorwaarde.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5371965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549761"/>
            <a:ext cx="10286742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Geen drie teleurstellingen maar één: telkens echt, telkens voorwaardelijk.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Waarom druk alléén niet volstaat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Daarom meten we niet alleen druk, maar ook draagtijd.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29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29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WAAROM DEZE STUDIE NU PAS KAN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dingen zijn veranderd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Therapietrouw is meetbaar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De temperatuursensor in orthopedisch schoeisel is gevalideerd. Zelfrapportage overschat systematisch; nu is draagtijd een toetsbaar doel in plaats van een aanname.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De mislukking is verklaarbaar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Kennisoverdracht raakt onder COM-B enkel capability. Opportunity en motivation — wat thuis gebeurt, jarenlang, ongezien — bleven onaangeroerd.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COM-B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De context bestaat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België erkent multidisciplinaire voetklinieken met opleidingseisen en minimumvolumes. Dat is de plek waar preventie uiteindelijk moet landen.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RIZIV-INAMI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" y="4992194"/>
            <a:ext cx="10921726" cy="11163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476" y="5169989"/>
            <a:ext cx="10286742" cy="760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Daarom is therapietrouw hier een co-primair eindpunt, en geen mediator die je achteraf afleidt.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29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De meting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Wat u meet, hoe u het meet, en wanneer het goed genoeg 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29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Acht regio's, drie doelregio's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29582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070048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257414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06629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599163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543211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09510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279793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23426"/>
            <a:ext cx="279393" cy="2793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16374"/>
            <a:ext cx="253993" cy="253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hiel en mediale en laterale middenvoet vallen buiten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29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29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MEETPROTOCOL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condities bij de aflevering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854153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2070048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4952" y="2044648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Blootsvoets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5847" y="2044648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Sensoren met dubbelzijdige tape op de voet, standaardkous erover. Dit is het referentiebeeld.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" y="2971725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776" y="3187620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4952" y="3162220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zónder de zool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5847" y="3162220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Toont wat het schoeisel alleen doet. Dit is de vergelijking die laat zien of de zool iets toevoegt.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" y="4089297"/>
            <a:ext cx="10921726" cy="965175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776" y="4305192"/>
            <a:ext cx="761980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4952" y="4279793"/>
            <a:ext cx="3936901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In de schoen, mét de zool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5847" y="4279793"/>
            <a:ext cx="5156071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De meting waarop de norm getoetst wordt, per doelregio.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984" y="5384665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FF7A00"/>
                </a:solidFill>
                <a:latin typeface="Segoe UI"/>
              </a:rPr>
              <a:t>Alle drie de condities staan op hetzelfde formulier. Slaat u er één over, dan is de vergelijking onbruikbaar.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de norm wordt per doelregio getoetst, niet over de hele voet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29</a:t>
            </a:r>
          </a:p>
        </p:txBody>
      </p:sp>
      <p:pic>
        <p:nvPicPr>
          <p:cNvPr id="2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29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Volwassen, begrijpt Nederlands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Diabetes type 1 of 2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Risicocategorie 3 met genezen plantair ulcus, partiële amputatie of resectie van een metatarsaalkop — niet de eerste — tussen 18 maanden en 2 weken geleden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Stapt zelfstandig blootsvoets, zonder hulpmiddelen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Heeft beschermend schoeisel, of aanvaardt het: volledig maatwerk, of maatzolen in semi-orthopedisch of extra-diep confectieschoeisel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Amputatie proximaal van de MTP-gewrichten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Actief ulcus of Charcot-deformiteit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Kritische ischemie — PEDIS graad 3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Immunosuppressieve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Nierfunctievervangende therapie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Overleving &lt; 18 maanden, beoordeeld door de arts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Kan geen toestemming geven of instructies volgen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Hulpmiddel dat druksensoren belemmert, bv. een EVO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Weigert het voorgeschreven schoeisel te dragen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29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29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 · ECRF-DOCUMENT 17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gespreksmomenten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Vragenlijsten eerst, dan educatie op maat, met voordoen.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29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29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04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Eindpunten en 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Twee eindpunten, één op één op het causale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STEEKPROEFBEREKENING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Twee eindpunten, twee berekeningen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816054"/>
            <a:ext cx="5384538" cy="353228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3578" y="1993850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CO-PRIMAIR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3578" y="2260543"/>
            <a:ext cx="492734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Ulcusrecidief op 18 maanden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3578" y="271773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578" y="2819329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controle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9936" y="2806629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50% recidief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578" y="3127017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578" y="3228614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interventie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36" y="321591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25%, hazard ratio 0,42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3578" y="353630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578" y="363790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Toets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9936" y="3625200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log-rank, tweezijdig, α = 0,05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3578" y="3945588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3578" y="4047185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Power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9936" y="403448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80% → 41 events nodig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3578" y="4354873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578" y="445647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Uitval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39936" y="4443771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15%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578" y="4827657"/>
            <a:ext cx="4927349" cy="317492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578" y="4903855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52BDEC"/>
                </a:solidFill>
                <a:latin typeface="Consolas"/>
              </a:rPr>
              <a:t>108 → 127 met uitval → 130 gestratificeerd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1918" y="1816054"/>
            <a:ext cx="5384538" cy="353228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512" y="1993850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CO-PRIMAIR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512" y="2260543"/>
            <a:ext cx="492734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Therapietrouw op 12 maanden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512" y="271773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512" y="2819329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controle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76871" y="2806629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71%, SD 25%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512" y="3127017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512" y="3228614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Aanname interventie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6871" y="321591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85%, effectgrootte 0,56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512" y="3536302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512" y="363790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Toets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76871" y="3625200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t-toets, tweezijdig, α = 0,05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512" y="3945588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512" y="4047185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Power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76871" y="4034485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80% → 50 per groep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512" y="4354873"/>
            <a:ext cx="492734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512" y="4456470"/>
            <a:ext cx="1587460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Uitval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76871" y="4443771"/>
            <a:ext cx="3250991" cy="3330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2F8FC"/>
                </a:solidFill>
                <a:latin typeface="Segoe UI"/>
              </a:rPr>
              <a:t>15%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512" y="4827657"/>
            <a:ext cx="4927349" cy="317492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512" y="4903855"/>
            <a:ext cx="492734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52BDEC"/>
                </a:solidFill>
                <a:latin typeface="Consolas"/>
              </a:rPr>
              <a:t>100 → 118 met uitval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4984" y="5488040"/>
            <a:ext cx="10921726" cy="115777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9776" y="5615037"/>
            <a:ext cx="4444888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50">
                <a:solidFill>
                  <a:srgbClr val="FF7A00"/>
                </a:solidFill>
                <a:latin typeface="Consolas"/>
              </a:rPr>
              <a:t>WAAROM DAN 144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9776" y="5856331"/>
            <a:ext cx="10286742" cy="7386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Zes centra maal 24 is 144. Dat cijfer komt niet uit de berekening maar uit de rekruteringscapaciteit per centrum, en het overtreft beide minima.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4984" y="6616534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Manuscript, steekproefberekening · exponentieel verdeelde tijden tot recidief aangenomen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29</a:t>
            </a:r>
          </a:p>
        </p:txBody>
      </p:sp>
      <p:pic>
        <p:nvPicPr>
          <p:cNvPr id="5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HET CO-PRIMAIRE CRITERIUM KOST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 power die telt, is de gezamenlijke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De studie is pas positief als béíde eindpunten significant zijn.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RECIDIEF APART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84% — en 90% bij volledige opvolging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THERAPIETROUW APART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87% — en 92% bij volledige opvolging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BEIDE SAMEN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74% tot 84%, naargelang de correlatie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BIJ EEN HALF ZO GROOT EFFECT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64% bij 30% · 40% bij 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17697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13125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Protocollen met co-primaire eindpunten rapporteren doorgaans alleen het cijfer per eindpunt. Dat overschat de kans op het criterium waarop de studie werkelijk beoordeeld wordt.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29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ANALYSEPLAN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Hoe we het toetsen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Recidief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Cox-regressie gestratificeerd naar centrum, met de toewijzing als enige covariaat. Sterfte is een competing risk, geen censuur: Fine-Gray en cumulatieve incidentie ernaast.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Therapietrouw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Beta-regressie met logit-link, want het is een proportie met een plafond. Lineaire regressie als gevoeligheidsanalyse.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Intercurrente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De twee eindpunten zijn elkaars intercurrente event: wie ulcereert draagt terecht geen zool meer. Hypothetische strategie voor therapietrouw.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estimand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Ontbrekende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Multipele imputatie, 50 datasets. Een tipping-pointanalyse toont hoe extreem het moet worden om de conclusie te kantelen.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MAR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4992194"/>
            <a:ext cx="10921726" cy="11163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169989"/>
            <a:ext cx="10286742" cy="760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Positief alleen als beide eindpunten significant zijn. Daarom blijft de familiegewijze fout onder 0,05 en is geen correctie nodig.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29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ER NAAST DE TRIAL LOOPT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Twee evaluaties, parallel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421629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Gezondheidseconomische evaluatie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Kosten-utiliteit, betalersperspectief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165495"/>
            <a:ext cx="4876551" cy="1968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EQ-5D-5L elke drie maanden, gewaardeerd met de Belgische waardeset.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Zorggebruik prospectief met iMCQ en iPCQ, plus dagboek en dossier.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Markov tot vijf jaar. Kosten per vermeden ulcus én per QALY, naast elkaar.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421629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Procesevaluatie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MRC-kader, drie domeinen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165495"/>
            <a:ext cx="4876551" cy="1968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Implementatie: fideliteit, dosis, bereik, aanpassingen.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Mechanismen en context: wat de uitvoering per centrum bepaalt.</a:t>
            </a:r>
          </a:p>
          <a:p>
            <a:pPr algn="l">
              <a:lnSpc>
                <a:spcPct val="132000"/>
              </a:lnSpc>
              <a:spcBef>
                <a:spcPts val="12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Interviews, gestructureerde observatie en therapeutendagboeken.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29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WE HOE DAN OOK LEREN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Een nulresultaat is ook een resultaat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Therapietrouw stijgt, recidief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9016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faalt de biomechanische premisse: geoptimaliseerd schoeisel drágen volstaat niet. Het veld moet stoppen preventiefalen aan de patiënt toe te schrijven.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Therapietrouw stijgt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9016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faalde de gedragscomponent. De fideliteitsdata zeggen of het ontwerp tekortschoot of de uitvoering.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0511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67020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Beide stijgen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411469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4101997"/>
            <a:ext cx="5130544" cy="9016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werkt een geïntegreerde dienst onder routineomstandigheden — zonder dat we weten welk onderdeel het deed. Ontleden vraagt een factoriële opzet die het Belgische netwerk niet kan leveren.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50511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67020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Hoe dan 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411469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4101997"/>
            <a:ext cx="5130544" cy="9016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Druk, activiteit en draagtijd worden bij 144 deelnemers over achttien maanden gelijktijdig gemeten. Dat is de eerste dataset van die omvang, ongeacht de uitkomst.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29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29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