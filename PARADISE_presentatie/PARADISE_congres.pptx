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de vraag komt. Benoem de gezamenlijke power zelf, vóór iemand in de zaal het doet.</a:t>
            </a:r>
          </a:p>
          <a:p/>
          <a:p>
            <a:r>
              <a:t>INTERACTIE</a:t>
            </a:r>
          </a:p>
          <a:p>
            <a:r>
              <a:t>Geen. Laat de vraag komen.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Kort houden. Wie meer wil weten vraagt het, en dan hebt u het SAP.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Uit deze acht kiest u er drie om te ontlasten: de regio met de ulcusvoorgeschiedenis, plus één of twee met de hoogste piekdruk. Die drie legt u vast — daarop wordt de norm getoetst.</a:t>
            </a:r>
          </a:p>
          <a:p/>
          <a:p>
            <a:r>
              <a:t>INTERACTIE</a:t>
            </a:r>
          </a:p>
          <a:p>
            <a:r>
              <a:t>Laat ze op deze dia aanwijzen welke drie zij zouden kiezen.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in de praktijk de meeste fouten gemaakt worden. Loop de drie condities traag door en benoem dat conditie 2 vaak vergeten wordt. Dezelfde drie condities komen terug op maand 6, 12 en 18.</a:t>
            </a:r>
          </a:p>
          <a:p/>
          <a:p>
            <a:r>
              <a:t>INTERACTIE</a:t>
            </a:r>
          </a:p>
          <a:p>
            <a:r>
              <a:t>Vraag: "wie meet er vandaag al in de schoen zonder zool?"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criteria worden het vaakst gemist: de resectie mag niet de eerste metatarsaalkop betreffen, en een enkel-voetorthese sluit uit omdat de sensoren er niet in passen.</a:t>
            </a:r>
          </a:p>
          <a:p/>
          <a:p>
            <a:r>
              <a:t>INTERACTIE</a:t>
            </a:r>
          </a:p>
          <a:p>
            <a:r>
              <a:t>Vraag per criterium of het in hun patiëntenbestand vaak voorkomt.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Studieopzet · wetenschappelijke sessie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24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24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24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STEEKPROEFBEREKENING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Twee eindpunten, twee berekeningen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816054"/>
            <a:ext cx="5384538" cy="353228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578" y="1993850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CO-PRIMAIR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578" y="2260543"/>
            <a:ext cx="492734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Ulcusrecidief op 18 maanden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578" y="271773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578" y="2819329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controle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9936" y="2806629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50% recidief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578" y="3127017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578" y="3228614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interventie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36" y="321591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25% recidief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3578" y="353630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578" y="363790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Toets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9936" y="3625200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log-rank, tweezijdig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578" y="3945588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578" y="4047185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Alfa en power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9936" y="403448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0,05 · 80%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3578" y="4354873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578" y="445647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Uitval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39936" y="4443771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15% in beide armen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578" y="4827657"/>
            <a:ext cx="4927349" cy="317492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578" y="4903855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52BDEC"/>
                </a:solidFill>
                <a:latin typeface="Consolas"/>
              </a:rPr>
              <a:t>62 per arm → 124, gestratificeerd 130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1918" y="1816054"/>
            <a:ext cx="5384538" cy="353228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512" y="1993850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CO-PRIMAIR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512" y="2260543"/>
            <a:ext cx="492734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Schoeiseltherapietrouw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512" y="271773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512" y="2819329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controle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6871" y="2806629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71%, SD 25%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512" y="3127017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512" y="3228614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interventie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6871" y="321591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85%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512" y="353630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512" y="363790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Toets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6871" y="3625200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t-toets, onafhankelijk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512" y="3945588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512" y="4047185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Alfa en power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76871" y="403448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0,05 · 80%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512" y="4354873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512" y="445647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Uitval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76871" y="4443771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15%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512" y="4827657"/>
            <a:ext cx="4927349" cy="317492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512" y="4903855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52BDEC"/>
                </a:solidFill>
                <a:latin typeface="Consolas"/>
              </a:rPr>
              <a:t>50 per arm → 100, met uitval 115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4984" y="5488040"/>
            <a:ext cx="10921726" cy="115777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776" y="5615037"/>
            <a:ext cx="4444888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50">
                <a:solidFill>
                  <a:srgbClr val="FF7A00"/>
                </a:solidFill>
                <a:latin typeface="Consolas"/>
              </a:rPr>
              <a:t>GEVOLG VOOR DE POWER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776" y="5856331"/>
            <a:ext cx="10286742" cy="73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144 dekt beide berekeningen met marge. Omdat béíde eindpunten moeten halen is dit een intersectie-unietoets: geen multipliciteitscorrectie, maar wel een lagere gezamenlijke power.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984" y="6616534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 §3.2.2.1 en §3.2.2.2 · exponentiële tijden tot recidief aangenomen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24</a:t>
            </a:r>
          </a:p>
        </p:txBody>
      </p:sp>
      <p:pic>
        <p:nvPicPr>
          <p:cNvPr id="5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ANALYSEPLAN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Hoe we het toetsen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Recidief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Percentage deelnemers met een recidief, chi-kwadraat. Verloop over de tijd met log-rank en Kaplan-Meier, rekening houdend met sterfte.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Therapietrouw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Onafhankelijke t-toets, uitgaande van een normale verdeling.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Subgroep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Hoge tegenover lage therapietrouw op de vooraf bepaalde 80%-drempel, om het effect van adherentie op recidief te schatten.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vooraf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Secundair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T-toets of Mann-Whitney bij interval- en ratiodata; chi-kwadraat of Fisher bij nominale en ordinale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secundair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5371965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549761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De primaire analyse is gestratificeerd naar centrum. Daarom 130 in plaats van 124, en 144 na verdeling over zes centra.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Acht regio's, drie doelregio's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29582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07004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257414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0662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599163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543211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09510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2797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23426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16374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hiel en mediale en laterale middenvoet vallen buiten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24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MEETPROTOCOL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condities bij de aflevering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854153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2070048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4952" y="2044648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Blootsvoets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044648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Sensoren met dubbelzijdige tape op de voet, standaardkous erover. Dit is het referentiebeeld.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" y="2971725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776" y="3187620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4952" y="3162220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zónder de zool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3162220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Toont wat het schoeisel alleen doet. Dit is de vergelijking die laat zien of de zool iets toevoegt.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" y="4089297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776" y="4305192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4952" y="4279793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mét de zool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4279793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De meting waarop de norm getoetst wordt, per doelregio.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984" y="5384665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FF7A00"/>
                </a:solidFill>
                <a:latin typeface="Segoe UI"/>
              </a:rPr>
              <a:t>Alle drie de condities staan op hetzelfde formulier. Slaat u er één over, dan is de vergelijking onbruikbaar.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de norm wordt per doelregio getoetst, niet over de hele voet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24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Volwassen, begrijpt Nederlands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Diabetes type 1 of 2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Risicocategorie 3 met genezen plantair ulcus, partiële amputatie of resectie van een metatarsaalkop — niet de eerste — tussen 18 maanden en 2 weken geleden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Stapt zelfstandig blootsvoets, zonder hulpmiddelen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Heeft beschermend schoeisel, of aanvaardt het: volledig maatwerk, of maatzolen in semi-orthopedisch of extra-diep confectieschoeisel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Amputatie proximaal van de MTP-gewrichten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Actief ulcus of Charcot-deformiteit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Kritische ischemie — PEDIS graad 3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Immunosuppressieve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Nierfunctievervangende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Overleving &lt; 18 maanden, beoordeeld door de arts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Kan geen toestemming geven of instructies volgen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Hulpmiddel dat druksensoren belemmert, bv. een EVO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Weigert het voorgeschreven schoeisel te dragen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24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24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24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24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24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