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Eén zin, en dan ga ik door. Elk onderdeel van PARADISE bestaat al. Geen enkel onderdeel werkte alleen. Wat wij toetsen is of ze samen wél werken, in gewone klinieken en onder gewone caseload.</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waarom de studie zo is opgezet. Vier cijfers, en daarna begrijpt u waarom er twee normen zijn in plaats van één.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Genezing is dus geen eindpunt maar remissie.</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strategieën zijn getest. Drukgestuurd schoeisel haalde zijn eindpunt niet. Educatie alleen had zelfs een negatief mediaan effect. Digitale feedback werkte, maar opnieuw alleen bij wie het toestel bleef gebruiken.</a:t>
            </a:r>
          </a:p>
          <a:p/>
          <a:p>
            <a:r>
              <a:t>PRESENTATIETIP</a:t>
            </a:r>
          </a:p>
          <a:p>
            <a:r>
              <a:t>Dit is de dia die de zaal het argument geeft. Neem er tijd voor; de rest van de studieopzet volgt hieruit.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Dezelfde schoen, twee uitkomsten. Over iedereen: geen verschil. Bij wie hem tachtig procent van de stappen dróég: bijna gehalveerd. Daarom meten wij niet alleen druk, maar ook draagtijd.</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Eenenzeventig procent draagtijd, gemeten met een sensor en niet gevraagd. Thuis zakt het naar eenenzestig, en juist thuis worden de meeste stappen gezet. Minder dan een derde haalt de tachtig procent.</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Daarom heeft PARADISE twee normen en niet één.</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Waarom kan deze studie nu pas? Drie dingen zijn veranderd. De sensor maakt therapietrouw meetbaar, COM-B verklaart waaróm educatie faalde, en België heeft erkende voetklinieken met opleidingseisen. Daarom is therapietrouw hier een eindpunt en geen mediator.</a:t>
            </a:r>
          </a:p>
          <a:p/>
          <a:p>
            <a:r>
              <a:t>PRESENTATIETIP</a:t>
            </a:r>
          </a:p>
          <a:p>
            <a:r>
              <a:t>Drie redenen, drie zinnen. Dit is het scharnier naar de opzet.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software verdeelt de voet in acht regio's. Daarvan kiest u er drie als doelregio. Die drie zet u op het voorschrift. En alleen dáár wordt de norm getoetst, niet over de hele voet.</a:t>
            </a:r>
          </a:p>
          <a:p/>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condities, altijd in deze volgorde. Blootsvoets is uw referentie. In de schoen zonder zool toont wat het schoeisel alleen doet. In de schoen mét zool is de meting waarop de norm getoetst wordt — slaat u er één over, dan is de vergelijking onbruikbaar.</a:t>
            </a:r>
          </a:p>
          <a:p/>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Categorie drie volgens IWGDF: een genezen plantair ulcus, of een kleine amputatie. Links wat toelaat, rechts wat uitsluit. De rode draad: offloading moet de juiste behandeling zijn, dus kritieke ischemie en actieve Charcot vallen af.</a:t>
            </a:r>
          </a:p>
          <a:p/>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vijf gesprekken, geen enkele sessie. Eerst kennis en educatie, dan teach-back bij de aflevering, dan tweemaal de sensordata samen bekijken, dan voordoen, en op achttien maanden afsluiten. Het verschil met gewone educatie: het herhaalt, en het staat op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eindpunten en de analyse. Twee eindpunten, één op één op het causale model.</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Twee eindpunten betekent twee berekeningen. Links recidief: vijftig tegenover vijfentwintig procent, wat eenenveertig events vraagt en honderddertig deelnemers. Rechts therapietrouw: vijftig per groep. Honderdvierenveertig komt uit de capaciteit per centrum en overtreft beide minima.</a:t>
            </a:r>
          </a:p>
          <a:p/>
          <a:p>
            <a:r>
              <a:t>PRESENTATIETIP</a:t>
            </a:r>
          </a:p>
          <a:p>
            <a:r>
              <a:t>Dit is de dia waar de vraag komt. Benoem de gezamenlijke power zelf, vóór iemand in de zaal het doet — de volgende dia doet dat.</a:t>
            </a:r>
          </a:p>
          <a:p/>
          <a:p>
            <a:r>
              <a:t>INTERACTIE</a:t>
            </a:r>
          </a:p>
          <a:p>
            <a:r>
              <a:t>Geen. Laat de vraag komen.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de vraag die u anders uit de zaal krijgt. Apart hebben we vierentachtig en zevenentachtig procent power. Maar de studie is pas positief als béíde eindpunten halen, en dan zakt het naar vierenzeventig tot vierentachtig. Wij rapporteren dat zelf, want de losse cijfers overschatten de kans.</a:t>
            </a:r>
          </a:p>
          <a:p/>
          <a:p>
            <a:r>
              <a:t>PRESENTATIETIP</a:t>
            </a:r>
          </a:p>
          <a:p>
            <a:r>
              <a:t>Dit is de dia die u onderscheidt van de rest van het programma. Niemand rapporteert dit uit zichzelf.</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Het analyseplan in vier regels. Recidief met Cox, gestratificeerd naar centrum, met sterfte als competing risk. Therapietrouw met beta-regressie, want het is een proportie met een plafond. En de twee eindpunten zijn elkaars intercurrente event: wie ulcereert, draagt terecht geen zool meer.</a:t>
            </a:r>
          </a:p>
          <a:p/>
          <a:p>
            <a:r>
              <a:t>PRESENTATIETIP</a:t>
            </a:r>
          </a:p>
          <a:p>
            <a:r>
              <a:t>Kort houden. Wie meer wil weten vraagt het, en dan hebt u het SAP.</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Naast de trial lopen twee evaluaties. De economische rekent kosten per vermeden ulcus én per QALY, met een Markov-model tot vijf jaar. De procesevaluatie meet of de interventie werkelijk geleverd is. Die tweede is geen bijlage — bij een nulresultaat is zij het enige wat mechanisme van uitvoering onderscheidt.</a:t>
            </a:r>
          </a:p>
          <a:p/>
          <a:p>
            <a:r>
              <a:t>PRESENTATIETIP</a:t>
            </a:r>
          </a:p>
          <a:p>
            <a:r>
              <a:t>De procesevaluatie is geen bijlage. Bij een nulresultaat is zij het enige wat mechanisme van uitvoering onderscheidt.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Ik sluit af met wat we hoe dan ook leren. Stijgt de therapietrouw maar het recidief niet, dan faalt de biomechanische premisse. Stijgt de therapietrouw niet, dan faalde het gedragsdeel. In beide gevallen weten we welke schakel breekt, en dat is precies wat dit veld nog niet weet.</a:t>
            </a:r>
          </a:p>
          <a:p/>
          <a:p>
            <a:r>
              <a:t>PRESENTATIETIP</a:t>
            </a:r>
          </a:p>
          <a:p>
            <a:r>
              <a:t>Sluit hiermee af. Dit is het antwoord op de vraag of de studie de moeite waard is als ze negatief uitvalt.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Studieopzet · wetenschappelijke sessie</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29</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5400" b="1">
                <a:solidFill>
                  <a:srgbClr val="04182A"/>
                </a:solidFill>
                <a:latin typeface="Segoe UI"/>
              </a:rPr>
              <a:t>PARADISE toetst geen werkzaamheid.</a:t>
            </a:r>
          </a:p>
          <a:p>
            <a:pPr algn="l">
              <a:lnSpc>
                <a:spcPct val="106000"/>
              </a:lnSpc>
              <a:spcBef>
                <a:spcPts val="500"/>
              </a:spcBef>
            </a:pPr>
            <a:r>
              <a:rPr sz="5400" b="1">
                <a:solidFill>
                  <a:srgbClr val="04182A"/>
                </a:solidFill>
                <a:latin typeface="Segoe UI"/>
              </a:rPr>
              <a:t>PARADISE toetst overdracht.</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Elk onderdeel bestaat al. Geen enkel onderdeel werkte alleen.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29</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AL GEPROBEERD IS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strategieën, één patroon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Drukgestuurd schoeisel</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pivotale multicentrische trial haalde haar primaire eindpunt niet: 38,8% tegenover 44,2% recidief. Het verschil zat bij wie de schoen dróég.</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 = 0,48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Patienteneducatie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In de IWGDF-review had losstaande educatie geen aantoonbaar preventief effect. Het mediane behandeleffect was negatief.</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mediaan −13,4%</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Continue digitale feedback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 slimme inlegzool met realtime waarschuwingen verminderde recidief — opnieuw vooral bij wie het toestel bleef gebruiken.</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proof of concept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Het patroon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Elk onderdeel adresseert een noodzakelijke voorwaarde. Geen enkel onderdeel adresseert een voldoende voorwaarde.</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Geen drie teleurstellingen maar één: telkens echt, telkens voorwaardelijk.</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29</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29</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29</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29</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DEZE STUDIE NU PAS KAN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dingen zijn veranderd</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Therapietrouw is meetbaar</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temperatuursensor in orthopedisch schoeisel is gevalideerd. Zelfrapportage overschat systematisch; nu is draagtijd een toetsbaar doel in plaats van een aanname.</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sensor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De mislukking is verklaarbaar</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Kennisoverdracht raakt onder COM-B enkel capability. Opportunity en motivation — wat thuis gebeurt, jarenlang, ongezien — bleven onaangeroerd.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COM-B</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De context bestaat</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België erkent multidisciplinaire voetklinieken met opleidingseisen en minimumvolumes. Dat is de plek waar preventie uiteindelijk moet landen.</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RIZIV-INAMI</a:t>
            </a:r>
          </a:p>
        </p:txBody>
      </p:sp>
      <p:sp>
        <p:nvSpPr>
          <p:cNvPr id="17" name="Rounded Rectangle 16"/>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Daarom is therapietrouw hier een co-primair eindpunt, en geen mediator die je achteraf afleidt.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29</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29</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29</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29</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29</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29</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29</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29</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29</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29</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Eindpunten en analyse</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Twee eindpunten, één op één op het causale model.</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STEEKPROEFBEREKENING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eindpunten, twee berekeningen</a:t>
            </a:r>
          </a:p>
        </p:txBody>
      </p:sp>
      <p:sp>
        <p:nvSpPr>
          <p:cNvPr id="5" name="Rounded Rectangle 4"/>
          <p:cNvSpPr/>
          <p:nvPr/>
        </p:nvSpPr>
        <p:spPr>
          <a:xfrm>
            <a:off x="634984"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578"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CO-PRIMAIR 1</a:t>
            </a:r>
          </a:p>
        </p:txBody>
      </p:sp>
      <p:sp>
        <p:nvSpPr>
          <p:cNvPr id="7" name="TextBox 6"/>
          <p:cNvSpPr txBox="1"/>
          <p:nvPr/>
        </p:nvSpPr>
        <p:spPr>
          <a:xfrm>
            <a:off x="863578" y="2260543"/>
            <a:ext cx="4927349" cy="444488"/>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Ulcusrecidief op 18 maanden</a:t>
            </a:r>
          </a:p>
        </p:txBody>
      </p:sp>
      <p:sp>
        <p:nvSpPr>
          <p:cNvPr id="8" name="Rectangle 7"/>
          <p:cNvSpPr/>
          <p:nvPr/>
        </p:nvSpPr>
        <p:spPr>
          <a:xfrm>
            <a:off x="863578"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3578"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Aanname controle</a:t>
            </a:r>
          </a:p>
        </p:txBody>
      </p:sp>
      <p:sp>
        <p:nvSpPr>
          <p:cNvPr id="10" name="TextBox 9"/>
          <p:cNvSpPr txBox="1"/>
          <p:nvPr/>
        </p:nvSpPr>
        <p:spPr>
          <a:xfrm>
            <a:off x="2539936"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50% recidief</a:t>
            </a:r>
          </a:p>
        </p:txBody>
      </p:sp>
      <p:sp>
        <p:nvSpPr>
          <p:cNvPr id="11" name="Rectangle 10"/>
          <p:cNvSpPr/>
          <p:nvPr/>
        </p:nvSpPr>
        <p:spPr>
          <a:xfrm>
            <a:off x="863578"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578"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Aanname interventie</a:t>
            </a:r>
          </a:p>
        </p:txBody>
      </p:sp>
      <p:sp>
        <p:nvSpPr>
          <p:cNvPr id="13" name="TextBox 12"/>
          <p:cNvSpPr txBox="1"/>
          <p:nvPr/>
        </p:nvSpPr>
        <p:spPr>
          <a:xfrm>
            <a:off x="2539936"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25%, hazard ratio 0,42</a:t>
            </a:r>
          </a:p>
        </p:txBody>
      </p:sp>
      <p:sp>
        <p:nvSpPr>
          <p:cNvPr id="14" name="Rectangle 13"/>
          <p:cNvSpPr/>
          <p:nvPr/>
        </p:nvSpPr>
        <p:spPr>
          <a:xfrm>
            <a:off x="863578"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3578"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Toets</a:t>
            </a:r>
          </a:p>
        </p:txBody>
      </p:sp>
      <p:sp>
        <p:nvSpPr>
          <p:cNvPr id="16" name="TextBox 15"/>
          <p:cNvSpPr txBox="1"/>
          <p:nvPr/>
        </p:nvSpPr>
        <p:spPr>
          <a:xfrm>
            <a:off x="2539936"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log-rank, tweezijdig, α = 0,05</a:t>
            </a:r>
          </a:p>
        </p:txBody>
      </p:sp>
      <p:sp>
        <p:nvSpPr>
          <p:cNvPr id="17" name="Rectangle 16"/>
          <p:cNvSpPr/>
          <p:nvPr/>
        </p:nvSpPr>
        <p:spPr>
          <a:xfrm>
            <a:off x="863578"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578"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Power</a:t>
            </a:r>
          </a:p>
        </p:txBody>
      </p:sp>
      <p:sp>
        <p:nvSpPr>
          <p:cNvPr id="19" name="TextBox 18"/>
          <p:cNvSpPr txBox="1"/>
          <p:nvPr/>
        </p:nvSpPr>
        <p:spPr>
          <a:xfrm>
            <a:off x="2539936"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80% → 41 events nodig</a:t>
            </a:r>
          </a:p>
        </p:txBody>
      </p:sp>
      <p:sp>
        <p:nvSpPr>
          <p:cNvPr id="20" name="Rectangle 19"/>
          <p:cNvSpPr/>
          <p:nvPr/>
        </p:nvSpPr>
        <p:spPr>
          <a:xfrm>
            <a:off x="863578"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3578"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Uitval</a:t>
            </a:r>
          </a:p>
        </p:txBody>
      </p:sp>
      <p:sp>
        <p:nvSpPr>
          <p:cNvPr id="22" name="TextBox 21"/>
          <p:cNvSpPr txBox="1"/>
          <p:nvPr/>
        </p:nvSpPr>
        <p:spPr>
          <a:xfrm>
            <a:off x="2539936"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15%</a:t>
            </a:r>
          </a:p>
        </p:txBody>
      </p:sp>
      <p:sp>
        <p:nvSpPr>
          <p:cNvPr id="23" name="Rounded Rectangle 22"/>
          <p:cNvSpPr/>
          <p:nvPr/>
        </p:nvSpPr>
        <p:spPr>
          <a:xfrm>
            <a:off x="863578"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3578"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108 → 127 met uitval → 130 gestratificeerd</a:t>
            </a:r>
          </a:p>
        </p:txBody>
      </p:sp>
      <p:sp>
        <p:nvSpPr>
          <p:cNvPr id="25" name="Rounded Rectangle 24"/>
          <p:cNvSpPr/>
          <p:nvPr/>
        </p:nvSpPr>
        <p:spPr>
          <a:xfrm>
            <a:off x="6171918"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512"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CO-PRIMAIR 2</a:t>
            </a:r>
          </a:p>
        </p:txBody>
      </p:sp>
      <p:sp>
        <p:nvSpPr>
          <p:cNvPr id="27" name="TextBox 26"/>
          <p:cNvSpPr txBox="1"/>
          <p:nvPr/>
        </p:nvSpPr>
        <p:spPr>
          <a:xfrm>
            <a:off x="6400512" y="2260543"/>
            <a:ext cx="4927349" cy="444488"/>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Therapietrouw op 12 maanden</a:t>
            </a:r>
          </a:p>
        </p:txBody>
      </p:sp>
      <p:sp>
        <p:nvSpPr>
          <p:cNvPr id="28" name="Rectangle 27"/>
          <p:cNvSpPr/>
          <p:nvPr/>
        </p:nvSpPr>
        <p:spPr>
          <a:xfrm>
            <a:off x="6400512"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512"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Aanname controle</a:t>
            </a:r>
          </a:p>
        </p:txBody>
      </p:sp>
      <p:sp>
        <p:nvSpPr>
          <p:cNvPr id="30" name="TextBox 29"/>
          <p:cNvSpPr txBox="1"/>
          <p:nvPr/>
        </p:nvSpPr>
        <p:spPr>
          <a:xfrm>
            <a:off x="8076871"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71%, SD 25%</a:t>
            </a:r>
          </a:p>
        </p:txBody>
      </p:sp>
      <p:sp>
        <p:nvSpPr>
          <p:cNvPr id="31" name="Rectangle 30"/>
          <p:cNvSpPr/>
          <p:nvPr/>
        </p:nvSpPr>
        <p:spPr>
          <a:xfrm>
            <a:off x="6400512"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512"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Aanname interventie</a:t>
            </a:r>
          </a:p>
        </p:txBody>
      </p:sp>
      <p:sp>
        <p:nvSpPr>
          <p:cNvPr id="33" name="TextBox 32"/>
          <p:cNvSpPr txBox="1"/>
          <p:nvPr/>
        </p:nvSpPr>
        <p:spPr>
          <a:xfrm>
            <a:off x="8076871"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85%, effectgrootte 0,56</a:t>
            </a:r>
          </a:p>
        </p:txBody>
      </p:sp>
      <p:sp>
        <p:nvSpPr>
          <p:cNvPr id="34" name="Rectangle 33"/>
          <p:cNvSpPr/>
          <p:nvPr/>
        </p:nvSpPr>
        <p:spPr>
          <a:xfrm>
            <a:off x="6400512"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512"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Toets</a:t>
            </a:r>
          </a:p>
        </p:txBody>
      </p:sp>
      <p:sp>
        <p:nvSpPr>
          <p:cNvPr id="36" name="TextBox 35"/>
          <p:cNvSpPr txBox="1"/>
          <p:nvPr/>
        </p:nvSpPr>
        <p:spPr>
          <a:xfrm>
            <a:off x="8076871"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t-toets, tweezijdig, α = 0,05</a:t>
            </a:r>
          </a:p>
        </p:txBody>
      </p:sp>
      <p:sp>
        <p:nvSpPr>
          <p:cNvPr id="37" name="Rectangle 36"/>
          <p:cNvSpPr/>
          <p:nvPr/>
        </p:nvSpPr>
        <p:spPr>
          <a:xfrm>
            <a:off x="6400512"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512"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Power</a:t>
            </a:r>
          </a:p>
        </p:txBody>
      </p:sp>
      <p:sp>
        <p:nvSpPr>
          <p:cNvPr id="39" name="TextBox 38"/>
          <p:cNvSpPr txBox="1"/>
          <p:nvPr/>
        </p:nvSpPr>
        <p:spPr>
          <a:xfrm>
            <a:off x="8076871"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80% → 50 per groep</a:t>
            </a:r>
          </a:p>
        </p:txBody>
      </p:sp>
      <p:sp>
        <p:nvSpPr>
          <p:cNvPr id="40" name="Rectangle 39"/>
          <p:cNvSpPr/>
          <p:nvPr/>
        </p:nvSpPr>
        <p:spPr>
          <a:xfrm>
            <a:off x="6400512"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512"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Uitval</a:t>
            </a:r>
          </a:p>
        </p:txBody>
      </p:sp>
      <p:sp>
        <p:nvSpPr>
          <p:cNvPr id="42" name="TextBox 41"/>
          <p:cNvSpPr txBox="1"/>
          <p:nvPr/>
        </p:nvSpPr>
        <p:spPr>
          <a:xfrm>
            <a:off x="8076871"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15%</a:t>
            </a:r>
          </a:p>
        </p:txBody>
      </p:sp>
      <p:sp>
        <p:nvSpPr>
          <p:cNvPr id="43" name="Rounded Rectangle 42"/>
          <p:cNvSpPr/>
          <p:nvPr/>
        </p:nvSpPr>
        <p:spPr>
          <a:xfrm>
            <a:off x="6400512"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512"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100 → 118 met uitval</a:t>
            </a:r>
          </a:p>
        </p:txBody>
      </p:sp>
      <p:sp>
        <p:nvSpPr>
          <p:cNvPr id="45" name="Rounded Rectangle 44"/>
          <p:cNvSpPr/>
          <p:nvPr/>
        </p:nvSpPr>
        <p:spPr>
          <a:xfrm>
            <a:off x="634984" y="5488040"/>
            <a:ext cx="10921726" cy="1157779"/>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9776" y="5615037"/>
            <a:ext cx="4444888" cy="215894"/>
          </a:xfrm>
          <a:prstGeom prst="rect">
            <a:avLst/>
          </a:prstGeom>
          <a:noFill/>
        </p:spPr>
        <p:txBody>
          <a:bodyPr wrap="none" anchor="t" lIns="0" rIns="0" tIns="0" bIns="0">
            <a:spAutoFit/>
          </a:bodyPr>
          <a:lstStyle/>
          <a:p>
            <a:pPr algn="l">
              <a:lnSpc>
                <a:spcPct val="125000"/>
              </a:lnSpc>
            </a:pPr>
            <a:r>
              <a:rPr sz="1250" b="1" spc="150">
                <a:solidFill>
                  <a:srgbClr val="FF7A00"/>
                </a:solidFill>
                <a:latin typeface="Consolas"/>
              </a:rPr>
              <a:t>WAAROM DAN 144</a:t>
            </a:r>
          </a:p>
        </p:txBody>
      </p:sp>
      <p:sp>
        <p:nvSpPr>
          <p:cNvPr id="47" name="TextBox 46"/>
          <p:cNvSpPr txBox="1"/>
          <p:nvPr/>
        </p:nvSpPr>
        <p:spPr>
          <a:xfrm>
            <a:off x="939776" y="5856331"/>
            <a:ext cx="10286742" cy="738689"/>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Zes centra maal 24 is 144. Dat cijfer komt niet uit de berekening maar uit de rekruteringscapaciteit per centrum, en het overtreft beide minima.</a:t>
            </a:r>
          </a:p>
        </p:txBody>
      </p:sp>
      <p:sp>
        <p:nvSpPr>
          <p:cNvPr id="48" name="TextBox 47"/>
          <p:cNvSpPr txBox="1"/>
          <p:nvPr/>
        </p:nvSpPr>
        <p:spPr>
          <a:xfrm>
            <a:off x="634984" y="6616534"/>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Manuscript, steekproefberekening · exponentieel verdeelde tijden tot recidief aangenomen</a:t>
            </a:r>
          </a:p>
        </p:txBody>
      </p:sp>
      <p:sp>
        <p:nvSpPr>
          <p:cNvPr id="49" name="TextBox 4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29</a:t>
            </a:r>
          </a:p>
        </p:txBody>
      </p:sp>
      <p:pic>
        <p:nvPicPr>
          <p:cNvPr id="5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HET CO-PRIMAIRE CRITERIUM KOST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De power die telt, is de gezamenlijke</a:t>
            </a:r>
          </a:p>
        </p:txBody>
      </p:sp>
      <p:sp>
        <p:nvSpPr>
          <p:cNvPr id="5" name="TextBox 4"/>
          <p:cNvSpPr txBox="1"/>
          <p:nvPr/>
        </p:nvSpPr>
        <p:spPr>
          <a:xfrm>
            <a:off x="634984" y="1676358"/>
            <a:ext cx="8889777" cy="279393"/>
          </a:xfrm>
          <a:prstGeom prst="rect">
            <a:avLst/>
          </a:prstGeom>
          <a:noFill/>
        </p:spPr>
        <p:txBody>
          <a:bodyPr wrap="square" anchor="t" lIns="0" rIns="0" tIns="0" bIns="0">
            <a:spAutoFit/>
          </a:bodyPr>
          <a:lstStyle/>
          <a:p>
            <a:pPr algn="l">
              <a:lnSpc>
                <a:spcPct val="125000"/>
              </a:lnSpc>
            </a:pPr>
            <a:r>
              <a:rPr sz="1650" b="0">
                <a:solidFill>
                  <a:srgbClr val="8FB6D0"/>
                </a:solidFill>
                <a:latin typeface="Segoe UI"/>
              </a:rPr>
              <a:t>De studie is pas positief als béíde eindpunten significant zijn.</a:t>
            </a:r>
          </a:p>
        </p:txBody>
      </p:sp>
      <p:sp>
        <p:nvSpPr>
          <p:cNvPr id="6" name="Rounded Rectangle 5"/>
          <p:cNvSpPr/>
          <p:nvPr/>
        </p:nvSpPr>
        <p:spPr>
          <a:xfrm>
            <a:off x="634984"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179"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RECIDIEF APART</a:t>
            </a:r>
          </a:p>
        </p:txBody>
      </p:sp>
      <p:sp>
        <p:nvSpPr>
          <p:cNvPr id="8" name="TextBox 7"/>
          <p:cNvSpPr txBox="1"/>
          <p:nvPr/>
        </p:nvSpPr>
        <p:spPr>
          <a:xfrm>
            <a:off x="838179"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84% — en 90% bij volledige opvolging</a:t>
            </a:r>
          </a:p>
        </p:txBody>
      </p:sp>
      <p:sp>
        <p:nvSpPr>
          <p:cNvPr id="9" name="Rounded Rectangle 8"/>
          <p:cNvSpPr/>
          <p:nvPr/>
        </p:nvSpPr>
        <p:spPr>
          <a:xfrm>
            <a:off x="6171918"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5113"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THERAPIETROUW APART</a:t>
            </a:r>
          </a:p>
        </p:txBody>
      </p:sp>
      <p:sp>
        <p:nvSpPr>
          <p:cNvPr id="11" name="TextBox 10"/>
          <p:cNvSpPr txBox="1"/>
          <p:nvPr/>
        </p:nvSpPr>
        <p:spPr>
          <a:xfrm>
            <a:off x="6375113"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87% — en 92% bij volledige opvolging</a:t>
            </a:r>
          </a:p>
        </p:txBody>
      </p:sp>
      <p:sp>
        <p:nvSpPr>
          <p:cNvPr id="12" name="Rounded Rectangle 11"/>
          <p:cNvSpPr/>
          <p:nvPr/>
        </p:nvSpPr>
        <p:spPr>
          <a:xfrm>
            <a:off x="634984"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179"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BEIDE SAMEN</a:t>
            </a:r>
          </a:p>
        </p:txBody>
      </p:sp>
      <p:sp>
        <p:nvSpPr>
          <p:cNvPr id="14" name="TextBox 13"/>
          <p:cNvSpPr txBox="1"/>
          <p:nvPr/>
        </p:nvSpPr>
        <p:spPr>
          <a:xfrm>
            <a:off x="838179"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74% tot 84%, naargelang de correlatie</a:t>
            </a:r>
          </a:p>
        </p:txBody>
      </p:sp>
      <p:sp>
        <p:nvSpPr>
          <p:cNvPr id="15" name="Rounded Rectangle 14"/>
          <p:cNvSpPr/>
          <p:nvPr/>
        </p:nvSpPr>
        <p:spPr>
          <a:xfrm>
            <a:off x="6171918"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5113"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BIJ EEN HALF ZO GROOT EFFECT</a:t>
            </a:r>
          </a:p>
        </p:txBody>
      </p:sp>
      <p:sp>
        <p:nvSpPr>
          <p:cNvPr id="17" name="TextBox 16"/>
          <p:cNvSpPr txBox="1"/>
          <p:nvPr/>
        </p:nvSpPr>
        <p:spPr>
          <a:xfrm>
            <a:off x="6375113"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64% bij 30% · 40% bij 35%</a:t>
            </a:r>
          </a:p>
        </p:txBody>
      </p:sp>
      <p:sp>
        <p:nvSpPr>
          <p:cNvPr id="18" name="Rounded Rectangle 17"/>
          <p:cNvSpPr/>
          <p:nvPr/>
        </p:nvSpPr>
        <p:spPr>
          <a:xfrm>
            <a:off x="634984" y="4101997"/>
            <a:ext cx="10921726" cy="1769776"/>
          </a:xfrm>
          <a:prstGeom prst="roundRect">
            <a:avLst>
              <a:gd name="adj" fmla="val 4500"/>
            </a:avLst>
          </a:prstGeom>
          <a:solidFill>
            <a:srgbClr val="113A57"/>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2476" y="4394090"/>
            <a:ext cx="10286742" cy="13125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Protocollen met co-primaire eindpunten rapporteren doorgaans alleen het cijfer per eindpunt. Dat overschat de kans op het criterium waarop de studie werkelijk beoordeeld wordt.</a:t>
            </a:r>
          </a:p>
        </p:txBody>
      </p:sp>
      <p:sp>
        <p:nvSpPr>
          <p:cNvPr id="20" name="TextBox 1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29</a:t>
            </a:r>
          </a:p>
        </p:txBody>
      </p:sp>
      <p:pic>
        <p:nvPicPr>
          <p:cNvPr id="2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ANALYSEPLAN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we het toetsen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Recidief</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Cox-regressie gestratificeerd naar centrum, met de toewijzing als enige covariaat. Sterfte is een competing risk, geen censuur: Fine-Gray en cumulatieve incidentie ernaast.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co-primair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Therapietrouw</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Beta-regressie met logit-link, want het is een proportie met een plafond. Lineaire regressie als gevoeligheidsanalyse.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co-primair</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Intercurrente events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twee eindpunten zijn elkaars intercurrente event: wie ulcereert draagt terecht geen zool meer. Hypothetische strategie voor therapietrouw.</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estimand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Ontbrekende data</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Multipele imputatie, 50 datasets. Een tipping-pointanalyse toont hoe extreem het moet worden om de conclusie te kantelen.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MAR</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Positief alleen als beide eindpunten significant zijn. Daarom blijft de familiegewijze fout onder 0,05 en is geen correctie nodig.</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29</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NAAST DE TRIAL LOOPT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evaluaties, parallel</a:t>
            </a:r>
          </a:p>
        </p:txBody>
      </p:sp>
      <p:sp>
        <p:nvSpPr>
          <p:cNvPr id="5" name="Rounded Rectangle 4"/>
          <p:cNvSpPr/>
          <p:nvPr/>
        </p:nvSpPr>
        <p:spPr>
          <a:xfrm>
            <a:off x="634984" y="2031949"/>
            <a:ext cx="5384538" cy="421629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Gezondheidseconomische evaluatie</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Kosten-utiliteit, betalersperspectief</a:t>
            </a:r>
          </a:p>
        </p:txBody>
      </p:sp>
      <p:sp>
        <p:nvSpPr>
          <p:cNvPr id="10" name="TextBox 9"/>
          <p:cNvSpPr txBox="1"/>
          <p:nvPr/>
        </p:nvSpPr>
        <p:spPr>
          <a:xfrm>
            <a:off x="888977" y="4165495"/>
            <a:ext cx="4876551" cy="1968450"/>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EQ-5D-5L elke drie maanden, gewaardeerd met de Belgische waardeset.</a:t>
            </a:r>
          </a:p>
          <a:p>
            <a:pPr algn="l">
              <a:lnSpc>
                <a:spcPct val="132000"/>
              </a:lnSpc>
              <a:spcBef>
                <a:spcPts val="1200"/>
              </a:spcBef>
            </a:pPr>
            <a:r>
              <a:rPr sz="1450" b="0">
                <a:solidFill>
                  <a:srgbClr val="8FB6D0"/>
                </a:solidFill>
                <a:latin typeface="Segoe UI"/>
              </a:rPr>
              <a:t>Zorggebruik prospectief met iMCQ en iPCQ, plus dagboek en dossier.</a:t>
            </a:r>
          </a:p>
          <a:p>
            <a:pPr algn="l">
              <a:lnSpc>
                <a:spcPct val="132000"/>
              </a:lnSpc>
              <a:spcBef>
                <a:spcPts val="1200"/>
              </a:spcBef>
            </a:pPr>
            <a:r>
              <a:rPr sz="1450" b="0">
                <a:solidFill>
                  <a:srgbClr val="8FB6D0"/>
                </a:solidFill>
                <a:latin typeface="Segoe UI"/>
              </a:rPr>
              <a:t>Markov tot vijf jaar. Kosten per vermeden ulcus én per QALY, naast elkaar.</a:t>
            </a:r>
          </a:p>
        </p:txBody>
      </p:sp>
      <p:sp>
        <p:nvSpPr>
          <p:cNvPr id="11" name="Rounded Rectangle 10"/>
          <p:cNvSpPr/>
          <p:nvPr/>
        </p:nvSpPr>
        <p:spPr>
          <a:xfrm>
            <a:off x="6171918" y="2031949"/>
            <a:ext cx="5384538" cy="421629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Procesevaluatie</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MRC-kader, drie domeinen</a:t>
            </a:r>
          </a:p>
        </p:txBody>
      </p:sp>
      <p:sp>
        <p:nvSpPr>
          <p:cNvPr id="16" name="TextBox 15"/>
          <p:cNvSpPr txBox="1"/>
          <p:nvPr/>
        </p:nvSpPr>
        <p:spPr>
          <a:xfrm>
            <a:off x="6425912" y="4165495"/>
            <a:ext cx="4876551" cy="1968450"/>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Implementatie: fideliteit, dosis, bereik, aanpassingen.</a:t>
            </a:r>
          </a:p>
          <a:p>
            <a:pPr algn="l">
              <a:lnSpc>
                <a:spcPct val="132000"/>
              </a:lnSpc>
              <a:spcBef>
                <a:spcPts val="1200"/>
              </a:spcBef>
            </a:pPr>
            <a:r>
              <a:rPr sz="1450" b="0">
                <a:solidFill>
                  <a:srgbClr val="8FB6D0"/>
                </a:solidFill>
                <a:latin typeface="Segoe UI"/>
              </a:rPr>
              <a:t>Mechanismen en context: wat de uitvoering per centrum bepaalt.</a:t>
            </a:r>
          </a:p>
          <a:p>
            <a:pPr algn="l">
              <a:lnSpc>
                <a:spcPct val="132000"/>
              </a:lnSpc>
              <a:spcBef>
                <a:spcPts val="1200"/>
              </a:spcBef>
            </a:pPr>
            <a:r>
              <a:rPr sz="1450" b="0">
                <a:solidFill>
                  <a:srgbClr val="8FB6D0"/>
                </a:solidFill>
                <a:latin typeface="Segoe UI"/>
              </a:rPr>
              <a:t>Interviews, gestructureerde observatie en therapeutendagboeken.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29</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WE HOE DAN OOK LEREN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Een nulresultaat is ook een resultaat</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Therapietrouw stijgt, recidief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faalt de biomechanische premisse: geoptimaliseerd schoeisel drágen volstaat niet. Het veld moet stoppen preventiefalen aan de patiënt toe te schrijven.</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Therapietrouw stijgt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faalde de gedragscomponent. De fideliteitsdata zeggen of het ontwerp tekortschoot of de uitvoering.</a:t>
            </a:r>
          </a:p>
        </p:txBody>
      </p:sp>
      <p:sp>
        <p:nvSpPr>
          <p:cNvPr id="13" name="Rectangle 12"/>
          <p:cNvSpPr/>
          <p:nvPr/>
        </p:nvSpPr>
        <p:spPr>
          <a:xfrm>
            <a:off x="634984"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Beide stijgen</a:t>
            </a:r>
          </a:p>
        </p:txBody>
      </p:sp>
      <p:sp>
        <p:nvSpPr>
          <p:cNvPr id="15" name="TextBox 14"/>
          <p:cNvSpPr txBox="1"/>
          <p:nvPr/>
        </p:nvSpPr>
        <p:spPr>
          <a:xfrm>
            <a:off x="634984"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werkt een geïntegreerde dienst onder routineomstandigheden — zonder dat we weten welk onderdeel het deed. Ontleden vraagt een factoriële opzet die het Belgische netwerk niet kan leveren.</a:t>
            </a:r>
          </a:p>
        </p:txBody>
      </p:sp>
      <p:sp>
        <p:nvSpPr>
          <p:cNvPr id="17" name="Rectangle 16"/>
          <p:cNvSpPr/>
          <p:nvPr/>
        </p:nvSpPr>
        <p:spPr>
          <a:xfrm>
            <a:off x="6171918"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Hoe dan ook</a:t>
            </a:r>
          </a:p>
        </p:txBody>
      </p:sp>
      <p:sp>
        <p:nvSpPr>
          <p:cNvPr id="19" name="TextBox 18"/>
          <p:cNvSpPr txBox="1"/>
          <p:nvPr/>
        </p:nvSpPr>
        <p:spPr>
          <a:xfrm>
            <a:off x="6171918"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Druk, activiteit en draagtijd worden bij 144 deelnemers over achttien maanden gelijktijdig gemeten. Dat is de eerste dataset van die omvang, ongeacht de uitkomst.</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29</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29</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