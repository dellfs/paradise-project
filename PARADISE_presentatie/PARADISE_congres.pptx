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beeld draagt deze dia, dus de foto moet raak zijn. Zet hem in beeld\stock\, draai verwerk_stock.py, en vervang het kader met rechtsklik en Afbeelding wijzigen. Liggend, koele tonen, en rustig onderaan — daar staat de titel.</a:t>
            </a:r>
          </a:p>
          <a:p/>
          <a:p>
            <a:r>
              <a:t>INTERACTIE</a:t>
            </a:r>
          </a:p>
          <a:p>
            <a:r>
              <a:t>Laat de dia staan terwijl de zaal binnenkomt. Zeg pas iets als iedereen 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Wijs hun eigen centrum aan: 24 van die 144 stippen zijn van hen. Zes keer 24 is 144 — als één centrum achterblijft, haalt de studie het niet.</a:t>
            </a:r>
          </a:p>
          <a:p/>
          <a:p>
            <a:r>
              <a:t>INTERACTIE</a:t>
            </a:r>
          </a:p>
          <a:p>
            <a:r>
              <a:t>Vraag of ze de andere vijf centra kennen. Het maakt van zes losse klinieken één netwerk.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het probleem waar de hele studie op staat. Eén dia, dan door.</a:t>
            </a:r>
          </a:p>
          <a:p/>
          <a:p>
            <a:r>
              <a:t>INTERACTIE</a:t>
            </a:r>
          </a:p>
          <a:p>
            <a:r>
              <a:t>Geen. Dit is context, geen discussie.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Hier komt de tweede norm vandaan. Zonder deze dia is 80% draagtijd een willekeurig getal.</a:t>
            </a:r>
          </a:p>
          <a:p/>
          <a:p>
            <a:r>
              <a:t>INTERACTIE</a:t>
            </a:r>
          </a:p>
          <a:p>
            <a:r>
              <a:t>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Binnenshuis wordt het schoeisel het minst gedragen, en juist daar worden veel stappen gezet. Dat is uw belangrijkste gesprekspunt bij SEBIA.</a:t>
            </a:r>
          </a:p>
          <a:p/>
          <a:p>
            <a:r>
              <a:t>INTERACTIE</a:t>
            </a:r>
          </a:p>
          <a:p>
            <a:r>
              <a:t>Vraag wat zij schatten bij hun eigen patiënten.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het scharnier van blok 1. Wie dit snapt, snapt waarom de meting én de sensor allebei moeten kloppen.</a:t>
            </a:r>
          </a:p>
          <a:p/>
          <a:p>
            <a:r>
              <a:t>INTERACTIE</a:t>
            </a:r>
          </a:p>
          <a:p>
            <a:r>
              <a:t>Morph: de drie tegels komen samen uit één punt.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De meest gemaakte fout is één meting per voet. Het protocol vraagt er drie, en het gemiddelde telt.</a:t>
            </a:r>
          </a:p>
          <a:p/>
          <a:p>
            <a:r>
              <a:t>INTERACTIE</a:t>
            </a:r>
          </a:p>
          <a:p>
            <a:r>
              <a:t>Vraag wie al blootsvoets gemeten heeft met sensoren op de voet.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Uit deze acht kiest u er drie om te ontlasten: de regio met de ulcusvoorgeschiedenis, plus één of twee met de hoogste piekdruk. Die drie legt u vast — daarop wordt de norm getoetst.</a:t>
            </a:r>
          </a:p>
          <a:p/>
          <a:p>
            <a:r>
              <a:t>INTERACTIE</a:t>
            </a:r>
          </a:p>
          <a:p>
            <a:r>
              <a:t>Laat ze op deze dia aanwijzen welke drie zij zouden kiezen.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Zeg expliciet: "óf". Twee wegen naar dezelfde norm, geen dubbele eis. En de vergelijking gebeurt per regio, niet over de hele voet.</a:t>
            </a:r>
          </a:p>
          <a:p/>
          <a:p>
            <a:r>
              <a:t>INTERACTIE</a:t>
            </a:r>
          </a:p>
          <a:p>
            <a:r>
              <a:t>Vraag de pedorthisten hoeveel aanpassingsrondes realistisch zijn.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Zeg deze twee zinnen en zwijg dan. Laat de dia staan tot iemand ongemakkelijk wordt. Dit is het enige moment in blok 2 waarop de zaal niets te lezen heeft.</a:t>
            </a:r>
          </a:p>
          <a:p/>
          <a:p>
            <a:r>
              <a:t>INTERACTIE</a:t>
            </a:r>
          </a:p>
          <a:p>
            <a:r>
              <a:t>Geen. Bewust 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waar in de praktijk de meeste fouten gemaakt worden. Loop de drie condities traag door en benoem dat conditie 2 vaak vergeten wordt. Dezelfde drie condities komen terug op maand 6, 12 en 18.</a:t>
            </a:r>
          </a:p>
          <a:p/>
          <a:p>
            <a:r>
              <a:t>INTERACTIE</a:t>
            </a:r>
          </a:p>
          <a:p>
            <a:r>
              <a:t>Vraag: "wie meet er vandaag al in de schoen zonder zool?"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Geef eerst het overzicht. De volgende dia's lopen elk moment af.</a:t>
            </a:r>
          </a:p>
          <a:p/>
          <a:p>
            <a:r>
              <a:t>INTERACTIE</a:t>
            </a:r>
          </a:p>
          <a:p>
            <a:r>
              <a:t>Geen. De detaildia's komen hierna.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Twee criteria worden het vaakst gemist: de resectie mag niet de eerste metatarsaalkop betreffen, en een enkel-voetorthese sluit uit omdat de sensoren er niet in passen.</a:t>
            </a:r>
          </a:p>
          <a:p/>
          <a:p>
            <a:r>
              <a:t>INTERACTIE</a:t>
            </a:r>
          </a:p>
          <a:p>
            <a:r>
              <a:t>Vraag per criterium of het in hun patiëntenbestand vaak voorkomt.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Sluit blok 3 hiermee af. De zaal herkent de dia van het begin.</a:t>
            </a:r>
          </a:p>
          <a:p/>
          <a:p>
            <a:r>
              <a:t>INTERACTIE</a:t>
            </a:r>
          </a:p>
          <a:p>
            <a:r>
              <a:t>Vraag welk moment hun het meest zorgen baart.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Benoem dat de Orthotimer géén GPS, microfoon of camera heeft. Die vraag komt gegarandeerd.</a:t>
            </a:r>
          </a:p>
          <a:p/>
          <a:p>
            <a:r>
              <a:t>INTERACTIE</a:t>
            </a:r>
          </a:p>
          <a:p>
            <a:r>
              <a:t>Laat de toestellen rondgaan. Fysiek werkt beter dan een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even staan zonder te praten. De sensor is fysiek zo klein dat het beeld het argument al maakt.</a:t>
            </a:r>
          </a:p>
          <a:p/>
          <a:p>
            <a:r>
              <a:t>INTERACTIE</a:t>
            </a:r>
          </a:p>
          <a:p>
            <a:r>
              <a:t>Geef er een door de zaal terwijl u praat.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script begint met toestemming vragen voor het gesprek zelf, en duurt twintig tot dertig minuten. Wie nee zegt, krijgt de brochure mee en een nieuwe afspraak.</a:t>
            </a:r>
          </a:p>
          <a:p/>
          <a:p>
            <a:r>
              <a:t>INTERACTIE</a:t>
            </a:r>
          </a:p>
          <a:p>
            <a:r>
              <a:t>Rollenspel van twee minuten met een vrijwilliger uit de zaal.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waar u stilvalt. Geen haast. Vraag of het helder is voordat u doorgaat.</a:t>
            </a:r>
          </a:p>
          <a:p/>
          <a:p>
            <a:r>
              <a:t>INTERACTIE</a:t>
            </a:r>
          </a:p>
          <a:p>
            <a:r>
              <a:t>Laat iemand het in eigen woorden herhalen. Zo weet u of het 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staan tijdens het napraten. Zeg erbij dat kleine dingen ook mogen — een sensor die niet uitleest is geen domme vraag.</a:t>
            </a:r>
          </a:p>
          <a:p/>
          <a:p>
            <a:r>
              <a:t>INTERACTIE</a:t>
            </a:r>
          </a:p>
          <a:p>
            <a:r>
              <a:t>Loop rond terwijl de dia staat. Wie een vraag heeft, komt naar het gezicht dat op het scherm staat.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fotokader" descr="plaatshou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80990"/>
            <a:ext cx="12191695" cy="761980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10000"/>
                </a:srgbClr>
              </a:gs>
              <a:gs pos="62000">
                <a:srgbClr val="04182A">
                  <a:alpha val="96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087" y="609584"/>
            <a:ext cx="801273" cy="927076"/>
          </a:xfrm>
          <a:prstGeom prst="rect">
            <a:avLst/>
          </a:prstGeom>
        </p:spPr>
      </p:pic>
      <p:sp>
        <p:nvSpPr>
          <p:cNvPr id="6" name="hero"/>
          <p:cNvSpPr txBox="1"/>
          <p:nvPr/>
        </p:nvSpPr>
        <p:spPr>
          <a:xfrm>
            <a:off x="634984" y="3848003"/>
            <a:ext cx="8889777" cy="165095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400" b="1">
                <a:solidFill>
                  <a:srgbClr val="F2F8FC"/>
                </a:solidFill>
                <a:latin typeface="Segoe UI"/>
              </a:rPr>
              <a:t>PARADISE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083" y="5397365"/>
            <a:ext cx="888977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Segoe UI"/>
              </a:rPr>
              <a:t>Studieopzet · wetenschappelijke sessie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984" y="5879952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4984" y="6045048"/>
            <a:ext cx="1685893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uleuv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380" y="6152996"/>
            <a:ext cx="1381100" cy="39369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574870" y="6045048"/>
            <a:ext cx="1420884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u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7267" y="6152996"/>
            <a:ext cx="1116092" cy="39369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49749" y="6095847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FWO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2449" y="6349841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TBM T000226N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1822" y="6565735"/>
            <a:ext cx="4571885" cy="19049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Protocolversie 1.0 · 17 mei 2026 · S71769</a:t>
            </a:r>
          </a:p>
        </p:txBody>
      </p:sp>
    </p:spTree>
  </p:cSld>
  <p:clrMapOvr>
    <a:masterClrMapping/>
  </p:clrMapOvr>
  <p:transition xmlns:p14="http://schemas.microsoft.com/office/powerpoint/2010/main" spd="slow" p14:dur="9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WAAR WE STAAN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144 patiënten, 24 per centrum</a:t>
            </a:r>
          </a:p>
        </p:txBody>
      </p:sp>
      <p:sp>
        <p:nvSpPr>
          <p:cNvPr id="5" name="Oval 4"/>
          <p:cNvSpPr/>
          <p:nvPr/>
        </p:nvSpPr>
        <p:spPr>
          <a:xfrm>
            <a:off x="634984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6278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7572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58866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0015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4145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8274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2404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6533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0662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792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8921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051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7180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1309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5439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9568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3698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7827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21956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086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0215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94345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18474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4984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6278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17572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58866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0015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4145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8274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32404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56533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80662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04792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28921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53051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7180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01309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5439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49568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3698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97827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21956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46086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70215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94345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18474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4984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76278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17572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358866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60015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84145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08274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32404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56533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80662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04792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28921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53051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77180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01309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25439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49568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73698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97827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21956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46086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70215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94345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18474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34984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76278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7572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58866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60015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84145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08274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32404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56533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80662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04792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28921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53051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77180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01309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25439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49568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698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97827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21956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46086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70215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94345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18474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34984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76278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17572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358866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60015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84145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08274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32404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6533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80662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04792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28921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53051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77180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01309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25439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49568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73698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97827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21956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46086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70215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94345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18474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34984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6278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17572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358866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60015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84145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208274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32404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56533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80662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04792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28921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53051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77180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401309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25439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449568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73698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97827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521956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46086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570215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94345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18474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34984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52BDEC"/>
                </a:solidFill>
                <a:latin typeface="Consolas"/>
              </a:rPr>
              <a:t>72 PARADISE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412939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FF7A00"/>
                </a:solidFill>
                <a:latin typeface="Consolas"/>
              </a:rPr>
              <a:t>72 GEBRUIKELIJKE ZORG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857828" y="1816054"/>
            <a:ext cx="4698882" cy="1587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Elke stip is een patiënt die u zelf includeert.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3000" b="1">
                <a:solidFill>
                  <a:srgbClr val="F2F8FC"/>
                </a:solidFill>
                <a:latin typeface="Segoe UI"/>
              </a:rPr>
              <a:t>24 per kliniek.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34984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25479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PER CENTRUM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5479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24 deelnemers — 12 PARADISE en 12 gebruikelijke zorg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171918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362413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CONTROLEGROEP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362413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Gebruikelijke zorg, onveranderd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34984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25479" y="464808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CO-PRIMAIR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5479" y="488937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Recidief én draagtijd, beide op 18 maanden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171918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362413" y="464808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POSITIEF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362413" y="488937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Alleen als béíde eindpunten halen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34984" y="544816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34984" y="5575160"/>
            <a:ext cx="571485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8FB6D0"/>
                </a:solidFill>
                <a:latin typeface="Consolas"/>
              </a:rPr>
              <a:t>DE ZES DEELNEMENDE VOETKLINIEKEN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34984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34984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AZORG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463738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63738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Sint-Jan Brugge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4292492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4292492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Groeninge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1246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121246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Gent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7950001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950001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Leuven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9778755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9778755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Antwerpen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02 / 22</a:t>
            </a:r>
          </a:p>
        </p:txBody>
      </p:sp>
      <p:pic>
        <p:nvPicPr>
          <p:cNvPr id="17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01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Waarom zo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Vier cijfers verklaren waarom er twee normen zijn.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03 / 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FF7A0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FF7A00"/>
                </a:solidFill>
                <a:latin typeface="Segoe UI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F7A00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krijgt binnen een jaar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een nieuw ulcus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7563" y="1142971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0758" y="1320766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3458" y="1930351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DRIE JAAR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7563" y="2514537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758" y="2692332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3458" y="3301917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VIJF JAAR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7563" y="3886102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758" y="4063898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2,5×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3458" y="4673483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HOGERE STERFTE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Armstrong, Boulton &amp; Bus · N Engl J Med 2017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04 / 22</a:t>
            </a:r>
          </a:p>
        </p:txBody>
      </p:sp>
      <p:pic>
        <p:nvPicPr>
          <p:cNvPr id="18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DEZELFDE SCHOEN, TWEE UITKOMSTEN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Waarom druk alléén niet volstaat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28754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1993850"/>
            <a:ext cx="380990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Iedereen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683" y="2349441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intention-to-treat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" y="2768530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Gewone maatzool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93930" y="2717732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93930" y="2717732"/>
            <a:ext cx="6062320" cy="292092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05752" y="2692332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8FB6D0"/>
                </a:solidFill>
                <a:latin typeface="Segoe UI"/>
              </a:rPr>
              <a:t>44,2%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" y="3187620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Drukgeoptimaliseerd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3930" y="3136821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93930" y="3136821"/>
            <a:ext cx="5321674" cy="292092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5752" y="3111422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F7A00"/>
                </a:solidFill>
                <a:latin typeface="Segoe UI"/>
              </a:rPr>
              <a:t>38,8%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3568610"/>
            <a:ext cx="571485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7A00"/>
                </a:solidFill>
                <a:latin typeface="Segoe UI"/>
              </a:rPr>
              <a:t>Geen verschil — p = 0,48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984" y="4089297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984" y="4254393"/>
            <a:ext cx="380990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Wie hem droeg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683" y="4609984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≥ 80% van de stappen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984" y="5029074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Gewone maatzool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93930" y="497827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793930" y="4978275"/>
            <a:ext cx="6556084" cy="292092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5752" y="4952876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8FB6D0"/>
                </a:solidFill>
                <a:latin typeface="Segoe UI"/>
              </a:rPr>
              <a:t>47,8%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984" y="5448163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Drukgeoptimaliseerd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93930" y="539736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793930" y="5397365"/>
            <a:ext cx="3524923" cy="292092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05752" y="5371965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Segoe UI"/>
              </a:rPr>
              <a:t>25,7%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984" y="5829154"/>
            <a:ext cx="571485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Segoe UI"/>
              </a:rPr>
              <a:t>Bijna gehalveerd — p = 0,045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4857" y="5930751"/>
            <a:ext cx="584185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Daarom meten we niet alleen druk, maar ook draagtijd.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Bus et al. · Diabetes Care 2013 · DIAFOS, 171 deelnemers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05 / 22</a:t>
            </a:r>
          </a:p>
        </p:txBody>
      </p:sp>
      <p:pic>
        <p:nvPicPr>
          <p:cNvPr id="3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52BDEC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52BDEC"/>
                </a:solidFill>
                <a:latin typeface="Segoe UI"/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52BDEC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draagtijd — gemeten,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niet gevraagd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1" y="1904952"/>
            <a:ext cx="507987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140">
                <a:solidFill>
                  <a:srgbClr val="8FB6D0"/>
                </a:solidFill>
                <a:latin typeface="Consolas"/>
              </a:rPr>
              <a:t>DRAAGTIJD TEGENOVER DE NORM VAN 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1" y="2222444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Gemiddeld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49841" y="2489137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49841" y="2489137"/>
            <a:ext cx="3155871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21726" y="2463738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71%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1" y="2971725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Thuis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49841" y="3238419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49841" y="3238419"/>
            <a:ext cx="2711382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21726" y="3213019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61%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1" y="3721006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Buitenshuis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9841" y="3987700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9841" y="3987700"/>
            <a:ext cx="3867053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21726" y="3962300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87%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05752" y="2184345"/>
            <a:ext cx="19049" cy="220974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0768" y="4470288"/>
            <a:ext cx="126996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7A00"/>
                </a:solidFill>
                <a:latin typeface="Consolas"/>
              </a:rPr>
              <a:t>norm 80%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Waaijman et al. · Diabetes Care 2013 · 107 patiënten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06 / 22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MECHANISME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Belasting is een product,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4000" b="1">
                <a:solidFill>
                  <a:srgbClr val="F2F8FC"/>
                </a:solidFill>
                <a:latin typeface="Segoe UI"/>
              </a:rPr>
              <a:t>geen optelsom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Piekdruk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per stap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547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47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9085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627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676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Activiteit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676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stappen per dag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676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676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8FB6D0"/>
                </a:solidFill>
                <a:latin typeface="Consolas"/>
              </a:rPr>
              <a:t>GEMETEN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0374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756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8058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Draagtijd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8058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wérd hij gedragen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08058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8058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4889377"/>
            <a:ext cx="10921726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8FB6D0"/>
                </a:solidFill>
                <a:latin typeface="Segoe UI"/>
              </a:rPr>
              <a:t>Eén factor op nul maakt het product nul. Daarom heeft PARADISE twee normen: een druknorm én een draagtijdnorm.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07 / 22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02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De meting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Wat u meet, hoe u het meet, en wanneer het goed genoeg 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08 / 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BASELINE · BLOOTSVOETS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Elke sensor een cijfer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F7A00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op metatarsaal 2-3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Norm:  &lt; 200 kPa   óf   ≥ 25% lager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Baseline meet u blootsvoets: de sensoren gaan met dubbelzijdige tape rechtstreeks op de voet, daarover een standaardkous.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Drie metingen per voet, links en rechts apart. Daaruit berekent de software één gemiddeld piekdrukbeeld.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09 · Meting plantaire druk, baseline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09 / 22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00_07"/>
          <p:cNvSpPr/>
          <p:nvPr/>
        </p:nvSpPr>
        <p:spPr>
          <a:xfrm>
            <a:off x="242690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p00_08"/>
          <p:cNvSpPr/>
          <p:nvPr/>
        </p:nvSpPr>
        <p:spPr>
          <a:xfrm>
            <a:off x="283964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00_09"/>
          <p:cNvSpPr/>
          <p:nvPr/>
        </p:nvSpPr>
        <p:spPr>
          <a:xfrm>
            <a:off x="325238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10"/>
          <p:cNvSpPr/>
          <p:nvPr/>
        </p:nvSpPr>
        <p:spPr>
          <a:xfrm>
            <a:off x="366512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1_06"/>
          <p:cNvSpPr/>
          <p:nvPr/>
        </p:nvSpPr>
        <p:spPr>
          <a:xfrm>
            <a:off x="2014166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1_07"/>
          <p:cNvSpPr/>
          <p:nvPr/>
        </p:nvSpPr>
        <p:spPr>
          <a:xfrm>
            <a:off x="242690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8"/>
          <p:cNvSpPr/>
          <p:nvPr/>
        </p:nvSpPr>
        <p:spPr>
          <a:xfrm>
            <a:off x="283964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9"/>
          <p:cNvSpPr/>
          <p:nvPr/>
        </p:nvSpPr>
        <p:spPr>
          <a:xfrm>
            <a:off x="325238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10"/>
          <p:cNvSpPr/>
          <p:nvPr/>
        </p:nvSpPr>
        <p:spPr>
          <a:xfrm>
            <a:off x="366512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11"/>
          <p:cNvSpPr/>
          <p:nvPr/>
        </p:nvSpPr>
        <p:spPr>
          <a:xfrm>
            <a:off x="4077864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2_05"/>
          <p:cNvSpPr/>
          <p:nvPr/>
        </p:nvSpPr>
        <p:spPr>
          <a:xfrm>
            <a:off x="1601426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2_06"/>
          <p:cNvSpPr/>
          <p:nvPr/>
        </p:nvSpPr>
        <p:spPr>
          <a:xfrm>
            <a:off x="2014166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7"/>
          <p:cNvSpPr/>
          <p:nvPr/>
        </p:nvSpPr>
        <p:spPr>
          <a:xfrm>
            <a:off x="242690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8"/>
          <p:cNvSpPr/>
          <p:nvPr/>
        </p:nvSpPr>
        <p:spPr>
          <a:xfrm>
            <a:off x="283964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9"/>
          <p:cNvSpPr/>
          <p:nvPr/>
        </p:nvSpPr>
        <p:spPr>
          <a:xfrm>
            <a:off x="325238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10"/>
          <p:cNvSpPr/>
          <p:nvPr/>
        </p:nvSpPr>
        <p:spPr>
          <a:xfrm>
            <a:off x="366512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11"/>
          <p:cNvSpPr/>
          <p:nvPr/>
        </p:nvSpPr>
        <p:spPr>
          <a:xfrm>
            <a:off x="4077864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2"/>
          <p:cNvSpPr/>
          <p:nvPr/>
        </p:nvSpPr>
        <p:spPr>
          <a:xfrm>
            <a:off x="4490604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3_05"/>
          <p:cNvSpPr/>
          <p:nvPr/>
        </p:nvSpPr>
        <p:spPr>
          <a:xfrm>
            <a:off x="1601426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3_06"/>
          <p:cNvSpPr/>
          <p:nvPr/>
        </p:nvSpPr>
        <p:spPr>
          <a:xfrm>
            <a:off x="2014166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7"/>
          <p:cNvSpPr/>
          <p:nvPr/>
        </p:nvSpPr>
        <p:spPr>
          <a:xfrm>
            <a:off x="242690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8"/>
          <p:cNvSpPr/>
          <p:nvPr/>
        </p:nvSpPr>
        <p:spPr>
          <a:xfrm>
            <a:off x="283964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9"/>
          <p:cNvSpPr/>
          <p:nvPr/>
        </p:nvSpPr>
        <p:spPr>
          <a:xfrm>
            <a:off x="325238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10"/>
          <p:cNvSpPr/>
          <p:nvPr/>
        </p:nvSpPr>
        <p:spPr>
          <a:xfrm>
            <a:off x="366512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11"/>
          <p:cNvSpPr/>
          <p:nvPr/>
        </p:nvSpPr>
        <p:spPr>
          <a:xfrm>
            <a:off x="4077864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2"/>
          <p:cNvSpPr/>
          <p:nvPr/>
        </p:nvSpPr>
        <p:spPr>
          <a:xfrm>
            <a:off x="4490604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4_05"/>
          <p:cNvSpPr/>
          <p:nvPr/>
        </p:nvSpPr>
        <p:spPr>
          <a:xfrm>
            <a:off x="1601426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4_06"/>
          <p:cNvSpPr/>
          <p:nvPr/>
        </p:nvSpPr>
        <p:spPr>
          <a:xfrm>
            <a:off x="2014166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7"/>
          <p:cNvSpPr/>
          <p:nvPr/>
        </p:nvSpPr>
        <p:spPr>
          <a:xfrm>
            <a:off x="242690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8"/>
          <p:cNvSpPr/>
          <p:nvPr/>
        </p:nvSpPr>
        <p:spPr>
          <a:xfrm>
            <a:off x="283964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9"/>
          <p:cNvSpPr/>
          <p:nvPr/>
        </p:nvSpPr>
        <p:spPr>
          <a:xfrm>
            <a:off x="325238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10"/>
          <p:cNvSpPr/>
          <p:nvPr/>
        </p:nvSpPr>
        <p:spPr>
          <a:xfrm>
            <a:off x="366512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11"/>
          <p:cNvSpPr/>
          <p:nvPr/>
        </p:nvSpPr>
        <p:spPr>
          <a:xfrm>
            <a:off x="4077864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2"/>
          <p:cNvSpPr/>
          <p:nvPr/>
        </p:nvSpPr>
        <p:spPr>
          <a:xfrm>
            <a:off x="4490604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5_05"/>
          <p:cNvSpPr/>
          <p:nvPr/>
        </p:nvSpPr>
        <p:spPr>
          <a:xfrm>
            <a:off x="1601426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5_06"/>
          <p:cNvSpPr/>
          <p:nvPr/>
        </p:nvSpPr>
        <p:spPr>
          <a:xfrm>
            <a:off x="2014166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7"/>
          <p:cNvSpPr/>
          <p:nvPr/>
        </p:nvSpPr>
        <p:spPr>
          <a:xfrm>
            <a:off x="242690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8"/>
          <p:cNvSpPr/>
          <p:nvPr/>
        </p:nvSpPr>
        <p:spPr>
          <a:xfrm>
            <a:off x="283964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9"/>
          <p:cNvSpPr/>
          <p:nvPr/>
        </p:nvSpPr>
        <p:spPr>
          <a:xfrm>
            <a:off x="325238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10"/>
          <p:cNvSpPr/>
          <p:nvPr/>
        </p:nvSpPr>
        <p:spPr>
          <a:xfrm>
            <a:off x="366512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11"/>
          <p:cNvSpPr/>
          <p:nvPr/>
        </p:nvSpPr>
        <p:spPr>
          <a:xfrm>
            <a:off x="4077864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2"/>
          <p:cNvSpPr/>
          <p:nvPr/>
        </p:nvSpPr>
        <p:spPr>
          <a:xfrm>
            <a:off x="4490604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6_05"/>
          <p:cNvSpPr/>
          <p:nvPr/>
        </p:nvSpPr>
        <p:spPr>
          <a:xfrm>
            <a:off x="1601426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6_06"/>
          <p:cNvSpPr/>
          <p:nvPr/>
        </p:nvSpPr>
        <p:spPr>
          <a:xfrm>
            <a:off x="2014166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7"/>
          <p:cNvSpPr/>
          <p:nvPr/>
        </p:nvSpPr>
        <p:spPr>
          <a:xfrm>
            <a:off x="242690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8"/>
          <p:cNvSpPr/>
          <p:nvPr/>
        </p:nvSpPr>
        <p:spPr>
          <a:xfrm>
            <a:off x="283964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9"/>
          <p:cNvSpPr/>
          <p:nvPr/>
        </p:nvSpPr>
        <p:spPr>
          <a:xfrm>
            <a:off x="325238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10"/>
          <p:cNvSpPr/>
          <p:nvPr/>
        </p:nvSpPr>
        <p:spPr>
          <a:xfrm>
            <a:off x="366512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11"/>
          <p:cNvSpPr/>
          <p:nvPr/>
        </p:nvSpPr>
        <p:spPr>
          <a:xfrm>
            <a:off x="4077864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2"/>
          <p:cNvSpPr/>
          <p:nvPr/>
        </p:nvSpPr>
        <p:spPr>
          <a:xfrm>
            <a:off x="4490604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7_05"/>
          <p:cNvSpPr/>
          <p:nvPr/>
        </p:nvSpPr>
        <p:spPr>
          <a:xfrm>
            <a:off x="1601426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7_06"/>
          <p:cNvSpPr/>
          <p:nvPr/>
        </p:nvSpPr>
        <p:spPr>
          <a:xfrm>
            <a:off x="2014166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7"/>
          <p:cNvSpPr/>
          <p:nvPr/>
        </p:nvSpPr>
        <p:spPr>
          <a:xfrm>
            <a:off x="242690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8"/>
          <p:cNvSpPr/>
          <p:nvPr/>
        </p:nvSpPr>
        <p:spPr>
          <a:xfrm>
            <a:off x="283964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9"/>
          <p:cNvSpPr/>
          <p:nvPr/>
        </p:nvSpPr>
        <p:spPr>
          <a:xfrm>
            <a:off x="325238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10"/>
          <p:cNvSpPr/>
          <p:nvPr/>
        </p:nvSpPr>
        <p:spPr>
          <a:xfrm>
            <a:off x="366512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11"/>
          <p:cNvSpPr/>
          <p:nvPr/>
        </p:nvSpPr>
        <p:spPr>
          <a:xfrm>
            <a:off x="4077864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2"/>
          <p:cNvSpPr/>
          <p:nvPr/>
        </p:nvSpPr>
        <p:spPr>
          <a:xfrm>
            <a:off x="4490604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8_05"/>
          <p:cNvSpPr/>
          <p:nvPr/>
        </p:nvSpPr>
        <p:spPr>
          <a:xfrm>
            <a:off x="1601426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8_06"/>
          <p:cNvSpPr/>
          <p:nvPr/>
        </p:nvSpPr>
        <p:spPr>
          <a:xfrm>
            <a:off x="2014166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7"/>
          <p:cNvSpPr/>
          <p:nvPr/>
        </p:nvSpPr>
        <p:spPr>
          <a:xfrm>
            <a:off x="242690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8"/>
          <p:cNvSpPr/>
          <p:nvPr/>
        </p:nvSpPr>
        <p:spPr>
          <a:xfrm>
            <a:off x="283964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9"/>
          <p:cNvSpPr/>
          <p:nvPr/>
        </p:nvSpPr>
        <p:spPr>
          <a:xfrm>
            <a:off x="325238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10"/>
          <p:cNvSpPr/>
          <p:nvPr/>
        </p:nvSpPr>
        <p:spPr>
          <a:xfrm>
            <a:off x="366512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11"/>
          <p:cNvSpPr/>
          <p:nvPr/>
        </p:nvSpPr>
        <p:spPr>
          <a:xfrm>
            <a:off x="4077864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2"/>
          <p:cNvSpPr/>
          <p:nvPr/>
        </p:nvSpPr>
        <p:spPr>
          <a:xfrm>
            <a:off x="4490604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9_05"/>
          <p:cNvSpPr/>
          <p:nvPr/>
        </p:nvSpPr>
        <p:spPr>
          <a:xfrm>
            <a:off x="1601426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9_06"/>
          <p:cNvSpPr/>
          <p:nvPr/>
        </p:nvSpPr>
        <p:spPr>
          <a:xfrm>
            <a:off x="2014166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7"/>
          <p:cNvSpPr/>
          <p:nvPr/>
        </p:nvSpPr>
        <p:spPr>
          <a:xfrm>
            <a:off x="242690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8"/>
          <p:cNvSpPr/>
          <p:nvPr/>
        </p:nvSpPr>
        <p:spPr>
          <a:xfrm>
            <a:off x="283964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9"/>
          <p:cNvSpPr/>
          <p:nvPr/>
        </p:nvSpPr>
        <p:spPr>
          <a:xfrm>
            <a:off x="325238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10"/>
          <p:cNvSpPr/>
          <p:nvPr/>
        </p:nvSpPr>
        <p:spPr>
          <a:xfrm>
            <a:off x="366512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11"/>
          <p:cNvSpPr/>
          <p:nvPr/>
        </p:nvSpPr>
        <p:spPr>
          <a:xfrm>
            <a:off x="4077864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2"/>
          <p:cNvSpPr/>
          <p:nvPr/>
        </p:nvSpPr>
        <p:spPr>
          <a:xfrm>
            <a:off x="4490604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10_06"/>
          <p:cNvSpPr/>
          <p:nvPr/>
        </p:nvSpPr>
        <p:spPr>
          <a:xfrm>
            <a:off x="2014166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10_07"/>
          <p:cNvSpPr/>
          <p:nvPr/>
        </p:nvSpPr>
        <p:spPr>
          <a:xfrm>
            <a:off x="242690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8"/>
          <p:cNvSpPr/>
          <p:nvPr/>
        </p:nvSpPr>
        <p:spPr>
          <a:xfrm>
            <a:off x="283964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9"/>
          <p:cNvSpPr/>
          <p:nvPr/>
        </p:nvSpPr>
        <p:spPr>
          <a:xfrm>
            <a:off x="325238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10"/>
          <p:cNvSpPr/>
          <p:nvPr/>
        </p:nvSpPr>
        <p:spPr>
          <a:xfrm>
            <a:off x="366512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11"/>
          <p:cNvSpPr/>
          <p:nvPr/>
        </p:nvSpPr>
        <p:spPr>
          <a:xfrm>
            <a:off x="4077864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2"/>
          <p:cNvSpPr/>
          <p:nvPr/>
        </p:nvSpPr>
        <p:spPr>
          <a:xfrm>
            <a:off x="4490604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1_06"/>
          <p:cNvSpPr/>
          <p:nvPr/>
        </p:nvSpPr>
        <p:spPr>
          <a:xfrm>
            <a:off x="2014166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1_07"/>
          <p:cNvSpPr/>
          <p:nvPr/>
        </p:nvSpPr>
        <p:spPr>
          <a:xfrm>
            <a:off x="242690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8"/>
          <p:cNvSpPr/>
          <p:nvPr/>
        </p:nvSpPr>
        <p:spPr>
          <a:xfrm>
            <a:off x="283964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9"/>
          <p:cNvSpPr/>
          <p:nvPr/>
        </p:nvSpPr>
        <p:spPr>
          <a:xfrm>
            <a:off x="325238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10"/>
          <p:cNvSpPr/>
          <p:nvPr/>
        </p:nvSpPr>
        <p:spPr>
          <a:xfrm>
            <a:off x="366512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11"/>
          <p:cNvSpPr/>
          <p:nvPr/>
        </p:nvSpPr>
        <p:spPr>
          <a:xfrm>
            <a:off x="4077864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2"/>
          <p:cNvSpPr/>
          <p:nvPr/>
        </p:nvSpPr>
        <p:spPr>
          <a:xfrm>
            <a:off x="4490604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2_06"/>
          <p:cNvSpPr/>
          <p:nvPr/>
        </p:nvSpPr>
        <p:spPr>
          <a:xfrm>
            <a:off x="2014166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2_07"/>
          <p:cNvSpPr/>
          <p:nvPr/>
        </p:nvSpPr>
        <p:spPr>
          <a:xfrm>
            <a:off x="242690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8"/>
          <p:cNvSpPr/>
          <p:nvPr/>
        </p:nvSpPr>
        <p:spPr>
          <a:xfrm>
            <a:off x="283964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9"/>
          <p:cNvSpPr/>
          <p:nvPr/>
        </p:nvSpPr>
        <p:spPr>
          <a:xfrm>
            <a:off x="325238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10"/>
          <p:cNvSpPr/>
          <p:nvPr/>
        </p:nvSpPr>
        <p:spPr>
          <a:xfrm>
            <a:off x="366512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11"/>
          <p:cNvSpPr/>
          <p:nvPr/>
        </p:nvSpPr>
        <p:spPr>
          <a:xfrm>
            <a:off x="4077864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2"/>
          <p:cNvSpPr/>
          <p:nvPr/>
        </p:nvSpPr>
        <p:spPr>
          <a:xfrm>
            <a:off x="4490604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3_06"/>
          <p:cNvSpPr/>
          <p:nvPr/>
        </p:nvSpPr>
        <p:spPr>
          <a:xfrm>
            <a:off x="2014166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3_07"/>
          <p:cNvSpPr/>
          <p:nvPr/>
        </p:nvSpPr>
        <p:spPr>
          <a:xfrm>
            <a:off x="242690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8"/>
          <p:cNvSpPr/>
          <p:nvPr/>
        </p:nvSpPr>
        <p:spPr>
          <a:xfrm>
            <a:off x="283964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9"/>
          <p:cNvSpPr/>
          <p:nvPr/>
        </p:nvSpPr>
        <p:spPr>
          <a:xfrm>
            <a:off x="325238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10"/>
          <p:cNvSpPr/>
          <p:nvPr/>
        </p:nvSpPr>
        <p:spPr>
          <a:xfrm>
            <a:off x="366512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11"/>
          <p:cNvSpPr/>
          <p:nvPr/>
        </p:nvSpPr>
        <p:spPr>
          <a:xfrm>
            <a:off x="4077864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2"/>
          <p:cNvSpPr/>
          <p:nvPr/>
        </p:nvSpPr>
        <p:spPr>
          <a:xfrm>
            <a:off x="4490604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4_06"/>
          <p:cNvSpPr/>
          <p:nvPr/>
        </p:nvSpPr>
        <p:spPr>
          <a:xfrm>
            <a:off x="2014166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4_07"/>
          <p:cNvSpPr/>
          <p:nvPr/>
        </p:nvSpPr>
        <p:spPr>
          <a:xfrm>
            <a:off x="242690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8"/>
          <p:cNvSpPr/>
          <p:nvPr/>
        </p:nvSpPr>
        <p:spPr>
          <a:xfrm>
            <a:off x="283964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9"/>
          <p:cNvSpPr/>
          <p:nvPr/>
        </p:nvSpPr>
        <p:spPr>
          <a:xfrm>
            <a:off x="325238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10"/>
          <p:cNvSpPr/>
          <p:nvPr/>
        </p:nvSpPr>
        <p:spPr>
          <a:xfrm>
            <a:off x="366512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11"/>
          <p:cNvSpPr/>
          <p:nvPr/>
        </p:nvSpPr>
        <p:spPr>
          <a:xfrm>
            <a:off x="4077864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2"/>
          <p:cNvSpPr/>
          <p:nvPr/>
        </p:nvSpPr>
        <p:spPr>
          <a:xfrm>
            <a:off x="4490604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5_07"/>
          <p:cNvSpPr/>
          <p:nvPr/>
        </p:nvSpPr>
        <p:spPr>
          <a:xfrm>
            <a:off x="242690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5_08"/>
          <p:cNvSpPr/>
          <p:nvPr/>
        </p:nvSpPr>
        <p:spPr>
          <a:xfrm>
            <a:off x="283964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9"/>
          <p:cNvSpPr/>
          <p:nvPr/>
        </p:nvSpPr>
        <p:spPr>
          <a:xfrm>
            <a:off x="325238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10"/>
          <p:cNvSpPr/>
          <p:nvPr/>
        </p:nvSpPr>
        <p:spPr>
          <a:xfrm>
            <a:off x="366512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11"/>
          <p:cNvSpPr/>
          <p:nvPr/>
        </p:nvSpPr>
        <p:spPr>
          <a:xfrm>
            <a:off x="4077864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2"/>
          <p:cNvSpPr/>
          <p:nvPr/>
        </p:nvSpPr>
        <p:spPr>
          <a:xfrm>
            <a:off x="4490604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3"/>
          <p:cNvSpPr/>
          <p:nvPr/>
        </p:nvSpPr>
        <p:spPr>
          <a:xfrm>
            <a:off x="4903344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6_07"/>
          <p:cNvSpPr/>
          <p:nvPr/>
        </p:nvSpPr>
        <p:spPr>
          <a:xfrm>
            <a:off x="242690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6_08"/>
          <p:cNvSpPr/>
          <p:nvPr/>
        </p:nvSpPr>
        <p:spPr>
          <a:xfrm>
            <a:off x="283964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9"/>
          <p:cNvSpPr/>
          <p:nvPr/>
        </p:nvSpPr>
        <p:spPr>
          <a:xfrm>
            <a:off x="325238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10"/>
          <p:cNvSpPr/>
          <p:nvPr/>
        </p:nvSpPr>
        <p:spPr>
          <a:xfrm>
            <a:off x="366512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11"/>
          <p:cNvSpPr/>
          <p:nvPr/>
        </p:nvSpPr>
        <p:spPr>
          <a:xfrm>
            <a:off x="4077864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2"/>
          <p:cNvSpPr/>
          <p:nvPr/>
        </p:nvSpPr>
        <p:spPr>
          <a:xfrm>
            <a:off x="4490604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3"/>
          <p:cNvSpPr/>
          <p:nvPr/>
        </p:nvSpPr>
        <p:spPr>
          <a:xfrm>
            <a:off x="4903344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7_07"/>
          <p:cNvSpPr/>
          <p:nvPr/>
        </p:nvSpPr>
        <p:spPr>
          <a:xfrm>
            <a:off x="242690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7_08"/>
          <p:cNvSpPr/>
          <p:nvPr/>
        </p:nvSpPr>
        <p:spPr>
          <a:xfrm>
            <a:off x="283964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9"/>
          <p:cNvSpPr/>
          <p:nvPr/>
        </p:nvSpPr>
        <p:spPr>
          <a:xfrm>
            <a:off x="325238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10"/>
          <p:cNvSpPr/>
          <p:nvPr/>
        </p:nvSpPr>
        <p:spPr>
          <a:xfrm>
            <a:off x="366512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11"/>
          <p:cNvSpPr/>
          <p:nvPr/>
        </p:nvSpPr>
        <p:spPr>
          <a:xfrm>
            <a:off x="4077864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2"/>
          <p:cNvSpPr/>
          <p:nvPr/>
        </p:nvSpPr>
        <p:spPr>
          <a:xfrm>
            <a:off x="4490604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3"/>
          <p:cNvSpPr/>
          <p:nvPr/>
        </p:nvSpPr>
        <p:spPr>
          <a:xfrm>
            <a:off x="4903344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8_06"/>
          <p:cNvSpPr/>
          <p:nvPr/>
        </p:nvSpPr>
        <p:spPr>
          <a:xfrm>
            <a:off x="2014166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8_07"/>
          <p:cNvSpPr/>
          <p:nvPr/>
        </p:nvSpPr>
        <p:spPr>
          <a:xfrm>
            <a:off x="242690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8"/>
          <p:cNvSpPr/>
          <p:nvPr/>
        </p:nvSpPr>
        <p:spPr>
          <a:xfrm>
            <a:off x="283964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9"/>
          <p:cNvSpPr/>
          <p:nvPr/>
        </p:nvSpPr>
        <p:spPr>
          <a:xfrm>
            <a:off x="325238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10"/>
          <p:cNvSpPr/>
          <p:nvPr/>
        </p:nvSpPr>
        <p:spPr>
          <a:xfrm>
            <a:off x="366512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11"/>
          <p:cNvSpPr/>
          <p:nvPr/>
        </p:nvSpPr>
        <p:spPr>
          <a:xfrm>
            <a:off x="4077864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2"/>
          <p:cNvSpPr/>
          <p:nvPr/>
        </p:nvSpPr>
        <p:spPr>
          <a:xfrm>
            <a:off x="4490604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3"/>
          <p:cNvSpPr/>
          <p:nvPr/>
        </p:nvSpPr>
        <p:spPr>
          <a:xfrm>
            <a:off x="4903344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9_06"/>
          <p:cNvSpPr/>
          <p:nvPr/>
        </p:nvSpPr>
        <p:spPr>
          <a:xfrm>
            <a:off x="2014166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9_07"/>
          <p:cNvSpPr/>
          <p:nvPr/>
        </p:nvSpPr>
        <p:spPr>
          <a:xfrm>
            <a:off x="242690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8"/>
          <p:cNvSpPr/>
          <p:nvPr/>
        </p:nvSpPr>
        <p:spPr>
          <a:xfrm>
            <a:off x="283964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9"/>
          <p:cNvSpPr/>
          <p:nvPr/>
        </p:nvSpPr>
        <p:spPr>
          <a:xfrm>
            <a:off x="325238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10"/>
          <p:cNvSpPr/>
          <p:nvPr/>
        </p:nvSpPr>
        <p:spPr>
          <a:xfrm>
            <a:off x="366512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11"/>
          <p:cNvSpPr/>
          <p:nvPr/>
        </p:nvSpPr>
        <p:spPr>
          <a:xfrm>
            <a:off x="4077864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2"/>
          <p:cNvSpPr/>
          <p:nvPr/>
        </p:nvSpPr>
        <p:spPr>
          <a:xfrm>
            <a:off x="4490604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3"/>
          <p:cNvSpPr/>
          <p:nvPr/>
        </p:nvSpPr>
        <p:spPr>
          <a:xfrm>
            <a:off x="4903344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20_06"/>
          <p:cNvSpPr/>
          <p:nvPr/>
        </p:nvSpPr>
        <p:spPr>
          <a:xfrm>
            <a:off x="2014166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20_07"/>
          <p:cNvSpPr/>
          <p:nvPr/>
        </p:nvSpPr>
        <p:spPr>
          <a:xfrm>
            <a:off x="242690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8"/>
          <p:cNvSpPr/>
          <p:nvPr/>
        </p:nvSpPr>
        <p:spPr>
          <a:xfrm>
            <a:off x="283964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9"/>
          <p:cNvSpPr/>
          <p:nvPr/>
        </p:nvSpPr>
        <p:spPr>
          <a:xfrm>
            <a:off x="325238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10"/>
          <p:cNvSpPr/>
          <p:nvPr/>
        </p:nvSpPr>
        <p:spPr>
          <a:xfrm>
            <a:off x="366512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11"/>
          <p:cNvSpPr/>
          <p:nvPr/>
        </p:nvSpPr>
        <p:spPr>
          <a:xfrm>
            <a:off x="4077864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2"/>
          <p:cNvSpPr/>
          <p:nvPr/>
        </p:nvSpPr>
        <p:spPr>
          <a:xfrm>
            <a:off x="4490604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3"/>
          <p:cNvSpPr/>
          <p:nvPr/>
        </p:nvSpPr>
        <p:spPr>
          <a:xfrm>
            <a:off x="4903344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1_05"/>
          <p:cNvSpPr/>
          <p:nvPr/>
        </p:nvSpPr>
        <p:spPr>
          <a:xfrm>
            <a:off x="1601426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1_06"/>
          <p:cNvSpPr/>
          <p:nvPr/>
        </p:nvSpPr>
        <p:spPr>
          <a:xfrm>
            <a:off x="2014166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7"/>
          <p:cNvSpPr/>
          <p:nvPr/>
        </p:nvSpPr>
        <p:spPr>
          <a:xfrm>
            <a:off x="242690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8"/>
          <p:cNvSpPr/>
          <p:nvPr/>
        </p:nvSpPr>
        <p:spPr>
          <a:xfrm>
            <a:off x="283964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9"/>
          <p:cNvSpPr/>
          <p:nvPr/>
        </p:nvSpPr>
        <p:spPr>
          <a:xfrm>
            <a:off x="325238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10"/>
          <p:cNvSpPr/>
          <p:nvPr/>
        </p:nvSpPr>
        <p:spPr>
          <a:xfrm>
            <a:off x="366512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11"/>
          <p:cNvSpPr/>
          <p:nvPr/>
        </p:nvSpPr>
        <p:spPr>
          <a:xfrm>
            <a:off x="4077864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2"/>
          <p:cNvSpPr/>
          <p:nvPr/>
        </p:nvSpPr>
        <p:spPr>
          <a:xfrm>
            <a:off x="4490604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3"/>
          <p:cNvSpPr/>
          <p:nvPr/>
        </p:nvSpPr>
        <p:spPr>
          <a:xfrm>
            <a:off x="4903344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2_05"/>
          <p:cNvSpPr/>
          <p:nvPr/>
        </p:nvSpPr>
        <p:spPr>
          <a:xfrm>
            <a:off x="1601426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2_06"/>
          <p:cNvSpPr/>
          <p:nvPr/>
        </p:nvSpPr>
        <p:spPr>
          <a:xfrm>
            <a:off x="2014166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7"/>
          <p:cNvSpPr/>
          <p:nvPr/>
        </p:nvSpPr>
        <p:spPr>
          <a:xfrm>
            <a:off x="242690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8"/>
          <p:cNvSpPr/>
          <p:nvPr/>
        </p:nvSpPr>
        <p:spPr>
          <a:xfrm>
            <a:off x="283964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9"/>
          <p:cNvSpPr/>
          <p:nvPr/>
        </p:nvSpPr>
        <p:spPr>
          <a:xfrm>
            <a:off x="325238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10"/>
          <p:cNvSpPr/>
          <p:nvPr/>
        </p:nvSpPr>
        <p:spPr>
          <a:xfrm>
            <a:off x="366512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11"/>
          <p:cNvSpPr/>
          <p:nvPr/>
        </p:nvSpPr>
        <p:spPr>
          <a:xfrm>
            <a:off x="4077864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2"/>
          <p:cNvSpPr/>
          <p:nvPr/>
        </p:nvSpPr>
        <p:spPr>
          <a:xfrm>
            <a:off x="4490604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3"/>
          <p:cNvSpPr/>
          <p:nvPr/>
        </p:nvSpPr>
        <p:spPr>
          <a:xfrm>
            <a:off x="4903344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3_04"/>
          <p:cNvSpPr/>
          <p:nvPr/>
        </p:nvSpPr>
        <p:spPr>
          <a:xfrm>
            <a:off x="1188686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3_05"/>
          <p:cNvSpPr/>
          <p:nvPr/>
        </p:nvSpPr>
        <p:spPr>
          <a:xfrm>
            <a:off x="1601426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6"/>
          <p:cNvSpPr/>
          <p:nvPr/>
        </p:nvSpPr>
        <p:spPr>
          <a:xfrm>
            <a:off x="2014166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7"/>
          <p:cNvSpPr/>
          <p:nvPr/>
        </p:nvSpPr>
        <p:spPr>
          <a:xfrm>
            <a:off x="242690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8"/>
          <p:cNvSpPr/>
          <p:nvPr/>
        </p:nvSpPr>
        <p:spPr>
          <a:xfrm>
            <a:off x="283964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9"/>
          <p:cNvSpPr/>
          <p:nvPr/>
        </p:nvSpPr>
        <p:spPr>
          <a:xfrm>
            <a:off x="325238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10"/>
          <p:cNvSpPr/>
          <p:nvPr/>
        </p:nvSpPr>
        <p:spPr>
          <a:xfrm>
            <a:off x="366512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11"/>
          <p:cNvSpPr/>
          <p:nvPr/>
        </p:nvSpPr>
        <p:spPr>
          <a:xfrm>
            <a:off x="4077864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2"/>
          <p:cNvSpPr/>
          <p:nvPr/>
        </p:nvSpPr>
        <p:spPr>
          <a:xfrm>
            <a:off x="4490604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3"/>
          <p:cNvSpPr/>
          <p:nvPr/>
        </p:nvSpPr>
        <p:spPr>
          <a:xfrm>
            <a:off x="4903344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4"/>
          <p:cNvSpPr/>
          <p:nvPr/>
        </p:nvSpPr>
        <p:spPr>
          <a:xfrm>
            <a:off x="5316083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4_04"/>
          <p:cNvSpPr/>
          <p:nvPr/>
        </p:nvSpPr>
        <p:spPr>
          <a:xfrm>
            <a:off x="1188686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4_05"/>
          <p:cNvSpPr/>
          <p:nvPr/>
        </p:nvSpPr>
        <p:spPr>
          <a:xfrm>
            <a:off x="1601426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6"/>
          <p:cNvSpPr/>
          <p:nvPr/>
        </p:nvSpPr>
        <p:spPr>
          <a:xfrm>
            <a:off x="2014166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7"/>
          <p:cNvSpPr/>
          <p:nvPr/>
        </p:nvSpPr>
        <p:spPr>
          <a:xfrm>
            <a:off x="242690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8"/>
          <p:cNvSpPr/>
          <p:nvPr/>
        </p:nvSpPr>
        <p:spPr>
          <a:xfrm>
            <a:off x="283964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9"/>
          <p:cNvSpPr/>
          <p:nvPr/>
        </p:nvSpPr>
        <p:spPr>
          <a:xfrm>
            <a:off x="325238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10"/>
          <p:cNvSpPr/>
          <p:nvPr/>
        </p:nvSpPr>
        <p:spPr>
          <a:xfrm>
            <a:off x="366512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11"/>
          <p:cNvSpPr/>
          <p:nvPr/>
        </p:nvSpPr>
        <p:spPr>
          <a:xfrm>
            <a:off x="4077864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2"/>
          <p:cNvSpPr/>
          <p:nvPr/>
        </p:nvSpPr>
        <p:spPr>
          <a:xfrm>
            <a:off x="4490604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3"/>
          <p:cNvSpPr/>
          <p:nvPr/>
        </p:nvSpPr>
        <p:spPr>
          <a:xfrm>
            <a:off x="4903344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4"/>
          <p:cNvSpPr/>
          <p:nvPr/>
        </p:nvSpPr>
        <p:spPr>
          <a:xfrm>
            <a:off x="5316083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5_04"/>
          <p:cNvSpPr/>
          <p:nvPr/>
        </p:nvSpPr>
        <p:spPr>
          <a:xfrm>
            <a:off x="1188686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5_05"/>
          <p:cNvSpPr/>
          <p:nvPr/>
        </p:nvSpPr>
        <p:spPr>
          <a:xfrm>
            <a:off x="1601426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6"/>
          <p:cNvSpPr/>
          <p:nvPr/>
        </p:nvSpPr>
        <p:spPr>
          <a:xfrm>
            <a:off x="2014166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7"/>
          <p:cNvSpPr/>
          <p:nvPr/>
        </p:nvSpPr>
        <p:spPr>
          <a:xfrm>
            <a:off x="242690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8"/>
          <p:cNvSpPr/>
          <p:nvPr/>
        </p:nvSpPr>
        <p:spPr>
          <a:xfrm>
            <a:off x="283964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9"/>
          <p:cNvSpPr/>
          <p:nvPr/>
        </p:nvSpPr>
        <p:spPr>
          <a:xfrm>
            <a:off x="325238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10"/>
          <p:cNvSpPr/>
          <p:nvPr/>
        </p:nvSpPr>
        <p:spPr>
          <a:xfrm>
            <a:off x="366512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11"/>
          <p:cNvSpPr/>
          <p:nvPr/>
        </p:nvSpPr>
        <p:spPr>
          <a:xfrm>
            <a:off x="4077864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2"/>
          <p:cNvSpPr/>
          <p:nvPr/>
        </p:nvSpPr>
        <p:spPr>
          <a:xfrm>
            <a:off x="4490604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3"/>
          <p:cNvSpPr/>
          <p:nvPr/>
        </p:nvSpPr>
        <p:spPr>
          <a:xfrm>
            <a:off x="4903344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4"/>
          <p:cNvSpPr/>
          <p:nvPr/>
        </p:nvSpPr>
        <p:spPr>
          <a:xfrm>
            <a:off x="5316083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6_03"/>
          <p:cNvSpPr/>
          <p:nvPr/>
        </p:nvSpPr>
        <p:spPr>
          <a:xfrm>
            <a:off x="775947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6_04"/>
          <p:cNvSpPr/>
          <p:nvPr/>
        </p:nvSpPr>
        <p:spPr>
          <a:xfrm>
            <a:off x="1188686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5"/>
          <p:cNvSpPr/>
          <p:nvPr/>
        </p:nvSpPr>
        <p:spPr>
          <a:xfrm>
            <a:off x="1601426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6"/>
          <p:cNvSpPr/>
          <p:nvPr/>
        </p:nvSpPr>
        <p:spPr>
          <a:xfrm>
            <a:off x="2014166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7"/>
          <p:cNvSpPr/>
          <p:nvPr/>
        </p:nvSpPr>
        <p:spPr>
          <a:xfrm>
            <a:off x="242690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8"/>
          <p:cNvSpPr/>
          <p:nvPr/>
        </p:nvSpPr>
        <p:spPr>
          <a:xfrm>
            <a:off x="283964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9"/>
          <p:cNvSpPr/>
          <p:nvPr/>
        </p:nvSpPr>
        <p:spPr>
          <a:xfrm>
            <a:off x="325238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10"/>
          <p:cNvSpPr/>
          <p:nvPr/>
        </p:nvSpPr>
        <p:spPr>
          <a:xfrm>
            <a:off x="366512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11"/>
          <p:cNvSpPr/>
          <p:nvPr/>
        </p:nvSpPr>
        <p:spPr>
          <a:xfrm>
            <a:off x="4077864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2"/>
          <p:cNvSpPr/>
          <p:nvPr/>
        </p:nvSpPr>
        <p:spPr>
          <a:xfrm>
            <a:off x="4490604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3"/>
          <p:cNvSpPr/>
          <p:nvPr/>
        </p:nvSpPr>
        <p:spPr>
          <a:xfrm>
            <a:off x="4903344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4"/>
          <p:cNvSpPr/>
          <p:nvPr/>
        </p:nvSpPr>
        <p:spPr>
          <a:xfrm>
            <a:off x="5316083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7_03"/>
          <p:cNvSpPr/>
          <p:nvPr/>
        </p:nvSpPr>
        <p:spPr>
          <a:xfrm>
            <a:off x="775947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7_04"/>
          <p:cNvSpPr/>
          <p:nvPr/>
        </p:nvSpPr>
        <p:spPr>
          <a:xfrm>
            <a:off x="1188686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5"/>
          <p:cNvSpPr/>
          <p:nvPr/>
        </p:nvSpPr>
        <p:spPr>
          <a:xfrm>
            <a:off x="1601426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6"/>
          <p:cNvSpPr/>
          <p:nvPr/>
        </p:nvSpPr>
        <p:spPr>
          <a:xfrm>
            <a:off x="2014166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7"/>
          <p:cNvSpPr/>
          <p:nvPr/>
        </p:nvSpPr>
        <p:spPr>
          <a:xfrm>
            <a:off x="242690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8"/>
          <p:cNvSpPr/>
          <p:nvPr/>
        </p:nvSpPr>
        <p:spPr>
          <a:xfrm>
            <a:off x="283964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9"/>
          <p:cNvSpPr/>
          <p:nvPr/>
        </p:nvSpPr>
        <p:spPr>
          <a:xfrm>
            <a:off x="325238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10"/>
          <p:cNvSpPr/>
          <p:nvPr/>
        </p:nvSpPr>
        <p:spPr>
          <a:xfrm>
            <a:off x="366512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11"/>
          <p:cNvSpPr/>
          <p:nvPr/>
        </p:nvSpPr>
        <p:spPr>
          <a:xfrm>
            <a:off x="4077864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2"/>
          <p:cNvSpPr/>
          <p:nvPr/>
        </p:nvSpPr>
        <p:spPr>
          <a:xfrm>
            <a:off x="4490604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3"/>
          <p:cNvSpPr/>
          <p:nvPr/>
        </p:nvSpPr>
        <p:spPr>
          <a:xfrm>
            <a:off x="4903344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4"/>
          <p:cNvSpPr/>
          <p:nvPr/>
        </p:nvSpPr>
        <p:spPr>
          <a:xfrm>
            <a:off x="5316083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8_03"/>
          <p:cNvSpPr/>
          <p:nvPr/>
        </p:nvSpPr>
        <p:spPr>
          <a:xfrm>
            <a:off x="775947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8_04"/>
          <p:cNvSpPr/>
          <p:nvPr/>
        </p:nvSpPr>
        <p:spPr>
          <a:xfrm>
            <a:off x="1188686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5"/>
          <p:cNvSpPr/>
          <p:nvPr/>
        </p:nvSpPr>
        <p:spPr>
          <a:xfrm>
            <a:off x="1601426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6"/>
          <p:cNvSpPr/>
          <p:nvPr/>
        </p:nvSpPr>
        <p:spPr>
          <a:xfrm>
            <a:off x="2014166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7"/>
          <p:cNvSpPr/>
          <p:nvPr/>
        </p:nvSpPr>
        <p:spPr>
          <a:xfrm>
            <a:off x="242690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8"/>
          <p:cNvSpPr/>
          <p:nvPr/>
        </p:nvSpPr>
        <p:spPr>
          <a:xfrm>
            <a:off x="283964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9"/>
          <p:cNvSpPr/>
          <p:nvPr/>
        </p:nvSpPr>
        <p:spPr>
          <a:xfrm>
            <a:off x="325238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10"/>
          <p:cNvSpPr/>
          <p:nvPr/>
        </p:nvSpPr>
        <p:spPr>
          <a:xfrm>
            <a:off x="366512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11"/>
          <p:cNvSpPr/>
          <p:nvPr/>
        </p:nvSpPr>
        <p:spPr>
          <a:xfrm>
            <a:off x="4077864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2"/>
          <p:cNvSpPr/>
          <p:nvPr/>
        </p:nvSpPr>
        <p:spPr>
          <a:xfrm>
            <a:off x="4490604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3"/>
          <p:cNvSpPr/>
          <p:nvPr/>
        </p:nvSpPr>
        <p:spPr>
          <a:xfrm>
            <a:off x="4903344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4"/>
          <p:cNvSpPr/>
          <p:nvPr/>
        </p:nvSpPr>
        <p:spPr>
          <a:xfrm>
            <a:off x="5316083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9_03"/>
          <p:cNvSpPr/>
          <p:nvPr/>
        </p:nvSpPr>
        <p:spPr>
          <a:xfrm>
            <a:off x="775947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9_04"/>
          <p:cNvSpPr/>
          <p:nvPr/>
        </p:nvSpPr>
        <p:spPr>
          <a:xfrm>
            <a:off x="1188686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5"/>
          <p:cNvSpPr/>
          <p:nvPr/>
        </p:nvSpPr>
        <p:spPr>
          <a:xfrm>
            <a:off x="1601426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6"/>
          <p:cNvSpPr/>
          <p:nvPr/>
        </p:nvSpPr>
        <p:spPr>
          <a:xfrm>
            <a:off x="2014166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7"/>
          <p:cNvSpPr/>
          <p:nvPr/>
        </p:nvSpPr>
        <p:spPr>
          <a:xfrm>
            <a:off x="242690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8"/>
          <p:cNvSpPr/>
          <p:nvPr/>
        </p:nvSpPr>
        <p:spPr>
          <a:xfrm>
            <a:off x="283964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9"/>
          <p:cNvSpPr/>
          <p:nvPr/>
        </p:nvSpPr>
        <p:spPr>
          <a:xfrm>
            <a:off x="325238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10"/>
          <p:cNvSpPr/>
          <p:nvPr/>
        </p:nvSpPr>
        <p:spPr>
          <a:xfrm>
            <a:off x="366512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11"/>
          <p:cNvSpPr/>
          <p:nvPr/>
        </p:nvSpPr>
        <p:spPr>
          <a:xfrm>
            <a:off x="4077864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2"/>
          <p:cNvSpPr/>
          <p:nvPr/>
        </p:nvSpPr>
        <p:spPr>
          <a:xfrm>
            <a:off x="4490604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3"/>
          <p:cNvSpPr/>
          <p:nvPr/>
        </p:nvSpPr>
        <p:spPr>
          <a:xfrm>
            <a:off x="4903344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30_03"/>
          <p:cNvSpPr/>
          <p:nvPr/>
        </p:nvSpPr>
        <p:spPr>
          <a:xfrm>
            <a:off x="775947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30_04"/>
          <p:cNvSpPr/>
          <p:nvPr/>
        </p:nvSpPr>
        <p:spPr>
          <a:xfrm>
            <a:off x="1188686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5"/>
          <p:cNvSpPr/>
          <p:nvPr/>
        </p:nvSpPr>
        <p:spPr>
          <a:xfrm>
            <a:off x="1601426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6"/>
          <p:cNvSpPr/>
          <p:nvPr/>
        </p:nvSpPr>
        <p:spPr>
          <a:xfrm>
            <a:off x="2014166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7"/>
          <p:cNvSpPr/>
          <p:nvPr/>
        </p:nvSpPr>
        <p:spPr>
          <a:xfrm>
            <a:off x="242690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8"/>
          <p:cNvSpPr/>
          <p:nvPr/>
        </p:nvSpPr>
        <p:spPr>
          <a:xfrm>
            <a:off x="283964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9"/>
          <p:cNvSpPr/>
          <p:nvPr/>
        </p:nvSpPr>
        <p:spPr>
          <a:xfrm>
            <a:off x="325238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10"/>
          <p:cNvSpPr/>
          <p:nvPr/>
        </p:nvSpPr>
        <p:spPr>
          <a:xfrm>
            <a:off x="366512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11"/>
          <p:cNvSpPr/>
          <p:nvPr/>
        </p:nvSpPr>
        <p:spPr>
          <a:xfrm>
            <a:off x="4077864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2"/>
          <p:cNvSpPr/>
          <p:nvPr/>
        </p:nvSpPr>
        <p:spPr>
          <a:xfrm>
            <a:off x="4490604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3"/>
          <p:cNvSpPr/>
          <p:nvPr/>
        </p:nvSpPr>
        <p:spPr>
          <a:xfrm>
            <a:off x="4903344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1_03"/>
          <p:cNvSpPr/>
          <p:nvPr/>
        </p:nvSpPr>
        <p:spPr>
          <a:xfrm>
            <a:off x="775947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1_04"/>
          <p:cNvSpPr/>
          <p:nvPr/>
        </p:nvSpPr>
        <p:spPr>
          <a:xfrm>
            <a:off x="1188686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5"/>
          <p:cNvSpPr/>
          <p:nvPr/>
        </p:nvSpPr>
        <p:spPr>
          <a:xfrm>
            <a:off x="1601426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6"/>
          <p:cNvSpPr/>
          <p:nvPr/>
        </p:nvSpPr>
        <p:spPr>
          <a:xfrm>
            <a:off x="2014166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7"/>
          <p:cNvSpPr/>
          <p:nvPr/>
        </p:nvSpPr>
        <p:spPr>
          <a:xfrm>
            <a:off x="242690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8"/>
          <p:cNvSpPr/>
          <p:nvPr/>
        </p:nvSpPr>
        <p:spPr>
          <a:xfrm>
            <a:off x="283964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9"/>
          <p:cNvSpPr/>
          <p:nvPr/>
        </p:nvSpPr>
        <p:spPr>
          <a:xfrm>
            <a:off x="325238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10"/>
          <p:cNvSpPr/>
          <p:nvPr/>
        </p:nvSpPr>
        <p:spPr>
          <a:xfrm>
            <a:off x="366512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11"/>
          <p:cNvSpPr/>
          <p:nvPr/>
        </p:nvSpPr>
        <p:spPr>
          <a:xfrm>
            <a:off x="4077864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2"/>
          <p:cNvSpPr/>
          <p:nvPr/>
        </p:nvSpPr>
        <p:spPr>
          <a:xfrm>
            <a:off x="4490604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3"/>
          <p:cNvSpPr/>
          <p:nvPr/>
        </p:nvSpPr>
        <p:spPr>
          <a:xfrm>
            <a:off x="4903344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2_03"/>
          <p:cNvSpPr/>
          <p:nvPr/>
        </p:nvSpPr>
        <p:spPr>
          <a:xfrm>
            <a:off x="775947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2_04"/>
          <p:cNvSpPr/>
          <p:nvPr/>
        </p:nvSpPr>
        <p:spPr>
          <a:xfrm>
            <a:off x="1188686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5"/>
          <p:cNvSpPr/>
          <p:nvPr/>
        </p:nvSpPr>
        <p:spPr>
          <a:xfrm>
            <a:off x="1601426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6"/>
          <p:cNvSpPr/>
          <p:nvPr/>
        </p:nvSpPr>
        <p:spPr>
          <a:xfrm>
            <a:off x="2014166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7"/>
          <p:cNvSpPr/>
          <p:nvPr/>
        </p:nvSpPr>
        <p:spPr>
          <a:xfrm>
            <a:off x="242690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8"/>
          <p:cNvSpPr/>
          <p:nvPr/>
        </p:nvSpPr>
        <p:spPr>
          <a:xfrm>
            <a:off x="283964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9"/>
          <p:cNvSpPr/>
          <p:nvPr/>
        </p:nvSpPr>
        <p:spPr>
          <a:xfrm>
            <a:off x="325238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10"/>
          <p:cNvSpPr/>
          <p:nvPr/>
        </p:nvSpPr>
        <p:spPr>
          <a:xfrm>
            <a:off x="366512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11"/>
          <p:cNvSpPr/>
          <p:nvPr/>
        </p:nvSpPr>
        <p:spPr>
          <a:xfrm>
            <a:off x="4077864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2"/>
          <p:cNvSpPr/>
          <p:nvPr/>
        </p:nvSpPr>
        <p:spPr>
          <a:xfrm>
            <a:off x="4490604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3_03"/>
          <p:cNvSpPr/>
          <p:nvPr/>
        </p:nvSpPr>
        <p:spPr>
          <a:xfrm>
            <a:off x="775947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3_04"/>
          <p:cNvSpPr/>
          <p:nvPr/>
        </p:nvSpPr>
        <p:spPr>
          <a:xfrm>
            <a:off x="1188686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5"/>
          <p:cNvSpPr/>
          <p:nvPr/>
        </p:nvSpPr>
        <p:spPr>
          <a:xfrm>
            <a:off x="1601426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6"/>
          <p:cNvSpPr/>
          <p:nvPr/>
        </p:nvSpPr>
        <p:spPr>
          <a:xfrm>
            <a:off x="2014166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7"/>
          <p:cNvSpPr/>
          <p:nvPr/>
        </p:nvSpPr>
        <p:spPr>
          <a:xfrm>
            <a:off x="242690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8"/>
          <p:cNvSpPr/>
          <p:nvPr/>
        </p:nvSpPr>
        <p:spPr>
          <a:xfrm>
            <a:off x="283964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9"/>
          <p:cNvSpPr/>
          <p:nvPr/>
        </p:nvSpPr>
        <p:spPr>
          <a:xfrm>
            <a:off x="325238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10"/>
          <p:cNvSpPr/>
          <p:nvPr/>
        </p:nvSpPr>
        <p:spPr>
          <a:xfrm>
            <a:off x="366512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11"/>
          <p:cNvSpPr/>
          <p:nvPr/>
        </p:nvSpPr>
        <p:spPr>
          <a:xfrm>
            <a:off x="4077864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2"/>
          <p:cNvSpPr/>
          <p:nvPr/>
        </p:nvSpPr>
        <p:spPr>
          <a:xfrm>
            <a:off x="4490604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4_03"/>
          <p:cNvSpPr/>
          <p:nvPr/>
        </p:nvSpPr>
        <p:spPr>
          <a:xfrm>
            <a:off x="775947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4_04"/>
          <p:cNvSpPr/>
          <p:nvPr/>
        </p:nvSpPr>
        <p:spPr>
          <a:xfrm>
            <a:off x="1188686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5"/>
          <p:cNvSpPr/>
          <p:nvPr/>
        </p:nvSpPr>
        <p:spPr>
          <a:xfrm>
            <a:off x="1601426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6"/>
          <p:cNvSpPr/>
          <p:nvPr/>
        </p:nvSpPr>
        <p:spPr>
          <a:xfrm>
            <a:off x="2014166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7"/>
          <p:cNvSpPr/>
          <p:nvPr/>
        </p:nvSpPr>
        <p:spPr>
          <a:xfrm>
            <a:off x="242690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8"/>
          <p:cNvSpPr/>
          <p:nvPr/>
        </p:nvSpPr>
        <p:spPr>
          <a:xfrm>
            <a:off x="283964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9"/>
          <p:cNvSpPr/>
          <p:nvPr/>
        </p:nvSpPr>
        <p:spPr>
          <a:xfrm>
            <a:off x="325238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10"/>
          <p:cNvSpPr/>
          <p:nvPr/>
        </p:nvSpPr>
        <p:spPr>
          <a:xfrm>
            <a:off x="366512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11"/>
          <p:cNvSpPr/>
          <p:nvPr/>
        </p:nvSpPr>
        <p:spPr>
          <a:xfrm>
            <a:off x="4077864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5_04"/>
          <p:cNvSpPr/>
          <p:nvPr/>
        </p:nvSpPr>
        <p:spPr>
          <a:xfrm>
            <a:off x="1188686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5_05"/>
          <p:cNvSpPr/>
          <p:nvPr/>
        </p:nvSpPr>
        <p:spPr>
          <a:xfrm>
            <a:off x="1601426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6"/>
          <p:cNvSpPr/>
          <p:nvPr/>
        </p:nvSpPr>
        <p:spPr>
          <a:xfrm>
            <a:off x="2014166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7"/>
          <p:cNvSpPr/>
          <p:nvPr/>
        </p:nvSpPr>
        <p:spPr>
          <a:xfrm>
            <a:off x="242690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8"/>
          <p:cNvSpPr/>
          <p:nvPr/>
        </p:nvSpPr>
        <p:spPr>
          <a:xfrm>
            <a:off x="283964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9"/>
          <p:cNvSpPr/>
          <p:nvPr/>
        </p:nvSpPr>
        <p:spPr>
          <a:xfrm>
            <a:off x="325238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10"/>
          <p:cNvSpPr/>
          <p:nvPr/>
        </p:nvSpPr>
        <p:spPr>
          <a:xfrm>
            <a:off x="366512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11"/>
          <p:cNvSpPr/>
          <p:nvPr/>
        </p:nvSpPr>
        <p:spPr>
          <a:xfrm>
            <a:off x="4077864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6_04"/>
          <p:cNvSpPr/>
          <p:nvPr/>
        </p:nvSpPr>
        <p:spPr>
          <a:xfrm>
            <a:off x="1188686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6_05"/>
          <p:cNvSpPr/>
          <p:nvPr/>
        </p:nvSpPr>
        <p:spPr>
          <a:xfrm>
            <a:off x="1601426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6"/>
          <p:cNvSpPr/>
          <p:nvPr/>
        </p:nvSpPr>
        <p:spPr>
          <a:xfrm>
            <a:off x="2014166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7"/>
          <p:cNvSpPr/>
          <p:nvPr/>
        </p:nvSpPr>
        <p:spPr>
          <a:xfrm>
            <a:off x="242690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8"/>
          <p:cNvSpPr/>
          <p:nvPr/>
        </p:nvSpPr>
        <p:spPr>
          <a:xfrm>
            <a:off x="283964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9"/>
          <p:cNvSpPr/>
          <p:nvPr/>
        </p:nvSpPr>
        <p:spPr>
          <a:xfrm>
            <a:off x="325238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10"/>
          <p:cNvSpPr/>
          <p:nvPr/>
        </p:nvSpPr>
        <p:spPr>
          <a:xfrm>
            <a:off x="366512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7_04"/>
          <p:cNvSpPr/>
          <p:nvPr/>
        </p:nvSpPr>
        <p:spPr>
          <a:xfrm>
            <a:off x="1188686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7_05"/>
          <p:cNvSpPr/>
          <p:nvPr/>
        </p:nvSpPr>
        <p:spPr>
          <a:xfrm>
            <a:off x="1601426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6"/>
          <p:cNvSpPr/>
          <p:nvPr/>
        </p:nvSpPr>
        <p:spPr>
          <a:xfrm>
            <a:off x="2014166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7"/>
          <p:cNvSpPr/>
          <p:nvPr/>
        </p:nvSpPr>
        <p:spPr>
          <a:xfrm>
            <a:off x="2426905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8"/>
          <p:cNvSpPr/>
          <p:nvPr/>
        </p:nvSpPr>
        <p:spPr>
          <a:xfrm>
            <a:off x="2839645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9"/>
          <p:cNvSpPr/>
          <p:nvPr/>
        </p:nvSpPr>
        <p:spPr>
          <a:xfrm>
            <a:off x="3252385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INZOOMEN OP DE VOORVOET</a:t>
            </a:r>
          </a:p>
        </p:txBody>
      </p:sp>
      <p:sp>
        <p:nvSpPr>
          <p:cNvPr id="328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Acht regio's, drie doelregio's</a:t>
            </a:r>
          </a:p>
        </p:txBody>
      </p:sp>
      <p:sp>
        <p:nvSpPr>
          <p:cNvPr id="329" name="Oval 328"/>
          <p:cNvSpPr/>
          <p:nvPr/>
        </p:nvSpPr>
        <p:spPr>
          <a:xfrm>
            <a:off x="1549361" y="5029582"/>
            <a:ext cx="279393" cy="279393"/>
          </a:xfrm>
          <a:prstGeom prst="ellipse">
            <a:avLst/>
          </a:prstGeom>
          <a:solidFill>
            <a:srgbClr val="04182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1549361" y="5029582"/>
            <a:ext cx="279393" cy="2793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349841" y="1904952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6349841" y="2070048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349841" y="2070048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6756231" y="2044648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Metatarsaal 1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6768930" y="2311342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onder de grote teen — tweede meest getroffen plek</a:t>
            </a:r>
          </a:p>
        </p:txBody>
      </p:sp>
      <p:sp>
        <p:nvSpPr>
          <p:cNvPr id="336" name="Oval 335"/>
          <p:cNvSpPr/>
          <p:nvPr/>
        </p:nvSpPr>
        <p:spPr>
          <a:xfrm>
            <a:off x="2589465" y="5257414"/>
            <a:ext cx="279393" cy="279393"/>
          </a:xfrm>
          <a:prstGeom prst="ellipse">
            <a:avLst/>
          </a:prstGeom>
          <a:solidFill>
            <a:srgbClr val="04182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2589465" y="5257414"/>
            <a:ext cx="279393" cy="2793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6349841" y="2641533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6349841" y="2806629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6349841" y="2806629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6756231" y="2781230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Metatarsaal 2-3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6768930" y="3047923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de hete plek op deze meting, en de klassieke ulcusplek</a:t>
            </a:r>
          </a:p>
        </p:txBody>
      </p:sp>
      <p:sp>
        <p:nvSpPr>
          <p:cNvPr id="343" name="Oval 342"/>
          <p:cNvSpPr/>
          <p:nvPr/>
        </p:nvSpPr>
        <p:spPr>
          <a:xfrm>
            <a:off x="4521086" y="5599163"/>
            <a:ext cx="279393" cy="279393"/>
          </a:xfrm>
          <a:prstGeom prst="ellipse">
            <a:avLst/>
          </a:prstGeom>
          <a:solidFill>
            <a:srgbClr val="04182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4521086" y="5599163"/>
            <a:ext cx="279393" cy="2793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6349841" y="3378115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6349841" y="3543211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6349841" y="3543211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3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6756231" y="3517812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Metatarsaal 4-5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768930" y="3784505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laterale voorvoet, meestal lagere druk</a:t>
            </a:r>
          </a:p>
        </p:txBody>
      </p:sp>
      <p:sp>
        <p:nvSpPr>
          <p:cNvPr id="350" name="Oval 349"/>
          <p:cNvSpPr/>
          <p:nvPr/>
        </p:nvSpPr>
        <p:spPr>
          <a:xfrm>
            <a:off x="1400774" y="2409510"/>
            <a:ext cx="279393" cy="279393"/>
          </a:xfrm>
          <a:prstGeom prst="ellipse">
            <a:avLst/>
          </a:prstGeom>
          <a:solidFill>
            <a:srgbClr val="04182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1400774" y="2409510"/>
            <a:ext cx="279393" cy="2793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onsolas"/>
              </a:rPr>
              <a:t>4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6349841" y="4114697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6349841" y="4279793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349841" y="4279793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4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6756231" y="4254393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Hallux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6768930" y="4521086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apart bekeken, niet meer samengeteld met de tenen</a:t>
            </a:r>
          </a:p>
        </p:txBody>
      </p:sp>
      <p:sp>
        <p:nvSpPr>
          <p:cNvPr id="357" name="Oval 356"/>
          <p:cNvSpPr/>
          <p:nvPr/>
        </p:nvSpPr>
        <p:spPr>
          <a:xfrm>
            <a:off x="3406689" y="2523426"/>
            <a:ext cx="279393" cy="279393"/>
          </a:xfrm>
          <a:prstGeom prst="ellipse">
            <a:avLst/>
          </a:prstGeom>
          <a:solidFill>
            <a:srgbClr val="04182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3406689" y="2523426"/>
            <a:ext cx="279393" cy="2793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6349841" y="4851278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6349841" y="5016374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6349841" y="5016374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5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6756231" y="4990975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Tenen 2-5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6768930" y="5257668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eigen regio sinds de laatste maskerversie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Acht regio's via Multimask · hiel en mediale en laterale middenvoet vallen buiten beeld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10 / 22</a:t>
            </a:r>
          </a:p>
        </p:txBody>
      </p:sp>
      <p:pic>
        <p:nvPicPr>
          <p:cNvPr id="366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NA OPTIMALISATIE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Wanneer is het goed genoeg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3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52BDEC"/>
                </a:solidFill>
                <a:latin typeface="Segoe UI"/>
              </a:rPr>
              <a:t>186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52BDEC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in de doelregio na aanpassing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40% lager  ·  onder 200 kPa  ·  beide criteria gehaald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De norm geldt per doelregio: piekdruk onder 200 kPa óf minstens 25% lager dan de baselinemeting van diezelfde regio.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Haalt u de norm niet, dan past u aan en meet u opnieuw. Het formulier voorziet twee extra ontlastingstests.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24 · Meting drukherverdeling voetorthese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11 / 22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FF7A00"/>
              </a:gs>
              <a:gs pos="100000">
                <a:srgbClr val="FF7A00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nal"/>
          <p:cNvSpPr txBox="1"/>
          <p:nvPr/>
        </p:nvSpPr>
        <p:spPr>
          <a:xfrm>
            <a:off x="952476" y="1523961"/>
            <a:ext cx="10286742" cy="4190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200" b="1">
                <a:solidFill>
                  <a:srgbClr val="04182A"/>
                </a:solidFill>
                <a:latin typeface="Segoe UI"/>
              </a:rPr>
              <a:t>Niet minder belasting.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7200" b="1">
                <a:solidFill>
                  <a:srgbClr val="04182A"/>
                </a:solidFill>
                <a:latin typeface="Segoe UI"/>
              </a:rPr>
              <a:t>Belasting op een plek die het aankan.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7875" y="6006949"/>
            <a:ext cx="9524761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04182A"/>
                </a:solidFill>
                <a:latin typeface="Consolas"/>
              </a:rPr>
              <a:t>Dat is de hele interventie.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MEETPROTOCOL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Drie condities bij de aflevering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854153"/>
            <a:ext cx="10921726" cy="965175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9776" y="2070048"/>
            <a:ext cx="761980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4952" y="2044648"/>
            <a:ext cx="3936901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Blootsvoets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847" y="2044648"/>
            <a:ext cx="5156071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Sensoren met dubbelzijdige tape op de voet, standaardkous erover. Dit is het referentiebeeld.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4984" y="2971725"/>
            <a:ext cx="10921726" cy="965175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776" y="3187620"/>
            <a:ext cx="761980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4952" y="3162220"/>
            <a:ext cx="3936901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In de schoen, zónder de zool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5847" y="3162220"/>
            <a:ext cx="5156071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Toont wat het schoeisel alleen doet. Dit is de vergelijking die laat zien of de zool iets toevoegt.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4984" y="4089297"/>
            <a:ext cx="10921726" cy="965175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776" y="4305192"/>
            <a:ext cx="761980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52BDEC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4952" y="4279793"/>
            <a:ext cx="3936901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In de schoen, mét de zool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4279793"/>
            <a:ext cx="5156071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De meting waarop de norm getoetst wordt, per doelregio.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984" y="5384665"/>
            <a:ext cx="10921726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FF7A00"/>
                </a:solidFill>
                <a:latin typeface="Segoe UI"/>
              </a:rPr>
              <a:t>Alle drie de condities staan op hetzelfde formulier. Slaat u er één over, dan is de vergelijking onbruikbaar.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984" y="6387940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24 · de norm wordt per doelregio getoetst, niet over de hele voet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13 / 22</a:t>
            </a:r>
          </a:p>
        </p:txBody>
      </p:sp>
      <p:pic>
        <p:nvPicPr>
          <p:cNvPr id="20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03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Het traject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Negen contactmomenten. Per moment: wat u doet en wat u invult.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14 / 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Screening plus negen visites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085822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177995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727156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V0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790655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loting</a:t>
            </a:r>
          </a:p>
        </p:txBody>
      </p:sp>
      <p:sp>
        <p:nvSpPr>
          <p:cNvPr id="13" name="!!stip2"/>
          <p:cNvSpPr/>
          <p:nvPr/>
        </p:nvSpPr>
        <p:spPr>
          <a:xfrm>
            <a:off x="3289217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2819329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2882827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baseline</a:t>
            </a:r>
          </a:p>
        </p:txBody>
      </p:sp>
      <p:sp>
        <p:nvSpPr>
          <p:cNvPr id="16" name="!!stip3"/>
          <p:cNvSpPr/>
          <p:nvPr/>
        </p:nvSpPr>
        <p:spPr>
          <a:xfrm>
            <a:off x="4381390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91150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V2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3975000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547356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00367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M3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067173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2" name="!!stip5"/>
          <p:cNvSpPr/>
          <p:nvPr/>
        </p:nvSpPr>
        <p:spPr>
          <a:xfrm>
            <a:off x="6565735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095847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M6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15934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5" name="!!stip6"/>
          <p:cNvSpPr/>
          <p:nvPr/>
        </p:nvSpPr>
        <p:spPr>
          <a:xfrm>
            <a:off x="7657908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188020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M9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251518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8" name="!!stip7"/>
          <p:cNvSpPr/>
          <p:nvPr/>
        </p:nvSpPr>
        <p:spPr>
          <a:xfrm>
            <a:off x="8750081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828019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M12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8343691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31" name="!!stip8"/>
          <p:cNvSpPr/>
          <p:nvPr/>
        </p:nvSpPr>
        <p:spPr>
          <a:xfrm>
            <a:off x="984225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9372365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M15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9435864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34" name="!!stip9"/>
          <p:cNvSpPr/>
          <p:nvPr/>
        </p:nvSpPr>
        <p:spPr>
          <a:xfrm>
            <a:off x="10915377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aand9"/>
          <p:cNvSpPr txBox="1"/>
          <p:nvPr/>
        </p:nvSpPr>
        <p:spPr>
          <a:xfrm>
            <a:off x="10464538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M18</a:t>
            </a:r>
          </a:p>
        </p:txBody>
      </p:sp>
      <p:sp>
        <p:nvSpPr>
          <p:cNvPr id="36" name="!!taak9"/>
          <p:cNvSpPr txBox="1"/>
          <p:nvPr/>
        </p:nvSpPr>
        <p:spPr>
          <a:xfrm>
            <a:off x="1052803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 + einde</a:t>
            </a:r>
          </a:p>
        </p:txBody>
      </p:sp>
      <p:sp>
        <p:nvSpPr>
          <p:cNvPr id="37" name="Oval 36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9" name="Oval 38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41" name="Oval 40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3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maanden, van screening tot afronding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Visite 0 tot 2 liggen dicht op elkaar: toestemming, baseline, en de zool binnen de maand. Daarna is het ritme elke drie maanden, hetzelfde ritme als de controle die deze patiënten al krijgen.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15 / 22</a:t>
            </a:r>
          </a:p>
        </p:txBody>
      </p:sp>
      <p:pic>
        <p:nvPicPr>
          <p:cNvPr id="47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SCREENING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Wie komt in aanmerking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93850"/>
            <a:ext cx="5384538" cy="384800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88977" y="2209744"/>
            <a:ext cx="761980" cy="292092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8977" y="2285942"/>
            <a:ext cx="761980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spc="130">
                <a:solidFill>
                  <a:srgbClr val="04182A"/>
                </a:solidFill>
                <a:latin typeface="Consolas"/>
              </a:rPr>
              <a:t>WÉL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977" y="2743131"/>
            <a:ext cx="4876551" cy="2984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Volwassen, begrijpt Nederlands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Diabetes type 1 of 2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Risicocategorie 3 met genezen plantair ulcus, partiële amputatie of resectie van een metatarsaalkop — niet de eerste — tussen 18 maanden en 2 weken geleden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Stapt zelfstandig blootsvoets, zonder hulpmiddelen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Heeft beschermend schoeisel, of aanvaardt het: volledig maatwerk, of maatzolen in semi-orthopedisch of extra-diep confectieschoeisel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1918" y="1993850"/>
            <a:ext cx="5384538" cy="384800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25912" y="2209744"/>
            <a:ext cx="761980" cy="292092"/>
          </a:xfrm>
          <a:prstGeom prst="roundRect">
            <a:avLst>
              <a:gd name="adj" fmla="val 45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5912" y="2285942"/>
            <a:ext cx="761980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spc="130">
                <a:solidFill>
                  <a:srgbClr val="04182A"/>
                </a:solidFill>
                <a:latin typeface="Consolas"/>
              </a:rPr>
              <a:t>NIET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5912" y="2743131"/>
            <a:ext cx="4876551" cy="2984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Amputatie proximaal van de MTP-gewrichten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Actief ulcus of Charcot-deformiteit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Kritische ischemie — PEDIS graad 3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Immunosuppressieve therapie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Nierfunctievervangende therapie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Overleving &lt; 18 maanden, beoordeeld door de arts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Kan geen toestemming geven of instructies volgen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Hulpmiddel dat druksensoren belemmert, bv. een EVO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Weigert het voorgeschreven schoeisel te dragen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16 / 22</a:t>
            </a:r>
          </a:p>
        </p:txBody>
      </p:sp>
      <p:pic>
        <p:nvPicPr>
          <p:cNvPr id="1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Terug naar het geheel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085822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177995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727156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V0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790655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loting</a:t>
            </a:r>
          </a:p>
        </p:txBody>
      </p:sp>
      <p:sp>
        <p:nvSpPr>
          <p:cNvPr id="13" name="!!stip2"/>
          <p:cNvSpPr/>
          <p:nvPr/>
        </p:nvSpPr>
        <p:spPr>
          <a:xfrm>
            <a:off x="3289217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2819329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2882827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baseline</a:t>
            </a:r>
          </a:p>
        </p:txBody>
      </p:sp>
      <p:sp>
        <p:nvSpPr>
          <p:cNvPr id="16" name="!!stip3"/>
          <p:cNvSpPr/>
          <p:nvPr/>
        </p:nvSpPr>
        <p:spPr>
          <a:xfrm>
            <a:off x="4381390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91150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V2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3975000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547356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00367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M3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067173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2" name="!!stip5"/>
          <p:cNvSpPr/>
          <p:nvPr/>
        </p:nvSpPr>
        <p:spPr>
          <a:xfrm>
            <a:off x="6565735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095847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M6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15934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5" name="!!stip6"/>
          <p:cNvSpPr/>
          <p:nvPr/>
        </p:nvSpPr>
        <p:spPr>
          <a:xfrm>
            <a:off x="7657908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188020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M9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251518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8" name="!!stip7"/>
          <p:cNvSpPr/>
          <p:nvPr/>
        </p:nvSpPr>
        <p:spPr>
          <a:xfrm>
            <a:off x="8750081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828019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M12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8343691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31" name="!!stip8"/>
          <p:cNvSpPr/>
          <p:nvPr/>
        </p:nvSpPr>
        <p:spPr>
          <a:xfrm>
            <a:off x="984225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9372365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M15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9435864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34" name="!!stip9"/>
          <p:cNvSpPr/>
          <p:nvPr/>
        </p:nvSpPr>
        <p:spPr>
          <a:xfrm>
            <a:off x="10915377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aand9"/>
          <p:cNvSpPr txBox="1"/>
          <p:nvPr/>
        </p:nvSpPr>
        <p:spPr>
          <a:xfrm>
            <a:off x="10464538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M18</a:t>
            </a:r>
          </a:p>
        </p:txBody>
      </p:sp>
      <p:sp>
        <p:nvSpPr>
          <p:cNvPr id="36" name="!!taak9"/>
          <p:cNvSpPr txBox="1"/>
          <p:nvPr/>
        </p:nvSpPr>
        <p:spPr>
          <a:xfrm>
            <a:off x="1052803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 + einde</a:t>
            </a:r>
          </a:p>
        </p:txBody>
      </p:sp>
      <p:sp>
        <p:nvSpPr>
          <p:cNvPr id="37" name="Oval 36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9" name="Oval 38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41" name="Oval 40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3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contactmomenten, één zorgpad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Het verschil met vandaag zit niet in hoe vaak u de patiënt ziet, maar in wat u bij elk bezoek wéét: wat de zool doet en wat er gedragen is.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17 / 22</a:t>
            </a:r>
          </a:p>
        </p:txBody>
      </p:sp>
      <p:pic>
        <p:nvPicPr>
          <p:cNvPr id="47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TECHNIEK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Drie toestellen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68450"/>
            <a:ext cx="5384538" cy="400039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4719" y="2184345"/>
            <a:ext cx="1965067" cy="16636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377" y="3975000"/>
            <a:ext cx="2412939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Novel pedar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7076" y="4444888"/>
            <a:ext cx="2412939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52BDEC"/>
                </a:solidFill>
                <a:latin typeface="Consolas"/>
              </a:rPr>
              <a:t>DRUK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4660783"/>
            <a:ext cx="241293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2BDEC"/>
                </a:solidFill>
                <a:latin typeface="Segoe UI"/>
              </a:rPr>
              <a:t>8  voetregio's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5079873"/>
            <a:ext cx="241293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30">
                <a:solidFill>
                  <a:srgbClr val="FF7A00"/>
                </a:solidFill>
                <a:latin typeface="Consolas"/>
              </a:rPr>
              <a:t>UW TEAM MEET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9713" y="3975000"/>
            <a:ext cx="2260416" cy="1777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Blootsvoets met tape, en in de schoen met en zonder zool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Trublu-kalibratie minstens elke drie maanden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De F-Scan GO is een aparte meting van het studieteam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1918" y="1968450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24314" y="2120846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thotim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512" y="2553717"/>
            <a:ext cx="2006549" cy="7471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11855" y="2158946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Orthotimer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554" y="2527236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DRAAGTIJD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1855" y="2730431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15  minuten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1855" y="3073323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In de zool, 9 × 13 × 4,5 mm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Batterij 100 dagen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1855" y="3644808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HEET: UW SENSOR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1918" y="4051198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24314" y="4203594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ovemoni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512" y="4454706"/>
            <a:ext cx="2006549" cy="11106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11855" y="4241693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MoveMonitor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4554" y="4609984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ACTIVITEIT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1855" y="4813179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7  dagen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11855" y="5156071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Om het middel, op de onderrug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Baseline en 6 maanden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1855" y="5727556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ZET DE NORM PER PATIËNT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18 / 22</a:t>
            </a:r>
          </a:p>
        </p:txBody>
      </p:sp>
      <p:pic>
        <p:nvPicPr>
          <p:cNvPr id="29" name="merk" descr="me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beeld" descr="sensor_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71362" y="0"/>
            <a:ext cx="19534420" cy="685782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6000"/>
                </a:srgbClr>
              </a:gs>
              <a:gs pos="100000">
                <a:srgbClr val="04182A">
                  <a:alpha val="94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4984" y="4482987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SENSOR IN HET ECHT</a:t>
            </a:r>
          </a:p>
        </p:txBody>
      </p:sp>
      <p:sp>
        <p:nvSpPr>
          <p:cNvPr id="6" name="!!sectietitel"/>
          <p:cNvSpPr txBox="1"/>
          <p:nvPr/>
        </p:nvSpPr>
        <p:spPr>
          <a:xfrm>
            <a:off x="634984" y="4787780"/>
            <a:ext cx="9524761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2F8FC"/>
                </a:solidFill>
                <a:latin typeface="Segoe UI"/>
              </a:rPr>
              <a:t>Negen bij dertien millimeter.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4400" b="1">
                <a:solidFill>
                  <a:srgbClr val="F2F8FC"/>
                </a:solidFill>
                <a:latin typeface="Segoe UI"/>
              </a:rPr>
              <a:t>Meer merkt de patiënt niet.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19 / 22</a:t>
            </a:r>
          </a:p>
        </p:txBody>
      </p:sp>
      <p:pic>
        <p:nvPicPr>
          <p:cNvPr id="8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SEBIA · ECRF-DOCUMENT 17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Vijf gespreksmomenten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2463738"/>
            <a:ext cx="10921726" cy="1269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281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4984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2779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779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779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Vragenlijsten eerst, dan educatie op maat, met voordoen.</a:t>
            </a:r>
          </a:p>
        </p:txBody>
      </p:sp>
      <p:sp>
        <p:nvSpPr>
          <p:cNvPr id="11" name="Oval 10"/>
          <p:cNvSpPr/>
          <p:nvPr/>
        </p:nvSpPr>
        <p:spPr>
          <a:xfrm>
            <a:off x="2959026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44728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2524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2524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3 mnd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2524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Teach-back. Nadruk op bínnenshuis dragen.</a:t>
            </a:r>
          </a:p>
        </p:txBody>
      </p:sp>
      <p:sp>
        <p:nvSpPr>
          <p:cNvPr id="16" name="Oval 15"/>
          <p:cNvSpPr/>
          <p:nvPr/>
        </p:nvSpPr>
        <p:spPr>
          <a:xfrm>
            <a:off x="5168770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54473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32269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2269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6 · 12 mnd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2269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Zelfinschatting, dan samen de data bekijken.</a:t>
            </a:r>
          </a:p>
        </p:txBody>
      </p:sp>
      <p:sp>
        <p:nvSpPr>
          <p:cNvPr id="21" name="Oval 20"/>
          <p:cNvSpPr/>
          <p:nvPr/>
        </p:nvSpPr>
        <p:spPr>
          <a:xfrm>
            <a:off x="7378515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64218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42013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2013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9 · 15 mnd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42013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Voordoen. Uitdraai vergelijken met vorige keer.</a:t>
            </a:r>
          </a:p>
        </p:txBody>
      </p:sp>
      <p:sp>
        <p:nvSpPr>
          <p:cNvPr id="26" name="Oval 25"/>
          <p:cNvSpPr/>
          <p:nvPr/>
        </p:nvSpPr>
        <p:spPr>
          <a:xfrm>
            <a:off x="9588260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73963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51758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1758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18 mnd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1758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Afsluiten en resultaten delen.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20 / 22</a:t>
            </a:r>
          </a:p>
        </p:txBody>
      </p:sp>
      <p:pic>
        <p:nvPicPr>
          <p:cNvPr id="3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FF7A00"/>
                </a:solidFill>
                <a:latin typeface="Consolas"/>
              </a:rPr>
              <a:t>DE ENIGE REGEL DIE U ÉCHT MOET ONTHOUDEN</a:t>
            </a:r>
          </a:p>
        </p:txBody>
      </p:sp>
      <p:sp>
        <p:nvSpPr>
          <p:cNvPr id="4" name="hero"/>
          <p:cNvSpPr txBox="1"/>
          <p:nvPr/>
        </p:nvSpPr>
        <p:spPr>
          <a:xfrm>
            <a:off x="634984" y="1066773"/>
            <a:ext cx="6857828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Meetwaarden gaan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2F8FC"/>
                </a:solidFill>
                <a:latin typeface="Segoe UI"/>
              </a:rPr>
              <a:t>niet naar de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2F8FC"/>
                </a:solidFill>
                <a:latin typeface="Segoe UI"/>
              </a:rPr>
              <a:t>controlegroep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4101997"/>
            <a:ext cx="6857828" cy="154936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377" y="4381390"/>
            <a:ext cx="6349841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50" b="0">
                <a:solidFill>
                  <a:srgbClr val="8FB6D0"/>
                </a:solidFill>
                <a:latin typeface="Segoe UI"/>
              </a:rPr>
              <a:t>Ook zij krijgen een drukmeting en dragen een sensor — anders kunnen we de groepen niet vergelijken. Maar die getallen blijven dicht. Bespreekt u ze, dan lévert u de interventie en is die patiënt niet meer bruikbaar als controle.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73803" y="2031949"/>
            <a:ext cx="3682907" cy="3517812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78595" y="2324041"/>
            <a:ext cx="3111422" cy="2412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FF7A00"/>
                </a:solidFill>
                <a:latin typeface="Consolas"/>
              </a:rPr>
              <a:t>UITZONDERING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78595" y="2730431"/>
            <a:ext cx="3111422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>
                <a:solidFill>
                  <a:srgbClr val="F2F8FC"/>
                </a:solidFill>
                <a:latin typeface="Segoe UI"/>
              </a:rPr>
              <a:t>Klinische bevindingen zijn géén meetwaarden. Elke laesie of huiddefect meldt en behandelt u meteen. In beide groepen.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21 / 22</a:t>
            </a:r>
          </a:p>
        </p:txBody>
      </p:sp>
      <p:pic>
        <p:nvPicPr>
          <p:cNvPr id="1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WIE U AANSPREEKT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 als er iets misloopt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04952"/>
            <a:ext cx="3174920" cy="39369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ortret" descr="jan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02" y="2006549"/>
            <a:ext cx="2889883" cy="3733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17892" y="1904952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17892" y="2070048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Janou De Buyser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0591" y="2539936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DOCTORAATSONDERZOEKER · DAGELIJKSE OPVOLGING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7892" y="2857428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Uw eerste aanspreekpunt: inclusies, metingen, formulieren, sensoren en alles wat in de praktijk vastloopt.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7892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janou.debuyser@kuleuven.be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3803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Spoorwegstraat 12 · Brugge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7892" y="3873403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7892" y="4038499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prof. dr. Kevin Deschamps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0591" y="4508387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PROMOTOR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7892" y="4825879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Wetenschappelijke vragen, de opzet van de studie en afspraken op het niveau van uw centrum.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7892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Revalidatiewetenschappen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3803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KU Leuven · Campus Brugge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4984" y="596885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984" y="6108547"/>
            <a:ext cx="10921726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Consortium: KU Leuven — Revalidatiewetenschappen (Musculoskeletal Research Group) en Volksgezondheid en Eerstelijnszorg · Vrije Universiteit Brussel — Geneeskunde en Farmacie. Co-promotoren: Fabienne Dobbels, Maaike Fobelets en Koen Putman.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22 / 22</a:t>
            </a:r>
          </a:p>
        </p:txBody>
      </p:sp>
      <p:pic>
        <p:nvPicPr>
          <p:cNvPr id="22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