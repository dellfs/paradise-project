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PARADISE is not about healing. It is about coming back. Six Belgian foot clinics, one hundred and forty-four participants, eighteen months each. I will take you through the rationale, the measurement and the pathway.</a:t>
            </a:r>
          </a:p>
          <a:p/>
          <a:p>
            <a:r>
              <a:t>PRESENTATIETIP</a:t>
            </a:r>
          </a:p>
          <a:p>
            <a:r>
              <a:t>Het beeld draagt deze dia. Wilt u een ander beeld: zet het in beeld\stock\, draai verwerk_stock.py en zet de bestandsnaam hier. Liggend, koele tonen, en rustig onderaan — daar staat de titel.</a:t>
            </a:r>
          </a:p>
          <a:p/>
          <a:p>
            <a:r>
              <a:t>INTERACTIE</a:t>
            </a:r>
          </a:p>
          <a:p>
            <a:r>
              <a:t>Laat de dia staan terwijl de zaal binnenkomt. Zeg pas iets als iedereen zit.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Every dot is a participant. Twenty-four come from each clinic, twelve in each arm. Six times twenty-four is one hundred and forty-four. If one centre falls behind, the trial does not get there.</a:t>
            </a:r>
          </a:p>
          <a:p/>
          <a:p>
            <a:r>
              <a:t>PRESENTATIETIP</a:t>
            </a:r>
          </a:p>
          <a:p>
            <a:r>
              <a:t>Wijs hun eigen centrum aan: 24 van die 144 stippen zijn van hen. Zes keer 24 is 144 — als één centrum achterblijft, haalt de studie het niet.</a:t>
            </a:r>
          </a:p>
          <a:p/>
          <a:p>
            <a:r>
              <a:t>INTERACTIE</a:t>
            </a:r>
          </a:p>
          <a:p>
            <a:r>
              <a:t>Vraag of ze de andere vijf centra kennen. Het maakt van zes losse klinieken één netwerk.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One sentence, then I move on. Every component of PARADISE already exists. Not one of them worked on its own. What we test is whether they work together, in ordinary clinics under ordinary caseloads.</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Chapter one. I will give you four numbers. After the fourth you will know why this trial has two targets rather than one, and why nobody has met both at once.</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Forty per cent develop a new ulcer within one year. At five years it is sixty-five. And mortality is two and a half times higher than in diabetes without an ulcer — after a major amputation above seventy per cent. This is not a wound problem. This is a survival problem.</a:t>
            </a:r>
          </a:p>
          <a:p/>
          <a:p>
            <a:r>
              <a:t>PRESENTATIETIP</a:t>
            </a:r>
          </a:p>
          <a:p>
            <a:r>
              <a:t>Dit is het probleem waar de hele studie op staat. Eén dia, dan door.</a:t>
            </a:r>
          </a:p>
          <a:p/>
          <a:p>
            <a:r>
              <a:t>INTERACTIE</a:t>
            </a:r>
          </a:p>
          <a:p>
            <a:r>
              <a:t>Geen. Dit is context, geen discussie.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This is where those figures come from. Each point is a cohort; the line through them is the trend. Forty per cent at one year, sixty-five at five. The risk does not disappear, it accumulates.</a:t>
            </a:r>
          </a:p>
          <a:p/>
          <a:p>
            <a:r>
              <a:t>PRESENTATIETIP</a:t>
            </a:r>
          </a:p>
          <a:p>
            <a:r>
              <a:t>De vorige dia noemt de cijfers; deze laat zien waar ze vandaan komen. Wijs de trendlijn aan, niet de losse punten.</a:t>
            </a:r>
          </a:p>
          <a:p/>
          <a:p>
            <a:r>
              <a:t>INTERACTIE</a:t>
            </a:r>
          </a:p>
          <a:p>
            <a:r>
              <a:t>Geen. Laat de spreiding het werk doen.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And then the number that makes it intolerable. Three quarters of these ulcers are preventable in principle. Yet forty per cent return within the year. That gap, between what is possible and what happens, is what this trial is about.</a:t>
            </a:r>
          </a:p>
          <a:p/>
          <a:p>
            <a:r>
              <a:t>PRESENTATIETIP</a:t>
            </a:r>
          </a:p>
          <a:p>
            <a:r>
              <a:t>Zeg dit traag en zwijg dan twee tellen. Dit is de enige dia in blok 1 waar de zaal niet leest maar luistert.</a:t>
            </a:r>
          </a:p>
          <a:p/>
          <a:p>
            <a:r>
              <a:t>INTERACTIE</a:t>
            </a:r>
          </a:p>
          <a:p>
            <a:r>
              <a:t>Geen. De stilte doet het werk.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It is not that nobody has tried. Pressure-guided footwear missed its endpoint. Education alone had a negative median effect. Digital feedback worked, but again only among those who kept using the device.</a:t>
            </a:r>
          </a:p>
          <a:p/>
          <a:p>
            <a:r>
              <a:t>PRESENTATIETIP</a:t>
            </a:r>
          </a:p>
          <a:p>
            <a:r>
              <a:t>Dit is de dia die de zaal het argument geeft. Neem er tijd voor; de rest van de studieopzet volgt hieruit.</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This is the best attempt on record: pressure-optimised custom footwear, multicentre and randomised. Across everyone: no difference. Among those who wore it: almost halved. The difference was not in the shoe.</a:t>
            </a:r>
          </a:p>
          <a:p/>
          <a:p>
            <a:r>
              <a:t>PRESENTATIETIP</a:t>
            </a:r>
          </a:p>
          <a:p>
            <a:r>
              <a:t>Hier komt de tweede norm vandaan. Zonder deze dia is 80% draagtijd een willekeurig getal.</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There it is. Seventy-one per cent adherence, measured by sensor and not asked for. At home it falls to sixty-one, and home is where most steps are taken. The footwear sat in the hallway while the patient walked through the house.</a:t>
            </a:r>
          </a:p>
          <a:p/>
          <a:p>
            <a:r>
              <a:t>PRESENTATIETIP</a:t>
            </a:r>
          </a:p>
          <a:p>
            <a:r>
              <a:t>Binnenshuis wordt het schoeisel het minst gedragen, en juist daar worden veel stappen gezet. Dat is uw belangrijkste gesprekspunt bij SEBIA.</a:t>
            </a:r>
          </a:p>
          <a:p/>
          <a:p>
            <a:r>
              <a:t>INTERACTIE</a:t>
            </a:r>
          </a:p>
          <a:p>
            <a:r>
              <a:t>Vraag wat zij schatten bij hun eigen patiënten.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Loading is a product, not a sum. Peak pressure times activity times wear time. One factor at zero makes the whole product zero. A perfect insole in the cupboard protects nothing.</a:t>
            </a:r>
          </a:p>
          <a:p/>
          <a:p>
            <a:r>
              <a:t>PRESENTATIETIP</a:t>
            </a:r>
          </a:p>
          <a:p>
            <a:r>
              <a:t>Dit is het scharnier van blok 1. Wie dit snapt, snapt waarom de meting én de sensor allebei moeten kloppen.</a:t>
            </a:r>
          </a:p>
          <a:p/>
          <a:p>
            <a:r>
              <a:t>INTERACTIE</a:t>
            </a:r>
          </a:p>
          <a:p>
            <a:r>
              <a:t>Morph: de drie tegels komen samen uit één punt.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Why is this trial possible only now? Three things have changed. The sensor makes adherence measurable, COM-B explains why education failed, and Belgium has accredited foot clinics with training requirements. The components are on the table.</a:t>
            </a:r>
          </a:p>
          <a:p/>
          <a:p>
            <a:r>
              <a:t>PRESENTATIETIP</a:t>
            </a:r>
          </a:p>
          <a:p>
            <a:r>
              <a:t>Drie redenen, drie zinnen. Dit is het scharnier naar de opzet.</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So we do it differently. Not three separate measures, but one service with two targets: the insole must méet the pressure target, and it must be wórn. Both measured, both corrected, both by the clinic’s own team. That has never been tested together.</a:t>
            </a:r>
          </a:p>
          <a:p/>
          <a:p>
            <a:r>
              <a:t>PRESENTATIETIP</a:t>
            </a:r>
          </a:p>
          <a:p>
            <a:r>
              <a:t>Dit is de kanteldia. Alles ervoor is het probleem, alles erna is de uitvoering. Zeg met zoveel woorden dat dit nog nooit samen getoetst is.</a:t>
            </a:r>
          </a:p>
          <a:p/>
          <a:p>
            <a:r>
              <a:t>INTERACTIE</a:t>
            </a:r>
          </a:p>
          <a:p>
            <a:r>
              <a:t>Vraag welke van de twee normen zij het moeilijkst achten. Het antwoord is bijna altijd de tweede.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Chapter two: the measurement. What is measured, how, and when it is good enough.</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Every sensor gives a number. This is baseline, in-shoe: three hundred and twelve kilopascals under metatarsal two-three. Three walking trials per foot, of which the middle twelve steps count. Everything is referenced against this.</a:t>
            </a:r>
          </a:p>
          <a:p/>
          <a:p>
            <a:r>
              <a:t>PRESENTATIETIP</a:t>
            </a:r>
          </a:p>
          <a:p>
            <a:r>
              <a:t>De meest gemaakte fout is één loopproef per voet. Het protocol vraagt er drie, en het gemiddelde telt.</a:t>
            </a:r>
          </a:p>
          <a:p/>
          <a:p>
            <a:r>
              <a:t>INTERACTIE</a:t>
            </a:r>
          </a:p>
          <a:p>
            <a:r>
              <a:t>Vraag wie er vandaag al in de schoen meet.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The software divides the foot into eight regions. Three of them are designated target regions and written on the prescription. The target is tested there, and nowhere else.</a:t>
            </a:r>
          </a:p>
          <a:p/>
          <a:p>
            <a:r>
              <a:t>PRESENTATIETIP</a:t>
            </a:r>
          </a:p>
          <a:p>
            <a:r>
              <a:t>Uit deze acht kiest u er drie om te ontlasten: de regio met de ulcusvoorgeschiedenis, plus één of twee met de hoogste piekdruk. Die drie legt u vast — daarop wordt de norm getoetst.</a:t>
            </a:r>
          </a:p>
          <a:p/>
          <a:p>
            <a:r>
              <a:t>INTERACTIE</a:t>
            </a:r>
          </a:p>
          <a:p>
            <a:r>
              <a:t>Laat ze op deze dia aanwijzen welke drie zij zouden kiezen.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Same foot, after modification. One hundred and eighty-six kilopascals: forty per cent lower and below two hundred. The target applies per region. If it is not met, you modify and measure again.</a:t>
            </a:r>
          </a:p>
          <a:p/>
          <a:p>
            <a:r>
              <a:t>PRESENTATIETIP</a:t>
            </a:r>
          </a:p>
          <a:p>
            <a:r>
              <a:t>Zeg expliciet: "óf". Twee wegen naar dezelfde norm, geen dubbele eis. En de vergelijking gebeurt per regio, niet over de hele voet.</a:t>
            </a:r>
          </a:p>
          <a:p/>
          <a:p>
            <a:r>
              <a:t>INTERACTIE</a:t>
            </a:r>
          </a:p>
          <a:p>
            <a:r>
              <a:t>Vraag de pedorthisten hoeveel aanpassingsrondes realistisch zijn.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A moment on this one. The aim is not less loading. The aim is loading where the tissue can take it. That is the entire intervention.</a:t>
            </a:r>
          </a:p>
          <a:p/>
          <a:p>
            <a:r>
              <a:t>PRESENTATIETIP</a:t>
            </a:r>
          </a:p>
          <a:p>
            <a:r>
              <a:t>Zeg deze twee zinnen en zwijg dan. Laat de dia staan tot iemand ongemakkelijk wordt. Dit is het enige moment in blok 2 waarop de zaal niets te lezen heeft.</a:t>
            </a:r>
          </a:p>
          <a:p/>
          <a:p>
            <a:r>
              <a:t>INTERACTIE</a:t>
            </a:r>
          </a:p>
          <a:p>
            <a:r>
              <a:t>Geen. Bewust geen.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At delivery you measure in the shoe, wíth the insole. That is the measurement against which the target is tested, per target region. Nothing is measured barefoot; the comparator is the measurement without the insole for the same region at delivery, which remains the reference at months 6, 12 and 18.</a:t>
            </a:r>
          </a:p>
          <a:p/>
          <a:p>
            <a:r>
              <a:t>PRESENTATIETIP</a:t>
            </a:r>
          </a:p>
          <a:p>
            <a:r>
              <a:t>Alle metingen gebeuren in de schoen; er wordt niet blootsvoets gemeten. Dezelfde meting komt terug op maand 6, 12 en 18.</a:t>
            </a:r>
          </a:p>
          <a:p/>
          <a:p>
            <a:r>
              <a:t>INTERACTIE</a:t>
            </a:r>
          </a:p>
          <a:p>
            <a:r>
              <a:t>Vraag: "wie meet er vandaag al in de schoen?"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Chapter three: the pathway. Nine contacts. For each one: what is done and what is recorded.</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Screening and nine visits across eighteen months. The first three fall close together. After that the rhythm is three-monthly, the same rhythm as the review these patients already receive.</a:t>
            </a:r>
          </a:p>
          <a:p/>
          <a:p>
            <a:r>
              <a:t>PRESENTATIETIP</a:t>
            </a:r>
          </a:p>
          <a:p>
            <a:r>
              <a:t>Geef eerst het overzicht. De volgende dia's lopen elk moment af.</a:t>
            </a:r>
          </a:p>
          <a:p/>
          <a:p>
            <a:r>
              <a:t>INTERACTIE</a:t>
            </a:r>
          </a:p>
          <a:p>
            <a:r>
              <a:t>Geen. De detaildia's komen hierna.</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IWGDF risk category three: a healed plantar ulcer, or a minor amputation. On the left what admits, on the right what excludes. The logic throughout: offloading must be the appropriate treatment, so critical ischaemia and active Charcot are out.</a:t>
            </a:r>
          </a:p>
          <a:p/>
          <a:p>
            <a:r>
              <a:t>PRESENTATIETIP</a:t>
            </a:r>
          </a:p>
          <a:p>
            <a:r>
              <a:t>Twee criteria worden het vaakst gemist: de resectie mag niet de eerste metatarsaalkop betreffen, en een enkel-voetorthese sluit uit omdat de sensoren er niet in passen.</a:t>
            </a:r>
          </a:p>
          <a:p/>
          <a:p>
            <a:r>
              <a:t>INTERACTIE</a:t>
            </a:r>
          </a:p>
          <a:p>
            <a:r>
              <a:t>Vraag per criterium of het in hun patiëntenbestand vaak voorkomt.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Three devices, three jobs. The pedar measures pressure, the Orthotimer records whether the insole was worn, the MoveMonitor records how much walking is done. Only the pedar is operated at every measurement; the other two are fitted once and read out.</a:t>
            </a:r>
          </a:p>
          <a:p/>
          <a:p>
            <a:r>
              <a:t>PRESENTATIETIP</a:t>
            </a:r>
          </a:p>
          <a:p>
            <a:r>
              <a:t>Benoem dat de Orthotimer géén GPS, microfoon of camera heeft. Die vraag komt gegarandeerd.</a:t>
            </a:r>
          </a:p>
          <a:p/>
          <a:p>
            <a:r>
              <a:t>INTERACTIE</a:t>
            </a:r>
          </a:p>
          <a:p>
            <a:r>
              <a:t>Laat de toestellen rondgaan. Fysiek werkt beter dan een dia.</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SEBIA is five conversations, not one session. First knowledge and education, then teach-back at delivery, then two joint reviews of the sensor data, then demonstration, and closure at eighteen months. What separates it from conventional education: it repeats, and it stands on data.</a:t>
            </a:r>
          </a:p>
          <a:p/>
          <a:p>
            <a:r>
              <a:t>PRESENTATIETIP</a:t>
            </a:r>
          </a:p>
          <a:p>
            <a:r>
              <a:t>Het script begint met toestemming vragen voor het gesprek zelf, en duurt twintig tot dertig minuten. Wie nee zegt, krijgt de brochure mee en een nieuwe afspraak.</a:t>
            </a:r>
          </a:p>
          <a:p/>
          <a:p>
            <a:r>
              <a:t>INTERACTIE</a:t>
            </a:r>
          </a:p>
          <a:p>
            <a:r>
              <a:t>Rollenspel van twee minuten met een vrijwilliger uit de zaal.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This is the one rule that really matters. The control arm is measured and wears a sensor too, but those numbers stay closed. Discuss them and you have delivered the intervention. Clinical findings are not measured values: a lesion is reported and treated immediately, in both arms.</a:t>
            </a:r>
          </a:p>
          <a:p/>
          <a:p>
            <a:r>
              <a:t>PRESENTATIETIP</a:t>
            </a:r>
          </a:p>
          <a:p>
            <a:r>
              <a:t>Dit is de dia waar u stilvalt. Geen haast. Vraag of het helder is voordat u doorgaat.</a:t>
            </a:r>
          </a:p>
          <a:p/>
          <a:p>
            <a:r>
              <a:t>INTERACTIE</a:t>
            </a:r>
          </a:p>
          <a:p>
            <a:r>
              <a:t>Laat iemand het in eigen woorden herhalen. Zo weet u of het zit.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Block four: the endpoint and the analysis. One endpoint, and the mediator that explains it.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The sample size follows from one endpoint. On the left, recurrence: fifty against twenty-five per cent, which requires forty-one events and a hundred and thirty participants. On the right, adherence: measured in full, but without a success criterion of its own. A hundred and forty-four comes from per-centre capacity and exceeds the minimum.</a:t>
            </a:r>
          </a:p>
          <a:p/>
          <a:p>
            <a:r>
              <a:t>PRESENTATIETIP</a:t>
            </a:r>
          </a:p>
          <a:p>
            <a:r>
              <a:t>Eén eindpunt bepaalt de omvang. Zeg erbij dat de therapietrouw volledig gemeten wordt maar geen eigen succescriterium draagt — de volgende dia legt uit waarom.</a:t>
            </a:r>
          </a:p>
          <a:p/>
          <a:p>
            <a:r>
              <a:t>INTERACTIE</a:t>
            </a:r>
          </a:p>
          <a:p>
            <a:r>
              <a:t>Geen. Laat de vraag komen.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And then the question you would otherwise get from the floor. On recurrence we have eighty-four per cent power. With two co-primary endpoints that would drop to seventy-four, because the bar then sits at the intersection. One endpoint plus a prespecified mediator tests the same causal model without that cost.</a:t>
            </a:r>
          </a:p>
          <a:p/>
          <a:p>
            <a:r>
              <a:t>PRESENTATIETIP</a:t>
            </a:r>
          </a:p>
          <a:p>
            <a:r>
              <a:t>Dit is de dia die u onderscheidt van de rest van het programma. Benoem dat de mediator geen achterdeur is: hij ligt vooraf vast en wordt volledig gemeten.</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The analysis plan in four lines. Recurrence with Cox, stratified by centre, with death as a competing risk. Adherence with beta regression, since it is a proportion with a ceiling, and then as a mediator. A recurrence is its intercurrent event: a patient who ulcerates rightly stops wearing the insole.</a:t>
            </a:r>
          </a:p>
          <a:p/>
          <a:p>
            <a:r>
              <a:t>PRESENTATIETIP</a:t>
            </a:r>
          </a:p>
          <a:p>
            <a:r>
              <a:t>Kort houden. Wie meer wil weten vraagt het, en dan hebt u het SAP.</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Two evaluations run alongside the trial. The economic one reports cost per ulcer prevented and cost per QALY, with a Markov model out to five years. The process evaluation measures whether the intervention was actually delivered. That second one is not an appendix — under a null result it is the only thing separating mechanism from delivery.</a:t>
            </a:r>
          </a:p>
          <a:p/>
          <a:p>
            <a:r>
              <a:t>PRESENTATIETIP</a:t>
            </a:r>
          </a:p>
          <a:p>
            <a:r>
              <a:t>De procesevaluatie is geen bijlage. Bij een nulresultaat is zij het enige wat mechanisme van uitvoering onderscheidt.</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I will close with what we learn either way. If adherence rises but recurrence does not, the biomechanical premise fails. If adherence does not rise, the behavioural component failed. Either way we learn which link in the chain gives way — and that is exactly what this field does not yet know.</a:t>
            </a:r>
          </a:p>
          <a:p/>
          <a:p>
            <a:r>
              <a:t>PRESENTATIETIP</a:t>
            </a:r>
          </a:p>
          <a:p>
            <a:r>
              <a:t>Sluit hiermee af. Dit is het antwoord op de vraag of de studie de moeite waard is als ze negatief uitvalt.</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Finally, who to contact. Practical questions — inclusions, measurements, forms, sensors — come to me. Scientific questions and arrangements at centre level go to Professor Deschamps. Thank you.</a:t>
            </a:r>
          </a:p>
          <a:p/>
          <a:p>
            <a:r>
              <a:t>PRESENTATIETIP</a:t>
            </a:r>
          </a:p>
          <a:p>
            <a:r>
              <a:t>Laat deze dia staan tijdens het napraten. Zeg erbij dat kleine dingen ook mogen — een sensor die niet uitleest is geen domme vraag.</a:t>
            </a:r>
          </a:p>
          <a:p/>
          <a:p>
            <a:r>
              <a:t>INTERACTIE</a:t>
            </a:r>
          </a:p>
          <a:p>
            <a:r>
              <a:t>Loop rond terwijl de dia staat. Wie een vraag heeft, komt naar het gezicht dat op het scherm staat.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Deze dia laat u staan tijdens de vragen. Alles wat u genoemd hebt, staat hier met nummer en citaat, in dezelfde nummering als het protocolmanuscript.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5.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5.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5.png"/><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5.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3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fotokader" descr="titel_voetonderzoek.jpg"/>
          <p:cNvPicPr>
            <a:picLocks noChangeAspect="1"/>
          </p:cNvPicPr>
          <p:nvPr/>
        </p:nvPicPr>
        <p:blipFill>
          <a:blip r:embed="rId2"/>
          <a:stretch>
            <a:fillRect/>
          </a:stretch>
        </p:blipFill>
        <p:spPr>
          <a:xfrm>
            <a:off x="-45491" y="0"/>
            <a:ext cx="12282678" cy="6857828"/>
          </a:xfrm>
          <a:prstGeom prst="rect">
            <a:avLst/>
          </a:prstGeom>
        </p:spPr>
      </p:pic>
      <p:sp>
        <p:nvSpPr>
          <p:cNvPr id="4" name="Rectangle 3"/>
          <p:cNvSpPr/>
          <p:nvPr/>
        </p:nvSpPr>
        <p:spPr>
          <a:xfrm>
            <a:off x="0" y="0"/>
            <a:ext cx="12191695" cy="6857828"/>
          </a:xfrm>
          <a:prstGeom prst="rect">
            <a:avLst/>
          </a:prstGeom>
          <a:gradFill rotWithShape="1">
            <a:gsLst>
              <a:gs pos="0">
                <a:srgbClr val="04182A">
                  <a:alpha val="10000"/>
                </a:srgbClr>
              </a:gs>
              <a:gs pos="62000">
                <a:srgbClr val="04182A">
                  <a:alpha val="96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aradise_merk.png"/>
          <p:cNvPicPr>
            <a:picLocks noChangeAspect="1"/>
          </p:cNvPicPr>
          <p:nvPr/>
        </p:nvPicPr>
        <p:blipFill>
          <a:blip r:embed="rId3"/>
          <a:stretch>
            <a:fillRect/>
          </a:stretch>
        </p:blipFill>
        <p:spPr>
          <a:xfrm>
            <a:off x="516169" y="482587"/>
            <a:ext cx="1177404" cy="1346166"/>
          </a:xfrm>
          <a:prstGeom prst="rect">
            <a:avLst/>
          </a:prstGeom>
        </p:spPr>
      </p:pic>
      <p:sp>
        <p:nvSpPr>
          <p:cNvPr id="6" name="hero"/>
          <p:cNvSpPr txBox="1"/>
          <p:nvPr/>
        </p:nvSpPr>
        <p:spPr>
          <a:xfrm>
            <a:off x="634984" y="3848003"/>
            <a:ext cx="8889777" cy="1650958"/>
          </a:xfrm>
          <a:prstGeom prst="rect">
            <a:avLst/>
          </a:prstGeom>
          <a:noFill/>
        </p:spPr>
        <p:txBody>
          <a:bodyPr wrap="none" anchor="t" lIns="0" rIns="0" tIns="0" bIns="0">
            <a:spAutoFit/>
          </a:bodyPr>
          <a:lstStyle/>
          <a:p>
            <a:pPr algn="l">
              <a:lnSpc>
                <a:spcPct val="90000"/>
              </a:lnSpc>
            </a:pPr>
            <a:r>
              <a:rPr sz="12400" b="1">
                <a:solidFill>
                  <a:srgbClr val="F2F8FC"/>
                </a:solidFill>
                <a:latin typeface="Segoe UI"/>
              </a:rPr>
              <a:t>PARADISE</a:t>
            </a:r>
          </a:p>
        </p:txBody>
      </p:sp>
      <p:sp>
        <p:nvSpPr>
          <p:cNvPr id="7" name="TextBox 6"/>
          <p:cNvSpPr txBox="1"/>
          <p:nvPr/>
        </p:nvSpPr>
        <p:spPr>
          <a:xfrm>
            <a:off x="673083" y="5397365"/>
            <a:ext cx="8889777" cy="380990"/>
          </a:xfrm>
          <a:prstGeom prst="rect">
            <a:avLst/>
          </a:prstGeom>
          <a:noFill/>
        </p:spPr>
        <p:txBody>
          <a:bodyPr wrap="square" anchor="t" lIns="0" rIns="0" tIns="0" bIns="0">
            <a:spAutoFit/>
          </a:bodyPr>
          <a:lstStyle/>
          <a:p>
            <a:pPr algn="l">
              <a:lnSpc>
                <a:spcPct val="125000"/>
              </a:lnSpc>
            </a:pPr>
            <a:r>
              <a:rPr sz="2800" b="1">
                <a:solidFill>
                  <a:srgbClr val="52BDEC"/>
                </a:solidFill>
                <a:latin typeface="Segoe UI"/>
              </a:rPr>
              <a:t>Trial design · scientific session</a:t>
            </a:r>
          </a:p>
        </p:txBody>
      </p:sp>
      <p:sp>
        <p:nvSpPr>
          <p:cNvPr id="8" name="Rectangle 7"/>
          <p:cNvSpPr/>
          <p:nvPr/>
        </p:nvSpPr>
        <p:spPr>
          <a:xfrm>
            <a:off x="634984" y="587995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34984" y="6045048"/>
            <a:ext cx="1685893"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kuleuven.png"/>
          <p:cNvPicPr>
            <a:picLocks noChangeAspect="1"/>
          </p:cNvPicPr>
          <p:nvPr/>
        </p:nvPicPr>
        <p:blipFill>
          <a:blip r:embed="rId4"/>
          <a:stretch>
            <a:fillRect/>
          </a:stretch>
        </p:blipFill>
        <p:spPr>
          <a:xfrm>
            <a:off x="787380" y="6152996"/>
            <a:ext cx="1381100" cy="393690"/>
          </a:xfrm>
          <a:prstGeom prst="rect">
            <a:avLst/>
          </a:prstGeom>
        </p:spPr>
      </p:pic>
      <p:sp>
        <p:nvSpPr>
          <p:cNvPr id="11" name="Rounded Rectangle 10"/>
          <p:cNvSpPr/>
          <p:nvPr/>
        </p:nvSpPr>
        <p:spPr>
          <a:xfrm>
            <a:off x="2574870" y="6045048"/>
            <a:ext cx="1420884"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vub.png"/>
          <p:cNvPicPr>
            <a:picLocks noChangeAspect="1"/>
          </p:cNvPicPr>
          <p:nvPr/>
        </p:nvPicPr>
        <p:blipFill>
          <a:blip r:embed="rId5"/>
          <a:stretch>
            <a:fillRect/>
          </a:stretch>
        </p:blipFill>
        <p:spPr>
          <a:xfrm>
            <a:off x="2727267" y="6152996"/>
            <a:ext cx="1116092" cy="393690"/>
          </a:xfrm>
          <a:prstGeom prst="rect">
            <a:avLst/>
          </a:prstGeom>
        </p:spPr>
      </p:pic>
      <p:sp>
        <p:nvSpPr>
          <p:cNvPr id="13" name="TextBox 12"/>
          <p:cNvSpPr txBox="1"/>
          <p:nvPr/>
        </p:nvSpPr>
        <p:spPr>
          <a:xfrm>
            <a:off x="4249749" y="6095847"/>
            <a:ext cx="2158946" cy="253993"/>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FWO</a:t>
            </a:r>
          </a:p>
        </p:txBody>
      </p:sp>
      <p:sp>
        <p:nvSpPr>
          <p:cNvPr id="14" name="TextBox 13"/>
          <p:cNvSpPr txBox="1"/>
          <p:nvPr/>
        </p:nvSpPr>
        <p:spPr>
          <a:xfrm>
            <a:off x="4262449" y="6349841"/>
            <a:ext cx="2666933" cy="215894"/>
          </a:xfrm>
          <a:prstGeom prst="rect">
            <a:avLst/>
          </a:prstGeom>
          <a:noFill/>
        </p:spPr>
        <p:txBody>
          <a:bodyPr wrap="square" anchor="t" lIns="0" rIns="0" tIns="0" bIns="0">
            <a:spAutoFit/>
          </a:bodyPr>
          <a:lstStyle/>
          <a:p>
            <a:pPr algn="l">
              <a:lnSpc>
                <a:spcPct val="125000"/>
              </a:lnSpc>
            </a:pPr>
            <a:r>
              <a:rPr sz="1200" b="0">
                <a:solidFill>
                  <a:srgbClr val="8FB6D0"/>
                </a:solidFill>
                <a:latin typeface="Consolas"/>
              </a:rPr>
              <a:t>TBM T000226N</a:t>
            </a:r>
          </a:p>
        </p:txBody>
      </p:sp>
      <p:sp>
        <p:nvSpPr>
          <p:cNvPr id="15" name="TextBox 14"/>
          <p:cNvSpPr txBox="1"/>
          <p:nvPr/>
        </p:nvSpPr>
        <p:spPr>
          <a:xfrm>
            <a:off x="7111822" y="6565735"/>
            <a:ext cx="4571885" cy="190495"/>
          </a:xfrm>
          <a:prstGeom prst="rect">
            <a:avLst/>
          </a:prstGeom>
          <a:noFill/>
        </p:spPr>
        <p:txBody>
          <a:bodyPr wrap="none" anchor="t" lIns="0" rIns="0" tIns="0" bIns="0">
            <a:spAutoFit/>
          </a:bodyPr>
          <a:lstStyle/>
          <a:p>
            <a:pPr algn="r">
              <a:lnSpc>
                <a:spcPct val="125000"/>
              </a:lnSpc>
            </a:pPr>
            <a:r>
              <a:rPr sz="1100" b="0">
                <a:solidFill>
                  <a:srgbClr val="8FB6D0"/>
                </a:solidFill>
                <a:latin typeface="Consolas"/>
              </a:rPr>
              <a:t>Protocol version 1.0 · 17 May 2026 · S71769</a:t>
            </a:r>
          </a:p>
        </p:txBody>
      </p:sp>
    </p:spTree>
  </p:cSld>
  <p:clrMapOvr>
    <a:masterClrMapping/>
  </p:clrMapOvr>
  <p:transition xmlns:p14="http://schemas.microsoft.com/office/powerpoint/2010/main" spd="slow" p14:dur="900">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WHERE WE STAND</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144 participants, 24 per centre</a:t>
            </a:r>
          </a:p>
        </p:txBody>
      </p:sp>
      <p:sp>
        <p:nvSpPr>
          <p:cNvPr id="5" name="Oval 4"/>
          <p:cNvSpPr/>
          <p:nvPr/>
        </p:nvSpPr>
        <p:spPr>
          <a:xfrm>
            <a:off x="634984"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6278"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117572"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358866"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0015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84145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08274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232404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56533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280662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04792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28921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53051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77180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01309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425439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49568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73698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97827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21956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546086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70215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594345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18474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34984"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76278"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117572"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358866"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60015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84145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208274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232404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256533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280662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04792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328921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353051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377180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401309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425439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449568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473698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497827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521956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546086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570215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594345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618474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34984"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876278"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1117572"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1358866"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160015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184145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208274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232404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256533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280662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304792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328921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353051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377180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401309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425439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449568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473698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497827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521956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546086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570215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594345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618474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634984"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876278"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1117572"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1358866"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60015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184145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208274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232404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256533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280662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304792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328921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353051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377180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401309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425439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449568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473698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497827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521956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546086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570215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594345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618474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634984"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876278"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1117572"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1358866"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160015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184145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208274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232404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Oval 108"/>
          <p:cNvSpPr/>
          <p:nvPr/>
        </p:nvSpPr>
        <p:spPr>
          <a:xfrm>
            <a:off x="256533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Oval 109"/>
          <p:cNvSpPr/>
          <p:nvPr/>
        </p:nvSpPr>
        <p:spPr>
          <a:xfrm>
            <a:off x="280662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304792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Oval 111"/>
          <p:cNvSpPr/>
          <p:nvPr/>
        </p:nvSpPr>
        <p:spPr>
          <a:xfrm>
            <a:off x="328921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Oval 112"/>
          <p:cNvSpPr/>
          <p:nvPr/>
        </p:nvSpPr>
        <p:spPr>
          <a:xfrm>
            <a:off x="353051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377180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Oval 114"/>
          <p:cNvSpPr/>
          <p:nvPr/>
        </p:nvSpPr>
        <p:spPr>
          <a:xfrm>
            <a:off x="401309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Oval 115"/>
          <p:cNvSpPr/>
          <p:nvPr/>
        </p:nvSpPr>
        <p:spPr>
          <a:xfrm>
            <a:off x="425439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Oval 116"/>
          <p:cNvSpPr/>
          <p:nvPr/>
        </p:nvSpPr>
        <p:spPr>
          <a:xfrm>
            <a:off x="449568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473698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Oval 118"/>
          <p:cNvSpPr/>
          <p:nvPr/>
        </p:nvSpPr>
        <p:spPr>
          <a:xfrm>
            <a:off x="497827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Oval 119"/>
          <p:cNvSpPr/>
          <p:nvPr/>
        </p:nvSpPr>
        <p:spPr>
          <a:xfrm>
            <a:off x="521956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Oval 120"/>
          <p:cNvSpPr/>
          <p:nvPr/>
        </p:nvSpPr>
        <p:spPr>
          <a:xfrm>
            <a:off x="546086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Oval 121"/>
          <p:cNvSpPr/>
          <p:nvPr/>
        </p:nvSpPr>
        <p:spPr>
          <a:xfrm>
            <a:off x="570215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Oval 122"/>
          <p:cNvSpPr/>
          <p:nvPr/>
        </p:nvSpPr>
        <p:spPr>
          <a:xfrm>
            <a:off x="594345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Oval 123"/>
          <p:cNvSpPr/>
          <p:nvPr/>
        </p:nvSpPr>
        <p:spPr>
          <a:xfrm>
            <a:off x="618474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Oval 124"/>
          <p:cNvSpPr/>
          <p:nvPr/>
        </p:nvSpPr>
        <p:spPr>
          <a:xfrm>
            <a:off x="634984"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Oval 125"/>
          <p:cNvSpPr/>
          <p:nvPr/>
        </p:nvSpPr>
        <p:spPr>
          <a:xfrm>
            <a:off x="876278"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Oval 126"/>
          <p:cNvSpPr/>
          <p:nvPr/>
        </p:nvSpPr>
        <p:spPr>
          <a:xfrm>
            <a:off x="1117572"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Oval 127"/>
          <p:cNvSpPr/>
          <p:nvPr/>
        </p:nvSpPr>
        <p:spPr>
          <a:xfrm>
            <a:off x="1358866"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Oval 128"/>
          <p:cNvSpPr/>
          <p:nvPr/>
        </p:nvSpPr>
        <p:spPr>
          <a:xfrm>
            <a:off x="160015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Oval 129"/>
          <p:cNvSpPr/>
          <p:nvPr/>
        </p:nvSpPr>
        <p:spPr>
          <a:xfrm>
            <a:off x="184145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Oval 130"/>
          <p:cNvSpPr/>
          <p:nvPr/>
        </p:nvSpPr>
        <p:spPr>
          <a:xfrm>
            <a:off x="208274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Oval 131"/>
          <p:cNvSpPr/>
          <p:nvPr/>
        </p:nvSpPr>
        <p:spPr>
          <a:xfrm>
            <a:off x="232404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Oval 132"/>
          <p:cNvSpPr/>
          <p:nvPr/>
        </p:nvSpPr>
        <p:spPr>
          <a:xfrm>
            <a:off x="256533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Oval 133"/>
          <p:cNvSpPr/>
          <p:nvPr/>
        </p:nvSpPr>
        <p:spPr>
          <a:xfrm>
            <a:off x="280662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Oval 134"/>
          <p:cNvSpPr/>
          <p:nvPr/>
        </p:nvSpPr>
        <p:spPr>
          <a:xfrm>
            <a:off x="304792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Oval 135"/>
          <p:cNvSpPr/>
          <p:nvPr/>
        </p:nvSpPr>
        <p:spPr>
          <a:xfrm>
            <a:off x="328921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Oval 136"/>
          <p:cNvSpPr/>
          <p:nvPr/>
        </p:nvSpPr>
        <p:spPr>
          <a:xfrm>
            <a:off x="353051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Oval 137"/>
          <p:cNvSpPr/>
          <p:nvPr/>
        </p:nvSpPr>
        <p:spPr>
          <a:xfrm>
            <a:off x="377180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Oval 138"/>
          <p:cNvSpPr/>
          <p:nvPr/>
        </p:nvSpPr>
        <p:spPr>
          <a:xfrm>
            <a:off x="401309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Oval 139"/>
          <p:cNvSpPr/>
          <p:nvPr/>
        </p:nvSpPr>
        <p:spPr>
          <a:xfrm>
            <a:off x="425439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Oval 140"/>
          <p:cNvSpPr/>
          <p:nvPr/>
        </p:nvSpPr>
        <p:spPr>
          <a:xfrm>
            <a:off x="449568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Oval 141"/>
          <p:cNvSpPr/>
          <p:nvPr/>
        </p:nvSpPr>
        <p:spPr>
          <a:xfrm>
            <a:off x="473698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Oval 142"/>
          <p:cNvSpPr/>
          <p:nvPr/>
        </p:nvSpPr>
        <p:spPr>
          <a:xfrm>
            <a:off x="497827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Oval 143"/>
          <p:cNvSpPr/>
          <p:nvPr/>
        </p:nvSpPr>
        <p:spPr>
          <a:xfrm>
            <a:off x="521956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Oval 144"/>
          <p:cNvSpPr/>
          <p:nvPr/>
        </p:nvSpPr>
        <p:spPr>
          <a:xfrm>
            <a:off x="546086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Oval 145"/>
          <p:cNvSpPr/>
          <p:nvPr/>
        </p:nvSpPr>
        <p:spPr>
          <a:xfrm>
            <a:off x="570215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Oval 146"/>
          <p:cNvSpPr/>
          <p:nvPr/>
        </p:nvSpPr>
        <p:spPr>
          <a:xfrm>
            <a:off x="594345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Oval 147"/>
          <p:cNvSpPr/>
          <p:nvPr/>
        </p:nvSpPr>
        <p:spPr>
          <a:xfrm>
            <a:off x="618474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634984" y="3301917"/>
            <a:ext cx="2539936" cy="253993"/>
          </a:xfrm>
          <a:prstGeom prst="rect">
            <a:avLst/>
          </a:prstGeom>
          <a:noFill/>
        </p:spPr>
        <p:txBody>
          <a:bodyPr wrap="square" anchor="t" lIns="0" rIns="0" tIns="0" bIns="0">
            <a:spAutoFit/>
          </a:bodyPr>
          <a:lstStyle/>
          <a:p>
            <a:pPr algn="l">
              <a:lnSpc>
                <a:spcPct val="125000"/>
              </a:lnSpc>
            </a:pPr>
            <a:r>
              <a:rPr sz="1300" b="1" spc="140">
                <a:solidFill>
                  <a:srgbClr val="52BDEC"/>
                </a:solidFill>
                <a:latin typeface="Consolas"/>
              </a:rPr>
              <a:t>72 PARADISE</a:t>
            </a:r>
          </a:p>
        </p:txBody>
      </p:sp>
      <p:sp>
        <p:nvSpPr>
          <p:cNvPr id="150" name="TextBox 149"/>
          <p:cNvSpPr txBox="1"/>
          <p:nvPr/>
        </p:nvSpPr>
        <p:spPr>
          <a:xfrm>
            <a:off x="2412939" y="3301917"/>
            <a:ext cx="2539936" cy="253993"/>
          </a:xfrm>
          <a:prstGeom prst="rect">
            <a:avLst/>
          </a:prstGeom>
          <a:noFill/>
        </p:spPr>
        <p:txBody>
          <a:bodyPr wrap="square" anchor="t" lIns="0" rIns="0" tIns="0" bIns="0">
            <a:spAutoFit/>
          </a:bodyPr>
          <a:lstStyle/>
          <a:p>
            <a:pPr algn="l">
              <a:lnSpc>
                <a:spcPct val="125000"/>
              </a:lnSpc>
            </a:pPr>
            <a:r>
              <a:rPr sz="1300" b="1" spc="140">
                <a:solidFill>
                  <a:srgbClr val="FF7A00"/>
                </a:solidFill>
                <a:latin typeface="Consolas"/>
              </a:rPr>
              <a:t>72 GEBRUIKELIJKE ZORG</a:t>
            </a:r>
          </a:p>
        </p:txBody>
      </p:sp>
      <p:sp>
        <p:nvSpPr>
          <p:cNvPr id="151" name="Rounded Rectangle 150"/>
          <p:cNvSpPr/>
          <p:nvPr/>
        </p:nvSpPr>
        <p:spPr>
          <a:xfrm>
            <a:off x="634984"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825479" y="384800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PER CENTRE</a:t>
            </a:r>
          </a:p>
        </p:txBody>
      </p:sp>
      <p:sp>
        <p:nvSpPr>
          <p:cNvPr id="153" name="TextBox 152"/>
          <p:cNvSpPr txBox="1"/>
          <p:nvPr/>
        </p:nvSpPr>
        <p:spPr>
          <a:xfrm>
            <a:off x="825479" y="408929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24 participants — 12 PARADISE and 12 usual care</a:t>
            </a:r>
          </a:p>
        </p:txBody>
      </p:sp>
      <p:sp>
        <p:nvSpPr>
          <p:cNvPr id="154" name="Rounded Rectangle 153"/>
          <p:cNvSpPr/>
          <p:nvPr/>
        </p:nvSpPr>
        <p:spPr>
          <a:xfrm>
            <a:off x="6171918"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6362413" y="384800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CONTROL ARM</a:t>
            </a:r>
          </a:p>
        </p:txBody>
      </p:sp>
      <p:sp>
        <p:nvSpPr>
          <p:cNvPr id="156" name="TextBox 155"/>
          <p:cNvSpPr txBox="1"/>
          <p:nvPr/>
        </p:nvSpPr>
        <p:spPr>
          <a:xfrm>
            <a:off x="6362413" y="408929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Usual care, unchanged</a:t>
            </a:r>
          </a:p>
        </p:txBody>
      </p:sp>
      <p:sp>
        <p:nvSpPr>
          <p:cNvPr id="157" name="Rounded Rectangle 156"/>
          <p:cNvSpPr/>
          <p:nvPr/>
        </p:nvSpPr>
        <p:spPr>
          <a:xfrm>
            <a:off x="634984"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TextBox 157"/>
          <p:cNvSpPr txBox="1"/>
          <p:nvPr/>
        </p:nvSpPr>
        <p:spPr>
          <a:xfrm>
            <a:off x="825479" y="464808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PRIMARY</a:t>
            </a:r>
          </a:p>
        </p:txBody>
      </p:sp>
      <p:sp>
        <p:nvSpPr>
          <p:cNvPr id="159" name="TextBox 158"/>
          <p:cNvSpPr txBox="1"/>
          <p:nvPr/>
        </p:nvSpPr>
        <p:spPr>
          <a:xfrm>
            <a:off x="825479" y="488937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Recurrence at 18 months</a:t>
            </a:r>
          </a:p>
        </p:txBody>
      </p:sp>
      <p:sp>
        <p:nvSpPr>
          <p:cNvPr id="160" name="Rounded Rectangle 159"/>
          <p:cNvSpPr/>
          <p:nvPr/>
        </p:nvSpPr>
        <p:spPr>
          <a:xfrm>
            <a:off x="6171918"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6362413" y="464808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POSITIVE</a:t>
            </a:r>
          </a:p>
        </p:txBody>
      </p:sp>
      <p:sp>
        <p:nvSpPr>
          <p:cNvPr id="162" name="TextBox 161"/>
          <p:cNvSpPr txBox="1"/>
          <p:nvPr/>
        </p:nvSpPr>
        <p:spPr>
          <a:xfrm>
            <a:off x="6362413" y="488937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Only if the endpoint is met</a:t>
            </a:r>
          </a:p>
        </p:txBody>
      </p:sp>
      <p:sp>
        <p:nvSpPr>
          <p:cNvPr id="163" name="Rectangle 162"/>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extBox 163"/>
          <p:cNvSpPr txBox="1"/>
          <p:nvPr/>
        </p:nvSpPr>
        <p:spPr>
          <a:xfrm>
            <a:off x="634984" y="5575160"/>
            <a:ext cx="5714857" cy="215894"/>
          </a:xfrm>
          <a:prstGeom prst="rect">
            <a:avLst/>
          </a:prstGeom>
          <a:noFill/>
        </p:spPr>
        <p:txBody>
          <a:bodyPr wrap="square" anchor="t" lIns="0" rIns="0" tIns="0" bIns="0">
            <a:spAutoFit/>
          </a:bodyPr>
          <a:lstStyle/>
          <a:p>
            <a:pPr algn="l">
              <a:lnSpc>
                <a:spcPct val="125000"/>
              </a:lnSpc>
            </a:pPr>
            <a:r>
              <a:rPr sz="1200" b="1" spc="140">
                <a:solidFill>
                  <a:srgbClr val="8FB6D0"/>
                </a:solidFill>
                <a:latin typeface="Consolas"/>
              </a:rPr>
              <a:t>THE SIX PARTICIPATING FOOT CLINICS</a:t>
            </a:r>
          </a:p>
        </p:txBody>
      </p:sp>
      <p:sp>
        <p:nvSpPr>
          <p:cNvPr id="165" name="Rounded Rectangle 164"/>
          <p:cNvSpPr/>
          <p:nvPr/>
        </p:nvSpPr>
        <p:spPr>
          <a:xfrm>
            <a:off x="634984"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TextBox 165"/>
          <p:cNvSpPr txBox="1"/>
          <p:nvPr/>
        </p:nvSpPr>
        <p:spPr>
          <a:xfrm>
            <a:off x="634984"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AZORG</a:t>
            </a:r>
          </a:p>
        </p:txBody>
      </p:sp>
      <p:sp>
        <p:nvSpPr>
          <p:cNvPr id="167" name="Rounded Rectangle 166"/>
          <p:cNvSpPr/>
          <p:nvPr/>
        </p:nvSpPr>
        <p:spPr>
          <a:xfrm>
            <a:off x="2463738"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TextBox 167"/>
          <p:cNvSpPr txBox="1"/>
          <p:nvPr/>
        </p:nvSpPr>
        <p:spPr>
          <a:xfrm>
            <a:off x="2463738"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 Sint-Jan Brugge</a:t>
            </a:r>
          </a:p>
        </p:txBody>
      </p:sp>
      <p:sp>
        <p:nvSpPr>
          <p:cNvPr id="169" name="Rounded Rectangle 168"/>
          <p:cNvSpPr/>
          <p:nvPr/>
        </p:nvSpPr>
        <p:spPr>
          <a:xfrm>
            <a:off x="4292492"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TextBox 169"/>
          <p:cNvSpPr txBox="1"/>
          <p:nvPr/>
        </p:nvSpPr>
        <p:spPr>
          <a:xfrm>
            <a:off x="4292492"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 Groeninge</a:t>
            </a:r>
          </a:p>
        </p:txBody>
      </p:sp>
      <p:sp>
        <p:nvSpPr>
          <p:cNvPr id="171" name="Rounded Rectangle 170"/>
          <p:cNvSpPr/>
          <p:nvPr/>
        </p:nvSpPr>
        <p:spPr>
          <a:xfrm>
            <a:off x="6121246"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TextBox 171"/>
          <p:cNvSpPr txBox="1"/>
          <p:nvPr/>
        </p:nvSpPr>
        <p:spPr>
          <a:xfrm>
            <a:off x="6121246"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Gent</a:t>
            </a:r>
          </a:p>
        </p:txBody>
      </p:sp>
      <p:sp>
        <p:nvSpPr>
          <p:cNvPr id="173" name="Rounded Rectangle 172"/>
          <p:cNvSpPr/>
          <p:nvPr/>
        </p:nvSpPr>
        <p:spPr>
          <a:xfrm>
            <a:off x="7950001"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TextBox 173"/>
          <p:cNvSpPr txBox="1"/>
          <p:nvPr/>
        </p:nvSpPr>
        <p:spPr>
          <a:xfrm>
            <a:off x="7950001"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Leuven</a:t>
            </a:r>
          </a:p>
        </p:txBody>
      </p:sp>
      <p:sp>
        <p:nvSpPr>
          <p:cNvPr id="175" name="Rounded Rectangle 174"/>
          <p:cNvSpPr/>
          <p:nvPr/>
        </p:nvSpPr>
        <p:spPr>
          <a:xfrm>
            <a:off x="9778755"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TextBox 175"/>
          <p:cNvSpPr txBox="1"/>
          <p:nvPr/>
        </p:nvSpPr>
        <p:spPr>
          <a:xfrm>
            <a:off x="9778755"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Antwerpen</a:t>
            </a:r>
          </a:p>
        </p:txBody>
      </p:sp>
      <p:sp>
        <p:nvSpPr>
          <p:cNvPr id="177" name="TextBox 17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02 / 33</a:t>
            </a:r>
          </a:p>
        </p:txBody>
      </p:sp>
      <p:pic>
        <p:nvPicPr>
          <p:cNvPr id="178"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179" name="TextBox 178"/>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20 · Morbach 2016</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7828"/>
          </a:xfrm>
          <a:prstGeom prst="rect">
            <a:avLst/>
          </a:prstGeom>
          <a:gradFill rotWithShape="1">
            <a:gsLst>
              <a:gs pos="0">
                <a:srgbClr val="52BDEC"/>
              </a:gs>
              <a:gs pos="100000">
                <a:srgbClr val="1D8DB0"/>
              </a:gs>
            </a:gsLst>
            <a:lin ang="27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nal"/>
          <p:cNvSpPr txBox="1"/>
          <p:nvPr/>
        </p:nvSpPr>
        <p:spPr>
          <a:xfrm>
            <a:off x="952476" y="1523961"/>
            <a:ext cx="10286742" cy="4190895"/>
          </a:xfrm>
          <a:prstGeom prst="rect">
            <a:avLst/>
          </a:prstGeom>
          <a:noFill/>
        </p:spPr>
        <p:txBody>
          <a:bodyPr wrap="square" anchor="t" lIns="0" rIns="0" tIns="0" bIns="0">
            <a:spAutoFit/>
          </a:bodyPr>
          <a:lstStyle/>
          <a:p>
            <a:pPr algn="l">
              <a:lnSpc>
                <a:spcPct val="106000"/>
              </a:lnSpc>
            </a:pPr>
            <a:r>
              <a:rPr sz="5400" b="1">
                <a:solidFill>
                  <a:srgbClr val="04182A"/>
                </a:solidFill>
                <a:latin typeface="Segoe UI"/>
              </a:rPr>
              <a:t>PARADISE does not test efficacy.</a:t>
            </a:r>
          </a:p>
          <a:p>
            <a:pPr algn="l">
              <a:lnSpc>
                <a:spcPct val="106000"/>
              </a:lnSpc>
              <a:spcBef>
                <a:spcPts val="500"/>
              </a:spcBef>
            </a:pPr>
            <a:r>
              <a:rPr sz="5400" b="1">
                <a:solidFill>
                  <a:srgbClr val="04182A"/>
                </a:solidFill>
                <a:latin typeface="Segoe UI"/>
              </a:rPr>
              <a:t>PARADISE tests translation.</a:t>
            </a:r>
          </a:p>
        </p:txBody>
      </p:sp>
      <p:sp>
        <p:nvSpPr>
          <p:cNvPr id="5" name="TextBox 4"/>
          <p:cNvSpPr txBox="1"/>
          <p:nvPr/>
        </p:nvSpPr>
        <p:spPr>
          <a:xfrm>
            <a:off x="977875" y="6006949"/>
            <a:ext cx="9524761" cy="279393"/>
          </a:xfrm>
          <a:prstGeom prst="rect">
            <a:avLst/>
          </a:prstGeom>
          <a:noFill/>
        </p:spPr>
        <p:txBody>
          <a:bodyPr wrap="square" anchor="t" lIns="0" rIns="0" tIns="0" bIns="0">
            <a:spAutoFit/>
          </a:bodyPr>
          <a:lstStyle/>
          <a:p>
            <a:pPr algn="l">
              <a:lnSpc>
                <a:spcPct val="125000"/>
              </a:lnSpc>
            </a:pPr>
            <a:r>
              <a:rPr sz="1700" b="0">
                <a:solidFill>
                  <a:srgbClr val="04182A"/>
                </a:solidFill>
                <a:latin typeface="Consolas"/>
              </a:rPr>
              <a:t>Every component already exists. No component worked on its own.</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431789" y="723881"/>
            <a:ext cx="5714857" cy="2920926"/>
          </a:xfrm>
          <a:prstGeom prst="rect">
            <a:avLst/>
          </a:prstGeom>
          <a:noFill/>
        </p:spPr>
        <p:txBody>
          <a:bodyPr wrap="none" anchor="t" lIns="0" rIns="0" tIns="0" bIns="0">
            <a:spAutoFit/>
          </a:bodyPr>
          <a:lstStyle/>
          <a:p>
            <a:pPr algn="l">
              <a:lnSpc>
                <a:spcPct val="82000"/>
              </a:lnSpc>
            </a:pPr>
            <a:r>
              <a:rPr sz="26000" b="1">
                <a:solidFill>
                  <a:srgbClr val="52BDEC">
                    <a:alpha val="15000"/>
                  </a:srgbClr>
                </a:solidFill>
                <a:latin typeface="Segoe UI"/>
              </a:rPr>
              <a:t>01</a:t>
            </a:r>
          </a:p>
        </p:txBody>
      </p:sp>
      <p:sp>
        <p:nvSpPr>
          <p:cNvPr id="5" name="TextBox 4"/>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BLOCK 01</a:t>
            </a:r>
          </a:p>
        </p:txBody>
      </p:sp>
      <p:sp>
        <p:nvSpPr>
          <p:cNvPr id="6" name="Rectangle 5"/>
          <p:cNvSpPr/>
          <p:nvPr/>
        </p:nvSpPr>
        <p:spPr>
          <a:xfrm>
            <a:off x="634984" y="3213019"/>
            <a:ext cx="812779" cy="50798"/>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Why</a:t>
            </a:r>
          </a:p>
        </p:txBody>
      </p:sp>
      <p:sp>
        <p:nvSpPr>
          <p:cNvPr id="8" name="TextBox 7"/>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Four numbers explain why there are two targets, not one.</a:t>
            </a:r>
          </a:p>
        </p:txBody>
      </p:sp>
      <p:sp>
        <p:nvSpPr>
          <p:cNvPr id="9" name="TextBox 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04 / 33</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15974" y="253993"/>
            <a:ext cx="5206869" cy="5206869"/>
          </a:xfrm>
          <a:prstGeom prst="ellipse">
            <a:avLst/>
          </a:prstGeom>
          <a:solidFill>
            <a:srgbClr val="FF7A00">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ro"/>
          <p:cNvSpPr txBox="1"/>
          <p:nvPr/>
        </p:nvSpPr>
        <p:spPr>
          <a:xfrm>
            <a:off x="380990" y="761980"/>
            <a:ext cx="7619809" cy="3301917"/>
          </a:xfrm>
          <a:prstGeom prst="rect">
            <a:avLst/>
          </a:prstGeom>
          <a:noFill/>
        </p:spPr>
        <p:txBody>
          <a:bodyPr wrap="square" anchor="t" lIns="0" rIns="0" tIns="0" bIns="0">
            <a:spAutoFit/>
          </a:bodyPr>
          <a:lstStyle/>
          <a:p>
            <a:pPr algn="l">
              <a:lnSpc>
                <a:spcPct val="82000"/>
              </a:lnSpc>
            </a:pPr>
            <a:r>
              <a:rPr sz="25000" b="1">
                <a:solidFill>
                  <a:srgbClr val="FF7A00"/>
                </a:solidFill>
                <a:latin typeface="Segoe UI"/>
              </a:rPr>
              <a:t>40</a:t>
            </a:r>
          </a:p>
        </p:txBody>
      </p:sp>
      <p:sp>
        <p:nvSpPr>
          <p:cNvPr id="5" name="TextBox 4"/>
          <p:cNvSpPr txBox="1"/>
          <p:nvPr/>
        </p:nvSpPr>
        <p:spPr>
          <a:xfrm>
            <a:off x="4444888" y="1320766"/>
            <a:ext cx="1523961" cy="1015974"/>
          </a:xfrm>
          <a:prstGeom prst="rect">
            <a:avLst/>
          </a:prstGeom>
          <a:noFill/>
        </p:spPr>
        <p:txBody>
          <a:bodyPr wrap="square" anchor="t" lIns="0" rIns="0" tIns="0" bIns="0">
            <a:spAutoFit/>
          </a:bodyPr>
          <a:lstStyle/>
          <a:p>
            <a:pPr algn="l">
              <a:lnSpc>
                <a:spcPct val="125000"/>
              </a:lnSpc>
            </a:pPr>
            <a:r>
              <a:rPr sz="7600" b="1">
                <a:solidFill>
                  <a:srgbClr val="FF7A00"/>
                </a:solidFill>
                <a:latin typeface="Segoe UI Light"/>
              </a:rPr>
              <a:t>%</a:t>
            </a:r>
          </a:p>
        </p:txBody>
      </p:sp>
      <p:sp>
        <p:nvSpPr>
          <p:cNvPr id="6" name="TextBox 5"/>
          <p:cNvSpPr txBox="1"/>
          <p:nvPr/>
        </p:nvSpPr>
        <p:spPr>
          <a:xfrm>
            <a:off x="660383" y="3975000"/>
            <a:ext cx="5460863" cy="1269968"/>
          </a:xfrm>
          <a:prstGeom prst="rect">
            <a:avLst/>
          </a:prstGeom>
          <a:noFill/>
        </p:spPr>
        <p:txBody>
          <a:bodyPr wrap="square" anchor="t" lIns="0" rIns="0" tIns="0" bIns="0">
            <a:spAutoFit/>
          </a:bodyPr>
          <a:lstStyle/>
          <a:p>
            <a:pPr algn="l">
              <a:lnSpc>
                <a:spcPct val="120000"/>
              </a:lnSpc>
            </a:pPr>
            <a:r>
              <a:rPr sz="3200" b="1">
                <a:solidFill>
                  <a:srgbClr val="F2F8FC"/>
                </a:solidFill>
                <a:latin typeface="Segoe UI"/>
              </a:rPr>
              <a:t>develop a new ulcer</a:t>
            </a:r>
          </a:p>
          <a:p>
            <a:pPr algn="l">
              <a:lnSpc>
                <a:spcPct val="120000"/>
              </a:lnSpc>
              <a:spcBef>
                <a:spcPts val="500"/>
              </a:spcBef>
            </a:pPr>
            <a:r>
              <a:rPr sz="3200" b="1">
                <a:solidFill>
                  <a:srgbClr val="F2F8FC"/>
                </a:solidFill>
                <a:latin typeface="Segoe UI"/>
              </a:rPr>
              <a:t>within one year</a:t>
            </a:r>
          </a:p>
        </p:txBody>
      </p:sp>
      <p:sp>
        <p:nvSpPr>
          <p:cNvPr id="7" name="Rounded Rectangle 6"/>
          <p:cNvSpPr/>
          <p:nvPr/>
        </p:nvSpPr>
        <p:spPr>
          <a:xfrm>
            <a:off x="8017563" y="1142971"/>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0758" y="1320766"/>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65%</a:t>
            </a:r>
          </a:p>
        </p:txBody>
      </p:sp>
      <p:sp>
        <p:nvSpPr>
          <p:cNvPr id="9" name="TextBox 8"/>
          <p:cNvSpPr txBox="1"/>
          <p:nvPr/>
        </p:nvSpPr>
        <p:spPr>
          <a:xfrm>
            <a:off x="8233458" y="1930351"/>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AT FIVE YEARS</a:t>
            </a:r>
          </a:p>
        </p:txBody>
      </p:sp>
      <p:sp>
        <p:nvSpPr>
          <p:cNvPr id="10" name="Rounded Rectangle 9"/>
          <p:cNvSpPr/>
          <p:nvPr/>
        </p:nvSpPr>
        <p:spPr>
          <a:xfrm>
            <a:off x="8017563" y="2514537"/>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0758" y="2692332"/>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2,5×</a:t>
            </a:r>
          </a:p>
        </p:txBody>
      </p:sp>
      <p:sp>
        <p:nvSpPr>
          <p:cNvPr id="12" name="TextBox 11"/>
          <p:cNvSpPr txBox="1"/>
          <p:nvPr/>
        </p:nvSpPr>
        <p:spPr>
          <a:xfrm>
            <a:off x="8233458" y="3301917"/>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HIGHER MORTALITY</a:t>
            </a:r>
          </a:p>
        </p:txBody>
      </p:sp>
      <p:sp>
        <p:nvSpPr>
          <p:cNvPr id="13" name="Rounded Rectangle 12"/>
          <p:cNvSpPr/>
          <p:nvPr/>
        </p:nvSpPr>
        <p:spPr>
          <a:xfrm>
            <a:off x="8017563" y="3886102"/>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0758" y="4063898"/>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&gt; 70%</a:t>
            </a:r>
          </a:p>
        </p:txBody>
      </p:sp>
      <p:sp>
        <p:nvSpPr>
          <p:cNvPr id="15" name="TextBox 14"/>
          <p:cNvSpPr txBox="1"/>
          <p:nvPr/>
        </p:nvSpPr>
        <p:spPr>
          <a:xfrm>
            <a:off x="8233458" y="4673483"/>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MORTALITY AFTER MAJOR AMPUTATION</a:t>
            </a:r>
          </a:p>
        </p:txBody>
      </p:sp>
      <p:sp>
        <p:nvSpPr>
          <p:cNvPr id="16" name="TextBox 15"/>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Armstrong, Boulton &amp; Bus · N Engl J Med 2017</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05 / 33</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19" name="TextBox 18"/>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1 · Armstrong 2017</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THE RISK AFTER HEALING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Two thirds recur within five years</a:t>
            </a:r>
          </a:p>
        </p:txBody>
      </p:sp>
      <p:sp>
        <p:nvSpPr>
          <p:cNvPr id="5" name="TextBox 4"/>
          <p:cNvSpPr txBox="1"/>
          <p:nvPr/>
        </p:nvSpPr>
        <p:spPr>
          <a:xfrm>
            <a:off x="634984" y="2489137"/>
            <a:ext cx="4063898" cy="228594"/>
          </a:xfrm>
          <a:prstGeom prst="rect">
            <a:avLst/>
          </a:prstGeom>
          <a:noFill/>
        </p:spPr>
        <p:txBody>
          <a:bodyPr wrap="square" anchor="t" lIns="0" rIns="0" tIns="0" bIns="0">
            <a:spAutoFit/>
          </a:bodyPr>
          <a:lstStyle/>
          <a:p>
            <a:pPr algn="l">
              <a:lnSpc>
                <a:spcPct val="125000"/>
              </a:lnSpc>
            </a:pPr>
            <a:r>
              <a:rPr sz="1100" b="1" spc="160">
                <a:solidFill>
                  <a:srgbClr val="8FB6D0"/>
                </a:solidFill>
                <a:latin typeface="Consolas"/>
              </a:rPr>
              <a:t>AT 1 YEAR</a:t>
            </a:r>
          </a:p>
        </p:txBody>
      </p:sp>
      <p:sp>
        <p:nvSpPr>
          <p:cNvPr id="6" name="TextBox 5"/>
          <p:cNvSpPr txBox="1"/>
          <p:nvPr/>
        </p:nvSpPr>
        <p:spPr>
          <a:xfrm>
            <a:off x="634984" y="2717732"/>
            <a:ext cx="4063898" cy="939776"/>
          </a:xfrm>
          <a:prstGeom prst="rect">
            <a:avLst/>
          </a:prstGeom>
          <a:noFill/>
        </p:spPr>
        <p:txBody>
          <a:bodyPr wrap="square" anchor="t" lIns="0" rIns="0" tIns="0" bIns="0">
            <a:spAutoFit/>
          </a:bodyPr>
          <a:lstStyle/>
          <a:p>
            <a:pPr algn="l">
              <a:lnSpc>
                <a:spcPct val="100000"/>
              </a:lnSpc>
            </a:pPr>
            <a:r>
              <a:rPr sz="5400" b="1">
                <a:solidFill>
                  <a:srgbClr val="52BDEC"/>
                </a:solidFill>
                <a:latin typeface="Segoe UI"/>
              </a:rPr>
              <a:t>40%</a:t>
            </a:r>
          </a:p>
        </p:txBody>
      </p:sp>
      <p:sp>
        <p:nvSpPr>
          <p:cNvPr id="7" name="TextBox 6"/>
          <p:cNvSpPr txBox="1"/>
          <p:nvPr/>
        </p:nvSpPr>
        <p:spPr>
          <a:xfrm>
            <a:off x="634984" y="4038499"/>
            <a:ext cx="4063898" cy="228594"/>
          </a:xfrm>
          <a:prstGeom prst="rect">
            <a:avLst/>
          </a:prstGeom>
          <a:noFill/>
        </p:spPr>
        <p:txBody>
          <a:bodyPr wrap="square" anchor="t" lIns="0" rIns="0" tIns="0" bIns="0">
            <a:spAutoFit/>
          </a:bodyPr>
          <a:lstStyle/>
          <a:p>
            <a:pPr algn="l">
              <a:lnSpc>
                <a:spcPct val="125000"/>
              </a:lnSpc>
            </a:pPr>
            <a:r>
              <a:rPr sz="1100" b="1" spc="160">
                <a:solidFill>
                  <a:srgbClr val="8FB6D0"/>
                </a:solidFill>
                <a:latin typeface="Consolas"/>
              </a:rPr>
              <a:t>AT 5 YEARS</a:t>
            </a:r>
          </a:p>
        </p:txBody>
      </p:sp>
      <p:sp>
        <p:nvSpPr>
          <p:cNvPr id="8" name="TextBox 7"/>
          <p:cNvSpPr txBox="1"/>
          <p:nvPr/>
        </p:nvSpPr>
        <p:spPr>
          <a:xfrm>
            <a:off x="634984" y="4267093"/>
            <a:ext cx="4063898" cy="939776"/>
          </a:xfrm>
          <a:prstGeom prst="rect">
            <a:avLst/>
          </a:prstGeom>
          <a:noFill/>
        </p:spPr>
        <p:txBody>
          <a:bodyPr wrap="square" anchor="t" lIns="0" rIns="0" tIns="0" bIns="0">
            <a:spAutoFit/>
          </a:bodyPr>
          <a:lstStyle/>
          <a:p>
            <a:pPr algn="l">
              <a:lnSpc>
                <a:spcPct val="100000"/>
              </a:lnSpc>
            </a:pPr>
            <a:r>
              <a:rPr sz="5400" b="1">
                <a:solidFill>
                  <a:srgbClr val="FF7A00"/>
                </a:solidFill>
                <a:latin typeface="Segoe UI"/>
              </a:rPr>
              <a:t>65%</a:t>
            </a:r>
          </a:p>
        </p:txBody>
      </p:sp>
      <p:sp>
        <p:nvSpPr>
          <p:cNvPr id="9" name="TextBox 8"/>
          <p:cNvSpPr txBox="1"/>
          <p:nvPr/>
        </p:nvSpPr>
        <p:spPr>
          <a:xfrm>
            <a:off x="5587860" y="1777955"/>
            <a:ext cx="5968850" cy="279393"/>
          </a:xfrm>
          <a:prstGeom prst="rect">
            <a:avLst/>
          </a:prstGeom>
          <a:noFill/>
        </p:spPr>
        <p:txBody>
          <a:bodyPr wrap="square" anchor="t" lIns="0" rIns="0" tIns="0" bIns="0">
            <a:spAutoFit/>
          </a:bodyPr>
          <a:lstStyle/>
          <a:p>
            <a:pPr algn="l">
              <a:lnSpc>
                <a:spcPct val="125000"/>
              </a:lnSpc>
            </a:pPr>
            <a:r>
              <a:rPr sz="1300" b="0">
                <a:solidFill>
                  <a:srgbClr val="8FB6D0"/>
                </a:solidFill>
                <a:latin typeface="Segoe UI"/>
              </a:rPr>
              <a:t>Recurrence incidence against follow-up duration</a:t>
            </a:r>
          </a:p>
        </p:txBody>
      </p:sp>
      <p:sp>
        <p:nvSpPr>
          <p:cNvPr id="10" name="Rounded Rectangle 9"/>
          <p:cNvSpPr/>
          <p:nvPr/>
        </p:nvSpPr>
        <p:spPr>
          <a:xfrm>
            <a:off x="5587860" y="2133546"/>
            <a:ext cx="5968850" cy="4063898"/>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cidief_curve.png"/>
          <p:cNvPicPr>
            <a:picLocks noChangeAspect="1"/>
          </p:cNvPicPr>
          <p:nvPr/>
        </p:nvPicPr>
        <p:blipFill>
          <a:blip r:embed="rId2"/>
          <a:stretch>
            <a:fillRect/>
          </a:stretch>
        </p:blipFill>
        <p:spPr>
          <a:xfrm>
            <a:off x="5748364" y="2285942"/>
            <a:ext cx="5647842" cy="3860703"/>
          </a:xfrm>
          <a:prstGeom prst="rect">
            <a:avLst/>
          </a:prstGeom>
        </p:spPr>
      </p:pic>
      <p:sp>
        <p:nvSpPr>
          <p:cNvPr id="12" name="TextBox 11"/>
          <p:cNvSpPr txBox="1"/>
          <p:nvPr/>
        </p:nvSpPr>
        <p:spPr>
          <a:xfrm>
            <a:off x="634984" y="6273643"/>
            <a:ext cx="9524761" cy="203194"/>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Pooled data from nine prospective studies, one retrospective study and the control arms of nine RCTs</a:t>
            </a: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06 / 33</a:t>
            </a:r>
          </a:p>
        </p:txBody>
      </p:sp>
      <p:pic>
        <p:nvPicPr>
          <p:cNvPr id="14" name="merk" descr="merk.png"/>
          <p:cNvPicPr>
            <a:picLocks noChangeAspect="1"/>
          </p:cNvPicPr>
          <p:nvPr/>
        </p:nvPicPr>
        <p:blipFill>
          <a:blip r:embed="rId3"/>
          <a:stretch>
            <a:fillRect/>
          </a:stretch>
        </p:blipFill>
        <p:spPr>
          <a:xfrm>
            <a:off x="11094166" y="368290"/>
            <a:ext cx="417101" cy="482587"/>
          </a:xfrm>
          <a:prstGeom prst="rect">
            <a:avLst/>
          </a:prstGeom>
        </p:spPr>
      </p:pic>
      <p:sp>
        <p:nvSpPr>
          <p:cNvPr id="15" name="TextBox 14"/>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1 · Armstrong 2017</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beeld" descr="knal_voorkomen.jpg"/>
          <p:cNvPicPr>
            <a:picLocks noChangeAspect="1"/>
          </p:cNvPicPr>
          <p:nvPr/>
        </p:nvPicPr>
        <p:blipFill>
          <a:blip r:embed="rId2"/>
          <a:stretch>
            <a:fillRect/>
          </a:stretch>
        </p:blipFill>
        <p:spPr>
          <a:xfrm>
            <a:off x="-45491" y="0"/>
            <a:ext cx="12282678" cy="6857828"/>
          </a:xfrm>
          <a:prstGeom prst="rect">
            <a:avLst/>
          </a:prstGeom>
        </p:spPr>
      </p:pic>
      <p:sp>
        <p:nvSpPr>
          <p:cNvPr id="4" name="Rectangle 3"/>
          <p:cNvSpPr/>
          <p:nvPr/>
        </p:nvSpPr>
        <p:spPr>
          <a:xfrm>
            <a:off x="0" y="0"/>
            <a:ext cx="12191695" cy="6857828"/>
          </a:xfrm>
          <a:prstGeom prst="rect">
            <a:avLst/>
          </a:prstGeom>
          <a:gradFill rotWithShape="1">
            <a:gsLst>
              <a:gs pos="0">
                <a:srgbClr val="04182A">
                  <a:alpha val="68000"/>
                </a:srgbClr>
              </a:gs>
              <a:gs pos="100000">
                <a:srgbClr val="072138">
                  <a:alpha val="95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52476" y="1231869"/>
            <a:ext cx="812779" cy="50798"/>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knal"/>
          <p:cNvSpPr txBox="1"/>
          <p:nvPr/>
        </p:nvSpPr>
        <p:spPr>
          <a:xfrm>
            <a:off x="952476" y="1523961"/>
            <a:ext cx="10286742" cy="4190895"/>
          </a:xfrm>
          <a:prstGeom prst="rect">
            <a:avLst/>
          </a:prstGeom>
          <a:noFill/>
        </p:spPr>
        <p:txBody>
          <a:bodyPr wrap="square" anchor="t" lIns="0" rIns="0" tIns="0" bIns="0">
            <a:spAutoFit/>
          </a:bodyPr>
          <a:lstStyle/>
          <a:p>
            <a:pPr algn="l">
              <a:lnSpc>
                <a:spcPct val="106000"/>
              </a:lnSpc>
            </a:pPr>
            <a:r>
              <a:rPr sz="6200" b="1">
                <a:solidFill>
                  <a:srgbClr val="FFFFFF"/>
                </a:solidFill>
                <a:latin typeface="Segoe UI"/>
              </a:rPr>
              <a:t>Three quarters are preventable.</a:t>
            </a:r>
          </a:p>
          <a:p>
            <a:pPr algn="l">
              <a:lnSpc>
                <a:spcPct val="106000"/>
              </a:lnSpc>
              <a:spcBef>
                <a:spcPts val="500"/>
              </a:spcBef>
            </a:pPr>
            <a:r>
              <a:rPr sz="6200" b="1">
                <a:solidFill>
                  <a:srgbClr val="FFFFFF"/>
                </a:solidFill>
                <a:latin typeface="Segoe UI"/>
              </a:rPr>
              <a:t>Forty per cent come back.</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WHAT HAS ALREADY BEEN TRIED</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Three strategies, one pattern</a:t>
            </a:r>
          </a:p>
        </p:txBody>
      </p:sp>
      <p:sp>
        <p:nvSpPr>
          <p:cNvPr id="5" name="Rectangle 4"/>
          <p:cNvSpPr/>
          <p:nvPr/>
        </p:nvSpPr>
        <p:spPr>
          <a:xfrm>
            <a:off x="634984" y="187955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31949"/>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Pressure-guided footwear</a:t>
            </a:r>
          </a:p>
        </p:txBody>
      </p:sp>
      <p:sp>
        <p:nvSpPr>
          <p:cNvPr id="7" name="TextBox 6"/>
          <p:cNvSpPr txBox="1"/>
          <p:nvPr/>
        </p:nvSpPr>
        <p:spPr>
          <a:xfrm>
            <a:off x="3301917" y="2031949"/>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The pivotal multicentre trial missed its primary endpoint: 38.8% versus 44.2% recurrence. The difference was in who actually wore the footwear.</a:t>
            </a:r>
          </a:p>
        </p:txBody>
      </p:sp>
      <p:sp>
        <p:nvSpPr>
          <p:cNvPr id="8" name="TextBox 7"/>
          <p:cNvSpPr txBox="1"/>
          <p:nvPr/>
        </p:nvSpPr>
        <p:spPr>
          <a:xfrm>
            <a:off x="9905752" y="2044648"/>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p = 0.48</a:t>
            </a:r>
          </a:p>
        </p:txBody>
      </p:sp>
      <p:sp>
        <p:nvSpPr>
          <p:cNvPr id="9" name="Rectangle 8"/>
          <p:cNvSpPr/>
          <p:nvPr/>
        </p:nvSpPr>
        <p:spPr>
          <a:xfrm>
            <a:off x="634984" y="271773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870128"/>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Patient education</a:t>
            </a:r>
          </a:p>
        </p:txBody>
      </p:sp>
      <p:sp>
        <p:nvSpPr>
          <p:cNvPr id="11" name="TextBox 10"/>
          <p:cNvSpPr txBox="1"/>
          <p:nvPr/>
        </p:nvSpPr>
        <p:spPr>
          <a:xfrm>
            <a:off x="3301917" y="2870128"/>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In the IWGDF review, stand-alone education showed no demonstrable preventive effect. The median treatment effect was negative.</a:t>
            </a:r>
          </a:p>
        </p:txBody>
      </p:sp>
      <p:sp>
        <p:nvSpPr>
          <p:cNvPr id="12" name="TextBox 11"/>
          <p:cNvSpPr txBox="1"/>
          <p:nvPr/>
        </p:nvSpPr>
        <p:spPr>
          <a:xfrm>
            <a:off x="9905752" y="2882827"/>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median −13.4%</a:t>
            </a:r>
          </a:p>
        </p:txBody>
      </p:sp>
      <p:sp>
        <p:nvSpPr>
          <p:cNvPr id="13" name="Rectangle 12"/>
          <p:cNvSpPr/>
          <p:nvPr/>
        </p:nvSpPr>
        <p:spPr>
          <a:xfrm>
            <a:off x="634984" y="355591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708307"/>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Continuous digital feedback</a:t>
            </a:r>
          </a:p>
        </p:txBody>
      </p:sp>
      <p:sp>
        <p:nvSpPr>
          <p:cNvPr id="15" name="TextBox 14"/>
          <p:cNvSpPr txBox="1"/>
          <p:nvPr/>
        </p:nvSpPr>
        <p:spPr>
          <a:xfrm>
            <a:off x="3301917" y="3708307"/>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An intelligent insole with real-time alerts reduced recurrence — again mainly among those who kept using the device.</a:t>
            </a:r>
          </a:p>
        </p:txBody>
      </p:sp>
      <p:sp>
        <p:nvSpPr>
          <p:cNvPr id="16" name="TextBox 15"/>
          <p:cNvSpPr txBox="1"/>
          <p:nvPr/>
        </p:nvSpPr>
        <p:spPr>
          <a:xfrm>
            <a:off x="9905752" y="372100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proof of concept</a:t>
            </a:r>
          </a:p>
        </p:txBody>
      </p:sp>
      <p:sp>
        <p:nvSpPr>
          <p:cNvPr id="17" name="Rectangle 16"/>
          <p:cNvSpPr/>
          <p:nvPr/>
        </p:nvSpPr>
        <p:spPr>
          <a:xfrm>
            <a:off x="634984" y="439409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546486"/>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The pattern</a:t>
            </a:r>
          </a:p>
        </p:txBody>
      </p:sp>
      <p:sp>
        <p:nvSpPr>
          <p:cNvPr id="19" name="TextBox 18"/>
          <p:cNvSpPr txBox="1"/>
          <p:nvPr/>
        </p:nvSpPr>
        <p:spPr>
          <a:xfrm>
            <a:off x="3301917" y="4546486"/>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Each component addresses a necessary condition. None addresses a sufficient one.</a:t>
            </a:r>
          </a:p>
        </p:txBody>
      </p:sp>
      <p:sp>
        <p:nvSpPr>
          <p:cNvPr id="20" name="TextBox 19"/>
          <p:cNvSpPr txBox="1"/>
          <p:nvPr/>
        </p:nvSpPr>
        <p:spPr>
          <a:xfrm>
            <a:off x="9905752" y="455918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a:t>
            </a:r>
          </a:p>
        </p:txBody>
      </p:sp>
      <p:sp>
        <p:nvSpPr>
          <p:cNvPr id="21" name="Rounded Rectangle 20"/>
          <p:cNvSpPr/>
          <p:nvPr/>
        </p:nvSpPr>
        <p:spPr>
          <a:xfrm>
            <a:off x="634984" y="4992194"/>
            <a:ext cx="10921726" cy="1116352"/>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2476" y="5169989"/>
            <a:ext cx="10286742" cy="760761"/>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Not three disappointments but one: the effect is real every time, and conditional every time.</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08 / 33</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25" name="TextBox 24"/>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9 · Bus 2013, DIAFOS   |   10 · van Netten 2016   |   12 · Abbott 2019</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THE SAME SHOE, TWO OUTCOMES</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Why pressure alone is not enough</a:t>
            </a:r>
          </a:p>
        </p:txBody>
      </p:sp>
      <p:sp>
        <p:nvSpPr>
          <p:cNvPr id="5" name="Rectangle 4"/>
          <p:cNvSpPr/>
          <p:nvPr/>
        </p:nvSpPr>
        <p:spPr>
          <a:xfrm>
            <a:off x="634984" y="1828754"/>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1993850"/>
            <a:ext cx="3809904" cy="317492"/>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Everyone</a:t>
            </a:r>
          </a:p>
        </p:txBody>
      </p:sp>
      <p:sp>
        <p:nvSpPr>
          <p:cNvPr id="7" name="TextBox 6"/>
          <p:cNvSpPr txBox="1"/>
          <p:nvPr/>
        </p:nvSpPr>
        <p:spPr>
          <a:xfrm>
            <a:off x="647683" y="2349441"/>
            <a:ext cx="3809904"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intention-to-treat</a:t>
            </a:r>
          </a:p>
        </p:txBody>
      </p:sp>
      <p:sp>
        <p:nvSpPr>
          <p:cNvPr id="8" name="TextBox 7"/>
          <p:cNvSpPr txBox="1"/>
          <p:nvPr/>
        </p:nvSpPr>
        <p:spPr>
          <a:xfrm>
            <a:off x="634984" y="2768530"/>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Standard custom insole</a:t>
            </a:r>
          </a:p>
        </p:txBody>
      </p:sp>
      <p:sp>
        <p:nvSpPr>
          <p:cNvPr id="9" name="Rounded Rectangle 8"/>
          <p:cNvSpPr/>
          <p:nvPr/>
        </p:nvSpPr>
        <p:spPr>
          <a:xfrm>
            <a:off x="2793930" y="2717732"/>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793930" y="2717732"/>
            <a:ext cx="6062320" cy="292092"/>
          </a:xfrm>
          <a:prstGeom prst="roundRect">
            <a:avLst>
              <a:gd name="adj" fmla="val 50000"/>
            </a:avLst>
          </a:prstGeom>
          <a:solidFill>
            <a:srgbClr val="8FB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905752" y="2692332"/>
            <a:ext cx="1396965" cy="342891"/>
          </a:xfrm>
          <a:prstGeom prst="rect">
            <a:avLst/>
          </a:prstGeom>
          <a:noFill/>
        </p:spPr>
        <p:txBody>
          <a:bodyPr wrap="square" anchor="t" lIns="0" rIns="0" tIns="0" bIns="0">
            <a:spAutoFit/>
          </a:bodyPr>
          <a:lstStyle/>
          <a:p>
            <a:pPr algn="l">
              <a:lnSpc>
                <a:spcPct val="125000"/>
              </a:lnSpc>
            </a:pPr>
            <a:r>
              <a:rPr sz="2700" b="1">
                <a:solidFill>
                  <a:srgbClr val="8FB6D0"/>
                </a:solidFill>
                <a:latin typeface="Segoe UI"/>
              </a:rPr>
              <a:t>44,2%</a:t>
            </a:r>
          </a:p>
        </p:txBody>
      </p:sp>
      <p:sp>
        <p:nvSpPr>
          <p:cNvPr id="12" name="TextBox 11"/>
          <p:cNvSpPr txBox="1"/>
          <p:nvPr/>
        </p:nvSpPr>
        <p:spPr>
          <a:xfrm>
            <a:off x="634984" y="3187620"/>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Pressure-optimised</a:t>
            </a:r>
          </a:p>
        </p:txBody>
      </p:sp>
      <p:sp>
        <p:nvSpPr>
          <p:cNvPr id="13" name="Rounded Rectangle 12"/>
          <p:cNvSpPr/>
          <p:nvPr/>
        </p:nvSpPr>
        <p:spPr>
          <a:xfrm>
            <a:off x="2793930" y="3136821"/>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793930" y="3136821"/>
            <a:ext cx="5321674" cy="292092"/>
          </a:xfrm>
          <a:prstGeom prst="roundRect">
            <a:avLst>
              <a:gd name="adj" fmla="val 500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905752" y="3111422"/>
            <a:ext cx="1396965" cy="342891"/>
          </a:xfrm>
          <a:prstGeom prst="rect">
            <a:avLst/>
          </a:prstGeom>
          <a:noFill/>
        </p:spPr>
        <p:txBody>
          <a:bodyPr wrap="square" anchor="t" lIns="0" rIns="0" tIns="0" bIns="0">
            <a:spAutoFit/>
          </a:bodyPr>
          <a:lstStyle/>
          <a:p>
            <a:pPr algn="l">
              <a:lnSpc>
                <a:spcPct val="125000"/>
              </a:lnSpc>
            </a:pPr>
            <a:r>
              <a:rPr sz="2700" b="1">
                <a:solidFill>
                  <a:srgbClr val="FF7A00"/>
                </a:solidFill>
                <a:latin typeface="Segoe UI"/>
              </a:rPr>
              <a:t>38,8%</a:t>
            </a:r>
          </a:p>
        </p:txBody>
      </p:sp>
      <p:sp>
        <p:nvSpPr>
          <p:cNvPr id="16" name="TextBox 15"/>
          <p:cNvSpPr txBox="1"/>
          <p:nvPr/>
        </p:nvSpPr>
        <p:spPr>
          <a:xfrm>
            <a:off x="634984" y="3568610"/>
            <a:ext cx="5714857" cy="279393"/>
          </a:xfrm>
          <a:prstGeom prst="rect">
            <a:avLst/>
          </a:prstGeom>
          <a:noFill/>
        </p:spPr>
        <p:txBody>
          <a:bodyPr wrap="square" anchor="t" lIns="0" rIns="0" tIns="0" bIns="0">
            <a:spAutoFit/>
          </a:bodyPr>
          <a:lstStyle/>
          <a:p>
            <a:pPr algn="l">
              <a:lnSpc>
                <a:spcPct val="125000"/>
              </a:lnSpc>
            </a:pPr>
            <a:r>
              <a:rPr sz="1800" b="1">
                <a:solidFill>
                  <a:srgbClr val="FF7A00"/>
                </a:solidFill>
                <a:latin typeface="Segoe UI"/>
              </a:rPr>
              <a:t>No difference — p = 0.48</a:t>
            </a:r>
          </a:p>
        </p:txBody>
      </p:sp>
      <p:sp>
        <p:nvSpPr>
          <p:cNvPr id="17" name="Rectangle 16"/>
          <p:cNvSpPr/>
          <p:nvPr/>
        </p:nvSpPr>
        <p:spPr>
          <a:xfrm>
            <a:off x="634984" y="408929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254393"/>
            <a:ext cx="3809904" cy="317492"/>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Those who wore it</a:t>
            </a:r>
          </a:p>
        </p:txBody>
      </p:sp>
      <p:sp>
        <p:nvSpPr>
          <p:cNvPr id="19" name="TextBox 18"/>
          <p:cNvSpPr txBox="1"/>
          <p:nvPr/>
        </p:nvSpPr>
        <p:spPr>
          <a:xfrm>
            <a:off x="647683" y="4609984"/>
            <a:ext cx="3809904"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 80% of steps</a:t>
            </a:r>
          </a:p>
        </p:txBody>
      </p:sp>
      <p:sp>
        <p:nvSpPr>
          <p:cNvPr id="20" name="TextBox 19"/>
          <p:cNvSpPr txBox="1"/>
          <p:nvPr/>
        </p:nvSpPr>
        <p:spPr>
          <a:xfrm>
            <a:off x="634984" y="5029074"/>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Standard custom insole</a:t>
            </a:r>
          </a:p>
        </p:txBody>
      </p:sp>
      <p:sp>
        <p:nvSpPr>
          <p:cNvPr id="21" name="Rounded Rectangle 20"/>
          <p:cNvSpPr/>
          <p:nvPr/>
        </p:nvSpPr>
        <p:spPr>
          <a:xfrm>
            <a:off x="2793930" y="4978275"/>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793930" y="4978275"/>
            <a:ext cx="6556084" cy="292092"/>
          </a:xfrm>
          <a:prstGeom prst="roundRect">
            <a:avLst>
              <a:gd name="adj" fmla="val 50000"/>
            </a:avLst>
          </a:prstGeom>
          <a:solidFill>
            <a:srgbClr val="8FB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05752" y="4952876"/>
            <a:ext cx="1396965" cy="342891"/>
          </a:xfrm>
          <a:prstGeom prst="rect">
            <a:avLst/>
          </a:prstGeom>
          <a:noFill/>
        </p:spPr>
        <p:txBody>
          <a:bodyPr wrap="square" anchor="t" lIns="0" rIns="0" tIns="0" bIns="0">
            <a:spAutoFit/>
          </a:bodyPr>
          <a:lstStyle/>
          <a:p>
            <a:pPr algn="l">
              <a:lnSpc>
                <a:spcPct val="125000"/>
              </a:lnSpc>
            </a:pPr>
            <a:r>
              <a:rPr sz="2700" b="1">
                <a:solidFill>
                  <a:srgbClr val="8FB6D0"/>
                </a:solidFill>
                <a:latin typeface="Segoe UI"/>
              </a:rPr>
              <a:t>47,8%</a:t>
            </a:r>
          </a:p>
        </p:txBody>
      </p:sp>
      <p:sp>
        <p:nvSpPr>
          <p:cNvPr id="24" name="TextBox 23"/>
          <p:cNvSpPr txBox="1"/>
          <p:nvPr/>
        </p:nvSpPr>
        <p:spPr>
          <a:xfrm>
            <a:off x="634984" y="5448163"/>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Pressure-optimised</a:t>
            </a:r>
          </a:p>
        </p:txBody>
      </p:sp>
      <p:sp>
        <p:nvSpPr>
          <p:cNvPr id="25" name="Rounded Rectangle 24"/>
          <p:cNvSpPr/>
          <p:nvPr/>
        </p:nvSpPr>
        <p:spPr>
          <a:xfrm>
            <a:off x="2793930" y="5397365"/>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2793930" y="5397365"/>
            <a:ext cx="3524923" cy="292092"/>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905752" y="5371965"/>
            <a:ext cx="1396965" cy="342891"/>
          </a:xfrm>
          <a:prstGeom prst="rect">
            <a:avLst/>
          </a:prstGeom>
          <a:noFill/>
        </p:spPr>
        <p:txBody>
          <a:bodyPr wrap="square" anchor="t" lIns="0" rIns="0" tIns="0" bIns="0">
            <a:spAutoFit/>
          </a:bodyPr>
          <a:lstStyle/>
          <a:p>
            <a:pPr algn="l">
              <a:lnSpc>
                <a:spcPct val="125000"/>
              </a:lnSpc>
            </a:pPr>
            <a:r>
              <a:rPr sz="2700" b="1">
                <a:solidFill>
                  <a:srgbClr val="52BDEC"/>
                </a:solidFill>
                <a:latin typeface="Segoe UI"/>
              </a:rPr>
              <a:t>25,7%</a:t>
            </a:r>
          </a:p>
        </p:txBody>
      </p:sp>
      <p:sp>
        <p:nvSpPr>
          <p:cNvPr id="28" name="TextBox 27"/>
          <p:cNvSpPr txBox="1"/>
          <p:nvPr/>
        </p:nvSpPr>
        <p:spPr>
          <a:xfrm>
            <a:off x="634984" y="5829154"/>
            <a:ext cx="5714857" cy="279393"/>
          </a:xfrm>
          <a:prstGeom prst="rect">
            <a:avLst/>
          </a:prstGeom>
          <a:noFill/>
        </p:spPr>
        <p:txBody>
          <a:bodyPr wrap="square" anchor="t" lIns="0" rIns="0" tIns="0" bIns="0">
            <a:spAutoFit/>
          </a:bodyPr>
          <a:lstStyle/>
          <a:p>
            <a:pPr algn="l">
              <a:lnSpc>
                <a:spcPct val="125000"/>
              </a:lnSpc>
            </a:pPr>
            <a:r>
              <a:rPr sz="1800" b="1">
                <a:solidFill>
                  <a:srgbClr val="52BDEC"/>
                </a:solidFill>
                <a:latin typeface="Segoe UI"/>
              </a:rPr>
              <a:t>Almost halved — p = 0.045</a:t>
            </a:r>
          </a:p>
        </p:txBody>
      </p:sp>
      <p:sp>
        <p:nvSpPr>
          <p:cNvPr id="29" name="TextBox 2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Bus et al. · Diabetes Care 2013 · DIAFOS, 171 participants</a:t>
            </a:r>
          </a:p>
        </p:txBody>
      </p:sp>
      <p:sp>
        <p:nvSpPr>
          <p:cNvPr id="30" name="TextBox 2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09 / 33</a:t>
            </a:r>
          </a:p>
        </p:txBody>
      </p:sp>
      <p:pic>
        <p:nvPicPr>
          <p:cNvPr id="31"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32" name="TextBox 31"/>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9 · Bus 2013, DIAFOS</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15974" y="253993"/>
            <a:ext cx="5206869" cy="5206869"/>
          </a:xfrm>
          <a:prstGeom prst="ellipse">
            <a:avLst/>
          </a:prstGeom>
          <a:solidFill>
            <a:srgbClr val="52BDEC">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ro"/>
          <p:cNvSpPr txBox="1"/>
          <p:nvPr/>
        </p:nvSpPr>
        <p:spPr>
          <a:xfrm>
            <a:off x="380990" y="761980"/>
            <a:ext cx="7619809" cy="3301917"/>
          </a:xfrm>
          <a:prstGeom prst="rect">
            <a:avLst/>
          </a:prstGeom>
          <a:noFill/>
        </p:spPr>
        <p:txBody>
          <a:bodyPr wrap="square" anchor="t" lIns="0" rIns="0" tIns="0" bIns="0">
            <a:spAutoFit/>
          </a:bodyPr>
          <a:lstStyle/>
          <a:p>
            <a:pPr algn="l">
              <a:lnSpc>
                <a:spcPct val="82000"/>
              </a:lnSpc>
            </a:pPr>
            <a:r>
              <a:rPr sz="25000" b="1">
                <a:solidFill>
                  <a:srgbClr val="52BDEC"/>
                </a:solidFill>
                <a:latin typeface="Segoe UI"/>
              </a:rPr>
              <a:t>71</a:t>
            </a:r>
          </a:p>
        </p:txBody>
      </p:sp>
      <p:sp>
        <p:nvSpPr>
          <p:cNvPr id="5" name="TextBox 4"/>
          <p:cNvSpPr txBox="1"/>
          <p:nvPr/>
        </p:nvSpPr>
        <p:spPr>
          <a:xfrm>
            <a:off x="4444888" y="1320766"/>
            <a:ext cx="1523961" cy="1015974"/>
          </a:xfrm>
          <a:prstGeom prst="rect">
            <a:avLst/>
          </a:prstGeom>
          <a:noFill/>
        </p:spPr>
        <p:txBody>
          <a:bodyPr wrap="square" anchor="t" lIns="0" rIns="0" tIns="0" bIns="0">
            <a:spAutoFit/>
          </a:bodyPr>
          <a:lstStyle/>
          <a:p>
            <a:pPr algn="l">
              <a:lnSpc>
                <a:spcPct val="125000"/>
              </a:lnSpc>
            </a:pPr>
            <a:r>
              <a:rPr sz="7600" b="1">
                <a:solidFill>
                  <a:srgbClr val="52BDEC"/>
                </a:solidFill>
                <a:latin typeface="Segoe UI Light"/>
              </a:rPr>
              <a:t>%</a:t>
            </a:r>
          </a:p>
        </p:txBody>
      </p:sp>
      <p:sp>
        <p:nvSpPr>
          <p:cNvPr id="6" name="TextBox 5"/>
          <p:cNvSpPr txBox="1"/>
          <p:nvPr/>
        </p:nvSpPr>
        <p:spPr>
          <a:xfrm>
            <a:off x="660383" y="3975000"/>
            <a:ext cx="5460863" cy="1269968"/>
          </a:xfrm>
          <a:prstGeom prst="rect">
            <a:avLst/>
          </a:prstGeom>
          <a:noFill/>
        </p:spPr>
        <p:txBody>
          <a:bodyPr wrap="square" anchor="t" lIns="0" rIns="0" tIns="0" bIns="0">
            <a:spAutoFit/>
          </a:bodyPr>
          <a:lstStyle/>
          <a:p>
            <a:pPr algn="l">
              <a:lnSpc>
                <a:spcPct val="120000"/>
              </a:lnSpc>
            </a:pPr>
            <a:r>
              <a:rPr sz="3200" b="1">
                <a:solidFill>
                  <a:srgbClr val="F2F8FC"/>
                </a:solidFill>
                <a:latin typeface="Segoe UI"/>
              </a:rPr>
              <a:t>adherence — measured,</a:t>
            </a:r>
          </a:p>
          <a:p>
            <a:pPr algn="l">
              <a:lnSpc>
                <a:spcPct val="120000"/>
              </a:lnSpc>
              <a:spcBef>
                <a:spcPts val="500"/>
              </a:spcBef>
            </a:pPr>
            <a:r>
              <a:rPr sz="3200" b="1">
                <a:solidFill>
                  <a:srgbClr val="F2F8FC"/>
                </a:solidFill>
                <a:latin typeface="Segoe UI"/>
              </a:rPr>
              <a:t>not asked</a:t>
            </a:r>
          </a:p>
        </p:txBody>
      </p:sp>
      <p:sp>
        <p:nvSpPr>
          <p:cNvPr id="7" name="TextBox 6"/>
          <p:cNvSpPr txBox="1"/>
          <p:nvPr/>
        </p:nvSpPr>
        <p:spPr>
          <a:xfrm>
            <a:off x="6349841" y="1904952"/>
            <a:ext cx="5079873" cy="228594"/>
          </a:xfrm>
          <a:prstGeom prst="rect">
            <a:avLst/>
          </a:prstGeom>
          <a:noFill/>
        </p:spPr>
        <p:txBody>
          <a:bodyPr wrap="square" anchor="t" lIns="0" rIns="0" tIns="0" bIns="0">
            <a:spAutoFit/>
          </a:bodyPr>
          <a:lstStyle/>
          <a:p>
            <a:pPr algn="l">
              <a:lnSpc>
                <a:spcPct val="125000"/>
              </a:lnSpc>
            </a:pPr>
            <a:r>
              <a:rPr sz="1300" b="0" spc="140">
                <a:solidFill>
                  <a:srgbClr val="8FB6D0"/>
                </a:solidFill>
                <a:latin typeface="Consolas"/>
              </a:rPr>
              <a:t>ADHERENCE AGAINST THE 80% TARGET</a:t>
            </a:r>
          </a:p>
        </p:txBody>
      </p:sp>
      <p:sp>
        <p:nvSpPr>
          <p:cNvPr id="8" name="TextBox 7"/>
          <p:cNvSpPr txBox="1"/>
          <p:nvPr/>
        </p:nvSpPr>
        <p:spPr>
          <a:xfrm>
            <a:off x="6349841" y="2222444"/>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Overall</a:t>
            </a:r>
          </a:p>
        </p:txBody>
      </p:sp>
      <p:sp>
        <p:nvSpPr>
          <p:cNvPr id="9" name="Rounded Rectangle 8"/>
          <p:cNvSpPr/>
          <p:nvPr/>
        </p:nvSpPr>
        <p:spPr>
          <a:xfrm>
            <a:off x="6349841" y="2489137"/>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349841" y="2489137"/>
            <a:ext cx="3155871"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21726" y="2463738"/>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71%</a:t>
            </a:r>
          </a:p>
        </p:txBody>
      </p:sp>
      <p:sp>
        <p:nvSpPr>
          <p:cNvPr id="12" name="TextBox 11"/>
          <p:cNvSpPr txBox="1"/>
          <p:nvPr/>
        </p:nvSpPr>
        <p:spPr>
          <a:xfrm>
            <a:off x="6349841" y="2971725"/>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At home</a:t>
            </a:r>
          </a:p>
        </p:txBody>
      </p:sp>
      <p:sp>
        <p:nvSpPr>
          <p:cNvPr id="13" name="Rounded Rectangle 12"/>
          <p:cNvSpPr/>
          <p:nvPr/>
        </p:nvSpPr>
        <p:spPr>
          <a:xfrm>
            <a:off x="6349841" y="3238419"/>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349841" y="3238419"/>
            <a:ext cx="2711382"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21726" y="3213019"/>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61%</a:t>
            </a:r>
          </a:p>
        </p:txBody>
      </p:sp>
      <p:sp>
        <p:nvSpPr>
          <p:cNvPr id="16" name="TextBox 15"/>
          <p:cNvSpPr txBox="1"/>
          <p:nvPr/>
        </p:nvSpPr>
        <p:spPr>
          <a:xfrm>
            <a:off x="6349841" y="3721006"/>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Outdoors</a:t>
            </a:r>
          </a:p>
        </p:txBody>
      </p:sp>
      <p:sp>
        <p:nvSpPr>
          <p:cNvPr id="17" name="Rounded Rectangle 16"/>
          <p:cNvSpPr/>
          <p:nvPr/>
        </p:nvSpPr>
        <p:spPr>
          <a:xfrm>
            <a:off x="6349841" y="3987700"/>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49841" y="3987700"/>
            <a:ext cx="3867053"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21726" y="3962300"/>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87%</a:t>
            </a:r>
          </a:p>
        </p:txBody>
      </p:sp>
      <p:sp>
        <p:nvSpPr>
          <p:cNvPr id="20" name="Rectangle 19"/>
          <p:cNvSpPr/>
          <p:nvPr/>
        </p:nvSpPr>
        <p:spPr>
          <a:xfrm>
            <a:off x="9905752" y="2184345"/>
            <a:ext cx="19049" cy="2209744"/>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70768" y="4470288"/>
            <a:ext cx="1269968" cy="228594"/>
          </a:xfrm>
          <a:prstGeom prst="rect">
            <a:avLst/>
          </a:prstGeom>
          <a:noFill/>
        </p:spPr>
        <p:txBody>
          <a:bodyPr wrap="square" anchor="t" lIns="0" rIns="0" tIns="0" bIns="0">
            <a:spAutoFit/>
          </a:bodyPr>
          <a:lstStyle/>
          <a:p>
            <a:pPr algn="ctr">
              <a:lnSpc>
                <a:spcPct val="125000"/>
              </a:lnSpc>
            </a:pPr>
            <a:r>
              <a:rPr sz="1300" b="1">
                <a:solidFill>
                  <a:srgbClr val="FF7A00"/>
                </a:solidFill>
                <a:latin typeface="Consolas"/>
              </a:rPr>
              <a:t>80% target</a:t>
            </a:r>
          </a:p>
        </p:txBody>
      </p:sp>
      <p:sp>
        <p:nvSpPr>
          <p:cNvPr id="22" name="TextBox 21"/>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Waaijman et al. · Diabetes Care 2013 · 107 patients</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10 / 33</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25" name="TextBox 24"/>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13 · Waaijman 2013</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THE MECHANISM</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Loading is a product, not a sum</a:t>
            </a:r>
          </a:p>
        </p:txBody>
      </p:sp>
      <p:sp>
        <p:nvSpPr>
          <p:cNvPr id="5" name="Rounded Rectangle 4"/>
          <p:cNvSpPr/>
          <p:nvPr/>
        </p:nvSpPr>
        <p:spPr>
          <a:xfrm>
            <a:off x="634984"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5479"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Peak pressure</a:t>
            </a:r>
          </a:p>
        </p:txBody>
      </p:sp>
      <p:sp>
        <p:nvSpPr>
          <p:cNvPr id="7" name="TextBox 6"/>
          <p:cNvSpPr txBox="1"/>
          <p:nvPr/>
        </p:nvSpPr>
        <p:spPr>
          <a:xfrm>
            <a:off x="825479"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per step</a:t>
            </a:r>
          </a:p>
        </p:txBody>
      </p:sp>
      <p:sp>
        <p:nvSpPr>
          <p:cNvPr id="8" name="Rounded Rectangle 7"/>
          <p:cNvSpPr/>
          <p:nvPr/>
        </p:nvSpPr>
        <p:spPr>
          <a:xfrm>
            <a:off x="825479" y="3797205"/>
            <a:ext cx="1015974" cy="279393"/>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5479" y="3873403"/>
            <a:ext cx="1015974" cy="203194"/>
          </a:xfrm>
          <a:prstGeom prst="rect">
            <a:avLst/>
          </a:prstGeom>
          <a:noFill/>
        </p:spPr>
        <p:txBody>
          <a:bodyPr wrap="square" anchor="t" lIns="0" rIns="0" tIns="0" bIns="0">
            <a:spAutoFit/>
          </a:bodyPr>
          <a:lstStyle/>
          <a:p>
            <a:pPr algn="ctr">
              <a:lnSpc>
                <a:spcPct val="125000"/>
              </a:lnSpc>
            </a:pPr>
            <a:r>
              <a:rPr sz="1100" b="1" spc="120">
                <a:solidFill>
                  <a:srgbClr val="04182A"/>
                </a:solidFill>
                <a:latin typeface="Consolas"/>
              </a:rPr>
              <a:t>MODIFIED</a:t>
            </a:r>
          </a:p>
        </p:txBody>
      </p:sp>
      <p:sp>
        <p:nvSpPr>
          <p:cNvPr id="10" name="TextBox 9"/>
          <p:cNvSpPr txBox="1"/>
          <p:nvPr/>
        </p:nvSpPr>
        <p:spPr>
          <a:xfrm>
            <a:off x="3869085" y="3251118"/>
            <a:ext cx="406389" cy="571485"/>
          </a:xfrm>
          <a:prstGeom prst="rect">
            <a:avLst/>
          </a:prstGeom>
          <a:noFill/>
        </p:spPr>
        <p:txBody>
          <a:bodyPr wrap="square" anchor="t" lIns="0" rIns="0" tIns="0" bIns="0">
            <a:spAutoFit/>
          </a:bodyPr>
          <a:lstStyle/>
          <a:p>
            <a:pPr algn="ctr">
              <a:lnSpc>
                <a:spcPct val="125000"/>
              </a:lnSpc>
            </a:pPr>
            <a:r>
              <a:rPr sz="3400" b="0">
                <a:solidFill>
                  <a:srgbClr val="8FB6D0"/>
                </a:solidFill>
                <a:latin typeface="Segoe UI Light"/>
              </a:rPr>
              <a:t>×</a:t>
            </a:r>
          </a:p>
        </p:txBody>
      </p:sp>
      <p:sp>
        <p:nvSpPr>
          <p:cNvPr id="11" name="Rounded Rectangle 10"/>
          <p:cNvSpPr/>
          <p:nvPr/>
        </p:nvSpPr>
        <p:spPr>
          <a:xfrm>
            <a:off x="4326273"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6769"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Activity</a:t>
            </a:r>
          </a:p>
        </p:txBody>
      </p:sp>
      <p:sp>
        <p:nvSpPr>
          <p:cNvPr id="13" name="TextBox 12"/>
          <p:cNvSpPr txBox="1"/>
          <p:nvPr/>
        </p:nvSpPr>
        <p:spPr>
          <a:xfrm>
            <a:off x="4516769"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steps per day</a:t>
            </a:r>
          </a:p>
        </p:txBody>
      </p:sp>
      <p:sp>
        <p:nvSpPr>
          <p:cNvPr id="14" name="Rounded Rectangle 13"/>
          <p:cNvSpPr/>
          <p:nvPr/>
        </p:nvSpPr>
        <p:spPr>
          <a:xfrm>
            <a:off x="4516769" y="3797205"/>
            <a:ext cx="1015974" cy="279393"/>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16769" y="3873403"/>
            <a:ext cx="1015974" cy="203194"/>
          </a:xfrm>
          <a:prstGeom prst="rect">
            <a:avLst/>
          </a:prstGeom>
          <a:noFill/>
        </p:spPr>
        <p:txBody>
          <a:bodyPr wrap="square" anchor="t" lIns="0" rIns="0" tIns="0" bIns="0">
            <a:spAutoFit/>
          </a:bodyPr>
          <a:lstStyle/>
          <a:p>
            <a:pPr algn="ctr">
              <a:lnSpc>
                <a:spcPct val="125000"/>
              </a:lnSpc>
            </a:pPr>
            <a:r>
              <a:rPr sz="1100" b="1" spc="120">
                <a:solidFill>
                  <a:srgbClr val="8FB6D0"/>
                </a:solidFill>
                <a:latin typeface="Consolas"/>
              </a:rPr>
              <a:t>MEASURED</a:t>
            </a:r>
          </a:p>
        </p:txBody>
      </p:sp>
      <p:sp>
        <p:nvSpPr>
          <p:cNvPr id="16" name="TextBox 15"/>
          <p:cNvSpPr txBox="1"/>
          <p:nvPr/>
        </p:nvSpPr>
        <p:spPr>
          <a:xfrm>
            <a:off x="7560374" y="3251118"/>
            <a:ext cx="406389" cy="571485"/>
          </a:xfrm>
          <a:prstGeom prst="rect">
            <a:avLst/>
          </a:prstGeom>
          <a:noFill/>
        </p:spPr>
        <p:txBody>
          <a:bodyPr wrap="square" anchor="t" lIns="0" rIns="0" tIns="0" bIns="0">
            <a:spAutoFit/>
          </a:bodyPr>
          <a:lstStyle/>
          <a:p>
            <a:pPr algn="ctr">
              <a:lnSpc>
                <a:spcPct val="125000"/>
              </a:lnSpc>
            </a:pPr>
            <a:r>
              <a:rPr sz="3400" b="0">
                <a:solidFill>
                  <a:srgbClr val="8FB6D0"/>
                </a:solidFill>
                <a:latin typeface="Segoe UI Light"/>
              </a:rPr>
              <a:t>×</a:t>
            </a:r>
          </a:p>
        </p:txBody>
      </p:sp>
      <p:sp>
        <p:nvSpPr>
          <p:cNvPr id="17" name="Rounded Rectangle 16"/>
          <p:cNvSpPr/>
          <p:nvPr/>
        </p:nvSpPr>
        <p:spPr>
          <a:xfrm>
            <a:off x="8017563"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08058"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Wear time</a:t>
            </a:r>
          </a:p>
        </p:txBody>
      </p:sp>
      <p:sp>
        <p:nvSpPr>
          <p:cNvPr id="19" name="TextBox 18"/>
          <p:cNvSpPr txBox="1"/>
          <p:nvPr/>
        </p:nvSpPr>
        <p:spPr>
          <a:xfrm>
            <a:off x="8208058"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was it worn</a:t>
            </a:r>
          </a:p>
        </p:txBody>
      </p:sp>
      <p:sp>
        <p:nvSpPr>
          <p:cNvPr id="20" name="Rounded Rectangle 19"/>
          <p:cNvSpPr/>
          <p:nvPr/>
        </p:nvSpPr>
        <p:spPr>
          <a:xfrm>
            <a:off x="8208058" y="3797205"/>
            <a:ext cx="1015974" cy="279393"/>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08058" y="3873403"/>
            <a:ext cx="1015974" cy="203194"/>
          </a:xfrm>
          <a:prstGeom prst="rect">
            <a:avLst/>
          </a:prstGeom>
          <a:noFill/>
        </p:spPr>
        <p:txBody>
          <a:bodyPr wrap="square" anchor="t" lIns="0" rIns="0" tIns="0" bIns="0">
            <a:spAutoFit/>
          </a:bodyPr>
          <a:lstStyle/>
          <a:p>
            <a:pPr algn="ctr">
              <a:lnSpc>
                <a:spcPct val="125000"/>
              </a:lnSpc>
            </a:pPr>
            <a:r>
              <a:rPr sz="1100" b="1" spc="120">
                <a:solidFill>
                  <a:srgbClr val="04182A"/>
                </a:solidFill>
                <a:latin typeface="Consolas"/>
              </a:rPr>
              <a:t>MODIFIED</a:t>
            </a:r>
          </a:p>
        </p:txBody>
      </p:sp>
      <p:sp>
        <p:nvSpPr>
          <p:cNvPr id="22" name="TextBox 21"/>
          <p:cNvSpPr txBox="1"/>
          <p:nvPr/>
        </p:nvSpPr>
        <p:spPr>
          <a:xfrm>
            <a:off x="634984" y="4889377"/>
            <a:ext cx="10921726" cy="571485"/>
          </a:xfrm>
          <a:prstGeom prst="rect">
            <a:avLst/>
          </a:prstGeom>
          <a:noFill/>
        </p:spPr>
        <p:txBody>
          <a:bodyPr wrap="square" anchor="t" lIns="0" rIns="0" tIns="0" bIns="0">
            <a:spAutoFit/>
          </a:bodyPr>
          <a:lstStyle/>
          <a:p>
            <a:pPr algn="l">
              <a:lnSpc>
                <a:spcPct val="140000"/>
              </a:lnSpc>
            </a:pPr>
            <a:r>
              <a:rPr sz="2000" b="0">
                <a:solidFill>
                  <a:srgbClr val="8FB6D0"/>
                </a:solidFill>
                <a:latin typeface="Segoe UI"/>
              </a:rPr>
              <a:t>One factor at zero makes the whole product zero. That is why PARADISE has two targets: one for pressure and one for wear time.</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11 / 33</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25" name="TextBox 24"/>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14 · van Netten 2018   |   16 · Hulshof 2025</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WHY THIS TRIAL IS POSSIBLE ONLY NOW</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Three things have changed</a:t>
            </a:r>
          </a:p>
        </p:txBody>
      </p:sp>
      <p:sp>
        <p:nvSpPr>
          <p:cNvPr id="5" name="Rectangle 4"/>
          <p:cNvSpPr/>
          <p:nvPr/>
        </p:nvSpPr>
        <p:spPr>
          <a:xfrm>
            <a:off x="634984" y="187955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31949"/>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Adherence is measurable</a:t>
            </a:r>
          </a:p>
        </p:txBody>
      </p:sp>
      <p:sp>
        <p:nvSpPr>
          <p:cNvPr id="7" name="TextBox 6"/>
          <p:cNvSpPr txBox="1"/>
          <p:nvPr/>
        </p:nvSpPr>
        <p:spPr>
          <a:xfrm>
            <a:off x="3301917" y="2031949"/>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The temperature sensor in orthopaedic footwear has been validated. Self-report systematically overestimates; wear time is now a testable target rather than an assumption.</a:t>
            </a:r>
          </a:p>
        </p:txBody>
      </p:sp>
      <p:sp>
        <p:nvSpPr>
          <p:cNvPr id="8" name="TextBox 7"/>
          <p:cNvSpPr txBox="1"/>
          <p:nvPr/>
        </p:nvSpPr>
        <p:spPr>
          <a:xfrm>
            <a:off x="9905752" y="2044648"/>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sensor</a:t>
            </a:r>
          </a:p>
        </p:txBody>
      </p:sp>
      <p:sp>
        <p:nvSpPr>
          <p:cNvPr id="9" name="Rectangle 8"/>
          <p:cNvSpPr/>
          <p:nvPr/>
        </p:nvSpPr>
        <p:spPr>
          <a:xfrm>
            <a:off x="634984" y="271773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870128"/>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The failure is explicable</a:t>
            </a:r>
          </a:p>
        </p:txBody>
      </p:sp>
      <p:sp>
        <p:nvSpPr>
          <p:cNvPr id="11" name="TextBox 10"/>
          <p:cNvSpPr txBox="1"/>
          <p:nvPr/>
        </p:nvSpPr>
        <p:spPr>
          <a:xfrm>
            <a:off x="3301917" y="2870128"/>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Under COM-B, knowledge transfer addresses capability alone. Opportunity and motivation — what happens at home, for years, unseen — were left untouched.</a:t>
            </a:r>
          </a:p>
        </p:txBody>
      </p:sp>
      <p:sp>
        <p:nvSpPr>
          <p:cNvPr id="12" name="TextBox 11"/>
          <p:cNvSpPr txBox="1"/>
          <p:nvPr/>
        </p:nvSpPr>
        <p:spPr>
          <a:xfrm>
            <a:off x="9905752" y="2882827"/>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COM-B</a:t>
            </a:r>
          </a:p>
        </p:txBody>
      </p:sp>
      <p:sp>
        <p:nvSpPr>
          <p:cNvPr id="13" name="Rectangle 12"/>
          <p:cNvSpPr/>
          <p:nvPr/>
        </p:nvSpPr>
        <p:spPr>
          <a:xfrm>
            <a:off x="634984" y="355591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708307"/>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The setting exists</a:t>
            </a:r>
          </a:p>
        </p:txBody>
      </p:sp>
      <p:sp>
        <p:nvSpPr>
          <p:cNvPr id="15" name="TextBox 14"/>
          <p:cNvSpPr txBox="1"/>
          <p:nvPr/>
        </p:nvSpPr>
        <p:spPr>
          <a:xfrm>
            <a:off x="3301917" y="3708307"/>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Belgium accredits multidisciplinary foot clinics with training requirements and minimum caseloads. That is where prevention ultimately has to land.</a:t>
            </a:r>
          </a:p>
        </p:txBody>
      </p:sp>
      <p:sp>
        <p:nvSpPr>
          <p:cNvPr id="16" name="TextBox 15"/>
          <p:cNvSpPr txBox="1"/>
          <p:nvPr/>
        </p:nvSpPr>
        <p:spPr>
          <a:xfrm>
            <a:off x="9905752" y="372100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RIZIV-INAMI</a:t>
            </a:r>
          </a:p>
        </p:txBody>
      </p:sp>
      <p:sp>
        <p:nvSpPr>
          <p:cNvPr id="17" name="Rounded Rectangle 16"/>
          <p:cNvSpPr/>
          <p:nvPr/>
        </p:nvSpPr>
        <p:spPr>
          <a:xfrm>
            <a:off x="634984" y="4992194"/>
            <a:ext cx="10921726" cy="1116352"/>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52476" y="5169989"/>
            <a:ext cx="10286742" cy="760761"/>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That is why adherence here is a prespecified mediator, measured in full, rather than an assumption justified after the fact.</a:t>
            </a:r>
          </a:p>
        </p:txBody>
      </p:sp>
      <p:sp>
        <p:nvSpPr>
          <p:cNvPr id="19" name="TextBox 1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12 / 33</a:t>
            </a:r>
          </a:p>
        </p:txBody>
      </p:sp>
      <p:pic>
        <p:nvPicPr>
          <p:cNvPr id="20"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21" name="TextBox 20"/>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18 · Lutjeboer 2018   |   19 · Michie 2011, COM-B   |   20 · Morbach 2016</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WHAT PARADISE DOES DIFFERENTLY</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One service, not three separate measures</a:t>
            </a:r>
          </a:p>
        </p:txBody>
      </p:sp>
      <p:sp>
        <p:nvSpPr>
          <p:cNvPr id="5" name="Rounded Rectangle 4"/>
          <p:cNvSpPr/>
          <p:nvPr/>
        </p:nvSpPr>
        <p:spPr>
          <a:xfrm>
            <a:off x="634984" y="2031949"/>
            <a:ext cx="5384538" cy="3822604"/>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8977" y="2247843"/>
            <a:ext cx="1269968" cy="380990"/>
          </a:xfrm>
          <a:prstGeom prst="rect">
            <a:avLst/>
          </a:prstGeom>
          <a:noFill/>
        </p:spPr>
        <p:txBody>
          <a:bodyPr wrap="square" anchor="t" lIns="0" rIns="0" tIns="0" bIns="0">
            <a:spAutoFit/>
          </a:bodyPr>
          <a:lstStyle/>
          <a:p>
            <a:pPr algn="l">
              <a:lnSpc>
                <a:spcPct val="125000"/>
              </a:lnSpc>
            </a:pPr>
            <a:r>
              <a:rPr sz="2600" b="1">
                <a:solidFill>
                  <a:srgbClr val="52BDEC"/>
                </a:solidFill>
                <a:latin typeface="Consolas"/>
              </a:rPr>
              <a:t>01</a:t>
            </a:r>
          </a:p>
        </p:txBody>
      </p:sp>
      <p:sp>
        <p:nvSpPr>
          <p:cNvPr id="7" name="TextBox 6"/>
          <p:cNvSpPr txBox="1"/>
          <p:nvPr/>
        </p:nvSpPr>
        <p:spPr>
          <a:xfrm>
            <a:off x="888977" y="2654233"/>
            <a:ext cx="4876551" cy="698482"/>
          </a:xfrm>
          <a:prstGeom prst="rect">
            <a:avLst/>
          </a:prstGeom>
          <a:noFill/>
        </p:spPr>
        <p:txBody>
          <a:bodyPr wrap="square" anchor="t" lIns="0" rIns="0" tIns="0" bIns="0">
            <a:spAutoFit/>
          </a:bodyPr>
          <a:lstStyle/>
          <a:p>
            <a:pPr algn="l">
              <a:lnSpc>
                <a:spcPct val="115000"/>
              </a:lnSpc>
            </a:pPr>
            <a:r>
              <a:rPr sz="2400" b="1">
                <a:solidFill>
                  <a:srgbClr val="F2F8FC"/>
                </a:solidFill>
                <a:latin typeface="Segoe UI"/>
              </a:rPr>
              <a:t>The insole méets the target</a:t>
            </a:r>
          </a:p>
        </p:txBody>
      </p:sp>
      <p:sp>
        <p:nvSpPr>
          <p:cNvPr id="8" name="Rounded Rectangle 7"/>
          <p:cNvSpPr/>
          <p:nvPr/>
        </p:nvSpPr>
        <p:spPr>
          <a:xfrm>
            <a:off x="888977" y="3479713"/>
            <a:ext cx="4876551" cy="533386"/>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8977" y="3632109"/>
            <a:ext cx="4876551" cy="304792"/>
          </a:xfrm>
          <a:prstGeom prst="rect">
            <a:avLst/>
          </a:prstGeom>
          <a:noFill/>
        </p:spPr>
        <p:txBody>
          <a:bodyPr wrap="square" anchor="t" lIns="0" rIns="0" tIns="0" bIns="0">
            <a:spAutoFit/>
          </a:bodyPr>
          <a:lstStyle/>
          <a:p>
            <a:pPr algn="ctr">
              <a:lnSpc>
                <a:spcPct val="125000"/>
              </a:lnSpc>
            </a:pPr>
            <a:r>
              <a:rPr sz="1800" b="1">
                <a:solidFill>
                  <a:srgbClr val="52BDEC"/>
                </a:solidFill>
                <a:latin typeface="Consolas"/>
              </a:rPr>
              <a:t>&lt; 200 kPa ór 25% lower</a:t>
            </a:r>
          </a:p>
        </p:txBody>
      </p:sp>
      <p:sp>
        <p:nvSpPr>
          <p:cNvPr id="10" name="TextBox 9"/>
          <p:cNvSpPr txBox="1"/>
          <p:nvPr/>
        </p:nvSpPr>
        <p:spPr>
          <a:xfrm>
            <a:off x="888977" y="4165495"/>
            <a:ext cx="4876551" cy="1516382"/>
          </a:xfrm>
          <a:prstGeom prst="rect">
            <a:avLst/>
          </a:prstGeom>
          <a:noFill/>
        </p:spPr>
        <p:txBody>
          <a:bodyPr wrap="square" anchor="t" lIns="0" rIns="0" tIns="0" bIns="0">
            <a:spAutoFit/>
          </a:bodyPr>
          <a:lstStyle/>
          <a:p>
            <a:pPr algn="l">
              <a:lnSpc>
                <a:spcPct val="132000"/>
              </a:lnSpc>
            </a:pPr>
            <a:r>
              <a:rPr sz="1450" b="0">
                <a:solidFill>
                  <a:srgbClr val="8FB6D0"/>
                </a:solidFill>
                <a:latin typeface="Segoe UI"/>
              </a:rPr>
              <a:t>Measured at delivery.</a:t>
            </a:r>
          </a:p>
          <a:p>
            <a:pPr algn="l">
              <a:lnSpc>
                <a:spcPct val="132000"/>
              </a:lnSpc>
              <a:spcBef>
                <a:spcPts val="1200"/>
              </a:spcBef>
            </a:pPr>
            <a:r>
              <a:rPr sz="1450" b="0">
                <a:solidFill>
                  <a:srgbClr val="8FB6D0"/>
                </a:solidFill>
                <a:latin typeface="Segoe UI"/>
              </a:rPr>
              <a:t>Modified until the target is met in each of the three target regions.</a:t>
            </a:r>
          </a:p>
          <a:p>
            <a:pPr algn="l">
              <a:lnSpc>
                <a:spcPct val="132000"/>
              </a:lnSpc>
              <a:spcBef>
                <a:spcPts val="1200"/>
              </a:spcBef>
            </a:pPr>
            <a:r>
              <a:rPr sz="1450" b="0">
                <a:solidFill>
                  <a:srgbClr val="8FB6D0"/>
                </a:solidFill>
                <a:latin typeface="Segoe UI"/>
              </a:rPr>
              <a:t>Repeated at months 6, 12 and 18.</a:t>
            </a:r>
          </a:p>
        </p:txBody>
      </p:sp>
      <p:sp>
        <p:nvSpPr>
          <p:cNvPr id="11" name="Rounded Rectangle 10"/>
          <p:cNvSpPr/>
          <p:nvPr/>
        </p:nvSpPr>
        <p:spPr>
          <a:xfrm>
            <a:off x="6171918" y="2031949"/>
            <a:ext cx="5384538" cy="3822604"/>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25912" y="2247843"/>
            <a:ext cx="1269968" cy="380990"/>
          </a:xfrm>
          <a:prstGeom prst="rect">
            <a:avLst/>
          </a:prstGeom>
          <a:noFill/>
        </p:spPr>
        <p:txBody>
          <a:bodyPr wrap="square" anchor="t" lIns="0" rIns="0" tIns="0" bIns="0">
            <a:spAutoFit/>
          </a:bodyPr>
          <a:lstStyle/>
          <a:p>
            <a:pPr algn="l">
              <a:lnSpc>
                <a:spcPct val="125000"/>
              </a:lnSpc>
            </a:pPr>
            <a:r>
              <a:rPr sz="2600" b="1">
                <a:solidFill>
                  <a:srgbClr val="52BDEC"/>
                </a:solidFill>
                <a:latin typeface="Consolas"/>
              </a:rPr>
              <a:t>02</a:t>
            </a:r>
          </a:p>
        </p:txBody>
      </p:sp>
      <p:sp>
        <p:nvSpPr>
          <p:cNvPr id="13" name="TextBox 12"/>
          <p:cNvSpPr txBox="1"/>
          <p:nvPr/>
        </p:nvSpPr>
        <p:spPr>
          <a:xfrm>
            <a:off x="6425912" y="2654233"/>
            <a:ext cx="4876551" cy="698482"/>
          </a:xfrm>
          <a:prstGeom prst="rect">
            <a:avLst/>
          </a:prstGeom>
          <a:noFill/>
        </p:spPr>
        <p:txBody>
          <a:bodyPr wrap="square" anchor="t" lIns="0" rIns="0" tIns="0" bIns="0">
            <a:spAutoFit/>
          </a:bodyPr>
          <a:lstStyle/>
          <a:p>
            <a:pPr algn="l">
              <a:lnSpc>
                <a:spcPct val="115000"/>
              </a:lnSpc>
            </a:pPr>
            <a:r>
              <a:rPr sz="2400" b="1">
                <a:solidFill>
                  <a:srgbClr val="F2F8FC"/>
                </a:solidFill>
                <a:latin typeface="Segoe UI"/>
              </a:rPr>
              <a:t>And it ís worn</a:t>
            </a:r>
          </a:p>
        </p:txBody>
      </p:sp>
      <p:sp>
        <p:nvSpPr>
          <p:cNvPr id="14" name="Rounded Rectangle 13"/>
          <p:cNvSpPr/>
          <p:nvPr/>
        </p:nvSpPr>
        <p:spPr>
          <a:xfrm>
            <a:off x="6425912" y="3479713"/>
            <a:ext cx="4876551" cy="533386"/>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25912" y="3632109"/>
            <a:ext cx="4876551" cy="304792"/>
          </a:xfrm>
          <a:prstGeom prst="rect">
            <a:avLst/>
          </a:prstGeom>
          <a:noFill/>
        </p:spPr>
        <p:txBody>
          <a:bodyPr wrap="square" anchor="t" lIns="0" rIns="0" tIns="0" bIns="0">
            <a:spAutoFit/>
          </a:bodyPr>
          <a:lstStyle/>
          <a:p>
            <a:pPr algn="ctr">
              <a:lnSpc>
                <a:spcPct val="125000"/>
              </a:lnSpc>
            </a:pPr>
            <a:r>
              <a:rPr sz="1800" b="1">
                <a:solidFill>
                  <a:srgbClr val="52BDEC"/>
                </a:solidFill>
                <a:latin typeface="Consolas"/>
              </a:rPr>
              <a:t>80% of the patient’s own activity profile</a:t>
            </a:r>
          </a:p>
        </p:txBody>
      </p:sp>
      <p:sp>
        <p:nvSpPr>
          <p:cNvPr id="16" name="TextBox 15"/>
          <p:cNvSpPr txBox="1"/>
          <p:nvPr/>
        </p:nvSpPr>
        <p:spPr>
          <a:xfrm>
            <a:off x="6425912" y="4165495"/>
            <a:ext cx="4876551" cy="1516382"/>
          </a:xfrm>
          <a:prstGeom prst="rect">
            <a:avLst/>
          </a:prstGeom>
          <a:noFill/>
        </p:spPr>
        <p:txBody>
          <a:bodyPr wrap="square" anchor="t" lIns="0" rIns="0" tIns="0" bIns="0">
            <a:spAutoFit/>
          </a:bodyPr>
          <a:lstStyle/>
          <a:p>
            <a:pPr algn="l">
              <a:lnSpc>
                <a:spcPct val="132000"/>
              </a:lnSpc>
            </a:pPr>
            <a:r>
              <a:rPr sz="1450" b="0">
                <a:solidFill>
                  <a:srgbClr val="8FB6D0"/>
                </a:solidFill>
                <a:latin typeface="Segoe UI"/>
              </a:rPr>
              <a:t>A sensor in the insole records wear time continuously.</a:t>
            </a:r>
          </a:p>
          <a:p>
            <a:pPr algn="l">
              <a:lnSpc>
                <a:spcPct val="132000"/>
              </a:lnSpc>
              <a:spcBef>
                <a:spcPts val="1200"/>
              </a:spcBef>
            </a:pPr>
            <a:r>
              <a:rPr sz="1450" b="0">
                <a:solidFill>
                  <a:srgbClr val="8FB6D0"/>
                </a:solidFill>
                <a:latin typeface="Segoe UI"/>
              </a:rPr>
              <a:t>Read out every three months and reviewed together.</a:t>
            </a:r>
          </a:p>
          <a:p>
            <a:pPr algn="l">
              <a:lnSpc>
                <a:spcPct val="132000"/>
              </a:lnSpc>
              <a:spcBef>
                <a:spcPts val="1200"/>
              </a:spcBef>
            </a:pPr>
            <a:r>
              <a:rPr sz="1450" b="0">
                <a:solidFill>
                  <a:srgbClr val="8FB6D0"/>
                </a:solidFill>
                <a:latin typeface="Segoe UI"/>
              </a:rPr>
              <a:t>Five conversations resting on those data.</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13 / 33</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19" name="TextBox 18"/>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6 · Bus 2011   |   7 · Bus 2020   |   17 · Waaijman 2014</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431789" y="723881"/>
            <a:ext cx="5714857" cy="2920926"/>
          </a:xfrm>
          <a:prstGeom prst="rect">
            <a:avLst/>
          </a:prstGeom>
          <a:noFill/>
        </p:spPr>
        <p:txBody>
          <a:bodyPr wrap="none" anchor="t" lIns="0" rIns="0" tIns="0" bIns="0">
            <a:spAutoFit/>
          </a:bodyPr>
          <a:lstStyle/>
          <a:p>
            <a:pPr algn="l">
              <a:lnSpc>
                <a:spcPct val="82000"/>
              </a:lnSpc>
            </a:pPr>
            <a:r>
              <a:rPr sz="26000" b="1">
                <a:solidFill>
                  <a:srgbClr val="52BDEC">
                    <a:alpha val="15000"/>
                  </a:srgbClr>
                </a:solidFill>
                <a:latin typeface="Segoe UI"/>
              </a:rPr>
              <a:t>02</a:t>
            </a:r>
          </a:p>
        </p:txBody>
      </p:sp>
      <p:sp>
        <p:nvSpPr>
          <p:cNvPr id="5" name="TextBox 4"/>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BLOCK 02</a:t>
            </a:r>
          </a:p>
        </p:txBody>
      </p:sp>
      <p:sp>
        <p:nvSpPr>
          <p:cNvPr id="6" name="Rectangle 5"/>
          <p:cNvSpPr/>
          <p:nvPr/>
        </p:nvSpPr>
        <p:spPr>
          <a:xfrm>
            <a:off x="634984" y="3213019"/>
            <a:ext cx="812779" cy="50798"/>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The measurement</a:t>
            </a:r>
          </a:p>
        </p:txBody>
      </p:sp>
      <p:sp>
        <p:nvSpPr>
          <p:cNvPr id="8" name="TextBox 7"/>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What is measured, how, and when it is good enough.</a:t>
            </a:r>
          </a:p>
        </p:txBody>
      </p:sp>
      <p:sp>
        <p:nvSpPr>
          <p:cNvPr id="9" name="TextBox 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14 / 33</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BASELINE · IN-SHOE</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Every sensor a number</a:t>
            </a:r>
          </a:p>
        </p:txBody>
      </p:sp>
      <p:sp>
        <p:nvSpPr>
          <p:cNvPr id="5" name="!!p00_07"/>
          <p:cNvSpPr/>
          <p:nvPr/>
        </p:nvSpPr>
        <p:spPr>
          <a:xfrm>
            <a:off x="1585505" y="5645727"/>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08"/>
          <p:cNvSpPr/>
          <p:nvPr/>
        </p:nvSpPr>
        <p:spPr>
          <a:xfrm>
            <a:off x="1744251"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0_09"/>
          <p:cNvSpPr/>
          <p:nvPr/>
        </p:nvSpPr>
        <p:spPr>
          <a:xfrm>
            <a:off x="1902997"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0_10"/>
          <p:cNvSpPr/>
          <p:nvPr/>
        </p:nvSpPr>
        <p:spPr>
          <a:xfrm>
            <a:off x="2061743" y="5645727"/>
            <a:ext cx="99157" cy="99157"/>
          </a:xfrm>
          <a:prstGeom prst="roundRect">
            <a:avLst>
              <a:gd name="adj" fmla="val 30000"/>
            </a:avLst>
          </a:prstGeom>
          <a:solidFill>
            <a:srgbClr val="1A7C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6"/>
          <p:cNvSpPr/>
          <p:nvPr/>
        </p:nvSpPr>
        <p:spPr>
          <a:xfrm>
            <a:off x="1426759" y="5530427"/>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7"/>
          <p:cNvSpPr/>
          <p:nvPr/>
        </p:nvSpPr>
        <p:spPr>
          <a:xfrm>
            <a:off x="1585505" y="5530427"/>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08"/>
          <p:cNvSpPr/>
          <p:nvPr/>
        </p:nvSpPr>
        <p:spPr>
          <a:xfrm>
            <a:off x="1744251" y="5530427"/>
            <a:ext cx="99157" cy="99157"/>
          </a:xfrm>
          <a:prstGeom prst="roundRect">
            <a:avLst>
              <a:gd name="adj" fmla="val 30000"/>
            </a:avLst>
          </a:prstGeom>
          <a:solidFill>
            <a:srgbClr val="3BA9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09"/>
          <p:cNvSpPr/>
          <p:nvPr/>
        </p:nvSpPr>
        <p:spPr>
          <a:xfrm>
            <a:off x="1902997" y="5530427"/>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1_10"/>
          <p:cNvSpPr/>
          <p:nvPr/>
        </p:nvSpPr>
        <p:spPr>
          <a:xfrm>
            <a:off x="2061743" y="5530427"/>
            <a:ext cx="99157" cy="99157"/>
          </a:xfrm>
          <a:prstGeom prst="roundRect">
            <a:avLst>
              <a:gd name="adj" fmla="val 30000"/>
            </a:avLst>
          </a:prstGeom>
          <a:solidFill>
            <a:srgbClr val="2191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1_11"/>
          <p:cNvSpPr/>
          <p:nvPr/>
        </p:nvSpPr>
        <p:spPr>
          <a:xfrm>
            <a:off x="2220489" y="55304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5"/>
          <p:cNvSpPr/>
          <p:nvPr/>
        </p:nvSpPr>
        <p:spPr>
          <a:xfrm>
            <a:off x="1268013" y="5415127"/>
            <a:ext cx="99157" cy="99157"/>
          </a:xfrm>
          <a:prstGeom prst="roundRect">
            <a:avLst>
              <a:gd name="adj" fmla="val 30000"/>
            </a:avLst>
          </a:prstGeom>
          <a:solidFill>
            <a:srgbClr val="0D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6"/>
          <p:cNvSpPr/>
          <p:nvPr/>
        </p:nvSpPr>
        <p:spPr>
          <a:xfrm>
            <a:off x="1426759" y="5415127"/>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7"/>
          <p:cNvSpPr/>
          <p:nvPr/>
        </p:nvSpPr>
        <p:spPr>
          <a:xfrm>
            <a:off x="1585505" y="5415127"/>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08"/>
          <p:cNvSpPr/>
          <p:nvPr/>
        </p:nvSpPr>
        <p:spPr>
          <a:xfrm>
            <a:off x="1744251"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09"/>
          <p:cNvSpPr/>
          <p:nvPr/>
        </p:nvSpPr>
        <p:spPr>
          <a:xfrm>
            <a:off x="1902997"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0"/>
          <p:cNvSpPr/>
          <p:nvPr/>
        </p:nvSpPr>
        <p:spPr>
          <a:xfrm>
            <a:off x="2061743" y="5415127"/>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2_11"/>
          <p:cNvSpPr/>
          <p:nvPr/>
        </p:nvSpPr>
        <p:spPr>
          <a:xfrm>
            <a:off x="2220489" y="5415127"/>
            <a:ext cx="99157" cy="99157"/>
          </a:xfrm>
          <a:prstGeom prst="roundRect">
            <a:avLst>
              <a:gd name="adj" fmla="val 30000"/>
            </a:avLst>
          </a:prstGeom>
          <a:solidFill>
            <a:srgbClr val="1668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2_12"/>
          <p:cNvSpPr/>
          <p:nvPr/>
        </p:nvSpPr>
        <p:spPr>
          <a:xfrm>
            <a:off x="2379235" y="5415127"/>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5"/>
          <p:cNvSpPr/>
          <p:nvPr/>
        </p:nvSpPr>
        <p:spPr>
          <a:xfrm>
            <a:off x="1268013" y="5299828"/>
            <a:ext cx="99157" cy="99157"/>
          </a:xfrm>
          <a:prstGeom prst="roundRect">
            <a:avLst>
              <a:gd name="adj" fmla="val 30000"/>
            </a:avLst>
          </a:prstGeom>
          <a:solidFill>
            <a:srgbClr val="0E3F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6"/>
          <p:cNvSpPr/>
          <p:nvPr/>
        </p:nvSpPr>
        <p:spPr>
          <a:xfrm>
            <a:off x="1426759" y="52998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7"/>
          <p:cNvSpPr/>
          <p:nvPr/>
        </p:nvSpPr>
        <p:spPr>
          <a:xfrm>
            <a:off x="1585505" y="5299828"/>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08"/>
          <p:cNvSpPr/>
          <p:nvPr/>
        </p:nvSpPr>
        <p:spPr>
          <a:xfrm>
            <a:off x="1744251" y="5299828"/>
            <a:ext cx="99157" cy="99157"/>
          </a:xfrm>
          <a:prstGeom prst="roundRect">
            <a:avLst>
              <a:gd name="adj" fmla="val 30000"/>
            </a:avLst>
          </a:prstGeom>
          <a:solidFill>
            <a:srgbClr val="54BD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09"/>
          <p:cNvSpPr/>
          <p:nvPr/>
        </p:nvSpPr>
        <p:spPr>
          <a:xfrm>
            <a:off x="1902997" y="5299828"/>
            <a:ext cx="99157" cy="99157"/>
          </a:xfrm>
          <a:prstGeom prst="roundRect">
            <a:avLst>
              <a:gd name="adj" fmla="val 30000"/>
            </a:avLst>
          </a:prstGeom>
          <a:solidFill>
            <a:srgbClr val="54B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0"/>
          <p:cNvSpPr/>
          <p:nvPr/>
        </p:nvSpPr>
        <p:spPr>
          <a:xfrm>
            <a:off x="2061743" y="5299828"/>
            <a:ext cx="99157" cy="99157"/>
          </a:xfrm>
          <a:prstGeom prst="roundRect">
            <a:avLst>
              <a:gd name="adj" fmla="val 30000"/>
            </a:avLst>
          </a:prstGeom>
          <a:solidFill>
            <a:srgbClr val="34A1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3_11"/>
          <p:cNvSpPr/>
          <p:nvPr/>
        </p:nvSpPr>
        <p:spPr>
          <a:xfrm>
            <a:off x="2220489" y="5299828"/>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3_12"/>
          <p:cNvSpPr/>
          <p:nvPr/>
        </p:nvSpPr>
        <p:spPr>
          <a:xfrm>
            <a:off x="2379235" y="5299828"/>
            <a:ext cx="99157" cy="99157"/>
          </a:xfrm>
          <a:prstGeom prst="roundRect">
            <a:avLst>
              <a:gd name="adj" fmla="val 30000"/>
            </a:avLst>
          </a:prstGeom>
          <a:solidFill>
            <a:srgbClr val="0E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5"/>
          <p:cNvSpPr/>
          <p:nvPr/>
        </p:nvSpPr>
        <p:spPr>
          <a:xfrm>
            <a:off x="1268013" y="5184528"/>
            <a:ext cx="99157" cy="99157"/>
          </a:xfrm>
          <a:prstGeom prst="roundRect">
            <a:avLst>
              <a:gd name="adj" fmla="val 30000"/>
            </a:avLst>
          </a:prstGeom>
          <a:solidFill>
            <a:srgbClr val="0E41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6"/>
          <p:cNvSpPr/>
          <p:nvPr/>
        </p:nvSpPr>
        <p:spPr>
          <a:xfrm>
            <a:off x="1426759" y="5184528"/>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7"/>
          <p:cNvSpPr/>
          <p:nvPr/>
        </p:nvSpPr>
        <p:spPr>
          <a:xfrm>
            <a:off x="1585505"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08"/>
          <p:cNvSpPr/>
          <p:nvPr/>
        </p:nvSpPr>
        <p:spPr>
          <a:xfrm>
            <a:off x="1744251"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09"/>
          <p:cNvSpPr/>
          <p:nvPr/>
        </p:nvSpPr>
        <p:spPr>
          <a:xfrm>
            <a:off x="1902997"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0"/>
          <p:cNvSpPr/>
          <p:nvPr/>
        </p:nvSpPr>
        <p:spPr>
          <a:xfrm>
            <a:off x="2061743"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4_11"/>
          <p:cNvSpPr/>
          <p:nvPr/>
        </p:nvSpPr>
        <p:spPr>
          <a:xfrm>
            <a:off x="2220489" y="5184528"/>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4_12"/>
          <p:cNvSpPr/>
          <p:nvPr/>
        </p:nvSpPr>
        <p:spPr>
          <a:xfrm>
            <a:off x="2379235" y="5184528"/>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5"/>
          <p:cNvSpPr/>
          <p:nvPr/>
        </p:nvSpPr>
        <p:spPr>
          <a:xfrm>
            <a:off x="1268013" y="5069228"/>
            <a:ext cx="99157" cy="99157"/>
          </a:xfrm>
          <a:prstGeom prst="roundRect">
            <a:avLst>
              <a:gd name="adj" fmla="val 30000"/>
            </a:avLst>
          </a:prstGeom>
          <a:solidFill>
            <a:srgbClr val="0E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6"/>
          <p:cNvSpPr/>
          <p:nvPr/>
        </p:nvSpPr>
        <p:spPr>
          <a:xfrm>
            <a:off x="142675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7"/>
          <p:cNvSpPr/>
          <p:nvPr/>
        </p:nvSpPr>
        <p:spPr>
          <a:xfrm>
            <a:off x="1585505" y="5069228"/>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08"/>
          <p:cNvSpPr/>
          <p:nvPr/>
        </p:nvSpPr>
        <p:spPr>
          <a:xfrm>
            <a:off x="1744251" y="5069228"/>
            <a:ext cx="99157" cy="99157"/>
          </a:xfrm>
          <a:prstGeom prst="roundRect">
            <a:avLst>
              <a:gd name="adj" fmla="val 30000"/>
            </a:avLst>
          </a:prstGeom>
          <a:solidFill>
            <a:srgbClr val="4DB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09"/>
          <p:cNvSpPr/>
          <p:nvPr/>
        </p:nvSpPr>
        <p:spPr>
          <a:xfrm>
            <a:off x="1902997" y="5069228"/>
            <a:ext cx="99157" cy="99157"/>
          </a:xfrm>
          <a:prstGeom prst="roundRect">
            <a:avLst>
              <a:gd name="adj" fmla="val 30000"/>
            </a:avLst>
          </a:prstGeom>
          <a:solidFill>
            <a:srgbClr val="4DB9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0"/>
          <p:cNvSpPr/>
          <p:nvPr/>
        </p:nvSpPr>
        <p:spPr>
          <a:xfrm>
            <a:off x="2061743" y="5069228"/>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5_11"/>
          <p:cNvSpPr/>
          <p:nvPr/>
        </p:nvSpPr>
        <p:spPr>
          <a:xfrm>
            <a:off x="222048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5_12"/>
          <p:cNvSpPr/>
          <p:nvPr/>
        </p:nvSpPr>
        <p:spPr>
          <a:xfrm>
            <a:off x="2379235" y="50692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5"/>
          <p:cNvSpPr/>
          <p:nvPr/>
        </p:nvSpPr>
        <p:spPr>
          <a:xfrm>
            <a:off x="1268013" y="4953928"/>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6"/>
          <p:cNvSpPr/>
          <p:nvPr/>
        </p:nvSpPr>
        <p:spPr>
          <a:xfrm>
            <a:off x="1426759" y="4953928"/>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7"/>
          <p:cNvSpPr/>
          <p:nvPr/>
        </p:nvSpPr>
        <p:spPr>
          <a:xfrm>
            <a:off x="1585505"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08"/>
          <p:cNvSpPr/>
          <p:nvPr/>
        </p:nvSpPr>
        <p:spPr>
          <a:xfrm>
            <a:off x="1744251" y="4953928"/>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09"/>
          <p:cNvSpPr/>
          <p:nvPr/>
        </p:nvSpPr>
        <p:spPr>
          <a:xfrm>
            <a:off x="1902997" y="4953928"/>
            <a:ext cx="99157" cy="99157"/>
          </a:xfrm>
          <a:prstGeom prst="roundRect">
            <a:avLst>
              <a:gd name="adj" fmla="val 30000"/>
            </a:avLst>
          </a:prstGeom>
          <a:solidFill>
            <a:srgbClr val="42A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0"/>
          <p:cNvSpPr/>
          <p:nvPr/>
        </p:nvSpPr>
        <p:spPr>
          <a:xfrm>
            <a:off x="2061743" y="4953928"/>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6_11"/>
          <p:cNvSpPr/>
          <p:nvPr/>
        </p:nvSpPr>
        <p:spPr>
          <a:xfrm>
            <a:off x="2220489" y="4953928"/>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6_12"/>
          <p:cNvSpPr/>
          <p:nvPr/>
        </p:nvSpPr>
        <p:spPr>
          <a:xfrm>
            <a:off x="2379235" y="49539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6"/>
          <p:cNvSpPr/>
          <p:nvPr/>
        </p:nvSpPr>
        <p:spPr>
          <a:xfrm>
            <a:off x="1426759" y="4838629"/>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7"/>
          <p:cNvSpPr/>
          <p:nvPr/>
        </p:nvSpPr>
        <p:spPr>
          <a:xfrm>
            <a:off x="1585505" y="4838629"/>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08"/>
          <p:cNvSpPr/>
          <p:nvPr/>
        </p:nvSpPr>
        <p:spPr>
          <a:xfrm>
            <a:off x="1744251" y="4838629"/>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09"/>
          <p:cNvSpPr/>
          <p:nvPr/>
        </p:nvSpPr>
        <p:spPr>
          <a:xfrm>
            <a:off x="1902997" y="4838629"/>
            <a:ext cx="99157" cy="99157"/>
          </a:xfrm>
          <a:prstGeom prst="roundRect">
            <a:avLst>
              <a:gd name="adj" fmla="val 30000"/>
            </a:avLst>
          </a:prstGeom>
          <a:solidFill>
            <a:srgbClr val="33A1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0"/>
          <p:cNvSpPr/>
          <p:nvPr/>
        </p:nvSpPr>
        <p:spPr>
          <a:xfrm>
            <a:off x="2061743" y="4838629"/>
            <a:ext cx="99157" cy="99157"/>
          </a:xfrm>
          <a:prstGeom prst="roundRect">
            <a:avLst>
              <a:gd name="adj" fmla="val 30000"/>
            </a:avLst>
          </a:prstGeom>
          <a:solidFill>
            <a:srgbClr val="1F8F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7_11"/>
          <p:cNvSpPr/>
          <p:nvPr/>
        </p:nvSpPr>
        <p:spPr>
          <a:xfrm>
            <a:off x="2220489" y="4838629"/>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7_12"/>
          <p:cNvSpPr/>
          <p:nvPr/>
        </p:nvSpPr>
        <p:spPr>
          <a:xfrm>
            <a:off x="2379235" y="48386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5"/>
          <p:cNvSpPr/>
          <p:nvPr/>
        </p:nvSpPr>
        <p:spPr>
          <a:xfrm>
            <a:off x="1268013" y="47233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6"/>
          <p:cNvSpPr/>
          <p:nvPr/>
        </p:nvSpPr>
        <p:spPr>
          <a:xfrm>
            <a:off x="1426759" y="47233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7"/>
          <p:cNvSpPr/>
          <p:nvPr/>
        </p:nvSpPr>
        <p:spPr>
          <a:xfrm>
            <a:off x="1585505" y="4723329"/>
            <a:ext cx="99157" cy="99157"/>
          </a:xfrm>
          <a:prstGeom prst="roundRect">
            <a:avLst>
              <a:gd name="adj" fmla="val 30000"/>
            </a:avLst>
          </a:prstGeom>
          <a:solidFill>
            <a:srgbClr val="197B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08"/>
          <p:cNvSpPr/>
          <p:nvPr/>
        </p:nvSpPr>
        <p:spPr>
          <a:xfrm>
            <a:off x="1744251" y="4723329"/>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09"/>
          <p:cNvSpPr/>
          <p:nvPr/>
        </p:nvSpPr>
        <p:spPr>
          <a:xfrm>
            <a:off x="1902997" y="47233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0"/>
          <p:cNvSpPr/>
          <p:nvPr/>
        </p:nvSpPr>
        <p:spPr>
          <a:xfrm>
            <a:off x="2061743" y="4723329"/>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8_11"/>
          <p:cNvSpPr/>
          <p:nvPr/>
        </p:nvSpPr>
        <p:spPr>
          <a:xfrm>
            <a:off x="2220489" y="4723329"/>
            <a:ext cx="99157" cy="99157"/>
          </a:xfrm>
          <a:prstGeom prst="roundRect">
            <a:avLst>
              <a:gd name="adj" fmla="val 30000"/>
            </a:avLst>
          </a:prstGeom>
          <a:solidFill>
            <a:srgbClr val="145E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8_12"/>
          <p:cNvSpPr/>
          <p:nvPr/>
        </p:nvSpPr>
        <p:spPr>
          <a:xfrm>
            <a:off x="2379235" y="4723329"/>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5"/>
          <p:cNvSpPr/>
          <p:nvPr/>
        </p:nvSpPr>
        <p:spPr>
          <a:xfrm>
            <a:off x="1268013" y="4608029"/>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6"/>
          <p:cNvSpPr/>
          <p:nvPr/>
        </p:nvSpPr>
        <p:spPr>
          <a:xfrm>
            <a:off x="1426759" y="4608029"/>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7"/>
          <p:cNvSpPr/>
          <p:nvPr/>
        </p:nvSpPr>
        <p:spPr>
          <a:xfrm>
            <a:off x="1585505" y="4608029"/>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08"/>
          <p:cNvSpPr/>
          <p:nvPr/>
        </p:nvSpPr>
        <p:spPr>
          <a:xfrm>
            <a:off x="1744251" y="4608029"/>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09"/>
          <p:cNvSpPr/>
          <p:nvPr/>
        </p:nvSpPr>
        <p:spPr>
          <a:xfrm>
            <a:off x="1902997" y="4608029"/>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0"/>
          <p:cNvSpPr/>
          <p:nvPr/>
        </p:nvSpPr>
        <p:spPr>
          <a:xfrm>
            <a:off x="2061743" y="4608029"/>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09_11"/>
          <p:cNvSpPr/>
          <p:nvPr/>
        </p:nvSpPr>
        <p:spPr>
          <a:xfrm>
            <a:off x="2220489" y="4608029"/>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09_12"/>
          <p:cNvSpPr/>
          <p:nvPr/>
        </p:nvSpPr>
        <p:spPr>
          <a:xfrm>
            <a:off x="2379235" y="46080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6"/>
          <p:cNvSpPr/>
          <p:nvPr/>
        </p:nvSpPr>
        <p:spPr>
          <a:xfrm>
            <a:off x="1426759" y="4492729"/>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7"/>
          <p:cNvSpPr/>
          <p:nvPr/>
        </p:nvSpPr>
        <p:spPr>
          <a:xfrm>
            <a:off x="1585505" y="4492729"/>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08"/>
          <p:cNvSpPr/>
          <p:nvPr/>
        </p:nvSpPr>
        <p:spPr>
          <a:xfrm>
            <a:off x="1744251" y="4492729"/>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09"/>
          <p:cNvSpPr/>
          <p:nvPr/>
        </p:nvSpPr>
        <p:spPr>
          <a:xfrm>
            <a:off x="1902997" y="44927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0"/>
          <p:cNvSpPr/>
          <p:nvPr/>
        </p:nvSpPr>
        <p:spPr>
          <a:xfrm>
            <a:off x="2061743" y="4492729"/>
            <a:ext cx="99157" cy="99157"/>
          </a:xfrm>
          <a:prstGeom prst="roundRect">
            <a:avLst>
              <a:gd name="adj" fmla="val 30000"/>
            </a:avLst>
          </a:prstGeom>
          <a:solidFill>
            <a:srgbClr val="16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0_11"/>
          <p:cNvSpPr/>
          <p:nvPr/>
        </p:nvSpPr>
        <p:spPr>
          <a:xfrm>
            <a:off x="2220489" y="44927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0_12"/>
          <p:cNvSpPr/>
          <p:nvPr/>
        </p:nvSpPr>
        <p:spPr>
          <a:xfrm>
            <a:off x="2379235" y="4492729"/>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6"/>
          <p:cNvSpPr/>
          <p:nvPr/>
        </p:nvSpPr>
        <p:spPr>
          <a:xfrm>
            <a:off x="1426759" y="4377430"/>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7"/>
          <p:cNvSpPr/>
          <p:nvPr/>
        </p:nvSpPr>
        <p:spPr>
          <a:xfrm>
            <a:off x="1585505" y="4377430"/>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08"/>
          <p:cNvSpPr/>
          <p:nvPr/>
        </p:nvSpPr>
        <p:spPr>
          <a:xfrm>
            <a:off x="1744251" y="4377430"/>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09"/>
          <p:cNvSpPr/>
          <p:nvPr/>
        </p:nvSpPr>
        <p:spPr>
          <a:xfrm>
            <a:off x="1902997" y="4377430"/>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0"/>
          <p:cNvSpPr/>
          <p:nvPr/>
        </p:nvSpPr>
        <p:spPr>
          <a:xfrm>
            <a:off x="2061743" y="4377430"/>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1_11"/>
          <p:cNvSpPr/>
          <p:nvPr/>
        </p:nvSpPr>
        <p:spPr>
          <a:xfrm>
            <a:off x="2220489" y="4377430"/>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1_12"/>
          <p:cNvSpPr/>
          <p:nvPr/>
        </p:nvSpPr>
        <p:spPr>
          <a:xfrm>
            <a:off x="2379235" y="4377430"/>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6"/>
          <p:cNvSpPr/>
          <p:nvPr/>
        </p:nvSpPr>
        <p:spPr>
          <a:xfrm>
            <a:off x="1426759" y="4262130"/>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7"/>
          <p:cNvSpPr/>
          <p:nvPr/>
        </p:nvSpPr>
        <p:spPr>
          <a:xfrm>
            <a:off x="1585505" y="4262130"/>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08"/>
          <p:cNvSpPr/>
          <p:nvPr/>
        </p:nvSpPr>
        <p:spPr>
          <a:xfrm>
            <a:off x="1744251" y="4262130"/>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09"/>
          <p:cNvSpPr/>
          <p:nvPr/>
        </p:nvSpPr>
        <p:spPr>
          <a:xfrm>
            <a:off x="1902997" y="4262130"/>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0"/>
          <p:cNvSpPr/>
          <p:nvPr/>
        </p:nvSpPr>
        <p:spPr>
          <a:xfrm>
            <a:off x="2061743" y="42621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2_11"/>
          <p:cNvSpPr/>
          <p:nvPr/>
        </p:nvSpPr>
        <p:spPr>
          <a:xfrm>
            <a:off x="2220489" y="4262130"/>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2_12"/>
          <p:cNvSpPr/>
          <p:nvPr/>
        </p:nvSpPr>
        <p:spPr>
          <a:xfrm>
            <a:off x="2379235" y="4262130"/>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6"/>
          <p:cNvSpPr/>
          <p:nvPr/>
        </p:nvSpPr>
        <p:spPr>
          <a:xfrm>
            <a:off x="1426759" y="4146830"/>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7"/>
          <p:cNvSpPr/>
          <p:nvPr/>
        </p:nvSpPr>
        <p:spPr>
          <a:xfrm>
            <a:off x="1585505" y="4146830"/>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08"/>
          <p:cNvSpPr/>
          <p:nvPr/>
        </p:nvSpPr>
        <p:spPr>
          <a:xfrm>
            <a:off x="1744251" y="4146830"/>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09"/>
          <p:cNvSpPr/>
          <p:nvPr/>
        </p:nvSpPr>
        <p:spPr>
          <a:xfrm>
            <a:off x="1902997" y="4146830"/>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0"/>
          <p:cNvSpPr/>
          <p:nvPr/>
        </p:nvSpPr>
        <p:spPr>
          <a:xfrm>
            <a:off x="2061743" y="41468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3_11"/>
          <p:cNvSpPr/>
          <p:nvPr/>
        </p:nvSpPr>
        <p:spPr>
          <a:xfrm>
            <a:off x="2220489" y="4146830"/>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3_12"/>
          <p:cNvSpPr/>
          <p:nvPr/>
        </p:nvSpPr>
        <p:spPr>
          <a:xfrm>
            <a:off x="2379235" y="4146830"/>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6"/>
          <p:cNvSpPr/>
          <p:nvPr/>
        </p:nvSpPr>
        <p:spPr>
          <a:xfrm>
            <a:off x="1426759" y="4031530"/>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7"/>
          <p:cNvSpPr/>
          <p:nvPr/>
        </p:nvSpPr>
        <p:spPr>
          <a:xfrm>
            <a:off x="1585505" y="4031530"/>
            <a:ext cx="99157" cy="99157"/>
          </a:xfrm>
          <a:prstGeom prst="roundRect">
            <a:avLst>
              <a:gd name="adj" fmla="val 30000"/>
            </a:avLst>
          </a:prstGeom>
          <a:solidFill>
            <a:srgbClr val="1049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08"/>
          <p:cNvSpPr/>
          <p:nvPr/>
        </p:nvSpPr>
        <p:spPr>
          <a:xfrm>
            <a:off x="1744251" y="4031530"/>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09"/>
          <p:cNvSpPr/>
          <p:nvPr/>
        </p:nvSpPr>
        <p:spPr>
          <a:xfrm>
            <a:off x="1902997" y="4031530"/>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0"/>
          <p:cNvSpPr/>
          <p:nvPr/>
        </p:nvSpPr>
        <p:spPr>
          <a:xfrm>
            <a:off x="2061743" y="40315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4_11"/>
          <p:cNvSpPr/>
          <p:nvPr/>
        </p:nvSpPr>
        <p:spPr>
          <a:xfrm>
            <a:off x="2220489" y="4031530"/>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4_12"/>
          <p:cNvSpPr/>
          <p:nvPr/>
        </p:nvSpPr>
        <p:spPr>
          <a:xfrm>
            <a:off x="2379235" y="4031530"/>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7"/>
          <p:cNvSpPr/>
          <p:nvPr/>
        </p:nvSpPr>
        <p:spPr>
          <a:xfrm>
            <a:off x="1585505" y="3916231"/>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08"/>
          <p:cNvSpPr/>
          <p:nvPr/>
        </p:nvSpPr>
        <p:spPr>
          <a:xfrm>
            <a:off x="1744251" y="3916231"/>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09"/>
          <p:cNvSpPr/>
          <p:nvPr/>
        </p:nvSpPr>
        <p:spPr>
          <a:xfrm>
            <a:off x="1902997" y="3916231"/>
            <a:ext cx="99157" cy="99157"/>
          </a:xfrm>
          <a:prstGeom prst="roundRect">
            <a:avLst>
              <a:gd name="adj" fmla="val 30000"/>
            </a:avLst>
          </a:prstGeom>
          <a:solidFill>
            <a:srgbClr val="145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0"/>
          <p:cNvSpPr/>
          <p:nvPr/>
        </p:nvSpPr>
        <p:spPr>
          <a:xfrm>
            <a:off x="2061743" y="3916231"/>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1"/>
          <p:cNvSpPr/>
          <p:nvPr/>
        </p:nvSpPr>
        <p:spPr>
          <a:xfrm>
            <a:off x="2220489" y="3916231"/>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5_12"/>
          <p:cNvSpPr/>
          <p:nvPr/>
        </p:nvSpPr>
        <p:spPr>
          <a:xfrm>
            <a:off x="2379235" y="3916231"/>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5_13"/>
          <p:cNvSpPr/>
          <p:nvPr/>
        </p:nvSpPr>
        <p:spPr>
          <a:xfrm>
            <a:off x="2537981" y="3916231"/>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7"/>
          <p:cNvSpPr/>
          <p:nvPr/>
        </p:nvSpPr>
        <p:spPr>
          <a:xfrm>
            <a:off x="1585505" y="38009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08"/>
          <p:cNvSpPr/>
          <p:nvPr/>
        </p:nvSpPr>
        <p:spPr>
          <a:xfrm>
            <a:off x="1744251" y="38009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09"/>
          <p:cNvSpPr/>
          <p:nvPr/>
        </p:nvSpPr>
        <p:spPr>
          <a:xfrm>
            <a:off x="1902997" y="3800931"/>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0"/>
          <p:cNvSpPr/>
          <p:nvPr/>
        </p:nvSpPr>
        <p:spPr>
          <a:xfrm>
            <a:off x="2061743" y="3800931"/>
            <a:ext cx="99157" cy="99157"/>
          </a:xfrm>
          <a:prstGeom prst="roundRect">
            <a:avLst>
              <a:gd name="adj" fmla="val 30000"/>
            </a:avLst>
          </a:prstGeom>
          <a:solidFill>
            <a:srgbClr val="1561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1"/>
          <p:cNvSpPr/>
          <p:nvPr/>
        </p:nvSpPr>
        <p:spPr>
          <a:xfrm>
            <a:off x="2220489" y="3800931"/>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6_12"/>
          <p:cNvSpPr/>
          <p:nvPr/>
        </p:nvSpPr>
        <p:spPr>
          <a:xfrm>
            <a:off x="2379235" y="38009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6_13"/>
          <p:cNvSpPr/>
          <p:nvPr/>
        </p:nvSpPr>
        <p:spPr>
          <a:xfrm>
            <a:off x="2537981" y="38009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7"/>
          <p:cNvSpPr/>
          <p:nvPr/>
        </p:nvSpPr>
        <p:spPr>
          <a:xfrm>
            <a:off x="1585505" y="36856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08"/>
          <p:cNvSpPr/>
          <p:nvPr/>
        </p:nvSpPr>
        <p:spPr>
          <a:xfrm>
            <a:off x="1744251" y="3685631"/>
            <a:ext cx="99157" cy="99157"/>
          </a:xfrm>
          <a:prstGeom prst="roundRect">
            <a:avLst>
              <a:gd name="adj" fmla="val 30000"/>
            </a:avLst>
          </a:prstGeom>
          <a:solidFill>
            <a:srgbClr val="1251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09"/>
          <p:cNvSpPr/>
          <p:nvPr/>
        </p:nvSpPr>
        <p:spPr>
          <a:xfrm>
            <a:off x="1902997" y="36856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0"/>
          <p:cNvSpPr/>
          <p:nvPr/>
        </p:nvSpPr>
        <p:spPr>
          <a:xfrm>
            <a:off x="2061743" y="36856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1"/>
          <p:cNvSpPr/>
          <p:nvPr/>
        </p:nvSpPr>
        <p:spPr>
          <a:xfrm>
            <a:off x="2220489" y="3685631"/>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7_12"/>
          <p:cNvSpPr/>
          <p:nvPr/>
        </p:nvSpPr>
        <p:spPr>
          <a:xfrm>
            <a:off x="2379235" y="36856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7_13"/>
          <p:cNvSpPr/>
          <p:nvPr/>
        </p:nvSpPr>
        <p:spPr>
          <a:xfrm>
            <a:off x="2537981" y="36856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6"/>
          <p:cNvSpPr/>
          <p:nvPr/>
        </p:nvSpPr>
        <p:spPr>
          <a:xfrm>
            <a:off x="1426759" y="3570331"/>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7"/>
          <p:cNvSpPr/>
          <p:nvPr/>
        </p:nvSpPr>
        <p:spPr>
          <a:xfrm>
            <a:off x="1585505" y="3570331"/>
            <a:ext cx="99157" cy="99157"/>
          </a:xfrm>
          <a:prstGeom prst="roundRect">
            <a:avLst>
              <a:gd name="adj" fmla="val 30000"/>
            </a:avLst>
          </a:prstGeom>
          <a:solidFill>
            <a:srgbClr val="104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08"/>
          <p:cNvSpPr/>
          <p:nvPr/>
        </p:nvSpPr>
        <p:spPr>
          <a:xfrm>
            <a:off x="1744251"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09"/>
          <p:cNvSpPr/>
          <p:nvPr/>
        </p:nvSpPr>
        <p:spPr>
          <a:xfrm>
            <a:off x="1902997" y="35703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0"/>
          <p:cNvSpPr/>
          <p:nvPr/>
        </p:nvSpPr>
        <p:spPr>
          <a:xfrm>
            <a:off x="2061743" y="35703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1"/>
          <p:cNvSpPr/>
          <p:nvPr/>
        </p:nvSpPr>
        <p:spPr>
          <a:xfrm>
            <a:off x="2220489" y="35703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8_12"/>
          <p:cNvSpPr/>
          <p:nvPr/>
        </p:nvSpPr>
        <p:spPr>
          <a:xfrm>
            <a:off x="2379235" y="3570331"/>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8_13"/>
          <p:cNvSpPr/>
          <p:nvPr/>
        </p:nvSpPr>
        <p:spPr>
          <a:xfrm>
            <a:off x="2537981" y="3570331"/>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6"/>
          <p:cNvSpPr/>
          <p:nvPr/>
        </p:nvSpPr>
        <p:spPr>
          <a:xfrm>
            <a:off x="1426759"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7"/>
          <p:cNvSpPr/>
          <p:nvPr/>
        </p:nvSpPr>
        <p:spPr>
          <a:xfrm>
            <a:off x="1585505" y="34550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08"/>
          <p:cNvSpPr/>
          <p:nvPr/>
        </p:nvSpPr>
        <p:spPr>
          <a:xfrm>
            <a:off x="1744251" y="3455032"/>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09"/>
          <p:cNvSpPr/>
          <p:nvPr/>
        </p:nvSpPr>
        <p:spPr>
          <a:xfrm>
            <a:off x="1902997"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0"/>
          <p:cNvSpPr/>
          <p:nvPr/>
        </p:nvSpPr>
        <p:spPr>
          <a:xfrm>
            <a:off x="2061743"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1"/>
          <p:cNvSpPr/>
          <p:nvPr/>
        </p:nvSpPr>
        <p:spPr>
          <a:xfrm>
            <a:off x="2220489" y="3455032"/>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19_12"/>
          <p:cNvSpPr/>
          <p:nvPr/>
        </p:nvSpPr>
        <p:spPr>
          <a:xfrm>
            <a:off x="2379235" y="3455032"/>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19_13"/>
          <p:cNvSpPr/>
          <p:nvPr/>
        </p:nvSpPr>
        <p:spPr>
          <a:xfrm>
            <a:off x="2537981"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6"/>
          <p:cNvSpPr/>
          <p:nvPr/>
        </p:nvSpPr>
        <p:spPr>
          <a:xfrm>
            <a:off x="1426759" y="3339732"/>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7"/>
          <p:cNvSpPr/>
          <p:nvPr/>
        </p:nvSpPr>
        <p:spPr>
          <a:xfrm>
            <a:off x="1585505" y="3339732"/>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08"/>
          <p:cNvSpPr/>
          <p:nvPr/>
        </p:nvSpPr>
        <p:spPr>
          <a:xfrm>
            <a:off x="1744251" y="3339732"/>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09"/>
          <p:cNvSpPr/>
          <p:nvPr/>
        </p:nvSpPr>
        <p:spPr>
          <a:xfrm>
            <a:off x="1902997" y="3339732"/>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0"/>
          <p:cNvSpPr/>
          <p:nvPr/>
        </p:nvSpPr>
        <p:spPr>
          <a:xfrm>
            <a:off x="2061743" y="33397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1"/>
          <p:cNvSpPr/>
          <p:nvPr/>
        </p:nvSpPr>
        <p:spPr>
          <a:xfrm>
            <a:off x="2220489" y="3339732"/>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0_12"/>
          <p:cNvSpPr/>
          <p:nvPr/>
        </p:nvSpPr>
        <p:spPr>
          <a:xfrm>
            <a:off x="2379235" y="33397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0_13"/>
          <p:cNvSpPr/>
          <p:nvPr/>
        </p:nvSpPr>
        <p:spPr>
          <a:xfrm>
            <a:off x="2537981" y="33397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5"/>
          <p:cNvSpPr/>
          <p:nvPr/>
        </p:nvSpPr>
        <p:spPr>
          <a:xfrm>
            <a:off x="1268013" y="3224432"/>
            <a:ext cx="99157" cy="99157"/>
          </a:xfrm>
          <a:prstGeom prst="roundRect">
            <a:avLst>
              <a:gd name="adj" fmla="val 30000"/>
            </a:avLst>
          </a:prstGeom>
          <a:solidFill>
            <a:srgbClr val="1358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6"/>
          <p:cNvSpPr/>
          <p:nvPr/>
        </p:nvSpPr>
        <p:spPr>
          <a:xfrm>
            <a:off x="1426759" y="32244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7"/>
          <p:cNvSpPr/>
          <p:nvPr/>
        </p:nvSpPr>
        <p:spPr>
          <a:xfrm>
            <a:off x="1585505" y="3224432"/>
            <a:ext cx="99157" cy="99157"/>
          </a:xfrm>
          <a:prstGeom prst="roundRect">
            <a:avLst>
              <a:gd name="adj" fmla="val 30000"/>
            </a:avLst>
          </a:prstGeom>
          <a:solidFill>
            <a:srgbClr val="2B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08"/>
          <p:cNvSpPr/>
          <p:nvPr/>
        </p:nvSpPr>
        <p:spPr>
          <a:xfrm>
            <a:off x="1744251" y="3224432"/>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09"/>
          <p:cNvSpPr/>
          <p:nvPr/>
        </p:nvSpPr>
        <p:spPr>
          <a:xfrm>
            <a:off x="1902997" y="32244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0"/>
          <p:cNvSpPr/>
          <p:nvPr/>
        </p:nvSpPr>
        <p:spPr>
          <a:xfrm>
            <a:off x="2061743" y="32244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1"/>
          <p:cNvSpPr/>
          <p:nvPr/>
        </p:nvSpPr>
        <p:spPr>
          <a:xfrm>
            <a:off x="2220489" y="3224432"/>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1_12"/>
          <p:cNvSpPr/>
          <p:nvPr/>
        </p:nvSpPr>
        <p:spPr>
          <a:xfrm>
            <a:off x="2379235" y="3224432"/>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1_13"/>
          <p:cNvSpPr/>
          <p:nvPr/>
        </p:nvSpPr>
        <p:spPr>
          <a:xfrm>
            <a:off x="2537981" y="3224432"/>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5"/>
          <p:cNvSpPr/>
          <p:nvPr/>
        </p:nvSpPr>
        <p:spPr>
          <a:xfrm>
            <a:off x="1268013" y="3109132"/>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6"/>
          <p:cNvSpPr/>
          <p:nvPr/>
        </p:nvSpPr>
        <p:spPr>
          <a:xfrm>
            <a:off x="1426759" y="3109132"/>
            <a:ext cx="99157" cy="99157"/>
          </a:xfrm>
          <a:prstGeom prst="roundRect">
            <a:avLst>
              <a:gd name="adj" fmla="val 30000"/>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7"/>
          <p:cNvSpPr/>
          <p:nvPr/>
        </p:nvSpPr>
        <p:spPr>
          <a:xfrm>
            <a:off x="1585505" y="3109132"/>
            <a:ext cx="99157" cy="99157"/>
          </a:xfrm>
          <a:prstGeom prst="roundRect">
            <a:avLst>
              <a:gd name="adj" fmla="val 30000"/>
            </a:avLst>
          </a:prstGeom>
          <a:solidFill>
            <a:srgbClr val="70C1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08"/>
          <p:cNvSpPr/>
          <p:nvPr/>
        </p:nvSpPr>
        <p:spPr>
          <a:xfrm>
            <a:off x="1744251" y="3109132"/>
            <a:ext cx="99157" cy="99157"/>
          </a:xfrm>
          <a:prstGeom prst="roundRect">
            <a:avLst>
              <a:gd name="adj" fmla="val 30000"/>
            </a:avLst>
          </a:prstGeom>
          <a:solidFill>
            <a:srgbClr val="51BC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09"/>
          <p:cNvSpPr/>
          <p:nvPr/>
        </p:nvSpPr>
        <p:spPr>
          <a:xfrm>
            <a:off x="1902997" y="3109132"/>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0"/>
          <p:cNvSpPr/>
          <p:nvPr/>
        </p:nvSpPr>
        <p:spPr>
          <a:xfrm>
            <a:off x="2061743" y="3109132"/>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1"/>
          <p:cNvSpPr/>
          <p:nvPr/>
        </p:nvSpPr>
        <p:spPr>
          <a:xfrm>
            <a:off x="2220489" y="31091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2_12"/>
          <p:cNvSpPr/>
          <p:nvPr/>
        </p:nvSpPr>
        <p:spPr>
          <a:xfrm>
            <a:off x="2379235" y="3109132"/>
            <a:ext cx="99157" cy="99157"/>
          </a:xfrm>
          <a:prstGeom prst="roundRect">
            <a:avLst>
              <a:gd name="adj" fmla="val 30000"/>
            </a:avLst>
          </a:prstGeom>
          <a:solidFill>
            <a:srgbClr val="2E9D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2_13"/>
          <p:cNvSpPr/>
          <p:nvPr/>
        </p:nvSpPr>
        <p:spPr>
          <a:xfrm>
            <a:off x="2537981" y="3109132"/>
            <a:ext cx="99157" cy="99157"/>
          </a:xfrm>
          <a:prstGeom prst="roundRect">
            <a:avLst>
              <a:gd name="adj" fmla="val 30000"/>
            </a:avLst>
          </a:prstGeom>
          <a:solidFill>
            <a:srgbClr val="1A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4"/>
          <p:cNvSpPr/>
          <p:nvPr/>
        </p:nvSpPr>
        <p:spPr>
          <a:xfrm>
            <a:off x="1109267" y="29938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5"/>
          <p:cNvSpPr/>
          <p:nvPr/>
        </p:nvSpPr>
        <p:spPr>
          <a:xfrm>
            <a:off x="1268013" y="29938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6"/>
          <p:cNvSpPr/>
          <p:nvPr/>
        </p:nvSpPr>
        <p:spPr>
          <a:xfrm>
            <a:off x="1426759" y="2993833"/>
            <a:ext cx="99157" cy="99157"/>
          </a:xfrm>
          <a:prstGeom prst="roundRect">
            <a:avLst>
              <a:gd name="adj" fmla="val 30000"/>
            </a:avLst>
          </a:prstGeom>
          <a:solidFill>
            <a:srgbClr val="62BF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7"/>
          <p:cNvSpPr/>
          <p:nvPr/>
        </p:nvSpPr>
        <p:spPr>
          <a:xfrm>
            <a:off x="1585505" y="2993833"/>
            <a:ext cx="99157" cy="99157"/>
          </a:xfrm>
          <a:prstGeom prst="roundRect">
            <a:avLst>
              <a:gd name="adj" fmla="val 30000"/>
            </a:avLst>
          </a:prstGeom>
          <a:solidFill>
            <a:srgbClr val="FFBE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08"/>
          <p:cNvSpPr/>
          <p:nvPr/>
        </p:nvSpPr>
        <p:spPr>
          <a:xfrm>
            <a:off x="1744251" y="2993833"/>
            <a:ext cx="99157" cy="99157"/>
          </a:xfrm>
          <a:prstGeom prst="roundRect">
            <a:avLst>
              <a:gd name="adj" fmla="val 30000"/>
            </a:avLst>
          </a:prstGeom>
          <a:solidFill>
            <a:srgbClr val="F4D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09"/>
          <p:cNvSpPr/>
          <p:nvPr/>
        </p:nvSpPr>
        <p:spPr>
          <a:xfrm>
            <a:off x="1902997" y="29938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0"/>
          <p:cNvSpPr/>
          <p:nvPr/>
        </p:nvSpPr>
        <p:spPr>
          <a:xfrm>
            <a:off x="2061743" y="2993833"/>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1"/>
          <p:cNvSpPr/>
          <p:nvPr/>
        </p:nvSpPr>
        <p:spPr>
          <a:xfrm>
            <a:off x="2220489" y="2993833"/>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2"/>
          <p:cNvSpPr/>
          <p:nvPr/>
        </p:nvSpPr>
        <p:spPr>
          <a:xfrm>
            <a:off x="2379235" y="2993833"/>
            <a:ext cx="99157" cy="99157"/>
          </a:xfrm>
          <a:prstGeom prst="roundRect">
            <a:avLst>
              <a:gd name="adj" fmla="val 30000"/>
            </a:avLst>
          </a:prstGeom>
          <a:solidFill>
            <a:srgbClr val="39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3_13"/>
          <p:cNvSpPr/>
          <p:nvPr/>
        </p:nvSpPr>
        <p:spPr>
          <a:xfrm>
            <a:off x="2537981" y="2993833"/>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3_14"/>
          <p:cNvSpPr/>
          <p:nvPr/>
        </p:nvSpPr>
        <p:spPr>
          <a:xfrm>
            <a:off x="2696727" y="2993833"/>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4"/>
          <p:cNvSpPr/>
          <p:nvPr/>
        </p:nvSpPr>
        <p:spPr>
          <a:xfrm>
            <a:off x="1109267" y="2878533"/>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5"/>
          <p:cNvSpPr/>
          <p:nvPr/>
        </p:nvSpPr>
        <p:spPr>
          <a:xfrm>
            <a:off x="1268013" y="2878533"/>
            <a:ext cx="99157" cy="99157"/>
          </a:xfrm>
          <a:prstGeom prst="roundRect">
            <a:avLst>
              <a:gd name="adj" fmla="val 30000"/>
            </a:avLst>
          </a:prstGeom>
          <a:solidFill>
            <a:srgbClr val="5DB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6"/>
          <p:cNvSpPr/>
          <p:nvPr/>
        </p:nvSpPr>
        <p:spPr>
          <a:xfrm>
            <a:off x="1426759" y="2878533"/>
            <a:ext cx="99157" cy="99157"/>
          </a:xfrm>
          <a:prstGeom prst="roundRect">
            <a:avLst>
              <a:gd name="adj" fmla="val 30000"/>
            </a:avLst>
          </a:prstGeom>
          <a:solidFill>
            <a:srgbClr val="DBCE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7"/>
          <p:cNvSpPr/>
          <p:nvPr/>
        </p:nvSpPr>
        <p:spPr>
          <a:xfrm>
            <a:off x="1585505" y="2878533"/>
            <a:ext cx="99157" cy="99157"/>
          </a:xfrm>
          <a:prstGeom prst="roundRect">
            <a:avLst>
              <a:gd name="adj" fmla="val 30000"/>
            </a:avLst>
          </a:prstGeom>
          <a:solidFill>
            <a:srgbClr val="FF8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08"/>
          <p:cNvSpPr/>
          <p:nvPr/>
        </p:nvSpPr>
        <p:spPr>
          <a:xfrm>
            <a:off x="1744251" y="2878533"/>
            <a:ext cx="99157" cy="99157"/>
          </a:xfrm>
          <a:prstGeom prst="roundRect">
            <a:avLst>
              <a:gd name="adj" fmla="val 30000"/>
            </a:avLst>
          </a:prstGeom>
          <a:solidFill>
            <a:srgbClr val="FFA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09"/>
          <p:cNvSpPr/>
          <p:nvPr/>
        </p:nvSpPr>
        <p:spPr>
          <a:xfrm>
            <a:off x="1902997" y="28785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0"/>
          <p:cNvSpPr/>
          <p:nvPr/>
        </p:nvSpPr>
        <p:spPr>
          <a:xfrm>
            <a:off x="2061743" y="2878533"/>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1"/>
          <p:cNvSpPr/>
          <p:nvPr/>
        </p:nvSpPr>
        <p:spPr>
          <a:xfrm>
            <a:off x="2220489" y="2878533"/>
            <a:ext cx="99157" cy="99157"/>
          </a:xfrm>
          <a:prstGeom prst="roundRect">
            <a:avLst>
              <a:gd name="adj" fmla="val 30000"/>
            </a:avLst>
          </a:prstGeom>
          <a:solidFill>
            <a:srgbClr val="1C88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2"/>
          <p:cNvSpPr/>
          <p:nvPr/>
        </p:nvSpPr>
        <p:spPr>
          <a:xfrm>
            <a:off x="2379235" y="2878533"/>
            <a:ext cx="99157" cy="99157"/>
          </a:xfrm>
          <a:prstGeom prst="roundRect">
            <a:avLst>
              <a:gd name="adj" fmla="val 30000"/>
            </a:avLst>
          </a:prstGeom>
          <a:solidFill>
            <a:srgbClr val="36A4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4_13"/>
          <p:cNvSpPr/>
          <p:nvPr/>
        </p:nvSpPr>
        <p:spPr>
          <a:xfrm>
            <a:off x="2537981" y="28785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4_14"/>
          <p:cNvSpPr/>
          <p:nvPr/>
        </p:nvSpPr>
        <p:spPr>
          <a:xfrm>
            <a:off x="2696727" y="2878533"/>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4"/>
          <p:cNvSpPr/>
          <p:nvPr/>
        </p:nvSpPr>
        <p:spPr>
          <a:xfrm>
            <a:off x="1109267" y="2763233"/>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5"/>
          <p:cNvSpPr/>
          <p:nvPr/>
        </p:nvSpPr>
        <p:spPr>
          <a:xfrm>
            <a:off x="1268013" y="2763233"/>
            <a:ext cx="99157" cy="99157"/>
          </a:xfrm>
          <a:prstGeom prst="roundRect">
            <a:avLst>
              <a:gd name="adj" fmla="val 30000"/>
            </a:avLst>
          </a:prstGeom>
          <a:solidFill>
            <a:srgbClr val="9CC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6"/>
          <p:cNvSpPr/>
          <p:nvPr/>
        </p:nvSpPr>
        <p:spPr>
          <a:xfrm>
            <a:off x="1426759" y="2763233"/>
            <a:ext cx="99157" cy="99157"/>
          </a:xfrm>
          <a:prstGeom prst="roundRect">
            <a:avLst>
              <a:gd name="adj" fmla="val 30000"/>
            </a:avLst>
          </a:prstGeom>
          <a:solidFill>
            <a:srgbClr val="FFD1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7"/>
          <p:cNvSpPr/>
          <p:nvPr/>
        </p:nvSpPr>
        <p:spPr>
          <a:xfrm>
            <a:off x="1585505" y="2763233"/>
            <a:ext cx="99157" cy="99157"/>
          </a:xfrm>
          <a:prstGeom prst="roundRect">
            <a:avLst>
              <a:gd name="adj" fmla="val 30000"/>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08"/>
          <p:cNvSpPr/>
          <p:nvPr/>
        </p:nvSpPr>
        <p:spPr>
          <a:xfrm>
            <a:off x="1744251" y="2763233"/>
            <a:ext cx="99157" cy="99157"/>
          </a:xfrm>
          <a:prstGeom prst="roundRect">
            <a:avLst>
              <a:gd name="adj" fmla="val 30000"/>
            </a:avLst>
          </a:prstGeom>
          <a:solidFill>
            <a:srgbClr val="FFA9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09"/>
          <p:cNvSpPr/>
          <p:nvPr/>
        </p:nvSpPr>
        <p:spPr>
          <a:xfrm>
            <a:off x="1902997" y="27632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0"/>
          <p:cNvSpPr/>
          <p:nvPr/>
        </p:nvSpPr>
        <p:spPr>
          <a:xfrm>
            <a:off x="2061743" y="2763233"/>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1"/>
          <p:cNvSpPr/>
          <p:nvPr/>
        </p:nvSpPr>
        <p:spPr>
          <a:xfrm>
            <a:off x="2220489" y="2763233"/>
            <a:ext cx="99157" cy="99157"/>
          </a:xfrm>
          <a:prstGeom prst="roundRect">
            <a:avLst>
              <a:gd name="adj" fmla="val 30000"/>
            </a:avLst>
          </a:prstGeom>
          <a:solidFill>
            <a:srgbClr val="1876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2"/>
          <p:cNvSpPr/>
          <p:nvPr/>
        </p:nvSpPr>
        <p:spPr>
          <a:xfrm>
            <a:off x="2379235" y="2763233"/>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5_13"/>
          <p:cNvSpPr/>
          <p:nvPr/>
        </p:nvSpPr>
        <p:spPr>
          <a:xfrm>
            <a:off x="2537981" y="27632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5_14"/>
          <p:cNvSpPr/>
          <p:nvPr/>
        </p:nvSpPr>
        <p:spPr>
          <a:xfrm>
            <a:off x="2696727" y="2763233"/>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3"/>
          <p:cNvSpPr/>
          <p:nvPr/>
        </p:nvSpPr>
        <p:spPr>
          <a:xfrm>
            <a:off x="950521" y="2647933"/>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4"/>
          <p:cNvSpPr/>
          <p:nvPr/>
        </p:nvSpPr>
        <p:spPr>
          <a:xfrm>
            <a:off x="1109267" y="26479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5"/>
          <p:cNvSpPr/>
          <p:nvPr/>
        </p:nvSpPr>
        <p:spPr>
          <a:xfrm>
            <a:off x="1268013" y="2647933"/>
            <a:ext cx="99157" cy="99157"/>
          </a:xfrm>
          <a:prstGeom prst="roundRect">
            <a:avLst>
              <a:gd name="adj" fmla="val 30000"/>
            </a:avLst>
          </a:prstGeom>
          <a:solidFill>
            <a:srgbClr val="7DC2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6"/>
          <p:cNvSpPr/>
          <p:nvPr/>
        </p:nvSpPr>
        <p:spPr>
          <a:xfrm>
            <a:off x="1426759" y="2647933"/>
            <a:ext cx="99157" cy="99157"/>
          </a:xfrm>
          <a:prstGeom prst="roundRect">
            <a:avLst>
              <a:gd name="adj" fmla="val 30000"/>
            </a:avLst>
          </a:prstGeom>
          <a:solidFill>
            <a:srgbClr val="BDCA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7"/>
          <p:cNvSpPr/>
          <p:nvPr/>
        </p:nvSpPr>
        <p:spPr>
          <a:xfrm>
            <a:off x="1585505" y="2647933"/>
            <a:ext cx="99157" cy="99157"/>
          </a:xfrm>
          <a:prstGeom prst="roundRect">
            <a:avLst>
              <a:gd name="adj" fmla="val 30000"/>
            </a:avLst>
          </a:prstGeom>
          <a:solidFill>
            <a:srgbClr val="FFB3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08"/>
          <p:cNvSpPr/>
          <p:nvPr/>
        </p:nvSpPr>
        <p:spPr>
          <a:xfrm>
            <a:off x="1744251" y="2647933"/>
            <a:ext cx="99157" cy="99157"/>
          </a:xfrm>
          <a:prstGeom prst="roundRect">
            <a:avLst>
              <a:gd name="adj" fmla="val 30000"/>
            </a:avLst>
          </a:prstGeom>
          <a:solidFill>
            <a:srgbClr val="F7D1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09"/>
          <p:cNvSpPr/>
          <p:nvPr/>
        </p:nvSpPr>
        <p:spPr>
          <a:xfrm>
            <a:off x="1902997" y="26479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0"/>
          <p:cNvSpPr/>
          <p:nvPr/>
        </p:nvSpPr>
        <p:spPr>
          <a:xfrm>
            <a:off x="2061743" y="2647933"/>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1"/>
          <p:cNvSpPr/>
          <p:nvPr/>
        </p:nvSpPr>
        <p:spPr>
          <a:xfrm>
            <a:off x="2220489" y="2647933"/>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2"/>
          <p:cNvSpPr/>
          <p:nvPr/>
        </p:nvSpPr>
        <p:spPr>
          <a:xfrm>
            <a:off x="2379235" y="2647933"/>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6_13"/>
          <p:cNvSpPr/>
          <p:nvPr/>
        </p:nvSpPr>
        <p:spPr>
          <a:xfrm>
            <a:off x="2537981" y="2647933"/>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6_14"/>
          <p:cNvSpPr/>
          <p:nvPr/>
        </p:nvSpPr>
        <p:spPr>
          <a:xfrm>
            <a:off x="2696727" y="2647933"/>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4"/>
          <p:cNvSpPr/>
          <p:nvPr/>
        </p:nvSpPr>
        <p:spPr>
          <a:xfrm>
            <a:off x="1109267" y="2532634"/>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5"/>
          <p:cNvSpPr/>
          <p:nvPr/>
        </p:nvSpPr>
        <p:spPr>
          <a:xfrm>
            <a:off x="1268013" y="2532634"/>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6"/>
          <p:cNvSpPr/>
          <p:nvPr/>
        </p:nvSpPr>
        <p:spPr>
          <a:xfrm>
            <a:off x="1426759" y="2532634"/>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7"/>
          <p:cNvSpPr/>
          <p:nvPr/>
        </p:nvSpPr>
        <p:spPr>
          <a:xfrm>
            <a:off x="1585505" y="2532634"/>
            <a:ext cx="99157" cy="99157"/>
          </a:xfrm>
          <a:prstGeom prst="roundRect">
            <a:avLst>
              <a:gd name="adj" fmla="val 30000"/>
            </a:avLst>
          </a:prstGeom>
          <a:solidFill>
            <a:srgbClr val="85C3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08"/>
          <p:cNvSpPr/>
          <p:nvPr/>
        </p:nvSpPr>
        <p:spPr>
          <a:xfrm>
            <a:off x="1744251" y="2532634"/>
            <a:ext cx="99157" cy="99157"/>
          </a:xfrm>
          <a:prstGeom prst="roundRect">
            <a:avLst>
              <a:gd name="adj" fmla="val 30000"/>
            </a:avLst>
          </a:prstGeom>
          <a:solidFill>
            <a:srgbClr val="4FB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09"/>
          <p:cNvSpPr/>
          <p:nvPr/>
        </p:nvSpPr>
        <p:spPr>
          <a:xfrm>
            <a:off x="1902997" y="2532634"/>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0"/>
          <p:cNvSpPr/>
          <p:nvPr/>
        </p:nvSpPr>
        <p:spPr>
          <a:xfrm>
            <a:off x="2061743" y="25326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1"/>
          <p:cNvSpPr/>
          <p:nvPr/>
        </p:nvSpPr>
        <p:spPr>
          <a:xfrm>
            <a:off x="2220489" y="2532634"/>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2"/>
          <p:cNvSpPr/>
          <p:nvPr/>
        </p:nvSpPr>
        <p:spPr>
          <a:xfrm>
            <a:off x="2379235" y="25326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7_13"/>
          <p:cNvSpPr/>
          <p:nvPr/>
        </p:nvSpPr>
        <p:spPr>
          <a:xfrm>
            <a:off x="2537981" y="2532634"/>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7_14"/>
          <p:cNvSpPr/>
          <p:nvPr/>
        </p:nvSpPr>
        <p:spPr>
          <a:xfrm>
            <a:off x="2696727" y="25326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3"/>
          <p:cNvSpPr/>
          <p:nvPr/>
        </p:nvSpPr>
        <p:spPr>
          <a:xfrm>
            <a:off x="95052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4"/>
          <p:cNvSpPr/>
          <p:nvPr/>
        </p:nvSpPr>
        <p:spPr>
          <a:xfrm>
            <a:off x="1109267" y="24173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5"/>
          <p:cNvSpPr/>
          <p:nvPr/>
        </p:nvSpPr>
        <p:spPr>
          <a:xfrm>
            <a:off x="1268013" y="2417334"/>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6"/>
          <p:cNvSpPr/>
          <p:nvPr/>
        </p:nvSpPr>
        <p:spPr>
          <a:xfrm>
            <a:off x="1426759" y="24173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7"/>
          <p:cNvSpPr/>
          <p:nvPr/>
        </p:nvSpPr>
        <p:spPr>
          <a:xfrm>
            <a:off x="1585505" y="2417334"/>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08"/>
          <p:cNvSpPr/>
          <p:nvPr/>
        </p:nvSpPr>
        <p:spPr>
          <a:xfrm>
            <a:off x="1744251" y="2417334"/>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09"/>
          <p:cNvSpPr/>
          <p:nvPr/>
        </p:nvSpPr>
        <p:spPr>
          <a:xfrm>
            <a:off x="1902997" y="24173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0"/>
          <p:cNvSpPr/>
          <p:nvPr/>
        </p:nvSpPr>
        <p:spPr>
          <a:xfrm>
            <a:off x="2061743" y="2417334"/>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1"/>
          <p:cNvSpPr/>
          <p:nvPr/>
        </p:nvSpPr>
        <p:spPr>
          <a:xfrm>
            <a:off x="2220489" y="2417334"/>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2"/>
          <p:cNvSpPr/>
          <p:nvPr/>
        </p:nvSpPr>
        <p:spPr>
          <a:xfrm>
            <a:off x="2379235" y="2417334"/>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8_13"/>
          <p:cNvSpPr/>
          <p:nvPr/>
        </p:nvSpPr>
        <p:spPr>
          <a:xfrm>
            <a:off x="253798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3"/>
          <p:cNvSpPr/>
          <p:nvPr/>
        </p:nvSpPr>
        <p:spPr>
          <a:xfrm>
            <a:off x="950521" y="23020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4"/>
          <p:cNvSpPr/>
          <p:nvPr/>
        </p:nvSpPr>
        <p:spPr>
          <a:xfrm>
            <a:off x="1109267" y="2302034"/>
            <a:ext cx="99157" cy="99157"/>
          </a:xfrm>
          <a:prstGeom prst="roundRect">
            <a:avLst>
              <a:gd name="adj" fmla="val 30000"/>
            </a:avLst>
          </a:prstGeom>
          <a:solidFill>
            <a:srgbClr val="0F44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5"/>
          <p:cNvSpPr/>
          <p:nvPr/>
        </p:nvSpPr>
        <p:spPr>
          <a:xfrm>
            <a:off x="1268013"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6"/>
          <p:cNvSpPr/>
          <p:nvPr/>
        </p:nvSpPr>
        <p:spPr>
          <a:xfrm>
            <a:off x="1426759" y="2302034"/>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7"/>
          <p:cNvSpPr/>
          <p:nvPr/>
        </p:nvSpPr>
        <p:spPr>
          <a:xfrm>
            <a:off x="1585505" y="2302034"/>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08"/>
          <p:cNvSpPr/>
          <p:nvPr/>
        </p:nvSpPr>
        <p:spPr>
          <a:xfrm>
            <a:off x="1744251" y="2302034"/>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09"/>
          <p:cNvSpPr/>
          <p:nvPr/>
        </p:nvSpPr>
        <p:spPr>
          <a:xfrm>
            <a:off x="1902997" y="23020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0"/>
          <p:cNvSpPr/>
          <p:nvPr/>
        </p:nvSpPr>
        <p:spPr>
          <a:xfrm>
            <a:off x="2061743" y="2302034"/>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1"/>
          <p:cNvSpPr/>
          <p:nvPr/>
        </p:nvSpPr>
        <p:spPr>
          <a:xfrm>
            <a:off x="2220489"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29_12"/>
          <p:cNvSpPr/>
          <p:nvPr/>
        </p:nvSpPr>
        <p:spPr>
          <a:xfrm>
            <a:off x="2379235"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29_13"/>
          <p:cNvSpPr/>
          <p:nvPr/>
        </p:nvSpPr>
        <p:spPr>
          <a:xfrm>
            <a:off x="2537981" y="23020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3"/>
          <p:cNvSpPr/>
          <p:nvPr/>
        </p:nvSpPr>
        <p:spPr>
          <a:xfrm>
            <a:off x="950521"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4"/>
          <p:cNvSpPr/>
          <p:nvPr/>
        </p:nvSpPr>
        <p:spPr>
          <a:xfrm>
            <a:off x="1109267" y="21867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5"/>
          <p:cNvSpPr/>
          <p:nvPr/>
        </p:nvSpPr>
        <p:spPr>
          <a:xfrm>
            <a:off x="1268013"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6"/>
          <p:cNvSpPr/>
          <p:nvPr/>
        </p:nvSpPr>
        <p:spPr>
          <a:xfrm>
            <a:off x="1426759" y="2186734"/>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7"/>
          <p:cNvSpPr/>
          <p:nvPr/>
        </p:nvSpPr>
        <p:spPr>
          <a:xfrm>
            <a:off x="1585505" y="21867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1"/>
          <p:cNvSpPr/>
          <p:nvPr/>
        </p:nvSpPr>
        <p:spPr>
          <a:xfrm>
            <a:off x="2220489"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0_12"/>
          <p:cNvSpPr/>
          <p:nvPr/>
        </p:nvSpPr>
        <p:spPr>
          <a:xfrm>
            <a:off x="2379235" y="2186734"/>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0_13"/>
          <p:cNvSpPr/>
          <p:nvPr/>
        </p:nvSpPr>
        <p:spPr>
          <a:xfrm>
            <a:off x="2537981" y="2186734"/>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4"/>
          <p:cNvSpPr/>
          <p:nvPr/>
        </p:nvSpPr>
        <p:spPr>
          <a:xfrm>
            <a:off x="1109267" y="2071435"/>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6"/>
          <p:cNvSpPr/>
          <p:nvPr/>
        </p:nvSpPr>
        <p:spPr>
          <a:xfrm>
            <a:off x="1426759" y="2071435"/>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7"/>
          <p:cNvSpPr/>
          <p:nvPr/>
        </p:nvSpPr>
        <p:spPr>
          <a:xfrm>
            <a:off x="1585505" y="2071435"/>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08"/>
          <p:cNvSpPr/>
          <p:nvPr/>
        </p:nvSpPr>
        <p:spPr>
          <a:xfrm>
            <a:off x="1744251" y="2071435"/>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09"/>
          <p:cNvSpPr/>
          <p:nvPr/>
        </p:nvSpPr>
        <p:spPr>
          <a:xfrm>
            <a:off x="1902997" y="20714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0"/>
          <p:cNvSpPr/>
          <p:nvPr/>
        </p:nvSpPr>
        <p:spPr>
          <a:xfrm>
            <a:off x="2061743" y="20714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1"/>
          <p:cNvSpPr/>
          <p:nvPr/>
        </p:nvSpPr>
        <p:spPr>
          <a:xfrm>
            <a:off x="2220489" y="20714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1_12"/>
          <p:cNvSpPr/>
          <p:nvPr/>
        </p:nvSpPr>
        <p:spPr>
          <a:xfrm>
            <a:off x="2379235" y="20714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1_13"/>
          <p:cNvSpPr/>
          <p:nvPr/>
        </p:nvSpPr>
        <p:spPr>
          <a:xfrm>
            <a:off x="2537981" y="20714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3"/>
          <p:cNvSpPr/>
          <p:nvPr/>
        </p:nvSpPr>
        <p:spPr>
          <a:xfrm>
            <a:off x="950521" y="1956135"/>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4"/>
          <p:cNvSpPr/>
          <p:nvPr/>
        </p:nvSpPr>
        <p:spPr>
          <a:xfrm>
            <a:off x="1109267" y="1956135"/>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5"/>
          <p:cNvSpPr/>
          <p:nvPr/>
        </p:nvSpPr>
        <p:spPr>
          <a:xfrm>
            <a:off x="1268013" y="1956135"/>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6"/>
          <p:cNvSpPr/>
          <p:nvPr/>
        </p:nvSpPr>
        <p:spPr>
          <a:xfrm>
            <a:off x="1426759" y="1956135"/>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7"/>
          <p:cNvSpPr/>
          <p:nvPr/>
        </p:nvSpPr>
        <p:spPr>
          <a:xfrm>
            <a:off x="1585505" y="19561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08"/>
          <p:cNvSpPr/>
          <p:nvPr/>
        </p:nvSpPr>
        <p:spPr>
          <a:xfrm>
            <a:off x="1744251" y="19561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09"/>
          <p:cNvSpPr/>
          <p:nvPr/>
        </p:nvSpPr>
        <p:spPr>
          <a:xfrm>
            <a:off x="1902997"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0"/>
          <p:cNvSpPr/>
          <p:nvPr/>
        </p:nvSpPr>
        <p:spPr>
          <a:xfrm>
            <a:off x="2061743" y="19561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2_11"/>
          <p:cNvSpPr/>
          <p:nvPr/>
        </p:nvSpPr>
        <p:spPr>
          <a:xfrm>
            <a:off x="2220489"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2_12"/>
          <p:cNvSpPr/>
          <p:nvPr/>
        </p:nvSpPr>
        <p:spPr>
          <a:xfrm>
            <a:off x="2379235"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3"/>
          <p:cNvSpPr/>
          <p:nvPr/>
        </p:nvSpPr>
        <p:spPr>
          <a:xfrm>
            <a:off x="950521" y="1840835"/>
            <a:ext cx="99157" cy="99157"/>
          </a:xfrm>
          <a:prstGeom prst="roundRect">
            <a:avLst>
              <a:gd name="adj" fmla="val 30000"/>
            </a:avLst>
          </a:prstGeom>
          <a:solidFill>
            <a:srgbClr val="0D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4"/>
          <p:cNvSpPr/>
          <p:nvPr/>
        </p:nvSpPr>
        <p:spPr>
          <a:xfrm>
            <a:off x="1109267" y="1840835"/>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5"/>
          <p:cNvSpPr/>
          <p:nvPr/>
        </p:nvSpPr>
        <p:spPr>
          <a:xfrm>
            <a:off x="1268013" y="1840835"/>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6"/>
          <p:cNvSpPr/>
          <p:nvPr/>
        </p:nvSpPr>
        <p:spPr>
          <a:xfrm>
            <a:off x="1426759" y="1840835"/>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7"/>
          <p:cNvSpPr/>
          <p:nvPr/>
        </p:nvSpPr>
        <p:spPr>
          <a:xfrm>
            <a:off x="1585505" y="1840835"/>
            <a:ext cx="99157" cy="99157"/>
          </a:xfrm>
          <a:prstGeom prst="roundRect">
            <a:avLst>
              <a:gd name="adj" fmla="val 30000"/>
            </a:avLst>
          </a:prstGeom>
          <a:solidFill>
            <a:srgbClr val="0A31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08"/>
          <p:cNvSpPr/>
          <p:nvPr/>
        </p:nvSpPr>
        <p:spPr>
          <a:xfrm>
            <a:off x="1744251" y="18408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09"/>
          <p:cNvSpPr/>
          <p:nvPr/>
        </p:nvSpPr>
        <p:spPr>
          <a:xfrm>
            <a:off x="1902997" y="18408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0"/>
          <p:cNvSpPr/>
          <p:nvPr/>
        </p:nvSpPr>
        <p:spPr>
          <a:xfrm>
            <a:off x="2061743" y="18408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3_11"/>
          <p:cNvSpPr/>
          <p:nvPr/>
        </p:nvSpPr>
        <p:spPr>
          <a:xfrm>
            <a:off x="2220489" y="18408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3_12"/>
          <p:cNvSpPr/>
          <p:nvPr/>
        </p:nvSpPr>
        <p:spPr>
          <a:xfrm>
            <a:off x="2379235" y="18408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3"/>
          <p:cNvSpPr/>
          <p:nvPr/>
        </p:nvSpPr>
        <p:spPr>
          <a:xfrm>
            <a:off x="950521" y="1725535"/>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4"/>
          <p:cNvSpPr/>
          <p:nvPr/>
        </p:nvSpPr>
        <p:spPr>
          <a:xfrm>
            <a:off x="1109267" y="1725535"/>
            <a:ext cx="99157" cy="99157"/>
          </a:xfrm>
          <a:prstGeom prst="roundRect">
            <a:avLst>
              <a:gd name="adj" fmla="val 30000"/>
            </a:avLst>
          </a:prstGeom>
          <a:solidFill>
            <a:srgbClr val="20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5"/>
          <p:cNvSpPr/>
          <p:nvPr/>
        </p:nvSpPr>
        <p:spPr>
          <a:xfrm>
            <a:off x="1268013" y="1725535"/>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6"/>
          <p:cNvSpPr/>
          <p:nvPr/>
        </p:nvSpPr>
        <p:spPr>
          <a:xfrm>
            <a:off x="1426759" y="1725535"/>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7"/>
          <p:cNvSpPr/>
          <p:nvPr/>
        </p:nvSpPr>
        <p:spPr>
          <a:xfrm>
            <a:off x="1585505" y="17255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08"/>
          <p:cNvSpPr/>
          <p:nvPr/>
        </p:nvSpPr>
        <p:spPr>
          <a:xfrm>
            <a:off x="1744251" y="17255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09"/>
          <p:cNvSpPr/>
          <p:nvPr/>
        </p:nvSpPr>
        <p:spPr>
          <a:xfrm>
            <a:off x="1902997" y="17255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4_10"/>
          <p:cNvSpPr/>
          <p:nvPr/>
        </p:nvSpPr>
        <p:spPr>
          <a:xfrm>
            <a:off x="2061743" y="17255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4_11"/>
          <p:cNvSpPr/>
          <p:nvPr/>
        </p:nvSpPr>
        <p:spPr>
          <a:xfrm>
            <a:off x="2220489" y="17255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4"/>
          <p:cNvSpPr/>
          <p:nvPr/>
        </p:nvSpPr>
        <p:spPr>
          <a:xfrm>
            <a:off x="1109267" y="1610236"/>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5"/>
          <p:cNvSpPr/>
          <p:nvPr/>
        </p:nvSpPr>
        <p:spPr>
          <a:xfrm>
            <a:off x="1268013" y="1610236"/>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6"/>
          <p:cNvSpPr/>
          <p:nvPr/>
        </p:nvSpPr>
        <p:spPr>
          <a:xfrm>
            <a:off x="1426759" y="1610236"/>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7"/>
          <p:cNvSpPr/>
          <p:nvPr/>
        </p:nvSpPr>
        <p:spPr>
          <a:xfrm>
            <a:off x="1585505" y="1610236"/>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08"/>
          <p:cNvSpPr/>
          <p:nvPr/>
        </p:nvSpPr>
        <p:spPr>
          <a:xfrm>
            <a:off x="1744251"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09"/>
          <p:cNvSpPr/>
          <p:nvPr/>
        </p:nvSpPr>
        <p:spPr>
          <a:xfrm>
            <a:off x="1902997"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5_10"/>
          <p:cNvSpPr/>
          <p:nvPr/>
        </p:nvSpPr>
        <p:spPr>
          <a:xfrm>
            <a:off x="2061743" y="1610236"/>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5_11"/>
          <p:cNvSpPr/>
          <p:nvPr/>
        </p:nvSpPr>
        <p:spPr>
          <a:xfrm>
            <a:off x="2220489" y="16102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4"/>
          <p:cNvSpPr/>
          <p:nvPr/>
        </p:nvSpPr>
        <p:spPr>
          <a:xfrm>
            <a:off x="1109267" y="1494936"/>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5"/>
          <p:cNvSpPr/>
          <p:nvPr/>
        </p:nvSpPr>
        <p:spPr>
          <a:xfrm>
            <a:off x="1268013" y="14949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6"/>
          <p:cNvSpPr/>
          <p:nvPr/>
        </p:nvSpPr>
        <p:spPr>
          <a:xfrm>
            <a:off x="1426759" y="1494936"/>
            <a:ext cx="99157" cy="99157"/>
          </a:xfrm>
          <a:prstGeom prst="roundRect">
            <a:avLst>
              <a:gd name="adj" fmla="val 30000"/>
            </a:avLst>
          </a:prstGeom>
          <a:solidFill>
            <a:srgbClr val="0C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7"/>
          <p:cNvSpPr/>
          <p:nvPr/>
        </p:nvSpPr>
        <p:spPr>
          <a:xfrm>
            <a:off x="1585505" y="14949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08"/>
          <p:cNvSpPr/>
          <p:nvPr/>
        </p:nvSpPr>
        <p:spPr>
          <a:xfrm>
            <a:off x="1744251"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6_09"/>
          <p:cNvSpPr/>
          <p:nvPr/>
        </p:nvSpPr>
        <p:spPr>
          <a:xfrm>
            <a:off x="1902997"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6_10"/>
          <p:cNvSpPr/>
          <p:nvPr/>
        </p:nvSpPr>
        <p:spPr>
          <a:xfrm>
            <a:off x="2061743" y="14949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4"/>
          <p:cNvSpPr/>
          <p:nvPr/>
        </p:nvSpPr>
        <p:spPr>
          <a:xfrm>
            <a:off x="1109267" y="13796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5"/>
          <p:cNvSpPr/>
          <p:nvPr/>
        </p:nvSpPr>
        <p:spPr>
          <a:xfrm>
            <a:off x="1268013" y="1379636"/>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6"/>
          <p:cNvSpPr/>
          <p:nvPr/>
        </p:nvSpPr>
        <p:spPr>
          <a:xfrm>
            <a:off x="1426759" y="1379636"/>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7"/>
          <p:cNvSpPr/>
          <p:nvPr/>
        </p:nvSpPr>
        <p:spPr>
          <a:xfrm>
            <a:off x="1585505" y="13796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p37_08"/>
          <p:cNvSpPr/>
          <p:nvPr/>
        </p:nvSpPr>
        <p:spPr>
          <a:xfrm>
            <a:off x="1744251" y="13796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p37_09"/>
          <p:cNvSpPr/>
          <p:nvPr/>
        </p:nvSpPr>
        <p:spPr>
          <a:xfrm>
            <a:off x="1902997" y="13796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539736"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anchor="t" lIns="0" rIns="0" tIns="0" bIns="0">
            <a:spAutoFit/>
          </a:bodyPr>
          <a:lstStyle/>
          <a:p>
            <a:pPr algn="l">
              <a:lnSpc>
                <a:spcPct val="90000"/>
              </a:lnSpc>
            </a:pPr>
            <a:r>
              <a:rPr sz="15000" b="1">
                <a:solidFill>
                  <a:srgbClr val="FF7A00"/>
                </a:solidFill>
                <a:latin typeface="Segoe UI"/>
              </a:rPr>
              <a:t>312</a:t>
            </a:r>
          </a:p>
        </p:txBody>
      </p:sp>
      <p:sp>
        <p:nvSpPr>
          <p:cNvPr id="394" name="!!eenheid"/>
          <p:cNvSpPr txBox="1"/>
          <p:nvPr/>
        </p:nvSpPr>
        <p:spPr>
          <a:xfrm>
            <a:off x="6857828" y="1904952"/>
            <a:ext cx="1269968" cy="507987"/>
          </a:xfrm>
          <a:prstGeom prst="rect">
            <a:avLst/>
          </a:prstGeom>
          <a:noFill/>
        </p:spPr>
        <p:txBody>
          <a:bodyPr wrap="square" anchor="t" lIns="0" rIns="0" tIns="0" bIns="0">
            <a:spAutoFit/>
          </a:bodyPr>
          <a:lstStyle/>
          <a:p>
            <a:pPr algn="l">
              <a:lnSpc>
                <a:spcPct val="125000"/>
              </a:lnSpc>
            </a:pPr>
            <a:r>
              <a:rPr sz="4400" b="1">
                <a:solidFill>
                  <a:srgbClr val="FF7A00"/>
                </a:solidFill>
                <a:latin typeface="Segoe UI Light"/>
              </a:rPr>
              <a:t>kPa</a:t>
            </a:r>
          </a:p>
        </p:txBody>
      </p:sp>
      <p:sp>
        <p:nvSpPr>
          <p:cNvPr id="395" name="!!plek"/>
          <p:cNvSpPr txBox="1"/>
          <p:nvPr/>
        </p:nvSpPr>
        <p:spPr>
          <a:xfrm>
            <a:off x="3581310" y="3352716"/>
            <a:ext cx="7619809" cy="380990"/>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peak pressure at metatarsal 2-3</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normtekst"/>
          <p:cNvSpPr txBox="1"/>
          <p:nvPr/>
        </p:nvSpPr>
        <p:spPr>
          <a:xfrm>
            <a:off x="3555911" y="4101997"/>
            <a:ext cx="8000799" cy="292092"/>
          </a:xfrm>
          <a:prstGeom prst="rect">
            <a:avLst/>
          </a:prstGeom>
          <a:noFill/>
        </p:spPr>
        <p:txBody>
          <a:bodyPr wrap="square" anchor="t" lIns="0" rIns="0" tIns="0" bIns="0">
            <a:spAutoFit/>
          </a:bodyPr>
          <a:lstStyle/>
          <a:p>
            <a:pPr algn="ctr">
              <a:lnSpc>
                <a:spcPct val="125000"/>
              </a:lnSpc>
            </a:pPr>
            <a:r>
              <a:rPr sz="2200" b="1">
                <a:solidFill>
                  <a:srgbClr val="FF7A00"/>
                </a:solidFill>
                <a:latin typeface="Consolas"/>
              </a:rPr>
              <a:t>Target:  &lt; 200 kPa   or   ≥ 25% lower</a:t>
            </a:r>
          </a:p>
        </p:txBody>
      </p:sp>
      <p:sp>
        <p:nvSpPr>
          <p:cNvPr id="398" name="TextBox 397"/>
          <p:cNvSpPr txBox="1"/>
          <p:nvPr/>
        </p:nvSpPr>
        <p:spPr>
          <a:xfrm>
            <a:off x="3555911" y="4825879"/>
            <a:ext cx="8000799" cy="1269968"/>
          </a:xfrm>
          <a:prstGeom prst="rect">
            <a:avLst/>
          </a:prstGeom>
          <a:noFill/>
        </p:spPr>
        <p:txBody>
          <a:bodyPr wrap="square" anchor="t" lIns="0" rIns="0" tIns="0" bIns="0">
            <a:spAutoFit/>
          </a:bodyPr>
          <a:lstStyle/>
          <a:p>
            <a:pPr algn="l">
              <a:lnSpc>
                <a:spcPct val="135000"/>
              </a:lnSpc>
            </a:pPr>
            <a:r>
              <a:rPr sz="1700" b="0">
                <a:solidFill>
                  <a:srgbClr val="8FB6D0"/>
                </a:solidFill>
                <a:latin typeface="Segoe UI"/>
              </a:rPr>
              <a:t>pedar® sensor insole placed in the shoe, three walking trials performed.</a:t>
            </a:r>
          </a:p>
          <a:p>
            <a:pPr algn="l">
              <a:lnSpc>
                <a:spcPct val="135000"/>
              </a:lnSpc>
              <a:spcBef>
                <a:spcPts val="1200"/>
              </a:spcBef>
            </a:pPr>
            <a:r>
              <a:rPr sz="1700" b="0">
                <a:solidFill>
                  <a:srgbClr val="8FB6D0"/>
                </a:solidFill>
                <a:latin typeface="Segoe UI"/>
              </a:rPr>
              <a:t>The middle twelve steps per foot are analysed; from these the software computes the mean peak pressure per foot.</a:t>
            </a:r>
          </a:p>
        </p:txBody>
      </p:sp>
      <p:sp>
        <p:nvSpPr>
          <p:cNvPr id="399" name="TextBox 39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 document 09 · Plantar pressure measurement, baseline</a:t>
            </a:r>
          </a:p>
        </p:txBody>
      </p:sp>
      <p:sp>
        <p:nvSpPr>
          <p:cNvPr id="400" name="TextBox 39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15 / 33</a:t>
            </a:r>
          </a:p>
        </p:txBody>
      </p:sp>
      <p:pic>
        <p:nvPicPr>
          <p:cNvPr id="401"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402" name="TextBox 401"/>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7 · Bus 2020   |   27 · Zwaferink 2024</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p00_07"/>
          <p:cNvSpPr/>
          <p:nvPr/>
        </p:nvSpPr>
        <p:spPr>
          <a:xfrm>
            <a:off x="2426905" y="12636782"/>
            <a:ext cx="257810" cy="257810"/>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p00_08"/>
          <p:cNvSpPr/>
          <p:nvPr/>
        </p:nvSpPr>
        <p:spPr>
          <a:xfrm>
            <a:off x="2839645" y="12636782"/>
            <a:ext cx="257810" cy="257810"/>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p00_09"/>
          <p:cNvSpPr/>
          <p:nvPr/>
        </p:nvSpPr>
        <p:spPr>
          <a:xfrm>
            <a:off x="3252385" y="12636782"/>
            <a:ext cx="257810" cy="257810"/>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10"/>
          <p:cNvSpPr/>
          <p:nvPr/>
        </p:nvSpPr>
        <p:spPr>
          <a:xfrm>
            <a:off x="3665125" y="12636782"/>
            <a:ext cx="257810" cy="257810"/>
          </a:xfrm>
          <a:prstGeom prst="roundRect">
            <a:avLst>
              <a:gd name="adj" fmla="val 30000"/>
            </a:avLst>
          </a:prstGeom>
          <a:solidFill>
            <a:srgbClr val="1A7C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1_06"/>
          <p:cNvSpPr/>
          <p:nvPr/>
        </p:nvSpPr>
        <p:spPr>
          <a:xfrm>
            <a:off x="2014166" y="12337002"/>
            <a:ext cx="257810" cy="257810"/>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1_07"/>
          <p:cNvSpPr/>
          <p:nvPr/>
        </p:nvSpPr>
        <p:spPr>
          <a:xfrm>
            <a:off x="2426905" y="12337002"/>
            <a:ext cx="257810" cy="257810"/>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8"/>
          <p:cNvSpPr/>
          <p:nvPr/>
        </p:nvSpPr>
        <p:spPr>
          <a:xfrm>
            <a:off x="2839645" y="12337002"/>
            <a:ext cx="257810" cy="257810"/>
          </a:xfrm>
          <a:prstGeom prst="roundRect">
            <a:avLst>
              <a:gd name="adj" fmla="val 30000"/>
            </a:avLst>
          </a:prstGeom>
          <a:solidFill>
            <a:srgbClr val="3BA9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9"/>
          <p:cNvSpPr/>
          <p:nvPr/>
        </p:nvSpPr>
        <p:spPr>
          <a:xfrm>
            <a:off x="3252385" y="12337002"/>
            <a:ext cx="257810" cy="257810"/>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10"/>
          <p:cNvSpPr/>
          <p:nvPr/>
        </p:nvSpPr>
        <p:spPr>
          <a:xfrm>
            <a:off x="3665125" y="12337002"/>
            <a:ext cx="257810" cy="257810"/>
          </a:xfrm>
          <a:prstGeom prst="roundRect">
            <a:avLst>
              <a:gd name="adj" fmla="val 30000"/>
            </a:avLst>
          </a:prstGeom>
          <a:solidFill>
            <a:srgbClr val="2191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11"/>
          <p:cNvSpPr/>
          <p:nvPr/>
        </p:nvSpPr>
        <p:spPr>
          <a:xfrm>
            <a:off x="4077864" y="12337002"/>
            <a:ext cx="257810" cy="257810"/>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2_05"/>
          <p:cNvSpPr/>
          <p:nvPr/>
        </p:nvSpPr>
        <p:spPr>
          <a:xfrm>
            <a:off x="1601426" y="12037223"/>
            <a:ext cx="257810" cy="257810"/>
          </a:xfrm>
          <a:prstGeom prst="roundRect">
            <a:avLst>
              <a:gd name="adj" fmla="val 30000"/>
            </a:avLst>
          </a:prstGeom>
          <a:solidFill>
            <a:srgbClr val="0D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2_06"/>
          <p:cNvSpPr/>
          <p:nvPr/>
        </p:nvSpPr>
        <p:spPr>
          <a:xfrm>
            <a:off x="2014166" y="12037223"/>
            <a:ext cx="257810" cy="257810"/>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7"/>
          <p:cNvSpPr/>
          <p:nvPr/>
        </p:nvSpPr>
        <p:spPr>
          <a:xfrm>
            <a:off x="2426905" y="12037223"/>
            <a:ext cx="257810" cy="257810"/>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8"/>
          <p:cNvSpPr/>
          <p:nvPr/>
        </p:nvSpPr>
        <p:spPr>
          <a:xfrm>
            <a:off x="2839645" y="12037223"/>
            <a:ext cx="257810" cy="257810"/>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9"/>
          <p:cNvSpPr/>
          <p:nvPr/>
        </p:nvSpPr>
        <p:spPr>
          <a:xfrm>
            <a:off x="3252385" y="12037223"/>
            <a:ext cx="257810" cy="257810"/>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10"/>
          <p:cNvSpPr/>
          <p:nvPr/>
        </p:nvSpPr>
        <p:spPr>
          <a:xfrm>
            <a:off x="3665125" y="12037223"/>
            <a:ext cx="257810" cy="257810"/>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11"/>
          <p:cNvSpPr/>
          <p:nvPr/>
        </p:nvSpPr>
        <p:spPr>
          <a:xfrm>
            <a:off x="4077864" y="12037223"/>
            <a:ext cx="257810" cy="257810"/>
          </a:xfrm>
          <a:prstGeom prst="roundRect">
            <a:avLst>
              <a:gd name="adj" fmla="val 30000"/>
            </a:avLst>
          </a:prstGeom>
          <a:solidFill>
            <a:srgbClr val="1668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2"/>
          <p:cNvSpPr/>
          <p:nvPr/>
        </p:nvSpPr>
        <p:spPr>
          <a:xfrm>
            <a:off x="4490604" y="12037223"/>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3_05"/>
          <p:cNvSpPr/>
          <p:nvPr/>
        </p:nvSpPr>
        <p:spPr>
          <a:xfrm>
            <a:off x="1601426" y="11737444"/>
            <a:ext cx="257810" cy="257810"/>
          </a:xfrm>
          <a:prstGeom prst="roundRect">
            <a:avLst>
              <a:gd name="adj" fmla="val 30000"/>
            </a:avLst>
          </a:prstGeom>
          <a:solidFill>
            <a:srgbClr val="0E3F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3_06"/>
          <p:cNvSpPr/>
          <p:nvPr/>
        </p:nvSpPr>
        <p:spPr>
          <a:xfrm>
            <a:off x="2014166" y="11737444"/>
            <a:ext cx="257810" cy="257810"/>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7"/>
          <p:cNvSpPr/>
          <p:nvPr/>
        </p:nvSpPr>
        <p:spPr>
          <a:xfrm>
            <a:off x="2426905" y="11737444"/>
            <a:ext cx="257810" cy="257810"/>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8"/>
          <p:cNvSpPr/>
          <p:nvPr/>
        </p:nvSpPr>
        <p:spPr>
          <a:xfrm>
            <a:off x="2839645" y="11737444"/>
            <a:ext cx="257810" cy="257810"/>
          </a:xfrm>
          <a:prstGeom prst="roundRect">
            <a:avLst>
              <a:gd name="adj" fmla="val 30000"/>
            </a:avLst>
          </a:prstGeom>
          <a:solidFill>
            <a:srgbClr val="54BD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9"/>
          <p:cNvSpPr/>
          <p:nvPr/>
        </p:nvSpPr>
        <p:spPr>
          <a:xfrm>
            <a:off x="3252385" y="11737444"/>
            <a:ext cx="257810" cy="257810"/>
          </a:xfrm>
          <a:prstGeom prst="roundRect">
            <a:avLst>
              <a:gd name="adj" fmla="val 30000"/>
            </a:avLst>
          </a:prstGeom>
          <a:solidFill>
            <a:srgbClr val="54B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10"/>
          <p:cNvSpPr/>
          <p:nvPr/>
        </p:nvSpPr>
        <p:spPr>
          <a:xfrm>
            <a:off x="3665125" y="11737444"/>
            <a:ext cx="257810" cy="257810"/>
          </a:xfrm>
          <a:prstGeom prst="roundRect">
            <a:avLst>
              <a:gd name="adj" fmla="val 30000"/>
            </a:avLst>
          </a:prstGeom>
          <a:solidFill>
            <a:srgbClr val="34A1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11"/>
          <p:cNvSpPr/>
          <p:nvPr/>
        </p:nvSpPr>
        <p:spPr>
          <a:xfrm>
            <a:off x="4077864" y="11737444"/>
            <a:ext cx="257810" cy="257810"/>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2"/>
          <p:cNvSpPr/>
          <p:nvPr/>
        </p:nvSpPr>
        <p:spPr>
          <a:xfrm>
            <a:off x="4490604" y="11737444"/>
            <a:ext cx="257810" cy="257810"/>
          </a:xfrm>
          <a:prstGeom prst="roundRect">
            <a:avLst>
              <a:gd name="adj" fmla="val 30000"/>
            </a:avLst>
          </a:prstGeom>
          <a:solidFill>
            <a:srgbClr val="0E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4_05"/>
          <p:cNvSpPr/>
          <p:nvPr/>
        </p:nvSpPr>
        <p:spPr>
          <a:xfrm>
            <a:off x="1601426" y="11437664"/>
            <a:ext cx="257810" cy="257810"/>
          </a:xfrm>
          <a:prstGeom prst="roundRect">
            <a:avLst>
              <a:gd name="adj" fmla="val 30000"/>
            </a:avLst>
          </a:prstGeom>
          <a:solidFill>
            <a:srgbClr val="0E41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4_06"/>
          <p:cNvSpPr/>
          <p:nvPr/>
        </p:nvSpPr>
        <p:spPr>
          <a:xfrm>
            <a:off x="2014166" y="11437664"/>
            <a:ext cx="257810" cy="257810"/>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7"/>
          <p:cNvSpPr/>
          <p:nvPr/>
        </p:nvSpPr>
        <p:spPr>
          <a:xfrm>
            <a:off x="2426905" y="11437664"/>
            <a:ext cx="257810" cy="257810"/>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8"/>
          <p:cNvSpPr/>
          <p:nvPr/>
        </p:nvSpPr>
        <p:spPr>
          <a:xfrm>
            <a:off x="2839645" y="11437664"/>
            <a:ext cx="257810" cy="257810"/>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9"/>
          <p:cNvSpPr/>
          <p:nvPr/>
        </p:nvSpPr>
        <p:spPr>
          <a:xfrm>
            <a:off x="3252385" y="11437664"/>
            <a:ext cx="257810" cy="257810"/>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10"/>
          <p:cNvSpPr/>
          <p:nvPr/>
        </p:nvSpPr>
        <p:spPr>
          <a:xfrm>
            <a:off x="3665125" y="11437664"/>
            <a:ext cx="257810" cy="257810"/>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11"/>
          <p:cNvSpPr/>
          <p:nvPr/>
        </p:nvSpPr>
        <p:spPr>
          <a:xfrm>
            <a:off x="4077864" y="11437664"/>
            <a:ext cx="257810" cy="257810"/>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2"/>
          <p:cNvSpPr/>
          <p:nvPr/>
        </p:nvSpPr>
        <p:spPr>
          <a:xfrm>
            <a:off x="4490604" y="11437664"/>
            <a:ext cx="257810" cy="257810"/>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5_05"/>
          <p:cNvSpPr/>
          <p:nvPr/>
        </p:nvSpPr>
        <p:spPr>
          <a:xfrm>
            <a:off x="1601426" y="11137885"/>
            <a:ext cx="257810" cy="257810"/>
          </a:xfrm>
          <a:prstGeom prst="roundRect">
            <a:avLst>
              <a:gd name="adj" fmla="val 30000"/>
            </a:avLst>
          </a:prstGeom>
          <a:solidFill>
            <a:srgbClr val="0E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5_06"/>
          <p:cNvSpPr/>
          <p:nvPr/>
        </p:nvSpPr>
        <p:spPr>
          <a:xfrm>
            <a:off x="2014166" y="11137885"/>
            <a:ext cx="257810" cy="257810"/>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7"/>
          <p:cNvSpPr/>
          <p:nvPr/>
        </p:nvSpPr>
        <p:spPr>
          <a:xfrm>
            <a:off x="2426905" y="11137885"/>
            <a:ext cx="257810" cy="257810"/>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8"/>
          <p:cNvSpPr/>
          <p:nvPr/>
        </p:nvSpPr>
        <p:spPr>
          <a:xfrm>
            <a:off x="2839645" y="11137885"/>
            <a:ext cx="257810" cy="257810"/>
          </a:xfrm>
          <a:prstGeom prst="roundRect">
            <a:avLst>
              <a:gd name="adj" fmla="val 30000"/>
            </a:avLst>
          </a:prstGeom>
          <a:solidFill>
            <a:srgbClr val="4DB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9"/>
          <p:cNvSpPr/>
          <p:nvPr/>
        </p:nvSpPr>
        <p:spPr>
          <a:xfrm>
            <a:off x="3252385" y="11137885"/>
            <a:ext cx="257810" cy="257810"/>
          </a:xfrm>
          <a:prstGeom prst="roundRect">
            <a:avLst>
              <a:gd name="adj" fmla="val 30000"/>
            </a:avLst>
          </a:prstGeom>
          <a:solidFill>
            <a:srgbClr val="4DB9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10"/>
          <p:cNvSpPr/>
          <p:nvPr/>
        </p:nvSpPr>
        <p:spPr>
          <a:xfrm>
            <a:off x="3665125" y="11137885"/>
            <a:ext cx="257810" cy="257810"/>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11"/>
          <p:cNvSpPr/>
          <p:nvPr/>
        </p:nvSpPr>
        <p:spPr>
          <a:xfrm>
            <a:off x="4077864" y="11137885"/>
            <a:ext cx="257810" cy="257810"/>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2"/>
          <p:cNvSpPr/>
          <p:nvPr/>
        </p:nvSpPr>
        <p:spPr>
          <a:xfrm>
            <a:off x="4490604" y="11137885"/>
            <a:ext cx="257810" cy="257810"/>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6_05"/>
          <p:cNvSpPr/>
          <p:nvPr/>
        </p:nvSpPr>
        <p:spPr>
          <a:xfrm>
            <a:off x="1601426" y="10838106"/>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6_06"/>
          <p:cNvSpPr/>
          <p:nvPr/>
        </p:nvSpPr>
        <p:spPr>
          <a:xfrm>
            <a:off x="2014166" y="10838106"/>
            <a:ext cx="257810" cy="257810"/>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7"/>
          <p:cNvSpPr/>
          <p:nvPr/>
        </p:nvSpPr>
        <p:spPr>
          <a:xfrm>
            <a:off x="2426905" y="10838106"/>
            <a:ext cx="257810" cy="257810"/>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8"/>
          <p:cNvSpPr/>
          <p:nvPr/>
        </p:nvSpPr>
        <p:spPr>
          <a:xfrm>
            <a:off x="2839645" y="10838106"/>
            <a:ext cx="257810" cy="257810"/>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9"/>
          <p:cNvSpPr/>
          <p:nvPr/>
        </p:nvSpPr>
        <p:spPr>
          <a:xfrm>
            <a:off x="3252385" y="10838106"/>
            <a:ext cx="257810" cy="257810"/>
          </a:xfrm>
          <a:prstGeom prst="roundRect">
            <a:avLst>
              <a:gd name="adj" fmla="val 30000"/>
            </a:avLst>
          </a:prstGeom>
          <a:solidFill>
            <a:srgbClr val="42A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10"/>
          <p:cNvSpPr/>
          <p:nvPr/>
        </p:nvSpPr>
        <p:spPr>
          <a:xfrm>
            <a:off x="3665125" y="10838106"/>
            <a:ext cx="257810" cy="257810"/>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11"/>
          <p:cNvSpPr/>
          <p:nvPr/>
        </p:nvSpPr>
        <p:spPr>
          <a:xfrm>
            <a:off x="4077864" y="10838106"/>
            <a:ext cx="257810" cy="257810"/>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2"/>
          <p:cNvSpPr/>
          <p:nvPr/>
        </p:nvSpPr>
        <p:spPr>
          <a:xfrm>
            <a:off x="4490604" y="10838106"/>
            <a:ext cx="257810" cy="257810"/>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7_05"/>
          <p:cNvSpPr/>
          <p:nvPr/>
        </p:nvSpPr>
        <p:spPr>
          <a:xfrm>
            <a:off x="1601426" y="10538326"/>
            <a:ext cx="257810" cy="257810"/>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7_06"/>
          <p:cNvSpPr/>
          <p:nvPr/>
        </p:nvSpPr>
        <p:spPr>
          <a:xfrm>
            <a:off x="2014166" y="10538326"/>
            <a:ext cx="257810" cy="257810"/>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7"/>
          <p:cNvSpPr/>
          <p:nvPr/>
        </p:nvSpPr>
        <p:spPr>
          <a:xfrm>
            <a:off x="2426905" y="10538326"/>
            <a:ext cx="257810" cy="257810"/>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8"/>
          <p:cNvSpPr/>
          <p:nvPr/>
        </p:nvSpPr>
        <p:spPr>
          <a:xfrm>
            <a:off x="2839645" y="10538326"/>
            <a:ext cx="257810" cy="257810"/>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9"/>
          <p:cNvSpPr/>
          <p:nvPr/>
        </p:nvSpPr>
        <p:spPr>
          <a:xfrm>
            <a:off x="3252385" y="10538326"/>
            <a:ext cx="257810" cy="257810"/>
          </a:xfrm>
          <a:prstGeom prst="roundRect">
            <a:avLst>
              <a:gd name="adj" fmla="val 30000"/>
            </a:avLst>
          </a:prstGeom>
          <a:solidFill>
            <a:srgbClr val="33A1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10"/>
          <p:cNvSpPr/>
          <p:nvPr/>
        </p:nvSpPr>
        <p:spPr>
          <a:xfrm>
            <a:off x="3665125" y="10538326"/>
            <a:ext cx="257810" cy="257810"/>
          </a:xfrm>
          <a:prstGeom prst="roundRect">
            <a:avLst>
              <a:gd name="adj" fmla="val 30000"/>
            </a:avLst>
          </a:prstGeom>
          <a:solidFill>
            <a:srgbClr val="1F8F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11"/>
          <p:cNvSpPr/>
          <p:nvPr/>
        </p:nvSpPr>
        <p:spPr>
          <a:xfrm>
            <a:off x="4077864" y="10538326"/>
            <a:ext cx="257810" cy="257810"/>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2"/>
          <p:cNvSpPr/>
          <p:nvPr/>
        </p:nvSpPr>
        <p:spPr>
          <a:xfrm>
            <a:off x="4490604" y="10538326"/>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8_05"/>
          <p:cNvSpPr/>
          <p:nvPr/>
        </p:nvSpPr>
        <p:spPr>
          <a:xfrm>
            <a:off x="1601426" y="10238547"/>
            <a:ext cx="257810" cy="257810"/>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8_06"/>
          <p:cNvSpPr/>
          <p:nvPr/>
        </p:nvSpPr>
        <p:spPr>
          <a:xfrm>
            <a:off x="2014166" y="10238547"/>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7"/>
          <p:cNvSpPr/>
          <p:nvPr/>
        </p:nvSpPr>
        <p:spPr>
          <a:xfrm>
            <a:off x="2426905" y="10238547"/>
            <a:ext cx="257810" cy="257810"/>
          </a:xfrm>
          <a:prstGeom prst="roundRect">
            <a:avLst>
              <a:gd name="adj" fmla="val 30000"/>
            </a:avLst>
          </a:prstGeom>
          <a:solidFill>
            <a:srgbClr val="197B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8"/>
          <p:cNvSpPr/>
          <p:nvPr/>
        </p:nvSpPr>
        <p:spPr>
          <a:xfrm>
            <a:off x="2839645" y="10238547"/>
            <a:ext cx="257810" cy="257810"/>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9"/>
          <p:cNvSpPr/>
          <p:nvPr/>
        </p:nvSpPr>
        <p:spPr>
          <a:xfrm>
            <a:off x="3252385" y="10238547"/>
            <a:ext cx="257810" cy="257810"/>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10"/>
          <p:cNvSpPr/>
          <p:nvPr/>
        </p:nvSpPr>
        <p:spPr>
          <a:xfrm>
            <a:off x="3665125" y="10238547"/>
            <a:ext cx="257810" cy="257810"/>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11"/>
          <p:cNvSpPr/>
          <p:nvPr/>
        </p:nvSpPr>
        <p:spPr>
          <a:xfrm>
            <a:off x="4077864" y="10238547"/>
            <a:ext cx="257810" cy="257810"/>
          </a:xfrm>
          <a:prstGeom prst="roundRect">
            <a:avLst>
              <a:gd name="adj" fmla="val 30000"/>
            </a:avLst>
          </a:prstGeom>
          <a:solidFill>
            <a:srgbClr val="145E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2"/>
          <p:cNvSpPr/>
          <p:nvPr/>
        </p:nvSpPr>
        <p:spPr>
          <a:xfrm>
            <a:off x="4490604" y="10238547"/>
            <a:ext cx="257810" cy="257810"/>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9_05"/>
          <p:cNvSpPr/>
          <p:nvPr/>
        </p:nvSpPr>
        <p:spPr>
          <a:xfrm>
            <a:off x="1601426" y="9938768"/>
            <a:ext cx="257810" cy="257810"/>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9_06"/>
          <p:cNvSpPr/>
          <p:nvPr/>
        </p:nvSpPr>
        <p:spPr>
          <a:xfrm>
            <a:off x="2014166" y="9938768"/>
            <a:ext cx="257810" cy="257810"/>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7"/>
          <p:cNvSpPr/>
          <p:nvPr/>
        </p:nvSpPr>
        <p:spPr>
          <a:xfrm>
            <a:off x="2426905" y="9938768"/>
            <a:ext cx="257810" cy="257810"/>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8"/>
          <p:cNvSpPr/>
          <p:nvPr/>
        </p:nvSpPr>
        <p:spPr>
          <a:xfrm>
            <a:off x="2839645" y="9938768"/>
            <a:ext cx="257810" cy="257810"/>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9"/>
          <p:cNvSpPr/>
          <p:nvPr/>
        </p:nvSpPr>
        <p:spPr>
          <a:xfrm>
            <a:off x="3252385" y="9938768"/>
            <a:ext cx="257810" cy="257810"/>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10"/>
          <p:cNvSpPr/>
          <p:nvPr/>
        </p:nvSpPr>
        <p:spPr>
          <a:xfrm>
            <a:off x="3665125" y="9938768"/>
            <a:ext cx="257810" cy="257810"/>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11"/>
          <p:cNvSpPr/>
          <p:nvPr/>
        </p:nvSpPr>
        <p:spPr>
          <a:xfrm>
            <a:off x="4077864" y="9938768"/>
            <a:ext cx="257810" cy="257810"/>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2"/>
          <p:cNvSpPr/>
          <p:nvPr/>
        </p:nvSpPr>
        <p:spPr>
          <a:xfrm>
            <a:off x="4490604" y="9938768"/>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10_06"/>
          <p:cNvSpPr/>
          <p:nvPr/>
        </p:nvSpPr>
        <p:spPr>
          <a:xfrm>
            <a:off x="2014166" y="9638988"/>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10_07"/>
          <p:cNvSpPr/>
          <p:nvPr/>
        </p:nvSpPr>
        <p:spPr>
          <a:xfrm>
            <a:off x="2426905" y="9638988"/>
            <a:ext cx="257810" cy="257810"/>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8"/>
          <p:cNvSpPr/>
          <p:nvPr/>
        </p:nvSpPr>
        <p:spPr>
          <a:xfrm>
            <a:off x="2839645" y="9638988"/>
            <a:ext cx="257810" cy="257810"/>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9"/>
          <p:cNvSpPr/>
          <p:nvPr/>
        </p:nvSpPr>
        <p:spPr>
          <a:xfrm>
            <a:off x="3252385" y="9638988"/>
            <a:ext cx="257810" cy="257810"/>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10"/>
          <p:cNvSpPr/>
          <p:nvPr/>
        </p:nvSpPr>
        <p:spPr>
          <a:xfrm>
            <a:off x="3665125" y="9638988"/>
            <a:ext cx="257810" cy="257810"/>
          </a:xfrm>
          <a:prstGeom prst="roundRect">
            <a:avLst>
              <a:gd name="adj" fmla="val 30000"/>
            </a:avLst>
          </a:prstGeom>
          <a:solidFill>
            <a:srgbClr val="16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11"/>
          <p:cNvSpPr/>
          <p:nvPr/>
        </p:nvSpPr>
        <p:spPr>
          <a:xfrm>
            <a:off x="4077864" y="9638988"/>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2"/>
          <p:cNvSpPr/>
          <p:nvPr/>
        </p:nvSpPr>
        <p:spPr>
          <a:xfrm>
            <a:off x="4490604" y="9638988"/>
            <a:ext cx="257810" cy="257810"/>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1_06"/>
          <p:cNvSpPr/>
          <p:nvPr/>
        </p:nvSpPr>
        <p:spPr>
          <a:xfrm>
            <a:off x="2014166" y="9339209"/>
            <a:ext cx="257810" cy="257810"/>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1_07"/>
          <p:cNvSpPr/>
          <p:nvPr/>
        </p:nvSpPr>
        <p:spPr>
          <a:xfrm>
            <a:off x="2426905" y="9339209"/>
            <a:ext cx="257810" cy="257810"/>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8"/>
          <p:cNvSpPr/>
          <p:nvPr/>
        </p:nvSpPr>
        <p:spPr>
          <a:xfrm>
            <a:off x="2839645" y="9339209"/>
            <a:ext cx="257810" cy="257810"/>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9"/>
          <p:cNvSpPr/>
          <p:nvPr/>
        </p:nvSpPr>
        <p:spPr>
          <a:xfrm>
            <a:off x="3252385" y="9339209"/>
            <a:ext cx="257810" cy="257810"/>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10"/>
          <p:cNvSpPr/>
          <p:nvPr/>
        </p:nvSpPr>
        <p:spPr>
          <a:xfrm>
            <a:off x="3665125" y="9339209"/>
            <a:ext cx="257810" cy="257810"/>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11"/>
          <p:cNvSpPr/>
          <p:nvPr/>
        </p:nvSpPr>
        <p:spPr>
          <a:xfrm>
            <a:off x="4077864" y="9339209"/>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2"/>
          <p:cNvSpPr/>
          <p:nvPr/>
        </p:nvSpPr>
        <p:spPr>
          <a:xfrm>
            <a:off x="4490604" y="9339209"/>
            <a:ext cx="257810" cy="257810"/>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2_06"/>
          <p:cNvSpPr/>
          <p:nvPr/>
        </p:nvSpPr>
        <p:spPr>
          <a:xfrm>
            <a:off x="2014166" y="9039430"/>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2_07"/>
          <p:cNvSpPr/>
          <p:nvPr/>
        </p:nvSpPr>
        <p:spPr>
          <a:xfrm>
            <a:off x="2426905" y="9039430"/>
            <a:ext cx="257810" cy="257810"/>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8"/>
          <p:cNvSpPr/>
          <p:nvPr/>
        </p:nvSpPr>
        <p:spPr>
          <a:xfrm>
            <a:off x="2839645" y="9039430"/>
            <a:ext cx="257810" cy="257810"/>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9"/>
          <p:cNvSpPr/>
          <p:nvPr/>
        </p:nvSpPr>
        <p:spPr>
          <a:xfrm>
            <a:off x="3252385" y="9039430"/>
            <a:ext cx="257810" cy="257810"/>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10"/>
          <p:cNvSpPr/>
          <p:nvPr/>
        </p:nvSpPr>
        <p:spPr>
          <a:xfrm>
            <a:off x="3665125" y="9039430"/>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11"/>
          <p:cNvSpPr/>
          <p:nvPr/>
        </p:nvSpPr>
        <p:spPr>
          <a:xfrm>
            <a:off x="4077864" y="9039430"/>
            <a:ext cx="257810" cy="257810"/>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2"/>
          <p:cNvSpPr/>
          <p:nvPr/>
        </p:nvSpPr>
        <p:spPr>
          <a:xfrm>
            <a:off x="4490604" y="9039430"/>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3_06"/>
          <p:cNvSpPr/>
          <p:nvPr/>
        </p:nvSpPr>
        <p:spPr>
          <a:xfrm>
            <a:off x="2014166" y="8739650"/>
            <a:ext cx="257810" cy="257810"/>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3_07"/>
          <p:cNvSpPr/>
          <p:nvPr/>
        </p:nvSpPr>
        <p:spPr>
          <a:xfrm>
            <a:off x="2426905" y="8739650"/>
            <a:ext cx="257810" cy="257810"/>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8"/>
          <p:cNvSpPr/>
          <p:nvPr/>
        </p:nvSpPr>
        <p:spPr>
          <a:xfrm>
            <a:off x="2839645" y="8739650"/>
            <a:ext cx="257810" cy="257810"/>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9"/>
          <p:cNvSpPr/>
          <p:nvPr/>
        </p:nvSpPr>
        <p:spPr>
          <a:xfrm>
            <a:off x="3252385" y="8739650"/>
            <a:ext cx="257810" cy="257810"/>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10"/>
          <p:cNvSpPr/>
          <p:nvPr/>
        </p:nvSpPr>
        <p:spPr>
          <a:xfrm>
            <a:off x="3665125" y="8739650"/>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11"/>
          <p:cNvSpPr/>
          <p:nvPr/>
        </p:nvSpPr>
        <p:spPr>
          <a:xfrm>
            <a:off x="4077864" y="8739650"/>
            <a:ext cx="257810" cy="257810"/>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2"/>
          <p:cNvSpPr/>
          <p:nvPr/>
        </p:nvSpPr>
        <p:spPr>
          <a:xfrm>
            <a:off x="4490604" y="8739650"/>
            <a:ext cx="257810" cy="257810"/>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4_06"/>
          <p:cNvSpPr/>
          <p:nvPr/>
        </p:nvSpPr>
        <p:spPr>
          <a:xfrm>
            <a:off x="2014166" y="8439871"/>
            <a:ext cx="257810" cy="257810"/>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4_07"/>
          <p:cNvSpPr/>
          <p:nvPr/>
        </p:nvSpPr>
        <p:spPr>
          <a:xfrm>
            <a:off x="2426905" y="8439871"/>
            <a:ext cx="257810" cy="257810"/>
          </a:xfrm>
          <a:prstGeom prst="roundRect">
            <a:avLst>
              <a:gd name="adj" fmla="val 30000"/>
            </a:avLst>
          </a:prstGeom>
          <a:solidFill>
            <a:srgbClr val="1049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8"/>
          <p:cNvSpPr/>
          <p:nvPr/>
        </p:nvSpPr>
        <p:spPr>
          <a:xfrm>
            <a:off x="2839645" y="8439871"/>
            <a:ext cx="257810" cy="257810"/>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9"/>
          <p:cNvSpPr/>
          <p:nvPr/>
        </p:nvSpPr>
        <p:spPr>
          <a:xfrm>
            <a:off x="3252385" y="8439871"/>
            <a:ext cx="257810" cy="257810"/>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10"/>
          <p:cNvSpPr/>
          <p:nvPr/>
        </p:nvSpPr>
        <p:spPr>
          <a:xfrm>
            <a:off x="3665125" y="8439871"/>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11"/>
          <p:cNvSpPr/>
          <p:nvPr/>
        </p:nvSpPr>
        <p:spPr>
          <a:xfrm>
            <a:off x="4077864" y="8439871"/>
            <a:ext cx="257810" cy="257810"/>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2"/>
          <p:cNvSpPr/>
          <p:nvPr/>
        </p:nvSpPr>
        <p:spPr>
          <a:xfrm>
            <a:off x="4490604" y="8439871"/>
            <a:ext cx="257810" cy="257810"/>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5_07"/>
          <p:cNvSpPr/>
          <p:nvPr/>
        </p:nvSpPr>
        <p:spPr>
          <a:xfrm>
            <a:off x="2426905" y="8140092"/>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5_08"/>
          <p:cNvSpPr/>
          <p:nvPr/>
        </p:nvSpPr>
        <p:spPr>
          <a:xfrm>
            <a:off x="2839645" y="8140092"/>
            <a:ext cx="257810" cy="257810"/>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9"/>
          <p:cNvSpPr/>
          <p:nvPr/>
        </p:nvSpPr>
        <p:spPr>
          <a:xfrm>
            <a:off x="3252385" y="8140092"/>
            <a:ext cx="257810" cy="257810"/>
          </a:xfrm>
          <a:prstGeom prst="roundRect">
            <a:avLst>
              <a:gd name="adj" fmla="val 30000"/>
            </a:avLst>
          </a:prstGeom>
          <a:solidFill>
            <a:srgbClr val="145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10"/>
          <p:cNvSpPr/>
          <p:nvPr/>
        </p:nvSpPr>
        <p:spPr>
          <a:xfrm>
            <a:off x="3665125" y="8140092"/>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11"/>
          <p:cNvSpPr/>
          <p:nvPr/>
        </p:nvSpPr>
        <p:spPr>
          <a:xfrm>
            <a:off x="4077864" y="8140092"/>
            <a:ext cx="257810" cy="257810"/>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2"/>
          <p:cNvSpPr/>
          <p:nvPr/>
        </p:nvSpPr>
        <p:spPr>
          <a:xfrm>
            <a:off x="4490604" y="8140092"/>
            <a:ext cx="257810" cy="257810"/>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3"/>
          <p:cNvSpPr/>
          <p:nvPr/>
        </p:nvSpPr>
        <p:spPr>
          <a:xfrm>
            <a:off x="4903344" y="8140092"/>
            <a:ext cx="257810" cy="257810"/>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6_07"/>
          <p:cNvSpPr/>
          <p:nvPr/>
        </p:nvSpPr>
        <p:spPr>
          <a:xfrm>
            <a:off x="2426905" y="7840312"/>
            <a:ext cx="257810" cy="257810"/>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6_08"/>
          <p:cNvSpPr/>
          <p:nvPr/>
        </p:nvSpPr>
        <p:spPr>
          <a:xfrm>
            <a:off x="2839645" y="7840312"/>
            <a:ext cx="257810" cy="257810"/>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9"/>
          <p:cNvSpPr/>
          <p:nvPr/>
        </p:nvSpPr>
        <p:spPr>
          <a:xfrm>
            <a:off x="3252385" y="7840312"/>
            <a:ext cx="257810" cy="257810"/>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10"/>
          <p:cNvSpPr/>
          <p:nvPr/>
        </p:nvSpPr>
        <p:spPr>
          <a:xfrm>
            <a:off x="3665125" y="7840312"/>
            <a:ext cx="257810" cy="257810"/>
          </a:xfrm>
          <a:prstGeom prst="roundRect">
            <a:avLst>
              <a:gd name="adj" fmla="val 30000"/>
            </a:avLst>
          </a:prstGeom>
          <a:solidFill>
            <a:srgbClr val="1561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11"/>
          <p:cNvSpPr/>
          <p:nvPr/>
        </p:nvSpPr>
        <p:spPr>
          <a:xfrm>
            <a:off x="4077864" y="7840312"/>
            <a:ext cx="257810" cy="257810"/>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2"/>
          <p:cNvSpPr/>
          <p:nvPr/>
        </p:nvSpPr>
        <p:spPr>
          <a:xfrm>
            <a:off x="4490604" y="7840312"/>
            <a:ext cx="257810" cy="257810"/>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3"/>
          <p:cNvSpPr/>
          <p:nvPr/>
        </p:nvSpPr>
        <p:spPr>
          <a:xfrm>
            <a:off x="4903344" y="7840312"/>
            <a:ext cx="257810" cy="257810"/>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7_07"/>
          <p:cNvSpPr/>
          <p:nvPr/>
        </p:nvSpPr>
        <p:spPr>
          <a:xfrm>
            <a:off x="2426905" y="7540533"/>
            <a:ext cx="257810" cy="257810"/>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7_08"/>
          <p:cNvSpPr/>
          <p:nvPr/>
        </p:nvSpPr>
        <p:spPr>
          <a:xfrm>
            <a:off x="2839645" y="7540533"/>
            <a:ext cx="257810" cy="257810"/>
          </a:xfrm>
          <a:prstGeom prst="roundRect">
            <a:avLst>
              <a:gd name="adj" fmla="val 30000"/>
            </a:avLst>
          </a:prstGeom>
          <a:solidFill>
            <a:srgbClr val="1251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9"/>
          <p:cNvSpPr/>
          <p:nvPr/>
        </p:nvSpPr>
        <p:spPr>
          <a:xfrm>
            <a:off x="3252385" y="7540533"/>
            <a:ext cx="257810" cy="257810"/>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10"/>
          <p:cNvSpPr/>
          <p:nvPr/>
        </p:nvSpPr>
        <p:spPr>
          <a:xfrm>
            <a:off x="3665125" y="7540533"/>
            <a:ext cx="257810" cy="257810"/>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11"/>
          <p:cNvSpPr/>
          <p:nvPr/>
        </p:nvSpPr>
        <p:spPr>
          <a:xfrm>
            <a:off x="4077864" y="7540533"/>
            <a:ext cx="257810" cy="257810"/>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2"/>
          <p:cNvSpPr/>
          <p:nvPr/>
        </p:nvSpPr>
        <p:spPr>
          <a:xfrm>
            <a:off x="4490604" y="7540533"/>
            <a:ext cx="257810" cy="257810"/>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3"/>
          <p:cNvSpPr/>
          <p:nvPr/>
        </p:nvSpPr>
        <p:spPr>
          <a:xfrm>
            <a:off x="4903344" y="7540533"/>
            <a:ext cx="257810" cy="257810"/>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8_06"/>
          <p:cNvSpPr/>
          <p:nvPr/>
        </p:nvSpPr>
        <p:spPr>
          <a:xfrm>
            <a:off x="2014166" y="7240754"/>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8_07"/>
          <p:cNvSpPr/>
          <p:nvPr/>
        </p:nvSpPr>
        <p:spPr>
          <a:xfrm>
            <a:off x="2426905" y="7240754"/>
            <a:ext cx="257810" cy="257810"/>
          </a:xfrm>
          <a:prstGeom prst="roundRect">
            <a:avLst>
              <a:gd name="adj" fmla="val 30000"/>
            </a:avLst>
          </a:prstGeom>
          <a:solidFill>
            <a:srgbClr val="104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8"/>
          <p:cNvSpPr/>
          <p:nvPr/>
        </p:nvSpPr>
        <p:spPr>
          <a:xfrm>
            <a:off x="2839645" y="7240754"/>
            <a:ext cx="257810" cy="257810"/>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9"/>
          <p:cNvSpPr/>
          <p:nvPr/>
        </p:nvSpPr>
        <p:spPr>
          <a:xfrm>
            <a:off x="3252385" y="7240754"/>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10"/>
          <p:cNvSpPr/>
          <p:nvPr/>
        </p:nvSpPr>
        <p:spPr>
          <a:xfrm>
            <a:off x="3665125" y="7240754"/>
            <a:ext cx="257810" cy="257810"/>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11"/>
          <p:cNvSpPr/>
          <p:nvPr/>
        </p:nvSpPr>
        <p:spPr>
          <a:xfrm>
            <a:off x="4077864" y="7240754"/>
            <a:ext cx="257810" cy="257810"/>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2"/>
          <p:cNvSpPr/>
          <p:nvPr/>
        </p:nvSpPr>
        <p:spPr>
          <a:xfrm>
            <a:off x="4490604" y="7240754"/>
            <a:ext cx="257810" cy="257810"/>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3"/>
          <p:cNvSpPr/>
          <p:nvPr/>
        </p:nvSpPr>
        <p:spPr>
          <a:xfrm>
            <a:off x="4903344" y="7240754"/>
            <a:ext cx="257810" cy="257810"/>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9_06"/>
          <p:cNvSpPr/>
          <p:nvPr/>
        </p:nvSpPr>
        <p:spPr>
          <a:xfrm>
            <a:off x="2014166" y="6940974"/>
            <a:ext cx="257810" cy="257810"/>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9_07"/>
          <p:cNvSpPr/>
          <p:nvPr/>
        </p:nvSpPr>
        <p:spPr>
          <a:xfrm>
            <a:off x="2426905" y="6940974"/>
            <a:ext cx="257810" cy="257810"/>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8"/>
          <p:cNvSpPr/>
          <p:nvPr/>
        </p:nvSpPr>
        <p:spPr>
          <a:xfrm>
            <a:off x="2839645" y="6940974"/>
            <a:ext cx="257810" cy="257810"/>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9"/>
          <p:cNvSpPr/>
          <p:nvPr/>
        </p:nvSpPr>
        <p:spPr>
          <a:xfrm>
            <a:off x="3252385" y="6940974"/>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10"/>
          <p:cNvSpPr/>
          <p:nvPr/>
        </p:nvSpPr>
        <p:spPr>
          <a:xfrm>
            <a:off x="3665125" y="6940974"/>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11"/>
          <p:cNvSpPr/>
          <p:nvPr/>
        </p:nvSpPr>
        <p:spPr>
          <a:xfrm>
            <a:off x="4077864" y="6940974"/>
            <a:ext cx="257810" cy="257810"/>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2"/>
          <p:cNvSpPr/>
          <p:nvPr/>
        </p:nvSpPr>
        <p:spPr>
          <a:xfrm>
            <a:off x="4490604" y="6940974"/>
            <a:ext cx="257810" cy="257810"/>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3"/>
          <p:cNvSpPr/>
          <p:nvPr/>
        </p:nvSpPr>
        <p:spPr>
          <a:xfrm>
            <a:off x="4903344" y="6940974"/>
            <a:ext cx="257810" cy="257810"/>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20_06"/>
          <p:cNvSpPr/>
          <p:nvPr/>
        </p:nvSpPr>
        <p:spPr>
          <a:xfrm>
            <a:off x="2014166" y="6641195"/>
            <a:ext cx="257810" cy="257810"/>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20_07"/>
          <p:cNvSpPr/>
          <p:nvPr/>
        </p:nvSpPr>
        <p:spPr>
          <a:xfrm>
            <a:off x="2426905" y="6641195"/>
            <a:ext cx="257810" cy="257810"/>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8"/>
          <p:cNvSpPr/>
          <p:nvPr/>
        </p:nvSpPr>
        <p:spPr>
          <a:xfrm>
            <a:off x="2839645" y="6641195"/>
            <a:ext cx="257810" cy="257810"/>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9"/>
          <p:cNvSpPr/>
          <p:nvPr/>
        </p:nvSpPr>
        <p:spPr>
          <a:xfrm>
            <a:off x="3252385" y="6641195"/>
            <a:ext cx="257810" cy="257810"/>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10"/>
          <p:cNvSpPr/>
          <p:nvPr/>
        </p:nvSpPr>
        <p:spPr>
          <a:xfrm>
            <a:off x="3665125" y="6641195"/>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11"/>
          <p:cNvSpPr/>
          <p:nvPr/>
        </p:nvSpPr>
        <p:spPr>
          <a:xfrm>
            <a:off x="4077864" y="6641195"/>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2"/>
          <p:cNvSpPr/>
          <p:nvPr/>
        </p:nvSpPr>
        <p:spPr>
          <a:xfrm>
            <a:off x="4490604" y="6641195"/>
            <a:ext cx="257810" cy="257810"/>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3"/>
          <p:cNvSpPr/>
          <p:nvPr/>
        </p:nvSpPr>
        <p:spPr>
          <a:xfrm>
            <a:off x="4903344" y="6641195"/>
            <a:ext cx="257810" cy="257810"/>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1_05"/>
          <p:cNvSpPr/>
          <p:nvPr/>
        </p:nvSpPr>
        <p:spPr>
          <a:xfrm>
            <a:off x="1601426" y="6341416"/>
            <a:ext cx="257810" cy="257810"/>
          </a:xfrm>
          <a:prstGeom prst="roundRect">
            <a:avLst>
              <a:gd name="adj" fmla="val 30000"/>
            </a:avLst>
          </a:prstGeom>
          <a:solidFill>
            <a:srgbClr val="1358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1_06"/>
          <p:cNvSpPr/>
          <p:nvPr/>
        </p:nvSpPr>
        <p:spPr>
          <a:xfrm>
            <a:off x="2014166" y="6341416"/>
            <a:ext cx="257810" cy="257810"/>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7"/>
          <p:cNvSpPr/>
          <p:nvPr/>
        </p:nvSpPr>
        <p:spPr>
          <a:xfrm>
            <a:off x="2426905" y="6341416"/>
            <a:ext cx="257810" cy="257810"/>
          </a:xfrm>
          <a:prstGeom prst="roundRect">
            <a:avLst>
              <a:gd name="adj" fmla="val 30000"/>
            </a:avLst>
          </a:prstGeom>
          <a:solidFill>
            <a:srgbClr val="2B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8"/>
          <p:cNvSpPr/>
          <p:nvPr/>
        </p:nvSpPr>
        <p:spPr>
          <a:xfrm>
            <a:off x="2839645" y="6341416"/>
            <a:ext cx="257810" cy="257810"/>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9"/>
          <p:cNvSpPr/>
          <p:nvPr/>
        </p:nvSpPr>
        <p:spPr>
          <a:xfrm>
            <a:off x="3252385" y="6341416"/>
            <a:ext cx="257810" cy="257810"/>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10"/>
          <p:cNvSpPr/>
          <p:nvPr/>
        </p:nvSpPr>
        <p:spPr>
          <a:xfrm>
            <a:off x="3665125" y="6341416"/>
            <a:ext cx="257810" cy="257810"/>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11"/>
          <p:cNvSpPr/>
          <p:nvPr/>
        </p:nvSpPr>
        <p:spPr>
          <a:xfrm>
            <a:off x="4077864" y="6341416"/>
            <a:ext cx="257810" cy="257810"/>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2"/>
          <p:cNvSpPr/>
          <p:nvPr/>
        </p:nvSpPr>
        <p:spPr>
          <a:xfrm>
            <a:off x="4490604" y="6341416"/>
            <a:ext cx="257810" cy="257810"/>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3"/>
          <p:cNvSpPr/>
          <p:nvPr/>
        </p:nvSpPr>
        <p:spPr>
          <a:xfrm>
            <a:off x="4903344" y="6341416"/>
            <a:ext cx="257810" cy="257810"/>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2_05"/>
          <p:cNvSpPr/>
          <p:nvPr/>
        </p:nvSpPr>
        <p:spPr>
          <a:xfrm>
            <a:off x="1601426" y="6041636"/>
            <a:ext cx="257810" cy="257810"/>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2_06"/>
          <p:cNvSpPr/>
          <p:nvPr/>
        </p:nvSpPr>
        <p:spPr>
          <a:xfrm>
            <a:off x="2014166" y="6041636"/>
            <a:ext cx="257810" cy="257810"/>
          </a:xfrm>
          <a:prstGeom prst="roundRect">
            <a:avLst>
              <a:gd name="adj" fmla="val 30000"/>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7"/>
          <p:cNvSpPr/>
          <p:nvPr/>
        </p:nvSpPr>
        <p:spPr>
          <a:xfrm>
            <a:off x="2426905" y="6041636"/>
            <a:ext cx="257810" cy="257810"/>
          </a:xfrm>
          <a:prstGeom prst="roundRect">
            <a:avLst>
              <a:gd name="adj" fmla="val 30000"/>
            </a:avLst>
          </a:prstGeom>
          <a:solidFill>
            <a:srgbClr val="70C1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8"/>
          <p:cNvSpPr/>
          <p:nvPr/>
        </p:nvSpPr>
        <p:spPr>
          <a:xfrm>
            <a:off x="2839645" y="6041636"/>
            <a:ext cx="257810" cy="257810"/>
          </a:xfrm>
          <a:prstGeom prst="roundRect">
            <a:avLst>
              <a:gd name="adj" fmla="val 30000"/>
            </a:avLst>
          </a:prstGeom>
          <a:solidFill>
            <a:srgbClr val="51BC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9"/>
          <p:cNvSpPr/>
          <p:nvPr/>
        </p:nvSpPr>
        <p:spPr>
          <a:xfrm>
            <a:off x="3252385" y="6041636"/>
            <a:ext cx="257810" cy="257810"/>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10"/>
          <p:cNvSpPr/>
          <p:nvPr/>
        </p:nvSpPr>
        <p:spPr>
          <a:xfrm>
            <a:off x="3665125" y="6041636"/>
            <a:ext cx="257810" cy="257810"/>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11"/>
          <p:cNvSpPr/>
          <p:nvPr/>
        </p:nvSpPr>
        <p:spPr>
          <a:xfrm>
            <a:off x="4077864" y="6041636"/>
            <a:ext cx="257810" cy="257810"/>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2"/>
          <p:cNvSpPr/>
          <p:nvPr/>
        </p:nvSpPr>
        <p:spPr>
          <a:xfrm>
            <a:off x="4490604" y="6041636"/>
            <a:ext cx="257810" cy="257810"/>
          </a:xfrm>
          <a:prstGeom prst="roundRect">
            <a:avLst>
              <a:gd name="adj" fmla="val 30000"/>
            </a:avLst>
          </a:prstGeom>
          <a:solidFill>
            <a:srgbClr val="2E9D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3"/>
          <p:cNvSpPr/>
          <p:nvPr/>
        </p:nvSpPr>
        <p:spPr>
          <a:xfrm>
            <a:off x="4903344" y="6041636"/>
            <a:ext cx="257810" cy="257810"/>
          </a:xfrm>
          <a:prstGeom prst="roundRect">
            <a:avLst>
              <a:gd name="adj" fmla="val 30000"/>
            </a:avLst>
          </a:prstGeom>
          <a:solidFill>
            <a:srgbClr val="1A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3_04"/>
          <p:cNvSpPr/>
          <p:nvPr/>
        </p:nvSpPr>
        <p:spPr>
          <a:xfrm>
            <a:off x="1188686" y="5741857"/>
            <a:ext cx="257810" cy="257810"/>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3_05"/>
          <p:cNvSpPr/>
          <p:nvPr/>
        </p:nvSpPr>
        <p:spPr>
          <a:xfrm>
            <a:off x="1601426" y="5741857"/>
            <a:ext cx="257810" cy="257810"/>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6"/>
          <p:cNvSpPr/>
          <p:nvPr/>
        </p:nvSpPr>
        <p:spPr>
          <a:xfrm>
            <a:off x="2014166" y="5741857"/>
            <a:ext cx="257810" cy="257810"/>
          </a:xfrm>
          <a:prstGeom prst="roundRect">
            <a:avLst>
              <a:gd name="adj" fmla="val 30000"/>
            </a:avLst>
          </a:prstGeom>
          <a:solidFill>
            <a:srgbClr val="62BF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7"/>
          <p:cNvSpPr/>
          <p:nvPr/>
        </p:nvSpPr>
        <p:spPr>
          <a:xfrm>
            <a:off x="2426905" y="5741857"/>
            <a:ext cx="257810" cy="257810"/>
          </a:xfrm>
          <a:prstGeom prst="roundRect">
            <a:avLst>
              <a:gd name="adj" fmla="val 30000"/>
            </a:avLst>
          </a:prstGeom>
          <a:solidFill>
            <a:srgbClr val="FFBE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8"/>
          <p:cNvSpPr/>
          <p:nvPr/>
        </p:nvSpPr>
        <p:spPr>
          <a:xfrm>
            <a:off x="2839645" y="5741857"/>
            <a:ext cx="257810" cy="257810"/>
          </a:xfrm>
          <a:prstGeom prst="roundRect">
            <a:avLst>
              <a:gd name="adj" fmla="val 30000"/>
            </a:avLst>
          </a:prstGeom>
          <a:solidFill>
            <a:srgbClr val="F4D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9"/>
          <p:cNvSpPr/>
          <p:nvPr/>
        </p:nvSpPr>
        <p:spPr>
          <a:xfrm>
            <a:off x="3252385" y="5741857"/>
            <a:ext cx="257810" cy="257810"/>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10"/>
          <p:cNvSpPr/>
          <p:nvPr/>
        </p:nvSpPr>
        <p:spPr>
          <a:xfrm>
            <a:off x="3665125" y="5741857"/>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11"/>
          <p:cNvSpPr/>
          <p:nvPr/>
        </p:nvSpPr>
        <p:spPr>
          <a:xfrm>
            <a:off x="4077864" y="5741857"/>
            <a:ext cx="257810" cy="257810"/>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2"/>
          <p:cNvSpPr/>
          <p:nvPr/>
        </p:nvSpPr>
        <p:spPr>
          <a:xfrm>
            <a:off x="4490604" y="5741857"/>
            <a:ext cx="257810" cy="257810"/>
          </a:xfrm>
          <a:prstGeom prst="roundRect">
            <a:avLst>
              <a:gd name="adj" fmla="val 30000"/>
            </a:avLst>
          </a:prstGeom>
          <a:solidFill>
            <a:srgbClr val="39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3"/>
          <p:cNvSpPr/>
          <p:nvPr/>
        </p:nvSpPr>
        <p:spPr>
          <a:xfrm>
            <a:off x="4903344" y="5741857"/>
            <a:ext cx="257810" cy="257810"/>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4"/>
          <p:cNvSpPr/>
          <p:nvPr/>
        </p:nvSpPr>
        <p:spPr>
          <a:xfrm>
            <a:off x="5316083" y="5741857"/>
            <a:ext cx="257810" cy="257810"/>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4_04"/>
          <p:cNvSpPr/>
          <p:nvPr/>
        </p:nvSpPr>
        <p:spPr>
          <a:xfrm>
            <a:off x="1188686" y="5442077"/>
            <a:ext cx="257810" cy="257810"/>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4_05"/>
          <p:cNvSpPr/>
          <p:nvPr/>
        </p:nvSpPr>
        <p:spPr>
          <a:xfrm>
            <a:off x="1601426" y="5442077"/>
            <a:ext cx="257810" cy="257810"/>
          </a:xfrm>
          <a:prstGeom prst="roundRect">
            <a:avLst>
              <a:gd name="adj" fmla="val 30000"/>
            </a:avLst>
          </a:prstGeom>
          <a:solidFill>
            <a:srgbClr val="5DB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6"/>
          <p:cNvSpPr/>
          <p:nvPr/>
        </p:nvSpPr>
        <p:spPr>
          <a:xfrm>
            <a:off x="2014166" y="5442077"/>
            <a:ext cx="257810" cy="257810"/>
          </a:xfrm>
          <a:prstGeom prst="roundRect">
            <a:avLst>
              <a:gd name="adj" fmla="val 30000"/>
            </a:avLst>
          </a:prstGeom>
          <a:solidFill>
            <a:srgbClr val="DBCE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7"/>
          <p:cNvSpPr/>
          <p:nvPr/>
        </p:nvSpPr>
        <p:spPr>
          <a:xfrm>
            <a:off x="2426905" y="5442077"/>
            <a:ext cx="257810" cy="257810"/>
          </a:xfrm>
          <a:prstGeom prst="roundRect">
            <a:avLst>
              <a:gd name="adj" fmla="val 30000"/>
            </a:avLst>
          </a:prstGeom>
          <a:solidFill>
            <a:srgbClr val="FF8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8"/>
          <p:cNvSpPr/>
          <p:nvPr/>
        </p:nvSpPr>
        <p:spPr>
          <a:xfrm>
            <a:off x="2839645" y="5442077"/>
            <a:ext cx="257810" cy="257810"/>
          </a:xfrm>
          <a:prstGeom prst="roundRect">
            <a:avLst>
              <a:gd name="adj" fmla="val 30000"/>
            </a:avLst>
          </a:prstGeom>
          <a:solidFill>
            <a:srgbClr val="FFA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9"/>
          <p:cNvSpPr/>
          <p:nvPr/>
        </p:nvSpPr>
        <p:spPr>
          <a:xfrm>
            <a:off x="3252385" y="5442077"/>
            <a:ext cx="257810" cy="257810"/>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10"/>
          <p:cNvSpPr/>
          <p:nvPr/>
        </p:nvSpPr>
        <p:spPr>
          <a:xfrm>
            <a:off x="3665125" y="5442077"/>
            <a:ext cx="257810" cy="257810"/>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11"/>
          <p:cNvSpPr/>
          <p:nvPr/>
        </p:nvSpPr>
        <p:spPr>
          <a:xfrm>
            <a:off x="4077864" y="5442077"/>
            <a:ext cx="257810" cy="257810"/>
          </a:xfrm>
          <a:prstGeom prst="roundRect">
            <a:avLst>
              <a:gd name="adj" fmla="val 30000"/>
            </a:avLst>
          </a:prstGeom>
          <a:solidFill>
            <a:srgbClr val="1C88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2"/>
          <p:cNvSpPr/>
          <p:nvPr/>
        </p:nvSpPr>
        <p:spPr>
          <a:xfrm>
            <a:off x="4490604" y="5442077"/>
            <a:ext cx="257810" cy="257810"/>
          </a:xfrm>
          <a:prstGeom prst="roundRect">
            <a:avLst>
              <a:gd name="adj" fmla="val 30000"/>
            </a:avLst>
          </a:prstGeom>
          <a:solidFill>
            <a:srgbClr val="36A4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3"/>
          <p:cNvSpPr/>
          <p:nvPr/>
        </p:nvSpPr>
        <p:spPr>
          <a:xfrm>
            <a:off x="4903344" y="5442077"/>
            <a:ext cx="257810" cy="257810"/>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4"/>
          <p:cNvSpPr/>
          <p:nvPr/>
        </p:nvSpPr>
        <p:spPr>
          <a:xfrm>
            <a:off x="5316083" y="5442077"/>
            <a:ext cx="257810" cy="257810"/>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5_04"/>
          <p:cNvSpPr/>
          <p:nvPr/>
        </p:nvSpPr>
        <p:spPr>
          <a:xfrm>
            <a:off x="1188686" y="5142298"/>
            <a:ext cx="257810" cy="257810"/>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5_05"/>
          <p:cNvSpPr/>
          <p:nvPr/>
        </p:nvSpPr>
        <p:spPr>
          <a:xfrm>
            <a:off x="1601426" y="5142298"/>
            <a:ext cx="257810" cy="257810"/>
          </a:xfrm>
          <a:prstGeom prst="roundRect">
            <a:avLst>
              <a:gd name="adj" fmla="val 30000"/>
            </a:avLst>
          </a:prstGeom>
          <a:solidFill>
            <a:srgbClr val="9CC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6"/>
          <p:cNvSpPr/>
          <p:nvPr/>
        </p:nvSpPr>
        <p:spPr>
          <a:xfrm>
            <a:off x="2014166" y="5142298"/>
            <a:ext cx="257810" cy="257810"/>
          </a:xfrm>
          <a:prstGeom prst="roundRect">
            <a:avLst>
              <a:gd name="adj" fmla="val 30000"/>
            </a:avLst>
          </a:prstGeom>
          <a:solidFill>
            <a:srgbClr val="FFD1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7"/>
          <p:cNvSpPr/>
          <p:nvPr/>
        </p:nvSpPr>
        <p:spPr>
          <a:xfrm>
            <a:off x="2426905" y="5142298"/>
            <a:ext cx="257810" cy="257810"/>
          </a:xfrm>
          <a:prstGeom prst="roundRect">
            <a:avLst>
              <a:gd name="adj" fmla="val 30000"/>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8"/>
          <p:cNvSpPr/>
          <p:nvPr/>
        </p:nvSpPr>
        <p:spPr>
          <a:xfrm>
            <a:off x="2839645" y="5142298"/>
            <a:ext cx="257810" cy="257810"/>
          </a:xfrm>
          <a:prstGeom prst="roundRect">
            <a:avLst>
              <a:gd name="adj" fmla="val 30000"/>
            </a:avLst>
          </a:prstGeom>
          <a:solidFill>
            <a:srgbClr val="FFA9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9"/>
          <p:cNvSpPr/>
          <p:nvPr/>
        </p:nvSpPr>
        <p:spPr>
          <a:xfrm>
            <a:off x="3252385" y="5142298"/>
            <a:ext cx="257810" cy="257810"/>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10"/>
          <p:cNvSpPr/>
          <p:nvPr/>
        </p:nvSpPr>
        <p:spPr>
          <a:xfrm>
            <a:off x="3665125" y="5142298"/>
            <a:ext cx="257810" cy="257810"/>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11"/>
          <p:cNvSpPr/>
          <p:nvPr/>
        </p:nvSpPr>
        <p:spPr>
          <a:xfrm>
            <a:off x="4077864" y="5142298"/>
            <a:ext cx="257810" cy="257810"/>
          </a:xfrm>
          <a:prstGeom prst="roundRect">
            <a:avLst>
              <a:gd name="adj" fmla="val 30000"/>
            </a:avLst>
          </a:prstGeom>
          <a:solidFill>
            <a:srgbClr val="1876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2"/>
          <p:cNvSpPr/>
          <p:nvPr/>
        </p:nvSpPr>
        <p:spPr>
          <a:xfrm>
            <a:off x="4490604" y="5142298"/>
            <a:ext cx="257810" cy="257810"/>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3"/>
          <p:cNvSpPr/>
          <p:nvPr/>
        </p:nvSpPr>
        <p:spPr>
          <a:xfrm>
            <a:off x="4903344" y="5142298"/>
            <a:ext cx="257810" cy="257810"/>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4"/>
          <p:cNvSpPr/>
          <p:nvPr/>
        </p:nvSpPr>
        <p:spPr>
          <a:xfrm>
            <a:off x="5316083" y="5142298"/>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6_03"/>
          <p:cNvSpPr/>
          <p:nvPr/>
        </p:nvSpPr>
        <p:spPr>
          <a:xfrm>
            <a:off x="775947" y="4842519"/>
            <a:ext cx="257810" cy="257810"/>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6_04"/>
          <p:cNvSpPr/>
          <p:nvPr/>
        </p:nvSpPr>
        <p:spPr>
          <a:xfrm>
            <a:off x="1188686" y="4842519"/>
            <a:ext cx="257810" cy="257810"/>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5"/>
          <p:cNvSpPr/>
          <p:nvPr/>
        </p:nvSpPr>
        <p:spPr>
          <a:xfrm>
            <a:off x="1601426" y="4842519"/>
            <a:ext cx="257810" cy="257810"/>
          </a:xfrm>
          <a:prstGeom prst="roundRect">
            <a:avLst>
              <a:gd name="adj" fmla="val 30000"/>
            </a:avLst>
          </a:prstGeom>
          <a:solidFill>
            <a:srgbClr val="7DC2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6"/>
          <p:cNvSpPr/>
          <p:nvPr/>
        </p:nvSpPr>
        <p:spPr>
          <a:xfrm>
            <a:off x="2014166" y="4842519"/>
            <a:ext cx="257810" cy="257810"/>
          </a:xfrm>
          <a:prstGeom prst="roundRect">
            <a:avLst>
              <a:gd name="adj" fmla="val 30000"/>
            </a:avLst>
          </a:prstGeom>
          <a:solidFill>
            <a:srgbClr val="BDCA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7"/>
          <p:cNvSpPr/>
          <p:nvPr/>
        </p:nvSpPr>
        <p:spPr>
          <a:xfrm>
            <a:off x="2426905" y="4842519"/>
            <a:ext cx="257810" cy="257810"/>
          </a:xfrm>
          <a:prstGeom prst="roundRect">
            <a:avLst>
              <a:gd name="adj" fmla="val 30000"/>
            </a:avLst>
          </a:prstGeom>
          <a:solidFill>
            <a:srgbClr val="FFB3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8"/>
          <p:cNvSpPr/>
          <p:nvPr/>
        </p:nvSpPr>
        <p:spPr>
          <a:xfrm>
            <a:off x="2839645" y="4842519"/>
            <a:ext cx="257810" cy="257810"/>
          </a:xfrm>
          <a:prstGeom prst="roundRect">
            <a:avLst>
              <a:gd name="adj" fmla="val 30000"/>
            </a:avLst>
          </a:prstGeom>
          <a:solidFill>
            <a:srgbClr val="F7D1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9"/>
          <p:cNvSpPr/>
          <p:nvPr/>
        </p:nvSpPr>
        <p:spPr>
          <a:xfrm>
            <a:off x="3252385" y="4842519"/>
            <a:ext cx="257810" cy="257810"/>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10"/>
          <p:cNvSpPr/>
          <p:nvPr/>
        </p:nvSpPr>
        <p:spPr>
          <a:xfrm>
            <a:off x="3665125" y="4842519"/>
            <a:ext cx="257810" cy="257810"/>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11"/>
          <p:cNvSpPr/>
          <p:nvPr/>
        </p:nvSpPr>
        <p:spPr>
          <a:xfrm>
            <a:off x="4077864" y="4842519"/>
            <a:ext cx="257810" cy="257810"/>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2"/>
          <p:cNvSpPr/>
          <p:nvPr/>
        </p:nvSpPr>
        <p:spPr>
          <a:xfrm>
            <a:off x="4490604" y="4842519"/>
            <a:ext cx="257810" cy="257810"/>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3"/>
          <p:cNvSpPr/>
          <p:nvPr/>
        </p:nvSpPr>
        <p:spPr>
          <a:xfrm>
            <a:off x="4903344" y="4842519"/>
            <a:ext cx="257810" cy="257810"/>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4"/>
          <p:cNvSpPr/>
          <p:nvPr/>
        </p:nvSpPr>
        <p:spPr>
          <a:xfrm>
            <a:off x="5316083" y="4842519"/>
            <a:ext cx="257810" cy="257810"/>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7_03"/>
          <p:cNvSpPr/>
          <p:nvPr/>
        </p:nvSpPr>
        <p:spPr>
          <a:xfrm>
            <a:off x="775947" y="4542739"/>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7_04"/>
          <p:cNvSpPr/>
          <p:nvPr/>
        </p:nvSpPr>
        <p:spPr>
          <a:xfrm>
            <a:off x="1188686" y="4542739"/>
            <a:ext cx="257810" cy="257810"/>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5"/>
          <p:cNvSpPr/>
          <p:nvPr/>
        </p:nvSpPr>
        <p:spPr>
          <a:xfrm>
            <a:off x="1601426" y="4542739"/>
            <a:ext cx="257810" cy="257810"/>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6"/>
          <p:cNvSpPr/>
          <p:nvPr/>
        </p:nvSpPr>
        <p:spPr>
          <a:xfrm>
            <a:off x="2014166" y="4542739"/>
            <a:ext cx="257810" cy="257810"/>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7"/>
          <p:cNvSpPr/>
          <p:nvPr/>
        </p:nvSpPr>
        <p:spPr>
          <a:xfrm>
            <a:off x="2426905" y="4542739"/>
            <a:ext cx="257810" cy="257810"/>
          </a:xfrm>
          <a:prstGeom prst="roundRect">
            <a:avLst>
              <a:gd name="adj" fmla="val 30000"/>
            </a:avLst>
          </a:prstGeom>
          <a:solidFill>
            <a:srgbClr val="85C3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8"/>
          <p:cNvSpPr/>
          <p:nvPr/>
        </p:nvSpPr>
        <p:spPr>
          <a:xfrm>
            <a:off x="2839645" y="4542739"/>
            <a:ext cx="257810" cy="257810"/>
          </a:xfrm>
          <a:prstGeom prst="roundRect">
            <a:avLst>
              <a:gd name="adj" fmla="val 30000"/>
            </a:avLst>
          </a:prstGeom>
          <a:solidFill>
            <a:srgbClr val="4FB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9"/>
          <p:cNvSpPr/>
          <p:nvPr/>
        </p:nvSpPr>
        <p:spPr>
          <a:xfrm>
            <a:off x="3252385" y="4542739"/>
            <a:ext cx="257810" cy="257810"/>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10"/>
          <p:cNvSpPr/>
          <p:nvPr/>
        </p:nvSpPr>
        <p:spPr>
          <a:xfrm>
            <a:off x="3665125" y="4542739"/>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11"/>
          <p:cNvSpPr/>
          <p:nvPr/>
        </p:nvSpPr>
        <p:spPr>
          <a:xfrm>
            <a:off x="4077864" y="4542739"/>
            <a:ext cx="257810" cy="257810"/>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2"/>
          <p:cNvSpPr/>
          <p:nvPr/>
        </p:nvSpPr>
        <p:spPr>
          <a:xfrm>
            <a:off x="4490604" y="4542739"/>
            <a:ext cx="257810" cy="257810"/>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3"/>
          <p:cNvSpPr/>
          <p:nvPr/>
        </p:nvSpPr>
        <p:spPr>
          <a:xfrm>
            <a:off x="4903344" y="4542739"/>
            <a:ext cx="257810" cy="257810"/>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4"/>
          <p:cNvSpPr/>
          <p:nvPr/>
        </p:nvSpPr>
        <p:spPr>
          <a:xfrm>
            <a:off x="5316083" y="4542739"/>
            <a:ext cx="257810" cy="257810"/>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8_03"/>
          <p:cNvSpPr/>
          <p:nvPr/>
        </p:nvSpPr>
        <p:spPr>
          <a:xfrm>
            <a:off x="775947" y="4242960"/>
            <a:ext cx="257810" cy="257810"/>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8_04"/>
          <p:cNvSpPr/>
          <p:nvPr/>
        </p:nvSpPr>
        <p:spPr>
          <a:xfrm>
            <a:off x="1188686" y="4242960"/>
            <a:ext cx="257810" cy="257810"/>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5"/>
          <p:cNvSpPr/>
          <p:nvPr/>
        </p:nvSpPr>
        <p:spPr>
          <a:xfrm>
            <a:off x="1601426" y="4242960"/>
            <a:ext cx="257810" cy="257810"/>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6"/>
          <p:cNvSpPr/>
          <p:nvPr/>
        </p:nvSpPr>
        <p:spPr>
          <a:xfrm>
            <a:off x="2014166" y="4242960"/>
            <a:ext cx="257810" cy="257810"/>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7"/>
          <p:cNvSpPr/>
          <p:nvPr/>
        </p:nvSpPr>
        <p:spPr>
          <a:xfrm>
            <a:off x="2426905" y="4242960"/>
            <a:ext cx="257810" cy="257810"/>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8"/>
          <p:cNvSpPr/>
          <p:nvPr/>
        </p:nvSpPr>
        <p:spPr>
          <a:xfrm>
            <a:off x="2839645" y="4242960"/>
            <a:ext cx="257810" cy="257810"/>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9"/>
          <p:cNvSpPr/>
          <p:nvPr/>
        </p:nvSpPr>
        <p:spPr>
          <a:xfrm>
            <a:off x="3252385" y="4242960"/>
            <a:ext cx="257810" cy="257810"/>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10"/>
          <p:cNvSpPr/>
          <p:nvPr/>
        </p:nvSpPr>
        <p:spPr>
          <a:xfrm>
            <a:off x="3665125" y="4242960"/>
            <a:ext cx="257810" cy="257810"/>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11"/>
          <p:cNvSpPr/>
          <p:nvPr/>
        </p:nvSpPr>
        <p:spPr>
          <a:xfrm>
            <a:off x="4077864" y="4242960"/>
            <a:ext cx="257810" cy="257810"/>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2"/>
          <p:cNvSpPr/>
          <p:nvPr/>
        </p:nvSpPr>
        <p:spPr>
          <a:xfrm>
            <a:off x="4490604" y="4242960"/>
            <a:ext cx="257810" cy="257810"/>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3"/>
          <p:cNvSpPr/>
          <p:nvPr/>
        </p:nvSpPr>
        <p:spPr>
          <a:xfrm>
            <a:off x="4903344" y="4242960"/>
            <a:ext cx="257810" cy="257810"/>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4"/>
          <p:cNvSpPr/>
          <p:nvPr/>
        </p:nvSpPr>
        <p:spPr>
          <a:xfrm>
            <a:off x="5316083" y="4242960"/>
            <a:ext cx="257810" cy="257810"/>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9_03"/>
          <p:cNvSpPr/>
          <p:nvPr/>
        </p:nvSpPr>
        <p:spPr>
          <a:xfrm>
            <a:off x="775947" y="3943181"/>
            <a:ext cx="257810" cy="257810"/>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9_04"/>
          <p:cNvSpPr/>
          <p:nvPr/>
        </p:nvSpPr>
        <p:spPr>
          <a:xfrm>
            <a:off x="1188686" y="3943181"/>
            <a:ext cx="257810" cy="257810"/>
          </a:xfrm>
          <a:prstGeom prst="roundRect">
            <a:avLst>
              <a:gd name="adj" fmla="val 30000"/>
            </a:avLst>
          </a:prstGeom>
          <a:solidFill>
            <a:srgbClr val="0F44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5"/>
          <p:cNvSpPr/>
          <p:nvPr/>
        </p:nvSpPr>
        <p:spPr>
          <a:xfrm>
            <a:off x="1601426" y="3943181"/>
            <a:ext cx="257810" cy="257810"/>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6"/>
          <p:cNvSpPr/>
          <p:nvPr/>
        </p:nvSpPr>
        <p:spPr>
          <a:xfrm>
            <a:off x="2014166" y="3943181"/>
            <a:ext cx="257810" cy="257810"/>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7"/>
          <p:cNvSpPr/>
          <p:nvPr/>
        </p:nvSpPr>
        <p:spPr>
          <a:xfrm>
            <a:off x="2426905" y="3943181"/>
            <a:ext cx="257810" cy="257810"/>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8"/>
          <p:cNvSpPr/>
          <p:nvPr/>
        </p:nvSpPr>
        <p:spPr>
          <a:xfrm>
            <a:off x="2839645" y="3943181"/>
            <a:ext cx="257810" cy="257810"/>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9"/>
          <p:cNvSpPr/>
          <p:nvPr/>
        </p:nvSpPr>
        <p:spPr>
          <a:xfrm>
            <a:off x="3252385" y="3943181"/>
            <a:ext cx="257810" cy="257810"/>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10"/>
          <p:cNvSpPr/>
          <p:nvPr/>
        </p:nvSpPr>
        <p:spPr>
          <a:xfrm>
            <a:off x="3665125" y="3943181"/>
            <a:ext cx="257810" cy="257810"/>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11"/>
          <p:cNvSpPr/>
          <p:nvPr/>
        </p:nvSpPr>
        <p:spPr>
          <a:xfrm>
            <a:off x="4077864" y="3943181"/>
            <a:ext cx="257810" cy="257810"/>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2"/>
          <p:cNvSpPr/>
          <p:nvPr/>
        </p:nvSpPr>
        <p:spPr>
          <a:xfrm>
            <a:off x="4490604" y="3943181"/>
            <a:ext cx="257810" cy="257810"/>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3"/>
          <p:cNvSpPr/>
          <p:nvPr/>
        </p:nvSpPr>
        <p:spPr>
          <a:xfrm>
            <a:off x="4903344" y="3943181"/>
            <a:ext cx="257810" cy="257810"/>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30_03"/>
          <p:cNvSpPr/>
          <p:nvPr/>
        </p:nvSpPr>
        <p:spPr>
          <a:xfrm>
            <a:off x="775947" y="3643401"/>
            <a:ext cx="257810" cy="257810"/>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30_04"/>
          <p:cNvSpPr/>
          <p:nvPr/>
        </p:nvSpPr>
        <p:spPr>
          <a:xfrm>
            <a:off x="1188686" y="3643401"/>
            <a:ext cx="257810" cy="257810"/>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5"/>
          <p:cNvSpPr/>
          <p:nvPr/>
        </p:nvSpPr>
        <p:spPr>
          <a:xfrm>
            <a:off x="1601426" y="3643401"/>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6"/>
          <p:cNvSpPr/>
          <p:nvPr/>
        </p:nvSpPr>
        <p:spPr>
          <a:xfrm>
            <a:off x="2014166" y="3643401"/>
            <a:ext cx="257810" cy="257810"/>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7"/>
          <p:cNvSpPr/>
          <p:nvPr/>
        </p:nvSpPr>
        <p:spPr>
          <a:xfrm>
            <a:off x="2426905" y="3643401"/>
            <a:ext cx="257810" cy="257810"/>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8"/>
          <p:cNvSpPr/>
          <p:nvPr/>
        </p:nvSpPr>
        <p:spPr>
          <a:xfrm>
            <a:off x="2839645" y="3643401"/>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9"/>
          <p:cNvSpPr/>
          <p:nvPr/>
        </p:nvSpPr>
        <p:spPr>
          <a:xfrm>
            <a:off x="3252385" y="3643401"/>
            <a:ext cx="257810" cy="257810"/>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10"/>
          <p:cNvSpPr/>
          <p:nvPr/>
        </p:nvSpPr>
        <p:spPr>
          <a:xfrm>
            <a:off x="3665125" y="3643401"/>
            <a:ext cx="257810" cy="257810"/>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11"/>
          <p:cNvSpPr/>
          <p:nvPr/>
        </p:nvSpPr>
        <p:spPr>
          <a:xfrm>
            <a:off x="4077864" y="3643401"/>
            <a:ext cx="257810" cy="257810"/>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2"/>
          <p:cNvSpPr/>
          <p:nvPr/>
        </p:nvSpPr>
        <p:spPr>
          <a:xfrm>
            <a:off x="4490604" y="3643401"/>
            <a:ext cx="257810" cy="257810"/>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3"/>
          <p:cNvSpPr/>
          <p:nvPr/>
        </p:nvSpPr>
        <p:spPr>
          <a:xfrm>
            <a:off x="4903344" y="3643401"/>
            <a:ext cx="257810" cy="257810"/>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1_03"/>
          <p:cNvSpPr/>
          <p:nvPr/>
        </p:nvSpPr>
        <p:spPr>
          <a:xfrm>
            <a:off x="775947" y="3343622"/>
            <a:ext cx="257810" cy="257810"/>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1_04"/>
          <p:cNvSpPr/>
          <p:nvPr/>
        </p:nvSpPr>
        <p:spPr>
          <a:xfrm>
            <a:off x="1188686" y="3343622"/>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5"/>
          <p:cNvSpPr/>
          <p:nvPr/>
        </p:nvSpPr>
        <p:spPr>
          <a:xfrm>
            <a:off x="1601426" y="3343622"/>
            <a:ext cx="257810" cy="257810"/>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6"/>
          <p:cNvSpPr/>
          <p:nvPr/>
        </p:nvSpPr>
        <p:spPr>
          <a:xfrm>
            <a:off x="2014166" y="3343622"/>
            <a:ext cx="257810" cy="257810"/>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7"/>
          <p:cNvSpPr/>
          <p:nvPr/>
        </p:nvSpPr>
        <p:spPr>
          <a:xfrm>
            <a:off x="2426905" y="3343622"/>
            <a:ext cx="257810" cy="257810"/>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8"/>
          <p:cNvSpPr/>
          <p:nvPr/>
        </p:nvSpPr>
        <p:spPr>
          <a:xfrm>
            <a:off x="2839645" y="3343622"/>
            <a:ext cx="257810" cy="257810"/>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9"/>
          <p:cNvSpPr/>
          <p:nvPr/>
        </p:nvSpPr>
        <p:spPr>
          <a:xfrm>
            <a:off x="3252385" y="3343622"/>
            <a:ext cx="257810" cy="257810"/>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10"/>
          <p:cNvSpPr/>
          <p:nvPr/>
        </p:nvSpPr>
        <p:spPr>
          <a:xfrm>
            <a:off x="3665125" y="3343622"/>
            <a:ext cx="257810" cy="257810"/>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11"/>
          <p:cNvSpPr/>
          <p:nvPr/>
        </p:nvSpPr>
        <p:spPr>
          <a:xfrm>
            <a:off x="4077864" y="3343622"/>
            <a:ext cx="257810" cy="257810"/>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2"/>
          <p:cNvSpPr/>
          <p:nvPr/>
        </p:nvSpPr>
        <p:spPr>
          <a:xfrm>
            <a:off x="4490604" y="3343622"/>
            <a:ext cx="257810" cy="257810"/>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3"/>
          <p:cNvSpPr/>
          <p:nvPr/>
        </p:nvSpPr>
        <p:spPr>
          <a:xfrm>
            <a:off x="4903344" y="3343622"/>
            <a:ext cx="257810" cy="257810"/>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2_03"/>
          <p:cNvSpPr/>
          <p:nvPr/>
        </p:nvSpPr>
        <p:spPr>
          <a:xfrm>
            <a:off x="775947" y="3043843"/>
            <a:ext cx="257810" cy="257810"/>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2_04"/>
          <p:cNvSpPr/>
          <p:nvPr/>
        </p:nvSpPr>
        <p:spPr>
          <a:xfrm>
            <a:off x="1188686" y="3043843"/>
            <a:ext cx="257810" cy="257810"/>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5"/>
          <p:cNvSpPr/>
          <p:nvPr/>
        </p:nvSpPr>
        <p:spPr>
          <a:xfrm>
            <a:off x="1601426" y="3043843"/>
            <a:ext cx="257810" cy="257810"/>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6"/>
          <p:cNvSpPr/>
          <p:nvPr/>
        </p:nvSpPr>
        <p:spPr>
          <a:xfrm>
            <a:off x="2014166" y="3043843"/>
            <a:ext cx="257810" cy="257810"/>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7"/>
          <p:cNvSpPr/>
          <p:nvPr/>
        </p:nvSpPr>
        <p:spPr>
          <a:xfrm>
            <a:off x="2426905" y="3043843"/>
            <a:ext cx="257810" cy="257810"/>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8"/>
          <p:cNvSpPr/>
          <p:nvPr/>
        </p:nvSpPr>
        <p:spPr>
          <a:xfrm>
            <a:off x="2839645" y="3043843"/>
            <a:ext cx="257810" cy="257810"/>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9"/>
          <p:cNvSpPr/>
          <p:nvPr/>
        </p:nvSpPr>
        <p:spPr>
          <a:xfrm>
            <a:off x="3252385" y="3043843"/>
            <a:ext cx="257810" cy="257810"/>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10"/>
          <p:cNvSpPr/>
          <p:nvPr/>
        </p:nvSpPr>
        <p:spPr>
          <a:xfrm>
            <a:off x="3665125" y="3043843"/>
            <a:ext cx="257810" cy="257810"/>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11"/>
          <p:cNvSpPr/>
          <p:nvPr/>
        </p:nvSpPr>
        <p:spPr>
          <a:xfrm>
            <a:off x="4077864" y="3043843"/>
            <a:ext cx="257810" cy="257810"/>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2"/>
          <p:cNvSpPr/>
          <p:nvPr/>
        </p:nvSpPr>
        <p:spPr>
          <a:xfrm>
            <a:off x="4490604" y="3043843"/>
            <a:ext cx="257810" cy="257810"/>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3_03"/>
          <p:cNvSpPr/>
          <p:nvPr/>
        </p:nvSpPr>
        <p:spPr>
          <a:xfrm>
            <a:off x="775947" y="2744063"/>
            <a:ext cx="257810" cy="257810"/>
          </a:xfrm>
          <a:prstGeom prst="roundRect">
            <a:avLst>
              <a:gd name="adj" fmla="val 30000"/>
            </a:avLst>
          </a:prstGeom>
          <a:solidFill>
            <a:srgbClr val="0D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3_04"/>
          <p:cNvSpPr/>
          <p:nvPr/>
        </p:nvSpPr>
        <p:spPr>
          <a:xfrm>
            <a:off x="1188686" y="2744063"/>
            <a:ext cx="257810" cy="257810"/>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5"/>
          <p:cNvSpPr/>
          <p:nvPr/>
        </p:nvSpPr>
        <p:spPr>
          <a:xfrm>
            <a:off x="1601426" y="2744063"/>
            <a:ext cx="257810" cy="257810"/>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6"/>
          <p:cNvSpPr/>
          <p:nvPr/>
        </p:nvSpPr>
        <p:spPr>
          <a:xfrm>
            <a:off x="2014166" y="2744063"/>
            <a:ext cx="257810" cy="257810"/>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7"/>
          <p:cNvSpPr/>
          <p:nvPr/>
        </p:nvSpPr>
        <p:spPr>
          <a:xfrm>
            <a:off x="2426905" y="2744063"/>
            <a:ext cx="257810" cy="257810"/>
          </a:xfrm>
          <a:prstGeom prst="roundRect">
            <a:avLst>
              <a:gd name="adj" fmla="val 30000"/>
            </a:avLst>
          </a:prstGeom>
          <a:solidFill>
            <a:srgbClr val="0A31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8"/>
          <p:cNvSpPr/>
          <p:nvPr/>
        </p:nvSpPr>
        <p:spPr>
          <a:xfrm>
            <a:off x="2839645" y="2744063"/>
            <a:ext cx="257810" cy="257810"/>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9"/>
          <p:cNvSpPr/>
          <p:nvPr/>
        </p:nvSpPr>
        <p:spPr>
          <a:xfrm>
            <a:off x="3252385" y="2744063"/>
            <a:ext cx="257810" cy="257810"/>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10"/>
          <p:cNvSpPr/>
          <p:nvPr/>
        </p:nvSpPr>
        <p:spPr>
          <a:xfrm>
            <a:off x="3665125" y="2744063"/>
            <a:ext cx="257810" cy="257810"/>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11"/>
          <p:cNvSpPr/>
          <p:nvPr/>
        </p:nvSpPr>
        <p:spPr>
          <a:xfrm>
            <a:off x="4077864" y="2744063"/>
            <a:ext cx="257810" cy="257810"/>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2"/>
          <p:cNvSpPr/>
          <p:nvPr/>
        </p:nvSpPr>
        <p:spPr>
          <a:xfrm>
            <a:off x="4490604" y="2744063"/>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4_03"/>
          <p:cNvSpPr/>
          <p:nvPr/>
        </p:nvSpPr>
        <p:spPr>
          <a:xfrm>
            <a:off x="775947" y="2444284"/>
            <a:ext cx="257810" cy="257810"/>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4_04"/>
          <p:cNvSpPr/>
          <p:nvPr/>
        </p:nvSpPr>
        <p:spPr>
          <a:xfrm>
            <a:off x="1188686" y="2444284"/>
            <a:ext cx="257810" cy="257810"/>
          </a:xfrm>
          <a:prstGeom prst="roundRect">
            <a:avLst>
              <a:gd name="adj" fmla="val 30000"/>
            </a:avLst>
          </a:prstGeom>
          <a:solidFill>
            <a:srgbClr val="20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5"/>
          <p:cNvSpPr/>
          <p:nvPr/>
        </p:nvSpPr>
        <p:spPr>
          <a:xfrm>
            <a:off x="1601426" y="2444284"/>
            <a:ext cx="257810" cy="257810"/>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6"/>
          <p:cNvSpPr/>
          <p:nvPr/>
        </p:nvSpPr>
        <p:spPr>
          <a:xfrm>
            <a:off x="2014166" y="2444284"/>
            <a:ext cx="257810" cy="257810"/>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7"/>
          <p:cNvSpPr/>
          <p:nvPr/>
        </p:nvSpPr>
        <p:spPr>
          <a:xfrm>
            <a:off x="2426905" y="2444284"/>
            <a:ext cx="257810" cy="257810"/>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8"/>
          <p:cNvSpPr/>
          <p:nvPr/>
        </p:nvSpPr>
        <p:spPr>
          <a:xfrm>
            <a:off x="2839645" y="2444284"/>
            <a:ext cx="257810" cy="257810"/>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9"/>
          <p:cNvSpPr/>
          <p:nvPr/>
        </p:nvSpPr>
        <p:spPr>
          <a:xfrm>
            <a:off x="3252385" y="2444284"/>
            <a:ext cx="257810" cy="257810"/>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10"/>
          <p:cNvSpPr/>
          <p:nvPr/>
        </p:nvSpPr>
        <p:spPr>
          <a:xfrm>
            <a:off x="3665125" y="2444284"/>
            <a:ext cx="257810" cy="257810"/>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11"/>
          <p:cNvSpPr/>
          <p:nvPr/>
        </p:nvSpPr>
        <p:spPr>
          <a:xfrm>
            <a:off x="4077864" y="2444284"/>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5_04"/>
          <p:cNvSpPr/>
          <p:nvPr/>
        </p:nvSpPr>
        <p:spPr>
          <a:xfrm>
            <a:off x="1188686" y="2144505"/>
            <a:ext cx="257810" cy="257810"/>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5_05"/>
          <p:cNvSpPr/>
          <p:nvPr/>
        </p:nvSpPr>
        <p:spPr>
          <a:xfrm>
            <a:off x="1601426" y="2144505"/>
            <a:ext cx="257810" cy="257810"/>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6"/>
          <p:cNvSpPr/>
          <p:nvPr/>
        </p:nvSpPr>
        <p:spPr>
          <a:xfrm>
            <a:off x="2014166" y="2144505"/>
            <a:ext cx="257810" cy="257810"/>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7"/>
          <p:cNvSpPr/>
          <p:nvPr/>
        </p:nvSpPr>
        <p:spPr>
          <a:xfrm>
            <a:off x="2426905" y="2144505"/>
            <a:ext cx="257810" cy="257810"/>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8"/>
          <p:cNvSpPr/>
          <p:nvPr/>
        </p:nvSpPr>
        <p:spPr>
          <a:xfrm>
            <a:off x="2839645" y="2144505"/>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9"/>
          <p:cNvSpPr/>
          <p:nvPr/>
        </p:nvSpPr>
        <p:spPr>
          <a:xfrm>
            <a:off x="3252385" y="2144505"/>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10"/>
          <p:cNvSpPr/>
          <p:nvPr/>
        </p:nvSpPr>
        <p:spPr>
          <a:xfrm>
            <a:off x="3665125" y="2144505"/>
            <a:ext cx="257810" cy="257810"/>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11"/>
          <p:cNvSpPr/>
          <p:nvPr/>
        </p:nvSpPr>
        <p:spPr>
          <a:xfrm>
            <a:off x="4077864" y="2144505"/>
            <a:ext cx="257810" cy="257810"/>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6_04"/>
          <p:cNvSpPr/>
          <p:nvPr/>
        </p:nvSpPr>
        <p:spPr>
          <a:xfrm>
            <a:off x="1188686" y="1844725"/>
            <a:ext cx="257810" cy="257810"/>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6_05"/>
          <p:cNvSpPr/>
          <p:nvPr/>
        </p:nvSpPr>
        <p:spPr>
          <a:xfrm>
            <a:off x="1601426" y="1844725"/>
            <a:ext cx="257810" cy="257810"/>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6"/>
          <p:cNvSpPr/>
          <p:nvPr/>
        </p:nvSpPr>
        <p:spPr>
          <a:xfrm>
            <a:off x="2014166" y="1844725"/>
            <a:ext cx="257810" cy="257810"/>
          </a:xfrm>
          <a:prstGeom prst="roundRect">
            <a:avLst>
              <a:gd name="adj" fmla="val 30000"/>
            </a:avLst>
          </a:prstGeom>
          <a:solidFill>
            <a:srgbClr val="0C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7"/>
          <p:cNvSpPr/>
          <p:nvPr/>
        </p:nvSpPr>
        <p:spPr>
          <a:xfrm>
            <a:off x="2426905" y="1844725"/>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8"/>
          <p:cNvSpPr/>
          <p:nvPr/>
        </p:nvSpPr>
        <p:spPr>
          <a:xfrm>
            <a:off x="2839645" y="1844725"/>
            <a:ext cx="257810" cy="257810"/>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9"/>
          <p:cNvSpPr/>
          <p:nvPr/>
        </p:nvSpPr>
        <p:spPr>
          <a:xfrm>
            <a:off x="3252385" y="1844725"/>
            <a:ext cx="257810" cy="257810"/>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10"/>
          <p:cNvSpPr/>
          <p:nvPr/>
        </p:nvSpPr>
        <p:spPr>
          <a:xfrm>
            <a:off x="3665125" y="1844725"/>
            <a:ext cx="257810" cy="257810"/>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7_04"/>
          <p:cNvSpPr/>
          <p:nvPr/>
        </p:nvSpPr>
        <p:spPr>
          <a:xfrm>
            <a:off x="1188686" y="1544946"/>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7_05"/>
          <p:cNvSpPr/>
          <p:nvPr/>
        </p:nvSpPr>
        <p:spPr>
          <a:xfrm>
            <a:off x="1601426" y="1544946"/>
            <a:ext cx="257810" cy="257810"/>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6"/>
          <p:cNvSpPr/>
          <p:nvPr/>
        </p:nvSpPr>
        <p:spPr>
          <a:xfrm>
            <a:off x="2014166" y="1544946"/>
            <a:ext cx="257810" cy="257810"/>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7"/>
          <p:cNvSpPr/>
          <p:nvPr/>
        </p:nvSpPr>
        <p:spPr>
          <a:xfrm>
            <a:off x="2426905" y="1544946"/>
            <a:ext cx="257810" cy="257810"/>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8"/>
          <p:cNvSpPr/>
          <p:nvPr/>
        </p:nvSpPr>
        <p:spPr>
          <a:xfrm>
            <a:off x="2839645" y="1544946"/>
            <a:ext cx="257810" cy="257810"/>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9"/>
          <p:cNvSpPr/>
          <p:nvPr/>
        </p:nvSpPr>
        <p:spPr>
          <a:xfrm>
            <a:off x="3252385" y="1544946"/>
            <a:ext cx="257810" cy="257810"/>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TextBox 326"/>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ZOOMING IN ON THE FOREFOOT</a:t>
            </a:r>
          </a:p>
        </p:txBody>
      </p:sp>
      <p:sp>
        <p:nvSpPr>
          <p:cNvPr id="328"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Eight regions, three target regions</a:t>
            </a:r>
          </a:p>
        </p:txBody>
      </p:sp>
      <p:sp>
        <p:nvSpPr>
          <p:cNvPr id="329" name="Oval 328"/>
          <p:cNvSpPr/>
          <p:nvPr/>
        </p:nvSpPr>
        <p:spPr>
          <a:xfrm>
            <a:off x="1549361" y="5029582"/>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TextBox 329"/>
          <p:cNvSpPr txBox="1"/>
          <p:nvPr/>
        </p:nvSpPr>
        <p:spPr>
          <a:xfrm>
            <a:off x="1549361" y="5029582"/>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1</a:t>
            </a:r>
          </a:p>
        </p:txBody>
      </p:sp>
      <p:sp>
        <p:nvSpPr>
          <p:cNvPr id="331" name="Rectangle 330"/>
          <p:cNvSpPr/>
          <p:nvPr/>
        </p:nvSpPr>
        <p:spPr>
          <a:xfrm>
            <a:off x="6349841" y="1904952"/>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Oval 331"/>
          <p:cNvSpPr/>
          <p:nvPr/>
        </p:nvSpPr>
        <p:spPr>
          <a:xfrm>
            <a:off x="6349841" y="2070048"/>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TextBox 332"/>
          <p:cNvSpPr txBox="1"/>
          <p:nvPr/>
        </p:nvSpPr>
        <p:spPr>
          <a:xfrm>
            <a:off x="6349841" y="2070048"/>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1</a:t>
            </a:r>
          </a:p>
        </p:txBody>
      </p:sp>
      <p:sp>
        <p:nvSpPr>
          <p:cNvPr id="334" name="TextBox 333"/>
          <p:cNvSpPr txBox="1"/>
          <p:nvPr/>
        </p:nvSpPr>
        <p:spPr>
          <a:xfrm>
            <a:off x="6756231" y="2044648"/>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Metatarsal 1</a:t>
            </a:r>
          </a:p>
        </p:txBody>
      </p:sp>
      <p:sp>
        <p:nvSpPr>
          <p:cNvPr id="335" name="TextBox 334"/>
          <p:cNvSpPr txBox="1"/>
          <p:nvPr/>
        </p:nvSpPr>
        <p:spPr>
          <a:xfrm>
            <a:off x="6768930" y="2311342"/>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under the great toe — second most affected site</a:t>
            </a:r>
          </a:p>
        </p:txBody>
      </p:sp>
      <p:sp>
        <p:nvSpPr>
          <p:cNvPr id="336" name="Oval 335"/>
          <p:cNvSpPr/>
          <p:nvPr/>
        </p:nvSpPr>
        <p:spPr>
          <a:xfrm>
            <a:off x="2589465" y="5257414"/>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TextBox 336"/>
          <p:cNvSpPr txBox="1"/>
          <p:nvPr/>
        </p:nvSpPr>
        <p:spPr>
          <a:xfrm>
            <a:off x="2589465" y="5257414"/>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2</a:t>
            </a:r>
          </a:p>
        </p:txBody>
      </p:sp>
      <p:sp>
        <p:nvSpPr>
          <p:cNvPr id="338" name="Rectangle 337"/>
          <p:cNvSpPr/>
          <p:nvPr/>
        </p:nvSpPr>
        <p:spPr>
          <a:xfrm>
            <a:off x="6349841" y="2641533"/>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Oval 338"/>
          <p:cNvSpPr/>
          <p:nvPr/>
        </p:nvSpPr>
        <p:spPr>
          <a:xfrm>
            <a:off x="6349841" y="2806629"/>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TextBox 339"/>
          <p:cNvSpPr txBox="1"/>
          <p:nvPr/>
        </p:nvSpPr>
        <p:spPr>
          <a:xfrm>
            <a:off x="6349841" y="2806629"/>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2</a:t>
            </a:r>
          </a:p>
        </p:txBody>
      </p:sp>
      <p:sp>
        <p:nvSpPr>
          <p:cNvPr id="341" name="TextBox 340"/>
          <p:cNvSpPr txBox="1"/>
          <p:nvPr/>
        </p:nvSpPr>
        <p:spPr>
          <a:xfrm>
            <a:off x="6756231" y="2781230"/>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Metatarsal 2-3</a:t>
            </a:r>
          </a:p>
        </p:txBody>
      </p:sp>
      <p:sp>
        <p:nvSpPr>
          <p:cNvPr id="342" name="TextBox 341"/>
          <p:cNvSpPr txBox="1"/>
          <p:nvPr/>
        </p:nvSpPr>
        <p:spPr>
          <a:xfrm>
            <a:off x="6768930" y="3047923"/>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the hot spot in this measurement, and the classic ulcer site</a:t>
            </a:r>
          </a:p>
        </p:txBody>
      </p:sp>
      <p:sp>
        <p:nvSpPr>
          <p:cNvPr id="343" name="Oval 342"/>
          <p:cNvSpPr/>
          <p:nvPr/>
        </p:nvSpPr>
        <p:spPr>
          <a:xfrm>
            <a:off x="4521086" y="5599163"/>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TextBox 343"/>
          <p:cNvSpPr txBox="1"/>
          <p:nvPr/>
        </p:nvSpPr>
        <p:spPr>
          <a:xfrm>
            <a:off x="4521086" y="5599163"/>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3</a:t>
            </a:r>
          </a:p>
        </p:txBody>
      </p:sp>
      <p:sp>
        <p:nvSpPr>
          <p:cNvPr id="345" name="Rectangle 344"/>
          <p:cNvSpPr/>
          <p:nvPr/>
        </p:nvSpPr>
        <p:spPr>
          <a:xfrm>
            <a:off x="6349841" y="3378115"/>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Oval 345"/>
          <p:cNvSpPr/>
          <p:nvPr/>
        </p:nvSpPr>
        <p:spPr>
          <a:xfrm>
            <a:off x="6349841" y="3543211"/>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TextBox 346"/>
          <p:cNvSpPr txBox="1"/>
          <p:nvPr/>
        </p:nvSpPr>
        <p:spPr>
          <a:xfrm>
            <a:off x="6349841" y="3543211"/>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3</a:t>
            </a:r>
          </a:p>
        </p:txBody>
      </p:sp>
      <p:sp>
        <p:nvSpPr>
          <p:cNvPr id="348" name="TextBox 347"/>
          <p:cNvSpPr txBox="1"/>
          <p:nvPr/>
        </p:nvSpPr>
        <p:spPr>
          <a:xfrm>
            <a:off x="6756231" y="3517812"/>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Metatarsal 4-5</a:t>
            </a:r>
          </a:p>
        </p:txBody>
      </p:sp>
      <p:sp>
        <p:nvSpPr>
          <p:cNvPr id="349" name="TextBox 348"/>
          <p:cNvSpPr txBox="1"/>
          <p:nvPr/>
        </p:nvSpPr>
        <p:spPr>
          <a:xfrm>
            <a:off x="6768930" y="3784505"/>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lateral forefoot, usually lower pressure</a:t>
            </a:r>
          </a:p>
        </p:txBody>
      </p:sp>
      <p:sp>
        <p:nvSpPr>
          <p:cNvPr id="350" name="Oval 349"/>
          <p:cNvSpPr/>
          <p:nvPr/>
        </p:nvSpPr>
        <p:spPr>
          <a:xfrm>
            <a:off x="1400774" y="2409510"/>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TextBox 350"/>
          <p:cNvSpPr txBox="1"/>
          <p:nvPr/>
        </p:nvSpPr>
        <p:spPr>
          <a:xfrm>
            <a:off x="1400774" y="2409510"/>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4</a:t>
            </a:r>
          </a:p>
        </p:txBody>
      </p:sp>
      <p:sp>
        <p:nvSpPr>
          <p:cNvPr id="352" name="Rectangle 351"/>
          <p:cNvSpPr/>
          <p:nvPr/>
        </p:nvSpPr>
        <p:spPr>
          <a:xfrm>
            <a:off x="6349841" y="4114697"/>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Oval 352"/>
          <p:cNvSpPr/>
          <p:nvPr/>
        </p:nvSpPr>
        <p:spPr>
          <a:xfrm>
            <a:off x="6349841" y="4279793"/>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TextBox 353"/>
          <p:cNvSpPr txBox="1"/>
          <p:nvPr/>
        </p:nvSpPr>
        <p:spPr>
          <a:xfrm>
            <a:off x="6349841" y="4279793"/>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4</a:t>
            </a:r>
          </a:p>
        </p:txBody>
      </p:sp>
      <p:sp>
        <p:nvSpPr>
          <p:cNvPr id="355" name="TextBox 354"/>
          <p:cNvSpPr txBox="1"/>
          <p:nvPr/>
        </p:nvSpPr>
        <p:spPr>
          <a:xfrm>
            <a:off x="6756231" y="4254393"/>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Hallux</a:t>
            </a:r>
          </a:p>
        </p:txBody>
      </p:sp>
      <p:sp>
        <p:nvSpPr>
          <p:cNvPr id="356" name="TextBox 355"/>
          <p:cNvSpPr txBox="1"/>
          <p:nvPr/>
        </p:nvSpPr>
        <p:spPr>
          <a:xfrm>
            <a:off x="6768930" y="4521086"/>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
            </a:r>
          </a:p>
        </p:txBody>
      </p:sp>
      <p:sp>
        <p:nvSpPr>
          <p:cNvPr id="357" name="Oval 356"/>
          <p:cNvSpPr/>
          <p:nvPr/>
        </p:nvSpPr>
        <p:spPr>
          <a:xfrm>
            <a:off x="3406689" y="2523426"/>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TextBox 357"/>
          <p:cNvSpPr txBox="1"/>
          <p:nvPr/>
        </p:nvSpPr>
        <p:spPr>
          <a:xfrm>
            <a:off x="3406689" y="2523426"/>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5</a:t>
            </a:r>
          </a:p>
        </p:txBody>
      </p:sp>
      <p:sp>
        <p:nvSpPr>
          <p:cNvPr id="359" name="Rectangle 358"/>
          <p:cNvSpPr/>
          <p:nvPr/>
        </p:nvSpPr>
        <p:spPr>
          <a:xfrm>
            <a:off x="6349841" y="4851278"/>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Oval 359"/>
          <p:cNvSpPr/>
          <p:nvPr/>
        </p:nvSpPr>
        <p:spPr>
          <a:xfrm>
            <a:off x="6349841" y="5016374"/>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TextBox 360"/>
          <p:cNvSpPr txBox="1"/>
          <p:nvPr/>
        </p:nvSpPr>
        <p:spPr>
          <a:xfrm>
            <a:off x="6349841" y="5016374"/>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5</a:t>
            </a:r>
          </a:p>
        </p:txBody>
      </p:sp>
      <p:sp>
        <p:nvSpPr>
          <p:cNvPr id="362" name="TextBox 361"/>
          <p:cNvSpPr txBox="1"/>
          <p:nvPr/>
        </p:nvSpPr>
        <p:spPr>
          <a:xfrm>
            <a:off x="6756231" y="4990975"/>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Toes 2-5</a:t>
            </a:r>
          </a:p>
        </p:txBody>
      </p:sp>
      <p:sp>
        <p:nvSpPr>
          <p:cNvPr id="363" name="TextBox 362"/>
          <p:cNvSpPr txBox="1"/>
          <p:nvPr/>
        </p:nvSpPr>
        <p:spPr>
          <a:xfrm>
            <a:off x="6768930" y="5257668"/>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
            </a:r>
          </a:p>
        </p:txBody>
      </p:sp>
      <p:sp>
        <p:nvSpPr>
          <p:cNvPr id="364" name="TextBox 363"/>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
            </a:r>
          </a:p>
        </p:txBody>
      </p:sp>
      <p:sp>
        <p:nvSpPr>
          <p:cNvPr id="365" name="TextBox 364"/>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16 / 33</a:t>
            </a:r>
          </a:p>
        </p:txBody>
      </p:sp>
      <p:pic>
        <p:nvPicPr>
          <p:cNvPr id="366"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367" name="TextBox 366"/>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7 · Bus 2020</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AFTER OPTIMISATION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When is it good enough</a:t>
            </a:r>
          </a:p>
        </p:txBody>
      </p:sp>
      <p:sp>
        <p:nvSpPr>
          <p:cNvPr id="5" name="!!p00_07"/>
          <p:cNvSpPr/>
          <p:nvPr/>
        </p:nvSpPr>
        <p:spPr>
          <a:xfrm>
            <a:off x="1585505" y="5645727"/>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08"/>
          <p:cNvSpPr/>
          <p:nvPr/>
        </p:nvSpPr>
        <p:spPr>
          <a:xfrm>
            <a:off x="1744251"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0_09"/>
          <p:cNvSpPr/>
          <p:nvPr/>
        </p:nvSpPr>
        <p:spPr>
          <a:xfrm>
            <a:off x="1902997"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0_10"/>
          <p:cNvSpPr/>
          <p:nvPr/>
        </p:nvSpPr>
        <p:spPr>
          <a:xfrm>
            <a:off x="2061743" y="56457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6"/>
          <p:cNvSpPr/>
          <p:nvPr/>
        </p:nvSpPr>
        <p:spPr>
          <a:xfrm>
            <a:off x="1426759" y="5530427"/>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7"/>
          <p:cNvSpPr/>
          <p:nvPr/>
        </p:nvSpPr>
        <p:spPr>
          <a:xfrm>
            <a:off x="1585505" y="5530427"/>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08"/>
          <p:cNvSpPr/>
          <p:nvPr/>
        </p:nvSpPr>
        <p:spPr>
          <a:xfrm>
            <a:off x="1744251"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09"/>
          <p:cNvSpPr/>
          <p:nvPr/>
        </p:nvSpPr>
        <p:spPr>
          <a:xfrm>
            <a:off x="1902997"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1_10"/>
          <p:cNvSpPr/>
          <p:nvPr/>
        </p:nvSpPr>
        <p:spPr>
          <a:xfrm>
            <a:off x="2061743" y="5530427"/>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1_11"/>
          <p:cNvSpPr/>
          <p:nvPr/>
        </p:nvSpPr>
        <p:spPr>
          <a:xfrm>
            <a:off x="2220489" y="5530427"/>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5"/>
          <p:cNvSpPr/>
          <p:nvPr/>
        </p:nvSpPr>
        <p:spPr>
          <a:xfrm>
            <a:off x="1268013"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6"/>
          <p:cNvSpPr/>
          <p:nvPr/>
        </p:nvSpPr>
        <p:spPr>
          <a:xfrm>
            <a:off x="1426759" y="5415127"/>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7"/>
          <p:cNvSpPr/>
          <p:nvPr/>
        </p:nvSpPr>
        <p:spPr>
          <a:xfrm>
            <a:off x="1585505" y="5415127"/>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08"/>
          <p:cNvSpPr/>
          <p:nvPr/>
        </p:nvSpPr>
        <p:spPr>
          <a:xfrm>
            <a:off x="1744251"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09"/>
          <p:cNvSpPr/>
          <p:nvPr/>
        </p:nvSpPr>
        <p:spPr>
          <a:xfrm>
            <a:off x="1902997"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0"/>
          <p:cNvSpPr/>
          <p:nvPr/>
        </p:nvSpPr>
        <p:spPr>
          <a:xfrm>
            <a:off x="2061743" y="5415127"/>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2_11"/>
          <p:cNvSpPr/>
          <p:nvPr/>
        </p:nvSpPr>
        <p:spPr>
          <a:xfrm>
            <a:off x="2220489" y="5415127"/>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2_12"/>
          <p:cNvSpPr/>
          <p:nvPr/>
        </p:nvSpPr>
        <p:spPr>
          <a:xfrm>
            <a:off x="2379235"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5"/>
          <p:cNvSpPr/>
          <p:nvPr/>
        </p:nvSpPr>
        <p:spPr>
          <a:xfrm>
            <a:off x="1268013" y="5299828"/>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6"/>
          <p:cNvSpPr/>
          <p:nvPr/>
        </p:nvSpPr>
        <p:spPr>
          <a:xfrm>
            <a:off x="1426759" y="5299828"/>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7"/>
          <p:cNvSpPr/>
          <p:nvPr/>
        </p:nvSpPr>
        <p:spPr>
          <a:xfrm>
            <a:off x="1585505" y="5299828"/>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08"/>
          <p:cNvSpPr/>
          <p:nvPr/>
        </p:nvSpPr>
        <p:spPr>
          <a:xfrm>
            <a:off x="1744251" y="5299828"/>
            <a:ext cx="99157" cy="99157"/>
          </a:xfrm>
          <a:prstGeom prst="roundRect">
            <a:avLst>
              <a:gd name="adj" fmla="val 30000"/>
            </a:avLst>
          </a:prstGeom>
          <a:solidFill>
            <a:srgbClr val="32A0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09"/>
          <p:cNvSpPr/>
          <p:nvPr/>
        </p:nvSpPr>
        <p:spPr>
          <a:xfrm>
            <a:off x="1902997" y="5299828"/>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0"/>
          <p:cNvSpPr/>
          <p:nvPr/>
        </p:nvSpPr>
        <p:spPr>
          <a:xfrm>
            <a:off x="2061743" y="5299828"/>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3_11"/>
          <p:cNvSpPr/>
          <p:nvPr/>
        </p:nvSpPr>
        <p:spPr>
          <a:xfrm>
            <a:off x="2220489" y="5299828"/>
            <a:ext cx="99157" cy="99157"/>
          </a:xfrm>
          <a:prstGeom prst="roundRect">
            <a:avLst>
              <a:gd name="adj" fmla="val 30000"/>
            </a:avLst>
          </a:prstGeom>
          <a:solidFill>
            <a:srgbClr val="15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3_12"/>
          <p:cNvSpPr/>
          <p:nvPr/>
        </p:nvSpPr>
        <p:spPr>
          <a:xfrm>
            <a:off x="2379235" y="5299828"/>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5"/>
          <p:cNvSpPr/>
          <p:nvPr/>
        </p:nvSpPr>
        <p:spPr>
          <a:xfrm>
            <a:off x="1268013" y="5184528"/>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6"/>
          <p:cNvSpPr/>
          <p:nvPr/>
        </p:nvSpPr>
        <p:spPr>
          <a:xfrm>
            <a:off x="1426759" y="5184528"/>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7"/>
          <p:cNvSpPr/>
          <p:nvPr/>
        </p:nvSpPr>
        <p:spPr>
          <a:xfrm>
            <a:off x="1585505" y="5184528"/>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08"/>
          <p:cNvSpPr/>
          <p:nvPr/>
        </p:nvSpPr>
        <p:spPr>
          <a:xfrm>
            <a:off x="1744251" y="5184528"/>
            <a:ext cx="99157" cy="99157"/>
          </a:xfrm>
          <a:prstGeom prst="roundRect">
            <a:avLst>
              <a:gd name="adj" fmla="val 30000"/>
            </a:avLst>
          </a:prstGeom>
          <a:solidFill>
            <a:srgbClr val="38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09"/>
          <p:cNvSpPr/>
          <p:nvPr/>
        </p:nvSpPr>
        <p:spPr>
          <a:xfrm>
            <a:off x="1902997" y="5184528"/>
            <a:ext cx="99157" cy="99157"/>
          </a:xfrm>
          <a:prstGeom prst="roundRect">
            <a:avLst>
              <a:gd name="adj" fmla="val 30000"/>
            </a:avLst>
          </a:prstGeom>
          <a:solidFill>
            <a:srgbClr val="39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0"/>
          <p:cNvSpPr/>
          <p:nvPr/>
        </p:nvSpPr>
        <p:spPr>
          <a:xfrm>
            <a:off x="2061743" y="5184528"/>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4_11"/>
          <p:cNvSpPr/>
          <p:nvPr/>
        </p:nvSpPr>
        <p:spPr>
          <a:xfrm>
            <a:off x="2220489" y="5184528"/>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4_12"/>
          <p:cNvSpPr/>
          <p:nvPr/>
        </p:nvSpPr>
        <p:spPr>
          <a:xfrm>
            <a:off x="2379235" y="51845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5"/>
          <p:cNvSpPr/>
          <p:nvPr/>
        </p:nvSpPr>
        <p:spPr>
          <a:xfrm>
            <a:off x="1268013" y="50692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6"/>
          <p:cNvSpPr/>
          <p:nvPr/>
        </p:nvSpPr>
        <p:spPr>
          <a:xfrm>
            <a:off x="1426759" y="5069228"/>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7"/>
          <p:cNvSpPr/>
          <p:nvPr/>
        </p:nvSpPr>
        <p:spPr>
          <a:xfrm>
            <a:off x="1585505" y="5069228"/>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08"/>
          <p:cNvSpPr/>
          <p:nvPr/>
        </p:nvSpPr>
        <p:spPr>
          <a:xfrm>
            <a:off x="1744251" y="5069228"/>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09"/>
          <p:cNvSpPr/>
          <p:nvPr/>
        </p:nvSpPr>
        <p:spPr>
          <a:xfrm>
            <a:off x="1902997" y="5069228"/>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0"/>
          <p:cNvSpPr/>
          <p:nvPr/>
        </p:nvSpPr>
        <p:spPr>
          <a:xfrm>
            <a:off x="2061743" y="5069228"/>
            <a:ext cx="99157" cy="99157"/>
          </a:xfrm>
          <a:prstGeom prst="roundRect">
            <a:avLst>
              <a:gd name="adj" fmla="val 30000"/>
            </a:avLst>
          </a:prstGeom>
          <a:solidFill>
            <a:srgbClr val="2796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5_11"/>
          <p:cNvSpPr/>
          <p:nvPr/>
        </p:nvSpPr>
        <p:spPr>
          <a:xfrm>
            <a:off x="2220489" y="5069228"/>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5_12"/>
          <p:cNvSpPr/>
          <p:nvPr/>
        </p:nvSpPr>
        <p:spPr>
          <a:xfrm>
            <a:off x="2379235" y="5069228"/>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5"/>
          <p:cNvSpPr/>
          <p:nvPr/>
        </p:nvSpPr>
        <p:spPr>
          <a:xfrm>
            <a:off x="1268013" y="4953928"/>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6"/>
          <p:cNvSpPr/>
          <p:nvPr/>
        </p:nvSpPr>
        <p:spPr>
          <a:xfrm>
            <a:off x="1426759" y="4953928"/>
            <a:ext cx="99157" cy="99157"/>
          </a:xfrm>
          <a:prstGeom prst="roundRect">
            <a:avLst>
              <a:gd name="adj" fmla="val 30000"/>
            </a:avLst>
          </a:prstGeom>
          <a:solidFill>
            <a:srgbClr val="16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7"/>
          <p:cNvSpPr/>
          <p:nvPr/>
        </p:nvSpPr>
        <p:spPr>
          <a:xfrm>
            <a:off x="1585505" y="4953928"/>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08"/>
          <p:cNvSpPr/>
          <p:nvPr/>
        </p:nvSpPr>
        <p:spPr>
          <a:xfrm>
            <a:off x="1744251" y="4953928"/>
            <a:ext cx="99157" cy="99157"/>
          </a:xfrm>
          <a:prstGeom prst="roundRect">
            <a:avLst>
              <a:gd name="adj" fmla="val 30000"/>
            </a:avLst>
          </a:prstGeom>
          <a:solidFill>
            <a:srgbClr val="37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09"/>
          <p:cNvSpPr/>
          <p:nvPr/>
        </p:nvSpPr>
        <p:spPr>
          <a:xfrm>
            <a:off x="1902997" y="4953928"/>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0"/>
          <p:cNvSpPr/>
          <p:nvPr/>
        </p:nvSpPr>
        <p:spPr>
          <a:xfrm>
            <a:off x="2061743"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6_11"/>
          <p:cNvSpPr/>
          <p:nvPr/>
        </p:nvSpPr>
        <p:spPr>
          <a:xfrm>
            <a:off x="2220489" y="49539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6_12"/>
          <p:cNvSpPr/>
          <p:nvPr/>
        </p:nvSpPr>
        <p:spPr>
          <a:xfrm>
            <a:off x="2379235" y="4953928"/>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6"/>
          <p:cNvSpPr/>
          <p:nvPr/>
        </p:nvSpPr>
        <p:spPr>
          <a:xfrm>
            <a:off x="1426759" y="4838629"/>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7"/>
          <p:cNvSpPr/>
          <p:nvPr/>
        </p:nvSpPr>
        <p:spPr>
          <a:xfrm>
            <a:off x="1585505" y="4838629"/>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08"/>
          <p:cNvSpPr/>
          <p:nvPr/>
        </p:nvSpPr>
        <p:spPr>
          <a:xfrm>
            <a:off x="1744251" y="4838629"/>
            <a:ext cx="99157" cy="99157"/>
          </a:xfrm>
          <a:prstGeom prst="roundRect">
            <a:avLst>
              <a:gd name="adj" fmla="val 30000"/>
            </a:avLst>
          </a:prstGeom>
          <a:solidFill>
            <a:srgbClr val="33A1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09"/>
          <p:cNvSpPr/>
          <p:nvPr/>
        </p:nvSpPr>
        <p:spPr>
          <a:xfrm>
            <a:off x="1902997" y="4838629"/>
            <a:ext cx="99157" cy="99157"/>
          </a:xfrm>
          <a:prstGeom prst="roundRect">
            <a:avLst>
              <a:gd name="adj" fmla="val 30000"/>
            </a:avLst>
          </a:prstGeom>
          <a:solidFill>
            <a:srgbClr val="36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0"/>
          <p:cNvSpPr/>
          <p:nvPr/>
        </p:nvSpPr>
        <p:spPr>
          <a:xfrm>
            <a:off x="2061743" y="4838629"/>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7_11"/>
          <p:cNvSpPr/>
          <p:nvPr/>
        </p:nvSpPr>
        <p:spPr>
          <a:xfrm>
            <a:off x="2220489" y="4838629"/>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7_12"/>
          <p:cNvSpPr/>
          <p:nvPr/>
        </p:nvSpPr>
        <p:spPr>
          <a:xfrm>
            <a:off x="2379235" y="4838629"/>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5"/>
          <p:cNvSpPr/>
          <p:nvPr/>
        </p:nvSpPr>
        <p:spPr>
          <a:xfrm>
            <a:off x="1268013" y="4723329"/>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6"/>
          <p:cNvSpPr/>
          <p:nvPr/>
        </p:nvSpPr>
        <p:spPr>
          <a:xfrm>
            <a:off x="1426759" y="4723329"/>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7"/>
          <p:cNvSpPr/>
          <p:nvPr/>
        </p:nvSpPr>
        <p:spPr>
          <a:xfrm>
            <a:off x="1585505" y="4723329"/>
            <a:ext cx="99157" cy="99157"/>
          </a:xfrm>
          <a:prstGeom prst="roundRect">
            <a:avLst>
              <a:gd name="adj" fmla="val 30000"/>
            </a:avLst>
          </a:prstGeom>
          <a:solidFill>
            <a:srgbClr val="1C86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08"/>
          <p:cNvSpPr/>
          <p:nvPr/>
        </p:nvSpPr>
        <p:spPr>
          <a:xfrm>
            <a:off x="1744251" y="4723329"/>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09"/>
          <p:cNvSpPr/>
          <p:nvPr/>
        </p:nvSpPr>
        <p:spPr>
          <a:xfrm>
            <a:off x="1902997" y="4723329"/>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0"/>
          <p:cNvSpPr/>
          <p:nvPr/>
        </p:nvSpPr>
        <p:spPr>
          <a:xfrm>
            <a:off x="2061743" y="4723329"/>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8_11"/>
          <p:cNvSpPr/>
          <p:nvPr/>
        </p:nvSpPr>
        <p:spPr>
          <a:xfrm>
            <a:off x="2220489" y="47233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8_12"/>
          <p:cNvSpPr/>
          <p:nvPr/>
        </p:nvSpPr>
        <p:spPr>
          <a:xfrm>
            <a:off x="2379235" y="4723329"/>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5"/>
          <p:cNvSpPr/>
          <p:nvPr/>
        </p:nvSpPr>
        <p:spPr>
          <a:xfrm>
            <a:off x="1268013" y="46080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6"/>
          <p:cNvSpPr/>
          <p:nvPr/>
        </p:nvSpPr>
        <p:spPr>
          <a:xfrm>
            <a:off x="1426759" y="4608029"/>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7"/>
          <p:cNvSpPr/>
          <p:nvPr/>
        </p:nvSpPr>
        <p:spPr>
          <a:xfrm>
            <a:off x="1585505" y="4608029"/>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08"/>
          <p:cNvSpPr/>
          <p:nvPr/>
        </p:nvSpPr>
        <p:spPr>
          <a:xfrm>
            <a:off x="1744251" y="4608029"/>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09"/>
          <p:cNvSpPr/>
          <p:nvPr/>
        </p:nvSpPr>
        <p:spPr>
          <a:xfrm>
            <a:off x="1902997" y="4608029"/>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0"/>
          <p:cNvSpPr/>
          <p:nvPr/>
        </p:nvSpPr>
        <p:spPr>
          <a:xfrm>
            <a:off x="2061743" y="4608029"/>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09_11"/>
          <p:cNvSpPr/>
          <p:nvPr/>
        </p:nvSpPr>
        <p:spPr>
          <a:xfrm>
            <a:off x="2220489" y="4608029"/>
            <a:ext cx="99157" cy="99157"/>
          </a:xfrm>
          <a:prstGeom prst="roundRect">
            <a:avLst>
              <a:gd name="adj" fmla="val 30000"/>
            </a:avLst>
          </a:prstGeom>
          <a:solidFill>
            <a:srgbClr val="1979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09_12"/>
          <p:cNvSpPr/>
          <p:nvPr/>
        </p:nvSpPr>
        <p:spPr>
          <a:xfrm>
            <a:off x="2379235" y="4608029"/>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6"/>
          <p:cNvSpPr/>
          <p:nvPr/>
        </p:nvSpPr>
        <p:spPr>
          <a:xfrm>
            <a:off x="1426759" y="4492729"/>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7"/>
          <p:cNvSpPr/>
          <p:nvPr/>
        </p:nvSpPr>
        <p:spPr>
          <a:xfrm>
            <a:off x="1585505" y="4492729"/>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08"/>
          <p:cNvSpPr/>
          <p:nvPr/>
        </p:nvSpPr>
        <p:spPr>
          <a:xfrm>
            <a:off x="1744251" y="4492729"/>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09"/>
          <p:cNvSpPr/>
          <p:nvPr/>
        </p:nvSpPr>
        <p:spPr>
          <a:xfrm>
            <a:off x="1902997" y="4492729"/>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0"/>
          <p:cNvSpPr/>
          <p:nvPr/>
        </p:nvSpPr>
        <p:spPr>
          <a:xfrm>
            <a:off x="2061743" y="44927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0_11"/>
          <p:cNvSpPr/>
          <p:nvPr/>
        </p:nvSpPr>
        <p:spPr>
          <a:xfrm>
            <a:off x="2220489" y="4492729"/>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0_12"/>
          <p:cNvSpPr/>
          <p:nvPr/>
        </p:nvSpPr>
        <p:spPr>
          <a:xfrm>
            <a:off x="2379235" y="4492729"/>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6"/>
          <p:cNvSpPr/>
          <p:nvPr/>
        </p:nvSpPr>
        <p:spPr>
          <a:xfrm>
            <a:off x="1426759" y="4377430"/>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7"/>
          <p:cNvSpPr/>
          <p:nvPr/>
        </p:nvSpPr>
        <p:spPr>
          <a:xfrm>
            <a:off x="1585505" y="4377430"/>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08"/>
          <p:cNvSpPr/>
          <p:nvPr/>
        </p:nvSpPr>
        <p:spPr>
          <a:xfrm>
            <a:off x="1744251" y="4377430"/>
            <a:ext cx="99157" cy="99157"/>
          </a:xfrm>
          <a:prstGeom prst="roundRect">
            <a:avLst>
              <a:gd name="adj" fmla="val 30000"/>
            </a:avLst>
          </a:prstGeom>
          <a:solidFill>
            <a:srgbClr val="1F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09"/>
          <p:cNvSpPr/>
          <p:nvPr/>
        </p:nvSpPr>
        <p:spPr>
          <a:xfrm>
            <a:off x="1902997" y="43774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0"/>
          <p:cNvSpPr/>
          <p:nvPr/>
        </p:nvSpPr>
        <p:spPr>
          <a:xfrm>
            <a:off x="2061743" y="4377430"/>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1_11"/>
          <p:cNvSpPr/>
          <p:nvPr/>
        </p:nvSpPr>
        <p:spPr>
          <a:xfrm>
            <a:off x="2220489" y="4377430"/>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1_12"/>
          <p:cNvSpPr/>
          <p:nvPr/>
        </p:nvSpPr>
        <p:spPr>
          <a:xfrm>
            <a:off x="2379235" y="43774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6"/>
          <p:cNvSpPr/>
          <p:nvPr/>
        </p:nvSpPr>
        <p:spPr>
          <a:xfrm>
            <a:off x="1426759" y="4262130"/>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7"/>
          <p:cNvSpPr/>
          <p:nvPr/>
        </p:nvSpPr>
        <p:spPr>
          <a:xfrm>
            <a:off x="1585505" y="4262130"/>
            <a:ext cx="99157" cy="99157"/>
          </a:xfrm>
          <a:prstGeom prst="roundRect">
            <a:avLst>
              <a:gd name="adj" fmla="val 30000"/>
            </a:avLst>
          </a:prstGeom>
          <a:solidFill>
            <a:srgbClr val="176E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08"/>
          <p:cNvSpPr/>
          <p:nvPr/>
        </p:nvSpPr>
        <p:spPr>
          <a:xfrm>
            <a:off x="1744251" y="42621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09"/>
          <p:cNvSpPr/>
          <p:nvPr/>
        </p:nvSpPr>
        <p:spPr>
          <a:xfrm>
            <a:off x="1902997" y="4262130"/>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0"/>
          <p:cNvSpPr/>
          <p:nvPr/>
        </p:nvSpPr>
        <p:spPr>
          <a:xfrm>
            <a:off x="2061743" y="42621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2_11"/>
          <p:cNvSpPr/>
          <p:nvPr/>
        </p:nvSpPr>
        <p:spPr>
          <a:xfrm>
            <a:off x="2220489" y="4262130"/>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2_12"/>
          <p:cNvSpPr/>
          <p:nvPr/>
        </p:nvSpPr>
        <p:spPr>
          <a:xfrm>
            <a:off x="2379235" y="4262130"/>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6"/>
          <p:cNvSpPr/>
          <p:nvPr/>
        </p:nvSpPr>
        <p:spPr>
          <a:xfrm>
            <a:off x="1426759" y="41468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7"/>
          <p:cNvSpPr/>
          <p:nvPr/>
        </p:nvSpPr>
        <p:spPr>
          <a:xfrm>
            <a:off x="1585505" y="4146830"/>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08"/>
          <p:cNvSpPr/>
          <p:nvPr/>
        </p:nvSpPr>
        <p:spPr>
          <a:xfrm>
            <a:off x="1744251" y="41468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09"/>
          <p:cNvSpPr/>
          <p:nvPr/>
        </p:nvSpPr>
        <p:spPr>
          <a:xfrm>
            <a:off x="1902997" y="4146830"/>
            <a:ext cx="99157" cy="99157"/>
          </a:xfrm>
          <a:prstGeom prst="roundRect">
            <a:avLst>
              <a:gd name="adj" fmla="val 30000"/>
            </a:avLst>
          </a:prstGeom>
          <a:solidFill>
            <a:srgbClr val="2B9A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0"/>
          <p:cNvSpPr/>
          <p:nvPr/>
        </p:nvSpPr>
        <p:spPr>
          <a:xfrm>
            <a:off x="2061743" y="41468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3_11"/>
          <p:cNvSpPr/>
          <p:nvPr/>
        </p:nvSpPr>
        <p:spPr>
          <a:xfrm>
            <a:off x="2220489" y="4146830"/>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3_12"/>
          <p:cNvSpPr/>
          <p:nvPr/>
        </p:nvSpPr>
        <p:spPr>
          <a:xfrm>
            <a:off x="2379235" y="4146830"/>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6"/>
          <p:cNvSpPr/>
          <p:nvPr/>
        </p:nvSpPr>
        <p:spPr>
          <a:xfrm>
            <a:off x="1426759" y="40315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7"/>
          <p:cNvSpPr/>
          <p:nvPr/>
        </p:nvSpPr>
        <p:spPr>
          <a:xfrm>
            <a:off x="1585505" y="4031530"/>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08"/>
          <p:cNvSpPr/>
          <p:nvPr/>
        </p:nvSpPr>
        <p:spPr>
          <a:xfrm>
            <a:off x="1744251" y="40315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09"/>
          <p:cNvSpPr/>
          <p:nvPr/>
        </p:nvSpPr>
        <p:spPr>
          <a:xfrm>
            <a:off x="1902997" y="40315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0"/>
          <p:cNvSpPr/>
          <p:nvPr/>
        </p:nvSpPr>
        <p:spPr>
          <a:xfrm>
            <a:off x="2061743" y="4031530"/>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4_11"/>
          <p:cNvSpPr/>
          <p:nvPr/>
        </p:nvSpPr>
        <p:spPr>
          <a:xfrm>
            <a:off x="2220489" y="4031530"/>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4_12"/>
          <p:cNvSpPr/>
          <p:nvPr/>
        </p:nvSpPr>
        <p:spPr>
          <a:xfrm>
            <a:off x="2379235" y="4031530"/>
            <a:ext cx="99157" cy="99157"/>
          </a:xfrm>
          <a:prstGeom prst="roundRect">
            <a:avLst>
              <a:gd name="adj" fmla="val 30000"/>
            </a:avLst>
          </a:prstGeom>
          <a:solidFill>
            <a:srgbClr val="1978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7"/>
          <p:cNvSpPr/>
          <p:nvPr/>
        </p:nvSpPr>
        <p:spPr>
          <a:xfrm>
            <a:off x="1585505" y="39162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08"/>
          <p:cNvSpPr/>
          <p:nvPr/>
        </p:nvSpPr>
        <p:spPr>
          <a:xfrm>
            <a:off x="1744251" y="3916231"/>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09"/>
          <p:cNvSpPr/>
          <p:nvPr/>
        </p:nvSpPr>
        <p:spPr>
          <a:xfrm>
            <a:off x="1902997" y="3916231"/>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0"/>
          <p:cNvSpPr/>
          <p:nvPr/>
        </p:nvSpPr>
        <p:spPr>
          <a:xfrm>
            <a:off x="2061743" y="3916231"/>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1"/>
          <p:cNvSpPr/>
          <p:nvPr/>
        </p:nvSpPr>
        <p:spPr>
          <a:xfrm>
            <a:off x="2220489" y="39162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5_12"/>
          <p:cNvSpPr/>
          <p:nvPr/>
        </p:nvSpPr>
        <p:spPr>
          <a:xfrm>
            <a:off x="2379235" y="3916231"/>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5_13"/>
          <p:cNvSpPr/>
          <p:nvPr/>
        </p:nvSpPr>
        <p:spPr>
          <a:xfrm>
            <a:off x="2537981" y="39162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7"/>
          <p:cNvSpPr/>
          <p:nvPr/>
        </p:nvSpPr>
        <p:spPr>
          <a:xfrm>
            <a:off x="1585505" y="3800931"/>
            <a:ext cx="99157" cy="99157"/>
          </a:xfrm>
          <a:prstGeom prst="roundRect">
            <a:avLst>
              <a:gd name="adj" fmla="val 30000"/>
            </a:avLst>
          </a:prstGeom>
          <a:solidFill>
            <a:srgbClr val="176C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08"/>
          <p:cNvSpPr/>
          <p:nvPr/>
        </p:nvSpPr>
        <p:spPr>
          <a:xfrm>
            <a:off x="1744251" y="3800931"/>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09"/>
          <p:cNvSpPr/>
          <p:nvPr/>
        </p:nvSpPr>
        <p:spPr>
          <a:xfrm>
            <a:off x="1902997" y="3800931"/>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0"/>
          <p:cNvSpPr/>
          <p:nvPr/>
        </p:nvSpPr>
        <p:spPr>
          <a:xfrm>
            <a:off x="2061743" y="3800931"/>
            <a:ext cx="99157" cy="99157"/>
          </a:xfrm>
          <a:prstGeom prst="roundRect">
            <a:avLst>
              <a:gd name="adj" fmla="val 30000"/>
            </a:avLst>
          </a:prstGeom>
          <a:solidFill>
            <a:srgbClr val="309E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1"/>
          <p:cNvSpPr/>
          <p:nvPr/>
        </p:nvSpPr>
        <p:spPr>
          <a:xfrm>
            <a:off x="2220489" y="38009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6_12"/>
          <p:cNvSpPr/>
          <p:nvPr/>
        </p:nvSpPr>
        <p:spPr>
          <a:xfrm>
            <a:off x="2379235" y="3800931"/>
            <a:ext cx="99157" cy="99157"/>
          </a:xfrm>
          <a:prstGeom prst="roundRect">
            <a:avLst>
              <a:gd name="adj" fmla="val 30000"/>
            </a:avLst>
          </a:prstGeom>
          <a:solidFill>
            <a:srgbClr val="1A7D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6_13"/>
          <p:cNvSpPr/>
          <p:nvPr/>
        </p:nvSpPr>
        <p:spPr>
          <a:xfrm>
            <a:off x="2537981" y="38009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7"/>
          <p:cNvSpPr/>
          <p:nvPr/>
        </p:nvSpPr>
        <p:spPr>
          <a:xfrm>
            <a:off x="1585505" y="36856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08"/>
          <p:cNvSpPr/>
          <p:nvPr/>
        </p:nvSpPr>
        <p:spPr>
          <a:xfrm>
            <a:off x="1744251" y="3685631"/>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09"/>
          <p:cNvSpPr/>
          <p:nvPr/>
        </p:nvSpPr>
        <p:spPr>
          <a:xfrm>
            <a:off x="1902997" y="3685631"/>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0"/>
          <p:cNvSpPr/>
          <p:nvPr/>
        </p:nvSpPr>
        <p:spPr>
          <a:xfrm>
            <a:off x="2061743" y="3685631"/>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1"/>
          <p:cNvSpPr/>
          <p:nvPr/>
        </p:nvSpPr>
        <p:spPr>
          <a:xfrm>
            <a:off x="2220489" y="3685631"/>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7_12"/>
          <p:cNvSpPr/>
          <p:nvPr/>
        </p:nvSpPr>
        <p:spPr>
          <a:xfrm>
            <a:off x="2379235" y="3685631"/>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7_13"/>
          <p:cNvSpPr/>
          <p:nvPr/>
        </p:nvSpPr>
        <p:spPr>
          <a:xfrm>
            <a:off x="2537981" y="3685631"/>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6"/>
          <p:cNvSpPr/>
          <p:nvPr/>
        </p:nvSpPr>
        <p:spPr>
          <a:xfrm>
            <a:off x="1426759"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7"/>
          <p:cNvSpPr/>
          <p:nvPr/>
        </p:nvSpPr>
        <p:spPr>
          <a:xfrm>
            <a:off x="1585505" y="3570331"/>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08"/>
          <p:cNvSpPr/>
          <p:nvPr/>
        </p:nvSpPr>
        <p:spPr>
          <a:xfrm>
            <a:off x="1744251" y="3570331"/>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09"/>
          <p:cNvSpPr/>
          <p:nvPr/>
        </p:nvSpPr>
        <p:spPr>
          <a:xfrm>
            <a:off x="1902997" y="35703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0"/>
          <p:cNvSpPr/>
          <p:nvPr/>
        </p:nvSpPr>
        <p:spPr>
          <a:xfrm>
            <a:off x="2061743" y="3570331"/>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1"/>
          <p:cNvSpPr/>
          <p:nvPr/>
        </p:nvSpPr>
        <p:spPr>
          <a:xfrm>
            <a:off x="2220489" y="3570331"/>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8_12"/>
          <p:cNvSpPr/>
          <p:nvPr/>
        </p:nvSpPr>
        <p:spPr>
          <a:xfrm>
            <a:off x="2379235" y="3570331"/>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8_13"/>
          <p:cNvSpPr/>
          <p:nvPr/>
        </p:nvSpPr>
        <p:spPr>
          <a:xfrm>
            <a:off x="2537981" y="35703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6"/>
          <p:cNvSpPr/>
          <p:nvPr/>
        </p:nvSpPr>
        <p:spPr>
          <a:xfrm>
            <a:off x="1426759" y="34550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7"/>
          <p:cNvSpPr/>
          <p:nvPr/>
        </p:nvSpPr>
        <p:spPr>
          <a:xfrm>
            <a:off x="1585505" y="34550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08"/>
          <p:cNvSpPr/>
          <p:nvPr/>
        </p:nvSpPr>
        <p:spPr>
          <a:xfrm>
            <a:off x="1744251" y="3455032"/>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09"/>
          <p:cNvSpPr/>
          <p:nvPr/>
        </p:nvSpPr>
        <p:spPr>
          <a:xfrm>
            <a:off x="1902997" y="3455032"/>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0"/>
          <p:cNvSpPr/>
          <p:nvPr/>
        </p:nvSpPr>
        <p:spPr>
          <a:xfrm>
            <a:off x="2061743" y="34550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1"/>
          <p:cNvSpPr/>
          <p:nvPr/>
        </p:nvSpPr>
        <p:spPr>
          <a:xfrm>
            <a:off x="2220489" y="34550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19_12"/>
          <p:cNvSpPr/>
          <p:nvPr/>
        </p:nvSpPr>
        <p:spPr>
          <a:xfrm>
            <a:off x="2379235" y="3455032"/>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19_13"/>
          <p:cNvSpPr/>
          <p:nvPr/>
        </p:nvSpPr>
        <p:spPr>
          <a:xfrm>
            <a:off x="2537981" y="3455032"/>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6"/>
          <p:cNvSpPr/>
          <p:nvPr/>
        </p:nvSpPr>
        <p:spPr>
          <a:xfrm>
            <a:off x="1426759" y="3339732"/>
            <a:ext cx="99157" cy="99157"/>
          </a:xfrm>
          <a:prstGeom prst="roundRect">
            <a:avLst>
              <a:gd name="adj" fmla="val 30000"/>
            </a:avLst>
          </a:prstGeom>
          <a:solidFill>
            <a:srgbClr val="1668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7"/>
          <p:cNvSpPr/>
          <p:nvPr/>
        </p:nvSpPr>
        <p:spPr>
          <a:xfrm>
            <a:off x="1585505" y="33397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08"/>
          <p:cNvSpPr/>
          <p:nvPr/>
        </p:nvSpPr>
        <p:spPr>
          <a:xfrm>
            <a:off x="1744251" y="3339732"/>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09"/>
          <p:cNvSpPr/>
          <p:nvPr/>
        </p:nvSpPr>
        <p:spPr>
          <a:xfrm>
            <a:off x="1902997" y="3339732"/>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0"/>
          <p:cNvSpPr/>
          <p:nvPr/>
        </p:nvSpPr>
        <p:spPr>
          <a:xfrm>
            <a:off x="2061743" y="33397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1"/>
          <p:cNvSpPr/>
          <p:nvPr/>
        </p:nvSpPr>
        <p:spPr>
          <a:xfrm>
            <a:off x="2220489" y="3339732"/>
            <a:ext cx="99157" cy="99157"/>
          </a:xfrm>
          <a:prstGeom prst="roundRect">
            <a:avLst>
              <a:gd name="adj" fmla="val 30000"/>
            </a:avLst>
          </a:prstGeom>
          <a:solidFill>
            <a:srgbClr val="26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0_12"/>
          <p:cNvSpPr/>
          <p:nvPr/>
        </p:nvSpPr>
        <p:spPr>
          <a:xfrm>
            <a:off x="2379235" y="3339732"/>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0_13"/>
          <p:cNvSpPr/>
          <p:nvPr/>
        </p:nvSpPr>
        <p:spPr>
          <a:xfrm>
            <a:off x="2537981" y="3339732"/>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5"/>
          <p:cNvSpPr/>
          <p:nvPr/>
        </p:nvSpPr>
        <p:spPr>
          <a:xfrm>
            <a:off x="1268013" y="3224432"/>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6"/>
          <p:cNvSpPr/>
          <p:nvPr/>
        </p:nvSpPr>
        <p:spPr>
          <a:xfrm>
            <a:off x="1426759" y="32244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7"/>
          <p:cNvSpPr/>
          <p:nvPr/>
        </p:nvSpPr>
        <p:spPr>
          <a:xfrm>
            <a:off x="1585505" y="3224432"/>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08"/>
          <p:cNvSpPr/>
          <p:nvPr/>
        </p:nvSpPr>
        <p:spPr>
          <a:xfrm>
            <a:off x="1744251" y="3224432"/>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09"/>
          <p:cNvSpPr/>
          <p:nvPr/>
        </p:nvSpPr>
        <p:spPr>
          <a:xfrm>
            <a:off x="1902997" y="32244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0"/>
          <p:cNvSpPr/>
          <p:nvPr/>
        </p:nvSpPr>
        <p:spPr>
          <a:xfrm>
            <a:off x="2061743" y="3224432"/>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1"/>
          <p:cNvSpPr/>
          <p:nvPr/>
        </p:nvSpPr>
        <p:spPr>
          <a:xfrm>
            <a:off x="2220489" y="3224432"/>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1_12"/>
          <p:cNvSpPr/>
          <p:nvPr/>
        </p:nvSpPr>
        <p:spPr>
          <a:xfrm>
            <a:off x="2379235" y="3224432"/>
            <a:ext cx="99157" cy="99157"/>
          </a:xfrm>
          <a:prstGeom prst="roundRect">
            <a:avLst>
              <a:gd name="adj" fmla="val 30000"/>
            </a:avLst>
          </a:prstGeom>
          <a:solidFill>
            <a:srgbClr val="2A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1_13"/>
          <p:cNvSpPr/>
          <p:nvPr/>
        </p:nvSpPr>
        <p:spPr>
          <a:xfrm>
            <a:off x="2537981" y="3224432"/>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5"/>
          <p:cNvSpPr/>
          <p:nvPr/>
        </p:nvSpPr>
        <p:spPr>
          <a:xfrm>
            <a:off x="1268013" y="31091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6"/>
          <p:cNvSpPr/>
          <p:nvPr/>
        </p:nvSpPr>
        <p:spPr>
          <a:xfrm>
            <a:off x="1426759" y="31091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7"/>
          <p:cNvSpPr/>
          <p:nvPr/>
        </p:nvSpPr>
        <p:spPr>
          <a:xfrm>
            <a:off x="1585505" y="3109132"/>
            <a:ext cx="99157" cy="99157"/>
          </a:xfrm>
          <a:prstGeom prst="roundRect">
            <a:avLst>
              <a:gd name="adj" fmla="val 30000"/>
            </a:avLst>
          </a:prstGeom>
          <a:solidFill>
            <a:srgbClr val="34A2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08"/>
          <p:cNvSpPr/>
          <p:nvPr/>
        </p:nvSpPr>
        <p:spPr>
          <a:xfrm>
            <a:off x="1744251" y="3109132"/>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09"/>
          <p:cNvSpPr/>
          <p:nvPr/>
        </p:nvSpPr>
        <p:spPr>
          <a:xfrm>
            <a:off x="1902997" y="31091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0"/>
          <p:cNvSpPr/>
          <p:nvPr/>
        </p:nvSpPr>
        <p:spPr>
          <a:xfrm>
            <a:off x="2061743" y="3109132"/>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1"/>
          <p:cNvSpPr/>
          <p:nvPr/>
        </p:nvSpPr>
        <p:spPr>
          <a:xfrm>
            <a:off x="2220489" y="3109132"/>
            <a:ext cx="99157" cy="99157"/>
          </a:xfrm>
          <a:prstGeom prst="roundRect">
            <a:avLst>
              <a:gd name="adj" fmla="val 30000"/>
            </a:avLst>
          </a:prstGeom>
          <a:solidFill>
            <a:srgbClr val="2B99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2_12"/>
          <p:cNvSpPr/>
          <p:nvPr/>
        </p:nvSpPr>
        <p:spPr>
          <a:xfrm>
            <a:off x="2379235" y="3109132"/>
            <a:ext cx="99157" cy="99157"/>
          </a:xfrm>
          <a:prstGeom prst="roundRect">
            <a:avLst>
              <a:gd name="adj" fmla="val 30000"/>
            </a:avLst>
          </a:prstGeom>
          <a:solidFill>
            <a:srgbClr val="30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2_13"/>
          <p:cNvSpPr/>
          <p:nvPr/>
        </p:nvSpPr>
        <p:spPr>
          <a:xfrm>
            <a:off x="2537981" y="3109132"/>
            <a:ext cx="99157" cy="99157"/>
          </a:xfrm>
          <a:prstGeom prst="roundRect">
            <a:avLst>
              <a:gd name="adj" fmla="val 30000"/>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4"/>
          <p:cNvSpPr/>
          <p:nvPr/>
        </p:nvSpPr>
        <p:spPr>
          <a:xfrm>
            <a:off x="1109267" y="2993833"/>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5"/>
          <p:cNvSpPr/>
          <p:nvPr/>
        </p:nvSpPr>
        <p:spPr>
          <a:xfrm>
            <a:off x="1268013" y="2993833"/>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6"/>
          <p:cNvSpPr/>
          <p:nvPr/>
        </p:nvSpPr>
        <p:spPr>
          <a:xfrm>
            <a:off x="1426759" y="2993833"/>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7"/>
          <p:cNvSpPr/>
          <p:nvPr/>
        </p:nvSpPr>
        <p:spPr>
          <a:xfrm>
            <a:off x="1585505" y="2993833"/>
            <a:ext cx="99157" cy="99157"/>
          </a:xfrm>
          <a:prstGeom prst="roundRect">
            <a:avLst>
              <a:gd name="adj" fmla="val 30000"/>
            </a:avLst>
          </a:prstGeom>
          <a:solidFill>
            <a:srgbClr val="44B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08"/>
          <p:cNvSpPr/>
          <p:nvPr/>
        </p:nvSpPr>
        <p:spPr>
          <a:xfrm>
            <a:off x="1744251" y="29938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09"/>
          <p:cNvSpPr/>
          <p:nvPr/>
        </p:nvSpPr>
        <p:spPr>
          <a:xfrm>
            <a:off x="1902997" y="2993833"/>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0"/>
          <p:cNvSpPr/>
          <p:nvPr/>
        </p:nvSpPr>
        <p:spPr>
          <a:xfrm>
            <a:off x="2061743" y="2993833"/>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1"/>
          <p:cNvSpPr/>
          <p:nvPr/>
        </p:nvSpPr>
        <p:spPr>
          <a:xfrm>
            <a:off x="2220489" y="2993833"/>
            <a:ext cx="99157" cy="99157"/>
          </a:xfrm>
          <a:prstGeom prst="roundRect">
            <a:avLst>
              <a:gd name="adj" fmla="val 30000"/>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2"/>
          <p:cNvSpPr/>
          <p:nvPr/>
        </p:nvSpPr>
        <p:spPr>
          <a:xfrm>
            <a:off x="2379235" y="29938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3_13"/>
          <p:cNvSpPr/>
          <p:nvPr/>
        </p:nvSpPr>
        <p:spPr>
          <a:xfrm>
            <a:off x="2537981" y="29938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3_14"/>
          <p:cNvSpPr/>
          <p:nvPr/>
        </p:nvSpPr>
        <p:spPr>
          <a:xfrm>
            <a:off x="2696727" y="2993833"/>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4"/>
          <p:cNvSpPr/>
          <p:nvPr/>
        </p:nvSpPr>
        <p:spPr>
          <a:xfrm>
            <a:off x="1109267" y="2878533"/>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5"/>
          <p:cNvSpPr/>
          <p:nvPr/>
        </p:nvSpPr>
        <p:spPr>
          <a:xfrm>
            <a:off x="1268013" y="2878533"/>
            <a:ext cx="99157" cy="99157"/>
          </a:xfrm>
          <a:prstGeom prst="roundRect">
            <a:avLst>
              <a:gd name="adj" fmla="val 30000"/>
            </a:avLst>
          </a:prstGeom>
          <a:solidFill>
            <a:srgbClr val="38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6"/>
          <p:cNvSpPr/>
          <p:nvPr/>
        </p:nvSpPr>
        <p:spPr>
          <a:xfrm>
            <a:off x="1426759" y="2878533"/>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7"/>
          <p:cNvSpPr/>
          <p:nvPr/>
        </p:nvSpPr>
        <p:spPr>
          <a:xfrm>
            <a:off x="1585505" y="2878533"/>
            <a:ext cx="99157" cy="99157"/>
          </a:xfrm>
          <a:prstGeom prst="roundRect">
            <a:avLst>
              <a:gd name="adj" fmla="val 30000"/>
            </a:avLst>
          </a:prstGeom>
          <a:solidFill>
            <a:srgbClr val="4DB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08"/>
          <p:cNvSpPr/>
          <p:nvPr/>
        </p:nvSpPr>
        <p:spPr>
          <a:xfrm>
            <a:off x="1744251" y="2878533"/>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09"/>
          <p:cNvSpPr/>
          <p:nvPr/>
        </p:nvSpPr>
        <p:spPr>
          <a:xfrm>
            <a:off x="1902997" y="28785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0"/>
          <p:cNvSpPr/>
          <p:nvPr/>
        </p:nvSpPr>
        <p:spPr>
          <a:xfrm>
            <a:off x="2061743" y="28785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1"/>
          <p:cNvSpPr/>
          <p:nvPr/>
        </p:nvSpPr>
        <p:spPr>
          <a:xfrm>
            <a:off x="2220489" y="2878533"/>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2"/>
          <p:cNvSpPr/>
          <p:nvPr/>
        </p:nvSpPr>
        <p:spPr>
          <a:xfrm>
            <a:off x="2379235" y="2878533"/>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4_13"/>
          <p:cNvSpPr/>
          <p:nvPr/>
        </p:nvSpPr>
        <p:spPr>
          <a:xfrm>
            <a:off x="2537981" y="2878533"/>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4_14"/>
          <p:cNvSpPr/>
          <p:nvPr/>
        </p:nvSpPr>
        <p:spPr>
          <a:xfrm>
            <a:off x="2696727" y="2878533"/>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4"/>
          <p:cNvSpPr/>
          <p:nvPr/>
        </p:nvSpPr>
        <p:spPr>
          <a:xfrm>
            <a:off x="1109267" y="2763233"/>
            <a:ext cx="99157" cy="99157"/>
          </a:xfrm>
          <a:prstGeom prst="roundRect">
            <a:avLst>
              <a:gd name="adj" fmla="val 30000"/>
            </a:avLst>
          </a:prstGeom>
          <a:solidFill>
            <a:srgbClr val="1C88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5"/>
          <p:cNvSpPr/>
          <p:nvPr/>
        </p:nvSpPr>
        <p:spPr>
          <a:xfrm>
            <a:off x="1268013" y="2763233"/>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6"/>
          <p:cNvSpPr/>
          <p:nvPr/>
        </p:nvSpPr>
        <p:spPr>
          <a:xfrm>
            <a:off x="1426759" y="2763233"/>
            <a:ext cx="99157" cy="99157"/>
          </a:xfrm>
          <a:prstGeom prst="roundRect">
            <a:avLst>
              <a:gd name="adj" fmla="val 30000"/>
            </a:avLst>
          </a:prstGeom>
          <a:solidFill>
            <a:srgbClr val="4CB7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7"/>
          <p:cNvSpPr/>
          <p:nvPr/>
        </p:nvSpPr>
        <p:spPr>
          <a:xfrm>
            <a:off x="1585505" y="2763233"/>
            <a:ext cx="99157" cy="99157"/>
          </a:xfrm>
          <a:prstGeom prst="roundRect">
            <a:avLst>
              <a:gd name="adj" fmla="val 30000"/>
            </a:avLst>
          </a:prstGeom>
          <a:solidFill>
            <a:srgbClr val="4CB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08"/>
          <p:cNvSpPr/>
          <p:nvPr/>
        </p:nvSpPr>
        <p:spPr>
          <a:xfrm>
            <a:off x="1744251" y="27632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09"/>
          <p:cNvSpPr/>
          <p:nvPr/>
        </p:nvSpPr>
        <p:spPr>
          <a:xfrm>
            <a:off x="1902997" y="2763233"/>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0"/>
          <p:cNvSpPr/>
          <p:nvPr/>
        </p:nvSpPr>
        <p:spPr>
          <a:xfrm>
            <a:off x="2061743"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1"/>
          <p:cNvSpPr/>
          <p:nvPr/>
        </p:nvSpPr>
        <p:spPr>
          <a:xfrm>
            <a:off x="2220489" y="27632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2"/>
          <p:cNvSpPr/>
          <p:nvPr/>
        </p:nvSpPr>
        <p:spPr>
          <a:xfrm>
            <a:off x="2379235" y="2763233"/>
            <a:ext cx="99157" cy="99157"/>
          </a:xfrm>
          <a:prstGeom prst="roundRect">
            <a:avLst>
              <a:gd name="adj" fmla="val 30000"/>
            </a:avLst>
          </a:prstGeom>
          <a:solidFill>
            <a:srgbClr val="1E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5_13"/>
          <p:cNvSpPr/>
          <p:nvPr/>
        </p:nvSpPr>
        <p:spPr>
          <a:xfrm>
            <a:off x="2537981"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5_14"/>
          <p:cNvSpPr/>
          <p:nvPr/>
        </p:nvSpPr>
        <p:spPr>
          <a:xfrm>
            <a:off x="2696727" y="2763233"/>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3"/>
          <p:cNvSpPr/>
          <p:nvPr/>
        </p:nvSpPr>
        <p:spPr>
          <a:xfrm>
            <a:off x="950521" y="2647933"/>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4"/>
          <p:cNvSpPr/>
          <p:nvPr/>
        </p:nvSpPr>
        <p:spPr>
          <a:xfrm>
            <a:off x="1109267" y="2647933"/>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5"/>
          <p:cNvSpPr/>
          <p:nvPr/>
        </p:nvSpPr>
        <p:spPr>
          <a:xfrm>
            <a:off x="1268013" y="2647933"/>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6"/>
          <p:cNvSpPr/>
          <p:nvPr/>
        </p:nvSpPr>
        <p:spPr>
          <a:xfrm>
            <a:off x="1426759" y="2647933"/>
            <a:ext cx="99157" cy="99157"/>
          </a:xfrm>
          <a:prstGeom prst="roundRect">
            <a:avLst>
              <a:gd name="adj" fmla="val 30000"/>
            </a:avLst>
          </a:prstGeom>
          <a:solidFill>
            <a:srgbClr val="43AF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7"/>
          <p:cNvSpPr/>
          <p:nvPr/>
        </p:nvSpPr>
        <p:spPr>
          <a:xfrm>
            <a:off x="1585505" y="2647933"/>
            <a:ext cx="99157" cy="99157"/>
          </a:xfrm>
          <a:prstGeom prst="roundRect">
            <a:avLst>
              <a:gd name="adj" fmla="val 30000"/>
            </a:avLst>
          </a:prstGeom>
          <a:solidFill>
            <a:srgbClr val="40AD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08"/>
          <p:cNvSpPr/>
          <p:nvPr/>
        </p:nvSpPr>
        <p:spPr>
          <a:xfrm>
            <a:off x="1744251" y="2647933"/>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09"/>
          <p:cNvSpPr/>
          <p:nvPr/>
        </p:nvSpPr>
        <p:spPr>
          <a:xfrm>
            <a:off x="1902997" y="2647933"/>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0"/>
          <p:cNvSpPr/>
          <p:nvPr/>
        </p:nvSpPr>
        <p:spPr>
          <a:xfrm>
            <a:off x="2061743" y="2647933"/>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1"/>
          <p:cNvSpPr/>
          <p:nvPr/>
        </p:nvSpPr>
        <p:spPr>
          <a:xfrm>
            <a:off x="2220489" y="2647933"/>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2"/>
          <p:cNvSpPr/>
          <p:nvPr/>
        </p:nvSpPr>
        <p:spPr>
          <a:xfrm>
            <a:off x="2379235" y="2647933"/>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6_13"/>
          <p:cNvSpPr/>
          <p:nvPr/>
        </p:nvSpPr>
        <p:spPr>
          <a:xfrm>
            <a:off x="2537981" y="2647933"/>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6_14"/>
          <p:cNvSpPr/>
          <p:nvPr/>
        </p:nvSpPr>
        <p:spPr>
          <a:xfrm>
            <a:off x="2696727" y="2647933"/>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4"/>
          <p:cNvSpPr/>
          <p:nvPr/>
        </p:nvSpPr>
        <p:spPr>
          <a:xfrm>
            <a:off x="1109267" y="2532634"/>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5"/>
          <p:cNvSpPr/>
          <p:nvPr/>
        </p:nvSpPr>
        <p:spPr>
          <a:xfrm>
            <a:off x="1268013" y="2532634"/>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6"/>
          <p:cNvSpPr/>
          <p:nvPr/>
        </p:nvSpPr>
        <p:spPr>
          <a:xfrm>
            <a:off x="1426759" y="2532634"/>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7"/>
          <p:cNvSpPr/>
          <p:nvPr/>
        </p:nvSpPr>
        <p:spPr>
          <a:xfrm>
            <a:off x="1585505" y="2532634"/>
            <a:ext cx="99157" cy="99157"/>
          </a:xfrm>
          <a:prstGeom prst="roundRect">
            <a:avLst>
              <a:gd name="adj" fmla="val 30000"/>
            </a:avLst>
          </a:prstGeom>
          <a:solidFill>
            <a:srgbClr val="2C9A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08"/>
          <p:cNvSpPr/>
          <p:nvPr/>
        </p:nvSpPr>
        <p:spPr>
          <a:xfrm>
            <a:off x="1744251" y="25326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09"/>
          <p:cNvSpPr/>
          <p:nvPr/>
        </p:nvSpPr>
        <p:spPr>
          <a:xfrm>
            <a:off x="1902997" y="2532634"/>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0"/>
          <p:cNvSpPr/>
          <p:nvPr/>
        </p:nvSpPr>
        <p:spPr>
          <a:xfrm>
            <a:off x="2061743" y="2532634"/>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1"/>
          <p:cNvSpPr/>
          <p:nvPr/>
        </p:nvSpPr>
        <p:spPr>
          <a:xfrm>
            <a:off x="2220489" y="25326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2"/>
          <p:cNvSpPr/>
          <p:nvPr/>
        </p:nvSpPr>
        <p:spPr>
          <a:xfrm>
            <a:off x="2379235" y="25326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7_13"/>
          <p:cNvSpPr/>
          <p:nvPr/>
        </p:nvSpPr>
        <p:spPr>
          <a:xfrm>
            <a:off x="2537981" y="2532634"/>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7_14"/>
          <p:cNvSpPr/>
          <p:nvPr/>
        </p:nvSpPr>
        <p:spPr>
          <a:xfrm>
            <a:off x="2696727" y="25326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3"/>
          <p:cNvSpPr/>
          <p:nvPr/>
        </p:nvSpPr>
        <p:spPr>
          <a:xfrm>
            <a:off x="950521" y="24173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4"/>
          <p:cNvSpPr/>
          <p:nvPr/>
        </p:nvSpPr>
        <p:spPr>
          <a:xfrm>
            <a:off x="1109267" y="24173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5"/>
          <p:cNvSpPr/>
          <p:nvPr/>
        </p:nvSpPr>
        <p:spPr>
          <a:xfrm>
            <a:off x="1268013"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6"/>
          <p:cNvSpPr/>
          <p:nvPr/>
        </p:nvSpPr>
        <p:spPr>
          <a:xfrm>
            <a:off x="1426759" y="2417334"/>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7"/>
          <p:cNvSpPr/>
          <p:nvPr/>
        </p:nvSpPr>
        <p:spPr>
          <a:xfrm>
            <a:off x="1585505"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08"/>
          <p:cNvSpPr/>
          <p:nvPr/>
        </p:nvSpPr>
        <p:spPr>
          <a:xfrm>
            <a:off x="1744251" y="2417334"/>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09"/>
          <p:cNvSpPr/>
          <p:nvPr/>
        </p:nvSpPr>
        <p:spPr>
          <a:xfrm>
            <a:off x="1902997" y="2417334"/>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0"/>
          <p:cNvSpPr/>
          <p:nvPr/>
        </p:nvSpPr>
        <p:spPr>
          <a:xfrm>
            <a:off x="2061743"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1"/>
          <p:cNvSpPr/>
          <p:nvPr/>
        </p:nvSpPr>
        <p:spPr>
          <a:xfrm>
            <a:off x="2220489" y="24173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2"/>
          <p:cNvSpPr/>
          <p:nvPr/>
        </p:nvSpPr>
        <p:spPr>
          <a:xfrm>
            <a:off x="2379235"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8_13"/>
          <p:cNvSpPr/>
          <p:nvPr/>
        </p:nvSpPr>
        <p:spPr>
          <a:xfrm>
            <a:off x="2537981" y="2417334"/>
            <a:ext cx="99157" cy="99157"/>
          </a:xfrm>
          <a:prstGeom prst="roundRect">
            <a:avLst>
              <a:gd name="adj" fmla="val 30000"/>
            </a:avLst>
          </a:prstGeom>
          <a:solidFill>
            <a:srgbClr val="0C37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3"/>
          <p:cNvSpPr/>
          <p:nvPr/>
        </p:nvSpPr>
        <p:spPr>
          <a:xfrm>
            <a:off x="950521" y="2302034"/>
            <a:ext cx="99157" cy="99157"/>
          </a:xfrm>
          <a:prstGeom prst="roundRect">
            <a:avLst>
              <a:gd name="adj" fmla="val 30000"/>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4"/>
          <p:cNvSpPr/>
          <p:nvPr/>
        </p:nvSpPr>
        <p:spPr>
          <a:xfrm>
            <a:off x="1109267" y="23020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5"/>
          <p:cNvSpPr/>
          <p:nvPr/>
        </p:nvSpPr>
        <p:spPr>
          <a:xfrm>
            <a:off x="1268013" y="23020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6"/>
          <p:cNvSpPr/>
          <p:nvPr/>
        </p:nvSpPr>
        <p:spPr>
          <a:xfrm>
            <a:off x="1426759" y="2302034"/>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7"/>
          <p:cNvSpPr/>
          <p:nvPr/>
        </p:nvSpPr>
        <p:spPr>
          <a:xfrm>
            <a:off x="1585505"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08"/>
          <p:cNvSpPr/>
          <p:nvPr/>
        </p:nvSpPr>
        <p:spPr>
          <a:xfrm>
            <a:off x="1744251" y="23020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09"/>
          <p:cNvSpPr/>
          <p:nvPr/>
        </p:nvSpPr>
        <p:spPr>
          <a:xfrm>
            <a:off x="1902997" y="2302034"/>
            <a:ext cx="99157" cy="99157"/>
          </a:xfrm>
          <a:prstGeom prst="roundRect">
            <a:avLst>
              <a:gd name="adj" fmla="val 30000"/>
            </a:avLst>
          </a:prstGeom>
          <a:solidFill>
            <a:srgbClr val="0D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0"/>
          <p:cNvSpPr/>
          <p:nvPr/>
        </p:nvSpPr>
        <p:spPr>
          <a:xfrm>
            <a:off x="2061743" y="23020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1"/>
          <p:cNvSpPr/>
          <p:nvPr/>
        </p:nvSpPr>
        <p:spPr>
          <a:xfrm>
            <a:off x="2220489" y="2302034"/>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29_12"/>
          <p:cNvSpPr/>
          <p:nvPr/>
        </p:nvSpPr>
        <p:spPr>
          <a:xfrm>
            <a:off x="2379235" y="2302034"/>
            <a:ext cx="99157" cy="99157"/>
          </a:xfrm>
          <a:prstGeom prst="roundRect">
            <a:avLst>
              <a:gd name="adj" fmla="val 30000"/>
            </a:avLst>
          </a:prstGeom>
          <a:solidFill>
            <a:srgbClr val="0B34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29_13"/>
          <p:cNvSpPr/>
          <p:nvPr/>
        </p:nvSpPr>
        <p:spPr>
          <a:xfrm>
            <a:off x="2537981" y="2302034"/>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3"/>
          <p:cNvSpPr/>
          <p:nvPr/>
        </p:nvSpPr>
        <p:spPr>
          <a:xfrm>
            <a:off x="950521" y="2186734"/>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4"/>
          <p:cNvSpPr/>
          <p:nvPr/>
        </p:nvSpPr>
        <p:spPr>
          <a:xfrm>
            <a:off x="1109267" y="21867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5"/>
          <p:cNvSpPr/>
          <p:nvPr/>
        </p:nvSpPr>
        <p:spPr>
          <a:xfrm>
            <a:off x="1268013" y="21867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6"/>
          <p:cNvSpPr/>
          <p:nvPr/>
        </p:nvSpPr>
        <p:spPr>
          <a:xfrm>
            <a:off x="1426759"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7"/>
          <p:cNvSpPr/>
          <p:nvPr/>
        </p:nvSpPr>
        <p:spPr>
          <a:xfrm>
            <a:off x="1585505" y="2186734"/>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1"/>
          <p:cNvSpPr/>
          <p:nvPr/>
        </p:nvSpPr>
        <p:spPr>
          <a:xfrm>
            <a:off x="2220489" y="21867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0_12"/>
          <p:cNvSpPr/>
          <p:nvPr/>
        </p:nvSpPr>
        <p:spPr>
          <a:xfrm>
            <a:off x="2379235" y="21867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0_13"/>
          <p:cNvSpPr/>
          <p:nvPr/>
        </p:nvSpPr>
        <p:spPr>
          <a:xfrm>
            <a:off x="2537981" y="2186734"/>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4"/>
          <p:cNvSpPr/>
          <p:nvPr/>
        </p:nvSpPr>
        <p:spPr>
          <a:xfrm>
            <a:off x="1109267" y="2071435"/>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6"/>
          <p:cNvSpPr/>
          <p:nvPr/>
        </p:nvSpPr>
        <p:spPr>
          <a:xfrm>
            <a:off x="1426759" y="2071435"/>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7"/>
          <p:cNvSpPr/>
          <p:nvPr/>
        </p:nvSpPr>
        <p:spPr>
          <a:xfrm>
            <a:off x="1585505" y="2071435"/>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08"/>
          <p:cNvSpPr/>
          <p:nvPr/>
        </p:nvSpPr>
        <p:spPr>
          <a:xfrm>
            <a:off x="1744251" y="2071435"/>
            <a:ext cx="99157" cy="99157"/>
          </a:xfrm>
          <a:prstGeom prst="roundRect">
            <a:avLst>
              <a:gd name="adj" fmla="val 30000"/>
            </a:avLst>
          </a:prstGeom>
          <a:solidFill>
            <a:srgbClr val="0B34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09"/>
          <p:cNvSpPr/>
          <p:nvPr/>
        </p:nvSpPr>
        <p:spPr>
          <a:xfrm>
            <a:off x="1902997" y="2071435"/>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0"/>
          <p:cNvSpPr/>
          <p:nvPr/>
        </p:nvSpPr>
        <p:spPr>
          <a:xfrm>
            <a:off x="2061743" y="20714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1"/>
          <p:cNvSpPr/>
          <p:nvPr/>
        </p:nvSpPr>
        <p:spPr>
          <a:xfrm>
            <a:off x="2220489" y="20714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1_12"/>
          <p:cNvSpPr/>
          <p:nvPr/>
        </p:nvSpPr>
        <p:spPr>
          <a:xfrm>
            <a:off x="2379235" y="20714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1_13"/>
          <p:cNvSpPr/>
          <p:nvPr/>
        </p:nvSpPr>
        <p:spPr>
          <a:xfrm>
            <a:off x="2537981" y="20714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3"/>
          <p:cNvSpPr/>
          <p:nvPr/>
        </p:nvSpPr>
        <p:spPr>
          <a:xfrm>
            <a:off x="950521" y="1956135"/>
            <a:ext cx="99157" cy="99157"/>
          </a:xfrm>
          <a:prstGeom prst="roundRect">
            <a:avLst>
              <a:gd name="adj" fmla="val 30000"/>
            </a:avLst>
          </a:prstGeom>
          <a:solidFill>
            <a:srgbClr val="0B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4"/>
          <p:cNvSpPr/>
          <p:nvPr/>
        </p:nvSpPr>
        <p:spPr>
          <a:xfrm>
            <a:off x="1109267" y="1956135"/>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5"/>
          <p:cNvSpPr/>
          <p:nvPr/>
        </p:nvSpPr>
        <p:spPr>
          <a:xfrm>
            <a:off x="1268013" y="1956135"/>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6"/>
          <p:cNvSpPr/>
          <p:nvPr/>
        </p:nvSpPr>
        <p:spPr>
          <a:xfrm>
            <a:off x="1426759" y="1956135"/>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7"/>
          <p:cNvSpPr/>
          <p:nvPr/>
        </p:nvSpPr>
        <p:spPr>
          <a:xfrm>
            <a:off x="1585505" y="19561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08"/>
          <p:cNvSpPr/>
          <p:nvPr/>
        </p:nvSpPr>
        <p:spPr>
          <a:xfrm>
            <a:off x="1744251"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09"/>
          <p:cNvSpPr/>
          <p:nvPr/>
        </p:nvSpPr>
        <p:spPr>
          <a:xfrm>
            <a:off x="1902997"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0"/>
          <p:cNvSpPr/>
          <p:nvPr/>
        </p:nvSpPr>
        <p:spPr>
          <a:xfrm>
            <a:off x="2061743"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2_11"/>
          <p:cNvSpPr/>
          <p:nvPr/>
        </p:nvSpPr>
        <p:spPr>
          <a:xfrm>
            <a:off x="2220489" y="19561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2_12"/>
          <p:cNvSpPr/>
          <p:nvPr/>
        </p:nvSpPr>
        <p:spPr>
          <a:xfrm>
            <a:off x="2379235" y="1956135"/>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3"/>
          <p:cNvSpPr/>
          <p:nvPr/>
        </p:nvSpPr>
        <p:spPr>
          <a:xfrm>
            <a:off x="950521" y="1840835"/>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4"/>
          <p:cNvSpPr/>
          <p:nvPr/>
        </p:nvSpPr>
        <p:spPr>
          <a:xfrm>
            <a:off x="1109267" y="1840835"/>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5"/>
          <p:cNvSpPr/>
          <p:nvPr/>
        </p:nvSpPr>
        <p:spPr>
          <a:xfrm>
            <a:off x="1268013" y="1840835"/>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6"/>
          <p:cNvSpPr/>
          <p:nvPr/>
        </p:nvSpPr>
        <p:spPr>
          <a:xfrm>
            <a:off x="1426759" y="18408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7"/>
          <p:cNvSpPr/>
          <p:nvPr/>
        </p:nvSpPr>
        <p:spPr>
          <a:xfrm>
            <a:off x="1585505" y="18408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08"/>
          <p:cNvSpPr/>
          <p:nvPr/>
        </p:nvSpPr>
        <p:spPr>
          <a:xfrm>
            <a:off x="1744251" y="18408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09"/>
          <p:cNvSpPr/>
          <p:nvPr/>
        </p:nvSpPr>
        <p:spPr>
          <a:xfrm>
            <a:off x="1902997" y="18408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0"/>
          <p:cNvSpPr/>
          <p:nvPr/>
        </p:nvSpPr>
        <p:spPr>
          <a:xfrm>
            <a:off x="2061743" y="18408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3_11"/>
          <p:cNvSpPr/>
          <p:nvPr/>
        </p:nvSpPr>
        <p:spPr>
          <a:xfrm>
            <a:off x="2220489" y="18408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3_12"/>
          <p:cNvSpPr/>
          <p:nvPr/>
        </p:nvSpPr>
        <p:spPr>
          <a:xfrm>
            <a:off x="2379235" y="1840835"/>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3"/>
          <p:cNvSpPr/>
          <p:nvPr/>
        </p:nvSpPr>
        <p:spPr>
          <a:xfrm>
            <a:off x="950521" y="1725535"/>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4"/>
          <p:cNvSpPr/>
          <p:nvPr/>
        </p:nvSpPr>
        <p:spPr>
          <a:xfrm>
            <a:off x="1109267" y="1725535"/>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5"/>
          <p:cNvSpPr/>
          <p:nvPr/>
        </p:nvSpPr>
        <p:spPr>
          <a:xfrm>
            <a:off x="1268013" y="1725535"/>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6"/>
          <p:cNvSpPr/>
          <p:nvPr/>
        </p:nvSpPr>
        <p:spPr>
          <a:xfrm>
            <a:off x="1426759" y="17255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7"/>
          <p:cNvSpPr/>
          <p:nvPr/>
        </p:nvSpPr>
        <p:spPr>
          <a:xfrm>
            <a:off x="1585505" y="17255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08"/>
          <p:cNvSpPr/>
          <p:nvPr/>
        </p:nvSpPr>
        <p:spPr>
          <a:xfrm>
            <a:off x="1744251" y="17255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09"/>
          <p:cNvSpPr/>
          <p:nvPr/>
        </p:nvSpPr>
        <p:spPr>
          <a:xfrm>
            <a:off x="1902997"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4_10"/>
          <p:cNvSpPr/>
          <p:nvPr/>
        </p:nvSpPr>
        <p:spPr>
          <a:xfrm>
            <a:off x="2061743"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4_11"/>
          <p:cNvSpPr/>
          <p:nvPr/>
        </p:nvSpPr>
        <p:spPr>
          <a:xfrm>
            <a:off x="2220489" y="1725535"/>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4"/>
          <p:cNvSpPr/>
          <p:nvPr/>
        </p:nvSpPr>
        <p:spPr>
          <a:xfrm>
            <a:off x="1109267" y="16102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5"/>
          <p:cNvSpPr/>
          <p:nvPr/>
        </p:nvSpPr>
        <p:spPr>
          <a:xfrm>
            <a:off x="1268013" y="1610236"/>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6"/>
          <p:cNvSpPr/>
          <p:nvPr/>
        </p:nvSpPr>
        <p:spPr>
          <a:xfrm>
            <a:off x="1426759" y="16102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7"/>
          <p:cNvSpPr/>
          <p:nvPr/>
        </p:nvSpPr>
        <p:spPr>
          <a:xfrm>
            <a:off x="1585505" y="1610236"/>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08"/>
          <p:cNvSpPr/>
          <p:nvPr/>
        </p:nvSpPr>
        <p:spPr>
          <a:xfrm>
            <a:off x="1744251" y="16102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09"/>
          <p:cNvSpPr/>
          <p:nvPr/>
        </p:nvSpPr>
        <p:spPr>
          <a:xfrm>
            <a:off x="1902997" y="16102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5_10"/>
          <p:cNvSpPr/>
          <p:nvPr/>
        </p:nvSpPr>
        <p:spPr>
          <a:xfrm>
            <a:off x="2061743" y="16102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5_11"/>
          <p:cNvSpPr/>
          <p:nvPr/>
        </p:nvSpPr>
        <p:spPr>
          <a:xfrm>
            <a:off x="2220489" y="16102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4"/>
          <p:cNvSpPr/>
          <p:nvPr/>
        </p:nvSpPr>
        <p:spPr>
          <a:xfrm>
            <a:off x="1109267" y="1494936"/>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5"/>
          <p:cNvSpPr/>
          <p:nvPr/>
        </p:nvSpPr>
        <p:spPr>
          <a:xfrm>
            <a:off x="1268013" y="1494936"/>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6"/>
          <p:cNvSpPr/>
          <p:nvPr/>
        </p:nvSpPr>
        <p:spPr>
          <a:xfrm>
            <a:off x="1426759" y="1494936"/>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7"/>
          <p:cNvSpPr/>
          <p:nvPr/>
        </p:nvSpPr>
        <p:spPr>
          <a:xfrm>
            <a:off x="1585505" y="1494936"/>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08"/>
          <p:cNvSpPr/>
          <p:nvPr/>
        </p:nvSpPr>
        <p:spPr>
          <a:xfrm>
            <a:off x="1744251"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6_09"/>
          <p:cNvSpPr/>
          <p:nvPr/>
        </p:nvSpPr>
        <p:spPr>
          <a:xfrm>
            <a:off x="1902997"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6_10"/>
          <p:cNvSpPr/>
          <p:nvPr/>
        </p:nvSpPr>
        <p:spPr>
          <a:xfrm>
            <a:off x="2061743" y="1494936"/>
            <a:ext cx="99157" cy="99157"/>
          </a:xfrm>
          <a:prstGeom prst="roundRect">
            <a:avLst>
              <a:gd name="adj" fmla="val 30000"/>
            </a:avLst>
          </a:prstGeom>
          <a:solidFill>
            <a:srgbClr val="082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4"/>
          <p:cNvSpPr/>
          <p:nvPr/>
        </p:nvSpPr>
        <p:spPr>
          <a:xfrm>
            <a:off x="1109267" y="1379636"/>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5"/>
          <p:cNvSpPr/>
          <p:nvPr/>
        </p:nvSpPr>
        <p:spPr>
          <a:xfrm>
            <a:off x="1268013" y="1379636"/>
            <a:ext cx="99157" cy="99157"/>
          </a:xfrm>
          <a:prstGeom prst="roundRect">
            <a:avLst>
              <a:gd name="adj" fmla="val 30000"/>
            </a:avLst>
          </a:prstGeom>
          <a:solidFill>
            <a:srgbClr val="0C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6"/>
          <p:cNvSpPr/>
          <p:nvPr/>
        </p:nvSpPr>
        <p:spPr>
          <a:xfrm>
            <a:off x="1426759" y="1379636"/>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7"/>
          <p:cNvSpPr/>
          <p:nvPr/>
        </p:nvSpPr>
        <p:spPr>
          <a:xfrm>
            <a:off x="1585505" y="1379636"/>
            <a:ext cx="99157" cy="99157"/>
          </a:xfrm>
          <a:prstGeom prst="roundRect">
            <a:avLst>
              <a:gd name="adj" fmla="val 30000"/>
            </a:avLst>
          </a:prstGeom>
          <a:solidFill>
            <a:srgbClr val="082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p37_08"/>
          <p:cNvSpPr/>
          <p:nvPr/>
        </p:nvSpPr>
        <p:spPr>
          <a:xfrm>
            <a:off x="1744251"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p37_09"/>
          <p:cNvSpPr/>
          <p:nvPr/>
        </p:nvSpPr>
        <p:spPr>
          <a:xfrm>
            <a:off x="1902997"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539736"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anchor="t" lIns="0" rIns="0" tIns="0" bIns="0">
            <a:spAutoFit/>
          </a:bodyPr>
          <a:lstStyle/>
          <a:p>
            <a:pPr algn="l">
              <a:lnSpc>
                <a:spcPct val="90000"/>
              </a:lnSpc>
            </a:pPr>
            <a:r>
              <a:rPr sz="15000" b="1">
                <a:solidFill>
                  <a:srgbClr val="52BDEC"/>
                </a:solidFill>
                <a:latin typeface="Segoe UI"/>
              </a:rPr>
              <a:t>186</a:t>
            </a:r>
          </a:p>
        </p:txBody>
      </p:sp>
      <p:sp>
        <p:nvSpPr>
          <p:cNvPr id="394" name="!!eenheid"/>
          <p:cNvSpPr txBox="1"/>
          <p:nvPr/>
        </p:nvSpPr>
        <p:spPr>
          <a:xfrm>
            <a:off x="6857828" y="1904952"/>
            <a:ext cx="1269968" cy="507987"/>
          </a:xfrm>
          <a:prstGeom prst="rect">
            <a:avLst/>
          </a:prstGeom>
          <a:noFill/>
        </p:spPr>
        <p:txBody>
          <a:bodyPr wrap="square" anchor="t" lIns="0" rIns="0" tIns="0" bIns="0">
            <a:spAutoFit/>
          </a:bodyPr>
          <a:lstStyle/>
          <a:p>
            <a:pPr algn="l">
              <a:lnSpc>
                <a:spcPct val="125000"/>
              </a:lnSpc>
            </a:pPr>
            <a:r>
              <a:rPr sz="4400" b="1">
                <a:solidFill>
                  <a:srgbClr val="52BDEC"/>
                </a:solidFill>
                <a:latin typeface="Segoe UI Light"/>
              </a:rPr>
              <a:t>kPa</a:t>
            </a:r>
          </a:p>
        </p:txBody>
      </p:sp>
      <p:sp>
        <p:nvSpPr>
          <p:cNvPr id="395" name="!!plek"/>
          <p:cNvSpPr txBox="1"/>
          <p:nvPr/>
        </p:nvSpPr>
        <p:spPr>
          <a:xfrm>
            <a:off x="3581310" y="3352716"/>
            <a:ext cx="7619809" cy="380990"/>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peak pressure in the target region after modification</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normtekst"/>
          <p:cNvSpPr txBox="1"/>
          <p:nvPr/>
        </p:nvSpPr>
        <p:spPr>
          <a:xfrm>
            <a:off x="3555911" y="4101997"/>
            <a:ext cx="8000799" cy="292092"/>
          </a:xfrm>
          <a:prstGeom prst="rect">
            <a:avLst/>
          </a:prstGeom>
          <a:noFill/>
        </p:spPr>
        <p:txBody>
          <a:bodyPr wrap="square" anchor="t" lIns="0" rIns="0" tIns="0" bIns="0">
            <a:spAutoFit/>
          </a:bodyPr>
          <a:lstStyle/>
          <a:p>
            <a:pPr algn="ctr">
              <a:lnSpc>
                <a:spcPct val="125000"/>
              </a:lnSpc>
            </a:pPr>
            <a:r>
              <a:rPr sz="2200" b="1">
                <a:solidFill>
                  <a:srgbClr val="FF7A00"/>
                </a:solidFill>
                <a:latin typeface="Consolas"/>
              </a:rPr>
              <a:t>40% lower  ·  below 200 kPa  ·  both criteria</a:t>
            </a:r>
          </a:p>
        </p:txBody>
      </p:sp>
      <p:sp>
        <p:nvSpPr>
          <p:cNvPr id="398" name="TextBox 397"/>
          <p:cNvSpPr txBox="1"/>
          <p:nvPr/>
        </p:nvSpPr>
        <p:spPr>
          <a:xfrm>
            <a:off x="3555911" y="4825879"/>
            <a:ext cx="8000799" cy="1269968"/>
          </a:xfrm>
          <a:prstGeom prst="rect">
            <a:avLst/>
          </a:prstGeom>
          <a:noFill/>
        </p:spPr>
        <p:txBody>
          <a:bodyPr wrap="square" anchor="t" lIns="0" rIns="0" tIns="0" bIns="0">
            <a:spAutoFit/>
          </a:bodyPr>
          <a:lstStyle/>
          <a:p>
            <a:pPr algn="l">
              <a:lnSpc>
                <a:spcPct val="135000"/>
              </a:lnSpc>
            </a:pPr>
            <a:r>
              <a:rPr sz="1700" b="0">
                <a:solidFill>
                  <a:srgbClr val="8FB6D0"/>
                </a:solidFill>
                <a:latin typeface="Segoe UI"/>
              </a:rPr>
              <a:t>The target applies per region: peak pressure below 200 kPa or at least 25% lower than the baseline value for that same region.</a:t>
            </a:r>
          </a:p>
          <a:p>
            <a:pPr algn="l">
              <a:lnSpc>
                <a:spcPct val="135000"/>
              </a:lnSpc>
              <a:spcBef>
                <a:spcPts val="1200"/>
              </a:spcBef>
            </a:pPr>
            <a:r>
              <a:rPr sz="1700" b="0">
                <a:solidFill>
                  <a:srgbClr val="8FB6D0"/>
                </a:solidFill>
                <a:latin typeface="Segoe UI"/>
              </a:rPr>
              <a:t>If the target is not met, modify and measure again. The form provides for two further offloading attempts.</a:t>
            </a:r>
          </a:p>
        </p:txBody>
      </p:sp>
      <p:sp>
        <p:nvSpPr>
          <p:cNvPr id="399" name="TextBox 39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 document 24 · Pressure redistribution of the orthosis</a:t>
            </a:r>
          </a:p>
        </p:txBody>
      </p:sp>
      <p:sp>
        <p:nvSpPr>
          <p:cNvPr id="400" name="TextBox 39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17 / 33</a:t>
            </a:r>
          </a:p>
        </p:txBody>
      </p:sp>
      <p:pic>
        <p:nvPicPr>
          <p:cNvPr id="401"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402" name="TextBox 401"/>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6 · Bus 2011   |   7 · Bus 2020</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beeld" descr="knal_belasting.jpg"/>
          <p:cNvPicPr>
            <a:picLocks noChangeAspect="1"/>
          </p:cNvPicPr>
          <p:nvPr/>
        </p:nvPicPr>
        <p:blipFill>
          <a:blip r:embed="rId2"/>
          <a:stretch>
            <a:fillRect/>
          </a:stretch>
        </p:blipFill>
        <p:spPr>
          <a:xfrm>
            <a:off x="-22661" y="0"/>
            <a:ext cx="12237017" cy="6857828"/>
          </a:xfrm>
          <a:prstGeom prst="rect">
            <a:avLst/>
          </a:prstGeom>
        </p:spPr>
      </p:pic>
      <p:sp>
        <p:nvSpPr>
          <p:cNvPr id="4" name="Rectangle 3"/>
          <p:cNvSpPr/>
          <p:nvPr/>
        </p:nvSpPr>
        <p:spPr>
          <a:xfrm>
            <a:off x="0" y="0"/>
            <a:ext cx="12191695" cy="6857828"/>
          </a:xfrm>
          <a:prstGeom prst="rect">
            <a:avLst/>
          </a:prstGeom>
          <a:gradFill rotWithShape="1">
            <a:gsLst>
              <a:gs pos="0">
                <a:srgbClr val="04182A">
                  <a:alpha val="68000"/>
                </a:srgbClr>
              </a:gs>
              <a:gs pos="100000">
                <a:srgbClr val="072138">
                  <a:alpha val="95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52476" y="1231869"/>
            <a:ext cx="812779" cy="50798"/>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knal"/>
          <p:cNvSpPr txBox="1"/>
          <p:nvPr/>
        </p:nvSpPr>
        <p:spPr>
          <a:xfrm>
            <a:off x="952476" y="1523961"/>
            <a:ext cx="10286742" cy="4190895"/>
          </a:xfrm>
          <a:prstGeom prst="rect">
            <a:avLst/>
          </a:prstGeom>
          <a:noFill/>
        </p:spPr>
        <p:txBody>
          <a:bodyPr wrap="square" anchor="t" lIns="0" rIns="0" tIns="0" bIns="0">
            <a:spAutoFit/>
          </a:bodyPr>
          <a:lstStyle/>
          <a:p>
            <a:pPr algn="l">
              <a:lnSpc>
                <a:spcPct val="106000"/>
              </a:lnSpc>
            </a:pPr>
            <a:r>
              <a:rPr sz="7200" b="1">
                <a:solidFill>
                  <a:srgbClr val="FFFFFF"/>
                </a:solidFill>
                <a:latin typeface="Segoe UI"/>
              </a:rPr>
              <a:t>Not less loading.</a:t>
            </a:r>
          </a:p>
          <a:p>
            <a:pPr algn="l">
              <a:lnSpc>
                <a:spcPct val="106000"/>
              </a:lnSpc>
              <a:spcBef>
                <a:spcPts val="500"/>
              </a:spcBef>
            </a:pPr>
            <a:r>
              <a:rPr sz="7200" b="1">
                <a:solidFill>
                  <a:srgbClr val="FFFFFF"/>
                </a:solidFill>
                <a:latin typeface="Segoe UI"/>
              </a:rPr>
              <a:t>Loading where the tissue can take it.</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THE MEASUREMENT PROTOCOL</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At delivery</a:t>
            </a:r>
          </a:p>
        </p:txBody>
      </p:sp>
      <p:pic>
        <p:nvPicPr>
          <p:cNvPr id="5" name="Picture 4" descr="pedar_schoen.png"/>
          <p:cNvPicPr>
            <a:picLocks noChangeAspect="1"/>
          </p:cNvPicPr>
          <p:nvPr/>
        </p:nvPicPr>
        <p:blipFill>
          <a:blip r:embed="rId2"/>
          <a:stretch>
            <a:fillRect/>
          </a:stretch>
        </p:blipFill>
        <p:spPr>
          <a:xfrm>
            <a:off x="7825601" y="2565335"/>
            <a:ext cx="3245925" cy="2539936"/>
          </a:xfrm>
          <a:prstGeom prst="rect">
            <a:avLst/>
          </a:prstGeom>
        </p:spPr>
      </p:pic>
      <p:sp>
        <p:nvSpPr>
          <p:cNvPr id="6" name="Rounded Rectangle 5"/>
          <p:cNvSpPr/>
          <p:nvPr/>
        </p:nvSpPr>
        <p:spPr>
          <a:xfrm>
            <a:off x="634984" y="2971725"/>
            <a:ext cx="6730831" cy="965175"/>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9776" y="3162220"/>
            <a:ext cx="3936901" cy="342891"/>
          </a:xfrm>
          <a:prstGeom prst="rect">
            <a:avLst/>
          </a:prstGeom>
          <a:noFill/>
        </p:spPr>
        <p:txBody>
          <a:bodyPr wrap="square" anchor="t" lIns="0" rIns="0" tIns="0" bIns="0">
            <a:spAutoFit/>
          </a:bodyPr>
          <a:lstStyle/>
          <a:p>
            <a:pPr algn="l">
              <a:lnSpc>
                <a:spcPct val="125000"/>
              </a:lnSpc>
            </a:pPr>
            <a:r>
              <a:rPr sz="2400" b="1">
                <a:solidFill>
                  <a:srgbClr val="F2F8FC"/>
                </a:solidFill>
                <a:latin typeface="Segoe UI"/>
              </a:rPr>
              <a:t>In the shoe, wíth the insole</a:t>
            </a:r>
          </a:p>
        </p:txBody>
      </p:sp>
      <p:sp>
        <p:nvSpPr>
          <p:cNvPr id="8" name="TextBox 7"/>
          <p:cNvSpPr txBox="1"/>
          <p:nvPr/>
        </p:nvSpPr>
        <p:spPr>
          <a:xfrm>
            <a:off x="939776" y="3530511"/>
            <a:ext cx="6121246" cy="380990"/>
          </a:xfrm>
          <a:prstGeom prst="rect">
            <a:avLst/>
          </a:prstGeom>
          <a:noFill/>
        </p:spPr>
        <p:txBody>
          <a:bodyPr wrap="square" anchor="t" lIns="0" rIns="0" tIns="0" bIns="0">
            <a:spAutoFit/>
          </a:bodyPr>
          <a:lstStyle/>
          <a:p>
            <a:pPr algn="l">
              <a:lnSpc>
                <a:spcPct val="132000"/>
              </a:lnSpc>
            </a:pPr>
            <a:r>
              <a:rPr sz="1550" b="0">
                <a:solidFill>
                  <a:srgbClr val="8FB6D0"/>
                </a:solidFill>
                <a:latin typeface="Segoe UI"/>
              </a:rPr>
              <a:t>The measurement against which the target is tested, per target region.</a:t>
            </a:r>
          </a:p>
        </p:txBody>
      </p:sp>
      <p:sp>
        <p:nvSpPr>
          <p:cNvPr id="9" name="TextBox 8"/>
          <p:cNvSpPr txBox="1"/>
          <p:nvPr/>
        </p:nvSpPr>
        <p:spPr>
          <a:xfrm>
            <a:off x="634984" y="6387940"/>
            <a:ext cx="9524761"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 document 24 · the target is tested per region, not across the whole foot</a:t>
            </a:r>
          </a:p>
        </p:txBody>
      </p:sp>
      <p:sp>
        <p:nvSpPr>
          <p:cNvPr id="10" name="TextBox 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19 / 33</a:t>
            </a:r>
          </a:p>
        </p:txBody>
      </p:sp>
      <p:pic>
        <p:nvPicPr>
          <p:cNvPr id="11" name="merk" descr="merk.png"/>
          <p:cNvPicPr>
            <a:picLocks noChangeAspect="1"/>
          </p:cNvPicPr>
          <p:nvPr/>
        </p:nvPicPr>
        <p:blipFill>
          <a:blip r:embed="rId3"/>
          <a:stretch>
            <a:fillRect/>
          </a:stretch>
        </p:blipFill>
        <p:spPr>
          <a:xfrm>
            <a:off x="11094166" y="368290"/>
            <a:ext cx="417101" cy="482587"/>
          </a:xfrm>
          <a:prstGeom prst="rect">
            <a:avLst/>
          </a:prstGeom>
        </p:spPr>
      </p:pic>
      <p:sp>
        <p:nvSpPr>
          <p:cNvPr id="12" name="TextBox 11"/>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7 · Bus 2020</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431789" y="723881"/>
            <a:ext cx="5714857" cy="2920926"/>
          </a:xfrm>
          <a:prstGeom prst="rect">
            <a:avLst/>
          </a:prstGeom>
          <a:noFill/>
        </p:spPr>
        <p:txBody>
          <a:bodyPr wrap="none" anchor="t" lIns="0" rIns="0" tIns="0" bIns="0">
            <a:spAutoFit/>
          </a:bodyPr>
          <a:lstStyle/>
          <a:p>
            <a:pPr algn="l">
              <a:lnSpc>
                <a:spcPct val="82000"/>
              </a:lnSpc>
            </a:pPr>
            <a:r>
              <a:rPr sz="26000" b="1">
                <a:solidFill>
                  <a:srgbClr val="52BDEC">
                    <a:alpha val="15000"/>
                  </a:srgbClr>
                </a:solidFill>
                <a:latin typeface="Segoe UI"/>
              </a:rPr>
              <a:t>03</a:t>
            </a:r>
          </a:p>
        </p:txBody>
      </p:sp>
      <p:sp>
        <p:nvSpPr>
          <p:cNvPr id="5" name="TextBox 4"/>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BLOCK 03</a:t>
            </a:r>
          </a:p>
        </p:txBody>
      </p:sp>
      <p:sp>
        <p:nvSpPr>
          <p:cNvPr id="6" name="Rectangle 5"/>
          <p:cNvSpPr/>
          <p:nvPr/>
        </p:nvSpPr>
        <p:spPr>
          <a:xfrm>
            <a:off x="634984" y="3213019"/>
            <a:ext cx="812779" cy="50798"/>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The pathway</a:t>
            </a:r>
          </a:p>
        </p:txBody>
      </p:sp>
      <p:sp>
        <p:nvSpPr>
          <p:cNvPr id="8" name="TextBox 7"/>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Nine contacts. For each: what is done and what is recorded.</a:t>
            </a:r>
          </a:p>
        </p:txBody>
      </p:sp>
      <p:sp>
        <p:nvSpPr>
          <p:cNvPr id="9" name="TextBox 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20 / 33</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355591"/>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THE PATHWAY</a:t>
            </a:r>
          </a:p>
        </p:txBody>
      </p:sp>
      <p:sp>
        <p:nvSpPr>
          <p:cNvPr id="4" name="!!sectietitel"/>
          <p:cNvSpPr txBox="1"/>
          <p:nvPr/>
        </p:nvSpPr>
        <p:spPr>
          <a:xfrm>
            <a:off x="634984" y="609584"/>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Screening plus nine visits</a:t>
            </a:r>
          </a:p>
        </p:txBody>
      </p:sp>
      <p:sp>
        <p:nvSpPr>
          <p:cNvPr id="5" name="!!band"/>
          <p:cNvSpPr/>
          <p:nvPr/>
        </p:nvSpPr>
        <p:spPr>
          <a:xfrm>
            <a:off x="0" y="1206469"/>
            <a:ext cx="12191695" cy="3301917"/>
          </a:xfrm>
          <a:prstGeom prst="rect">
            <a:avLst/>
          </a:prstGeom>
          <a:solidFill>
            <a:srgbClr val="0A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as"/>
          <p:cNvSpPr/>
          <p:nvPr/>
        </p:nvSpPr>
        <p:spPr>
          <a:xfrm>
            <a:off x="634984" y="2920926"/>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tip0"/>
          <p:cNvSpPr/>
          <p:nvPr/>
        </p:nvSpPr>
        <p:spPr>
          <a:xfrm>
            <a:off x="1085822"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maand0"/>
          <p:cNvSpPr txBox="1"/>
          <p:nvPr/>
        </p:nvSpPr>
        <p:spPr>
          <a:xfrm>
            <a:off x="634984" y="2133546"/>
            <a:ext cx="1092172" cy="279393"/>
          </a:xfrm>
          <a:prstGeom prst="rect">
            <a:avLst/>
          </a:prstGeom>
          <a:noFill/>
        </p:spPr>
        <p:txBody>
          <a:bodyPr wrap="square" anchor="t" lIns="0" rIns="0" tIns="0" bIns="0">
            <a:spAutoFit/>
          </a:bodyPr>
          <a:lstStyle/>
          <a:p>
            <a:pPr algn="ctr">
              <a:lnSpc>
                <a:spcPct val="125000"/>
              </a:lnSpc>
            </a:pPr>
            <a:r>
              <a:rPr sz="1500" b="1">
                <a:solidFill>
                  <a:srgbClr val="F2F8FC"/>
                </a:solidFill>
                <a:latin typeface="Consolas"/>
              </a:rPr>
              <a:t>Screen</a:t>
            </a:r>
          </a:p>
        </p:txBody>
      </p:sp>
      <p:sp>
        <p:nvSpPr>
          <p:cNvPr id="9" name="!!taak0"/>
          <p:cNvSpPr txBox="1"/>
          <p:nvPr/>
        </p:nvSpPr>
        <p:spPr>
          <a:xfrm>
            <a:off x="698482"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eligibility</a:t>
            </a:r>
          </a:p>
        </p:txBody>
      </p:sp>
      <p:sp>
        <p:nvSpPr>
          <p:cNvPr id="10" name="!!stip1"/>
          <p:cNvSpPr/>
          <p:nvPr/>
        </p:nvSpPr>
        <p:spPr>
          <a:xfrm>
            <a:off x="2177995"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maand1"/>
          <p:cNvSpPr txBox="1"/>
          <p:nvPr/>
        </p:nvSpPr>
        <p:spPr>
          <a:xfrm>
            <a:off x="1727156"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V0</a:t>
            </a:r>
          </a:p>
        </p:txBody>
      </p:sp>
      <p:sp>
        <p:nvSpPr>
          <p:cNvPr id="12" name="!!taak1"/>
          <p:cNvSpPr txBox="1"/>
          <p:nvPr/>
        </p:nvSpPr>
        <p:spPr>
          <a:xfrm>
            <a:off x="1790655"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allocation</a:t>
            </a:r>
          </a:p>
        </p:txBody>
      </p:sp>
      <p:sp>
        <p:nvSpPr>
          <p:cNvPr id="13" name="!!stip2"/>
          <p:cNvSpPr/>
          <p:nvPr/>
        </p:nvSpPr>
        <p:spPr>
          <a:xfrm>
            <a:off x="3289217"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maand2"/>
          <p:cNvSpPr txBox="1"/>
          <p:nvPr/>
        </p:nvSpPr>
        <p:spPr>
          <a:xfrm>
            <a:off x="2819329"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V1</a:t>
            </a:r>
          </a:p>
        </p:txBody>
      </p:sp>
      <p:sp>
        <p:nvSpPr>
          <p:cNvPr id="15" name="!!taak2"/>
          <p:cNvSpPr txBox="1"/>
          <p:nvPr/>
        </p:nvSpPr>
        <p:spPr>
          <a:xfrm>
            <a:off x="2882827"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baseline</a:t>
            </a:r>
          </a:p>
        </p:txBody>
      </p:sp>
      <p:sp>
        <p:nvSpPr>
          <p:cNvPr id="16" name="!!stip3"/>
          <p:cNvSpPr/>
          <p:nvPr/>
        </p:nvSpPr>
        <p:spPr>
          <a:xfrm>
            <a:off x="4381390"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maand3"/>
          <p:cNvSpPr txBox="1"/>
          <p:nvPr/>
        </p:nvSpPr>
        <p:spPr>
          <a:xfrm>
            <a:off x="391150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V2</a:t>
            </a:r>
          </a:p>
        </p:txBody>
      </p:sp>
      <p:sp>
        <p:nvSpPr>
          <p:cNvPr id="18" name="!!taak3"/>
          <p:cNvSpPr txBox="1"/>
          <p:nvPr/>
        </p:nvSpPr>
        <p:spPr>
          <a:xfrm>
            <a:off x="3975000"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insole + sensor</a:t>
            </a:r>
          </a:p>
        </p:txBody>
      </p:sp>
      <p:sp>
        <p:nvSpPr>
          <p:cNvPr id="19" name="!!stip4"/>
          <p:cNvSpPr/>
          <p:nvPr/>
        </p:nvSpPr>
        <p:spPr>
          <a:xfrm>
            <a:off x="547356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maand4"/>
          <p:cNvSpPr txBox="1"/>
          <p:nvPr/>
        </p:nvSpPr>
        <p:spPr>
          <a:xfrm>
            <a:off x="5003674"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M3</a:t>
            </a:r>
          </a:p>
        </p:txBody>
      </p:sp>
      <p:sp>
        <p:nvSpPr>
          <p:cNvPr id="21" name="!!taak4"/>
          <p:cNvSpPr txBox="1"/>
          <p:nvPr/>
        </p:nvSpPr>
        <p:spPr>
          <a:xfrm>
            <a:off x="5067173"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follow-up</a:t>
            </a:r>
          </a:p>
        </p:txBody>
      </p:sp>
      <p:sp>
        <p:nvSpPr>
          <p:cNvPr id="22" name="!!stip5"/>
          <p:cNvSpPr/>
          <p:nvPr/>
        </p:nvSpPr>
        <p:spPr>
          <a:xfrm>
            <a:off x="6565735"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maand5"/>
          <p:cNvSpPr txBox="1"/>
          <p:nvPr/>
        </p:nvSpPr>
        <p:spPr>
          <a:xfrm>
            <a:off x="6095847"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M6</a:t>
            </a:r>
          </a:p>
        </p:txBody>
      </p:sp>
      <p:sp>
        <p:nvSpPr>
          <p:cNvPr id="24" name="!!taak5"/>
          <p:cNvSpPr txBox="1"/>
          <p:nvPr/>
        </p:nvSpPr>
        <p:spPr>
          <a:xfrm>
            <a:off x="615934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measure</a:t>
            </a:r>
          </a:p>
        </p:txBody>
      </p:sp>
      <p:sp>
        <p:nvSpPr>
          <p:cNvPr id="25" name="!!stip6"/>
          <p:cNvSpPr/>
          <p:nvPr/>
        </p:nvSpPr>
        <p:spPr>
          <a:xfrm>
            <a:off x="7657908"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maand6"/>
          <p:cNvSpPr txBox="1"/>
          <p:nvPr/>
        </p:nvSpPr>
        <p:spPr>
          <a:xfrm>
            <a:off x="7188020"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M9</a:t>
            </a:r>
          </a:p>
        </p:txBody>
      </p:sp>
      <p:sp>
        <p:nvSpPr>
          <p:cNvPr id="27" name="!!taak6"/>
          <p:cNvSpPr txBox="1"/>
          <p:nvPr/>
        </p:nvSpPr>
        <p:spPr>
          <a:xfrm>
            <a:off x="7251518"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follow-up</a:t>
            </a:r>
          </a:p>
        </p:txBody>
      </p:sp>
      <p:sp>
        <p:nvSpPr>
          <p:cNvPr id="28" name="!!stip7"/>
          <p:cNvSpPr/>
          <p:nvPr/>
        </p:nvSpPr>
        <p:spPr>
          <a:xfrm>
            <a:off x="8750081"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maand7"/>
          <p:cNvSpPr txBox="1"/>
          <p:nvPr/>
        </p:nvSpPr>
        <p:spPr>
          <a:xfrm>
            <a:off x="828019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M12</a:t>
            </a:r>
          </a:p>
        </p:txBody>
      </p:sp>
      <p:sp>
        <p:nvSpPr>
          <p:cNvPr id="30" name="!!taak7"/>
          <p:cNvSpPr txBox="1"/>
          <p:nvPr/>
        </p:nvSpPr>
        <p:spPr>
          <a:xfrm>
            <a:off x="8343691"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measure</a:t>
            </a:r>
          </a:p>
        </p:txBody>
      </p:sp>
      <p:sp>
        <p:nvSpPr>
          <p:cNvPr id="31" name="!!stip8"/>
          <p:cNvSpPr/>
          <p:nvPr/>
        </p:nvSpPr>
        <p:spPr>
          <a:xfrm>
            <a:off x="984225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maand8"/>
          <p:cNvSpPr txBox="1"/>
          <p:nvPr/>
        </p:nvSpPr>
        <p:spPr>
          <a:xfrm>
            <a:off x="9372365"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M15</a:t>
            </a:r>
          </a:p>
        </p:txBody>
      </p:sp>
      <p:sp>
        <p:nvSpPr>
          <p:cNvPr id="33" name="!!taak8"/>
          <p:cNvSpPr txBox="1"/>
          <p:nvPr/>
        </p:nvSpPr>
        <p:spPr>
          <a:xfrm>
            <a:off x="9435864"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follow-up</a:t>
            </a:r>
          </a:p>
        </p:txBody>
      </p:sp>
      <p:sp>
        <p:nvSpPr>
          <p:cNvPr id="34" name="!!stip9"/>
          <p:cNvSpPr/>
          <p:nvPr/>
        </p:nvSpPr>
        <p:spPr>
          <a:xfrm>
            <a:off x="10915377"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maand9"/>
          <p:cNvSpPr txBox="1"/>
          <p:nvPr/>
        </p:nvSpPr>
        <p:spPr>
          <a:xfrm>
            <a:off x="10464538"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M18</a:t>
            </a:r>
          </a:p>
        </p:txBody>
      </p:sp>
      <p:sp>
        <p:nvSpPr>
          <p:cNvPr id="36" name="!!taak9"/>
          <p:cNvSpPr txBox="1"/>
          <p:nvPr/>
        </p:nvSpPr>
        <p:spPr>
          <a:xfrm>
            <a:off x="1052803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measure + end</a:t>
            </a:r>
          </a:p>
        </p:txBody>
      </p:sp>
      <p:sp>
        <p:nvSpPr>
          <p:cNvPr id="37" name="Oval 36"/>
          <p:cNvSpPr/>
          <p:nvPr/>
        </p:nvSpPr>
        <p:spPr>
          <a:xfrm>
            <a:off x="660383" y="4013099"/>
            <a:ext cx="114297" cy="114297"/>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0878"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measurement</a:t>
            </a:r>
          </a:p>
        </p:txBody>
      </p:sp>
      <p:sp>
        <p:nvSpPr>
          <p:cNvPr id="39" name="Oval 38"/>
          <p:cNvSpPr/>
          <p:nvPr/>
        </p:nvSpPr>
        <p:spPr>
          <a:xfrm>
            <a:off x="3200319" y="4013099"/>
            <a:ext cx="114297" cy="114297"/>
          </a:xfrm>
          <a:prstGeom prst="ellipse">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390815"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behavioural support</a:t>
            </a:r>
          </a:p>
        </p:txBody>
      </p:sp>
      <p:sp>
        <p:nvSpPr>
          <p:cNvPr id="41" name="Oval 40"/>
          <p:cNvSpPr/>
          <p:nvPr/>
        </p:nvSpPr>
        <p:spPr>
          <a:xfrm>
            <a:off x="5740256" y="4013099"/>
            <a:ext cx="114297" cy="114297"/>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930751"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start and completion</a:t>
            </a:r>
          </a:p>
        </p:txBody>
      </p:sp>
      <p:sp>
        <p:nvSpPr>
          <p:cNvPr id="43" name="!!camera"/>
          <p:cNvSpPr txBox="1"/>
          <p:nvPr/>
        </p:nvSpPr>
        <p:spPr>
          <a:xfrm>
            <a:off x="634984" y="4711582"/>
            <a:ext cx="2031949" cy="1460463"/>
          </a:xfrm>
          <a:prstGeom prst="rect">
            <a:avLst/>
          </a:prstGeom>
          <a:noFill/>
        </p:spPr>
        <p:txBody>
          <a:bodyPr wrap="none" anchor="t" lIns="0" rIns="0" tIns="0" bIns="0">
            <a:spAutoFit/>
          </a:bodyPr>
          <a:lstStyle/>
          <a:p>
            <a:pPr algn="l">
              <a:lnSpc>
                <a:spcPct val="100000"/>
              </a:lnSpc>
            </a:pPr>
            <a:r>
              <a:rPr sz="9600" b="1">
                <a:solidFill>
                  <a:srgbClr val="52BDEC"/>
                </a:solidFill>
                <a:latin typeface="Segoe UI"/>
              </a:rPr>
              <a:t>18</a:t>
            </a:r>
          </a:p>
        </p:txBody>
      </p:sp>
      <p:sp>
        <p:nvSpPr>
          <p:cNvPr id="44" name="TextBox 43"/>
          <p:cNvSpPr txBox="1"/>
          <p:nvPr/>
        </p:nvSpPr>
        <p:spPr>
          <a:xfrm>
            <a:off x="2539936" y="4813179"/>
            <a:ext cx="8889777" cy="419089"/>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months, from screening to completion</a:t>
            </a:r>
          </a:p>
        </p:txBody>
      </p:sp>
      <p:sp>
        <p:nvSpPr>
          <p:cNvPr id="45" name="TextBox 44"/>
          <p:cNvSpPr txBox="1"/>
          <p:nvPr/>
        </p:nvSpPr>
        <p:spPr>
          <a:xfrm>
            <a:off x="2552636" y="5283067"/>
            <a:ext cx="8889777" cy="952476"/>
          </a:xfrm>
          <a:prstGeom prst="rect">
            <a:avLst/>
          </a:prstGeom>
          <a:noFill/>
        </p:spPr>
        <p:txBody>
          <a:bodyPr wrap="square" anchor="t" lIns="0" rIns="0" tIns="0" bIns="0">
            <a:spAutoFit/>
          </a:bodyPr>
          <a:lstStyle/>
          <a:p>
            <a:pPr algn="l">
              <a:lnSpc>
                <a:spcPct val="140000"/>
              </a:lnSpc>
            </a:pPr>
            <a:r>
              <a:rPr sz="1800" b="0">
                <a:solidFill>
                  <a:srgbClr val="8FB6D0"/>
                </a:solidFill>
                <a:latin typeface="Segoe UI"/>
              </a:rPr>
              <a:t>Visits 0 to 2 fall close together: consent, baseline, and the insole within the month. After that the rhythm is three-monthly — the same rhythm as the review these patients already receive.</a:t>
            </a:r>
          </a:p>
        </p:txBody>
      </p:sp>
      <p:sp>
        <p:nvSpPr>
          <p:cNvPr id="46" name="TextBox 45"/>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21 / 33</a:t>
            </a:r>
          </a:p>
        </p:txBody>
      </p:sp>
      <p:pic>
        <p:nvPicPr>
          <p:cNvPr id="47"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SCREENING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Who is eligible</a:t>
            </a:r>
          </a:p>
        </p:txBody>
      </p:sp>
      <p:sp>
        <p:nvSpPr>
          <p:cNvPr id="5" name="Rounded Rectangle 4"/>
          <p:cNvSpPr/>
          <p:nvPr/>
        </p:nvSpPr>
        <p:spPr>
          <a:xfrm>
            <a:off x="634984" y="1993850"/>
            <a:ext cx="5384538" cy="384800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88977" y="2209744"/>
            <a:ext cx="965175" cy="292092"/>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8977" y="2285942"/>
            <a:ext cx="965175" cy="215894"/>
          </a:xfrm>
          <a:prstGeom prst="rect">
            <a:avLst/>
          </a:prstGeom>
          <a:noFill/>
        </p:spPr>
        <p:txBody>
          <a:bodyPr wrap="none" anchor="t" lIns="0" rIns="0" tIns="0" bIns="0">
            <a:spAutoFit/>
          </a:bodyPr>
          <a:lstStyle/>
          <a:p>
            <a:pPr algn="ctr">
              <a:lnSpc>
                <a:spcPct val="125000"/>
              </a:lnSpc>
            </a:pPr>
            <a:r>
              <a:rPr sz="1350" b="1" spc="130">
                <a:solidFill>
                  <a:srgbClr val="04182A"/>
                </a:solidFill>
                <a:latin typeface="Consolas"/>
              </a:rPr>
              <a:t>ELIGIBLE</a:t>
            </a:r>
          </a:p>
        </p:txBody>
      </p:sp>
      <p:sp>
        <p:nvSpPr>
          <p:cNvPr id="8" name="TextBox 7"/>
          <p:cNvSpPr txBox="1"/>
          <p:nvPr/>
        </p:nvSpPr>
        <p:spPr>
          <a:xfrm>
            <a:off x="888977" y="2743131"/>
            <a:ext cx="4876551" cy="2984425"/>
          </a:xfrm>
          <a:prstGeom prst="rect">
            <a:avLst/>
          </a:prstGeom>
          <a:noFill/>
        </p:spPr>
        <p:txBody>
          <a:bodyPr wrap="square" anchor="t" lIns="0" rIns="0" tIns="0" bIns="0">
            <a:spAutoFit/>
          </a:bodyPr>
          <a:lstStyle/>
          <a:p>
            <a:pPr algn="l">
              <a:lnSpc>
                <a:spcPct val="130000"/>
              </a:lnSpc>
            </a:pPr>
            <a:r>
              <a:rPr sz="1300" b="0">
                <a:solidFill>
                  <a:srgbClr val="8FB6D0"/>
                </a:solidFill>
                <a:latin typeface="Segoe UI"/>
              </a:rPr>
              <a:t>Adult, understands Dutch</a:t>
            </a:r>
          </a:p>
          <a:p>
            <a:pPr algn="l">
              <a:lnSpc>
                <a:spcPct val="130000"/>
              </a:lnSpc>
              <a:spcBef>
                <a:spcPts val="1200"/>
              </a:spcBef>
            </a:pPr>
            <a:r>
              <a:rPr sz="1300" b="0">
                <a:solidFill>
                  <a:srgbClr val="8FB6D0"/>
                </a:solidFill>
                <a:latin typeface="Segoe UI"/>
              </a:rPr>
              <a:t>Diabetes type 1 or 2</a:t>
            </a:r>
          </a:p>
          <a:p>
            <a:pPr algn="l">
              <a:lnSpc>
                <a:spcPct val="130000"/>
              </a:lnSpc>
              <a:spcBef>
                <a:spcPts val="1200"/>
              </a:spcBef>
            </a:pPr>
            <a:r>
              <a:rPr sz="1300" b="0">
                <a:solidFill>
                  <a:srgbClr val="8FB6D0"/>
                </a:solidFill>
                <a:latin typeface="Segoe UI"/>
              </a:rPr>
              <a:t>IWGDF risk category 3 with a healed plantar ulcer, or partial amputation or resection of a metatarsal head — not the first — between 18 months and 2 weeks ago</a:t>
            </a:r>
          </a:p>
          <a:p>
            <a:pPr algn="l">
              <a:lnSpc>
                <a:spcPct val="130000"/>
              </a:lnSpc>
              <a:spcBef>
                <a:spcPts val="1200"/>
              </a:spcBef>
            </a:pPr>
            <a:r>
              <a:rPr sz="1300" b="0">
                <a:solidFill>
                  <a:srgbClr val="8FB6D0"/>
                </a:solidFill>
                <a:latin typeface="Segoe UI"/>
              </a:rPr>
              <a:t>Walks barefoot independently, without walking aids</a:t>
            </a:r>
          </a:p>
          <a:p>
            <a:pPr algn="l">
              <a:lnSpc>
                <a:spcPct val="130000"/>
              </a:lnSpc>
              <a:spcBef>
                <a:spcPts val="1200"/>
              </a:spcBef>
            </a:pPr>
            <a:r>
              <a:rPr sz="1300" b="0">
                <a:solidFill>
                  <a:srgbClr val="8FB6D0"/>
                </a:solidFill>
                <a:latin typeface="Segoe UI"/>
              </a:rPr>
              <a:t>Has protective footwear, or accepts it: fully custom-made, or custom insoles in semi-orthopaedic or extra-depth off-the-shelf footwear</a:t>
            </a:r>
          </a:p>
        </p:txBody>
      </p:sp>
      <p:sp>
        <p:nvSpPr>
          <p:cNvPr id="9" name="Rounded Rectangle 8"/>
          <p:cNvSpPr/>
          <p:nvPr/>
        </p:nvSpPr>
        <p:spPr>
          <a:xfrm>
            <a:off x="6171918" y="1993850"/>
            <a:ext cx="5384538" cy="384800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425912" y="2209744"/>
            <a:ext cx="965175" cy="292092"/>
          </a:xfrm>
          <a:prstGeom prst="roundRect">
            <a:avLst>
              <a:gd name="adj" fmla="val 45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25912" y="2285942"/>
            <a:ext cx="965175" cy="215894"/>
          </a:xfrm>
          <a:prstGeom prst="rect">
            <a:avLst/>
          </a:prstGeom>
          <a:noFill/>
        </p:spPr>
        <p:txBody>
          <a:bodyPr wrap="none" anchor="t" lIns="0" rIns="0" tIns="0" bIns="0">
            <a:spAutoFit/>
          </a:bodyPr>
          <a:lstStyle/>
          <a:p>
            <a:pPr algn="ctr">
              <a:lnSpc>
                <a:spcPct val="125000"/>
              </a:lnSpc>
            </a:pPr>
            <a:r>
              <a:rPr sz="1350" b="1" spc="130">
                <a:solidFill>
                  <a:srgbClr val="04182A"/>
                </a:solidFill>
                <a:latin typeface="Consolas"/>
              </a:rPr>
              <a:t>EXCLUDED</a:t>
            </a:r>
          </a:p>
        </p:txBody>
      </p:sp>
      <p:sp>
        <p:nvSpPr>
          <p:cNvPr id="12" name="TextBox 11"/>
          <p:cNvSpPr txBox="1"/>
          <p:nvPr/>
        </p:nvSpPr>
        <p:spPr>
          <a:xfrm>
            <a:off x="6425912" y="2743131"/>
            <a:ext cx="4876551" cy="2984425"/>
          </a:xfrm>
          <a:prstGeom prst="rect">
            <a:avLst/>
          </a:prstGeom>
          <a:noFill/>
        </p:spPr>
        <p:txBody>
          <a:bodyPr wrap="square" anchor="t" lIns="0" rIns="0" tIns="0" bIns="0">
            <a:spAutoFit/>
          </a:bodyPr>
          <a:lstStyle/>
          <a:p>
            <a:pPr algn="l">
              <a:lnSpc>
                <a:spcPct val="130000"/>
              </a:lnSpc>
            </a:pPr>
            <a:r>
              <a:rPr sz="1000" b="0">
                <a:solidFill>
                  <a:srgbClr val="8FB6D0"/>
                </a:solidFill>
                <a:latin typeface="Segoe UI"/>
              </a:rPr>
              <a:t>Amputation proximal to the MTP joints</a:t>
            </a:r>
          </a:p>
          <a:p>
            <a:pPr algn="l">
              <a:lnSpc>
                <a:spcPct val="130000"/>
              </a:lnSpc>
              <a:spcBef>
                <a:spcPts val="1200"/>
              </a:spcBef>
            </a:pPr>
            <a:r>
              <a:rPr sz="1000" b="0">
                <a:solidFill>
                  <a:srgbClr val="8FB6D0"/>
                </a:solidFill>
                <a:latin typeface="Segoe UI"/>
              </a:rPr>
              <a:t>Active ulcer or Charcot deformity</a:t>
            </a:r>
          </a:p>
          <a:p>
            <a:pPr algn="l">
              <a:lnSpc>
                <a:spcPct val="130000"/>
              </a:lnSpc>
              <a:spcBef>
                <a:spcPts val="1200"/>
              </a:spcBef>
            </a:pPr>
            <a:r>
              <a:rPr sz="1000" b="0">
                <a:solidFill>
                  <a:srgbClr val="8FB6D0"/>
                </a:solidFill>
                <a:latin typeface="Segoe UI"/>
              </a:rPr>
              <a:t>Critical ischaemia — PEDIS grade 3</a:t>
            </a:r>
          </a:p>
          <a:p>
            <a:pPr algn="l">
              <a:lnSpc>
                <a:spcPct val="130000"/>
              </a:lnSpc>
              <a:spcBef>
                <a:spcPts val="1200"/>
              </a:spcBef>
            </a:pPr>
            <a:r>
              <a:rPr sz="1000" b="0">
                <a:solidFill>
                  <a:srgbClr val="8FB6D0"/>
                </a:solidFill>
                <a:latin typeface="Segoe UI"/>
              </a:rPr>
              <a:t>Immunosuppressive therapy</a:t>
            </a:r>
          </a:p>
          <a:p>
            <a:pPr algn="l">
              <a:lnSpc>
                <a:spcPct val="130000"/>
              </a:lnSpc>
              <a:spcBef>
                <a:spcPts val="1200"/>
              </a:spcBef>
            </a:pPr>
            <a:r>
              <a:rPr sz="1000" b="0">
                <a:solidFill>
                  <a:srgbClr val="8FB6D0"/>
                </a:solidFill>
                <a:latin typeface="Segoe UI"/>
              </a:rPr>
              <a:t>Renal replacement therapy</a:t>
            </a:r>
          </a:p>
          <a:p>
            <a:pPr algn="l">
              <a:lnSpc>
                <a:spcPct val="130000"/>
              </a:lnSpc>
              <a:spcBef>
                <a:spcPts val="1200"/>
              </a:spcBef>
            </a:pPr>
            <a:r>
              <a:rPr sz="1000" b="0">
                <a:solidFill>
                  <a:srgbClr val="8FB6D0"/>
                </a:solidFill>
                <a:latin typeface="Segoe UI"/>
              </a:rPr>
              <a:t>Survival &lt; 18 months, in the judgement of the treating physician</a:t>
            </a:r>
          </a:p>
          <a:p>
            <a:pPr algn="l">
              <a:lnSpc>
                <a:spcPct val="130000"/>
              </a:lnSpc>
              <a:spcBef>
                <a:spcPts val="1200"/>
              </a:spcBef>
            </a:pPr>
            <a:r>
              <a:rPr sz="1000" b="0">
                <a:solidFill>
                  <a:srgbClr val="8FB6D0"/>
                </a:solidFill>
                <a:latin typeface="Segoe UI"/>
              </a:rPr>
              <a:t>Unable to consent or to follow instructions</a:t>
            </a:r>
          </a:p>
          <a:p>
            <a:pPr algn="l">
              <a:lnSpc>
                <a:spcPct val="130000"/>
              </a:lnSpc>
              <a:spcBef>
                <a:spcPts val="1200"/>
              </a:spcBef>
            </a:pPr>
            <a:r>
              <a:rPr sz="1000" b="0">
                <a:solidFill>
                  <a:srgbClr val="8FB6D0"/>
                </a:solidFill>
                <a:latin typeface="Segoe UI"/>
              </a:rPr>
              <a:t>A device preventing sensor application, e.g. an ankle-foot orthosis</a:t>
            </a:r>
          </a:p>
          <a:p>
            <a:pPr algn="l">
              <a:lnSpc>
                <a:spcPct val="130000"/>
              </a:lnSpc>
              <a:spcBef>
                <a:spcPts val="1200"/>
              </a:spcBef>
            </a:pPr>
            <a:r>
              <a:rPr sz="1000" b="0">
                <a:solidFill>
                  <a:srgbClr val="8FB6D0"/>
                </a:solidFill>
                <a:latin typeface="Segoe UI"/>
              </a:rPr>
              <a:t>Declines the prescribed footwear</a:t>
            </a: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22 / 33</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15" name="TextBox 14"/>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8 · IWGDF 2023, preventie   |   25 · IWGDF 2023, definities</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THE TECHNOLOGY</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Three devices</a:t>
            </a:r>
          </a:p>
        </p:txBody>
      </p:sp>
      <p:sp>
        <p:nvSpPr>
          <p:cNvPr id="5" name="Rounded Rectangle 4"/>
          <p:cNvSpPr/>
          <p:nvPr/>
        </p:nvSpPr>
        <p:spPr>
          <a:xfrm>
            <a:off x="634984" y="1968450"/>
            <a:ext cx="5384538" cy="400039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edar.png"/>
          <p:cNvPicPr>
            <a:picLocks noChangeAspect="1"/>
          </p:cNvPicPr>
          <p:nvPr/>
        </p:nvPicPr>
        <p:blipFill>
          <a:blip r:embed="rId2"/>
          <a:stretch>
            <a:fillRect/>
          </a:stretch>
        </p:blipFill>
        <p:spPr>
          <a:xfrm>
            <a:off x="2344719" y="2184345"/>
            <a:ext cx="1965067" cy="1663658"/>
          </a:xfrm>
          <a:prstGeom prst="rect">
            <a:avLst/>
          </a:prstGeom>
        </p:spPr>
      </p:pic>
      <p:sp>
        <p:nvSpPr>
          <p:cNvPr id="7" name="TextBox 6"/>
          <p:cNvSpPr txBox="1"/>
          <p:nvPr/>
        </p:nvSpPr>
        <p:spPr>
          <a:xfrm>
            <a:off x="914377" y="3975000"/>
            <a:ext cx="2412939" cy="444488"/>
          </a:xfrm>
          <a:prstGeom prst="rect">
            <a:avLst/>
          </a:prstGeom>
          <a:noFill/>
        </p:spPr>
        <p:txBody>
          <a:bodyPr wrap="square" anchor="t" lIns="0" rIns="0" tIns="0" bIns="0">
            <a:spAutoFit/>
          </a:bodyPr>
          <a:lstStyle/>
          <a:p>
            <a:pPr algn="l">
              <a:lnSpc>
                <a:spcPct val="125000"/>
              </a:lnSpc>
            </a:pPr>
            <a:r>
              <a:rPr sz="3200" b="1">
                <a:solidFill>
                  <a:srgbClr val="F2F8FC"/>
                </a:solidFill>
                <a:latin typeface="Segoe UI"/>
              </a:rPr>
              <a:t>Novel pedar</a:t>
            </a:r>
          </a:p>
        </p:txBody>
      </p:sp>
      <p:sp>
        <p:nvSpPr>
          <p:cNvPr id="8" name="TextBox 7"/>
          <p:cNvSpPr txBox="1"/>
          <p:nvPr/>
        </p:nvSpPr>
        <p:spPr>
          <a:xfrm>
            <a:off x="927076" y="4444888"/>
            <a:ext cx="2412939" cy="228594"/>
          </a:xfrm>
          <a:prstGeom prst="rect">
            <a:avLst/>
          </a:prstGeom>
          <a:noFill/>
        </p:spPr>
        <p:txBody>
          <a:bodyPr wrap="square" anchor="t" lIns="0" rIns="0" tIns="0" bIns="0">
            <a:spAutoFit/>
          </a:bodyPr>
          <a:lstStyle/>
          <a:p>
            <a:pPr algn="l">
              <a:lnSpc>
                <a:spcPct val="125000"/>
              </a:lnSpc>
            </a:pPr>
            <a:r>
              <a:rPr sz="1250" b="1" spc="160">
                <a:solidFill>
                  <a:srgbClr val="52BDEC"/>
                </a:solidFill>
                <a:latin typeface="Consolas"/>
              </a:rPr>
              <a:t>PRESSURE</a:t>
            </a:r>
          </a:p>
        </p:txBody>
      </p:sp>
      <p:sp>
        <p:nvSpPr>
          <p:cNvPr id="9" name="TextBox 8"/>
          <p:cNvSpPr txBox="1"/>
          <p:nvPr/>
        </p:nvSpPr>
        <p:spPr>
          <a:xfrm>
            <a:off x="914377" y="4660783"/>
            <a:ext cx="2412939" cy="380990"/>
          </a:xfrm>
          <a:prstGeom prst="rect">
            <a:avLst/>
          </a:prstGeom>
          <a:noFill/>
        </p:spPr>
        <p:txBody>
          <a:bodyPr wrap="square" anchor="t" lIns="0" rIns="0" tIns="0" bIns="0">
            <a:spAutoFit/>
          </a:bodyPr>
          <a:lstStyle/>
          <a:p>
            <a:pPr algn="l">
              <a:lnSpc>
                <a:spcPct val="100000"/>
              </a:lnSpc>
            </a:pPr>
            <a:r>
              <a:rPr sz="2400" b="1">
                <a:solidFill>
                  <a:srgbClr val="52BDEC"/>
                </a:solidFill>
                <a:latin typeface="Segoe UI"/>
              </a:rPr>
              <a:t>8  foot regions</a:t>
            </a:r>
          </a:p>
        </p:txBody>
      </p:sp>
      <p:sp>
        <p:nvSpPr>
          <p:cNvPr id="10" name="TextBox 9"/>
          <p:cNvSpPr txBox="1"/>
          <p:nvPr/>
        </p:nvSpPr>
        <p:spPr>
          <a:xfrm>
            <a:off x="914377" y="5079873"/>
            <a:ext cx="2412939" cy="253993"/>
          </a:xfrm>
          <a:prstGeom prst="rect">
            <a:avLst/>
          </a:prstGeom>
          <a:noFill/>
        </p:spPr>
        <p:txBody>
          <a:bodyPr wrap="square" anchor="t" lIns="0" rIns="0" tIns="0" bIns="0">
            <a:spAutoFit/>
          </a:bodyPr>
          <a:lstStyle/>
          <a:p>
            <a:pPr algn="l">
              <a:lnSpc>
                <a:spcPct val="125000"/>
              </a:lnSpc>
            </a:pPr>
            <a:r>
              <a:rPr sz="1300" b="1" spc="130">
                <a:solidFill>
                  <a:srgbClr val="FF7A00"/>
                </a:solidFill>
                <a:latin typeface="Consolas"/>
              </a:rPr>
              <a:t>YOUR TEAM MEASURES</a:t>
            </a:r>
          </a:p>
        </p:txBody>
      </p:sp>
      <p:sp>
        <p:nvSpPr>
          <p:cNvPr id="11" name="TextBox 10"/>
          <p:cNvSpPr txBox="1"/>
          <p:nvPr/>
        </p:nvSpPr>
        <p:spPr>
          <a:xfrm>
            <a:off x="3479713" y="3975000"/>
            <a:ext cx="2260416" cy="1879553"/>
          </a:xfrm>
          <a:prstGeom prst="rect">
            <a:avLst/>
          </a:prstGeom>
          <a:noFill/>
        </p:spPr>
        <p:txBody>
          <a:bodyPr wrap="square" anchor="t" lIns="0" rIns="0" tIns="0" bIns="0">
            <a:spAutoFit/>
          </a:bodyPr>
          <a:lstStyle/>
          <a:p>
            <a:pPr algn="l">
              <a:lnSpc>
                <a:spcPct val="130000"/>
              </a:lnSpc>
            </a:pPr>
            <a:r>
              <a:rPr sz="1350" b="0">
                <a:solidFill>
                  <a:srgbClr val="8FB6D0"/>
                </a:solidFill>
                <a:latin typeface="Segoe UI"/>
              </a:rPr>
              <a:t>In-shoe, with the insole</a:t>
            </a:r>
          </a:p>
          <a:p>
            <a:pPr algn="l">
              <a:lnSpc>
                <a:spcPct val="130000"/>
              </a:lnSpc>
              <a:spcBef>
                <a:spcPts val="1000"/>
              </a:spcBef>
            </a:pPr>
            <a:r>
              <a:rPr sz="1350" b="0">
                <a:solidFill>
                  <a:srgbClr val="8FB6D0"/>
                </a:solidFill>
                <a:latin typeface="Segoe UI"/>
              </a:rPr>
              <a:t>Zeroing before every measurement</a:t>
            </a:r>
          </a:p>
          <a:p>
            <a:pPr algn="l">
              <a:lnSpc>
                <a:spcPct val="130000"/>
              </a:lnSpc>
              <a:spcBef>
                <a:spcPts val="1000"/>
              </a:spcBef>
            </a:pPr>
            <a:r>
              <a:rPr sz="1350" b="0">
                <a:solidFill>
                  <a:srgbClr val="8FB6D0"/>
                </a:solidFill>
                <a:latin typeface="Segoe UI"/>
              </a:rPr>
              <a:t>F-Scan GO: a separate study-team measurement</a:t>
            </a:r>
          </a:p>
        </p:txBody>
      </p:sp>
      <p:sp>
        <p:nvSpPr>
          <p:cNvPr id="12" name="Rounded Rectangle 11"/>
          <p:cNvSpPr/>
          <p:nvPr/>
        </p:nvSpPr>
        <p:spPr>
          <a:xfrm>
            <a:off x="6171918" y="1968450"/>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24314" y="2120846"/>
            <a:ext cx="1727156" cy="1612859"/>
          </a:xfrm>
          <a:prstGeom prst="roundRect">
            <a:avLst>
              <a:gd name="adj" fmla="val 45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orthotimer.png"/>
          <p:cNvPicPr>
            <a:picLocks noChangeAspect="1"/>
          </p:cNvPicPr>
          <p:nvPr/>
        </p:nvPicPr>
        <p:blipFill>
          <a:blip r:embed="rId3"/>
          <a:stretch>
            <a:fillRect/>
          </a:stretch>
        </p:blipFill>
        <p:spPr>
          <a:xfrm>
            <a:off x="6387813" y="2629374"/>
            <a:ext cx="1600159" cy="595804"/>
          </a:xfrm>
          <a:prstGeom prst="rect">
            <a:avLst/>
          </a:prstGeom>
        </p:spPr>
      </p:pic>
      <p:sp>
        <p:nvSpPr>
          <p:cNvPr id="15" name="TextBox 14"/>
          <p:cNvSpPr txBox="1"/>
          <p:nvPr/>
        </p:nvSpPr>
        <p:spPr>
          <a:xfrm>
            <a:off x="8241966" y="2133546"/>
            <a:ext cx="3060496"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Orthotimer</a:t>
            </a:r>
          </a:p>
        </p:txBody>
      </p:sp>
      <p:sp>
        <p:nvSpPr>
          <p:cNvPr id="16" name="TextBox 15"/>
          <p:cNvSpPr txBox="1"/>
          <p:nvPr/>
        </p:nvSpPr>
        <p:spPr>
          <a:xfrm>
            <a:off x="8254666" y="2501837"/>
            <a:ext cx="3060496"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WEAR TIME</a:t>
            </a:r>
          </a:p>
        </p:txBody>
      </p:sp>
      <p:sp>
        <p:nvSpPr>
          <p:cNvPr id="17" name="TextBox 16"/>
          <p:cNvSpPr txBox="1"/>
          <p:nvPr/>
        </p:nvSpPr>
        <p:spPr>
          <a:xfrm>
            <a:off x="8241966" y="2705032"/>
            <a:ext cx="3060496"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15  minutes</a:t>
            </a:r>
          </a:p>
        </p:txBody>
      </p:sp>
      <p:sp>
        <p:nvSpPr>
          <p:cNvPr id="18" name="TextBox 17"/>
          <p:cNvSpPr txBox="1"/>
          <p:nvPr/>
        </p:nvSpPr>
        <p:spPr>
          <a:xfrm>
            <a:off x="8241966" y="3047923"/>
            <a:ext cx="3060496" cy="558786"/>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In the insole, 9 × 13 × 4.5 mm</a:t>
            </a:r>
          </a:p>
          <a:p>
            <a:pPr algn="l">
              <a:lnSpc>
                <a:spcPct val="128000"/>
              </a:lnSpc>
              <a:spcBef>
                <a:spcPts val="600"/>
              </a:spcBef>
            </a:pPr>
            <a:r>
              <a:rPr sz="1400" b="0">
                <a:solidFill>
                  <a:srgbClr val="8FB6D0"/>
                </a:solidFill>
                <a:latin typeface="Segoe UI"/>
              </a:rPr>
              <a:t>Battery 100 days</a:t>
            </a:r>
          </a:p>
        </p:txBody>
      </p:sp>
      <p:sp>
        <p:nvSpPr>
          <p:cNvPr id="19" name="TextBox 18"/>
          <p:cNvSpPr txBox="1"/>
          <p:nvPr/>
        </p:nvSpPr>
        <p:spPr>
          <a:xfrm>
            <a:off x="8241966" y="3632109"/>
            <a:ext cx="3060496"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YOUR TEAM MEASURES</a:t>
            </a:r>
          </a:p>
        </p:txBody>
      </p:sp>
      <p:sp>
        <p:nvSpPr>
          <p:cNvPr id="20" name="Rounded Rectangle 19"/>
          <p:cNvSpPr/>
          <p:nvPr/>
        </p:nvSpPr>
        <p:spPr>
          <a:xfrm>
            <a:off x="6171918" y="4051198"/>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24314" y="4203594"/>
            <a:ext cx="1727156" cy="1612859"/>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movemonitor.png"/>
          <p:cNvPicPr>
            <a:picLocks noChangeAspect="1"/>
          </p:cNvPicPr>
          <p:nvPr/>
        </p:nvPicPr>
        <p:blipFill>
          <a:blip r:embed="rId4"/>
          <a:stretch>
            <a:fillRect/>
          </a:stretch>
        </p:blipFill>
        <p:spPr>
          <a:xfrm>
            <a:off x="6387813" y="4567176"/>
            <a:ext cx="1600159" cy="885697"/>
          </a:xfrm>
          <a:prstGeom prst="rect">
            <a:avLst/>
          </a:prstGeom>
        </p:spPr>
      </p:pic>
      <p:sp>
        <p:nvSpPr>
          <p:cNvPr id="23" name="TextBox 22"/>
          <p:cNvSpPr txBox="1"/>
          <p:nvPr/>
        </p:nvSpPr>
        <p:spPr>
          <a:xfrm>
            <a:off x="8241966" y="4216294"/>
            <a:ext cx="3060496"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MoveMonitor</a:t>
            </a:r>
          </a:p>
        </p:txBody>
      </p:sp>
      <p:sp>
        <p:nvSpPr>
          <p:cNvPr id="24" name="TextBox 23"/>
          <p:cNvSpPr txBox="1"/>
          <p:nvPr/>
        </p:nvSpPr>
        <p:spPr>
          <a:xfrm>
            <a:off x="8254666" y="4584585"/>
            <a:ext cx="3060496"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ACTIVITY</a:t>
            </a:r>
          </a:p>
        </p:txBody>
      </p:sp>
      <p:sp>
        <p:nvSpPr>
          <p:cNvPr id="25" name="TextBox 24"/>
          <p:cNvSpPr txBox="1"/>
          <p:nvPr/>
        </p:nvSpPr>
        <p:spPr>
          <a:xfrm>
            <a:off x="8241966" y="4787780"/>
            <a:ext cx="3060496"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7  days</a:t>
            </a:r>
          </a:p>
        </p:txBody>
      </p:sp>
      <p:sp>
        <p:nvSpPr>
          <p:cNvPr id="26" name="TextBox 25"/>
          <p:cNvSpPr txBox="1"/>
          <p:nvPr/>
        </p:nvSpPr>
        <p:spPr>
          <a:xfrm>
            <a:off x="8241966" y="5130671"/>
            <a:ext cx="3060496" cy="558786"/>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At the waist, on the lower back</a:t>
            </a:r>
          </a:p>
          <a:p>
            <a:pPr algn="l">
              <a:lnSpc>
                <a:spcPct val="128000"/>
              </a:lnSpc>
              <a:spcBef>
                <a:spcPts val="600"/>
              </a:spcBef>
            </a:pPr>
            <a:r>
              <a:rPr sz="1400" b="0">
                <a:solidFill>
                  <a:srgbClr val="8FB6D0"/>
                </a:solidFill>
                <a:latin typeface="Segoe UI"/>
              </a:rPr>
              <a:t>Baseline and 6 months</a:t>
            </a:r>
          </a:p>
        </p:txBody>
      </p:sp>
      <p:sp>
        <p:nvSpPr>
          <p:cNvPr id="27" name="TextBox 26"/>
          <p:cNvSpPr txBox="1"/>
          <p:nvPr/>
        </p:nvSpPr>
        <p:spPr>
          <a:xfrm>
            <a:off x="8241966" y="5714857"/>
            <a:ext cx="3060496"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YOUR TEAM MEASURES</a:t>
            </a:r>
          </a:p>
        </p:txBody>
      </p:sp>
      <p:sp>
        <p:nvSpPr>
          <p:cNvPr id="28" name="TextBox 2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23 / 33</a:t>
            </a:r>
          </a:p>
        </p:txBody>
      </p:sp>
      <p:pic>
        <p:nvPicPr>
          <p:cNvPr id="29" name="merk" descr="merk.png"/>
          <p:cNvPicPr>
            <a:picLocks noChangeAspect="1"/>
          </p:cNvPicPr>
          <p:nvPr/>
        </p:nvPicPr>
        <p:blipFill>
          <a:blip r:embed="rId5"/>
          <a:stretch>
            <a:fillRect/>
          </a:stretch>
        </p:blipFill>
        <p:spPr>
          <a:xfrm>
            <a:off x="11094166" y="368290"/>
            <a:ext cx="417101" cy="482587"/>
          </a:xfrm>
          <a:prstGeom prst="rect">
            <a:avLst/>
          </a:prstGeom>
        </p:spPr>
      </p:pic>
      <p:sp>
        <p:nvSpPr>
          <p:cNvPr id="30" name="TextBox 29"/>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18 · Lutjeboer 2018</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SEBIA · ECRF DOCUMENT 17</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Five conversations</a:t>
            </a:r>
          </a:p>
        </p:txBody>
      </p:sp>
      <p:sp>
        <p:nvSpPr>
          <p:cNvPr id="5" name="Rectangle 4"/>
          <p:cNvSpPr/>
          <p:nvPr/>
        </p:nvSpPr>
        <p:spPr>
          <a:xfrm>
            <a:off x="634984" y="2463738"/>
            <a:ext cx="10921726" cy="1269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49281"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34984"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2779"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01</a:t>
            </a:r>
          </a:p>
        </p:txBody>
      </p:sp>
      <p:sp>
        <p:nvSpPr>
          <p:cNvPr id="9" name="TextBox 8"/>
          <p:cNvSpPr txBox="1"/>
          <p:nvPr/>
        </p:nvSpPr>
        <p:spPr>
          <a:xfrm>
            <a:off x="812779"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Baseline</a:t>
            </a:r>
          </a:p>
        </p:txBody>
      </p:sp>
      <p:sp>
        <p:nvSpPr>
          <p:cNvPr id="10" name="TextBox 9"/>
          <p:cNvSpPr txBox="1"/>
          <p:nvPr/>
        </p:nvSpPr>
        <p:spPr>
          <a:xfrm>
            <a:off x="812779"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Questionnaires first, then tailored education, with demonstration.</a:t>
            </a:r>
          </a:p>
        </p:txBody>
      </p:sp>
      <p:sp>
        <p:nvSpPr>
          <p:cNvPr id="11" name="Oval 10"/>
          <p:cNvSpPr/>
          <p:nvPr/>
        </p:nvSpPr>
        <p:spPr>
          <a:xfrm>
            <a:off x="2959026"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844728"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22524"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02</a:t>
            </a:r>
          </a:p>
        </p:txBody>
      </p:sp>
      <p:sp>
        <p:nvSpPr>
          <p:cNvPr id="14" name="TextBox 13"/>
          <p:cNvSpPr txBox="1"/>
          <p:nvPr/>
        </p:nvSpPr>
        <p:spPr>
          <a:xfrm>
            <a:off x="3022524"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3 mo</a:t>
            </a:r>
          </a:p>
        </p:txBody>
      </p:sp>
      <p:sp>
        <p:nvSpPr>
          <p:cNvPr id="15" name="TextBox 14"/>
          <p:cNvSpPr txBox="1"/>
          <p:nvPr/>
        </p:nvSpPr>
        <p:spPr>
          <a:xfrm>
            <a:off x="3022524"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Teach-back, with the emphasis on índoor wear.</a:t>
            </a:r>
          </a:p>
        </p:txBody>
      </p:sp>
      <p:sp>
        <p:nvSpPr>
          <p:cNvPr id="16" name="Oval 15"/>
          <p:cNvSpPr/>
          <p:nvPr/>
        </p:nvSpPr>
        <p:spPr>
          <a:xfrm>
            <a:off x="5168770"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054473"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232269"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03</a:t>
            </a:r>
          </a:p>
        </p:txBody>
      </p:sp>
      <p:sp>
        <p:nvSpPr>
          <p:cNvPr id="19" name="TextBox 18"/>
          <p:cNvSpPr txBox="1"/>
          <p:nvPr/>
        </p:nvSpPr>
        <p:spPr>
          <a:xfrm>
            <a:off x="5232269"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6 · 12 mo</a:t>
            </a:r>
          </a:p>
        </p:txBody>
      </p:sp>
      <p:sp>
        <p:nvSpPr>
          <p:cNvPr id="20" name="TextBox 19"/>
          <p:cNvSpPr txBox="1"/>
          <p:nvPr/>
        </p:nvSpPr>
        <p:spPr>
          <a:xfrm>
            <a:off x="5232269"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Self-assessment, then reviewing the data together.</a:t>
            </a:r>
          </a:p>
        </p:txBody>
      </p:sp>
      <p:sp>
        <p:nvSpPr>
          <p:cNvPr id="21" name="Oval 20"/>
          <p:cNvSpPr/>
          <p:nvPr/>
        </p:nvSpPr>
        <p:spPr>
          <a:xfrm>
            <a:off x="7378515"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264218"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42013"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04</a:t>
            </a:r>
          </a:p>
        </p:txBody>
      </p:sp>
      <p:sp>
        <p:nvSpPr>
          <p:cNvPr id="24" name="TextBox 23"/>
          <p:cNvSpPr txBox="1"/>
          <p:nvPr/>
        </p:nvSpPr>
        <p:spPr>
          <a:xfrm>
            <a:off x="7442013"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9 · 15 mo</a:t>
            </a:r>
          </a:p>
        </p:txBody>
      </p:sp>
      <p:sp>
        <p:nvSpPr>
          <p:cNvPr id="25" name="TextBox 24"/>
          <p:cNvSpPr txBox="1"/>
          <p:nvPr/>
        </p:nvSpPr>
        <p:spPr>
          <a:xfrm>
            <a:off x="7442013"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Demonstration, comparing the printout with the previous visit.</a:t>
            </a:r>
          </a:p>
        </p:txBody>
      </p:sp>
      <p:sp>
        <p:nvSpPr>
          <p:cNvPr id="26" name="Oval 25"/>
          <p:cNvSpPr/>
          <p:nvPr/>
        </p:nvSpPr>
        <p:spPr>
          <a:xfrm>
            <a:off x="9588260"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473963"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651758"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05</a:t>
            </a:r>
          </a:p>
        </p:txBody>
      </p:sp>
      <p:sp>
        <p:nvSpPr>
          <p:cNvPr id="29" name="TextBox 28"/>
          <p:cNvSpPr txBox="1"/>
          <p:nvPr/>
        </p:nvSpPr>
        <p:spPr>
          <a:xfrm>
            <a:off x="9651758"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18 mo</a:t>
            </a:r>
          </a:p>
        </p:txBody>
      </p:sp>
      <p:sp>
        <p:nvSpPr>
          <p:cNvPr id="30" name="TextBox 29"/>
          <p:cNvSpPr txBox="1"/>
          <p:nvPr/>
        </p:nvSpPr>
        <p:spPr>
          <a:xfrm>
            <a:off x="9651758"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Closing, and sharing the results.</a:t>
            </a:r>
          </a:p>
        </p:txBody>
      </p:sp>
      <p:sp>
        <p:nvSpPr>
          <p:cNvPr id="31" name="TextBox 3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24 / 33</a:t>
            </a:r>
          </a:p>
        </p:txBody>
      </p:sp>
      <p:pic>
        <p:nvPicPr>
          <p:cNvPr id="32"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33" name="TextBox 32"/>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19 · Michie 2011, COM-B   |   26 · Lincoln 2007, NAFF   |   31 · Keukenkamp 2022</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FF7A00"/>
                </a:solidFill>
                <a:latin typeface="Consolas"/>
              </a:rPr>
              <a:t>THE ONE RULE THAT REALLY MATTERS</a:t>
            </a:r>
          </a:p>
        </p:txBody>
      </p:sp>
      <p:sp>
        <p:nvSpPr>
          <p:cNvPr id="4" name="hero"/>
          <p:cNvSpPr txBox="1"/>
          <p:nvPr/>
        </p:nvSpPr>
        <p:spPr>
          <a:xfrm>
            <a:off x="634984" y="1066773"/>
            <a:ext cx="6857828" cy="2539936"/>
          </a:xfrm>
          <a:prstGeom prst="rect">
            <a:avLst/>
          </a:prstGeom>
          <a:noFill/>
        </p:spPr>
        <p:txBody>
          <a:bodyPr wrap="square" anchor="t" lIns="0" rIns="0" tIns="0" bIns="0">
            <a:spAutoFit/>
          </a:bodyPr>
          <a:lstStyle/>
          <a:p>
            <a:pPr algn="l">
              <a:lnSpc>
                <a:spcPct val="108000"/>
              </a:lnSpc>
            </a:pPr>
            <a:r>
              <a:rPr sz="5400" b="1">
                <a:solidFill>
                  <a:srgbClr val="F2F8FC"/>
                </a:solidFill>
                <a:latin typeface="Segoe UI"/>
              </a:rPr>
              <a:t>Measured values do</a:t>
            </a:r>
          </a:p>
          <a:p>
            <a:pPr algn="l">
              <a:lnSpc>
                <a:spcPct val="108000"/>
              </a:lnSpc>
              <a:spcBef>
                <a:spcPts val="500"/>
              </a:spcBef>
            </a:pPr>
            <a:r>
              <a:rPr sz="5400" b="1">
                <a:solidFill>
                  <a:srgbClr val="F2F8FC"/>
                </a:solidFill>
                <a:latin typeface="Segoe UI"/>
              </a:rPr>
              <a:t>not go to the</a:t>
            </a:r>
          </a:p>
          <a:p>
            <a:pPr algn="l">
              <a:lnSpc>
                <a:spcPct val="108000"/>
              </a:lnSpc>
              <a:spcBef>
                <a:spcPts val="500"/>
              </a:spcBef>
            </a:pPr>
            <a:r>
              <a:rPr sz="5400" b="1">
                <a:solidFill>
                  <a:srgbClr val="F2F8FC"/>
                </a:solidFill>
                <a:latin typeface="Segoe UI"/>
              </a:rPr>
              <a:t>control arm</a:t>
            </a:r>
          </a:p>
        </p:txBody>
      </p:sp>
      <p:sp>
        <p:nvSpPr>
          <p:cNvPr id="5" name="Rounded Rectangle 4"/>
          <p:cNvSpPr/>
          <p:nvPr/>
        </p:nvSpPr>
        <p:spPr>
          <a:xfrm>
            <a:off x="634984" y="4101997"/>
            <a:ext cx="6857828" cy="1549361"/>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377" y="4381390"/>
            <a:ext cx="6349841" cy="1206469"/>
          </a:xfrm>
          <a:prstGeom prst="rect">
            <a:avLst/>
          </a:prstGeom>
          <a:noFill/>
        </p:spPr>
        <p:txBody>
          <a:bodyPr wrap="square" anchor="t" lIns="0" rIns="0" tIns="0" bIns="0">
            <a:spAutoFit/>
          </a:bodyPr>
          <a:lstStyle/>
          <a:p>
            <a:pPr algn="l">
              <a:lnSpc>
                <a:spcPct val="145000"/>
              </a:lnSpc>
            </a:pPr>
            <a:r>
              <a:rPr sz="1750" b="0">
                <a:solidFill>
                  <a:srgbClr val="8FB6D0"/>
                </a:solidFill>
                <a:latin typeface="Segoe UI"/>
              </a:rPr>
              <a:t>They too undergo pressure measurement and wear a sensor, otherwise the groups cannot be compared. But those numbers stay with you. Discuss them and you have delivered the intervention, and that patient is no longer usable as a control.</a:t>
            </a:r>
          </a:p>
        </p:txBody>
      </p:sp>
      <p:sp>
        <p:nvSpPr>
          <p:cNvPr id="7" name="Rounded Rectangle 6"/>
          <p:cNvSpPr/>
          <p:nvPr/>
        </p:nvSpPr>
        <p:spPr>
          <a:xfrm>
            <a:off x="7873803" y="2031949"/>
            <a:ext cx="3682907" cy="3517812"/>
          </a:xfrm>
          <a:prstGeom prst="roundRect">
            <a:avLst>
              <a:gd name="adj" fmla="val 4500"/>
            </a:avLst>
          </a:prstGeom>
          <a:solidFill>
            <a:srgbClr val="113A57"/>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78595" y="2324041"/>
            <a:ext cx="3111422" cy="241293"/>
          </a:xfrm>
          <a:prstGeom prst="rect">
            <a:avLst/>
          </a:prstGeom>
          <a:noFill/>
        </p:spPr>
        <p:txBody>
          <a:bodyPr wrap="square" anchor="t" lIns="0" rIns="0" tIns="0" bIns="0">
            <a:spAutoFit/>
          </a:bodyPr>
          <a:lstStyle/>
          <a:p>
            <a:pPr algn="l">
              <a:lnSpc>
                <a:spcPct val="125000"/>
              </a:lnSpc>
            </a:pPr>
            <a:r>
              <a:rPr sz="1250" b="1" spc="160">
                <a:solidFill>
                  <a:srgbClr val="FF7A00"/>
                </a:solidFill>
                <a:latin typeface="Consolas"/>
              </a:rPr>
              <a:t>EXCEPTION</a:t>
            </a:r>
          </a:p>
        </p:txBody>
      </p:sp>
      <p:sp>
        <p:nvSpPr>
          <p:cNvPr id="9" name="TextBox 8"/>
          <p:cNvSpPr txBox="1"/>
          <p:nvPr/>
        </p:nvSpPr>
        <p:spPr>
          <a:xfrm>
            <a:off x="8178595" y="2730431"/>
            <a:ext cx="3111422" cy="2539936"/>
          </a:xfrm>
          <a:prstGeom prst="rect">
            <a:avLst/>
          </a:prstGeom>
          <a:noFill/>
        </p:spPr>
        <p:txBody>
          <a:bodyPr wrap="square" anchor="t" lIns="0" rIns="0" tIns="0" bIns="0">
            <a:spAutoFit/>
          </a:bodyPr>
          <a:lstStyle/>
          <a:p>
            <a:pPr algn="l">
              <a:lnSpc>
                <a:spcPct val="145000"/>
              </a:lnSpc>
            </a:pPr>
            <a:r>
              <a:rPr sz="1800" b="0">
                <a:solidFill>
                  <a:srgbClr val="F2F8FC"/>
                </a:solidFill>
                <a:latin typeface="Segoe UI"/>
              </a:rPr>
              <a:t>Clinical findings are not measured values. Any lesion or skin defect is reported and treated immediately. In both arms.</a:t>
            </a:r>
          </a:p>
        </p:txBody>
      </p:sp>
      <p:sp>
        <p:nvSpPr>
          <p:cNvPr id="10" name="TextBox 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25 / 33</a:t>
            </a:r>
          </a:p>
        </p:txBody>
      </p:sp>
      <p:pic>
        <p:nvPicPr>
          <p:cNvPr id="11"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12" name="TextBox 11"/>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9 · Bus 2013, DIAFOS</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431789" y="723881"/>
            <a:ext cx="5714857" cy="2920926"/>
          </a:xfrm>
          <a:prstGeom prst="rect">
            <a:avLst/>
          </a:prstGeom>
          <a:noFill/>
        </p:spPr>
        <p:txBody>
          <a:bodyPr wrap="none" anchor="t" lIns="0" rIns="0" tIns="0" bIns="0">
            <a:spAutoFit/>
          </a:bodyPr>
          <a:lstStyle/>
          <a:p>
            <a:pPr algn="l">
              <a:lnSpc>
                <a:spcPct val="82000"/>
              </a:lnSpc>
            </a:pPr>
            <a:r>
              <a:rPr sz="26000" b="1">
                <a:solidFill>
                  <a:srgbClr val="52BDEC">
                    <a:alpha val="15000"/>
                  </a:srgbClr>
                </a:solidFill>
                <a:latin typeface="Segoe UI"/>
              </a:rPr>
              <a:t>04</a:t>
            </a:r>
          </a:p>
        </p:txBody>
      </p:sp>
      <p:sp>
        <p:nvSpPr>
          <p:cNvPr id="5" name="TextBox 4"/>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BLOCK 04</a:t>
            </a:r>
          </a:p>
        </p:txBody>
      </p:sp>
      <p:sp>
        <p:nvSpPr>
          <p:cNvPr id="6" name="Rectangle 5"/>
          <p:cNvSpPr/>
          <p:nvPr/>
        </p:nvSpPr>
        <p:spPr>
          <a:xfrm>
            <a:off x="634984" y="3213019"/>
            <a:ext cx="812779" cy="50798"/>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Endpoints and analysis</a:t>
            </a:r>
          </a:p>
        </p:txBody>
      </p:sp>
      <p:sp>
        <p:nvSpPr>
          <p:cNvPr id="8" name="TextBox 7"/>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One endpoint, and the mediator that explains it.</a:t>
            </a:r>
          </a:p>
        </p:txBody>
      </p:sp>
      <p:sp>
        <p:nvSpPr>
          <p:cNvPr id="9" name="TextBox 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26 / 33</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SAMPLE SIZE</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Powered on recurrence</a:t>
            </a:r>
          </a:p>
        </p:txBody>
      </p:sp>
      <p:sp>
        <p:nvSpPr>
          <p:cNvPr id="5" name="Rounded Rectangle 4"/>
          <p:cNvSpPr/>
          <p:nvPr/>
        </p:nvSpPr>
        <p:spPr>
          <a:xfrm>
            <a:off x="634984" y="1816054"/>
            <a:ext cx="5384538" cy="353228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3578" y="1993850"/>
            <a:ext cx="4927349" cy="253993"/>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PRIMARY ENDPOINT</a:t>
            </a:r>
          </a:p>
        </p:txBody>
      </p:sp>
      <p:sp>
        <p:nvSpPr>
          <p:cNvPr id="7" name="TextBox 6"/>
          <p:cNvSpPr txBox="1"/>
          <p:nvPr/>
        </p:nvSpPr>
        <p:spPr>
          <a:xfrm>
            <a:off x="863578" y="2260543"/>
            <a:ext cx="4927349" cy="444488"/>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Ulcer recurrence at 18 months</a:t>
            </a:r>
          </a:p>
        </p:txBody>
      </p:sp>
      <p:sp>
        <p:nvSpPr>
          <p:cNvPr id="8" name="Rectangle 7"/>
          <p:cNvSpPr/>
          <p:nvPr/>
        </p:nvSpPr>
        <p:spPr>
          <a:xfrm>
            <a:off x="863578" y="2717732"/>
            <a:ext cx="492734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3578" y="2819329"/>
            <a:ext cx="1587460" cy="215894"/>
          </a:xfrm>
          <a:prstGeom prst="rect">
            <a:avLst/>
          </a:prstGeom>
          <a:noFill/>
        </p:spPr>
        <p:txBody>
          <a:bodyPr wrap="none" anchor="t" lIns="0" rIns="0" tIns="0" bIns="0">
            <a:spAutoFit/>
          </a:bodyPr>
          <a:lstStyle/>
          <a:p>
            <a:pPr algn="l">
              <a:lnSpc>
                <a:spcPct val="125000"/>
              </a:lnSpc>
            </a:pPr>
            <a:r>
              <a:rPr sz="1300" b="0">
                <a:solidFill>
                  <a:srgbClr val="8FB6D0"/>
                </a:solidFill>
                <a:latin typeface="Segoe UI"/>
              </a:rPr>
              <a:t>Assumed, control</a:t>
            </a:r>
          </a:p>
        </p:txBody>
      </p:sp>
      <p:sp>
        <p:nvSpPr>
          <p:cNvPr id="10" name="TextBox 9"/>
          <p:cNvSpPr txBox="1"/>
          <p:nvPr/>
        </p:nvSpPr>
        <p:spPr>
          <a:xfrm>
            <a:off x="2539936" y="2806629"/>
            <a:ext cx="3250991" cy="333087"/>
          </a:xfrm>
          <a:prstGeom prst="rect">
            <a:avLst/>
          </a:prstGeom>
          <a:noFill/>
        </p:spPr>
        <p:txBody>
          <a:bodyPr wrap="square" anchor="t" lIns="0" rIns="0" tIns="0" bIns="0">
            <a:spAutoFit/>
          </a:bodyPr>
          <a:lstStyle/>
          <a:p>
            <a:pPr algn="l">
              <a:lnSpc>
                <a:spcPct val="120000"/>
              </a:lnSpc>
            </a:pPr>
            <a:r>
              <a:rPr sz="1450" b="1">
                <a:solidFill>
                  <a:srgbClr val="F2F8FC"/>
                </a:solidFill>
                <a:latin typeface="Segoe UI"/>
              </a:rPr>
              <a:t>50% recurrence</a:t>
            </a:r>
          </a:p>
        </p:txBody>
      </p:sp>
      <p:sp>
        <p:nvSpPr>
          <p:cNvPr id="11" name="Rectangle 10"/>
          <p:cNvSpPr/>
          <p:nvPr/>
        </p:nvSpPr>
        <p:spPr>
          <a:xfrm>
            <a:off x="863578" y="3127017"/>
            <a:ext cx="492734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3578" y="3228614"/>
            <a:ext cx="1587460" cy="215894"/>
          </a:xfrm>
          <a:prstGeom prst="rect">
            <a:avLst/>
          </a:prstGeom>
          <a:noFill/>
        </p:spPr>
        <p:txBody>
          <a:bodyPr wrap="none" anchor="t" lIns="0" rIns="0" tIns="0" bIns="0">
            <a:spAutoFit/>
          </a:bodyPr>
          <a:lstStyle/>
          <a:p>
            <a:pPr algn="l">
              <a:lnSpc>
                <a:spcPct val="125000"/>
              </a:lnSpc>
            </a:pPr>
            <a:r>
              <a:rPr sz="1300" b="0">
                <a:solidFill>
                  <a:srgbClr val="8FB6D0"/>
                </a:solidFill>
                <a:latin typeface="Segoe UI"/>
              </a:rPr>
              <a:t>Assumed, intervention</a:t>
            </a:r>
          </a:p>
        </p:txBody>
      </p:sp>
      <p:sp>
        <p:nvSpPr>
          <p:cNvPr id="13" name="TextBox 12"/>
          <p:cNvSpPr txBox="1"/>
          <p:nvPr/>
        </p:nvSpPr>
        <p:spPr>
          <a:xfrm>
            <a:off x="2539936" y="3215915"/>
            <a:ext cx="3250991" cy="333087"/>
          </a:xfrm>
          <a:prstGeom prst="rect">
            <a:avLst/>
          </a:prstGeom>
          <a:noFill/>
        </p:spPr>
        <p:txBody>
          <a:bodyPr wrap="square" anchor="t" lIns="0" rIns="0" tIns="0" bIns="0">
            <a:spAutoFit/>
          </a:bodyPr>
          <a:lstStyle/>
          <a:p>
            <a:pPr algn="l">
              <a:lnSpc>
                <a:spcPct val="120000"/>
              </a:lnSpc>
            </a:pPr>
            <a:r>
              <a:rPr sz="1450" b="1">
                <a:solidFill>
                  <a:srgbClr val="F2F8FC"/>
                </a:solidFill>
                <a:latin typeface="Segoe UI"/>
              </a:rPr>
              <a:t>25%, hazard ratio 0.42</a:t>
            </a:r>
          </a:p>
        </p:txBody>
      </p:sp>
      <p:sp>
        <p:nvSpPr>
          <p:cNvPr id="14" name="Rectangle 13"/>
          <p:cNvSpPr/>
          <p:nvPr/>
        </p:nvSpPr>
        <p:spPr>
          <a:xfrm>
            <a:off x="863578" y="3536302"/>
            <a:ext cx="492734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3578" y="3637900"/>
            <a:ext cx="1587460" cy="215894"/>
          </a:xfrm>
          <a:prstGeom prst="rect">
            <a:avLst/>
          </a:prstGeom>
          <a:noFill/>
        </p:spPr>
        <p:txBody>
          <a:bodyPr wrap="none" anchor="t" lIns="0" rIns="0" tIns="0" bIns="0">
            <a:spAutoFit/>
          </a:bodyPr>
          <a:lstStyle/>
          <a:p>
            <a:pPr algn="l">
              <a:lnSpc>
                <a:spcPct val="125000"/>
              </a:lnSpc>
            </a:pPr>
            <a:r>
              <a:rPr sz="1300" b="0">
                <a:solidFill>
                  <a:srgbClr val="8FB6D0"/>
                </a:solidFill>
                <a:latin typeface="Segoe UI"/>
              </a:rPr>
              <a:t>Test</a:t>
            </a:r>
          </a:p>
        </p:txBody>
      </p:sp>
      <p:sp>
        <p:nvSpPr>
          <p:cNvPr id="16" name="TextBox 15"/>
          <p:cNvSpPr txBox="1"/>
          <p:nvPr/>
        </p:nvSpPr>
        <p:spPr>
          <a:xfrm>
            <a:off x="2539936" y="3625200"/>
            <a:ext cx="3250991" cy="333087"/>
          </a:xfrm>
          <a:prstGeom prst="rect">
            <a:avLst/>
          </a:prstGeom>
          <a:noFill/>
        </p:spPr>
        <p:txBody>
          <a:bodyPr wrap="square" anchor="t" lIns="0" rIns="0" tIns="0" bIns="0">
            <a:spAutoFit/>
          </a:bodyPr>
          <a:lstStyle/>
          <a:p>
            <a:pPr algn="l">
              <a:lnSpc>
                <a:spcPct val="120000"/>
              </a:lnSpc>
            </a:pPr>
            <a:r>
              <a:rPr sz="1450" b="1">
                <a:solidFill>
                  <a:srgbClr val="F2F8FC"/>
                </a:solidFill>
                <a:latin typeface="Segoe UI"/>
              </a:rPr>
              <a:t>log-rank, two-sided, α = 0.05</a:t>
            </a:r>
          </a:p>
        </p:txBody>
      </p:sp>
      <p:sp>
        <p:nvSpPr>
          <p:cNvPr id="17" name="Rectangle 16"/>
          <p:cNvSpPr/>
          <p:nvPr/>
        </p:nvSpPr>
        <p:spPr>
          <a:xfrm>
            <a:off x="863578" y="3945588"/>
            <a:ext cx="492734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3578" y="4047185"/>
            <a:ext cx="1587460" cy="215894"/>
          </a:xfrm>
          <a:prstGeom prst="rect">
            <a:avLst/>
          </a:prstGeom>
          <a:noFill/>
        </p:spPr>
        <p:txBody>
          <a:bodyPr wrap="none" anchor="t" lIns="0" rIns="0" tIns="0" bIns="0">
            <a:spAutoFit/>
          </a:bodyPr>
          <a:lstStyle/>
          <a:p>
            <a:pPr algn="l">
              <a:lnSpc>
                <a:spcPct val="125000"/>
              </a:lnSpc>
            </a:pPr>
            <a:r>
              <a:rPr sz="1300" b="0">
                <a:solidFill>
                  <a:srgbClr val="8FB6D0"/>
                </a:solidFill>
                <a:latin typeface="Segoe UI"/>
              </a:rPr>
              <a:t>Power</a:t>
            </a:r>
          </a:p>
        </p:txBody>
      </p:sp>
      <p:sp>
        <p:nvSpPr>
          <p:cNvPr id="19" name="TextBox 18"/>
          <p:cNvSpPr txBox="1"/>
          <p:nvPr/>
        </p:nvSpPr>
        <p:spPr>
          <a:xfrm>
            <a:off x="2539936" y="4034485"/>
            <a:ext cx="3250991" cy="333087"/>
          </a:xfrm>
          <a:prstGeom prst="rect">
            <a:avLst/>
          </a:prstGeom>
          <a:noFill/>
        </p:spPr>
        <p:txBody>
          <a:bodyPr wrap="square" anchor="t" lIns="0" rIns="0" tIns="0" bIns="0">
            <a:spAutoFit/>
          </a:bodyPr>
          <a:lstStyle/>
          <a:p>
            <a:pPr algn="l">
              <a:lnSpc>
                <a:spcPct val="120000"/>
              </a:lnSpc>
            </a:pPr>
            <a:r>
              <a:rPr sz="1450" b="1">
                <a:solidFill>
                  <a:srgbClr val="F2F8FC"/>
                </a:solidFill>
                <a:latin typeface="Segoe UI"/>
              </a:rPr>
              <a:t>80% → 41 events required</a:t>
            </a:r>
          </a:p>
        </p:txBody>
      </p:sp>
      <p:sp>
        <p:nvSpPr>
          <p:cNvPr id="20" name="Rectangle 19"/>
          <p:cNvSpPr/>
          <p:nvPr/>
        </p:nvSpPr>
        <p:spPr>
          <a:xfrm>
            <a:off x="863578" y="4354873"/>
            <a:ext cx="492734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3578" y="4456470"/>
            <a:ext cx="1587460" cy="215894"/>
          </a:xfrm>
          <a:prstGeom prst="rect">
            <a:avLst/>
          </a:prstGeom>
          <a:noFill/>
        </p:spPr>
        <p:txBody>
          <a:bodyPr wrap="none" anchor="t" lIns="0" rIns="0" tIns="0" bIns="0">
            <a:spAutoFit/>
          </a:bodyPr>
          <a:lstStyle/>
          <a:p>
            <a:pPr algn="l">
              <a:lnSpc>
                <a:spcPct val="125000"/>
              </a:lnSpc>
            </a:pPr>
            <a:r>
              <a:rPr sz="1300" b="0">
                <a:solidFill>
                  <a:srgbClr val="8FB6D0"/>
                </a:solidFill>
                <a:latin typeface="Segoe UI"/>
              </a:rPr>
              <a:t>Attrition</a:t>
            </a:r>
          </a:p>
        </p:txBody>
      </p:sp>
      <p:sp>
        <p:nvSpPr>
          <p:cNvPr id="22" name="TextBox 21"/>
          <p:cNvSpPr txBox="1"/>
          <p:nvPr/>
        </p:nvSpPr>
        <p:spPr>
          <a:xfrm>
            <a:off x="2539936" y="4443771"/>
            <a:ext cx="3250991" cy="333087"/>
          </a:xfrm>
          <a:prstGeom prst="rect">
            <a:avLst/>
          </a:prstGeom>
          <a:noFill/>
        </p:spPr>
        <p:txBody>
          <a:bodyPr wrap="square" anchor="t" lIns="0" rIns="0" tIns="0" bIns="0">
            <a:spAutoFit/>
          </a:bodyPr>
          <a:lstStyle/>
          <a:p>
            <a:pPr algn="l">
              <a:lnSpc>
                <a:spcPct val="120000"/>
              </a:lnSpc>
            </a:pPr>
            <a:r>
              <a:rPr sz="1450" b="1">
                <a:solidFill>
                  <a:srgbClr val="F2F8FC"/>
                </a:solidFill>
                <a:latin typeface="Segoe UI"/>
              </a:rPr>
              <a:t>15%</a:t>
            </a:r>
          </a:p>
        </p:txBody>
      </p:sp>
      <p:sp>
        <p:nvSpPr>
          <p:cNvPr id="23" name="Rounded Rectangle 22"/>
          <p:cNvSpPr/>
          <p:nvPr/>
        </p:nvSpPr>
        <p:spPr>
          <a:xfrm>
            <a:off x="863578" y="4827657"/>
            <a:ext cx="4927349" cy="317492"/>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3578" y="4903855"/>
            <a:ext cx="4927349" cy="253993"/>
          </a:xfrm>
          <a:prstGeom prst="rect">
            <a:avLst/>
          </a:prstGeom>
          <a:noFill/>
        </p:spPr>
        <p:txBody>
          <a:bodyPr wrap="square" anchor="t" lIns="0" rIns="0" tIns="0" bIns="0">
            <a:spAutoFit/>
          </a:bodyPr>
          <a:lstStyle/>
          <a:p>
            <a:pPr algn="ctr">
              <a:lnSpc>
                <a:spcPct val="125000"/>
              </a:lnSpc>
            </a:pPr>
            <a:r>
              <a:rPr sz="1600" b="1">
                <a:solidFill>
                  <a:srgbClr val="52BDEC"/>
                </a:solidFill>
                <a:latin typeface="Consolas"/>
              </a:rPr>
              <a:t>108 → 127 with attrition → 130 stratified</a:t>
            </a:r>
          </a:p>
        </p:txBody>
      </p:sp>
      <p:sp>
        <p:nvSpPr>
          <p:cNvPr id="25" name="Rounded Rectangle 24"/>
          <p:cNvSpPr/>
          <p:nvPr/>
        </p:nvSpPr>
        <p:spPr>
          <a:xfrm>
            <a:off x="6171918" y="1816054"/>
            <a:ext cx="5384538" cy="353228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512" y="1993850"/>
            <a:ext cx="4927349" cy="253993"/>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MEDIATOR</a:t>
            </a:r>
          </a:p>
        </p:txBody>
      </p:sp>
      <p:sp>
        <p:nvSpPr>
          <p:cNvPr id="27" name="TextBox 26"/>
          <p:cNvSpPr txBox="1"/>
          <p:nvPr/>
        </p:nvSpPr>
        <p:spPr>
          <a:xfrm>
            <a:off x="6400512" y="2260543"/>
            <a:ext cx="4927349" cy="444488"/>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Footwear adherence at 12 months</a:t>
            </a:r>
          </a:p>
        </p:txBody>
      </p:sp>
      <p:sp>
        <p:nvSpPr>
          <p:cNvPr id="28" name="Rectangle 27"/>
          <p:cNvSpPr/>
          <p:nvPr/>
        </p:nvSpPr>
        <p:spPr>
          <a:xfrm>
            <a:off x="6400512" y="2717732"/>
            <a:ext cx="492734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512" y="2819329"/>
            <a:ext cx="1587460" cy="215894"/>
          </a:xfrm>
          <a:prstGeom prst="rect">
            <a:avLst/>
          </a:prstGeom>
          <a:noFill/>
        </p:spPr>
        <p:txBody>
          <a:bodyPr wrap="none" anchor="t" lIns="0" rIns="0" tIns="0" bIns="0">
            <a:spAutoFit/>
          </a:bodyPr>
          <a:lstStyle/>
          <a:p>
            <a:pPr algn="l">
              <a:lnSpc>
                <a:spcPct val="125000"/>
              </a:lnSpc>
            </a:pPr>
            <a:r>
              <a:rPr sz="1300" b="0">
                <a:solidFill>
                  <a:srgbClr val="8FB6D0"/>
                </a:solidFill>
                <a:latin typeface="Segoe UI"/>
              </a:rPr>
              <a:t>Assumed, control</a:t>
            </a:r>
          </a:p>
        </p:txBody>
      </p:sp>
      <p:sp>
        <p:nvSpPr>
          <p:cNvPr id="30" name="TextBox 29"/>
          <p:cNvSpPr txBox="1"/>
          <p:nvPr/>
        </p:nvSpPr>
        <p:spPr>
          <a:xfrm>
            <a:off x="8076871" y="2806629"/>
            <a:ext cx="3250991" cy="333087"/>
          </a:xfrm>
          <a:prstGeom prst="rect">
            <a:avLst/>
          </a:prstGeom>
          <a:noFill/>
        </p:spPr>
        <p:txBody>
          <a:bodyPr wrap="square" anchor="t" lIns="0" rIns="0" tIns="0" bIns="0">
            <a:spAutoFit/>
          </a:bodyPr>
          <a:lstStyle/>
          <a:p>
            <a:pPr algn="l">
              <a:lnSpc>
                <a:spcPct val="120000"/>
              </a:lnSpc>
            </a:pPr>
            <a:r>
              <a:rPr sz="1450" b="1">
                <a:solidFill>
                  <a:srgbClr val="F2F8FC"/>
                </a:solidFill>
                <a:latin typeface="Segoe UI"/>
              </a:rPr>
              <a:t>71%, SD 25%</a:t>
            </a:r>
          </a:p>
        </p:txBody>
      </p:sp>
      <p:sp>
        <p:nvSpPr>
          <p:cNvPr id="31" name="Rectangle 30"/>
          <p:cNvSpPr/>
          <p:nvPr/>
        </p:nvSpPr>
        <p:spPr>
          <a:xfrm>
            <a:off x="6400512" y="3127017"/>
            <a:ext cx="492734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512" y="3228614"/>
            <a:ext cx="1587460" cy="215894"/>
          </a:xfrm>
          <a:prstGeom prst="rect">
            <a:avLst/>
          </a:prstGeom>
          <a:noFill/>
        </p:spPr>
        <p:txBody>
          <a:bodyPr wrap="none" anchor="t" lIns="0" rIns="0" tIns="0" bIns="0">
            <a:spAutoFit/>
          </a:bodyPr>
          <a:lstStyle/>
          <a:p>
            <a:pPr algn="l">
              <a:lnSpc>
                <a:spcPct val="125000"/>
              </a:lnSpc>
            </a:pPr>
            <a:r>
              <a:rPr sz="1300" b="0">
                <a:solidFill>
                  <a:srgbClr val="8FB6D0"/>
                </a:solidFill>
                <a:latin typeface="Segoe UI"/>
              </a:rPr>
              <a:t>Assumed, intervention</a:t>
            </a:r>
          </a:p>
        </p:txBody>
      </p:sp>
      <p:sp>
        <p:nvSpPr>
          <p:cNvPr id="33" name="TextBox 32"/>
          <p:cNvSpPr txBox="1"/>
          <p:nvPr/>
        </p:nvSpPr>
        <p:spPr>
          <a:xfrm>
            <a:off x="8076871" y="3215915"/>
            <a:ext cx="3250991" cy="333087"/>
          </a:xfrm>
          <a:prstGeom prst="rect">
            <a:avLst/>
          </a:prstGeom>
          <a:noFill/>
        </p:spPr>
        <p:txBody>
          <a:bodyPr wrap="square" anchor="t" lIns="0" rIns="0" tIns="0" bIns="0">
            <a:spAutoFit/>
          </a:bodyPr>
          <a:lstStyle/>
          <a:p>
            <a:pPr algn="l">
              <a:lnSpc>
                <a:spcPct val="120000"/>
              </a:lnSpc>
            </a:pPr>
            <a:r>
              <a:rPr sz="1450" b="1">
                <a:solidFill>
                  <a:srgbClr val="F2F8FC"/>
                </a:solidFill>
                <a:latin typeface="Segoe UI"/>
              </a:rPr>
              <a:t>85%, effect size 0.56</a:t>
            </a:r>
          </a:p>
        </p:txBody>
      </p:sp>
      <p:sp>
        <p:nvSpPr>
          <p:cNvPr id="34" name="Rectangle 33"/>
          <p:cNvSpPr/>
          <p:nvPr/>
        </p:nvSpPr>
        <p:spPr>
          <a:xfrm>
            <a:off x="6400512" y="3536302"/>
            <a:ext cx="492734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512" y="3637900"/>
            <a:ext cx="1587460" cy="215894"/>
          </a:xfrm>
          <a:prstGeom prst="rect">
            <a:avLst/>
          </a:prstGeom>
          <a:noFill/>
        </p:spPr>
        <p:txBody>
          <a:bodyPr wrap="none" anchor="t" lIns="0" rIns="0" tIns="0" bIns="0">
            <a:spAutoFit/>
          </a:bodyPr>
          <a:lstStyle/>
          <a:p>
            <a:pPr algn="l">
              <a:lnSpc>
                <a:spcPct val="125000"/>
              </a:lnSpc>
            </a:pPr>
            <a:r>
              <a:rPr sz="1300" b="0">
                <a:solidFill>
                  <a:srgbClr val="8FB6D0"/>
                </a:solidFill>
                <a:latin typeface="Segoe UI"/>
              </a:rPr>
              <a:t>Role</a:t>
            </a:r>
          </a:p>
        </p:txBody>
      </p:sp>
      <p:sp>
        <p:nvSpPr>
          <p:cNvPr id="36" name="TextBox 35"/>
          <p:cNvSpPr txBox="1"/>
          <p:nvPr/>
        </p:nvSpPr>
        <p:spPr>
          <a:xfrm>
            <a:off x="8076871" y="3625200"/>
            <a:ext cx="3250991" cy="333087"/>
          </a:xfrm>
          <a:prstGeom prst="rect">
            <a:avLst/>
          </a:prstGeom>
          <a:noFill/>
        </p:spPr>
        <p:txBody>
          <a:bodyPr wrap="square" anchor="t" lIns="0" rIns="0" tIns="0" bIns="0">
            <a:spAutoFit/>
          </a:bodyPr>
          <a:lstStyle/>
          <a:p>
            <a:pPr algn="l">
              <a:lnSpc>
                <a:spcPct val="120000"/>
              </a:lnSpc>
            </a:pPr>
            <a:r>
              <a:rPr sz="1450" b="1">
                <a:solidFill>
                  <a:srgbClr val="F2F8FC"/>
                </a:solidFill>
                <a:latin typeface="Segoe UI"/>
              </a:rPr>
              <a:t>prespecified mediator</a:t>
            </a:r>
          </a:p>
        </p:txBody>
      </p:sp>
      <p:sp>
        <p:nvSpPr>
          <p:cNvPr id="37" name="Rectangle 36"/>
          <p:cNvSpPr/>
          <p:nvPr/>
        </p:nvSpPr>
        <p:spPr>
          <a:xfrm>
            <a:off x="6400512" y="3945588"/>
            <a:ext cx="492734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512" y="4047185"/>
            <a:ext cx="1587460" cy="215894"/>
          </a:xfrm>
          <a:prstGeom prst="rect">
            <a:avLst/>
          </a:prstGeom>
          <a:noFill/>
        </p:spPr>
        <p:txBody>
          <a:bodyPr wrap="none" anchor="t" lIns="0" rIns="0" tIns="0" bIns="0">
            <a:spAutoFit/>
          </a:bodyPr>
          <a:lstStyle/>
          <a:p>
            <a:pPr algn="l">
              <a:lnSpc>
                <a:spcPct val="125000"/>
              </a:lnSpc>
            </a:pPr>
            <a:r>
              <a:rPr sz="1300" b="0">
                <a:solidFill>
                  <a:srgbClr val="8FB6D0"/>
                </a:solidFill>
                <a:latin typeface="Segoe UI"/>
              </a:rPr>
              <a:t>Own criterion</a:t>
            </a:r>
          </a:p>
        </p:txBody>
      </p:sp>
      <p:sp>
        <p:nvSpPr>
          <p:cNvPr id="39" name="TextBox 38"/>
          <p:cNvSpPr txBox="1"/>
          <p:nvPr/>
        </p:nvSpPr>
        <p:spPr>
          <a:xfrm>
            <a:off x="8076871" y="4034485"/>
            <a:ext cx="3250991" cy="333087"/>
          </a:xfrm>
          <a:prstGeom prst="rect">
            <a:avLst/>
          </a:prstGeom>
          <a:noFill/>
        </p:spPr>
        <p:txBody>
          <a:bodyPr wrap="square" anchor="t" lIns="0" rIns="0" tIns="0" bIns="0">
            <a:spAutoFit/>
          </a:bodyPr>
          <a:lstStyle/>
          <a:p>
            <a:pPr algn="l">
              <a:lnSpc>
                <a:spcPct val="120000"/>
              </a:lnSpc>
            </a:pPr>
            <a:r>
              <a:rPr sz="1450" b="1">
                <a:solidFill>
                  <a:srgbClr val="F2F8FC"/>
                </a:solidFill>
                <a:latin typeface="Segoe UI"/>
              </a:rPr>
              <a:t>geen</a:t>
            </a:r>
          </a:p>
        </p:txBody>
      </p:sp>
      <p:sp>
        <p:nvSpPr>
          <p:cNvPr id="40" name="Rectangle 39"/>
          <p:cNvSpPr/>
          <p:nvPr/>
        </p:nvSpPr>
        <p:spPr>
          <a:xfrm>
            <a:off x="6400512" y="4354873"/>
            <a:ext cx="492734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00512" y="4456470"/>
            <a:ext cx="1587460" cy="215894"/>
          </a:xfrm>
          <a:prstGeom prst="rect">
            <a:avLst/>
          </a:prstGeom>
          <a:noFill/>
        </p:spPr>
        <p:txBody>
          <a:bodyPr wrap="none" anchor="t" lIns="0" rIns="0" tIns="0" bIns="0">
            <a:spAutoFit/>
          </a:bodyPr>
          <a:lstStyle/>
          <a:p>
            <a:pPr algn="l">
              <a:lnSpc>
                <a:spcPct val="125000"/>
              </a:lnSpc>
            </a:pPr>
            <a:r>
              <a:rPr sz="1300" b="0">
                <a:solidFill>
                  <a:srgbClr val="8FB6D0"/>
                </a:solidFill>
                <a:latin typeface="Segoe UI"/>
              </a:rPr>
              <a:t>Measured in full</a:t>
            </a:r>
          </a:p>
        </p:txBody>
      </p:sp>
      <p:sp>
        <p:nvSpPr>
          <p:cNvPr id="42" name="TextBox 41"/>
          <p:cNvSpPr txBox="1"/>
          <p:nvPr/>
        </p:nvSpPr>
        <p:spPr>
          <a:xfrm>
            <a:off x="8076871" y="4443771"/>
            <a:ext cx="3250991" cy="333087"/>
          </a:xfrm>
          <a:prstGeom prst="rect">
            <a:avLst/>
          </a:prstGeom>
          <a:noFill/>
        </p:spPr>
        <p:txBody>
          <a:bodyPr wrap="square" anchor="t" lIns="0" rIns="0" tIns="0" bIns="0">
            <a:spAutoFit/>
          </a:bodyPr>
          <a:lstStyle/>
          <a:p>
            <a:pPr algn="l">
              <a:lnSpc>
                <a:spcPct val="120000"/>
              </a:lnSpc>
            </a:pPr>
            <a:r>
              <a:rPr sz="1450" b="1">
                <a:solidFill>
                  <a:srgbClr val="F2F8FC"/>
                </a:solidFill>
                <a:latin typeface="Segoe UI"/>
              </a:rPr>
              <a:t>7 days a week, every 3 months</a:t>
            </a:r>
          </a:p>
        </p:txBody>
      </p:sp>
      <p:sp>
        <p:nvSpPr>
          <p:cNvPr id="43" name="Rounded Rectangle 42"/>
          <p:cNvSpPr/>
          <p:nvPr/>
        </p:nvSpPr>
        <p:spPr>
          <a:xfrm>
            <a:off x="6400512" y="4827657"/>
            <a:ext cx="4927349" cy="317492"/>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00512" y="4903855"/>
            <a:ext cx="4927349" cy="253993"/>
          </a:xfrm>
          <a:prstGeom prst="rect">
            <a:avLst/>
          </a:prstGeom>
          <a:noFill/>
        </p:spPr>
        <p:txBody>
          <a:bodyPr wrap="square" anchor="t" lIns="0" rIns="0" tIns="0" bIns="0">
            <a:spAutoFit/>
          </a:bodyPr>
          <a:lstStyle/>
          <a:p>
            <a:pPr algn="ctr">
              <a:lnSpc>
                <a:spcPct val="125000"/>
              </a:lnSpc>
            </a:pPr>
            <a:r>
              <a:rPr sz="1600" b="1">
                <a:solidFill>
                  <a:srgbClr val="52BDEC"/>
                </a:solidFill>
                <a:latin typeface="Consolas"/>
              </a:rPr>
              <a:t>amply covered at 144</a:t>
            </a:r>
          </a:p>
        </p:txBody>
      </p:sp>
      <p:sp>
        <p:nvSpPr>
          <p:cNvPr id="45" name="Rounded Rectangle 44"/>
          <p:cNvSpPr/>
          <p:nvPr/>
        </p:nvSpPr>
        <p:spPr>
          <a:xfrm>
            <a:off x="634984" y="5462641"/>
            <a:ext cx="10921726" cy="1106980"/>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39776" y="5576938"/>
            <a:ext cx="4444888" cy="215894"/>
          </a:xfrm>
          <a:prstGeom prst="rect">
            <a:avLst/>
          </a:prstGeom>
          <a:noFill/>
        </p:spPr>
        <p:txBody>
          <a:bodyPr wrap="none" anchor="t" lIns="0" rIns="0" tIns="0" bIns="0">
            <a:spAutoFit/>
          </a:bodyPr>
          <a:lstStyle/>
          <a:p>
            <a:pPr algn="l">
              <a:lnSpc>
                <a:spcPct val="125000"/>
              </a:lnSpc>
            </a:pPr>
            <a:r>
              <a:rPr sz="1250" b="1" spc="150">
                <a:solidFill>
                  <a:srgbClr val="FF7A00"/>
                </a:solidFill>
                <a:latin typeface="Consolas"/>
              </a:rPr>
              <a:t>SO WHY 144</a:t>
            </a:r>
          </a:p>
        </p:txBody>
      </p:sp>
      <p:sp>
        <p:nvSpPr>
          <p:cNvPr id="47" name="TextBox 46"/>
          <p:cNvSpPr txBox="1"/>
          <p:nvPr/>
        </p:nvSpPr>
        <p:spPr>
          <a:xfrm>
            <a:off x="939776" y="5805532"/>
            <a:ext cx="10286742" cy="738689"/>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Six centres times 24 is 144. That figure comes from per-centre recruitment capacity rather than from the calculation, and it exceeds the minimum of 130.</a:t>
            </a:r>
          </a:p>
        </p:txBody>
      </p:sp>
      <p:sp>
        <p:nvSpPr>
          <p:cNvPr id="48" name="TextBox 4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27 / 33</a:t>
            </a:r>
          </a:p>
        </p:txBody>
      </p:sp>
      <p:pic>
        <p:nvPicPr>
          <p:cNvPr id="49"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50" name="TextBox 49"/>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9 · Bus 2013, DIAFOS   |   13 · Waaijman 2013</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WHY ADHERENCE IS NOT A SECOND ENDPOINT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The mediator carries the explanation, not the verdict</a:t>
            </a:r>
          </a:p>
        </p:txBody>
      </p:sp>
      <p:sp>
        <p:nvSpPr>
          <p:cNvPr id="5" name="TextBox 4"/>
          <p:cNvSpPr txBox="1"/>
          <p:nvPr/>
        </p:nvSpPr>
        <p:spPr>
          <a:xfrm>
            <a:off x="634984" y="1676358"/>
            <a:ext cx="8889777" cy="279393"/>
          </a:xfrm>
          <a:prstGeom prst="rect">
            <a:avLst/>
          </a:prstGeom>
          <a:noFill/>
        </p:spPr>
        <p:txBody>
          <a:bodyPr wrap="square" anchor="t" lIns="0" rIns="0" tIns="0" bIns="0">
            <a:spAutoFit/>
          </a:bodyPr>
          <a:lstStyle/>
          <a:p>
            <a:pPr algn="l">
              <a:lnSpc>
                <a:spcPct val="125000"/>
              </a:lnSpc>
            </a:pPr>
            <a:r>
              <a:rPr sz="1650" b="0">
                <a:solidFill>
                  <a:srgbClr val="8FB6D0"/>
                </a:solidFill>
                <a:latin typeface="Segoe UI"/>
              </a:rPr>
              <a:t>The trial is positive if recurrence falls significantly. Adherence says whý.</a:t>
            </a:r>
          </a:p>
        </p:txBody>
      </p:sp>
      <p:sp>
        <p:nvSpPr>
          <p:cNvPr id="6" name="Rounded Rectangle 5"/>
          <p:cNvSpPr/>
          <p:nvPr/>
        </p:nvSpPr>
        <p:spPr>
          <a:xfrm>
            <a:off x="634984" y="2133546"/>
            <a:ext cx="5384538" cy="77468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8179" y="2273243"/>
            <a:ext cx="4978148" cy="228594"/>
          </a:xfrm>
          <a:prstGeom prst="rect">
            <a:avLst/>
          </a:prstGeom>
          <a:noFill/>
        </p:spPr>
        <p:txBody>
          <a:bodyPr wrap="square" anchor="t" lIns="0" rIns="0" tIns="0" bIns="0">
            <a:spAutoFit/>
          </a:bodyPr>
          <a:lstStyle/>
          <a:p>
            <a:pPr algn="l">
              <a:lnSpc>
                <a:spcPct val="125000"/>
              </a:lnSpc>
            </a:pPr>
            <a:r>
              <a:rPr sz="1250" b="1" spc="140">
                <a:solidFill>
                  <a:srgbClr val="52BDEC"/>
                </a:solidFill>
                <a:latin typeface="Consolas"/>
              </a:rPr>
              <a:t>POWER ON RECURRENCE</a:t>
            </a:r>
          </a:p>
        </p:txBody>
      </p:sp>
      <p:sp>
        <p:nvSpPr>
          <p:cNvPr id="8" name="TextBox 7"/>
          <p:cNvSpPr txBox="1"/>
          <p:nvPr/>
        </p:nvSpPr>
        <p:spPr>
          <a:xfrm>
            <a:off x="838179" y="2539936"/>
            <a:ext cx="4978148" cy="292092"/>
          </a:xfrm>
          <a:prstGeom prst="rect">
            <a:avLst/>
          </a:prstGeom>
          <a:noFill/>
        </p:spPr>
        <p:txBody>
          <a:bodyPr wrap="square" anchor="t" lIns="0" rIns="0" tIns="0" bIns="0">
            <a:spAutoFit/>
          </a:bodyPr>
          <a:lstStyle/>
          <a:p>
            <a:pPr algn="l">
              <a:lnSpc>
                <a:spcPct val="125000"/>
              </a:lnSpc>
            </a:pPr>
            <a:r>
              <a:rPr sz="1700" b="0">
                <a:solidFill>
                  <a:srgbClr val="F2F8FC"/>
                </a:solidFill>
                <a:latin typeface="Segoe UI"/>
              </a:rPr>
              <a:t>84% — and 90% with complete follow-up</a:t>
            </a:r>
          </a:p>
        </p:txBody>
      </p:sp>
      <p:sp>
        <p:nvSpPr>
          <p:cNvPr id="9" name="Rounded Rectangle 8"/>
          <p:cNvSpPr/>
          <p:nvPr/>
        </p:nvSpPr>
        <p:spPr>
          <a:xfrm>
            <a:off x="6171918" y="2133546"/>
            <a:ext cx="5384538" cy="77468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75113" y="2273243"/>
            <a:ext cx="4978148" cy="228594"/>
          </a:xfrm>
          <a:prstGeom prst="rect">
            <a:avLst/>
          </a:prstGeom>
          <a:noFill/>
        </p:spPr>
        <p:txBody>
          <a:bodyPr wrap="square" anchor="t" lIns="0" rIns="0" tIns="0" bIns="0">
            <a:spAutoFit/>
          </a:bodyPr>
          <a:lstStyle/>
          <a:p>
            <a:pPr algn="l">
              <a:lnSpc>
                <a:spcPct val="125000"/>
              </a:lnSpc>
            </a:pPr>
            <a:r>
              <a:rPr sz="1250" b="1" spc="140">
                <a:solidFill>
                  <a:srgbClr val="52BDEC"/>
                </a:solidFill>
                <a:latin typeface="Consolas"/>
              </a:rPr>
              <a:t>WHAT THE MEDIATOR IS FOR</a:t>
            </a:r>
          </a:p>
        </p:txBody>
      </p:sp>
      <p:sp>
        <p:nvSpPr>
          <p:cNvPr id="11" name="TextBox 10"/>
          <p:cNvSpPr txBox="1"/>
          <p:nvPr/>
        </p:nvSpPr>
        <p:spPr>
          <a:xfrm>
            <a:off x="6375113" y="2539936"/>
            <a:ext cx="4978148" cy="292092"/>
          </a:xfrm>
          <a:prstGeom prst="rect">
            <a:avLst/>
          </a:prstGeom>
          <a:noFill/>
        </p:spPr>
        <p:txBody>
          <a:bodyPr wrap="square" anchor="t" lIns="0" rIns="0" tIns="0" bIns="0">
            <a:spAutoFit/>
          </a:bodyPr>
          <a:lstStyle/>
          <a:p>
            <a:pPr algn="l">
              <a:lnSpc>
                <a:spcPct val="125000"/>
              </a:lnSpc>
            </a:pPr>
            <a:r>
              <a:rPr sz="1700" b="0">
                <a:solidFill>
                  <a:srgbClr val="F2F8FC"/>
                </a:solidFill>
                <a:latin typeface="Segoe UI"/>
              </a:rPr>
              <a:t>decomposing the effect into pressure and wear time, prespecified</a:t>
            </a:r>
          </a:p>
        </p:txBody>
      </p:sp>
      <p:sp>
        <p:nvSpPr>
          <p:cNvPr id="12" name="Rounded Rectangle 11"/>
          <p:cNvSpPr/>
          <p:nvPr/>
        </p:nvSpPr>
        <p:spPr>
          <a:xfrm>
            <a:off x="634984" y="3035224"/>
            <a:ext cx="5384538" cy="77468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8179" y="3174920"/>
            <a:ext cx="4978148" cy="228594"/>
          </a:xfrm>
          <a:prstGeom prst="rect">
            <a:avLst/>
          </a:prstGeom>
          <a:noFill/>
        </p:spPr>
        <p:txBody>
          <a:bodyPr wrap="square" anchor="t" lIns="0" rIns="0" tIns="0" bIns="0">
            <a:spAutoFit/>
          </a:bodyPr>
          <a:lstStyle/>
          <a:p>
            <a:pPr algn="l">
              <a:lnSpc>
                <a:spcPct val="125000"/>
              </a:lnSpc>
            </a:pPr>
            <a:r>
              <a:rPr sz="1250" b="1" spc="140">
                <a:solidFill>
                  <a:srgbClr val="52BDEC"/>
                </a:solidFill>
                <a:latin typeface="Consolas"/>
              </a:rPr>
              <a:t>ANALYSIS POINT</a:t>
            </a:r>
          </a:p>
        </p:txBody>
      </p:sp>
      <p:sp>
        <p:nvSpPr>
          <p:cNvPr id="14" name="TextBox 13"/>
          <p:cNvSpPr txBox="1"/>
          <p:nvPr/>
        </p:nvSpPr>
        <p:spPr>
          <a:xfrm>
            <a:off x="838179" y="3441613"/>
            <a:ext cx="4978148" cy="292092"/>
          </a:xfrm>
          <a:prstGeom prst="rect">
            <a:avLst/>
          </a:prstGeom>
          <a:noFill/>
        </p:spPr>
        <p:txBody>
          <a:bodyPr wrap="square" anchor="t" lIns="0" rIns="0" tIns="0" bIns="0">
            <a:spAutoFit/>
          </a:bodyPr>
          <a:lstStyle/>
          <a:p>
            <a:pPr algn="l">
              <a:lnSpc>
                <a:spcPct val="125000"/>
              </a:lnSpc>
            </a:pPr>
            <a:r>
              <a:rPr sz="1700" b="0">
                <a:solidFill>
                  <a:srgbClr val="F2F8FC"/>
                </a:solidFill>
                <a:latin typeface="Segoe UI"/>
              </a:rPr>
              <a:t>12 months, with the full 18-month profile as a secondary summary</a:t>
            </a:r>
          </a:p>
        </p:txBody>
      </p:sp>
      <p:sp>
        <p:nvSpPr>
          <p:cNvPr id="15" name="Rounded Rectangle 14"/>
          <p:cNvSpPr/>
          <p:nvPr/>
        </p:nvSpPr>
        <p:spPr>
          <a:xfrm>
            <a:off x="6171918" y="3035224"/>
            <a:ext cx="5384538" cy="77468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75113" y="3174920"/>
            <a:ext cx="4978148" cy="228594"/>
          </a:xfrm>
          <a:prstGeom prst="rect">
            <a:avLst/>
          </a:prstGeom>
          <a:noFill/>
        </p:spPr>
        <p:txBody>
          <a:bodyPr wrap="square" anchor="t" lIns="0" rIns="0" tIns="0" bIns="0">
            <a:spAutoFit/>
          </a:bodyPr>
          <a:lstStyle/>
          <a:p>
            <a:pPr algn="l">
              <a:lnSpc>
                <a:spcPct val="125000"/>
              </a:lnSpc>
            </a:pPr>
            <a:r>
              <a:rPr sz="1250" b="1" spc="140">
                <a:solidFill>
                  <a:srgbClr val="52BDEC"/>
                </a:solidFill>
                <a:latin typeface="Consolas"/>
              </a:rPr>
              <a:t>AT HALF THE EFFECT SIZE</a:t>
            </a:r>
          </a:p>
        </p:txBody>
      </p:sp>
      <p:sp>
        <p:nvSpPr>
          <p:cNvPr id="17" name="TextBox 16"/>
          <p:cNvSpPr txBox="1"/>
          <p:nvPr/>
        </p:nvSpPr>
        <p:spPr>
          <a:xfrm>
            <a:off x="6375113" y="3441613"/>
            <a:ext cx="4978148" cy="292092"/>
          </a:xfrm>
          <a:prstGeom prst="rect">
            <a:avLst/>
          </a:prstGeom>
          <a:noFill/>
        </p:spPr>
        <p:txBody>
          <a:bodyPr wrap="square" anchor="t" lIns="0" rIns="0" tIns="0" bIns="0">
            <a:spAutoFit/>
          </a:bodyPr>
          <a:lstStyle/>
          <a:p>
            <a:pPr algn="l">
              <a:lnSpc>
                <a:spcPct val="125000"/>
              </a:lnSpc>
            </a:pPr>
            <a:r>
              <a:rPr sz="1700" b="0">
                <a:solidFill>
                  <a:srgbClr val="F2F8FC"/>
                </a:solidFill>
                <a:latin typeface="Segoe UI"/>
              </a:rPr>
              <a:t>64% at 30% · 40% at 35%</a:t>
            </a:r>
          </a:p>
        </p:txBody>
      </p:sp>
      <p:sp>
        <p:nvSpPr>
          <p:cNvPr id="18" name="Rounded Rectangle 17"/>
          <p:cNvSpPr/>
          <p:nvPr/>
        </p:nvSpPr>
        <p:spPr>
          <a:xfrm>
            <a:off x="634984" y="4101997"/>
            <a:ext cx="10921726" cy="1769776"/>
          </a:xfrm>
          <a:prstGeom prst="roundRect">
            <a:avLst>
              <a:gd name="adj" fmla="val 4500"/>
            </a:avLst>
          </a:prstGeom>
          <a:solidFill>
            <a:srgbClr val="113A57"/>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52476" y="4394090"/>
            <a:ext cx="10286742" cy="1312588"/>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Two co-primary endpoints would place the bar at the intersection and push joint power down to 74%. One endpoint plus a prespecified mediator tests the same causal model without that cost.</a:t>
            </a:r>
          </a:p>
        </p:txBody>
      </p:sp>
      <p:sp>
        <p:nvSpPr>
          <p:cNvPr id="20" name="TextBox 1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28 / 33</a:t>
            </a:r>
          </a:p>
        </p:txBody>
      </p:sp>
      <p:pic>
        <p:nvPicPr>
          <p:cNvPr id="21"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22" name="TextBox 21"/>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9 · Bus 2013, DIAFOS</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ANALYSIS PLAN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How we test it</a:t>
            </a:r>
          </a:p>
        </p:txBody>
      </p:sp>
      <p:sp>
        <p:nvSpPr>
          <p:cNvPr id="5" name="Rectangle 4"/>
          <p:cNvSpPr/>
          <p:nvPr/>
        </p:nvSpPr>
        <p:spPr>
          <a:xfrm>
            <a:off x="634984" y="187955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31949"/>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Recurrence</a:t>
            </a:r>
          </a:p>
        </p:txBody>
      </p:sp>
      <p:sp>
        <p:nvSpPr>
          <p:cNvPr id="7" name="TextBox 6"/>
          <p:cNvSpPr txBox="1"/>
          <p:nvPr/>
        </p:nvSpPr>
        <p:spPr>
          <a:xfrm>
            <a:off x="3301917" y="2031949"/>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Cox regression stratified by centre, with allocation as the only covariate. Death is a competing risk, not censoring: Fine-Gray and cumulative incidence alongside.</a:t>
            </a:r>
          </a:p>
        </p:txBody>
      </p:sp>
      <p:sp>
        <p:nvSpPr>
          <p:cNvPr id="8" name="TextBox 7"/>
          <p:cNvSpPr txBox="1"/>
          <p:nvPr/>
        </p:nvSpPr>
        <p:spPr>
          <a:xfrm>
            <a:off x="9905752" y="2044648"/>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primary</a:t>
            </a:r>
          </a:p>
        </p:txBody>
      </p:sp>
      <p:sp>
        <p:nvSpPr>
          <p:cNvPr id="9" name="Rectangle 8"/>
          <p:cNvSpPr/>
          <p:nvPr/>
        </p:nvSpPr>
        <p:spPr>
          <a:xfrm>
            <a:off x="634984" y="271773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870128"/>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Adherence</a:t>
            </a:r>
          </a:p>
        </p:txBody>
      </p:sp>
      <p:sp>
        <p:nvSpPr>
          <p:cNvPr id="11" name="TextBox 10"/>
          <p:cNvSpPr txBox="1"/>
          <p:nvPr/>
        </p:nvSpPr>
        <p:spPr>
          <a:xfrm>
            <a:off x="3301917" y="2870128"/>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Beta regression with a logit link, since it is a proportion with a ceiling, followed by causal mediation analysis on recurrence.</a:t>
            </a:r>
          </a:p>
        </p:txBody>
      </p:sp>
      <p:sp>
        <p:nvSpPr>
          <p:cNvPr id="12" name="TextBox 11"/>
          <p:cNvSpPr txBox="1"/>
          <p:nvPr/>
        </p:nvSpPr>
        <p:spPr>
          <a:xfrm>
            <a:off x="9905752" y="2882827"/>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mediator</a:t>
            </a:r>
          </a:p>
        </p:txBody>
      </p:sp>
      <p:sp>
        <p:nvSpPr>
          <p:cNvPr id="13" name="Rectangle 12"/>
          <p:cNvSpPr/>
          <p:nvPr/>
        </p:nvSpPr>
        <p:spPr>
          <a:xfrm>
            <a:off x="634984" y="355591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708307"/>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Intercurrent events</a:t>
            </a:r>
          </a:p>
        </p:txBody>
      </p:sp>
      <p:sp>
        <p:nvSpPr>
          <p:cNvPr id="15" name="TextBox 14"/>
          <p:cNvSpPr txBox="1"/>
          <p:nvPr/>
        </p:nvSpPr>
        <p:spPr>
          <a:xfrm>
            <a:off x="3301917" y="3708307"/>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A recurrence is the intercurrent event for the mediator: a patient who ulcerates rightly stops wearing the insole. Hypothetical strategy for adherence.</a:t>
            </a:r>
          </a:p>
        </p:txBody>
      </p:sp>
      <p:sp>
        <p:nvSpPr>
          <p:cNvPr id="16" name="TextBox 15"/>
          <p:cNvSpPr txBox="1"/>
          <p:nvPr/>
        </p:nvSpPr>
        <p:spPr>
          <a:xfrm>
            <a:off x="9905752" y="372100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estimand</a:t>
            </a:r>
          </a:p>
        </p:txBody>
      </p:sp>
      <p:sp>
        <p:nvSpPr>
          <p:cNvPr id="17" name="Rectangle 16"/>
          <p:cNvSpPr/>
          <p:nvPr/>
        </p:nvSpPr>
        <p:spPr>
          <a:xfrm>
            <a:off x="634984" y="439409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546486"/>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Missing data</a:t>
            </a:r>
          </a:p>
        </p:txBody>
      </p:sp>
      <p:sp>
        <p:nvSpPr>
          <p:cNvPr id="19" name="TextBox 18"/>
          <p:cNvSpPr txBox="1"/>
          <p:nvPr/>
        </p:nvSpPr>
        <p:spPr>
          <a:xfrm>
            <a:off x="3301917" y="4546486"/>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Multiple imputation, 50 datasets. A tipping-point analysis shows how extreme a departure would have to be to overturn the conclusion.</a:t>
            </a:r>
          </a:p>
        </p:txBody>
      </p:sp>
      <p:sp>
        <p:nvSpPr>
          <p:cNvPr id="20" name="TextBox 19"/>
          <p:cNvSpPr txBox="1"/>
          <p:nvPr/>
        </p:nvSpPr>
        <p:spPr>
          <a:xfrm>
            <a:off x="9905752" y="455918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MAR</a:t>
            </a:r>
          </a:p>
        </p:txBody>
      </p:sp>
      <p:sp>
        <p:nvSpPr>
          <p:cNvPr id="21" name="Rounded Rectangle 20"/>
          <p:cNvSpPr/>
          <p:nvPr/>
        </p:nvSpPr>
        <p:spPr>
          <a:xfrm>
            <a:off x="634984" y="4992194"/>
            <a:ext cx="10921726" cy="1116352"/>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2476" y="5169989"/>
            <a:ext cx="10286742" cy="760761"/>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One primary endpoint, so no intersection-union and no multiplicity correction. The mediation analysis is explanatory and carries no success criterion of its own.</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29 / 33</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25" name="TextBox 24"/>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21 · SPIRIT 2025   |   24 · CONSORT 2025</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WHAT RUNS ALONGSIDE THE TRIAL</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Two evaluations, in parallel</a:t>
            </a:r>
          </a:p>
        </p:txBody>
      </p:sp>
      <p:sp>
        <p:nvSpPr>
          <p:cNvPr id="5" name="Rounded Rectangle 4"/>
          <p:cNvSpPr/>
          <p:nvPr/>
        </p:nvSpPr>
        <p:spPr>
          <a:xfrm>
            <a:off x="634984" y="2031949"/>
            <a:ext cx="5384538" cy="441948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8977" y="2247843"/>
            <a:ext cx="1269968" cy="380990"/>
          </a:xfrm>
          <a:prstGeom prst="rect">
            <a:avLst/>
          </a:prstGeom>
          <a:noFill/>
        </p:spPr>
        <p:txBody>
          <a:bodyPr wrap="square" anchor="t" lIns="0" rIns="0" tIns="0" bIns="0">
            <a:spAutoFit/>
          </a:bodyPr>
          <a:lstStyle/>
          <a:p>
            <a:pPr algn="l">
              <a:lnSpc>
                <a:spcPct val="125000"/>
              </a:lnSpc>
            </a:pPr>
            <a:r>
              <a:rPr sz="2600" b="1">
                <a:solidFill>
                  <a:srgbClr val="52BDEC"/>
                </a:solidFill>
                <a:latin typeface="Consolas"/>
              </a:rPr>
              <a:t>01</a:t>
            </a:r>
          </a:p>
        </p:txBody>
      </p:sp>
      <p:sp>
        <p:nvSpPr>
          <p:cNvPr id="7" name="TextBox 6"/>
          <p:cNvSpPr txBox="1"/>
          <p:nvPr/>
        </p:nvSpPr>
        <p:spPr>
          <a:xfrm>
            <a:off x="888977" y="2654233"/>
            <a:ext cx="4876551" cy="698482"/>
          </a:xfrm>
          <a:prstGeom prst="rect">
            <a:avLst/>
          </a:prstGeom>
          <a:noFill/>
        </p:spPr>
        <p:txBody>
          <a:bodyPr wrap="square" anchor="t" lIns="0" rIns="0" tIns="0" bIns="0">
            <a:spAutoFit/>
          </a:bodyPr>
          <a:lstStyle/>
          <a:p>
            <a:pPr algn="l">
              <a:lnSpc>
                <a:spcPct val="115000"/>
              </a:lnSpc>
            </a:pPr>
            <a:r>
              <a:rPr sz="2400" b="1">
                <a:solidFill>
                  <a:srgbClr val="F2F8FC"/>
                </a:solidFill>
                <a:latin typeface="Segoe UI"/>
              </a:rPr>
              <a:t>Health-economic evaluation</a:t>
            </a:r>
          </a:p>
        </p:txBody>
      </p:sp>
      <p:sp>
        <p:nvSpPr>
          <p:cNvPr id="8" name="Rounded Rectangle 7"/>
          <p:cNvSpPr/>
          <p:nvPr/>
        </p:nvSpPr>
        <p:spPr>
          <a:xfrm>
            <a:off x="888977" y="3479713"/>
            <a:ext cx="4876551" cy="533386"/>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8977" y="3632109"/>
            <a:ext cx="4876551" cy="304792"/>
          </a:xfrm>
          <a:prstGeom prst="rect">
            <a:avLst/>
          </a:prstGeom>
          <a:noFill/>
        </p:spPr>
        <p:txBody>
          <a:bodyPr wrap="square" anchor="t" lIns="0" rIns="0" tIns="0" bIns="0">
            <a:spAutoFit/>
          </a:bodyPr>
          <a:lstStyle/>
          <a:p>
            <a:pPr algn="ctr">
              <a:lnSpc>
                <a:spcPct val="125000"/>
              </a:lnSpc>
            </a:pPr>
            <a:r>
              <a:rPr sz="1800" b="1">
                <a:solidFill>
                  <a:srgbClr val="52BDEC"/>
                </a:solidFill>
                <a:latin typeface="Consolas"/>
              </a:rPr>
              <a:t>Cost-utility, payer perspective</a:t>
            </a:r>
          </a:p>
        </p:txBody>
      </p:sp>
      <p:sp>
        <p:nvSpPr>
          <p:cNvPr id="10" name="TextBox 9"/>
          <p:cNvSpPr txBox="1"/>
          <p:nvPr/>
        </p:nvSpPr>
        <p:spPr>
          <a:xfrm>
            <a:off x="888977" y="4165495"/>
            <a:ext cx="4876551" cy="2109478"/>
          </a:xfrm>
          <a:prstGeom prst="rect">
            <a:avLst/>
          </a:prstGeom>
          <a:noFill/>
        </p:spPr>
        <p:txBody>
          <a:bodyPr wrap="square" anchor="t" lIns="0" rIns="0" tIns="0" bIns="0">
            <a:spAutoFit/>
          </a:bodyPr>
          <a:lstStyle/>
          <a:p>
            <a:pPr algn="l">
              <a:lnSpc>
                <a:spcPct val="132000"/>
              </a:lnSpc>
            </a:pPr>
            <a:r>
              <a:rPr sz="1450" b="0">
                <a:solidFill>
                  <a:srgbClr val="8FB6D0"/>
                </a:solidFill>
                <a:latin typeface="Segoe UI"/>
              </a:rPr>
              <a:t>EQ-5D-5L every three months, valued with the Belgian value set.</a:t>
            </a:r>
          </a:p>
          <a:p>
            <a:pPr algn="l">
              <a:lnSpc>
                <a:spcPct val="132000"/>
              </a:lnSpc>
              <a:spcBef>
                <a:spcPts val="1200"/>
              </a:spcBef>
            </a:pPr>
            <a:r>
              <a:rPr sz="1450" b="0">
                <a:solidFill>
                  <a:srgbClr val="8FB6D0"/>
                </a:solidFill>
                <a:latin typeface="Segoe UI"/>
              </a:rPr>
              <a:t>Resource use collected prospectively with the iMCQ and iPCQ, plus diary and medical records.</a:t>
            </a:r>
          </a:p>
          <a:p>
            <a:pPr algn="l">
              <a:lnSpc>
                <a:spcPct val="132000"/>
              </a:lnSpc>
              <a:spcBef>
                <a:spcPts val="1200"/>
              </a:spcBef>
            </a:pPr>
            <a:r>
              <a:rPr sz="1450" b="0">
                <a:solidFill>
                  <a:srgbClr val="8FB6D0"/>
                </a:solidFill>
                <a:latin typeface="Segoe UI"/>
              </a:rPr>
              <a:t>Markov extrapolation to five years. Cost per ulcer prevented and cost per QALY, reported side by side.</a:t>
            </a:r>
          </a:p>
        </p:txBody>
      </p:sp>
      <p:sp>
        <p:nvSpPr>
          <p:cNvPr id="11" name="Rounded Rectangle 10"/>
          <p:cNvSpPr/>
          <p:nvPr/>
        </p:nvSpPr>
        <p:spPr>
          <a:xfrm>
            <a:off x="6171918" y="2031949"/>
            <a:ext cx="5384538" cy="441948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25912" y="2247843"/>
            <a:ext cx="1269968" cy="380990"/>
          </a:xfrm>
          <a:prstGeom prst="rect">
            <a:avLst/>
          </a:prstGeom>
          <a:noFill/>
        </p:spPr>
        <p:txBody>
          <a:bodyPr wrap="square" anchor="t" lIns="0" rIns="0" tIns="0" bIns="0">
            <a:spAutoFit/>
          </a:bodyPr>
          <a:lstStyle/>
          <a:p>
            <a:pPr algn="l">
              <a:lnSpc>
                <a:spcPct val="125000"/>
              </a:lnSpc>
            </a:pPr>
            <a:r>
              <a:rPr sz="2600" b="1">
                <a:solidFill>
                  <a:srgbClr val="52BDEC"/>
                </a:solidFill>
                <a:latin typeface="Consolas"/>
              </a:rPr>
              <a:t>02</a:t>
            </a:r>
          </a:p>
        </p:txBody>
      </p:sp>
      <p:sp>
        <p:nvSpPr>
          <p:cNvPr id="13" name="TextBox 12"/>
          <p:cNvSpPr txBox="1"/>
          <p:nvPr/>
        </p:nvSpPr>
        <p:spPr>
          <a:xfrm>
            <a:off x="6425912" y="2654233"/>
            <a:ext cx="4876551" cy="698482"/>
          </a:xfrm>
          <a:prstGeom prst="rect">
            <a:avLst/>
          </a:prstGeom>
          <a:noFill/>
        </p:spPr>
        <p:txBody>
          <a:bodyPr wrap="square" anchor="t" lIns="0" rIns="0" tIns="0" bIns="0">
            <a:spAutoFit/>
          </a:bodyPr>
          <a:lstStyle/>
          <a:p>
            <a:pPr algn="l">
              <a:lnSpc>
                <a:spcPct val="115000"/>
              </a:lnSpc>
            </a:pPr>
            <a:r>
              <a:rPr sz="2400" b="1">
                <a:solidFill>
                  <a:srgbClr val="F2F8FC"/>
                </a:solidFill>
                <a:latin typeface="Segoe UI"/>
              </a:rPr>
              <a:t>Process evaluation</a:t>
            </a:r>
          </a:p>
        </p:txBody>
      </p:sp>
      <p:sp>
        <p:nvSpPr>
          <p:cNvPr id="14" name="Rounded Rectangle 13"/>
          <p:cNvSpPr/>
          <p:nvPr/>
        </p:nvSpPr>
        <p:spPr>
          <a:xfrm>
            <a:off x="6425912" y="3479713"/>
            <a:ext cx="4876551" cy="533386"/>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25912" y="3632109"/>
            <a:ext cx="4876551" cy="304792"/>
          </a:xfrm>
          <a:prstGeom prst="rect">
            <a:avLst/>
          </a:prstGeom>
          <a:noFill/>
        </p:spPr>
        <p:txBody>
          <a:bodyPr wrap="square" anchor="t" lIns="0" rIns="0" tIns="0" bIns="0">
            <a:spAutoFit/>
          </a:bodyPr>
          <a:lstStyle/>
          <a:p>
            <a:pPr algn="ctr">
              <a:lnSpc>
                <a:spcPct val="125000"/>
              </a:lnSpc>
            </a:pPr>
            <a:r>
              <a:rPr sz="1800" b="1">
                <a:solidFill>
                  <a:srgbClr val="52BDEC"/>
                </a:solidFill>
                <a:latin typeface="Consolas"/>
              </a:rPr>
              <a:t>MRC framework, three domains</a:t>
            </a:r>
          </a:p>
        </p:txBody>
      </p:sp>
      <p:sp>
        <p:nvSpPr>
          <p:cNvPr id="16" name="TextBox 15"/>
          <p:cNvSpPr txBox="1"/>
          <p:nvPr/>
        </p:nvSpPr>
        <p:spPr>
          <a:xfrm>
            <a:off x="6425912" y="4165495"/>
            <a:ext cx="4876551" cy="2109478"/>
          </a:xfrm>
          <a:prstGeom prst="rect">
            <a:avLst/>
          </a:prstGeom>
          <a:noFill/>
        </p:spPr>
        <p:txBody>
          <a:bodyPr wrap="square" anchor="t" lIns="0" rIns="0" tIns="0" bIns="0">
            <a:spAutoFit/>
          </a:bodyPr>
          <a:lstStyle/>
          <a:p>
            <a:pPr algn="l">
              <a:lnSpc>
                <a:spcPct val="132000"/>
              </a:lnSpc>
            </a:pPr>
            <a:r>
              <a:rPr sz="1450" b="0">
                <a:solidFill>
                  <a:srgbClr val="8FB6D0"/>
                </a:solidFill>
                <a:latin typeface="Segoe UI"/>
              </a:rPr>
              <a:t>Implementation: fidelity, dose, reach, adaptations.</a:t>
            </a:r>
          </a:p>
          <a:p>
            <a:pPr algn="l">
              <a:lnSpc>
                <a:spcPct val="132000"/>
              </a:lnSpc>
              <a:spcBef>
                <a:spcPts val="1200"/>
              </a:spcBef>
            </a:pPr>
            <a:r>
              <a:rPr sz="1450" b="0">
                <a:solidFill>
                  <a:srgbClr val="8FB6D0"/>
                </a:solidFill>
                <a:latin typeface="Segoe UI"/>
              </a:rPr>
              <a:t>Mechanisms and context: what governs delivery at each centre.</a:t>
            </a:r>
          </a:p>
          <a:p>
            <a:pPr algn="l">
              <a:lnSpc>
                <a:spcPct val="132000"/>
              </a:lnSpc>
              <a:spcBef>
                <a:spcPts val="1200"/>
              </a:spcBef>
            </a:pPr>
            <a:r>
              <a:rPr sz="1450" b="0">
                <a:solidFill>
                  <a:srgbClr val="8FB6D0"/>
                </a:solidFill>
                <a:latin typeface="Segoe UI"/>
              </a:rPr>
              <a:t>Interviews, structured observation and therapist diaries.</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30 / 33</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19" name="TextBox 18"/>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33 · Bus 2026, kosten   |   34 · CHEERS   |   35 · Kostenhandleiding 2024   |   40 · MRC 2015</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WHAT WE LEARN EITHER WAY</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A null result is also a result</a:t>
            </a:r>
          </a:p>
        </p:txBody>
      </p:sp>
      <p:sp>
        <p:nvSpPr>
          <p:cNvPr id="5" name="Rectangle 4"/>
          <p:cNvSpPr/>
          <p:nvPr/>
        </p:nvSpPr>
        <p:spPr>
          <a:xfrm>
            <a:off x="634984" y="1904952"/>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70048"/>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Adherence rises, recurrence does not</a:t>
            </a:r>
          </a:p>
        </p:txBody>
      </p:sp>
      <p:sp>
        <p:nvSpPr>
          <p:cNvPr id="7" name="TextBox 6"/>
          <p:cNvSpPr txBox="1"/>
          <p:nvPr/>
        </p:nvSpPr>
        <p:spPr>
          <a:xfrm>
            <a:off x="634984" y="2514537"/>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8" name="TextBox 7"/>
          <p:cNvSpPr txBox="1"/>
          <p:nvPr/>
        </p:nvSpPr>
        <p:spPr>
          <a:xfrm>
            <a:off x="888977" y="2501837"/>
            <a:ext cx="5130544" cy="901677"/>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Then the biomechanical premise fails: wearing optimised footwear is not enough. The field should stop attributing prevention failures to patient behaviour.</a:t>
            </a:r>
          </a:p>
        </p:txBody>
      </p:sp>
      <p:sp>
        <p:nvSpPr>
          <p:cNvPr id="9" name="Rectangle 8"/>
          <p:cNvSpPr/>
          <p:nvPr/>
        </p:nvSpPr>
        <p:spPr>
          <a:xfrm>
            <a:off x="6171918" y="1904952"/>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71918" y="2070048"/>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Adherence does not rise</a:t>
            </a:r>
          </a:p>
        </p:txBody>
      </p:sp>
      <p:sp>
        <p:nvSpPr>
          <p:cNvPr id="11" name="TextBox 10"/>
          <p:cNvSpPr txBox="1"/>
          <p:nvPr/>
        </p:nvSpPr>
        <p:spPr>
          <a:xfrm>
            <a:off x="6171918" y="2514537"/>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12" name="TextBox 11"/>
          <p:cNvSpPr txBox="1"/>
          <p:nvPr/>
        </p:nvSpPr>
        <p:spPr>
          <a:xfrm>
            <a:off x="6425912" y="2501837"/>
            <a:ext cx="5130544" cy="901677"/>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Then the behavioural component failed. The fidelity data distinguish inadequate design from inadequate delivery.</a:t>
            </a:r>
          </a:p>
        </p:txBody>
      </p:sp>
      <p:sp>
        <p:nvSpPr>
          <p:cNvPr id="13" name="Rectangle 12"/>
          <p:cNvSpPr/>
          <p:nvPr/>
        </p:nvSpPr>
        <p:spPr>
          <a:xfrm>
            <a:off x="634984" y="3505112"/>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670208"/>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Both rise</a:t>
            </a:r>
          </a:p>
        </p:txBody>
      </p:sp>
      <p:sp>
        <p:nvSpPr>
          <p:cNvPr id="15" name="TextBox 14"/>
          <p:cNvSpPr txBox="1"/>
          <p:nvPr/>
        </p:nvSpPr>
        <p:spPr>
          <a:xfrm>
            <a:off x="634984" y="4114697"/>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16" name="TextBox 15"/>
          <p:cNvSpPr txBox="1"/>
          <p:nvPr/>
        </p:nvSpPr>
        <p:spPr>
          <a:xfrm>
            <a:off x="888977" y="4101997"/>
            <a:ext cx="5130544" cy="901677"/>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Then an integrated service works under routine conditions — without our knowing which component did it. Decomposition would require a factorial design the Belgian network cannot supply.</a:t>
            </a:r>
          </a:p>
        </p:txBody>
      </p:sp>
      <p:sp>
        <p:nvSpPr>
          <p:cNvPr id="17" name="Rectangle 16"/>
          <p:cNvSpPr/>
          <p:nvPr/>
        </p:nvSpPr>
        <p:spPr>
          <a:xfrm>
            <a:off x="6171918" y="3505112"/>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71918" y="3670208"/>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Either way</a:t>
            </a:r>
          </a:p>
        </p:txBody>
      </p:sp>
      <p:sp>
        <p:nvSpPr>
          <p:cNvPr id="19" name="TextBox 18"/>
          <p:cNvSpPr txBox="1"/>
          <p:nvPr/>
        </p:nvSpPr>
        <p:spPr>
          <a:xfrm>
            <a:off x="6171918" y="4114697"/>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20" name="TextBox 19"/>
          <p:cNvSpPr txBox="1"/>
          <p:nvPr/>
        </p:nvSpPr>
        <p:spPr>
          <a:xfrm>
            <a:off x="6425912" y="4101997"/>
            <a:ext cx="5130544" cy="901677"/>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Pressure, activity and wear time are recorded concurrently in 144 participants over eighteen months. That is the first dataset of that size, whatever the result.</a:t>
            </a:r>
          </a:p>
        </p:txBody>
      </p:sp>
      <p:sp>
        <p:nvSpPr>
          <p:cNvPr id="21" name="TextBox 2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31 / 33</a:t>
            </a:r>
          </a:p>
        </p:txBody>
      </p:sp>
      <p:pic>
        <p:nvPicPr>
          <p:cNvPr id="22"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23" name="TextBox 22"/>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15 · Hulshof 2024   |   16 · Hulshof 2025</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WHO TO CONTACT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If something goes wrong</a:t>
            </a:r>
          </a:p>
        </p:txBody>
      </p:sp>
      <p:sp>
        <p:nvSpPr>
          <p:cNvPr id="5" name="Rounded Rectangle 4"/>
          <p:cNvSpPr/>
          <p:nvPr/>
        </p:nvSpPr>
        <p:spPr>
          <a:xfrm>
            <a:off x="634984" y="1904952"/>
            <a:ext cx="3174920" cy="393690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ortret" descr="janou.png"/>
          <p:cNvPicPr>
            <a:picLocks noChangeAspect="1"/>
          </p:cNvPicPr>
          <p:nvPr/>
        </p:nvPicPr>
        <p:blipFill>
          <a:blip r:embed="rId2"/>
          <a:stretch>
            <a:fillRect/>
          </a:stretch>
        </p:blipFill>
        <p:spPr>
          <a:xfrm>
            <a:off x="777502" y="2006549"/>
            <a:ext cx="2889883" cy="3733706"/>
          </a:xfrm>
          <a:prstGeom prst="rect">
            <a:avLst/>
          </a:prstGeom>
        </p:spPr>
      </p:pic>
      <p:sp>
        <p:nvSpPr>
          <p:cNvPr id="7" name="Rectangle 6"/>
          <p:cNvSpPr/>
          <p:nvPr/>
        </p:nvSpPr>
        <p:spPr>
          <a:xfrm>
            <a:off x="4317892" y="1904952"/>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17892" y="2070048"/>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Janou De Buyser</a:t>
            </a:r>
          </a:p>
        </p:txBody>
      </p:sp>
      <p:sp>
        <p:nvSpPr>
          <p:cNvPr id="9" name="TextBox 8"/>
          <p:cNvSpPr txBox="1"/>
          <p:nvPr/>
        </p:nvSpPr>
        <p:spPr>
          <a:xfrm>
            <a:off x="4330591" y="2539936"/>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DOCTORAL RESEARCHER · DAY-TO-DAY CONDUCT</a:t>
            </a:r>
          </a:p>
        </p:txBody>
      </p:sp>
      <p:sp>
        <p:nvSpPr>
          <p:cNvPr id="10" name="TextBox 9"/>
          <p:cNvSpPr txBox="1"/>
          <p:nvPr/>
        </p:nvSpPr>
        <p:spPr>
          <a:xfrm>
            <a:off x="4317892" y="2857428"/>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Your first point of contact: inclusions, measurements, forms, sensors and anything that gets stuck in practice.</a:t>
            </a:r>
          </a:p>
        </p:txBody>
      </p:sp>
      <p:sp>
        <p:nvSpPr>
          <p:cNvPr id="11" name="TextBox 10"/>
          <p:cNvSpPr txBox="1"/>
          <p:nvPr/>
        </p:nvSpPr>
        <p:spPr>
          <a:xfrm>
            <a:off x="4317892"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janou.debuyser@kuleuven.be</a:t>
            </a:r>
          </a:p>
        </p:txBody>
      </p:sp>
      <p:sp>
        <p:nvSpPr>
          <p:cNvPr id="12" name="TextBox 11"/>
          <p:cNvSpPr txBox="1"/>
          <p:nvPr/>
        </p:nvSpPr>
        <p:spPr>
          <a:xfrm>
            <a:off x="7873803"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Spoorwegstraat 12 · Bruges</a:t>
            </a:r>
          </a:p>
        </p:txBody>
      </p:sp>
      <p:sp>
        <p:nvSpPr>
          <p:cNvPr id="13" name="Rectangle 12"/>
          <p:cNvSpPr/>
          <p:nvPr/>
        </p:nvSpPr>
        <p:spPr>
          <a:xfrm>
            <a:off x="4317892" y="3873403"/>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17892" y="4038499"/>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Prof. Dr Kevin Deschamps</a:t>
            </a:r>
          </a:p>
        </p:txBody>
      </p:sp>
      <p:sp>
        <p:nvSpPr>
          <p:cNvPr id="15" name="TextBox 14"/>
          <p:cNvSpPr txBox="1"/>
          <p:nvPr/>
        </p:nvSpPr>
        <p:spPr>
          <a:xfrm>
            <a:off x="4330591" y="4508387"/>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PRINCIPAL INVESTIGATOR</a:t>
            </a:r>
          </a:p>
        </p:txBody>
      </p:sp>
      <p:sp>
        <p:nvSpPr>
          <p:cNvPr id="16" name="TextBox 15"/>
          <p:cNvSpPr txBox="1"/>
          <p:nvPr/>
        </p:nvSpPr>
        <p:spPr>
          <a:xfrm>
            <a:off x="4317892" y="4825879"/>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Scientific questions, trial design, and arrangements at the level of your centre.</a:t>
            </a:r>
          </a:p>
        </p:txBody>
      </p:sp>
      <p:sp>
        <p:nvSpPr>
          <p:cNvPr id="17" name="TextBox 16"/>
          <p:cNvSpPr txBox="1"/>
          <p:nvPr/>
        </p:nvSpPr>
        <p:spPr>
          <a:xfrm>
            <a:off x="4317892"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Rehabilitation Sciences</a:t>
            </a:r>
          </a:p>
        </p:txBody>
      </p:sp>
      <p:sp>
        <p:nvSpPr>
          <p:cNvPr id="18" name="TextBox 17"/>
          <p:cNvSpPr txBox="1"/>
          <p:nvPr/>
        </p:nvSpPr>
        <p:spPr>
          <a:xfrm>
            <a:off x="7873803"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KU Leuven · Bruges Campus</a:t>
            </a:r>
          </a:p>
        </p:txBody>
      </p:sp>
      <p:sp>
        <p:nvSpPr>
          <p:cNvPr id="19" name="Rectangle 18"/>
          <p:cNvSpPr/>
          <p:nvPr/>
        </p:nvSpPr>
        <p:spPr>
          <a:xfrm>
            <a:off x="634984" y="596885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984" y="6108547"/>
            <a:ext cx="10921726" cy="380990"/>
          </a:xfrm>
          <a:prstGeom prst="rect">
            <a:avLst/>
          </a:prstGeom>
          <a:noFill/>
        </p:spPr>
        <p:txBody>
          <a:bodyPr wrap="square" anchor="t" lIns="0" rIns="0" tIns="0" bIns="0">
            <a:spAutoFit/>
          </a:bodyPr>
          <a:lstStyle/>
          <a:p>
            <a:pPr algn="l">
              <a:lnSpc>
                <a:spcPct val="135000"/>
              </a:lnSpc>
            </a:pPr>
            <a:r>
              <a:rPr sz="1300" b="0">
                <a:solidFill>
                  <a:srgbClr val="8FB6D0"/>
                </a:solidFill>
                <a:latin typeface="Segoe UI"/>
              </a:rPr>
              <a:t>Consortium: KU Leuven — Rehabilitation Sciences (Musculoskeletal Research Group) and Public Health and Primary Care · Vrije Universiteit Brussel — Medicine and Pharmacy. Co-promotors: Fabienne Dobbels, Maaike Fobelets and Koen Putman.</a:t>
            </a:r>
          </a:p>
        </p:txBody>
      </p:sp>
      <p:sp>
        <p:nvSpPr>
          <p:cNvPr id="21" name="TextBox 2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32 / 33</a:t>
            </a:r>
          </a:p>
        </p:txBody>
      </p:sp>
      <p:pic>
        <p:nvPicPr>
          <p:cNvPr id="22"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WHERE THE NUMBERS COME FROM</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References</a:t>
            </a:r>
          </a:p>
        </p:txBody>
      </p:sp>
      <p:sp>
        <p:nvSpPr>
          <p:cNvPr id="5" name="TextBox 4"/>
          <p:cNvSpPr txBox="1"/>
          <p:nvPr/>
        </p:nvSpPr>
        <p:spPr>
          <a:xfrm>
            <a:off x="634984" y="1854153"/>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1</a:t>
            </a:r>
          </a:p>
        </p:txBody>
      </p:sp>
      <p:sp>
        <p:nvSpPr>
          <p:cNvPr id="6" name="TextBox 5"/>
          <p:cNvSpPr txBox="1"/>
          <p:nvPr/>
        </p:nvSpPr>
        <p:spPr>
          <a:xfrm>
            <a:off x="965175" y="1854153"/>
            <a:ext cx="3208701" cy="480281"/>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Armstrong DG et al. N Engl J Med. 2017;376(24):2367–75.</a:t>
            </a:r>
          </a:p>
        </p:txBody>
      </p:sp>
      <p:sp>
        <p:nvSpPr>
          <p:cNvPr id="7" name="TextBox 6"/>
          <p:cNvSpPr txBox="1"/>
          <p:nvPr/>
        </p:nvSpPr>
        <p:spPr>
          <a:xfrm>
            <a:off x="634984" y="2372534"/>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5</a:t>
            </a:r>
          </a:p>
        </p:txBody>
      </p:sp>
      <p:sp>
        <p:nvSpPr>
          <p:cNvPr id="8" name="TextBox 7"/>
          <p:cNvSpPr txBox="1"/>
          <p:nvPr/>
        </p:nvSpPr>
        <p:spPr>
          <a:xfrm>
            <a:off x="965175" y="2372534"/>
            <a:ext cx="3208701" cy="480281"/>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Bus SA et al. Diabetes Metab Res Rev. 2016;32(Suppl 1):195–200.</a:t>
            </a:r>
          </a:p>
        </p:txBody>
      </p:sp>
      <p:sp>
        <p:nvSpPr>
          <p:cNvPr id="9" name="TextBox 8"/>
          <p:cNvSpPr txBox="1"/>
          <p:nvPr/>
        </p:nvSpPr>
        <p:spPr>
          <a:xfrm>
            <a:off x="634984" y="2890915"/>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6</a:t>
            </a:r>
          </a:p>
        </p:txBody>
      </p:sp>
      <p:sp>
        <p:nvSpPr>
          <p:cNvPr id="10" name="TextBox 9"/>
          <p:cNvSpPr txBox="1"/>
          <p:nvPr/>
        </p:nvSpPr>
        <p:spPr>
          <a:xfrm>
            <a:off x="965175" y="2890915"/>
            <a:ext cx="3208701" cy="480281"/>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Bus SA et al. Diabetes Care. 2011;34(7):1595–600.</a:t>
            </a:r>
          </a:p>
        </p:txBody>
      </p:sp>
      <p:sp>
        <p:nvSpPr>
          <p:cNvPr id="11" name="TextBox 10"/>
          <p:cNvSpPr txBox="1"/>
          <p:nvPr/>
        </p:nvSpPr>
        <p:spPr>
          <a:xfrm>
            <a:off x="634984" y="3409295"/>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7</a:t>
            </a:r>
          </a:p>
        </p:txBody>
      </p:sp>
      <p:sp>
        <p:nvSpPr>
          <p:cNvPr id="12" name="TextBox 11"/>
          <p:cNvSpPr txBox="1"/>
          <p:nvPr/>
        </p:nvSpPr>
        <p:spPr>
          <a:xfrm>
            <a:off x="965175" y="3409295"/>
            <a:ext cx="3208701" cy="480281"/>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Bus SA et al. Diabetes Metab Res Rev. 2020;36(S1):e3237.</a:t>
            </a:r>
          </a:p>
        </p:txBody>
      </p:sp>
      <p:sp>
        <p:nvSpPr>
          <p:cNvPr id="13" name="TextBox 12"/>
          <p:cNvSpPr txBox="1"/>
          <p:nvPr/>
        </p:nvSpPr>
        <p:spPr>
          <a:xfrm>
            <a:off x="634984" y="3927676"/>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8</a:t>
            </a:r>
          </a:p>
        </p:txBody>
      </p:sp>
      <p:sp>
        <p:nvSpPr>
          <p:cNvPr id="14" name="TextBox 13"/>
          <p:cNvSpPr txBox="1"/>
          <p:nvPr/>
        </p:nvSpPr>
        <p:spPr>
          <a:xfrm>
            <a:off x="965175" y="3927676"/>
            <a:ext cx="3208701" cy="480281"/>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Bus SA et al. Diabetes Metab Res Rev. 2024;40(3):e3651.</a:t>
            </a:r>
          </a:p>
        </p:txBody>
      </p:sp>
      <p:sp>
        <p:nvSpPr>
          <p:cNvPr id="15" name="TextBox 14"/>
          <p:cNvSpPr txBox="1"/>
          <p:nvPr/>
        </p:nvSpPr>
        <p:spPr>
          <a:xfrm>
            <a:off x="634984" y="4446057"/>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9</a:t>
            </a:r>
          </a:p>
        </p:txBody>
      </p:sp>
      <p:sp>
        <p:nvSpPr>
          <p:cNvPr id="16" name="TextBox 15"/>
          <p:cNvSpPr txBox="1"/>
          <p:nvPr/>
        </p:nvSpPr>
        <p:spPr>
          <a:xfrm>
            <a:off x="965175" y="4446057"/>
            <a:ext cx="3208701" cy="480281"/>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Bus SA et al. Diabetes Care. 2013;36(12):4109–16.</a:t>
            </a:r>
          </a:p>
        </p:txBody>
      </p:sp>
      <p:sp>
        <p:nvSpPr>
          <p:cNvPr id="17" name="TextBox 16"/>
          <p:cNvSpPr txBox="1"/>
          <p:nvPr/>
        </p:nvSpPr>
        <p:spPr>
          <a:xfrm>
            <a:off x="634984" y="4964437"/>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10</a:t>
            </a:r>
          </a:p>
        </p:txBody>
      </p:sp>
      <p:sp>
        <p:nvSpPr>
          <p:cNvPr id="18" name="TextBox 17"/>
          <p:cNvSpPr txBox="1"/>
          <p:nvPr/>
        </p:nvSpPr>
        <p:spPr>
          <a:xfrm>
            <a:off x="965175" y="4964437"/>
            <a:ext cx="3208701" cy="480281"/>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van Netten JJ et al. Diabetes Metab Res Rev. 2016;32(Suppl 1):84–98.</a:t>
            </a:r>
          </a:p>
        </p:txBody>
      </p:sp>
      <p:sp>
        <p:nvSpPr>
          <p:cNvPr id="19" name="TextBox 18"/>
          <p:cNvSpPr txBox="1"/>
          <p:nvPr/>
        </p:nvSpPr>
        <p:spPr>
          <a:xfrm>
            <a:off x="634984" y="5482818"/>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12</a:t>
            </a:r>
          </a:p>
        </p:txBody>
      </p:sp>
      <p:sp>
        <p:nvSpPr>
          <p:cNvPr id="20" name="TextBox 19"/>
          <p:cNvSpPr txBox="1"/>
          <p:nvPr/>
        </p:nvSpPr>
        <p:spPr>
          <a:xfrm>
            <a:off x="965175" y="5482818"/>
            <a:ext cx="3208701" cy="480281"/>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Abbott CA et al. Lancet Digit Health. 2019;1(6):e308–18.</a:t>
            </a:r>
          </a:p>
        </p:txBody>
      </p:sp>
      <p:sp>
        <p:nvSpPr>
          <p:cNvPr id="21" name="TextBox 20"/>
          <p:cNvSpPr txBox="1"/>
          <p:nvPr/>
        </p:nvSpPr>
        <p:spPr>
          <a:xfrm>
            <a:off x="634984" y="6001199"/>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13</a:t>
            </a:r>
          </a:p>
        </p:txBody>
      </p:sp>
      <p:sp>
        <p:nvSpPr>
          <p:cNvPr id="22" name="TextBox 21"/>
          <p:cNvSpPr txBox="1"/>
          <p:nvPr/>
        </p:nvSpPr>
        <p:spPr>
          <a:xfrm>
            <a:off x="965175" y="6001199"/>
            <a:ext cx="3208701" cy="480281"/>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Waaijman R et al. Diabetes Care. 2013;36(6):1613–8.</a:t>
            </a:r>
          </a:p>
        </p:txBody>
      </p:sp>
      <p:sp>
        <p:nvSpPr>
          <p:cNvPr id="23" name="TextBox 22"/>
          <p:cNvSpPr txBox="1"/>
          <p:nvPr/>
        </p:nvSpPr>
        <p:spPr>
          <a:xfrm>
            <a:off x="4326273" y="1854153"/>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14</a:t>
            </a:r>
          </a:p>
        </p:txBody>
      </p:sp>
      <p:sp>
        <p:nvSpPr>
          <p:cNvPr id="24" name="TextBox 23"/>
          <p:cNvSpPr txBox="1"/>
          <p:nvPr/>
        </p:nvSpPr>
        <p:spPr>
          <a:xfrm>
            <a:off x="4656465" y="1854153"/>
            <a:ext cx="3208701" cy="480281"/>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van Netten JJ et al. Clin Biomech. 2018;53:86–92.</a:t>
            </a:r>
          </a:p>
        </p:txBody>
      </p:sp>
      <p:sp>
        <p:nvSpPr>
          <p:cNvPr id="25" name="TextBox 24"/>
          <p:cNvSpPr txBox="1"/>
          <p:nvPr/>
        </p:nvSpPr>
        <p:spPr>
          <a:xfrm>
            <a:off x="4326273" y="2372534"/>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15</a:t>
            </a:r>
          </a:p>
        </p:txBody>
      </p:sp>
      <p:sp>
        <p:nvSpPr>
          <p:cNvPr id="26" name="TextBox 25"/>
          <p:cNvSpPr txBox="1"/>
          <p:nvPr/>
        </p:nvSpPr>
        <p:spPr>
          <a:xfrm>
            <a:off x="4656465" y="2372534"/>
            <a:ext cx="3208701" cy="265540"/>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Hulshof CM et al. Sensors. 2024;24(8):2411.</a:t>
            </a:r>
          </a:p>
        </p:txBody>
      </p:sp>
      <p:sp>
        <p:nvSpPr>
          <p:cNvPr id="27" name="TextBox 26"/>
          <p:cNvSpPr txBox="1"/>
          <p:nvPr/>
        </p:nvSpPr>
        <p:spPr>
          <a:xfrm>
            <a:off x="4326273" y="2676173"/>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16</a:t>
            </a:r>
          </a:p>
        </p:txBody>
      </p:sp>
      <p:sp>
        <p:nvSpPr>
          <p:cNvPr id="28" name="TextBox 27"/>
          <p:cNvSpPr txBox="1"/>
          <p:nvPr/>
        </p:nvSpPr>
        <p:spPr>
          <a:xfrm>
            <a:off x="4656465" y="2676173"/>
            <a:ext cx="3208701" cy="265540"/>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Hulshof CM et al. Diabet Med. 2025;42:e70099.</a:t>
            </a:r>
          </a:p>
        </p:txBody>
      </p:sp>
      <p:sp>
        <p:nvSpPr>
          <p:cNvPr id="29" name="TextBox 28"/>
          <p:cNvSpPr txBox="1"/>
          <p:nvPr/>
        </p:nvSpPr>
        <p:spPr>
          <a:xfrm>
            <a:off x="4326273" y="2979812"/>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17</a:t>
            </a:r>
          </a:p>
        </p:txBody>
      </p:sp>
      <p:sp>
        <p:nvSpPr>
          <p:cNvPr id="30" name="TextBox 29"/>
          <p:cNvSpPr txBox="1"/>
          <p:nvPr/>
        </p:nvSpPr>
        <p:spPr>
          <a:xfrm>
            <a:off x="4656465" y="2979812"/>
            <a:ext cx="3208701" cy="480281"/>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Waaijman R et al. Diabetes Care. 2014;37(6):1697–705.</a:t>
            </a:r>
          </a:p>
        </p:txBody>
      </p:sp>
      <p:sp>
        <p:nvSpPr>
          <p:cNvPr id="31" name="TextBox 30"/>
          <p:cNvSpPr txBox="1"/>
          <p:nvPr/>
        </p:nvSpPr>
        <p:spPr>
          <a:xfrm>
            <a:off x="4326273" y="3498193"/>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18</a:t>
            </a:r>
          </a:p>
        </p:txBody>
      </p:sp>
      <p:sp>
        <p:nvSpPr>
          <p:cNvPr id="32" name="TextBox 31"/>
          <p:cNvSpPr txBox="1"/>
          <p:nvPr/>
        </p:nvSpPr>
        <p:spPr>
          <a:xfrm>
            <a:off x="4656465" y="3498193"/>
            <a:ext cx="3208701" cy="480281"/>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Lutjeboer T et al. J Rehabil Med. 2018;50(10):920–6.</a:t>
            </a:r>
          </a:p>
        </p:txBody>
      </p:sp>
      <p:sp>
        <p:nvSpPr>
          <p:cNvPr id="33" name="TextBox 32"/>
          <p:cNvSpPr txBox="1"/>
          <p:nvPr/>
        </p:nvSpPr>
        <p:spPr>
          <a:xfrm>
            <a:off x="4326273" y="4016574"/>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19</a:t>
            </a:r>
          </a:p>
        </p:txBody>
      </p:sp>
      <p:sp>
        <p:nvSpPr>
          <p:cNvPr id="34" name="TextBox 33"/>
          <p:cNvSpPr txBox="1"/>
          <p:nvPr/>
        </p:nvSpPr>
        <p:spPr>
          <a:xfrm>
            <a:off x="4656465" y="4016574"/>
            <a:ext cx="3208701" cy="265540"/>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Michie S et al. Implement Sci. 2011;6:42.</a:t>
            </a:r>
          </a:p>
        </p:txBody>
      </p:sp>
      <p:sp>
        <p:nvSpPr>
          <p:cNvPr id="35" name="TextBox 34"/>
          <p:cNvSpPr txBox="1"/>
          <p:nvPr/>
        </p:nvSpPr>
        <p:spPr>
          <a:xfrm>
            <a:off x="4326273" y="4320213"/>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20</a:t>
            </a:r>
          </a:p>
        </p:txBody>
      </p:sp>
      <p:sp>
        <p:nvSpPr>
          <p:cNvPr id="36" name="TextBox 35"/>
          <p:cNvSpPr txBox="1"/>
          <p:nvPr/>
        </p:nvSpPr>
        <p:spPr>
          <a:xfrm>
            <a:off x="4656465" y="4320213"/>
            <a:ext cx="3208701" cy="480281"/>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Morbach S et al. Diabetes Metab Res Rev. 2016;32(Suppl 1):318–25.</a:t>
            </a:r>
          </a:p>
        </p:txBody>
      </p:sp>
      <p:sp>
        <p:nvSpPr>
          <p:cNvPr id="37" name="TextBox 36"/>
          <p:cNvSpPr txBox="1"/>
          <p:nvPr/>
        </p:nvSpPr>
        <p:spPr>
          <a:xfrm>
            <a:off x="4326273" y="4838594"/>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21</a:t>
            </a:r>
          </a:p>
        </p:txBody>
      </p:sp>
      <p:sp>
        <p:nvSpPr>
          <p:cNvPr id="38" name="TextBox 37"/>
          <p:cNvSpPr txBox="1"/>
          <p:nvPr/>
        </p:nvSpPr>
        <p:spPr>
          <a:xfrm>
            <a:off x="4656465" y="4838594"/>
            <a:ext cx="3208701" cy="265540"/>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Chan A-W et al. BMJ. 2025;389:e081477.</a:t>
            </a:r>
          </a:p>
        </p:txBody>
      </p:sp>
      <p:sp>
        <p:nvSpPr>
          <p:cNvPr id="39" name="TextBox 38"/>
          <p:cNvSpPr txBox="1"/>
          <p:nvPr/>
        </p:nvSpPr>
        <p:spPr>
          <a:xfrm>
            <a:off x="4326273" y="5142233"/>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24</a:t>
            </a:r>
          </a:p>
        </p:txBody>
      </p:sp>
      <p:sp>
        <p:nvSpPr>
          <p:cNvPr id="40" name="TextBox 39"/>
          <p:cNvSpPr txBox="1"/>
          <p:nvPr/>
        </p:nvSpPr>
        <p:spPr>
          <a:xfrm>
            <a:off x="4656465" y="5142233"/>
            <a:ext cx="3208701" cy="265540"/>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Hopewell S et al. BMJ. 2025;389:e081123.</a:t>
            </a:r>
          </a:p>
        </p:txBody>
      </p:sp>
      <p:sp>
        <p:nvSpPr>
          <p:cNvPr id="41" name="TextBox 40"/>
          <p:cNvSpPr txBox="1"/>
          <p:nvPr/>
        </p:nvSpPr>
        <p:spPr>
          <a:xfrm>
            <a:off x="8017563" y="1854153"/>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25</a:t>
            </a:r>
          </a:p>
        </p:txBody>
      </p:sp>
      <p:sp>
        <p:nvSpPr>
          <p:cNvPr id="42" name="TextBox 41"/>
          <p:cNvSpPr txBox="1"/>
          <p:nvPr/>
        </p:nvSpPr>
        <p:spPr>
          <a:xfrm>
            <a:off x="8347755" y="1854153"/>
            <a:ext cx="3208701" cy="480281"/>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van Netten JJ et al. Diabetes Metab Res Rev. 2024;40(3):e3654.</a:t>
            </a:r>
          </a:p>
        </p:txBody>
      </p:sp>
      <p:sp>
        <p:nvSpPr>
          <p:cNvPr id="43" name="TextBox 42"/>
          <p:cNvSpPr txBox="1"/>
          <p:nvPr/>
        </p:nvSpPr>
        <p:spPr>
          <a:xfrm>
            <a:off x="8017563" y="2372534"/>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26</a:t>
            </a:r>
          </a:p>
        </p:txBody>
      </p:sp>
      <p:sp>
        <p:nvSpPr>
          <p:cNvPr id="44" name="TextBox 43"/>
          <p:cNvSpPr txBox="1"/>
          <p:nvPr/>
        </p:nvSpPr>
        <p:spPr>
          <a:xfrm>
            <a:off x="8347755" y="2372534"/>
            <a:ext cx="3208701" cy="480281"/>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Lincoln NB et al. Pract Diabetes Int. 2007;24(4):207–11.</a:t>
            </a:r>
          </a:p>
        </p:txBody>
      </p:sp>
      <p:sp>
        <p:nvSpPr>
          <p:cNvPr id="45" name="TextBox 44"/>
          <p:cNvSpPr txBox="1"/>
          <p:nvPr/>
        </p:nvSpPr>
        <p:spPr>
          <a:xfrm>
            <a:off x="8017563" y="2890915"/>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27</a:t>
            </a:r>
          </a:p>
        </p:txBody>
      </p:sp>
      <p:sp>
        <p:nvSpPr>
          <p:cNvPr id="46" name="TextBox 45"/>
          <p:cNvSpPr txBox="1"/>
          <p:nvPr/>
        </p:nvSpPr>
        <p:spPr>
          <a:xfrm>
            <a:off x="8347755" y="2890915"/>
            <a:ext cx="3208701" cy="265540"/>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Zwaferink JBJ et al. Sensors. 2024;24(6):1795.</a:t>
            </a:r>
          </a:p>
        </p:txBody>
      </p:sp>
      <p:sp>
        <p:nvSpPr>
          <p:cNvPr id="47" name="TextBox 46"/>
          <p:cNvSpPr txBox="1"/>
          <p:nvPr/>
        </p:nvSpPr>
        <p:spPr>
          <a:xfrm>
            <a:off x="8017563" y="3194554"/>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31</a:t>
            </a:r>
          </a:p>
        </p:txBody>
      </p:sp>
      <p:sp>
        <p:nvSpPr>
          <p:cNvPr id="48" name="TextBox 47"/>
          <p:cNvSpPr txBox="1"/>
          <p:nvPr/>
        </p:nvSpPr>
        <p:spPr>
          <a:xfrm>
            <a:off x="8347755" y="3194554"/>
            <a:ext cx="3208701" cy="480281"/>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Keukenkamp R et al. BMJ Open Diabetes Res Care. 2022;10(1):e002593.</a:t>
            </a:r>
          </a:p>
        </p:txBody>
      </p:sp>
      <p:sp>
        <p:nvSpPr>
          <p:cNvPr id="49" name="TextBox 48"/>
          <p:cNvSpPr txBox="1"/>
          <p:nvPr/>
        </p:nvSpPr>
        <p:spPr>
          <a:xfrm>
            <a:off x="8017563" y="3712935"/>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33</a:t>
            </a:r>
          </a:p>
        </p:txBody>
      </p:sp>
      <p:sp>
        <p:nvSpPr>
          <p:cNvPr id="50" name="TextBox 49"/>
          <p:cNvSpPr txBox="1"/>
          <p:nvPr/>
        </p:nvSpPr>
        <p:spPr>
          <a:xfrm>
            <a:off x="8347755" y="3712935"/>
            <a:ext cx="3208701" cy="265540"/>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Bus SA et al. Diabetology. 2026;7(4):70.</a:t>
            </a:r>
          </a:p>
        </p:txBody>
      </p:sp>
      <p:sp>
        <p:nvSpPr>
          <p:cNvPr id="51" name="TextBox 50"/>
          <p:cNvSpPr txBox="1"/>
          <p:nvPr/>
        </p:nvSpPr>
        <p:spPr>
          <a:xfrm>
            <a:off x="8017563" y="4016574"/>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34</a:t>
            </a:r>
          </a:p>
        </p:txBody>
      </p:sp>
      <p:sp>
        <p:nvSpPr>
          <p:cNvPr id="52" name="TextBox 51"/>
          <p:cNvSpPr txBox="1"/>
          <p:nvPr/>
        </p:nvSpPr>
        <p:spPr>
          <a:xfrm>
            <a:off x="8347755" y="4016574"/>
            <a:ext cx="3208701" cy="480281"/>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Husereau D et al. Pharmacoeconomics. 2013;31(5):361–7.</a:t>
            </a:r>
          </a:p>
        </p:txBody>
      </p:sp>
      <p:sp>
        <p:nvSpPr>
          <p:cNvPr id="53" name="TextBox 52"/>
          <p:cNvSpPr txBox="1"/>
          <p:nvPr/>
        </p:nvSpPr>
        <p:spPr>
          <a:xfrm>
            <a:off x="8017563" y="4534955"/>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35</a:t>
            </a:r>
          </a:p>
        </p:txBody>
      </p:sp>
      <p:sp>
        <p:nvSpPr>
          <p:cNvPr id="54" name="TextBox 53"/>
          <p:cNvSpPr txBox="1"/>
          <p:nvPr/>
        </p:nvSpPr>
        <p:spPr>
          <a:xfrm>
            <a:off x="8347755" y="4534955"/>
            <a:ext cx="3208701" cy="480281"/>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Hakkaart-van Roijen L et al. Diemen: Zorginstituut Nederland; 2024.</a:t>
            </a:r>
          </a:p>
        </p:txBody>
      </p:sp>
      <p:sp>
        <p:nvSpPr>
          <p:cNvPr id="55" name="TextBox 54"/>
          <p:cNvSpPr txBox="1"/>
          <p:nvPr/>
        </p:nvSpPr>
        <p:spPr>
          <a:xfrm>
            <a:off x="8017563" y="5053335"/>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40</a:t>
            </a:r>
          </a:p>
        </p:txBody>
      </p:sp>
      <p:sp>
        <p:nvSpPr>
          <p:cNvPr id="56" name="TextBox 55"/>
          <p:cNvSpPr txBox="1"/>
          <p:nvPr/>
        </p:nvSpPr>
        <p:spPr>
          <a:xfrm>
            <a:off x="8347755" y="5053335"/>
            <a:ext cx="3208701" cy="265540"/>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Moore GF et al. BMJ. 2015;350:h1258.</a:t>
            </a:r>
          </a:p>
        </p:txBody>
      </p:sp>
      <p:sp>
        <p:nvSpPr>
          <p:cNvPr id="57" name="TextBox 56"/>
          <p:cNvSpPr txBox="1"/>
          <p:nvPr/>
        </p:nvSpPr>
        <p:spPr>
          <a:xfrm>
            <a:off x="634984" y="6387940"/>
            <a:ext cx="9524761"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Numbering follows the protocol manuscript.</a:t>
            </a:r>
          </a:p>
        </p:txBody>
      </p:sp>
      <p:sp>
        <p:nvSpPr>
          <p:cNvPr id="58" name="TextBox 5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33 / 33</a:t>
            </a:r>
          </a:p>
        </p:txBody>
      </p:sp>
      <p:pic>
        <p:nvPicPr>
          <p:cNvPr id="59"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p:transition xmlns:p14="http://schemas.microsoft.com/office/powerpoint/2010/main" spd="slow" p14:dur="900">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