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is not about healing. It is about coming back. Six Belgian foot clinics, one hundred and forty-four participants, eighteen months each. I will take you through the rationale, the measurement and the pathway.</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dot is a participant. Twenty-four come from each clinic, twelve in each arm. Six times twenty-four is one hundred and forty-four. If one centre falls behind, the trial does not get there.</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One sentence, then I move on. Every component of PARADISE already exists. Not one of them worked on its own. What we test is whether they work together, in ordinary clinics under ordinary caseloads.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one. I will give you four numbers. After the fourth you will know why this trial has two targets rather than one, and why nobody has met both at once.</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Forty per cent develop a new ulcer within one year. At five years it is sixty-five. And mortality is two and a half times higher than in diabetes without an ulcer — after a major amputation above seventy per cent. This is not a wound problem. This is a survival problem.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where those figures come from. Each point is a cohort; the line through them is the trend. Forty per cent at one year, sixty-five at five. The risk does not disappear, it accumulates.</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number that makes it intolerable. Three quarters of these ulcers are preventable in principle. Yet forty per cent return within the year. That gap, between what is possible and what happens, is what this trial is about.</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It is not that nobody has tried. Pressure-guided footwear missed its endpoint. Education alone had a negative median effect. Digital feedback worked, but again only among those who kept using the device.</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best attempt on record: pressure-optimised custom footwear, multicentre and randomised. Across everyone: no difference. Among those who wore it: almost halved. The difference was not in the shoe.</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There it is. Seventy-one per cent adherence, measured by sensor and not asked for. At home it falls to sixty-one, and home is where most steps are taken. The footwear sat in the hallway while the patient walked through the house.</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Loading is a product, not a sum. Peak pressure times activity times wear time. One factor at zero makes the whole product zero. A perfect insole in the cupboard protects nothing.</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Why is this trial possible only now? Three things have changed. The sensor makes adherence measurable, COM-B explains why education failed, and Belgium has accredited foot clinics with training requirements. The components are on the table.</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So we do it differently. Not three separate measures, but one service with two targets: the insole must méet the pressure target, and it must be wórn. Both measured, both corrected, both by the clinic’s own team. That has never been tested together.</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two: the measurement. What is measured, how, and when it is good enough.</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sensor gives a number. This is baseline, in-shoe: three hundred and twelve kilopascals under metatarsal two-three. Three walking trials per foot, of which the middle twelve steps count. Everything is referenced against this.</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software divides the foot into eight regions. Three of them are designated target regions and written on the prescription. The target is tested there, and nowhere else.</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Same foot, after modification. One hundred and eighty-six kilopascals: forty per cent lower and below two hundred. The target applies per region. If it is not met, you modify and measure again.</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 moment on this one. The aim is not less loading. The aim is loading where the tissue can take it. That is the entire intervention.</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At delivery you measure in the shoe, wíth the insole. That is the measurement against which the target is tested, per target region. Nothing is measured barefoot; the comparator is the measurement without the insole for the same region at delivery, which remains the reference at months 6, 12 and 18.</a:t>
            </a:r>
          </a:p>
          <a:p/>
          <a:p>
            <a:r>
              <a:t>PRESENTATIETIP</a:t>
            </a:r>
          </a:p>
          <a:p>
            <a:r>
              <a:t>Alle metingen gebeuren in de schoen; er wordt niet blootsvoets gemeten. Dezelfde meting komt terug op maand 6, 12 en 18.</a:t>
            </a:r>
          </a:p>
          <a:p/>
          <a:p>
            <a:r>
              <a:t>INTERACTIE</a:t>
            </a:r>
          </a:p>
          <a:p>
            <a:r>
              <a:t>Vraag: "wie meet er vandaag al in de schoen?"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three: the pathway. Nine contacts. For each one: what is done and what is recorded.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and nine visits across eighteen months. The first three fall close together. After that the rhythm is three-monthly, the same rhythm as the review these patients already receive.</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IWGDF risk category three: a healed plantar ulcer, or a minor amputation. On the left what admits, on the right what excludes. The logic throughout: offloading must be the appropriate treatment, so critical ischaemia and active Charcot are out.</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devices, three jobs. The pedar measures pressure, the Orthotimer records whether the insole was worn, the MoveMonitor records how much walking is done. Only the pedar is operated at every measurement; the other two are fitted once and read out.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five conversations, not one session. First knowledge and education, then teach-back at delivery, then two joint reviews of the sensor data, then demonstration, and closure at eighteen months. What separates it from conventional education: it repeats, and it stands on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one rule that really matters. The control arm is measured and wears a sensor too, but those numbers stay closed. Discuss them and you have delivered the intervention. Clinical findings are not measured values: a lesion is reported and treated immediately, in both arms.</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Block four: the endpoint and the analysis. One endpoint, and the mediator that explains 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sample size follows from one endpoint. On the left, recurrence: fifty against twenty-five per cent, which requires forty-one events and a hundred and thirty participants. On the right, adherence: measured in full, but without a success criterion of its own. A hundred and forty-four comes from per-centre capacity and exceeds the minimum.</a:t>
            </a:r>
          </a:p>
          <a:p/>
          <a:p>
            <a:r>
              <a:t>PRESENTATIETIP</a:t>
            </a:r>
          </a:p>
          <a:p>
            <a:r>
              <a:t>Eén eindpunt bepaalt de omvang. Zeg erbij dat de therapietrouw volledig gemeten wordt maar geen eigen succescriterium draagt — de volgende dia legt uit waarom.</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question you would otherwise get from the floor. On recurrence we have eighty-four per cent power. With two co-primary endpoints that would drop to seventy-four, because the bar then sits at the intersection. One endpoint plus a prespecified mediator tests the same causal model without that cost.</a:t>
            </a:r>
          </a:p>
          <a:p/>
          <a:p>
            <a:r>
              <a:t>PRESENTATIETIP</a:t>
            </a:r>
          </a:p>
          <a:p>
            <a:r>
              <a:t>Dit is de dia die u onderscheidt van de rest van het programma. Benoem dat de mediator geen achterdeur is: hij ligt vooraf vast en wordt volledig gemeten.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analysis plan in four lines. Recurrence with Cox, stratified by centre, with death as a competing risk. Adherence with beta regression, since it is a proportion with a ceiling, and then as a mediator. A recurrence is its intercurrent event: a patient who ulcerates rightly stops wearing the insole.</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evaluations run alongside the trial. The economic one reports cost per ulcer prevented and cost per QALY, with a Markov model out to five years. The process evaluation measures whether the intervention was actually delivered. That second one is not an appendix — under a null result it is the only thing separating mechanism from delivery.</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 will close with what we learn either way. If adherence rises but recurrence does not, the biomechanical premise fails. If adherence does not rise, the behavioural component failed. Either way we learn which link in the chain gives way — and that is exactly what this field does not yet know.</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Finally, who to contact. Practical questions — inclusions, measurements, forms, sensors — come to me. Scientific questions and arrangements at centre level go to Professor Deschamps. Thank you.</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Trial design · scientific session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 version 1.0 · 17 May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WE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participants, 24 per centre</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CENTRE</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participants — 12 PARADISE and 12 usual care</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 ARM</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Usual care, unchanged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PRIMARY</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Recurrence at 18 months</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POSITIVE</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Only if the endpoint is met</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THE SIX PARTICIPATING FOOT CLINICS</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33</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does not test efficacy.</a:t>
            </a:r>
          </a:p>
          <a:p>
            <a:pPr algn="l">
              <a:lnSpc>
                <a:spcPct val="106000"/>
              </a:lnSpc>
              <a:spcBef>
                <a:spcPts val="500"/>
              </a:spcBef>
            </a:pPr>
            <a:r>
              <a:rPr sz="5400" b="1">
                <a:solidFill>
                  <a:srgbClr val="04182A"/>
                </a:solidFill>
                <a:latin typeface="Segoe UI"/>
              </a:rPr>
              <a:t>PARADISE tests translation.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Every component already exists. No component worked on its 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Why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Four numbers explain why there are two targets, not one.</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develop a new ulcer</a:t>
            </a:r>
          </a:p>
          <a:p>
            <a:pPr algn="l">
              <a:lnSpc>
                <a:spcPct val="120000"/>
              </a:lnSpc>
              <a:spcBef>
                <a:spcPts val="500"/>
              </a:spcBef>
            </a:pPr>
            <a:r>
              <a:rPr sz="3200" b="1">
                <a:solidFill>
                  <a:srgbClr val="F2F8FC"/>
                </a:solidFill>
                <a:latin typeface="Segoe UI"/>
              </a:rPr>
              <a:t>within one year</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AT FIVE YEARS</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HIGHER MORTALITY</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MORTALITY AFTER MAJOR AMPUTATION</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RISK AFTER HEALING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thirds recur within five years</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1 YEAR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5 YEARS</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Recurrence incidence against follow-up duration</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Pooled data from nine prospective studies, one retrospective study and the control arms of nine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33</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Three quarters are preventable.</a:t>
            </a:r>
          </a:p>
          <a:p>
            <a:pPr algn="l">
              <a:lnSpc>
                <a:spcPct val="106000"/>
              </a:lnSpc>
              <a:spcBef>
                <a:spcPts val="500"/>
              </a:spcBef>
            </a:pPr>
            <a:r>
              <a:rPr sz="6200" b="1">
                <a:solidFill>
                  <a:srgbClr val="FFFFFF"/>
                </a:solidFill>
                <a:latin typeface="Segoe UI"/>
              </a:rPr>
              <a:t>Forty per cent come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HAS ALREADY BEEN TRIED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strategies, one pattern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Pressure-guided footwear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pivotal multicentre trial missed its primary endpoint: 38.8% versus 44.2% recurrence. The difference was in who actually wore the footwear.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 education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the IWGDF review, stand-alone education showed no demonstrable preventive effect. The median treatment effect was negative.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Continuous digital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An intelligent insole with real-time alerts reduced recurrence — again mainly among those who kept using the device.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pattern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Each component addresses a necessary condition. None addresses a sufficient one.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Not three disappointments but one: the effect is real every time, and conditional every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10 · van Netten 2016   |   12 · Abbott 2019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SAME SHOE, TWO OUTCOMES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Why pressure alone is not enough</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Everyone</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No difference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Those who wore it</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of steps</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Almost halved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participants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33</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adherence — measured,</a:t>
            </a:r>
          </a:p>
          <a:p>
            <a:pPr algn="l">
              <a:lnSpc>
                <a:spcPct val="120000"/>
              </a:lnSpc>
              <a:spcBef>
                <a:spcPts val="500"/>
              </a:spcBef>
            </a:pPr>
            <a:r>
              <a:rPr sz="3200" b="1">
                <a:solidFill>
                  <a:srgbClr val="F2F8FC"/>
                </a:solidFill>
                <a:latin typeface="Segoe UI"/>
              </a:rPr>
              <a:t>not asked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ADHERENCE AGAINST THE 80% TARGET</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Overall</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At home</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Outdoors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80% target</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patients</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MECHANISM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Loading is a product, not a sum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Peak pressure</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step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Activity</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steps per day</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MEASURED</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Wear time</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was it worn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One factor at zero makes the whole product zero. That is why PARADISE has two targets: one for pressure and one for wear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THIS TRIAL IS POSSIBLE ONLY NOW</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things have changed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 is measurable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temperature sensor in orthopaedic footwear has been validated. Self-report systematically overestimates; wear time is now a testable target rather than an assumption.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failure is explicable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Under COM-B, knowledge transfer addresses capability alone. Opportunity and motivation — what happens at home, for years, unseen — were left untouched.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setting exists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Belgium accredits multidisciplinary foot clinics with training requirements and minimum caseloads. That is where prevention ultimately has to land.</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That is why adherence here is a prespecified mediator, measured in full, rather than an assumption justified after the fact.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33</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   |   19 · Michie 2011, COM-B   |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PARADISE DOES DIFFERENTLY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One service, not three separate measures</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The insole méets the target</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ór 25% lower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Measured at delivery.</a:t>
            </a:r>
          </a:p>
          <a:p>
            <a:pPr algn="l">
              <a:lnSpc>
                <a:spcPct val="132000"/>
              </a:lnSpc>
              <a:spcBef>
                <a:spcPts val="1200"/>
              </a:spcBef>
            </a:pPr>
            <a:r>
              <a:rPr sz="1450" b="0">
                <a:solidFill>
                  <a:srgbClr val="8FB6D0"/>
                </a:solidFill>
                <a:latin typeface="Segoe UI"/>
              </a:rPr>
              <a:t>Modified until the target is met in each of the three target regions.</a:t>
            </a:r>
          </a:p>
          <a:p>
            <a:pPr algn="l">
              <a:lnSpc>
                <a:spcPct val="132000"/>
              </a:lnSpc>
              <a:spcBef>
                <a:spcPts val="1200"/>
              </a:spcBef>
            </a:pPr>
            <a:r>
              <a:rPr sz="1450" b="0">
                <a:solidFill>
                  <a:srgbClr val="8FB6D0"/>
                </a:solidFill>
                <a:latin typeface="Segoe UI"/>
              </a:rPr>
              <a:t>Repeated at months 6, 12 and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And it ís worn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of the patient’s own waking time</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A sensor in the insole records wear time continuously.</a:t>
            </a:r>
          </a:p>
          <a:p>
            <a:pPr algn="l">
              <a:lnSpc>
                <a:spcPct val="132000"/>
              </a:lnSpc>
              <a:spcBef>
                <a:spcPts val="1200"/>
              </a:spcBef>
            </a:pPr>
            <a:r>
              <a:rPr sz="1450" b="0">
                <a:solidFill>
                  <a:srgbClr val="8FB6D0"/>
                </a:solidFill>
                <a:latin typeface="Segoe UI"/>
              </a:rPr>
              <a:t>Read out every three months and reviewed together.</a:t>
            </a:r>
          </a:p>
          <a:p>
            <a:pPr algn="l">
              <a:lnSpc>
                <a:spcPct val="132000"/>
              </a:lnSpc>
              <a:spcBef>
                <a:spcPts val="1200"/>
              </a:spcBef>
            </a:pPr>
            <a:r>
              <a:rPr sz="1450" b="0">
                <a:solidFill>
                  <a:srgbClr val="8FB6D0"/>
                </a:solidFill>
                <a:latin typeface="Segoe UI"/>
              </a:rPr>
              <a:t>Five conversations resting on those data.</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measurement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What is measured, how, and when it is good enough.</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IN-SHOE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Every sensor a number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at metatarsal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Target:  &lt; 200 kPa   or   ≥ 25% lower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 sensor insole placed in the shoe, three walking trials performed.</a:t>
            </a:r>
          </a:p>
          <a:p>
            <a:pPr algn="l">
              <a:lnSpc>
                <a:spcPct val="135000"/>
              </a:lnSpc>
              <a:spcBef>
                <a:spcPts val="1200"/>
              </a:spcBef>
            </a:pPr>
            <a:r>
              <a:rPr sz="1700" b="0">
                <a:solidFill>
                  <a:srgbClr val="8FB6D0"/>
                </a:solidFill>
                <a:latin typeface="Segoe UI"/>
              </a:rPr>
              <a:t>The middle twelve steps per foot are analysed; from these the software computes the mean peak pressure per foot.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09 · Plantar pressure measurement,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ZOOMING IN ON THE FOREFOOT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Eight regions, three target regions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under the great toe — second most affected site</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the hot spot in this measurement, and the classic ulcer site</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 forefoot, usually lower pressure</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33</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AFTER OPTIMISATION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When is it good enough</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in the target region after modification</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lower  ·  below 200 kPa  ·  both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The target applies per region: peak pressure below 200 kPa or at least 25% lower than the baseline value for that same region.</a:t>
            </a:r>
          </a:p>
          <a:p>
            <a:pPr algn="l">
              <a:lnSpc>
                <a:spcPct val="135000"/>
              </a:lnSpc>
              <a:spcBef>
                <a:spcPts val="1200"/>
              </a:spcBef>
            </a:pPr>
            <a:r>
              <a:rPr sz="1700" b="0">
                <a:solidFill>
                  <a:srgbClr val="8FB6D0"/>
                </a:solidFill>
                <a:latin typeface="Segoe UI"/>
              </a:rPr>
              <a:t>If the target is not met, modify and measure again. The form provides for two further offloading attempts.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Pressure redistribution of the orthosis</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Not less loading.</a:t>
            </a:r>
          </a:p>
          <a:p>
            <a:pPr algn="l">
              <a:lnSpc>
                <a:spcPct val="106000"/>
              </a:lnSpc>
              <a:spcBef>
                <a:spcPts val="500"/>
              </a:spcBef>
            </a:pPr>
            <a:r>
              <a:rPr sz="7200" b="1">
                <a:solidFill>
                  <a:srgbClr val="FFFFFF"/>
                </a:solidFill>
                <a:latin typeface="Segoe UI"/>
              </a:rPr>
              <a:t>Loading where the tissue can take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MEASUREMENT 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At delivery</a:t>
            </a:r>
          </a:p>
        </p:txBody>
      </p:sp>
      <p:pic>
        <p:nvPicPr>
          <p:cNvPr id="5" name="Picture 4" descr="pedar_schoen.png"/>
          <p:cNvPicPr>
            <a:picLocks noChangeAspect="1"/>
          </p:cNvPicPr>
          <p:nvPr/>
        </p:nvPicPr>
        <p:blipFill>
          <a:blip r:embed="rId2"/>
          <a:stretch>
            <a:fillRect/>
          </a:stretch>
        </p:blipFill>
        <p:spPr>
          <a:xfrm>
            <a:off x="7825601" y="2565335"/>
            <a:ext cx="3245925" cy="2539936"/>
          </a:xfrm>
          <a:prstGeom prst="rect">
            <a:avLst/>
          </a:prstGeom>
        </p:spPr>
      </p:pic>
      <p:sp>
        <p:nvSpPr>
          <p:cNvPr id="6" name="Rounded Rectangle 5"/>
          <p:cNvSpPr/>
          <p:nvPr/>
        </p:nvSpPr>
        <p:spPr>
          <a:xfrm>
            <a:off x="634984" y="2971725"/>
            <a:ext cx="6730831"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776"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 the insole</a:t>
            </a:r>
          </a:p>
        </p:txBody>
      </p:sp>
      <p:sp>
        <p:nvSpPr>
          <p:cNvPr id="8" name="TextBox 7"/>
          <p:cNvSpPr txBox="1"/>
          <p:nvPr/>
        </p:nvSpPr>
        <p:spPr>
          <a:xfrm>
            <a:off x="939776" y="3530511"/>
            <a:ext cx="6121246" cy="380990"/>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The measurement against which the target is tested, per target region.</a:t>
            </a:r>
          </a:p>
        </p:txBody>
      </p:sp>
      <p:sp>
        <p:nvSpPr>
          <p:cNvPr id="9" name="TextBox 8"/>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the target is tested per region, not across the whole foot</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33</a:t>
            </a: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pathway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Nine contacts. For each: what is done and what is recorded.</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PATHWAY</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nine visits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eligibility</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allocation</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insole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 + end</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measurement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behavioural support</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and completion</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months, from screening to completion</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Visits 0 to 2 fall close together: consent, baseline, and the insole within the month. After that the rhythm is three-monthly — the same rhythm as the review these patients already receive.</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Who is eligible</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965175"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ELIGIBLE</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300" b="0">
                <a:solidFill>
                  <a:srgbClr val="8FB6D0"/>
                </a:solidFill>
                <a:latin typeface="Segoe UI"/>
              </a:rPr>
              <a:t>Adult, understands Dutch</a:t>
            </a:r>
          </a:p>
          <a:p>
            <a:pPr algn="l">
              <a:lnSpc>
                <a:spcPct val="130000"/>
              </a:lnSpc>
              <a:spcBef>
                <a:spcPts val="1200"/>
              </a:spcBef>
            </a:pPr>
            <a:r>
              <a:rPr sz="1300" b="0">
                <a:solidFill>
                  <a:srgbClr val="8FB6D0"/>
                </a:solidFill>
                <a:latin typeface="Segoe UI"/>
              </a:rPr>
              <a:t>Diabetes type 1 or 2</a:t>
            </a:r>
          </a:p>
          <a:p>
            <a:pPr algn="l">
              <a:lnSpc>
                <a:spcPct val="130000"/>
              </a:lnSpc>
              <a:spcBef>
                <a:spcPts val="1200"/>
              </a:spcBef>
            </a:pPr>
            <a:r>
              <a:rPr sz="1300" b="0">
                <a:solidFill>
                  <a:srgbClr val="8FB6D0"/>
                </a:solidFill>
                <a:latin typeface="Segoe UI"/>
              </a:rPr>
              <a:t>IWGDF risk category 3 with a healed plantar ulcer, or partial amputation or resection of a metatarsal head — not the first — between 18 months and 2 weeks ago</a:t>
            </a:r>
          </a:p>
          <a:p>
            <a:pPr algn="l">
              <a:lnSpc>
                <a:spcPct val="130000"/>
              </a:lnSpc>
              <a:spcBef>
                <a:spcPts val="1200"/>
              </a:spcBef>
            </a:pPr>
            <a:r>
              <a:rPr sz="1300" b="0">
                <a:solidFill>
                  <a:srgbClr val="8FB6D0"/>
                </a:solidFill>
                <a:latin typeface="Segoe UI"/>
              </a:rPr>
              <a:t>Walks barefoot independently, without walking aids</a:t>
            </a:r>
          </a:p>
          <a:p>
            <a:pPr algn="l">
              <a:lnSpc>
                <a:spcPct val="130000"/>
              </a:lnSpc>
              <a:spcBef>
                <a:spcPts val="1200"/>
              </a:spcBef>
            </a:pPr>
            <a:r>
              <a:rPr sz="1300" b="0">
                <a:solidFill>
                  <a:srgbClr val="8FB6D0"/>
                </a:solidFill>
                <a:latin typeface="Segoe UI"/>
              </a:rPr>
              <a:t>Has protective footwear, or accepts it: fully custom-made, or custom insoles in semi-orthopaedic or extra-depth off-the-shelf footwear</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965175"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EXCLUDED</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000" b="0">
                <a:solidFill>
                  <a:srgbClr val="8FB6D0"/>
                </a:solidFill>
                <a:latin typeface="Segoe UI"/>
              </a:rPr>
              <a:t>Amputation proximal to the MTP joints</a:t>
            </a:r>
          </a:p>
          <a:p>
            <a:pPr algn="l">
              <a:lnSpc>
                <a:spcPct val="130000"/>
              </a:lnSpc>
              <a:spcBef>
                <a:spcPts val="1200"/>
              </a:spcBef>
            </a:pPr>
            <a:r>
              <a:rPr sz="1000" b="0">
                <a:solidFill>
                  <a:srgbClr val="8FB6D0"/>
                </a:solidFill>
                <a:latin typeface="Segoe UI"/>
              </a:rPr>
              <a:t>Active ulcer or Charcot deformity</a:t>
            </a:r>
          </a:p>
          <a:p>
            <a:pPr algn="l">
              <a:lnSpc>
                <a:spcPct val="130000"/>
              </a:lnSpc>
              <a:spcBef>
                <a:spcPts val="1200"/>
              </a:spcBef>
            </a:pPr>
            <a:r>
              <a:rPr sz="1000" b="0">
                <a:solidFill>
                  <a:srgbClr val="8FB6D0"/>
                </a:solidFill>
                <a:latin typeface="Segoe UI"/>
              </a:rPr>
              <a:t>Critical ischaemia — PEDIS grade 3</a:t>
            </a:r>
          </a:p>
          <a:p>
            <a:pPr algn="l">
              <a:lnSpc>
                <a:spcPct val="130000"/>
              </a:lnSpc>
              <a:spcBef>
                <a:spcPts val="1200"/>
              </a:spcBef>
            </a:pPr>
            <a:r>
              <a:rPr sz="1000" b="0">
                <a:solidFill>
                  <a:srgbClr val="8FB6D0"/>
                </a:solidFill>
                <a:latin typeface="Segoe UI"/>
              </a:rPr>
              <a:t>Immunosuppressive therapy</a:t>
            </a:r>
          </a:p>
          <a:p>
            <a:pPr algn="l">
              <a:lnSpc>
                <a:spcPct val="130000"/>
              </a:lnSpc>
              <a:spcBef>
                <a:spcPts val="1200"/>
              </a:spcBef>
            </a:pPr>
            <a:r>
              <a:rPr sz="1000" b="0">
                <a:solidFill>
                  <a:srgbClr val="8FB6D0"/>
                </a:solidFill>
                <a:latin typeface="Segoe UI"/>
              </a:rPr>
              <a:t>Renal replacement therapy</a:t>
            </a:r>
          </a:p>
          <a:p>
            <a:pPr algn="l">
              <a:lnSpc>
                <a:spcPct val="130000"/>
              </a:lnSpc>
              <a:spcBef>
                <a:spcPts val="1200"/>
              </a:spcBef>
            </a:pPr>
            <a:r>
              <a:rPr sz="1000" b="0">
                <a:solidFill>
                  <a:srgbClr val="8FB6D0"/>
                </a:solidFill>
                <a:latin typeface="Segoe UI"/>
              </a:rPr>
              <a:t>Survival &lt; 18 months, in the judgement of the treating physician</a:t>
            </a:r>
          </a:p>
          <a:p>
            <a:pPr algn="l">
              <a:lnSpc>
                <a:spcPct val="130000"/>
              </a:lnSpc>
              <a:spcBef>
                <a:spcPts val="1200"/>
              </a:spcBef>
            </a:pPr>
            <a:r>
              <a:rPr sz="1000" b="0">
                <a:solidFill>
                  <a:srgbClr val="8FB6D0"/>
                </a:solidFill>
                <a:latin typeface="Segoe UI"/>
              </a:rPr>
              <a:t>Unable to consent or to follow instructions</a:t>
            </a:r>
          </a:p>
          <a:p>
            <a:pPr algn="l">
              <a:lnSpc>
                <a:spcPct val="130000"/>
              </a:lnSpc>
              <a:spcBef>
                <a:spcPts val="1200"/>
              </a:spcBef>
            </a:pPr>
            <a:r>
              <a:rPr sz="1000" b="0">
                <a:solidFill>
                  <a:srgbClr val="8FB6D0"/>
                </a:solidFill>
                <a:latin typeface="Segoe UI"/>
              </a:rPr>
              <a:t>A device preventing sensor application, e.g. an ankle-foot orthosis</a:t>
            </a:r>
          </a:p>
          <a:p>
            <a:pPr algn="l">
              <a:lnSpc>
                <a:spcPct val="130000"/>
              </a:lnSpc>
              <a:spcBef>
                <a:spcPts val="1200"/>
              </a:spcBef>
            </a:pPr>
            <a:r>
              <a:rPr sz="1000" b="0">
                <a:solidFill>
                  <a:srgbClr val="8FB6D0"/>
                </a:solidFill>
                <a:latin typeface="Segoe UI"/>
              </a:rPr>
              <a:t>Declines the prescribed footwear</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33</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TECHNOLOGY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devices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PRESSURE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foot regions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YOUR TEAM MEASURES</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In-shoe, with the insole</a:t>
            </a:r>
          </a:p>
          <a:p>
            <a:pPr algn="l">
              <a:lnSpc>
                <a:spcPct val="130000"/>
              </a:lnSpc>
              <a:spcBef>
                <a:spcPts val="1000"/>
              </a:spcBef>
            </a:pPr>
            <a:r>
              <a:rPr sz="1350" b="0">
                <a:solidFill>
                  <a:srgbClr val="8FB6D0"/>
                </a:solidFill>
                <a:latin typeface="Segoe UI"/>
              </a:rPr>
              <a:t>Zeroing once per session</a:t>
            </a:r>
          </a:p>
          <a:p>
            <a:pPr algn="l">
              <a:lnSpc>
                <a:spcPct val="130000"/>
              </a:lnSpc>
              <a:spcBef>
                <a:spcPts val="1000"/>
              </a:spcBef>
            </a:pPr>
            <a:r>
              <a:rPr sz="1350" b="0">
                <a:solidFill>
                  <a:srgbClr val="8FB6D0"/>
                </a:solidFill>
                <a:latin typeface="Segoe UI"/>
              </a:rPr>
              <a:t>F-Scan GO: a separate study-team measurement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WEAR TIME</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minutes</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the insole, 9 × 13 × 4.5 mm</a:t>
            </a:r>
          </a:p>
          <a:p>
            <a:pPr algn="l">
              <a:lnSpc>
                <a:spcPct val="128000"/>
              </a:lnSpc>
              <a:spcBef>
                <a:spcPts val="600"/>
              </a:spcBef>
            </a:pPr>
            <a:r>
              <a:rPr sz="1400" b="0">
                <a:solidFill>
                  <a:srgbClr val="8FB6D0"/>
                </a:solidFill>
                <a:latin typeface="Segoe UI"/>
              </a:rPr>
              <a:t>Memory 100 days</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ACTIVITY</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days</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At the waist, on the lower back</a:t>
            </a:r>
          </a:p>
          <a:p>
            <a:pPr algn="l">
              <a:lnSpc>
                <a:spcPct val="128000"/>
              </a:lnSpc>
              <a:spcBef>
                <a:spcPts val="600"/>
              </a:spcBef>
            </a:pPr>
            <a:r>
              <a:rPr sz="1400" b="0">
                <a:solidFill>
                  <a:srgbClr val="8FB6D0"/>
                </a:solidFill>
                <a:latin typeface="Segoe UI"/>
              </a:rPr>
              <a:t>Baseline and 6 months</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33</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 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Five conversations</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Questionnaires first, then tailored education, with demonstration.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mo</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with the emphasis on índoor wear.</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mo</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Self-assessment, then reviewing the data together.</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mo</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Demonstration, comparing the printout with the previous visit.</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mo</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Closing, and sharing the results.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33</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THE ONE RULE THAT REALLY MATTERS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Measured values do</a:t>
            </a:r>
          </a:p>
          <a:p>
            <a:pPr algn="l">
              <a:lnSpc>
                <a:spcPct val="108000"/>
              </a:lnSpc>
              <a:spcBef>
                <a:spcPts val="500"/>
              </a:spcBef>
            </a:pPr>
            <a:r>
              <a:rPr sz="5400" b="1">
                <a:solidFill>
                  <a:srgbClr val="F2F8FC"/>
                </a:solidFill>
                <a:latin typeface="Segoe UI"/>
              </a:rPr>
              <a:t>not go to the</a:t>
            </a:r>
          </a:p>
          <a:p>
            <a:pPr algn="l">
              <a:lnSpc>
                <a:spcPct val="108000"/>
              </a:lnSpc>
              <a:spcBef>
                <a:spcPts val="500"/>
              </a:spcBef>
            </a:pPr>
            <a:r>
              <a:rPr sz="5400" b="1">
                <a:solidFill>
                  <a:srgbClr val="F2F8FC"/>
                </a:solidFill>
                <a:latin typeface="Segoe UI"/>
              </a:rPr>
              <a:t>control arm</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They too undergo pressure measurement and wear a sensor, otherwise the groups cannot be compared. But those numbers stay with you. Discuss them and you have delivered the intervention, and that patient is no longer usable as a control.</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EXCEPTION</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Clinical findings are not measured values. Any lesion or skin defect is reported and treated immediately. In both arms.</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33</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04</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04</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Endpoints and analysis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One endpoint, and the mediator that explains it.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SAMPLE SIZE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Powered on recurrence</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PRIMARY ENDPOINT</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Ulcer recurrence at 18 months</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recurrence</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two-sided,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required</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with attrition → 130 stratified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MEDIATOR</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Footwear adherence at 12 months</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 size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Role</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prespecified mediator</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Own criterion</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geen</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Measured in full</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 days a week, every 3 months</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amply covered at 144</a:t>
            </a:r>
          </a:p>
        </p:txBody>
      </p:sp>
      <p:sp>
        <p:nvSpPr>
          <p:cNvPr id="45" name="Rounded Rectangle 44"/>
          <p:cNvSpPr/>
          <p:nvPr/>
        </p:nvSpPr>
        <p:spPr>
          <a:xfrm>
            <a:off x="634984" y="5462641"/>
            <a:ext cx="10921726" cy="110698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576938"/>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SO WHY 144</a:t>
            </a:r>
          </a:p>
        </p:txBody>
      </p:sp>
      <p:sp>
        <p:nvSpPr>
          <p:cNvPr id="47" name="TextBox 46"/>
          <p:cNvSpPr txBox="1"/>
          <p:nvPr/>
        </p:nvSpPr>
        <p:spPr>
          <a:xfrm>
            <a:off x="939776" y="5805532"/>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Six centres times 24 is 144. That figure comes from per-centre recruitment capacity rather than from the calculation, and it exceeds the minimum of 130.</a:t>
            </a:r>
          </a:p>
        </p:txBody>
      </p:sp>
      <p:sp>
        <p:nvSpPr>
          <p:cNvPr id="48" name="TextBox 4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33</a:t>
            </a:r>
          </a:p>
        </p:txBody>
      </p:sp>
      <p:pic>
        <p:nvPicPr>
          <p:cNvPr id="4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50" name="TextBox 4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ADHERENCE IS NOT A SECOND ENDPOINT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The mediator carries the explanation, not the verdict</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The trial is positive if recurrence falls significantly. Adherence says whý.</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POWER ON RECURRENCE</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and 90% with complete follow-up</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WHAT THE MEDIATOR IS FOR</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decomposing the effect into pressure and wear time, prespecified</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ANALYSIS POINT</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12 months, with the full 18-month profile as a secondary summary</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AT HALF THE EFFECT SIZE</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at 30% · 40% at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Two co-primary endpoints would place the bar at the intersection and push joint power down to 74%. One endpoint plus a prespecified mediator tests the same causal model without that cost.</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33</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2" name="TextBox 2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ANALYSIS 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How we test it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Recurrence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 regression stratified by centre, with allocation as the only covariate. Death is a competing risk, not censoring: Fine-Gray and cumulative incidence alongside.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primary</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 regression with a logit link, since it is a proportion with a ceiling, followed by causal mediation analysis on recurrence.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mediator</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 recurrence is the intercurrent event for the mediator: a patient who ulcerates rightly stops wearing the insole. Hypothetical strategy for adherence.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Missing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Multiple imputation, 50 datasets. A tipping-point analysis shows how extreme a departure would have to be to overturn the conclusion.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One primary endpoint, so no intersection-union and no multiplicity correction. The mediation analysis is explanatory and carries no success criterion of its own.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21 · SPIRIT 2025   |   24 · CONSORT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RUNS ALONGSIDE THE TRIAL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evaluations, in parallel</a:t>
            </a:r>
          </a:p>
        </p:txBody>
      </p:sp>
      <p:sp>
        <p:nvSpPr>
          <p:cNvPr id="5" name="Rounded Rectangle 4"/>
          <p:cNvSpPr/>
          <p:nvPr/>
        </p:nvSpPr>
        <p:spPr>
          <a:xfrm>
            <a:off x="634984"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Health-economic evaluation</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Cost-utility, payer perspective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every three months, valued with the Belgian value set.</a:t>
            </a:r>
          </a:p>
          <a:p>
            <a:pPr algn="l">
              <a:lnSpc>
                <a:spcPct val="132000"/>
              </a:lnSpc>
              <a:spcBef>
                <a:spcPts val="1200"/>
              </a:spcBef>
            </a:pPr>
            <a:r>
              <a:rPr sz="1450" b="0">
                <a:solidFill>
                  <a:srgbClr val="8FB6D0"/>
                </a:solidFill>
                <a:latin typeface="Segoe UI"/>
              </a:rPr>
              <a:t>Resource use collected prospectively with the iMCQ and iPCQ, plus diary and medical records.</a:t>
            </a:r>
          </a:p>
          <a:p>
            <a:pPr algn="l">
              <a:lnSpc>
                <a:spcPct val="132000"/>
              </a:lnSpc>
              <a:spcBef>
                <a:spcPts val="1200"/>
              </a:spcBef>
            </a:pPr>
            <a:r>
              <a:rPr sz="1450" b="0">
                <a:solidFill>
                  <a:srgbClr val="8FB6D0"/>
                </a:solidFill>
                <a:latin typeface="Segoe UI"/>
              </a:rPr>
              <a:t>Markov extrapolation to five years. Cost per ulcer prevented and cost per QALY, reported side by side.</a:t>
            </a:r>
          </a:p>
        </p:txBody>
      </p:sp>
      <p:sp>
        <p:nvSpPr>
          <p:cNvPr id="11" name="Rounded Rectangle 10"/>
          <p:cNvSpPr/>
          <p:nvPr/>
        </p:nvSpPr>
        <p:spPr>
          <a:xfrm>
            <a:off x="6171918"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Process evaluation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 framework, three domains</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Implementation: fidelity, dose, reach, adaptations.</a:t>
            </a:r>
          </a:p>
          <a:p>
            <a:pPr algn="l">
              <a:lnSpc>
                <a:spcPct val="132000"/>
              </a:lnSpc>
              <a:spcBef>
                <a:spcPts val="1200"/>
              </a:spcBef>
            </a:pPr>
            <a:r>
              <a:rPr sz="1450" b="0">
                <a:solidFill>
                  <a:srgbClr val="8FB6D0"/>
                </a:solidFill>
                <a:latin typeface="Segoe UI"/>
              </a:rPr>
              <a:t>Mechanisms and context: what governs delivery at each centre.</a:t>
            </a:r>
          </a:p>
          <a:p>
            <a:pPr algn="l">
              <a:lnSpc>
                <a:spcPct val="132000"/>
              </a:lnSpc>
              <a:spcBef>
                <a:spcPts val="1200"/>
              </a:spcBef>
            </a:pPr>
            <a:r>
              <a:rPr sz="1450" b="0">
                <a:solidFill>
                  <a:srgbClr val="8FB6D0"/>
                </a:solidFill>
                <a:latin typeface="Segoe UI"/>
              </a:rPr>
              <a:t>Interviews, structured observation and therapist diaries.</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33 · Bus 2026, kosten   |   34 · CHEERS   |   35 · Kostenhandleiding 2024   |   40 · MRC 2015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WE LEARN EITHER WAY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 null result is also a result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rises, recurrence does not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biomechanical premise fails: wearing optimised footwear is not enough. The field should stop attributing prevention failures to patient behaviour.</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does not rise</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behavioural component failed. The fidelity data distinguish inadequate design from inadequate delivery.</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Both rise</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an integrated service works under routine conditions — without our knowing which component did it. Decomposition would require a factorial design the Belgian network cannot supply.</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Either way</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Pressure, activity and wear time are recorded concurrently in 144 participants over eighteen months. That is the first dataset of that size, whatever the result.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33</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3" name="TextBox 2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15 · Hulshof 2024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WHO TO CONTACT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If something goes wrong</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DOCTORAL RESEARCHER · DAY-TO-DAY CONDUCT</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Your first point of contact: inclusions, measurements, forms, sensors and anything that gets stuck in practice.</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Bruges</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PRINCIPAL INVESTIGATOR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Scientific questions, trial design, and arrangements at the level of your centre.</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Rehabilitation Sciences</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Bruges Campus</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Rehabilitation Sciences (Musculoskeletal Research Group) and Public Health and Primary Care · Vrije Universiteit Brussel — Medicine and Pharmacy. Co-promotors: Fabienne Dobbels, Maaike Fobelets and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33</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THE NUMBERS COME FROM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References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10</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2016;32(Suppl 1):84–98.</a:t>
            </a:r>
          </a:p>
        </p:txBody>
      </p:sp>
      <p:sp>
        <p:nvSpPr>
          <p:cNvPr id="19" name="TextBox 18"/>
          <p:cNvSpPr txBox="1"/>
          <p:nvPr/>
        </p:nvSpPr>
        <p:spPr>
          <a:xfrm>
            <a:off x="634984" y="5482818"/>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12</a:t>
            </a:r>
          </a:p>
        </p:txBody>
      </p:sp>
      <p:sp>
        <p:nvSpPr>
          <p:cNvPr id="20" name="TextBox 19"/>
          <p:cNvSpPr txBox="1"/>
          <p:nvPr/>
        </p:nvSpPr>
        <p:spPr>
          <a:xfrm>
            <a:off x="965175" y="5482818"/>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Abbott CA et al. Lancet Digit Health. 2019;1(6):e308–18.</a:t>
            </a:r>
          </a:p>
        </p:txBody>
      </p:sp>
      <p:sp>
        <p:nvSpPr>
          <p:cNvPr id="21" name="TextBox 20"/>
          <p:cNvSpPr txBox="1"/>
          <p:nvPr/>
        </p:nvSpPr>
        <p:spPr>
          <a:xfrm>
            <a:off x="634984" y="6001199"/>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22" name="TextBox 21"/>
          <p:cNvSpPr txBox="1"/>
          <p:nvPr/>
        </p:nvSpPr>
        <p:spPr>
          <a:xfrm>
            <a:off x="965175" y="6001199"/>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23" name="TextBox 22"/>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4" name="TextBox 23"/>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5" name="TextBox 24"/>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15</a:t>
            </a:r>
          </a:p>
        </p:txBody>
      </p:sp>
      <p:sp>
        <p:nvSpPr>
          <p:cNvPr id="26" name="TextBox 25"/>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Sensors. 2024;24(8):2411.</a:t>
            </a:r>
          </a:p>
        </p:txBody>
      </p:sp>
      <p:sp>
        <p:nvSpPr>
          <p:cNvPr id="27" name="TextBox 26"/>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8" name="TextBox 27"/>
          <p:cNvSpPr txBox="1"/>
          <p:nvPr/>
        </p:nvSpPr>
        <p:spPr>
          <a:xfrm>
            <a:off x="4656465" y="267617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9" name="TextBox 28"/>
          <p:cNvSpPr txBox="1"/>
          <p:nvPr/>
        </p:nvSpPr>
        <p:spPr>
          <a:xfrm>
            <a:off x="4326273" y="2979812"/>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30" name="TextBox 29"/>
          <p:cNvSpPr txBox="1"/>
          <p:nvPr/>
        </p:nvSpPr>
        <p:spPr>
          <a:xfrm>
            <a:off x="4656465" y="2979812"/>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31" name="TextBox 30"/>
          <p:cNvSpPr txBox="1"/>
          <p:nvPr/>
        </p:nvSpPr>
        <p:spPr>
          <a:xfrm>
            <a:off x="4326273" y="349819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32" name="TextBox 31"/>
          <p:cNvSpPr txBox="1"/>
          <p:nvPr/>
        </p:nvSpPr>
        <p:spPr>
          <a:xfrm>
            <a:off x="4656465" y="349819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33" name="TextBox 32"/>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34" name="TextBox 33"/>
          <p:cNvSpPr txBox="1"/>
          <p:nvPr/>
        </p:nvSpPr>
        <p:spPr>
          <a:xfrm>
            <a:off x="4656465" y="401657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35" name="TextBox 34"/>
          <p:cNvSpPr txBox="1"/>
          <p:nvPr/>
        </p:nvSpPr>
        <p:spPr>
          <a:xfrm>
            <a:off x="4326273" y="432021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6" name="TextBox 35"/>
          <p:cNvSpPr txBox="1"/>
          <p:nvPr/>
        </p:nvSpPr>
        <p:spPr>
          <a:xfrm>
            <a:off x="4656465" y="432021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7" name="TextBox 36"/>
          <p:cNvSpPr txBox="1"/>
          <p:nvPr/>
        </p:nvSpPr>
        <p:spPr>
          <a:xfrm>
            <a:off x="4326273" y="483859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8" name="TextBox 37"/>
          <p:cNvSpPr txBox="1"/>
          <p:nvPr/>
        </p:nvSpPr>
        <p:spPr>
          <a:xfrm>
            <a:off x="4656465" y="483859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9" name="TextBox 38"/>
          <p:cNvSpPr txBox="1"/>
          <p:nvPr/>
        </p:nvSpPr>
        <p:spPr>
          <a:xfrm>
            <a:off x="4326273" y="514223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24</a:t>
            </a:r>
          </a:p>
        </p:txBody>
      </p:sp>
      <p:sp>
        <p:nvSpPr>
          <p:cNvPr id="40" name="TextBox 39"/>
          <p:cNvSpPr txBox="1"/>
          <p:nvPr/>
        </p:nvSpPr>
        <p:spPr>
          <a:xfrm>
            <a:off x="4656465" y="514223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Hopewell S et al. BMJ. 2025;389:e081123.</a:t>
            </a:r>
          </a:p>
        </p:txBody>
      </p:sp>
      <p:sp>
        <p:nvSpPr>
          <p:cNvPr id="41" name="TextBox 40"/>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42" name="TextBox 41"/>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43" name="TextBox 42"/>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44" name="TextBox 43"/>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45" name="TextBox 44"/>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46" name="TextBox 45"/>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47" name="TextBox 46"/>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8" name="TextBox 47"/>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9" name="TextBox 48"/>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33</a:t>
            </a:r>
          </a:p>
        </p:txBody>
      </p:sp>
      <p:sp>
        <p:nvSpPr>
          <p:cNvPr id="50" name="TextBox 49"/>
          <p:cNvSpPr txBox="1"/>
          <p:nvPr/>
        </p:nvSpPr>
        <p:spPr>
          <a:xfrm>
            <a:off x="834775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Diabetology. 2026;7(4):70.</a:t>
            </a:r>
          </a:p>
        </p:txBody>
      </p:sp>
      <p:sp>
        <p:nvSpPr>
          <p:cNvPr id="51" name="TextBox 50"/>
          <p:cNvSpPr txBox="1"/>
          <p:nvPr/>
        </p:nvSpPr>
        <p:spPr>
          <a:xfrm>
            <a:off x="801756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34</a:t>
            </a:r>
          </a:p>
        </p:txBody>
      </p:sp>
      <p:sp>
        <p:nvSpPr>
          <p:cNvPr id="52" name="TextBox 51"/>
          <p:cNvSpPr txBox="1"/>
          <p:nvPr/>
        </p:nvSpPr>
        <p:spPr>
          <a:xfrm>
            <a:off x="834775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Husereau D et al. Pharmacoeconomics. 2013;31(5):361–7.</a:t>
            </a:r>
          </a:p>
        </p:txBody>
      </p:sp>
      <p:sp>
        <p:nvSpPr>
          <p:cNvPr id="53" name="TextBox 52"/>
          <p:cNvSpPr txBox="1"/>
          <p:nvPr/>
        </p:nvSpPr>
        <p:spPr>
          <a:xfrm>
            <a:off x="801756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35</a:t>
            </a:r>
          </a:p>
        </p:txBody>
      </p:sp>
      <p:sp>
        <p:nvSpPr>
          <p:cNvPr id="54" name="TextBox 53"/>
          <p:cNvSpPr txBox="1"/>
          <p:nvPr/>
        </p:nvSpPr>
        <p:spPr>
          <a:xfrm>
            <a:off x="8347755" y="453495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Hakkaart-van Roijen L et al. Diemen: Zorginstituut Nederland; 2024.</a:t>
            </a:r>
          </a:p>
        </p:txBody>
      </p:sp>
      <p:sp>
        <p:nvSpPr>
          <p:cNvPr id="55" name="TextBox 54"/>
          <p:cNvSpPr txBox="1"/>
          <p:nvPr/>
        </p:nvSpPr>
        <p:spPr>
          <a:xfrm>
            <a:off x="8017563" y="50533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40</a:t>
            </a:r>
          </a:p>
        </p:txBody>
      </p:sp>
      <p:sp>
        <p:nvSpPr>
          <p:cNvPr id="56" name="TextBox 55"/>
          <p:cNvSpPr txBox="1"/>
          <p:nvPr/>
        </p:nvSpPr>
        <p:spPr>
          <a:xfrm>
            <a:off x="8347755" y="50533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Moore GF et al. BMJ. 2015;350:h1258.</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Numbering follows the protocol manuscript.</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33</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