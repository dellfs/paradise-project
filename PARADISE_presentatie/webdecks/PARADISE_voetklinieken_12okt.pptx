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chart>
    <c:plotArea>
      <c:layout>
        <c:manualLayout>
          <c:layoutTarget val="inner"/>
          <c:xMode val="edge"/>
          <c:yMode val="edge"/>
          <c:x val="0.1047"/>
          <c:y val="0.0678"/>
          <c:w val="0.8605"/>
          <c:h val="0.7458"/>
        </c:manualLayout>
      </c:layout>
      <c:scatterChart>
        <c:scatterStyle val="lineMarker"/>
        <c:varyColors val="0"/>
        <c:ser>
          <c:idx val="0"/>
          <c:order val="0"/>
          <c:tx>
            <c:strRef>
              <c:f>Sheet1!$B$1</c:f>
              <c:strCache>
                <c:ptCount val="1"/>
                <c:pt idx="0">
                  <c:v>kans</c:v>
                </c:pt>
              </c:strCache>
            </c:strRef>
          </c:tx>
          <c:spPr>
            <a:ln w="19050">
              <a:solidFill>
                <a:srgbClr val="C5D8E8"/>
              </a:solidFill>
            </a:ln>
          </c:spPr>
          <c:marker>
            <c:symbol val="none"/>
          </c:marker>
          <c:xVal>
            <c:numRef>
              <c:f>Sheet1!$A$2:$A$252</c:f>
              <c:numCache>
                <c:formatCode>General</c:formatCode>
                <c:ptCount val="251"/>
                <c:pt idx="0">
                  <c:v>1.5</c:v>
                </c:pt>
                <c:pt idx="1">
                  <c:v>1.51</c:v>
                </c:pt>
                <c:pt idx="2">
                  <c:v>1.52</c:v>
                </c:pt>
                <c:pt idx="3">
                  <c:v>1.53</c:v>
                </c:pt>
                <c:pt idx="4">
                  <c:v>1.54</c:v>
                </c:pt>
                <c:pt idx="5">
                  <c:v>1.55</c:v>
                </c:pt>
                <c:pt idx="6">
                  <c:v>1.56</c:v>
                </c:pt>
                <c:pt idx="7">
                  <c:v>1.57</c:v>
                </c:pt>
                <c:pt idx="8">
                  <c:v>1.58</c:v>
                </c:pt>
                <c:pt idx="9">
                  <c:v>1.59</c:v>
                </c:pt>
                <c:pt idx="10">
                  <c:v>1.6</c:v>
                </c:pt>
                <c:pt idx="11">
                  <c:v>1.61</c:v>
                </c:pt>
                <c:pt idx="12">
                  <c:v>1.62</c:v>
                </c:pt>
                <c:pt idx="13">
                  <c:v>1.63</c:v>
                </c:pt>
                <c:pt idx="14">
                  <c:v>1.64</c:v>
                </c:pt>
                <c:pt idx="15">
                  <c:v>1.65</c:v>
                </c:pt>
                <c:pt idx="16">
                  <c:v>1.66</c:v>
                </c:pt>
                <c:pt idx="17">
                  <c:v>1.67</c:v>
                </c:pt>
                <c:pt idx="18">
                  <c:v>1.68</c:v>
                </c:pt>
                <c:pt idx="19">
                  <c:v>1.69</c:v>
                </c:pt>
                <c:pt idx="20">
                  <c:v>1.7</c:v>
                </c:pt>
                <c:pt idx="21">
                  <c:v>1.71</c:v>
                </c:pt>
                <c:pt idx="22">
                  <c:v>1.72</c:v>
                </c:pt>
                <c:pt idx="23">
                  <c:v>1.73</c:v>
                </c:pt>
                <c:pt idx="24">
                  <c:v>1.74</c:v>
                </c:pt>
                <c:pt idx="25">
                  <c:v>1.75</c:v>
                </c:pt>
                <c:pt idx="26">
                  <c:v>1.76</c:v>
                </c:pt>
                <c:pt idx="27">
                  <c:v>1.77</c:v>
                </c:pt>
                <c:pt idx="28">
                  <c:v>1.78</c:v>
                </c:pt>
                <c:pt idx="29">
                  <c:v>1.79</c:v>
                </c:pt>
                <c:pt idx="30">
                  <c:v>1.8</c:v>
                </c:pt>
                <c:pt idx="31">
                  <c:v>1.81</c:v>
                </c:pt>
                <c:pt idx="32">
                  <c:v>1.82</c:v>
                </c:pt>
                <c:pt idx="33">
                  <c:v>1.83</c:v>
                </c:pt>
                <c:pt idx="34">
                  <c:v>1.84</c:v>
                </c:pt>
                <c:pt idx="35">
                  <c:v>1.85</c:v>
                </c:pt>
                <c:pt idx="36">
                  <c:v>1.86</c:v>
                </c:pt>
                <c:pt idx="37">
                  <c:v>1.87</c:v>
                </c:pt>
                <c:pt idx="38">
                  <c:v>1.88</c:v>
                </c:pt>
                <c:pt idx="39">
                  <c:v>1.89</c:v>
                </c:pt>
                <c:pt idx="40">
                  <c:v>1.9</c:v>
                </c:pt>
                <c:pt idx="41">
                  <c:v>1.91</c:v>
                </c:pt>
                <c:pt idx="42">
                  <c:v>1.92</c:v>
                </c:pt>
                <c:pt idx="43">
                  <c:v>1.93</c:v>
                </c:pt>
                <c:pt idx="44">
                  <c:v>1.94</c:v>
                </c:pt>
                <c:pt idx="45">
                  <c:v>1.95</c:v>
                </c:pt>
                <c:pt idx="46">
                  <c:v>1.96</c:v>
                </c:pt>
                <c:pt idx="47">
                  <c:v>1.97</c:v>
                </c:pt>
                <c:pt idx="48">
                  <c:v>1.98</c:v>
                </c:pt>
                <c:pt idx="49">
                  <c:v>1.99</c:v>
                </c:pt>
                <c:pt idx="50">
                  <c:v>2.0</c:v>
                </c:pt>
                <c:pt idx="51">
                  <c:v>2.01</c:v>
                </c:pt>
                <c:pt idx="52">
                  <c:v>2.02</c:v>
                </c:pt>
                <c:pt idx="53">
                  <c:v>2.03</c:v>
                </c:pt>
                <c:pt idx="54">
                  <c:v>2.04</c:v>
                </c:pt>
                <c:pt idx="55">
                  <c:v>2.05</c:v>
                </c:pt>
                <c:pt idx="56">
                  <c:v>2.06</c:v>
                </c:pt>
                <c:pt idx="57">
                  <c:v>2.07</c:v>
                </c:pt>
                <c:pt idx="58">
                  <c:v>2.08</c:v>
                </c:pt>
                <c:pt idx="59">
                  <c:v>2.09</c:v>
                </c:pt>
                <c:pt idx="60">
                  <c:v>2.1</c:v>
                </c:pt>
                <c:pt idx="61">
                  <c:v>2.11</c:v>
                </c:pt>
                <c:pt idx="62">
                  <c:v>2.12</c:v>
                </c:pt>
                <c:pt idx="63">
                  <c:v>2.13</c:v>
                </c:pt>
                <c:pt idx="64">
                  <c:v>2.14</c:v>
                </c:pt>
                <c:pt idx="65">
                  <c:v>2.15</c:v>
                </c:pt>
                <c:pt idx="66">
                  <c:v>2.16</c:v>
                </c:pt>
                <c:pt idx="67">
                  <c:v>2.17</c:v>
                </c:pt>
                <c:pt idx="68">
                  <c:v>2.18</c:v>
                </c:pt>
                <c:pt idx="69">
                  <c:v>2.19</c:v>
                </c:pt>
                <c:pt idx="70">
                  <c:v>2.2</c:v>
                </c:pt>
                <c:pt idx="71">
                  <c:v>2.21</c:v>
                </c:pt>
                <c:pt idx="72">
                  <c:v>2.22</c:v>
                </c:pt>
                <c:pt idx="73">
                  <c:v>2.23</c:v>
                </c:pt>
                <c:pt idx="74">
                  <c:v>2.24</c:v>
                </c:pt>
                <c:pt idx="75">
                  <c:v>2.25</c:v>
                </c:pt>
                <c:pt idx="76">
                  <c:v>2.26</c:v>
                </c:pt>
                <c:pt idx="77">
                  <c:v>2.27</c:v>
                </c:pt>
                <c:pt idx="78">
                  <c:v>2.28</c:v>
                </c:pt>
                <c:pt idx="79">
                  <c:v>2.29</c:v>
                </c:pt>
                <c:pt idx="80">
                  <c:v>2.3</c:v>
                </c:pt>
                <c:pt idx="81">
                  <c:v>2.31</c:v>
                </c:pt>
                <c:pt idx="82">
                  <c:v>2.32</c:v>
                </c:pt>
                <c:pt idx="83">
                  <c:v>2.33</c:v>
                </c:pt>
                <c:pt idx="84">
                  <c:v>2.34</c:v>
                </c:pt>
                <c:pt idx="85">
                  <c:v>2.35</c:v>
                </c:pt>
                <c:pt idx="86">
                  <c:v>2.36</c:v>
                </c:pt>
                <c:pt idx="87">
                  <c:v>2.37</c:v>
                </c:pt>
                <c:pt idx="88">
                  <c:v>2.38</c:v>
                </c:pt>
                <c:pt idx="89">
                  <c:v>2.39</c:v>
                </c:pt>
                <c:pt idx="90">
                  <c:v>2.4</c:v>
                </c:pt>
                <c:pt idx="91">
                  <c:v>2.41</c:v>
                </c:pt>
                <c:pt idx="92">
                  <c:v>2.42</c:v>
                </c:pt>
                <c:pt idx="93">
                  <c:v>2.43</c:v>
                </c:pt>
                <c:pt idx="94">
                  <c:v>2.44</c:v>
                </c:pt>
                <c:pt idx="95">
                  <c:v>2.45</c:v>
                </c:pt>
                <c:pt idx="96">
                  <c:v>2.46</c:v>
                </c:pt>
                <c:pt idx="97">
                  <c:v>2.47</c:v>
                </c:pt>
                <c:pt idx="98">
                  <c:v>2.48</c:v>
                </c:pt>
                <c:pt idx="99">
                  <c:v>2.49</c:v>
                </c:pt>
                <c:pt idx="100">
                  <c:v>2.5</c:v>
                </c:pt>
                <c:pt idx="101">
                  <c:v>2.51</c:v>
                </c:pt>
                <c:pt idx="102">
                  <c:v>2.52</c:v>
                </c:pt>
                <c:pt idx="103">
                  <c:v>2.53</c:v>
                </c:pt>
                <c:pt idx="104">
                  <c:v>2.54</c:v>
                </c:pt>
                <c:pt idx="105">
                  <c:v>2.55</c:v>
                </c:pt>
                <c:pt idx="106">
                  <c:v>2.56</c:v>
                </c:pt>
                <c:pt idx="107">
                  <c:v>2.57</c:v>
                </c:pt>
                <c:pt idx="108">
                  <c:v>2.58</c:v>
                </c:pt>
                <c:pt idx="109">
                  <c:v>2.59</c:v>
                </c:pt>
                <c:pt idx="110">
                  <c:v>2.6</c:v>
                </c:pt>
                <c:pt idx="111">
                  <c:v>2.61</c:v>
                </c:pt>
                <c:pt idx="112">
                  <c:v>2.62</c:v>
                </c:pt>
                <c:pt idx="113">
                  <c:v>2.63</c:v>
                </c:pt>
                <c:pt idx="114">
                  <c:v>2.64</c:v>
                </c:pt>
                <c:pt idx="115">
                  <c:v>2.65</c:v>
                </c:pt>
                <c:pt idx="116">
                  <c:v>2.66</c:v>
                </c:pt>
                <c:pt idx="117">
                  <c:v>2.67</c:v>
                </c:pt>
                <c:pt idx="118">
                  <c:v>2.68</c:v>
                </c:pt>
                <c:pt idx="119">
                  <c:v>2.69</c:v>
                </c:pt>
                <c:pt idx="120">
                  <c:v>2.7</c:v>
                </c:pt>
                <c:pt idx="121">
                  <c:v>2.71</c:v>
                </c:pt>
                <c:pt idx="122">
                  <c:v>2.72</c:v>
                </c:pt>
                <c:pt idx="123">
                  <c:v>2.73</c:v>
                </c:pt>
                <c:pt idx="124">
                  <c:v>2.74</c:v>
                </c:pt>
                <c:pt idx="125">
                  <c:v>2.75</c:v>
                </c:pt>
                <c:pt idx="126">
                  <c:v>2.76</c:v>
                </c:pt>
                <c:pt idx="127">
                  <c:v>2.77</c:v>
                </c:pt>
                <c:pt idx="128">
                  <c:v>2.78</c:v>
                </c:pt>
                <c:pt idx="129">
                  <c:v>2.79</c:v>
                </c:pt>
                <c:pt idx="130">
                  <c:v>2.8</c:v>
                </c:pt>
                <c:pt idx="131">
                  <c:v>2.81</c:v>
                </c:pt>
                <c:pt idx="132">
                  <c:v>2.82</c:v>
                </c:pt>
                <c:pt idx="133">
                  <c:v>2.83</c:v>
                </c:pt>
                <c:pt idx="134">
                  <c:v>2.84</c:v>
                </c:pt>
                <c:pt idx="135">
                  <c:v>2.85</c:v>
                </c:pt>
                <c:pt idx="136">
                  <c:v>2.86</c:v>
                </c:pt>
                <c:pt idx="137">
                  <c:v>2.87</c:v>
                </c:pt>
                <c:pt idx="138">
                  <c:v>2.88</c:v>
                </c:pt>
                <c:pt idx="139">
                  <c:v>2.89</c:v>
                </c:pt>
                <c:pt idx="140">
                  <c:v>2.9</c:v>
                </c:pt>
                <c:pt idx="141">
                  <c:v>2.91</c:v>
                </c:pt>
                <c:pt idx="142">
                  <c:v>2.92</c:v>
                </c:pt>
                <c:pt idx="143">
                  <c:v>2.93</c:v>
                </c:pt>
                <c:pt idx="144">
                  <c:v>2.94</c:v>
                </c:pt>
                <c:pt idx="145">
                  <c:v>2.95</c:v>
                </c:pt>
                <c:pt idx="146">
                  <c:v>2.96</c:v>
                </c:pt>
                <c:pt idx="147">
                  <c:v>2.97</c:v>
                </c:pt>
                <c:pt idx="148">
                  <c:v>2.98</c:v>
                </c:pt>
                <c:pt idx="149">
                  <c:v>2.99</c:v>
                </c:pt>
                <c:pt idx="150">
                  <c:v>3.0</c:v>
                </c:pt>
                <c:pt idx="151">
                  <c:v>3.01</c:v>
                </c:pt>
                <c:pt idx="152">
                  <c:v>3.02</c:v>
                </c:pt>
                <c:pt idx="153">
                  <c:v>3.03</c:v>
                </c:pt>
                <c:pt idx="154">
                  <c:v>3.04</c:v>
                </c:pt>
                <c:pt idx="155">
                  <c:v>3.05</c:v>
                </c:pt>
                <c:pt idx="156">
                  <c:v>3.06</c:v>
                </c:pt>
                <c:pt idx="157">
                  <c:v>3.07</c:v>
                </c:pt>
                <c:pt idx="158">
                  <c:v>3.08</c:v>
                </c:pt>
                <c:pt idx="159">
                  <c:v>3.09</c:v>
                </c:pt>
                <c:pt idx="160">
                  <c:v>3.1</c:v>
                </c:pt>
                <c:pt idx="161">
                  <c:v>3.11</c:v>
                </c:pt>
                <c:pt idx="162">
                  <c:v>3.12</c:v>
                </c:pt>
                <c:pt idx="163">
                  <c:v>3.13</c:v>
                </c:pt>
                <c:pt idx="164">
                  <c:v>3.14</c:v>
                </c:pt>
                <c:pt idx="165">
                  <c:v>3.15</c:v>
                </c:pt>
                <c:pt idx="166">
                  <c:v>3.16</c:v>
                </c:pt>
                <c:pt idx="167">
                  <c:v>3.17</c:v>
                </c:pt>
                <c:pt idx="168">
                  <c:v>3.18</c:v>
                </c:pt>
                <c:pt idx="169">
                  <c:v>3.19</c:v>
                </c:pt>
                <c:pt idx="170">
                  <c:v>3.2</c:v>
                </c:pt>
                <c:pt idx="171">
                  <c:v>3.21</c:v>
                </c:pt>
                <c:pt idx="172">
                  <c:v>3.22</c:v>
                </c:pt>
                <c:pt idx="173">
                  <c:v>3.23</c:v>
                </c:pt>
                <c:pt idx="174">
                  <c:v>3.24</c:v>
                </c:pt>
                <c:pt idx="175">
                  <c:v>3.25</c:v>
                </c:pt>
                <c:pt idx="176">
                  <c:v>3.26</c:v>
                </c:pt>
                <c:pt idx="177">
                  <c:v>3.27</c:v>
                </c:pt>
                <c:pt idx="178">
                  <c:v>3.28</c:v>
                </c:pt>
                <c:pt idx="179">
                  <c:v>3.29</c:v>
                </c:pt>
                <c:pt idx="180">
                  <c:v>3.3</c:v>
                </c:pt>
                <c:pt idx="181">
                  <c:v>3.31</c:v>
                </c:pt>
                <c:pt idx="182">
                  <c:v>3.32</c:v>
                </c:pt>
                <c:pt idx="183">
                  <c:v>3.33</c:v>
                </c:pt>
                <c:pt idx="184">
                  <c:v>3.34</c:v>
                </c:pt>
                <c:pt idx="185">
                  <c:v>3.35</c:v>
                </c:pt>
                <c:pt idx="186">
                  <c:v>3.36</c:v>
                </c:pt>
                <c:pt idx="187">
                  <c:v>3.37</c:v>
                </c:pt>
                <c:pt idx="188">
                  <c:v>3.38</c:v>
                </c:pt>
                <c:pt idx="189">
                  <c:v>3.39</c:v>
                </c:pt>
                <c:pt idx="190">
                  <c:v>3.4</c:v>
                </c:pt>
                <c:pt idx="191">
                  <c:v>3.41</c:v>
                </c:pt>
                <c:pt idx="192">
                  <c:v>3.42</c:v>
                </c:pt>
                <c:pt idx="193">
                  <c:v>3.43</c:v>
                </c:pt>
                <c:pt idx="194">
                  <c:v>3.44</c:v>
                </c:pt>
                <c:pt idx="195">
                  <c:v>3.45</c:v>
                </c:pt>
                <c:pt idx="196">
                  <c:v>3.46</c:v>
                </c:pt>
                <c:pt idx="197">
                  <c:v>3.47</c:v>
                </c:pt>
                <c:pt idx="198">
                  <c:v>3.48</c:v>
                </c:pt>
                <c:pt idx="199">
                  <c:v>3.49</c:v>
                </c:pt>
                <c:pt idx="200">
                  <c:v>3.5</c:v>
                </c:pt>
                <c:pt idx="201">
                  <c:v>3.51</c:v>
                </c:pt>
                <c:pt idx="202">
                  <c:v>3.52</c:v>
                </c:pt>
                <c:pt idx="203">
                  <c:v>3.53</c:v>
                </c:pt>
                <c:pt idx="204">
                  <c:v>3.54</c:v>
                </c:pt>
                <c:pt idx="205">
                  <c:v>3.55</c:v>
                </c:pt>
                <c:pt idx="206">
                  <c:v>3.56</c:v>
                </c:pt>
                <c:pt idx="207">
                  <c:v>3.57</c:v>
                </c:pt>
                <c:pt idx="208">
                  <c:v>3.58</c:v>
                </c:pt>
                <c:pt idx="209">
                  <c:v>3.59</c:v>
                </c:pt>
                <c:pt idx="210">
                  <c:v>3.6</c:v>
                </c:pt>
                <c:pt idx="211">
                  <c:v>3.61</c:v>
                </c:pt>
                <c:pt idx="212">
                  <c:v>3.62</c:v>
                </c:pt>
                <c:pt idx="213">
                  <c:v>3.63</c:v>
                </c:pt>
                <c:pt idx="214">
                  <c:v>3.64</c:v>
                </c:pt>
                <c:pt idx="215">
                  <c:v>3.65</c:v>
                </c:pt>
                <c:pt idx="216">
                  <c:v>3.66</c:v>
                </c:pt>
                <c:pt idx="217">
                  <c:v>3.67</c:v>
                </c:pt>
                <c:pt idx="218">
                  <c:v>3.68</c:v>
                </c:pt>
                <c:pt idx="219">
                  <c:v>3.69</c:v>
                </c:pt>
                <c:pt idx="220">
                  <c:v>3.7</c:v>
                </c:pt>
                <c:pt idx="221">
                  <c:v>3.71</c:v>
                </c:pt>
                <c:pt idx="222">
                  <c:v>3.72</c:v>
                </c:pt>
                <c:pt idx="223">
                  <c:v>3.73</c:v>
                </c:pt>
                <c:pt idx="224">
                  <c:v>3.74</c:v>
                </c:pt>
                <c:pt idx="225">
                  <c:v>3.75</c:v>
                </c:pt>
                <c:pt idx="226">
                  <c:v>3.76</c:v>
                </c:pt>
                <c:pt idx="227">
                  <c:v>3.77</c:v>
                </c:pt>
                <c:pt idx="228">
                  <c:v>3.78</c:v>
                </c:pt>
                <c:pt idx="229">
                  <c:v>3.79</c:v>
                </c:pt>
                <c:pt idx="230">
                  <c:v>3.8</c:v>
                </c:pt>
                <c:pt idx="231">
                  <c:v>3.81</c:v>
                </c:pt>
                <c:pt idx="232">
                  <c:v>3.82</c:v>
                </c:pt>
                <c:pt idx="233">
                  <c:v>3.83</c:v>
                </c:pt>
                <c:pt idx="234">
                  <c:v>3.84</c:v>
                </c:pt>
                <c:pt idx="235">
                  <c:v>3.85</c:v>
                </c:pt>
                <c:pt idx="236">
                  <c:v>3.86</c:v>
                </c:pt>
                <c:pt idx="237">
                  <c:v>3.87</c:v>
                </c:pt>
                <c:pt idx="238">
                  <c:v>3.88</c:v>
                </c:pt>
                <c:pt idx="239">
                  <c:v>3.89</c:v>
                </c:pt>
                <c:pt idx="240">
                  <c:v>3.9</c:v>
                </c:pt>
                <c:pt idx="241">
                  <c:v>3.91</c:v>
                </c:pt>
                <c:pt idx="242">
                  <c:v>3.92</c:v>
                </c:pt>
                <c:pt idx="243">
                  <c:v>3.93</c:v>
                </c:pt>
                <c:pt idx="244">
                  <c:v>3.94</c:v>
                </c:pt>
                <c:pt idx="245">
                  <c:v>3.95</c:v>
                </c:pt>
                <c:pt idx="246">
                  <c:v>3.96</c:v>
                </c:pt>
                <c:pt idx="247">
                  <c:v>3.97</c:v>
                </c:pt>
                <c:pt idx="248">
                  <c:v>3.98</c:v>
                </c:pt>
                <c:pt idx="249">
                  <c:v>3.99</c:v>
                </c:pt>
                <c:pt idx="250">
                  <c:v>4.0</c:v>
                </c:pt>
              </c:numCache>
            </c:numRef>
          </c:xVal>
          <c:yVal>
            <c:numRef>
              <c:f>Sheet1!$B$2:$B$252</c:f>
              <c:numCache>
                <c:formatCode>General</c:formatCode>
                <c:ptCount val="251"/>
                <c:pt idx="0">
                  <c:v>10.111009185571074</c:v>
                </c:pt>
                <c:pt idx="1">
                  <c:v>10.645373875787179</c:v>
                </c:pt>
                <c:pt idx="2">
                  <c:v>11.197289303461266</c:v>
                </c:pt>
                <c:pt idx="3">
                  <c:v>11.7667610136725</c:v>
                </c:pt>
                <c:pt idx="4">
                  <c:v>12.353766690916835</c:v>
                </c:pt>
                <c:pt idx="5">
                  <c:v>12.958255899581117</c:v>
                </c:pt>
                <c:pt idx="6">
                  <c:v>13.580149911675466</c:v>
                </c:pt>
                <c:pt idx="7">
                  <c:v>14.219341622254989</c:v>
                </c:pt>
                <c:pt idx="8">
                  <c:v>14.875695552560398</c:v>
                </c:pt>
                <c:pt idx="9">
                  <c:v>15.5490479404923</c:v>
                </c:pt>
                <c:pt idx="10">
                  <c:v>16.239206917639525</c:v>
                </c:pt>
                <c:pt idx="11">
                  <c:v>16.945952771702146</c:v>
                </c:pt>
                <c:pt idx="12">
                  <c:v>17.669038292769244</c:v>
                </c:pt>
                <c:pt idx="13">
                  <c:v>18.40818920155912</c:v>
                </c:pt>
                <c:pt idx="14">
                  <c:v>19.16310465739449</c:v>
                </c:pt>
                <c:pt idx="15">
                  <c:v>19.933457843349345</c:v>
                </c:pt>
                <c:pt idx="16">
                  <c:v>20.71889662571742</c:v>
                </c:pt>
                <c:pt idx="17">
                  <c:v>21.519044284663025</c:v>
                </c:pt>
                <c:pt idx="18">
                  <c:v>22.333500312652465</c:v>
                </c:pt>
                <c:pt idx="19">
                  <c:v>23.16184127704124</c:v>
                </c:pt>
                <c:pt idx="20">
                  <c:v>24.00362174296642</c:v>
                </c:pt>
                <c:pt idx="21">
                  <c:v>24.858375252511667</c:v>
                </c:pt>
                <c:pt idx="22">
                  <c:v>25.725615355949294</c:v>
                </c:pt>
                <c:pt idx="23">
                  <c:v>26.60483669072239</c:v>
                </c:pt>
                <c:pt idx="24">
                  <c:v>27.495516103715257</c:v>
                </c:pt>
                <c:pt idx="25">
                  <c:v>28.39711381227733</c:v>
                </c:pt>
                <c:pt idx="26">
                  <c:v>29.309074599385664</c:v>
                </c:pt>
                <c:pt idx="27">
                  <c:v>30.230829038310503</c:v>
                </c:pt>
                <c:pt idx="28">
                  <c:v>31.161794742108874</c:v>
                </c:pt>
                <c:pt idx="29">
                  <c:v>32.101377633290426</c:v>
                </c:pt>
                <c:pt idx="30">
                  <c:v>33.04897322901762</c:v>
                </c:pt>
                <c:pt idx="31">
                  <c:v>34.00396793726035</c:v>
                </c:pt>
                <c:pt idx="32">
                  <c:v>34.965740359370336</c:v>
                </c:pt>
                <c:pt idx="33">
                  <c:v>35.93366259465485</c:v>
                </c:pt>
                <c:pt idx="34">
                  <c:v>36.90710154261505</c:v>
                </c:pt>
                <c:pt idx="35">
                  <c:v>37.88542019863562</c:v>
                </c:pt>
                <c:pt idx="36">
                  <c:v>38.86797893905164</c:v>
                </c:pt>
                <c:pt idx="37">
                  <c:v>39.854136791679515</c:v>
                </c:pt>
                <c:pt idx="38">
                  <c:v>40.84325268803618</c:v>
                </c:pt>
                <c:pt idx="39">
                  <c:v>41.83468669366748</c:v>
                </c:pt>
                <c:pt idx="40">
                  <c:v>42.82780121318539</c:v>
                </c:pt>
                <c:pt idx="41">
                  <c:v>43.82196216680319</c:v>
                </c:pt>
                <c:pt idx="42">
                  <c:v>44.81654013535435</c:v>
                </c:pt>
                <c:pt idx="43">
                  <c:v>45.810911471009476</c:v>
                </c:pt>
                <c:pt idx="44">
                  <c:v>46.80445937108571</c:v>
                </c:pt>
                <c:pt idx="45">
                  <c:v>47.79657491258976</c:v>
                </c:pt>
                <c:pt idx="46">
                  <c:v>48.78665804532981</c:v>
                </c:pt>
                <c:pt idx="47">
                  <c:v>49.77411854167194</c:v>
                </c:pt>
                <c:pt idx="48">
                  <c:v>50.758376901212934</c:v>
                </c:pt>
                <c:pt idx="49">
                  <c:v>51.738865208888555</c:v>
                </c:pt>
                <c:pt idx="50">
                  <c:v>52.715027945225536</c:v>
                </c:pt>
                <c:pt idx="51">
                  <c:v>53.68632274767937</c:v>
                </c:pt>
                <c:pt idx="52">
                  <c:v>54.65222112220469</c:v>
                </c:pt>
                <c:pt idx="53">
                  <c:v>55.612209104403476</c:v>
                </c:pt>
                <c:pt idx="54">
                  <c:v>56.56578786981344</c:v>
                </c:pt>
                <c:pt idx="55">
                  <c:v>57.51247429306989</c:v>
                </c:pt>
                <c:pt idx="56">
                  <c:v>58.45180145589131</c:v>
                </c:pt>
                <c:pt idx="57">
                  <c:v>59.383319103988995</c:v>
                </c:pt>
                <c:pt idx="58">
                  <c:v>60.306594053201465</c:v>
                </c:pt>
                <c:pt idx="59">
                  <c:v>61.22121054529368</c:v>
                </c:pt>
                <c:pt idx="60">
                  <c:v>62.12677055404136</c:v>
                </c:pt>
                <c:pt idx="61">
                  <c:v>63.0228940423454</c:v>
                </c:pt>
                <c:pt idx="62">
                  <c:v>63.90921917127732</c:v>
                </c:pt>
                <c:pt idx="63">
                  <c:v>64.78540246207099</c:v>
                </c:pt>
                <c:pt idx="64">
                  <c:v>65.65111891220796</c:v>
                </c:pt>
                <c:pt idx="65">
                  <c:v>66.50606206684158</c:v>
                </c:pt>
                <c:pt idx="66">
                  <c:v>67.34994404690894</c:v>
                </c:pt>
                <c:pt idx="67">
                  <c:v>68.18249553537815</c:v>
                </c:pt>
                <c:pt idx="68">
                  <c:v>69.0034657231433</c:v>
                </c:pt>
                <c:pt idx="69">
                  <c:v>69.8126222161655</c:v>
                </c:pt>
                <c:pt idx="70">
                  <c:v>70.60975090551077</c:v>
                </c:pt>
                <c:pt idx="71">
                  <c:v>71.39465580199412</c:v>
                </c:pt>
                <c:pt idx="72">
                  <c:v>72.16715883718443</c:v>
                </c:pt>
                <c:pt idx="73">
                  <c:v>72.92709963254761</c:v>
                </c:pt>
                <c:pt idx="74">
                  <c:v>73.67433523855726</c:v>
                </c:pt>
                <c:pt idx="75">
                  <c:v>74.408739845591</c:v>
                </c:pt>
                <c:pt idx="76">
                  <c:v>75.13020446847192</c:v>
                </c:pt>
                <c:pt idx="77">
                  <c:v>75.83863660649457</c:v>
                </c:pt>
                <c:pt idx="78">
                  <c:v>76.53395988078749</c:v>
                </c:pt>
                <c:pt idx="79">
                  <c:v>77.21611365084988</c:v>
                </c:pt>
                <c:pt idx="80">
                  <c:v>77.88505261208084</c:v>
                </c:pt>
                <c:pt idx="81">
                  <c:v>78.54074637610722</c:v>
                </c:pt>
                <c:pt idx="82">
                  <c:v>79.18317903567755</c:v>
                </c:pt>
                <c:pt idx="83">
                  <c:v>79.81234871587002</c:v>
                </c:pt>
                <c:pt idx="84">
                  <c:v>80.42826711331537</c:v>
                </c:pt>
                <c:pt idx="85">
                  <c:v>81.03095902510037</c:v>
                </c:pt>
                <c:pt idx="86">
                  <c:v>81.62046186897258</c:v>
                </c:pt>
                <c:pt idx="87">
                  <c:v>82.1968251964179</c:v>
                </c:pt>
                <c:pt idx="88">
                  <c:v>82.76011020012875</c:v>
                </c:pt>
                <c:pt idx="89">
                  <c:v>83.31038921733291</c:v>
                </c:pt>
                <c:pt idx="90">
                  <c:v>83.84774523039094</c:v>
                </c:pt>
                <c:pt idx="91">
                  <c:v>84.37227136601435</c:v>
                </c:pt>
                <c:pt idx="92">
                  <c:v>84.88407039439566</c:v>
                </c:pt>
                <c:pt idx="93">
                  <c:v>85.38325422948294</c:v>
                </c:pt>
                <c:pt idx="94">
                  <c:v>85.86994343156408</c:v>
                </c:pt>
                <c:pt idx="95">
                  <c:v>86.3442667132671</c:v>
                </c:pt>
                <c:pt idx="96">
                  <c:v>86.80636045001887</c:v>
                </c:pt>
                <c:pt idx="97">
                  <c:v>87.25636819593913</c:v>
                </c:pt>
                <c:pt idx="98">
                  <c:v>87.69444020608154</c:v>
                </c:pt>
                <c:pt idx="99">
                  <c:v>88.12073296587856</c:v>
                </c:pt>
                <c:pt idx="100">
                  <c:v>88.53540872857259</c:v>
                </c:pt>
                <c:pt idx="101">
                  <c:v>88.93863506136157</c:v>
                </c:pt>
                <c:pt idx="102">
                  <c:v>89.33058440092543</c:v>
                </c:pt>
                <c:pt idx="103">
                  <c:v>89.71143361893586</c:v>
                </c:pt>
                <c:pt idx="104">
                  <c:v>90.08136359809887</c:v>
                </c:pt>
                <c:pt idx="105">
                  <c:v>90.44055881921615</c:v>
                </c:pt>
                <c:pt idx="106">
                  <c:v>90.7892069597024</c:v>
                </c:pt>
                <c:pt idx="107">
                  <c:v>91.12749850393367</c:v>
                </c:pt>
                <c:pt idx="108">
                  <c:v>91.45562636575899</c:v>
                </c:pt>
                <c:pt idx="109">
                  <c:v>91.77378552344807</c:v>
                </c:pt>
                <c:pt idx="110">
                  <c:v>92.08217266730541</c:v>
                </c:pt>
                <c:pt idx="111">
                  <c:v>92.38098586013164</c:v>
                </c:pt>
                <c:pt idx="112">
                  <c:v>92.67042421067094</c:v>
                </c:pt>
                <c:pt idx="113">
                  <c:v>92.95068756013836</c:v>
                </c:pt>
                <c:pt idx="114">
                  <c:v>93.22197618188069</c:v>
                </c:pt>
                <c:pt idx="115">
                  <c:v>93.48449049419081</c:v>
                </c:pt>
                <c:pt idx="116">
                  <c:v>93.73843078625255</c:v>
                </c:pt>
                <c:pt idx="117">
                  <c:v>93.98399695716402</c:v>
                </c:pt>
                <c:pt idx="118">
                  <c:v>94.22138826795529</c:v>
                </c:pt>
                <c:pt idx="119">
                  <c:v>94.45080310648318</c:v>
                </c:pt>
                <c:pt idx="120">
                  <c:v>94.67243876506288</c:v>
                </c:pt>
                <c:pt idx="121">
                  <c:v>94.88649123066702</c:v>
                </c:pt>
                <c:pt idx="122">
                  <c:v>95.09315498750088</c:v>
                </c:pt>
                <c:pt idx="123">
                  <c:v>95.2926228317405</c:v>
                </c:pt>
                <c:pt idx="124">
                  <c:v>95.48508569820075</c:v>
                </c:pt>
                <c:pt idx="125">
                  <c:v>95.67073249868227</c:v>
                </c:pt>
                <c:pt idx="126">
                  <c:v>95.84974997173119</c:v>
                </c:pt>
                <c:pt idx="127">
                  <c:v>96.02232254352953</c:v>
                </c:pt>
                <c:pt idx="128">
                  <c:v>96.18863219962338</c:v>
                </c:pt>
                <c:pt idx="129">
                  <c:v>96.34885836718395</c:v>
                </c:pt>
                <c:pt idx="130">
                  <c:v>96.50317780748753</c:v>
                </c:pt>
                <c:pt idx="131">
                  <c:v>96.65176451829217</c:v>
                </c:pt>
                <c:pt idx="132">
                  <c:v>96.79478964578308</c:v>
                </c:pt>
                <c:pt idx="133">
                  <c:v>96.9324214057528</c:v>
                </c:pt>
                <c:pt idx="134">
                  <c:v>97.06482501367886</c:v>
                </c:pt>
                <c:pt idx="135">
                  <c:v>97.19216262335885</c:v>
                </c:pt>
                <c:pt idx="136">
                  <c:v>97.31459327376172</c:v>
                </c:pt>
                <c:pt idx="137">
                  <c:v>97.43227284375216</c:v>
                </c:pt>
                <c:pt idx="138">
                  <c:v>97.54535401434846</c:v>
                </c:pt>
                <c:pt idx="139">
                  <c:v>97.65398623817254</c:v>
                </c:pt>
                <c:pt idx="140">
                  <c:v>97.75831571575499</c:v>
                </c:pt>
                <c:pt idx="141">
                  <c:v>97.85848537836175</c:v>
                </c:pt>
                <c:pt idx="142">
                  <c:v>97.9546348770109</c:v>
                </c:pt>
                <c:pt idx="143">
                  <c:v>98.04690057735476</c:v>
                </c:pt>
                <c:pt idx="144">
                  <c:v>98.13541556010664</c:v>
                </c:pt>
                <c:pt idx="145">
                  <c:v>98.22030962669758</c:v>
                </c:pt>
                <c:pt idx="146">
                  <c:v>98.3017093098554</c:v>
                </c:pt>
                <c:pt idx="147">
                  <c:v>98.37973788880365</c:v>
                </c:pt>
                <c:pt idx="148">
                  <c:v>98.45451540878743</c:v>
                </c:pt>
                <c:pt idx="149">
                  <c:v>98.5261587046384</c:v>
                </c:pt>
                <c:pt idx="150">
                  <c:v>98.59478142810087</c:v>
                </c:pt>
                <c:pt idx="151">
                  <c:v>98.66049407864791</c:v>
                </c:pt>
                <c:pt idx="152">
                  <c:v>98.72340403752534</c:v>
                </c:pt>
                <c:pt idx="153">
                  <c:v>98.78361560476962</c:v>
                </c:pt>
                <c:pt idx="154">
                  <c:v>98.84123003895473</c:v>
                </c:pt>
                <c:pt idx="155">
                  <c:v>98.89634559943121</c:v>
                </c:pt>
                <c:pt idx="156">
                  <c:v>98.94905759083044</c:v>
                </c:pt>
                <c:pt idx="157">
                  <c:v>98.99945840961473</c:v>
                </c:pt>
                <c:pt idx="158">
                  <c:v>99.0476375924642</c:v>
                </c:pt>
                <c:pt idx="159">
                  <c:v>99.0936818662986</c:v>
                </c:pt>
                <c:pt idx="160">
                  <c:v>99.13767519974283</c:v>
                </c:pt>
                <c:pt idx="161">
                  <c:v>99.17969885585215</c:v>
                </c:pt>
                <c:pt idx="162">
                  <c:v>99.2198314459225</c:v>
                </c:pt>
                <c:pt idx="163">
                  <c:v>99.25814898421996</c:v>
                </c:pt>
                <c:pt idx="164">
                  <c:v>99.29472494347115</c:v>
                </c:pt>
                <c:pt idx="165">
                  <c:v>99.32963031096557</c:v>
                </c:pt>
                <c:pt idx="166">
                  <c:v>99.36293364512792</c:v>
                </c:pt>
                <c:pt idx="167">
                  <c:v>99.39470113242757</c:v>
                </c:pt>
                <c:pt idx="168">
                  <c:v>99.42499664449889</c:v>
                </c:pt>
                <c:pt idx="169">
                  <c:v>99.45388179535473</c:v>
                </c:pt>
                <c:pt idx="170">
                  <c:v>99.48141599858212</c:v>
                </c:pt>
                <c:pt idx="171">
                  <c:v>99.5076565244166</c:v>
                </c:pt>
                <c:pt idx="172">
                  <c:v>99.53265855659842</c:v>
                </c:pt>
                <c:pt idx="173">
                  <c:v>99.55647524892069</c:v>
                </c:pt>
                <c:pt idx="174">
                  <c:v>99.57915778138623</c:v>
                </c:pt>
                <c:pt idx="175">
                  <c:v>99.60075541589532</c:v>
                </c:pt>
                <c:pt idx="176">
                  <c:v>99.6213155513939</c:v>
                </c:pt>
                <c:pt idx="177">
                  <c:v>99.6408837784162</c:v>
                </c:pt>
                <c:pt idx="178">
                  <c:v>99.65950393296235</c:v>
                </c:pt>
                <c:pt idx="179">
                  <c:v>99.67721814965641</c:v>
                </c:pt>
                <c:pt idx="180">
                  <c:v>99.69406691413533</c:v>
                </c:pt>
                <c:pt idx="181">
                  <c:v>99.71008911462464</c:v>
                </c:pt>
                <c:pt idx="182">
                  <c:v>99.7253220926605</c:v>
                </c:pt>
                <c:pt idx="183">
                  <c:v>99.73980169292356</c:v>
                </c:pt>
                <c:pt idx="184">
                  <c:v>99.75356231215247</c:v>
                </c:pt>
                <c:pt idx="185">
                  <c:v>99.76663694711063</c:v>
                </c:pt>
                <c:pt idx="186">
                  <c:v>99.77905724158248</c:v>
                </c:pt>
                <c:pt idx="187">
                  <c:v>99.79085353237946</c:v>
                </c:pt>
                <c:pt idx="188">
                  <c:v>99.80205489433945</c:v>
                </c:pt>
                <c:pt idx="189">
                  <c:v>99.81268918430611</c:v>
                </c:pt>
                <c:pt idx="190">
                  <c:v>99.82278308407845</c:v>
                </c:pt>
                <c:pt idx="191">
                  <c:v>99.83236214232252</c:v>
                </c:pt>
                <c:pt idx="192">
                  <c:v>99.84145081544096</c:v>
                </c:pt>
                <c:pt idx="193">
                  <c:v>99.8500725073979</c:v>
                </c:pt>
                <c:pt idx="194">
                  <c:v>99.85824960849914</c:v>
                </c:pt>
                <c:pt idx="195">
                  <c:v>99.86600353312974</c:v>
                </c:pt>
                <c:pt idx="196">
                  <c:v>99.87335475645321</c:v>
                </c:pt>
                <c:pt idx="197">
                  <c:v>99.8803228500779</c:v>
                </c:pt>
                <c:pt idx="198">
                  <c:v>99.88692651669865</c:v>
                </c:pt>
                <c:pt idx="199">
                  <c:v>99.89318362372225</c:v>
                </c:pt>
                <c:pt idx="200">
                  <c:v>99.89911123588787</c:v>
                </c:pt>
                <c:pt idx="201">
                  <c:v>99.9047256468938</c:v>
                </c:pt>
                <c:pt idx="202">
                  <c:v>99.91004241004376</c:v>
                </c:pt>
                <c:pt idx="203">
                  <c:v>99.91507636792684</c:v>
                </c:pt>
                <c:pt idx="204">
                  <c:v>99.919841681146</c:v>
                </c:pt>
                <c:pt idx="205">
                  <c:v>99.92435185611097</c:v>
                </c:pt>
                <c:pt idx="206">
                  <c:v>99.92861977191244</c:v>
                </c:pt>
                <c:pt idx="207">
                  <c:v>99.93265770629431</c:v>
                </c:pt>
                <c:pt idx="208">
                  <c:v>99.93647736074227</c:v>
                </c:pt>
                <c:pt idx="209">
                  <c:v>99.94008988470692</c:v>
                </c:pt>
                <c:pt idx="210">
                  <c:v>99.94350589898</c:v>
                </c:pt>
                <c:pt idx="211">
                  <c:v>99.94673551824302</c:v>
                </c:pt>
                <c:pt idx="212">
                  <c:v>99.9497883728075</c:v>
                </c:pt>
                <c:pt idx="213">
                  <c:v>99.95267362956648</c:v>
                </c:pt>
                <c:pt idx="214">
                  <c:v>99.95540001217688</c:v>
                </c:pt>
                <c:pt idx="215">
                  <c:v>99.95797582049263</c:v>
                </c:pt>
                <c:pt idx="216">
                  <c:v>99.96040894926827</c:v>
                </c:pt>
                <c:pt idx="217">
                  <c:v>99.96270690615302</c:v>
                </c:pt>
                <c:pt idx="218">
                  <c:v>99.964876828995</c:v>
                </c:pt>
                <c:pt idx="219">
                  <c:v>99.96692550247526</c:v>
                </c:pt>
                <c:pt idx="220">
                  <c:v>99.96885937409134</c:v>
                </c:pt>
                <c:pt idx="221">
                  <c:v>99.97068456950959</c:v>
                </c:pt>
                <c:pt idx="222">
                  <c:v>99.97240690730563</c:v>
                </c:pt>
                <c:pt idx="223">
                  <c:v>99.97403191311184</c:v>
                </c:pt>
                <c:pt idx="224">
                  <c:v>99.97556483319069</c:v>
                </c:pt>
                <c:pt idx="225">
                  <c:v>99.97701064745242</c:v>
                </c:pt>
                <c:pt idx="226">
                  <c:v>99.97837408193517</c:v>
                </c:pt>
                <c:pt idx="227">
                  <c:v>99.97965962076563</c:v>
                </c:pt>
                <c:pt idx="228">
                  <c:v>99.98087151761756</c:v>
                </c:pt>
                <c:pt idx="229">
                  <c:v>99.98201380668566</c:v>
                </c:pt>
                <c:pt idx="230">
                  <c:v>99.98309031319145</c:v>
                </c:pt>
                <c:pt idx="231">
                  <c:v>99.98410466343796</c:v>
                </c:pt>
                <c:pt idx="232">
                  <c:v>99.98506029442909</c:v>
                </c:pt>
                <c:pt idx="233">
                  <c:v>99.98596046306959</c:v>
                </c:pt>
                <c:pt idx="234">
                  <c:v>99.98680825496126</c:v>
                </c:pt>
                <c:pt idx="235">
                  <c:v>99.98760659280995</c:v>
                </c:pt>
                <c:pt idx="236">
                  <c:v>99.98835824445842</c:v>
                </c:pt>
                <c:pt idx="237">
                  <c:v>99.98906583055913</c:v>
                </c:pt>
                <c:pt idx="238">
                  <c:v>99.98973183190076</c:v>
                </c:pt>
                <c:pt idx="239">
                  <c:v>99.9903585964021</c:v>
                </c:pt>
                <c:pt idx="240">
                  <c:v>99.9909483457864</c:v>
                </c:pt>
                <c:pt idx="241">
                  <c:v>99.99150318194856</c:v>
                </c:pt>
                <c:pt idx="242">
                  <c:v>99.99202509302792</c:v>
                </c:pt>
                <c:pt idx="243">
                  <c:v>99.99251595919829</c:v>
                </c:pt>
                <c:pt idx="244">
                  <c:v>99.99297755818695</c:v>
                </c:pt>
                <c:pt idx="245">
                  <c:v>99.99341157053362</c:v>
                </c:pt>
                <c:pt idx="246">
                  <c:v>99.99381958460046</c:v>
                </c:pt>
                <c:pt idx="247">
                  <c:v>99.99420310134332</c:v>
                </c:pt>
                <c:pt idx="248">
                  <c:v>99.9945635388546</c:v>
                </c:pt>
                <c:pt idx="249">
                  <c:v>99.99490223668731</c:v>
                </c:pt>
                <c:pt idx="250">
                  <c:v>99.99522045996969</c:v>
                </c:pt>
              </c:numCache>
            </c:numRef>
          </c:yVal>
          <c:smooth val="0"/>
        </c:ser>
        <c:ser>
          <c:idx val="1"/>
          <c:order val="1"/>
          <c:tx>
            <c:strRef>
              <c:f>Sheet1!$B$254</c:f>
              <c:strCache>
                <c:ptCount val="1"/>
                <c:pt idx="0">
                  <c:v>lood 2.0</c:v>
                </c:pt>
              </c:strCache>
            </c:strRef>
          </c:tx>
          <c:spPr>
            <a:ln w="12700">
              <a:solidFill>
                <a:srgbClr val="FF9A3D"/>
              </a:solidFill>
              <a:prstDash val="dash"/>
            </a:ln>
          </c:spPr>
          <c:marker>
            <c:symbol val="none"/>
          </c:marker>
          <c:xVal>
            <c:numRef>
              <c:f>Sheet1!$A$255:$A$256</c:f>
              <c:numCache>
                <c:formatCode>General</c:formatCode>
                <c:ptCount val="2"/>
                <c:pt idx="0">
                  <c:v>2.0</c:v>
                </c:pt>
                <c:pt idx="1">
                  <c:v>2.0</c:v>
                </c:pt>
              </c:numCache>
            </c:numRef>
          </c:xVal>
          <c:yVal>
            <c:numRef>
              <c:f>Sheet1!$B$255:$B$256</c:f>
              <c:numCache>
                <c:formatCode>General</c:formatCode>
                <c:ptCount val="2"/>
                <c:pt idx="0">
                  <c:v>0</c:v>
                </c:pt>
                <c:pt idx="1">
                  <c:v>52.715027945225536</c:v>
                </c:pt>
              </c:numCache>
            </c:numRef>
          </c:yVal>
          <c:smooth val="0"/>
        </c:ser>
        <c:ser>
          <c:idx val="2"/>
          <c:order val="2"/>
          <c:tx>
            <c:strRef>
              <c:f>Sheet1!$B$258</c:f>
              <c:strCache>
                <c:ptCount val="1"/>
                <c:pt idx="0">
                  <c:v>lood 3.0</c:v>
                </c:pt>
              </c:strCache>
            </c:strRef>
          </c:tx>
          <c:spPr>
            <a:ln w="12700">
              <a:solidFill>
                <a:srgbClr val="52BDEC"/>
              </a:solidFill>
              <a:prstDash val="dash"/>
            </a:ln>
          </c:spPr>
          <c:marker>
            <c:symbol val="none"/>
          </c:marker>
          <c:xVal>
            <c:numRef>
              <c:f>Sheet1!$A$259:$A$260</c:f>
              <c:numCache>
                <c:formatCode>General</c:formatCode>
                <c:ptCount val="2"/>
                <c:pt idx="0">
                  <c:v>3.0</c:v>
                </c:pt>
                <c:pt idx="1">
                  <c:v>3.0</c:v>
                </c:pt>
              </c:numCache>
            </c:numRef>
          </c:xVal>
          <c:yVal>
            <c:numRef>
              <c:f>Sheet1!$B$259:$B$260</c:f>
              <c:numCache>
                <c:formatCode>General</c:formatCode>
                <c:ptCount val="2"/>
                <c:pt idx="0">
                  <c:v>0</c:v>
                </c:pt>
                <c:pt idx="1">
                  <c:v>98.59478142810087</c:v>
                </c:pt>
              </c:numCache>
            </c:numRef>
          </c:yVal>
          <c:smooth val="0"/>
        </c:ser>
        <c:ser>
          <c:idx val="3"/>
          <c:order val="3"/>
          <c:tx>
            <c:strRef>
              <c:f>Sheet1!$B$262</c:f>
              <c:strCache>
                <c:ptCount val="1"/>
                <c:pt idx="0">
                  <c:v>punt 2.0</c:v>
                </c:pt>
              </c:strCache>
            </c:strRef>
          </c:tx>
          <c:spPr>
            <a:ln>
              <a:noFill/>
            </a:ln>
          </c:spPr>
          <c:marker>
            <c:symbol val="circle"/>
            <c:size val="9"/>
            <c:spPr>
              <a:solidFill>
                <a:srgbClr val="FF9A3D"/>
              </a:solidFill>
              <a:ln w="19050">
                <a:solidFill>
                  <a:srgbClr val="0A2540"/>
                </a:solidFill>
              </a:ln>
            </c:spPr>
          </c:marker>
          <c:xVal>
            <c:numRef>
              <c:f>Sheet1!$A$263:$A$263</c:f>
              <c:numCache>
                <c:formatCode>General</c:formatCode>
                <c:ptCount val="1"/>
                <c:pt idx="0">
                  <c:v>2.0</c:v>
                </c:pt>
              </c:numCache>
            </c:numRef>
          </c:xVal>
          <c:yVal>
            <c:numRef>
              <c:f>Sheet1!$B$263:$B$263</c:f>
              <c:numCache>
                <c:formatCode>General</c:formatCode>
                <c:ptCount val="1"/>
                <c:pt idx="0">
                  <c:v>52.715027945225536</c:v>
                </c:pt>
              </c:numCache>
            </c:numRef>
          </c:yVal>
          <c:smooth val="0"/>
        </c:ser>
        <c:ser>
          <c:idx val="4"/>
          <c:order val="4"/>
          <c:tx>
            <c:strRef>
              <c:f>Sheet1!$B$265</c:f>
              <c:strCache>
                <c:ptCount val="1"/>
                <c:pt idx="0">
                  <c:v>punt 3.0</c:v>
                </c:pt>
              </c:strCache>
            </c:strRef>
          </c:tx>
          <c:spPr>
            <a:ln>
              <a:noFill/>
            </a:ln>
          </c:spPr>
          <c:marker>
            <c:symbol val="circle"/>
            <c:size val="9"/>
            <c:spPr>
              <a:solidFill>
                <a:srgbClr val="52BDEC"/>
              </a:solidFill>
              <a:ln w="19050">
                <a:solidFill>
                  <a:srgbClr val="0A2540"/>
                </a:solidFill>
              </a:ln>
            </c:spPr>
          </c:marker>
          <c:xVal>
            <c:numRef>
              <c:f>Sheet1!$A$266:$A$266</c:f>
              <c:numCache>
                <c:formatCode>General</c:formatCode>
                <c:ptCount val="1"/>
                <c:pt idx="0">
                  <c:v>3.0</c:v>
                </c:pt>
              </c:numCache>
            </c:numRef>
          </c:xVal>
          <c:yVal>
            <c:numRef>
              <c:f>Sheet1!$B$266:$B$266</c:f>
              <c:numCache>
                <c:formatCode>General</c:formatCode>
                <c:ptCount val="1"/>
                <c:pt idx="0">
                  <c:v>98.59478142810087</c:v>
                </c:pt>
              </c:numCache>
            </c:numRef>
          </c:yVal>
          <c:smooth val="0"/>
        </c:ser>
        <c:axId val="-2128940872"/>
        <c:axId val="-2129643912"/>
      </c:scatterChart>
      <c:valAx>
        <c:axId val="-2128940872"/>
        <c:scaling>
          <c:orientation val="minMax"/>
          <c:max val="4.0"/>
          <c:min val="1.5"/>
        </c:scaling>
        <c:delete val="0"/>
        <c:axPos val="b"/>
        <c:numFmt formatCode="0.0" sourceLinked="0"/>
        <c:majorTickMark val="none"/>
        <c:minorTickMark val="none"/>
        <c:tickLblPos val="low"/>
        <c:spPr>
          <a:ln>
            <a:solidFill>
              <a:srgbClr val="15395A"/>
            </a:solidFill>
          </a:ln>
        </c:spPr>
        <c:txPr>
          <a:bodyPr/>
          <a:lstStyle/>
          <a:p>
            <a:pPr>
              <a:defRPr sz="1200" b="0">
                <a:solidFill>
                  <a:srgbClr val="8FB0CA"/>
                </a:solidFill>
                <a:latin typeface="Segoe UI"/>
              </a:defRPr>
            </a:pPr>
          </a:p>
        </c:txPr>
        <c:crossAx val="-2129643912"/>
        <c:crosses val="autoZero"/>
        <c:crossBetween val="midCat"/>
        <c:majorUnit val="0.5"/>
      </c:valAx>
      <c:valAx>
        <c:axId val="-2129643912"/>
        <c:scaling>
          <c:orientation val="minMax"/>
          <c:max val="100.0"/>
          <c:min val="0.0"/>
        </c:scaling>
        <c:delete val="0"/>
        <c:axPos val="l"/>
        <c:majorGridlines>
          <c:spPr>
            <a:ln w="9525">
              <a:solidFill>
                <a:srgbClr val="15395A"/>
              </a:solidFill>
            </a:ln>
          </c:spPr>
        </c:majorGridlines>
        <c:numFmt formatCode="0&quot;%&quot;" sourceLinked="0"/>
        <c:majorTickMark val="none"/>
        <c:minorTickMark val="none"/>
        <c:tickLblPos val="nextTo"/>
        <c:spPr>
          <a:ln>
            <a:noFill/>
          </a:ln>
        </c:spPr>
        <c:txPr>
          <a:bodyPr/>
          <a:lstStyle/>
          <a:p>
            <a:pPr>
              <a:defRPr sz="1200" b="0">
                <a:solidFill>
                  <a:srgbClr val="8FB0CA"/>
                </a:solidFill>
                <a:latin typeface="Segoe UI"/>
              </a:defRPr>
            </a:pPr>
          </a:p>
        </c:txPr>
        <c:crossAx val="-2128940872"/>
        <c:crosses val="autoZero"/>
        <c:crossBetween val="midCat"/>
        <c:majorUnit val="20.0"/>
      </c:valAx>
      <c:spPr>
        <a:noFill/>
        <a:ln>
          <a:noFill/>
        </a:ln>
      </c:spPr>
    </c:plotArea>
    <c:plotVisOnly val="1"/>
    <c:dispBlanksAs val="gap"/>
    <c:showDLblsOverMax val="0"/>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plotArea>
      <c:layout>
        <c:manualLayout>
          <c:layoutTarget val="inner"/>
          <c:xMode val="edge"/>
          <c:yMode val="edge"/>
          <c:x val="0.0889"/>
          <c:y val="0.0678"/>
          <c:w val="0.8889"/>
          <c:h val="0.6949"/>
        </c:manualLayout>
      </c:layout>
      <c:scatterChart>
        <c:scatterStyle val="lineMarker"/>
        <c:varyColors val="0"/>
        <c:ser>
          <c:idx val="0"/>
          <c:order val="0"/>
          <c:tx>
            <c:strRef>
              <c:f>Sheet1!$B$1</c:f>
              <c:strCache>
                <c:ptCount val="1"/>
                <c:pt idx="0">
                  <c:v>3 per maand, één centrum</c:v>
                </c:pt>
              </c:strCache>
            </c:strRef>
          </c:tx>
          <c:spPr>
            <a:ln w="12700">
              <a:solidFill>
                <a:srgbClr val="52BDEC"/>
              </a:solidFill>
            </a:ln>
          </c:spPr>
          <c:marker>
            <c:symbol val="none"/>
          </c:marker>
          <c:xVal>
            <c:numRef>
              <c:f>Sheet1!$A$2:$A$402</c:f>
              <c:numCache>
                <c:formatCode>General</c:formatCode>
                <c:ptCount val="40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11.0</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12.0</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13.0</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14.0</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15.0</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16.0</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17.0</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18.0</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19.0</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pt idx="400">
                  <c:v>20.0</c:v>
                </c:pt>
              </c:numCache>
            </c:numRef>
          </c:xVal>
          <c:yVal>
            <c:numRef>
              <c:f>Sheet1!$B$2:$B$402</c:f>
              <c:numCache>
                <c:formatCode>General</c:formatCode>
                <c:ptCount val="401"/>
                <c:pt idx="0">
                  <c:v>0.0</c:v>
                </c:pt>
                <c:pt idx="1">
                  <c:v>0.0</c:v>
                </c:pt>
                <c:pt idx="2">
                  <c:v>0.0</c:v>
                </c:pt>
                <c:pt idx="3">
                  <c:v>0.0</c:v>
                </c:pt>
                <c:pt idx="4">
                  <c:v>0.0</c:v>
                </c:pt>
                <c:pt idx="5">
                  <c:v>0.0</c:v>
                </c:pt>
                <c:pt idx="6">
                  <c:v>0.0</c:v>
                </c:pt>
                <c:pt idx="7">
                  <c:v>0.0</c:v>
                </c:pt>
                <c:pt idx="8">
                  <c:v>0.0</c:v>
                </c:pt>
                <c:pt idx="9">
                  <c:v>-2.220446049250313e-14</c:v>
                </c:pt>
                <c:pt idx="10">
                  <c:v>0.0</c:v>
                </c:pt>
                <c:pt idx="11">
                  <c:v>-2.220446049250313e-14</c:v>
                </c:pt>
                <c:pt idx="12">
                  <c:v>-2.220446049250313e-14</c:v>
                </c:pt>
                <c:pt idx="13">
                  <c:v>0.0</c:v>
                </c:pt>
                <c:pt idx="14">
                  <c:v>0.0</c:v>
                </c:pt>
                <c:pt idx="15">
                  <c:v>0.0</c:v>
                </c:pt>
                <c:pt idx="16">
                  <c:v>2.220446049250313e-14</c:v>
                </c:pt>
                <c:pt idx="17">
                  <c:v>7.771561172376096e-14</c:v>
                </c:pt>
                <c:pt idx="18">
                  <c:v>2.6645352591003757e-13</c:v>
                </c:pt>
                <c:pt idx="19">
                  <c:v>8.659739592076221e-13</c:v>
                </c:pt>
                <c:pt idx="20">
                  <c:v>2.55351295663786e-12</c:v>
                </c:pt>
                <c:pt idx="21">
                  <c:v>7.227551890309769e-12</c:v>
                </c:pt>
                <c:pt idx="22">
                  <c:v>1.907363156306019e-11</c:v>
                </c:pt>
                <c:pt idx="23">
                  <c:v>4.796163466380676e-11</c:v>
                </c:pt>
                <c:pt idx="24">
                  <c:v>1.1539658117953877e-10</c:v>
                </c:pt>
                <c:pt idx="25">
                  <c:v>2.6638691252856006e-10</c:v>
                </c:pt>
                <c:pt idx="26">
                  <c:v>5.918265877369322e-10</c:v>
                </c:pt>
                <c:pt idx="27">
                  <c:v>1.2689960193768002e-09</c:v>
                </c:pt>
                <c:pt idx="28">
                  <c:v>2.6330271296615138e-09</c:v>
                </c:pt>
                <c:pt idx="29">
                  <c:v>5.298594896174791e-09</c:v>
                </c:pt>
                <c:pt idx="30">
                  <c:v>1.0362810609620965e-08</c:v>
                </c:pt>
                <c:pt idx="31">
                  <c:v>1.9734758271994224e-08</c:v>
                </c:pt>
                <c:pt idx="32">
                  <c:v>3.665653336426544e-08</c:v>
                </c:pt>
                <c:pt idx="33">
                  <c:v>6.65134058941419e-08</c:v>
                </c:pt>
                <c:pt idx="34">
                  <c:v>1.1806238209288722e-07</c:v>
                </c:pt>
                <c:pt idx="35">
                  <c:v>2.052648162553794e-07</c:v>
                </c:pt>
                <c:pt idx="36">
                  <c:v>3.499666001438584e-07</c:v>
                </c:pt>
                <c:pt idx="37">
                  <c:v>5.857530016584178e-07</c:v>
                </c:pt>
                <c:pt idx="38">
                  <c:v>9.634021913562663e-07</c:v>
                </c:pt>
                <c:pt idx="39">
                  <c:v>1.5584829093917563e-06</c:v>
                </c:pt>
                <c:pt idx="40">
                  <c:v>2.481781780083736e-06</c:v>
                </c:pt>
                <c:pt idx="41">
                  <c:v>3.893418931699699e-06</c:v>
                </c:pt>
                <c:pt idx="42">
                  <c:v>6.021699239244782e-06</c:v>
                </c:pt>
                <c:pt idx="43">
                  <c:v>9.187969307600241e-06</c:v>
                </c:pt>
                <c:pt idx="44">
                  <c:v>1.3838997758863769e-05</c:v>
                </c:pt>
                <c:pt idx="45">
                  <c:v>2.058866042098373e-05</c:v>
                </c:pt>
                <c:pt idx="46">
                  <c:v>3.0271011686178184e-05</c:v>
                </c:pt>
                <c:pt idx="47">
                  <c:v>4.4007117605548984e-05</c:v>
                </c:pt>
                <c:pt idx="48">
                  <c:v>6.32883580542476e-05</c:v>
                </c:pt>
                <c:pt idx="49">
                  <c:v>9.00792152536134e-05</c:v>
                </c:pt>
                <c:pt idx="50">
                  <c:v>0.00012694288609171878</c:v>
                </c:pt>
                <c:pt idx="51">
                  <c:v>0.00017719335889676557</c:v>
                </c:pt>
                <c:pt idx="52">
                  <c:v>0.0002450778650686658</c:v>
                </c:pt>
                <c:pt idx="53">
                  <c:v>0.00033599385687033134</c:v>
                </c:pt>
                <c:pt idx="54">
                  <c:v>0.0004567448426695542</c:v>
                </c:pt>
                <c:pt idx="55">
                  <c:v>0.0006158395419397777</c:v>
                </c:pt>
                <c:pt idx="56">
                  <c:v>0.0008238388552350706</c:v>
                </c:pt>
                <c:pt idx="57">
                  <c:v>0.0010937551111256383</c:v>
                </c:pt>
                <c:pt idx="58">
                  <c:v>0.0014415078980700713</c:v>
                </c:pt>
                <c:pt idx="59">
                  <c:v>0.0018864405373131277</c:v>
                </c:pt>
                <c:pt idx="60">
                  <c:v>0.002451900876310198</c:v>
                </c:pt>
                <c:pt idx="61">
                  <c:v>0.0031658895757180616</c:v>
                </c:pt>
                <c:pt idx="62">
                  <c:v>0.004061778433606111</c:v>
                </c:pt>
                <c:pt idx="63">
                  <c:v>0.005179100524055347</c:v>
                </c:pt>
                <c:pt idx="64">
                  <c:v>0.006564413031284744</c:v>
                </c:pt>
                <c:pt idx="65">
                  <c:v>0.00827223264758814</c:v>
                </c:pt>
                <c:pt idx="66">
                  <c:v>0.010366042258114216</c:v>
                </c:pt>
                <c:pt idx="67">
                  <c:v>0.01291936640500646</c:v>
                </c:pt>
                <c:pt idx="68">
                  <c:v>0.01601691169130781</c:v>
                </c:pt>
                <c:pt idx="69">
                  <c:v>0.019755766883533532</c:v>
                </c:pt>
                <c:pt idx="70">
                  <c:v>0.02424665601927778</c:v>
                </c:pt>
                <c:pt idx="71">
                  <c:v>0.029615236351432372</c:v>
                </c:pt>
                <c:pt idx="72">
                  <c:v>0.036003431479147974</c:v>
                </c:pt>
                <c:pt idx="73">
                  <c:v>0.04357078855168339</c:v>
                </c:pt>
                <c:pt idx="74">
                  <c:v>0.0524958470427106</c:v>
                </c:pt>
                <c:pt idx="75">
                  <c:v>0.06297750524958401</c:v>
                </c:pt>
                <c:pt idx="76">
                  <c:v>0.07523636948191248</c:v>
                </c:pt>
                <c:pt idx="77">
                  <c:v>0.08951606979724636</c:v>
                </c:pt>
                <c:pt idx="78">
                  <c:v>0.10608452525641132</c:v>
                </c:pt>
                <c:pt idx="79">
                  <c:v>0.12523514090934107</c:v>
                </c:pt>
                <c:pt idx="80">
                  <c:v>0.1472879182314979</c:v>
                </c:pt>
                <c:pt idx="81">
                  <c:v>0.17259046040608572</c:v>
                </c:pt>
                <c:pt idx="82">
                  <c:v>0.20151885380907952</c:v>
                </c:pt>
                <c:pt idx="83">
                  <c:v>0.2344784072504713</c:v>
                </c:pt>
                <c:pt idx="84">
                  <c:v>0.2719042309676567</c:v>
                </c:pt>
                <c:pt idx="85">
                  <c:v>0.31426163811402175</c:v>
                </c:pt>
                <c:pt idx="86">
                  <c:v>0.36204635242602645</c:v>
                </c:pt>
                <c:pt idx="87">
                  <c:v>0.41578450703926295</c:v>
                </c:pt>
                <c:pt idx="88">
                  <c:v>0.47603242085230146</c:v>
                </c:pt>
                <c:pt idx="89">
                  <c:v>0.5433761405975179</c:v>
                </c:pt>
                <c:pt idx="90">
                  <c:v>0.6184307386750465</c:v>
                </c:pt>
                <c:pt idx="91">
                  <c:v>0.7018393589252381</c:v>
                </c:pt>
                <c:pt idx="92">
                  <c:v>0.7942720048181973</c:v>
                </c:pt>
                <c:pt idx="93">
                  <c:v>0.8964240669395607</c:v>
                </c:pt>
                <c:pt idx="94">
                  <c:v>1.0090145891815783</c:v>
                </c:pt>
                <c:pt idx="95">
                  <c:v>1.1327842756779227</c:v>
                </c:pt>
                <c:pt idx="96">
                  <c:v>1.268493243130553</c:v>
                </c:pt>
                <c:pt idx="97">
                  <c:v>1.4169185258669947</c:v>
                </c:pt>
                <c:pt idx="98">
                  <c:v>1.5788513435706975</c:v>
                </c:pt>
                <c:pt idx="99">
                  <c:v>1.7550941442155743</c:v>
                </c:pt>
                <c:pt idx="100">
                  <c:v>1.9464574372022314</c:v>
                </c:pt>
                <c:pt idx="101">
                  <c:v>2.1537564340373794</c:v>
                </c:pt>
                <c:pt idx="102">
                  <c:v>2.3778075161249412</c:v>
                </c:pt>
                <c:pt idx="103">
                  <c:v>2.619424551216487</c:v>
                </c:pt>
                <c:pt idx="104">
                  <c:v>2.879415081907999</c:v>
                </c:pt>
                <c:pt idx="105">
                  <c:v>3.1585764111389247</c:v>
                </c:pt>
                <c:pt idx="106">
                  <c:v>3.457691610981739</c:v>
                </c:pt>
                <c:pt idx="107">
                  <c:v>3.777525482097621</c:v>
                </c:pt>
                <c:pt idx="108">
                  <c:v>4.118820492023745</c:v>
                </c:pt>
                <c:pt idx="109">
                  <c:v>4.48229272098235</c:v>
                </c:pt>
                <c:pt idx="110">
                  <c:v>4.868627844140483</c:v>
                </c:pt>
                <c:pt idx="111">
                  <c:v>5.278477179196828</c:v>
                </c:pt>
                <c:pt idx="112">
                  <c:v>5.7124538278527375</c:v>
                </c:pt>
                <c:pt idx="113">
                  <c:v>6.1711289391023545</c:v>
                </c:pt>
                <c:pt idx="114">
                  <c:v>6.655028121430917</c:v>
                </c:pt>
                <c:pt idx="115">
                  <c:v>7.164628029870112</c:v>
                </c:pt>
                <c:pt idx="116">
                  <c:v>7.700353152515104</c:v>
                </c:pt>
                <c:pt idx="117">
                  <c:v>8.262572819527925</c:v>
                </c:pt>
                <c:pt idx="118">
                  <c:v>8.851598455882403</c:v>
                </c:pt>
                <c:pt idx="119">
                  <c:v>9.467681097154967</c:v>
                </c:pt>
                <c:pt idx="120">
                  <c:v>10.111009185571074</c:v>
                </c:pt>
                <c:pt idx="121">
                  <c:v>10.781706661280232</c:v>
                </c:pt>
                <c:pt idx="122">
                  <c:v>11.479831361520276</c:v>
                </c:pt>
                <c:pt idx="123">
                  <c:v>12.205373737897807</c:v>
                </c:pt>
                <c:pt idx="124">
                  <c:v>12.958255899581117</c:v>
                </c:pt>
                <c:pt idx="125">
                  <c:v>13.738330987711556</c:v>
                </c:pt>
                <c:pt idx="126">
                  <c:v>14.545382883837144</c:v>
                </c:pt>
                <c:pt idx="127">
                  <c:v>15.379126252746445</c:v>
                </c:pt>
                <c:pt idx="128">
                  <c:v>16.239206917639525</c:v>
                </c:pt>
                <c:pt idx="129">
                  <c:v>17.12520256323977</c:v>
                </c:pt>
                <c:pt idx="130">
                  <c:v>18.03662376019588</c:v>
                </c:pt>
                <c:pt idx="131">
                  <c:v>18.972915301963244</c:v>
                </c:pt>
                <c:pt idx="132">
                  <c:v>19.933457843348844</c:v>
                </c:pt>
                <c:pt idx="133">
                  <c:v>20.917569827986227</c:v>
                </c:pt>
                <c:pt idx="134">
                  <c:v>21.92450969029033</c:v>
                </c:pt>
                <c:pt idx="135">
                  <c:v>22.9534783158738</c:v>
                </c:pt>
                <c:pt idx="136">
                  <c:v>24.00362174296662</c:v>
                </c:pt>
                <c:pt idx="137">
                  <c:v>25.074034086186536</c:v>
                </c:pt>
                <c:pt idx="138">
                  <c:v>26.16376066295054</c:v>
                </c:pt>
                <c:pt idx="139">
                  <c:v>27.271801301923816</c:v>
                </c:pt>
                <c:pt idx="140">
                  <c:v>28.39711381227733</c:v>
                </c:pt>
                <c:pt idx="141">
                  <c:v>29.538617591961845</c:v>
                </c:pt>
                <c:pt idx="142">
                  <c:v>30.695197352942728</c:v>
                </c:pt>
                <c:pt idx="143">
                  <c:v>31.865706941160077</c:v>
                </c:pt>
                <c:pt idx="144">
                  <c:v>33.04897322901762</c:v>
                </c:pt>
                <c:pt idx="145">
                  <c:v>34.24380005839485</c:v>
                </c:pt>
                <c:pt idx="146">
                  <c:v>35.44897221250256</c:v>
                </c:pt>
                <c:pt idx="147">
                  <c:v>36.663259395404765</c:v>
                </c:pt>
                <c:pt idx="148">
                  <c:v>37.88542019863562</c:v>
                </c:pt>
                <c:pt idx="149">
                  <c:v>39.11420603507533</c:v>
                </c:pt>
                <c:pt idx="150">
                  <c:v>40.348365021127385</c:v>
                </c:pt>
                <c:pt idx="151">
                  <c:v>41.586645789152264</c:v>
                </c:pt>
                <c:pt idx="152">
                  <c:v>42.82780121318549</c:v>
                </c:pt>
                <c:pt idx="153">
                  <c:v>44.07059203205764</c:v>
                </c:pt>
                <c:pt idx="154">
                  <c:v>45.31379035521586</c:v>
                </c:pt>
                <c:pt idx="155">
                  <c:v>46.55618303777557</c:v>
                </c:pt>
                <c:pt idx="156">
                  <c:v>47.796574912590096</c:v>
                </c:pt>
                <c:pt idx="157">
                  <c:v>49.03379186840452</c:v>
                </c:pt>
                <c:pt idx="158">
                  <c:v>50.26668376449719</c:v>
                </c:pt>
                <c:pt idx="159">
                  <c:v>51.49412717347253</c:v>
                </c:pt>
                <c:pt idx="160">
                  <c:v>52.715027945225536</c:v>
                </c:pt>
                <c:pt idx="161">
                  <c:v>53.928323586346</c:v>
                </c:pt>
                <c:pt idx="162">
                  <c:v>55.13298545051863</c:v>
                </c:pt>
                <c:pt idx="163">
                  <c:v>56.32802073670371</c:v>
                </c:pt>
                <c:pt idx="164">
                  <c:v>57.512474293070156</c:v>
                </c:pt>
                <c:pt idx="165">
                  <c:v>58.68543022581585</c:v>
                </c:pt>
                <c:pt idx="166">
                  <c:v>59.84601331309385</c:v>
                </c:pt>
                <c:pt idx="167">
                  <c:v>60.99339022530978</c:v>
                </c:pt>
                <c:pt idx="168">
                  <c:v>62.12677055404136</c:v>
                </c:pt>
                <c:pt idx="169">
                  <c:v>63.245407652733945</c:v>
                </c:pt>
                <c:pt idx="170">
                  <c:v>64.34859929318775</c:v>
                </c:pt>
                <c:pt idx="171">
                  <c:v>65.43568814262598</c:v>
                </c:pt>
                <c:pt idx="172">
                  <c:v>66.50606206684158</c:v>
                </c:pt>
                <c:pt idx="173">
                  <c:v>67.55915426556157</c:v>
                </c:pt>
                <c:pt idx="174">
                  <c:v>68.5944432467334</c:v>
                </c:pt>
                <c:pt idx="175">
                  <c:v>69.61145264693138</c:v>
                </c:pt>
                <c:pt idx="176">
                  <c:v>70.60975090551077</c:v>
                </c:pt>
                <c:pt idx="177">
                  <c:v>71.58895080048877</c:v>
                </c:pt>
                <c:pt idx="178">
                  <c:v>72.54870885442774</c:v>
                </c:pt>
                <c:pt idx="179">
                  <c:v>73.48872461881317</c:v>
                </c:pt>
                <c:pt idx="180">
                  <c:v>74.408739845591</c:v>
                </c:pt>
                <c:pt idx="181">
                  <c:v>75.30853755462392</c:v>
                </c:pt>
                <c:pt idx="182">
                  <c:v>76.18794100587844</c:v>
                </c:pt>
                <c:pt idx="183">
                  <c:v>77.04681258515197</c:v>
                </c:pt>
                <c:pt idx="184">
                  <c:v>77.88505261208084</c:v>
                </c:pt>
                <c:pt idx="185">
                  <c:v>78.7025980790878</c:v>
                </c:pt>
                <c:pt idx="186">
                  <c:v>79.49942132976568</c:v>
                </c:pt>
                <c:pt idx="187">
                  <c:v>80.27552868502353</c:v>
                </c:pt>
                <c:pt idx="188">
                  <c:v>81.03095902510037</c:v>
                </c:pt>
                <c:pt idx="189">
                  <c:v>81.76578233529841</c:v>
                </c:pt>
                <c:pt idx="190">
                  <c:v>82.48009822302103</c:v>
                </c:pt>
                <c:pt idx="191">
                  <c:v>83.17403441338801</c:v>
                </c:pt>
                <c:pt idx="192">
                  <c:v>83.84774523039106</c:v>
                </c:pt>
                <c:pt idx="193">
                  <c:v>84.50141007020504</c:v>
                </c:pt>
                <c:pt idx="194">
                  <c:v>85.13523187292333</c:v>
                </c:pt>
                <c:pt idx="195">
                  <c:v>85.74943559861944</c:v>
                </c:pt>
                <c:pt idx="196">
                  <c:v>86.3442667132671</c:v>
                </c:pt>
                <c:pt idx="197">
                  <c:v>86.91998968967395</c:v>
                </c:pt>
                <c:pt idx="198">
                  <c:v>87.47688652820595</c:v>
                </c:pt>
                <c:pt idx="199">
                  <c:v>88.01525530169805</c:v>
                </c:pt>
                <c:pt idx="200">
                  <c:v>88.53540872857259</c:v>
                </c:pt>
                <c:pt idx="201">
                  <c:v>89.03767277781279</c:v>
                </c:pt>
                <c:pt idx="202">
                  <c:v>89.52238530907026</c:v>
                </c:pt>
                <c:pt idx="203">
                  <c:v>89.98989475083228</c:v>
                </c:pt>
                <c:pt idx="204">
                  <c:v>90.4405588192162</c:v>
                </c:pt>
                <c:pt idx="205">
                  <c:v>90.87474327962953</c:v>
                </c:pt>
                <c:pt idx="206">
                  <c:v>91.29282075319819</c:v>
                </c:pt>
                <c:pt idx="207">
                  <c:v>91.69516956955896</c:v>
                </c:pt>
                <c:pt idx="208">
                  <c:v>92.08217266730541</c:v>
                </c:pt>
                <c:pt idx="209">
                  <c:v>92.4542165430951</c:v>
                </c:pt>
                <c:pt idx="210">
                  <c:v>92.81169025015294</c:v>
                </c:pt>
                <c:pt idx="211">
                  <c:v>93.15498444664885</c:v>
                </c:pt>
                <c:pt idx="212">
                  <c:v>93.48449049419081</c:v>
                </c:pt>
                <c:pt idx="213">
                  <c:v>93.80059960644655</c:v>
                </c:pt>
                <c:pt idx="214">
                  <c:v>94.10370204770096</c:v>
                </c:pt>
                <c:pt idx="215">
                  <c:v>94.39418638096382</c:v>
                </c:pt>
                <c:pt idx="216">
                  <c:v>94.67243876506288</c:v>
                </c:pt>
                <c:pt idx="217">
                  <c:v>94.93884229999927</c:v>
                </c:pt>
                <c:pt idx="218">
                  <c:v>95.19377641969263</c:v>
                </c:pt>
                <c:pt idx="219">
                  <c:v>95.43761633111352</c:v>
                </c:pt>
                <c:pt idx="220">
                  <c:v>95.67073249868227</c:v>
                </c:pt>
                <c:pt idx="221">
                  <c:v>95.8934901727105</c:v>
                </c:pt>
                <c:pt idx="222">
                  <c:v>96.10624896057027</c:v>
                </c:pt>
                <c:pt idx="223">
                  <c:v>96.30936243919993</c:v>
                </c:pt>
                <c:pt idx="224">
                  <c:v>96.50317780748753</c:v>
                </c:pt>
                <c:pt idx="225">
                  <c:v>96.68803557702269</c:v>
                </c:pt>
                <c:pt idx="226">
                  <c:v>96.86426929966079</c:v>
                </c:pt>
                <c:pt idx="227">
                  <c:v>97.0322053303141</c:v>
                </c:pt>
                <c:pt idx="228">
                  <c:v>97.19216262335885</c:v>
                </c:pt>
                <c:pt idx="229">
                  <c:v>97.34445256103528</c:v>
                </c:pt>
                <c:pt idx="230">
                  <c:v>97.48937881220984</c:v>
                </c:pt>
                <c:pt idx="231">
                  <c:v>97.6272372198734</c:v>
                </c:pt>
                <c:pt idx="232">
                  <c:v>97.75831571575499</c:v>
                </c:pt>
                <c:pt idx="233">
                  <c:v>97.88289426044965</c:v>
                </c:pt>
                <c:pt idx="234">
                  <c:v>98.00124480747718</c:v>
                </c:pt>
                <c:pt idx="235">
                  <c:v>98.11363128971739</c:v>
                </c:pt>
                <c:pt idx="236">
                  <c:v>98.22030962669758</c:v>
                </c:pt>
                <c:pt idx="237">
                  <c:v>98.32152775124398</c:v>
                </c:pt>
                <c:pt idx="238">
                  <c:v>98.41752565404761</c:v>
                </c:pt>
                <c:pt idx="239">
                  <c:v>98.50853544473773</c:v>
                </c:pt>
                <c:pt idx="240">
                  <c:v>98.59478142810087</c:v>
                </c:pt>
                <c:pt idx="241">
                  <c:v>98.67648019413018</c:v>
                </c:pt>
                <c:pt idx="242">
                  <c:v>98.75384072063987</c:v>
                </c:pt>
                <c:pt idx="243">
                  <c:v>98.82706448722901</c:v>
                </c:pt>
                <c:pt idx="244">
                  <c:v>98.89634559943123</c:v>
                </c:pt>
                <c:pt idx="245">
                  <c:v>98.96187092193861</c:v>
                </c:pt>
                <c:pt idx="246">
                  <c:v>99.02382021984161</c:v>
                </c:pt>
                <c:pt idx="247">
                  <c:v>99.08236630687864</c:v>
                </c:pt>
                <c:pt idx="248">
                  <c:v>99.13767519974283</c:v>
                </c:pt>
                <c:pt idx="249">
                  <c:v>99.18990627754509</c:v>
                </c:pt>
                <c:pt idx="250">
                  <c:v>99.23921244558491</c:v>
                </c:pt>
                <c:pt idx="251">
                  <c:v>99.28574030263117</c:v>
                </c:pt>
                <c:pt idx="252">
                  <c:v>99.32963031096557</c:v>
                </c:pt>
                <c:pt idx="253">
                  <c:v>99.3710169684902</c:v>
                </c:pt>
                <c:pt idx="254">
                  <c:v>99.41002898224858</c:v>
                </c:pt>
                <c:pt idx="255">
                  <c:v>99.44678944275633</c:v>
                </c:pt>
                <c:pt idx="256">
                  <c:v>99.48141599858212</c:v>
                </c:pt>
                <c:pt idx="257">
                  <c:v>99.51402103066384</c:v>
                </c:pt>
                <c:pt idx="258">
                  <c:v>99.54471182588618</c:v>
                </c:pt>
                <c:pt idx="259">
                  <c:v>99.57359074948656</c:v>
                </c:pt>
                <c:pt idx="260">
                  <c:v>99.60075541589532</c:v>
                </c:pt>
                <c:pt idx="261">
                  <c:v>99.6262988576521</c:v>
                </c:pt>
                <c:pt idx="262">
                  <c:v>99.6503096920766</c:v>
                </c:pt>
                <c:pt idx="263">
                  <c:v>99.67287228540505</c:v>
                </c:pt>
                <c:pt idx="264">
                  <c:v>99.69406691413535</c:v>
                </c:pt>
                <c:pt idx="265">
                  <c:v>99.71396992335421</c:v>
                </c:pt>
                <c:pt idx="266">
                  <c:v>99.73265388184814</c:v>
                </c:pt>
                <c:pt idx="267">
                  <c:v>99.75018773382654</c:v>
                </c:pt>
                <c:pt idx="268">
                  <c:v>99.76663694711063</c:v>
                </c:pt>
                <c:pt idx="269">
                  <c:v>99.7820636576653</c:v>
                </c:pt>
                <c:pt idx="270">
                  <c:v>99.79652681037298</c:v>
                </c:pt>
                <c:pt idx="271">
                  <c:v>99.81008229596922</c:v>
                </c:pt>
                <c:pt idx="272">
                  <c:v>99.82278308407845</c:v>
                </c:pt>
                <c:pt idx="273">
                  <c:v>99.83467935230622</c:v>
                </c:pt>
                <c:pt idx="274">
                  <c:v>99.8458186113602</c:v>
                </c:pt>
                <c:pt idx="275">
                  <c:v>99.85624582618763</c:v>
                </c:pt>
                <c:pt idx="276">
                  <c:v>99.86600353312974</c:v>
                </c:pt>
                <c:pt idx="277">
                  <c:v>99.87513195310719</c:v>
                </c:pt>
                <c:pt idx="278">
                  <c:v>99.88366910086093</c:v>
                </c:pt>
                <c:pt idx="279">
                  <c:v>99.89165089028394</c:v>
                </c:pt>
                <c:pt idx="280">
                  <c:v>99.89911123588787</c:v>
                </c:pt>
                <c:pt idx="281">
                  <c:v>99.90608215045742</c:v>
                </c:pt>
                <c:pt idx="282">
                  <c:v>99.91259383895216</c:v>
                </c:pt>
                <c:pt idx="283">
                  <c:v>99.91867478872241</c:v>
                </c:pt>
                <c:pt idx="284">
                  <c:v>99.92435185611097</c:v>
                </c:pt>
                <c:pt idx="285">
                  <c:v>99.92965034951786</c:v>
                </c:pt>
                <c:pt idx="286">
                  <c:v>99.93459410900907</c:v>
                </c:pt>
                <c:pt idx="287">
                  <c:v>99.93920558255415</c:v>
                </c:pt>
                <c:pt idx="288">
                  <c:v>99.94350589898</c:v>
                </c:pt>
                <c:pt idx="289">
                  <c:v>99.94751493773101</c:v>
                </c:pt>
                <c:pt idx="290">
                  <c:v>99.95125139552712</c:v>
                </c:pt>
                <c:pt idx="291">
                  <c:v>99.95473285001306</c:v>
                </c:pt>
                <c:pt idx="292">
                  <c:v>99.95797582049263</c:v>
                </c:pt>
                <c:pt idx="293">
                  <c:v>99.96099582584245</c:v>
                </c:pt>
                <c:pt idx="294">
                  <c:v>99.96380743969986</c:v>
                </c:pt>
                <c:pt idx="295">
                  <c:v>99.96642434301941</c:v>
                </c:pt>
                <c:pt idx="296">
                  <c:v>99.96885937409134</c:v>
                </c:pt>
                <c:pt idx="297">
                  <c:v>99.97112457611568</c:v>
                </c:pt>
                <c:pt idx="298">
                  <c:v>99.97323124242354</c:v>
                </c:pt>
                <c:pt idx="299">
                  <c:v>99.97518995943632</c:v>
                </c:pt>
                <c:pt idx="300">
                  <c:v>99.97701064745242</c:v>
                </c:pt>
                <c:pt idx="301">
                  <c:v>99.97870259934874</c:v>
                </c:pt>
                <c:pt idx="302">
                  <c:v>99.98027451728306</c:v>
                </c:pt>
                <c:pt idx="303">
                  <c:v>99.98173454748131</c:v>
                </c:pt>
                <c:pt idx="304">
                  <c:v>99.98309031319145</c:v>
                </c:pt>
                <c:pt idx="305">
                  <c:v>99.98434894588428</c:v>
                </c:pt>
                <c:pt idx="306">
                  <c:v>99.98551711477852</c:v>
                </c:pt>
                <c:pt idx="307">
                  <c:v>99.986601054766</c:v>
                </c:pt>
                <c:pt idx="308">
                  <c:v>99.98760659280995</c:v>
                </c:pt>
                <c:pt idx="309">
                  <c:v>99.98853917288758</c:v>
                </c:pt>
                <c:pt idx="310">
                  <c:v>99.9894038795455</c:v>
                </c:pt>
                <c:pt idx="311">
                  <c:v>99.99020546013429</c:v>
                </c:pt>
                <c:pt idx="312">
                  <c:v>99.9909483457864</c:v>
                </c:pt>
                <c:pt idx="313">
                  <c:v>99.99163667119889</c:v>
                </c:pt>
                <c:pt idx="314">
                  <c:v>99.99227429328054</c:v>
                </c:pt>
                <c:pt idx="315">
                  <c:v>99.99286480872058</c:v>
                </c:pt>
                <c:pt idx="316">
                  <c:v>99.99341157053362</c:v>
                </c:pt>
                <c:pt idx="317">
                  <c:v>99.99391770363394</c:v>
                </c:pt>
                <c:pt idx="318">
                  <c:v>99.99438611948929</c:v>
                </c:pt>
                <c:pt idx="319">
                  <c:v>99.99481952990288</c:v>
                </c:pt>
                <c:pt idx="320">
                  <c:v>99.99522045996969</c:v>
                </c:pt>
                <c:pt idx="321">
                  <c:v>99.9955912602517</c:v>
                </c:pt>
                <c:pt idx="322">
                  <c:v>99.99593411821414</c:v>
                </c:pt>
                <c:pt idx="323">
                  <c:v>99.99625106896325</c:v>
                </c:pt>
                <c:pt idx="324">
                  <c:v>99.99654400532432</c:v>
                </c:pt>
                <c:pt idx="325">
                  <c:v>99.99681468729648</c:v>
                </c:pt>
                <c:pt idx="326">
                  <c:v>99.9970647509194</c:v>
                </c:pt>
                <c:pt idx="327">
                  <c:v>99.99729571658548</c:v>
                </c:pt>
                <c:pt idx="328">
                  <c:v>99.99750899682867</c:v>
                </c:pt>
                <c:pt idx="329">
                  <c:v>99.99770590362063</c:v>
                </c:pt>
                <c:pt idx="330">
                  <c:v>99.99788765520246</c:v>
                </c:pt>
                <c:pt idx="331">
                  <c:v>99.99805538247948</c:v>
                </c:pt>
                <c:pt idx="332">
                  <c:v>99.9982101350045</c:v>
                </c:pt>
                <c:pt idx="333">
                  <c:v>99.99835288657424</c:v>
                </c:pt>
                <c:pt idx="334">
                  <c:v>99.998484540462</c:v>
                </c:pt>
                <c:pt idx="335">
                  <c:v>99.99860593430839</c:v>
                </c:pt>
                <c:pt idx="336">
                  <c:v>99.99871784469106</c:v>
                </c:pt>
                <c:pt idx="337">
                  <c:v>99.99882099139268</c:v>
                </c:pt>
                <c:pt idx="338">
                  <c:v>99.99891604138617</c:v>
                </c:pt>
                <c:pt idx="339">
                  <c:v>99.99900361255419</c:v>
                </c:pt>
                <c:pt idx="340">
                  <c:v>99.99908427715988</c:v>
                </c:pt>
                <c:pt idx="341">
                  <c:v>99.99915856508396</c:v>
                </c:pt>
                <c:pt idx="342">
                  <c:v>99.9992269668434</c:v>
                </c:pt>
                <c:pt idx="343">
                  <c:v>99.999289936405</c:v>
                </c:pt>
                <c:pt idx="344">
                  <c:v>99.99934789380745</c:v>
                </c:pt>
                <c:pt idx="345">
                  <c:v>99.9994012276037</c:v>
                </c:pt>
                <c:pt idx="346">
                  <c:v>99.99945029713547</c:v>
                </c:pt>
                <c:pt idx="347">
                  <c:v>99.99949543465078</c:v>
                </c:pt>
                <c:pt idx="348">
                  <c:v>99.99953694727466</c:v>
                </c:pt>
                <c:pt idx="349">
                  <c:v>99.9995751188426</c:v>
                </c:pt>
                <c:pt idx="350">
                  <c:v>99.99961021160591</c:v>
                </c:pt>
                <c:pt idx="351">
                  <c:v>99.99964246781742</c:v>
                </c:pt>
                <c:pt idx="352">
                  <c:v>99.99967211120538</c:v>
                </c:pt>
                <c:pt idx="353">
                  <c:v>99.99969934834324</c:v>
                </c:pt>
                <c:pt idx="354">
                  <c:v>99.99972436992202</c:v>
                </c:pt>
                <c:pt idx="355">
                  <c:v>99.99974735193214</c:v>
                </c:pt>
                <c:pt idx="356">
                  <c:v>99.99976845676069</c:v>
                </c:pt>
                <c:pt idx="357">
                  <c:v>99.99978783420983</c:v>
                </c:pt>
                <c:pt idx="358">
                  <c:v>99.99980562244181</c:v>
                </c:pt>
                <c:pt idx="359">
                  <c:v>99.99982194885587</c:v>
                </c:pt>
                <c:pt idx="360">
                  <c:v>99.99983693090117</c:v>
                </c:pt>
                <c:pt idx="361">
                  <c:v>99.99985067683073</c:v>
                </c:pt>
                <c:pt idx="362">
                  <c:v>99.99986328640023</c:v>
                </c:pt>
                <c:pt idx="363">
                  <c:v>99.99987485151553</c:v>
                </c:pt>
                <c:pt idx="364">
                  <c:v>99.99988545683264</c:v>
                </c:pt>
                <c:pt idx="365">
                  <c:v>99.9998951803132</c:v>
                </c:pt>
                <c:pt idx="366">
                  <c:v>99.99990409373908</c:v>
                </c:pt>
                <c:pt idx="367">
                  <c:v>99.99991226318853</c:v>
                </c:pt>
                <c:pt idx="368">
                  <c:v>99.99991974947699</c:v>
                </c:pt>
                <c:pt idx="369">
                  <c:v>99.99992660856476</c:v>
                </c:pt>
                <c:pt idx="370">
                  <c:v>99.99993289193431</c:v>
                </c:pt>
                <c:pt idx="371">
                  <c:v>99.999938646939</c:v>
                </c:pt>
                <c:pt idx="372">
                  <c:v>99.99994391712558</c:v>
                </c:pt>
                <c:pt idx="373">
                  <c:v>99.99994874253227</c:v>
                </c:pt>
                <c:pt idx="374">
                  <c:v>99.99995315996416</c:v>
                </c:pt>
                <c:pt idx="375">
                  <c:v>99.9999572032477</c:v>
                </c:pt>
                <c:pt idx="376">
                  <c:v>99.99996090346569</c:v>
                </c:pt>
                <c:pt idx="377">
                  <c:v>99.9999642891743</c:v>
                </c:pt>
                <c:pt idx="378">
                  <c:v>99.99996738660343</c:v>
                </c:pt>
                <c:pt idx="379">
                  <c:v>99.99997021984159</c:v>
                </c:pt>
                <c:pt idx="380">
                  <c:v>99.99997281100651</c:v>
                </c:pt>
                <c:pt idx="381">
                  <c:v>99.99997518040266</c:v>
                </c:pt>
                <c:pt idx="382">
                  <c:v>99.99997734666626</c:v>
                </c:pt>
                <c:pt idx="383">
                  <c:v>99.99997932689925</c:v>
                </c:pt>
                <c:pt idx="384">
                  <c:v>99.99998113679268</c:v>
                </c:pt>
                <c:pt idx="385">
                  <c:v>99.9999827907405</c:v>
                </c:pt>
                <c:pt idx="386">
                  <c:v>99.99998430194428</c:v>
                </c:pt>
                <c:pt idx="387">
                  <c:v>99.99998568250986</c:v>
                </c:pt>
                <c:pt idx="388">
                  <c:v>99.99998694353629</c:v>
                </c:pt>
                <c:pt idx="389">
                  <c:v>99.99998809519766</c:v>
                </c:pt>
                <c:pt idx="390">
                  <c:v>99.99998914681865</c:v>
                </c:pt>
                <c:pt idx="391">
                  <c:v>99.99999010694377</c:v>
                </c:pt>
                <c:pt idx="392">
                  <c:v>99.99999098340139</c:v>
                </c:pt>
                <c:pt idx="393">
                  <c:v>99.99999178336242</c:v>
                </c:pt>
                <c:pt idx="394">
                  <c:v>99.99999251339443</c:v>
                </c:pt>
                <c:pt idx="395">
                  <c:v>99.99999317951136</c:v>
                </c:pt>
                <c:pt idx="396">
                  <c:v>99.99999378721921</c:v>
                </c:pt>
                <c:pt idx="397">
                  <c:v>99.99999434155812</c:v>
                </c:pt>
                <c:pt idx="398">
                  <c:v>99.99999484714097</c:v>
                </c:pt>
                <c:pt idx="399">
                  <c:v>99.99999530818893</c:v>
                </c:pt>
                <c:pt idx="400">
                  <c:v>99.99999572856399</c:v>
                </c:pt>
              </c:numCache>
            </c:numRef>
          </c:yVal>
          <c:smooth val="0"/>
        </c:ser>
        <c:ser>
          <c:idx val="1"/>
          <c:order val="1"/>
          <c:tx>
            <c:strRef>
              <c:f>Sheet1!$B$404</c:f>
              <c:strCache>
                <c:ptCount val="1"/>
                <c:pt idx="0">
                  <c:v>3 per maand, alle zes</c:v>
                </c:pt>
              </c:strCache>
            </c:strRef>
          </c:tx>
          <c:spPr>
            <a:ln w="19050">
              <a:solidFill>
                <a:srgbClr val="52BDEC"/>
              </a:solidFill>
              <a:prstDash val="dash"/>
            </a:ln>
          </c:spPr>
          <c:marker>
            <c:symbol val="none"/>
          </c:marker>
          <c:xVal>
            <c:numRef>
              <c:f>Sheet1!$A$405:$A$805</c:f>
              <c:numCache>
                <c:formatCode>General</c:formatCode>
                <c:ptCount val="40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11.0</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12.0</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13.0</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14.0</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15.0</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16.0</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17.0</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18.0</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19.0</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pt idx="400">
                  <c:v>20.0</c:v>
                </c:pt>
              </c:numCache>
            </c:numRef>
          </c:xVal>
          <c:yVal>
            <c:numRef>
              <c:f>Sheet1!$B$405:$B$805</c:f>
              <c:numCache>
                <c:formatCode>General</c:formatCode>
                <c:ptCount val="401"/>
                <c:pt idx="0">
                  <c:v>0.0</c:v>
                </c:pt>
                <c:pt idx="1">
                  <c:v>0.0</c:v>
                </c:pt>
                <c:pt idx="2">
                  <c:v>0.0</c:v>
                </c:pt>
                <c:pt idx="3">
                  <c:v>0.0</c:v>
                </c:pt>
                <c:pt idx="4">
                  <c:v>0.0</c:v>
                </c:pt>
                <c:pt idx="5">
                  <c:v>0.0</c:v>
                </c:pt>
                <c:pt idx="6">
                  <c:v>0.0</c:v>
                </c:pt>
                <c:pt idx="7">
                  <c:v>0.0</c:v>
                </c:pt>
                <c:pt idx="8">
                  <c:v>0.0</c:v>
                </c:pt>
                <c:pt idx="9">
                  <c:v>1.1985091468012028e-92</c:v>
                </c:pt>
                <c:pt idx="10">
                  <c:v>0.0</c:v>
                </c:pt>
                <c:pt idx="11">
                  <c:v>1.1985091468012028e-92</c:v>
                </c:pt>
                <c:pt idx="12">
                  <c:v>1.1985091468012028e-92</c:v>
                </c:pt>
                <c:pt idx="13">
                  <c:v>0.0</c:v>
                </c:pt>
                <c:pt idx="14">
                  <c:v>0.0</c:v>
                </c:pt>
                <c:pt idx="15">
                  <c:v>0.0</c:v>
                </c:pt>
                <c:pt idx="16">
                  <c:v>1.1985091468012028e-92</c:v>
                </c:pt>
                <c:pt idx="17">
                  <c:v>2.2031781658127298e-89</c:v>
                </c:pt>
                <c:pt idx="18">
                  <c:v>3.578729136202043e-86</c:v>
                </c:pt>
                <c:pt idx="19">
                  <c:v>4.217246582808165e-83</c:v>
                </c:pt>
                <c:pt idx="20">
                  <c:v>2.7722244847085556e-80</c:v>
                </c:pt>
                <c:pt idx="21">
                  <c:v>1.4254346456700096e-77</c:v>
                </c:pt>
                <c:pt idx="22">
                  <c:v>4.815044839867513e-75</c:v>
                </c:pt>
                <c:pt idx="23">
                  <c:v>1.2172053701583038e-72</c:v>
                </c:pt>
                <c:pt idx="24">
                  <c:v>2.3613352688400177e-70</c:v>
                </c:pt>
                <c:pt idx="25">
                  <c:v>3.5733643964381614e-68</c:v>
                </c:pt>
                <c:pt idx="26">
                  <c:v>4.29701462021823e-66</c:v>
                </c:pt>
                <c:pt idx="27">
                  <c:v>4.176010276606486e-64</c:v>
                </c:pt>
                <c:pt idx="28">
                  <c:v>3.332207239245199e-62</c:v>
                </c:pt>
                <c:pt idx="29">
                  <c:v>2.2129128002990937e-60</c:v>
                </c:pt>
                <c:pt idx="30">
                  <c:v>1.238412612670638e-58</c:v>
                </c:pt>
                <c:pt idx="31">
                  <c:v>5.907325028517092e-57</c:v>
                </c:pt>
                <c:pt idx="32">
                  <c:v>2.4260980350628877e-55</c:v>
                </c:pt>
                <c:pt idx="33">
                  <c:v>8.658748425253087e-54</c:v>
                </c:pt>
                <c:pt idx="34">
                  <c:v>2.708128385222427e-52</c:v>
                </c:pt>
                <c:pt idx="35">
                  <c:v>7.479750110540721e-51</c:v>
                </c:pt>
                <c:pt idx="36">
                  <c:v>1.8372133422299007e-49</c:v>
                </c:pt>
                <c:pt idx="37">
                  <c:v>4.039123541101407e-48</c:v>
                </c:pt>
                <c:pt idx="38">
                  <c:v>7.995502786322957e-47</c:v>
                </c:pt>
                <c:pt idx="39">
                  <c:v>1.432888062390633e-45</c:v>
                </c:pt>
                <c:pt idx="40">
                  <c:v>2.336584822027721e-44</c:v>
                </c:pt>
                <c:pt idx="41">
                  <c:v>3.4832674206080663e-43</c:v>
                </c:pt>
                <c:pt idx="42">
                  <c:v>4.7677597424334e-42</c:v>
                </c:pt>
                <c:pt idx="43">
                  <c:v>6.016130033542261e-41</c:v>
                </c:pt>
                <c:pt idx="44">
                  <c:v>7.024700844058088e-40</c:v>
                </c:pt>
                <c:pt idx="45">
                  <c:v>7.616729700702639e-39</c:v>
                </c:pt>
                <c:pt idx="46">
                  <c:v>7.694167107892326e-38</c:v>
                </c:pt>
                <c:pt idx="47">
                  <c:v>7.263359556596256e-37</c:v>
                </c:pt>
                <c:pt idx="48">
                  <c:v>6.426033291976316e-36</c:v>
                </c:pt>
                <c:pt idx="49">
                  <c:v>5.342537317553466e-35</c:v>
                </c:pt>
                <c:pt idx="50">
                  <c:v>4.184563933530145e-34</c:v>
                </c:pt>
                <c:pt idx="51">
                  <c:v>3.095170977776207e-33</c:v>
                </c:pt>
                <c:pt idx="52">
                  <c:v>2.166828457275942e-32</c:v>
                </c:pt>
                <c:pt idx="53">
                  <c:v>1.4387588973548732e-31</c:v>
                </c:pt>
                <c:pt idx="54">
                  <c:v>9.079081472430852e-31</c:v>
                </c:pt>
                <c:pt idx="55">
                  <c:v>5.4551340159212184e-30</c:v>
                </c:pt>
                <c:pt idx="56">
                  <c:v>3.126465394749341e-29</c:v>
                </c:pt>
                <c:pt idx="57">
                  <c:v>1.71206627713079e-28</c:v>
                </c:pt>
                <c:pt idx="58">
                  <c:v>8.972266348638936e-28</c:v>
                </c:pt>
                <c:pt idx="59">
                  <c:v>4.506700755015146e-27</c:v>
                </c:pt>
                <c:pt idx="60">
                  <c:v>2.1727884956637314e-26</c:v>
                </c:pt>
                <c:pt idx="61">
                  <c:v>1.0068727266401712e-25</c:v>
                </c:pt>
                <c:pt idx="62">
                  <c:v>4.4905276620661625e-25</c:v>
                </c:pt>
                <c:pt idx="63">
                  <c:v>1.929861060903768e-24</c:v>
                </c:pt>
                <c:pt idx="64">
                  <c:v>8.001573403834077e-24</c:v>
                </c:pt>
                <c:pt idx="65">
                  <c:v>3.20432412757975e-23</c:v>
                </c:pt>
                <c:pt idx="66">
                  <c:v>1.2407316181160317e-22</c:v>
                </c:pt>
                <c:pt idx="67">
                  <c:v>4.649939393165216e-22</c:v>
                </c:pt>
                <c:pt idx="68">
                  <c:v>1.6883896712949263e-21</c:v>
                </c:pt>
                <c:pt idx="69">
                  <c:v>5.9451574011166215e-21</c:v>
                </c:pt>
                <c:pt idx="70">
                  <c:v>2.0319410665707816e-20</c:v>
                </c:pt>
                <c:pt idx="71">
                  <c:v>6.746697183846333e-20</c:v>
                </c:pt>
                <c:pt idx="72">
                  <c:v>2.1780275632337306e-19</c:v>
                </c:pt>
                <c:pt idx="73">
                  <c:v>6.841833791344309e-19</c:v>
                </c:pt>
                <c:pt idx="74">
                  <c:v>2.0929058207139843e-18</c:v>
                </c:pt>
                <c:pt idx="75">
                  <c:v>6.2389674046294284e-18</c:v>
                </c:pt>
                <c:pt idx="76">
                  <c:v>1.8137063915573395e-17</c:v>
                </c:pt>
                <c:pt idx="77">
                  <c:v>5.145244741142236e-17</c:v>
                </c:pt>
                <c:pt idx="78">
                  <c:v>1.4253194879403707e-16</c:v>
                </c:pt>
                <c:pt idx="79">
                  <c:v>3.857955843224853e-16</c:v>
                </c:pt>
                <c:pt idx="80">
                  <c:v>1.0209459328037421e-15</c:v>
                </c:pt>
                <c:pt idx="81">
                  <c:v>2.643021668638845e-15</c:v>
                </c:pt>
                <c:pt idx="82">
                  <c:v>6.69721291408263e-15</c:v>
                </c:pt>
                <c:pt idx="83">
                  <c:v>1.661946856402469e-14</c:v>
                </c:pt>
                <c:pt idx="84">
                  <c:v>4.041064598266316e-14</c:v>
                </c:pt>
                <c:pt idx="85">
                  <c:v>9.632704102318654e-14</c:v>
                </c:pt>
                <c:pt idx="86">
                  <c:v>2.252086453323539e-13</c:v>
                </c:pt>
                <c:pt idx="87">
                  <c:v>5.166659198583674e-13</c:v>
                </c:pt>
                <c:pt idx="88">
                  <c:v>1.1636414739258241e-12</c:v>
                </c:pt>
                <c:pt idx="89">
                  <c:v>2.5739694554277922e-12</c:v>
                </c:pt>
                <c:pt idx="90">
                  <c:v>5.594308429468905e-12</c:v>
                </c:pt>
                <c:pt idx="91">
                  <c:v>1.1951607384473617e-11</c:v>
                </c:pt>
                <c:pt idx="92">
                  <c:v>2.510819732847126e-11</c:v>
                </c:pt>
                <c:pt idx="93">
                  <c:v>5.1889686519966445e-11</c:v>
                </c:pt>
                <c:pt idx="94">
                  <c:v>1.0553212277919751e-10</c:v>
                </c:pt>
                <c:pt idx="95">
                  <c:v>2.112921057528971e-10</c:v>
                </c:pt>
                <c:pt idx="96">
                  <c:v>4.1660928922266784e-10</c:v>
                </c:pt>
                <c:pt idx="97">
                  <c:v>8.092249636259161e-10</c:v>
                </c:pt>
                <c:pt idx="98">
                  <c:v>1.548985834487732e-09</c:v>
                </c:pt>
                <c:pt idx="99">
                  <c:v>2.9228229134141036e-09</c:v>
                </c:pt>
                <c:pt idx="100">
                  <c:v>5.438378986519277e-09</c:v>
                </c:pt>
                <c:pt idx="101">
                  <c:v>9.981125747666005e-09</c:v>
                </c:pt>
                <c:pt idx="102">
                  <c:v>1.8074245336253395e-08</c:v>
                </c:pt>
                <c:pt idx="103">
                  <c:v>3.2302442522460975e-08</c:v>
                </c:pt>
                <c:pt idx="104">
                  <c:v>5.6993542319343134e-08</c:v>
                </c:pt>
                <c:pt idx="105">
                  <c:v>9.929978905541412e-08</c:v>
                </c:pt>
                <c:pt idx="106">
                  <c:v>1.708903493180778e-07</c:v>
                </c:pt>
                <c:pt idx="107">
                  <c:v>2.9056574645843823e-07</c:v>
                </c:pt>
                <c:pt idx="108">
                  <c:v>4.88244307734076e-07</c:v>
                </c:pt>
                <c:pt idx="109">
                  <c:v>8.109634688887817e-07</c:v>
                </c:pt>
                <c:pt idx="110">
                  <c:v>1.3318014124956953e-06</c:v>
                </c:pt>
                <c:pt idx="111">
                  <c:v>2.1629769416393604e-06</c:v>
                </c:pt>
                <c:pt idx="112">
                  <c:v>3.474851239210593e-06</c:v>
                </c:pt>
                <c:pt idx="113">
                  <c:v>5.523161262882017e-06</c:v>
                </c:pt>
                <c:pt idx="114">
                  <c:v>8.687591061275583e-06</c:v>
                </c:pt>
                <c:pt idx="115">
                  <c:v>1.3525766532080235e-05</c:v>
                </c:pt>
                <c:pt idx="116">
                  <c:v>2.0847974112363244e-05</c:v>
                </c:pt>
                <c:pt idx="117">
                  <c:v>3.181938637262238e-05</c:v>
                </c:pt>
                <c:pt idx="118">
                  <c:v>4.809835530053361e-05</c:v>
                </c:pt>
                <c:pt idx="119">
                  <c:v>7.20214276847799e-05</c:v>
                </c:pt>
                <c:pt idx="120">
                  <c:v>0.00010684815554451748</c:v>
                </c:pt>
                <c:pt idx="121">
                  <c:v>0.00015708151115637208</c:v>
                </c:pt>
                <c:pt idx="122">
                  <c:v>0.00022888274323590326</c:v>
                </c:pt>
                <c:pt idx="123">
                  <c:v>0.00033060277477634425</c:v>
                </c:pt>
                <c:pt idx="124">
                  <c:v>0.0004734556600834903</c:v>
                </c:pt>
                <c:pt idx="125">
                  <c:v>0.0006723630705593346</c:v>
                </c:pt>
                <c:pt idx="126">
                  <c:v>0.0009470021108279276</c:v>
                </c:pt>
                <c:pt idx="127">
                  <c:v>0.0013230917863129704</c:v>
                </c:pt>
                <c:pt idx="128">
                  <c:v>0.0018339559216775001</c:v>
                </c:pt>
                <c:pt idx="129">
                  <c:v>0.0025224020061287602</c:v>
                </c:pt>
                <c:pt idx="130">
                  <c:v>0.0034429560314678084</c:v>
                </c:pt>
                <c:pt idx="131">
                  <c:v>0.004664492592984746</c:v>
                </c:pt>
                <c:pt idx="132">
                  <c:v>0.006273297042816341</c:v>
                </c:pt>
                <c:pt idx="133">
                  <c:v>0.00837659203749361</c:v>
                </c:pt>
                <c:pt idx="134">
                  <c:v>0.011106554158974559</c:v>
                </c:pt>
                <c:pt idx="135">
                  <c:v>0.0146248372200539</c:v>
                </c:pt>
                <c:pt idx="136">
                  <c:v>0.019127607275664</c:v>
                </c:pt>
                <c:pt idx="137">
                  <c:v>0.02485108023304619</c:v>
                </c:pt>
                <c:pt idx="138">
                  <c:v>0.03207753638139056</c:v>
                </c:pt>
                <c:pt idx="139">
                  <c:v>0.04114176736829041</c:v>
                </c:pt>
                <c:pt idx="140">
                  <c:v>0.052437890496270054</c:v>
                </c:pt>
                <c:pt idx="141">
                  <c:v>0.06642644319421966</c:v>
                </c:pt>
                <c:pt idx="142">
                  <c:v>0.08364164776810605</c:v>
                </c:pt>
                <c:pt idx="143">
                  <c:v>0.10469871380235549</c:v>
                </c:pt>
                <c:pt idx="144">
                  <c:v>0.13030102371866487</c:v>
                </c:pt>
                <c:pt idx="145">
                  <c:v>0.1612470269226935</c:v>
                </c:pt>
                <c:pt idx="146">
                  <c:v>0.19843665063592505</c:v>
                </c:pt>
                <c:pt idx="147">
                  <c:v>0.24287702187080268</c:v>
                </c:pt>
                <c:pt idx="148">
                  <c:v>0.295687285961121</c:v>
                </c:pt>
                <c:pt idx="149">
                  <c:v>0.3581023034125747</c:v>
                </c:pt>
                <c:pt idx="150">
                  <c:v>0.4314750092591402</c:v>
                </c:pt>
                <c:pt idx="151">
                  <c:v>0.517277228083592</c:v>
                </c:pt>
                <c:pt idx="152">
                  <c:v>0.6170987536658364</c:v>
                </c:pt>
                <c:pt idx="153">
                  <c:v>0.7326445248912102</c:v>
                </c:pt>
                <c:pt idx="154">
                  <c:v>0.8657297588668702</c:v>
                </c:pt>
                <c:pt idx="155">
                  <c:v>1.0182729376775361</c:v>
                </c:pt>
                <c:pt idx="156">
                  <c:v>1.1922865861284513</c:v>
                </c:pt>
                <c:pt idx="157">
                  <c:v>1.389865823205217</c:v>
                </c:pt>
                <c:pt idx="158">
                  <c:v>1.6131747186627965</c:v>
                </c:pt>
                <c:pt idx="159">
                  <c:v>1.8644305367854066</c:v>
                </c:pt>
                <c:pt idx="160">
                  <c:v>2.14588600050768</c:v>
                </c:pt>
                <c:pt idx="161">
                  <c:v>2.459809759210309</c:v>
                </c:pt>
                <c:pt idx="162">
                  <c:v>2.808465291102373</c:v>
                </c:pt>
                <c:pt idx="163">
                  <c:v>3.1940885146941294</c:v>
                </c:pt>
                <c:pt idx="164">
                  <c:v>3.6188644220883734</c:v>
                </c:pt>
                <c:pt idx="165">
                  <c:v>4.084903078481363</c:v>
                </c:pt>
                <c:pt idx="166">
                  <c:v>4.59421535635226</c:v>
                </c:pt>
                <c:pt idx="167">
                  <c:v>5.1486887885855825</c:v>
                </c:pt>
                <c:pt idx="168">
                  <c:v>5.750063931715628</c:v>
                </c:pt>
                <c:pt idx="169">
                  <c:v>6.3999116283771365</c:v>
                </c:pt>
                <c:pt idx="170">
                  <c:v>7.099611546977017</c:v>
                </c:pt>
                <c:pt idx="171">
                  <c:v>7.850332356887497</c:v>
                </c:pt>
                <c:pt idx="172">
                  <c:v>8.653013869703303</c:v>
                </c:pt>
                <c:pt idx="173">
                  <c:v>9.508351442128994</c:v>
                </c:pt>
                <c:pt idx="174">
                  <c:v>10.41678289487644</c:v>
                </c:pt>
                <c:pt idx="175">
                  <c:v>11.378478155726626</c:v>
                </c:pt>
                <c:pt idx="176">
                  <c:v>12.393331784926552</c:v>
                </c:pt>
                <c:pt idx="177">
                  <c:v>13.46095848867868</c:v>
                </c:pt>
                <c:pt idx="178">
                  <c:v>14.580691673010621</c:v>
                </c:pt>
                <c:pt idx="179">
                  <c:v>15.751585037093118</c:v>
                </c:pt>
                <c:pt idx="180">
                  <c:v>16.972417153396993</c:v>
                </c:pt>
                <c:pt idx="181">
                  <c:v>18.241698933070605</c:v>
                </c:pt>
                <c:pt idx="182">
                  <c:v>19.557683829638428</c:v>
                </c:pt>
                <c:pt idx="183">
                  <c:v>20.918380593429983</c:v>
                </c:pt>
                <c:pt idx="184">
                  <c:v>22.321568353723322</c:v>
                </c:pt>
                <c:pt idx="185">
                  <c:v>23.764813776024248</c:v>
                </c:pt>
                <c:pt idx="186">
                  <c:v>25.245490018440698</c:v>
                </c:pt>
                <c:pt idx="187">
                  <c:v>26.760797194012177</c:v>
                </c:pt>
                <c:pt idx="188">
                  <c:v>28.307784035042115</c:v>
                </c:pt>
                <c:pt idx="189">
                  <c:v>29.88337045081055</c:v>
                </c:pt>
                <c:pt idx="190">
                  <c:v>31.484370671245625</c:v>
                </c:pt>
                <c:pt idx="191">
                  <c:v>33.10751667571305</c:v>
                </c:pt>
                <c:pt idx="192">
                  <c:v>34.74948161761375</c:v>
                </c:pt>
                <c:pt idx="193">
                  <c:v>36.40690297128207</c:v>
                </c:pt>
                <c:pt idx="194">
                  <c:v>38.076405147172835</c:v>
                </c:pt>
                <c:pt idx="195">
                  <c:v>39.7546213438022</c:v>
                </c:pt>
                <c:pt idx="196">
                  <c:v>41.43821442969821</c:v>
                </c:pt>
                <c:pt idx="197">
                  <c:v>43.12389667504511</c:v>
                </c:pt>
                <c:pt idx="198">
                  <c:v>44.80844818012182</c:v>
                </c:pt>
                <c:pt idx="199">
                  <c:v>46.48873387542442</c:v>
                </c:pt>
                <c:pt idx="200">
                  <c:v>48.16171899598515</c:v>
                </c:pt>
                <c:pt idx="201">
                  <c:v>49.82448295933461</c:v>
                </c:pt>
                <c:pt idx="202">
                  <c:v>51.47423160237121</c:v>
                </c:pt>
                <c:pt idx="203">
                  <c:v>53.108307756761434</c:v>
                </c:pt>
                <c:pt idx="204">
                  <c:v>54.72420016503023</c:v>
                </c:pt>
                <c:pt idx="205">
                  <c:v>56.31955076008811</c:v>
                </c:pt>
                <c:pt idx="206">
                  <c:v>57.89216034929472</c:v>
                </c:pt>
                <c:pt idx="207">
                  <c:v>59.439992760291915</c:v>
                </c:pt>
                <c:pt idx="208">
                  <c:v>60.961177519605805</c:v>
                </c:pt>
                <c:pt idx="209">
                  <c:v>62.45401114650745</c:v>
                </c:pt>
                <c:pt idx="210">
                  <c:v>63.9169571538237</c:v>
                </c:pt>
                <c:pt idx="211">
                  <c:v>65.34864485441689</c:v>
                </c:pt>
                <c:pt idx="212">
                  <c:v>66.7478670770393</c:v>
                </c:pt>
                <c:pt idx="213">
                  <c:v>68.11357689831561</c:v>
                </c:pt>
                <c:pt idx="214">
                  <c:v>69.44488349892045</c:v>
                </c:pt>
                <c:pt idx="215">
                  <c:v>70.741047251756</c:v>
                </c:pt>
                <c:pt idx="216">
                  <c:v>72.00147414825622</c:v>
                </c:pt>
                <c:pt idx="217">
                  <c:v>73.22570966608932</c:v>
                </c:pt>
                <c:pt idx="218">
                  <c:v>74.41343217761585</c:v>
                </c:pt>
                <c:pt idx="219">
                  <c:v>75.56444599372115</c:v>
                </c:pt>
                <c:pt idx="220">
                  <c:v>76.67867413220986</c:v>
                </c:pt>
                <c:pt idx="221">
                  <c:v>77.75615089401053</c:v>
                </c:pt>
                <c:pt idx="222">
                  <c:v>78.79701432412021</c:v>
                </c:pt>
                <c:pt idx="223">
                  <c:v>79.80149862768002</c:v>
                </c:pt>
                <c:pt idx="224">
                  <c:v>80.76992660490001</c:v>
                </c:pt>
                <c:pt idx="225">
                  <c:v>81.7027021619034</c:v>
                </c:pt>
                <c:pt idx="226">
                  <c:v>82.60030294796486</c:v>
                </c:pt>
                <c:pt idx="227">
                  <c:v>83.46327316322248</c:v>
                </c:pt>
                <c:pt idx="228">
                  <c:v>84.29221657475222</c:v>
                </c:pt>
                <c:pt idx="229">
                  <c:v>85.08778977301371</c:v>
                </c:pt>
                <c:pt idx="230">
                  <c:v>85.85069569510102</c:v>
                </c:pt>
                <c:pt idx="231">
                  <c:v>86.58167743604156</c:v>
                </c:pt>
                <c:pt idx="232">
                  <c:v>87.2815123645449</c:v>
                </c:pt>
                <c:pt idx="233">
                  <c:v>87.95100655518976</c:v>
                </c:pt>
                <c:pt idx="234">
                  <c:v>88.59098954499119</c:v>
                </c:pt>
                <c:pt idx="235">
                  <c:v>89.20230941865931</c:v>
                </c:pt>
                <c:pt idx="236">
                  <c:v>89.78582822361565</c:v>
                </c:pt>
                <c:pt idx="237">
                  <c:v>90.34241771296168</c:v>
                </c:pt>
                <c:pt idx="238">
                  <c:v>90.87295541209332</c:v>
                </c:pt>
                <c:pt idx="239">
                  <c:v>91.37832100249193</c:v>
                </c:pt>
                <c:pt idx="240">
                  <c:v>91.85939301439353</c:v>
                </c:pt>
                <c:pt idx="241">
                  <c:v>92.3170458184995</c:v>
                </c:pt>
                <c:pt idx="242">
                  <c:v>92.7521469056496</c:v>
                </c:pt>
                <c:pt idx="243">
                  <c:v>93.16555444237767</c:v>
                </c:pt>
                <c:pt idx="244">
                  <c:v>93.55811508951744</c:v>
                </c:pt>
                <c:pt idx="245">
                  <c:v>93.93066207047211</c:v>
                </c:pt>
                <c:pt idx="246">
                  <c:v>94.28401347540841</c:v>
                </c:pt>
                <c:pt idx="247">
                  <c:v>94.61897078743931</c:v>
                </c:pt>
                <c:pt idx="248">
                  <c:v>94.93631761681773</c:v>
                </c:pt>
                <c:pt idx="249">
                  <c:v>95.23681862924677</c:v>
                </c:pt>
                <c:pt idx="250">
                  <c:v>95.52121865460352</c:v>
                </c:pt>
                <c:pt idx="251">
                  <c:v>95.79024196266023</c:v>
                </c:pt>
                <c:pt idx="252">
                  <c:v>96.04459169275081</c:v>
                </c:pt>
                <c:pt idx="253">
                  <c:v>96.28494942475486</c:v>
                </c:pt>
                <c:pt idx="254">
                  <c:v>96.51197487925157</c:v>
                </c:pt>
                <c:pt idx="255">
                  <c:v>96.72630573521074</c:v>
                </c:pt>
                <c:pt idx="256">
                  <c:v>96.92855755413441</c:v>
                </c:pt>
                <c:pt idx="257">
                  <c:v>97.11932380012779</c:v>
                </c:pt>
                <c:pt idx="258">
                  <c:v>97.29917594595565</c:v>
                </c:pt>
                <c:pt idx="259">
                  <c:v>97.46866365572168</c:v>
                </c:pt>
                <c:pt idx="260">
                  <c:v>97.62831503539225</c:v>
                </c:pt>
                <c:pt idx="261">
                  <c:v>97.77863694295658</c:v>
                </c:pt>
                <c:pt idx="262">
                  <c:v>97.92011535058482</c:v>
                </c:pt>
                <c:pt idx="263">
                  <c:v>98.05321575169293</c:v>
                </c:pt>
                <c:pt idx="264">
                  <c:v>98.1783836063591</c:v>
                </c:pt>
                <c:pt idx="265">
                  <c:v>98.29604481904887</c:v>
                </c:pt>
                <c:pt idx="266">
                  <c:v>98.4066062431039</c:v>
                </c:pt>
                <c:pt idx="267">
                  <c:v>98.51045620691575</c:v>
                </c:pt>
                <c:pt idx="268">
                  <c:v>98.60796505715889</c:v>
                </c:pt>
                <c:pt idx="269">
                  <c:v>98.69948571487954</c:v>
                </c:pt>
                <c:pt idx="270">
                  <c:v>98.78535424063759</c:v>
                </c:pt>
                <c:pt idx="271">
                  <c:v>98.86589040527808</c:v>
                </c:pt>
                <c:pt idx="272">
                  <c:v>98.94139826325794</c:v>
                </c:pt>
                <c:pt idx="273">
                  <c:v>99.01216672578803</c:v>
                </c:pt>
                <c:pt idx="274">
                  <c:v>99.0784701313537</c:v>
                </c:pt>
                <c:pt idx="275">
                  <c:v>99.14056881146568</c:v>
                </c:pt>
                <c:pt idx="276">
                  <c:v>99.19870964975432</c:v>
                </c:pt>
                <c:pt idx="277">
                  <c:v>99.25312663276576</c:v>
                </c:pt>
                <c:pt idx="278">
                  <c:v>99.30404139104179</c:v>
                </c:pt>
                <c:pt idx="279">
                  <c:v>99.35166372927131</c:v>
                </c:pt>
                <c:pt idx="280">
                  <c:v>99.39619214448805</c:v>
                </c:pt>
                <c:pt idx="281">
                  <c:v>99.437814331464</c:v>
                </c:pt>
                <c:pt idx="282">
                  <c:v>99.47670767459886</c:v>
                </c:pt>
                <c:pt idx="283">
                  <c:v>99.51303972575309</c:v>
                </c:pt>
                <c:pt idx="284">
                  <c:v>99.54696866759355</c:v>
                </c:pt>
                <c:pt idx="285">
                  <c:v>99.5786437621417</c:v>
                </c:pt>
                <c:pt idx="286">
                  <c:v>99.60820578431156</c:v>
                </c:pt>
                <c:pt idx="287">
                  <c:v>99.63578744032101</c:v>
                </c:pt>
                <c:pt idx="288">
                  <c:v>99.661513770939</c:v>
                </c:pt>
                <c:pt idx="289">
                  <c:v>99.68550253960477</c:v>
                </c:pt>
                <c:pt idx="290">
                  <c:v>99.70786460551817</c:v>
                </c:pt>
                <c:pt idx="291">
                  <c:v>99.72870428185635</c:v>
                </c:pt>
                <c:pt idx="292">
                  <c:v>99.74811967932004</c:v>
                </c:pt>
                <c:pt idx="293">
                  <c:v>99.76620303525355</c:v>
                </c:pt>
                <c:pt idx="294">
                  <c:v>99.78304102862074</c:v>
                </c:pt>
                <c:pt idx="295">
                  <c:v>99.79871508114545</c:v>
                </c:pt>
                <c:pt idx="296">
                  <c:v>99.81330164495287</c:v>
                </c:pt>
                <c:pt idx="297">
                  <c:v>99.82687247706815</c:v>
                </c:pt>
                <c:pt idx="298">
                  <c:v>99.83949490114311</c:v>
                </c:pt>
                <c:pt idx="299">
                  <c:v>99.85123205679744</c:v>
                </c:pt>
                <c:pt idx="300">
                  <c:v>99.86214313696803</c:v>
                </c:pt>
                <c:pt idx="301">
                  <c:v>99.87228361366654</c:v>
                </c:pt>
                <c:pt idx="302">
                  <c:v>99.88170545255075</c:v>
                </c:pt>
                <c:pt idx="303">
                  <c:v>99.89045731671523</c:v>
                </c:pt>
                <c:pt idx="304">
                  <c:v>99.89858476010588</c:v>
                </c:pt>
                <c:pt idx="305">
                  <c:v>99.90613041096314</c:v>
                </c:pt>
                <c:pt idx="306">
                  <c:v>99.91313414569075</c:v>
                </c:pt>
                <c:pt idx="307">
                  <c:v>99.91963325354541</c:v>
                </c:pt>
                <c:pt idx="308">
                  <c:v>99.92566259253417</c:v>
                </c:pt>
                <c:pt idx="309">
                  <c:v>99.93125473689875</c:v>
                </c:pt>
                <c:pt idx="310">
                  <c:v>99.93644011655908</c:v>
                </c:pt>
                <c:pt idx="311">
                  <c:v>99.94124714887835</c:v>
                </c:pt>
                <c:pt idx="312">
                  <c:v>99.94570236310186</c:v>
                </c:pt>
                <c:pt idx="313">
                  <c:v>99.94983051781377</c:v>
                </c:pt>
                <c:pt idx="314">
                  <c:v>99.95365471174274</c:v>
                </c:pt>
                <c:pt idx="315">
                  <c:v>99.95719648824021</c:v>
                </c:pt>
                <c:pt idx="316">
                  <c:v>99.96047593374018</c:v>
                </c:pt>
                <c:pt idx="317">
                  <c:v>99.963511770503</c:v>
                </c:pt>
                <c:pt idx="318">
                  <c:v>99.96632144393011</c:v>
                </c:pt>
                <c:pt idx="319">
                  <c:v>99.96892120472978</c:v>
                </c:pt>
                <c:pt idx="320">
                  <c:v>99.97132618620016</c:v>
                </c:pt>
                <c:pt idx="321">
                  <c:v>99.97355047688676</c:v>
                </c:pt>
                <c:pt idx="322">
                  <c:v>99.9756071888596</c:v>
                </c:pt>
                <c:pt idx="323">
                  <c:v>99.9775085218467</c:v>
                </c:pt>
                <c:pt idx="324">
                  <c:v>99.97926582344829</c:v>
                </c:pt>
                <c:pt idx="325">
                  <c:v>99.98088964564677</c:v>
                </c:pt>
                <c:pt idx="326">
                  <c:v>99.98238979781894</c:v>
                </c:pt>
                <c:pt idx="327">
                  <c:v>99.9837753964457</c:v>
                </c:pt>
                <c:pt idx="328">
                  <c:v>99.98505491170566</c:v>
                </c:pt>
                <c:pt idx="329">
                  <c:v>99.98623621113134</c:v>
                </c:pt>
                <c:pt idx="330">
                  <c:v>99.98732660049596</c:v>
                </c:pt>
                <c:pt idx="331">
                  <c:v>99.98833286209276</c:v>
                </c:pt>
                <c:pt idx="332">
                  <c:v>99.989261290558</c:v>
                </c:pt>
                <c:pt idx="333">
                  <c:v>99.99011772638389</c:v>
                </c:pt>
                <c:pt idx="334">
                  <c:v>99.99090758725767</c:v>
                </c:pt>
                <c:pt idx="335">
                  <c:v>99.99163589735781</c:v>
                </c:pt>
                <c:pt idx="336">
                  <c:v>99.99230731473044</c:v>
                </c:pt>
                <c:pt idx="337">
                  <c:v>99.99292615686198</c:v>
                </c:pt>
                <c:pt idx="338">
                  <c:v>99.9934964245594</c:v>
                </c:pt>
                <c:pt idx="339">
                  <c:v>99.99402182424137</c:v>
                </c:pt>
                <c:pt idx="340">
                  <c:v>99.99450578873997</c:v>
                </c:pt>
                <c:pt idx="341">
                  <c:v>99.99495149670446</c:v>
                </c:pt>
                <c:pt idx="342">
                  <c:v>99.99536189069647</c:v>
                </c:pt>
                <c:pt idx="343">
                  <c:v>99.99573969405783</c:v>
                </c:pt>
                <c:pt idx="344">
                  <c:v>99.99608742663055</c:v>
                </c:pt>
                <c:pt idx="345">
                  <c:v>99.99640741940104</c:v>
                </c:pt>
                <c:pt idx="346">
                  <c:v>99.99670182813843</c:v>
                </c:pt>
                <c:pt idx="347">
                  <c:v>99.99697264609233</c:v>
                </c:pt>
                <c:pt idx="348">
                  <c:v>99.99722171581043</c:v>
                </c:pt>
                <c:pt idx="349">
                  <c:v>99.99745074013404</c:v>
                </c:pt>
                <c:pt idx="350">
                  <c:v>99.99766129242562</c:v>
                </c:pt>
                <c:pt idx="351">
                  <c:v>99.99785482607881</c:v>
                </c:pt>
                <c:pt idx="352">
                  <c:v>99.9980326833589</c:v>
                </c:pt>
                <c:pt idx="353">
                  <c:v>99.9981961036181</c:v>
                </c:pt>
                <c:pt idx="354">
                  <c:v>99.99834623092785</c:v>
                </c:pt>
                <c:pt idx="355">
                  <c:v>99.9984841211675</c:v>
                </c:pt>
                <c:pt idx="356">
                  <c:v>99.99861074860598</c:v>
                </c:pt>
                <c:pt idx="357">
                  <c:v>99.99872701201105</c:v>
                </c:pt>
                <c:pt idx="358">
                  <c:v>99.99883374031828</c:v>
                </c:pt>
                <c:pt idx="359">
                  <c:v>99.99893169789054</c:v>
                </c:pt>
                <c:pt idx="360">
                  <c:v>99.99902158939571</c:v>
                </c:pt>
                <c:pt idx="361">
                  <c:v>99.99910406432896</c:v>
                </c:pt>
                <c:pt idx="362">
                  <c:v>99.99917972120494</c:v>
                </c:pt>
                <c:pt idx="363">
                  <c:v>99.99924911144254</c:v>
                </c:pt>
                <c:pt idx="364">
                  <c:v>99.99931274296384</c:v>
                </c:pt>
                <c:pt idx="365">
                  <c:v>99.9993710835273</c:v>
                </c:pt>
                <c:pt idx="366">
                  <c:v>99.99942456381416</c:v>
                </c:pt>
                <c:pt idx="367">
                  <c:v>99.99947358028584</c:v>
                </c:pt>
                <c:pt idx="368">
                  <c:v>99.99951849782792</c:v>
                </c:pt>
                <c:pt idx="369">
                  <c:v>99.9995596521965</c:v>
                </c:pt>
                <c:pt idx="370">
                  <c:v>99.99959735228137</c:v>
                </c:pt>
                <c:pt idx="371">
                  <c:v>99.99963188219864</c:v>
                </c:pt>
                <c:pt idx="372">
                  <c:v>99.99966350322525</c:v>
                </c:pt>
                <c:pt idx="373">
                  <c:v>99.99969245558768</c:v>
                </c:pt>
                <c:pt idx="374">
                  <c:v>99.99971896011407</c:v>
                </c:pt>
                <c:pt idx="375">
                  <c:v>99.99974321976094</c:v>
                </c:pt>
                <c:pt idx="376">
                  <c:v>99.99976542102343</c:v>
                </c:pt>
                <c:pt idx="377">
                  <c:v>99.99978573523711</c:v>
                </c:pt>
                <c:pt idx="378">
                  <c:v>99.99980431978011</c:v>
                </c:pt>
                <c:pt idx="379">
                  <c:v>99.99982131918253</c:v>
                </c:pt>
                <c:pt idx="380">
                  <c:v>99.99983686615002</c:v>
                </c:pt>
                <c:pt idx="381">
                  <c:v>99.99985108250834</c:v>
                </c:pt>
                <c:pt idx="382">
                  <c:v>99.99986408007452</c:v>
                </c:pt>
                <c:pt idx="383">
                  <c:v>99.99987596145958</c:v>
                </c:pt>
                <c:pt idx="384">
                  <c:v>99.99988682080946</c:v>
                </c:pt>
                <c:pt idx="385">
                  <c:v>99.99989674448744</c:v>
                </c:pt>
                <c:pt idx="386">
                  <c:v>99.99990581170263</c:v>
                </c:pt>
                <c:pt idx="387">
                  <c:v>99.99991409508992</c:v>
                </c:pt>
                <c:pt idx="388">
                  <c:v>99.9999216612433</c:v>
                </c:pt>
                <c:pt idx="389">
                  <c:v>99.99992857120726</c:v>
                </c:pt>
                <c:pt idx="390">
                  <c:v>99.99993488092954</c:v>
                </c:pt>
                <c:pt idx="391">
                  <c:v>99.9999406416773</c:v>
                </c:pt>
                <c:pt idx="392">
                  <c:v>99.99994590042051</c:v>
                </c:pt>
                <c:pt idx="393">
                  <c:v>99.99995070018464</c:v>
                </c:pt>
                <c:pt idx="394">
                  <c:v>99.99995508037499</c:v>
                </c:pt>
                <c:pt idx="395">
                  <c:v>99.99995907707515</c:v>
                </c:pt>
                <c:pt idx="396">
                  <c:v>99.99996272332105</c:v>
                </c:pt>
                <c:pt idx="397">
                  <c:v>99.99996604935352</c:v>
                </c:pt>
                <c:pt idx="398">
                  <c:v>99.99996908284982</c:v>
                </c:pt>
                <c:pt idx="399">
                  <c:v>99.99997184913686</c:v>
                </c:pt>
                <c:pt idx="400">
                  <c:v>99.99997437138671</c:v>
                </c:pt>
              </c:numCache>
            </c:numRef>
          </c:yVal>
          <c:smooth val="0"/>
        </c:ser>
        <c:ser>
          <c:idx val="2"/>
          <c:order val="2"/>
          <c:tx>
            <c:strRef>
              <c:f>Sheet1!$B$807</c:f>
              <c:strCache>
                <c:ptCount val="1"/>
                <c:pt idx="0">
                  <c:v>2 per maand, één centrum</c:v>
                </c:pt>
              </c:strCache>
            </c:strRef>
          </c:tx>
          <c:spPr>
            <a:ln w="12700">
              <a:solidFill>
                <a:srgbClr val="FF9A3D"/>
              </a:solidFill>
            </a:ln>
          </c:spPr>
          <c:marker>
            <c:symbol val="none"/>
          </c:marker>
          <c:xVal>
            <c:numRef>
              <c:f>Sheet1!$A$808:$A$1208</c:f>
              <c:numCache>
                <c:formatCode>General</c:formatCode>
                <c:ptCount val="40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11.0</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12.0</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13.0</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14.0</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15.0</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16.0</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17.0</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18.0</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19.0</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pt idx="400">
                  <c:v>20.0</c:v>
                </c:pt>
              </c:numCache>
            </c:numRef>
          </c:xVal>
          <c:yVal>
            <c:numRef>
              <c:f>Sheet1!$B$808:$B$1208</c:f>
              <c:numCache>
                <c:formatCode>General</c:formatCode>
                <c:ptCount val="401"/>
                <c:pt idx="0">
                  <c:v>0.0</c:v>
                </c:pt>
                <c:pt idx="1">
                  <c:v>0.0</c:v>
                </c:pt>
                <c:pt idx="2">
                  <c:v>0.0</c:v>
                </c:pt>
                <c:pt idx="3">
                  <c:v>0.0</c:v>
                </c:pt>
                <c:pt idx="4">
                  <c:v>0.0</c:v>
                </c:pt>
                <c:pt idx="5">
                  <c:v>0.0</c:v>
                </c:pt>
                <c:pt idx="6">
                  <c:v>0.0</c:v>
                </c:pt>
                <c:pt idx="7">
                  <c:v>0.0</c:v>
                </c:pt>
                <c:pt idx="8">
                  <c:v>0.0</c:v>
                </c:pt>
                <c:pt idx="9">
                  <c:v>0.0</c:v>
                </c:pt>
                <c:pt idx="10">
                  <c:v>0.0</c:v>
                </c:pt>
                <c:pt idx="11">
                  <c:v>-2.220446049250313e-14</c:v>
                </c:pt>
                <c:pt idx="12">
                  <c:v>0.0</c:v>
                </c:pt>
                <c:pt idx="13">
                  <c:v>0.0</c:v>
                </c:pt>
                <c:pt idx="14">
                  <c:v>0.0</c:v>
                </c:pt>
                <c:pt idx="15">
                  <c:v>0.0</c:v>
                </c:pt>
                <c:pt idx="16">
                  <c:v>-2.220446049250313e-14</c:v>
                </c:pt>
                <c:pt idx="17">
                  <c:v>0.0</c:v>
                </c:pt>
                <c:pt idx="18">
                  <c:v>-2.220446049250313e-14</c:v>
                </c:pt>
                <c:pt idx="19">
                  <c:v>0.0</c:v>
                </c:pt>
                <c:pt idx="20">
                  <c:v>0.0</c:v>
                </c:pt>
                <c:pt idx="21">
                  <c:v>0.0</c:v>
                </c:pt>
                <c:pt idx="22">
                  <c:v>0.0</c:v>
                </c:pt>
                <c:pt idx="23">
                  <c:v>1.1102230246251565e-14</c:v>
                </c:pt>
                <c:pt idx="24">
                  <c:v>2.220446049250313e-14</c:v>
                </c:pt>
                <c:pt idx="25">
                  <c:v>3.3306690738754696e-14</c:v>
                </c:pt>
                <c:pt idx="26">
                  <c:v>1.3322676295501878e-13</c:v>
                </c:pt>
                <c:pt idx="27">
                  <c:v>2.6645352591003757e-13</c:v>
                </c:pt>
                <c:pt idx="28">
                  <c:v>5.88418203051333e-13</c:v>
                </c:pt>
                <c:pt idx="29">
                  <c:v>1.2545520178264269e-12</c:v>
                </c:pt>
                <c:pt idx="30">
                  <c:v>2.55351295663786e-12</c:v>
                </c:pt>
                <c:pt idx="31">
                  <c:v>5.129230373768223e-12</c:v>
                </c:pt>
                <c:pt idx="32">
                  <c:v>1.0025313912365164e-11</c:v>
                </c:pt>
                <c:pt idx="33">
                  <c:v>1.907363156306019e-11</c:v>
                </c:pt>
                <c:pt idx="34">
                  <c:v>3.539391002504999e-11</c:v>
                </c:pt>
                <c:pt idx="35">
                  <c:v>6.45483666517066e-11</c:v>
                </c:pt>
                <c:pt idx="36">
                  <c:v>1.1541878564003127e-10</c:v>
                </c:pt>
                <c:pt idx="37">
                  <c:v>2.0241586184965854e-10</c:v>
                </c:pt>
                <c:pt idx="38">
                  <c:v>3.4904301671190296e-10</c:v>
                </c:pt>
                <c:pt idx="39">
                  <c:v>5.918265877369322e-10</c:v>
                </c:pt>
                <c:pt idx="40">
                  <c:v>9.878764473114643e-10</c:v>
                </c:pt>
                <c:pt idx="41">
                  <c:v>1.6243117961778353e-09</c:v>
                </c:pt>
                <c:pt idx="42">
                  <c:v>2.6330271296615138e-09</c:v>
                </c:pt>
                <c:pt idx="43">
                  <c:v>4.210609638732876e-09</c:v>
                </c:pt>
                <c:pt idx="44">
                  <c:v>6.6466054882141634e-09</c:v>
                </c:pt>
                <c:pt idx="45">
                  <c:v>1.0362810609620965e-08</c:v>
                </c:pt>
                <c:pt idx="46">
                  <c:v>1.596685006433063e-08</c:v>
                </c:pt>
                <c:pt idx="47">
                  <c:v>2.432427592680142e-08</c:v>
                </c:pt>
                <c:pt idx="48">
                  <c:v>3.665653336426544e-08</c:v>
                </c:pt>
                <c:pt idx="49">
                  <c:v>5.466976871204565e-08</c:v>
                </c:pt>
                <c:pt idx="50">
                  <c:v>8.072538193459877e-08</c:v>
                </c:pt>
                <c:pt idx="51">
                  <c:v>1.1806238209288722e-07</c:v>
                </c:pt>
                <c:pt idx="52">
                  <c:v>1.7108608973970263e-07</c:v>
                </c:pt>
                <c:pt idx="53">
                  <c:v>2.457375414266494e-07</c:v>
                </c:pt>
                <c:pt idx="54">
                  <c:v>3.499666001438584e-07</c:v>
                </c:pt>
                <c:pt idx="55">
                  <c:v>4.943291553871632e-07</c:v>
                </c:pt>
                <c:pt idx="56">
                  <c:v>6.927383111587915e-07</c:v>
                </c:pt>
                <c:pt idx="57">
                  <c:v>9.634021913562663e-07</c:v>
                </c:pt>
                <c:pt idx="58">
                  <c:v>1.3299865764260232e-06</c:v>
                </c:pt>
                <c:pt idx="59">
                  <c:v>1.8230468801228028e-06</c:v>
                </c:pt>
                <c:pt idx="60">
                  <c:v>2.481781780083736e-06</c:v>
                </c:pt>
                <c:pt idx="61">
                  <c:v>3.356167488366424e-06</c:v>
                </c:pt>
                <c:pt idx="62">
                  <c:v>4.5095395306837815e-06</c:v>
                </c:pt>
                <c:pt idx="63">
                  <c:v>6.021699239244782e-06</c:v>
                </c:pt>
                <c:pt idx="64">
                  <c:v>7.992629547093344e-06</c:v>
                </c:pt>
                <c:pt idx="65">
                  <c:v>1.0546919071430239e-05</c:v>
                </c:pt>
                <c:pt idx="66">
                  <c:v>1.3838997758863769e-05</c:v>
                </c:pt>
                <c:pt idx="67">
                  <c:v>1.805930579523718e-05</c:v>
                </c:pt>
                <c:pt idx="68">
                  <c:v>2.3441524765743793e-05</c:v>
                </c:pt>
                <c:pt idx="69">
                  <c:v>3.0271011686178184e-05</c:v>
                </c:pt>
                <c:pt idx="70">
                  <c:v>3.889459530004302e-05</c:v>
                </c:pt>
                <c:pt idx="71">
                  <c:v>4.973189648982412e-05</c:v>
                </c:pt>
                <c:pt idx="72">
                  <c:v>6.32883580542476e-05</c:v>
                </c:pt>
                <c:pt idx="73">
                  <c:v>8.01701723451842e-05</c:v>
                </c:pt>
                <c:pt idx="74">
                  <c:v>0.00010110131254403854</c:v>
                </c:pt>
                <c:pt idx="75">
                  <c:v>0.00012694288609171878</c:v>
                </c:pt>
                <c:pt idx="76">
                  <c:v>0.0001587150306514573</c:v>
                </c:pt>
                <c:pt idx="77">
                  <c:v>0.00019762159850778005</c:v>
                </c:pt>
                <c:pt idx="78">
                  <c:v>0.0002450778650686658</c:v>
                </c:pt>
                <c:pt idx="79">
                  <c:v>0.0003027415217071727</c:v>
                </c:pt>
                <c:pt idx="80">
                  <c:v>0.00037254720772761374</c:v>
                </c:pt>
                <c:pt idx="81">
                  <c:v>0.00045674484251412295</c:v>
                </c:pt>
                <c:pt idx="82">
                  <c:v>0.0005579420298218452</c:v>
                </c:pt>
                <c:pt idx="83">
                  <c:v>0.0006791507839110089</c:v>
                </c:pt>
                <c:pt idx="84">
                  <c:v>0.0008238388552350706</c:v>
                </c:pt>
                <c:pt idx="85">
                  <c:v>0.0009959858953689782</c:v>
                </c:pt>
                <c:pt idx="86">
                  <c:v>0.0012001447203591198</c:v>
                </c:pt>
                <c:pt idx="87">
                  <c:v>0.0014415078980700713</c:v>
                </c:pt>
                <c:pt idx="88">
                  <c:v>0.0017259798886115618</c:v>
                </c:pt>
                <c:pt idx="89">
                  <c:v>0.002060254932889638</c:v>
                </c:pt>
                <c:pt idx="90">
                  <c:v>0.002451900876310198</c:v>
                </c:pt>
                <c:pt idx="91">
                  <c:v>0.0029094490828440733</c:v>
                </c:pt>
                <c:pt idx="92">
                  <c:v>0.0034424905653196447</c:v>
                </c:pt>
                <c:pt idx="93">
                  <c:v>0.004061778433606111</c:v>
                </c:pt>
                <c:pt idx="94">
                  <c:v>0.004779336720217575</c:v>
                </c:pt>
                <c:pt idx="95">
                  <c:v>0.005608575606030897</c:v>
                </c:pt>
                <c:pt idx="96">
                  <c:v>0.006564413031284744</c:v>
                </c:pt>
                <c:pt idx="97">
                  <c:v>0.007663402627766658</c:v>
                </c:pt>
                <c:pt idx="98">
                  <c:v>0.008923867866761359</c:v>
                </c:pt>
                <c:pt idx="99">
                  <c:v>0.010366042258114216</c:v>
                </c:pt>
                <c:pt idx="100">
                  <c:v>0.01201221539470776</c:v>
                </c:pt>
                <c:pt idx="101">
                  <c:v>0.01388688457680809</c:v>
                </c:pt>
                <c:pt idx="102">
                  <c:v>0.01601691169130781</c:v>
                </c:pt>
                <c:pt idx="103">
                  <c:v>0.018431684980058094</c:v>
                </c:pt>
                <c:pt idx="104">
                  <c:v>0.021163285245151542</c:v>
                </c:pt>
                <c:pt idx="105">
                  <c:v>0.02424665601927778</c:v>
                </c:pt>
                <c:pt idx="106">
                  <c:v>0.027719777130452705</c:v>
                </c:pt>
                <c:pt idx="107">
                  <c:v>0.031623841068062486</c:v>
                </c:pt>
                <c:pt idx="108">
                  <c:v>0.036003431479147974</c:v>
                </c:pt>
                <c:pt idx="109">
                  <c:v>0.04090670307194122</c:v>
                </c:pt>
                <c:pt idx="110">
                  <c:v>0.04638556216406409</c:v>
                </c:pt>
                <c:pt idx="111">
                  <c:v>0.0524958470427106</c:v>
                </c:pt>
                <c:pt idx="112">
                  <c:v>0.059297507268851746</c:v>
                </c:pt>
                <c:pt idx="113">
                  <c:v>0.06685478101694509</c:v>
                </c:pt>
                <c:pt idx="114">
                  <c:v>0.07523636948191248</c:v>
                </c:pt>
                <c:pt idx="115">
                  <c:v>0.08451560737743335</c:v>
                </c:pt>
                <c:pt idx="116">
                  <c:v>0.09477062849115869</c:v>
                </c:pt>
                <c:pt idx="117">
                  <c:v>0.10608452525641132</c:v>
                </c:pt>
                <c:pt idx="118">
                  <c:v>0.11854550126630947</c:v>
                </c:pt>
                <c:pt idx="119">
                  <c:v>0.13224701565294206</c:v>
                </c:pt>
                <c:pt idx="120">
                  <c:v>0.1472879182314979</c:v>
                </c:pt>
                <c:pt idx="121">
                  <c:v>0.16377257432348413</c:v>
                </c:pt>
                <c:pt idx="122">
                  <c:v>0.18181097816284408</c:v>
                </c:pt>
                <c:pt idx="123">
                  <c:v>0.20151885380907952</c:v>
                </c:pt>
                <c:pt idx="124">
                  <c:v>0.22301774250795825</c:v>
                </c:pt>
                <c:pt idx="125">
                  <c:v>0.2464350754544653</c:v>
                </c:pt>
                <c:pt idx="126">
                  <c:v>0.2719042309676567</c:v>
                </c:pt>
                <c:pt idx="127">
                  <c:v>0.29956457509583423</c:v>
                </c:pt>
                <c:pt idx="128">
                  <c:v>0.3295614847407591</c:v>
                </c:pt>
                <c:pt idx="129">
                  <c:v>0.36204635242609307</c:v>
                </c:pt>
                <c:pt idx="130">
                  <c:v>0.3971765719003373</c:v>
                </c:pt>
                <c:pt idx="131">
                  <c:v>0.435115503821093</c:v>
                </c:pt>
                <c:pt idx="132">
                  <c:v>0.47603242085230146</c:v>
                </c:pt>
                <c:pt idx="133">
                  <c:v>0.5201024315567904</c:v>
                </c:pt>
                <c:pt idx="134">
                  <c:v>0.567506382581584</c:v>
                </c:pt>
                <c:pt idx="135">
                  <c:v>0.6184307386750465</c:v>
                </c:pt>
                <c:pt idx="136">
                  <c:v>0.6730674402077752</c:v>
                </c:pt>
                <c:pt idx="137">
                  <c:v>0.7316137379317356</c:v>
                </c:pt>
                <c:pt idx="138">
                  <c:v>0.7942720048181973</c:v>
                </c:pt>
                <c:pt idx="139">
                  <c:v>0.8612495249238683</c:v>
                </c:pt>
                <c:pt idx="140">
                  <c:v>0.932758259311417</c:v>
                </c:pt>
                <c:pt idx="141">
                  <c:v>1.0090145891815783</c:v>
                </c:pt>
                <c:pt idx="142">
                  <c:v>1.0902390364586845</c:v>
                </c:pt>
                <c:pt idx="143">
                  <c:v>1.1766559621770312</c:v>
                </c:pt>
                <c:pt idx="144">
                  <c:v>1.2684932431308193</c:v>
                </c:pt>
                <c:pt idx="145">
                  <c:v>1.3659819273371343</c:v>
                </c:pt>
                <c:pt idx="146">
                  <c:v>1.469355868977129</c:v>
                </c:pt>
                <c:pt idx="147">
                  <c:v>1.5788513435706975</c:v>
                </c:pt>
                <c:pt idx="148">
                  <c:v>1.6947066442395964</c:v>
                </c:pt>
                <c:pt idx="149">
                  <c:v>1.8171616600118567</c:v>
                </c:pt>
                <c:pt idx="150">
                  <c:v>1.9464574372022314</c:v>
                </c:pt>
                <c:pt idx="151">
                  <c:v>2.082835724994936</c:v>
                </c:pt>
                <c:pt idx="152">
                  <c:v>2.226538506437925</c:v>
                </c:pt>
                <c:pt idx="153">
                  <c:v>2.3778075161249412</c:v>
                </c:pt>
                <c:pt idx="154">
                  <c:v>2.536883745931684</c:v>
                </c:pt>
                <c:pt idx="155">
                  <c:v>2.7040069402070377</c:v>
                </c:pt>
                <c:pt idx="156">
                  <c:v>2.879415081907999</c:v>
                </c:pt>
                <c:pt idx="157">
                  <c:v>3.0633438712118433</c:v>
                </c:pt>
                <c:pt idx="158">
                  <c:v>3.256026198161155</c:v>
                </c:pt>
                <c:pt idx="159">
                  <c:v>3.457691610981384</c:v>
                </c:pt>
                <c:pt idx="160">
                  <c:v>3.668565781694033</c:v>
                </c:pt>
                <c:pt idx="161">
                  <c:v>3.888869970699016</c:v>
                </c:pt>
                <c:pt idx="162">
                  <c:v>4.118820492024156</c:v>
                </c:pt>
                <c:pt idx="163">
                  <c:v>4.3586281809188225</c:v>
                </c:pt>
                <c:pt idx="164">
                  <c:v>4.608497865501593</c:v>
                </c:pt>
                <c:pt idx="165">
                  <c:v>4.868627844140483</c:v>
                </c:pt>
                <c:pt idx="166">
                  <c:v>5.13920937025778</c:v>
                </c:pt>
                <c:pt idx="167">
                  <c:v>5.4204261462067365</c:v>
                </c:pt>
                <c:pt idx="168">
                  <c:v>5.7124538278527375</c:v>
                </c:pt>
                <c:pt idx="169">
                  <c:v>6.015459541459112</c:v>
                </c:pt>
                <c:pt idx="170">
                  <c:v>6.32960141443204</c:v>
                </c:pt>
                <c:pt idx="171">
                  <c:v>6.655028121430917</c:v>
                </c:pt>
                <c:pt idx="172">
                  <c:v>6.991878447305055</c:v>
                </c:pt>
                <c:pt idx="173">
                  <c:v>7.340280868248961</c:v>
                </c:pt>
                <c:pt idx="174">
                  <c:v>7.700353152515104</c:v>
                </c:pt>
                <c:pt idx="175">
                  <c:v>8.072201981940651</c:v>
                </c:pt>
                <c:pt idx="176">
                  <c:v>8.455922595484655</c:v>
                </c:pt>
                <c:pt idx="177">
                  <c:v>8.851598455882648</c:v>
                </c:pt>
                <c:pt idx="178">
                  <c:v>9.259300940449332</c:v>
                </c:pt>
                <c:pt idx="179">
                  <c:v>9.679089056975975</c:v>
                </c:pt>
                <c:pt idx="180">
                  <c:v>10.111009185571074</c:v>
                </c:pt>
                <c:pt idx="181">
                  <c:v>10.555094847215262</c:v>
                </c:pt>
                <c:pt idx="182">
                  <c:v>11.01136649970007</c:v>
                </c:pt>
                <c:pt idx="183">
                  <c:v>11.479831361520276</c:v>
                </c:pt>
                <c:pt idx="184">
                  <c:v>11.960483264211408</c:v>
                </c:pt>
                <c:pt idx="185">
                  <c:v>12.453302533502097</c:v>
                </c:pt>
                <c:pt idx="186">
                  <c:v>12.958255899581117</c:v>
                </c:pt>
                <c:pt idx="187">
                  <c:v>13.475296436658969</c:v>
                </c:pt>
                <c:pt idx="188">
                  <c:v>14.00436353191451</c:v>
                </c:pt>
                <c:pt idx="189">
                  <c:v>14.545382883837144</c:v>
                </c:pt>
                <c:pt idx="190">
                  <c:v>15.09826652984626</c:v>
                </c:pt>
                <c:pt idx="191">
                  <c:v>15.662912903020509</c:v>
                </c:pt>
                <c:pt idx="192">
                  <c:v>16.239206917639525</c:v>
                </c:pt>
                <c:pt idx="193">
                  <c:v>16.827020083172663</c:v>
                </c:pt>
                <c:pt idx="194">
                  <c:v>17.426210646267272</c:v>
                </c:pt>
                <c:pt idx="195">
                  <c:v>18.03662376019588</c:v>
                </c:pt>
                <c:pt idx="196">
                  <c:v>18.65809168113706</c:v>
                </c:pt>
                <c:pt idx="197">
                  <c:v>19.290433990621313</c:v>
                </c:pt>
                <c:pt idx="198">
                  <c:v>19.933457843348844</c:v>
                </c:pt>
                <c:pt idx="199">
                  <c:v>20.58695823957678</c:v>
                </c:pt>
                <c:pt idx="200">
                  <c:v>21.25071832115748</c:v>
                </c:pt>
                <c:pt idx="201">
                  <c:v>21.92450969029033</c:v>
                </c:pt>
                <c:pt idx="202">
                  <c:v>22.608092749970798</c:v>
                </c:pt>
                <c:pt idx="203">
                  <c:v>23.30121706507182</c:v>
                </c:pt>
                <c:pt idx="204">
                  <c:v>24.00362174296662</c:v>
                </c:pt>
                <c:pt idx="205">
                  <c:v>24.715035832530962</c:v>
                </c:pt>
                <c:pt idx="206">
                  <c:v>25.4351787403567</c:v>
                </c:pt>
                <c:pt idx="207">
                  <c:v>26.16376066295054</c:v>
                </c:pt>
                <c:pt idx="208">
                  <c:v>26.900483033686086</c:v>
                </c:pt>
                <c:pt idx="209">
                  <c:v>27.645038983248106</c:v>
                </c:pt>
                <c:pt idx="210">
                  <c:v>28.39711381227733</c:v>
                </c:pt>
                <c:pt idx="211">
                  <c:v>29.156385474943935</c:v>
                </c:pt>
                <c:pt idx="212">
                  <c:v>29.9225250721316</c:v>
                </c:pt>
                <c:pt idx="213">
                  <c:v>30.695197352942728</c:v>
                </c:pt>
                <c:pt idx="214">
                  <c:v>31.474061223215777</c:v>
                </c:pt>
                <c:pt idx="215">
                  <c:v>32.258770259758364</c:v>
                </c:pt>
                <c:pt idx="216">
                  <c:v>33.04897322901762</c:v>
                </c:pt>
                <c:pt idx="217">
                  <c:v>33.84431460890261</c:v>
                </c:pt>
                <c:pt idx="218">
                  <c:v>34.64443511250674</c:v>
                </c:pt>
                <c:pt idx="219">
                  <c:v>35.44897221250256</c:v>
                </c:pt>
                <c:pt idx="220">
                  <c:v>36.25756066497896</c:v>
                </c:pt>
                <c:pt idx="221">
                  <c:v>37.06983303156222</c:v>
                </c:pt>
                <c:pt idx="222">
                  <c:v>37.88542019863562</c:v>
                </c:pt>
                <c:pt idx="223">
                  <c:v>38.70395189257165</c:v>
                </c:pt>
                <c:pt idx="224">
                  <c:v>39.52505718986361</c:v>
                </c:pt>
                <c:pt idx="225">
                  <c:v>40.348365021127385</c:v>
                </c:pt>
                <c:pt idx="226">
                  <c:v>41.17350466796195</c:v>
                </c:pt>
                <c:pt idx="227">
                  <c:v>42.00010625170908</c:v>
                </c:pt>
                <c:pt idx="228">
                  <c:v>42.82780121318549</c:v>
                </c:pt>
                <c:pt idx="229">
                  <c:v>43.656222782530165</c:v>
                </c:pt>
                <c:pt idx="230">
                  <c:v>44.48500643832314</c:v>
                </c:pt>
                <c:pt idx="231">
                  <c:v>45.31379035521586</c:v>
                </c:pt>
                <c:pt idx="232">
                  <c:v>46.14221583933231</c:v>
                </c:pt>
                <c:pt idx="233">
                  <c:v>46.96992775077348</c:v>
                </c:pt>
                <c:pt idx="234">
                  <c:v>47.796574912590096</c:v>
                </c:pt>
                <c:pt idx="235">
                  <c:v>48.62181050565499</c:v>
                </c:pt>
                <c:pt idx="236">
                  <c:v>49.44529244890877</c:v>
                </c:pt>
                <c:pt idx="237">
                  <c:v>50.26668376449719</c:v>
                </c:pt>
                <c:pt idx="238">
                  <c:v>51.08565292739149</c:v>
                </c:pt>
                <c:pt idx="239">
                  <c:v>51.901874199111184</c:v>
                </c:pt>
                <c:pt idx="240">
                  <c:v>52.715027945225536</c:v>
                </c:pt>
                <c:pt idx="241">
                  <c:v>53.52480093636947</c:v>
                </c:pt>
                <c:pt idx="242">
                  <c:v>54.33088663254229</c:v>
                </c:pt>
                <c:pt idx="243">
                  <c:v>55.13298545051866</c:v>
                </c:pt>
                <c:pt idx="244">
                  <c:v>55.930805014238146</c:v>
                </c:pt>
                <c:pt idx="245">
                  <c:v>56.724060388092056</c:v>
                </c:pt>
                <c:pt idx="246">
                  <c:v>57.512474293070156</c:v>
                </c:pt>
                <c:pt idx="247">
                  <c:v>58.295777305761334</c:v>
                </c:pt>
                <c:pt idx="248">
                  <c:v>59.07370804026619</c:v>
                </c:pt>
                <c:pt idx="249">
                  <c:v>59.84601331309385</c:v>
                </c:pt>
                <c:pt idx="250">
                  <c:v>60.61244829117175</c:v>
                </c:pt>
                <c:pt idx="251">
                  <c:v>61.37277662312852</c:v>
                </c:pt>
                <c:pt idx="252">
                  <c:v>62.12677055404136</c:v>
                </c:pt>
                <c:pt idx="253">
                  <c:v>62.874211023874494</c:v>
                </c:pt>
                <c:pt idx="254">
                  <c:v>63.61488774987147</c:v>
                </c:pt>
                <c:pt idx="255">
                  <c:v>64.34859929318775</c:v>
                </c:pt>
                <c:pt idx="256">
                  <c:v>65.07515311007582</c:v>
                </c:pt>
                <c:pt idx="257">
                  <c:v>65.79436558797157</c:v>
                </c:pt>
                <c:pt idx="258">
                  <c:v>66.50606206684127</c:v>
                </c:pt>
                <c:pt idx="259">
                  <c:v>67.21007684618112</c:v>
                </c:pt>
                <c:pt idx="260">
                  <c:v>67.90625317807364</c:v>
                </c:pt>
                <c:pt idx="261">
                  <c:v>68.5944432467334</c:v>
                </c:pt>
                <c:pt idx="262">
                  <c:v>69.27450813497731</c:v>
                </c:pt>
                <c:pt idx="263">
                  <c:v>69.94631777808401</c:v>
                </c:pt>
                <c:pt idx="264">
                  <c:v>70.60975090551077</c:v>
                </c:pt>
                <c:pt idx="265">
                  <c:v>71.26469497094672</c:v>
                </c:pt>
                <c:pt idx="266">
                  <c:v>71.91104607120276</c:v>
                </c:pt>
                <c:pt idx="267">
                  <c:v>72.54870885442774</c:v>
                </c:pt>
                <c:pt idx="268">
                  <c:v>73.17759641816363</c:v>
                </c:pt>
                <c:pt idx="269">
                  <c:v>73.79763019775089</c:v>
                </c:pt>
                <c:pt idx="270">
                  <c:v>74.408739845591</c:v>
                </c:pt>
                <c:pt idx="271">
                  <c:v>75.01086310179247</c:v>
                </c:pt>
                <c:pt idx="272">
                  <c:v>75.60394565670691</c:v>
                </c:pt>
                <c:pt idx="273">
                  <c:v>76.18794100587832</c:v>
                </c:pt>
                <c:pt idx="274">
                  <c:v>76.76281029791394</c:v>
                </c:pt>
                <c:pt idx="275">
                  <c:v>77.32852217578674</c:v>
                </c:pt>
                <c:pt idx="276">
                  <c:v>77.88505261208084</c:v>
                </c:pt>
                <c:pt idx="277">
                  <c:v>78.4323847386696</c:v>
                </c:pt>
                <c:pt idx="278">
                  <c:v>78.97050867132911</c:v>
                </c:pt>
                <c:pt idx="279">
                  <c:v>79.49942132976568</c:v>
                </c:pt>
                <c:pt idx="280">
                  <c:v>80.01912625353758</c:v>
                </c:pt>
                <c:pt idx="281">
                  <c:v>80.52963341433906</c:v>
                </c:pt>
                <c:pt idx="282">
                  <c:v>81.03095902510037</c:v>
                </c:pt>
                <c:pt idx="283">
                  <c:v>81.52312534635526</c:v>
                </c:pt>
                <c:pt idx="284">
                  <c:v>82.0061604903076</c:v>
                </c:pt>
                <c:pt idx="285">
                  <c:v>82.48009822302103</c:v>
                </c:pt>
                <c:pt idx="286">
                  <c:v>82.94497776514456</c:v>
                </c:pt>
                <c:pt idx="287">
                  <c:v>83.40084359156728</c:v>
                </c:pt>
                <c:pt idx="288">
                  <c:v>83.84774523039096</c:v>
                </c:pt>
                <c:pt idx="289">
                  <c:v>84.28573706158751</c:v>
                </c:pt>
                <c:pt idx="290">
                  <c:v>84.71487811569915</c:v>
                </c:pt>
                <c:pt idx="291">
                  <c:v>85.13523187292333</c:v>
                </c:pt>
                <c:pt idx="292">
                  <c:v>85.54686606290893</c:v>
                </c:pt>
                <c:pt idx="293">
                  <c:v>85.94985246557751</c:v>
                </c:pt>
                <c:pt idx="294">
                  <c:v>86.3442667132671</c:v>
                </c:pt>
                <c:pt idx="295">
                  <c:v>86.73018809448149</c:v>
                </c:pt>
                <c:pt idx="296">
                  <c:v>87.10769935951554</c:v>
                </c:pt>
                <c:pt idx="297">
                  <c:v>87.47688652820595</c:v>
                </c:pt>
                <c:pt idx="298">
                  <c:v>87.83783870005126</c:v>
                </c:pt>
                <c:pt idx="299">
                  <c:v>88.19064786692219</c:v>
                </c:pt>
                <c:pt idx="300">
                  <c:v>88.53540872857259</c:v>
                </c:pt>
                <c:pt idx="301">
                  <c:v>88.87221851114779</c:v>
                </c:pt>
                <c:pt idx="302">
                  <c:v>89.20117678887001</c:v>
                </c:pt>
                <c:pt idx="303">
                  <c:v>89.52238530907029</c:v>
                </c:pt>
                <c:pt idx="304">
                  <c:v>89.83594782071813</c:v>
                </c:pt>
                <c:pt idx="305">
                  <c:v>90.14196990659184</c:v>
                </c:pt>
                <c:pt idx="306">
                  <c:v>90.4405588192162</c:v>
                </c:pt>
                <c:pt idx="307">
                  <c:v>90.73182332068045</c:v>
                </c:pt>
                <c:pt idx="308">
                  <c:v>91.01587352644086</c:v>
                </c:pt>
                <c:pt idx="309">
                  <c:v>91.29282075319819</c:v>
                </c:pt>
                <c:pt idx="310">
                  <c:v>91.56277737092506</c:v>
                </c:pt>
                <c:pt idx="311">
                  <c:v>91.82585665911505</c:v>
                </c:pt>
                <c:pt idx="312">
                  <c:v>92.08217266730541</c:v>
                </c:pt>
                <c:pt idx="313">
                  <c:v>92.33184007992125</c:v>
                </c:pt>
                <c:pt idx="314">
                  <c:v>92.57497408547619</c:v>
                </c:pt>
                <c:pt idx="315">
                  <c:v>92.81169025015294</c:v>
                </c:pt>
                <c:pt idx="316">
                  <c:v>93.04210439578384</c:v>
                </c:pt>
                <c:pt idx="317">
                  <c:v>93.26633248223438</c:v>
                </c:pt>
                <c:pt idx="318">
                  <c:v>93.48449049419085</c:v>
                </c:pt>
                <c:pt idx="319">
                  <c:v>93.69669433234232</c:v>
                </c:pt>
                <c:pt idx="320">
                  <c:v>93.90305970893854</c:v>
                </c:pt>
                <c:pt idx="321">
                  <c:v>94.10370204770096</c:v>
                </c:pt>
                <c:pt idx="322">
                  <c:v>94.29873638805368</c:v>
                </c:pt>
                <c:pt idx="323">
                  <c:v>94.48827729363745</c:v>
                </c:pt>
                <c:pt idx="324">
                  <c:v>94.67243876506286</c:v>
                </c:pt>
                <c:pt idx="325">
                  <c:v>94.85133415685183</c:v>
                </c:pt>
                <c:pt idx="326">
                  <c:v>95.0250760985133</c:v>
                </c:pt>
                <c:pt idx="327">
                  <c:v>95.19377641969263</c:v>
                </c:pt>
                <c:pt idx="328">
                  <c:v>95.35754607933056</c:v>
                </c:pt>
                <c:pt idx="329">
                  <c:v>95.51649509876187</c:v>
                </c:pt>
                <c:pt idx="330">
                  <c:v>95.67073249868227</c:v>
                </c:pt>
                <c:pt idx="331">
                  <c:v>95.82036623990642</c:v>
                </c:pt>
                <c:pt idx="332">
                  <c:v>95.96550316783818</c:v>
                </c:pt>
                <c:pt idx="333">
                  <c:v>96.10624896057027</c:v>
                </c:pt>
                <c:pt idx="334">
                  <c:v>96.24270808052925</c:v>
                </c:pt>
                <c:pt idx="335">
                  <c:v>96.37498372957806</c:v>
                </c:pt>
                <c:pt idx="336">
                  <c:v>96.50317780748753</c:v>
                </c:pt>
                <c:pt idx="337">
                  <c:v>96.62739087368625</c:v>
                </c:pt>
                <c:pt idx="338">
                  <c:v>96.74772211219607</c:v>
                </c:pt>
                <c:pt idx="339">
                  <c:v>96.8642692996608</c:v>
                </c:pt>
                <c:pt idx="340">
                  <c:v>96.97712877637358</c:v>
                </c:pt>
                <c:pt idx="341">
                  <c:v>97.08639542020818</c:v>
                </c:pt>
                <c:pt idx="342">
                  <c:v>97.19216262335885</c:v>
                </c:pt>
                <c:pt idx="343">
                  <c:v>97.294522271794</c:v>
                </c:pt>
                <c:pt idx="344">
                  <c:v>97.39356472732689</c:v>
                </c:pt>
                <c:pt idx="345">
                  <c:v>97.48937881220984</c:v>
                </c:pt>
                <c:pt idx="346">
                  <c:v>97.58205179615548</c:v>
                </c:pt>
                <c:pt idx="347">
                  <c:v>97.67166938569152</c:v>
                </c:pt>
                <c:pt idx="348">
                  <c:v>97.75831571575499</c:v>
                </c:pt>
                <c:pt idx="349">
                  <c:v>97.84207334343343</c:v>
                </c:pt>
                <c:pt idx="350">
                  <c:v>97.92302324376078</c:v>
                </c:pt>
                <c:pt idx="351">
                  <c:v>98.00124480747718</c:v>
                </c:pt>
                <c:pt idx="352">
                  <c:v>98.07681584066353</c:v>
                </c:pt>
                <c:pt idx="353">
                  <c:v>98.14981256616228</c:v>
                </c:pt>
                <c:pt idx="354">
                  <c:v>98.22030962669757</c:v>
                </c:pt>
                <c:pt idx="355">
                  <c:v>98.28838008960984</c:v>
                </c:pt>
                <c:pt idx="356">
                  <c:v>98.35409545312088</c:v>
                </c:pt>
                <c:pt idx="357">
                  <c:v>98.41752565404761</c:v>
                </c:pt>
                <c:pt idx="358">
                  <c:v>98.4787390768844</c:v>
                </c:pt>
                <c:pt idx="359">
                  <c:v>98.53780256417548</c:v>
                </c:pt>
                <c:pt idx="360">
                  <c:v>98.59478142810087</c:v>
                </c:pt>
                <c:pt idx="361">
                  <c:v>98.64973946320141</c:v>
                </c:pt>
                <c:pt idx="362">
                  <c:v>98.70273896017021</c:v>
                </c:pt>
                <c:pt idx="363">
                  <c:v>98.75384072063987</c:v>
                </c:pt>
                <c:pt idx="364">
                  <c:v>98.80310407289667</c:v>
                </c:pt>
                <c:pt idx="365">
                  <c:v>98.85058688845562</c:v>
                </c:pt>
                <c:pt idx="366">
                  <c:v>98.89634559943123</c:v>
                </c:pt>
                <c:pt idx="367">
                  <c:v>98.94043521664186</c:v>
                </c:pt>
                <c:pt idx="368">
                  <c:v>98.98290934838744</c:v>
                </c:pt>
                <c:pt idx="369">
                  <c:v>99.02382021984161</c:v>
                </c:pt>
                <c:pt idx="370">
                  <c:v>99.06321869300258</c:v>
                </c:pt>
                <c:pt idx="371">
                  <c:v>99.10115428714816</c:v>
                </c:pt>
                <c:pt idx="372">
                  <c:v>99.13767519974283</c:v>
                </c:pt>
                <c:pt idx="373">
                  <c:v>99.17282832774674</c:v>
                </c:pt>
                <c:pt idx="374">
                  <c:v>99.20665928927839</c:v>
                </c:pt>
                <c:pt idx="375">
                  <c:v>99.23921244558491</c:v>
                </c:pt>
                <c:pt idx="376">
                  <c:v>99.27053092327559</c:v>
                </c:pt>
                <c:pt idx="377">
                  <c:v>99.30065663677647</c:v>
                </c:pt>
                <c:pt idx="378">
                  <c:v>99.32963031096557</c:v>
                </c:pt>
                <c:pt idx="379">
                  <c:v>99.35749150395019</c:v>
                </c:pt>
                <c:pt idx="380">
                  <c:v>99.38427862994965</c:v>
                </c:pt>
                <c:pt idx="381">
                  <c:v>99.41002898224858</c:v>
                </c:pt>
                <c:pt idx="382">
                  <c:v>99.43477875618743</c:v>
                </c:pt>
                <c:pt idx="383">
                  <c:v>99.4585630721592</c:v>
                </c:pt>
                <c:pt idx="384">
                  <c:v>99.48141599858212</c:v>
                </c:pt>
                <c:pt idx="385">
                  <c:v>99.50337057482072</c:v>
                </c:pt>
                <c:pt idx="386">
                  <c:v>99.52445883402831</c:v>
                </c:pt>
                <c:pt idx="387">
                  <c:v>99.54471182588618</c:v>
                </c:pt>
                <c:pt idx="388">
                  <c:v>99.56415963921617</c:v>
                </c:pt>
                <c:pt idx="389">
                  <c:v>99.58283142444431</c:v>
                </c:pt>
                <c:pt idx="390">
                  <c:v>99.60075541589532</c:v>
                </c:pt>
                <c:pt idx="391">
                  <c:v>99.61795895389854</c:v>
                </c:pt>
                <c:pt idx="392">
                  <c:v>99.63446850668744</c:v>
                </c:pt>
                <c:pt idx="393">
                  <c:v>99.6503096920766</c:v>
                </c:pt>
                <c:pt idx="394">
                  <c:v>99.66550729890002</c:v>
                </c:pt>
                <c:pt idx="395">
                  <c:v>99.68008530819748</c:v>
                </c:pt>
                <c:pt idx="396">
                  <c:v>99.69406691413535</c:v>
                </c:pt>
                <c:pt idx="397">
                  <c:v>99.7074745446504</c:v>
                </c:pt>
                <c:pt idx="398">
                  <c:v>99.7203298818056</c:v>
                </c:pt>
                <c:pt idx="399">
                  <c:v>99.73265388184814</c:v>
                </c:pt>
                <c:pt idx="400">
                  <c:v>99.74446679496101</c:v>
                </c:pt>
              </c:numCache>
            </c:numRef>
          </c:yVal>
          <c:smooth val="0"/>
        </c:ser>
        <c:ser>
          <c:idx val="3"/>
          <c:order val="3"/>
          <c:tx>
            <c:strRef>
              <c:f>Sheet1!$B$1210</c:f>
              <c:strCache>
                <c:ptCount val="1"/>
                <c:pt idx="0">
                  <c:v>2 per maand, alle zes</c:v>
                </c:pt>
              </c:strCache>
            </c:strRef>
          </c:tx>
          <c:spPr>
            <a:ln w="19050">
              <a:solidFill>
                <a:srgbClr val="FF9A3D"/>
              </a:solidFill>
              <a:prstDash val="dash"/>
            </a:ln>
          </c:spPr>
          <c:marker>
            <c:symbol val="none"/>
          </c:marker>
          <c:xVal>
            <c:numRef>
              <c:f>Sheet1!$A$1211:$A$1611</c:f>
              <c:numCache>
                <c:formatCode>General</c:formatCode>
                <c:ptCount val="40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11.0</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12.0</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13.0</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14.0</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15.0</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16.0</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17.0</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18.0</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19.0</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pt idx="400">
                  <c:v>20.0</c:v>
                </c:pt>
              </c:numCache>
            </c:numRef>
          </c:xVal>
          <c:yVal>
            <c:numRef>
              <c:f>Sheet1!$B$1211:$B$1611</c:f>
              <c:numCache>
                <c:formatCode>General</c:formatCode>
                <c:ptCount val="401"/>
                <c:pt idx="0">
                  <c:v>0.0</c:v>
                </c:pt>
                <c:pt idx="1">
                  <c:v>0.0</c:v>
                </c:pt>
                <c:pt idx="2">
                  <c:v>0.0</c:v>
                </c:pt>
                <c:pt idx="3">
                  <c:v>0.0</c:v>
                </c:pt>
                <c:pt idx="4">
                  <c:v>0.0</c:v>
                </c:pt>
                <c:pt idx="5">
                  <c:v>0.0</c:v>
                </c:pt>
                <c:pt idx="6">
                  <c:v>0.0</c:v>
                </c:pt>
                <c:pt idx="7">
                  <c:v>0.0</c:v>
                </c:pt>
                <c:pt idx="8">
                  <c:v>0.0</c:v>
                </c:pt>
                <c:pt idx="9">
                  <c:v>0.0</c:v>
                </c:pt>
                <c:pt idx="10">
                  <c:v>0.0</c:v>
                </c:pt>
                <c:pt idx="11">
                  <c:v>1.1985091468012028e-92</c:v>
                </c:pt>
                <c:pt idx="12">
                  <c:v>0.0</c:v>
                </c:pt>
                <c:pt idx="13">
                  <c:v>0.0</c:v>
                </c:pt>
                <c:pt idx="14">
                  <c:v>0.0</c:v>
                </c:pt>
                <c:pt idx="15">
                  <c:v>0.0</c:v>
                </c:pt>
                <c:pt idx="16">
                  <c:v>1.1985091468012028e-92</c:v>
                </c:pt>
                <c:pt idx="17">
                  <c:v>0.0</c:v>
                </c:pt>
                <c:pt idx="18">
                  <c:v>1.1985091468012028e-92</c:v>
                </c:pt>
                <c:pt idx="19">
                  <c:v>0.0</c:v>
                </c:pt>
                <c:pt idx="20">
                  <c:v>0.0</c:v>
                </c:pt>
                <c:pt idx="21">
                  <c:v>0.0</c:v>
                </c:pt>
                <c:pt idx="22">
                  <c:v>0.0</c:v>
                </c:pt>
                <c:pt idx="23">
                  <c:v>1.8726705418768793e-94</c:v>
                </c:pt>
                <c:pt idx="24">
                  <c:v>1.1985091468012028e-92</c:v>
                </c:pt>
                <c:pt idx="25">
                  <c:v>1.365176825028245e-91</c:v>
                </c:pt>
                <c:pt idx="26">
                  <c:v>5.591764275315692e-88</c:v>
                </c:pt>
                <c:pt idx="27">
                  <c:v>3.578729136202043e-86</c:v>
                </c:pt>
                <c:pt idx="28">
                  <c:v>4.150654616579927e-84</c:v>
                </c:pt>
                <c:pt idx="29">
                  <c:v>3.8988097167198147e-82</c:v>
                </c:pt>
                <c:pt idx="30">
                  <c:v>2.7722244847085556e-80</c:v>
                </c:pt>
                <c:pt idx="31">
                  <c:v>1.8210137799342793e-78</c:v>
                </c:pt>
                <c:pt idx="32">
                  <c:v>1.0152847915796762e-76</c:v>
                </c:pt>
                <c:pt idx="33">
                  <c:v>4.815044839867513e-75</c:v>
                </c:pt>
                <c:pt idx="34">
                  <c:v>1.965944508912397e-73</c:v>
                </c:pt>
                <c:pt idx="35">
                  <c:v>7.232884723842325e-72</c:v>
                </c:pt>
                <c:pt idx="36">
                  <c:v>2.3640627710216433e-70</c:v>
                </c:pt>
                <c:pt idx="37">
                  <c:v>6.878080459711346e-69</c:v>
                </c:pt>
                <c:pt idx="38">
                  <c:v>1.8083134857131762e-67</c:v>
                </c:pt>
                <c:pt idx="39">
                  <c:v>4.29701462021823e-66</c:v>
                </c:pt>
                <c:pt idx="40">
                  <c:v>9.294280757725854e-65</c:v>
                </c:pt>
                <c:pt idx="41">
                  <c:v>1.836607653124796e-63</c:v>
                </c:pt>
                <c:pt idx="42">
                  <c:v>3.332207239245199e-62</c:v>
                </c:pt>
                <c:pt idx="43">
                  <c:v>5.572754121847788e-61</c:v>
                </c:pt>
                <c:pt idx="44">
                  <c:v>8.621829116689193e-60</c:v>
                </c:pt>
                <c:pt idx="45">
                  <c:v>1.238412612670638e-58</c:v>
                </c:pt>
                <c:pt idx="46">
                  <c:v>1.6569731939279047e-57</c:v>
                </c:pt>
                <c:pt idx="47">
                  <c:v>2.071283414300022e-56</c:v>
                </c:pt>
                <c:pt idx="48">
                  <c:v>2.4260980350628877e-55</c:v>
                </c:pt>
                <c:pt idx="49">
                  <c:v>2.6698288353100773e-54</c:v>
                </c:pt>
                <c:pt idx="50">
                  <c:v>2.7673280857322066e-53</c:v>
                </c:pt>
                <c:pt idx="51">
                  <c:v>2.708128385222427e-52</c:v>
                </c:pt>
                <c:pt idx="52">
                  <c:v>2.5077728853448524e-51</c:v>
                </c:pt>
                <c:pt idx="53">
                  <c:v>2.2020595196985367e-50</c:v>
                </c:pt>
                <c:pt idx="54">
                  <c:v>1.8372133422299007e-49</c:v>
                </c:pt>
                <c:pt idx="55">
                  <c:v>1.4591413155032454e-48</c:v>
                </c:pt>
                <c:pt idx="56">
                  <c:v>1.1051347597904817e-47</c:v>
                </c:pt>
                <c:pt idx="57">
                  <c:v>7.995502786322957e-47</c:v>
                </c:pt>
                <c:pt idx="58">
                  <c:v>5.53456568259737e-46</c:v>
                </c:pt>
                <c:pt idx="59">
                  <c:v>3.6710222838035397e-45</c:v>
                </c:pt>
                <c:pt idx="60">
                  <c:v>2.336584822027721e-44</c:v>
                </c:pt>
                <c:pt idx="61">
                  <c:v>1.4290971596927036e-43</c:v>
                </c:pt>
                <c:pt idx="62">
                  <c:v>8.409945663884266e-43</c:v>
                </c:pt>
                <c:pt idx="63">
                  <c:v>4.7677597424334e-42</c:v>
                </c:pt>
                <c:pt idx="64">
                  <c:v>2.6069824353828554e-41</c:v>
                </c:pt>
                <c:pt idx="65">
                  <c:v>1.3764285796822632e-40</c:v>
                </c:pt>
                <c:pt idx="66">
                  <c:v>7.024700844058088e-40</c:v>
                </c:pt>
                <c:pt idx="67">
                  <c:v>3.469016067552974e-39</c:v>
                </c:pt>
                <c:pt idx="68">
                  <c:v>1.6592626716764856e-38</c:v>
                </c:pt>
                <c:pt idx="69">
                  <c:v>7.694167107892326e-38</c:v>
                </c:pt>
                <c:pt idx="70">
                  <c:v>3.462067586916468e-37</c:v>
                </c:pt>
                <c:pt idx="71">
                  <c:v>1.5128996636285256e-36</c:v>
                </c:pt>
                <c:pt idx="72">
                  <c:v>6.426033291976316e-36</c:v>
                </c:pt>
                <c:pt idx="73">
                  <c:v>2.6550756716752545e-35</c:v>
                </c:pt>
                <c:pt idx="74">
                  <c:v>1.0679250236651868e-34</c:v>
                </c:pt>
                <c:pt idx="75">
                  <c:v>4.184563933530145e-34</c:v>
                </c:pt>
                <c:pt idx="76">
                  <c:v>1.5984841852236738e-33</c:v>
                </c:pt>
                <c:pt idx="77">
                  <c:v>5.956709863093895e-33</c:v>
                </c:pt>
                <c:pt idx="78">
                  <c:v>2.166828457275942e-32</c:v>
                </c:pt>
                <c:pt idx="79">
                  <c:v>7.69895776657549e-32</c:v>
                </c:pt>
                <c:pt idx="80">
                  <c:v>2.673547324976239e-31</c:v>
                </c:pt>
                <c:pt idx="81">
                  <c:v>9.07908145389307e-31</c:v>
                </c:pt>
                <c:pt idx="82">
                  <c:v>3.0167162903644964e-30</c:v>
                </c:pt>
                <c:pt idx="83">
                  <c:v>9.812896944382331e-30</c:v>
                </c:pt>
                <c:pt idx="84">
                  <c:v>3.126465394749341e-29</c:v>
                </c:pt>
                <c:pt idx="85">
                  <c:v>9.761557780536533e-29</c:v>
                </c:pt>
                <c:pt idx="86">
                  <c:v>2.988145314930418e-28</c:v>
                </c:pt>
                <c:pt idx="87">
                  <c:v>8.972266348638936e-28</c:v>
                </c:pt>
                <c:pt idx="88">
                  <c:v>2.6437134811471988e-27</c:v>
                </c:pt>
                <c:pt idx="89">
                  <c:v>7.647610765741103e-27</c:v>
                </c:pt>
                <c:pt idx="90">
                  <c:v>2.1727884956637314e-26</c:v>
                </c:pt>
                <c:pt idx="91">
                  <c:v>6.065471508494247e-26</c:v>
                </c:pt>
                <c:pt idx="92">
                  <c:v>1.6643189268958518e-25</c:v>
                </c:pt>
                <c:pt idx="93">
                  <c:v>4.4905276620661625e-25</c:v>
                </c:pt>
                <c:pt idx="94">
                  <c:v>1.1918065682413987e-24</c:v>
                </c:pt>
                <c:pt idx="95">
                  <c:v>3.112543805628426e-24</c:v>
                </c:pt>
                <c:pt idx="96">
                  <c:v>8.001573403834077e-24</c:v>
                </c:pt>
                <c:pt idx="97">
                  <c:v>2.0254888714890518e-23</c:v>
                </c:pt>
                <c:pt idx="98">
                  <c:v>5.050318723054513e-23</c:v>
                </c:pt>
                <c:pt idx="99">
                  <c:v>1.2407316181160317e-22</c:v>
                </c:pt>
                <c:pt idx="100">
                  <c:v>3.0042679617207547e-22</c:v>
                </c:pt>
                <c:pt idx="101">
                  <c:v>7.17181296232957e-22</c:v>
                </c:pt>
                <c:pt idx="102">
                  <c:v>1.6883896712949263e-21</c:v>
                </c:pt>
                <c:pt idx="103">
                  <c:v>3.920940347857801e-21</c:v>
                </c:pt>
                <c:pt idx="104">
                  <c:v>8.984595166885794e-21</c:v>
                </c:pt>
                <c:pt idx="105">
                  <c:v>2.0319410665707816e-20</c:v>
                </c:pt>
                <c:pt idx="106">
                  <c:v>4.536682697582384e-20</c:v>
                </c:pt>
                <c:pt idx="107">
                  <c:v>1.0002019852920533e-19</c:v>
                </c:pt>
                <c:pt idx="108">
                  <c:v>2.1780275632337306e-19</c:v>
                </c:pt>
                <c:pt idx="109">
                  <c:v>4.685617902397457e-19</c:v>
                </c:pt>
                <c:pt idx="110">
                  <c:v>9.960862521398185e-19</c:v>
                </c:pt>
                <c:pt idx="111">
                  <c:v>2.0929058207139843e-18</c:v>
                </c:pt>
                <c:pt idx="112">
                  <c:v>4.347290098653168e-18</c:v>
                </c:pt>
                <c:pt idx="113">
                  <c:v>8.928835537698481e-18</c:v>
                </c:pt>
                <c:pt idx="114">
                  <c:v>1.8137063915573395e-17</c:v>
                </c:pt>
                <c:pt idx="115">
                  <c:v>3.644361931536831e-17</c:v>
                </c:pt>
                <c:pt idx="116">
                  <c:v>7.245069643381944e-17</c:v>
                </c:pt>
                <c:pt idx="117">
                  <c:v>1.4253194879403707e-16</c:v>
                </c:pt>
                <c:pt idx="118">
                  <c:v>2.775303378771487e-16</c:v>
                </c:pt>
                <c:pt idx="119">
                  <c:v>5.349525745439893e-16</c:v>
                </c:pt>
                <c:pt idx="120">
                  <c:v>1.0209459328037421e-15</c:v>
                </c:pt>
                <c:pt idx="121">
                  <c:v>1.929510091212135e-15</c:v>
                </c:pt>
                <c:pt idx="122">
                  <c:v>3.6117744399887815e-15</c:v>
                </c:pt>
                <c:pt idx="123">
                  <c:v>6.69721291408263e-15</c:v>
                </c:pt>
                <c:pt idx="124">
                  <c:v>1.2303721501876299e-14</c:v>
                </c:pt>
                <c:pt idx="125">
                  <c:v>2.239830374535479e-14</c:v>
                </c:pt>
                <c:pt idx="126">
                  <c:v>4.041064598266316e-14</c:v>
                </c:pt>
                <c:pt idx="127">
                  <c:v>7.226744961403614e-14</c:v>
                </c:pt>
                <c:pt idx="128">
                  <c:v>1.2812052353631298e-13</c:v>
                </c:pt>
                <c:pt idx="129">
                  <c:v>2.252086453326025e-13</c:v>
                </c:pt>
                <c:pt idx="130">
                  <c:v>3.925561070402452e-13</c:v>
                </c:pt>
                <c:pt idx="131">
                  <c:v>6.786210843872063e-13</c:v>
                </c:pt>
                <c:pt idx="132">
                  <c:v>1.1636414739258241e-12</c:v>
                </c:pt>
                <c:pt idx="133">
                  <c:v>1.9793988108826954e-12</c:v>
                </c:pt>
                <c:pt idx="134">
                  <c:v>3.3406001914638485e-12</c:v>
                </c:pt>
                <c:pt idx="135">
                  <c:v>5.594308429468905e-12</c:v>
                </c:pt>
                <c:pt idx="136">
                  <c:v>9.297185405986568e-12</c:v>
                </c:pt>
                <c:pt idx="137">
                  <c:v>1.5335258859075054e-11</c:v>
                </c:pt>
                <c:pt idx="138">
                  <c:v>2.510819732847126e-11</c:v>
                </c:pt>
                <c:pt idx="139">
                  <c:v>4.0810693244124966e-11</c:v>
                </c:pt>
                <c:pt idx="140">
                  <c:v>6.585892229542468e-11</c:v>
                </c:pt>
                <c:pt idx="141">
                  <c:v>1.0553212277919751e-10</c:v>
                </c:pt>
                <c:pt idx="142">
                  <c:v>1.679308044356696e-10</c:v>
                </c:pt>
                <c:pt idx="143">
                  <c:v>2.6539760443196816e-10</c:v>
                </c:pt>
                <c:pt idx="144">
                  <c:v>4.1660928922319294e-10</c:v>
                </c:pt>
                <c:pt idx="145">
                  <c:v>6.496354570360806e-10</c:v>
                </c:pt>
                <c:pt idx="146">
                  <c:v>1.0063798947291304e-09</c:v>
                </c:pt>
                <c:pt idx="147">
                  <c:v>1.548985834487732e-09</c:v>
                </c:pt>
                <c:pt idx="148">
                  <c:v>2.369011630591396e-09</c:v>
                </c:pt>
                <c:pt idx="149">
                  <c:v>3.6004881906052876e-09</c:v>
                </c:pt>
                <c:pt idx="150">
                  <c:v>5.438378986519277e-09</c:v>
                </c:pt>
                <c:pt idx="151">
                  <c:v>8.16450968909753e-09</c:v>
                </c:pt>
                <c:pt idx="152">
                  <c:v>1.2183757940722693e-08</c:v>
                </c:pt>
                <c:pt idx="153">
                  <c:v>1.8074245336253395e-08</c:v>
                </c:pt>
                <c:pt idx="154">
                  <c:v>2.665651653917194e-08</c:v>
                </c:pt>
                <c:pt idx="155">
                  <c:v>3.908830259790567e-08</c:v>
                </c:pt>
                <c:pt idx="156">
                  <c:v>5.6993542319343134e-08</c:v>
                </c:pt>
                <c:pt idx="157">
                  <c:v>8.263699265117718e-08</c:v>
                </c:pt>
                <c:pt idx="158">
                  <c:v>1.1915913543992057e-07</c:v>
                </c:pt>
                <c:pt idx="159">
                  <c:v>1.7089034931797245e-07</c:v>
                </c:pt>
                <c:pt idx="160">
                  <c:v>2.4376865738104044e-07</c:v>
                </c:pt>
                <c:pt idx="161">
                  <c:v>3.4589201251637244e-07</c:v>
                </c:pt>
                <c:pt idx="162">
                  <c:v>4.882443077343681e-07</c:v>
                </c:pt>
                <c:pt idx="163">
                  <c:v>6.856444025474625e-07</c:v>
                </c:pt>
                <c:pt idx="164">
                  <c:v>9.579797833004718e-07</c:v>
                </c:pt>
                <c:pt idx="165">
                  <c:v>1.3318014124956953e-06</c:v>
                </c:pt>
                <c:pt idx="166">
                  <c:v>1.8423742991005288e-06</c:v>
                </c:pt>
                <c:pt idx="167">
                  <c:v>2.5362998088858363e-06</c:v>
                </c:pt>
                <c:pt idx="168">
                  <c:v>3.474851239210593e-06</c:v>
                </c:pt>
                <c:pt idx="169">
                  <c:v>4.738194246857412e-06</c:v>
                </c:pt>
                <c:pt idx="170">
                  <c:v>6.430698905614217e-06</c:v>
                </c:pt>
                <c:pt idx="171">
                  <c:v>8.687591061275583e-06</c:v>
                </c:pt>
                <c:pt idx="172">
                  <c:v>1.1683237824711693e-05</c:v>
                </c:pt>
                <c:pt idx="173">
                  <c:v>1.564141606038366e-05</c:v>
                </c:pt>
                <c:pt idx="174">
                  <c:v>2.0847974112363244e-05</c:v>
                </c:pt>
                <c:pt idx="175">
                  <c:v>2.7666366223878997e-05</c:v>
                </c:pt>
                <c:pt idx="176">
                  <c:v>3.655661652149866e-05</c:v>
                </c:pt>
                <c:pt idx="177">
                  <c:v>4.809835530054157e-05</c:v>
                </c:pt>
                <c:pt idx="178">
                  <c:v>6.301866475852114e-05</c:v>
                </c:pt>
                <c:pt idx="179">
                  <c:v>8.222557417955009e-05</c:v>
                </c:pt>
                <c:pt idx="180">
                  <c:v>0.00010684815554451748</c:v>
                </c:pt>
                <c:pt idx="181">
                  <c:v>0.00013828428903110487</c:v>
                </c:pt>
                <c:pt idx="182">
                  <c:v>0.00017825729296499487</c:v>
                </c:pt>
                <c:pt idx="183">
                  <c:v>0.00022888274323590326</c:v>
                </c:pt>
                <c:pt idx="184">
                  <c:v>0.0002927469413706434</c:v>
                </c:pt>
                <c:pt idx="185">
                  <c:v>0.0003729986263172815</c:v>
                </c:pt>
                <c:pt idx="186">
                  <c:v>0.0004734556600834903</c:v>
                </c:pt>
                <c:pt idx="187">
                  <c:v>0.0005987285487745428</c:v>
                </c:pt>
                <c:pt idx="188">
                  <c:v>0.0007543627849537323</c:v>
                </c:pt>
                <c:pt idx="189">
                  <c:v>0.0009470021108279276</c:v>
                </c:pt>
                <c:pt idx="190">
                  <c:v>0.001184574900343876</c:v>
                </c:pt>
                <c:pt idx="191">
                  <c:v>0.0014765059373544737</c:v>
                </c:pt>
                <c:pt idx="192">
                  <c:v>0.0018339559216775001</c:v>
                </c:pt>
                <c:pt idx="193">
                  <c:v>0.0022700910600678857</c:v>
                </c:pt>
                <c:pt idx="194">
                  <c:v>0.002800385089604775</c:v>
                </c:pt>
                <c:pt idx="195">
                  <c:v>0.0034429560314678084</c:v>
                </c:pt>
                <c:pt idx="196">
                  <c:v>0.004218939878349105</c:v>
                </c:pt>
                <c:pt idx="197">
                  <c:v>0.005152903273891842</c:v>
                </c:pt>
                <c:pt idx="198">
                  <c:v>0.006273297042816341</c:v>
                </c:pt>
                <c:pt idx="199">
                  <c:v>0.007612952171915884</c:v>
                </c:pt>
                <c:pt idx="200">
                  <c:v>0.009209619521213614</c:v>
                </c:pt>
                <c:pt idx="201">
                  <c:v>0.011106554158974559</c:v>
                </c:pt>
                <c:pt idx="202">
                  <c:v>0.013353144762194728</c:v>
                </c:pt>
                <c:pt idx="203">
                  <c:v>0.016005588005361632</c:v>
                </c:pt>
                <c:pt idx="204">
                  <c:v>0.019127607275664</c:v>
                </c:pt>
                <c:pt idx="205">
                  <c:v>0.022791214404502835</c:v>
                </c:pt>
                <c:pt idx="206">
                  <c:v>0.02707751239731724</c:v>
                </c:pt>
                <c:pt idx="207">
                  <c:v>0.03207753638139056</c:v>
                </c:pt>
                <c:pt idx="208">
                  <c:v>0.03789312918188362</c:v>
                </c:pt>
                <c:pt idx="209">
                  <c:v>0.04463784708821438</c:v>
                </c:pt>
                <c:pt idx="210">
                  <c:v>0.052437890496270054</c:v>
                </c:pt>
                <c:pt idx="211">
                  <c:v>0.06143305321904892</c:v>
                </c:pt>
                <c:pt idx="212">
                  <c:v>0.07177768336130276</c:v>
                </c:pt>
                <c:pt idx="213">
                  <c:v>0.08364164776810605</c:v>
                </c:pt>
                <c:pt idx="214">
                  <c:v>0.09721129119725704</c:v>
                </c:pt>
                <c:pt idx="215">
                  <c:v>0.11269038054784164</c:v>
                </c:pt>
                <c:pt idx="216">
                  <c:v>0.13030102371866487</c:v>
                </c:pt>
                <c:pt idx="217">
                  <c:v>0.1502845519866778</c:v>
                </c:pt>
                <c:pt idx="218">
                  <c:v>0.17290235420477115</c:v>
                </c:pt>
                <c:pt idx="219">
                  <c:v>0.19843665063592505</c:v>
                </c:pt>
                <c:pt idx="220">
                  <c:v>0.22719119388112885</c:v>
                </c:pt>
                <c:pt idx="221">
                  <c:v>0.25949188413879104</c:v>
                </c:pt>
                <c:pt idx="222">
                  <c:v>0.295687285961121</c:v>
                </c:pt>
                <c:pt idx="223">
                  <c:v>0.3361490337660576</c:v>
                </c:pt>
                <c:pt idx="224">
                  <c:v>0.38127211362176006</c:v>
                </c:pt>
                <c:pt idx="225">
                  <c:v>0.4314750092591402</c:v>
                </c:pt>
                <c:pt idx="226">
                  <c:v>0.48719970088341674</c:v>
                </c:pt>
                <c:pt idx="227">
                  <c:v>0.5489115061527511</c:v>
                </c:pt>
                <c:pt idx="228">
                  <c:v>0.6170987536658364</c:v>
                </c:pt>
                <c:pt idx="229">
                  <c:v>0.6922722804493693</c:v>
                </c:pt>
                <c:pt idx="230">
                  <c:v>0.7749647462455055</c:v>
                </c:pt>
                <c:pt idx="231">
                  <c:v>0.8657297588668702</c:v>
                </c:pt>
                <c:pt idx="232">
                  <c:v>0.9651408064877168</c:v>
                </c:pt>
                <c:pt idx="233">
                  <c:v>1.0737899944673894</c:v>
                </c:pt>
                <c:pt idx="234">
                  <c:v>1.1922865861284513</c:v>
                </c:pt>
                <c:pt idx="235">
                  <c:v>1.321255348822588</c:v>
                </c:pt>
                <c:pt idx="236">
                  <c:v>1.4613347085833297</c:v>
                </c:pt>
                <c:pt idx="237">
                  <c:v>1.6131747186627965</c:v>
                </c:pt>
                <c:pt idx="238">
                  <c:v>1.7774348492596996</c:v>
                </c:pt>
                <c:pt idx="239">
                  <c:v>1.9547816077293685</c:v>
                </c:pt>
                <c:pt idx="240">
                  <c:v>2.14588600050768</c:v>
                </c:pt>
                <c:pt idx="241">
                  <c:v>2.3514208498508977</c:v>
                </c:pt>
                <c:pt idx="242">
                  <c:v>2.572057980259374</c:v>
                </c:pt>
                <c:pt idx="243">
                  <c:v>2.8084652911023795</c:v>
                </c:pt>
                <c:pt idx="244">
                  <c:v>3.0613037334591007</c:v>
                </c:pt>
                <c:pt idx="245">
                  <c:v>3.331224210525996</c:v>
                </c:pt>
                <c:pt idx="246">
                  <c:v>3.6188644220883734</c:v>
                </c:pt>
                <c:pt idx="247">
                  <c:v>3.9248456744954847</c:v>
                </c:pt>
                <c:pt idx="248">
                  <c:v>4.249769678316714</c:v>
                </c:pt>
                <c:pt idx="249">
                  <c:v>4.59421535635226</c:v>
                </c:pt>
                <c:pt idx="250">
                  <c:v>4.958735684950608</c:v>
                </c:pt>
                <c:pt idx="251">
                  <c:v>5.343854591619584</c:v>
                </c:pt>
                <c:pt idx="252">
                  <c:v>5.750063931715628</c:v>
                </c:pt>
                <c:pt idx="253">
                  <c:v>6.177820566561733</c:v>
                </c:pt>
                <c:pt idx="254">
                  <c:v>6.627543564684565</c:v>
                </c:pt>
                <c:pt idx="255">
                  <c:v>7.099611546977017</c:v>
                </c:pt>
                <c:pt idx="256">
                  <c:v>7.594360195501462</c:v>
                </c:pt>
                <c:pt idx="257">
                  <c:v>8.112079944373932</c:v>
                </c:pt>
                <c:pt idx="258">
                  <c:v>8.653013869703061</c:v>
                </c:pt>
                <c:pt idx="259">
                  <c:v>9.217355793948974</c:v>
                </c:pt>
                <c:pt idx="260">
                  <c:v>9.805248618308855</c:v>
                </c:pt>
                <c:pt idx="261">
                  <c:v>10.41678289487644</c:v>
                </c:pt>
                <c:pt idx="262">
                  <c:v>11.051995648350793</c:v>
                </c:pt>
                <c:pt idx="263">
                  <c:v>11.71086945505293</c:v>
                </c:pt>
                <c:pt idx="264">
                  <c:v>12.393331784926552</c:v>
                </c:pt>
                <c:pt idx="265">
                  <c:v>13.099254610101777</c:v>
                </c:pt>
                <c:pt idx="266">
                  <c:v>13.828454281517677</c:v>
                </c:pt>
                <c:pt idx="267">
                  <c:v>14.580691673010621</c:v>
                </c:pt>
                <c:pt idx="268">
                  <c:v>15.355672590266249</c:v>
                </c:pt>
                <c:pt idx="269">
                  <c:v>16.153048440068947</c:v>
                </c:pt>
                <c:pt idx="270">
                  <c:v>16.972417153396993</c:v>
                </c:pt>
                <c:pt idx="271">
                  <c:v>17.813324354160525</c:v>
                </c:pt>
                <c:pt idx="272">
                  <c:v>18.675264763697378</c:v>
                </c:pt>
                <c:pt idx="273">
                  <c:v>19.557683829638222</c:v>
                </c:pt>
                <c:pt idx="274">
                  <c:v>20.459979566350057</c:v>
                </c:pt>
                <c:pt idx="275">
                  <c:v>21.3815045929387</c:v>
                </c:pt>
                <c:pt idx="276">
                  <c:v>22.321568353723322</c:v>
                </c:pt>
                <c:pt idx="277">
                  <c:v>23.27943950515455</c:v>
                </c:pt>
                <c:pt idx="278">
                  <c:v>24.25434845242896</c:v>
                </c:pt>
                <c:pt idx="279">
                  <c:v>25.245490018440698</c:v>
                </c:pt>
                <c:pt idx="280">
                  <c:v>26.252026227307013</c:v>
                </c:pt>
                <c:pt idx="281">
                  <c:v>27.273089184442085</c:v>
                </c:pt>
                <c:pt idx="282">
                  <c:v>28.307784035042115</c:v>
                </c:pt>
                <c:pt idx="283">
                  <c:v>29.35519198291153</c:v>
                </c:pt>
                <c:pt idx="284">
                  <c:v>30.41437335173628</c:v>
                </c:pt>
                <c:pt idx="285">
                  <c:v>31.484370671245625</c:v>
                </c:pt>
                <c:pt idx="286">
                  <c:v>32.56421177116265</c:v>
                </c:pt>
                <c:pt idx="287">
                  <c:v>33.65291286639522</c:v>
                </c:pt>
                <c:pt idx="288">
                  <c:v>34.749481617613505</c:v>
                </c:pt>
                <c:pt idx="289">
                  <c:v>35.85292015210671</c:v>
                </c:pt>
                <c:pt idx="290">
                  <c:v>36.962228030668406</c:v>
                </c:pt>
                <c:pt idx="291">
                  <c:v>38.076405147172835</c:v>
                </c:pt>
                <c:pt idx="292">
                  <c:v>39.19445454847372</c:v>
                </c:pt>
                <c:pt idx="293">
                  <c:v>40.31538516327813</c:v>
                </c:pt>
                <c:pt idx="294">
                  <c:v>41.43821442969821</c:v>
                </c:pt>
                <c:pt idx="295">
                  <c:v>42.561970812254835</c:v>
                </c:pt>
                <c:pt idx="296">
                  <c:v>43.6856962002036</c:v>
                </c:pt>
                <c:pt idx="297">
                  <c:v>44.80844818012182</c:v>
                </c:pt>
                <c:pt idx="298">
                  <c:v>45.9293021768026</c:v>
                </c:pt>
                <c:pt idx="299">
                  <c:v>47.047353457545846</c:v>
                </c:pt>
                <c:pt idx="300">
                  <c:v>48.16171899598515</c:v>
                </c:pt>
                <c:pt idx="301">
                  <c:v>49.27153919260426</c:v>
                </c:pt>
                <c:pt idx="302">
                  <c:v>50.37597945006033</c:v>
                </c:pt>
                <c:pt idx="303">
                  <c:v>51.47423160237129</c:v>
                </c:pt>
                <c:pt idx="304">
                  <c:v>52.56551519789372</c:v>
                </c:pt>
                <c:pt idx="305">
                  <c:v>53.64907863686233</c:v>
                </c:pt>
                <c:pt idx="306">
                  <c:v>54.72420016503023</c:v>
                </c:pt>
                <c:pt idx="307">
                  <c:v>55.79018872565985</c:v>
                </c:pt>
                <c:pt idx="308">
                  <c:v>56.84638467279015</c:v>
                </c:pt>
                <c:pt idx="309">
                  <c:v>57.89216034929472</c:v>
                </c:pt>
                <c:pt idx="310">
                  <c:v>58.92692053377233</c:v>
                </c:pt>
                <c:pt idx="311">
                  <c:v>59.9501027608177</c:v>
                </c:pt>
                <c:pt idx="312">
                  <c:v>60.961177519605805</c:v>
                </c:pt>
                <c:pt idx="313">
                  <c:v>61.95964833610341</c:v>
                </c:pt>
                <c:pt idx="314">
                  <c:v>62.94505174451752</c:v>
                </c:pt>
                <c:pt idx="315">
                  <c:v>63.9169571538237</c:v>
                </c:pt>
                <c:pt idx="316">
                  <c:v>64.87496661543997</c:v>
                </c:pt>
                <c:pt idx="317">
                  <c:v>65.8187144982169</c:v>
                </c:pt>
                <c:pt idx="318">
                  <c:v>66.74786707703949</c:v>
                </c:pt>
                <c:pt idx="319">
                  <c:v>67.66212204137409</c:v>
                </c:pt>
                <c:pt idx="320">
                  <c:v>68.56120793009643</c:v>
                </c:pt>
                <c:pt idx="321">
                  <c:v>69.44488349892045</c:v>
                </c:pt>
                <c:pt idx="322">
                  <c:v>70.3129370266647</c:v>
                </c:pt>
                <c:pt idx="323">
                  <c:v>71.16518556650836</c:v>
                </c:pt>
                <c:pt idx="324">
                  <c:v>72.00147414825618</c:v>
                </c:pt>
                <c:pt idx="325">
                  <c:v>72.82167493747282</c:v>
                </c:pt>
                <c:pt idx="326">
                  <c:v>73.62568635718131</c:v>
                </c:pt>
                <c:pt idx="327">
                  <c:v>74.41343217761585</c:v>
                </c:pt>
                <c:pt idx="328">
                  <c:v>75.18486057931226</c:v>
                </c:pt>
                <c:pt idx="329">
                  <c:v>75.93994319458474</c:v>
                </c:pt>
                <c:pt idx="330">
                  <c:v>76.67867413220986</c:v>
                </c:pt>
                <c:pt idx="331">
                  <c:v>77.40106898988155</c:v>
                </c:pt>
                <c:pt idx="332">
                  <c:v>78.10716385875315</c:v>
                </c:pt>
                <c:pt idx="333">
                  <c:v>78.79701432412021</c:v>
                </c:pt>
                <c:pt idx="334">
                  <c:v>79.47069446604218</c:v>
                </c:pt>
                <c:pt idx="335">
                  <c:v>80.12829586343332</c:v>
                </c:pt>
                <c:pt idx="336">
                  <c:v>80.76992660490001</c:v>
                </c:pt>
                <c:pt idx="337">
                  <c:v>81.39571030933975</c:v>
                </c:pt>
                <c:pt idx="338">
                  <c:v>82.00578515906416</c:v>
                </c:pt>
                <c:pt idx="339">
                  <c:v>82.60030294796492</c:v>
                </c:pt>
                <c:pt idx="340">
                  <c:v>83.17942814699497</c:v>
                </c:pt>
                <c:pt idx="341">
                  <c:v>83.74333698900544</c:v>
                </c:pt>
                <c:pt idx="342">
                  <c:v>84.29221657475222</c:v>
                </c:pt>
                <c:pt idx="343">
                  <c:v>84.8262640016719</c:v>
                </c:pt>
                <c:pt idx="344">
                  <c:v>85.3456855168103</c:v>
                </c:pt>
                <c:pt idx="345">
                  <c:v>85.85069569510102</c:v>
                </c:pt>
                <c:pt idx="346">
                  <c:v>86.34151664399097</c:v>
                </c:pt>
                <c:pt idx="347">
                  <c:v>86.81837723523905</c:v>
                </c:pt>
                <c:pt idx="348">
                  <c:v>87.2815123645449</c:v>
                </c:pt>
                <c:pt idx="349">
                  <c:v>87.73116223950565</c:v>
                </c:pt>
                <c:pt idx="350">
                  <c:v>88.16757169625417</c:v>
                </c:pt>
                <c:pt idx="351">
                  <c:v>88.59098954499119</c:v>
                </c:pt>
                <c:pt idx="352">
                  <c:v>89.00166794450433</c:v>
                </c:pt>
                <c:pt idx="353">
                  <c:v>89.39986180564317</c:v>
                </c:pt>
                <c:pt idx="354">
                  <c:v>89.78582822361558</c:v>
                </c:pt>
                <c:pt idx="355">
                  <c:v>90.1598259388751</c:v>
                </c:pt>
                <c:pt idx="356">
                  <c:v>90.52211482627531</c:v>
                </c:pt>
                <c:pt idx="357">
                  <c:v>90.87295541209332</c:v>
                </c:pt>
                <c:pt idx="358">
                  <c:v>91.21260841844774</c:v>
                </c:pt>
                <c:pt idx="359">
                  <c:v>91.54133433457861</c:v>
                </c:pt>
                <c:pt idx="360">
                  <c:v>91.85939301439353</c:v>
                </c:pt>
                <c:pt idx="361">
                  <c:v>92.16704329964438</c:v>
                </c:pt>
                <c:pt idx="362">
                  <c:v>92.46454266805016</c:v>
                </c:pt>
                <c:pt idx="363">
                  <c:v>92.7521469056496</c:v>
                </c:pt>
                <c:pt idx="364">
                  <c:v>93.03010980263535</c:v>
                </c:pt>
                <c:pt idx="365">
                  <c:v>93.29868287190244</c:v>
                </c:pt>
                <c:pt idx="366">
                  <c:v>93.55811508951744</c:v>
                </c:pt>
                <c:pt idx="367">
                  <c:v>93.80865265630827</c:v>
                </c:pt>
                <c:pt idx="368">
                  <c:v>94.0505387797616</c:v>
                </c:pt>
                <c:pt idx="369">
                  <c:v>94.28401347540841</c:v>
                </c:pt>
                <c:pt idx="370">
                  <c:v>94.50931338688046</c:v>
                </c:pt>
                <c:pt idx="371">
                  <c:v>94.72667162381805</c:v>
                </c:pt>
                <c:pt idx="372">
                  <c:v>94.93631761681773</c:v>
                </c:pt>
                <c:pt idx="373">
                  <c:v>95.13847698861382</c:v>
                </c:pt>
                <c:pt idx="374">
                  <c:v>95.33337144069932</c:v>
                </c:pt>
                <c:pt idx="375">
                  <c:v>95.52121865460352</c:v>
                </c:pt>
                <c:pt idx="376">
                  <c:v>95.70223220705705</c:v>
                </c:pt>
                <c:pt idx="377">
                  <c:v>95.87662149829339</c:v>
                </c:pt>
                <c:pt idx="378">
                  <c:v>96.04459169275081</c:v>
                </c:pt>
                <c:pt idx="379">
                  <c:v>96.20634367145819</c:v>
                </c:pt>
                <c:pt idx="380">
                  <c:v>96.36207399540986</c:v>
                </c:pt>
                <c:pt idx="381">
                  <c:v>96.51197487925157</c:v>
                </c:pt>
                <c:pt idx="382">
                  <c:v>96.65623417462439</c:v>
                </c:pt>
                <c:pt idx="383">
                  <c:v>96.79503536253411</c:v>
                </c:pt>
                <c:pt idx="384">
                  <c:v>96.92855755413441</c:v>
                </c:pt>
                <c:pt idx="385">
                  <c:v>97.05697549933795</c:v>
                </c:pt>
                <c:pt idx="386">
                  <c:v>97.18045960268896</c:v>
                </c:pt>
                <c:pt idx="387">
                  <c:v>97.29917594595565</c:v>
                </c:pt>
                <c:pt idx="388">
                  <c:v>97.4132863169232</c:v>
                </c:pt>
                <c:pt idx="389">
                  <c:v>97.52294824388989</c:v>
                </c:pt>
                <c:pt idx="390">
                  <c:v>97.62831503539225</c:v>
                </c:pt>
                <c:pt idx="391">
                  <c:v>97.72953582470612</c:v>
                </c:pt>
                <c:pt idx="392">
                  <c:v>97.82675561869335</c:v>
                </c:pt>
                <c:pt idx="393">
                  <c:v>97.92011535058482</c:v>
                </c:pt>
                <c:pt idx="394">
                  <c:v>98.00975193631015</c:v>
                </c:pt>
                <c:pt idx="395">
                  <c:v>98.09579833400669</c:v>
                </c:pt>
                <c:pt idx="396">
                  <c:v>98.1783836063591</c:v>
                </c:pt>
                <c:pt idx="397">
                  <c:v>98.25763298543978</c:v>
                </c:pt>
                <c:pt idx="398">
                  <c:v>98.3336679397409</c:v>
                </c:pt>
                <c:pt idx="399">
                  <c:v>98.4066062431039</c:v>
                </c:pt>
                <c:pt idx="400">
                  <c:v>98.47656204527306</c:v>
                </c:pt>
              </c:numCache>
            </c:numRef>
          </c:yVal>
          <c:smooth val="0"/>
        </c:ser>
        <c:ser>
          <c:idx val="4"/>
          <c:order val="4"/>
          <c:tx>
            <c:strRef>
              <c:f>Sheet1!$B$1613</c:f>
              <c:strCache>
                <c:ptCount val="1"/>
                <c:pt idx="0">
                  <c:v>grens</c:v>
                </c:pt>
              </c:strCache>
            </c:strRef>
          </c:tx>
          <c:spPr>
            <a:ln w="9525">
              <a:solidFill>
                <a:srgbClr val="F2F8FC"/>
              </a:solidFill>
              <a:prstDash val="dash"/>
            </a:ln>
          </c:spPr>
          <c:marker>
            <c:symbol val="none"/>
          </c:marker>
          <c:xVal>
            <c:numRef>
              <c:f>Sheet1!$A$1614:$A$1616</c:f>
              <c:numCache>
                <c:formatCode>General</c:formatCode>
                <c:ptCount val="3"/>
                <c:pt idx="0">
                  <c:v>13.17</c:v>
                </c:pt>
                <c:pt idx="1">
                  <c:v>13.17</c:v>
                </c:pt>
                <c:pt idx="2">
                  <c:v>13.17</c:v>
                </c:pt>
              </c:numCache>
            </c:numRef>
          </c:xVal>
          <c:yVal>
            <c:numRef>
              <c:f>Sheet1!$B$1614:$B$1616</c:f>
              <c:numCache>
                <c:formatCode>General</c:formatCode>
                <c:ptCount val="3"/>
                <c:pt idx="0">
                  <c:v>0</c:v>
                </c:pt>
                <c:pt idx="1">
                  <c:v>5</c:v>
                </c:pt>
                <c:pt idx="2">
                  <c:v>100</c:v>
                </c:pt>
              </c:numCache>
            </c:numRef>
          </c:yVal>
          <c:smooth val="0"/>
        </c:ser>
        <c:ser>
          <c:idx val="5"/>
          <c:order val="5"/>
          <c:tx>
            <c:strRef>
              <c:f>Sheet1!$B$1618</c:f>
              <c:strCache>
                <c:ptCount val="1"/>
                <c:pt idx="0">
                  <c:v>punt 3</c:v>
                </c:pt>
              </c:strCache>
            </c:strRef>
          </c:tx>
          <c:spPr>
            <a:ln>
              <a:noFill/>
            </a:ln>
          </c:spPr>
          <c:marker>
            <c:symbol val="circle"/>
            <c:size val="8"/>
            <c:spPr>
              <a:solidFill>
                <a:srgbClr val="52BDEC"/>
              </a:solidFill>
              <a:ln w="19050">
                <a:solidFill>
                  <a:srgbClr val="0A2540"/>
                </a:solidFill>
              </a:ln>
            </c:spPr>
          </c:marker>
          <c:xVal>
            <c:numRef>
              <c:f>Sheet1!$A$1619:$A$1619</c:f>
              <c:numCache>
                <c:formatCode>General</c:formatCode>
                <c:ptCount val="1"/>
                <c:pt idx="0">
                  <c:v>13.17</c:v>
                </c:pt>
              </c:numCache>
            </c:numRef>
          </c:xVal>
          <c:yVal>
            <c:numRef>
              <c:f>Sheet1!$B$1619:$B$1619</c:f>
              <c:numCache>
                <c:formatCode>General</c:formatCode>
                <c:ptCount val="1"/>
                <c:pt idx="0">
                  <c:v>98.10421051574819</c:v>
                </c:pt>
              </c:numCache>
            </c:numRef>
          </c:yVal>
          <c:smooth val="0"/>
        </c:ser>
        <c:ser>
          <c:idx val="6"/>
          <c:order val="6"/>
          <c:tx>
            <c:strRef>
              <c:f>Sheet1!$B$1621</c:f>
              <c:strCache>
                <c:ptCount val="1"/>
                <c:pt idx="0">
                  <c:v>punt 2</c:v>
                </c:pt>
              </c:strCache>
            </c:strRef>
          </c:tx>
          <c:spPr>
            <a:ln>
              <a:noFill/>
            </a:ln>
          </c:spPr>
          <c:marker>
            <c:symbol val="circle"/>
            <c:size val="8"/>
            <c:spPr>
              <a:solidFill>
                <a:srgbClr val="FF9A3D"/>
              </a:solidFill>
              <a:ln w="19050">
                <a:solidFill>
                  <a:srgbClr val="0A2540"/>
                </a:solidFill>
              </a:ln>
            </c:spPr>
          </c:marker>
          <c:xVal>
            <c:numRef>
              <c:f>Sheet1!$A$1622:$A$1622</c:f>
              <c:numCache>
                <c:formatCode>General</c:formatCode>
                <c:ptCount val="1"/>
                <c:pt idx="0">
                  <c:v>13.17</c:v>
                </c:pt>
              </c:numCache>
            </c:numRef>
          </c:xVal>
          <c:yVal>
            <c:numRef>
              <c:f>Sheet1!$B$1622:$B$1622</c:f>
              <c:numCache>
                <c:formatCode>General</c:formatCode>
                <c:ptCount val="1"/>
                <c:pt idx="0">
                  <c:v>11.981029688055258</c:v>
                </c:pt>
              </c:numCache>
            </c:numRef>
          </c:yVal>
          <c:smooth val="0"/>
        </c:ser>
        <c:axId val="-2128940872"/>
        <c:axId val="-2129643912"/>
      </c:scatterChart>
      <c:valAx>
        <c:axId val="-2128940872"/>
        <c:scaling>
          <c:orientation val="minMax"/>
          <c:max val="20.0"/>
          <c:min val="0.0"/>
        </c:scaling>
        <c:delete val="0"/>
        <c:axPos val="b"/>
        <c:numFmt formatCode="0" sourceLinked="0"/>
        <c:majorTickMark val="none"/>
        <c:minorTickMark val="none"/>
        <c:tickLblPos val="low"/>
        <c:spPr>
          <a:ln>
            <a:solidFill>
              <a:srgbClr val="15395A"/>
            </a:solidFill>
          </a:ln>
        </c:spPr>
        <c:txPr>
          <a:bodyPr/>
          <a:lstStyle/>
          <a:p>
            <a:pPr>
              <a:defRPr sz="1200" b="0">
                <a:solidFill>
                  <a:srgbClr val="8FB0CA"/>
                </a:solidFill>
                <a:latin typeface="Segoe UI"/>
              </a:defRPr>
            </a:pPr>
          </a:p>
        </c:txPr>
        <c:crossAx val="-2129643912"/>
        <c:crosses val="autoZero"/>
        <c:crossBetween val="midCat"/>
        <c:majorUnit val="6.0"/>
      </c:valAx>
      <c:valAx>
        <c:axId val="-2129643912"/>
        <c:scaling>
          <c:orientation val="minMax"/>
          <c:max val="100.0"/>
          <c:min val="0.0"/>
        </c:scaling>
        <c:delete val="0"/>
        <c:axPos val="l"/>
        <c:majorGridlines>
          <c:spPr>
            <a:ln w="9525">
              <a:solidFill>
                <a:srgbClr val="15395A"/>
              </a:solidFill>
            </a:ln>
          </c:spPr>
        </c:majorGridlines>
        <c:numFmt formatCode="0&quot;%&quot;" sourceLinked="0"/>
        <c:majorTickMark val="none"/>
        <c:minorTickMark val="none"/>
        <c:tickLblPos val="nextTo"/>
        <c:spPr>
          <a:ln>
            <a:noFill/>
          </a:ln>
        </c:spPr>
        <c:txPr>
          <a:bodyPr/>
          <a:lstStyle/>
          <a:p>
            <a:pPr>
              <a:defRPr sz="1200" b="0">
                <a:solidFill>
                  <a:srgbClr val="8FB0CA"/>
                </a:solidFill>
                <a:latin typeface="Segoe UI"/>
              </a:defRPr>
            </a:pPr>
          </a:p>
        </c:txPr>
        <c:crossAx val="-2128940872"/>
        <c:crosses val="autoZero"/>
        <c:crossBetween val="midCat"/>
        <c:majorUnit val="25.0"/>
      </c:valAx>
      <c:spPr>
        <a:noFill/>
        <a:ln>
          <a:noFill/>
        </a:ln>
      </c:spPr>
    </c:plotArea>
    <c:plotVisOnly val="1"/>
    <c:dispBlanksAs val="gap"/>
    <c:showDLblsOverMax val="0"/>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even snel</c:v>
                </c:pt>
              </c:strCache>
            </c:strRef>
          </c:tx>
          <c:spPr>
            <a:solidFill>
              <a:srgbClr val="8FB0CA"/>
            </a:solidFill>
            <a:ln>
              <a:noFill/>
            </a:ln>
          </c:spPr>
          <c:dLbls>
            <c:dLbl>
              <c:idx val="0"/>
              <c:tx>
                <c:rich>
                  <a:bodyPr/>
                  <a:lstStyle/>
                  <a:p>
                    <a:r>
                      <a:rPr sz="1300" b="1">
                        <a:solidFill>
                          <a:srgbClr val="F2F8FC"/>
                        </a:solidFill>
                        <a:latin typeface="Segoe UI"/>
                      </a:rPr>
                      <a:t>98%</a:t>
                    </a:r>
                  </a:p>
                </c:rich>
              </c:tx>
              <c:dLblPos val="outEnd"/>
              <c:showLegendKey val="0"/>
              <c:showVal val="1"/>
              <c:showCatName val="0"/>
              <c:showSerName val="0"/>
              <c:showPercent val="0"/>
              <c:showBubbleSize val="0"/>
            </c:dLbl>
            <c:dLbl>
              <c:idx val="1"/>
              <c:tx>
                <c:rich>
                  <a:bodyPr/>
                  <a:lstStyle/>
                  <a:p>
                    <a:r>
                      <a:rPr sz="1300" b="1">
                        <a:solidFill>
                          <a:srgbClr val="F2F8FC"/>
                        </a:solidFill>
                        <a:latin typeface="Segoe UI"/>
                      </a:rPr>
                      <a:t>12%</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3 per maand</c:v>
                </c:pt>
                <c:pt idx="1">
                  <c:v>2 per maand</c:v>
                </c:pt>
              </c:strCache>
            </c:strRef>
          </c:cat>
          <c:val>
            <c:numRef>
              <c:f>Sheet1!$B$2:$B$3</c:f>
              <c:numCache>
                <c:formatCode>General</c:formatCode>
                <c:ptCount val="2"/>
                <c:pt idx="0">
                  <c:v>98.1</c:v>
                </c:pt>
                <c:pt idx="1">
                  <c:v>12.0</c:v>
                </c:pt>
              </c:numCache>
            </c:numRef>
          </c:val>
        </c:ser>
        <c:ser>
          <c:idx val="1"/>
          <c:order val="1"/>
          <c:tx>
            <c:strRef>
              <c:f>Sheet1!$C$1</c:f>
              <c:strCache>
                <c:ptCount val="1"/>
                <c:pt idx="0">
                  <c:v>verschillen</c:v>
                </c:pt>
              </c:strCache>
            </c:strRef>
          </c:tx>
          <c:spPr>
            <a:solidFill>
              <a:srgbClr val="FF9A3D"/>
            </a:solidFill>
            <a:ln>
              <a:noFill/>
            </a:ln>
          </c:spPr>
          <c:dLbls>
            <c:dLbl>
              <c:idx val="0"/>
              <c:tx>
                <c:rich>
                  <a:bodyPr/>
                  <a:lstStyle/>
                  <a:p>
                    <a:r>
                      <a:rPr sz="1300" b="1">
                        <a:solidFill>
                          <a:srgbClr val="F2F8FC"/>
                        </a:solidFill>
                        <a:latin typeface="Segoe UI"/>
                      </a:rPr>
                      <a:t>65%</a:t>
                    </a:r>
                  </a:p>
                </c:rich>
              </c:tx>
              <c:dLblPos val="outEnd"/>
              <c:showLegendKey val="0"/>
              <c:showVal val="1"/>
              <c:showCatName val="0"/>
              <c:showSerName val="0"/>
              <c:showPercent val="0"/>
              <c:showBubbleSize val="0"/>
            </c:dLbl>
            <c:dLbl>
              <c:idx val="1"/>
              <c:tx>
                <c:rich>
                  <a:bodyPr/>
                  <a:lstStyle/>
                  <a:p>
                    <a:r>
                      <a:rPr sz="1300" b="1">
                        <a:solidFill>
                          <a:srgbClr val="F2F8FC"/>
                        </a:solidFill>
                        <a:latin typeface="Segoe UI"/>
                      </a:rPr>
                      <a:t>5%</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3 per maand</c:v>
                </c:pt>
                <c:pt idx="1">
                  <c:v>2 per maand</c:v>
                </c:pt>
              </c:strCache>
            </c:strRef>
          </c:cat>
          <c:val>
            <c:numRef>
              <c:f>Sheet1!$C$2:$C$3</c:f>
              <c:numCache>
                <c:formatCode>General</c:formatCode>
                <c:ptCount val="2"/>
                <c:pt idx="0">
                  <c:v>65.1</c:v>
                </c:pt>
                <c:pt idx="1">
                  <c:v>4.9</c:v>
                </c:pt>
              </c:numCache>
            </c:numRef>
          </c:val>
        </c:ser>
        <c:ser>
          <c:idx val="2"/>
          <c:order val="2"/>
          <c:tx>
            <c:strRef>
              <c:f>Sheet1!$D$1</c:f>
              <c:strCache>
                <c:ptCount val="1"/>
                <c:pt idx="0">
                  <c:v>verschillen + bijspringen</c:v>
                </c:pt>
              </c:strCache>
            </c:strRef>
          </c:tx>
          <c:spPr>
            <a:solidFill>
              <a:srgbClr val="52BDEC"/>
            </a:solidFill>
            <a:ln>
              <a:noFill/>
            </a:ln>
          </c:spPr>
          <c:dLbls>
            <c:dLbl>
              <c:idx val="0"/>
              <c:tx>
                <c:rich>
                  <a:bodyPr/>
                  <a:lstStyle/>
                  <a:p>
                    <a:r>
                      <a:rPr sz="1300" b="1">
                        <a:solidFill>
                          <a:srgbClr val="F2F8FC"/>
                        </a:solidFill>
                        <a:latin typeface="Segoe UI"/>
                      </a:rPr>
                      <a:t>&gt; 99%</a:t>
                    </a:r>
                  </a:p>
                </c:rich>
              </c:tx>
              <c:dLblPos val="outEnd"/>
              <c:showLegendKey val="0"/>
              <c:showVal val="1"/>
              <c:showCatName val="0"/>
              <c:showSerName val="0"/>
              <c:showPercent val="0"/>
              <c:showBubbleSize val="0"/>
            </c:dLbl>
            <c:dLbl>
              <c:idx val="1"/>
              <c:tx>
                <c:rich>
                  <a:bodyPr/>
                  <a:lstStyle/>
                  <a:p>
                    <a:r>
                      <a:rPr sz="1300" b="1">
                        <a:solidFill>
                          <a:srgbClr val="F2F8FC"/>
                        </a:solidFill>
                        <a:latin typeface="Segoe UI"/>
                      </a:rPr>
                      <a:t>61%</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3 per maand</c:v>
                </c:pt>
                <c:pt idx="1">
                  <c:v>2 per maand</c:v>
                </c:pt>
              </c:strCache>
            </c:strRef>
          </c:cat>
          <c:val>
            <c:numRef>
              <c:f>Sheet1!$D$2:$D$3</c:f>
              <c:numCache>
                <c:formatCode>General</c:formatCode>
                <c:ptCount val="2"/>
                <c:pt idx="0">
                  <c:v>99.9</c:v>
                </c:pt>
                <c:pt idx="1">
                  <c:v>60.9</c:v>
                </c:pt>
              </c:numCache>
            </c:numRef>
          </c:val>
        </c:ser>
        <c:gapWidth val="60"/>
        <c:overlap val="-1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100.0"/>
          <c:min val="0.0"/>
        </c:scaling>
        <c:delete val="0"/>
        <c:axPos val="l"/>
        <c:majorGridlines>
          <c:spPr>
            <a:ln w="9525">
              <a:solidFill>
                <a:srgbClr val="15395A"/>
              </a:solidFill>
            </a:ln>
          </c:spPr>
        </c:majorGridlines>
        <c:numFmt formatCode="0&quot;%&quot;" sourceLinked="0"/>
        <c:majorTickMark val="none"/>
        <c:minorTickMark val="none"/>
        <c:tickLblPos val="nextTo"/>
        <c:spPr>
          <a:ln>
            <a:noFill/>
          </a:ln>
        </c:spPr>
        <c:txPr>
          <a:bodyPr/>
          <a:lstStyle/>
          <a:p>
            <a:pPr>
              <a:defRPr sz="1200" b="0">
                <a:solidFill>
                  <a:srgbClr val="8FB0CA"/>
                </a:solidFill>
                <a:latin typeface="Segoe UI"/>
              </a:defRPr>
            </a:pPr>
          </a:p>
        </c:txPr>
        <c:crossAx val="-2068027336"/>
        <c:crosses val="autoZero"/>
        <c:majorUnit val="25.0"/>
      </c:valAx>
      <c:spPr>
        <a:noFill/>
        <a:ln>
          <a:noFill/>
        </a:ln>
      </c:spPr>
    </c:plotArea>
    <c:legend>
      <c:legendPos val="b"/>
      <c:overlay val="0"/>
      <c:txPr>
        <a:bodyPr/>
        <a:lstStyle/>
        <a:p>
          <a:pPr>
            <a:defRPr sz="1200" b="0">
              <a:solidFill>
                <a:srgbClr val="C5D8E8"/>
              </a:solidFill>
              <a:latin typeface="Segoe UI"/>
            </a:defRPr>
          </a:pPr>
        </a:p>
      </c:txPr>
    </c:legend>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Visite 1</c:v>
                </c:pt>
              </c:strCache>
            </c:strRef>
          </c:tx>
          <c:spPr>
            <a:solidFill>
              <a:srgbClr val="3987E5"/>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6.0</c:v>
                </c:pt>
                <c:pt idx="1">
                  <c:v>6.1</c:v>
                </c:pt>
                <c:pt idx="2">
                  <c:v>6.0</c:v>
                </c:pt>
                <c:pt idx="3">
                  <c:v>6.0</c:v>
                </c:pt>
                <c:pt idx="4">
                  <c:v>5.9</c:v>
                </c:pt>
                <c:pt idx="5">
                  <c:v>5.7</c:v>
                </c:pt>
                <c:pt idx="6">
                  <c:v>4.9</c:v>
                </c:pt>
                <c:pt idx="7">
                  <c:v>3.6</c:v>
                </c:pt>
                <c:pt idx="8">
                  <c:v>2.1</c:v>
                </c:pt>
                <c:pt idx="9">
                  <c:v>1.0</c:v>
                </c:pt>
                <c:pt idx="10">
                  <c:v>0.5</c:v>
                </c:pt>
                <c:pt idx="11">
                  <c:v>0.2</c:v>
                </c:pt>
                <c:pt idx="12">
                  <c:v>0.1</c:v>
                </c:pt>
                <c:pt idx="13">
                  <c:v>0.0</c:v>
                </c:pt>
                <c:pt idx="14">
                  <c:v>0.0</c:v>
                </c:pt>
                <c:pt idx="15">
                  <c:v>0.0</c:v>
                </c:pt>
                <c:pt idx="16">
                  <c:v>0.0</c:v>
                </c:pt>
                <c:pt idx="17">
                  <c:v>0.0</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1"/>
          <c:order val="1"/>
          <c:tx>
            <c:strRef>
              <c:f>Sheet1!$C$1</c:f>
              <c:strCache>
                <c:ptCount val="1"/>
                <c:pt idx="0">
                  <c:v>Visite 2</c:v>
                </c:pt>
              </c:strCache>
            </c:strRef>
          </c:tx>
          <c:spPr>
            <a:solidFill>
              <a:srgbClr val="D95926"/>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1.3</c:v>
                </c:pt>
                <c:pt idx="1">
                  <c:v>4.5</c:v>
                </c:pt>
                <c:pt idx="2">
                  <c:v>4.5</c:v>
                </c:pt>
                <c:pt idx="3">
                  <c:v>4.5</c:v>
                </c:pt>
                <c:pt idx="4">
                  <c:v>4.5</c:v>
                </c:pt>
                <c:pt idx="5">
                  <c:v>4.4</c:v>
                </c:pt>
                <c:pt idx="6">
                  <c:v>4.1</c:v>
                </c:pt>
                <c:pt idx="7">
                  <c:v>3.4</c:v>
                </c:pt>
                <c:pt idx="8">
                  <c:v>2.4</c:v>
                </c:pt>
                <c:pt idx="9">
                  <c:v>1.3</c:v>
                </c:pt>
                <c:pt idx="10">
                  <c:v>0.6</c:v>
                </c:pt>
                <c:pt idx="11">
                  <c:v>0.3</c:v>
                </c:pt>
                <c:pt idx="12">
                  <c:v>0.1</c:v>
                </c:pt>
                <c:pt idx="13">
                  <c:v>0.0</c:v>
                </c:pt>
                <c:pt idx="14">
                  <c:v>0.0</c:v>
                </c:pt>
                <c:pt idx="15">
                  <c:v>0.0</c:v>
                </c:pt>
                <c:pt idx="16">
                  <c:v>0.0</c:v>
                </c:pt>
                <c:pt idx="17">
                  <c:v>0.0</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2"/>
          <c:order val="2"/>
          <c:tx>
            <c:strRef>
              <c:f>Sheet1!$D$1</c:f>
              <c:strCache>
                <c:ptCount val="1"/>
                <c:pt idx="0">
                  <c:v>Maand 3</c:v>
                </c:pt>
              </c:strCache>
            </c:strRef>
          </c:tx>
          <c:spPr>
            <a:solidFill>
              <a:srgbClr val="199E7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0.0</c:v>
                </c:pt>
                <c:pt idx="1">
                  <c:v>0.0</c:v>
                </c:pt>
                <c:pt idx="2">
                  <c:v>0.1</c:v>
                </c:pt>
                <c:pt idx="3">
                  <c:v>4.5</c:v>
                </c:pt>
                <c:pt idx="4">
                  <c:v>4.6</c:v>
                </c:pt>
                <c:pt idx="5">
                  <c:v>4.5</c:v>
                </c:pt>
                <c:pt idx="6">
                  <c:v>4.5</c:v>
                </c:pt>
                <c:pt idx="7">
                  <c:v>4.4</c:v>
                </c:pt>
                <c:pt idx="8">
                  <c:v>4.2</c:v>
                </c:pt>
                <c:pt idx="9">
                  <c:v>3.6</c:v>
                </c:pt>
                <c:pt idx="10">
                  <c:v>2.7</c:v>
                </c:pt>
                <c:pt idx="11">
                  <c:v>1.6</c:v>
                </c:pt>
                <c:pt idx="12">
                  <c:v>0.8</c:v>
                </c:pt>
                <c:pt idx="13">
                  <c:v>0.3</c:v>
                </c:pt>
                <c:pt idx="14">
                  <c:v>0.1</c:v>
                </c:pt>
                <c:pt idx="15">
                  <c:v>0.0</c:v>
                </c:pt>
                <c:pt idx="16">
                  <c:v>0.0</c:v>
                </c:pt>
                <c:pt idx="17">
                  <c:v>0.0</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3"/>
          <c:order val="3"/>
          <c:tx>
            <c:strRef>
              <c:f>Sheet1!$E$1</c:f>
              <c:strCache>
                <c:ptCount val="1"/>
                <c:pt idx="0">
                  <c:v>Maand 6</c:v>
                </c:pt>
              </c:strCache>
            </c:strRef>
          </c:tx>
          <c:spPr>
            <a:solidFill>
              <a:srgbClr val="C985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0.0</c:v>
                </c:pt>
                <c:pt idx="1">
                  <c:v>0.0</c:v>
                </c:pt>
                <c:pt idx="2">
                  <c:v>0.0</c:v>
                </c:pt>
                <c:pt idx="3">
                  <c:v>0.0</c:v>
                </c:pt>
                <c:pt idx="4">
                  <c:v>0.0</c:v>
                </c:pt>
                <c:pt idx="5">
                  <c:v>0.1</c:v>
                </c:pt>
                <c:pt idx="6">
                  <c:v>4.5</c:v>
                </c:pt>
                <c:pt idx="7">
                  <c:v>4.6</c:v>
                </c:pt>
                <c:pt idx="8">
                  <c:v>4.5</c:v>
                </c:pt>
                <c:pt idx="9">
                  <c:v>4.5</c:v>
                </c:pt>
                <c:pt idx="10">
                  <c:v>4.4</c:v>
                </c:pt>
                <c:pt idx="11">
                  <c:v>4.2</c:v>
                </c:pt>
                <c:pt idx="12">
                  <c:v>3.6</c:v>
                </c:pt>
                <c:pt idx="13">
                  <c:v>2.7</c:v>
                </c:pt>
                <c:pt idx="14">
                  <c:v>1.6</c:v>
                </c:pt>
                <c:pt idx="15">
                  <c:v>0.8</c:v>
                </c:pt>
                <c:pt idx="16">
                  <c:v>0.3</c:v>
                </c:pt>
                <c:pt idx="17">
                  <c:v>0.1</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4"/>
          <c:order val="4"/>
          <c:tx>
            <c:strRef>
              <c:f>Sheet1!$F$1</c:f>
              <c:strCache>
                <c:ptCount val="1"/>
                <c:pt idx="0">
                  <c:v>Maand 9</c:v>
                </c:pt>
              </c:strCache>
            </c:strRef>
          </c:tx>
          <c:spPr>
            <a:solidFill>
              <a:srgbClr val="D55181"/>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0.0</c:v>
                </c:pt>
                <c:pt idx="1">
                  <c:v>0.0</c:v>
                </c:pt>
                <c:pt idx="2">
                  <c:v>0.0</c:v>
                </c:pt>
                <c:pt idx="3">
                  <c:v>0.0</c:v>
                </c:pt>
                <c:pt idx="4">
                  <c:v>0.0</c:v>
                </c:pt>
                <c:pt idx="5">
                  <c:v>0.0</c:v>
                </c:pt>
                <c:pt idx="6">
                  <c:v>0.0</c:v>
                </c:pt>
                <c:pt idx="7">
                  <c:v>0.0</c:v>
                </c:pt>
                <c:pt idx="8">
                  <c:v>0.1</c:v>
                </c:pt>
                <c:pt idx="9">
                  <c:v>4.5</c:v>
                </c:pt>
                <c:pt idx="10">
                  <c:v>4.6</c:v>
                </c:pt>
                <c:pt idx="11">
                  <c:v>4.5</c:v>
                </c:pt>
                <c:pt idx="12">
                  <c:v>4.5</c:v>
                </c:pt>
                <c:pt idx="13">
                  <c:v>4.4</c:v>
                </c:pt>
                <c:pt idx="14">
                  <c:v>4.2</c:v>
                </c:pt>
                <c:pt idx="15">
                  <c:v>3.6</c:v>
                </c:pt>
                <c:pt idx="16">
                  <c:v>2.7</c:v>
                </c:pt>
                <c:pt idx="17">
                  <c:v>1.6</c:v>
                </c:pt>
                <c:pt idx="18">
                  <c:v>0.8</c:v>
                </c:pt>
                <c:pt idx="19">
                  <c:v>0.3</c:v>
                </c:pt>
                <c:pt idx="20">
                  <c:v>0.1</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5"/>
          <c:order val="5"/>
          <c:tx>
            <c:strRef>
              <c:f>Sheet1!$G$1</c:f>
              <c:strCache>
                <c:ptCount val="1"/>
                <c:pt idx="0">
                  <c:v>Maand 12</c:v>
                </c:pt>
              </c:strCache>
            </c:strRef>
          </c:tx>
          <c:spPr>
            <a:solidFill>
              <a:srgbClr val="0083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4.5</c:v>
                </c:pt>
                <c:pt idx="13">
                  <c:v>4.6</c:v>
                </c:pt>
                <c:pt idx="14">
                  <c:v>4.5</c:v>
                </c:pt>
                <c:pt idx="15">
                  <c:v>4.5</c:v>
                </c:pt>
                <c:pt idx="16">
                  <c:v>4.4</c:v>
                </c:pt>
                <c:pt idx="17">
                  <c:v>4.2</c:v>
                </c:pt>
                <c:pt idx="18">
                  <c:v>3.7</c:v>
                </c:pt>
                <c:pt idx="19">
                  <c:v>2.7</c:v>
                </c:pt>
                <c:pt idx="20">
                  <c:v>1.6</c:v>
                </c:pt>
                <c:pt idx="21">
                  <c:v>0.8</c:v>
                </c:pt>
                <c:pt idx="22">
                  <c:v>0.3</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6"/>
          <c:order val="6"/>
          <c:tx>
            <c:strRef>
              <c:f>Sheet1!$H$1</c:f>
              <c:strCache>
                <c:ptCount val="1"/>
                <c:pt idx="0">
                  <c:v>Maand 15</c:v>
                </c:pt>
              </c:strCache>
            </c:strRef>
          </c:tx>
          <c:spPr>
            <a:solidFill>
              <a:srgbClr val="9085E9"/>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0.1</c:v>
                </c:pt>
                <c:pt idx="15">
                  <c:v>4.5</c:v>
                </c:pt>
                <c:pt idx="16">
                  <c:v>4.6</c:v>
                </c:pt>
                <c:pt idx="17">
                  <c:v>4.5</c:v>
                </c:pt>
                <c:pt idx="18">
                  <c:v>4.5</c:v>
                </c:pt>
                <c:pt idx="19">
                  <c:v>4.4</c:v>
                </c:pt>
                <c:pt idx="20">
                  <c:v>4.2</c:v>
                </c:pt>
                <c:pt idx="21">
                  <c:v>3.6</c:v>
                </c:pt>
                <c:pt idx="22">
                  <c:v>2.7</c:v>
                </c:pt>
                <c:pt idx="23">
                  <c:v>1.6</c:v>
                </c:pt>
                <c:pt idx="24">
                  <c:v>0.8</c:v>
                </c:pt>
                <c:pt idx="25">
                  <c:v>0.3</c:v>
                </c:pt>
                <c:pt idx="26">
                  <c:v>0.1</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7"/>
          <c:order val="7"/>
          <c:tx>
            <c:strRef>
              <c:f>Sheet1!$I$1</c:f>
              <c:strCache>
                <c:ptCount val="1"/>
                <c:pt idx="0">
                  <c:v>Maand 18</c:v>
                </c:pt>
              </c:strCache>
            </c:strRef>
          </c:tx>
          <c:spPr>
            <a:solidFill>
              <a:srgbClr val="E66767"/>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0.0</c:v>
                </c:pt>
                <c:pt idx="15">
                  <c:v>0.0</c:v>
                </c:pt>
                <c:pt idx="16">
                  <c:v>0.0</c:v>
                </c:pt>
                <c:pt idx="17">
                  <c:v>0.1</c:v>
                </c:pt>
                <c:pt idx="18">
                  <c:v>4.5</c:v>
                </c:pt>
                <c:pt idx="19">
                  <c:v>4.6</c:v>
                </c:pt>
                <c:pt idx="20">
                  <c:v>4.5</c:v>
                </c:pt>
                <c:pt idx="21">
                  <c:v>4.5</c:v>
                </c:pt>
                <c:pt idx="22">
                  <c:v>4.4</c:v>
                </c:pt>
                <c:pt idx="23">
                  <c:v>4.2</c:v>
                </c:pt>
                <c:pt idx="24">
                  <c:v>3.6</c:v>
                </c:pt>
                <c:pt idx="25">
                  <c:v>2.7</c:v>
                </c:pt>
                <c:pt idx="26">
                  <c:v>1.6</c:v>
                </c:pt>
                <c:pt idx="27">
                  <c:v>0.8</c:v>
                </c:pt>
                <c:pt idx="28">
                  <c:v>0.3</c:v>
                </c:pt>
                <c:pt idx="29">
                  <c:v>0.1</c:v>
                </c:pt>
                <c:pt idx="30">
                  <c:v>0.0</c:v>
                </c:pt>
                <c:pt idx="31">
                  <c:v>0.0</c:v>
                </c:pt>
                <c:pt idx="32">
                  <c:v>0.0</c:v>
                </c:pt>
                <c:pt idx="33">
                  <c:v>0.0</c:v>
                </c:pt>
                <c:pt idx="34">
                  <c:v>0.0</c:v>
                </c:pt>
                <c:pt idx="35">
                  <c:v>0.0</c:v>
                </c:pt>
                <c:pt idx="36">
                  <c:v>0.0</c:v>
                </c:pt>
                <c:pt idx="37">
                  <c:v>0.0</c:v>
                </c:pt>
                <c:pt idx="38">
                  <c:v>0.0</c:v>
                </c:pt>
                <c:pt idx="39">
                  <c:v>0.0</c:v>
                </c:pt>
              </c:numCache>
            </c:numRef>
          </c:val>
        </c:ser>
        <c:gapWidth val="20"/>
        <c:overlap val="10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20.0"/>
          <c:min val="0.0"/>
        </c:scaling>
        <c:delete val="0"/>
        <c:axPos val="l"/>
        <c:majorGridlines>
          <c:spPr>
            <a:ln w="9525">
              <a:solidFill>
                <a:srgbClr val="15395A"/>
              </a:solidFill>
            </a:ln>
          </c:spPr>
        </c:majorGridlines>
        <c:majorTickMark val="none"/>
        <c:minorTickMark val="none"/>
        <c:tickLblPos val="nextTo"/>
        <c:spPr>
          <a:ln>
            <a:noFill/>
          </a:ln>
        </c:spPr>
        <c:txPr>
          <a:bodyPr/>
          <a:lstStyle/>
          <a:p>
            <a:pPr>
              <a:defRPr sz="1200" b="0">
                <a:solidFill>
                  <a:srgbClr val="8FB0CA"/>
                </a:solidFill>
                <a:latin typeface="Segoe UI"/>
              </a:defRPr>
            </a:pPr>
          </a:p>
        </c:txPr>
        <c:crossAx val="-2068027336"/>
        <c:crosses val="autoZero"/>
        <c:majorUnit val="5.0"/>
      </c:valAx>
      <c:spPr>
        <a:noFill/>
        <a:ln>
          <a:noFill/>
        </a:ln>
      </c:spPr>
    </c:plotArea>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Visite 1</c:v>
                </c:pt>
              </c:strCache>
            </c:strRef>
          </c:tx>
          <c:spPr>
            <a:solidFill>
              <a:srgbClr val="3987E5"/>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4.0</c:v>
                </c:pt>
                <c:pt idx="1">
                  <c:v>4.1</c:v>
                </c:pt>
                <c:pt idx="2">
                  <c:v>4.0</c:v>
                </c:pt>
                <c:pt idx="3">
                  <c:v>4.0</c:v>
                </c:pt>
                <c:pt idx="4">
                  <c:v>4.0</c:v>
                </c:pt>
                <c:pt idx="5">
                  <c:v>4.0</c:v>
                </c:pt>
                <c:pt idx="6">
                  <c:v>4.0</c:v>
                </c:pt>
                <c:pt idx="7">
                  <c:v>3.9</c:v>
                </c:pt>
                <c:pt idx="8">
                  <c:v>3.7</c:v>
                </c:pt>
                <c:pt idx="9">
                  <c:v>3.4</c:v>
                </c:pt>
                <c:pt idx="10">
                  <c:v>2.9</c:v>
                </c:pt>
                <c:pt idx="11">
                  <c:v>2.2</c:v>
                </c:pt>
                <c:pt idx="12">
                  <c:v>1.5</c:v>
                </c:pt>
                <c:pt idx="13">
                  <c:v>1.0</c:v>
                </c:pt>
                <c:pt idx="14">
                  <c:v>0.6</c:v>
                </c:pt>
                <c:pt idx="15">
                  <c:v>0.4</c:v>
                </c:pt>
                <c:pt idx="16">
                  <c:v>0.2</c:v>
                </c:pt>
                <c:pt idx="17">
                  <c:v>0.1</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1"/>
          <c:order val="1"/>
          <c:tx>
            <c:strRef>
              <c:f>Sheet1!$C$1</c:f>
              <c:strCache>
                <c:ptCount val="1"/>
                <c:pt idx="0">
                  <c:v>Visite 2</c:v>
                </c:pt>
              </c:strCache>
            </c:strRef>
          </c:tx>
          <c:spPr>
            <a:solidFill>
              <a:srgbClr val="D95926"/>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0.8</c:v>
                </c:pt>
                <c:pt idx="1">
                  <c:v>3.0</c:v>
                </c:pt>
                <c:pt idx="2">
                  <c:v>3.0</c:v>
                </c:pt>
                <c:pt idx="3">
                  <c:v>3.0</c:v>
                </c:pt>
                <c:pt idx="4">
                  <c:v>3.0</c:v>
                </c:pt>
                <c:pt idx="5">
                  <c:v>3.0</c:v>
                </c:pt>
                <c:pt idx="6">
                  <c:v>3.0</c:v>
                </c:pt>
                <c:pt idx="7">
                  <c:v>3.0</c:v>
                </c:pt>
                <c:pt idx="8">
                  <c:v>2.9</c:v>
                </c:pt>
                <c:pt idx="9">
                  <c:v>2.8</c:v>
                </c:pt>
                <c:pt idx="10">
                  <c:v>2.4</c:v>
                </c:pt>
                <c:pt idx="11">
                  <c:v>2.0</c:v>
                </c:pt>
                <c:pt idx="12">
                  <c:v>1.5</c:v>
                </c:pt>
                <c:pt idx="13">
                  <c:v>1.0</c:v>
                </c:pt>
                <c:pt idx="14">
                  <c:v>0.7</c:v>
                </c:pt>
                <c:pt idx="15">
                  <c:v>0.4</c:v>
                </c:pt>
                <c:pt idx="16">
                  <c:v>0.2</c:v>
                </c:pt>
                <c:pt idx="17">
                  <c:v>0.1</c:v>
                </c:pt>
                <c:pt idx="18">
                  <c:v>0.1</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2"/>
          <c:order val="2"/>
          <c:tx>
            <c:strRef>
              <c:f>Sheet1!$D$1</c:f>
              <c:strCache>
                <c:ptCount val="1"/>
                <c:pt idx="0">
                  <c:v>Maand 3</c:v>
                </c:pt>
              </c:strCache>
            </c:strRef>
          </c:tx>
          <c:spPr>
            <a:solidFill>
              <a:srgbClr val="199E7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0.0</c:v>
                </c:pt>
                <c:pt idx="1">
                  <c:v>0.0</c:v>
                </c:pt>
                <c:pt idx="2">
                  <c:v>0.0</c:v>
                </c:pt>
                <c:pt idx="3">
                  <c:v>3.0</c:v>
                </c:pt>
                <c:pt idx="4">
                  <c:v>3.1</c:v>
                </c:pt>
                <c:pt idx="5">
                  <c:v>3.0</c:v>
                </c:pt>
                <c:pt idx="6">
                  <c:v>3.0</c:v>
                </c:pt>
                <c:pt idx="7">
                  <c:v>3.0</c:v>
                </c:pt>
                <c:pt idx="8">
                  <c:v>3.0</c:v>
                </c:pt>
                <c:pt idx="9">
                  <c:v>3.0</c:v>
                </c:pt>
                <c:pt idx="10">
                  <c:v>2.9</c:v>
                </c:pt>
                <c:pt idx="11">
                  <c:v>2.8</c:v>
                </c:pt>
                <c:pt idx="12">
                  <c:v>2.6</c:v>
                </c:pt>
                <c:pt idx="13">
                  <c:v>2.1</c:v>
                </c:pt>
                <c:pt idx="14">
                  <c:v>1.7</c:v>
                </c:pt>
                <c:pt idx="15">
                  <c:v>1.1</c:v>
                </c:pt>
                <c:pt idx="16">
                  <c:v>0.8</c:v>
                </c:pt>
                <c:pt idx="17">
                  <c:v>0.5</c:v>
                </c:pt>
                <c:pt idx="18">
                  <c:v>0.3</c:v>
                </c:pt>
                <c:pt idx="19">
                  <c:v>0.1</c:v>
                </c:pt>
                <c:pt idx="20">
                  <c:v>0.1</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3"/>
          <c:order val="3"/>
          <c:tx>
            <c:strRef>
              <c:f>Sheet1!$E$1</c:f>
              <c:strCache>
                <c:ptCount val="1"/>
                <c:pt idx="0">
                  <c:v>Maand 6</c:v>
                </c:pt>
              </c:strCache>
            </c:strRef>
          </c:tx>
          <c:spPr>
            <a:solidFill>
              <a:srgbClr val="C985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0.0</c:v>
                </c:pt>
                <c:pt idx="1">
                  <c:v>0.0</c:v>
                </c:pt>
                <c:pt idx="2">
                  <c:v>0.0</c:v>
                </c:pt>
                <c:pt idx="3">
                  <c:v>0.0</c:v>
                </c:pt>
                <c:pt idx="4">
                  <c:v>0.0</c:v>
                </c:pt>
                <c:pt idx="5">
                  <c:v>0.1</c:v>
                </c:pt>
                <c:pt idx="6">
                  <c:v>3.0</c:v>
                </c:pt>
                <c:pt idx="7">
                  <c:v>3.1</c:v>
                </c:pt>
                <c:pt idx="8">
                  <c:v>3.0</c:v>
                </c:pt>
                <c:pt idx="9">
                  <c:v>3.0</c:v>
                </c:pt>
                <c:pt idx="10">
                  <c:v>3.0</c:v>
                </c:pt>
                <c:pt idx="11">
                  <c:v>3.0</c:v>
                </c:pt>
                <c:pt idx="12">
                  <c:v>3.0</c:v>
                </c:pt>
                <c:pt idx="13">
                  <c:v>2.9</c:v>
                </c:pt>
                <c:pt idx="14">
                  <c:v>2.8</c:v>
                </c:pt>
                <c:pt idx="15">
                  <c:v>2.6</c:v>
                </c:pt>
                <c:pt idx="16">
                  <c:v>2.1</c:v>
                </c:pt>
                <c:pt idx="17">
                  <c:v>1.7</c:v>
                </c:pt>
                <c:pt idx="18">
                  <c:v>1.1</c:v>
                </c:pt>
                <c:pt idx="19">
                  <c:v>0.8</c:v>
                </c:pt>
                <c:pt idx="20">
                  <c:v>0.5</c:v>
                </c:pt>
                <c:pt idx="21">
                  <c:v>0.3</c:v>
                </c:pt>
                <c:pt idx="22">
                  <c:v>0.1</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4"/>
          <c:order val="4"/>
          <c:tx>
            <c:strRef>
              <c:f>Sheet1!$F$1</c:f>
              <c:strCache>
                <c:ptCount val="1"/>
                <c:pt idx="0">
                  <c:v>Maand 9</c:v>
                </c:pt>
              </c:strCache>
            </c:strRef>
          </c:tx>
          <c:spPr>
            <a:solidFill>
              <a:srgbClr val="D55181"/>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0.0</c:v>
                </c:pt>
                <c:pt idx="1">
                  <c:v>0.0</c:v>
                </c:pt>
                <c:pt idx="2">
                  <c:v>0.0</c:v>
                </c:pt>
                <c:pt idx="3">
                  <c:v>0.0</c:v>
                </c:pt>
                <c:pt idx="4">
                  <c:v>0.0</c:v>
                </c:pt>
                <c:pt idx="5">
                  <c:v>0.0</c:v>
                </c:pt>
                <c:pt idx="6">
                  <c:v>0.0</c:v>
                </c:pt>
                <c:pt idx="7">
                  <c:v>0.0</c:v>
                </c:pt>
                <c:pt idx="8">
                  <c:v>0.1</c:v>
                </c:pt>
                <c:pt idx="9">
                  <c:v>3.0</c:v>
                </c:pt>
                <c:pt idx="10">
                  <c:v>3.1</c:v>
                </c:pt>
                <c:pt idx="11">
                  <c:v>3.0</c:v>
                </c:pt>
                <c:pt idx="12">
                  <c:v>3.0</c:v>
                </c:pt>
                <c:pt idx="13">
                  <c:v>3.0</c:v>
                </c:pt>
                <c:pt idx="14">
                  <c:v>3.0</c:v>
                </c:pt>
                <c:pt idx="15">
                  <c:v>3.0</c:v>
                </c:pt>
                <c:pt idx="16">
                  <c:v>2.9</c:v>
                </c:pt>
                <c:pt idx="17">
                  <c:v>2.8</c:v>
                </c:pt>
                <c:pt idx="18">
                  <c:v>2.5</c:v>
                </c:pt>
                <c:pt idx="19">
                  <c:v>2.1</c:v>
                </c:pt>
                <c:pt idx="20">
                  <c:v>1.6</c:v>
                </c:pt>
                <c:pt idx="21">
                  <c:v>1.1</c:v>
                </c:pt>
                <c:pt idx="22">
                  <c:v>0.8</c:v>
                </c:pt>
                <c:pt idx="23">
                  <c:v>0.5</c:v>
                </c:pt>
                <c:pt idx="24">
                  <c:v>0.3</c:v>
                </c:pt>
                <c:pt idx="25">
                  <c:v>0.1</c:v>
                </c:pt>
                <c:pt idx="26">
                  <c:v>0.1</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5"/>
          <c:order val="5"/>
          <c:tx>
            <c:strRef>
              <c:f>Sheet1!$G$1</c:f>
              <c:strCache>
                <c:ptCount val="1"/>
                <c:pt idx="0">
                  <c:v>Maand 12</c:v>
                </c:pt>
              </c:strCache>
            </c:strRef>
          </c:tx>
          <c:spPr>
            <a:solidFill>
              <a:srgbClr val="0083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3.0</c:v>
                </c:pt>
                <c:pt idx="13">
                  <c:v>3.1</c:v>
                </c:pt>
                <c:pt idx="14">
                  <c:v>3.0</c:v>
                </c:pt>
                <c:pt idx="15">
                  <c:v>3.0</c:v>
                </c:pt>
                <c:pt idx="16">
                  <c:v>3.0</c:v>
                </c:pt>
                <c:pt idx="17">
                  <c:v>3.0</c:v>
                </c:pt>
                <c:pt idx="18">
                  <c:v>3.0</c:v>
                </c:pt>
                <c:pt idx="19">
                  <c:v>2.9</c:v>
                </c:pt>
                <c:pt idx="20">
                  <c:v>2.8</c:v>
                </c:pt>
                <c:pt idx="21">
                  <c:v>2.6</c:v>
                </c:pt>
                <c:pt idx="22">
                  <c:v>2.1</c:v>
                </c:pt>
                <c:pt idx="23">
                  <c:v>1.6</c:v>
                </c:pt>
                <c:pt idx="24">
                  <c:v>1.1</c:v>
                </c:pt>
                <c:pt idx="25">
                  <c:v>0.8</c:v>
                </c:pt>
                <c:pt idx="26">
                  <c:v>0.5</c:v>
                </c:pt>
                <c:pt idx="27">
                  <c:v>0.3</c:v>
                </c:pt>
                <c:pt idx="28">
                  <c:v>0.1</c:v>
                </c:pt>
                <c:pt idx="29">
                  <c:v>0.1</c:v>
                </c:pt>
                <c:pt idx="30">
                  <c:v>0.0</c:v>
                </c:pt>
                <c:pt idx="31">
                  <c:v>0.0</c:v>
                </c:pt>
                <c:pt idx="32">
                  <c:v>0.0</c:v>
                </c:pt>
                <c:pt idx="33">
                  <c:v>0.0</c:v>
                </c:pt>
                <c:pt idx="34">
                  <c:v>0.0</c:v>
                </c:pt>
                <c:pt idx="35">
                  <c:v>0.0</c:v>
                </c:pt>
                <c:pt idx="36">
                  <c:v>0.0</c:v>
                </c:pt>
                <c:pt idx="37">
                  <c:v>0.0</c:v>
                </c:pt>
                <c:pt idx="38">
                  <c:v>0.0</c:v>
                </c:pt>
                <c:pt idx="39">
                  <c:v>0.0</c:v>
                </c:pt>
              </c:numCache>
            </c:numRef>
          </c:val>
        </c:ser>
        <c:ser>
          <c:idx val="6"/>
          <c:order val="6"/>
          <c:tx>
            <c:strRef>
              <c:f>Sheet1!$H$1</c:f>
              <c:strCache>
                <c:ptCount val="1"/>
                <c:pt idx="0">
                  <c:v>Maand 15</c:v>
                </c:pt>
              </c:strCache>
            </c:strRef>
          </c:tx>
          <c:spPr>
            <a:solidFill>
              <a:srgbClr val="9085E9"/>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0.1</c:v>
                </c:pt>
                <c:pt idx="15">
                  <c:v>3.0</c:v>
                </c:pt>
                <c:pt idx="16">
                  <c:v>3.1</c:v>
                </c:pt>
                <c:pt idx="17">
                  <c:v>3.0</c:v>
                </c:pt>
                <c:pt idx="18">
                  <c:v>3.0</c:v>
                </c:pt>
                <c:pt idx="19">
                  <c:v>3.0</c:v>
                </c:pt>
                <c:pt idx="20">
                  <c:v>3.0</c:v>
                </c:pt>
                <c:pt idx="21">
                  <c:v>3.0</c:v>
                </c:pt>
                <c:pt idx="22">
                  <c:v>2.9</c:v>
                </c:pt>
                <c:pt idx="23">
                  <c:v>2.8</c:v>
                </c:pt>
                <c:pt idx="24">
                  <c:v>2.6</c:v>
                </c:pt>
                <c:pt idx="25">
                  <c:v>2.1</c:v>
                </c:pt>
                <c:pt idx="26">
                  <c:v>1.7</c:v>
                </c:pt>
                <c:pt idx="27">
                  <c:v>1.1</c:v>
                </c:pt>
                <c:pt idx="28">
                  <c:v>0.8</c:v>
                </c:pt>
                <c:pt idx="29">
                  <c:v>0.5</c:v>
                </c:pt>
                <c:pt idx="30">
                  <c:v>0.3</c:v>
                </c:pt>
                <c:pt idx="31">
                  <c:v>0.1</c:v>
                </c:pt>
                <c:pt idx="32">
                  <c:v>0.1</c:v>
                </c:pt>
                <c:pt idx="33">
                  <c:v>0.0</c:v>
                </c:pt>
                <c:pt idx="34">
                  <c:v>0.0</c:v>
                </c:pt>
                <c:pt idx="35">
                  <c:v>0.0</c:v>
                </c:pt>
                <c:pt idx="36">
                  <c:v>0.0</c:v>
                </c:pt>
                <c:pt idx="37">
                  <c:v>0.0</c:v>
                </c:pt>
                <c:pt idx="38">
                  <c:v>0.0</c:v>
                </c:pt>
                <c:pt idx="39">
                  <c:v>0.0</c:v>
                </c:pt>
              </c:numCache>
            </c:numRef>
          </c:val>
        </c:ser>
        <c:ser>
          <c:idx val="7"/>
          <c:order val="7"/>
          <c:tx>
            <c:strRef>
              <c:f>Sheet1!$I$1</c:f>
              <c:strCache>
                <c:ptCount val="1"/>
                <c:pt idx="0">
                  <c:v>Maand 18</c:v>
                </c:pt>
              </c:strCache>
            </c:strRef>
          </c:tx>
          <c:spPr>
            <a:solidFill>
              <a:srgbClr val="E66767"/>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0.0</c:v>
                </c:pt>
                <c:pt idx="15">
                  <c:v>0.0</c:v>
                </c:pt>
                <c:pt idx="16">
                  <c:v>0.0</c:v>
                </c:pt>
                <c:pt idx="17">
                  <c:v>0.1</c:v>
                </c:pt>
                <c:pt idx="18">
                  <c:v>3.0</c:v>
                </c:pt>
                <c:pt idx="19">
                  <c:v>3.1</c:v>
                </c:pt>
                <c:pt idx="20">
                  <c:v>3.0</c:v>
                </c:pt>
                <c:pt idx="21">
                  <c:v>3.0</c:v>
                </c:pt>
                <c:pt idx="22">
                  <c:v>3.0</c:v>
                </c:pt>
                <c:pt idx="23">
                  <c:v>3.0</c:v>
                </c:pt>
                <c:pt idx="24">
                  <c:v>3.0</c:v>
                </c:pt>
                <c:pt idx="25">
                  <c:v>2.9</c:v>
                </c:pt>
                <c:pt idx="26">
                  <c:v>2.8</c:v>
                </c:pt>
                <c:pt idx="27">
                  <c:v>2.5</c:v>
                </c:pt>
                <c:pt idx="28">
                  <c:v>2.1</c:v>
                </c:pt>
                <c:pt idx="29">
                  <c:v>1.6</c:v>
                </c:pt>
                <c:pt idx="30">
                  <c:v>1.1</c:v>
                </c:pt>
                <c:pt idx="31">
                  <c:v>0.8</c:v>
                </c:pt>
                <c:pt idx="32">
                  <c:v>0.5</c:v>
                </c:pt>
                <c:pt idx="33">
                  <c:v>0.3</c:v>
                </c:pt>
                <c:pt idx="34">
                  <c:v>0.1</c:v>
                </c:pt>
                <c:pt idx="35">
                  <c:v>0.1</c:v>
                </c:pt>
                <c:pt idx="36">
                  <c:v>0.0</c:v>
                </c:pt>
                <c:pt idx="37">
                  <c:v>0.0</c:v>
                </c:pt>
                <c:pt idx="38">
                  <c:v>0.0</c:v>
                </c:pt>
                <c:pt idx="39">
                  <c:v>0.0</c:v>
                </c:pt>
              </c:numCache>
            </c:numRef>
          </c:val>
        </c:ser>
        <c:gapWidth val="20"/>
        <c:overlap val="10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20.0"/>
          <c:min val="0.0"/>
        </c:scaling>
        <c:delete val="0"/>
        <c:axPos val="l"/>
        <c:majorGridlines>
          <c:spPr>
            <a:ln w="9525">
              <a:solidFill>
                <a:srgbClr val="15395A"/>
              </a:solidFill>
            </a:ln>
          </c:spPr>
        </c:majorGridlines>
        <c:majorTickMark val="none"/>
        <c:minorTickMark val="none"/>
        <c:tickLblPos val="none"/>
        <c:spPr>
          <a:ln>
            <a:noFill/>
          </a:ln>
        </c:spPr>
        <c:txPr>
          <a:bodyPr/>
          <a:lstStyle/>
          <a:p>
            <a:pPr>
              <a:defRPr sz="1200" b="0">
                <a:solidFill>
                  <a:srgbClr val="8FB0CA"/>
                </a:solidFill>
                <a:latin typeface="Segoe UI"/>
              </a:defRPr>
            </a:pPr>
          </a:p>
        </c:txPr>
        <c:crossAx val="-2068027336"/>
        <c:crosses val="autoZero"/>
        <c:majorUnit val="5.0"/>
      </c:valAx>
      <c:spPr>
        <a:noFill/>
        <a:ln>
          <a:noFill/>
        </a:ln>
      </c:spPr>
    </c:plotArea>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Visite 1</c:v>
                </c:pt>
              </c:strCache>
            </c:strRef>
          </c:tx>
          <c:spPr>
            <a:solidFill>
              <a:srgbClr val="3987E5"/>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3.0</c:v>
                </c:pt>
                <c:pt idx="1">
                  <c:v>3.0</c:v>
                </c:pt>
                <c:pt idx="2">
                  <c:v>3.0</c:v>
                </c:pt>
                <c:pt idx="3">
                  <c:v>3.0</c:v>
                </c:pt>
                <c:pt idx="4">
                  <c:v>3.0</c:v>
                </c:pt>
                <c:pt idx="5">
                  <c:v>3.0</c:v>
                </c:pt>
                <c:pt idx="6">
                  <c:v>3.0</c:v>
                </c:pt>
                <c:pt idx="7">
                  <c:v>3.1</c:v>
                </c:pt>
                <c:pt idx="8">
                  <c:v>3.0</c:v>
                </c:pt>
                <c:pt idx="9">
                  <c:v>3.0</c:v>
                </c:pt>
                <c:pt idx="10">
                  <c:v>2.9</c:v>
                </c:pt>
                <c:pt idx="11">
                  <c:v>2.8</c:v>
                </c:pt>
                <c:pt idx="12">
                  <c:v>2.6</c:v>
                </c:pt>
                <c:pt idx="13">
                  <c:v>2.3</c:v>
                </c:pt>
                <c:pt idx="14">
                  <c:v>1.9</c:v>
                </c:pt>
                <c:pt idx="15">
                  <c:v>1.6</c:v>
                </c:pt>
                <c:pt idx="16">
                  <c:v>1.2</c:v>
                </c:pt>
                <c:pt idx="17">
                  <c:v>0.9</c:v>
                </c:pt>
                <c:pt idx="18">
                  <c:v>0.6</c:v>
                </c:pt>
                <c:pt idx="19">
                  <c:v>0.4</c:v>
                </c:pt>
                <c:pt idx="20">
                  <c:v>0.3</c:v>
                </c:pt>
                <c:pt idx="21">
                  <c:v>0.2</c:v>
                </c:pt>
                <c:pt idx="22">
                  <c:v>0.1</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1"/>
          <c:order val="1"/>
          <c:tx>
            <c:strRef>
              <c:f>Sheet1!$C$1</c:f>
              <c:strCache>
                <c:ptCount val="1"/>
                <c:pt idx="0">
                  <c:v>Visite 2</c:v>
                </c:pt>
              </c:strCache>
            </c:strRef>
          </c:tx>
          <c:spPr>
            <a:solidFill>
              <a:srgbClr val="D95926"/>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0.6</c:v>
                </c:pt>
                <c:pt idx="1">
                  <c:v>2.2</c:v>
                </c:pt>
                <c:pt idx="2">
                  <c:v>2.2</c:v>
                </c:pt>
                <c:pt idx="3">
                  <c:v>2.2</c:v>
                </c:pt>
                <c:pt idx="4">
                  <c:v>2.3</c:v>
                </c:pt>
                <c:pt idx="5">
                  <c:v>2.2</c:v>
                </c:pt>
                <c:pt idx="6">
                  <c:v>2.3</c:v>
                </c:pt>
                <c:pt idx="7">
                  <c:v>2.3</c:v>
                </c:pt>
                <c:pt idx="8">
                  <c:v>2.3</c:v>
                </c:pt>
                <c:pt idx="9">
                  <c:v>2.2</c:v>
                </c:pt>
                <c:pt idx="10">
                  <c:v>2.2</c:v>
                </c:pt>
                <c:pt idx="11">
                  <c:v>2.1</c:v>
                </c:pt>
                <c:pt idx="12">
                  <c:v>2.1</c:v>
                </c:pt>
                <c:pt idx="13">
                  <c:v>1.9</c:v>
                </c:pt>
                <c:pt idx="14">
                  <c:v>1.7</c:v>
                </c:pt>
                <c:pt idx="15">
                  <c:v>1.4</c:v>
                </c:pt>
                <c:pt idx="16">
                  <c:v>1.1</c:v>
                </c:pt>
                <c:pt idx="17">
                  <c:v>0.8</c:v>
                </c:pt>
                <c:pt idx="18">
                  <c:v>0.6</c:v>
                </c:pt>
                <c:pt idx="19">
                  <c:v>0.4</c:v>
                </c:pt>
                <c:pt idx="20">
                  <c:v>0.3</c:v>
                </c:pt>
                <c:pt idx="21">
                  <c:v>0.2</c:v>
                </c:pt>
                <c:pt idx="22">
                  <c:v>0.1</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2"/>
          <c:order val="2"/>
          <c:tx>
            <c:strRef>
              <c:f>Sheet1!$D$1</c:f>
              <c:strCache>
                <c:ptCount val="1"/>
                <c:pt idx="0">
                  <c:v>Maand 3</c:v>
                </c:pt>
              </c:strCache>
            </c:strRef>
          </c:tx>
          <c:spPr>
            <a:solidFill>
              <a:srgbClr val="199E7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0.0</c:v>
                </c:pt>
                <c:pt idx="1">
                  <c:v>0.0</c:v>
                </c:pt>
                <c:pt idx="2">
                  <c:v>0.0</c:v>
                </c:pt>
                <c:pt idx="3">
                  <c:v>2.2</c:v>
                </c:pt>
                <c:pt idx="4">
                  <c:v>2.3</c:v>
                </c:pt>
                <c:pt idx="5">
                  <c:v>2.2</c:v>
                </c:pt>
                <c:pt idx="6">
                  <c:v>2.2</c:v>
                </c:pt>
                <c:pt idx="7">
                  <c:v>2.3</c:v>
                </c:pt>
                <c:pt idx="8">
                  <c:v>2.3</c:v>
                </c:pt>
                <c:pt idx="9">
                  <c:v>2.2</c:v>
                </c:pt>
                <c:pt idx="10">
                  <c:v>2.3</c:v>
                </c:pt>
                <c:pt idx="11">
                  <c:v>2.2</c:v>
                </c:pt>
                <c:pt idx="12">
                  <c:v>2.3</c:v>
                </c:pt>
                <c:pt idx="13">
                  <c:v>2.1</c:v>
                </c:pt>
                <c:pt idx="14">
                  <c:v>2.1</c:v>
                </c:pt>
                <c:pt idx="15">
                  <c:v>2.0</c:v>
                </c:pt>
                <c:pt idx="16">
                  <c:v>1.7</c:v>
                </c:pt>
                <c:pt idx="17">
                  <c:v>1.5</c:v>
                </c:pt>
                <c:pt idx="18">
                  <c:v>1.2</c:v>
                </c:pt>
                <c:pt idx="19">
                  <c:v>0.9</c:v>
                </c:pt>
                <c:pt idx="20">
                  <c:v>0.7</c:v>
                </c:pt>
                <c:pt idx="21">
                  <c:v>0.5</c:v>
                </c:pt>
                <c:pt idx="22">
                  <c:v>0.3</c:v>
                </c:pt>
                <c:pt idx="23">
                  <c:v>0.2</c:v>
                </c:pt>
                <c:pt idx="24">
                  <c:v>0.1</c:v>
                </c:pt>
                <c:pt idx="25">
                  <c:v>0.1</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3"/>
          <c:order val="3"/>
          <c:tx>
            <c:strRef>
              <c:f>Sheet1!$E$1</c:f>
              <c:strCache>
                <c:ptCount val="1"/>
                <c:pt idx="0">
                  <c:v>Maand 6</c:v>
                </c:pt>
              </c:strCache>
            </c:strRef>
          </c:tx>
          <c:spPr>
            <a:solidFill>
              <a:srgbClr val="C985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0.0</c:v>
                </c:pt>
                <c:pt idx="1">
                  <c:v>0.0</c:v>
                </c:pt>
                <c:pt idx="2">
                  <c:v>0.0</c:v>
                </c:pt>
                <c:pt idx="3">
                  <c:v>0.0</c:v>
                </c:pt>
                <c:pt idx="4">
                  <c:v>0.0</c:v>
                </c:pt>
                <c:pt idx="5">
                  <c:v>0.1</c:v>
                </c:pt>
                <c:pt idx="6">
                  <c:v>2.2</c:v>
                </c:pt>
                <c:pt idx="7">
                  <c:v>2.3</c:v>
                </c:pt>
                <c:pt idx="8">
                  <c:v>2.2</c:v>
                </c:pt>
                <c:pt idx="9">
                  <c:v>2.3</c:v>
                </c:pt>
                <c:pt idx="10">
                  <c:v>2.3</c:v>
                </c:pt>
                <c:pt idx="11">
                  <c:v>2.3</c:v>
                </c:pt>
                <c:pt idx="12">
                  <c:v>2.2</c:v>
                </c:pt>
                <c:pt idx="13">
                  <c:v>2.3</c:v>
                </c:pt>
                <c:pt idx="14">
                  <c:v>2.2</c:v>
                </c:pt>
                <c:pt idx="15">
                  <c:v>2.3</c:v>
                </c:pt>
                <c:pt idx="16">
                  <c:v>2.1</c:v>
                </c:pt>
                <c:pt idx="17">
                  <c:v>2.1</c:v>
                </c:pt>
                <c:pt idx="18">
                  <c:v>2.0</c:v>
                </c:pt>
                <c:pt idx="19">
                  <c:v>1.7</c:v>
                </c:pt>
                <c:pt idx="20">
                  <c:v>1.5</c:v>
                </c:pt>
                <c:pt idx="21">
                  <c:v>1.2</c:v>
                </c:pt>
                <c:pt idx="22">
                  <c:v>0.9</c:v>
                </c:pt>
                <c:pt idx="23">
                  <c:v>0.7</c:v>
                </c:pt>
                <c:pt idx="24">
                  <c:v>0.5</c:v>
                </c:pt>
                <c:pt idx="25">
                  <c:v>0.3</c:v>
                </c:pt>
                <c:pt idx="26">
                  <c:v>0.2</c:v>
                </c:pt>
                <c:pt idx="27">
                  <c:v>0.1</c:v>
                </c:pt>
                <c:pt idx="28">
                  <c:v>0.1</c:v>
                </c:pt>
                <c:pt idx="29">
                  <c:v>0.0</c:v>
                </c:pt>
                <c:pt idx="30">
                  <c:v>0.0</c:v>
                </c:pt>
                <c:pt idx="31">
                  <c:v>0.0</c:v>
                </c:pt>
                <c:pt idx="32">
                  <c:v>0.0</c:v>
                </c:pt>
                <c:pt idx="33">
                  <c:v>0.0</c:v>
                </c:pt>
                <c:pt idx="34">
                  <c:v>0.0</c:v>
                </c:pt>
                <c:pt idx="35">
                  <c:v>0.0</c:v>
                </c:pt>
                <c:pt idx="36">
                  <c:v>0.0</c:v>
                </c:pt>
                <c:pt idx="37">
                  <c:v>0.0</c:v>
                </c:pt>
                <c:pt idx="38">
                  <c:v>0.0</c:v>
                </c:pt>
                <c:pt idx="39">
                  <c:v>0.0</c:v>
                </c:pt>
              </c:numCache>
            </c:numRef>
          </c:val>
        </c:ser>
        <c:ser>
          <c:idx val="4"/>
          <c:order val="4"/>
          <c:tx>
            <c:strRef>
              <c:f>Sheet1!$F$1</c:f>
              <c:strCache>
                <c:ptCount val="1"/>
                <c:pt idx="0">
                  <c:v>Maand 9</c:v>
                </c:pt>
              </c:strCache>
            </c:strRef>
          </c:tx>
          <c:spPr>
            <a:solidFill>
              <a:srgbClr val="D55181"/>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0.0</c:v>
                </c:pt>
                <c:pt idx="1">
                  <c:v>0.0</c:v>
                </c:pt>
                <c:pt idx="2">
                  <c:v>0.0</c:v>
                </c:pt>
                <c:pt idx="3">
                  <c:v>0.0</c:v>
                </c:pt>
                <c:pt idx="4">
                  <c:v>0.0</c:v>
                </c:pt>
                <c:pt idx="5">
                  <c:v>0.0</c:v>
                </c:pt>
                <c:pt idx="6">
                  <c:v>0.0</c:v>
                </c:pt>
                <c:pt idx="7">
                  <c:v>0.0</c:v>
                </c:pt>
                <c:pt idx="8">
                  <c:v>0.1</c:v>
                </c:pt>
                <c:pt idx="9">
                  <c:v>2.2</c:v>
                </c:pt>
                <c:pt idx="10">
                  <c:v>2.3</c:v>
                </c:pt>
                <c:pt idx="11">
                  <c:v>2.2</c:v>
                </c:pt>
                <c:pt idx="12">
                  <c:v>2.2</c:v>
                </c:pt>
                <c:pt idx="13">
                  <c:v>2.3</c:v>
                </c:pt>
                <c:pt idx="14">
                  <c:v>2.2</c:v>
                </c:pt>
                <c:pt idx="15">
                  <c:v>2.2</c:v>
                </c:pt>
                <c:pt idx="16">
                  <c:v>2.3</c:v>
                </c:pt>
                <c:pt idx="17">
                  <c:v>2.2</c:v>
                </c:pt>
                <c:pt idx="18">
                  <c:v>2.2</c:v>
                </c:pt>
                <c:pt idx="19">
                  <c:v>2.1</c:v>
                </c:pt>
                <c:pt idx="20">
                  <c:v>2.1</c:v>
                </c:pt>
                <c:pt idx="21">
                  <c:v>2.0</c:v>
                </c:pt>
                <c:pt idx="22">
                  <c:v>1.7</c:v>
                </c:pt>
                <c:pt idx="23">
                  <c:v>1.5</c:v>
                </c:pt>
                <c:pt idx="24">
                  <c:v>1.2</c:v>
                </c:pt>
                <c:pt idx="25">
                  <c:v>0.9</c:v>
                </c:pt>
                <c:pt idx="26">
                  <c:v>0.7</c:v>
                </c:pt>
                <c:pt idx="27">
                  <c:v>0.5</c:v>
                </c:pt>
                <c:pt idx="28">
                  <c:v>0.3</c:v>
                </c:pt>
                <c:pt idx="29">
                  <c:v>0.2</c:v>
                </c:pt>
                <c:pt idx="30">
                  <c:v>0.1</c:v>
                </c:pt>
                <c:pt idx="31">
                  <c:v>0.1</c:v>
                </c:pt>
                <c:pt idx="32">
                  <c:v>0.0</c:v>
                </c:pt>
                <c:pt idx="33">
                  <c:v>0.0</c:v>
                </c:pt>
                <c:pt idx="34">
                  <c:v>0.0</c:v>
                </c:pt>
                <c:pt idx="35">
                  <c:v>0.0</c:v>
                </c:pt>
                <c:pt idx="36">
                  <c:v>0.0</c:v>
                </c:pt>
                <c:pt idx="37">
                  <c:v>0.0</c:v>
                </c:pt>
                <c:pt idx="38">
                  <c:v>0.0</c:v>
                </c:pt>
                <c:pt idx="39">
                  <c:v>0.0</c:v>
                </c:pt>
              </c:numCache>
            </c:numRef>
          </c:val>
        </c:ser>
        <c:ser>
          <c:idx val="5"/>
          <c:order val="5"/>
          <c:tx>
            <c:strRef>
              <c:f>Sheet1!$G$1</c:f>
              <c:strCache>
                <c:ptCount val="1"/>
                <c:pt idx="0">
                  <c:v>Maand 12</c:v>
                </c:pt>
              </c:strCache>
            </c:strRef>
          </c:tx>
          <c:spPr>
            <a:solidFill>
              <a:srgbClr val="0083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2.2</c:v>
                </c:pt>
                <c:pt idx="13">
                  <c:v>2.3</c:v>
                </c:pt>
                <c:pt idx="14">
                  <c:v>2.2</c:v>
                </c:pt>
                <c:pt idx="15">
                  <c:v>2.2</c:v>
                </c:pt>
                <c:pt idx="16">
                  <c:v>2.3</c:v>
                </c:pt>
                <c:pt idx="17">
                  <c:v>2.2</c:v>
                </c:pt>
                <c:pt idx="18">
                  <c:v>2.2</c:v>
                </c:pt>
                <c:pt idx="19">
                  <c:v>2.3</c:v>
                </c:pt>
                <c:pt idx="20">
                  <c:v>2.2</c:v>
                </c:pt>
                <c:pt idx="21">
                  <c:v>2.3</c:v>
                </c:pt>
                <c:pt idx="22">
                  <c:v>2.1</c:v>
                </c:pt>
                <c:pt idx="23">
                  <c:v>2.1</c:v>
                </c:pt>
                <c:pt idx="24">
                  <c:v>2.0</c:v>
                </c:pt>
                <c:pt idx="25">
                  <c:v>1.7</c:v>
                </c:pt>
                <c:pt idx="26">
                  <c:v>1.5</c:v>
                </c:pt>
                <c:pt idx="27">
                  <c:v>1.2</c:v>
                </c:pt>
                <c:pt idx="28">
                  <c:v>0.9</c:v>
                </c:pt>
                <c:pt idx="29">
                  <c:v>0.7</c:v>
                </c:pt>
                <c:pt idx="30">
                  <c:v>0.5</c:v>
                </c:pt>
                <c:pt idx="31">
                  <c:v>0.3</c:v>
                </c:pt>
                <c:pt idx="32">
                  <c:v>0.2</c:v>
                </c:pt>
                <c:pt idx="33">
                  <c:v>0.1</c:v>
                </c:pt>
                <c:pt idx="34">
                  <c:v>0.1</c:v>
                </c:pt>
                <c:pt idx="35">
                  <c:v>0.0</c:v>
                </c:pt>
                <c:pt idx="36">
                  <c:v>0.0</c:v>
                </c:pt>
                <c:pt idx="37">
                  <c:v>0.0</c:v>
                </c:pt>
                <c:pt idx="38">
                  <c:v>0.0</c:v>
                </c:pt>
                <c:pt idx="39">
                  <c:v>0.0</c:v>
                </c:pt>
              </c:numCache>
            </c:numRef>
          </c:val>
        </c:ser>
        <c:ser>
          <c:idx val="6"/>
          <c:order val="6"/>
          <c:tx>
            <c:strRef>
              <c:f>Sheet1!$H$1</c:f>
              <c:strCache>
                <c:ptCount val="1"/>
                <c:pt idx="0">
                  <c:v>Maand 15</c:v>
                </c:pt>
              </c:strCache>
            </c:strRef>
          </c:tx>
          <c:spPr>
            <a:solidFill>
              <a:srgbClr val="9085E9"/>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0.1</c:v>
                </c:pt>
                <c:pt idx="15">
                  <c:v>2.2</c:v>
                </c:pt>
                <c:pt idx="16">
                  <c:v>2.3</c:v>
                </c:pt>
                <c:pt idx="17">
                  <c:v>2.2</c:v>
                </c:pt>
                <c:pt idx="18">
                  <c:v>2.3</c:v>
                </c:pt>
                <c:pt idx="19">
                  <c:v>2.3</c:v>
                </c:pt>
                <c:pt idx="20">
                  <c:v>2.3</c:v>
                </c:pt>
                <c:pt idx="21">
                  <c:v>2.2</c:v>
                </c:pt>
                <c:pt idx="22">
                  <c:v>2.3</c:v>
                </c:pt>
                <c:pt idx="23">
                  <c:v>2.2</c:v>
                </c:pt>
                <c:pt idx="24">
                  <c:v>2.3</c:v>
                </c:pt>
                <c:pt idx="25">
                  <c:v>2.1</c:v>
                </c:pt>
                <c:pt idx="26">
                  <c:v>2.1</c:v>
                </c:pt>
                <c:pt idx="27">
                  <c:v>2.0</c:v>
                </c:pt>
                <c:pt idx="28">
                  <c:v>1.7</c:v>
                </c:pt>
                <c:pt idx="29">
                  <c:v>1.5</c:v>
                </c:pt>
                <c:pt idx="30">
                  <c:v>1.2</c:v>
                </c:pt>
                <c:pt idx="31">
                  <c:v>0.9</c:v>
                </c:pt>
                <c:pt idx="32">
                  <c:v>0.7</c:v>
                </c:pt>
                <c:pt idx="33">
                  <c:v>0.5</c:v>
                </c:pt>
                <c:pt idx="34">
                  <c:v>0.3</c:v>
                </c:pt>
                <c:pt idx="35">
                  <c:v>0.2</c:v>
                </c:pt>
                <c:pt idx="36">
                  <c:v>0.1</c:v>
                </c:pt>
                <c:pt idx="37">
                  <c:v>0.1</c:v>
                </c:pt>
                <c:pt idx="38">
                  <c:v>0.0</c:v>
                </c:pt>
                <c:pt idx="39">
                  <c:v>0.0</c:v>
                </c:pt>
              </c:numCache>
            </c:numRef>
          </c:val>
        </c:ser>
        <c:ser>
          <c:idx val="7"/>
          <c:order val="7"/>
          <c:tx>
            <c:strRef>
              <c:f>Sheet1!$I$1</c:f>
              <c:strCache>
                <c:ptCount val="1"/>
                <c:pt idx="0">
                  <c:v>Maand 18</c:v>
                </c:pt>
              </c:strCache>
            </c:strRef>
          </c:tx>
          <c:spPr>
            <a:solidFill>
              <a:srgbClr val="E66767"/>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0.0</c:v>
                </c:pt>
                <c:pt idx="15">
                  <c:v>0.0</c:v>
                </c:pt>
                <c:pt idx="16">
                  <c:v>0.0</c:v>
                </c:pt>
                <c:pt idx="17">
                  <c:v>0.1</c:v>
                </c:pt>
                <c:pt idx="18">
                  <c:v>2.2</c:v>
                </c:pt>
                <c:pt idx="19">
                  <c:v>2.3</c:v>
                </c:pt>
                <c:pt idx="20">
                  <c:v>2.2</c:v>
                </c:pt>
                <c:pt idx="21">
                  <c:v>2.2</c:v>
                </c:pt>
                <c:pt idx="22">
                  <c:v>2.3</c:v>
                </c:pt>
                <c:pt idx="23">
                  <c:v>2.2</c:v>
                </c:pt>
                <c:pt idx="24">
                  <c:v>2.2</c:v>
                </c:pt>
                <c:pt idx="25">
                  <c:v>2.3</c:v>
                </c:pt>
                <c:pt idx="26">
                  <c:v>2.2</c:v>
                </c:pt>
                <c:pt idx="27">
                  <c:v>2.3</c:v>
                </c:pt>
                <c:pt idx="28">
                  <c:v>2.1</c:v>
                </c:pt>
                <c:pt idx="29">
                  <c:v>2.1</c:v>
                </c:pt>
                <c:pt idx="30">
                  <c:v>2.0</c:v>
                </c:pt>
                <c:pt idx="31">
                  <c:v>1.7</c:v>
                </c:pt>
                <c:pt idx="32">
                  <c:v>1.5</c:v>
                </c:pt>
                <c:pt idx="33">
                  <c:v>1.2</c:v>
                </c:pt>
                <c:pt idx="34">
                  <c:v>0.9</c:v>
                </c:pt>
                <c:pt idx="35">
                  <c:v>0.7</c:v>
                </c:pt>
                <c:pt idx="36">
                  <c:v>0.5</c:v>
                </c:pt>
                <c:pt idx="37">
                  <c:v>0.3</c:v>
                </c:pt>
                <c:pt idx="38">
                  <c:v>0.2</c:v>
                </c:pt>
                <c:pt idx="39">
                  <c:v>0.1</c:v>
                </c:pt>
              </c:numCache>
            </c:numRef>
          </c:val>
        </c:ser>
        <c:gapWidth val="20"/>
        <c:overlap val="10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20.0"/>
          <c:min val="0.0"/>
        </c:scaling>
        <c:delete val="0"/>
        <c:axPos val="l"/>
        <c:majorGridlines>
          <c:spPr>
            <a:ln w="9525">
              <a:solidFill>
                <a:srgbClr val="15395A"/>
              </a:solidFill>
            </a:ln>
          </c:spPr>
        </c:majorGridlines>
        <c:majorTickMark val="none"/>
        <c:minorTickMark val="none"/>
        <c:tickLblPos val="none"/>
        <c:spPr>
          <a:ln>
            <a:noFill/>
          </a:ln>
        </c:spPr>
        <c:txPr>
          <a:bodyPr/>
          <a:lstStyle/>
          <a:p>
            <a:pPr>
              <a:defRPr sz="1200" b="0">
                <a:solidFill>
                  <a:srgbClr val="8FB0CA"/>
                </a:solidFill>
                <a:latin typeface="Segoe UI"/>
              </a:defRPr>
            </a:pPr>
          </a:p>
        </c:txPr>
        <c:crossAx val="-2068027336"/>
        <c:crosses val="autoZero"/>
        <c:majorUnit val="5.0"/>
      </c:valAx>
      <c:spPr>
        <a:noFill/>
        <a:ln>
          <a:noFill/>
        </a:ln>
      </c:spPr>
    </c:plotArea>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Welkom op de eerste officiële meeting van PARADISE met de zes voetklinieken. We volgen de agenda die u vooraf kreeg: de stand van zaken, wat er sinds 1 april veranderde, de werkpakketten, de aandachtspunten, de mijlpalen en de planning, en dan de bespreking en een ronde per centrum. Rechts loopt dat tempo al: zes centra aan drie inclusies per maand, telkens met een nieuwe, willekeurige instroom. Een bolletje betekent dat het centrum zijn 24 deelnemers heeft. In ruim negen op de tien runs halen alle zes dat binnen het jaar.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agenda zoals u ze vooraf kreeg. De dia's volgen dezelfde nummering: bovenaan elke dia ziet u bij welk punt ze hoort. Het meeste tijd gaat naar punt 5, de planning, en naar de bespreking; daar hebben we uw input nodig.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 herinnering: 144 deelnemers, 24 in elk van de zes voetklinieken, twaalf in elke arm. Drie academische centra, Leuven, Gent en Antwerpen, en drie niet-academische, Aalst, Kortrijk en Brugge. Elke deelnemer wordt achttien maanden gevolgd. Er is één primair eindpunt: het voetulcusrecidief over achttien maanden. De PI loot per centrum met verzegelde enveloppen, pas na bevestigde geschiktheid en toestemming. Blijft één centrum achter, dan haalt de studie het niet: vandaar het tempo dat we straks vragen.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punten, en daarna twee dia's per centrum: de ethische goedkeuring en het materiaal. De ethische goedkeuring is het kritieke pad, want nergens wordt geïncludeerd vóór alle goedkeuringen binnen zijn. De drukmeetsystemen, de Novel pedar, zijn geleverd en worden centrum per centrum geïnstalleerd. De REDCap-databank staat klaar: u vult papieren formulieren in, het studieteam voert ze in, u voert zelf niets in. De opleidingsplanning ligt klaar, van 10 november tot maart; elk centrum krijgt een toetsingsblad met zijn eigen data. En in februari 2027 volgen de piloot, de Go/No-Go en dan de eerste patiënt.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ethische goedkeuring, centrum per centrum. Bovenaan wat voor de hele studie geldt: de centrale ethische commissie van UZ Leuven en het FAGG. Daaronder per centrum: wanneer het lokale dossier ingediend is, wanneer het goedgekeurd is, en hoe ver het contract staat. Geen enkel centrum includeert vóór alle goedkeuringen binnen zijn; opleiden kan wel. Vul de stand per centrum in, of vraag ze tijdens de tour de table 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materiaal, centrum per centrum. Per rij één onderdeel: het pedar-systeem met laptop, router en twee zenders, de zolen in vijf maten, de vier MoveMonitors, de Orthotimers met de pen, de sokken, en de twee rekentools op de pc. Per centrum: aanwezig, onderweg, of nog te leveren. Alles hoort er te zijn vóór de technologiesessie van dat centrum in december.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er sinds de vorige meeting van 1 april is vastgelegd. De drukmeting: de keuze is gemaakt voor de Novel pedar als klinisch toestel; de F-Scan GO gebruikt alleen het studieteam, om beide te vergelijken. De druknorm: alles gebeurt in de schoen, er wordt niet blootsvoets gemeten, en de 25 procent wordt gerekend tegenover de meting zonder zool op visite 2, die voor de hele studie de referentie blijft; beslissingen van de PI op 11 en 22 september. Het eindpunt: sinds 3 september is er één primair eindpunt, het recidief over achttien maanden; therapietrouw wordt volledig gemeten als mediator. De draagnorm: tachtig procent van de eigen waaktijd, sinds 26 september in beide armen in de Orthotimer gezet. De MoveMonitor dient daarvoor alleen nog bij de start: één week bepaalt de slaaptijd, en dus de waaktijd. De meetweek op maand zes vervalt, wat uw team werk bespaart. De CMFO: de opbouw hangt af van het schoentype, en het tweede paar is een identiek duplicaat zodra de norm gehaald is. De blindering: in gebruikelijke zorg worden de drukwaarden niet getoond of besproken. De data: het protocol v1.0 dateert van 17 mei, de REDCap-databank staat klaar, en zoals op 1 april voorgesteld werken de centra op papier. En de rekrutering: het protocol voorziet twaalf maanden, niet de achttien van de aanvraag. Met achttien maanden zou de laatste visite na september 2029 vallen.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vijf werkpakketten, zoals op 1 april voorgesteld. WP1 is de studie zelf: protocol en formulieren zijn klaar, de opleidingen lopen van november tot maart, in februari volgen de piloot en de Go/No-Go, en daarna de inclusie. WP2, de procesevaluatie onder Maaike Fobelets: de doctorandi nemen PARADISE-sessies met patiënten op en observeren ze, de therapeut houdt een dagboek bij (eCRF 40), er volgen interviews met patiënten, therapeuten en management, en de fidelity van SEBIA wordt gemeten. WP3, de gezondheidseconomie onder Koen Putman: levenskwaliteit, medische consumptie en productiviteit, met de EQ-5D-5L, de iMCQ en de iPCQ, waarvoor de licenties geregeld zijn, en een gezondheidseconomisch dagboek dat telefonisch bevraagd wordt. WP4, project- en databeheer onder Kevin Deschamps: de REDCap-databank, waarin het studieteam de papieren formulieren invoert, en de overlegorganen, de Executive Board en de Clinical Trial Management Group. WP5, de disseminatie: huisstijl en website, publicaties, en communicatie naar zorgverleners, patiënten en publiek. De volgende dia's gaan over WP1: wie in aanmerking komt, wat de armen krijgen en wanneer.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wie in aanmerking komt, rechts wie niet. Diabetes type 1 of 2, dus geen zwangerschapsdiabetes. De vaatstatus en de verwachte overleving beoordeelt de arts. Drie punten worden het vaakst gemist. Een resectie van de eerste metatarsaalkop komt wél in aanmerking: alleen een amputatie proximaal van de MTP-gewrichten sluit uit. Een enkel-voetorthese sluit uit, omdat de druksensoren er niet in passen. En wie de draagsensor in de zool weigert, valt af, want zonder sensor kunnen we de draagtijd niet meten. Alle drie de schoeiselsituaties komen in aanmerking: volledig maatwerk, of maatzolen in semi-orthopedisch of in extra-diep confectieschoeisel. De arts screent en vraagt de toestemming.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armen krijgen hetzelfde pakket: een nieuwe drukherverdelende maatzool met dezelfde opbouw, driemaandelijkse voetzorg en screening, dezelfde drukmetingen, een draagsensor in de zool en één week MoveMonitor bij de start. Het verschil zit in wat er met de metingen gebeurt. In PARADISE sturen twee normen de zorg. Bovenaan de druk: de pedar meet de piekdruk mét de zool; de norm is onder 200 kilopascal, óf minstens 25 procent lager dan zonder zool op visite 2. Eén van beide volstaat. De zool wordt aangepast tot dat gehaald is, en op maand 6, 12 en 18 opnieuw getoetst; zodra de norm gehaald is, volgt een identiek tweede paar. Onderaan het dragen: de MoveMonitor geeft bij de start de slaaptijd en dus de waaktijd, 80 procent daarvan is de draagnorm, alle zeven dagen, en de Orthotimer meet hoeveel de zool echt gedragen wordt. Dat komt terug in het SEBIA-gesprek op elke visite. In gebruikelijke zorg wordt exact hetzelfde gemeten, maar blijft het geblindeerd: niet getoetst, niet besproken, geen feedback, en educatie zoals vandaag met hetzelfde boekje.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draagnorm is voor elke patiënt op maat. Bij de start draagt de patiënt één week de MoveMonitor. Daaruit halen we de slaaptijd, en dus hoe lang iemand per dag wakker is; in dit voorbeeld 15,5 uur. De norm is tachtig procent daarvan, hier 12,4 uur per dag, voor alle zeven dagen van de week, en die zetten we in de Orthotimer. Voor de patiënt vertalen we dat in één eenvoudige boodschap: u draagt uw schoenen altijd, van het moment dat u opstaat tot u gaat slapen. Wat verandert tegenover eerder: de MoveMonitor gaat alleen nog mee bij de start. De meetweek op maand zes en het uitlezen een week later vervallen. Dat bespaart uw team een contact per patiënt, en de norm blijft toch op maat. Protocol, formulieren en REDCap zetten we daarop gelijk.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hele traject op één blad. Bovenaan de contactmomenten: de arts screent en vraagt toestemming, op visite 0 wordt de geschiktheid bevestigd en loot de PI. Visite 1 is de baseline, visite 2 volgt tussen 14 dagen en een maand later bij de aflevering van de zool, en daarna is het ritme elke drie maanden, tot maand 18: hetzelfde ritme als de controle die deze patiënten al krijgen. De rijen tonen wat wanneer gebeurt. De drukmeting: op visite 1 alleen zonder zool, op visite 2 en op maand 6, 12 en 18 zonder en met zool. De MoveMonitor gaat één keer een week mee, bij de start: daaruit halen we de slaaptijd en dus de waaktijd. De meetweek op maand 6 vervalt. De Orthotimer gaat op visite 2 in de zool en wordt daarna bij elke visite uitgelezen. Op visite 1 en vanaf visite 3 volgt ook telkens de voet- en schoeiselscreening. En SEBIA, alleen in de PARADISE-arm, met een gesprek op elke visite: educatie en demonstratie van de voetzorg op baseline, het belang van de schoenen bij de aflevering, feedback op de draagtijd met ondersteunende interventies op maand 3, 9 en 15, een evaluatie van kennis en kunde met feedback op maand 6 en 12, en een afrondend gesprek op maand 18. Zo staat het in het SEBIA-script, eCRF 17, en in REDCap, waar de feedback op therapietrouw op elke opvolgvisite staat. Het manuscript beschrijft het nog anders; dat wordt nog gelijkgezet.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openstaande punten. Eén: de ethische goedkeuring, centraal bij de EC van UZ Leuven, bij het FAGG en lokaal in elk centrum. Nergens wordt geïncludeerd vóór alle goedkeuringen binnen zijn; opleiden kan wel. De stand per centrum staat op een aparte dia. Twee: het toetsingsblad met de opleidingsdata terug tegen vrijdag 16 oktober; daarna ligt de kalender vast. Drie: de toestellen geïnstalleerd vóór de technologiesessie van elk centrum, anders valt die sessie stil; ook dat staat per centrum op een aparte dia. Vier: de MoveMonitor dient alleen nog bij de start. Protocol, formulieren en REDCap zetten we daarop gelijk, vóór de indiening bij de ethische commissie, of anders als amendement. Vijf: een screeningslog vanaf de eerste patiënt; iedereen die overwogen wordt, komt er met de reden in, en dus in het CONSORT-diagram. Zes: welk SEBIA-schema geldt, dat van het script of dat van het manuscript; daarna zetten we REDCap en het manuscript gelijk. Zeven: een aparte toestemming voor de opnames en observaties van de procesevaluatie in het toestemmingsformulier, eCRF 02. Acht: de licenties van twee vragenlijsten, de HLS-EU-Q6 en de NAFF, nodig voor de vragenlijstenset.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grote lijnen tot het einde. De opleidingen lopen van november tot maart. Op 23 februari beslist de Executive Board na de piloot over Go of No-Go, en de inclusie start meteen daarna, eind februari 2027. We vragen twaalf maanden inclusie: 144 gerandomiseerde deelnemers eind februari 2028, zoals het protocol voorziet. Elke deelnemer wordt achttien maanden gevolgd, dus de laatste visite valt volgens plan eind augustus 2029. De geplande laatste visite is september 2029; achttien maanden terugrekenen geeft de uiterste datum voor de laatste inclusie: eind maart 2028. Er is dus één maand marge tussen het plan en die grens.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opleiding loopt van november tot maart; een bolletje is een sessie, een balk een reeks sessies centrum per centrum, en de kleur zegt waar. Online, en opgenomen: de theorie in vier blokken op dinsdag 10 en 24 november, gezondheidseconomie en procesevaluatie op 8 december, telkens van half één tot twee, en datacollectie en vragenlijsten op 12 januari van negen tot elf, na een zelftest waarbij elk centrum de vragenlijsten eens zelf invult. Wie niet live kan, bekijkt de opname. Ter plaatse, in uw centrum: de technologie tussen 2 en 15 december, eerst theorie en dan praktijk, en de droogloop van de vier visites tussen 13 en 27 januari. SEBIA 1 en 2 bij Fabienne Dobbels, overdag en op dagen uit haar eigen agenda, in drie groepen: Kortrijk met de eerste podoloog van Brugge op woensdag 6 januari, groep Oost met de tweede podoloog van Brugge op dinsdag 12 januari, en Gent op vrijdag 15 januari in het eigen centrum, telkens in de namiddag. SEBIA 3 en 4 stellen we in dezelfde groepen voor op 9, 10 en 12 maart, maar mevrouw Dobbels gaf na januari nog geen data; die vragen we eerst bij haar op. Daarna SEBIA 5, individueel in het eigen centrum, van 15 tot 26 maart, en SEBIA 6 online als intervisie met feedback, zes tot negen maanden na de start van eind februari, dus van september tot november 2027. In februari lopen de piloot en op 23 februari de Go/No-Go van de Executive Board. Artsen volgen alleen theorie; de praktijk is voor de podologen. De twee pedorthisten komen één keer, naar de theorie van de technologie. De praktijksessies worden niet opgenomen, dus daar is aanwezigheid nodig.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Hoe we de SEBIA-opleiding zien. SEBIA heeft twee doelen: goede voetzorg, via educatie en vaardigheidstraining, en therapietrouw aan het schoeisel, via monitoring, motivatie en het aanpakken van drempels. Het SEBIA-gesprek komt op elke visite van de PARADISE-arm terug: op de eerste visites ligt de focus op educatie, daarna op de draagtijd, en op maand 6 en 12 op beide. Fabienne Dobbels geeft de opleiding aan de podologen, in zes sessies. Sessie 1 gaat over het geven van educatie: de patiënt als volwassen lerende, need to know tegenover nice to know, teach-back en show-me, en het voordoen van de voetzorg. Sessie 2 over het evalueren van kennis en vaardigheden met de NAFF, het uitlezen van de sensor met een uitdraai, en feedback over het dragen van de zolen. Die twee samen duren vier uur, overdag in januari, in drie groepen: Kortrijk met de eerste podoloog van Brugge op woensdag 6 januari, groep Oost met de tweede podoloog van Brugge op dinsdag 12 januari, en Gent op vrijdag 15 januari, telkens in de namiddag. Sessie 3 en 4 gaan over motiverende gespreksvoering: de motivatie van de patiënt inschatten en een interventie kiezen die daarbij past; samen weer vier uur, in dezelfde groepen. We stellen 9, 10 en 12 maart voor, maar mevrouw Dobbels gaf na januari nog geen data; die vragen we eerst bij haar op. Sessie 5 is een individuele oefensessie van anderhalf uur in uw eigen centrum, met rollenspel op de scripts, tussen 15 en 26 maart. Sessie 6 is een online intervisie van een uur, individueel, zes tot negen maanden na de start van de inclusie, dus van september tot november 2027: casussen bespreken en bijsturen waar het moeilijk loopt. De praktijksessies worden niet opgenomen, dus daar is aanwezigheid nodig.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 centrum de voorgestelde data, allemaal gekozen op dagen dat uw podoloog er volgens uw eigen opgave is; voor Antwerpen valt de donderdag in een even week. SEBIA volgt de agenda van de lesgever, Fabienne Dobbels. SEBIA 1 en 2 gebeurt overdag, in drie groepen, want er is geen moment waarop Kortrijk, Brugge en Gent samen kunnen. Kortrijk en de eerste podoloog van Brugge op woensdag 6 januari in de namiddag, met woensdag 16 december als optie B. Groep Oost, met Aalst, Leuven en Antwerpen, en de tweede podoloog van Brugge op dinsdag 12 januari in de namiddag, na de datacollectie online in de voormiddag. Gent op vrijdag 15 januari in de namiddag, in het eigen centrum, met vrijdag 11 december als optie B; de droogloop van Gent schuift daarvoor naar donderdag 21 januari. Voor SEBIA 3 en 4 stellen we dezelfde drie groepen voor, op 9, 10 en 12 maart, maar mevrouw Dobbels gaf na januari nog geen data; die vragen we eerst bij haar op. Waar een datum niet voor iedereen lukt, staat op uw toetsingsblad een optie B. Graag uw antwoord tegen vrijdag 16 oktober; daarna ligt de kalender vast.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vragen elk centrum drie inclusies per maand. Patiënten komen niet netjes op regelmatige tijdstippen binnen; daarom rekenden we met willekeurige instroom. De curve toont de kans dat een centrum zijn 24 binnen twaalf maanden haalt, bij elk gemiddeld tempo. Aan twee per maand ligt het doel precies op het gemiddelde: het is een muntworp, 53 procent. Aan drie per maand is het 99 procent. De studie is pas rond als het traagste centrum klaar is: dat alle zes het binnen het jaar halen, is aan drie per maand 92 procent, aan twee per maand amper 2 procent. De helft van de centra is aan drie per maand na 7,9 maanden of sneller klaar. De inclusie start eind februari 2027, meteen na de Go/No-Go van 23 februari. Twaalf maanden inclusie betekent 144 gerandomiseerd eind februari 2028, zoals het protocol voorziet. Met achttien maanden opvolging valt de laatste visite dan eind augustus 2029, één maand vóór de geplande laatste visite in september. Een eerlijke kanttekening: deze cijfers gaan ervan uit dat elk centrum echt drie per maand haalt. Verschillen de centra onderling, dan is het minder zeker. Daarover gaat de dia na de volgende.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als een centrum twee per maand haalt in plaats van drie? De grafiek toont, maand na maand, hoeveel kans er is dat de inclusie klaar is: de volle lijnen voor één centrum, de streepjeslijnen voor alle zes samen. Blauw is drie per maand, oranje twee. Aan twee per maand duurt het gemiddeld twaalf maanden per centrum, met een spreiding van tweeënhalve maand: acht op tien centra zijn klaar tussen negen en vijftien maanden. Na een jaar is gemiddeld maar de helft van de centra rond, drie van de zes. De studie is pas rond als het traagste centrum klaar is. De geplande laatste visite is september 2029; achttien maanden terug is dat eind maart 2028, de uiterste datum voor de laatste inclusie. We starten eind februari 2027, meteen na de Go/No-Go; dan zijn dat dertien maanden: de verticale lijn. Aan twee per maand halen alle zes die grens maar in 12 procent van de gevallen; aan drie per maand in 98 procent. In de helft van de gevallen is het laatste centrum pas na vijftien maanden klaar, en valt de laatste visite eind november 2029; in één op tien pas in februari 2030. En in acht procent is na achttien maanden nog altijd een centrum niet rond. Dit is gerekend met zes centra die allemaal even snel zijn. Verschillen ze onderling, dan wordt het nog later; dat toont de volgende dia.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 hier rekenden we alsof elk centrum precies het gemiddelde haalt. Zo werkt het in de praktijk niet: het ene centrum heeft meer geschikte patiënten dan het andere. Een statisticus rekent daarom met centra die onderling verschillen; hier het ene een kwart sneller, het andere een kwart trager dan gemiddeld. De grafiek toont telkens de kans dat alle 144 deelnemers er zijn vóór eind maart 2028, de uiterste datum voor een laatste visite in september 2029, bij een start eind februari 2027, meteen na de Go/No-Go. Aan drie per maand en met centra die even snel zijn is dat 98 procent. Verschillen de centra, dan zakt het naar 65 procent, omdat het traagste centrum de studie ophoudt. Aan twee per maand is het 12 procent, en met verschillen 5 procent. Wat wél helpt, staat al in het risicoplan van de FWO-aanvraag: bijspringen door andere centra. Wie sneller gaat, includeert door, hier tot maximaal 30 per centrum, tot de 144 er zijn. Dan is het aan drie per maand vrijwel zeker, ook als de centra verschillen, en aan twee per maand ongeveer zes kansen op tien. Ons plan is twaalf maanden, eind februari 2028: aan drie per maand is dat 92 procent met even snelle centra, 48 procent als ze verschillen, en 99 procent met bijspringen. Het plan haalt het dus alleen met bijspringen zeker. Bijspringen vraagt wel extra enveloppen per centrum en een afspraak over het plafond; dat leggen we straks ter bespreking voor.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het tempo van uw team vraagt, per maand, en in kleur per visite: onderaan de baseline en de aflevering, daarboven de opvolgvisites van maand drie tot achttien. Links ons voorstel: drie per maand, twaalf maanden inclusie. Dan is het 14 uur per maand zolang de inclusie loopt, met een piek rond maand zeven, en de laatste visite valt rond jun 2029. In het midden en rechts wat achttien maanden inclusie zou geven, aan twee of anderhalve patiënt per maand. Per maand is dat iets minder, rond de elf en tien uur, maar het duurt langer. In totaal is het overal hetzelfde: 300 uur per centrum, want elke patiënt krijgt dezelfde visites. Het verschil zit in het einde. Aan twee per maand valt de laatste visite rond nov 2029, aan anderhalve rond apr 2030: na de geplande laatste visite van september 2029. Dan blijft er voor ons geen tijd om de gegevens te verwerken. Aan anderhalve per maand zijn bovendien maar in 17 procent van de gevallen alle zes centra binnen de achttien maanden rond. De uren zijn die per visite: twee uur in Optimal Care, één uur in Usual Care, twee uur bij de start. Het uitlezen van de MoveMonitor op maand zes valt weg.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logo van PARADISE, zoals het nu in alle materiaal staat: de voet als drukbeeld, van koel naar warm, met de P die erin zit. Links het volledige logo op een lichte achtergrond, zoals op de formulieren en het patiëntenmateriaal; in het midden op een donkere achtergrond, zoals in de presentaties en op de website; rechts het symbool alleen, voor klein formaat. Dit is de eerste officiële meeting, dus we vragen uw akkoord: gebruiken we dit logo overal, of wilt u iets aangepast zien?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wat we van elk centrum vragen. Eén: drie inclusies per maand, vanaf de start na de Go/No-Go; dan is de inclusie binnen een jaar rond. Twee: een screeningslog vanaf de eerste patiënt, zodat we weten wie overwogen werd en waarom het niet doorging; dat hebben we nodig voor het CONSORT-diagram, en het toont vroeg waar het stokt. Drie: het toetsingsblad terug tegen vrijdag 16 oktober, met per onderwerp optie A of B en de vaste data bevestigd. Vier: wie deelneemt aan de opleidingen, de namen van de podologen en welke artsen de theorie volgen. Vijf: de drukmeting geïnstalleerd vóór uw technologiesessie in december. Rechts twee punten waarover we uw mening vragen. Het eerste: bijspringen. Het risicoplan van de aanvraag voorziet dat andere centra bijspringen als een centrum achterblijft: wie sneller gaat, includeert door tot de 144 er zijn. Daarvoor moeten we afspreken tot hoeveel deelnemers een centrum mag gaan, en zijn er extra enveloppen nodig. Het tweede: twaalf maanden inclusie in plaats van achttien. Dat kost uw team in totaal evenveel uren, alleen sneller; maar met achttien maanden valt de laatste visite in 2030, en dan blijft er voor ons geen tijd voor de verwerking.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 slot een ronde per centrum, telkens kort, aan de hand van dezelfde vijf vragen. Of de drukmeting er staat en werkt. Wie de opleiding volgt. Hoeveel geschikte patiënten het centrum per maand ziet: dat is de beste toets van de drie per maand, en het vertelt ons vroeg waar we moeten bijspringen. De afvaardiging voor de Executive Board en de Clinical Trial Management Group, zoals op 1 april gevraagd. En vragen of zorgen.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gif"/><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6.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image" Target="../media/image6.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image" Target="../media/image6.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image" Target="../media/image6.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image" Target="../media/image6.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png"/>
          <p:cNvPicPr>
            <a:picLocks noChangeAspect="1"/>
          </p:cNvPicPr>
          <p:nvPr/>
        </p:nvPicPr>
        <p:blipFill>
          <a:blip r:embed="rId2"/>
          <a:stretch>
            <a:fillRect/>
          </a:stretch>
        </p:blipFill>
        <p:spPr>
          <a:xfrm>
            <a:off x="0" y="0"/>
            <a:ext cx="12192000" cy="6858000"/>
          </a:xfrm>
          <a:prstGeom prst="rect">
            <a:avLst/>
          </a:prstGeom>
        </p:spPr>
      </p:pic>
      <p:pic>
        <p:nvPicPr>
          <p:cNvPr id="3" name="Picture 2" descr="cover_0.gif"/>
          <p:cNvPicPr>
            <a:picLocks noChangeAspect="1"/>
          </p:cNvPicPr>
          <p:nvPr/>
        </p:nvPicPr>
        <p:blipFill>
          <a:blip r:embed="rId3"/>
          <a:stretch>
            <a:fillRect/>
          </a:stretch>
        </p:blipFill>
        <p:spPr>
          <a:xfrm>
            <a:off x="7302500" y="812800"/>
            <a:ext cx="4076700" cy="5232400"/>
          </a:xfrm>
          <a:prstGeom prst="rect">
            <a:avLst/>
          </a:prstGeom>
        </p:spPr>
      </p:pic>
      <p:pic>
        <p:nvPicPr>
          <p:cNvPr id="4" name="Picture 3" descr="14abb052316bca6838ae130b0aff4182.png"/>
          <p:cNvPicPr>
            <a:picLocks noChangeAspect="1"/>
          </p:cNvPicPr>
          <p:nvPr/>
        </p:nvPicPr>
        <p:blipFill>
          <a:blip r:embed="rId4"/>
          <a:stretch>
            <a:fillRect/>
          </a:stretch>
        </p:blipFill>
        <p:spPr>
          <a:xfrm>
            <a:off x="812800" y="813054"/>
            <a:ext cx="2235200" cy="824992"/>
          </a:xfrm>
          <a:prstGeom prst="rect">
            <a:avLst/>
          </a:prstGeom>
        </p:spPr>
      </p:pic>
      <p:sp>
        <p:nvSpPr>
          <p:cNvPr id="5" name="TextBox 4"/>
          <p:cNvSpPr txBox="1"/>
          <p:nvPr/>
        </p:nvSpPr>
        <p:spPr>
          <a:xfrm>
            <a:off x="812800" y="1841500"/>
            <a:ext cx="6146800" cy="198120"/>
          </a:xfrm>
          <a:prstGeom prst="rect">
            <a:avLst/>
          </a:prstGeom>
          <a:noFill/>
        </p:spPr>
        <p:txBody>
          <a:bodyPr wrap="none" lIns="0" rIns="0" tIns="0" bIns="0" anchor="t">
            <a:noAutofit/>
          </a:bodyPr>
          <a:lstStyle/>
          <a:p>
            <a:pPr algn="l"/>
            <a:r>
              <a:rPr sz="1200" b="0" i="0" spc="200">
                <a:solidFill>
                  <a:srgbClr val="52BDEC"/>
                </a:solidFill>
                <a:latin typeface="JetBrains Mono"/>
              </a:rPr>
              <a:t>PARADISE · VOETKLINIEKEN · 12 OKTOBER 2026</a:t>
            </a:r>
          </a:p>
        </p:txBody>
      </p:sp>
      <p:sp>
        <p:nvSpPr>
          <p:cNvPr id="6" name="TextBox 5"/>
          <p:cNvSpPr txBox="1"/>
          <p:nvPr/>
        </p:nvSpPr>
        <p:spPr>
          <a:xfrm>
            <a:off x="812800" y="2241550"/>
            <a:ext cx="6217920" cy="1524000"/>
          </a:xfrm>
          <a:prstGeom prst="rect">
            <a:avLst/>
          </a:prstGeom>
          <a:noFill/>
        </p:spPr>
        <p:txBody>
          <a:bodyPr wrap="square" lIns="0" rIns="0" tIns="0" bIns="0" anchor="t">
            <a:noAutofit/>
          </a:bodyPr>
          <a:lstStyle/>
          <a:p>
            <a:pPr algn="l">
              <a:lnSpc>
                <a:spcPts val="6000"/>
              </a:lnSpc>
            </a:pPr>
            <a:r>
              <a:rPr sz="6000" b="0" i="0" spc="-100">
                <a:solidFill>
                  <a:srgbClr val="F2F8FC"/>
                </a:solidFill>
                <a:latin typeface="DM Serif Display"/>
              </a:rPr>
              <a:t>Eerste officiële meeting</a:t>
            </a:r>
          </a:p>
        </p:txBody>
      </p:sp>
      <p:sp>
        <p:nvSpPr>
          <p:cNvPr id="7" name="Rounded Rectangle 6"/>
          <p:cNvSpPr/>
          <p:nvPr/>
        </p:nvSpPr>
        <p:spPr>
          <a:xfrm>
            <a:off x="812800" y="5486400"/>
            <a:ext cx="2667000" cy="558800"/>
          </a:xfrm>
          <a:prstGeom prst="roundRect">
            <a:avLst>
              <a:gd name="adj" fmla="val 18181"/>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75504389baacf5fb07e89c0ba89ea558.png"/>
          <p:cNvPicPr>
            <a:picLocks noChangeAspect="1"/>
          </p:cNvPicPr>
          <p:nvPr/>
        </p:nvPicPr>
        <p:blipFill>
          <a:blip r:embed="rId5"/>
          <a:stretch>
            <a:fillRect/>
          </a:stretch>
        </p:blipFill>
        <p:spPr>
          <a:xfrm>
            <a:off x="977900" y="5588000"/>
            <a:ext cx="1244600" cy="355600"/>
          </a:xfrm>
          <a:prstGeom prst="rect">
            <a:avLst/>
          </a:prstGeom>
        </p:spPr>
      </p:pic>
      <p:pic>
        <p:nvPicPr>
          <p:cNvPr id="9" name="Picture 8" descr="228c2b11ec878f28c18f6d8655b98aa7.png"/>
          <p:cNvPicPr>
            <a:picLocks noChangeAspect="1"/>
          </p:cNvPicPr>
          <p:nvPr/>
        </p:nvPicPr>
        <p:blipFill>
          <a:blip r:embed="rId6"/>
          <a:stretch>
            <a:fillRect/>
          </a:stretch>
        </p:blipFill>
        <p:spPr>
          <a:xfrm>
            <a:off x="2400300" y="5597526"/>
            <a:ext cx="939205" cy="336548"/>
          </a:xfrm>
          <a:prstGeom prst="rect">
            <a:avLst/>
          </a:prstGeom>
        </p:spPr>
      </p:pic>
    </p:spTree>
  </p:cSld>
  <p:clrMapOvr>
    <a:masterClrMapping/>
  </p:clrMapOvr>
  <p:transition xmlns:p14="http://schemas.microsoft.com/office/powerpoint/2010/main" spd="med" p14:dur="700">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AGENDA</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Wat we vandaag overlopen</a:t>
            </a:r>
          </a:p>
        </p:txBody>
      </p:sp>
      <p:sp>
        <p:nvSpPr>
          <p:cNvPr id="4" name="TextBox 3"/>
          <p:cNvSpPr txBox="1"/>
          <p:nvPr/>
        </p:nvSpPr>
        <p:spPr>
          <a:xfrm>
            <a:off x="812800" y="196334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01</a:t>
            </a:r>
          </a:p>
        </p:txBody>
      </p:sp>
      <p:sp>
        <p:nvSpPr>
          <p:cNvPr id="5" name="TextBox 4"/>
          <p:cNvSpPr txBox="1"/>
          <p:nvPr/>
        </p:nvSpPr>
        <p:spPr>
          <a:xfrm>
            <a:off x="1397000" y="194429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Stand van zaken</a:t>
            </a:r>
          </a:p>
        </p:txBody>
      </p:sp>
      <p:sp>
        <p:nvSpPr>
          <p:cNvPr id="6" name="Rectangle 5"/>
          <p:cNvSpPr/>
          <p:nvPr/>
        </p:nvSpPr>
        <p:spPr>
          <a:xfrm>
            <a:off x="812800" y="2315766"/>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2442766"/>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02</a:t>
            </a:r>
          </a:p>
        </p:txBody>
      </p:sp>
      <p:sp>
        <p:nvSpPr>
          <p:cNvPr id="8" name="TextBox 7"/>
          <p:cNvSpPr txBox="1"/>
          <p:nvPr/>
        </p:nvSpPr>
        <p:spPr>
          <a:xfrm>
            <a:off x="1397000" y="2423716"/>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Ontwikkelingen sinds 1 april</a:t>
            </a:r>
          </a:p>
        </p:txBody>
      </p:sp>
      <p:sp>
        <p:nvSpPr>
          <p:cNvPr id="9" name="Rectangle 8"/>
          <p:cNvSpPr/>
          <p:nvPr/>
        </p:nvSpPr>
        <p:spPr>
          <a:xfrm>
            <a:off x="812800" y="2795191"/>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292219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03</a:t>
            </a:r>
          </a:p>
        </p:txBody>
      </p:sp>
      <p:sp>
        <p:nvSpPr>
          <p:cNvPr id="11" name="TextBox 10"/>
          <p:cNvSpPr txBox="1"/>
          <p:nvPr/>
        </p:nvSpPr>
        <p:spPr>
          <a:xfrm>
            <a:off x="1397000" y="290314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Werkpakketten</a:t>
            </a:r>
          </a:p>
        </p:txBody>
      </p:sp>
      <p:sp>
        <p:nvSpPr>
          <p:cNvPr id="12" name="Rectangle 11"/>
          <p:cNvSpPr/>
          <p:nvPr/>
        </p:nvSpPr>
        <p:spPr>
          <a:xfrm>
            <a:off x="812800" y="3274616"/>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3401616"/>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04</a:t>
            </a:r>
          </a:p>
        </p:txBody>
      </p:sp>
      <p:sp>
        <p:nvSpPr>
          <p:cNvPr id="14" name="TextBox 13"/>
          <p:cNvSpPr txBox="1"/>
          <p:nvPr/>
        </p:nvSpPr>
        <p:spPr>
          <a:xfrm>
            <a:off x="1397000" y="3382566"/>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Aandachtspunten</a:t>
            </a:r>
          </a:p>
        </p:txBody>
      </p:sp>
      <p:sp>
        <p:nvSpPr>
          <p:cNvPr id="15" name="Rectangle 14"/>
          <p:cNvSpPr/>
          <p:nvPr/>
        </p:nvSpPr>
        <p:spPr>
          <a:xfrm>
            <a:off x="812800" y="3754041"/>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2800" y="388104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05</a:t>
            </a:r>
          </a:p>
        </p:txBody>
      </p:sp>
      <p:sp>
        <p:nvSpPr>
          <p:cNvPr id="17" name="TextBox 16"/>
          <p:cNvSpPr txBox="1"/>
          <p:nvPr/>
        </p:nvSpPr>
        <p:spPr>
          <a:xfrm>
            <a:off x="1397000" y="386199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Mijlpalen en planning</a:t>
            </a:r>
          </a:p>
        </p:txBody>
      </p:sp>
      <p:sp>
        <p:nvSpPr>
          <p:cNvPr id="18" name="Rectangle 17"/>
          <p:cNvSpPr/>
          <p:nvPr/>
        </p:nvSpPr>
        <p:spPr>
          <a:xfrm>
            <a:off x="812800" y="4233466"/>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2800" y="4360466"/>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06</a:t>
            </a:r>
          </a:p>
        </p:txBody>
      </p:sp>
      <p:sp>
        <p:nvSpPr>
          <p:cNvPr id="20" name="TextBox 19"/>
          <p:cNvSpPr txBox="1"/>
          <p:nvPr/>
        </p:nvSpPr>
        <p:spPr>
          <a:xfrm>
            <a:off x="1397000" y="4341416"/>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Bespreking</a:t>
            </a:r>
          </a:p>
        </p:txBody>
      </p:sp>
      <p:sp>
        <p:nvSpPr>
          <p:cNvPr id="21" name="Rectangle 20"/>
          <p:cNvSpPr/>
          <p:nvPr/>
        </p:nvSpPr>
        <p:spPr>
          <a:xfrm>
            <a:off x="812800" y="4712891"/>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2800" y="483989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07</a:t>
            </a:r>
          </a:p>
        </p:txBody>
      </p:sp>
      <p:sp>
        <p:nvSpPr>
          <p:cNvPr id="23" name="TextBox 22"/>
          <p:cNvSpPr txBox="1"/>
          <p:nvPr/>
        </p:nvSpPr>
        <p:spPr>
          <a:xfrm>
            <a:off x="1397000" y="482084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Tour de table</a:t>
            </a:r>
          </a:p>
        </p:txBody>
      </p:sp>
      <p:pic>
        <p:nvPicPr>
          <p:cNvPr id="24" name="Picture 23"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5" name="TextBox 2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Tree>
  </p:cSld>
  <p:clrMapOvr>
    <a:masterClrMapping/>
  </p:clrMapOvr>
  <p:transition xmlns:p14="http://schemas.microsoft.com/office/powerpoint/2010/main" spd="med" p14:dur="700">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4114800" cy="198120"/>
          </a:xfrm>
          <a:prstGeom prst="rect">
            <a:avLst/>
          </a:prstGeom>
          <a:noFill/>
        </p:spPr>
        <p:txBody>
          <a:bodyPr wrap="none" lIns="0" rIns="0" tIns="0" bIns="0" anchor="t">
            <a:noAutofit/>
          </a:bodyPr>
          <a:lstStyle/>
          <a:p>
            <a:pPr algn="l"/>
            <a:r>
              <a:rPr sz="1200" b="0" i="0" spc="200">
                <a:solidFill>
                  <a:srgbClr val="0B6E8F"/>
                </a:solidFill>
                <a:latin typeface="JetBrains Mono"/>
              </a:rPr>
              <a:t>1 · STAND VAN ZAKEN</a:t>
            </a:r>
          </a:p>
        </p:txBody>
      </p:sp>
      <p:sp>
        <p:nvSpPr>
          <p:cNvPr id="3" name="TextBox 2"/>
          <p:cNvSpPr txBox="1"/>
          <p:nvPr/>
        </p:nvSpPr>
        <p:spPr>
          <a:xfrm>
            <a:off x="812800" y="1111250"/>
            <a:ext cx="4145280" cy="1005681"/>
          </a:xfrm>
          <a:prstGeom prst="rect">
            <a:avLst/>
          </a:prstGeom>
          <a:noFill/>
        </p:spPr>
        <p:txBody>
          <a:bodyPr wrap="square" lIns="0" rIns="0" tIns="0" bIns="0" anchor="t">
            <a:noAutofit/>
          </a:bodyPr>
          <a:lstStyle/>
          <a:p>
            <a:pPr algn="l">
              <a:lnSpc>
                <a:spcPts val="3960"/>
              </a:lnSpc>
            </a:pPr>
            <a:r>
              <a:rPr sz="3600" b="0" i="0" spc="-50">
                <a:solidFill>
                  <a:srgbClr val="0A2540"/>
                </a:solidFill>
                <a:latin typeface="DM Serif Display"/>
              </a:rPr>
              <a:t>144 deelnemers, zes voetklinieken</a:t>
            </a:r>
          </a:p>
        </p:txBody>
      </p:sp>
      <p:sp>
        <p:nvSpPr>
          <p:cNvPr id="4" name="TextBox 3"/>
          <p:cNvSpPr txBox="1"/>
          <p:nvPr/>
        </p:nvSpPr>
        <p:spPr>
          <a:xfrm>
            <a:off x="812800" y="2485231"/>
            <a:ext cx="812800" cy="508000"/>
          </a:xfrm>
          <a:prstGeom prst="rect">
            <a:avLst/>
          </a:prstGeom>
          <a:noFill/>
        </p:spPr>
        <p:txBody>
          <a:bodyPr wrap="none" lIns="0" rIns="0" tIns="0" bIns="0" anchor="t">
            <a:noAutofit/>
          </a:bodyPr>
          <a:lstStyle/>
          <a:p>
            <a:pPr algn="l">
              <a:lnSpc>
                <a:spcPts val="4000"/>
              </a:lnSpc>
            </a:pPr>
            <a:r>
              <a:rPr sz="4000" b="0" i="0">
                <a:solidFill>
                  <a:srgbClr val="0A2540"/>
                </a:solidFill>
                <a:latin typeface="DM Serif Display"/>
              </a:rPr>
              <a:t>24</a:t>
            </a:r>
          </a:p>
        </p:txBody>
      </p:sp>
      <p:sp>
        <p:nvSpPr>
          <p:cNvPr id="5" name="TextBox 4"/>
          <p:cNvSpPr txBox="1"/>
          <p:nvPr/>
        </p:nvSpPr>
        <p:spPr>
          <a:xfrm>
            <a:off x="1778000" y="2739231"/>
            <a:ext cx="3031236" cy="480020"/>
          </a:xfrm>
          <a:prstGeom prst="rect">
            <a:avLst/>
          </a:prstGeom>
          <a:noFill/>
        </p:spPr>
        <p:txBody>
          <a:bodyPr wrap="square" lIns="0" rIns="0" tIns="0" bIns="0" anchor="t">
            <a:noAutofit/>
          </a:bodyPr>
          <a:lstStyle/>
          <a:p>
            <a:pPr algn="l">
              <a:lnSpc>
                <a:spcPts val="1889"/>
              </a:lnSpc>
            </a:pPr>
            <a:r>
              <a:rPr sz="1400" b="0" i="0">
                <a:solidFill>
                  <a:srgbClr val="3A4F63"/>
                </a:solidFill>
                <a:latin typeface="DM Sans"/>
              </a:rPr>
              <a:t>per centrum: 12 in PARADISE, 12 in gebruikelijke zorg</a:t>
            </a:r>
          </a:p>
        </p:txBody>
      </p:sp>
      <p:sp>
        <p:nvSpPr>
          <p:cNvPr id="6" name="Rectangle 5"/>
          <p:cNvSpPr/>
          <p:nvPr/>
        </p:nvSpPr>
        <p:spPr>
          <a:xfrm>
            <a:off x="812800" y="3333552"/>
            <a:ext cx="3937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3454202"/>
            <a:ext cx="812800" cy="508000"/>
          </a:xfrm>
          <a:prstGeom prst="rect">
            <a:avLst/>
          </a:prstGeom>
          <a:noFill/>
        </p:spPr>
        <p:txBody>
          <a:bodyPr wrap="none" lIns="0" rIns="0" tIns="0" bIns="0" anchor="t">
            <a:noAutofit/>
          </a:bodyPr>
          <a:lstStyle/>
          <a:p>
            <a:pPr algn="l">
              <a:lnSpc>
                <a:spcPts val="4000"/>
              </a:lnSpc>
            </a:pPr>
            <a:r>
              <a:rPr sz="4000" b="0" i="0">
                <a:solidFill>
                  <a:srgbClr val="0A2540"/>
                </a:solidFill>
                <a:latin typeface="DM Serif Display"/>
              </a:rPr>
              <a:t>18</a:t>
            </a:r>
          </a:p>
        </p:txBody>
      </p:sp>
      <p:sp>
        <p:nvSpPr>
          <p:cNvPr id="8" name="TextBox 7"/>
          <p:cNvSpPr txBox="1"/>
          <p:nvPr/>
        </p:nvSpPr>
        <p:spPr>
          <a:xfrm>
            <a:off x="1778000" y="3708202"/>
            <a:ext cx="3022600"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maanden opvolging per deelnemer</a:t>
            </a:r>
          </a:p>
        </p:txBody>
      </p:sp>
      <p:sp>
        <p:nvSpPr>
          <p:cNvPr id="9" name="Rectangle 8"/>
          <p:cNvSpPr/>
          <p:nvPr/>
        </p:nvSpPr>
        <p:spPr>
          <a:xfrm>
            <a:off x="812800" y="4076502"/>
            <a:ext cx="3937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4197152"/>
            <a:ext cx="812800" cy="508000"/>
          </a:xfrm>
          <a:prstGeom prst="rect">
            <a:avLst/>
          </a:prstGeom>
          <a:noFill/>
        </p:spPr>
        <p:txBody>
          <a:bodyPr wrap="none" lIns="0" rIns="0" tIns="0" bIns="0" anchor="t">
            <a:noAutofit/>
          </a:bodyPr>
          <a:lstStyle/>
          <a:p>
            <a:pPr algn="l">
              <a:lnSpc>
                <a:spcPts val="4000"/>
              </a:lnSpc>
            </a:pPr>
            <a:r>
              <a:rPr sz="4000" b="0" i="0">
                <a:solidFill>
                  <a:srgbClr val="0A2540"/>
                </a:solidFill>
                <a:latin typeface="DM Serif Display"/>
              </a:rPr>
              <a:t>1</a:t>
            </a:r>
          </a:p>
        </p:txBody>
      </p:sp>
      <p:sp>
        <p:nvSpPr>
          <p:cNvPr id="11" name="TextBox 10"/>
          <p:cNvSpPr txBox="1"/>
          <p:nvPr/>
        </p:nvSpPr>
        <p:spPr>
          <a:xfrm>
            <a:off x="1778000" y="4451152"/>
            <a:ext cx="3031236" cy="480020"/>
          </a:xfrm>
          <a:prstGeom prst="rect">
            <a:avLst/>
          </a:prstGeom>
          <a:noFill/>
        </p:spPr>
        <p:txBody>
          <a:bodyPr wrap="square" lIns="0" rIns="0" tIns="0" bIns="0" anchor="t">
            <a:noAutofit/>
          </a:bodyPr>
          <a:lstStyle/>
          <a:p>
            <a:pPr algn="l">
              <a:lnSpc>
                <a:spcPts val="1889"/>
              </a:lnSpc>
            </a:pPr>
            <a:r>
              <a:rPr sz="1400" b="0" i="0">
                <a:solidFill>
                  <a:srgbClr val="3A4F63"/>
                </a:solidFill>
                <a:latin typeface="DM Sans"/>
              </a:rPr>
              <a:t>primair eindpunt: voetulcusrecidief over 18 maanden</a:t>
            </a:r>
          </a:p>
        </p:txBody>
      </p:sp>
      <p:sp>
        <p:nvSpPr>
          <p:cNvPr id="12" name="TextBox 11"/>
          <p:cNvSpPr txBox="1"/>
          <p:nvPr/>
        </p:nvSpPr>
        <p:spPr>
          <a:xfrm>
            <a:off x="812800" y="5299472"/>
            <a:ext cx="3987800" cy="222885"/>
          </a:xfrm>
          <a:prstGeom prst="rect">
            <a:avLst/>
          </a:prstGeom>
          <a:noFill/>
        </p:spPr>
        <p:txBody>
          <a:bodyPr wrap="none" lIns="0" rIns="0" tIns="0" bIns="0" anchor="t">
            <a:noAutofit/>
          </a:bodyPr>
          <a:lstStyle/>
          <a:p>
            <a:pPr algn="l">
              <a:lnSpc>
                <a:spcPts val="1755"/>
              </a:lnSpc>
            </a:pPr>
            <a:r>
              <a:rPr sz="1300" b="0" i="0">
                <a:solidFill>
                  <a:srgbClr val="5A6E80"/>
                </a:solidFill>
                <a:latin typeface="DM Sans"/>
              </a:rPr>
              <a:t>De PI loot per centrum, met verzegelde enveloppen.</a:t>
            </a:r>
          </a:p>
        </p:txBody>
      </p:sp>
      <p:pic>
        <p:nvPicPr>
          <p:cNvPr id="13" name="Picture 12" descr="bca0e7442a2bdffe745679463c941007.png"/>
          <p:cNvPicPr>
            <a:picLocks noChangeAspect="1"/>
          </p:cNvPicPr>
          <p:nvPr/>
        </p:nvPicPr>
        <p:blipFill>
          <a:blip r:embed="rId2"/>
          <a:stretch>
            <a:fillRect/>
          </a:stretch>
        </p:blipFill>
        <p:spPr>
          <a:xfrm>
            <a:off x="5207000" y="1521619"/>
            <a:ext cx="6172200" cy="3471862"/>
          </a:xfrm>
          <a:prstGeom prst="rect">
            <a:avLst/>
          </a:prstGeom>
        </p:spPr>
      </p:pic>
      <p:pic>
        <p:nvPicPr>
          <p:cNvPr id="14" name="Picture 13"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5" name="TextBox 1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16" name="TextBox 15"/>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5A6E80"/>
                </a:solidFill>
                <a:latin typeface="JetBrains Mono"/>
              </a:rPr>
              <a:t>Bron · studieprotocol S71769</a:t>
            </a:r>
          </a:p>
        </p:txBody>
      </p:sp>
    </p:spTree>
  </p:cSld>
  <p:clrMapOvr>
    <a:masterClrMapping/>
  </p:clrMapOvr>
  <p:transition xmlns:p14="http://schemas.microsoft.com/office/powerpoint/2010/main" spd="med" p14:dur="700">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1 · STAND VAN ZAKEN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Waar we vandaag staan</a:t>
            </a:r>
          </a:p>
        </p:txBody>
      </p:sp>
      <p:sp>
        <p:nvSpPr>
          <p:cNvPr id="4" name="Rounded Rectangle 3"/>
          <p:cNvSpPr/>
          <p:nvPr/>
        </p:nvSpPr>
        <p:spPr>
          <a:xfrm>
            <a:off x="812800" y="1918891"/>
            <a:ext cx="5194300" cy="1013321"/>
          </a:xfrm>
          <a:prstGeom prst="roundRect">
            <a:avLst>
              <a:gd name="adj" fmla="val 12533"/>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7750" y="2128441"/>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Drukmeting</a:t>
            </a:r>
          </a:p>
        </p:txBody>
      </p:sp>
      <p:sp>
        <p:nvSpPr>
          <p:cNvPr id="6" name="TextBox 5"/>
          <p:cNvSpPr txBox="1"/>
          <p:nvPr/>
        </p:nvSpPr>
        <p:spPr>
          <a:xfrm>
            <a:off x="1047750" y="2448421"/>
            <a:ext cx="4775200" cy="274320"/>
          </a:xfrm>
          <a:prstGeom prst="rect">
            <a:avLst/>
          </a:prstGeom>
          <a:noFill/>
        </p:spPr>
        <p:txBody>
          <a:bodyPr wrap="none" lIns="0" rIns="0" tIns="0" bIns="0" anchor="t">
            <a:noAutofit/>
          </a:bodyPr>
          <a:lstStyle/>
          <a:p>
            <a:pPr algn="l">
              <a:lnSpc>
                <a:spcPts val="2160"/>
              </a:lnSpc>
            </a:pPr>
            <a:r>
              <a:rPr sz="1600" b="0" i="0">
                <a:solidFill>
                  <a:srgbClr val="C5D8E8"/>
                </a:solidFill>
                <a:latin typeface="DM Sans"/>
              </a:rPr>
              <a:t>Novel pedar geleverd; installatie loopt</a:t>
            </a:r>
          </a:p>
        </p:txBody>
      </p:sp>
      <p:sp>
        <p:nvSpPr>
          <p:cNvPr id="7" name="Rounded Rectangle 6"/>
          <p:cNvSpPr/>
          <p:nvPr/>
        </p:nvSpPr>
        <p:spPr>
          <a:xfrm>
            <a:off x="6184900" y="1918891"/>
            <a:ext cx="5194300" cy="1013321"/>
          </a:xfrm>
          <a:prstGeom prst="roundRect">
            <a:avLst>
              <a:gd name="adj" fmla="val 12533"/>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19850" y="2128441"/>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Databank</a:t>
            </a:r>
          </a:p>
        </p:txBody>
      </p:sp>
      <p:sp>
        <p:nvSpPr>
          <p:cNvPr id="9" name="TextBox 8"/>
          <p:cNvSpPr txBox="1"/>
          <p:nvPr/>
        </p:nvSpPr>
        <p:spPr>
          <a:xfrm>
            <a:off x="6419850" y="2448421"/>
            <a:ext cx="4775200" cy="274320"/>
          </a:xfrm>
          <a:prstGeom prst="rect">
            <a:avLst/>
          </a:prstGeom>
          <a:noFill/>
        </p:spPr>
        <p:txBody>
          <a:bodyPr wrap="none" lIns="0" rIns="0" tIns="0" bIns="0" anchor="t">
            <a:noAutofit/>
          </a:bodyPr>
          <a:lstStyle/>
          <a:p>
            <a:pPr algn="l">
              <a:lnSpc>
                <a:spcPts val="2160"/>
              </a:lnSpc>
            </a:pPr>
            <a:r>
              <a:rPr sz="1600" b="0" i="0">
                <a:solidFill>
                  <a:srgbClr val="C5D8E8"/>
                </a:solidFill>
                <a:latin typeface="DM Sans"/>
              </a:rPr>
              <a:t>REDCap klaar; u werkt op papier</a:t>
            </a:r>
          </a:p>
        </p:txBody>
      </p:sp>
      <p:sp>
        <p:nvSpPr>
          <p:cNvPr id="10" name="Rounded Rectangle 9"/>
          <p:cNvSpPr/>
          <p:nvPr/>
        </p:nvSpPr>
        <p:spPr>
          <a:xfrm>
            <a:off x="812800" y="3110012"/>
            <a:ext cx="5194300" cy="1013321"/>
          </a:xfrm>
          <a:prstGeom prst="roundRect">
            <a:avLst>
              <a:gd name="adj" fmla="val 12533"/>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47750" y="3319562"/>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Opleidingen</a:t>
            </a:r>
          </a:p>
        </p:txBody>
      </p:sp>
      <p:sp>
        <p:nvSpPr>
          <p:cNvPr id="12" name="TextBox 11"/>
          <p:cNvSpPr txBox="1"/>
          <p:nvPr/>
        </p:nvSpPr>
        <p:spPr>
          <a:xfrm>
            <a:off x="1047750" y="3639542"/>
            <a:ext cx="4775200" cy="274320"/>
          </a:xfrm>
          <a:prstGeom prst="rect">
            <a:avLst/>
          </a:prstGeom>
          <a:noFill/>
        </p:spPr>
        <p:txBody>
          <a:bodyPr wrap="none" lIns="0" rIns="0" tIns="0" bIns="0" anchor="t">
            <a:noAutofit/>
          </a:bodyPr>
          <a:lstStyle/>
          <a:p>
            <a:pPr algn="l">
              <a:lnSpc>
                <a:spcPts val="2160"/>
              </a:lnSpc>
            </a:pPr>
            <a:r>
              <a:rPr sz="1600" b="0" i="0">
                <a:solidFill>
                  <a:srgbClr val="C5D8E8"/>
                </a:solidFill>
                <a:latin typeface="DM Sans"/>
              </a:rPr>
              <a:t>10 november tot maart</a:t>
            </a:r>
          </a:p>
        </p:txBody>
      </p:sp>
      <p:sp>
        <p:nvSpPr>
          <p:cNvPr id="13" name="Rounded Rectangle 12"/>
          <p:cNvSpPr/>
          <p:nvPr/>
        </p:nvSpPr>
        <p:spPr>
          <a:xfrm>
            <a:off x="6184900" y="3110012"/>
            <a:ext cx="5194300" cy="1013321"/>
          </a:xfrm>
          <a:prstGeom prst="roundRect">
            <a:avLst>
              <a:gd name="adj" fmla="val 12533"/>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19850" y="3319562"/>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Start</a:t>
            </a:r>
          </a:p>
        </p:txBody>
      </p:sp>
      <p:sp>
        <p:nvSpPr>
          <p:cNvPr id="15" name="TextBox 14"/>
          <p:cNvSpPr txBox="1"/>
          <p:nvPr/>
        </p:nvSpPr>
        <p:spPr>
          <a:xfrm>
            <a:off x="6419850" y="3639542"/>
            <a:ext cx="4775200" cy="274320"/>
          </a:xfrm>
          <a:prstGeom prst="rect">
            <a:avLst/>
          </a:prstGeom>
          <a:noFill/>
        </p:spPr>
        <p:txBody>
          <a:bodyPr wrap="none" lIns="0" rIns="0" tIns="0" bIns="0" anchor="t">
            <a:noAutofit/>
          </a:bodyPr>
          <a:lstStyle/>
          <a:p>
            <a:pPr algn="l">
              <a:lnSpc>
                <a:spcPts val="2160"/>
              </a:lnSpc>
            </a:pPr>
            <a:r>
              <a:rPr sz="1600" b="0" i="0">
                <a:solidFill>
                  <a:srgbClr val="C5D8E8"/>
                </a:solidFill>
                <a:latin typeface="DM Sans"/>
              </a:rPr>
              <a:t>Februari 2027: piloot, Go/No-Go, eerste patiënt</a:t>
            </a:r>
          </a:p>
        </p:txBody>
      </p:sp>
      <p:pic>
        <p:nvPicPr>
          <p:cNvPr id="16" name="Picture 1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17" name="TextBox 1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18" name="TextBox 17"/>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30 september 2026 · REDCap-opzet</a:t>
            </a:r>
          </a:p>
        </p:txBody>
      </p:sp>
    </p:spTree>
  </p:cSld>
  <p:clrMapOvr>
    <a:masterClrMapping/>
  </p:clrMapOvr>
  <p:transition xmlns:p14="http://schemas.microsoft.com/office/powerpoint/2010/main" spd="med" p14:dur="700">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1 · STAND VAN ZAKEN · ETHISCHE GOEDKEURING</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Goedkeuring per centrum</a:t>
            </a:r>
          </a:p>
        </p:txBody>
      </p:sp>
      <p:sp>
        <p:nvSpPr>
          <p:cNvPr id="4" name="Rounded Rectangle 3"/>
          <p:cNvSpPr/>
          <p:nvPr/>
        </p:nvSpPr>
        <p:spPr>
          <a:xfrm>
            <a:off x="812800" y="1817291"/>
            <a:ext cx="5194300" cy="457200"/>
          </a:xfrm>
          <a:prstGeom prst="roundRect">
            <a:avLst>
              <a:gd name="adj" fmla="val 22222"/>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84250" y="1947466"/>
            <a:ext cx="2592090" cy="198120"/>
          </a:xfrm>
          <a:prstGeom prst="rect">
            <a:avLst/>
          </a:prstGeom>
          <a:noFill/>
        </p:spPr>
        <p:txBody>
          <a:bodyPr wrap="none" lIns="0" rIns="0" tIns="0" bIns="0" anchor="t">
            <a:noAutofit/>
          </a:bodyPr>
          <a:lstStyle/>
          <a:p>
            <a:pPr algn="l"/>
            <a:r>
              <a:rPr sz="1200" b="0" i="0" spc="150">
                <a:solidFill>
                  <a:srgbClr val="0B6E8F"/>
                </a:solidFill>
                <a:latin typeface="JetBrains Mono"/>
              </a:rPr>
              <a:t>CENTRAAL · EC UZ LEUVEN</a:t>
            </a:r>
          </a:p>
        </p:txBody>
      </p:sp>
      <p:sp>
        <p:nvSpPr>
          <p:cNvPr id="6" name="TextBox 5"/>
          <p:cNvSpPr txBox="1"/>
          <p:nvPr/>
        </p:nvSpPr>
        <p:spPr>
          <a:xfrm>
            <a:off x="3677940" y="1937941"/>
            <a:ext cx="2208510" cy="215900"/>
          </a:xfrm>
          <a:prstGeom prst="rect">
            <a:avLst/>
          </a:prstGeom>
          <a:noFill/>
        </p:spPr>
        <p:txBody>
          <a:bodyPr wrap="none" lIns="0" rIns="0" tIns="0" bIns="0" anchor="t">
            <a:noAutofit/>
          </a:bodyPr>
          <a:lstStyle/>
          <a:p>
            <a:pPr algn="l"/>
            <a:r>
              <a:rPr sz="1300" b="0" i="0">
                <a:solidFill>
                  <a:srgbClr val="5A6E80"/>
                </a:solidFill>
                <a:latin typeface="DM Sans"/>
              </a:rPr>
              <a:t>…</a:t>
            </a:r>
          </a:p>
        </p:txBody>
      </p:sp>
      <p:sp>
        <p:nvSpPr>
          <p:cNvPr id="7" name="Rounded Rectangle 6"/>
          <p:cNvSpPr/>
          <p:nvPr/>
        </p:nvSpPr>
        <p:spPr>
          <a:xfrm>
            <a:off x="6184900" y="1817291"/>
            <a:ext cx="5194300" cy="457200"/>
          </a:xfrm>
          <a:prstGeom prst="roundRect">
            <a:avLst>
              <a:gd name="adj" fmla="val 22222"/>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356350" y="1947466"/>
            <a:ext cx="492820" cy="198120"/>
          </a:xfrm>
          <a:prstGeom prst="rect">
            <a:avLst/>
          </a:prstGeom>
          <a:noFill/>
        </p:spPr>
        <p:txBody>
          <a:bodyPr wrap="none" lIns="0" rIns="0" tIns="0" bIns="0" anchor="t">
            <a:noAutofit/>
          </a:bodyPr>
          <a:lstStyle/>
          <a:p>
            <a:pPr algn="l"/>
            <a:r>
              <a:rPr sz="1200" b="0" i="0" spc="150">
                <a:solidFill>
                  <a:srgbClr val="0B6E8F"/>
                </a:solidFill>
                <a:latin typeface="JetBrains Mono"/>
              </a:rPr>
              <a:t>FAGG</a:t>
            </a:r>
          </a:p>
        </p:txBody>
      </p:sp>
      <p:sp>
        <p:nvSpPr>
          <p:cNvPr id="9" name="TextBox 8"/>
          <p:cNvSpPr txBox="1"/>
          <p:nvPr/>
        </p:nvSpPr>
        <p:spPr>
          <a:xfrm>
            <a:off x="6950770" y="1937941"/>
            <a:ext cx="4307780" cy="215900"/>
          </a:xfrm>
          <a:prstGeom prst="rect">
            <a:avLst/>
          </a:prstGeom>
          <a:noFill/>
        </p:spPr>
        <p:txBody>
          <a:bodyPr wrap="none" lIns="0" rIns="0" tIns="0" bIns="0" anchor="t">
            <a:noAutofit/>
          </a:bodyPr>
          <a:lstStyle/>
          <a:p>
            <a:pPr algn="l"/>
            <a:r>
              <a:rPr sz="1300" b="0" i="0">
                <a:solidFill>
                  <a:srgbClr val="5A6E80"/>
                </a:solidFill>
                <a:latin typeface="DM Sans"/>
              </a:rPr>
              <a:t>…</a:t>
            </a:r>
          </a:p>
        </p:txBody>
      </p:sp>
      <p:graphicFrame>
        <p:nvGraphicFramePr>
          <p:cNvPr id="10" name="Table 9"/>
          <p:cNvGraphicFramePr>
            <a:graphicFrameLocks noGrp="1"/>
          </p:cNvGraphicFramePr>
          <p:nvPr/>
        </p:nvGraphicFramePr>
        <p:xfrm>
          <a:off x="812800" y="2477691"/>
          <a:ext cx="10560050" cy="2776141"/>
        </p:xfrm>
        <a:graphic>
          <a:graphicData uri="http://schemas.openxmlformats.org/drawingml/2006/table">
            <a:tbl>
              <a:tblPr firstRow="0" bandRow="0">
                <a:tableStyleId>{2D5ABB26-0587-4C30-8999-92F81FD0307C}</a:tableStyleId>
              </a:tblPr>
              <a:tblGrid>
                <a:gridCol w="2323207"/>
                <a:gridCol w="1689596"/>
                <a:gridCol w="1689596"/>
                <a:gridCol w="1689596"/>
                <a:gridCol w="3168055"/>
              </a:tblGrid>
              <a:tr h="337741">
                <a:tc>
                  <a:txBody>
                    <a:bodyPr wrap="square"/>
                    <a:lstStyle/>
                    <a:p>
                      <a:pPr algn="l"/>
                      <a:r>
                        <a:rPr sz="1300" b="1" i="0">
                          <a:solidFill>
                            <a:srgbClr val="3A4F63"/>
                          </a:solidFill>
                          <a:latin typeface="DM Sans"/>
                        </a:rPr>
                        <a:t>Centrum</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Lokaal ingediend</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Goedgekeurd</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Contract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Opmerking</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r>
              <a:tr h="406400">
                <a:tc>
                  <a:txBody>
                    <a:bodyPr wrap="square"/>
                    <a:lstStyle/>
                    <a:p>
                      <a:pPr algn="l"/>
                      <a:r>
                        <a:rPr sz="1300" b="1" i="0">
                          <a:solidFill>
                            <a:srgbClr val="3A4F63"/>
                          </a:solidFill>
                          <a:latin typeface="DM Sans"/>
                        </a:rPr>
                        <a:t>AZ Groeninge Kortrijk</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1" i="0">
                          <a:solidFill>
                            <a:srgbClr val="3A4F63"/>
                          </a:solidFill>
                          <a:latin typeface="DM Sans"/>
                        </a:rPr>
                        <a:t>AZ Sint-Jan Brugge</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1" i="0">
                          <a:solidFill>
                            <a:srgbClr val="3A4F63"/>
                          </a:solidFill>
                          <a:latin typeface="DM Sans"/>
                        </a:rPr>
                        <a:t>UZ Gent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1" i="0">
                          <a:solidFill>
                            <a:srgbClr val="3A4F63"/>
                          </a:solidFill>
                          <a:latin typeface="DM Sans"/>
                        </a:rPr>
                        <a:t>AZORG Aalst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1" i="0">
                          <a:solidFill>
                            <a:srgbClr val="3A4F63"/>
                          </a:solidFill>
                          <a:latin typeface="DM Sans"/>
                        </a:rPr>
                        <a:t>UZ Leuven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1" i="0">
                          <a:solidFill>
                            <a:srgbClr val="3A4F63"/>
                          </a:solidFill>
                          <a:latin typeface="DM Sans"/>
                        </a:rPr>
                        <a:t>UZ Antwerpen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bl>
          </a:graphicData>
        </a:graphic>
      </p:graphicFrame>
      <p:pic>
        <p:nvPicPr>
          <p:cNvPr id="11" name="Picture 10"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12" name="TextBox 11"/>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13" name="TextBox 12"/>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In te vullen · stand op 12 oktober 2026</a:t>
            </a:r>
          </a:p>
        </p:txBody>
      </p:sp>
    </p:spTree>
  </p:cSld>
  <p:clrMapOvr>
    <a:masterClrMapping/>
  </p:clrMapOvr>
  <p:transition xmlns:p14="http://schemas.microsoft.com/office/powerpoint/2010/main" spd="med" p14:dur="700">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1 · STAND VAN ZAKEN · MATERIAAL</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Materiaal per centrum</a:t>
            </a:r>
          </a:p>
        </p:txBody>
      </p:sp>
      <p:graphicFrame>
        <p:nvGraphicFramePr>
          <p:cNvPr id="4" name="Table 3"/>
          <p:cNvGraphicFramePr>
            <a:graphicFrameLocks noGrp="1"/>
          </p:cNvGraphicFramePr>
          <p:nvPr/>
        </p:nvGraphicFramePr>
        <p:xfrm>
          <a:off x="812800" y="1817291"/>
          <a:ext cx="10560051" cy="2776141"/>
        </p:xfrm>
        <a:graphic>
          <a:graphicData uri="http://schemas.openxmlformats.org/drawingml/2006/table">
            <a:tbl>
              <a:tblPr firstRow="0" bandRow="0">
                <a:tableStyleId>{2D5ABB26-0587-4C30-8999-92F81FD0307C}</a:tableStyleId>
              </a:tblPr>
              <a:tblGrid>
                <a:gridCol w="3590429"/>
                <a:gridCol w="1161554"/>
                <a:gridCol w="1161554"/>
                <a:gridCol w="1161554"/>
                <a:gridCol w="1161554"/>
                <a:gridCol w="1161554"/>
                <a:gridCol w="1161852"/>
              </a:tblGrid>
              <a:tr h="337741">
                <a:tc>
                  <a:txBody>
                    <a:bodyPr wrap="square"/>
                    <a:lstStyle/>
                    <a:p>
                      <a:pPr algn="l"/>
                      <a:r>
                        <a:rPr sz="1300" b="1" i="0">
                          <a:solidFill>
                            <a:srgbClr val="3A4F63"/>
                          </a:solidFill>
                          <a:latin typeface="DM Sans"/>
                        </a:rPr>
                        <a:t>Materiaal</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ctr"/>
                      <a:r>
                        <a:rPr sz="1300" b="1" i="0">
                          <a:solidFill>
                            <a:srgbClr val="3A4F63"/>
                          </a:solidFill>
                          <a:latin typeface="DM Sans"/>
                        </a:rPr>
                        <a:t>Kortrijk</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ctr"/>
                      <a:r>
                        <a:rPr sz="1300" b="1" i="0">
                          <a:solidFill>
                            <a:srgbClr val="3A4F63"/>
                          </a:solidFill>
                          <a:latin typeface="DM Sans"/>
                        </a:rPr>
                        <a:t>Brugge</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ctr"/>
                      <a:r>
                        <a:rPr sz="1300" b="1" i="0">
                          <a:solidFill>
                            <a:srgbClr val="3A4F63"/>
                          </a:solidFill>
                          <a:latin typeface="DM Sans"/>
                        </a:rPr>
                        <a:t>Gent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ctr"/>
                      <a:r>
                        <a:rPr sz="1300" b="1" i="0">
                          <a:solidFill>
                            <a:srgbClr val="3A4F63"/>
                          </a:solidFill>
                          <a:latin typeface="DM Sans"/>
                        </a:rPr>
                        <a:t>Aalst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ctr"/>
                      <a:r>
                        <a:rPr sz="1300" b="1" i="0">
                          <a:solidFill>
                            <a:srgbClr val="3A4F63"/>
                          </a:solidFill>
                          <a:latin typeface="DM Sans"/>
                        </a:rPr>
                        <a:t>Leuven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ctr"/>
                      <a:r>
                        <a:rPr sz="1300" b="1" i="0">
                          <a:solidFill>
                            <a:srgbClr val="3A4F63"/>
                          </a:solidFill>
                          <a:latin typeface="DM Sans"/>
                        </a:rPr>
                        <a:t>Antwerpen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r>
              <a:tr h="406400">
                <a:tc>
                  <a:txBody>
                    <a:bodyPr wrap="square"/>
                    <a:lstStyle/>
                    <a:p>
                      <a:pPr algn="l"/>
                      <a:r>
                        <a:rPr sz="1300" b="0" i="0">
                          <a:solidFill>
                            <a:srgbClr val="3A4F63"/>
                          </a:solidFill>
                          <a:latin typeface="DM Sans"/>
                        </a:rPr>
                        <a:t>Novel pedar: laptop, router en twee zenders</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pedar-zolen, vijf maten (UW tot YW)</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Vier MoveMonitors</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Orthotimers en de pen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Dunne, naadloze katoenen sokken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Drukmeettool en draagtijdtool op de pc</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bl>
          </a:graphicData>
        </a:graphic>
      </p:graphicFrame>
      <p:sp>
        <p:nvSpPr>
          <p:cNvPr id="5" name="TextBox 4"/>
          <p:cNvSpPr txBox="1"/>
          <p:nvPr/>
        </p:nvSpPr>
        <p:spPr>
          <a:xfrm>
            <a:off x="812800" y="4802981"/>
            <a:ext cx="10617200" cy="222885"/>
          </a:xfrm>
          <a:prstGeom prst="rect">
            <a:avLst/>
          </a:prstGeom>
          <a:noFill/>
        </p:spPr>
        <p:txBody>
          <a:bodyPr wrap="none" lIns="0" rIns="0" tIns="0" bIns="0" anchor="t">
            <a:noAutofit/>
          </a:bodyPr>
          <a:lstStyle/>
          <a:p>
            <a:pPr algn="l">
              <a:lnSpc>
                <a:spcPts val="1755"/>
              </a:lnSpc>
            </a:pPr>
            <a:r>
              <a:rPr sz="1300" b="0" i="0">
                <a:solidFill>
                  <a:srgbClr val="5A6E80"/>
                </a:solidFill>
                <a:latin typeface="DM Sans"/>
              </a:rPr>
              <a:t>Per vakje: aanwezig, onderweg, of nog te leveren.</a:t>
            </a:r>
          </a:p>
        </p:txBody>
      </p:sp>
      <p:pic>
        <p:nvPicPr>
          <p:cNvPr id="6" name="Picture 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7" name="TextBox 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8" name="TextBox 7"/>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In te vullen · stand op 12 oktober 2026</a:t>
            </a:r>
          </a:p>
        </p:txBody>
      </p:sp>
    </p:spTree>
  </p:cSld>
  <p:clrMapOvr>
    <a:masterClrMapping/>
  </p:clrMapOvr>
  <p:transition xmlns:p14="http://schemas.microsoft.com/office/powerpoint/2010/main" spd="med" p14:dur="700">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2 · SINDS DE VORIGE MEETING VAN 1 APRIL</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Wat intussen vastligt</a:t>
            </a:r>
          </a:p>
        </p:txBody>
      </p:sp>
      <p:sp>
        <p:nvSpPr>
          <p:cNvPr id="4" name="Rounded Rectangle 3"/>
          <p:cNvSpPr/>
          <p:nvPr/>
        </p:nvSpPr>
        <p:spPr>
          <a:xfrm>
            <a:off x="812800" y="1791891"/>
            <a:ext cx="2546350" cy="1601192"/>
          </a:xfrm>
          <a:prstGeom prst="roundRect">
            <a:avLst>
              <a:gd name="adj" fmla="val 793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96950" y="1963341"/>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DRUKMETING</a:t>
            </a:r>
          </a:p>
        </p:txBody>
      </p:sp>
      <p:sp>
        <p:nvSpPr>
          <p:cNvPr id="6" name="TextBox 5"/>
          <p:cNvSpPr txBox="1"/>
          <p:nvPr/>
        </p:nvSpPr>
        <p:spPr>
          <a:xfrm>
            <a:off x="996950" y="2223691"/>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Novel pedar in de kliniek</a:t>
            </a:r>
          </a:p>
        </p:txBody>
      </p:sp>
      <p:sp>
        <p:nvSpPr>
          <p:cNvPr id="7" name="TextBox 6"/>
          <p:cNvSpPr txBox="1"/>
          <p:nvPr/>
        </p:nvSpPr>
        <p:spPr>
          <a:xfrm>
            <a:off x="996950" y="2825552"/>
            <a:ext cx="2228850" cy="396081"/>
          </a:xfrm>
          <a:prstGeom prst="rect">
            <a:avLst/>
          </a:prstGeom>
          <a:noFill/>
        </p:spPr>
        <p:txBody>
          <a:bodyPr wrap="square" lIns="0" rIns="0" tIns="0" bIns="0" anchor="t">
            <a:noAutofit/>
          </a:bodyPr>
          <a:lstStyle/>
          <a:p>
            <a:pPr algn="l">
              <a:lnSpc>
                <a:spcPts val="1560"/>
              </a:lnSpc>
            </a:pPr>
            <a:r>
              <a:rPr sz="1200" b="0" i="0">
                <a:solidFill>
                  <a:srgbClr val="8FB0CA"/>
                </a:solidFill>
                <a:latin typeface="DM Sans"/>
              </a:rPr>
              <a:t>F-Scan GO alleen bij het studieteam</a:t>
            </a:r>
          </a:p>
        </p:txBody>
      </p:sp>
      <p:sp>
        <p:nvSpPr>
          <p:cNvPr id="8" name="Rounded Rectangle 7"/>
          <p:cNvSpPr/>
          <p:nvPr/>
        </p:nvSpPr>
        <p:spPr>
          <a:xfrm>
            <a:off x="3486150" y="1791891"/>
            <a:ext cx="2546350" cy="1601192"/>
          </a:xfrm>
          <a:prstGeom prst="roundRect">
            <a:avLst>
              <a:gd name="adj" fmla="val 793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670300" y="1963341"/>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DRUKNORM</a:t>
            </a:r>
          </a:p>
        </p:txBody>
      </p:sp>
      <p:sp>
        <p:nvSpPr>
          <p:cNvPr id="10" name="TextBox 9"/>
          <p:cNvSpPr txBox="1"/>
          <p:nvPr/>
        </p:nvSpPr>
        <p:spPr>
          <a:xfrm>
            <a:off x="3670300" y="2223691"/>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&lt; 200 kPa óf ≥ 25% lager</a:t>
            </a:r>
          </a:p>
        </p:txBody>
      </p:sp>
      <p:sp>
        <p:nvSpPr>
          <p:cNvPr id="11" name="TextBox 10"/>
          <p:cNvSpPr txBox="1"/>
          <p:nvPr/>
        </p:nvSpPr>
        <p:spPr>
          <a:xfrm>
            <a:off x="3670300" y="2825552"/>
            <a:ext cx="2228850" cy="198120"/>
          </a:xfrm>
          <a:prstGeom prst="rect">
            <a:avLst/>
          </a:prstGeom>
          <a:noFill/>
        </p:spPr>
        <p:txBody>
          <a:bodyPr wrap="none" lIns="0" rIns="0" tIns="0" bIns="0" anchor="t">
            <a:noAutofit/>
          </a:bodyPr>
          <a:lstStyle/>
          <a:p>
            <a:pPr algn="l">
              <a:lnSpc>
                <a:spcPts val="1560"/>
              </a:lnSpc>
            </a:pPr>
            <a:r>
              <a:rPr sz="1200" b="0" i="0">
                <a:solidFill>
                  <a:srgbClr val="8FB0CA"/>
                </a:solidFill>
                <a:latin typeface="DM Sans"/>
              </a:rPr>
              <a:t>dan zonder CMFO op visite 2</a:t>
            </a:r>
          </a:p>
        </p:txBody>
      </p:sp>
      <p:sp>
        <p:nvSpPr>
          <p:cNvPr id="12" name="Rounded Rectangle 11"/>
          <p:cNvSpPr/>
          <p:nvPr/>
        </p:nvSpPr>
        <p:spPr>
          <a:xfrm>
            <a:off x="6159500" y="1791891"/>
            <a:ext cx="2546350" cy="1601192"/>
          </a:xfrm>
          <a:prstGeom prst="roundRect">
            <a:avLst>
              <a:gd name="adj" fmla="val 793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343650" y="1963341"/>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EINDPUNT</a:t>
            </a:r>
          </a:p>
        </p:txBody>
      </p:sp>
      <p:sp>
        <p:nvSpPr>
          <p:cNvPr id="14" name="TextBox 13"/>
          <p:cNvSpPr txBox="1"/>
          <p:nvPr/>
        </p:nvSpPr>
        <p:spPr>
          <a:xfrm>
            <a:off x="6343650" y="2223691"/>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Recidief over 18 maanden</a:t>
            </a:r>
          </a:p>
        </p:txBody>
      </p:sp>
      <p:sp>
        <p:nvSpPr>
          <p:cNvPr id="15" name="TextBox 14"/>
          <p:cNvSpPr txBox="1"/>
          <p:nvPr/>
        </p:nvSpPr>
        <p:spPr>
          <a:xfrm>
            <a:off x="6343650" y="2825552"/>
            <a:ext cx="2228850" cy="198120"/>
          </a:xfrm>
          <a:prstGeom prst="rect">
            <a:avLst/>
          </a:prstGeom>
          <a:noFill/>
        </p:spPr>
        <p:txBody>
          <a:bodyPr wrap="none" lIns="0" rIns="0" tIns="0" bIns="0" anchor="t">
            <a:noAutofit/>
          </a:bodyPr>
          <a:lstStyle/>
          <a:p>
            <a:pPr algn="l">
              <a:lnSpc>
                <a:spcPts val="1560"/>
              </a:lnSpc>
            </a:pPr>
            <a:r>
              <a:rPr sz="1200" b="0" i="0">
                <a:solidFill>
                  <a:srgbClr val="8FB0CA"/>
                </a:solidFill>
                <a:latin typeface="DM Sans"/>
              </a:rPr>
              <a:t>therapietrouw is de mediator</a:t>
            </a:r>
          </a:p>
        </p:txBody>
      </p:sp>
      <p:sp>
        <p:nvSpPr>
          <p:cNvPr id="16" name="Rounded Rectangle 15"/>
          <p:cNvSpPr/>
          <p:nvPr/>
        </p:nvSpPr>
        <p:spPr>
          <a:xfrm>
            <a:off x="8832850" y="1791891"/>
            <a:ext cx="2546350" cy="1601192"/>
          </a:xfrm>
          <a:prstGeom prst="roundRect">
            <a:avLst>
              <a:gd name="adj" fmla="val 793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017000" y="1963341"/>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DRAAGNORM</a:t>
            </a:r>
          </a:p>
        </p:txBody>
      </p:sp>
      <p:sp>
        <p:nvSpPr>
          <p:cNvPr id="18" name="TextBox 17"/>
          <p:cNvSpPr txBox="1"/>
          <p:nvPr/>
        </p:nvSpPr>
        <p:spPr>
          <a:xfrm>
            <a:off x="9017000" y="2223691"/>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80% van de eigen waaktijd</a:t>
            </a:r>
          </a:p>
        </p:txBody>
      </p:sp>
      <p:sp>
        <p:nvSpPr>
          <p:cNvPr id="19" name="TextBox 18"/>
          <p:cNvSpPr txBox="1"/>
          <p:nvPr/>
        </p:nvSpPr>
        <p:spPr>
          <a:xfrm>
            <a:off x="9017000" y="2825552"/>
            <a:ext cx="2228850" cy="396081"/>
          </a:xfrm>
          <a:prstGeom prst="rect">
            <a:avLst/>
          </a:prstGeom>
          <a:noFill/>
        </p:spPr>
        <p:txBody>
          <a:bodyPr wrap="square" lIns="0" rIns="0" tIns="0" bIns="0" anchor="t">
            <a:noAutofit/>
          </a:bodyPr>
          <a:lstStyle/>
          <a:p>
            <a:pPr algn="l">
              <a:lnSpc>
                <a:spcPts val="1560"/>
              </a:lnSpc>
            </a:pPr>
            <a:r>
              <a:rPr sz="1200" b="0" i="0">
                <a:solidFill>
                  <a:srgbClr val="8FB0CA"/>
                </a:solidFill>
                <a:latin typeface="DM Sans"/>
              </a:rPr>
              <a:t>MoveMonitor alleen bij de start</a:t>
            </a:r>
          </a:p>
        </p:txBody>
      </p:sp>
      <p:sp>
        <p:nvSpPr>
          <p:cNvPr id="20" name="Rounded Rectangle 19"/>
          <p:cNvSpPr/>
          <p:nvPr/>
        </p:nvSpPr>
        <p:spPr>
          <a:xfrm>
            <a:off x="812800" y="3520083"/>
            <a:ext cx="2546350" cy="1403152"/>
          </a:xfrm>
          <a:prstGeom prst="roundRect">
            <a:avLst>
              <a:gd name="adj" fmla="val 905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96950" y="3691533"/>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CMFO</a:t>
            </a:r>
          </a:p>
        </p:txBody>
      </p:sp>
      <p:sp>
        <p:nvSpPr>
          <p:cNvPr id="22" name="TextBox 21"/>
          <p:cNvSpPr txBox="1"/>
          <p:nvPr/>
        </p:nvSpPr>
        <p:spPr>
          <a:xfrm>
            <a:off x="996950" y="3951883"/>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Opbouw per schoentype</a:t>
            </a:r>
          </a:p>
        </p:txBody>
      </p:sp>
      <p:sp>
        <p:nvSpPr>
          <p:cNvPr id="23" name="TextBox 22"/>
          <p:cNvSpPr txBox="1"/>
          <p:nvPr/>
        </p:nvSpPr>
        <p:spPr>
          <a:xfrm>
            <a:off x="996950" y="4553744"/>
            <a:ext cx="2228850" cy="198120"/>
          </a:xfrm>
          <a:prstGeom prst="rect">
            <a:avLst/>
          </a:prstGeom>
          <a:noFill/>
        </p:spPr>
        <p:txBody>
          <a:bodyPr wrap="none" lIns="0" rIns="0" tIns="0" bIns="0" anchor="t">
            <a:noAutofit/>
          </a:bodyPr>
          <a:lstStyle/>
          <a:p>
            <a:pPr algn="l">
              <a:lnSpc>
                <a:spcPts val="1560"/>
              </a:lnSpc>
            </a:pPr>
            <a:r>
              <a:rPr sz="1200" b="0" i="0">
                <a:solidFill>
                  <a:srgbClr val="8FB0CA"/>
                </a:solidFill>
                <a:latin typeface="DM Sans"/>
              </a:rPr>
              <a:t>plus een identiek tweede paar</a:t>
            </a:r>
          </a:p>
        </p:txBody>
      </p:sp>
      <p:sp>
        <p:nvSpPr>
          <p:cNvPr id="24" name="Rounded Rectangle 23"/>
          <p:cNvSpPr/>
          <p:nvPr/>
        </p:nvSpPr>
        <p:spPr>
          <a:xfrm>
            <a:off x="3486150" y="3520083"/>
            <a:ext cx="2546350" cy="1403152"/>
          </a:xfrm>
          <a:prstGeom prst="roundRect">
            <a:avLst>
              <a:gd name="adj" fmla="val 905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670300" y="3691533"/>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BLINDERING</a:t>
            </a:r>
          </a:p>
        </p:txBody>
      </p:sp>
      <p:sp>
        <p:nvSpPr>
          <p:cNvPr id="26" name="TextBox 25"/>
          <p:cNvSpPr txBox="1"/>
          <p:nvPr/>
        </p:nvSpPr>
        <p:spPr>
          <a:xfrm>
            <a:off x="3670300" y="3951883"/>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Geen drukwaarden in gebruikelijke zorg</a:t>
            </a:r>
          </a:p>
        </p:txBody>
      </p:sp>
      <p:sp>
        <p:nvSpPr>
          <p:cNvPr id="27" name="TextBox 26"/>
          <p:cNvSpPr txBox="1"/>
          <p:nvPr/>
        </p:nvSpPr>
        <p:spPr>
          <a:xfrm>
            <a:off x="3670300" y="4553744"/>
            <a:ext cx="2228850" cy="198120"/>
          </a:xfrm>
          <a:prstGeom prst="rect">
            <a:avLst/>
          </a:prstGeom>
          <a:noFill/>
        </p:spPr>
        <p:txBody>
          <a:bodyPr wrap="none" lIns="0" rIns="0" tIns="0" bIns="0" anchor="t">
            <a:noAutofit/>
          </a:bodyPr>
          <a:lstStyle/>
          <a:p>
            <a:pPr algn="l">
              <a:lnSpc>
                <a:spcPts val="1560"/>
              </a:lnSpc>
            </a:pPr>
            <a:r>
              <a:rPr sz="1200" b="0" i="0">
                <a:solidFill>
                  <a:srgbClr val="8FB0CA"/>
                </a:solidFill>
                <a:latin typeface="DM Sans"/>
              </a:rPr>
              <a:t>SEBIA-boekje in beide armen</a:t>
            </a:r>
          </a:p>
        </p:txBody>
      </p:sp>
      <p:sp>
        <p:nvSpPr>
          <p:cNvPr id="28" name="Rounded Rectangle 27"/>
          <p:cNvSpPr/>
          <p:nvPr/>
        </p:nvSpPr>
        <p:spPr>
          <a:xfrm>
            <a:off x="6159500" y="3520083"/>
            <a:ext cx="2546350" cy="1403152"/>
          </a:xfrm>
          <a:prstGeom prst="roundRect">
            <a:avLst>
              <a:gd name="adj" fmla="val 905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43650" y="3691533"/>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DATA</a:t>
            </a:r>
          </a:p>
        </p:txBody>
      </p:sp>
      <p:sp>
        <p:nvSpPr>
          <p:cNvPr id="30" name="TextBox 29"/>
          <p:cNvSpPr txBox="1"/>
          <p:nvPr/>
        </p:nvSpPr>
        <p:spPr>
          <a:xfrm>
            <a:off x="6343650" y="3951883"/>
            <a:ext cx="2228850" cy="262890"/>
          </a:xfrm>
          <a:prstGeom prst="rect">
            <a:avLst/>
          </a:prstGeom>
          <a:noFill/>
        </p:spPr>
        <p:txBody>
          <a:bodyPr wrap="none" lIns="0" rIns="0" tIns="0" bIns="0" anchor="t">
            <a:noAutofit/>
          </a:bodyPr>
          <a:lstStyle/>
          <a:p>
            <a:pPr algn="l">
              <a:lnSpc>
                <a:spcPts val="2070"/>
              </a:lnSpc>
            </a:pPr>
            <a:r>
              <a:rPr sz="1800" b="0" i="0">
                <a:solidFill>
                  <a:srgbClr val="F2F8FC"/>
                </a:solidFill>
                <a:latin typeface="DM Serif Display"/>
              </a:rPr>
              <a:t>REDCap klaar</a:t>
            </a:r>
          </a:p>
        </p:txBody>
      </p:sp>
      <p:sp>
        <p:nvSpPr>
          <p:cNvPr id="31" name="TextBox 30"/>
          <p:cNvSpPr txBox="1"/>
          <p:nvPr/>
        </p:nvSpPr>
        <p:spPr>
          <a:xfrm>
            <a:off x="6343650" y="4290913"/>
            <a:ext cx="2228850" cy="198120"/>
          </a:xfrm>
          <a:prstGeom prst="rect">
            <a:avLst/>
          </a:prstGeom>
          <a:noFill/>
        </p:spPr>
        <p:txBody>
          <a:bodyPr wrap="none" lIns="0" rIns="0" tIns="0" bIns="0" anchor="t">
            <a:noAutofit/>
          </a:bodyPr>
          <a:lstStyle/>
          <a:p>
            <a:pPr algn="l">
              <a:lnSpc>
                <a:spcPts val="1560"/>
              </a:lnSpc>
            </a:pPr>
            <a:r>
              <a:rPr sz="1200" b="0" i="0">
                <a:solidFill>
                  <a:srgbClr val="8FB0CA"/>
                </a:solidFill>
                <a:latin typeface="DM Sans"/>
              </a:rPr>
              <a:t>u werkt op papier</a:t>
            </a:r>
          </a:p>
        </p:txBody>
      </p:sp>
      <p:sp>
        <p:nvSpPr>
          <p:cNvPr id="32" name="Rounded Rectangle 31"/>
          <p:cNvSpPr/>
          <p:nvPr/>
        </p:nvSpPr>
        <p:spPr>
          <a:xfrm>
            <a:off x="8832850" y="3520083"/>
            <a:ext cx="2546350" cy="1403152"/>
          </a:xfrm>
          <a:prstGeom prst="roundRect">
            <a:avLst>
              <a:gd name="adj" fmla="val 905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017000" y="3691533"/>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REKRUTERING</a:t>
            </a:r>
          </a:p>
        </p:txBody>
      </p:sp>
      <p:sp>
        <p:nvSpPr>
          <p:cNvPr id="34" name="TextBox 33"/>
          <p:cNvSpPr txBox="1"/>
          <p:nvPr/>
        </p:nvSpPr>
        <p:spPr>
          <a:xfrm>
            <a:off x="9017000" y="3951883"/>
            <a:ext cx="2228850" cy="262890"/>
          </a:xfrm>
          <a:prstGeom prst="rect">
            <a:avLst/>
          </a:prstGeom>
          <a:noFill/>
        </p:spPr>
        <p:txBody>
          <a:bodyPr wrap="none" lIns="0" rIns="0" tIns="0" bIns="0" anchor="t">
            <a:noAutofit/>
          </a:bodyPr>
          <a:lstStyle/>
          <a:p>
            <a:pPr algn="l">
              <a:lnSpc>
                <a:spcPts val="2070"/>
              </a:lnSpc>
            </a:pPr>
            <a:r>
              <a:rPr sz="1800" b="0" i="0">
                <a:solidFill>
                  <a:srgbClr val="F2F8FC"/>
                </a:solidFill>
                <a:latin typeface="DM Serif Display"/>
              </a:rPr>
              <a:t>12 maanden</a:t>
            </a:r>
          </a:p>
        </p:txBody>
      </p:sp>
      <p:sp>
        <p:nvSpPr>
          <p:cNvPr id="35" name="TextBox 34"/>
          <p:cNvSpPr txBox="1"/>
          <p:nvPr/>
        </p:nvSpPr>
        <p:spPr>
          <a:xfrm>
            <a:off x="9017000" y="4290913"/>
            <a:ext cx="2228850" cy="396081"/>
          </a:xfrm>
          <a:prstGeom prst="rect">
            <a:avLst/>
          </a:prstGeom>
          <a:noFill/>
        </p:spPr>
        <p:txBody>
          <a:bodyPr wrap="square" lIns="0" rIns="0" tIns="0" bIns="0" anchor="t">
            <a:noAutofit/>
          </a:bodyPr>
          <a:lstStyle/>
          <a:p>
            <a:pPr algn="l">
              <a:lnSpc>
                <a:spcPts val="1560"/>
              </a:lnSpc>
            </a:pPr>
            <a:r>
              <a:rPr sz="1200" b="0" i="0">
                <a:solidFill>
                  <a:srgbClr val="8FB0CA"/>
                </a:solidFill>
                <a:latin typeface="DM Sans"/>
              </a:rPr>
              <a:t>februari 2027 tot februari 2028</a:t>
            </a:r>
          </a:p>
        </p:txBody>
      </p:sp>
      <p:pic>
        <p:nvPicPr>
          <p:cNvPr id="36" name="Picture 3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7" name="TextBox 3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38" name="TextBox 37"/>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protocol · beslissingen PI aug–sep 2026 · meeting 1 april</a:t>
            </a:r>
          </a:p>
        </p:txBody>
      </p:sp>
    </p:spTree>
  </p:cSld>
  <p:clrMapOvr>
    <a:masterClrMapping/>
  </p:clrMapOvr>
  <p:transition xmlns:p14="http://schemas.microsoft.com/office/powerpoint/2010/main" spd="med" p14:dur="700">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3 · WERKPAKKETTEN EN ACTIVITEITEN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Vijf werkpakketten, één studie</a:t>
            </a:r>
          </a:p>
        </p:txBody>
      </p:sp>
      <p:sp>
        <p:nvSpPr>
          <p:cNvPr id="4" name="Rounded Rectangle 3"/>
          <p:cNvSpPr/>
          <p:nvPr/>
        </p:nvSpPr>
        <p:spPr>
          <a:xfrm>
            <a:off x="812800" y="1868091"/>
            <a:ext cx="1826121" cy="2392958"/>
          </a:xfrm>
          <a:prstGeom prst="roundRect">
            <a:avLst>
              <a:gd name="adj" fmla="val 6954"/>
            </a:avLst>
          </a:prstGeom>
          <a:solidFill>
            <a:srgbClr val="FCFDFE"/>
          </a:solidFill>
          <a:ln w="127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90600" y="2045891"/>
            <a:ext cx="1521321" cy="198120"/>
          </a:xfrm>
          <a:prstGeom prst="rect">
            <a:avLst/>
          </a:prstGeom>
          <a:noFill/>
        </p:spPr>
        <p:txBody>
          <a:bodyPr wrap="none" lIns="0" rIns="0" tIns="0" bIns="0" anchor="t">
            <a:noAutofit/>
          </a:bodyPr>
          <a:lstStyle/>
          <a:p>
            <a:pPr algn="l"/>
            <a:r>
              <a:rPr sz="1200" b="0" i="0" spc="150">
                <a:solidFill>
                  <a:srgbClr val="0B6E8F"/>
                </a:solidFill>
                <a:latin typeface="JetBrains Mono"/>
              </a:rPr>
              <a:t>WP1</a:t>
            </a:r>
          </a:p>
        </p:txBody>
      </p:sp>
      <p:sp>
        <p:nvSpPr>
          <p:cNvPr id="6" name="TextBox 5"/>
          <p:cNvSpPr txBox="1"/>
          <p:nvPr/>
        </p:nvSpPr>
        <p:spPr>
          <a:xfrm>
            <a:off x="990600" y="2306241"/>
            <a:ext cx="1521321" cy="502841"/>
          </a:xfrm>
          <a:prstGeom prst="rect">
            <a:avLst/>
          </a:prstGeom>
          <a:noFill/>
        </p:spPr>
        <p:txBody>
          <a:bodyPr wrap="square" lIns="0" rIns="0" tIns="0" bIns="0" anchor="t">
            <a:noAutofit/>
          </a:bodyPr>
          <a:lstStyle/>
          <a:p>
            <a:pPr algn="l">
              <a:lnSpc>
                <a:spcPts val="1980"/>
              </a:lnSpc>
            </a:pPr>
            <a:r>
              <a:rPr sz="1800" b="0" i="0">
                <a:solidFill>
                  <a:srgbClr val="0A2540"/>
                </a:solidFill>
                <a:latin typeface="DM Serif Display"/>
              </a:rPr>
              <a:t>De klinische studie</a:t>
            </a:r>
          </a:p>
        </p:txBody>
      </p:sp>
      <p:sp>
        <p:nvSpPr>
          <p:cNvPr id="7" name="TextBox 6"/>
          <p:cNvSpPr txBox="1"/>
          <p:nvPr/>
        </p:nvSpPr>
        <p:spPr>
          <a:xfrm>
            <a:off x="990600" y="2872581"/>
            <a:ext cx="1521321" cy="396081"/>
          </a:xfrm>
          <a:prstGeom prst="rect">
            <a:avLst/>
          </a:prstGeom>
          <a:noFill/>
        </p:spPr>
        <p:txBody>
          <a:bodyPr wrap="square" lIns="0" rIns="0" tIns="0" bIns="0" anchor="t">
            <a:noAutofit/>
          </a:bodyPr>
          <a:lstStyle/>
          <a:p>
            <a:pPr algn="l">
              <a:lnSpc>
                <a:spcPts val="1560"/>
              </a:lnSpc>
            </a:pPr>
            <a:r>
              <a:rPr sz="1200" b="0" i="0">
                <a:solidFill>
                  <a:srgbClr val="5A6E80"/>
                </a:solidFill>
                <a:latin typeface="DM Sans"/>
              </a:rPr>
              <a:t>studieteam KU Leuven</a:t>
            </a:r>
          </a:p>
        </p:txBody>
      </p:sp>
      <p:sp>
        <p:nvSpPr>
          <p:cNvPr id="8" name="Rectangle 7"/>
          <p:cNvSpPr/>
          <p:nvPr/>
        </p:nvSpPr>
        <p:spPr>
          <a:xfrm>
            <a:off x="990600" y="3332162"/>
            <a:ext cx="147052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0600" y="3414712"/>
            <a:ext cx="1521321" cy="668536"/>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Protocol en eCRF's klaar; opleiding, piloot, inclusie</a:t>
            </a:r>
          </a:p>
        </p:txBody>
      </p:sp>
      <p:sp>
        <p:nvSpPr>
          <p:cNvPr id="10" name="Rounded Rectangle 9"/>
          <p:cNvSpPr/>
          <p:nvPr/>
        </p:nvSpPr>
        <p:spPr>
          <a:xfrm>
            <a:off x="2765921" y="1868091"/>
            <a:ext cx="1945680" cy="2392958"/>
          </a:xfrm>
          <a:prstGeom prst="roundRect">
            <a:avLst>
              <a:gd name="adj" fmla="val 652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937371" y="2039541"/>
            <a:ext cx="1653580" cy="198120"/>
          </a:xfrm>
          <a:prstGeom prst="rect">
            <a:avLst/>
          </a:prstGeom>
          <a:noFill/>
        </p:spPr>
        <p:txBody>
          <a:bodyPr wrap="none" lIns="0" rIns="0" tIns="0" bIns="0" anchor="t">
            <a:noAutofit/>
          </a:bodyPr>
          <a:lstStyle/>
          <a:p>
            <a:pPr algn="l"/>
            <a:r>
              <a:rPr sz="1200" b="0" i="0" spc="150">
                <a:solidFill>
                  <a:srgbClr val="0B6E8F"/>
                </a:solidFill>
                <a:latin typeface="JetBrains Mono"/>
              </a:rPr>
              <a:t>WP2</a:t>
            </a:r>
          </a:p>
        </p:txBody>
      </p:sp>
      <p:sp>
        <p:nvSpPr>
          <p:cNvPr id="12" name="TextBox 11"/>
          <p:cNvSpPr txBox="1"/>
          <p:nvPr/>
        </p:nvSpPr>
        <p:spPr>
          <a:xfrm>
            <a:off x="2937371" y="2299891"/>
            <a:ext cx="1653580" cy="251460"/>
          </a:xfrm>
          <a:prstGeom prst="rect">
            <a:avLst/>
          </a:prstGeom>
          <a:noFill/>
        </p:spPr>
        <p:txBody>
          <a:bodyPr wrap="none" lIns="0" rIns="0" tIns="0" bIns="0" anchor="t">
            <a:noAutofit/>
          </a:bodyPr>
          <a:lstStyle/>
          <a:p>
            <a:pPr algn="l">
              <a:lnSpc>
                <a:spcPts val="1980"/>
              </a:lnSpc>
            </a:pPr>
            <a:r>
              <a:rPr sz="1800" b="0" i="0">
                <a:solidFill>
                  <a:srgbClr val="0A2540"/>
                </a:solidFill>
                <a:latin typeface="DM Serif Display"/>
              </a:rPr>
              <a:t>Procesevaluatie</a:t>
            </a:r>
          </a:p>
        </p:txBody>
      </p:sp>
      <p:sp>
        <p:nvSpPr>
          <p:cNvPr id="13" name="TextBox 12"/>
          <p:cNvSpPr txBox="1"/>
          <p:nvPr/>
        </p:nvSpPr>
        <p:spPr>
          <a:xfrm>
            <a:off x="2937371" y="2614811"/>
            <a:ext cx="1653580" cy="198120"/>
          </a:xfrm>
          <a:prstGeom prst="rect">
            <a:avLst/>
          </a:prstGeom>
          <a:noFill/>
        </p:spPr>
        <p:txBody>
          <a:bodyPr wrap="none" lIns="0" rIns="0" tIns="0" bIns="0" anchor="t">
            <a:noAutofit/>
          </a:bodyPr>
          <a:lstStyle/>
          <a:p>
            <a:pPr algn="l">
              <a:lnSpc>
                <a:spcPts val="1560"/>
              </a:lnSpc>
            </a:pPr>
            <a:r>
              <a:rPr sz="1200" b="0" i="0">
                <a:solidFill>
                  <a:srgbClr val="5A6E80"/>
                </a:solidFill>
                <a:latin typeface="DM Sans"/>
              </a:rPr>
              <a:t>Maaike Fobelets, VUB</a:t>
            </a:r>
          </a:p>
        </p:txBody>
      </p:sp>
      <p:sp>
        <p:nvSpPr>
          <p:cNvPr id="14" name="Rectangle 13"/>
          <p:cNvSpPr/>
          <p:nvPr/>
        </p:nvSpPr>
        <p:spPr>
          <a:xfrm>
            <a:off x="2937371" y="2876352"/>
            <a:ext cx="160278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37371" y="2958902"/>
            <a:ext cx="1653580" cy="668536"/>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Opnames, interviews, fidelity van SEBIA</a:t>
            </a:r>
          </a:p>
        </p:txBody>
      </p:sp>
      <p:sp>
        <p:nvSpPr>
          <p:cNvPr id="16" name="Rounded Rectangle 15"/>
          <p:cNvSpPr/>
          <p:nvPr/>
        </p:nvSpPr>
        <p:spPr>
          <a:xfrm>
            <a:off x="4838601" y="1868091"/>
            <a:ext cx="2634159" cy="2392958"/>
          </a:xfrm>
          <a:prstGeom prst="roundRect">
            <a:avLst>
              <a:gd name="adj" fmla="val 530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10051" y="2039541"/>
            <a:ext cx="2342059" cy="198120"/>
          </a:xfrm>
          <a:prstGeom prst="rect">
            <a:avLst/>
          </a:prstGeom>
          <a:noFill/>
        </p:spPr>
        <p:txBody>
          <a:bodyPr wrap="none" lIns="0" rIns="0" tIns="0" bIns="0" anchor="t">
            <a:noAutofit/>
          </a:bodyPr>
          <a:lstStyle/>
          <a:p>
            <a:pPr algn="l"/>
            <a:r>
              <a:rPr sz="1200" b="0" i="0" spc="150">
                <a:solidFill>
                  <a:srgbClr val="0B6E8F"/>
                </a:solidFill>
                <a:latin typeface="JetBrains Mono"/>
              </a:rPr>
              <a:t>WP3</a:t>
            </a:r>
          </a:p>
        </p:txBody>
      </p:sp>
      <p:sp>
        <p:nvSpPr>
          <p:cNvPr id="18" name="TextBox 17"/>
          <p:cNvSpPr txBox="1"/>
          <p:nvPr/>
        </p:nvSpPr>
        <p:spPr>
          <a:xfrm>
            <a:off x="5010051" y="2299891"/>
            <a:ext cx="2342059" cy="251460"/>
          </a:xfrm>
          <a:prstGeom prst="rect">
            <a:avLst/>
          </a:prstGeom>
          <a:noFill/>
        </p:spPr>
        <p:txBody>
          <a:bodyPr wrap="none" lIns="0" rIns="0" tIns="0" bIns="0" anchor="t">
            <a:noAutofit/>
          </a:bodyPr>
          <a:lstStyle/>
          <a:p>
            <a:pPr algn="l">
              <a:lnSpc>
                <a:spcPts val="1980"/>
              </a:lnSpc>
            </a:pPr>
            <a:r>
              <a:rPr sz="1800" b="0" i="0">
                <a:solidFill>
                  <a:srgbClr val="0A2540"/>
                </a:solidFill>
                <a:latin typeface="DM Serif Display"/>
              </a:rPr>
              <a:t>Gezondheidseconomie</a:t>
            </a:r>
          </a:p>
        </p:txBody>
      </p:sp>
      <p:sp>
        <p:nvSpPr>
          <p:cNvPr id="19" name="TextBox 18"/>
          <p:cNvSpPr txBox="1"/>
          <p:nvPr/>
        </p:nvSpPr>
        <p:spPr>
          <a:xfrm>
            <a:off x="5010051" y="2614811"/>
            <a:ext cx="2342059" cy="198120"/>
          </a:xfrm>
          <a:prstGeom prst="rect">
            <a:avLst/>
          </a:prstGeom>
          <a:noFill/>
        </p:spPr>
        <p:txBody>
          <a:bodyPr wrap="none" lIns="0" rIns="0" tIns="0" bIns="0" anchor="t">
            <a:noAutofit/>
          </a:bodyPr>
          <a:lstStyle/>
          <a:p>
            <a:pPr algn="l">
              <a:lnSpc>
                <a:spcPts val="1560"/>
              </a:lnSpc>
            </a:pPr>
            <a:r>
              <a:rPr sz="1200" b="0" i="0">
                <a:solidFill>
                  <a:srgbClr val="5A6E80"/>
                </a:solidFill>
                <a:latin typeface="DM Sans"/>
              </a:rPr>
              <a:t>Koen Putman, VUB</a:t>
            </a:r>
          </a:p>
        </p:txBody>
      </p:sp>
      <p:sp>
        <p:nvSpPr>
          <p:cNvPr id="20" name="Rectangle 19"/>
          <p:cNvSpPr/>
          <p:nvPr/>
        </p:nvSpPr>
        <p:spPr>
          <a:xfrm>
            <a:off x="5010051" y="2876352"/>
            <a:ext cx="2291259"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10051" y="2958902"/>
            <a:ext cx="2342059" cy="445691"/>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Levenskwaliteit, zorggebruik, productiviteit</a:t>
            </a:r>
          </a:p>
        </p:txBody>
      </p:sp>
      <p:sp>
        <p:nvSpPr>
          <p:cNvPr id="22" name="Rounded Rectangle 21"/>
          <p:cNvSpPr/>
          <p:nvPr/>
        </p:nvSpPr>
        <p:spPr>
          <a:xfrm>
            <a:off x="7599759" y="1868091"/>
            <a:ext cx="1826220" cy="2392958"/>
          </a:xfrm>
          <a:prstGeom prst="roundRect">
            <a:avLst>
              <a:gd name="adj" fmla="val 6954"/>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771209" y="2039541"/>
            <a:ext cx="1534120" cy="198120"/>
          </a:xfrm>
          <a:prstGeom prst="rect">
            <a:avLst/>
          </a:prstGeom>
          <a:noFill/>
        </p:spPr>
        <p:txBody>
          <a:bodyPr wrap="none" lIns="0" rIns="0" tIns="0" bIns="0" anchor="t">
            <a:noAutofit/>
          </a:bodyPr>
          <a:lstStyle/>
          <a:p>
            <a:pPr algn="l"/>
            <a:r>
              <a:rPr sz="1200" b="0" i="0" spc="150">
                <a:solidFill>
                  <a:srgbClr val="0B6E8F"/>
                </a:solidFill>
                <a:latin typeface="JetBrains Mono"/>
              </a:rPr>
              <a:t>WP4</a:t>
            </a:r>
          </a:p>
        </p:txBody>
      </p:sp>
      <p:sp>
        <p:nvSpPr>
          <p:cNvPr id="24" name="TextBox 23"/>
          <p:cNvSpPr txBox="1"/>
          <p:nvPr/>
        </p:nvSpPr>
        <p:spPr>
          <a:xfrm>
            <a:off x="7771209" y="2299891"/>
            <a:ext cx="1534120" cy="502841"/>
          </a:xfrm>
          <a:prstGeom prst="rect">
            <a:avLst/>
          </a:prstGeom>
          <a:noFill/>
        </p:spPr>
        <p:txBody>
          <a:bodyPr wrap="square" lIns="0" rIns="0" tIns="0" bIns="0" anchor="t">
            <a:noAutofit/>
          </a:bodyPr>
          <a:lstStyle/>
          <a:p>
            <a:pPr algn="l">
              <a:lnSpc>
                <a:spcPts val="1980"/>
              </a:lnSpc>
            </a:pPr>
            <a:r>
              <a:rPr sz="1800" b="0" i="0">
                <a:solidFill>
                  <a:srgbClr val="0A2540"/>
                </a:solidFill>
                <a:latin typeface="DM Serif Display"/>
              </a:rPr>
              <a:t>Project- en databeheer</a:t>
            </a:r>
          </a:p>
        </p:txBody>
      </p:sp>
      <p:sp>
        <p:nvSpPr>
          <p:cNvPr id="25" name="TextBox 24"/>
          <p:cNvSpPr txBox="1"/>
          <p:nvPr/>
        </p:nvSpPr>
        <p:spPr>
          <a:xfrm>
            <a:off x="7771209" y="2866231"/>
            <a:ext cx="1534120" cy="396081"/>
          </a:xfrm>
          <a:prstGeom prst="rect">
            <a:avLst/>
          </a:prstGeom>
          <a:noFill/>
        </p:spPr>
        <p:txBody>
          <a:bodyPr wrap="square" lIns="0" rIns="0" tIns="0" bIns="0" anchor="t">
            <a:noAutofit/>
          </a:bodyPr>
          <a:lstStyle/>
          <a:p>
            <a:pPr algn="l">
              <a:lnSpc>
                <a:spcPts val="1560"/>
              </a:lnSpc>
            </a:pPr>
            <a:r>
              <a:rPr sz="1200" b="0" i="0">
                <a:solidFill>
                  <a:srgbClr val="5A6E80"/>
                </a:solidFill>
                <a:latin typeface="DM Sans"/>
              </a:rPr>
              <a:t>Kevin Deschamps, KU Leuven</a:t>
            </a:r>
          </a:p>
        </p:txBody>
      </p:sp>
      <p:sp>
        <p:nvSpPr>
          <p:cNvPr id="26" name="Rectangle 25"/>
          <p:cNvSpPr/>
          <p:nvPr/>
        </p:nvSpPr>
        <p:spPr>
          <a:xfrm>
            <a:off x="7771209" y="3325812"/>
            <a:ext cx="148332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1209" y="3408362"/>
            <a:ext cx="1534120" cy="445691"/>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REDCap en de overlegorganen</a:t>
            </a:r>
          </a:p>
        </p:txBody>
      </p:sp>
      <p:sp>
        <p:nvSpPr>
          <p:cNvPr id="28" name="Rounded Rectangle 27"/>
          <p:cNvSpPr/>
          <p:nvPr/>
        </p:nvSpPr>
        <p:spPr>
          <a:xfrm>
            <a:off x="9552980" y="1868091"/>
            <a:ext cx="1826121" cy="2392958"/>
          </a:xfrm>
          <a:prstGeom prst="roundRect">
            <a:avLst>
              <a:gd name="adj" fmla="val 6954"/>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724430" y="2039541"/>
            <a:ext cx="1534021" cy="198120"/>
          </a:xfrm>
          <a:prstGeom prst="rect">
            <a:avLst/>
          </a:prstGeom>
          <a:noFill/>
        </p:spPr>
        <p:txBody>
          <a:bodyPr wrap="none" lIns="0" rIns="0" tIns="0" bIns="0" anchor="t">
            <a:noAutofit/>
          </a:bodyPr>
          <a:lstStyle/>
          <a:p>
            <a:pPr algn="l"/>
            <a:r>
              <a:rPr sz="1200" b="0" i="0" spc="150">
                <a:solidFill>
                  <a:srgbClr val="0B6E8F"/>
                </a:solidFill>
                <a:latin typeface="JetBrains Mono"/>
              </a:rPr>
              <a:t>WP5</a:t>
            </a:r>
          </a:p>
        </p:txBody>
      </p:sp>
      <p:sp>
        <p:nvSpPr>
          <p:cNvPr id="30" name="TextBox 29"/>
          <p:cNvSpPr txBox="1"/>
          <p:nvPr/>
        </p:nvSpPr>
        <p:spPr>
          <a:xfrm>
            <a:off x="9724430" y="2299891"/>
            <a:ext cx="1534021" cy="251460"/>
          </a:xfrm>
          <a:prstGeom prst="rect">
            <a:avLst/>
          </a:prstGeom>
          <a:noFill/>
        </p:spPr>
        <p:txBody>
          <a:bodyPr wrap="none" lIns="0" rIns="0" tIns="0" bIns="0" anchor="t">
            <a:noAutofit/>
          </a:bodyPr>
          <a:lstStyle/>
          <a:p>
            <a:pPr algn="l">
              <a:lnSpc>
                <a:spcPts val="1980"/>
              </a:lnSpc>
            </a:pPr>
            <a:r>
              <a:rPr sz="1800" b="0" i="0">
                <a:solidFill>
                  <a:srgbClr val="0A2540"/>
                </a:solidFill>
                <a:latin typeface="DM Serif Display"/>
              </a:rPr>
              <a:t>Disseminatie</a:t>
            </a:r>
          </a:p>
        </p:txBody>
      </p:sp>
      <p:sp>
        <p:nvSpPr>
          <p:cNvPr id="31" name="Rectangle 30"/>
          <p:cNvSpPr/>
          <p:nvPr/>
        </p:nvSpPr>
        <p:spPr>
          <a:xfrm>
            <a:off x="9724430" y="2614811"/>
            <a:ext cx="148322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724430" y="2697361"/>
            <a:ext cx="1534021" cy="668536"/>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Website, publicaties, communicatie</a:t>
            </a:r>
          </a:p>
        </p:txBody>
      </p:sp>
      <p:pic>
        <p:nvPicPr>
          <p:cNvPr id="33" name="Picture 32"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4" name="TextBox 33"/>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35" name="TextBox 34"/>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consortiummeeting 1 april 2026, dia 46 en 60–65 · eCRF-lijst</a:t>
            </a:r>
          </a:p>
        </p:txBody>
      </p:sp>
    </p:spTree>
  </p:cSld>
  <p:clrMapOvr>
    <a:masterClrMapping/>
  </p:clrMapOvr>
  <p:transition xmlns:p14="http://schemas.microsoft.com/office/powerpoint/2010/main" spd="med" p14:dur="700">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3 · WP1 · GESCHIKTHEID</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Wie komt in aanmerking</a:t>
            </a:r>
          </a:p>
        </p:txBody>
      </p:sp>
      <p:sp>
        <p:nvSpPr>
          <p:cNvPr id="4" name="TextBox 3"/>
          <p:cNvSpPr txBox="1"/>
          <p:nvPr/>
        </p:nvSpPr>
        <p:spPr>
          <a:xfrm>
            <a:off x="812800" y="1868091"/>
            <a:ext cx="5130800" cy="228600"/>
          </a:xfrm>
          <a:prstGeom prst="rect">
            <a:avLst/>
          </a:prstGeom>
          <a:noFill/>
        </p:spPr>
        <p:txBody>
          <a:bodyPr wrap="none" lIns="0" rIns="0" tIns="0" bIns="0" anchor="t">
            <a:noAutofit/>
          </a:bodyPr>
          <a:lstStyle/>
          <a:p>
            <a:pPr algn="l">
              <a:lnSpc>
                <a:spcPts val="1800"/>
              </a:lnSpc>
            </a:pPr>
            <a:r>
              <a:rPr sz="1500" b="1" i="0">
                <a:solidFill>
                  <a:srgbClr val="52BDEC"/>
                </a:solidFill>
                <a:latin typeface="DM Sans"/>
              </a:rPr>
              <a:t>Wel</a:t>
            </a:r>
          </a:p>
        </p:txBody>
      </p:sp>
      <p:sp>
        <p:nvSpPr>
          <p:cNvPr id="5" name="TextBox 4"/>
          <p:cNvSpPr txBox="1"/>
          <p:nvPr/>
        </p:nvSpPr>
        <p:spPr>
          <a:xfrm>
            <a:off x="1008360" y="2198291"/>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18 jaar of ouder, begrijpt Nederlands</a:t>
            </a:r>
          </a:p>
        </p:txBody>
      </p:sp>
      <p:sp>
        <p:nvSpPr>
          <p:cNvPr id="6" name="TextBox 5"/>
          <p:cNvSpPr txBox="1"/>
          <p:nvPr/>
        </p:nvSpPr>
        <p:spPr>
          <a:xfrm>
            <a:off x="1008360" y="2476401"/>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Diabetes type 1 of 2</a:t>
            </a:r>
          </a:p>
        </p:txBody>
      </p:sp>
      <p:sp>
        <p:nvSpPr>
          <p:cNvPr id="7" name="TextBox 6"/>
          <p:cNvSpPr txBox="1"/>
          <p:nvPr/>
        </p:nvSpPr>
        <p:spPr>
          <a:xfrm>
            <a:off x="1008360" y="2754511"/>
            <a:ext cx="4982129" cy="72003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IWGDF-risico 3: genezen plantair ulcus, partiële voetamputatie of resectie van een metatarsaalkop (ook de eerste), 2 weken tot 18 maanden geleden</a:t>
            </a:r>
          </a:p>
        </p:txBody>
      </p:sp>
      <p:sp>
        <p:nvSpPr>
          <p:cNvPr id="8" name="TextBox 7"/>
          <p:cNvSpPr txBox="1"/>
          <p:nvPr/>
        </p:nvSpPr>
        <p:spPr>
          <a:xfrm>
            <a:off x="1008360" y="3512641"/>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Stabiele vaatstatus</a:t>
            </a:r>
          </a:p>
        </p:txBody>
      </p:sp>
      <p:sp>
        <p:nvSpPr>
          <p:cNvPr id="9" name="TextBox 8"/>
          <p:cNvSpPr txBox="1"/>
          <p:nvPr/>
        </p:nvSpPr>
        <p:spPr>
          <a:xfrm>
            <a:off x="1008360" y="3790752"/>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Stapt zelfstandig blootsvoets, zonder hulpmiddel</a:t>
            </a:r>
          </a:p>
        </p:txBody>
      </p:sp>
      <p:sp>
        <p:nvSpPr>
          <p:cNvPr id="10" name="TextBox 9"/>
          <p:cNvSpPr txBox="1"/>
          <p:nvPr/>
        </p:nvSpPr>
        <p:spPr>
          <a:xfrm>
            <a:off x="1008360" y="4068862"/>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Beschermend schoeisel, of bereid over te schakelen</a:t>
            </a:r>
          </a:p>
        </p:txBody>
      </p:sp>
      <p:sp>
        <p:nvSpPr>
          <p:cNvPr id="11" name="TextBox 10"/>
          <p:cNvSpPr txBox="1"/>
          <p:nvPr/>
        </p:nvSpPr>
        <p:spPr>
          <a:xfrm>
            <a:off x="6299200" y="1868091"/>
            <a:ext cx="5130800" cy="228600"/>
          </a:xfrm>
          <a:prstGeom prst="rect">
            <a:avLst/>
          </a:prstGeom>
          <a:noFill/>
        </p:spPr>
        <p:txBody>
          <a:bodyPr wrap="none" lIns="0" rIns="0" tIns="0" bIns="0" anchor="t">
            <a:noAutofit/>
          </a:bodyPr>
          <a:lstStyle/>
          <a:p>
            <a:pPr algn="l">
              <a:lnSpc>
                <a:spcPts val="1800"/>
              </a:lnSpc>
            </a:pPr>
            <a:r>
              <a:rPr sz="1500" b="1" i="0">
                <a:solidFill>
                  <a:srgbClr val="FF9A3D"/>
                </a:solidFill>
                <a:latin typeface="DM Sans"/>
              </a:rPr>
              <a:t>Niet</a:t>
            </a:r>
          </a:p>
        </p:txBody>
      </p:sp>
      <p:sp>
        <p:nvSpPr>
          <p:cNvPr id="12" name="TextBox 11"/>
          <p:cNvSpPr txBox="1"/>
          <p:nvPr/>
        </p:nvSpPr>
        <p:spPr>
          <a:xfrm>
            <a:off x="6494760" y="2198291"/>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Amputatie proximaal van de MTP-gewrichten</a:t>
            </a:r>
          </a:p>
        </p:txBody>
      </p:sp>
      <p:sp>
        <p:nvSpPr>
          <p:cNvPr id="13" name="TextBox 12"/>
          <p:cNvSpPr txBox="1"/>
          <p:nvPr/>
        </p:nvSpPr>
        <p:spPr>
          <a:xfrm>
            <a:off x="6494760" y="2476401"/>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Actief voetulcus of Charcot-deformiteit</a:t>
            </a:r>
          </a:p>
        </p:txBody>
      </p:sp>
      <p:sp>
        <p:nvSpPr>
          <p:cNvPr id="14" name="TextBox 13"/>
          <p:cNvSpPr txBox="1"/>
          <p:nvPr/>
        </p:nvSpPr>
        <p:spPr>
          <a:xfrm>
            <a:off x="6494760" y="2754511"/>
            <a:ext cx="4982129"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Kritische ischemie (PEDIS 3: enkeldruk &lt; 50, teendruk &lt; 30 of TcpO₂ &lt; 30 mmHg)</a:t>
            </a:r>
          </a:p>
        </p:txBody>
      </p:sp>
      <p:sp>
        <p:nvSpPr>
          <p:cNvPr id="15" name="TextBox 14"/>
          <p:cNvSpPr txBox="1"/>
          <p:nvPr/>
        </p:nvSpPr>
        <p:spPr>
          <a:xfrm>
            <a:off x="6494760" y="3272631"/>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Nierfunctievervangende of immunosuppressieve therapie</a:t>
            </a:r>
          </a:p>
        </p:txBody>
      </p:sp>
      <p:sp>
        <p:nvSpPr>
          <p:cNvPr id="16" name="TextBox 15"/>
          <p:cNvSpPr txBox="1"/>
          <p:nvPr/>
        </p:nvSpPr>
        <p:spPr>
          <a:xfrm>
            <a:off x="6494760" y="3550741"/>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Verwachte overleving &lt; 18 maanden</a:t>
            </a:r>
          </a:p>
        </p:txBody>
      </p:sp>
      <p:sp>
        <p:nvSpPr>
          <p:cNvPr id="17" name="TextBox 16"/>
          <p:cNvSpPr txBox="1"/>
          <p:nvPr/>
        </p:nvSpPr>
        <p:spPr>
          <a:xfrm>
            <a:off x="6494760" y="3828852"/>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Kan niet toestemmen of de instructies niet volgen</a:t>
            </a:r>
          </a:p>
        </p:txBody>
      </p:sp>
      <p:sp>
        <p:nvSpPr>
          <p:cNvPr id="18" name="TextBox 17"/>
          <p:cNvSpPr txBox="1"/>
          <p:nvPr/>
        </p:nvSpPr>
        <p:spPr>
          <a:xfrm>
            <a:off x="6494760" y="4106962"/>
            <a:ext cx="4982129"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Enkel-voetorthese of ander hulpmiddel dat de sensoren belemmert</a:t>
            </a:r>
          </a:p>
        </p:txBody>
      </p:sp>
      <p:sp>
        <p:nvSpPr>
          <p:cNvPr id="19" name="TextBox 18"/>
          <p:cNvSpPr txBox="1"/>
          <p:nvPr/>
        </p:nvSpPr>
        <p:spPr>
          <a:xfrm>
            <a:off x="6494760" y="4625082"/>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Weigert het schoeisel of de draagsensor</a:t>
            </a:r>
          </a:p>
        </p:txBody>
      </p:sp>
      <p:pic>
        <p:nvPicPr>
          <p:cNvPr id="20" name="Picture 19"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1" name="TextBox 20"/>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22" name="TextBox 21"/>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studieprotocol §4.1 · IWGDF 2023</a:t>
            </a:r>
          </a:p>
        </p:txBody>
      </p:sp>
    </p:spTree>
  </p:cSld>
  <p:clrMapOvr>
    <a:masterClrMapping/>
  </p:clrMapOvr>
  <p:transition xmlns:p14="http://schemas.microsoft.com/office/powerpoint/2010/main" spd="med" p14:dur="700">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3 · WP1 · DE INTERVENTIES</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Zelfde metingen, ander gebruik</a:t>
            </a:r>
          </a:p>
        </p:txBody>
      </p:sp>
      <p:sp>
        <p:nvSpPr>
          <p:cNvPr id="4" name="Rectangle 3"/>
          <p:cNvSpPr/>
          <p:nvPr/>
        </p:nvSpPr>
        <p:spPr>
          <a:xfrm>
            <a:off x="812800" y="1766491"/>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2800" y="217348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1874441"/>
            <a:ext cx="1574800" cy="198120"/>
          </a:xfrm>
          <a:prstGeom prst="rect">
            <a:avLst/>
          </a:prstGeom>
          <a:noFill/>
        </p:spPr>
        <p:txBody>
          <a:bodyPr wrap="none" lIns="0" rIns="0" tIns="0" bIns="0" anchor="t">
            <a:noAutofit/>
          </a:bodyPr>
          <a:lstStyle/>
          <a:p>
            <a:pPr algn="l"/>
            <a:r>
              <a:rPr sz="1200" b="0" i="0" spc="150">
                <a:solidFill>
                  <a:srgbClr val="8FB0CA"/>
                </a:solidFill>
                <a:latin typeface="JetBrains Mono"/>
              </a:rPr>
              <a:t>BEIDE ARMEN</a:t>
            </a:r>
          </a:p>
        </p:txBody>
      </p:sp>
      <p:sp>
        <p:nvSpPr>
          <p:cNvPr id="7" name="TextBox 6"/>
          <p:cNvSpPr txBox="1"/>
          <p:nvPr/>
        </p:nvSpPr>
        <p:spPr>
          <a:xfrm>
            <a:off x="2514600" y="1861741"/>
            <a:ext cx="89154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CMFO met dezelfde opbouw · voetzorg elke 3 maanden · dezelfde metingen · MoveMonitor en Orthotimer</a:t>
            </a:r>
          </a:p>
        </p:txBody>
      </p:sp>
      <p:sp>
        <p:nvSpPr>
          <p:cNvPr id="8" name="TextBox 7"/>
          <p:cNvSpPr txBox="1"/>
          <p:nvPr/>
        </p:nvSpPr>
        <p:spPr>
          <a:xfrm>
            <a:off x="812800" y="2332236"/>
            <a:ext cx="10617200" cy="198120"/>
          </a:xfrm>
          <a:prstGeom prst="rect">
            <a:avLst/>
          </a:prstGeom>
          <a:noFill/>
        </p:spPr>
        <p:txBody>
          <a:bodyPr wrap="none" lIns="0" rIns="0" tIns="0" bIns="0" anchor="t">
            <a:noAutofit/>
          </a:bodyPr>
          <a:lstStyle/>
          <a:p>
            <a:pPr algn="l"/>
            <a:r>
              <a:rPr sz="1200" b="0" i="0" spc="150">
                <a:solidFill>
                  <a:srgbClr val="52BDEC"/>
                </a:solidFill>
                <a:latin typeface="JetBrains Mono"/>
              </a:rPr>
              <a:t>PARADISE, OF OPTIMAL CARE · TWEE NORMEN</a:t>
            </a:r>
          </a:p>
        </p:txBody>
      </p:sp>
      <p:sp>
        <p:nvSpPr>
          <p:cNvPr id="9" name="Rounded Rectangle 8"/>
          <p:cNvSpPr/>
          <p:nvPr/>
        </p:nvSpPr>
        <p:spPr>
          <a:xfrm>
            <a:off x="812800" y="2617986"/>
            <a:ext cx="2466975" cy="1107380"/>
          </a:xfrm>
          <a:prstGeom prst="roundRect">
            <a:avLst>
              <a:gd name="adj" fmla="val 9174"/>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6150" y="272593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NOVEL PEDAR</a:t>
            </a:r>
          </a:p>
        </p:txBody>
      </p:sp>
      <p:sp>
        <p:nvSpPr>
          <p:cNvPr id="11" name="TextBox 10"/>
          <p:cNvSpPr txBox="1"/>
          <p:nvPr/>
        </p:nvSpPr>
        <p:spPr>
          <a:xfrm>
            <a:off x="946150" y="2960886"/>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piekdruk per doelregio, mét de CMFO</a:t>
            </a:r>
          </a:p>
        </p:txBody>
      </p:sp>
      <p:cxnSp>
        <p:nvCxnSpPr>
          <p:cNvPr id="12" name="Connector 11"/>
          <p:cNvCxnSpPr/>
          <p:nvPr/>
        </p:nvCxnSpPr>
        <p:spPr>
          <a:xfrm>
            <a:off x="3317875" y="317162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08375" y="2617986"/>
            <a:ext cx="2479675" cy="1107380"/>
          </a:xfrm>
          <a:prstGeom prst="roundRect">
            <a:avLst>
              <a:gd name="adj" fmla="val 9174"/>
            </a:avLst>
          </a:prstGeom>
          <a:solidFill>
            <a:srgbClr val="0F2F4E"/>
          </a:solidFill>
          <a:ln w="12700">
            <a:solidFill>
              <a:srgbClr val="FF9A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648075" y="2732286"/>
            <a:ext cx="2251075" cy="198120"/>
          </a:xfrm>
          <a:prstGeom prst="rect">
            <a:avLst/>
          </a:prstGeom>
          <a:noFill/>
        </p:spPr>
        <p:txBody>
          <a:bodyPr wrap="none" lIns="0" rIns="0" tIns="0" bIns="0" anchor="t">
            <a:noAutofit/>
          </a:bodyPr>
          <a:lstStyle/>
          <a:p>
            <a:pPr algn="l"/>
            <a:r>
              <a:rPr sz="1200" b="0" i="0" spc="100">
                <a:solidFill>
                  <a:srgbClr val="FF9A3D"/>
                </a:solidFill>
                <a:latin typeface="JetBrains Mono"/>
              </a:rPr>
              <a:t>DRUKNORM</a:t>
            </a:r>
          </a:p>
        </p:txBody>
      </p:sp>
      <p:sp>
        <p:nvSpPr>
          <p:cNvPr id="15" name="TextBox 14"/>
          <p:cNvSpPr txBox="1"/>
          <p:nvPr/>
        </p:nvSpPr>
        <p:spPr>
          <a:xfrm>
            <a:off x="3648075" y="2967236"/>
            <a:ext cx="2251075" cy="643830"/>
          </a:xfrm>
          <a:prstGeom prst="rect">
            <a:avLst/>
          </a:prstGeom>
          <a:noFill/>
        </p:spPr>
        <p:txBody>
          <a:bodyPr wrap="square" lIns="0" rIns="0" tIns="0" bIns="0" anchor="t">
            <a:noAutofit/>
          </a:bodyPr>
          <a:lstStyle/>
          <a:p>
            <a:pPr algn="l">
              <a:lnSpc>
                <a:spcPts val="1689"/>
              </a:lnSpc>
            </a:pPr>
            <a:r>
              <a:rPr sz="1300" b="0" i="0">
                <a:solidFill>
                  <a:srgbClr val="F2F8FC"/>
                </a:solidFill>
                <a:latin typeface="DM Sans"/>
              </a:rPr>
              <a:t>&lt; 200 kPa óf ≥ 25% lager dan zonder CMFO op visite 2</a:t>
            </a:r>
          </a:p>
        </p:txBody>
      </p:sp>
      <p:cxnSp>
        <p:nvCxnSpPr>
          <p:cNvPr id="16" name="Connector 15"/>
          <p:cNvCxnSpPr/>
          <p:nvPr/>
        </p:nvCxnSpPr>
        <p:spPr>
          <a:xfrm>
            <a:off x="6026150" y="317162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16650" y="2617986"/>
            <a:ext cx="2466975" cy="1107380"/>
          </a:xfrm>
          <a:prstGeom prst="roundRect">
            <a:avLst>
              <a:gd name="adj" fmla="val 9174"/>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0000" y="272593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AANPASSEN</a:t>
            </a:r>
          </a:p>
        </p:txBody>
      </p:sp>
      <p:sp>
        <p:nvSpPr>
          <p:cNvPr id="19" name="TextBox 18"/>
          <p:cNvSpPr txBox="1"/>
          <p:nvPr/>
        </p:nvSpPr>
        <p:spPr>
          <a:xfrm>
            <a:off x="6350000" y="2960886"/>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tot de norm gehaald is; opnieuw op maand 6, 12, 18</a:t>
            </a:r>
          </a:p>
        </p:txBody>
      </p:sp>
      <p:cxnSp>
        <p:nvCxnSpPr>
          <p:cNvPr id="20" name="Connector 19"/>
          <p:cNvCxnSpPr/>
          <p:nvPr/>
        </p:nvCxnSpPr>
        <p:spPr>
          <a:xfrm>
            <a:off x="8721725" y="317162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912225" y="2617986"/>
            <a:ext cx="2466975" cy="1107380"/>
          </a:xfrm>
          <a:prstGeom prst="roundRect">
            <a:avLst>
              <a:gd name="adj" fmla="val 9174"/>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045575" y="272593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DAARNA</a:t>
            </a:r>
          </a:p>
        </p:txBody>
      </p:sp>
      <p:sp>
        <p:nvSpPr>
          <p:cNvPr id="23" name="TextBox 22"/>
          <p:cNvSpPr txBox="1"/>
          <p:nvPr/>
        </p:nvSpPr>
        <p:spPr>
          <a:xfrm>
            <a:off x="9045575" y="2960886"/>
            <a:ext cx="2251075"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een identiek tweede paar</a:t>
            </a:r>
          </a:p>
        </p:txBody>
      </p:sp>
      <p:sp>
        <p:nvSpPr>
          <p:cNvPr id="24" name="Rounded Rectangle 23"/>
          <p:cNvSpPr/>
          <p:nvPr/>
        </p:nvSpPr>
        <p:spPr>
          <a:xfrm>
            <a:off x="812800" y="3814266"/>
            <a:ext cx="2466975" cy="1094680"/>
          </a:xfrm>
          <a:prstGeom prst="roundRect">
            <a:avLst>
              <a:gd name="adj" fmla="val 928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46150" y="392221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MOVEMONITOR</a:t>
            </a:r>
          </a:p>
        </p:txBody>
      </p:sp>
      <p:sp>
        <p:nvSpPr>
          <p:cNvPr id="26" name="TextBox 25"/>
          <p:cNvSpPr txBox="1"/>
          <p:nvPr/>
        </p:nvSpPr>
        <p:spPr>
          <a:xfrm>
            <a:off x="946150" y="4157166"/>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één week bij de start: slaaptijd, dus waaktijd</a:t>
            </a:r>
          </a:p>
        </p:txBody>
      </p:sp>
      <p:cxnSp>
        <p:nvCxnSpPr>
          <p:cNvPr id="27" name="Connector 26"/>
          <p:cNvCxnSpPr/>
          <p:nvPr/>
        </p:nvCxnSpPr>
        <p:spPr>
          <a:xfrm>
            <a:off x="3317875" y="436155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3508375" y="3814266"/>
            <a:ext cx="2479675" cy="1094680"/>
          </a:xfrm>
          <a:prstGeom prst="roundRect">
            <a:avLst>
              <a:gd name="adj" fmla="val 9281"/>
            </a:avLst>
          </a:prstGeom>
          <a:solidFill>
            <a:srgbClr val="0F2F4E"/>
          </a:solidFill>
          <a:ln w="12700">
            <a:solidFill>
              <a:srgbClr val="FF9A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648075" y="3928566"/>
            <a:ext cx="2251075" cy="198120"/>
          </a:xfrm>
          <a:prstGeom prst="rect">
            <a:avLst/>
          </a:prstGeom>
          <a:noFill/>
        </p:spPr>
        <p:txBody>
          <a:bodyPr wrap="none" lIns="0" rIns="0" tIns="0" bIns="0" anchor="t">
            <a:noAutofit/>
          </a:bodyPr>
          <a:lstStyle/>
          <a:p>
            <a:pPr algn="l"/>
            <a:r>
              <a:rPr sz="1200" b="0" i="0" spc="100">
                <a:solidFill>
                  <a:srgbClr val="FF9A3D"/>
                </a:solidFill>
                <a:latin typeface="JetBrains Mono"/>
              </a:rPr>
              <a:t>DRAAGNORM</a:t>
            </a:r>
          </a:p>
        </p:txBody>
      </p:sp>
      <p:sp>
        <p:nvSpPr>
          <p:cNvPr id="30" name="TextBox 29"/>
          <p:cNvSpPr txBox="1"/>
          <p:nvPr/>
        </p:nvSpPr>
        <p:spPr>
          <a:xfrm>
            <a:off x="3648075" y="4163516"/>
            <a:ext cx="2251075" cy="429220"/>
          </a:xfrm>
          <a:prstGeom prst="rect">
            <a:avLst/>
          </a:prstGeom>
          <a:noFill/>
        </p:spPr>
        <p:txBody>
          <a:bodyPr wrap="square" lIns="0" rIns="0" tIns="0" bIns="0" anchor="t">
            <a:noAutofit/>
          </a:bodyPr>
          <a:lstStyle/>
          <a:p>
            <a:pPr algn="l">
              <a:lnSpc>
                <a:spcPts val="1689"/>
              </a:lnSpc>
            </a:pPr>
            <a:r>
              <a:rPr sz="1300" b="0" i="0">
                <a:solidFill>
                  <a:srgbClr val="F2F8FC"/>
                </a:solidFill>
                <a:latin typeface="DM Sans"/>
              </a:rPr>
              <a:t>80% van de waaktijd, 7 dagen per week</a:t>
            </a:r>
          </a:p>
        </p:txBody>
      </p:sp>
      <p:cxnSp>
        <p:nvCxnSpPr>
          <p:cNvPr id="31" name="Connector 30"/>
          <p:cNvCxnSpPr/>
          <p:nvPr/>
        </p:nvCxnSpPr>
        <p:spPr>
          <a:xfrm>
            <a:off x="6026150" y="436155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216650" y="3814266"/>
            <a:ext cx="2466975" cy="1094680"/>
          </a:xfrm>
          <a:prstGeom prst="roundRect">
            <a:avLst>
              <a:gd name="adj" fmla="val 928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50000" y="392221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ORTHOTIMER</a:t>
            </a:r>
          </a:p>
        </p:txBody>
      </p:sp>
      <p:sp>
        <p:nvSpPr>
          <p:cNvPr id="34" name="TextBox 33"/>
          <p:cNvSpPr txBox="1"/>
          <p:nvPr/>
        </p:nvSpPr>
        <p:spPr>
          <a:xfrm>
            <a:off x="6350000" y="4157166"/>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draagtijd per dag, elke 3 maanden uitgelezen</a:t>
            </a:r>
          </a:p>
        </p:txBody>
      </p:sp>
      <p:cxnSp>
        <p:nvCxnSpPr>
          <p:cNvPr id="35" name="Connector 34"/>
          <p:cNvCxnSpPr/>
          <p:nvPr/>
        </p:nvCxnSpPr>
        <p:spPr>
          <a:xfrm>
            <a:off x="8721725" y="436155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912225" y="3814266"/>
            <a:ext cx="2466975" cy="1094680"/>
          </a:xfrm>
          <a:prstGeom prst="roundRect">
            <a:avLst>
              <a:gd name="adj" fmla="val 928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045575" y="392221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SEBIA</a:t>
            </a:r>
          </a:p>
        </p:txBody>
      </p:sp>
      <p:sp>
        <p:nvSpPr>
          <p:cNvPr id="38" name="TextBox 37"/>
          <p:cNvSpPr txBox="1"/>
          <p:nvPr/>
        </p:nvSpPr>
        <p:spPr>
          <a:xfrm>
            <a:off x="9045575" y="4157166"/>
            <a:ext cx="2251075" cy="64383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een gesprek op elke visite, met feedback op de eigen data</a:t>
            </a:r>
          </a:p>
        </p:txBody>
      </p:sp>
      <p:sp>
        <p:nvSpPr>
          <p:cNvPr id="39" name="Rectangle 38"/>
          <p:cNvSpPr/>
          <p:nvPr/>
        </p:nvSpPr>
        <p:spPr>
          <a:xfrm>
            <a:off x="812800" y="5251450"/>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2800" y="5359400"/>
            <a:ext cx="1574800" cy="393700"/>
          </a:xfrm>
          <a:prstGeom prst="rect">
            <a:avLst/>
          </a:prstGeom>
          <a:noFill/>
        </p:spPr>
        <p:txBody>
          <a:bodyPr wrap="square" lIns="0" rIns="0" tIns="0" bIns="0" anchor="t">
            <a:noAutofit/>
          </a:bodyPr>
          <a:lstStyle/>
          <a:p>
            <a:pPr algn="l"/>
            <a:r>
              <a:rPr sz="1200" b="0" i="0" spc="150">
                <a:solidFill>
                  <a:srgbClr val="8FB0CA"/>
                </a:solidFill>
                <a:latin typeface="JetBrains Mono"/>
              </a:rPr>
              <a:t>GEBRUIKELIJKE ZORG</a:t>
            </a:r>
          </a:p>
        </p:txBody>
      </p:sp>
      <p:sp>
        <p:nvSpPr>
          <p:cNvPr id="41" name="TextBox 40"/>
          <p:cNvSpPr txBox="1"/>
          <p:nvPr/>
        </p:nvSpPr>
        <p:spPr>
          <a:xfrm>
            <a:off x="2514600" y="5346700"/>
            <a:ext cx="89154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Dezelfde metingen, geblindeerd: geen toetsing, geen feedback</a:t>
            </a:r>
          </a:p>
        </p:txBody>
      </p:sp>
      <p:pic>
        <p:nvPicPr>
          <p:cNvPr id="42" name="Picture 41"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43" name="TextBox 42"/>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44" name="TextBox 43"/>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studieprotocol §5.4</a:t>
            </a:r>
          </a:p>
        </p:txBody>
      </p:sp>
    </p:spTree>
  </p:cSld>
  <p:clrMapOvr>
    <a:masterClrMapping/>
  </p:clrMapOvr>
  <p:transition xmlns:p14="http://schemas.microsoft.com/office/powerpoint/2010/main" spd="med" p14:dur="700">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3 · WP1 · DE DRAAGNORM</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Eén week MoveMonitor, een norm op maat</a:t>
            </a:r>
          </a:p>
        </p:txBody>
      </p:sp>
      <p:sp>
        <p:nvSpPr>
          <p:cNvPr id="4" name="Rounded Rectangle 3"/>
          <p:cNvSpPr/>
          <p:nvPr/>
        </p:nvSpPr>
        <p:spPr>
          <a:xfrm>
            <a:off x="812800" y="1817291"/>
            <a:ext cx="3403600" cy="2667000"/>
          </a:xfrm>
          <a:prstGeom prst="roundRect">
            <a:avLst>
              <a:gd name="adj" fmla="val 476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35050" y="2014141"/>
            <a:ext cx="3009900" cy="198120"/>
          </a:xfrm>
          <a:prstGeom prst="rect">
            <a:avLst/>
          </a:prstGeom>
          <a:noFill/>
        </p:spPr>
        <p:txBody>
          <a:bodyPr wrap="none" lIns="0" rIns="0" tIns="0" bIns="0" anchor="t">
            <a:noAutofit/>
          </a:bodyPr>
          <a:lstStyle/>
          <a:p>
            <a:pPr algn="l"/>
            <a:r>
              <a:rPr sz="1200" b="0" i="0" spc="150">
                <a:solidFill>
                  <a:srgbClr val="52BDEC"/>
                </a:solidFill>
                <a:latin typeface="JetBrains Mono"/>
              </a:rPr>
              <a:t>01 · BIJ DE START</a:t>
            </a:r>
          </a:p>
        </p:txBody>
      </p:sp>
      <p:sp>
        <p:nvSpPr>
          <p:cNvPr id="6" name="TextBox 5"/>
          <p:cNvSpPr txBox="1"/>
          <p:nvPr/>
        </p:nvSpPr>
        <p:spPr>
          <a:xfrm>
            <a:off x="1035050" y="2299891"/>
            <a:ext cx="3018282" cy="514350"/>
          </a:xfrm>
          <a:prstGeom prst="rect">
            <a:avLst/>
          </a:prstGeom>
          <a:noFill/>
        </p:spPr>
        <p:txBody>
          <a:bodyPr wrap="square" lIns="0" rIns="0" tIns="0" bIns="0" anchor="t">
            <a:noAutofit/>
          </a:bodyPr>
          <a:lstStyle/>
          <a:p>
            <a:pPr algn="l">
              <a:lnSpc>
                <a:spcPts val="2025"/>
              </a:lnSpc>
            </a:pPr>
            <a:r>
              <a:rPr sz="1500" b="0" i="0">
                <a:solidFill>
                  <a:srgbClr val="C5D8E8"/>
                </a:solidFill>
                <a:latin typeface="DM Sans"/>
              </a:rPr>
              <a:t>Eén week MoveMonitor geeft de eigen waaktijd.</a:t>
            </a:r>
          </a:p>
        </p:txBody>
      </p:sp>
      <p:sp>
        <p:nvSpPr>
          <p:cNvPr id="7" name="TextBox 6"/>
          <p:cNvSpPr txBox="1"/>
          <p:nvPr/>
        </p:nvSpPr>
        <p:spPr>
          <a:xfrm>
            <a:off x="1035050" y="3830241"/>
            <a:ext cx="1193403" cy="457200"/>
          </a:xfrm>
          <a:prstGeom prst="rect">
            <a:avLst/>
          </a:prstGeom>
          <a:noFill/>
        </p:spPr>
        <p:txBody>
          <a:bodyPr wrap="none" lIns="0" rIns="0" tIns="0" bIns="0" anchor="t">
            <a:noAutofit/>
          </a:bodyPr>
          <a:lstStyle/>
          <a:p>
            <a:pPr algn="l">
              <a:lnSpc>
                <a:spcPts val="3600"/>
              </a:lnSpc>
            </a:pPr>
            <a:r>
              <a:rPr sz="3600" b="0" i="0">
                <a:solidFill>
                  <a:srgbClr val="F2F8FC"/>
                </a:solidFill>
                <a:latin typeface="DM Serif Display"/>
              </a:rPr>
              <a:t>15,5 u</a:t>
            </a:r>
          </a:p>
        </p:txBody>
      </p:sp>
      <p:sp>
        <p:nvSpPr>
          <p:cNvPr id="8" name="TextBox 7"/>
          <p:cNvSpPr txBox="1"/>
          <p:nvPr/>
        </p:nvSpPr>
        <p:spPr>
          <a:xfrm>
            <a:off x="2266553" y="4052491"/>
            <a:ext cx="1496814" cy="215900"/>
          </a:xfrm>
          <a:prstGeom prst="rect">
            <a:avLst/>
          </a:prstGeom>
          <a:noFill/>
        </p:spPr>
        <p:txBody>
          <a:bodyPr wrap="none" lIns="0" rIns="0" tIns="0" bIns="0" anchor="t">
            <a:noAutofit/>
          </a:bodyPr>
          <a:lstStyle/>
          <a:p>
            <a:pPr algn="l"/>
            <a:r>
              <a:rPr sz="1300" b="0" i="0">
                <a:solidFill>
                  <a:srgbClr val="8FB0CA"/>
                </a:solidFill>
                <a:latin typeface="DM Sans"/>
              </a:rPr>
              <a:t>wakker per dag, bv.</a:t>
            </a:r>
          </a:p>
        </p:txBody>
      </p:sp>
      <p:sp>
        <p:nvSpPr>
          <p:cNvPr id="9" name="Rounded Rectangle 8"/>
          <p:cNvSpPr/>
          <p:nvPr/>
        </p:nvSpPr>
        <p:spPr>
          <a:xfrm>
            <a:off x="4394200" y="1817291"/>
            <a:ext cx="3403600" cy="2667000"/>
          </a:xfrm>
          <a:prstGeom prst="roundRect">
            <a:avLst>
              <a:gd name="adj" fmla="val 476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16450" y="2014141"/>
            <a:ext cx="3009900" cy="198120"/>
          </a:xfrm>
          <a:prstGeom prst="rect">
            <a:avLst/>
          </a:prstGeom>
          <a:noFill/>
        </p:spPr>
        <p:txBody>
          <a:bodyPr wrap="none" lIns="0" rIns="0" tIns="0" bIns="0" anchor="t">
            <a:noAutofit/>
          </a:bodyPr>
          <a:lstStyle/>
          <a:p>
            <a:pPr algn="l"/>
            <a:r>
              <a:rPr sz="1200" b="0" i="0" spc="150">
                <a:solidFill>
                  <a:srgbClr val="52BDEC"/>
                </a:solidFill>
                <a:latin typeface="JetBrains Mono"/>
              </a:rPr>
              <a:t>02 · DE NORM</a:t>
            </a:r>
          </a:p>
        </p:txBody>
      </p:sp>
      <p:sp>
        <p:nvSpPr>
          <p:cNvPr id="11" name="TextBox 10"/>
          <p:cNvSpPr txBox="1"/>
          <p:nvPr/>
        </p:nvSpPr>
        <p:spPr>
          <a:xfrm>
            <a:off x="4616450" y="2299891"/>
            <a:ext cx="3018282" cy="514350"/>
          </a:xfrm>
          <a:prstGeom prst="rect">
            <a:avLst/>
          </a:prstGeom>
          <a:noFill/>
        </p:spPr>
        <p:txBody>
          <a:bodyPr wrap="square" lIns="0" rIns="0" tIns="0" bIns="0" anchor="t">
            <a:noAutofit/>
          </a:bodyPr>
          <a:lstStyle/>
          <a:p>
            <a:pPr algn="l">
              <a:lnSpc>
                <a:spcPts val="2025"/>
              </a:lnSpc>
            </a:pPr>
            <a:r>
              <a:rPr sz="1500" b="0" i="0">
                <a:solidFill>
                  <a:srgbClr val="C5D8E8"/>
                </a:solidFill>
                <a:latin typeface="DM Sans"/>
              </a:rPr>
              <a:t>80% daarvan, zeven dagen per week.</a:t>
            </a:r>
          </a:p>
        </p:txBody>
      </p:sp>
      <p:sp>
        <p:nvSpPr>
          <p:cNvPr id="12" name="TextBox 11"/>
          <p:cNvSpPr txBox="1"/>
          <p:nvPr/>
        </p:nvSpPr>
        <p:spPr>
          <a:xfrm>
            <a:off x="4616450" y="3830241"/>
            <a:ext cx="1196181" cy="457200"/>
          </a:xfrm>
          <a:prstGeom prst="rect">
            <a:avLst/>
          </a:prstGeom>
          <a:noFill/>
        </p:spPr>
        <p:txBody>
          <a:bodyPr wrap="none" lIns="0" rIns="0" tIns="0" bIns="0" anchor="t">
            <a:noAutofit/>
          </a:bodyPr>
          <a:lstStyle/>
          <a:p>
            <a:pPr algn="l">
              <a:lnSpc>
                <a:spcPts val="3600"/>
              </a:lnSpc>
            </a:pPr>
            <a:r>
              <a:rPr sz="3600" b="0" i="0">
                <a:solidFill>
                  <a:srgbClr val="F2F8FC"/>
                </a:solidFill>
                <a:latin typeface="DM Serif Display"/>
              </a:rPr>
              <a:t>12,4 u</a:t>
            </a:r>
          </a:p>
        </p:txBody>
      </p:sp>
      <p:sp>
        <p:nvSpPr>
          <p:cNvPr id="13" name="TextBox 12"/>
          <p:cNvSpPr txBox="1"/>
          <p:nvPr/>
        </p:nvSpPr>
        <p:spPr>
          <a:xfrm>
            <a:off x="5850731" y="4052491"/>
            <a:ext cx="1399381" cy="215900"/>
          </a:xfrm>
          <a:prstGeom prst="rect">
            <a:avLst/>
          </a:prstGeom>
          <a:noFill/>
        </p:spPr>
        <p:txBody>
          <a:bodyPr wrap="none" lIns="0" rIns="0" tIns="0" bIns="0" anchor="t">
            <a:noAutofit/>
          </a:bodyPr>
          <a:lstStyle/>
          <a:p>
            <a:pPr algn="l"/>
            <a:r>
              <a:rPr sz="1300" b="0" i="0">
                <a:solidFill>
                  <a:srgbClr val="8FB0CA"/>
                </a:solidFill>
                <a:latin typeface="DM Sans"/>
              </a:rPr>
              <a:t>schoeisel per dag</a:t>
            </a:r>
          </a:p>
        </p:txBody>
      </p:sp>
      <p:sp>
        <p:nvSpPr>
          <p:cNvPr id="14" name="Rounded Rectangle 13"/>
          <p:cNvSpPr/>
          <p:nvPr/>
        </p:nvSpPr>
        <p:spPr>
          <a:xfrm>
            <a:off x="7975600" y="1817291"/>
            <a:ext cx="3403600" cy="2667000"/>
          </a:xfrm>
          <a:prstGeom prst="roundRect">
            <a:avLst>
              <a:gd name="adj" fmla="val 476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197850" y="2014141"/>
            <a:ext cx="3009900" cy="198120"/>
          </a:xfrm>
          <a:prstGeom prst="rect">
            <a:avLst/>
          </a:prstGeom>
          <a:noFill/>
        </p:spPr>
        <p:txBody>
          <a:bodyPr wrap="none" lIns="0" rIns="0" tIns="0" bIns="0" anchor="t">
            <a:noAutofit/>
          </a:bodyPr>
          <a:lstStyle/>
          <a:p>
            <a:pPr algn="l"/>
            <a:r>
              <a:rPr sz="1200" b="0" i="0" spc="150">
                <a:solidFill>
                  <a:srgbClr val="52BDEC"/>
                </a:solidFill>
                <a:latin typeface="JetBrains Mono"/>
              </a:rPr>
              <a:t>03 · DE BOODSCHAP</a:t>
            </a:r>
          </a:p>
        </p:txBody>
      </p:sp>
      <p:sp>
        <p:nvSpPr>
          <p:cNvPr id="16" name="TextBox 15"/>
          <p:cNvSpPr txBox="1"/>
          <p:nvPr/>
        </p:nvSpPr>
        <p:spPr>
          <a:xfrm>
            <a:off x="8197850" y="3382566"/>
            <a:ext cx="3018282" cy="904875"/>
          </a:xfrm>
          <a:prstGeom prst="rect">
            <a:avLst/>
          </a:prstGeom>
          <a:noFill/>
        </p:spPr>
        <p:txBody>
          <a:bodyPr wrap="square" lIns="0" rIns="0" tIns="0" bIns="0" anchor="t">
            <a:noAutofit/>
          </a:bodyPr>
          <a:lstStyle/>
          <a:p>
            <a:pPr algn="l">
              <a:lnSpc>
                <a:spcPts val="2375"/>
              </a:lnSpc>
            </a:pPr>
            <a:r>
              <a:rPr sz="1900" b="0" i="1">
                <a:solidFill>
                  <a:srgbClr val="F2F8FC"/>
                </a:solidFill>
                <a:latin typeface="DM Serif Display"/>
              </a:rPr>
              <a:t>“U draagt uw schoenen altijd, van het moment dat u opstaat tot u gaat slapen.”</a:t>
            </a:r>
          </a:p>
        </p:txBody>
      </p:sp>
      <p:sp>
        <p:nvSpPr>
          <p:cNvPr id="17" name="Rectangle 16"/>
          <p:cNvSpPr/>
          <p:nvPr/>
        </p:nvSpPr>
        <p:spPr>
          <a:xfrm>
            <a:off x="812800" y="4687491"/>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2800" y="4846241"/>
            <a:ext cx="1574800" cy="198120"/>
          </a:xfrm>
          <a:prstGeom prst="rect">
            <a:avLst/>
          </a:prstGeom>
          <a:noFill/>
        </p:spPr>
        <p:txBody>
          <a:bodyPr wrap="none" lIns="0" rIns="0" tIns="0" bIns="0" anchor="t">
            <a:noAutofit/>
          </a:bodyPr>
          <a:lstStyle/>
          <a:p>
            <a:pPr algn="l"/>
            <a:r>
              <a:rPr sz="1200" b="0" i="0" spc="150">
                <a:solidFill>
                  <a:srgbClr val="FF9A3D"/>
                </a:solidFill>
                <a:latin typeface="JetBrains Mono"/>
              </a:rPr>
              <a:t>WAT VERANDERT</a:t>
            </a:r>
          </a:p>
        </p:txBody>
      </p:sp>
      <p:sp>
        <p:nvSpPr>
          <p:cNvPr id="19" name="TextBox 18"/>
          <p:cNvSpPr txBox="1"/>
          <p:nvPr/>
        </p:nvSpPr>
        <p:spPr>
          <a:xfrm>
            <a:off x="2514600" y="4808141"/>
            <a:ext cx="8915400" cy="257175"/>
          </a:xfrm>
          <a:prstGeom prst="rect">
            <a:avLst/>
          </a:prstGeom>
          <a:noFill/>
        </p:spPr>
        <p:txBody>
          <a:bodyPr wrap="none" lIns="0" rIns="0" tIns="0" bIns="0" anchor="t">
            <a:noAutofit/>
          </a:bodyPr>
          <a:lstStyle/>
          <a:p>
            <a:pPr algn="l">
              <a:lnSpc>
                <a:spcPts val="2025"/>
              </a:lnSpc>
            </a:pPr>
            <a:r>
              <a:rPr sz="1500" b="0" i="0">
                <a:solidFill>
                  <a:srgbClr val="F2F8FC"/>
                </a:solidFill>
                <a:latin typeface="DM Sans"/>
              </a:rPr>
              <a:t>De meetweek op maand 6 vervalt: minder werk voor uw team.</a:t>
            </a:r>
          </a:p>
        </p:txBody>
      </p:sp>
      <p:pic>
        <p:nvPicPr>
          <p:cNvPr id="20" name="Picture 19"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1" name="TextBox 20"/>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22" name="TextBox 21"/>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beslissing 30 september 2026 · eCRF 25b, 28</a:t>
            </a:r>
          </a:p>
        </p:txBody>
      </p:sp>
    </p:spTree>
  </p:cSld>
  <p:clrMapOvr>
    <a:masterClrMapping/>
  </p:clrMapOvr>
  <p:transition xmlns:p14="http://schemas.microsoft.com/office/powerpoint/2010/main" spd="med" p14:dur="700">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3 · WP1 · WANNEER</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Screening plus negen visites</a:t>
            </a:r>
          </a:p>
        </p:txBody>
      </p:sp>
      <p:sp>
        <p:nvSpPr>
          <p:cNvPr id="4" name="Rectangle 3"/>
          <p:cNvSpPr/>
          <p:nvPr/>
        </p:nvSpPr>
        <p:spPr>
          <a:xfrm>
            <a:off x="2463800" y="2312591"/>
            <a:ext cx="8343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463800" y="1817291"/>
            <a:ext cx="885130" cy="198120"/>
          </a:xfrm>
          <a:prstGeom prst="rect">
            <a:avLst/>
          </a:prstGeom>
          <a:noFill/>
        </p:spPr>
        <p:txBody>
          <a:bodyPr wrap="none" lIns="0" rIns="0" tIns="0" bIns="0" anchor="t">
            <a:noAutofit/>
          </a:bodyPr>
          <a:lstStyle/>
          <a:p>
            <a:pPr algn="l"/>
            <a:r>
              <a:rPr sz="1200" b="1" i="0">
                <a:solidFill>
                  <a:srgbClr val="0A2540"/>
                </a:solidFill>
                <a:latin typeface="JetBrains Mono"/>
              </a:rPr>
              <a:t>Scr</a:t>
            </a:r>
          </a:p>
        </p:txBody>
      </p:sp>
      <p:sp>
        <p:nvSpPr>
          <p:cNvPr id="6" name="TextBox 5"/>
          <p:cNvSpPr txBox="1"/>
          <p:nvPr/>
        </p:nvSpPr>
        <p:spPr>
          <a:xfrm>
            <a:off x="2463800" y="2039541"/>
            <a:ext cx="885130" cy="198120"/>
          </a:xfrm>
          <a:prstGeom prst="rect">
            <a:avLst/>
          </a:prstGeom>
          <a:noFill/>
        </p:spPr>
        <p:txBody>
          <a:bodyPr wrap="none" lIns="0" rIns="0" tIns="0" bIns="0" anchor="t">
            <a:noAutofit/>
          </a:bodyPr>
          <a:lstStyle/>
          <a:p>
            <a:pPr algn="l"/>
            <a:r>
              <a:rPr sz="1200" b="0" i="0">
                <a:solidFill>
                  <a:srgbClr val="5A6E80"/>
                </a:solidFill>
                <a:latin typeface="DM Sans"/>
              </a:rPr>
              <a:t>screening</a:t>
            </a:r>
          </a:p>
        </p:txBody>
      </p:sp>
      <p:sp>
        <p:nvSpPr>
          <p:cNvPr id="7" name="Rectangle 6"/>
          <p:cNvSpPr/>
          <p:nvPr/>
        </p:nvSpPr>
        <p:spPr>
          <a:xfrm>
            <a:off x="3361630" y="2312591"/>
            <a:ext cx="8344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61630" y="1817291"/>
            <a:ext cx="885230" cy="198120"/>
          </a:xfrm>
          <a:prstGeom prst="rect">
            <a:avLst/>
          </a:prstGeom>
          <a:noFill/>
        </p:spPr>
        <p:txBody>
          <a:bodyPr wrap="none" lIns="0" rIns="0" tIns="0" bIns="0" anchor="t">
            <a:noAutofit/>
          </a:bodyPr>
          <a:lstStyle/>
          <a:p>
            <a:pPr algn="l"/>
            <a:r>
              <a:rPr sz="1200" b="1" i="0">
                <a:solidFill>
                  <a:srgbClr val="0A2540"/>
                </a:solidFill>
                <a:latin typeface="JetBrains Mono"/>
              </a:rPr>
              <a:t>V0</a:t>
            </a:r>
          </a:p>
        </p:txBody>
      </p:sp>
      <p:sp>
        <p:nvSpPr>
          <p:cNvPr id="9" name="TextBox 8"/>
          <p:cNvSpPr txBox="1"/>
          <p:nvPr/>
        </p:nvSpPr>
        <p:spPr>
          <a:xfrm>
            <a:off x="3361630" y="2039541"/>
            <a:ext cx="885230" cy="198120"/>
          </a:xfrm>
          <a:prstGeom prst="rect">
            <a:avLst/>
          </a:prstGeom>
          <a:noFill/>
        </p:spPr>
        <p:txBody>
          <a:bodyPr wrap="none" lIns="0" rIns="0" tIns="0" bIns="0" anchor="t">
            <a:noAutofit/>
          </a:bodyPr>
          <a:lstStyle/>
          <a:p>
            <a:pPr algn="l"/>
            <a:r>
              <a:rPr sz="1200" b="0" i="0">
                <a:solidFill>
                  <a:srgbClr val="5A6E80"/>
                </a:solidFill>
                <a:latin typeface="DM Sans"/>
              </a:rPr>
              <a:t>geschikt</a:t>
            </a:r>
          </a:p>
        </p:txBody>
      </p:sp>
      <p:sp>
        <p:nvSpPr>
          <p:cNvPr id="10" name="Rectangle 9"/>
          <p:cNvSpPr/>
          <p:nvPr/>
        </p:nvSpPr>
        <p:spPr>
          <a:xfrm>
            <a:off x="4259560" y="2312591"/>
            <a:ext cx="8343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59560" y="1817291"/>
            <a:ext cx="885130" cy="198120"/>
          </a:xfrm>
          <a:prstGeom prst="rect">
            <a:avLst/>
          </a:prstGeom>
          <a:noFill/>
        </p:spPr>
        <p:txBody>
          <a:bodyPr wrap="none" lIns="0" rIns="0" tIns="0" bIns="0" anchor="t">
            <a:noAutofit/>
          </a:bodyPr>
          <a:lstStyle/>
          <a:p>
            <a:pPr algn="l"/>
            <a:r>
              <a:rPr sz="1200" b="1" i="0">
                <a:solidFill>
                  <a:srgbClr val="0A2540"/>
                </a:solidFill>
                <a:latin typeface="JetBrains Mono"/>
              </a:rPr>
              <a:t>V1</a:t>
            </a:r>
          </a:p>
        </p:txBody>
      </p:sp>
      <p:sp>
        <p:nvSpPr>
          <p:cNvPr id="12" name="TextBox 11"/>
          <p:cNvSpPr txBox="1"/>
          <p:nvPr/>
        </p:nvSpPr>
        <p:spPr>
          <a:xfrm>
            <a:off x="4259560" y="2039541"/>
            <a:ext cx="885130" cy="198120"/>
          </a:xfrm>
          <a:prstGeom prst="rect">
            <a:avLst/>
          </a:prstGeom>
          <a:noFill/>
        </p:spPr>
        <p:txBody>
          <a:bodyPr wrap="none" lIns="0" rIns="0" tIns="0" bIns="0" anchor="t">
            <a:noAutofit/>
          </a:bodyPr>
          <a:lstStyle/>
          <a:p>
            <a:pPr algn="l"/>
            <a:r>
              <a:rPr sz="1200" b="0" i="0">
                <a:solidFill>
                  <a:srgbClr val="5A6E80"/>
                </a:solidFill>
                <a:latin typeface="DM Sans"/>
              </a:rPr>
              <a:t>baseline</a:t>
            </a:r>
          </a:p>
        </p:txBody>
      </p:sp>
      <p:sp>
        <p:nvSpPr>
          <p:cNvPr id="13" name="Rectangle 12"/>
          <p:cNvSpPr/>
          <p:nvPr/>
        </p:nvSpPr>
        <p:spPr>
          <a:xfrm>
            <a:off x="5157391" y="2312591"/>
            <a:ext cx="8344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57391" y="1817291"/>
            <a:ext cx="885230" cy="198120"/>
          </a:xfrm>
          <a:prstGeom prst="rect">
            <a:avLst/>
          </a:prstGeom>
          <a:noFill/>
        </p:spPr>
        <p:txBody>
          <a:bodyPr wrap="none" lIns="0" rIns="0" tIns="0" bIns="0" anchor="t">
            <a:noAutofit/>
          </a:bodyPr>
          <a:lstStyle/>
          <a:p>
            <a:pPr algn="l"/>
            <a:r>
              <a:rPr sz="1200" b="1" i="0">
                <a:solidFill>
                  <a:srgbClr val="0A2540"/>
                </a:solidFill>
                <a:latin typeface="JetBrains Mono"/>
              </a:rPr>
              <a:t>V2</a:t>
            </a:r>
          </a:p>
        </p:txBody>
      </p:sp>
      <p:sp>
        <p:nvSpPr>
          <p:cNvPr id="15" name="TextBox 14"/>
          <p:cNvSpPr txBox="1"/>
          <p:nvPr/>
        </p:nvSpPr>
        <p:spPr>
          <a:xfrm>
            <a:off x="5157391" y="2039541"/>
            <a:ext cx="885230" cy="198120"/>
          </a:xfrm>
          <a:prstGeom prst="rect">
            <a:avLst/>
          </a:prstGeom>
          <a:noFill/>
        </p:spPr>
        <p:txBody>
          <a:bodyPr wrap="none" lIns="0" rIns="0" tIns="0" bIns="0" anchor="t">
            <a:noAutofit/>
          </a:bodyPr>
          <a:lstStyle/>
          <a:p>
            <a:pPr algn="l"/>
            <a:r>
              <a:rPr sz="1200" b="0" i="0">
                <a:solidFill>
                  <a:srgbClr val="5A6E80"/>
                </a:solidFill>
                <a:latin typeface="DM Sans"/>
              </a:rPr>
              <a:t>14 d–1 m</a:t>
            </a:r>
          </a:p>
        </p:txBody>
      </p:sp>
      <p:sp>
        <p:nvSpPr>
          <p:cNvPr id="16" name="Rectangle 15"/>
          <p:cNvSpPr/>
          <p:nvPr/>
        </p:nvSpPr>
        <p:spPr>
          <a:xfrm>
            <a:off x="6055320" y="2312591"/>
            <a:ext cx="8343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55320" y="1817291"/>
            <a:ext cx="885130" cy="198120"/>
          </a:xfrm>
          <a:prstGeom prst="rect">
            <a:avLst/>
          </a:prstGeom>
          <a:noFill/>
        </p:spPr>
        <p:txBody>
          <a:bodyPr wrap="none" lIns="0" rIns="0" tIns="0" bIns="0" anchor="t">
            <a:noAutofit/>
          </a:bodyPr>
          <a:lstStyle/>
          <a:p>
            <a:pPr algn="l"/>
            <a:r>
              <a:rPr sz="1200" b="1" i="0">
                <a:solidFill>
                  <a:srgbClr val="0A2540"/>
                </a:solidFill>
                <a:latin typeface="JetBrains Mono"/>
              </a:rPr>
              <a:t>V3</a:t>
            </a:r>
          </a:p>
        </p:txBody>
      </p:sp>
      <p:sp>
        <p:nvSpPr>
          <p:cNvPr id="18" name="TextBox 17"/>
          <p:cNvSpPr txBox="1"/>
          <p:nvPr/>
        </p:nvSpPr>
        <p:spPr>
          <a:xfrm>
            <a:off x="6055320" y="2039541"/>
            <a:ext cx="885130" cy="198120"/>
          </a:xfrm>
          <a:prstGeom prst="rect">
            <a:avLst/>
          </a:prstGeom>
          <a:noFill/>
        </p:spPr>
        <p:txBody>
          <a:bodyPr wrap="none" lIns="0" rIns="0" tIns="0" bIns="0" anchor="t">
            <a:noAutofit/>
          </a:bodyPr>
          <a:lstStyle/>
          <a:p>
            <a:pPr algn="l"/>
            <a:r>
              <a:rPr sz="1200" b="0" i="0">
                <a:solidFill>
                  <a:srgbClr val="5A6E80"/>
                </a:solidFill>
                <a:latin typeface="DM Sans"/>
              </a:rPr>
              <a:t>m 3</a:t>
            </a:r>
          </a:p>
        </p:txBody>
      </p:sp>
      <p:sp>
        <p:nvSpPr>
          <p:cNvPr id="19" name="Rectangle 18"/>
          <p:cNvSpPr/>
          <p:nvPr/>
        </p:nvSpPr>
        <p:spPr>
          <a:xfrm>
            <a:off x="6953151" y="2312591"/>
            <a:ext cx="8344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53151" y="1817291"/>
            <a:ext cx="885230" cy="198120"/>
          </a:xfrm>
          <a:prstGeom prst="rect">
            <a:avLst/>
          </a:prstGeom>
          <a:noFill/>
        </p:spPr>
        <p:txBody>
          <a:bodyPr wrap="none" lIns="0" rIns="0" tIns="0" bIns="0" anchor="t">
            <a:noAutofit/>
          </a:bodyPr>
          <a:lstStyle/>
          <a:p>
            <a:pPr algn="l"/>
            <a:r>
              <a:rPr sz="1200" b="1" i="0">
                <a:solidFill>
                  <a:srgbClr val="0A2540"/>
                </a:solidFill>
                <a:latin typeface="JetBrains Mono"/>
              </a:rPr>
              <a:t>V4</a:t>
            </a:r>
          </a:p>
        </p:txBody>
      </p:sp>
      <p:sp>
        <p:nvSpPr>
          <p:cNvPr id="21" name="TextBox 20"/>
          <p:cNvSpPr txBox="1"/>
          <p:nvPr/>
        </p:nvSpPr>
        <p:spPr>
          <a:xfrm>
            <a:off x="6953151" y="2039541"/>
            <a:ext cx="885230" cy="198120"/>
          </a:xfrm>
          <a:prstGeom prst="rect">
            <a:avLst/>
          </a:prstGeom>
          <a:noFill/>
        </p:spPr>
        <p:txBody>
          <a:bodyPr wrap="none" lIns="0" rIns="0" tIns="0" bIns="0" anchor="t">
            <a:noAutofit/>
          </a:bodyPr>
          <a:lstStyle/>
          <a:p>
            <a:pPr algn="l"/>
            <a:r>
              <a:rPr sz="1200" b="0" i="0">
                <a:solidFill>
                  <a:srgbClr val="5A6E80"/>
                </a:solidFill>
                <a:latin typeface="DM Sans"/>
              </a:rPr>
              <a:t>m 6</a:t>
            </a:r>
          </a:p>
        </p:txBody>
      </p:sp>
      <p:sp>
        <p:nvSpPr>
          <p:cNvPr id="22" name="Rectangle 21"/>
          <p:cNvSpPr/>
          <p:nvPr/>
        </p:nvSpPr>
        <p:spPr>
          <a:xfrm>
            <a:off x="7851080" y="2312591"/>
            <a:ext cx="8344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51080" y="1817291"/>
            <a:ext cx="885230" cy="198120"/>
          </a:xfrm>
          <a:prstGeom prst="rect">
            <a:avLst/>
          </a:prstGeom>
          <a:noFill/>
        </p:spPr>
        <p:txBody>
          <a:bodyPr wrap="none" lIns="0" rIns="0" tIns="0" bIns="0" anchor="t">
            <a:noAutofit/>
          </a:bodyPr>
          <a:lstStyle/>
          <a:p>
            <a:pPr algn="l"/>
            <a:r>
              <a:rPr sz="1200" b="1" i="0">
                <a:solidFill>
                  <a:srgbClr val="0A2540"/>
                </a:solidFill>
                <a:latin typeface="JetBrains Mono"/>
              </a:rPr>
              <a:t>V5</a:t>
            </a:r>
          </a:p>
        </p:txBody>
      </p:sp>
      <p:sp>
        <p:nvSpPr>
          <p:cNvPr id="24" name="TextBox 23"/>
          <p:cNvSpPr txBox="1"/>
          <p:nvPr/>
        </p:nvSpPr>
        <p:spPr>
          <a:xfrm>
            <a:off x="7851080" y="2039541"/>
            <a:ext cx="885230" cy="198120"/>
          </a:xfrm>
          <a:prstGeom prst="rect">
            <a:avLst/>
          </a:prstGeom>
          <a:noFill/>
        </p:spPr>
        <p:txBody>
          <a:bodyPr wrap="none" lIns="0" rIns="0" tIns="0" bIns="0" anchor="t">
            <a:noAutofit/>
          </a:bodyPr>
          <a:lstStyle/>
          <a:p>
            <a:pPr algn="l"/>
            <a:r>
              <a:rPr sz="1200" b="0" i="0">
                <a:solidFill>
                  <a:srgbClr val="5A6E80"/>
                </a:solidFill>
                <a:latin typeface="DM Sans"/>
              </a:rPr>
              <a:t>m 9</a:t>
            </a:r>
          </a:p>
        </p:txBody>
      </p:sp>
      <p:sp>
        <p:nvSpPr>
          <p:cNvPr id="25" name="Rectangle 24"/>
          <p:cNvSpPr/>
          <p:nvPr/>
        </p:nvSpPr>
        <p:spPr>
          <a:xfrm>
            <a:off x="8749010" y="2312591"/>
            <a:ext cx="8343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49010" y="1817291"/>
            <a:ext cx="885130" cy="198120"/>
          </a:xfrm>
          <a:prstGeom prst="rect">
            <a:avLst/>
          </a:prstGeom>
          <a:noFill/>
        </p:spPr>
        <p:txBody>
          <a:bodyPr wrap="none" lIns="0" rIns="0" tIns="0" bIns="0" anchor="t">
            <a:noAutofit/>
          </a:bodyPr>
          <a:lstStyle/>
          <a:p>
            <a:pPr algn="l"/>
            <a:r>
              <a:rPr sz="1200" b="1" i="0">
                <a:solidFill>
                  <a:srgbClr val="0A2540"/>
                </a:solidFill>
                <a:latin typeface="JetBrains Mono"/>
              </a:rPr>
              <a:t>V6</a:t>
            </a:r>
          </a:p>
        </p:txBody>
      </p:sp>
      <p:sp>
        <p:nvSpPr>
          <p:cNvPr id="27" name="TextBox 26"/>
          <p:cNvSpPr txBox="1"/>
          <p:nvPr/>
        </p:nvSpPr>
        <p:spPr>
          <a:xfrm>
            <a:off x="8749010" y="2039541"/>
            <a:ext cx="885130" cy="198120"/>
          </a:xfrm>
          <a:prstGeom prst="rect">
            <a:avLst/>
          </a:prstGeom>
          <a:noFill/>
        </p:spPr>
        <p:txBody>
          <a:bodyPr wrap="none" lIns="0" rIns="0" tIns="0" bIns="0" anchor="t">
            <a:noAutofit/>
          </a:bodyPr>
          <a:lstStyle/>
          <a:p>
            <a:pPr algn="l"/>
            <a:r>
              <a:rPr sz="1200" b="0" i="0">
                <a:solidFill>
                  <a:srgbClr val="5A6E80"/>
                </a:solidFill>
                <a:latin typeface="DM Sans"/>
              </a:rPr>
              <a:t>m 12</a:t>
            </a:r>
          </a:p>
        </p:txBody>
      </p:sp>
      <p:sp>
        <p:nvSpPr>
          <p:cNvPr id="28" name="Rectangle 27"/>
          <p:cNvSpPr/>
          <p:nvPr/>
        </p:nvSpPr>
        <p:spPr>
          <a:xfrm>
            <a:off x="9646841" y="2312591"/>
            <a:ext cx="8344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46841" y="1817291"/>
            <a:ext cx="885230" cy="198120"/>
          </a:xfrm>
          <a:prstGeom prst="rect">
            <a:avLst/>
          </a:prstGeom>
          <a:noFill/>
        </p:spPr>
        <p:txBody>
          <a:bodyPr wrap="none" lIns="0" rIns="0" tIns="0" bIns="0" anchor="t">
            <a:noAutofit/>
          </a:bodyPr>
          <a:lstStyle/>
          <a:p>
            <a:pPr algn="l"/>
            <a:r>
              <a:rPr sz="1200" b="1" i="0">
                <a:solidFill>
                  <a:srgbClr val="0A2540"/>
                </a:solidFill>
                <a:latin typeface="JetBrains Mono"/>
              </a:rPr>
              <a:t>V7</a:t>
            </a:r>
          </a:p>
        </p:txBody>
      </p:sp>
      <p:sp>
        <p:nvSpPr>
          <p:cNvPr id="30" name="TextBox 29"/>
          <p:cNvSpPr txBox="1"/>
          <p:nvPr/>
        </p:nvSpPr>
        <p:spPr>
          <a:xfrm>
            <a:off x="9646841" y="2039541"/>
            <a:ext cx="885230" cy="198120"/>
          </a:xfrm>
          <a:prstGeom prst="rect">
            <a:avLst/>
          </a:prstGeom>
          <a:noFill/>
        </p:spPr>
        <p:txBody>
          <a:bodyPr wrap="none" lIns="0" rIns="0" tIns="0" bIns="0" anchor="t">
            <a:noAutofit/>
          </a:bodyPr>
          <a:lstStyle/>
          <a:p>
            <a:pPr algn="l"/>
            <a:r>
              <a:rPr sz="1200" b="0" i="0">
                <a:solidFill>
                  <a:srgbClr val="5A6E80"/>
                </a:solidFill>
                <a:latin typeface="DM Sans"/>
              </a:rPr>
              <a:t>m 15</a:t>
            </a:r>
          </a:p>
        </p:txBody>
      </p:sp>
      <p:sp>
        <p:nvSpPr>
          <p:cNvPr id="31" name="Rectangle 30"/>
          <p:cNvSpPr/>
          <p:nvPr/>
        </p:nvSpPr>
        <p:spPr>
          <a:xfrm>
            <a:off x="10544770" y="2312591"/>
            <a:ext cx="8343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44770" y="1817291"/>
            <a:ext cx="885130" cy="198120"/>
          </a:xfrm>
          <a:prstGeom prst="rect">
            <a:avLst/>
          </a:prstGeom>
          <a:noFill/>
        </p:spPr>
        <p:txBody>
          <a:bodyPr wrap="none" lIns="0" rIns="0" tIns="0" bIns="0" anchor="t">
            <a:noAutofit/>
          </a:bodyPr>
          <a:lstStyle/>
          <a:p>
            <a:pPr algn="l"/>
            <a:r>
              <a:rPr sz="1200" b="1" i="0">
                <a:solidFill>
                  <a:srgbClr val="0A2540"/>
                </a:solidFill>
                <a:latin typeface="JetBrains Mono"/>
              </a:rPr>
              <a:t>V8</a:t>
            </a:r>
          </a:p>
        </p:txBody>
      </p:sp>
      <p:sp>
        <p:nvSpPr>
          <p:cNvPr id="33" name="TextBox 32"/>
          <p:cNvSpPr txBox="1"/>
          <p:nvPr/>
        </p:nvSpPr>
        <p:spPr>
          <a:xfrm>
            <a:off x="10544770" y="2039541"/>
            <a:ext cx="885130" cy="198120"/>
          </a:xfrm>
          <a:prstGeom prst="rect">
            <a:avLst/>
          </a:prstGeom>
          <a:noFill/>
        </p:spPr>
        <p:txBody>
          <a:bodyPr wrap="none" lIns="0" rIns="0" tIns="0" bIns="0" anchor="t">
            <a:noAutofit/>
          </a:bodyPr>
          <a:lstStyle/>
          <a:p>
            <a:pPr algn="l"/>
            <a:r>
              <a:rPr sz="1200" b="0" i="0">
                <a:solidFill>
                  <a:srgbClr val="5A6E80"/>
                </a:solidFill>
                <a:latin typeface="DM Sans"/>
              </a:rPr>
              <a:t>m 18</a:t>
            </a:r>
          </a:p>
        </p:txBody>
      </p:sp>
      <p:sp>
        <p:nvSpPr>
          <p:cNvPr id="34" name="TextBox 33"/>
          <p:cNvSpPr txBox="1"/>
          <p:nvPr/>
        </p:nvSpPr>
        <p:spPr>
          <a:xfrm>
            <a:off x="812800" y="2469753"/>
            <a:ext cx="1638300" cy="396081"/>
          </a:xfrm>
          <a:prstGeom prst="rect">
            <a:avLst/>
          </a:prstGeom>
          <a:noFill/>
        </p:spPr>
        <p:txBody>
          <a:bodyPr wrap="square" lIns="0" rIns="0" tIns="0" bIns="0" anchor="t">
            <a:noAutofit/>
          </a:bodyPr>
          <a:lstStyle/>
          <a:p>
            <a:pPr algn="l">
              <a:lnSpc>
                <a:spcPts val="1560"/>
              </a:lnSpc>
            </a:pPr>
            <a:r>
              <a:rPr sz="1300" b="1" i="0">
                <a:solidFill>
                  <a:srgbClr val="0A2540"/>
                </a:solidFill>
                <a:latin typeface="DM Sans"/>
              </a:rPr>
              <a:t>Toestemming, loting</a:t>
            </a:r>
          </a:p>
        </p:txBody>
      </p:sp>
      <p:sp>
        <p:nvSpPr>
          <p:cNvPr id="35" name="Rectangle 34"/>
          <p:cNvSpPr/>
          <p:nvPr/>
        </p:nvSpPr>
        <p:spPr>
          <a:xfrm>
            <a:off x="2463800" y="2388791"/>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2463800" y="2521744"/>
            <a:ext cx="8343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2463800" y="2572544"/>
            <a:ext cx="834330" cy="198120"/>
          </a:xfrm>
          <a:prstGeom prst="rect">
            <a:avLst/>
          </a:prstGeom>
          <a:noFill/>
        </p:spPr>
        <p:txBody>
          <a:bodyPr wrap="none" lIns="0" rIns="0" tIns="0" bIns="0" anchor="t">
            <a:noAutofit/>
          </a:bodyPr>
          <a:lstStyle/>
          <a:p>
            <a:pPr algn="ctr"/>
            <a:r>
              <a:rPr sz="1200" b="0" i="0">
                <a:solidFill>
                  <a:srgbClr val="F2F8FC"/>
                </a:solidFill>
                <a:latin typeface="DM Sans"/>
              </a:rPr>
              <a:t>arts</a:t>
            </a:r>
          </a:p>
        </p:txBody>
      </p:sp>
      <p:sp>
        <p:nvSpPr>
          <p:cNvPr id="38" name="Rectangle 37"/>
          <p:cNvSpPr/>
          <p:nvPr/>
        </p:nvSpPr>
        <p:spPr>
          <a:xfrm>
            <a:off x="3361630" y="2388791"/>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3361630" y="2521744"/>
            <a:ext cx="8344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3361630" y="2572544"/>
            <a:ext cx="834430" cy="198120"/>
          </a:xfrm>
          <a:prstGeom prst="rect">
            <a:avLst/>
          </a:prstGeom>
          <a:noFill/>
        </p:spPr>
        <p:txBody>
          <a:bodyPr wrap="none" lIns="0" rIns="0" tIns="0" bIns="0" anchor="t">
            <a:noAutofit/>
          </a:bodyPr>
          <a:lstStyle/>
          <a:p>
            <a:pPr algn="ctr"/>
            <a:r>
              <a:rPr sz="1200" b="0" i="0">
                <a:solidFill>
                  <a:srgbClr val="F2F8FC"/>
                </a:solidFill>
                <a:latin typeface="DM Sans"/>
              </a:rPr>
              <a:t>PI</a:t>
            </a:r>
          </a:p>
        </p:txBody>
      </p:sp>
      <p:sp>
        <p:nvSpPr>
          <p:cNvPr id="41" name="Rectangle 40"/>
          <p:cNvSpPr/>
          <p:nvPr/>
        </p:nvSpPr>
        <p:spPr>
          <a:xfrm>
            <a:off x="4259560" y="2388791"/>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157391" y="2388791"/>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055320" y="2388791"/>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953151" y="2388791"/>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851080" y="2388791"/>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749010" y="2388791"/>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646841" y="2388791"/>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544770" y="2388791"/>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12800" y="3190280"/>
            <a:ext cx="1002804" cy="198120"/>
          </a:xfrm>
          <a:prstGeom prst="rect">
            <a:avLst/>
          </a:prstGeom>
          <a:noFill/>
        </p:spPr>
        <p:txBody>
          <a:bodyPr wrap="none" lIns="0" rIns="0" tIns="0" bIns="0" anchor="t">
            <a:noAutofit/>
          </a:bodyPr>
          <a:lstStyle/>
          <a:p>
            <a:pPr algn="l">
              <a:lnSpc>
                <a:spcPts val="1560"/>
              </a:lnSpc>
            </a:pPr>
            <a:r>
              <a:rPr sz="1300" b="1" i="0">
                <a:solidFill>
                  <a:srgbClr val="0A2540"/>
                </a:solidFill>
                <a:latin typeface="DM Sans"/>
              </a:rPr>
              <a:t>Drukmeting</a:t>
            </a:r>
          </a:p>
        </p:txBody>
      </p:sp>
      <p:sp>
        <p:nvSpPr>
          <p:cNvPr id="50" name="Rectangle 49"/>
          <p:cNvSpPr/>
          <p:nvPr/>
        </p:nvSpPr>
        <p:spPr>
          <a:xfrm>
            <a:off x="2463800" y="3010297"/>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361630" y="3010297"/>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259560" y="3010297"/>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259560" y="3143250"/>
            <a:ext cx="8343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4259560" y="3194050"/>
            <a:ext cx="834330" cy="198120"/>
          </a:xfrm>
          <a:prstGeom prst="rect">
            <a:avLst/>
          </a:prstGeom>
          <a:noFill/>
        </p:spPr>
        <p:txBody>
          <a:bodyPr wrap="none" lIns="0" rIns="0" tIns="0" bIns="0" anchor="t">
            <a:noAutofit/>
          </a:bodyPr>
          <a:lstStyle/>
          <a:p>
            <a:pPr algn="ctr"/>
            <a:r>
              <a:rPr sz="1200" b="0" i="0">
                <a:solidFill>
                  <a:srgbClr val="F2F8FC"/>
                </a:solidFill>
                <a:latin typeface="DM Sans"/>
              </a:rPr>
              <a:t>A</a:t>
            </a:r>
          </a:p>
        </p:txBody>
      </p:sp>
      <p:sp>
        <p:nvSpPr>
          <p:cNvPr id="55" name="Rectangle 54"/>
          <p:cNvSpPr/>
          <p:nvPr/>
        </p:nvSpPr>
        <p:spPr>
          <a:xfrm>
            <a:off x="5157391" y="3010297"/>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5157391" y="3143250"/>
            <a:ext cx="8344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5157391" y="3194050"/>
            <a:ext cx="8344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58" name="Rectangle 57"/>
          <p:cNvSpPr/>
          <p:nvPr/>
        </p:nvSpPr>
        <p:spPr>
          <a:xfrm>
            <a:off x="6055320" y="3010297"/>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953151" y="3010297"/>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6953151" y="3143250"/>
            <a:ext cx="8344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6953151" y="3194050"/>
            <a:ext cx="8344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62" name="Rectangle 61"/>
          <p:cNvSpPr/>
          <p:nvPr/>
        </p:nvSpPr>
        <p:spPr>
          <a:xfrm>
            <a:off x="7851080" y="3010297"/>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8749010" y="3010297"/>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8749010" y="3143250"/>
            <a:ext cx="8343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749010" y="3194050"/>
            <a:ext cx="8343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66" name="Rectangle 65"/>
          <p:cNvSpPr/>
          <p:nvPr/>
        </p:nvSpPr>
        <p:spPr>
          <a:xfrm>
            <a:off x="9646841" y="3010297"/>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10544770" y="3010297"/>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10544770" y="3143250"/>
            <a:ext cx="8343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544770" y="3194050"/>
            <a:ext cx="8343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70" name="TextBox 69"/>
          <p:cNvSpPr txBox="1"/>
          <p:nvPr/>
        </p:nvSpPr>
        <p:spPr>
          <a:xfrm>
            <a:off x="812800" y="3811885"/>
            <a:ext cx="1114723" cy="198120"/>
          </a:xfrm>
          <a:prstGeom prst="rect">
            <a:avLst/>
          </a:prstGeom>
          <a:noFill/>
        </p:spPr>
        <p:txBody>
          <a:bodyPr wrap="none" lIns="0" rIns="0" tIns="0" bIns="0" anchor="t">
            <a:noAutofit/>
          </a:bodyPr>
          <a:lstStyle/>
          <a:p>
            <a:pPr algn="l">
              <a:lnSpc>
                <a:spcPts val="1560"/>
              </a:lnSpc>
            </a:pPr>
            <a:r>
              <a:rPr sz="1300" b="1" i="0">
                <a:solidFill>
                  <a:srgbClr val="0A2540"/>
                </a:solidFill>
                <a:latin typeface="DM Sans"/>
              </a:rPr>
              <a:t>MoveMonitor</a:t>
            </a:r>
          </a:p>
        </p:txBody>
      </p:sp>
      <p:sp>
        <p:nvSpPr>
          <p:cNvPr id="71" name="Rectangle 70"/>
          <p:cNvSpPr/>
          <p:nvPr/>
        </p:nvSpPr>
        <p:spPr>
          <a:xfrm>
            <a:off x="2463800" y="3631902"/>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3361630" y="3631902"/>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259560" y="3631902"/>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ed Rectangle 73"/>
          <p:cNvSpPr/>
          <p:nvPr/>
        </p:nvSpPr>
        <p:spPr>
          <a:xfrm>
            <a:off x="4259560" y="3764855"/>
            <a:ext cx="8343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4259560" y="3815655"/>
            <a:ext cx="834330" cy="198120"/>
          </a:xfrm>
          <a:prstGeom prst="rect">
            <a:avLst/>
          </a:prstGeom>
          <a:noFill/>
        </p:spPr>
        <p:txBody>
          <a:bodyPr wrap="none" lIns="0" rIns="0" tIns="0" bIns="0" anchor="t">
            <a:noAutofit/>
          </a:bodyPr>
          <a:lstStyle/>
          <a:p>
            <a:pPr algn="ctr"/>
            <a:r>
              <a:rPr sz="1200" b="0" i="0">
                <a:solidFill>
                  <a:srgbClr val="F2F8FC"/>
                </a:solidFill>
                <a:latin typeface="DM Sans"/>
              </a:rPr>
              <a:t>1 week</a:t>
            </a:r>
          </a:p>
        </p:txBody>
      </p:sp>
      <p:sp>
        <p:nvSpPr>
          <p:cNvPr id="76" name="Rectangle 75"/>
          <p:cNvSpPr/>
          <p:nvPr/>
        </p:nvSpPr>
        <p:spPr>
          <a:xfrm>
            <a:off x="5157391" y="3631902"/>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055320" y="3631902"/>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6953151" y="3631902"/>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851080" y="3631902"/>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8749010" y="3631902"/>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646841" y="3631902"/>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0544770" y="3631902"/>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12800" y="4433391"/>
            <a:ext cx="957560" cy="198120"/>
          </a:xfrm>
          <a:prstGeom prst="rect">
            <a:avLst/>
          </a:prstGeom>
          <a:noFill/>
        </p:spPr>
        <p:txBody>
          <a:bodyPr wrap="none" lIns="0" rIns="0" tIns="0" bIns="0" anchor="t">
            <a:noAutofit/>
          </a:bodyPr>
          <a:lstStyle/>
          <a:p>
            <a:pPr algn="l">
              <a:lnSpc>
                <a:spcPts val="1560"/>
              </a:lnSpc>
            </a:pPr>
            <a:r>
              <a:rPr sz="1300" b="1" i="0">
                <a:solidFill>
                  <a:srgbClr val="0A2540"/>
                </a:solidFill>
                <a:latin typeface="DM Sans"/>
              </a:rPr>
              <a:t>Orthotimer</a:t>
            </a:r>
          </a:p>
        </p:txBody>
      </p:sp>
      <p:sp>
        <p:nvSpPr>
          <p:cNvPr id="84" name="Rectangle 83"/>
          <p:cNvSpPr/>
          <p:nvPr/>
        </p:nvSpPr>
        <p:spPr>
          <a:xfrm>
            <a:off x="2463800" y="4253409"/>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3361630" y="4253409"/>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4259560" y="4253409"/>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5157391" y="4253409"/>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ounded Rectangle 87"/>
          <p:cNvSpPr/>
          <p:nvPr/>
        </p:nvSpPr>
        <p:spPr>
          <a:xfrm>
            <a:off x="5157391" y="4386362"/>
            <a:ext cx="8344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5157391" y="4437162"/>
            <a:ext cx="834430" cy="198120"/>
          </a:xfrm>
          <a:prstGeom prst="rect">
            <a:avLst/>
          </a:prstGeom>
          <a:noFill/>
        </p:spPr>
        <p:txBody>
          <a:bodyPr wrap="none" lIns="0" rIns="0" tIns="0" bIns="0" anchor="t">
            <a:noAutofit/>
          </a:bodyPr>
          <a:lstStyle/>
          <a:p>
            <a:pPr algn="ctr"/>
            <a:r>
              <a:rPr sz="1200" b="0" i="0">
                <a:solidFill>
                  <a:srgbClr val="F2F8FC"/>
                </a:solidFill>
                <a:latin typeface="DM Sans"/>
              </a:rPr>
              <a:t>start</a:t>
            </a:r>
          </a:p>
        </p:txBody>
      </p:sp>
      <p:sp>
        <p:nvSpPr>
          <p:cNvPr id="90" name="Rectangle 89"/>
          <p:cNvSpPr/>
          <p:nvPr/>
        </p:nvSpPr>
        <p:spPr>
          <a:xfrm>
            <a:off x="6055320" y="4253409"/>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ounded Rectangle 90"/>
          <p:cNvSpPr/>
          <p:nvPr/>
        </p:nvSpPr>
        <p:spPr>
          <a:xfrm>
            <a:off x="6055320" y="4386362"/>
            <a:ext cx="8343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6055320" y="4437162"/>
            <a:ext cx="8343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93" name="Rectangle 92"/>
          <p:cNvSpPr/>
          <p:nvPr/>
        </p:nvSpPr>
        <p:spPr>
          <a:xfrm>
            <a:off x="6953151" y="4253409"/>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ounded Rectangle 93"/>
          <p:cNvSpPr/>
          <p:nvPr/>
        </p:nvSpPr>
        <p:spPr>
          <a:xfrm>
            <a:off x="6953151" y="4386362"/>
            <a:ext cx="8344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6953151" y="4437162"/>
            <a:ext cx="8344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96" name="Rectangle 95"/>
          <p:cNvSpPr/>
          <p:nvPr/>
        </p:nvSpPr>
        <p:spPr>
          <a:xfrm>
            <a:off x="7851080" y="4253409"/>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ounded Rectangle 96"/>
          <p:cNvSpPr/>
          <p:nvPr/>
        </p:nvSpPr>
        <p:spPr>
          <a:xfrm>
            <a:off x="7851080" y="4386362"/>
            <a:ext cx="8344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7851080" y="4437162"/>
            <a:ext cx="8344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99" name="Rectangle 98"/>
          <p:cNvSpPr/>
          <p:nvPr/>
        </p:nvSpPr>
        <p:spPr>
          <a:xfrm>
            <a:off x="8749010" y="4253409"/>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ounded Rectangle 99"/>
          <p:cNvSpPr/>
          <p:nvPr/>
        </p:nvSpPr>
        <p:spPr>
          <a:xfrm>
            <a:off x="8749010" y="4386362"/>
            <a:ext cx="8343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8749010" y="4437162"/>
            <a:ext cx="8343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02" name="Rectangle 101"/>
          <p:cNvSpPr/>
          <p:nvPr/>
        </p:nvSpPr>
        <p:spPr>
          <a:xfrm>
            <a:off x="9646841" y="4253409"/>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ounded Rectangle 102"/>
          <p:cNvSpPr/>
          <p:nvPr/>
        </p:nvSpPr>
        <p:spPr>
          <a:xfrm>
            <a:off x="9646841" y="4386362"/>
            <a:ext cx="8344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9646841" y="4437162"/>
            <a:ext cx="8344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05" name="Rectangle 104"/>
          <p:cNvSpPr/>
          <p:nvPr/>
        </p:nvSpPr>
        <p:spPr>
          <a:xfrm>
            <a:off x="10544770" y="4253409"/>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ounded Rectangle 105"/>
          <p:cNvSpPr/>
          <p:nvPr/>
        </p:nvSpPr>
        <p:spPr>
          <a:xfrm>
            <a:off x="10544770" y="4386362"/>
            <a:ext cx="8343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10544770" y="4437162"/>
            <a:ext cx="8343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08" name="TextBox 107"/>
          <p:cNvSpPr txBox="1"/>
          <p:nvPr/>
        </p:nvSpPr>
        <p:spPr>
          <a:xfrm>
            <a:off x="812800" y="5054997"/>
            <a:ext cx="1419027" cy="198120"/>
          </a:xfrm>
          <a:prstGeom prst="rect">
            <a:avLst/>
          </a:prstGeom>
          <a:noFill/>
        </p:spPr>
        <p:txBody>
          <a:bodyPr wrap="none" lIns="0" rIns="0" tIns="0" bIns="0" anchor="t">
            <a:noAutofit/>
          </a:bodyPr>
          <a:lstStyle/>
          <a:p>
            <a:pPr algn="l">
              <a:lnSpc>
                <a:spcPts val="1560"/>
              </a:lnSpc>
            </a:pPr>
            <a:r>
              <a:rPr sz="1300" b="1" i="0">
                <a:solidFill>
                  <a:srgbClr val="0A2540"/>
                </a:solidFill>
                <a:latin typeface="DM Sans"/>
              </a:rPr>
              <a:t>SEBIA · PARADISE</a:t>
            </a:r>
          </a:p>
        </p:txBody>
      </p:sp>
      <p:sp>
        <p:nvSpPr>
          <p:cNvPr id="109" name="Rectangle 108"/>
          <p:cNvSpPr/>
          <p:nvPr/>
        </p:nvSpPr>
        <p:spPr>
          <a:xfrm>
            <a:off x="2463800" y="4875014"/>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3361630" y="4875014"/>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4259560" y="4875014"/>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ounded Rectangle 111"/>
          <p:cNvSpPr/>
          <p:nvPr/>
        </p:nvSpPr>
        <p:spPr>
          <a:xfrm>
            <a:off x="4259560" y="5007967"/>
            <a:ext cx="8343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4259560" y="5058767"/>
            <a:ext cx="834330" cy="198120"/>
          </a:xfrm>
          <a:prstGeom prst="rect">
            <a:avLst/>
          </a:prstGeom>
          <a:noFill/>
        </p:spPr>
        <p:txBody>
          <a:bodyPr wrap="none" lIns="0" rIns="0" tIns="0" bIns="0" anchor="t">
            <a:noAutofit/>
          </a:bodyPr>
          <a:lstStyle/>
          <a:p>
            <a:pPr algn="ctr"/>
            <a:r>
              <a:rPr sz="1200" b="0" i="0">
                <a:solidFill>
                  <a:srgbClr val="F2F8FC"/>
                </a:solidFill>
                <a:latin typeface="DM Sans"/>
              </a:rPr>
              <a:t>educatie</a:t>
            </a:r>
          </a:p>
        </p:txBody>
      </p:sp>
      <p:sp>
        <p:nvSpPr>
          <p:cNvPr id="114" name="Rectangle 113"/>
          <p:cNvSpPr/>
          <p:nvPr/>
        </p:nvSpPr>
        <p:spPr>
          <a:xfrm>
            <a:off x="5157391" y="4875014"/>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ounded Rectangle 114"/>
          <p:cNvSpPr/>
          <p:nvPr/>
        </p:nvSpPr>
        <p:spPr>
          <a:xfrm>
            <a:off x="5157391" y="5007967"/>
            <a:ext cx="8344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5157391" y="5058767"/>
            <a:ext cx="834430" cy="198120"/>
          </a:xfrm>
          <a:prstGeom prst="rect">
            <a:avLst/>
          </a:prstGeom>
          <a:noFill/>
        </p:spPr>
        <p:txBody>
          <a:bodyPr wrap="none" lIns="0" rIns="0" tIns="0" bIns="0" anchor="t">
            <a:noAutofit/>
          </a:bodyPr>
          <a:lstStyle/>
          <a:p>
            <a:pPr algn="ctr"/>
            <a:r>
              <a:rPr sz="1200" b="0" i="0">
                <a:solidFill>
                  <a:srgbClr val="F2F8FC"/>
                </a:solidFill>
                <a:latin typeface="DM Sans"/>
              </a:rPr>
              <a:t>schoenen</a:t>
            </a:r>
          </a:p>
        </p:txBody>
      </p:sp>
      <p:sp>
        <p:nvSpPr>
          <p:cNvPr id="117" name="Rectangle 116"/>
          <p:cNvSpPr/>
          <p:nvPr/>
        </p:nvSpPr>
        <p:spPr>
          <a:xfrm>
            <a:off x="6055320" y="4875014"/>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6055320" y="5007967"/>
            <a:ext cx="8343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6055320" y="5058767"/>
            <a:ext cx="834330" cy="198120"/>
          </a:xfrm>
          <a:prstGeom prst="rect">
            <a:avLst/>
          </a:prstGeom>
          <a:noFill/>
        </p:spPr>
        <p:txBody>
          <a:bodyPr wrap="none" lIns="0" rIns="0" tIns="0" bIns="0" anchor="t">
            <a:noAutofit/>
          </a:bodyPr>
          <a:lstStyle/>
          <a:p>
            <a:pPr algn="ctr"/>
            <a:r>
              <a:rPr sz="1200" b="0" i="0">
                <a:solidFill>
                  <a:srgbClr val="F2F8FC"/>
                </a:solidFill>
                <a:latin typeface="DM Sans"/>
              </a:rPr>
              <a:t>feedback</a:t>
            </a:r>
          </a:p>
        </p:txBody>
      </p:sp>
      <p:sp>
        <p:nvSpPr>
          <p:cNvPr id="120" name="Rectangle 119"/>
          <p:cNvSpPr/>
          <p:nvPr/>
        </p:nvSpPr>
        <p:spPr>
          <a:xfrm>
            <a:off x="6953151" y="4875014"/>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ounded Rectangle 120"/>
          <p:cNvSpPr/>
          <p:nvPr/>
        </p:nvSpPr>
        <p:spPr>
          <a:xfrm>
            <a:off x="6953151" y="5007967"/>
            <a:ext cx="8344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6953151" y="5058767"/>
            <a:ext cx="834430" cy="198120"/>
          </a:xfrm>
          <a:prstGeom prst="rect">
            <a:avLst/>
          </a:prstGeom>
          <a:noFill/>
        </p:spPr>
        <p:txBody>
          <a:bodyPr wrap="none" lIns="0" rIns="0" tIns="0" bIns="0" anchor="t">
            <a:noAutofit/>
          </a:bodyPr>
          <a:lstStyle/>
          <a:p>
            <a:pPr algn="ctr"/>
            <a:r>
              <a:rPr sz="1200" b="0" i="0">
                <a:solidFill>
                  <a:srgbClr val="F2F8FC"/>
                </a:solidFill>
                <a:latin typeface="DM Sans"/>
              </a:rPr>
              <a:t>evaluatie</a:t>
            </a:r>
          </a:p>
        </p:txBody>
      </p:sp>
      <p:sp>
        <p:nvSpPr>
          <p:cNvPr id="123" name="Rectangle 122"/>
          <p:cNvSpPr/>
          <p:nvPr/>
        </p:nvSpPr>
        <p:spPr>
          <a:xfrm>
            <a:off x="7851080" y="4875014"/>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ounded Rectangle 123"/>
          <p:cNvSpPr/>
          <p:nvPr/>
        </p:nvSpPr>
        <p:spPr>
          <a:xfrm>
            <a:off x="7851080" y="5007967"/>
            <a:ext cx="8344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7851080" y="5058767"/>
            <a:ext cx="834430" cy="198120"/>
          </a:xfrm>
          <a:prstGeom prst="rect">
            <a:avLst/>
          </a:prstGeom>
          <a:noFill/>
        </p:spPr>
        <p:txBody>
          <a:bodyPr wrap="none" lIns="0" rIns="0" tIns="0" bIns="0" anchor="t">
            <a:noAutofit/>
          </a:bodyPr>
          <a:lstStyle/>
          <a:p>
            <a:pPr algn="ctr"/>
            <a:r>
              <a:rPr sz="1200" b="0" i="0">
                <a:solidFill>
                  <a:srgbClr val="F2F8FC"/>
                </a:solidFill>
                <a:latin typeface="DM Sans"/>
              </a:rPr>
              <a:t>feedback</a:t>
            </a:r>
          </a:p>
        </p:txBody>
      </p:sp>
      <p:sp>
        <p:nvSpPr>
          <p:cNvPr id="126" name="Rectangle 125"/>
          <p:cNvSpPr/>
          <p:nvPr/>
        </p:nvSpPr>
        <p:spPr>
          <a:xfrm>
            <a:off x="8749010" y="4875014"/>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8749010" y="5007967"/>
            <a:ext cx="8343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8749010" y="5058767"/>
            <a:ext cx="834330" cy="198120"/>
          </a:xfrm>
          <a:prstGeom prst="rect">
            <a:avLst/>
          </a:prstGeom>
          <a:noFill/>
        </p:spPr>
        <p:txBody>
          <a:bodyPr wrap="none" lIns="0" rIns="0" tIns="0" bIns="0" anchor="t">
            <a:noAutofit/>
          </a:bodyPr>
          <a:lstStyle/>
          <a:p>
            <a:pPr algn="ctr"/>
            <a:r>
              <a:rPr sz="1200" b="0" i="0">
                <a:solidFill>
                  <a:srgbClr val="F2F8FC"/>
                </a:solidFill>
                <a:latin typeface="DM Sans"/>
              </a:rPr>
              <a:t>evaluatie</a:t>
            </a:r>
          </a:p>
        </p:txBody>
      </p:sp>
      <p:sp>
        <p:nvSpPr>
          <p:cNvPr id="129" name="Rectangle 128"/>
          <p:cNvSpPr/>
          <p:nvPr/>
        </p:nvSpPr>
        <p:spPr>
          <a:xfrm>
            <a:off x="9646841" y="4875014"/>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ounded Rectangle 129"/>
          <p:cNvSpPr/>
          <p:nvPr/>
        </p:nvSpPr>
        <p:spPr>
          <a:xfrm>
            <a:off x="9646841" y="5007967"/>
            <a:ext cx="8344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Box 130"/>
          <p:cNvSpPr txBox="1"/>
          <p:nvPr/>
        </p:nvSpPr>
        <p:spPr>
          <a:xfrm>
            <a:off x="9646841" y="5058767"/>
            <a:ext cx="834430" cy="198120"/>
          </a:xfrm>
          <a:prstGeom prst="rect">
            <a:avLst/>
          </a:prstGeom>
          <a:noFill/>
        </p:spPr>
        <p:txBody>
          <a:bodyPr wrap="none" lIns="0" rIns="0" tIns="0" bIns="0" anchor="t">
            <a:noAutofit/>
          </a:bodyPr>
          <a:lstStyle/>
          <a:p>
            <a:pPr algn="ctr"/>
            <a:r>
              <a:rPr sz="1200" b="0" i="0">
                <a:solidFill>
                  <a:srgbClr val="F2F8FC"/>
                </a:solidFill>
                <a:latin typeface="DM Sans"/>
              </a:rPr>
              <a:t>feedback</a:t>
            </a:r>
          </a:p>
        </p:txBody>
      </p:sp>
      <p:sp>
        <p:nvSpPr>
          <p:cNvPr id="132" name="Rectangle 131"/>
          <p:cNvSpPr/>
          <p:nvPr/>
        </p:nvSpPr>
        <p:spPr>
          <a:xfrm>
            <a:off x="10544770" y="4875014"/>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0544770" y="5007967"/>
            <a:ext cx="8343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10544770" y="5058767"/>
            <a:ext cx="834330" cy="198120"/>
          </a:xfrm>
          <a:prstGeom prst="rect">
            <a:avLst/>
          </a:prstGeom>
          <a:noFill/>
        </p:spPr>
        <p:txBody>
          <a:bodyPr wrap="none" lIns="0" rIns="0" tIns="0" bIns="0" anchor="t">
            <a:noAutofit/>
          </a:bodyPr>
          <a:lstStyle/>
          <a:p>
            <a:pPr algn="ctr"/>
            <a:r>
              <a:rPr sz="1200" b="0" i="0">
                <a:solidFill>
                  <a:srgbClr val="F2F8FC"/>
                </a:solidFill>
                <a:latin typeface="DM Sans"/>
              </a:rPr>
              <a:t>afronding</a:t>
            </a:r>
          </a:p>
        </p:txBody>
      </p:sp>
      <p:sp>
        <p:nvSpPr>
          <p:cNvPr id="135" name="TextBox 134"/>
          <p:cNvSpPr txBox="1"/>
          <p:nvPr/>
        </p:nvSpPr>
        <p:spPr>
          <a:xfrm>
            <a:off x="812800" y="5636320"/>
            <a:ext cx="10617200" cy="205740"/>
          </a:xfrm>
          <a:prstGeom prst="rect">
            <a:avLst/>
          </a:prstGeom>
          <a:noFill/>
        </p:spPr>
        <p:txBody>
          <a:bodyPr wrap="none" lIns="0" rIns="0" tIns="0" bIns="0" anchor="t">
            <a:noAutofit/>
          </a:bodyPr>
          <a:lstStyle/>
          <a:p>
            <a:pPr algn="l">
              <a:lnSpc>
                <a:spcPts val="1620"/>
              </a:lnSpc>
            </a:pPr>
            <a:r>
              <a:rPr sz="1200" b="0" i="0">
                <a:solidFill>
                  <a:srgbClr val="5A6E80"/>
                </a:solidFill>
                <a:latin typeface="DM Sans"/>
              </a:rPr>
              <a:t>A = in de schoen, zónder de CMFO · B = mét de CMFO · op V1 en vanaf V3 ook voet- en schoeiselscreening</a:t>
            </a:r>
          </a:p>
        </p:txBody>
      </p:sp>
      <p:pic>
        <p:nvPicPr>
          <p:cNvPr id="136" name="Picture 13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137" name="TextBox 13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138" name="TextBox 137"/>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5A6E80"/>
                </a:solidFill>
                <a:latin typeface="JetBrains Mono"/>
              </a:rPr>
              <a:t>Bron · studieprotocol §5.5 · SEBIA-script (eCRF 17)</a:t>
            </a:r>
          </a:p>
        </p:txBody>
      </p:sp>
    </p:spTree>
  </p:cSld>
  <p:clrMapOvr>
    <a:masterClrMapping/>
  </p:clrMapOvr>
  <p:transition xmlns:p14="http://schemas.microsoft.com/office/powerpoint/2010/main" spd="med" p14:dur="700">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4 · AANDACHTSPUNTEN EN OPENSTAANDE ZAKEN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Wat nog moet gebeuren</a:t>
            </a:r>
          </a:p>
        </p:txBody>
      </p:sp>
      <p:sp>
        <p:nvSpPr>
          <p:cNvPr id="4" name="TextBox 3"/>
          <p:cNvSpPr txBox="1"/>
          <p:nvPr/>
        </p:nvSpPr>
        <p:spPr>
          <a:xfrm>
            <a:off x="812800" y="1925241"/>
            <a:ext cx="7747000" cy="231140"/>
          </a:xfrm>
          <a:prstGeom prst="rect">
            <a:avLst/>
          </a:prstGeom>
          <a:noFill/>
        </p:spPr>
        <p:txBody>
          <a:bodyPr wrap="none" lIns="0" rIns="0" tIns="0" bIns="0" anchor="t">
            <a:noAutofit/>
          </a:bodyPr>
          <a:lstStyle/>
          <a:p>
            <a:pPr algn="l">
              <a:lnSpc>
                <a:spcPts val="1820"/>
              </a:lnSpc>
            </a:pPr>
            <a:r>
              <a:rPr sz="1400" b="0" i="0">
                <a:solidFill>
                  <a:srgbClr val="F2F8FC"/>
                </a:solidFill>
                <a:latin typeface="DM Sans"/>
              </a:rPr>
              <a:t>Ethische goedkeuring: centraal, FAGG en lokaal</a:t>
            </a:r>
          </a:p>
        </p:txBody>
      </p:sp>
      <p:sp>
        <p:nvSpPr>
          <p:cNvPr id="5" name="TextBox 4"/>
          <p:cNvSpPr txBox="1"/>
          <p:nvPr/>
        </p:nvSpPr>
        <p:spPr>
          <a:xfrm>
            <a:off x="8661400" y="1944291"/>
            <a:ext cx="2717800" cy="198120"/>
          </a:xfrm>
          <a:prstGeom prst="rect">
            <a:avLst/>
          </a:prstGeom>
          <a:noFill/>
        </p:spPr>
        <p:txBody>
          <a:bodyPr wrap="none" lIns="0" rIns="0" tIns="0" bIns="0" anchor="t">
            <a:noAutofit/>
          </a:bodyPr>
          <a:lstStyle/>
          <a:p>
            <a:pPr algn="r"/>
            <a:r>
              <a:rPr sz="1200" b="0" i="0">
                <a:solidFill>
                  <a:srgbClr val="FF9A3D"/>
                </a:solidFill>
                <a:latin typeface="JetBrains Mono"/>
              </a:rPr>
              <a:t>lokaal: januari</a:t>
            </a:r>
          </a:p>
        </p:txBody>
      </p:sp>
      <p:sp>
        <p:nvSpPr>
          <p:cNvPr id="6" name="Rectangle 5"/>
          <p:cNvSpPr/>
          <p:nvPr/>
        </p:nvSpPr>
        <p:spPr>
          <a:xfrm>
            <a:off x="812800" y="2238871"/>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2327771"/>
            <a:ext cx="7747000" cy="231140"/>
          </a:xfrm>
          <a:prstGeom prst="rect">
            <a:avLst/>
          </a:prstGeom>
          <a:noFill/>
        </p:spPr>
        <p:txBody>
          <a:bodyPr wrap="none" lIns="0" rIns="0" tIns="0" bIns="0" anchor="t">
            <a:noAutofit/>
          </a:bodyPr>
          <a:lstStyle/>
          <a:p>
            <a:pPr algn="l">
              <a:lnSpc>
                <a:spcPts val="1820"/>
              </a:lnSpc>
            </a:pPr>
            <a:r>
              <a:rPr sz="1400" b="0" i="0">
                <a:solidFill>
                  <a:srgbClr val="F2F8FC"/>
                </a:solidFill>
                <a:latin typeface="DM Sans"/>
              </a:rPr>
              <a:t>Toetsingsblad terug</a:t>
            </a:r>
          </a:p>
        </p:txBody>
      </p:sp>
      <p:sp>
        <p:nvSpPr>
          <p:cNvPr id="8" name="TextBox 7"/>
          <p:cNvSpPr txBox="1"/>
          <p:nvPr/>
        </p:nvSpPr>
        <p:spPr>
          <a:xfrm>
            <a:off x="8661400" y="2346821"/>
            <a:ext cx="2717800" cy="198120"/>
          </a:xfrm>
          <a:prstGeom prst="rect">
            <a:avLst/>
          </a:prstGeom>
          <a:noFill/>
        </p:spPr>
        <p:txBody>
          <a:bodyPr wrap="none" lIns="0" rIns="0" tIns="0" bIns="0" anchor="t">
            <a:noAutofit/>
          </a:bodyPr>
          <a:lstStyle/>
          <a:p>
            <a:pPr algn="r"/>
            <a:r>
              <a:rPr sz="1200" b="0" i="0">
                <a:solidFill>
                  <a:srgbClr val="FF9A3D"/>
                </a:solidFill>
                <a:latin typeface="JetBrains Mono"/>
              </a:rPr>
              <a:t>vr 16 oktober</a:t>
            </a:r>
          </a:p>
        </p:txBody>
      </p:sp>
      <p:sp>
        <p:nvSpPr>
          <p:cNvPr id="9" name="Rectangle 8"/>
          <p:cNvSpPr/>
          <p:nvPr/>
        </p:nvSpPr>
        <p:spPr>
          <a:xfrm>
            <a:off x="812800" y="2641402"/>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2730302"/>
            <a:ext cx="7747000" cy="231140"/>
          </a:xfrm>
          <a:prstGeom prst="rect">
            <a:avLst/>
          </a:prstGeom>
          <a:noFill/>
        </p:spPr>
        <p:txBody>
          <a:bodyPr wrap="none" lIns="0" rIns="0" tIns="0" bIns="0" anchor="t">
            <a:noAutofit/>
          </a:bodyPr>
          <a:lstStyle/>
          <a:p>
            <a:pPr algn="l">
              <a:lnSpc>
                <a:spcPts val="1820"/>
              </a:lnSpc>
            </a:pPr>
            <a:r>
              <a:rPr sz="1400" b="0" i="0">
                <a:solidFill>
                  <a:srgbClr val="F2F8FC"/>
                </a:solidFill>
                <a:latin typeface="DM Sans"/>
              </a:rPr>
              <a:t>Drukmeting, Orthotimer-software en MoveMonitors geïnstalleerd</a:t>
            </a:r>
          </a:p>
        </p:txBody>
      </p:sp>
      <p:sp>
        <p:nvSpPr>
          <p:cNvPr id="11" name="TextBox 10"/>
          <p:cNvSpPr txBox="1"/>
          <p:nvPr/>
        </p:nvSpPr>
        <p:spPr>
          <a:xfrm>
            <a:off x="8661400" y="2749352"/>
            <a:ext cx="2717800" cy="198120"/>
          </a:xfrm>
          <a:prstGeom prst="rect">
            <a:avLst/>
          </a:prstGeom>
          <a:noFill/>
        </p:spPr>
        <p:txBody>
          <a:bodyPr wrap="none" lIns="0" rIns="0" tIns="0" bIns="0" anchor="t">
            <a:noAutofit/>
          </a:bodyPr>
          <a:lstStyle/>
          <a:p>
            <a:pPr algn="r"/>
            <a:r>
              <a:rPr sz="1200" b="0" i="0">
                <a:solidFill>
                  <a:srgbClr val="FF9A3D"/>
                </a:solidFill>
                <a:latin typeface="JetBrains Mono"/>
              </a:rPr>
              <a:t>vóór uw technologiesessie</a:t>
            </a:r>
          </a:p>
        </p:txBody>
      </p:sp>
      <p:sp>
        <p:nvSpPr>
          <p:cNvPr id="12" name="Rectangle 11"/>
          <p:cNvSpPr/>
          <p:nvPr/>
        </p:nvSpPr>
        <p:spPr>
          <a:xfrm>
            <a:off x="812800" y="3043932"/>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3132832"/>
            <a:ext cx="7747000" cy="231140"/>
          </a:xfrm>
          <a:prstGeom prst="rect">
            <a:avLst/>
          </a:prstGeom>
          <a:noFill/>
        </p:spPr>
        <p:txBody>
          <a:bodyPr wrap="none" lIns="0" rIns="0" tIns="0" bIns="0" anchor="t">
            <a:noAutofit/>
          </a:bodyPr>
          <a:lstStyle/>
          <a:p>
            <a:pPr algn="l">
              <a:lnSpc>
                <a:spcPts val="1820"/>
              </a:lnSpc>
            </a:pPr>
            <a:r>
              <a:rPr sz="1400" b="0" i="0">
                <a:solidFill>
                  <a:srgbClr val="F2F8FC"/>
                </a:solidFill>
                <a:latin typeface="DM Sans"/>
              </a:rPr>
              <a:t>MoveMonitor alleen bij de start: protocol, eCRF's, REDCap</a:t>
            </a:r>
          </a:p>
        </p:txBody>
      </p:sp>
      <p:sp>
        <p:nvSpPr>
          <p:cNvPr id="14" name="TextBox 13"/>
          <p:cNvSpPr txBox="1"/>
          <p:nvPr/>
        </p:nvSpPr>
        <p:spPr>
          <a:xfrm>
            <a:off x="8661400" y="3151882"/>
            <a:ext cx="2717800" cy="198120"/>
          </a:xfrm>
          <a:prstGeom prst="rect">
            <a:avLst/>
          </a:prstGeom>
          <a:noFill/>
        </p:spPr>
        <p:txBody>
          <a:bodyPr wrap="none" lIns="0" rIns="0" tIns="0" bIns="0" anchor="t">
            <a:noAutofit/>
          </a:bodyPr>
          <a:lstStyle/>
          <a:p>
            <a:pPr algn="r"/>
            <a:r>
              <a:rPr sz="1200" b="0" i="0">
                <a:solidFill>
                  <a:srgbClr val="FF9A3D"/>
                </a:solidFill>
                <a:latin typeface="JetBrains Mono"/>
              </a:rPr>
              <a:t>vóór de EC-indiening</a:t>
            </a:r>
          </a:p>
        </p:txBody>
      </p:sp>
      <p:sp>
        <p:nvSpPr>
          <p:cNvPr id="15" name="Rectangle 14"/>
          <p:cNvSpPr/>
          <p:nvPr/>
        </p:nvSpPr>
        <p:spPr>
          <a:xfrm>
            <a:off x="812800" y="3446462"/>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2800" y="3535362"/>
            <a:ext cx="7747000" cy="231140"/>
          </a:xfrm>
          <a:prstGeom prst="rect">
            <a:avLst/>
          </a:prstGeom>
          <a:noFill/>
        </p:spPr>
        <p:txBody>
          <a:bodyPr wrap="none" lIns="0" rIns="0" tIns="0" bIns="0" anchor="t">
            <a:noAutofit/>
          </a:bodyPr>
          <a:lstStyle/>
          <a:p>
            <a:pPr algn="l">
              <a:lnSpc>
                <a:spcPts val="1820"/>
              </a:lnSpc>
            </a:pPr>
            <a:r>
              <a:rPr sz="1400" b="0" i="0">
                <a:solidFill>
                  <a:srgbClr val="F2F8FC"/>
                </a:solidFill>
                <a:latin typeface="DM Sans"/>
              </a:rPr>
              <a:t>Screeningslog</a:t>
            </a:r>
          </a:p>
        </p:txBody>
      </p:sp>
      <p:sp>
        <p:nvSpPr>
          <p:cNvPr id="17" name="TextBox 16"/>
          <p:cNvSpPr txBox="1"/>
          <p:nvPr/>
        </p:nvSpPr>
        <p:spPr>
          <a:xfrm>
            <a:off x="8661400" y="3554412"/>
            <a:ext cx="2717800" cy="198120"/>
          </a:xfrm>
          <a:prstGeom prst="rect">
            <a:avLst/>
          </a:prstGeom>
          <a:noFill/>
        </p:spPr>
        <p:txBody>
          <a:bodyPr wrap="none" lIns="0" rIns="0" tIns="0" bIns="0" anchor="t">
            <a:noAutofit/>
          </a:bodyPr>
          <a:lstStyle/>
          <a:p>
            <a:pPr algn="r"/>
            <a:r>
              <a:rPr sz="1200" b="0" i="0">
                <a:solidFill>
                  <a:srgbClr val="FF9A3D"/>
                </a:solidFill>
                <a:latin typeface="JetBrains Mono"/>
              </a:rPr>
              <a:t>vanaf de eerste patiënt</a:t>
            </a:r>
          </a:p>
        </p:txBody>
      </p:sp>
      <p:sp>
        <p:nvSpPr>
          <p:cNvPr id="18" name="Rectangle 17"/>
          <p:cNvSpPr/>
          <p:nvPr/>
        </p:nvSpPr>
        <p:spPr>
          <a:xfrm>
            <a:off x="812800" y="3848993"/>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2800" y="3937893"/>
            <a:ext cx="7747000" cy="231140"/>
          </a:xfrm>
          <a:prstGeom prst="rect">
            <a:avLst/>
          </a:prstGeom>
          <a:noFill/>
        </p:spPr>
        <p:txBody>
          <a:bodyPr wrap="none" lIns="0" rIns="0" tIns="0" bIns="0" anchor="t">
            <a:noAutofit/>
          </a:bodyPr>
          <a:lstStyle/>
          <a:p>
            <a:pPr algn="l">
              <a:lnSpc>
                <a:spcPts val="1820"/>
              </a:lnSpc>
            </a:pPr>
            <a:r>
              <a:rPr sz="1400" b="0" i="0">
                <a:solidFill>
                  <a:srgbClr val="F2F8FC"/>
                </a:solidFill>
                <a:latin typeface="DM Sans"/>
              </a:rPr>
              <a:t>SEBIA-schema: het script of het manuscript</a:t>
            </a:r>
          </a:p>
        </p:txBody>
      </p:sp>
      <p:sp>
        <p:nvSpPr>
          <p:cNvPr id="20" name="TextBox 19"/>
          <p:cNvSpPr txBox="1"/>
          <p:nvPr/>
        </p:nvSpPr>
        <p:spPr>
          <a:xfrm>
            <a:off x="8661400" y="3956943"/>
            <a:ext cx="2717800" cy="198120"/>
          </a:xfrm>
          <a:prstGeom prst="rect">
            <a:avLst/>
          </a:prstGeom>
          <a:noFill/>
        </p:spPr>
        <p:txBody>
          <a:bodyPr wrap="none" lIns="0" rIns="0" tIns="0" bIns="0" anchor="t">
            <a:noAutofit/>
          </a:bodyPr>
          <a:lstStyle/>
          <a:p>
            <a:pPr algn="r"/>
            <a:r>
              <a:rPr sz="1200" b="0" i="0">
                <a:solidFill>
                  <a:srgbClr val="FF9A3D"/>
                </a:solidFill>
                <a:latin typeface="JetBrains Mono"/>
              </a:rPr>
              <a:t>te beslissen</a:t>
            </a:r>
          </a:p>
        </p:txBody>
      </p:sp>
      <p:sp>
        <p:nvSpPr>
          <p:cNvPr id="21" name="Rectangle 20"/>
          <p:cNvSpPr/>
          <p:nvPr/>
        </p:nvSpPr>
        <p:spPr>
          <a:xfrm>
            <a:off x="812800" y="4251523"/>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2800" y="4340423"/>
            <a:ext cx="7747000" cy="231140"/>
          </a:xfrm>
          <a:prstGeom prst="rect">
            <a:avLst/>
          </a:prstGeom>
          <a:noFill/>
        </p:spPr>
        <p:txBody>
          <a:bodyPr wrap="none" lIns="0" rIns="0" tIns="0" bIns="0" anchor="t">
            <a:noAutofit/>
          </a:bodyPr>
          <a:lstStyle/>
          <a:p>
            <a:pPr algn="l">
              <a:lnSpc>
                <a:spcPts val="1820"/>
              </a:lnSpc>
            </a:pPr>
            <a:r>
              <a:rPr sz="1400" b="0" i="0">
                <a:solidFill>
                  <a:srgbClr val="F2F8FC"/>
                </a:solidFill>
                <a:latin typeface="DM Sans"/>
              </a:rPr>
              <a:t>Aparte toestemming voor opnames (eCRF 02)</a:t>
            </a:r>
          </a:p>
        </p:txBody>
      </p:sp>
      <p:sp>
        <p:nvSpPr>
          <p:cNvPr id="23" name="TextBox 22"/>
          <p:cNvSpPr txBox="1"/>
          <p:nvPr/>
        </p:nvSpPr>
        <p:spPr>
          <a:xfrm>
            <a:off x="8661400" y="4359473"/>
            <a:ext cx="2717800" cy="198120"/>
          </a:xfrm>
          <a:prstGeom prst="rect">
            <a:avLst/>
          </a:prstGeom>
          <a:noFill/>
        </p:spPr>
        <p:txBody>
          <a:bodyPr wrap="none" lIns="0" rIns="0" tIns="0" bIns="0" anchor="t">
            <a:noAutofit/>
          </a:bodyPr>
          <a:lstStyle/>
          <a:p>
            <a:pPr algn="r"/>
            <a:r>
              <a:rPr sz="1200" b="0" i="0">
                <a:solidFill>
                  <a:srgbClr val="FF9A3D"/>
                </a:solidFill>
                <a:latin typeface="JetBrains Mono"/>
              </a:rPr>
              <a:t>vóór de EC-indiening</a:t>
            </a:r>
          </a:p>
        </p:txBody>
      </p:sp>
      <p:sp>
        <p:nvSpPr>
          <p:cNvPr id="24" name="Rectangle 23"/>
          <p:cNvSpPr/>
          <p:nvPr/>
        </p:nvSpPr>
        <p:spPr>
          <a:xfrm>
            <a:off x="812800" y="4654054"/>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2800" y="4742954"/>
            <a:ext cx="7747000" cy="231140"/>
          </a:xfrm>
          <a:prstGeom prst="rect">
            <a:avLst/>
          </a:prstGeom>
          <a:noFill/>
        </p:spPr>
        <p:txBody>
          <a:bodyPr wrap="none" lIns="0" rIns="0" tIns="0" bIns="0" anchor="t">
            <a:noAutofit/>
          </a:bodyPr>
          <a:lstStyle/>
          <a:p>
            <a:pPr algn="l">
              <a:lnSpc>
                <a:spcPts val="1820"/>
              </a:lnSpc>
            </a:pPr>
            <a:r>
              <a:rPr sz="1400" b="0" i="0">
                <a:solidFill>
                  <a:srgbClr val="F2F8FC"/>
                </a:solidFill>
                <a:latin typeface="DM Sans"/>
              </a:rPr>
              <a:t>Licenties HLS-EU-Q6 en NAFF</a:t>
            </a:r>
          </a:p>
        </p:txBody>
      </p:sp>
      <p:sp>
        <p:nvSpPr>
          <p:cNvPr id="26" name="TextBox 25"/>
          <p:cNvSpPr txBox="1"/>
          <p:nvPr/>
        </p:nvSpPr>
        <p:spPr>
          <a:xfrm>
            <a:off x="8661400" y="4762004"/>
            <a:ext cx="2717800" cy="198120"/>
          </a:xfrm>
          <a:prstGeom prst="rect">
            <a:avLst/>
          </a:prstGeom>
          <a:noFill/>
        </p:spPr>
        <p:txBody>
          <a:bodyPr wrap="none" lIns="0" rIns="0" tIns="0" bIns="0" anchor="t">
            <a:noAutofit/>
          </a:bodyPr>
          <a:lstStyle/>
          <a:p>
            <a:pPr algn="r"/>
            <a:r>
              <a:rPr sz="1200" b="0" i="0">
                <a:solidFill>
                  <a:srgbClr val="FF9A3D"/>
                </a:solidFill>
                <a:latin typeface="JetBrains Mono"/>
              </a:rPr>
              <a:t>oktober</a:t>
            </a:r>
          </a:p>
        </p:txBody>
      </p:sp>
      <p:pic>
        <p:nvPicPr>
          <p:cNvPr id="27" name="Picture 26"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8" name="TextBox 27"/>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29" name="TextBox 28"/>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§4, §7 · protocol · simulatie</a:t>
            </a:r>
          </a:p>
        </p:txBody>
      </p:sp>
    </p:spTree>
  </p:cSld>
  <p:clrMapOvr>
    <a:masterClrMapping/>
  </p:clrMapOvr>
  <p:transition xmlns:p14="http://schemas.microsoft.com/office/powerpoint/2010/main" spd="med" p14:dur="700">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5 · KOMENDE MIJLPALEN EN PLANNING</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Van de opleiding tot de laatste visite</a:t>
            </a:r>
          </a:p>
        </p:txBody>
      </p:sp>
      <p:sp>
        <p:nvSpPr>
          <p:cNvPr id="4" name="Rectangle 3"/>
          <p:cNvSpPr/>
          <p:nvPr/>
        </p:nvSpPr>
        <p:spPr>
          <a:xfrm>
            <a:off x="167640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739900" y="2019300"/>
            <a:ext cx="812800" cy="198120"/>
          </a:xfrm>
          <a:prstGeom prst="rect">
            <a:avLst/>
          </a:prstGeom>
          <a:noFill/>
        </p:spPr>
        <p:txBody>
          <a:bodyPr wrap="none" lIns="0" rIns="0" tIns="0" bIns="0" anchor="t">
            <a:noAutofit/>
          </a:bodyPr>
          <a:lstStyle/>
          <a:p>
            <a:pPr algn="l"/>
            <a:r>
              <a:rPr sz="1200" b="0" i="0">
                <a:solidFill>
                  <a:srgbClr val="5A6E80"/>
                </a:solidFill>
                <a:latin typeface="JetBrains Mono"/>
              </a:rPr>
              <a:t>2027</a:t>
            </a:r>
          </a:p>
        </p:txBody>
      </p:sp>
      <p:sp>
        <p:nvSpPr>
          <p:cNvPr id="6" name="Rectangle 5"/>
          <p:cNvSpPr/>
          <p:nvPr/>
        </p:nvSpPr>
        <p:spPr>
          <a:xfrm>
            <a:off x="5099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162550" y="2019300"/>
            <a:ext cx="812800" cy="198120"/>
          </a:xfrm>
          <a:prstGeom prst="rect">
            <a:avLst/>
          </a:prstGeom>
          <a:noFill/>
        </p:spPr>
        <p:txBody>
          <a:bodyPr wrap="none" lIns="0" rIns="0" tIns="0" bIns="0" anchor="t">
            <a:noAutofit/>
          </a:bodyPr>
          <a:lstStyle/>
          <a:p>
            <a:pPr algn="l"/>
            <a:r>
              <a:rPr sz="1200" b="0" i="0">
                <a:solidFill>
                  <a:srgbClr val="5A6E80"/>
                </a:solidFill>
                <a:latin typeface="JetBrains Mono"/>
              </a:rPr>
              <a:t>2028</a:t>
            </a:r>
          </a:p>
        </p:txBody>
      </p:sp>
      <p:sp>
        <p:nvSpPr>
          <p:cNvPr id="8" name="Rectangle 7"/>
          <p:cNvSpPr/>
          <p:nvPr/>
        </p:nvSpPr>
        <p:spPr>
          <a:xfrm>
            <a:off x="8528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591550" y="2019300"/>
            <a:ext cx="812800" cy="198120"/>
          </a:xfrm>
          <a:prstGeom prst="rect">
            <a:avLst/>
          </a:prstGeom>
          <a:noFill/>
        </p:spPr>
        <p:txBody>
          <a:bodyPr wrap="none" lIns="0" rIns="0" tIns="0" bIns="0" anchor="t">
            <a:noAutofit/>
          </a:bodyPr>
          <a:lstStyle/>
          <a:p>
            <a:pPr algn="l"/>
            <a:r>
              <a:rPr sz="1200" b="0" i="0">
                <a:solidFill>
                  <a:srgbClr val="5A6E80"/>
                </a:solidFill>
                <a:latin typeface="JetBrains Mono"/>
              </a:rPr>
              <a:t>2029</a:t>
            </a:r>
          </a:p>
        </p:txBody>
      </p:sp>
      <p:sp>
        <p:nvSpPr>
          <p:cNvPr id="10" name="Rounded Rectangle 9"/>
          <p:cNvSpPr/>
          <p:nvPr/>
        </p:nvSpPr>
        <p:spPr>
          <a:xfrm>
            <a:off x="1187450" y="2349500"/>
            <a:ext cx="1320800" cy="27940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01750" y="2387600"/>
            <a:ext cx="5765800" cy="198120"/>
          </a:xfrm>
          <a:prstGeom prst="rect">
            <a:avLst/>
          </a:prstGeom>
          <a:noFill/>
        </p:spPr>
        <p:txBody>
          <a:bodyPr wrap="none" lIns="0" rIns="0" tIns="0" bIns="0" anchor="t">
            <a:noAutofit/>
          </a:bodyPr>
          <a:lstStyle/>
          <a:p>
            <a:pPr algn="l"/>
            <a:r>
              <a:rPr sz="1200" b="1" i="0">
                <a:solidFill>
                  <a:srgbClr val="F2F8FC"/>
                </a:solidFill>
                <a:latin typeface="DM Sans"/>
              </a:rPr>
              <a:t>Opleidingen</a:t>
            </a:r>
          </a:p>
        </p:txBody>
      </p:sp>
      <p:sp>
        <p:nvSpPr>
          <p:cNvPr id="12" name="Rounded Rectangle 11"/>
          <p:cNvSpPr/>
          <p:nvPr/>
        </p:nvSpPr>
        <p:spPr>
          <a:xfrm>
            <a:off x="2184400" y="2768600"/>
            <a:ext cx="3422650" cy="2794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298700" y="2806700"/>
            <a:ext cx="5765800" cy="198120"/>
          </a:xfrm>
          <a:prstGeom prst="rect">
            <a:avLst/>
          </a:prstGeom>
          <a:noFill/>
        </p:spPr>
        <p:txBody>
          <a:bodyPr wrap="none" lIns="0" rIns="0" tIns="0" bIns="0" anchor="t">
            <a:noAutofit/>
          </a:bodyPr>
          <a:lstStyle/>
          <a:p>
            <a:pPr algn="l"/>
            <a:r>
              <a:rPr sz="1200" b="1" i="0">
                <a:solidFill>
                  <a:srgbClr val="F2F8FC"/>
                </a:solidFill>
                <a:latin typeface="DM Sans"/>
              </a:rPr>
              <a:t>Inclusie, 144 in 12 maanden</a:t>
            </a:r>
          </a:p>
        </p:txBody>
      </p:sp>
      <p:sp>
        <p:nvSpPr>
          <p:cNvPr id="14" name="Rounded Rectangle 13"/>
          <p:cNvSpPr/>
          <p:nvPr/>
        </p:nvSpPr>
        <p:spPr>
          <a:xfrm>
            <a:off x="2184400" y="3187700"/>
            <a:ext cx="8553450" cy="2794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298700" y="3225800"/>
            <a:ext cx="5765800" cy="198120"/>
          </a:xfrm>
          <a:prstGeom prst="rect">
            <a:avLst/>
          </a:prstGeom>
          <a:noFill/>
        </p:spPr>
        <p:txBody>
          <a:bodyPr wrap="none" lIns="0" rIns="0" tIns="0" bIns="0" anchor="t">
            <a:noAutofit/>
          </a:bodyPr>
          <a:lstStyle/>
          <a:p>
            <a:pPr algn="l"/>
            <a:r>
              <a:rPr sz="1200" b="1" i="0">
                <a:solidFill>
                  <a:srgbClr val="F2F8FC"/>
                </a:solidFill>
                <a:latin typeface="DM Sans"/>
              </a:rPr>
              <a:t>Opvolging, 18 maanden per deelnemer</a:t>
            </a:r>
          </a:p>
        </p:txBody>
      </p:sp>
      <p:sp>
        <p:nvSpPr>
          <p:cNvPr id="16" name="Rectangle 15"/>
          <p:cNvSpPr/>
          <p:nvPr/>
        </p:nvSpPr>
        <p:spPr>
          <a:xfrm rot="2700000">
            <a:off x="8953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rot="2700000">
            <a:off x="175260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rot="2700000">
            <a:off x="2114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rot="2700000">
            <a:off x="5543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rot="2700000">
            <a:off x="58864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rot="2700000">
            <a:off x="106743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812800" y="3689350"/>
            <a:ext cx="1056640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12800" y="4083050"/>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16 okt 2026</a:t>
            </a:r>
          </a:p>
        </p:txBody>
      </p:sp>
      <p:sp>
        <p:nvSpPr>
          <p:cNvPr id="24" name="TextBox 23"/>
          <p:cNvSpPr txBox="1"/>
          <p:nvPr/>
        </p:nvSpPr>
        <p:spPr>
          <a:xfrm>
            <a:off x="2362200" y="4064000"/>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Toetsingsblad terug</a:t>
            </a:r>
          </a:p>
        </p:txBody>
      </p:sp>
      <p:sp>
        <p:nvSpPr>
          <p:cNvPr id="25" name="Rectangle 24"/>
          <p:cNvSpPr/>
          <p:nvPr/>
        </p:nvSpPr>
        <p:spPr>
          <a:xfrm>
            <a:off x="8128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2800" y="4447480"/>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januari 2027</a:t>
            </a:r>
          </a:p>
        </p:txBody>
      </p:sp>
      <p:sp>
        <p:nvSpPr>
          <p:cNvPr id="27" name="TextBox 26"/>
          <p:cNvSpPr txBox="1"/>
          <p:nvPr/>
        </p:nvSpPr>
        <p:spPr>
          <a:xfrm>
            <a:off x="2362200" y="4428430"/>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Lokale ethische goedkeuringen</a:t>
            </a:r>
          </a:p>
        </p:txBody>
      </p:sp>
      <p:sp>
        <p:nvSpPr>
          <p:cNvPr id="28" name="Rectangle 27"/>
          <p:cNvSpPr/>
          <p:nvPr/>
        </p:nvSpPr>
        <p:spPr>
          <a:xfrm>
            <a:off x="812800" y="4723011"/>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2800" y="4811911"/>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23 feb 2027</a:t>
            </a:r>
          </a:p>
        </p:txBody>
      </p:sp>
      <p:sp>
        <p:nvSpPr>
          <p:cNvPr id="30" name="TextBox 29"/>
          <p:cNvSpPr txBox="1"/>
          <p:nvPr/>
        </p:nvSpPr>
        <p:spPr>
          <a:xfrm>
            <a:off x="2362200" y="4792861"/>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Go/No-Go; start inclusie</a:t>
            </a:r>
          </a:p>
        </p:txBody>
      </p:sp>
      <p:sp>
        <p:nvSpPr>
          <p:cNvPr id="31" name="TextBox 30"/>
          <p:cNvSpPr txBox="1"/>
          <p:nvPr/>
        </p:nvSpPr>
        <p:spPr>
          <a:xfrm>
            <a:off x="6299200" y="4083050"/>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eind feb 2028</a:t>
            </a:r>
          </a:p>
        </p:txBody>
      </p:sp>
      <p:sp>
        <p:nvSpPr>
          <p:cNvPr id="32" name="TextBox 31"/>
          <p:cNvSpPr txBox="1"/>
          <p:nvPr/>
        </p:nvSpPr>
        <p:spPr>
          <a:xfrm>
            <a:off x="7848600" y="4064000"/>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144 gerandomiseerd</a:t>
            </a:r>
          </a:p>
        </p:txBody>
      </p:sp>
      <p:sp>
        <p:nvSpPr>
          <p:cNvPr id="33" name="Rectangle 32"/>
          <p:cNvSpPr/>
          <p:nvPr/>
        </p:nvSpPr>
        <p:spPr>
          <a:xfrm>
            <a:off x="62992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9200" y="4447480"/>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eind mrt 2028</a:t>
            </a:r>
          </a:p>
        </p:txBody>
      </p:sp>
      <p:sp>
        <p:nvSpPr>
          <p:cNvPr id="35" name="TextBox 34"/>
          <p:cNvSpPr txBox="1"/>
          <p:nvPr/>
        </p:nvSpPr>
        <p:spPr>
          <a:xfrm>
            <a:off x="7848600" y="4428430"/>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Uiterste laatste inclusie</a:t>
            </a:r>
          </a:p>
        </p:txBody>
      </p:sp>
      <p:sp>
        <p:nvSpPr>
          <p:cNvPr id="36" name="Rectangle 35"/>
          <p:cNvSpPr/>
          <p:nvPr/>
        </p:nvSpPr>
        <p:spPr>
          <a:xfrm>
            <a:off x="6299200" y="4723011"/>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99200" y="4811911"/>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eind aug 2029</a:t>
            </a:r>
          </a:p>
        </p:txBody>
      </p:sp>
      <p:sp>
        <p:nvSpPr>
          <p:cNvPr id="38" name="TextBox 37"/>
          <p:cNvSpPr txBox="1"/>
          <p:nvPr/>
        </p:nvSpPr>
        <p:spPr>
          <a:xfrm>
            <a:off x="7848600" y="4792861"/>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Laatste visite</a:t>
            </a:r>
          </a:p>
        </p:txBody>
      </p:sp>
      <p:pic>
        <p:nvPicPr>
          <p:cNvPr id="39" name="Picture 38"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40" name="TextBox 39"/>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41" name="TextBox 40"/>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protocol · opleidingsplanning, 30 september 2026</a:t>
            </a:r>
          </a:p>
        </p:txBody>
      </p:sp>
    </p:spTree>
  </p:cSld>
  <p:clrMapOvr>
    <a:masterClrMapping/>
  </p:clrMapOvr>
  <p:transition xmlns:p14="http://schemas.microsoft.com/office/powerpoint/2010/main" spd="med" p14:dur="700">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PLANNING · OPLEIDINGEN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Van november tot maart</a:t>
            </a:r>
          </a:p>
        </p:txBody>
      </p:sp>
      <p:sp>
        <p:nvSpPr>
          <p:cNvPr id="4" name="Rounded Rectangle 3"/>
          <p:cNvSpPr/>
          <p:nvPr/>
        </p:nvSpPr>
        <p:spPr>
          <a:xfrm>
            <a:off x="6704012" y="1533525"/>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94512" y="1498600"/>
            <a:ext cx="1380430" cy="198120"/>
          </a:xfrm>
          <a:prstGeom prst="rect">
            <a:avLst/>
          </a:prstGeom>
          <a:noFill/>
        </p:spPr>
        <p:txBody>
          <a:bodyPr wrap="none" lIns="0" rIns="0" tIns="0" bIns="0" anchor="t">
            <a:noAutofit/>
          </a:bodyPr>
          <a:lstStyle/>
          <a:p>
            <a:pPr algn="l"/>
            <a:r>
              <a:rPr sz="1200" b="0" i="0">
                <a:solidFill>
                  <a:srgbClr val="C5D8E8"/>
                </a:solidFill>
                <a:latin typeface="DM Sans"/>
              </a:rPr>
              <a:t>online, opgenomen</a:t>
            </a:r>
          </a:p>
        </p:txBody>
      </p:sp>
      <p:sp>
        <p:nvSpPr>
          <p:cNvPr id="6" name="Rounded Rectangle 5"/>
          <p:cNvSpPr/>
          <p:nvPr/>
        </p:nvSpPr>
        <p:spPr>
          <a:xfrm>
            <a:off x="8427343" y="1533525"/>
            <a:ext cx="127000" cy="1270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17843" y="1498600"/>
            <a:ext cx="807839" cy="198120"/>
          </a:xfrm>
          <a:prstGeom prst="rect">
            <a:avLst/>
          </a:prstGeom>
          <a:noFill/>
        </p:spPr>
        <p:txBody>
          <a:bodyPr wrap="none" lIns="0" rIns="0" tIns="0" bIns="0" anchor="t">
            <a:noAutofit/>
          </a:bodyPr>
          <a:lstStyle/>
          <a:p>
            <a:pPr algn="l"/>
            <a:r>
              <a:rPr sz="1200" b="0" i="0">
                <a:solidFill>
                  <a:srgbClr val="C5D8E8"/>
                </a:solidFill>
                <a:latin typeface="DM Sans"/>
              </a:rPr>
              <a:t>ter plaatse</a:t>
            </a:r>
          </a:p>
        </p:txBody>
      </p:sp>
      <p:sp>
        <p:nvSpPr>
          <p:cNvPr id="8" name="Rounded Rectangle 7"/>
          <p:cNvSpPr/>
          <p:nvPr/>
        </p:nvSpPr>
        <p:spPr>
          <a:xfrm>
            <a:off x="9578082" y="1533525"/>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768582" y="1498600"/>
            <a:ext cx="627955" cy="198120"/>
          </a:xfrm>
          <a:prstGeom prst="rect">
            <a:avLst/>
          </a:prstGeom>
          <a:noFill/>
        </p:spPr>
        <p:txBody>
          <a:bodyPr wrap="none" lIns="0" rIns="0" tIns="0" bIns="0" anchor="t">
            <a:noAutofit/>
          </a:bodyPr>
          <a:lstStyle/>
          <a:p>
            <a:pPr algn="l"/>
            <a:r>
              <a:rPr sz="1200" b="0" i="0">
                <a:solidFill>
                  <a:srgbClr val="C5D8E8"/>
                </a:solidFill>
                <a:latin typeface="DM Sans"/>
              </a:rPr>
              <a:t>centraal</a:t>
            </a:r>
          </a:p>
        </p:txBody>
      </p:sp>
      <p:sp>
        <p:nvSpPr>
          <p:cNvPr id="10" name="Rectangle 9"/>
          <p:cNvSpPr/>
          <p:nvPr/>
        </p:nvSpPr>
        <p:spPr>
          <a:xfrm>
            <a:off x="10548938" y="1508125"/>
            <a:ext cx="177800" cy="177800"/>
          </a:xfrm>
          <a:prstGeom prst="rect">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790238" y="1498600"/>
            <a:ext cx="639762" cy="198120"/>
          </a:xfrm>
          <a:prstGeom prst="rect">
            <a:avLst/>
          </a:prstGeom>
          <a:noFill/>
        </p:spPr>
        <p:txBody>
          <a:bodyPr wrap="none" lIns="0" rIns="0" tIns="0" bIns="0" anchor="t">
            <a:noAutofit/>
          </a:bodyPr>
          <a:lstStyle/>
          <a:p>
            <a:pPr algn="l"/>
            <a:r>
              <a:rPr sz="1200" b="0" i="0">
                <a:solidFill>
                  <a:srgbClr val="C5D8E8"/>
                </a:solidFill>
                <a:latin typeface="DM Sans"/>
              </a:rPr>
              <a:t>vakantie</a:t>
            </a:r>
          </a:p>
        </p:txBody>
      </p:sp>
      <p:sp>
        <p:nvSpPr>
          <p:cNvPr id="12" name="Rectangle 11"/>
          <p:cNvSpPr/>
          <p:nvPr/>
        </p:nvSpPr>
        <p:spPr>
          <a:xfrm>
            <a:off x="4286250" y="2374900"/>
            <a:ext cx="3302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604000" y="2374900"/>
            <a:ext cx="6604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921750" y="2374900"/>
            <a:ext cx="3302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239500" y="2374900"/>
            <a:ext cx="1397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24180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0530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november</a:t>
            </a:r>
          </a:p>
        </p:txBody>
      </p:sp>
      <p:sp>
        <p:nvSpPr>
          <p:cNvPr id="18" name="Rectangle 17"/>
          <p:cNvSpPr/>
          <p:nvPr/>
        </p:nvSpPr>
        <p:spPr>
          <a:xfrm>
            <a:off x="565785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72135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december</a:t>
            </a:r>
          </a:p>
        </p:txBody>
      </p:sp>
      <p:sp>
        <p:nvSpPr>
          <p:cNvPr id="20" name="Rectangle 19"/>
          <p:cNvSpPr/>
          <p:nvPr/>
        </p:nvSpPr>
        <p:spPr>
          <a:xfrm>
            <a:off x="712470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18820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januari</a:t>
            </a:r>
          </a:p>
        </p:txBody>
      </p:sp>
      <p:sp>
        <p:nvSpPr>
          <p:cNvPr id="22" name="Rectangle 21"/>
          <p:cNvSpPr/>
          <p:nvPr/>
        </p:nvSpPr>
        <p:spPr>
          <a:xfrm>
            <a:off x="859155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65505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februari</a:t>
            </a:r>
          </a:p>
        </p:txBody>
      </p:sp>
      <p:sp>
        <p:nvSpPr>
          <p:cNvPr id="24" name="Rectangle 23"/>
          <p:cNvSpPr/>
          <p:nvPr/>
        </p:nvSpPr>
        <p:spPr>
          <a:xfrm>
            <a:off x="991235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97585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maart</a:t>
            </a:r>
          </a:p>
        </p:txBody>
      </p:sp>
      <p:sp>
        <p:nvSpPr>
          <p:cNvPr id="26" name="Rectangle 25"/>
          <p:cNvSpPr/>
          <p:nvPr/>
        </p:nvSpPr>
        <p:spPr>
          <a:xfrm>
            <a:off x="812800" y="2368550"/>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12800" y="24257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Theorie, vier blokken</a:t>
            </a:r>
          </a:p>
        </p:txBody>
      </p:sp>
      <p:sp>
        <p:nvSpPr>
          <p:cNvPr id="28" name="Rounded Rectangle 27"/>
          <p:cNvSpPr/>
          <p:nvPr/>
        </p:nvSpPr>
        <p:spPr>
          <a:xfrm>
            <a:off x="4629150" y="24765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5289550" y="24765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480050" y="2432050"/>
            <a:ext cx="2336800" cy="198120"/>
          </a:xfrm>
          <a:prstGeom prst="rect">
            <a:avLst/>
          </a:prstGeom>
          <a:noFill/>
        </p:spPr>
        <p:txBody>
          <a:bodyPr wrap="none" lIns="0" rIns="0" tIns="0" bIns="0" anchor="t">
            <a:noAutofit/>
          </a:bodyPr>
          <a:lstStyle/>
          <a:p>
            <a:pPr algn="l"/>
            <a:r>
              <a:rPr sz="1200" b="0" i="0">
                <a:solidFill>
                  <a:srgbClr val="C5D8E8"/>
                </a:solidFill>
                <a:latin typeface="DM Sans"/>
              </a:rPr>
              <a:t>10 en 24 nov · Janou</a:t>
            </a:r>
          </a:p>
        </p:txBody>
      </p:sp>
      <p:sp>
        <p:nvSpPr>
          <p:cNvPr id="31" name="Rectangle 30"/>
          <p:cNvSpPr/>
          <p:nvPr/>
        </p:nvSpPr>
        <p:spPr>
          <a:xfrm>
            <a:off x="812800" y="27051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12800" y="27559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Gezondheidseconomie en procesevaluatie</a:t>
            </a:r>
          </a:p>
        </p:txBody>
      </p:sp>
      <p:sp>
        <p:nvSpPr>
          <p:cNvPr id="33" name="Rounded Rectangle 32"/>
          <p:cNvSpPr/>
          <p:nvPr/>
        </p:nvSpPr>
        <p:spPr>
          <a:xfrm>
            <a:off x="5949950" y="28067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140450" y="2762250"/>
            <a:ext cx="2336800" cy="198120"/>
          </a:xfrm>
          <a:prstGeom prst="rect">
            <a:avLst/>
          </a:prstGeom>
          <a:noFill/>
        </p:spPr>
        <p:txBody>
          <a:bodyPr wrap="none" lIns="0" rIns="0" tIns="0" bIns="0" anchor="t">
            <a:noAutofit/>
          </a:bodyPr>
          <a:lstStyle/>
          <a:p>
            <a:pPr algn="l"/>
            <a:r>
              <a:rPr sz="1200" b="0" i="0">
                <a:solidFill>
                  <a:srgbClr val="C5D8E8"/>
                </a:solidFill>
                <a:latin typeface="DM Sans"/>
              </a:rPr>
              <a:t>8 dec · doctorandi</a:t>
            </a:r>
          </a:p>
        </p:txBody>
      </p:sp>
      <p:sp>
        <p:nvSpPr>
          <p:cNvPr id="35" name="Rectangle 34"/>
          <p:cNvSpPr/>
          <p:nvPr/>
        </p:nvSpPr>
        <p:spPr>
          <a:xfrm>
            <a:off x="812800" y="30353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12800" y="30861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Technologie</a:t>
            </a:r>
          </a:p>
        </p:txBody>
      </p:sp>
      <p:sp>
        <p:nvSpPr>
          <p:cNvPr id="37" name="Rounded Rectangle 36"/>
          <p:cNvSpPr/>
          <p:nvPr/>
        </p:nvSpPr>
        <p:spPr>
          <a:xfrm>
            <a:off x="5708650" y="3143250"/>
            <a:ext cx="660400" cy="1143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96050" y="3092450"/>
            <a:ext cx="2336800" cy="198120"/>
          </a:xfrm>
          <a:prstGeom prst="rect">
            <a:avLst/>
          </a:prstGeom>
          <a:noFill/>
        </p:spPr>
        <p:txBody>
          <a:bodyPr wrap="none" lIns="0" rIns="0" tIns="0" bIns="0" anchor="t">
            <a:noAutofit/>
          </a:bodyPr>
          <a:lstStyle/>
          <a:p>
            <a:pPr algn="l"/>
            <a:r>
              <a:rPr sz="1200" b="0" i="0">
                <a:solidFill>
                  <a:srgbClr val="C5D8E8"/>
                </a:solidFill>
                <a:latin typeface="DM Sans"/>
              </a:rPr>
              <a:t>2 tot 15 dec · Janou</a:t>
            </a:r>
          </a:p>
        </p:txBody>
      </p:sp>
      <p:sp>
        <p:nvSpPr>
          <p:cNvPr id="39" name="Rectangle 38"/>
          <p:cNvSpPr/>
          <p:nvPr/>
        </p:nvSpPr>
        <p:spPr>
          <a:xfrm>
            <a:off x="812800" y="33655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12800" y="34163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Datacollectie en vragenlijsten</a:t>
            </a:r>
          </a:p>
        </p:txBody>
      </p:sp>
      <p:sp>
        <p:nvSpPr>
          <p:cNvPr id="41" name="Rounded Rectangle 40"/>
          <p:cNvSpPr/>
          <p:nvPr/>
        </p:nvSpPr>
        <p:spPr>
          <a:xfrm>
            <a:off x="7607300" y="34671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797800" y="3422650"/>
            <a:ext cx="2336800" cy="198120"/>
          </a:xfrm>
          <a:prstGeom prst="rect">
            <a:avLst/>
          </a:prstGeom>
          <a:noFill/>
        </p:spPr>
        <p:txBody>
          <a:bodyPr wrap="none" lIns="0" rIns="0" tIns="0" bIns="0" anchor="t">
            <a:noAutofit/>
          </a:bodyPr>
          <a:lstStyle/>
          <a:p>
            <a:pPr algn="l"/>
            <a:r>
              <a:rPr sz="1200" b="0" i="0">
                <a:solidFill>
                  <a:srgbClr val="C5D8E8"/>
                </a:solidFill>
                <a:latin typeface="DM Sans"/>
              </a:rPr>
              <a:t>12 jan · Janou</a:t>
            </a:r>
          </a:p>
        </p:txBody>
      </p:sp>
      <p:sp>
        <p:nvSpPr>
          <p:cNvPr id="43" name="Rectangle 42"/>
          <p:cNvSpPr/>
          <p:nvPr/>
        </p:nvSpPr>
        <p:spPr>
          <a:xfrm>
            <a:off x="812800" y="36957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812800" y="37465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SEBIA 1 en 2, drie groepen</a:t>
            </a:r>
          </a:p>
        </p:txBody>
      </p:sp>
      <p:sp>
        <p:nvSpPr>
          <p:cNvPr id="45" name="Rounded Rectangle 44"/>
          <p:cNvSpPr/>
          <p:nvPr/>
        </p:nvSpPr>
        <p:spPr>
          <a:xfrm>
            <a:off x="7321550" y="3797300"/>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7607300" y="3797300"/>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ounded Rectangle 46"/>
          <p:cNvSpPr/>
          <p:nvPr/>
        </p:nvSpPr>
        <p:spPr>
          <a:xfrm>
            <a:off x="7747000" y="3797300"/>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937500" y="3752850"/>
            <a:ext cx="2336800" cy="198120"/>
          </a:xfrm>
          <a:prstGeom prst="rect">
            <a:avLst/>
          </a:prstGeom>
          <a:noFill/>
        </p:spPr>
        <p:txBody>
          <a:bodyPr wrap="none" lIns="0" rIns="0" tIns="0" bIns="0" anchor="t">
            <a:noAutofit/>
          </a:bodyPr>
          <a:lstStyle/>
          <a:p>
            <a:pPr algn="l"/>
            <a:r>
              <a:rPr sz="1200" b="0" i="0">
                <a:solidFill>
                  <a:srgbClr val="C5D8E8"/>
                </a:solidFill>
                <a:latin typeface="DM Sans"/>
              </a:rPr>
              <a:t>6, 12 en 15 jan · Dobbels</a:t>
            </a:r>
          </a:p>
        </p:txBody>
      </p:sp>
      <p:sp>
        <p:nvSpPr>
          <p:cNvPr id="49" name="Rectangle 48"/>
          <p:cNvSpPr/>
          <p:nvPr/>
        </p:nvSpPr>
        <p:spPr>
          <a:xfrm>
            <a:off x="812800" y="40259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12800" y="40767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Droogloop, vier visites</a:t>
            </a:r>
          </a:p>
        </p:txBody>
      </p:sp>
      <p:sp>
        <p:nvSpPr>
          <p:cNvPr id="51" name="Rounded Rectangle 50"/>
          <p:cNvSpPr/>
          <p:nvPr/>
        </p:nvSpPr>
        <p:spPr>
          <a:xfrm>
            <a:off x="7689850" y="4133850"/>
            <a:ext cx="711200" cy="1143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8528050" y="4083050"/>
            <a:ext cx="2336800" cy="198120"/>
          </a:xfrm>
          <a:prstGeom prst="rect">
            <a:avLst/>
          </a:prstGeom>
          <a:noFill/>
        </p:spPr>
        <p:txBody>
          <a:bodyPr wrap="none" lIns="0" rIns="0" tIns="0" bIns="0" anchor="t">
            <a:noAutofit/>
          </a:bodyPr>
          <a:lstStyle/>
          <a:p>
            <a:pPr algn="l"/>
            <a:r>
              <a:rPr sz="1200" b="0" i="0">
                <a:solidFill>
                  <a:srgbClr val="C5D8E8"/>
                </a:solidFill>
                <a:latin typeface="DM Sans"/>
              </a:rPr>
              <a:t>13 tot 27 jan · Janou</a:t>
            </a:r>
          </a:p>
        </p:txBody>
      </p:sp>
      <p:sp>
        <p:nvSpPr>
          <p:cNvPr id="53" name="Rectangle 52"/>
          <p:cNvSpPr/>
          <p:nvPr/>
        </p:nvSpPr>
        <p:spPr>
          <a:xfrm>
            <a:off x="812800" y="43561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812800" y="44069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Piloot en Go/No-Go</a:t>
            </a:r>
          </a:p>
        </p:txBody>
      </p:sp>
      <p:sp>
        <p:nvSpPr>
          <p:cNvPr id="55" name="Rounded Rectangle 54"/>
          <p:cNvSpPr/>
          <p:nvPr/>
        </p:nvSpPr>
        <p:spPr>
          <a:xfrm>
            <a:off x="8591550" y="4464050"/>
            <a:ext cx="234950" cy="1143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p:cNvSpPr/>
          <p:nvPr/>
        </p:nvSpPr>
        <p:spPr>
          <a:xfrm>
            <a:off x="9251950" y="4464050"/>
            <a:ext cx="234950" cy="1143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ounded Rectangle 56"/>
          <p:cNvSpPr/>
          <p:nvPr/>
        </p:nvSpPr>
        <p:spPr>
          <a:xfrm>
            <a:off x="9588500" y="4457700"/>
            <a:ext cx="127000" cy="1270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779000" y="4413250"/>
            <a:ext cx="2336800" cy="198120"/>
          </a:xfrm>
          <a:prstGeom prst="rect">
            <a:avLst/>
          </a:prstGeom>
          <a:noFill/>
        </p:spPr>
        <p:txBody>
          <a:bodyPr wrap="none" lIns="0" rIns="0" tIns="0" bIns="0" anchor="t">
            <a:noAutofit/>
          </a:bodyPr>
          <a:lstStyle/>
          <a:p>
            <a:pPr algn="l"/>
            <a:r>
              <a:rPr sz="1200" b="0" i="0">
                <a:solidFill>
                  <a:srgbClr val="C5D8E8"/>
                </a:solidFill>
                <a:latin typeface="DM Sans"/>
              </a:rPr>
              <a:t>Go/No-Go 23 feb</a:t>
            </a:r>
          </a:p>
        </p:txBody>
      </p:sp>
      <p:sp>
        <p:nvSpPr>
          <p:cNvPr id="59" name="Rectangle 58"/>
          <p:cNvSpPr/>
          <p:nvPr/>
        </p:nvSpPr>
        <p:spPr>
          <a:xfrm>
            <a:off x="812800" y="46863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812800" y="47371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SEBIA 3 en 4, drie groepen</a:t>
            </a:r>
          </a:p>
        </p:txBody>
      </p:sp>
      <p:sp>
        <p:nvSpPr>
          <p:cNvPr id="61" name="Rounded Rectangle 60"/>
          <p:cNvSpPr/>
          <p:nvPr/>
        </p:nvSpPr>
        <p:spPr>
          <a:xfrm>
            <a:off x="10293350" y="4794250"/>
            <a:ext cx="190500" cy="1143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067550" y="4743450"/>
            <a:ext cx="3098800" cy="198120"/>
          </a:xfrm>
          <a:prstGeom prst="rect">
            <a:avLst/>
          </a:prstGeom>
          <a:noFill/>
        </p:spPr>
        <p:txBody>
          <a:bodyPr wrap="none" lIns="0" rIns="0" tIns="0" bIns="0" anchor="t">
            <a:noAutofit/>
          </a:bodyPr>
          <a:lstStyle/>
          <a:p>
            <a:pPr algn="r"/>
            <a:r>
              <a:rPr sz="1200" b="0" i="0">
                <a:solidFill>
                  <a:srgbClr val="C5D8E8"/>
                </a:solidFill>
                <a:latin typeface="DM Sans"/>
              </a:rPr>
              <a:t>voorstel 9 tot 12 mrt · Dobbels</a:t>
            </a:r>
          </a:p>
        </p:txBody>
      </p:sp>
      <p:sp>
        <p:nvSpPr>
          <p:cNvPr id="63" name="Rectangle 62"/>
          <p:cNvSpPr/>
          <p:nvPr/>
        </p:nvSpPr>
        <p:spPr>
          <a:xfrm>
            <a:off x="812800" y="50165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812800" y="50673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SEBIA 5, per podoloog</a:t>
            </a:r>
          </a:p>
        </p:txBody>
      </p:sp>
      <p:sp>
        <p:nvSpPr>
          <p:cNvPr id="65" name="Rounded Rectangle 64"/>
          <p:cNvSpPr/>
          <p:nvPr/>
        </p:nvSpPr>
        <p:spPr>
          <a:xfrm>
            <a:off x="10572750" y="5124450"/>
            <a:ext cx="565150" cy="1143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7346950" y="5073650"/>
            <a:ext cx="3098800" cy="198120"/>
          </a:xfrm>
          <a:prstGeom prst="rect">
            <a:avLst/>
          </a:prstGeom>
          <a:noFill/>
        </p:spPr>
        <p:txBody>
          <a:bodyPr wrap="none" lIns="0" rIns="0" tIns="0" bIns="0" anchor="t">
            <a:noAutofit/>
          </a:bodyPr>
          <a:lstStyle/>
          <a:p>
            <a:pPr algn="r"/>
            <a:r>
              <a:rPr sz="1200" b="0" i="0">
                <a:solidFill>
                  <a:srgbClr val="C5D8E8"/>
                </a:solidFill>
                <a:latin typeface="DM Sans"/>
              </a:rPr>
              <a:t>15 tot 26 mrt, in het centrum · Dobbels</a:t>
            </a:r>
          </a:p>
        </p:txBody>
      </p:sp>
      <p:sp>
        <p:nvSpPr>
          <p:cNvPr id="67" name="TextBox 66"/>
          <p:cNvSpPr txBox="1"/>
          <p:nvPr/>
        </p:nvSpPr>
        <p:spPr>
          <a:xfrm>
            <a:off x="812800" y="5524500"/>
            <a:ext cx="106172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Artsen: alleen de theorie · online sessies worden opgenomen · SEBIA 6 online, sep–nov 2027</a:t>
            </a:r>
          </a:p>
        </p:txBody>
      </p:sp>
      <p:pic>
        <p:nvPicPr>
          <p:cNvPr id="68" name="Picture 67"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69" name="TextBox 68"/>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70" name="TextBox 69"/>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30 september 2026</a:t>
            </a:r>
          </a:p>
        </p:txBody>
      </p:sp>
    </p:spTree>
  </p:cSld>
  <p:clrMapOvr>
    <a:masterClrMapping/>
  </p:clrMapOvr>
  <p:transition xmlns:p14="http://schemas.microsoft.com/office/powerpoint/2010/main" spd="med" p14:dur="700">
    <p:fade/>
  </p:transition>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5 · PLANNING · SEBIA-OPLEIDING</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Zes sessies, van educatie naar therapietrouw</a:t>
            </a:r>
          </a:p>
        </p:txBody>
      </p:sp>
      <p:sp>
        <p:nvSpPr>
          <p:cNvPr id="4" name="TextBox 3"/>
          <p:cNvSpPr txBox="1"/>
          <p:nvPr/>
        </p:nvSpPr>
        <p:spPr>
          <a:xfrm>
            <a:off x="812800" y="1817291"/>
            <a:ext cx="10617200" cy="257175"/>
          </a:xfrm>
          <a:prstGeom prst="rect">
            <a:avLst/>
          </a:prstGeom>
          <a:noFill/>
        </p:spPr>
        <p:txBody>
          <a:bodyPr wrap="none" lIns="0" rIns="0" tIns="0" bIns="0" anchor="t">
            <a:noAutofit/>
          </a:bodyPr>
          <a:lstStyle/>
          <a:p>
            <a:pPr algn="l">
              <a:lnSpc>
                <a:spcPts val="2025"/>
              </a:lnSpc>
            </a:pPr>
            <a:r>
              <a:rPr sz="1500" b="0" i="0">
                <a:solidFill>
                  <a:srgbClr val="0A2540"/>
                </a:solidFill>
                <a:latin typeface="DM Sans"/>
              </a:rPr>
              <a:t>Het SEBIA-gesprek komt op elke visite van de PARADISE-arm terug. Fabienne Dobbels leert het de podologen aan.</a:t>
            </a:r>
          </a:p>
        </p:txBody>
      </p:sp>
      <p:sp>
        <p:nvSpPr>
          <p:cNvPr id="5" name="Rounded Rectangle 4"/>
          <p:cNvSpPr/>
          <p:nvPr/>
        </p:nvSpPr>
        <p:spPr>
          <a:xfrm>
            <a:off x="812800" y="2277666"/>
            <a:ext cx="2546350" cy="2621161"/>
          </a:xfrm>
          <a:prstGeom prst="roundRect">
            <a:avLst>
              <a:gd name="adj" fmla="val 498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96950" y="2449116"/>
            <a:ext cx="2228850" cy="184150"/>
          </a:xfrm>
          <a:prstGeom prst="rect">
            <a:avLst/>
          </a:prstGeom>
          <a:noFill/>
        </p:spPr>
        <p:txBody>
          <a:bodyPr wrap="none" lIns="0" rIns="0" tIns="0" bIns="0" anchor="t">
            <a:noAutofit/>
          </a:bodyPr>
          <a:lstStyle/>
          <a:p>
            <a:pPr algn="l"/>
            <a:r>
              <a:rPr sz="1100" b="0" i="0" spc="100">
                <a:solidFill>
                  <a:srgbClr val="0B6E8F"/>
                </a:solidFill>
                <a:latin typeface="JetBrains Mono"/>
              </a:rPr>
              <a:t>JANUARI · 4 U</a:t>
            </a:r>
          </a:p>
        </p:txBody>
      </p:sp>
      <p:sp>
        <p:nvSpPr>
          <p:cNvPr id="7" name="TextBox 6"/>
          <p:cNvSpPr txBox="1"/>
          <p:nvPr/>
        </p:nvSpPr>
        <p:spPr>
          <a:xfrm>
            <a:off x="996950" y="2696766"/>
            <a:ext cx="2228850" cy="406400"/>
          </a:xfrm>
          <a:prstGeom prst="rect">
            <a:avLst/>
          </a:prstGeom>
          <a:noFill/>
        </p:spPr>
        <p:txBody>
          <a:bodyPr wrap="none" lIns="0" rIns="0" tIns="0" bIns="0" anchor="t">
            <a:noAutofit/>
          </a:bodyPr>
          <a:lstStyle/>
          <a:p>
            <a:pPr algn="l">
              <a:lnSpc>
                <a:spcPts val="3200"/>
              </a:lnSpc>
            </a:pPr>
            <a:r>
              <a:rPr sz="3200" b="0" i="0">
                <a:solidFill>
                  <a:srgbClr val="0A2540"/>
                </a:solidFill>
                <a:latin typeface="DM Serif Display"/>
              </a:rPr>
              <a:t>1 + 2</a:t>
            </a:r>
          </a:p>
        </p:txBody>
      </p:sp>
      <p:sp>
        <p:nvSpPr>
          <p:cNvPr id="8" name="TextBox 7"/>
          <p:cNvSpPr txBox="1"/>
          <p:nvPr/>
        </p:nvSpPr>
        <p:spPr>
          <a:xfrm>
            <a:off x="996950" y="3166666"/>
            <a:ext cx="222885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Educatie en feedback</a:t>
            </a:r>
          </a:p>
        </p:txBody>
      </p:sp>
      <p:sp>
        <p:nvSpPr>
          <p:cNvPr id="9" name="TextBox 8"/>
          <p:cNvSpPr txBox="1"/>
          <p:nvPr/>
        </p:nvSpPr>
        <p:spPr>
          <a:xfrm>
            <a:off x="996950" y="3452416"/>
            <a:ext cx="2228850" cy="883841"/>
          </a:xfrm>
          <a:prstGeom prst="rect">
            <a:avLst/>
          </a:prstGeom>
          <a:noFill/>
        </p:spPr>
        <p:txBody>
          <a:bodyPr wrap="square" lIns="0" rIns="0" tIns="0" bIns="0" anchor="t">
            <a:noAutofit/>
          </a:bodyPr>
          <a:lstStyle/>
          <a:p>
            <a:pPr algn="l">
              <a:lnSpc>
                <a:spcPts val="1739"/>
              </a:lnSpc>
            </a:pPr>
            <a:r>
              <a:rPr sz="1200" b="0" i="0">
                <a:solidFill>
                  <a:srgbClr val="3A4F63"/>
                </a:solidFill>
                <a:latin typeface="DM Sans"/>
              </a:rPr>
              <a:t>teach-back en show-me</a:t>
            </a:r>
          </a:p>
          <a:p>
            <a:pPr algn="l">
              <a:lnSpc>
                <a:spcPts val="1739"/>
              </a:lnSpc>
            </a:pPr>
            <a:r>
              <a:rPr sz="1200" b="0" i="0">
                <a:solidFill>
                  <a:srgbClr val="3A4F63"/>
                </a:solidFill>
                <a:latin typeface="DM Sans"/>
              </a:rPr>
              <a:t>voetzorg voordoen</a:t>
            </a:r>
          </a:p>
          <a:p>
            <a:pPr algn="l">
              <a:lnSpc>
                <a:spcPts val="1739"/>
              </a:lnSpc>
            </a:pPr>
            <a:r>
              <a:rPr sz="1200" b="0" i="0">
                <a:solidFill>
                  <a:srgbClr val="3A4F63"/>
                </a:solidFill>
                <a:latin typeface="DM Sans"/>
              </a:rPr>
              <a:t>kennis toetsen (NAFF)</a:t>
            </a:r>
          </a:p>
          <a:p>
            <a:pPr algn="l">
              <a:lnSpc>
                <a:spcPts val="1739"/>
              </a:lnSpc>
            </a:pPr>
            <a:r>
              <a:rPr sz="1200" b="0" i="0">
                <a:solidFill>
                  <a:srgbClr val="3A4F63"/>
                </a:solidFill>
                <a:latin typeface="DM Sans"/>
              </a:rPr>
              <a:t>feedback op de draagtijd</a:t>
            </a:r>
          </a:p>
        </p:txBody>
      </p:sp>
      <p:sp>
        <p:nvSpPr>
          <p:cNvPr id="10" name="Rectangle 9"/>
          <p:cNvSpPr/>
          <p:nvPr/>
        </p:nvSpPr>
        <p:spPr>
          <a:xfrm>
            <a:off x="996950" y="4463256"/>
            <a:ext cx="2178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6950" y="4545806"/>
            <a:ext cx="2228850" cy="181610"/>
          </a:xfrm>
          <a:prstGeom prst="rect">
            <a:avLst/>
          </a:prstGeom>
          <a:noFill/>
        </p:spPr>
        <p:txBody>
          <a:bodyPr wrap="none" lIns="0" rIns="0" tIns="0" bIns="0" anchor="t">
            <a:noAutofit/>
          </a:bodyPr>
          <a:lstStyle/>
          <a:p>
            <a:pPr algn="l">
              <a:lnSpc>
                <a:spcPts val="1430"/>
              </a:lnSpc>
            </a:pPr>
            <a:r>
              <a:rPr sz="1100" b="0" i="0">
                <a:solidFill>
                  <a:srgbClr val="5A6E80"/>
                </a:solidFill>
                <a:latin typeface="DM Sans"/>
              </a:rPr>
              <a:t>overdag, drie groepen</a:t>
            </a:r>
          </a:p>
        </p:txBody>
      </p:sp>
      <p:sp>
        <p:nvSpPr>
          <p:cNvPr id="12" name="Rounded Rectangle 11"/>
          <p:cNvSpPr/>
          <p:nvPr/>
        </p:nvSpPr>
        <p:spPr>
          <a:xfrm>
            <a:off x="3486150" y="2277666"/>
            <a:ext cx="2546350" cy="2621161"/>
          </a:xfrm>
          <a:prstGeom prst="roundRect">
            <a:avLst>
              <a:gd name="adj" fmla="val 498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670300" y="2449116"/>
            <a:ext cx="2228850" cy="184150"/>
          </a:xfrm>
          <a:prstGeom prst="rect">
            <a:avLst/>
          </a:prstGeom>
          <a:noFill/>
        </p:spPr>
        <p:txBody>
          <a:bodyPr wrap="none" lIns="0" rIns="0" tIns="0" bIns="0" anchor="t">
            <a:noAutofit/>
          </a:bodyPr>
          <a:lstStyle/>
          <a:p>
            <a:pPr algn="l"/>
            <a:r>
              <a:rPr sz="1100" b="0" i="0" spc="100">
                <a:solidFill>
                  <a:srgbClr val="0B6E8F"/>
                </a:solidFill>
                <a:latin typeface="JetBrains Mono"/>
              </a:rPr>
              <a:t>MAART · 4 U</a:t>
            </a:r>
          </a:p>
        </p:txBody>
      </p:sp>
      <p:sp>
        <p:nvSpPr>
          <p:cNvPr id="14" name="TextBox 13"/>
          <p:cNvSpPr txBox="1"/>
          <p:nvPr/>
        </p:nvSpPr>
        <p:spPr>
          <a:xfrm>
            <a:off x="3670300" y="2696766"/>
            <a:ext cx="2228850" cy="406400"/>
          </a:xfrm>
          <a:prstGeom prst="rect">
            <a:avLst/>
          </a:prstGeom>
          <a:noFill/>
        </p:spPr>
        <p:txBody>
          <a:bodyPr wrap="none" lIns="0" rIns="0" tIns="0" bIns="0" anchor="t">
            <a:noAutofit/>
          </a:bodyPr>
          <a:lstStyle/>
          <a:p>
            <a:pPr algn="l">
              <a:lnSpc>
                <a:spcPts val="3200"/>
              </a:lnSpc>
            </a:pPr>
            <a:r>
              <a:rPr sz="3200" b="0" i="0">
                <a:solidFill>
                  <a:srgbClr val="0A2540"/>
                </a:solidFill>
                <a:latin typeface="DM Serif Display"/>
              </a:rPr>
              <a:t>3 + 4</a:t>
            </a:r>
          </a:p>
        </p:txBody>
      </p:sp>
      <p:sp>
        <p:nvSpPr>
          <p:cNvPr id="15" name="TextBox 14"/>
          <p:cNvSpPr txBox="1"/>
          <p:nvPr/>
        </p:nvSpPr>
        <p:spPr>
          <a:xfrm>
            <a:off x="3670300" y="3166666"/>
            <a:ext cx="2228850" cy="444500"/>
          </a:xfrm>
          <a:prstGeom prst="rect">
            <a:avLst/>
          </a:prstGeom>
          <a:noFill/>
        </p:spPr>
        <p:txBody>
          <a:bodyPr wrap="square" lIns="0" rIns="0" tIns="0" bIns="0" anchor="t">
            <a:noAutofit/>
          </a:bodyPr>
          <a:lstStyle/>
          <a:p>
            <a:pPr algn="l">
              <a:lnSpc>
                <a:spcPts val="1750"/>
              </a:lnSpc>
            </a:pPr>
            <a:r>
              <a:rPr sz="1400" b="1" i="0">
                <a:solidFill>
                  <a:srgbClr val="0A2540"/>
                </a:solidFill>
                <a:latin typeface="DM Sans"/>
              </a:rPr>
              <a:t>Motiverende gespreksvoering</a:t>
            </a:r>
          </a:p>
        </p:txBody>
      </p:sp>
      <p:sp>
        <p:nvSpPr>
          <p:cNvPr id="16" name="TextBox 15"/>
          <p:cNvSpPr txBox="1"/>
          <p:nvPr/>
        </p:nvSpPr>
        <p:spPr>
          <a:xfrm>
            <a:off x="3670300" y="3674666"/>
            <a:ext cx="2228850" cy="441920"/>
          </a:xfrm>
          <a:prstGeom prst="rect">
            <a:avLst/>
          </a:prstGeom>
          <a:noFill/>
        </p:spPr>
        <p:txBody>
          <a:bodyPr wrap="square" lIns="0" rIns="0" tIns="0" bIns="0" anchor="t">
            <a:noAutofit/>
          </a:bodyPr>
          <a:lstStyle/>
          <a:p>
            <a:pPr algn="l">
              <a:lnSpc>
                <a:spcPts val="1739"/>
              </a:lnSpc>
            </a:pPr>
            <a:r>
              <a:rPr sz="1200" b="0" i="0">
                <a:solidFill>
                  <a:srgbClr val="3A4F63"/>
                </a:solidFill>
                <a:latin typeface="DM Sans"/>
              </a:rPr>
              <a:t>motivatie inschatten</a:t>
            </a:r>
          </a:p>
          <a:p>
            <a:pPr algn="l">
              <a:lnSpc>
                <a:spcPts val="1739"/>
              </a:lnSpc>
            </a:pPr>
            <a:r>
              <a:rPr sz="1200" b="0" i="0">
                <a:solidFill>
                  <a:srgbClr val="3A4F63"/>
                </a:solidFill>
                <a:latin typeface="DM Sans"/>
              </a:rPr>
              <a:t>interventie op maat</a:t>
            </a:r>
          </a:p>
        </p:txBody>
      </p:sp>
      <p:sp>
        <p:nvSpPr>
          <p:cNvPr id="17" name="Rectangle 16"/>
          <p:cNvSpPr/>
          <p:nvPr/>
        </p:nvSpPr>
        <p:spPr>
          <a:xfrm>
            <a:off x="3670300" y="4463256"/>
            <a:ext cx="2178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300" y="4545806"/>
            <a:ext cx="2228850" cy="181610"/>
          </a:xfrm>
          <a:prstGeom prst="rect">
            <a:avLst/>
          </a:prstGeom>
          <a:noFill/>
        </p:spPr>
        <p:txBody>
          <a:bodyPr wrap="none" lIns="0" rIns="0" tIns="0" bIns="0" anchor="t">
            <a:noAutofit/>
          </a:bodyPr>
          <a:lstStyle/>
          <a:p>
            <a:pPr algn="l">
              <a:lnSpc>
                <a:spcPts val="1430"/>
              </a:lnSpc>
            </a:pPr>
            <a:r>
              <a:rPr sz="1100" b="0" i="0">
                <a:solidFill>
                  <a:srgbClr val="5A6E80"/>
                </a:solidFill>
                <a:latin typeface="DM Sans"/>
              </a:rPr>
              <a:t>overdag, drie groepen (voorstel)</a:t>
            </a:r>
          </a:p>
        </p:txBody>
      </p:sp>
      <p:sp>
        <p:nvSpPr>
          <p:cNvPr id="19" name="Rounded Rectangle 18"/>
          <p:cNvSpPr/>
          <p:nvPr/>
        </p:nvSpPr>
        <p:spPr>
          <a:xfrm>
            <a:off x="6159500" y="2277666"/>
            <a:ext cx="2546350" cy="2621161"/>
          </a:xfrm>
          <a:prstGeom prst="roundRect">
            <a:avLst>
              <a:gd name="adj" fmla="val 498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43650" y="2449116"/>
            <a:ext cx="2228850" cy="184150"/>
          </a:xfrm>
          <a:prstGeom prst="rect">
            <a:avLst/>
          </a:prstGeom>
          <a:noFill/>
        </p:spPr>
        <p:txBody>
          <a:bodyPr wrap="none" lIns="0" rIns="0" tIns="0" bIns="0" anchor="t">
            <a:noAutofit/>
          </a:bodyPr>
          <a:lstStyle/>
          <a:p>
            <a:pPr algn="l"/>
            <a:r>
              <a:rPr sz="1100" b="0" i="0" spc="100">
                <a:solidFill>
                  <a:srgbClr val="0B6E8F"/>
                </a:solidFill>
                <a:latin typeface="JetBrains Mono"/>
              </a:rPr>
              <a:t>15–26 MAART · 1,5 U</a:t>
            </a:r>
          </a:p>
        </p:txBody>
      </p:sp>
      <p:sp>
        <p:nvSpPr>
          <p:cNvPr id="21" name="TextBox 20"/>
          <p:cNvSpPr txBox="1"/>
          <p:nvPr/>
        </p:nvSpPr>
        <p:spPr>
          <a:xfrm>
            <a:off x="6343650" y="2696766"/>
            <a:ext cx="2228850" cy="406400"/>
          </a:xfrm>
          <a:prstGeom prst="rect">
            <a:avLst/>
          </a:prstGeom>
          <a:noFill/>
        </p:spPr>
        <p:txBody>
          <a:bodyPr wrap="none" lIns="0" rIns="0" tIns="0" bIns="0" anchor="t">
            <a:noAutofit/>
          </a:bodyPr>
          <a:lstStyle/>
          <a:p>
            <a:pPr algn="l">
              <a:lnSpc>
                <a:spcPts val="3200"/>
              </a:lnSpc>
            </a:pPr>
            <a:r>
              <a:rPr sz="3200" b="0" i="0">
                <a:solidFill>
                  <a:srgbClr val="0A2540"/>
                </a:solidFill>
                <a:latin typeface="DM Serif Display"/>
              </a:rPr>
              <a:t>5</a:t>
            </a:r>
          </a:p>
        </p:txBody>
      </p:sp>
      <p:sp>
        <p:nvSpPr>
          <p:cNvPr id="22" name="TextBox 21"/>
          <p:cNvSpPr txBox="1"/>
          <p:nvPr/>
        </p:nvSpPr>
        <p:spPr>
          <a:xfrm>
            <a:off x="6343650" y="3166666"/>
            <a:ext cx="222885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Oefenen</a:t>
            </a:r>
          </a:p>
        </p:txBody>
      </p:sp>
      <p:sp>
        <p:nvSpPr>
          <p:cNvPr id="23" name="TextBox 22"/>
          <p:cNvSpPr txBox="1"/>
          <p:nvPr/>
        </p:nvSpPr>
        <p:spPr>
          <a:xfrm>
            <a:off x="6343650" y="3452416"/>
            <a:ext cx="2228850" cy="220980"/>
          </a:xfrm>
          <a:prstGeom prst="rect">
            <a:avLst/>
          </a:prstGeom>
          <a:noFill/>
        </p:spPr>
        <p:txBody>
          <a:bodyPr wrap="none" lIns="0" rIns="0" tIns="0" bIns="0" anchor="t">
            <a:noAutofit/>
          </a:bodyPr>
          <a:lstStyle/>
          <a:p>
            <a:pPr algn="l">
              <a:lnSpc>
                <a:spcPts val="1739"/>
              </a:lnSpc>
            </a:pPr>
            <a:r>
              <a:rPr sz="1200" b="0" i="0">
                <a:solidFill>
                  <a:srgbClr val="3A4F63"/>
                </a:solidFill>
                <a:latin typeface="DM Sans"/>
              </a:rPr>
              <a:t>rollenspel met de scripts</a:t>
            </a:r>
          </a:p>
        </p:txBody>
      </p:sp>
      <p:sp>
        <p:nvSpPr>
          <p:cNvPr id="24" name="Rectangle 23"/>
          <p:cNvSpPr/>
          <p:nvPr/>
        </p:nvSpPr>
        <p:spPr>
          <a:xfrm>
            <a:off x="6343650" y="4463256"/>
            <a:ext cx="2178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43650" y="4545806"/>
            <a:ext cx="2228850" cy="181610"/>
          </a:xfrm>
          <a:prstGeom prst="rect">
            <a:avLst/>
          </a:prstGeom>
          <a:noFill/>
        </p:spPr>
        <p:txBody>
          <a:bodyPr wrap="none" lIns="0" rIns="0" tIns="0" bIns="0" anchor="t">
            <a:noAutofit/>
          </a:bodyPr>
          <a:lstStyle/>
          <a:p>
            <a:pPr algn="l">
              <a:lnSpc>
                <a:spcPts val="1430"/>
              </a:lnSpc>
            </a:pPr>
            <a:r>
              <a:rPr sz="1100" b="0" i="0">
                <a:solidFill>
                  <a:srgbClr val="5A6E80"/>
                </a:solidFill>
                <a:latin typeface="DM Sans"/>
              </a:rPr>
              <a:t>in uw centrum, individueel</a:t>
            </a:r>
          </a:p>
        </p:txBody>
      </p:sp>
      <p:sp>
        <p:nvSpPr>
          <p:cNvPr id="26" name="Rounded Rectangle 25"/>
          <p:cNvSpPr/>
          <p:nvPr/>
        </p:nvSpPr>
        <p:spPr>
          <a:xfrm>
            <a:off x="8832850" y="2277666"/>
            <a:ext cx="2546350" cy="2621161"/>
          </a:xfrm>
          <a:prstGeom prst="roundRect">
            <a:avLst>
              <a:gd name="adj" fmla="val 498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017000" y="2449116"/>
            <a:ext cx="2228850" cy="184150"/>
          </a:xfrm>
          <a:prstGeom prst="rect">
            <a:avLst/>
          </a:prstGeom>
          <a:noFill/>
        </p:spPr>
        <p:txBody>
          <a:bodyPr wrap="none" lIns="0" rIns="0" tIns="0" bIns="0" anchor="t">
            <a:noAutofit/>
          </a:bodyPr>
          <a:lstStyle/>
          <a:p>
            <a:pPr algn="l"/>
            <a:r>
              <a:rPr sz="1100" b="0" i="0" spc="100">
                <a:solidFill>
                  <a:srgbClr val="0B6E8F"/>
                </a:solidFill>
                <a:latin typeface="JetBrains Mono"/>
              </a:rPr>
              <a:t>SEP–NOV 2027 · 1 U</a:t>
            </a:r>
          </a:p>
        </p:txBody>
      </p:sp>
      <p:sp>
        <p:nvSpPr>
          <p:cNvPr id="28" name="TextBox 27"/>
          <p:cNvSpPr txBox="1"/>
          <p:nvPr/>
        </p:nvSpPr>
        <p:spPr>
          <a:xfrm>
            <a:off x="9017000" y="2696766"/>
            <a:ext cx="2228850" cy="406400"/>
          </a:xfrm>
          <a:prstGeom prst="rect">
            <a:avLst/>
          </a:prstGeom>
          <a:noFill/>
        </p:spPr>
        <p:txBody>
          <a:bodyPr wrap="none" lIns="0" rIns="0" tIns="0" bIns="0" anchor="t">
            <a:noAutofit/>
          </a:bodyPr>
          <a:lstStyle/>
          <a:p>
            <a:pPr algn="l">
              <a:lnSpc>
                <a:spcPts val="3200"/>
              </a:lnSpc>
            </a:pPr>
            <a:r>
              <a:rPr sz="3200" b="0" i="0">
                <a:solidFill>
                  <a:srgbClr val="0A2540"/>
                </a:solidFill>
                <a:latin typeface="DM Serif Display"/>
              </a:rPr>
              <a:t>6</a:t>
            </a:r>
          </a:p>
        </p:txBody>
      </p:sp>
      <p:sp>
        <p:nvSpPr>
          <p:cNvPr id="29" name="TextBox 28"/>
          <p:cNvSpPr txBox="1"/>
          <p:nvPr/>
        </p:nvSpPr>
        <p:spPr>
          <a:xfrm>
            <a:off x="9017000" y="3166666"/>
            <a:ext cx="222885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Intervisie</a:t>
            </a:r>
          </a:p>
        </p:txBody>
      </p:sp>
      <p:sp>
        <p:nvSpPr>
          <p:cNvPr id="30" name="TextBox 29"/>
          <p:cNvSpPr txBox="1"/>
          <p:nvPr/>
        </p:nvSpPr>
        <p:spPr>
          <a:xfrm>
            <a:off x="9017000" y="3452416"/>
            <a:ext cx="2228850" cy="441920"/>
          </a:xfrm>
          <a:prstGeom prst="rect">
            <a:avLst/>
          </a:prstGeom>
          <a:noFill/>
        </p:spPr>
        <p:txBody>
          <a:bodyPr wrap="square" lIns="0" rIns="0" tIns="0" bIns="0" anchor="t">
            <a:noAutofit/>
          </a:bodyPr>
          <a:lstStyle/>
          <a:p>
            <a:pPr algn="l">
              <a:lnSpc>
                <a:spcPts val="1739"/>
              </a:lnSpc>
            </a:pPr>
            <a:r>
              <a:rPr sz="1200" b="0" i="0">
                <a:solidFill>
                  <a:srgbClr val="3A4F63"/>
                </a:solidFill>
                <a:latin typeface="DM Sans"/>
              </a:rPr>
              <a:t>casussen bespreken</a:t>
            </a:r>
          </a:p>
          <a:p>
            <a:pPr algn="l">
              <a:lnSpc>
                <a:spcPts val="1739"/>
              </a:lnSpc>
            </a:pPr>
            <a:r>
              <a:rPr sz="1200" b="0" i="0">
                <a:solidFill>
                  <a:srgbClr val="3A4F63"/>
                </a:solidFill>
                <a:latin typeface="DM Sans"/>
              </a:rPr>
              <a:t>bijsturen</a:t>
            </a:r>
          </a:p>
        </p:txBody>
      </p:sp>
      <p:sp>
        <p:nvSpPr>
          <p:cNvPr id="31" name="Rectangle 30"/>
          <p:cNvSpPr/>
          <p:nvPr/>
        </p:nvSpPr>
        <p:spPr>
          <a:xfrm>
            <a:off x="9017000" y="4463256"/>
            <a:ext cx="2178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17000" y="4545806"/>
            <a:ext cx="2228850" cy="181610"/>
          </a:xfrm>
          <a:prstGeom prst="rect">
            <a:avLst/>
          </a:prstGeom>
          <a:noFill/>
        </p:spPr>
        <p:txBody>
          <a:bodyPr wrap="none" lIns="0" rIns="0" tIns="0" bIns="0" anchor="t">
            <a:noAutofit/>
          </a:bodyPr>
          <a:lstStyle/>
          <a:p>
            <a:pPr algn="l">
              <a:lnSpc>
                <a:spcPts val="1430"/>
              </a:lnSpc>
            </a:pPr>
            <a:r>
              <a:rPr sz="1100" b="0" i="0">
                <a:solidFill>
                  <a:srgbClr val="5A6E80"/>
                </a:solidFill>
                <a:latin typeface="DM Sans"/>
              </a:rPr>
              <a:t>online, individueel</a:t>
            </a:r>
          </a:p>
        </p:txBody>
      </p:sp>
      <p:pic>
        <p:nvPicPr>
          <p:cNvPr id="33" name="Picture 32"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4" name="TextBox 33"/>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35" name="TextBox 34"/>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SEBIA-training, F. Dobbels, 23 sept 2026 · opleidingsplanning</a:t>
            </a:r>
          </a:p>
        </p:txBody>
      </p:sp>
    </p:spTree>
  </p:cSld>
  <p:clrMapOvr>
    <a:masterClrMapping/>
  </p:clrMapOvr>
  <p:transition xmlns:p14="http://schemas.microsoft.com/office/powerpoint/2010/main" spd="med" p14:dur="700">
    <p:fade/>
  </p:transition>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PLANNING · OPLEIDINGEN PER CENTRUM</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Uw data, zoals voorgesteld</a:t>
            </a:r>
          </a:p>
        </p:txBody>
      </p:sp>
      <p:graphicFrame>
        <p:nvGraphicFramePr>
          <p:cNvPr id="4" name="Table 3"/>
          <p:cNvGraphicFramePr>
            <a:graphicFrameLocks noGrp="1"/>
          </p:cNvGraphicFramePr>
          <p:nvPr/>
        </p:nvGraphicFramePr>
        <p:xfrm>
          <a:off x="812800" y="1868091"/>
          <a:ext cx="10560051" cy="2168327"/>
        </p:xfrm>
        <a:graphic>
          <a:graphicData uri="http://schemas.openxmlformats.org/drawingml/2006/table">
            <a:tbl>
              <a:tblPr firstRow="0" bandRow="0">
                <a:tableStyleId>{2D5ABB26-0587-4C30-8999-92F81FD0307C}</a:tableStyleId>
              </a:tblPr>
              <a:tblGrid>
                <a:gridCol w="2323207"/>
                <a:gridCol w="1689596"/>
                <a:gridCol w="2534345"/>
                <a:gridCol w="2006402"/>
                <a:gridCol w="2006501"/>
              </a:tblGrid>
              <a:tr h="309761">
                <a:tc>
                  <a:txBody>
                    <a:bodyPr wrap="square"/>
                    <a:lstStyle/>
                    <a:p>
                      <a:pPr algn="l"/>
                      <a:r>
                        <a:rPr sz="1200" b="1" i="0">
                          <a:solidFill>
                            <a:srgbClr val="C5D8E8"/>
                          </a:solidFill>
                          <a:latin typeface="DM Sans"/>
                        </a:rPr>
                        <a:t>Centrum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Technologie</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SEBIA 1 en 2</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Droogloop</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Inhaalslot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r>
              <a:tr h="309761">
                <a:tc>
                  <a:txBody>
                    <a:bodyPr wrap="square"/>
                    <a:lstStyle/>
                    <a:p>
                      <a:pPr algn="l"/>
                      <a:r>
                        <a:rPr sz="1200" b="0" i="0">
                          <a:solidFill>
                            <a:srgbClr val="C5D8E8"/>
                          </a:solidFill>
                          <a:latin typeface="DM Sans"/>
                        </a:rPr>
                        <a:t>AZ Groeninge Kortrijk</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6 jan, 13u–17u, met Brugge</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20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ma 25 jan,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AZ Sint-Jan Brugge</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 dec,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1e wo 6 jan · 2e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13 jan,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ma 18 jan,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UZ Gent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10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vr 15 jan, 13u–17u, in UZ Gent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21 jan, 8u–12u30</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vr 22 of do 28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AZORG Aalst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10 dec,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Oost ·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di 19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21 jan,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UZ Leuven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di 15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Oost ·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di 26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vr 22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UZ Antwerpen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9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Oost ·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27 jan,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28 jan,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bl>
          </a:graphicData>
        </a:graphic>
      </p:graphicFrame>
      <p:sp>
        <p:nvSpPr>
          <p:cNvPr id="5" name="TextBox 4"/>
          <p:cNvSpPr txBox="1"/>
          <p:nvPr/>
        </p:nvSpPr>
        <p:spPr>
          <a:xfrm>
            <a:off x="812800" y="4296767"/>
            <a:ext cx="106172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Waar het niet voor iedereen lukt, staat een optie B op uw toetsingsblad. Antwoord graag tegen vrijdag 16 oktober.</a:t>
            </a:r>
          </a:p>
        </p:txBody>
      </p:sp>
      <p:pic>
        <p:nvPicPr>
          <p:cNvPr id="6" name="Picture 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7" name="TextBox 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8" name="TextBox 7"/>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30 september 2026</a:t>
            </a:r>
          </a:p>
        </p:txBody>
      </p:sp>
    </p:spTree>
  </p:cSld>
  <p:clrMapOvr>
    <a:masterClrMapping/>
  </p:clrMapOvr>
  <p:transition xmlns:p14="http://schemas.microsoft.com/office/powerpoint/2010/main" spd="med" p14:dur="700">
    <p:fade/>
  </p:transition>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INCLUSIE</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Drie per maand, binnen een jaar</a:t>
            </a:r>
          </a:p>
        </p:txBody>
      </p:sp>
      <p:graphicFrame>
        <p:nvGraphicFramePr>
          <p:cNvPr id="4" name="Chart 3"/>
          <p:cNvGraphicFramePr>
            <a:graphicFrameLocks noGrp="1"/>
          </p:cNvGraphicFramePr>
          <p:nvPr/>
        </p:nvGraphicFramePr>
        <p:xfrm>
          <a:off x="812800" y="2095500"/>
          <a:ext cx="5461000" cy="3746500"/>
        </p:xfrm>
        <a:graphic>
          <a:graphicData uri="http://schemas.openxmlformats.org/drawingml/2006/chart">
            <c:chart xmlns:c="http://schemas.openxmlformats.org/drawingml/2006/chart" r:id="rId2"/>
          </a:graphicData>
        </a:graphic>
      </p:graphicFrame>
      <p:sp>
        <p:nvSpPr>
          <p:cNvPr id="5" name="TextBox 4"/>
          <p:cNvSpPr txBox="1"/>
          <p:nvPr/>
        </p:nvSpPr>
        <p:spPr>
          <a:xfrm>
            <a:off x="2463800" y="3543642"/>
            <a:ext cx="2286000" cy="248920"/>
          </a:xfrm>
          <a:prstGeom prst="rect">
            <a:avLst/>
          </a:prstGeom>
          <a:noFill/>
        </p:spPr>
        <p:txBody>
          <a:bodyPr wrap="none" lIns="0" rIns="0" tIns="0" bIns="0">
            <a:spAutoFit/>
          </a:bodyPr>
          <a:lstStyle/>
          <a:p>
            <a:pPr algn="l"/>
            <a:r>
              <a:rPr sz="1400" b="1">
                <a:solidFill>
                  <a:srgbClr val="F2F8FC"/>
                </a:solidFill>
                <a:latin typeface="Segoe UI"/>
              </a:rPr>
              <a:t>2 per maand → 53%</a:t>
            </a:r>
          </a:p>
        </p:txBody>
      </p:sp>
      <p:sp>
        <p:nvSpPr>
          <p:cNvPr id="6" name="TextBox 5"/>
          <p:cNvSpPr txBox="1"/>
          <p:nvPr/>
        </p:nvSpPr>
        <p:spPr>
          <a:xfrm>
            <a:off x="4343400" y="2490362"/>
            <a:ext cx="2286000" cy="248920"/>
          </a:xfrm>
          <a:prstGeom prst="rect">
            <a:avLst/>
          </a:prstGeom>
          <a:noFill/>
        </p:spPr>
        <p:txBody>
          <a:bodyPr wrap="none" lIns="0" rIns="0" tIns="0" bIns="0">
            <a:spAutoFit/>
          </a:bodyPr>
          <a:lstStyle/>
          <a:p>
            <a:pPr algn="l"/>
            <a:r>
              <a:rPr sz="1400" b="1">
                <a:solidFill>
                  <a:srgbClr val="F2F8FC"/>
                </a:solidFill>
                <a:latin typeface="Segoe UI"/>
              </a:rPr>
              <a:t>3 per maand → 99%</a:t>
            </a:r>
          </a:p>
        </p:txBody>
      </p:sp>
      <p:sp>
        <p:nvSpPr>
          <p:cNvPr id="7" name="TextBox 6"/>
          <p:cNvSpPr txBox="1"/>
          <p:nvPr/>
        </p:nvSpPr>
        <p:spPr>
          <a:xfrm>
            <a:off x="1384300" y="2108200"/>
            <a:ext cx="4826000" cy="213360"/>
          </a:xfrm>
          <a:prstGeom prst="rect">
            <a:avLst/>
          </a:prstGeom>
          <a:noFill/>
        </p:spPr>
        <p:txBody>
          <a:bodyPr wrap="none" lIns="0" rIns="0" tIns="0" bIns="0">
            <a:spAutoFit/>
          </a:bodyPr>
          <a:lstStyle/>
          <a:p>
            <a:pPr algn="l"/>
            <a:r>
              <a:rPr sz="1200" b="0">
                <a:solidFill>
                  <a:srgbClr val="8FB0CA"/>
                </a:solidFill>
                <a:latin typeface="Segoe UI"/>
              </a:rPr>
              <a:t>kans dat een centrum 24 haalt binnen 12 maanden</a:t>
            </a:r>
          </a:p>
        </p:txBody>
      </p:sp>
      <p:sp>
        <p:nvSpPr>
          <p:cNvPr id="8" name="TextBox 7"/>
          <p:cNvSpPr txBox="1"/>
          <p:nvPr/>
        </p:nvSpPr>
        <p:spPr>
          <a:xfrm>
            <a:off x="1384300" y="5461000"/>
            <a:ext cx="4699000" cy="213360"/>
          </a:xfrm>
          <a:prstGeom prst="rect">
            <a:avLst/>
          </a:prstGeom>
          <a:noFill/>
        </p:spPr>
        <p:txBody>
          <a:bodyPr wrap="none" lIns="0" rIns="0" tIns="0" bIns="0">
            <a:spAutoFit/>
          </a:bodyPr>
          <a:lstStyle/>
          <a:p>
            <a:pPr algn="ctr"/>
            <a:r>
              <a:rPr sz="1200" b="0">
                <a:solidFill>
                  <a:srgbClr val="8FB0CA"/>
                </a:solidFill>
                <a:latin typeface="Segoe UI"/>
              </a:rPr>
              <a:t>gemiddeld aantal inclusies per maand, per centrum</a:t>
            </a:r>
          </a:p>
        </p:txBody>
      </p:sp>
      <p:sp>
        <p:nvSpPr>
          <p:cNvPr id="9" name="TextBox 8"/>
          <p:cNvSpPr txBox="1"/>
          <p:nvPr/>
        </p:nvSpPr>
        <p:spPr>
          <a:xfrm>
            <a:off x="6731000" y="2095500"/>
            <a:ext cx="1257300" cy="457200"/>
          </a:xfrm>
          <a:prstGeom prst="rect">
            <a:avLst/>
          </a:prstGeom>
          <a:noFill/>
        </p:spPr>
        <p:txBody>
          <a:bodyPr wrap="none" lIns="0" rIns="0" tIns="0" bIns="0" anchor="t">
            <a:noAutofit/>
          </a:bodyPr>
          <a:lstStyle/>
          <a:p>
            <a:pPr algn="l">
              <a:lnSpc>
                <a:spcPts val="3600"/>
              </a:lnSpc>
            </a:pPr>
            <a:r>
              <a:rPr sz="3600" b="0" i="0">
                <a:solidFill>
                  <a:srgbClr val="52BDEC"/>
                </a:solidFill>
                <a:latin typeface="DM Serif Display"/>
              </a:rPr>
              <a:t>99%</a:t>
            </a:r>
          </a:p>
        </p:txBody>
      </p:sp>
      <p:sp>
        <p:nvSpPr>
          <p:cNvPr id="10" name="TextBox 9"/>
          <p:cNvSpPr txBox="1"/>
          <p:nvPr/>
        </p:nvSpPr>
        <p:spPr>
          <a:xfrm>
            <a:off x="8115300" y="2305050"/>
            <a:ext cx="3329178"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kans dat een centrum zijn 24 haalt binnen het jaar</a:t>
            </a:r>
          </a:p>
        </p:txBody>
      </p:sp>
      <p:sp>
        <p:nvSpPr>
          <p:cNvPr id="11" name="Rectangle 10"/>
          <p:cNvSpPr/>
          <p:nvPr/>
        </p:nvSpPr>
        <p:spPr>
          <a:xfrm>
            <a:off x="6731000" y="2924770"/>
            <a:ext cx="46482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31000" y="3070820"/>
            <a:ext cx="1257300" cy="457200"/>
          </a:xfrm>
          <a:prstGeom prst="rect">
            <a:avLst/>
          </a:prstGeom>
          <a:noFill/>
        </p:spPr>
        <p:txBody>
          <a:bodyPr wrap="none" lIns="0" rIns="0" tIns="0" bIns="0" anchor="t">
            <a:noAutofit/>
          </a:bodyPr>
          <a:lstStyle/>
          <a:p>
            <a:pPr algn="l">
              <a:lnSpc>
                <a:spcPts val="3600"/>
              </a:lnSpc>
            </a:pPr>
            <a:r>
              <a:rPr sz="3600" b="0" i="0">
                <a:solidFill>
                  <a:srgbClr val="52BDEC"/>
                </a:solidFill>
                <a:latin typeface="DM Serif Display"/>
              </a:rPr>
              <a:t>92%</a:t>
            </a:r>
          </a:p>
        </p:txBody>
      </p:sp>
      <p:sp>
        <p:nvSpPr>
          <p:cNvPr id="13" name="TextBox 12"/>
          <p:cNvSpPr txBox="1"/>
          <p:nvPr/>
        </p:nvSpPr>
        <p:spPr>
          <a:xfrm>
            <a:off x="8115300" y="3280370"/>
            <a:ext cx="3329178"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kans dat alle zes het halen binnen het jaar</a:t>
            </a:r>
          </a:p>
        </p:txBody>
      </p:sp>
      <p:sp>
        <p:nvSpPr>
          <p:cNvPr id="14" name="Rectangle 13"/>
          <p:cNvSpPr/>
          <p:nvPr/>
        </p:nvSpPr>
        <p:spPr>
          <a:xfrm>
            <a:off x="6731000" y="3900091"/>
            <a:ext cx="46482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31000" y="4046141"/>
            <a:ext cx="1257300" cy="457200"/>
          </a:xfrm>
          <a:prstGeom prst="rect">
            <a:avLst/>
          </a:prstGeom>
          <a:noFill/>
        </p:spPr>
        <p:txBody>
          <a:bodyPr wrap="none" lIns="0" rIns="0" tIns="0" bIns="0" anchor="t">
            <a:noAutofit/>
          </a:bodyPr>
          <a:lstStyle/>
          <a:p>
            <a:pPr algn="l">
              <a:lnSpc>
                <a:spcPts val="3600"/>
              </a:lnSpc>
            </a:pPr>
            <a:r>
              <a:rPr sz="3600" b="0" i="0">
                <a:solidFill>
                  <a:srgbClr val="F2F8FC"/>
                </a:solidFill>
                <a:latin typeface="DM Serif Display"/>
              </a:rPr>
              <a:t>7,9</a:t>
            </a:r>
          </a:p>
        </p:txBody>
      </p:sp>
      <p:sp>
        <p:nvSpPr>
          <p:cNvPr id="16" name="TextBox 15"/>
          <p:cNvSpPr txBox="1"/>
          <p:nvPr/>
        </p:nvSpPr>
        <p:spPr>
          <a:xfrm>
            <a:off x="8115300" y="4255691"/>
            <a:ext cx="3329178"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maanden tot 24 inclusies, mediaan per centrum</a:t>
            </a:r>
          </a:p>
        </p:txBody>
      </p:sp>
      <p:sp>
        <p:nvSpPr>
          <p:cNvPr id="17" name="TextBox 16"/>
          <p:cNvSpPr txBox="1"/>
          <p:nvPr/>
        </p:nvSpPr>
        <p:spPr>
          <a:xfrm>
            <a:off x="6731000" y="5372100"/>
            <a:ext cx="46990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Laatste visite eind augustus 2029</a:t>
            </a:r>
          </a:p>
        </p:txBody>
      </p:sp>
      <p:pic>
        <p:nvPicPr>
          <p:cNvPr id="18" name="Picture 17"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9" name="TextBox 18"/>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20" name="TextBox 19"/>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Poisson-instroom, exact en in 200.000 runs · protocol</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 fill="hold">
                            <p:stCondLst>
                              <p:cond delay="0"/>
                            </p:stCondLst>
                            <p:childTnLst>
                              <p:par>
                                <p:cTn id="4" presetID="22" presetClass="entr" presetSubtype="8"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wipe(right)">
                                      <p:cBhvr>
                                        <p:cTn id="6" dur="1400"/>
                                        <p:tgtEl>
                                          <p:spTgt spid="4"/>
                                        </p:tgtEl>
                                      </p:cBhvr>
                                    </p:animEffect>
                                  </p:childTnLst>
                                </p:cTn>
                              </p:par>
                            </p:childTnLst>
                          </p:cTn>
                        </p:par>
                        <p:par>
                          <p:cTn id="14" fill="hold">
                            <p:stCondLst>
                              <p:cond delay="0"/>
                            </p:stCondLst>
                            <p:childTnLst>
                              <p:par>
                                <p:cTn id="7" presetID="10" presetClass="entr" presetSubtype="0" fill="hold" grpId="0" nodeType="afterEffect">
                                  <p:stCondLst>
                                    <p:cond delay="20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5" fill="hold">
                            <p:stCondLst>
                              <p:cond delay="0"/>
                            </p:stCondLst>
                            <p:childTnLst>
                              <p:par>
                                <p:cTn id="10" presetID="10" presetClass="entr" presetSubtype="0" fill="hold" grpId="0" nodeType="afterEffect">
                                  <p:stCondLst>
                                    <p:cond delay="20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6"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EN AAN TWEE PER MAAND?</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Dan valt de laatste visite na september 2029</a:t>
            </a:r>
          </a:p>
        </p:txBody>
      </p:sp>
      <p:graphicFrame>
        <p:nvGraphicFramePr>
          <p:cNvPr id="4" name="Chart 3"/>
          <p:cNvGraphicFramePr>
            <a:graphicFrameLocks noGrp="1"/>
          </p:cNvGraphicFramePr>
          <p:nvPr/>
        </p:nvGraphicFramePr>
        <p:xfrm>
          <a:off x="812800" y="2095500"/>
          <a:ext cx="5715000" cy="3746500"/>
        </p:xfrm>
        <a:graphic>
          <a:graphicData uri="http://schemas.openxmlformats.org/drawingml/2006/chart">
            <c:chart xmlns:c="http://schemas.openxmlformats.org/drawingml/2006/chart" r:id="rId2"/>
          </a:graphicData>
        </a:graphic>
      </p:graphicFrame>
      <p:sp>
        <p:nvSpPr>
          <p:cNvPr id="5" name="TextBox 4"/>
          <p:cNvSpPr txBox="1"/>
          <p:nvPr/>
        </p:nvSpPr>
        <p:spPr>
          <a:xfrm>
            <a:off x="4729480" y="4692650"/>
            <a:ext cx="1905000" cy="213360"/>
          </a:xfrm>
          <a:prstGeom prst="rect">
            <a:avLst/>
          </a:prstGeom>
          <a:noFill/>
        </p:spPr>
        <p:txBody>
          <a:bodyPr wrap="none" lIns="0" rIns="0" tIns="0" bIns="0">
            <a:spAutoFit/>
          </a:bodyPr>
          <a:lstStyle/>
          <a:p>
            <a:pPr algn="l"/>
            <a:r>
              <a:rPr sz="1200" b="0">
                <a:solidFill>
                  <a:srgbClr val="F2F8FC"/>
                </a:solidFill>
                <a:latin typeface="Segoe UI"/>
              </a:rPr>
              <a:t>13: uiterste grens</a:t>
            </a:r>
          </a:p>
        </p:txBody>
      </p:sp>
      <p:sp>
        <p:nvSpPr>
          <p:cNvPr id="6" name="TextBox 5"/>
          <p:cNvSpPr txBox="1"/>
          <p:nvPr/>
        </p:nvSpPr>
        <p:spPr>
          <a:xfrm>
            <a:off x="4157980" y="2106757"/>
            <a:ext cx="1016000" cy="231140"/>
          </a:xfrm>
          <a:prstGeom prst="rect">
            <a:avLst/>
          </a:prstGeom>
          <a:noFill/>
        </p:spPr>
        <p:txBody>
          <a:bodyPr wrap="none" lIns="0" rIns="0" tIns="0" bIns="0">
            <a:spAutoFit/>
          </a:bodyPr>
          <a:lstStyle/>
          <a:p>
            <a:pPr algn="ctr"/>
            <a:r>
              <a:rPr sz="1300" b="1">
                <a:solidFill>
                  <a:srgbClr val="F2F8FC"/>
                </a:solidFill>
                <a:latin typeface="Segoe UI"/>
              </a:rPr>
              <a:t>98%</a:t>
            </a:r>
          </a:p>
        </p:txBody>
      </p:sp>
      <p:sp>
        <p:nvSpPr>
          <p:cNvPr id="7" name="TextBox 6"/>
          <p:cNvSpPr txBox="1"/>
          <p:nvPr/>
        </p:nvSpPr>
        <p:spPr>
          <a:xfrm>
            <a:off x="3548380" y="4520424"/>
            <a:ext cx="1016000" cy="231140"/>
          </a:xfrm>
          <a:prstGeom prst="rect">
            <a:avLst/>
          </a:prstGeom>
          <a:noFill/>
        </p:spPr>
        <p:txBody>
          <a:bodyPr wrap="none" lIns="0" rIns="0" tIns="0" bIns="0">
            <a:spAutoFit/>
          </a:bodyPr>
          <a:lstStyle/>
          <a:p>
            <a:pPr algn="r"/>
            <a:r>
              <a:rPr sz="1300" b="1">
                <a:solidFill>
                  <a:srgbClr val="F2F8FC"/>
                </a:solidFill>
                <a:latin typeface="Segoe UI"/>
              </a:rPr>
              <a:t>12%</a:t>
            </a:r>
          </a:p>
        </p:txBody>
      </p:sp>
      <p:sp>
        <p:nvSpPr>
          <p:cNvPr id="8" name="TextBox 7"/>
          <p:cNvSpPr txBox="1"/>
          <p:nvPr/>
        </p:nvSpPr>
        <p:spPr>
          <a:xfrm>
            <a:off x="1320800" y="5232400"/>
            <a:ext cx="5080000" cy="213360"/>
          </a:xfrm>
          <a:prstGeom prst="rect">
            <a:avLst/>
          </a:prstGeom>
          <a:noFill/>
        </p:spPr>
        <p:txBody>
          <a:bodyPr wrap="none" lIns="0" rIns="0" tIns="0" bIns="0">
            <a:spAutoFit/>
          </a:bodyPr>
          <a:lstStyle/>
          <a:p>
            <a:pPr algn="ctr"/>
            <a:r>
              <a:rPr sz="1200" b="0">
                <a:solidFill>
                  <a:srgbClr val="8FB0CA"/>
                </a:solidFill>
                <a:latin typeface="Segoe UI"/>
              </a:rPr>
              <a:t>maanden na de start van de inclusie</a:t>
            </a:r>
          </a:p>
        </p:txBody>
      </p:sp>
      <p:sp>
        <p:nvSpPr>
          <p:cNvPr id="9" name="Rectangle 8"/>
          <p:cNvSpPr/>
          <p:nvPr/>
        </p:nvSpPr>
        <p:spPr>
          <a:xfrm>
            <a:off x="1320800" y="5613400"/>
            <a:ext cx="139700" cy="139700"/>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24000" y="5588000"/>
            <a:ext cx="984250" cy="213360"/>
          </a:xfrm>
          <a:prstGeom prst="rect">
            <a:avLst/>
          </a:prstGeom>
          <a:noFill/>
        </p:spPr>
        <p:txBody>
          <a:bodyPr wrap="none" lIns="0" rIns="0" tIns="0" bIns="0">
            <a:spAutoFit/>
          </a:bodyPr>
          <a:lstStyle/>
          <a:p>
            <a:pPr algn="l"/>
            <a:r>
              <a:rPr sz="1200" b="0">
                <a:solidFill>
                  <a:srgbClr val="C5D8E8"/>
                </a:solidFill>
                <a:latin typeface="Segoe UI"/>
              </a:rPr>
              <a:t>3 per maand</a:t>
            </a:r>
          </a:p>
        </p:txBody>
      </p:sp>
      <p:sp>
        <p:nvSpPr>
          <p:cNvPr id="11" name="Rectangle 10"/>
          <p:cNvSpPr/>
          <p:nvPr/>
        </p:nvSpPr>
        <p:spPr>
          <a:xfrm>
            <a:off x="2635250" y="5613400"/>
            <a:ext cx="139700" cy="139700"/>
          </a:xfrm>
          <a:prstGeom prst="rect">
            <a:avLst/>
          </a:prstGeom>
          <a:solidFill>
            <a:srgbClr val="FF9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38450" y="5588000"/>
            <a:ext cx="984250" cy="213360"/>
          </a:xfrm>
          <a:prstGeom prst="rect">
            <a:avLst/>
          </a:prstGeom>
          <a:noFill/>
        </p:spPr>
        <p:txBody>
          <a:bodyPr wrap="none" lIns="0" rIns="0" tIns="0" bIns="0">
            <a:spAutoFit/>
          </a:bodyPr>
          <a:lstStyle/>
          <a:p>
            <a:pPr algn="l"/>
            <a:r>
              <a:rPr sz="1200" b="0">
                <a:solidFill>
                  <a:srgbClr val="C5D8E8"/>
                </a:solidFill>
                <a:latin typeface="Segoe UI"/>
              </a:rPr>
              <a:t>2 per maand</a:t>
            </a:r>
          </a:p>
        </p:txBody>
      </p:sp>
      <p:cxnSp>
        <p:nvCxnSpPr>
          <p:cNvPr id="13" name="Connector 12"/>
          <p:cNvCxnSpPr/>
          <p:nvPr/>
        </p:nvCxnSpPr>
        <p:spPr>
          <a:xfrm>
            <a:off x="3949700" y="5683250"/>
            <a:ext cx="254000" cy="0"/>
          </a:xfrm>
          <a:prstGeom prst="line">
            <a:avLst/>
          </a:prstGeom>
          <a:ln w="19050">
            <a:solidFill>
              <a:srgbClr val="C5D8E8"/>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67200" y="5588000"/>
            <a:ext cx="990600" cy="213360"/>
          </a:xfrm>
          <a:prstGeom prst="rect">
            <a:avLst/>
          </a:prstGeom>
          <a:noFill/>
        </p:spPr>
        <p:txBody>
          <a:bodyPr wrap="none" lIns="0" rIns="0" tIns="0" bIns="0">
            <a:spAutoFit/>
          </a:bodyPr>
          <a:lstStyle/>
          <a:p>
            <a:pPr algn="l"/>
            <a:r>
              <a:rPr sz="1200" b="0">
                <a:solidFill>
                  <a:srgbClr val="C5D8E8"/>
                </a:solidFill>
                <a:latin typeface="Segoe UI"/>
              </a:rPr>
              <a:t>één centrum</a:t>
            </a:r>
          </a:p>
        </p:txBody>
      </p:sp>
      <p:cxnSp>
        <p:nvCxnSpPr>
          <p:cNvPr id="15" name="Connector 14"/>
          <p:cNvCxnSpPr/>
          <p:nvPr/>
        </p:nvCxnSpPr>
        <p:spPr>
          <a:xfrm>
            <a:off x="5384800" y="5683250"/>
            <a:ext cx="254000" cy="0"/>
          </a:xfrm>
          <a:prstGeom prst="line">
            <a:avLst/>
          </a:prstGeom>
          <a:ln w="19050">
            <a:solidFill>
              <a:srgbClr val="C5D8E8"/>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702300" y="5588000"/>
            <a:ext cx="622300" cy="213360"/>
          </a:xfrm>
          <a:prstGeom prst="rect">
            <a:avLst/>
          </a:prstGeom>
          <a:noFill/>
        </p:spPr>
        <p:txBody>
          <a:bodyPr wrap="none" lIns="0" rIns="0" tIns="0" bIns="0">
            <a:spAutoFit/>
          </a:bodyPr>
          <a:lstStyle/>
          <a:p>
            <a:pPr algn="l"/>
            <a:r>
              <a:rPr sz="1200" b="0">
                <a:solidFill>
                  <a:srgbClr val="C5D8E8"/>
                </a:solidFill>
                <a:latin typeface="Segoe UI"/>
              </a:rPr>
              <a:t>alle zes</a:t>
            </a:r>
          </a:p>
        </p:txBody>
      </p:sp>
      <p:sp>
        <p:nvSpPr>
          <p:cNvPr id="17" name="TextBox 16"/>
          <p:cNvSpPr txBox="1"/>
          <p:nvPr/>
        </p:nvSpPr>
        <p:spPr>
          <a:xfrm>
            <a:off x="6934200" y="2095500"/>
            <a:ext cx="4495800" cy="198120"/>
          </a:xfrm>
          <a:prstGeom prst="rect">
            <a:avLst/>
          </a:prstGeom>
          <a:noFill/>
        </p:spPr>
        <p:txBody>
          <a:bodyPr wrap="none" lIns="0" rIns="0" tIns="0" bIns="0" anchor="t">
            <a:noAutofit/>
          </a:bodyPr>
          <a:lstStyle/>
          <a:p>
            <a:pPr algn="l"/>
            <a:r>
              <a:rPr sz="1200" b="0" i="0" spc="150">
                <a:solidFill>
                  <a:srgbClr val="FF9A3D"/>
                </a:solidFill>
                <a:latin typeface="JetBrains Mono"/>
              </a:rPr>
              <a:t>TWEE PER MAAND</a:t>
            </a:r>
          </a:p>
        </p:txBody>
      </p:sp>
      <p:sp>
        <p:nvSpPr>
          <p:cNvPr id="18" name="Rectangle 17"/>
          <p:cNvSpPr/>
          <p:nvPr/>
        </p:nvSpPr>
        <p:spPr>
          <a:xfrm>
            <a:off x="6934200" y="2368550"/>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34200" y="2476500"/>
            <a:ext cx="1320800" cy="355600"/>
          </a:xfrm>
          <a:prstGeom prst="rect">
            <a:avLst/>
          </a:prstGeom>
          <a:noFill/>
        </p:spPr>
        <p:txBody>
          <a:bodyPr wrap="none" lIns="0" rIns="0" tIns="0" bIns="0" anchor="t">
            <a:noAutofit/>
          </a:bodyPr>
          <a:lstStyle/>
          <a:p>
            <a:pPr algn="l">
              <a:lnSpc>
                <a:spcPts val="2800"/>
              </a:lnSpc>
            </a:pPr>
            <a:r>
              <a:rPr sz="2800" b="0" i="0">
                <a:solidFill>
                  <a:srgbClr val="F2F8FC"/>
                </a:solidFill>
                <a:latin typeface="DM Serif Display"/>
              </a:rPr>
              <a:t>12 ± 2,5</a:t>
            </a:r>
          </a:p>
        </p:txBody>
      </p:sp>
      <p:sp>
        <p:nvSpPr>
          <p:cNvPr id="20" name="TextBox 19"/>
          <p:cNvSpPr txBox="1"/>
          <p:nvPr/>
        </p:nvSpPr>
        <p:spPr>
          <a:xfrm>
            <a:off x="8356600" y="2609850"/>
            <a:ext cx="3073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maanden per centrum</a:t>
            </a:r>
          </a:p>
        </p:txBody>
      </p:sp>
      <p:sp>
        <p:nvSpPr>
          <p:cNvPr id="21" name="Rectangle 20"/>
          <p:cNvSpPr/>
          <p:nvPr/>
        </p:nvSpPr>
        <p:spPr>
          <a:xfrm>
            <a:off x="6934200" y="2934295"/>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34200" y="3042245"/>
            <a:ext cx="1320800" cy="355600"/>
          </a:xfrm>
          <a:prstGeom prst="rect">
            <a:avLst/>
          </a:prstGeom>
          <a:noFill/>
        </p:spPr>
        <p:txBody>
          <a:bodyPr wrap="none" lIns="0" rIns="0" tIns="0" bIns="0" anchor="t">
            <a:noAutofit/>
          </a:bodyPr>
          <a:lstStyle/>
          <a:p>
            <a:pPr algn="l">
              <a:lnSpc>
                <a:spcPts val="2800"/>
              </a:lnSpc>
            </a:pPr>
            <a:r>
              <a:rPr sz="2800" b="0" i="0">
                <a:solidFill>
                  <a:srgbClr val="F2F8FC"/>
                </a:solidFill>
                <a:latin typeface="DM Serif Display"/>
              </a:rPr>
              <a:t>3 van 6</a:t>
            </a:r>
          </a:p>
        </p:txBody>
      </p:sp>
      <p:sp>
        <p:nvSpPr>
          <p:cNvPr id="23" name="TextBox 22"/>
          <p:cNvSpPr txBox="1"/>
          <p:nvPr/>
        </p:nvSpPr>
        <p:spPr>
          <a:xfrm>
            <a:off x="8356600" y="3175595"/>
            <a:ext cx="3073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centra klaar na een jaar</a:t>
            </a:r>
          </a:p>
        </p:txBody>
      </p:sp>
      <p:sp>
        <p:nvSpPr>
          <p:cNvPr id="24" name="Rectangle 23"/>
          <p:cNvSpPr/>
          <p:nvPr/>
        </p:nvSpPr>
        <p:spPr>
          <a:xfrm>
            <a:off x="6934200" y="3500041"/>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34200" y="3607991"/>
            <a:ext cx="1320800" cy="355600"/>
          </a:xfrm>
          <a:prstGeom prst="rect">
            <a:avLst/>
          </a:prstGeom>
          <a:noFill/>
        </p:spPr>
        <p:txBody>
          <a:bodyPr wrap="none" lIns="0" rIns="0" tIns="0" bIns="0" anchor="t">
            <a:noAutofit/>
          </a:bodyPr>
          <a:lstStyle/>
          <a:p>
            <a:pPr algn="l">
              <a:lnSpc>
                <a:spcPts val="2800"/>
              </a:lnSpc>
            </a:pPr>
            <a:r>
              <a:rPr sz="2800" b="0" i="0">
                <a:solidFill>
                  <a:srgbClr val="FF9A3D"/>
                </a:solidFill>
                <a:latin typeface="DM Serif Display"/>
              </a:rPr>
              <a:t>12%</a:t>
            </a:r>
          </a:p>
        </p:txBody>
      </p:sp>
      <p:sp>
        <p:nvSpPr>
          <p:cNvPr id="26" name="TextBox 25"/>
          <p:cNvSpPr txBox="1"/>
          <p:nvPr/>
        </p:nvSpPr>
        <p:spPr>
          <a:xfrm>
            <a:off x="8356600" y="3741341"/>
            <a:ext cx="3083052" cy="445691"/>
          </a:xfrm>
          <a:prstGeom prst="rect">
            <a:avLst/>
          </a:prstGeom>
          <a:noFill/>
        </p:spPr>
        <p:txBody>
          <a:bodyPr wrap="square" lIns="0" rIns="0" tIns="0" bIns="0" anchor="t">
            <a:noAutofit/>
          </a:bodyPr>
          <a:lstStyle/>
          <a:p>
            <a:pPr algn="l">
              <a:lnSpc>
                <a:spcPts val="1755"/>
              </a:lnSpc>
            </a:pPr>
            <a:r>
              <a:rPr sz="1300" b="0" i="0">
                <a:solidFill>
                  <a:srgbClr val="C5D8E8"/>
                </a:solidFill>
                <a:latin typeface="DM Sans"/>
              </a:rPr>
              <a:t>kans dat alle zes klaar zijn vóór eind maart 2028</a:t>
            </a:r>
          </a:p>
        </p:txBody>
      </p:sp>
      <p:sp>
        <p:nvSpPr>
          <p:cNvPr id="27" name="Rectangle 26"/>
          <p:cNvSpPr/>
          <p:nvPr/>
        </p:nvSpPr>
        <p:spPr>
          <a:xfrm>
            <a:off x="6934200" y="4288631"/>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34200" y="4396581"/>
            <a:ext cx="1320800" cy="355600"/>
          </a:xfrm>
          <a:prstGeom prst="rect">
            <a:avLst/>
          </a:prstGeom>
          <a:noFill/>
        </p:spPr>
        <p:txBody>
          <a:bodyPr wrap="none" lIns="0" rIns="0" tIns="0" bIns="0" anchor="t">
            <a:noAutofit/>
          </a:bodyPr>
          <a:lstStyle/>
          <a:p>
            <a:pPr algn="l">
              <a:lnSpc>
                <a:spcPts val="2800"/>
              </a:lnSpc>
            </a:pPr>
            <a:r>
              <a:rPr sz="2800" b="0" i="0">
                <a:solidFill>
                  <a:srgbClr val="FF9A3D"/>
                </a:solidFill>
                <a:latin typeface="DM Serif Display"/>
              </a:rPr>
              <a:t>8%</a:t>
            </a:r>
          </a:p>
        </p:txBody>
      </p:sp>
      <p:sp>
        <p:nvSpPr>
          <p:cNvPr id="29" name="TextBox 28"/>
          <p:cNvSpPr txBox="1"/>
          <p:nvPr/>
        </p:nvSpPr>
        <p:spPr>
          <a:xfrm>
            <a:off x="8356600" y="4529931"/>
            <a:ext cx="3083052" cy="445691"/>
          </a:xfrm>
          <a:prstGeom prst="rect">
            <a:avLst/>
          </a:prstGeom>
          <a:noFill/>
        </p:spPr>
        <p:txBody>
          <a:bodyPr wrap="square" lIns="0" rIns="0" tIns="0" bIns="0" anchor="t">
            <a:noAutofit/>
          </a:bodyPr>
          <a:lstStyle/>
          <a:p>
            <a:pPr algn="l">
              <a:lnSpc>
                <a:spcPts val="1755"/>
              </a:lnSpc>
            </a:pPr>
            <a:r>
              <a:rPr sz="1300" b="0" i="0">
                <a:solidFill>
                  <a:srgbClr val="C5D8E8"/>
                </a:solidFill>
                <a:latin typeface="DM Sans"/>
              </a:rPr>
              <a:t>kans dat na 18 maanden nog een centrum niet rond is</a:t>
            </a:r>
          </a:p>
        </p:txBody>
      </p:sp>
      <p:sp>
        <p:nvSpPr>
          <p:cNvPr id="30" name="TextBox 29"/>
          <p:cNvSpPr txBox="1"/>
          <p:nvPr/>
        </p:nvSpPr>
        <p:spPr>
          <a:xfrm>
            <a:off x="6934200" y="5372100"/>
            <a:ext cx="44958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Laatste visite eind november 2029</a:t>
            </a:r>
          </a:p>
        </p:txBody>
      </p:sp>
      <p:pic>
        <p:nvPicPr>
          <p:cNvPr id="31" name="Picture 30"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2" name="TextBox 31"/>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33" name="TextBox 32"/>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Poisson-instroom, start 24 feb 2027</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6" fill="hold">
                            <p:stCondLst>
                              <p:cond delay="0"/>
                            </p:stCondLst>
                            <p:childTnLst>
                              <p:par>
                                <p:cTn id="4" presetID="22" presetClass="entr" presetSubtype="8"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wipe(right)">
                                      <p:cBhvr>
                                        <p:cTn id="6" dur="1400"/>
                                        <p:tgtEl>
                                          <p:spTgt spid="4"/>
                                        </p:tgtEl>
                                      </p:cBhvr>
                                    </p:animEffect>
                                  </p:childTnLst>
                                </p:cTn>
                              </p:par>
                            </p:childTnLst>
                          </p:cTn>
                        </p:par>
                        <p:par>
                          <p:cTn id="17" fill="hold">
                            <p:stCondLst>
                              <p:cond delay="0"/>
                            </p:stCondLst>
                            <p:childTnLst>
                              <p:par>
                                <p:cTn id="7" presetID="10" presetClass="entr" presetSubtype="0" fill="hold" grpId="0" nodeType="afterEffect">
                                  <p:stCondLst>
                                    <p:cond delay="20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8" fill="hold">
                            <p:stCondLst>
                              <p:cond delay="0"/>
                            </p:stCondLst>
                            <p:childTnLst>
                              <p:par>
                                <p:cTn id="10" presetID="10" presetClass="entr" presetSubtype="0" fill="hold" grpId="0" nodeType="afterEffect">
                                  <p:stCondLst>
                                    <p:cond delay="20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par>
                          <p:cTn id="19" fill="hold">
                            <p:stCondLst>
                              <p:cond delay="0"/>
                            </p:stCondLst>
                            <p:childTnLst>
                              <p:par>
                                <p:cTn id="13" presetID="10" presetClass="entr" presetSubtype="0" fill="hold" grpId="0" nodeType="after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6" grpId="0" animBg="1"/>
      <p:bldP spid="7"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INCLUSIE · WAT DE KANS BEPAALT</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Het traagste centrum bepaalt het einde</a:t>
            </a:r>
          </a:p>
        </p:txBody>
      </p:sp>
      <p:graphicFrame>
        <p:nvGraphicFramePr>
          <p:cNvPr id="4" name="Chart 3"/>
          <p:cNvGraphicFramePr>
            <a:graphicFrameLocks noGrp="1"/>
          </p:cNvGraphicFramePr>
          <p:nvPr/>
        </p:nvGraphicFramePr>
        <p:xfrm>
          <a:off x="812800" y="2476500"/>
          <a:ext cx="5715000" cy="3365500"/>
        </p:xfrm>
        <a:graphic>
          <a:graphicData uri="http://schemas.openxmlformats.org/drawingml/2006/chart">
            <c:chart xmlns:c="http://schemas.openxmlformats.org/drawingml/2006/chart" r:id="rId2"/>
          </a:graphicData>
        </a:graphic>
      </p:graphicFrame>
      <p:sp>
        <p:nvSpPr>
          <p:cNvPr id="5" name="TextBox 4"/>
          <p:cNvSpPr txBox="1"/>
          <p:nvPr/>
        </p:nvSpPr>
        <p:spPr>
          <a:xfrm>
            <a:off x="1320800" y="2171700"/>
            <a:ext cx="5080000" cy="213360"/>
          </a:xfrm>
          <a:prstGeom prst="rect">
            <a:avLst/>
          </a:prstGeom>
          <a:noFill/>
        </p:spPr>
        <p:txBody>
          <a:bodyPr wrap="none" lIns="0" rIns="0" tIns="0" bIns="0">
            <a:spAutoFit/>
          </a:bodyPr>
          <a:lstStyle/>
          <a:p>
            <a:pPr algn="l"/>
            <a:r>
              <a:rPr sz="1200" b="0">
                <a:solidFill>
                  <a:srgbClr val="8FB0CA"/>
                </a:solidFill>
                <a:latin typeface="Segoe UI"/>
              </a:rPr>
              <a:t>kans dat alle 144 er zijn vóór eind maart 2028</a:t>
            </a:r>
          </a:p>
        </p:txBody>
      </p:sp>
      <p:sp>
        <p:nvSpPr>
          <p:cNvPr id="6" name="TextBox 5"/>
          <p:cNvSpPr txBox="1"/>
          <p:nvPr/>
        </p:nvSpPr>
        <p:spPr>
          <a:xfrm>
            <a:off x="6934200" y="2095500"/>
            <a:ext cx="4495800" cy="198120"/>
          </a:xfrm>
          <a:prstGeom prst="rect">
            <a:avLst/>
          </a:prstGeom>
          <a:noFill/>
        </p:spPr>
        <p:txBody>
          <a:bodyPr wrap="none" lIns="0" rIns="0" tIns="0" bIns="0" anchor="t">
            <a:noAutofit/>
          </a:bodyPr>
          <a:lstStyle/>
          <a:p>
            <a:pPr algn="l"/>
            <a:r>
              <a:rPr sz="1200" b="0" i="0" spc="150">
                <a:solidFill>
                  <a:srgbClr val="8FB0CA"/>
                </a:solidFill>
                <a:latin typeface="JetBrains Mono"/>
              </a:rPr>
              <a:t>ALLE CENTRA EVEN SNEL</a:t>
            </a:r>
          </a:p>
        </p:txBody>
      </p:sp>
      <p:sp>
        <p:nvSpPr>
          <p:cNvPr id="7" name="TextBox 6"/>
          <p:cNvSpPr txBox="1"/>
          <p:nvPr/>
        </p:nvSpPr>
        <p:spPr>
          <a:xfrm>
            <a:off x="6934200" y="2330450"/>
            <a:ext cx="44958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elk centrum haalt het gemiddelde</a:t>
            </a:r>
          </a:p>
        </p:txBody>
      </p:sp>
      <p:sp>
        <p:nvSpPr>
          <p:cNvPr id="8" name="Rectangle 7"/>
          <p:cNvSpPr/>
          <p:nvPr/>
        </p:nvSpPr>
        <p:spPr>
          <a:xfrm>
            <a:off x="6934200" y="2667595"/>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34200" y="2788245"/>
            <a:ext cx="4495800" cy="198120"/>
          </a:xfrm>
          <a:prstGeom prst="rect">
            <a:avLst/>
          </a:prstGeom>
          <a:noFill/>
        </p:spPr>
        <p:txBody>
          <a:bodyPr wrap="none" lIns="0" rIns="0" tIns="0" bIns="0" anchor="t">
            <a:noAutofit/>
          </a:bodyPr>
          <a:lstStyle/>
          <a:p>
            <a:pPr algn="l"/>
            <a:r>
              <a:rPr sz="1200" b="0" i="0" spc="150">
                <a:solidFill>
                  <a:srgbClr val="FF9A3D"/>
                </a:solidFill>
                <a:latin typeface="JetBrains Mono"/>
              </a:rPr>
              <a:t>CENTRA VERSCHILLEN</a:t>
            </a:r>
          </a:p>
        </p:txBody>
      </p:sp>
      <p:sp>
        <p:nvSpPr>
          <p:cNvPr id="10" name="TextBox 9"/>
          <p:cNvSpPr txBox="1"/>
          <p:nvPr/>
        </p:nvSpPr>
        <p:spPr>
          <a:xfrm>
            <a:off x="6934200" y="3023195"/>
            <a:ext cx="44958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het ene een kwart meer, het andere een kwart minder</a:t>
            </a:r>
          </a:p>
        </p:txBody>
      </p:sp>
      <p:sp>
        <p:nvSpPr>
          <p:cNvPr id="11" name="Rectangle 10"/>
          <p:cNvSpPr/>
          <p:nvPr/>
        </p:nvSpPr>
        <p:spPr>
          <a:xfrm>
            <a:off x="6934200" y="3360341"/>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34200" y="3480991"/>
            <a:ext cx="4495800" cy="198120"/>
          </a:xfrm>
          <a:prstGeom prst="rect">
            <a:avLst/>
          </a:prstGeom>
          <a:noFill/>
        </p:spPr>
        <p:txBody>
          <a:bodyPr wrap="none" lIns="0" rIns="0" tIns="0" bIns="0" anchor="t">
            <a:noAutofit/>
          </a:bodyPr>
          <a:lstStyle/>
          <a:p>
            <a:pPr algn="l"/>
            <a:r>
              <a:rPr sz="1200" b="0" i="0" spc="150">
                <a:solidFill>
                  <a:srgbClr val="52BDEC"/>
                </a:solidFill>
                <a:latin typeface="JetBrains Mono"/>
              </a:rPr>
              <a:t>MET BIJSPRINGEN</a:t>
            </a:r>
          </a:p>
        </p:txBody>
      </p:sp>
      <p:sp>
        <p:nvSpPr>
          <p:cNvPr id="13" name="TextBox 12"/>
          <p:cNvSpPr txBox="1"/>
          <p:nvPr/>
        </p:nvSpPr>
        <p:spPr>
          <a:xfrm>
            <a:off x="6934200" y="3715941"/>
            <a:ext cx="44958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wie sneller gaat, includeert door, tot 30 per centrum</a:t>
            </a:r>
          </a:p>
        </p:txBody>
      </p:sp>
      <p:sp>
        <p:nvSpPr>
          <p:cNvPr id="14" name="TextBox 13"/>
          <p:cNvSpPr txBox="1"/>
          <p:nvPr/>
        </p:nvSpPr>
        <p:spPr>
          <a:xfrm>
            <a:off x="6934200" y="5372100"/>
            <a:ext cx="44958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Drie per maand én bijspringen maken het zeker</a:t>
            </a:r>
          </a:p>
        </p:txBody>
      </p:sp>
      <p:pic>
        <p:nvPicPr>
          <p:cNvPr id="15" name="Picture 14"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6" name="TextBox 15"/>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17" name="TextBox 16"/>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Poisson-gammamodel, 20.000 runs · risicoplan FWO</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0"/>
                            </p:stCondLst>
                            <p:childTnLst>
                              <p:par>
                                <p:cTn id="4" presetID="22" presetClass="entr" presetSubtype="4"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wipe(up)">
                                      <p:cBhvr>
                                        <p:cTn id="6" dur="1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WAT HET VAN UW TEAM VRAAGT</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Evenveel uren, sneller klaar</a:t>
            </a:r>
          </a:p>
        </p:txBody>
      </p:sp>
      <p:sp>
        <p:nvSpPr>
          <p:cNvPr id="4" name="TextBox 3"/>
          <p:cNvSpPr txBox="1"/>
          <p:nvPr/>
        </p:nvSpPr>
        <p:spPr>
          <a:xfrm>
            <a:off x="1003300" y="1930400"/>
            <a:ext cx="1905000" cy="266700"/>
          </a:xfrm>
          <a:prstGeom prst="rect">
            <a:avLst/>
          </a:prstGeom>
          <a:noFill/>
        </p:spPr>
        <p:txBody>
          <a:bodyPr wrap="none" lIns="0" rIns="0" tIns="0" bIns="0">
            <a:spAutoFit/>
          </a:bodyPr>
          <a:lstStyle/>
          <a:p>
            <a:pPr algn="l"/>
            <a:r>
              <a:rPr sz="1500" b="1">
                <a:solidFill>
                  <a:srgbClr val="F2F8FC"/>
                </a:solidFill>
                <a:latin typeface="Segoe UI"/>
              </a:rPr>
              <a:t>3 per maand</a:t>
            </a:r>
          </a:p>
        </p:txBody>
      </p:sp>
      <p:sp>
        <p:nvSpPr>
          <p:cNvPr id="5" name="TextBox 4"/>
          <p:cNvSpPr txBox="1"/>
          <p:nvPr/>
        </p:nvSpPr>
        <p:spPr>
          <a:xfrm>
            <a:off x="2222500" y="1968500"/>
            <a:ext cx="2032000" cy="213360"/>
          </a:xfrm>
          <a:prstGeom prst="rect">
            <a:avLst/>
          </a:prstGeom>
          <a:noFill/>
        </p:spPr>
        <p:txBody>
          <a:bodyPr wrap="none" lIns="0" rIns="0" tIns="0" bIns="0">
            <a:spAutoFit/>
          </a:bodyPr>
          <a:lstStyle/>
          <a:p>
            <a:pPr algn="l"/>
            <a:r>
              <a:rPr sz="1200" b="0">
                <a:solidFill>
                  <a:srgbClr val="8FB0CA"/>
                </a:solidFill>
                <a:latin typeface="Segoe UI"/>
              </a:rPr>
              <a:t>12 maanden inclusie</a:t>
            </a:r>
          </a:p>
        </p:txBody>
      </p:sp>
      <p:sp>
        <p:nvSpPr>
          <p:cNvPr id="6" name="TextBox 5"/>
          <p:cNvSpPr txBox="1"/>
          <p:nvPr/>
        </p:nvSpPr>
        <p:spPr>
          <a:xfrm>
            <a:off x="1003300" y="2222500"/>
            <a:ext cx="3302000" cy="213360"/>
          </a:xfrm>
          <a:prstGeom prst="rect">
            <a:avLst/>
          </a:prstGeom>
          <a:noFill/>
        </p:spPr>
        <p:txBody>
          <a:bodyPr wrap="none" lIns="0" rIns="0" tIns="0" bIns="0">
            <a:spAutoFit/>
          </a:bodyPr>
          <a:lstStyle/>
          <a:p>
            <a:pPr algn="l"/>
            <a:r>
              <a:rPr sz="1200" b="0">
                <a:solidFill>
                  <a:srgbClr val="C5D8E8"/>
                </a:solidFill>
                <a:latin typeface="Segoe UI"/>
              </a:rPr>
              <a:t>14,0 u/maand tijdens de inclusie</a:t>
            </a:r>
          </a:p>
        </p:txBody>
      </p:sp>
      <p:sp>
        <p:nvSpPr>
          <p:cNvPr id="7" name="TextBox 6"/>
          <p:cNvSpPr txBox="1"/>
          <p:nvPr/>
        </p:nvSpPr>
        <p:spPr>
          <a:xfrm>
            <a:off x="1003300" y="2425700"/>
            <a:ext cx="3302000" cy="213360"/>
          </a:xfrm>
          <a:prstGeom prst="rect">
            <a:avLst/>
          </a:prstGeom>
          <a:noFill/>
        </p:spPr>
        <p:txBody>
          <a:bodyPr wrap="none" lIns="0" rIns="0" tIns="0" bIns="0">
            <a:spAutoFit/>
          </a:bodyPr>
          <a:lstStyle/>
          <a:p>
            <a:pPr algn="l"/>
            <a:r>
              <a:rPr sz="1200" b="0">
                <a:solidFill>
                  <a:srgbClr val="C5D8E8"/>
                </a:solidFill>
                <a:latin typeface="Segoe UI"/>
              </a:rPr>
              <a:t>laatste visite jun 2029</a:t>
            </a:r>
          </a:p>
        </p:txBody>
      </p:sp>
      <p:graphicFrame>
        <p:nvGraphicFramePr>
          <p:cNvPr id="8" name="Chart 7"/>
          <p:cNvGraphicFramePr>
            <a:graphicFrameLocks noGrp="1"/>
          </p:cNvGraphicFramePr>
          <p:nvPr/>
        </p:nvGraphicFramePr>
        <p:xfrm>
          <a:off x="812800" y="2616200"/>
          <a:ext cx="3581400" cy="2413000"/>
        </p:xfrm>
        <a:graphic>
          <a:graphicData uri="http://schemas.openxmlformats.org/drawingml/2006/chart">
            <c:chart xmlns:c="http://schemas.openxmlformats.org/drawingml/2006/chart" r:id="rId2"/>
          </a:graphicData>
        </a:graphic>
      </p:graphicFrame>
      <p:sp>
        <p:nvSpPr>
          <p:cNvPr id="9" name="TextBox 8"/>
          <p:cNvSpPr txBox="1"/>
          <p:nvPr/>
        </p:nvSpPr>
        <p:spPr>
          <a:xfrm>
            <a:off x="4724400" y="1930400"/>
            <a:ext cx="1905000" cy="266700"/>
          </a:xfrm>
          <a:prstGeom prst="rect">
            <a:avLst/>
          </a:prstGeom>
          <a:noFill/>
        </p:spPr>
        <p:txBody>
          <a:bodyPr wrap="none" lIns="0" rIns="0" tIns="0" bIns="0">
            <a:spAutoFit/>
          </a:bodyPr>
          <a:lstStyle/>
          <a:p>
            <a:pPr algn="l"/>
            <a:r>
              <a:rPr sz="1500" b="1">
                <a:solidFill>
                  <a:srgbClr val="F2F8FC"/>
                </a:solidFill>
                <a:latin typeface="Segoe UI"/>
              </a:rPr>
              <a:t>2 per maand</a:t>
            </a:r>
          </a:p>
        </p:txBody>
      </p:sp>
      <p:sp>
        <p:nvSpPr>
          <p:cNvPr id="10" name="TextBox 9"/>
          <p:cNvSpPr txBox="1"/>
          <p:nvPr/>
        </p:nvSpPr>
        <p:spPr>
          <a:xfrm>
            <a:off x="5943600" y="1968500"/>
            <a:ext cx="2032000" cy="213360"/>
          </a:xfrm>
          <a:prstGeom prst="rect">
            <a:avLst/>
          </a:prstGeom>
          <a:noFill/>
        </p:spPr>
        <p:txBody>
          <a:bodyPr wrap="none" lIns="0" rIns="0" tIns="0" bIns="0">
            <a:spAutoFit/>
          </a:bodyPr>
          <a:lstStyle/>
          <a:p>
            <a:pPr algn="l"/>
            <a:r>
              <a:rPr sz="1200" b="0">
                <a:solidFill>
                  <a:srgbClr val="8FB0CA"/>
                </a:solidFill>
                <a:latin typeface="Segoe UI"/>
              </a:rPr>
              <a:t>18 maanden inclusie</a:t>
            </a:r>
          </a:p>
        </p:txBody>
      </p:sp>
      <p:sp>
        <p:nvSpPr>
          <p:cNvPr id="11" name="TextBox 10"/>
          <p:cNvSpPr txBox="1"/>
          <p:nvPr/>
        </p:nvSpPr>
        <p:spPr>
          <a:xfrm>
            <a:off x="4724400" y="2222500"/>
            <a:ext cx="3302000" cy="213360"/>
          </a:xfrm>
          <a:prstGeom prst="rect">
            <a:avLst/>
          </a:prstGeom>
          <a:noFill/>
        </p:spPr>
        <p:txBody>
          <a:bodyPr wrap="none" lIns="0" rIns="0" tIns="0" bIns="0">
            <a:spAutoFit/>
          </a:bodyPr>
          <a:lstStyle/>
          <a:p>
            <a:pPr algn="l"/>
            <a:r>
              <a:rPr sz="1200" b="0">
                <a:solidFill>
                  <a:srgbClr val="C5D8E8"/>
                </a:solidFill>
                <a:latin typeface="Segoe UI"/>
              </a:rPr>
              <a:t>11,4 u/maand tijdens de inclusie</a:t>
            </a:r>
          </a:p>
        </p:txBody>
      </p:sp>
      <p:sp>
        <p:nvSpPr>
          <p:cNvPr id="12" name="TextBox 11"/>
          <p:cNvSpPr txBox="1"/>
          <p:nvPr/>
        </p:nvSpPr>
        <p:spPr>
          <a:xfrm>
            <a:off x="4724400" y="2425700"/>
            <a:ext cx="3302000" cy="213360"/>
          </a:xfrm>
          <a:prstGeom prst="rect">
            <a:avLst/>
          </a:prstGeom>
          <a:noFill/>
        </p:spPr>
        <p:txBody>
          <a:bodyPr wrap="none" lIns="0" rIns="0" tIns="0" bIns="0">
            <a:spAutoFit/>
          </a:bodyPr>
          <a:lstStyle/>
          <a:p>
            <a:pPr algn="l"/>
            <a:r>
              <a:rPr sz="1200" b="0">
                <a:solidFill>
                  <a:srgbClr val="C5D8E8"/>
                </a:solidFill>
                <a:latin typeface="Segoe UI"/>
              </a:rPr>
              <a:t>laatste visite nov 2029</a:t>
            </a:r>
          </a:p>
        </p:txBody>
      </p:sp>
      <p:graphicFrame>
        <p:nvGraphicFramePr>
          <p:cNvPr id="13" name="Chart 12"/>
          <p:cNvGraphicFramePr>
            <a:graphicFrameLocks noGrp="1"/>
          </p:cNvGraphicFramePr>
          <p:nvPr/>
        </p:nvGraphicFramePr>
        <p:xfrm>
          <a:off x="4533900" y="2616200"/>
          <a:ext cx="3492500" cy="2413000"/>
        </p:xfrm>
        <a:graphic>
          <a:graphicData uri="http://schemas.openxmlformats.org/drawingml/2006/chart">
            <c:chart xmlns:c="http://schemas.openxmlformats.org/drawingml/2006/chart" r:id="rId3"/>
          </a:graphicData>
        </a:graphic>
      </p:graphicFrame>
      <p:sp>
        <p:nvSpPr>
          <p:cNvPr id="14" name="TextBox 13"/>
          <p:cNvSpPr txBox="1"/>
          <p:nvPr/>
        </p:nvSpPr>
        <p:spPr>
          <a:xfrm>
            <a:off x="8356600" y="1930400"/>
            <a:ext cx="1905000" cy="266700"/>
          </a:xfrm>
          <a:prstGeom prst="rect">
            <a:avLst/>
          </a:prstGeom>
          <a:noFill/>
        </p:spPr>
        <p:txBody>
          <a:bodyPr wrap="none" lIns="0" rIns="0" tIns="0" bIns="0">
            <a:spAutoFit/>
          </a:bodyPr>
          <a:lstStyle/>
          <a:p>
            <a:pPr algn="l"/>
            <a:r>
              <a:rPr sz="1500" b="1">
                <a:solidFill>
                  <a:srgbClr val="F2F8FC"/>
                </a:solidFill>
                <a:latin typeface="Segoe UI"/>
              </a:rPr>
              <a:t>1,5 per maand</a:t>
            </a:r>
          </a:p>
        </p:txBody>
      </p:sp>
      <p:sp>
        <p:nvSpPr>
          <p:cNvPr id="15" name="TextBox 14"/>
          <p:cNvSpPr txBox="1"/>
          <p:nvPr/>
        </p:nvSpPr>
        <p:spPr>
          <a:xfrm>
            <a:off x="9734550" y="1968500"/>
            <a:ext cx="2032000" cy="213360"/>
          </a:xfrm>
          <a:prstGeom prst="rect">
            <a:avLst/>
          </a:prstGeom>
          <a:noFill/>
        </p:spPr>
        <p:txBody>
          <a:bodyPr wrap="none" lIns="0" rIns="0" tIns="0" bIns="0">
            <a:spAutoFit/>
          </a:bodyPr>
          <a:lstStyle/>
          <a:p>
            <a:pPr algn="l"/>
            <a:r>
              <a:rPr sz="1200" b="0">
                <a:solidFill>
                  <a:srgbClr val="8FB0CA"/>
                </a:solidFill>
                <a:latin typeface="Segoe UI"/>
              </a:rPr>
              <a:t>18 maanden inclusie</a:t>
            </a:r>
          </a:p>
        </p:txBody>
      </p:sp>
      <p:sp>
        <p:nvSpPr>
          <p:cNvPr id="16" name="TextBox 15"/>
          <p:cNvSpPr txBox="1"/>
          <p:nvPr/>
        </p:nvSpPr>
        <p:spPr>
          <a:xfrm>
            <a:off x="8356600" y="2222500"/>
            <a:ext cx="3302000" cy="213360"/>
          </a:xfrm>
          <a:prstGeom prst="rect">
            <a:avLst/>
          </a:prstGeom>
          <a:noFill/>
        </p:spPr>
        <p:txBody>
          <a:bodyPr wrap="none" lIns="0" rIns="0" tIns="0" bIns="0">
            <a:spAutoFit/>
          </a:bodyPr>
          <a:lstStyle/>
          <a:p>
            <a:pPr algn="l"/>
            <a:r>
              <a:rPr sz="1200" b="0">
                <a:solidFill>
                  <a:srgbClr val="C5D8E8"/>
                </a:solidFill>
                <a:latin typeface="Segoe UI"/>
              </a:rPr>
              <a:t>10,0 u/maand tijdens de inclusie</a:t>
            </a:r>
          </a:p>
        </p:txBody>
      </p:sp>
      <p:sp>
        <p:nvSpPr>
          <p:cNvPr id="17" name="TextBox 16"/>
          <p:cNvSpPr txBox="1"/>
          <p:nvPr/>
        </p:nvSpPr>
        <p:spPr>
          <a:xfrm>
            <a:off x="8356600" y="2425700"/>
            <a:ext cx="3302000" cy="213360"/>
          </a:xfrm>
          <a:prstGeom prst="rect">
            <a:avLst/>
          </a:prstGeom>
          <a:noFill/>
        </p:spPr>
        <p:txBody>
          <a:bodyPr wrap="none" lIns="0" rIns="0" tIns="0" bIns="0">
            <a:spAutoFit/>
          </a:bodyPr>
          <a:lstStyle/>
          <a:p>
            <a:pPr algn="l"/>
            <a:r>
              <a:rPr sz="1200" b="0">
                <a:solidFill>
                  <a:srgbClr val="C5D8E8"/>
                </a:solidFill>
                <a:latin typeface="Segoe UI"/>
              </a:rPr>
              <a:t>laatste visite apr 2030</a:t>
            </a:r>
          </a:p>
        </p:txBody>
      </p:sp>
      <p:graphicFrame>
        <p:nvGraphicFramePr>
          <p:cNvPr id="18" name="Chart 17"/>
          <p:cNvGraphicFramePr>
            <a:graphicFrameLocks noGrp="1"/>
          </p:cNvGraphicFramePr>
          <p:nvPr/>
        </p:nvGraphicFramePr>
        <p:xfrm>
          <a:off x="8166100" y="2616200"/>
          <a:ext cx="3492500" cy="2413000"/>
        </p:xfrm>
        <a:graphic>
          <a:graphicData uri="http://schemas.openxmlformats.org/drawingml/2006/chart">
            <c:chart xmlns:c="http://schemas.openxmlformats.org/drawingml/2006/chart" r:id="rId4"/>
          </a:graphicData>
        </a:graphic>
      </p:graphicFrame>
      <p:sp>
        <p:nvSpPr>
          <p:cNvPr id="19" name="Rectangle 18"/>
          <p:cNvSpPr/>
          <p:nvPr/>
        </p:nvSpPr>
        <p:spPr>
          <a:xfrm>
            <a:off x="1092200" y="5245100"/>
            <a:ext cx="139700" cy="139700"/>
          </a:xfrm>
          <a:prstGeom prst="rect">
            <a:avLst/>
          </a:prstGeom>
          <a:solidFill>
            <a:srgbClr val="3987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82700" y="5207000"/>
            <a:ext cx="1270000" cy="213360"/>
          </a:xfrm>
          <a:prstGeom prst="rect">
            <a:avLst/>
          </a:prstGeom>
          <a:noFill/>
        </p:spPr>
        <p:txBody>
          <a:bodyPr wrap="none" lIns="0" rIns="0" tIns="0" bIns="0">
            <a:spAutoFit/>
          </a:bodyPr>
          <a:lstStyle/>
          <a:p>
            <a:pPr algn="l"/>
            <a:r>
              <a:rPr sz="1200" b="0">
                <a:solidFill>
                  <a:srgbClr val="C5D8E8"/>
                </a:solidFill>
                <a:latin typeface="Segoe UI"/>
              </a:rPr>
              <a:t>Visite 1</a:t>
            </a:r>
          </a:p>
        </p:txBody>
      </p:sp>
      <p:sp>
        <p:nvSpPr>
          <p:cNvPr id="21" name="Rectangle 20"/>
          <p:cNvSpPr/>
          <p:nvPr/>
        </p:nvSpPr>
        <p:spPr>
          <a:xfrm>
            <a:off x="1993900" y="5245100"/>
            <a:ext cx="139700" cy="139700"/>
          </a:xfrm>
          <a:prstGeom prst="rect">
            <a:avLst/>
          </a:prstGeom>
          <a:solidFill>
            <a:srgbClr val="D95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84400" y="5207000"/>
            <a:ext cx="1270000" cy="213360"/>
          </a:xfrm>
          <a:prstGeom prst="rect">
            <a:avLst/>
          </a:prstGeom>
          <a:noFill/>
        </p:spPr>
        <p:txBody>
          <a:bodyPr wrap="none" lIns="0" rIns="0" tIns="0" bIns="0">
            <a:spAutoFit/>
          </a:bodyPr>
          <a:lstStyle/>
          <a:p>
            <a:pPr algn="l"/>
            <a:r>
              <a:rPr sz="1200" b="0">
                <a:solidFill>
                  <a:srgbClr val="C5D8E8"/>
                </a:solidFill>
                <a:latin typeface="Segoe UI"/>
              </a:rPr>
              <a:t>Visite 2</a:t>
            </a:r>
          </a:p>
        </p:txBody>
      </p:sp>
      <p:sp>
        <p:nvSpPr>
          <p:cNvPr id="23" name="Rectangle 22"/>
          <p:cNvSpPr/>
          <p:nvPr/>
        </p:nvSpPr>
        <p:spPr>
          <a:xfrm>
            <a:off x="2895600" y="5245100"/>
            <a:ext cx="139700" cy="139700"/>
          </a:xfrm>
          <a:prstGeom prst="rect">
            <a:avLst/>
          </a:prstGeom>
          <a:solidFill>
            <a:srgbClr val="199E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861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3</a:t>
            </a:r>
          </a:p>
        </p:txBody>
      </p:sp>
      <p:sp>
        <p:nvSpPr>
          <p:cNvPr id="25" name="Rectangle 24"/>
          <p:cNvSpPr/>
          <p:nvPr/>
        </p:nvSpPr>
        <p:spPr>
          <a:xfrm>
            <a:off x="3898900" y="5245100"/>
            <a:ext cx="139700" cy="139700"/>
          </a:xfrm>
          <a:prstGeom prst="rect">
            <a:avLst/>
          </a:prstGeom>
          <a:solidFill>
            <a:srgbClr val="C9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894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6</a:t>
            </a:r>
          </a:p>
        </p:txBody>
      </p:sp>
      <p:sp>
        <p:nvSpPr>
          <p:cNvPr id="27" name="Rectangle 26"/>
          <p:cNvSpPr/>
          <p:nvPr/>
        </p:nvSpPr>
        <p:spPr>
          <a:xfrm>
            <a:off x="4902200" y="5245100"/>
            <a:ext cx="139700" cy="139700"/>
          </a:xfrm>
          <a:prstGeom prst="rect">
            <a:avLst/>
          </a:prstGeom>
          <a:solidFill>
            <a:srgbClr val="D551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927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9</a:t>
            </a:r>
          </a:p>
        </p:txBody>
      </p:sp>
      <p:sp>
        <p:nvSpPr>
          <p:cNvPr id="29" name="Rectangle 28"/>
          <p:cNvSpPr/>
          <p:nvPr/>
        </p:nvSpPr>
        <p:spPr>
          <a:xfrm>
            <a:off x="5905500" y="5245100"/>
            <a:ext cx="139700" cy="139700"/>
          </a:xfrm>
          <a:prstGeom prst="rect">
            <a:avLst/>
          </a:prstGeom>
          <a:solidFill>
            <a:srgbClr val="008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960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12</a:t>
            </a:r>
          </a:p>
        </p:txBody>
      </p:sp>
      <p:sp>
        <p:nvSpPr>
          <p:cNvPr id="31" name="Rectangle 30"/>
          <p:cNvSpPr/>
          <p:nvPr/>
        </p:nvSpPr>
        <p:spPr>
          <a:xfrm>
            <a:off x="6991350" y="5245100"/>
            <a:ext cx="139700" cy="139700"/>
          </a:xfrm>
          <a:prstGeom prst="rect">
            <a:avLst/>
          </a:prstGeom>
          <a:solidFill>
            <a:srgbClr val="908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81850" y="5207000"/>
            <a:ext cx="1270000" cy="213360"/>
          </a:xfrm>
          <a:prstGeom prst="rect">
            <a:avLst/>
          </a:prstGeom>
          <a:noFill/>
        </p:spPr>
        <p:txBody>
          <a:bodyPr wrap="none" lIns="0" rIns="0" tIns="0" bIns="0">
            <a:spAutoFit/>
          </a:bodyPr>
          <a:lstStyle/>
          <a:p>
            <a:pPr algn="l"/>
            <a:r>
              <a:rPr sz="1200" b="0">
                <a:solidFill>
                  <a:srgbClr val="C5D8E8"/>
                </a:solidFill>
                <a:latin typeface="Segoe UI"/>
              </a:rPr>
              <a:t>Maand 15</a:t>
            </a:r>
          </a:p>
        </p:txBody>
      </p:sp>
      <p:sp>
        <p:nvSpPr>
          <p:cNvPr id="33" name="Rectangle 32"/>
          <p:cNvSpPr/>
          <p:nvPr/>
        </p:nvSpPr>
        <p:spPr>
          <a:xfrm>
            <a:off x="8077200" y="5245100"/>
            <a:ext cx="139700" cy="139700"/>
          </a:xfrm>
          <a:prstGeom prst="rect">
            <a:avLst/>
          </a:prstGeom>
          <a:solidFill>
            <a:srgbClr val="E667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677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18</a:t>
            </a:r>
          </a:p>
        </p:txBody>
      </p:sp>
      <p:sp>
        <p:nvSpPr>
          <p:cNvPr id="35" name="TextBox 34"/>
          <p:cNvSpPr txBox="1"/>
          <p:nvPr/>
        </p:nvSpPr>
        <p:spPr>
          <a:xfrm>
            <a:off x="8839200" y="5207000"/>
            <a:ext cx="2540000" cy="213360"/>
          </a:xfrm>
          <a:prstGeom prst="rect">
            <a:avLst/>
          </a:prstGeom>
          <a:noFill/>
        </p:spPr>
        <p:txBody>
          <a:bodyPr wrap="none" lIns="0" rIns="0" tIns="0" bIns="0">
            <a:spAutoFit/>
          </a:bodyPr>
          <a:lstStyle/>
          <a:p>
            <a:pPr algn="r"/>
            <a:r>
              <a:rPr sz="1200" b="0">
                <a:solidFill>
                  <a:srgbClr val="8FB0CA"/>
                </a:solidFill>
                <a:latin typeface="Segoe UI"/>
              </a:rPr>
              <a:t>maand na de start</a:t>
            </a:r>
          </a:p>
        </p:txBody>
      </p:sp>
      <p:sp>
        <p:nvSpPr>
          <p:cNvPr id="36" name="TextBox 35"/>
          <p:cNvSpPr txBox="1"/>
          <p:nvPr/>
        </p:nvSpPr>
        <p:spPr>
          <a:xfrm>
            <a:off x="812800" y="5613400"/>
            <a:ext cx="106172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Elk tempo vraagt 300 uur per centrum. Trager includeren spreidt ze, maar schuift de laatste visite naar 2030.</a:t>
            </a:r>
          </a:p>
        </p:txBody>
      </p:sp>
      <p:pic>
        <p:nvPicPr>
          <p:cNvPr id="37" name="Picture 36" descr="ec5c93e6f83f209b4e97ddfdecd480c8.png"/>
          <p:cNvPicPr>
            <a:picLocks noChangeAspect="1"/>
          </p:cNvPicPr>
          <p:nvPr/>
        </p:nvPicPr>
        <p:blipFill>
          <a:blip r:embed="rId5"/>
          <a:stretch>
            <a:fillRect/>
          </a:stretch>
        </p:blipFill>
        <p:spPr>
          <a:xfrm>
            <a:off x="812967" y="6261100"/>
            <a:ext cx="171116" cy="203200"/>
          </a:xfrm>
          <a:prstGeom prst="rect">
            <a:avLst/>
          </a:prstGeom>
        </p:spPr>
      </p:pic>
      <p:sp>
        <p:nvSpPr>
          <p:cNvPr id="38" name="TextBox 37"/>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39" name="TextBox 38"/>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simulatie, 4.000 runs · 16 u OC, 9 u UC · start 24 feb 2027</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 fill="hold">
                            <p:stCondLst>
                              <p:cond delay="0"/>
                            </p:stCondLst>
                            <p:childTnLst>
                              <p:par>
                                <p:cTn id="4" presetID="22" presetClass="entr" presetSubtype="4" fill="hold" grpId="0" nodeType="afterEffect">
                                  <p:stCondLst>
                                    <p:cond delay="0"/>
                                  </p:stCondLst>
                                  <p:childTnLst>
                                    <p:set>
                                      <p:cBhvr>
                                        <p:cTn id="5" dur="1" fill="hold">
                                          <p:stCondLst>
                                            <p:cond delay="0"/>
                                          </p:stCondLst>
                                        </p:cTn>
                                        <p:tgtEl>
                                          <p:spTgt spid="8"/>
                                        </p:tgtEl>
                                        <p:attrNameLst>
                                          <p:attrName>style.visibility</p:attrName>
                                        </p:attrNameLst>
                                      </p:cBhvr>
                                      <p:to>
                                        <p:strVal val="visible"/>
                                      </p:to>
                                    </p:set>
                                    <p:animEffect transition="in" filter="wipe(up)">
                                      <p:cBhvr>
                                        <p:cTn id="6" dur="1400"/>
                                        <p:tgtEl>
                                          <p:spTgt spid="8"/>
                                        </p:tgtEl>
                                      </p:cBhvr>
                                    </p:animEffect>
                                  </p:childTnLst>
                                </p:cTn>
                              </p:par>
                            </p:childTnLst>
                          </p:cTn>
                        </p:par>
                        <p:par>
                          <p:cTn id="14" fill="hold">
                            <p:stCondLst>
                              <p:cond delay="0"/>
                            </p:stCondLst>
                            <p:childTnLst>
                              <p:par>
                                <p:cTn id="7" presetID="22" presetClass="entr" presetSubtype="4" fill="hold" grpId="0" nodeType="afterEffect">
                                  <p:stCondLst>
                                    <p:cond delay="200"/>
                                  </p:stCondLst>
                                  <p:childTnLst>
                                    <p:set>
                                      <p:cBhvr>
                                        <p:cTn id="8" dur="1" fill="hold">
                                          <p:stCondLst>
                                            <p:cond delay="0"/>
                                          </p:stCondLst>
                                        </p:cTn>
                                        <p:tgtEl>
                                          <p:spTgt spid="13"/>
                                        </p:tgtEl>
                                        <p:attrNameLst>
                                          <p:attrName>style.visibility</p:attrName>
                                        </p:attrNameLst>
                                      </p:cBhvr>
                                      <p:to>
                                        <p:strVal val="visible"/>
                                      </p:to>
                                    </p:set>
                                    <p:animEffect transition="in" filter="wipe(up)">
                                      <p:cBhvr>
                                        <p:cTn id="9" dur="1400"/>
                                        <p:tgtEl>
                                          <p:spTgt spid="13"/>
                                        </p:tgtEl>
                                      </p:cBhvr>
                                    </p:animEffect>
                                  </p:childTnLst>
                                </p:cTn>
                              </p:par>
                            </p:childTnLst>
                          </p:cTn>
                        </p:par>
                        <p:par>
                          <p:cTn id="15" fill="hold">
                            <p:stCondLst>
                              <p:cond delay="0"/>
                            </p:stCondLst>
                            <p:childTnLst>
                              <p:par>
                                <p:cTn id="10" presetID="22" presetClass="entr" presetSubtype="4" fill="hold" grpId="0" nodeType="afterEffect">
                                  <p:stCondLst>
                                    <p:cond delay="200"/>
                                  </p:stCondLst>
                                  <p:childTnLst>
                                    <p:set>
                                      <p:cBhvr>
                                        <p:cTn id="11" dur="1" fill="hold">
                                          <p:stCondLst>
                                            <p:cond delay="0"/>
                                          </p:stCondLst>
                                        </p:cTn>
                                        <p:tgtEl>
                                          <p:spTgt spid="18"/>
                                        </p:tgtEl>
                                        <p:attrNameLst>
                                          <p:attrName>style.visibility</p:attrName>
                                        </p:attrNameLst>
                                      </p:cBhvr>
                                      <p:to>
                                        <p:strVal val="visible"/>
                                      </p:to>
                                    </p:set>
                                    <p:animEffect transition="in" filter="wipe(up)">
                                      <p:cBhvr>
                                        <p:cTn id="12" dur="1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8" grpId="0">
        <p:bldAsOne/>
      </p:bldGraphic>
      <p:bldGraphic spid="13" grpId="0">
        <p:bldAsOne/>
      </p:bldGraphic>
      <p:bldGraphic spid="18" grpId="0">
        <p:bldAsOne/>
      </p:bldGraphic>
    </p:bld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6 · BESPREKING · HUISSTIJL</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Het logo, ter goedkeuring</a:t>
            </a:r>
          </a:p>
        </p:txBody>
      </p:sp>
      <p:sp>
        <p:nvSpPr>
          <p:cNvPr id="4" name="Rounded Rectangle 3"/>
          <p:cNvSpPr/>
          <p:nvPr/>
        </p:nvSpPr>
        <p:spPr>
          <a:xfrm>
            <a:off x="812800" y="1842691"/>
            <a:ext cx="3403600" cy="2286000"/>
          </a:xfrm>
          <a:prstGeom prst="roundRect">
            <a:avLst>
              <a:gd name="adj" fmla="val 5555"/>
            </a:avLst>
          </a:prstGeom>
          <a:solidFill>
            <a:srgbClr val="F2F6F9"/>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14abb052316bca6838ae130b0aff4182.png"/>
          <p:cNvPicPr>
            <a:picLocks noChangeAspect="1"/>
          </p:cNvPicPr>
          <p:nvPr/>
        </p:nvPicPr>
        <p:blipFill>
          <a:blip r:embed="rId2"/>
          <a:stretch>
            <a:fillRect/>
          </a:stretch>
        </p:blipFill>
        <p:spPr>
          <a:xfrm>
            <a:off x="1054100" y="2446633"/>
            <a:ext cx="2921000" cy="1078115"/>
          </a:xfrm>
          <a:prstGeom prst="rect">
            <a:avLst/>
          </a:prstGeom>
        </p:spPr>
      </p:pic>
      <p:sp>
        <p:nvSpPr>
          <p:cNvPr id="6" name="TextBox 5"/>
          <p:cNvSpPr txBox="1"/>
          <p:nvPr/>
        </p:nvSpPr>
        <p:spPr>
          <a:xfrm>
            <a:off x="812800" y="4230291"/>
            <a:ext cx="3454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Licht: formulieren en patiëntenmateriaal</a:t>
            </a:r>
          </a:p>
        </p:txBody>
      </p:sp>
      <p:sp>
        <p:nvSpPr>
          <p:cNvPr id="7" name="Rounded Rectangle 6"/>
          <p:cNvSpPr/>
          <p:nvPr/>
        </p:nvSpPr>
        <p:spPr>
          <a:xfrm>
            <a:off x="4394200" y="1842691"/>
            <a:ext cx="3403600" cy="2286000"/>
          </a:xfrm>
          <a:prstGeom prst="roundRect">
            <a:avLst>
              <a:gd name="adj" fmla="val 5555"/>
            </a:avLst>
          </a:prstGeom>
          <a:solidFill>
            <a:srgbClr val="071B30"/>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14abb052316bca6838ae130b0aff4182.png"/>
          <p:cNvPicPr>
            <a:picLocks noChangeAspect="1"/>
          </p:cNvPicPr>
          <p:nvPr/>
        </p:nvPicPr>
        <p:blipFill>
          <a:blip r:embed="rId2"/>
          <a:stretch>
            <a:fillRect/>
          </a:stretch>
        </p:blipFill>
        <p:spPr>
          <a:xfrm>
            <a:off x="4635500" y="2446633"/>
            <a:ext cx="2921000" cy="1078115"/>
          </a:xfrm>
          <a:prstGeom prst="rect">
            <a:avLst/>
          </a:prstGeom>
        </p:spPr>
      </p:pic>
      <p:sp>
        <p:nvSpPr>
          <p:cNvPr id="9" name="TextBox 8"/>
          <p:cNvSpPr txBox="1"/>
          <p:nvPr/>
        </p:nvSpPr>
        <p:spPr>
          <a:xfrm>
            <a:off x="4394200" y="4230291"/>
            <a:ext cx="3454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Donker: presentaties en website</a:t>
            </a:r>
          </a:p>
        </p:txBody>
      </p:sp>
      <p:sp>
        <p:nvSpPr>
          <p:cNvPr id="10" name="Rounded Rectangle 9"/>
          <p:cNvSpPr/>
          <p:nvPr/>
        </p:nvSpPr>
        <p:spPr>
          <a:xfrm>
            <a:off x="7975600" y="1842691"/>
            <a:ext cx="3403600" cy="2286000"/>
          </a:xfrm>
          <a:prstGeom prst="roundRect">
            <a:avLst>
              <a:gd name="adj" fmla="val 5555"/>
            </a:avLst>
          </a:prstGeom>
          <a:solidFill>
            <a:srgbClr val="F2F6F9"/>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27f39b7b096b67629011c49f0e7b794e.png"/>
          <p:cNvPicPr>
            <a:picLocks noChangeAspect="1"/>
          </p:cNvPicPr>
          <p:nvPr/>
        </p:nvPicPr>
        <p:blipFill>
          <a:blip r:embed="rId3"/>
          <a:stretch>
            <a:fillRect/>
          </a:stretch>
        </p:blipFill>
        <p:spPr>
          <a:xfrm>
            <a:off x="8978900" y="2187405"/>
            <a:ext cx="1397000" cy="1596571"/>
          </a:xfrm>
          <a:prstGeom prst="rect">
            <a:avLst/>
          </a:prstGeom>
        </p:spPr>
      </p:pic>
      <p:sp>
        <p:nvSpPr>
          <p:cNvPr id="12" name="TextBox 11"/>
          <p:cNvSpPr txBox="1"/>
          <p:nvPr/>
        </p:nvSpPr>
        <p:spPr>
          <a:xfrm>
            <a:off x="7975600" y="4230291"/>
            <a:ext cx="3454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Symbool: klein formaat</a:t>
            </a:r>
          </a:p>
        </p:txBody>
      </p:sp>
      <p:sp>
        <p:nvSpPr>
          <p:cNvPr id="13" name="TextBox 12"/>
          <p:cNvSpPr txBox="1"/>
          <p:nvPr/>
        </p:nvSpPr>
        <p:spPr>
          <a:xfrm>
            <a:off x="812800" y="4681736"/>
            <a:ext cx="10617200" cy="257175"/>
          </a:xfrm>
          <a:prstGeom prst="rect">
            <a:avLst/>
          </a:prstGeom>
          <a:noFill/>
        </p:spPr>
        <p:txBody>
          <a:bodyPr wrap="none" lIns="0" rIns="0" tIns="0" bIns="0" anchor="t">
            <a:noAutofit/>
          </a:bodyPr>
          <a:lstStyle/>
          <a:p>
            <a:pPr algn="l">
              <a:lnSpc>
                <a:spcPts val="2025"/>
              </a:lnSpc>
            </a:pPr>
            <a:r>
              <a:rPr sz="1500" b="0" i="0">
                <a:solidFill>
                  <a:srgbClr val="F2F8FC"/>
                </a:solidFill>
                <a:latin typeface="DM Sans"/>
              </a:rPr>
              <a:t>Akkoord om dit logo overal te gebruiken, of zijn er aanpassingen?</a:t>
            </a:r>
          </a:p>
        </p:txBody>
      </p:sp>
      <p:pic>
        <p:nvPicPr>
          <p:cNvPr id="14" name="Picture 13"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15" name="TextBox 1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Tree>
  </p:cSld>
  <p:clrMapOvr>
    <a:masterClrMapping/>
  </p:clrMapOvr>
  <p:transition xmlns:p14="http://schemas.microsoft.com/office/powerpoint/2010/main" spd="med" p14:dur="700">
    <p:fade/>
  </p:transition>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6 · BESPREKING EN INPUT</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Wat we vragen, en wat we voorleggen</a:t>
            </a:r>
          </a:p>
        </p:txBody>
      </p:sp>
      <p:sp>
        <p:nvSpPr>
          <p:cNvPr id="4" name="TextBox 3"/>
          <p:cNvSpPr txBox="1"/>
          <p:nvPr/>
        </p:nvSpPr>
        <p:spPr>
          <a:xfrm>
            <a:off x="812800" y="1842691"/>
            <a:ext cx="5887442" cy="198120"/>
          </a:xfrm>
          <a:prstGeom prst="rect">
            <a:avLst/>
          </a:prstGeom>
          <a:noFill/>
        </p:spPr>
        <p:txBody>
          <a:bodyPr wrap="none" lIns="0" rIns="0" tIns="0" bIns="0" anchor="t">
            <a:noAutofit/>
          </a:bodyPr>
          <a:lstStyle/>
          <a:p>
            <a:pPr algn="l"/>
            <a:r>
              <a:rPr sz="1200" b="0" i="0" spc="150">
                <a:solidFill>
                  <a:srgbClr val="0B6E8F"/>
                </a:solidFill>
                <a:latin typeface="JetBrains Mono"/>
              </a:rPr>
              <a:t>WAT WE VRAGEN</a:t>
            </a:r>
          </a:p>
        </p:txBody>
      </p:sp>
      <p:sp>
        <p:nvSpPr>
          <p:cNvPr id="5" name="TextBox 4"/>
          <p:cNvSpPr txBox="1"/>
          <p:nvPr/>
        </p:nvSpPr>
        <p:spPr>
          <a:xfrm>
            <a:off x="812800" y="223639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01</a:t>
            </a:r>
          </a:p>
        </p:txBody>
      </p:sp>
      <p:sp>
        <p:nvSpPr>
          <p:cNvPr id="6" name="TextBox 5"/>
          <p:cNvSpPr txBox="1"/>
          <p:nvPr/>
        </p:nvSpPr>
        <p:spPr>
          <a:xfrm>
            <a:off x="1148159" y="2191941"/>
            <a:ext cx="2503289"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Drie inclusies per maand</a:t>
            </a:r>
          </a:p>
        </p:txBody>
      </p:sp>
      <p:sp>
        <p:nvSpPr>
          <p:cNvPr id="7" name="Rectangle 6"/>
          <p:cNvSpPr/>
          <p:nvPr/>
        </p:nvSpPr>
        <p:spPr>
          <a:xfrm>
            <a:off x="812800" y="2557661"/>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 y="271006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02</a:t>
            </a:r>
          </a:p>
        </p:txBody>
      </p:sp>
      <p:sp>
        <p:nvSpPr>
          <p:cNvPr id="9" name="TextBox 8"/>
          <p:cNvSpPr txBox="1"/>
          <p:nvPr/>
        </p:nvSpPr>
        <p:spPr>
          <a:xfrm>
            <a:off x="1148159" y="2665611"/>
            <a:ext cx="4089400"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Een screeningslog</a:t>
            </a:r>
            <a:r>
              <a:rPr sz="1600" b="0" i="0">
                <a:solidFill>
                  <a:srgbClr val="0A2540"/>
                </a:solidFill>
                <a:latin typeface="DM Sans"/>
              </a:rPr>
              <a:t> </a:t>
            </a:r>
            <a:r>
              <a:rPr sz="1600" b="0" i="0">
                <a:solidFill>
                  <a:srgbClr val="5A6E80"/>
                </a:solidFill>
                <a:latin typeface="DM Sans"/>
              </a:rPr>
              <a:t>vanaf de eerste patiënt</a:t>
            </a:r>
          </a:p>
        </p:txBody>
      </p:sp>
      <p:sp>
        <p:nvSpPr>
          <p:cNvPr id="10" name="Rectangle 9"/>
          <p:cNvSpPr/>
          <p:nvPr/>
        </p:nvSpPr>
        <p:spPr>
          <a:xfrm>
            <a:off x="812800" y="3031331"/>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318373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03</a:t>
            </a:r>
          </a:p>
        </p:txBody>
      </p:sp>
      <p:sp>
        <p:nvSpPr>
          <p:cNvPr id="12" name="TextBox 11"/>
          <p:cNvSpPr txBox="1"/>
          <p:nvPr/>
        </p:nvSpPr>
        <p:spPr>
          <a:xfrm>
            <a:off x="1148159" y="3139281"/>
            <a:ext cx="4723309"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Het toetsingsblad terug</a:t>
            </a:r>
            <a:r>
              <a:rPr sz="1600" b="0" i="0">
                <a:solidFill>
                  <a:srgbClr val="0A2540"/>
                </a:solidFill>
                <a:latin typeface="DM Sans"/>
              </a:rPr>
              <a:t> </a:t>
            </a:r>
            <a:r>
              <a:rPr sz="1600" b="0" i="0">
                <a:solidFill>
                  <a:srgbClr val="5A6E80"/>
                </a:solidFill>
                <a:latin typeface="DM Sans"/>
              </a:rPr>
              <a:t>tegen vrijdag 16 oktober</a:t>
            </a:r>
          </a:p>
        </p:txBody>
      </p:sp>
      <p:sp>
        <p:nvSpPr>
          <p:cNvPr id="13" name="Rectangle 12"/>
          <p:cNvSpPr/>
          <p:nvPr/>
        </p:nvSpPr>
        <p:spPr>
          <a:xfrm>
            <a:off x="812800" y="3505002"/>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2800" y="3657402"/>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04</a:t>
            </a:r>
          </a:p>
        </p:txBody>
      </p:sp>
      <p:sp>
        <p:nvSpPr>
          <p:cNvPr id="15" name="TextBox 14"/>
          <p:cNvSpPr txBox="1"/>
          <p:nvPr/>
        </p:nvSpPr>
        <p:spPr>
          <a:xfrm>
            <a:off x="1148159" y="3612952"/>
            <a:ext cx="3557091"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Wie deelneemt</a:t>
            </a:r>
            <a:r>
              <a:rPr sz="1600" b="0" i="0">
                <a:solidFill>
                  <a:srgbClr val="0A2540"/>
                </a:solidFill>
                <a:latin typeface="DM Sans"/>
              </a:rPr>
              <a:t> </a:t>
            </a:r>
            <a:r>
              <a:rPr sz="1600" b="0" i="0">
                <a:solidFill>
                  <a:srgbClr val="5A6E80"/>
                </a:solidFill>
                <a:latin typeface="DM Sans"/>
              </a:rPr>
              <a:t>podologen en artsen</a:t>
            </a:r>
          </a:p>
        </p:txBody>
      </p:sp>
      <p:sp>
        <p:nvSpPr>
          <p:cNvPr id="16" name="Rectangle 15"/>
          <p:cNvSpPr/>
          <p:nvPr/>
        </p:nvSpPr>
        <p:spPr>
          <a:xfrm>
            <a:off x="812800" y="3978672"/>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2800" y="4131072"/>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05</a:t>
            </a:r>
          </a:p>
        </p:txBody>
      </p:sp>
      <p:sp>
        <p:nvSpPr>
          <p:cNvPr id="18" name="TextBox 17"/>
          <p:cNvSpPr txBox="1"/>
          <p:nvPr/>
        </p:nvSpPr>
        <p:spPr>
          <a:xfrm>
            <a:off x="1148159" y="4086622"/>
            <a:ext cx="4372173"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De drukmeting geïnstalleerd</a:t>
            </a:r>
            <a:r>
              <a:rPr sz="1600" b="0" i="0">
                <a:solidFill>
                  <a:srgbClr val="0A2540"/>
                </a:solidFill>
                <a:latin typeface="DM Sans"/>
              </a:rPr>
              <a:t> </a:t>
            </a:r>
            <a:r>
              <a:rPr sz="1600" b="0" i="0">
                <a:solidFill>
                  <a:srgbClr val="5A6E80"/>
                </a:solidFill>
                <a:latin typeface="DM Sans"/>
              </a:rPr>
              <a:t>vóór december</a:t>
            </a:r>
          </a:p>
        </p:txBody>
      </p:sp>
      <p:sp>
        <p:nvSpPr>
          <p:cNvPr id="19" name="TextBox 18"/>
          <p:cNvSpPr txBox="1"/>
          <p:nvPr/>
        </p:nvSpPr>
        <p:spPr>
          <a:xfrm>
            <a:off x="7055842" y="1842691"/>
            <a:ext cx="4374158" cy="198120"/>
          </a:xfrm>
          <a:prstGeom prst="rect">
            <a:avLst/>
          </a:prstGeom>
          <a:noFill/>
        </p:spPr>
        <p:txBody>
          <a:bodyPr wrap="none" lIns="0" rIns="0" tIns="0" bIns="0" anchor="t">
            <a:noAutofit/>
          </a:bodyPr>
          <a:lstStyle/>
          <a:p>
            <a:pPr algn="l"/>
            <a:r>
              <a:rPr sz="1200" b="0" i="0" spc="150">
                <a:solidFill>
                  <a:srgbClr val="A34A00"/>
                </a:solidFill>
                <a:latin typeface="JetBrains Mono"/>
              </a:rPr>
              <a:t>TER BESPREKING</a:t>
            </a:r>
          </a:p>
        </p:txBody>
      </p:sp>
      <p:sp>
        <p:nvSpPr>
          <p:cNvPr id="20" name="Rounded Rectangle 19"/>
          <p:cNvSpPr/>
          <p:nvPr/>
        </p:nvSpPr>
        <p:spPr>
          <a:xfrm>
            <a:off x="7055842" y="2166541"/>
            <a:ext cx="4323358" cy="884535"/>
          </a:xfrm>
          <a:prstGeom prst="roundRect">
            <a:avLst>
              <a:gd name="adj" fmla="val 1435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252692" y="2337991"/>
            <a:ext cx="3980458" cy="238125"/>
          </a:xfrm>
          <a:prstGeom prst="rect">
            <a:avLst/>
          </a:prstGeom>
          <a:noFill/>
        </p:spPr>
        <p:txBody>
          <a:bodyPr wrap="none" lIns="0" rIns="0" tIns="0" bIns="0" anchor="t">
            <a:noAutofit/>
          </a:bodyPr>
          <a:lstStyle/>
          <a:p>
            <a:pPr algn="l">
              <a:lnSpc>
                <a:spcPts val="1875"/>
              </a:lnSpc>
            </a:pPr>
            <a:r>
              <a:rPr sz="1500" b="1" i="0">
                <a:solidFill>
                  <a:srgbClr val="0A2540"/>
                </a:solidFill>
                <a:latin typeface="DM Sans"/>
              </a:rPr>
              <a:t>Bijspringen als een centrum achterblijft</a:t>
            </a:r>
          </a:p>
        </p:txBody>
      </p:sp>
      <p:sp>
        <p:nvSpPr>
          <p:cNvPr id="22" name="TextBox 21"/>
          <p:cNvSpPr txBox="1"/>
          <p:nvPr/>
        </p:nvSpPr>
        <p:spPr>
          <a:xfrm>
            <a:off x="7252692" y="2639616"/>
            <a:ext cx="3980458"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Welk plafond per centrum? Extra enveloppen?</a:t>
            </a:r>
          </a:p>
        </p:txBody>
      </p:sp>
      <p:sp>
        <p:nvSpPr>
          <p:cNvPr id="23" name="Rounded Rectangle 22"/>
          <p:cNvSpPr/>
          <p:nvPr/>
        </p:nvSpPr>
        <p:spPr>
          <a:xfrm>
            <a:off x="7055842" y="3178076"/>
            <a:ext cx="4323358" cy="884535"/>
          </a:xfrm>
          <a:prstGeom prst="roundRect">
            <a:avLst>
              <a:gd name="adj" fmla="val 1435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252692" y="3349526"/>
            <a:ext cx="3980458" cy="238125"/>
          </a:xfrm>
          <a:prstGeom prst="rect">
            <a:avLst/>
          </a:prstGeom>
          <a:noFill/>
        </p:spPr>
        <p:txBody>
          <a:bodyPr wrap="none" lIns="0" rIns="0" tIns="0" bIns="0" anchor="t">
            <a:noAutofit/>
          </a:bodyPr>
          <a:lstStyle/>
          <a:p>
            <a:pPr algn="l">
              <a:lnSpc>
                <a:spcPts val="1875"/>
              </a:lnSpc>
            </a:pPr>
            <a:r>
              <a:rPr sz="1500" b="1" i="0">
                <a:solidFill>
                  <a:srgbClr val="0A2540"/>
                </a:solidFill>
                <a:latin typeface="DM Sans"/>
              </a:rPr>
              <a:t>Twaalf maanden inclusie, geen achttien</a:t>
            </a:r>
          </a:p>
        </p:txBody>
      </p:sp>
      <p:sp>
        <p:nvSpPr>
          <p:cNvPr id="25" name="TextBox 24"/>
          <p:cNvSpPr txBox="1"/>
          <p:nvPr/>
        </p:nvSpPr>
        <p:spPr>
          <a:xfrm>
            <a:off x="7252692" y="3651151"/>
            <a:ext cx="3980458"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Evenveel uren, meer tijd voor de verwerking.</a:t>
            </a:r>
          </a:p>
        </p:txBody>
      </p:sp>
      <p:pic>
        <p:nvPicPr>
          <p:cNvPr id="26" name="Picture 2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7" name="TextBox 2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28" name="TextBox 27"/>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janou.debuyser@kuleuven.be</a:t>
            </a:r>
          </a:p>
        </p:txBody>
      </p:sp>
    </p:spTree>
  </p:cSld>
  <p:clrMapOvr>
    <a:masterClrMapping/>
  </p:clrMapOvr>
  <p:transition xmlns:p14="http://schemas.microsoft.com/office/powerpoint/2010/main" spd="med" p14:dur="700">
    <p:fade/>
  </p:transition>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7 · TOUR DE TABLE</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Per centrum, kort</a:t>
            </a:r>
          </a:p>
        </p:txBody>
      </p:sp>
      <p:sp>
        <p:nvSpPr>
          <p:cNvPr id="4" name="Rounded Rectangle 3"/>
          <p:cNvSpPr/>
          <p:nvPr/>
        </p:nvSpPr>
        <p:spPr>
          <a:xfrm>
            <a:off x="812800" y="1868091"/>
            <a:ext cx="2828528" cy="793750"/>
          </a:xfrm>
          <a:prstGeom prst="roundRect">
            <a:avLst>
              <a:gd name="adj" fmla="val 16000"/>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96950" y="2014141"/>
            <a:ext cx="2511028" cy="279400"/>
          </a:xfrm>
          <a:prstGeom prst="rect">
            <a:avLst/>
          </a:prstGeom>
          <a:noFill/>
        </p:spPr>
        <p:txBody>
          <a:bodyPr wrap="none" lIns="0" rIns="0" tIns="0" bIns="0" anchor="t">
            <a:noAutofit/>
          </a:bodyPr>
          <a:lstStyle/>
          <a:p>
            <a:pPr algn="l">
              <a:lnSpc>
                <a:spcPts val="2200"/>
              </a:lnSpc>
            </a:pPr>
            <a:r>
              <a:rPr sz="2000" b="0" i="0">
                <a:solidFill>
                  <a:srgbClr val="0A2540"/>
                </a:solidFill>
                <a:latin typeface="DM Serif Display"/>
              </a:rPr>
              <a:t>AZ Groeninge</a:t>
            </a:r>
          </a:p>
        </p:txBody>
      </p:sp>
      <p:sp>
        <p:nvSpPr>
          <p:cNvPr id="6" name="TextBox 5"/>
          <p:cNvSpPr txBox="1"/>
          <p:nvPr/>
        </p:nvSpPr>
        <p:spPr>
          <a:xfrm>
            <a:off x="996950" y="2318941"/>
            <a:ext cx="2511028" cy="198120"/>
          </a:xfrm>
          <a:prstGeom prst="rect">
            <a:avLst/>
          </a:prstGeom>
          <a:noFill/>
        </p:spPr>
        <p:txBody>
          <a:bodyPr wrap="none" lIns="0" rIns="0" tIns="0" bIns="0" anchor="t">
            <a:noAutofit/>
          </a:bodyPr>
          <a:lstStyle/>
          <a:p>
            <a:pPr algn="l"/>
            <a:r>
              <a:rPr sz="1200" b="0" i="0">
                <a:solidFill>
                  <a:srgbClr val="5A6E80"/>
                </a:solidFill>
                <a:latin typeface="DM Sans"/>
              </a:rPr>
              <a:t>Kortrijk</a:t>
            </a:r>
          </a:p>
        </p:txBody>
      </p:sp>
      <p:sp>
        <p:nvSpPr>
          <p:cNvPr id="7" name="Rounded Rectangle 6"/>
          <p:cNvSpPr/>
          <p:nvPr/>
        </p:nvSpPr>
        <p:spPr>
          <a:xfrm>
            <a:off x="3755628" y="1868091"/>
            <a:ext cx="2828528" cy="793750"/>
          </a:xfrm>
          <a:prstGeom prst="roundRect">
            <a:avLst>
              <a:gd name="adj" fmla="val 16000"/>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939778" y="2014141"/>
            <a:ext cx="2511028" cy="279400"/>
          </a:xfrm>
          <a:prstGeom prst="rect">
            <a:avLst/>
          </a:prstGeom>
          <a:noFill/>
        </p:spPr>
        <p:txBody>
          <a:bodyPr wrap="none" lIns="0" rIns="0" tIns="0" bIns="0" anchor="t">
            <a:noAutofit/>
          </a:bodyPr>
          <a:lstStyle/>
          <a:p>
            <a:pPr algn="l">
              <a:lnSpc>
                <a:spcPts val="2200"/>
              </a:lnSpc>
            </a:pPr>
            <a:r>
              <a:rPr sz="2000" b="0" i="0">
                <a:solidFill>
                  <a:srgbClr val="0A2540"/>
                </a:solidFill>
                <a:latin typeface="DM Serif Display"/>
              </a:rPr>
              <a:t>AZ Sint-Jan</a:t>
            </a:r>
          </a:p>
        </p:txBody>
      </p:sp>
      <p:sp>
        <p:nvSpPr>
          <p:cNvPr id="9" name="TextBox 8"/>
          <p:cNvSpPr txBox="1"/>
          <p:nvPr/>
        </p:nvSpPr>
        <p:spPr>
          <a:xfrm>
            <a:off x="3939778" y="2318941"/>
            <a:ext cx="2511028" cy="198120"/>
          </a:xfrm>
          <a:prstGeom prst="rect">
            <a:avLst/>
          </a:prstGeom>
          <a:noFill/>
        </p:spPr>
        <p:txBody>
          <a:bodyPr wrap="none" lIns="0" rIns="0" tIns="0" bIns="0" anchor="t">
            <a:noAutofit/>
          </a:bodyPr>
          <a:lstStyle/>
          <a:p>
            <a:pPr algn="l"/>
            <a:r>
              <a:rPr sz="1200" b="0" i="0">
                <a:solidFill>
                  <a:srgbClr val="5A6E80"/>
                </a:solidFill>
                <a:latin typeface="DM Sans"/>
              </a:rPr>
              <a:t>Brugge</a:t>
            </a:r>
          </a:p>
        </p:txBody>
      </p:sp>
      <p:sp>
        <p:nvSpPr>
          <p:cNvPr id="10" name="Rounded Rectangle 9"/>
          <p:cNvSpPr/>
          <p:nvPr/>
        </p:nvSpPr>
        <p:spPr>
          <a:xfrm>
            <a:off x="812800" y="2776141"/>
            <a:ext cx="2828528" cy="793750"/>
          </a:xfrm>
          <a:prstGeom prst="roundRect">
            <a:avLst>
              <a:gd name="adj" fmla="val 16000"/>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96950" y="2922191"/>
            <a:ext cx="2511028" cy="279400"/>
          </a:xfrm>
          <a:prstGeom prst="rect">
            <a:avLst/>
          </a:prstGeom>
          <a:noFill/>
        </p:spPr>
        <p:txBody>
          <a:bodyPr wrap="none" lIns="0" rIns="0" tIns="0" bIns="0" anchor="t">
            <a:noAutofit/>
          </a:bodyPr>
          <a:lstStyle/>
          <a:p>
            <a:pPr algn="l">
              <a:lnSpc>
                <a:spcPts val="2200"/>
              </a:lnSpc>
            </a:pPr>
            <a:r>
              <a:rPr sz="2000" b="0" i="0">
                <a:solidFill>
                  <a:srgbClr val="0A2540"/>
                </a:solidFill>
                <a:latin typeface="DM Serif Display"/>
              </a:rPr>
              <a:t>UZ Gent</a:t>
            </a:r>
          </a:p>
        </p:txBody>
      </p:sp>
      <p:sp>
        <p:nvSpPr>
          <p:cNvPr id="12" name="TextBox 11"/>
          <p:cNvSpPr txBox="1"/>
          <p:nvPr/>
        </p:nvSpPr>
        <p:spPr>
          <a:xfrm>
            <a:off x="996950" y="3226991"/>
            <a:ext cx="2511028" cy="198120"/>
          </a:xfrm>
          <a:prstGeom prst="rect">
            <a:avLst/>
          </a:prstGeom>
          <a:noFill/>
        </p:spPr>
        <p:txBody>
          <a:bodyPr wrap="none" lIns="0" rIns="0" tIns="0" bIns="0" anchor="t">
            <a:noAutofit/>
          </a:bodyPr>
          <a:lstStyle/>
          <a:p>
            <a:pPr algn="l"/>
            <a:r>
              <a:rPr sz="1200" b="0" i="0">
                <a:solidFill>
                  <a:srgbClr val="5A6E80"/>
                </a:solidFill>
                <a:latin typeface="DM Sans"/>
              </a:rPr>
              <a:t>Gent</a:t>
            </a:r>
          </a:p>
        </p:txBody>
      </p:sp>
      <p:sp>
        <p:nvSpPr>
          <p:cNvPr id="13" name="Rounded Rectangle 12"/>
          <p:cNvSpPr/>
          <p:nvPr/>
        </p:nvSpPr>
        <p:spPr>
          <a:xfrm>
            <a:off x="3755628" y="2776141"/>
            <a:ext cx="2828528" cy="793750"/>
          </a:xfrm>
          <a:prstGeom prst="roundRect">
            <a:avLst>
              <a:gd name="adj" fmla="val 16000"/>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939778" y="2922191"/>
            <a:ext cx="2511028" cy="279400"/>
          </a:xfrm>
          <a:prstGeom prst="rect">
            <a:avLst/>
          </a:prstGeom>
          <a:noFill/>
        </p:spPr>
        <p:txBody>
          <a:bodyPr wrap="none" lIns="0" rIns="0" tIns="0" bIns="0" anchor="t">
            <a:noAutofit/>
          </a:bodyPr>
          <a:lstStyle/>
          <a:p>
            <a:pPr algn="l">
              <a:lnSpc>
                <a:spcPts val="2200"/>
              </a:lnSpc>
            </a:pPr>
            <a:r>
              <a:rPr sz="2000" b="0" i="0">
                <a:solidFill>
                  <a:srgbClr val="0A2540"/>
                </a:solidFill>
                <a:latin typeface="DM Serif Display"/>
              </a:rPr>
              <a:t>AZORG</a:t>
            </a:r>
          </a:p>
        </p:txBody>
      </p:sp>
      <p:sp>
        <p:nvSpPr>
          <p:cNvPr id="15" name="TextBox 14"/>
          <p:cNvSpPr txBox="1"/>
          <p:nvPr/>
        </p:nvSpPr>
        <p:spPr>
          <a:xfrm>
            <a:off x="3939778" y="3226991"/>
            <a:ext cx="2511028" cy="198120"/>
          </a:xfrm>
          <a:prstGeom prst="rect">
            <a:avLst/>
          </a:prstGeom>
          <a:noFill/>
        </p:spPr>
        <p:txBody>
          <a:bodyPr wrap="none" lIns="0" rIns="0" tIns="0" bIns="0" anchor="t">
            <a:noAutofit/>
          </a:bodyPr>
          <a:lstStyle/>
          <a:p>
            <a:pPr algn="l"/>
            <a:r>
              <a:rPr sz="1200" b="0" i="0">
                <a:solidFill>
                  <a:srgbClr val="5A6E80"/>
                </a:solidFill>
                <a:latin typeface="DM Sans"/>
              </a:rPr>
              <a:t>Aalst</a:t>
            </a:r>
          </a:p>
        </p:txBody>
      </p:sp>
      <p:sp>
        <p:nvSpPr>
          <p:cNvPr id="16" name="Rounded Rectangle 15"/>
          <p:cNvSpPr/>
          <p:nvPr/>
        </p:nvSpPr>
        <p:spPr>
          <a:xfrm>
            <a:off x="812800" y="3684191"/>
            <a:ext cx="2828528" cy="793750"/>
          </a:xfrm>
          <a:prstGeom prst="roundRect">
            <a:avLst>
              <a:gd name="adj" fmla="val 16000"/>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96950" y="3830241"/>
            <a:ext cx="2511028" cy="279400"/>
          </a:xfrm>
          <a:prstGeom prst="rect">
            <a:avLst/>
          </a:prstGeom>
          <a:noFill/>
        </p:spPr>
        <p:txBody>
          <a:bodyPr wrap="none" lIns="0" rIns="0" tIns="0" bIns="0" anchor="t">
            <a:noAutofit/>
          </a:bodyPr>
          <a:lstStyle/>
          <a:p>
            <a:pPr algn="l">
              <a:lnSpc>
                <a:spcPts val="2200"/>
              </a:lnSpc>
            </a:pPr>
            <a:r>
              <a:rPr sz="2000" b="0" i="0">
                <a:solidFill>
                  <a:srgbClr val="0A2540"/>
                </a:solidFill>
                <a:latin typeface="DM Serif Display"/>
              </a:rPr>
              <a:t>UZ Leuven</a:t>
            </a:r>
          </a:p>
        </p:txBody>
      </p:sp>
      <p:sp>
        <p:nvSpPr>
          <p:cNvPr id="18" name="TextBox 17"/>
          <p:cNvSpPr txBox="1"/>
          <p:nvPr/>
        </p:nvSpPr>
        <p:spPr>
          <a:xfrm>
            <a:off x="996950" y="4135041"/>
            <a:ext cx="2511028" cy="198120"/>
          </a:xfrm>
          <a:prstGeom prst="rect">
            <a:avLst/>
          </a:prstGeom>
          <a:noFill/>
        </p:spPr>
        <p:txBody>
          <a:bodyPr wrap="none" lIns="0" rIns="0" tIns="0" bIns="0" anchor="t">
            <a:noAutofit/>
          </a:bodyPr>
          <a:lstStyle/>
          <a:p>
            <a:pPr algn="l"/>
            <a:r>
              <a:rPr sz="1200" b="0" i="0">
                <a:solidFill>
                  <a:srgbClr val="5A6E80"/>
                </a:solidFill>
                <a:latin typeface="DM Sans"/>
              </a:rPr>
              <a:t>Leuven</a:t>
            </a:r>
          </a:p>
        </p:txBody>
      </p:sp>
      <p:sp>
        <p:nvSpPr>
          <p:cNvPr id="19" name="Rounded Rectangle 18"/>
          <p:cNvSpPr/>
          <p:nvPr/>
        </p:nvSpPr>
        <p:spPr>
          <a:xfrm>
            <a:off x="3755628" y="3684191"/>
            <a:ext cx="2828528" cy="793750"/>
          </a:xfrm>
          <a:prstGeom prst="roundRect">
            <a:avLst>
              <a:gd name="adj" fmla="val 16000"/>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939778" y="3830241"/>
            <a:ext cx="2511028" cy="279400"/>
          </a:xfrm>
          <a:prstGeom prst="rect">
            <a:avLst/>
          </a:prstGeom>
          <a:noFill/>
        </p:spPr>
        <p:txBody>
          <a:bodyPr wrap="none" lIns="0" rIns="0" tIns="0" bIns="0" anchor="t">
            <a:noAutofit/>
          </a:bodyPr>
          <a:lstStyle/>
          <a:p>
            <a:pPr algn="l">
              <a:lnSpc>
                <a:spcPts val="2200"/>
              </a:lnSpc>
            </a:pPr>
            <a:r>
              <a:rPr sz="2000" b="0" i="0">
                <a:solidFill>
                  <a:srgbClr val="0A2540"/>
                </a:solidFill>
                <a:latin typeface="DM Serif Display"/>
              </a:rPr>
              <a:t>UZ Antwerpen</a:t>
            </a:r>
          </a:p>
        </p:txBody>
      </p:sp>
      <p:sp>
        <p:nvSpPr>
          <p:cNvPr id="21" name="TextBox 20"/>
          <p:cNvSpPr txBox="1"/>
          <p:nvPr/>
        </p:nvSpPr>
        <p:spPr>
          <a:xfrm>
            <a:off x="3939778" y="4135041"/>
            <a:ext cx="2511028" cy="198120"/>
          </a:xfrm>
          <a:prstGeom prst="rect">
            <a:avLst/>
          </a:prstGeom>
          <a:noFill/>
        </p:spPr>
        <p:txBody>
          <a:bodyPr wrap="none" lIns="0" rIns="0" tIns="0" bIns="0" anchor="t">
            <a:noAutofit/>
          </a:bodyPr>
          <a:lstStyle/>
          <a:p>
            <a:pPr algn="l"/>
            <a:r>
              <a:rPr sz="1200" b="0" i="0">
                <a:solidFill>
                  <a:srgbClr val="5A6E80"/>
                </a:solidFill>
                <a:latin typeface="DM Sans"/>
              </a:rPr>
              <a:t>Edegem</a:t>
            </a:r>
          </a:p>
        </p:txBody>
      </p:sp>
      <p:sp>
        <p:nvSpPr>
          <p:cNvPr id="22" name="TextBox 21"/>
          <p:cNvSpPr txBox="1"/>
          <p:nvPr/>
        </p:nvSpPr>
        <p:spPr>
          <a:xfrm>
            <a:off x="6939756" y="193794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01</a:t>
            </a:r>
          </a:p>
        </p:txBody>
      </p:sp>
      <p:sp>
        <p:nvSpPr>
          <p:cNvPr id="23" name="TextBox 22"/>
          <p:cNvSpPr txBox="1"/>
          <p:nvPr/>
        </p:nvSpPr>
        <p:spPr>
          <a:xfrm>
            <a:off x="7249716" y="1931591"/>
            <a:ext cx="2832497"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Staat de drukmeting er, en werkt ze?</a:t>
            </a:r>
          </a:p>
        </p:txBody>
      </p:sp>
      <p:sp>
        <p:nvSpPr>
          <p:cNvPr id="24" name="Rectangle 23"/>
          <p:cNvSpPr/>
          <p:nvPr/>
        </p:nvSpPr>
        <p:spPr>
          <a:xfrm>
            <a:off x="6939756" y="2209701"/>
            <a:ext cx="4439444"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39756" y="228590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02</a:t>
            </a:r>
          </a:p>
        </p:txBody>
      </p:sp>
      <p:sp>
        <p:nvSpPr>
          <p:cNvPr id="26" name="TextBox 25"/>
          <p:cNvSpPr txBox="1"/>
          <p:nvPr/>
        </p:nvSpPr>
        <p:spPr>
          <a:xfrm>
            <a:off x="7249716" y="2279551"/>
            <a:ext cx="3285133"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Wie volgt de opleiding: podologen, artsen?</a:t>
            </a:r>
          </a:p>
        </p:txBody>
      </p:sp>
      <p:sp>
        <p:nvSpPr>
          <p:cNvPr id="27" name="Rectangle 26"/>
          <p:cNvSpPr/>
          <p:nvPr/>
        </p:nvSpPr>
        <p:spPr>
          <a:xfrm>
            <a:off x="6939756" y="2557661"/>
            <a:ext cx="4439444"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39756" y="263386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03</a:t>
            </a:r>
          </a:p>
        </p:txBody>
      </p:sp>
      <p:sp>
        <p:nvSpPr>
          <p:cNvPr id="29" name="TextBox 28"/>
          <p:cNvSpPr txBox="1"/>
          <p:nvPr/>
        </p:nvSpPr>
        <p:spPr>
          <a:xfrm>
            <a:off x="7249716" y="2627511"/>
            <a:ext cx="3626247"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Hoeveel geschikte patiënten ziet u per maand?</a:t>
            </a:r>
          </a:p>
        </p:txBody>
      </p:sp>
      <p:sp>
        <p:nvSpPr>
          <p:cNvPr id="30" name="Rectangle 29"/>
          <p:cNvSpPr/>
          <p:nvPr/>
        </p:nvSpPr>
        <p:spPr>
          <a:xfrm>
            <a:off x="6939756" y="2905621"/>
            <a:ext cx="4439444"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39756" y="298182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04</a:t>
            </a:r>
          </a:p>
        </p:txBody>
      </p:sp>
      <p:sp>
        <p:nvSpPr>
          <p:cNvPr id="32" name="TextBox 31"/>
          <p:cNvSpPr txBox="1"/>
          <p:nvPr/>
        </p:nvSpPr>
        <p:spPr>
          <a:xfrm>
            <a:off x="7249716" y="2975471"/>
            <a:ext cx="3400425"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Afvaardiging voor Executive Board en CTMG</a:t>
            </a:r>
          </a:p>
        </p:txBody>
      </p:sp>
      <p:sp>
        <p:nvSpPr>
          <p:cNvPr id="33" name="Rectangle 32"/>
          <p:cNvSpPr/>
          <p:nvPr/>
        </p:nvSpPr>
        <p:spPr>
          <a:xfrm>
            <a:off x="6939756" y="3253581"/>
            <a:ext cx="4439444"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39756" y="332978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05</a:t>
            </a:r>
          </a:p>
        </p:txBody>
      </p:sp>
      <p:sp>
        <p:nvSpPr>
          <p:cNvPr id="35" name="TextBox 34"/>
          <p:cNvSpPr txBox="1"/>
          <p:nvPr/>
        </p:nvSpPr>
        <p:spPr>
          <a:xfrm>
            <a:off x="7249716" y="3323431"/>
            <a:ext cx="1336675"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Vragen of zorgen</a:t>
            </a:r>
          </a:p>
        </p:txBody>
      </p:sp>
      <p:pic>
        <p:nvPicPr>
          <p:cNvPr id="36" name="Picture 3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7" name="TextBox 3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38" name="TextBox 37"/>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consortiummeeting 1 april 2026, actiepunten</a:t>
            </a:r>
          </a:p>
        </p:txBody>
      </p:sp>
    </p:spTree>
  </p:cSld>
  <p:clrMapOvr>
    <a:masterClrMapping/>
  </p:clrMapOvr>
  <p:transition xmlns:p14="http://schemas.microsoft.com/office/powerpoint/2010/main" spd="med" p14:dur="7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PARADISE — Eerste officiële meeting met de voetklinieken</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