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We volgen de agenda die u vooraf kreeg: de stand van zaken, wat er sinds 1 april veranderde, de werkpakketten, de aandachtspunten, de mijlpalen en de planning, en dan de bespreking en een ronde per centrum. Rechts loopt dat tempo al: zes centra aan drie inclusies per maand, telkens met een nieuwe, willekeurige instroom. Een bolletje betekent dat het centrum zijn 24 deelnemers heeft. In ruim negen op de tien runs halen alle zes dat binnen het jaar.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Het meeste tijd gaat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Per rij één onderdeel: het pedar-systeem met laptop, router en twee zenders, de zolen in vijf maten, de vier MoveMonitors, de Orthotimers met de pen, de sokken, en de twee rekentools op de pc. Per centrum: aanwezig, onderweg, of nog te leveren. Alles hoort er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er volgen interviews met patiënten, therapeuten en management, en de fidelity van SEBIA wordt gemeten. WP3, de gezondheidseconomie onder Koen Putman: levenskwaliteit, medische consumptie en productiviteit, waarvoor de licenties geregeld zijn, en een dagboek dat telefonisch bevraagd wordt. WP4, project- en databeheer onder Kevin Deschamps: de REDCap-databank en de overlegorganen. WP5, de disseminatie. De volgende dia's gaan over WP1.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rechts wie niet.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Alle drie de schoeiselsituaties komen in aanmerking: volledig maatwerk, of maatzolen in semi-orthopedisch of in extra-diep confectieschoeisel.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draagnorm is voor elke patiënt op maat. Bij de start draagt de patiënt één week de MoveMonitor. Daaruit halen we de slaaptijd, en dus hoe lang iemand per dag wakker is; in dit voorbeeld 15,5 uur. De norm is tachtig procent daarvan, hier 12,4 uur per dag, voor alle zeven dagen van de week, en die zetten we in de Orthotimer.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Protocol, formulieren en REDCap zetten we daarop gelijk.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openstaande punten. Eén: de ethische goedkeuring, centraal bij de EC van UZ Leuven, bij het FAGG en lokaal in elk centrum. Nergens wordt geïncludeerd vóór alle goedkeuringen binnen zijn; opleiden kan wel. De stand per centrum staat op een aparte dia. Twee: het toetsingsblad terug tegen vrijdag 16 oktober. Drie: de toestellen geïnstalleerd vóór de technologiesessie van elk centrum; ook dat staat per centrum op een aparte dia. Vier: de MoveMonitor dient alleen nog bij de start. Protocol, formulieren en REDCap zetten we daarop gelijk, vóór de indiening bij de ethische commissie, of anders als amendement. Vijf: een screeningslog vanaf de eerste patiënt; iedereen die overwogen wordt, komt er met de reden in, en dus in het CONSORT-diagram. Zes: welk SEBIA-schema geldt, dat van het script of dat van het manuscript. Zeven: een aparte toestemming voor de opnames en observaties van de procesevaluatie in het toestemmingsformulier. Acht: de licenties van twee vragenlijsten.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 2029, aan anderhalve rond apr 2030: na de geplande laatste visite van september 2029. Dan blijft er voor ons geen tijd om de gegevens te verwerken. Aan anderhalve per maand zijn bovendien maar in 17 procent van de gevallen alle zes centra binnen de achttien maanden rond. De uren zijn die per visite: twee uur in Optimal Care, één uur in Usual Care, twee uur bij de start. Het uitlezen van de MoveMonitor op maand zes valt weg.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in het midden op een donkere achtergrond, zoals in de presentaties en op de website; rechts het symbool alleen, voor klein formaat.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Vier: wie deelneemt aan de opleidingen. Vijf: de drukmeting geïnstalleerd vóór uw technologiesessie. Rechts twee punten waarover we uw mening vragen. Het eerste: bijspringen. Het risicoplan van de aanvraag voorziet dat andere centra bijspringen als een centrum achterblijft.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gif"/><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gif"/><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image" Target="../media/image6.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pic>
        <p:nvPicPr>
          <p:cNvPr id="3" name="Picture 2" descr="cover_0.gif"/>
          <p:cNvPicPr>
            <a:picLocks noChangeAspect="1"/>
          </p:cNvPicPr>
          <p:nvPr/>
        </p:nvPicPr>
        <p:blipFill>
          <a:blip r:embed="rId3"/>
          <a:stretch>
            <a:fillRect/>
          </a:stretch>
        </p:blipFill>
        <p:spPr>
          <a:xfrm>
            <a:off x="7302500" y="812800"/>
            <a:ext cx="4076700" cy="5232400"/>
          </a:xfrm>
          <a:prstGeom prst="rect">
            <a:avLst/>
          </a:prstGeom>
        </p:spPr>
      </p:pic>
      <p:pic>
        <p:nvPicPr>
          <p:cNvPr id="4" name="Picture 3" descr="14abb052316bca6838ae130b0aff4182.png"/>
          <p:cNvPicPr>
            <a:picLocks noChangeAspect="1"/>
          </p:cNvPicPr>
          <p:nvPr/>
        </p:nvPicPr>
        <p:blipFill>
          <a:blip r:embed="rId4"/>
          <a:stretch>
            <a:fillRect/>
          </a:stretch>
        </p:blipFill>
        <p:spPr>
          <a:xfrm>
            <a:off x="812800" y="813054"/>
            <a:ext cx="2235200" cy="824992"/>
          </a:xfrm>
          <a:prstGeom prst="rect">
            <a:avLst/>
          </a:prstGeom>
        </p:spPr>
      </p:pic>
      <p:sp>
        <p:nvSpPr>
          <p:cNvPr id="5" name="TextBox 4"/>
          <p:cNvSpPr txBox="1"/>
          <p:nvPr/>
        </p:nvSpPr>
        <p:spPr>
          <a:xfrm>
            <a:off x="812800" y="1841500"/>
            <a:ext cx="6146800" cy="198120"/>
          </a:xfrm>
          <a:prstGeom prst="rect">
            <a:avLst/>
          </a:prstGeom>
          <a:noFill/>
        </p:spPr>
        <p:txBody>
          <a:bodyPr wrap="none" lIns="0" rIns="0" tIns="0" bIns="0" anchor="t">
            <a:noAutofit/>
          </a:bodyPr>
          <a:lstStyle/>
          <a:p>
            <a:pPr algn="l"/>
            <a:r>
              <a:rPr sz="1200" b="0" i="0" spc="200">
                <a:solidFill>
                  <a:srgbClr val="52BDEC"/>
                </a:solidFill>
                <a:latin typeface="JetBrains Mono"/>
              </a:rPr>
              <a:t>PARADISE · VOETKLINIEKEN · 12 OKTOBER 2026</a:t>
            </a:r>
          </a:p>
        </p:txBody>
      </p:sp>
      <p:sp>
        <p:nvSpPr>
          <p:cNvPr id="6" name="TextBox 5"/>
          <p:cNvSpPr txBox="1"/>
          <p:nvPr/>
        </p:nvSpPr>
        <p:spPr>
          <a:xfrm>
            <a:off x="812800" y="2241550"/>
            <a:ext cx="6217920" cy="1524000"/>
          </a:xfrm>
          <a:prstGeom prst="rect">
            <a:avLst/>
          </a:prstGeom>
          <a:noFill/>
        </p:spPr>
        <p:txBody>
          <a:bodyPr wrap="square" lIns="0" rIns="0" tIns="0" bIns="0" anchor="t">
            <a:noAutofit/>
          </a:bodyPr>
          <a:lstStyle/>
          <a:p>
            <a:pPr algn="l">
              <a:lnSpc>
                <a:spcPts val="6000"/>
              </a:lnSpc>
            </a:pPr>
            <a:r>
              <a:rPr sz="6000" b="0" i="0" spc="-100">
                <a:solidFill>
                  <a:srgbClr val="F2F8FC"/>
                </a:solidFill>
                <a:latin typeface="DM Serif Display"/>
              </a:rPr>
              <a:t>Eerste officiële meeting</a:t>
            </a:r>
          </a:p>
        </p:txBody>
      </p:sp>
      <p:sp>
        <p:nvSpPr>
          <p:cNvPr id="7" name="TextBox 6"/>
          <p:cNvSpPr txBox="1"/>
          <p:nvPr/>
        </p:nvSpPr>
        <p:spPr>
          <a:xfrm>
            <a:off x="812800" y="3968750"/>
            <a:ext cx="6217920" cy="617141"/>
          </a:xfrm>
          <a:prstGeom prst="rect">
            <a:avLst/>
          </a:prstGeom>
          <a:noFill/>
        </p:spPr>
        <p:txBody>
          <a:bodyPr wrap="square" lIns="0" rIns="0" tIns="0" bIns="0" anchor="t">
            <a:noAutofit/>
          </a:bodyPr>
          <a:lstStyle/>
          <a:p>
            <a:pPr algn="l">
              <a:lnSpc>
                <a:spcPts val="2430"/>
              </a:lnSpc>
            </a:pPr>
            <a:r>
              <a:rPr sz="1800" b="0" i="0">
                <a:solidFill>
                  <a:srgbClr val="C5D8E8"/>
                </a:solidFill>
                <a:latin typeface="DM Sans"/>
              </a:rPr>
              <a:t>Stand van zaken, ontwikkelingen, werkpakketten, aandachtspunten, mijlpalen en bespreking.</a:t>
            </a:r>
          </a:p>
        </p:txBody>
      </p:sp>
      <p:sp>
        <p:nvSpPr>
          <p:cNvPr id="8" name="Rounded Rectangle 7"/>
          <p:cNvSpPr/>
          <p:nvPr/>
        </p:nvSpPr>
        <p:spPr>
          <a:xfrm>
            <a:off x="812800" y="54864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75504389baacf5fb07e89c0ba89ea558.png"/>
          <p:cNvPicPr>
            <a:picLocks noChangeAspect="1"/>
          </p:cNvPicPr>
          <p:nvPr/>
        </p:nvPicPr>
        <p:blipFill>
          <a:blip r:embed="rId5"/>
          <a:stretch>
            <a:fillRect/>
          </a:stretch>
        </p:blipFill>
        <p:spPr>
          <a:xfrm>
            <a:off x="977900" y="5588000"/>
            <a:ext cx="1244600" cy="355600"/>
          </a:xfrm>
          <a:prstGeom prst="rect">
            <a:avLst/>
          </a:prstGeom>
        </p:spPr>
      </p:pic>
      <p:pic>
        <p:nvPicPr>
          <p:cNvPr id="10" name="Picture 9" descr="228c2b11ec878f28c18f6d8655b98aa7.png"/>
          <p:cNvPicPr>
            <a:picLocks noChangeAspect="1"/>
          </p:cNvPicPr>
          <p:nvPr/>
        </p:nvPicPr>
        <p:blipFill>
          <a:blip r:embed="rId6"/>
          <a:stretch>
            <a:fillRect/>
          </a:stretch>
        </p:blipFill>
        <p:spPr>
          <a:xfrm>
            <a:off x="2400300" y="5597526"/>
            <a:ext cx="939205" cy="336548"/>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Korte stand van zaken van het PARADISE-project</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Belangrijkste ontwikkelingen sinds de vorige meeting</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 en activiteiten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 en openstaande zaken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Komende 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 en input vanuit het consortium</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784fe050203227ed71fc366b12ff83a7.png"/>
          <p:cNvPicPr>
            <a:picLocks noChangeAspect="1"/>
          </p:cNvPicPr>
          <p:nvPr/>
        </p:nvPicPr>
        <p:blipFill>
          <a:blip r:embed="rId2"/>
          <a:stretch>
            <a:fillRect/>
          </a:stretch>
        </p:blipFill>
        <p:spPr>
          <a:xfrm>
            <a:off x="5207000" y="953262"/>
            <a:ext cx="6172200" cy="4608576"/>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219101"/>
          </a:xfrm>
          <a:prstGeom prst="roundRect">
            <a:avLst>
              <a:gd name="adj" fmla="val 10417"/>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81888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De Novel pedar-systemen zijn geleverd. De installatie loopt, centrum per centrum.</a:t>
            </a:r>
          </a:p>
        </p:txBody>
      </p:sp>
      <p:sp>
        <p:nvSpPr>
          <p:cNvPr id="7" name="Rounded Rectangle 6"/>
          <p:cNvSpPr/>
          <p:nvPr/>
        </p:nvSpPr>
        <p:spPr>
          <a:xfrm>
            <a:off x="6184900" y="1918891"/>
            <a:ext cx="5194300" cy="1219101"/>
          </a:xfrm>
          <a:prstGeom prst="roundRect">
            <a:avLst>
              <a:gd name="adj" fmla="val 10417"/>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81888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De centrale REDCap-databank staat klaar. U werkt op papier; het studieteam voert de gegevens in.</a:t>
            </a:r>
          </a:p>
        </p:txBody>
      </p:sp>
      <p:sp>
        <p:nvSpPr>
          <p:cNvPr id="10" name="Rounded Rectangle 9"/>
          <p:cNvSpPr/>
          <p:nvPr/>
        </p:nvSpPr>
        <p:spPr>
          <a:xfrm>
            <a:off x="812800" y="3315791"/>
            <a:ext cx="5194300" cy="1219101"/>
          </a:xfrm>
          <a:prstGeom prst="roundRect">
            <a:avLst>
              <a:gd name="adj" fmla="val 10417"/>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5253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845322"/>
            <a:ext cx="481888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De planning ligt klaar, van 10 november tot maart. Elk centrum krijgt een toetsingsblad met zijn data.</a:t>
            </a:r>
          </a:p>
        </p:txBody>
      </p:sp>
      <p:sp>
        <p:nvSpPr>
          <p:cNvPr id="13" name="Rounded Rectangle 12"/>
          <p:cNvSpPr/>
          <p:nvPr/>
        </p:nvSpPr>
        <p:spPr>
          <a:xfrm>
            <a:off x="6184900" y="3315791"/>
            <a:ext cx="5194300" cy="1219101"/>
          </a:xfrm>
          <a:prstGeom prst="roundRect">
            <a:avLst>
              <a:gd name="adj" fmla="val 10417"/>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5253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845322"/>
            <a:ext cx="481888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Februari 2027: piloot en Go/No-Go, daarna de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1"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pic>
        <p:nvPicPr>
          <p:cNvPr id="11" name="Picture 1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2" name="TextBox 1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 name="TextBox 1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graphicFrame>
        <p:nvGraphicFramePr>
          <p:cNvPr id="4" name="Table 3"/>
          <p:cNvGraphicFramePr>
            <a:graphicFrameLocks noGrp="1"/>
          </p:cNvGraphicFramePr>
          <p:nvPr/>
        </p:nvGraphicFramePr>
        <p:xfrm>
          <a:off x="812800" y="1817291"/>
          <a:ext cx="10560051" cy="2776141"/>
        </p:xfrm>
        <a:graphic>
          <a:graphicData uri="http://schemas.openxmlformats.org/drawingml/2006/table">
            <a:tbl>
              <a:tblPr firstRow="0" bandRow="0">
                <a:tableStyleId>{2D5ABB26-0587-4C30-8999-92F81FD0307C}</a:tableStyleId>
              </a:tblPr>
              <a:tblGrid>
                <a:gridCol w="3590429"/>
                <a:gridCol w="1161554"/>
                <a:gridCol w="1161554"/>
                <a:gridCol w="1161554"/>
                <a:gridCol w="1161554"/>
                <a:gridCol w="1161554"/>
                <a:gridCol w="1161852"/>
              </a:tblGrid>
              <a:tr h="337741">
                <a:tc>
                  <a:txBody>
                    <a:bodyPr wrap="square"/>
                    <a:lstStyle/>
                    <a:p>
                      <a:pPr algn="l"/>
                      <a:r>
                        <a:rPr sz="1300" b="1" i="0">
                          <a:solidFill>
                            <a:srgbClr val="3A4F63"/>
                          </a:solidFill>
                          <a:latin typeface="DM Sans"/>
                        </a:rPr>
                        <a:t>Materiaal</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Novel pedar: laptop, router en twee zenders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pedar-zolen, vijf maten (UW tot YW)</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Vier MoveMonitors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Orthotimers en de 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Dunne, naadloze katoenen sokken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Drukmeettool en draagtijdtool op de pc</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802981"/>
            <a:ext cx="106172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Per vakje: aanwezig, onderweg, of nog te leveren.</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8" name="TextBox 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SINDS DE VORIGE MEETING VAN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TextBox 3"/>
          <p:cNvSpPr txBox="1"/>
          <p:nvPr/>
        </p:nvSpPr>
        <p:spPr>
          <a:xfrm>
            <a:off x="812800" y="1861741"/>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Drukmeting</a:t>
            </a:r>
          </a:p>
        </p:txBody>
      </p:sp>
      <p:sp>
        <p:nvSpPr>
          <p:cNvPr id="5" name="TextBox 4"/>
          <p:cNvSpPr txBox="1"/>
          <p:nvPr/>
        </p:nvSpPr>
        <p:spPr>
          <a:xfrm>
            <a:off x="2540000" y="1861741"/>
            <a:ext cx="9015984" cy="412750"/>
          </a:xfrm>
          <a:prstGeom prst="rect">
            <a:avLst/>
          </a:prstGeom>
          <a:noFill/>
        </p:spPr>
        <p:txBody>
          <a:bodyPr wrap="square" lIns="0" rIns="0" tIns="0" bIns="0" anchor="t">
            <a:noAutofit/>
          </a:bodyPr>
          <a:lstStyle/>
          <a:p>
            <a:pPr algn="l">
              <a:lnSpc>
                <a:spcPts val="1625"/>
              </a:lnSpc>
            </a:pPr>
            <a:r>
              <a:rPr sz="1250" b="0" i="0">
                <a:solidFill>
                  <a:srgbClr val="C5D8E8"/>
                </a:solidFill>
                <a:latin typeface="DM Sans"/>
              </a:rPr>
              <a:t>De Novel pedar is het klinische toestel in de voetkliniek: geleverd, de installatie loopt. De F-Scan GO gebruikt alleen het studieteam, ter vergelijking.</a:t>
            </a:r>
          </a:p>
        </p:txBody>
      </p:sp>
      <p:sp>
        <p:nvSpPr>
          <p:cNvPr id="6" name="Rectangle 5"/>
          <p:cNvSpPr/>
          <p:nvPr/>
        </p:nvSpPr>
        <p:spPr>
          <a:xfrm>
            <a:off x="812800" y="23443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20541"/>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Druknorm</a:t>
            </a:r>
          </a:p>
        </p:txBody>
      </p:sp>
      <p:sp>
        <p:nvSpPr>
          <p:cNvPr id="8" name="TextBox 7"/>
          <p:cNvSpPr txBox="1"/>
          <p:nvPr/>
        </p:nvSpPr>
        <p:spPr>
          <a:xfrm>
            <a:off x="2540000" y="2420541"/>
            <a:ext cx="9015984" cy="412750"/>
          </a:xfrm>
          <a:prstGeom prst="rect">
            <a:avLst/>
          </a:prstGeom>
          <a:noFill/>
        </p:spPr>
        <p:txBody>
          <a:bodyPr wrap="square" lIns="0" rIns="0" tIns="0" bIns="0" anchor="t">
            <a:noAutofit/>
          </a:bodyPr>
          <a:lstStyle/>
          <a:p>
            <a:pPr algn="l">
              <a:lnSpc>
                <a:spcPts val="1625"/>
              </a:lnSpc>
            </a:pPr>
            <a:r>
              <a:rPr sz="1250" b="0" i="0">
                <a:solidFill>
                  <a:srgbClr val="C5D8E8"/>
                </a:solidFill>
                <a:latin typeface="DM Sans"/>
              </a:rPr>
              <a:t>Alles in de schoen gemeten. Norm: onder 200 kPa óf minstens 25% lager dan zonder CMFO op visite 2, een vaste referentie.</a:t>
            </a:r>
          </a:p>
        </p:txBody>
      </p:sp>
      <p:sp>
        <p:nvSpPr>
          <p:cNvPr id="9" name="Rectangle 8"/>
          <p:cNvSpPr/>
          <p:nvPr/>
        </p:nvSpPr>
        <p:spPr>
          <a:xfrm>
            <a:off x="812800" y="29031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79341"/>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Eindpunt</a:t>
            </a:r>
          </a:p>
        </p:txBody>
      </p:sp>
      <p:sp>
        <p:nvSpPr>
          <p:cNvPr id="11" name="TextBox 10"/>
          <p:cNvSpPr txBox="1"/>
          <p:nvPr/>
        </p:nvSpPr>
        <p:spPr>
          <a:xfrm>
            <a:off x="2540000" y="2979341"/>
            <a:ext cx="8890000" cy="206375"/>
          </a:xfrm>
          <a:prstGeom prst="rect">
            <a:avLst/>
          </a:prstGeom>
          <a:noFill/>
        </p:spPr>
        <p:txBody>
          <a:bodyPr wrap="none" lIns="0" rIns="0" tIns="0" bIns="0" anchor="t">
            <a:noAutofit/>
          </a:bodyPr>
          <a:lstStyle/>
          <a:p>
            <a:pPr algn="l">
              <a:lnSpc>
                <a:spcPts val="1625"/>
              </a:lnSpc>
            </a:pPr>
            <a:r>
              <a:rPr sz="1250" b="0" i="0">
                <a:solidFill>
                  <a:srgbClr val="C5D8E8"/>
                </a:solidFill>
                <a:latin typeface="DM Sans"/>
              </a:rPr>
              <a:t>Eén primair eindpunt: voetulcusrecidief over 18 maanden. Therapietrouw is de mediator.</a:t>
            </a:r>
          </a:p>
        </p:txBody>
      </p:sp>
      <p:sp>
        <p:nvSpPr>
          <p:cNvPr id="12" name="Rectangle 11"/>
          <p:cNvSpPr/>
          <p:nvPr/>
        </p:nvSpPr>
        <p:spPr>
          <a:xfrm>
            <a:off x="812800" y="32555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331766"/>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Draagnorm</a:t>
            </a:r>
          </a:p>
        </p:txBody>
      </p:sp>
      <p:sp>
        <p:nvSpPr>
          <p:cNvPr id="14" name="TextBox 13"/>
          <p:cNvSpPr txBox="1"/>
          <p:nvPr/>
        </p:nvSpPr>
        <p:spPr>
          <a:xfrm>
            <a:off x="2540000" y="3331766"/>
            <a:ext cx="8890000" cy="206375"/>
          </a:xfrm>
          <a:prstGeom prst="rect">
            <a:avLst/>
          </a:prstGeom>
          <a:noFill/>
        </p:spPr>
        <p:txBody>
          <a:bodyPr wrap="none" lIns="0" rIns="0" tIns="0" bIns="0" anchor="t">
            <a:noAutofit/>
          </a:bodyPr>
          <a:lstStyle/>
          <a:p>
            <a:pPr algn="l">
              <a:lnSpc>
                <a:spcPts val="1625"/>
              </a:lnSpc>
            </a:pPr>
            <a:r>
              <a:rPr sz="1250" b="0" i="0">
                <a:solidFill>
                  <a:srgbClr val="C5D8E8"/>
                </a:solidFill>
                <a:latin typeface="DM Sans"/>
              </a:rPr>
              <a:t>80% van de eigen waaktijd. Eén week MoveMonitor bij de start bepaalt de slaaptijd; de week op maand 6 vervalt.</a:t>
            </a:r>
          </a:p>
        </p:txBody>
      </p:sp>
      <p:sp>
        <p:nvSpPr>
          <p:cNvPr id="15" name="Rectangle 14"/>
          <p:cNvSpPr/>
          <p:nvPr/>
        </p:nvSpPr>
        <p:spPr>
          <a:xfrm>
            <a:off x="812800" y="36079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684191"/>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CMFO</a:t>
            </a:r>
          </a:p>
        </p:txBody>
      </p:sp>
      <p:sp>
        <p:nvSpPr>
          <p:cNvPr id="17" name="TextBox 16"/>
          <p:cNvSpPr txBox="1"/>
          <p:nvPr/>
        </p:nvSpPr>
        <p:spPr>
          <a:xfrm>
            <a:off x="2540000" y="3684191"/>
            <a:ext cx="8890000" cy="206375"/>
          </a:xfrm>
          <a:prstGeom prst="rect">
            <a:avLst/>
          </a:prstGeom>
          <a:noFill/>
        </p:spPr>
        <p:txBody>
          <a:bodyPr wrap="none" lIns="0" rIns="0" tIns="0" bIns="0" anchor="t">
            <a:noAutofit/>
          </a:bodyPr>
          <a:lstStyle/>
          <a:p>
            <a:pPr algn="l">
              <a:lnSpc>
                <a:spcPts val="1625"/>
              </a:lnSpc>
            </a:pPr>
            <a:r>
              <a:rPr sz="1250" b="0" i="0">
                <a:solidFill>
                  <a:srgbClr val="C5D8E8"/>
                </a:solidFill>
                <a:latin typeface="DM Sans"/>
              </a:rPr>
              <a:t>Opbouw per schoentype vastgelegd. Een identiek tweede paar zodra de norm gehaald is.</a:t>
            </a:r>
          </a:p>
        </p:txBody>
      </p:sp>
      <p:sp>
        <p:nvSpPr>
          <p:cNvPr id="18" name="Rectangle 17"/>
          <p:cNvSpPr/>
          <p:nvPr/>
        </p:nvSpPr>
        <p:spPr>
          <a:xfrm>
            <a:off x="812800" y="39604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036616"/>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Blindering</a:t>
            </a:r>
          </a:p>
        </p:txBody>
      </p:sp>
      <p:sp>
        <p:nvSpPr>
          <p:cNvPr id="20" name="TextBox 19"/>
          <p:cNvSpPr txBox="1"/>
          <p:nvPr/>
        </p:nvSpPr>
        <p:spPr>
          <a:xfrm>
            <a:off x="2540000" y="4036616"/>
            <a:ext cx="8890000" cy="206375"/>
          </a:xfrm>
          <a:prstGeom prst="rect">
            <a:avLst/>
          </a:prstGeom>
          <a:noFill/>
        </p:spPr>
        <p:txBody>
          <a:bodyPr wrap="none" lIns="0" rIns="0" tIns="0" bIns="0" anchor="t">
            <a:noAutofit/>
          </a:bodyPr>
          <a:lstStyle/>
          <a:p>
            <a:pPr algn="l">
              <a:lnSpc>
                <a:spcPts val="1625"/>
              </a:lnSpc>
            </a:pPr>
            <a:r>
              <a:rPr sz="1250" b="0" i="0">
                <a:solidFill>
                  <a:srgbClr val="C5D8E8"/>
                </a:solidFill>
                <a:latin typeface="DM Sans"/>
              </a:rPr>
              <a:t>In gebruikelijke zorg worden drukwaarden niet getoond of besproken; het SEBIA-boekje in beide armen.</a:t>
            </a:r>
          </a:p>
        </p:txBody>
      </p:sp>
      <p:sp>
        <p:nvSpPr>
          <p:cNvPr id="21" name="Rectangle 20"/>
          <p:cNvSpPr/>
          <p:nvPr/>
        </p:nvSpPr>
        <p:spPr>
          <a:xfrm>
            <a:off x="812800" y="43128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389041"/>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Data</a:t>
            </a:r>
          </a:p>
        </p:txBody>
      </p:sp>
      <p:sp>
        <p:nvSpPr>
          <p:cNvPr id="23" name="TextBox 22"/>
          <p:cNvSpPr txBox="1"/>
          <p:nvPr/>
        </p:nvSpPr>
        <p:spPr>
          <a:xfrm>
            <a:off x="2540000" y="4389041"/>
            <a:ext cx="8890000" cy="206375"/>
          </a:xfrm>
          <a:prstGeom prst="rect">
            <a:avLst/>
          </a:prstGeom>
          <a:noFill/>
        </p:spPr>
        <p:txBody>
          <a:bodyPr wrap="none" lIns="0" rIns="0" tIns="0" bIns="0" anchor="t">
            <a:noAutofit/>
          </a:bodyPr>
          <a:lstStyle/>
          <a:p>
            <a:pPr algn="l">
              <a:lnSpc>
                <a:spcPts val="1625"/>
              </a:lnSpc>
            </a:pPr>
            <a:r>
              <a:rPr sz="1250" b="0" i="0">
                <a:solidFill>
                  <a:srgbClr val="C5D8E8"/>
                </a:solidFill>
                <a:latin typeface="DM Sans"/>
              </a:rPr>
              <a:t>Protocol v1.0 van 17 mei 2026. REDCap-databank klaar; de centra werken op papier.</a:t>
            </a:r>
          </a:p>
        </p:txBody>
      </p:sp>
      <p:sp>
        <p:nvSpPr>
          <p:cNvPr id="24" name="Rectangle 23"/>
          <p:cNvSpPr/>
          <p:nvPr/>
        </p:nvSpPr>
        <p:spPr>
          <a:xfrm>
            <a:off x="812800" y="46652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741466"/>
            <a:ext cx="1574800" cy="206375"/>
          </a:xfrm>
          <a:prstGeom prst="rect">
            <a:avLst/>
          </a:prstGeom>
          <a:noFill/>
        </p:spPr>
        <p:txBody>
          <a:bodyPr wrap="none" lIns="0" rIns="0" tIns="0" bIns="0" anchor="t">
            <a:noAutofit/>
          </a:bodyPr>
          <a:lstStyle/>
          <a:p>
            <a:pPr algn="l">
              <a:lnSpc>
                <a:spcPts val="1625"/>
              </a:lnSpc>
            </a:pPr>
            <a:r>
              <a:rPr sz="1250" b="1" i="0">
                <a:solidFill>
                  <a:srgbClr val="F2F8FC"/>
                </a:solidFill>
                <a:latin typeface="DM Sans"/>
              </a:rPr>
              <a:t>Rekrutering</a:t>
            </a:r>
          </a:p>
        </p:txBody>
      </p:sp>
      <p:sp>
        <p:nvSpPr>
          <p:cNvPr id="26" name="TextBox 25"/>
          <p:cNvSpPr txBox="1"/>
          <p:nvPr/>
        </p:nvSpPr>
        <p:spPr>
          <a:xfrm>
            <a:off x="2540000" y="4741466"/>
            <a:ext cx="8890000" cy="206375"/>
          </a:xfrm>
          <a:prstGeom prst="rect">
            <a:avLst/>
          </a:prstGeom>
          <a:noFill/>
        </p:spPr>
        <p:txBody>
          <a:bodyPr wrap="none" lIns="0" rIns="0" tIns="0" bIns="0" anchor="t">
            <a:noAutofit/>
          </a:bodyPr>
          <a:lstStyle/>
          <a:p>
            <a:pPr algn="l">
              <a:lnSpc>
                <a:spcPts val="1625"/>
              </a:lnSpc>
            </a:pPr>
            <a:r>
              <a:rPr sz="1250" b="0" i="0">
                <a:solidFill>
                  <a:srgbClr val="C5D8E8"/>
                </a:solidFill>
                <a:latin typeface="DM Sans"/>
              </a:rPr>
              <a:t>Twaalf maanden in het protocol, februari 2027 tot februari 2028, in plaats van achttien in de aanvraag.</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17291"/>
            <a:ext cx="1826121" cy="3164185"/>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19950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2554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217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2813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363912"/>
            <a:ext cx="1521321" cy="1439763"/>
          </a:xfrm>
          <a:prstGeom prst="rect">
            <a:avLst/>
          </a:prstGeom>
          <a:noFill/>
        </p:spPr>
        <p:txBody>
          <a:bodyPr wrap="square" lIns="0" rIns="0" tIns="0" bIns="0" anchor="t">
            <a:noAutofit/>
          </a:bodyPr>
          <a:lstStyle/>
          <a:p>
            <a:pPr algn="l">
              <a:lnSpc>
                <a:spcPts val="1620"/>
              </a:lnSpc>
            </a:pPr>
            <a:r>
              <a:rPr sz="1200" b="0" i="0">
                <a:solidFill>
                  <a:srgbClr val="3A4F63"/>
                </a:solidFill>
                <a:latin typeface="DM Sans"/>
              </a:rPr>
              <a:t>Protocol en eCRF's klaar. Opleidingen van november tot maart, piloot en Go/No-Go in februari, daarna de inclusie.</a:t>
            </a:r>
          </a:p>
        </p:txBody>
      </p:sp>
      <p:sp>
        <p:nvSpPr>
          <p:cNvPr id="10" name="Rounded Rectangle 9"/>
          <p:cNvSpPr/>
          <p:nvPr/>
        </p:nvSpPr>
        <p:spPr>
          <a:xfrm>
            <a:off x="2765921" y="1817291"/>
            <a:ext cx="1945680" cy="3164185"/>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19887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490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5640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255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08102"/>
            <a:ext cx="1653580" cy="1645444"/>
          </a:xfrm>
          <a:prstGeom prst="rect">
            <a:avLst/>
          </a:prstGeom>
          <a:noFill/>
        </p:spPr>
        <p:txBody>
          <a:bodyPr wrap="square" lIns="0" rIns="0" tIns="0" bIns="0" anchor="t">
            <a:noAutofit/>
          </a:bodyPr>
          <a:lstStyle/>
          <a:p>
            <a:pPr algn="l">
              <a:lnSpc>
                <a:spcPts val="1620"/>
              </a:lnSpc>
            </a:pPr>
            <a:r>
              <a:rPr sz="1200" b="0" i="0">
                <a:solidFill>
                  <a:srgbClr val="3A4F63"/>
                </a:solidFill>
                <a:latin typeface="DM Sans"/>
              </a:rPr>
              <a:t>Opnames en observatie van PARADISE-sessies met patiënten, het dagboek van de therapeut (eCRF 40), interviews, fidelity van SEBIA.</a:t>
            </a:r>
          </a:p>
        </p:txBody>
      </p:sp>
      <p:sp>
        <p:nvSpPr>
          <p:cNvPr id="16" name="Rounded Rectangle 15"/>
          <p:cNvSpPr/>
          <p:nvPr/>
        </p:nvSpPr>
        <p:spPr>
          <a:xfrm>
            <a:off x="4838601" y="1817291"/>
            <a:ext cx="2634159" cy="3164185"/>
          </a:xfrm>
          <a:prstGeom prst="roundRect">
            <a:avLst>
              <a:gd name="adj" fmla="val 4821"/>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19887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490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5640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255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08102"/>
            <a:ext cx="2342059" cy="1028402"/>
          </a:xfrm>
          <a:prstGeom prst="rect">
            <a:avLst/>
          </a:prstGeom>
          <a:noFill/>
        </p:spPr>
        <p:txBody>
          <a:bodyPr wrap="square" lIns="0" rIns="0" tIns="0" bIns="0" anchor="t">
            <a:noAutofit/>
          </a:bodyPr>
          <a:lstStyle/>
          <a:p>
            <a:pPr algn="l">
              <a:lnSpc>
                <a:spcPts val="1620"/>
              </a:lnSpc>
            </a:pPr>
            <a:r>
              <a:rPr sz="1200" b="0" i="0">
                <a:solidFill>
                  <a:srgbClr val="3A4F63"/>
                </a:solidFill>
                <a:latin typeface="DM Sans"/>
              </a:rPr>
              <a:t>EQ-5D-5L, iMCQ en iPCQ, met licentie. Het gezondheidseconomisch dagboek wordt telefonisch bevraagd.</a:t>
            </a:r>
          </a:p>
        </p:txBody>
      </p:sp>
      <p:sp>
        <p:nvSpPr>
          <p:cNvPr id="22" name="Rounded Rectangle 21"/>
          <p:cNvSpPr/>
          <p:nvPr/>
        </p:nvSpPr>
        <p:spPr>
          <a:xfrm>
            <a:off x="7599759" y="1817291"/>
            <a:ext cx="1826220" cy="3164185"/>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19887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490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154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2750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357562"/>
            <a:ext cx="1534120" cy="1234083"/>
          </a:xfrm>
          <a:prstGeom prst="rect">
            <a:avLst/>
          </a:prstGeom>
          <a:noFill/>
        </p:spPr>
        <p:txBody>
          <a:bodyPr wrap="square" lIns="0" rIns="0" tIns="0" bIns="0" anchor="t">
            <a:noAutofit/>
          </a:bodyPr>
          <a:lstStyle/>
          <a:p>
            <a:pPr algn="l">
              <a:lnSpc>
                <a:spcPts val="1620"/>
              </a:lnSpc>
            </a:pPr>
            <a:r>
              <a:rPr sz="1200" b="0" i="0">
                <a:solidFill>
                  <a:srgbClr val="3A4F63"/>
                </a:solidFill>
                <a:latin typeface="DM Sans"/>
              </a:rPr>
              <a:t>REDCap; de papieren formulieren voert het studieteam in. Executive Board en Clinical Trial Management Group.</a:t>
            </a:r>
          </a:p>
        </p:txBody>
      </p:sp>
      <p:sp>
        <p:nvSpPr>
          <p:cNvPr id="28" name="Rounded Rectangle 27"/>
          <p:cNvSpPr/>
          <p:nvPr/>
        </p:nvSpPr>
        <p:spPr>
          <a:xfrm>
            <a:off x="9552980" y="1817291"/>
            <a:ext cx="1826121" cy="3164185"/>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19887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490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5640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46561"/>
            <a:ext cx="1534021" cy="1028402"/>
          </a:xfrm>
          <a:prstGeom prst="rect">
            <a:avLst/>
          </a:prstGeom>
          <a:noFill/>
        </p:spPr>
        <p:txBody>
          <a:bodyPr wrap="square" lIns="0" rIns="0" tIns="0" bIns="0" anchor="t">
            <a:noAutofit/>
          </a:bodyPr>
          <a:lstStyle/>
          <a:p>
            <a:pPr algn="l">
              <a:lnSpc>
                <a:spcPts val="1620"/>
              </a:lnSpc>
            </a:pPr>
            <a:r>
              <a:rPr sz="1200" b="0" i="0">
                <a:solidFill>
                  <a:srgbClr val="3A4F63"/>
                </a:solidFill>
                <a:latin typeface="DM Sans"/>
              </a:rPr>
              <a:t>Huisstijl en website, publicaties, en communicatie naar zorgverleners, patiënten en publiek.</a:t>
            </a:r>
          </a:p>
        </p:txBody>
      </p:sp>
      <p:sp>
        <p:nvSpPr>
          <p:cNvPr id="33" name="TextBox 32"/>
          <p:cNvSpPr txBox="1"/>
          <p:nvPr/>
        </p:nvSpPr>
        <p:spPr>
          <a:xfrm>
            <a:off x="812800" y="5619155"/>
            <a:ext cx="106172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volgende dia's gaan over WP1: wie in aanmerking komt, wat de armen krijgen en wanneer.</a:t>
            </a:r>
          </a:p>
        </p:txBody>
      </p:sp>
      <p:pic>
        <p:nvPicPr>
          <p:cNvPr id="34" name="Picture 3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6" name="TextBox 35"/>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680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p>
        </p:txBody>
      </p:sp>
      <p:sp>
        <p:nvSpPr>
          <p:cNvPr id="5" name="TextBox 4"/>
          <p:cNvSpPr txBox="1"/>
          <p:nvPr/>
        </p:nvSpPr>
        <p:spPr>
          <a:xfrm>
            <a:off x="994370" y="2198291"/>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Volwassen (18 jaar of ouder), begrijpt Nederlands</a:t>
            </a:r>
          </a:p>
        </p:txBody>
      </p:sp>
      <p:sp>
        <p:nvSpPr>
          <p:cNvPr id="6" name="TextBox 5"/>
          <p:cNvSpPr txBox="1"/>
          <p:nvPr/>
        </p:nvSpPr>
        <p:spPr>
          <a:xfrm>
            <a:off x="994370" y="2459236"/>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Diabetes type 1 of 2, geen zwangerschapsdiabetes</a:t>
            </a:r>
          </a:p>
        </p:txBody>
      </p:sp>
      <p:sp>
        <p:nvSpPr>
          <p:cNvPr id="7" name="TextBox 6"/>
          <p:cNvSpPr txBox="1"/>
          <p:nvPr/>
        </p:nvSpPr>
        <p:spPr>
          <a:xfrm>
            <a:off x="994370" y="2720181"/>
            <a:ext cx="4996398" cy="668536"/>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Risicocategorie 3 (IWGDF) met een genezen plantair ulcus, een partiële voetamputatie of een resectie van een metatarsaalkop, de eerste inbegrepen, tussen 18 maanden en 2 weken geleden</a:t>
            </a:r>
          </a:p>
        </p:txBody>
      </p:sp>
      <p:sp>
        <p:nvSpPr>
          <p:cNvPr id="8" name="TextBox 7"/>
          <p:cNvSpPr txBox="1"/>
          <p:nvPr/>
        </p:nvSpPr>
        <p:spPr>
          <a:xfrm>
            <a:off x="994370" y="3426817"/>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Stabiele vaatstatus, naar oordeel van de arts</a:t>
            </a:r>
          </a:p>
        </p:txBody>
      </p:sp>
      <p:sp>
        <p:nvSpPr>
          <p:cNvPr id="9" name="TextBox 8"/>
          <p:cNvSpPr txBox="1"/>
          <p:nvPr/>
        </p:nvSpPr>
        <p:spPr>
          <a:xfrm>
            <a:off x="994370" y="3687762"/>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Stapt zelfstandig blootsvoets, zonder hulpmiddelen</a:t>
            </a:r>
          </a:p>
        </p:txBody>
      </p:sp>
      <p:sp>
        <p:nvSpPr>
          <p:cNvPr id="10" name="TextBox 9"/>
          <p:cNvSpPr txBox="1"/>
          <p:nvPr/>
        </p:nvSpPr>
        <p:spPr>
          <a:xfrm>
            <a:off x="994370" y="3948708"/>
            <a:ext cx="4996398" cy="668536"/>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Beschermend schoeisel, of bereid over te schakelen: volledig maatwerk, of maatzolen in semi-orthopedisch of extra-diep confectieschoeisel</a:t>
            </a:r>
          </a:p>
        </p:txBody>
      </p:sp>
      <p:sp>
        <p:nvSpPr>
          <p:cNvPr id="11" name="TextBox 10"/>
          <p:cNvSpPr txBox="1"/>
          <p:nvPr/>
        </p:nvSpPr>
        <p:spPr>
          <a:xfrm>
            <a:off x="6299200" y="18680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12" name="TextBox 11"/>
          <p:cNvSpPr txBox="1"/>
          <p:nvPr/>
        </p:nvSpPr>
        <p:spPr>
          <a:xfrm>
            <a:off x="6480770" y="2198291"/>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Amputatie proximaal van de MTP-gewrichten</a:t>
            </a:r>
          </a:p>
        </p:txBody>
      </p:sp>
      <p:sp>
        <p:nvSpPr>
          <p:cNvPr id="13" name="TextBox 12"/>
          <p:cNvSpPr txBox="1"/>
          <p:nvPr/>
        </p:nvSpPr>
        <p:spPr>
          <a:xfrm>
            <a:off x="6480770" y="2459236"/>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Actief voetulcus of Charcot-deformiteit</a:t>
            </a:r>
          </a:p>
        </p:txBody>
      </p:sp>
      <p:sp>
        <p:nvSpPr>
          <p:cNvPr id="14" name="TextBox 13"/>
          <p:cNvSpPr txBox="1"/>
          <p:nvPr/>
        </p:nvSpPr>
        <p:spPr>
          <a:xfrm>
            <a:off x="6480770" y="2720181"/>
            <a:ext cx="4996398"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Kritische ischemie, PEDIS graad 3: enkeldruk &lt; 50 mmHg, teendruk &lt; 30 mmHg of TcpO₂ &lt; 30 mmHg</a:t>
            </a:r>
          </a:p>
        </p:txBody>
      </p:sp>
      <p:sp>
        <p:nvSpPr>
          <p:cNvPr id="15" name="TextBox 14"/>
          <p:cNvSpPr txBox="1"/>
          <p:nvPr/>
        </p:nvSpPr>
        <p:spPr>
          <a:xfrm>
            <a:off x="6480770" y="3203972"/>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Nierfunctievervangende therapie</a:t>
            </a:r>
          </a:p>
        </p:txBody>
      </p:sp>
      <p:sp>
        <p:nvSpPr>
          <p:cNvPr id="16" name="TextBox 15"/>
          <p:cNvSpPr txBox="1"/>
          <p:nvPr/>
        </p:nvSpPr>
        <p:spPr>
          <a:xfrm>
            <a:off x="6480770" y="3464917"/>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Immunosuppressieve therapie</a:t>
            </a:r>
          </a:p>
        </p:txBody>
      </p:sp>
      <p:sp>
        <p:nvSpPr>
          <p:cNvPr id="17" name="TextBox 16"/>
          <p:cNvSpPr txBox="1"/>
          <p:nvPr/>
        </p:nvSpPr>
        <p:spPr>
          <a:xfrm>
            <a:off x="6480770" y="3725862"/>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Overleving onder 18 maanden, naar oordeel van de arts</a:t>
            </a:r>
          </a:p>
        </p:txBody>
      </p:sp>
      <p:sp>
        <p:nvSpPr>
          <p:cNvPr id="18" name="TextBox 17"/>
          <p:cNvSpPr txBox="1"/>
          <p:nvPr/>
        </p:nvSpPr>
        <p:spPr>
          <a:xfrm>
            <a:off x="6480770" y="3986808"/>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Kan geen toestemming geven of de instructies niet volgen</a:t>
            </a:r>
          </a:p>
        </p:txBody>
      </p:sp>
      <p:sp>
        <p:nvSpPr>
          <p:cNvPr id="19" name="TextBox 18"/>
          <p:cNvSpPr txBox="1"/>
          <p:nvPr/>
        </p:nvSpPr>
        <p:spPr>
          <a:xfrm>
            <a:off x="6480770" y="4247753"/>
            <a:ext cx="4996398"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Hulpmiddel dat de druksensoren belemmert, zoals een enkel-voetorthese</a:t>
            </a:r>
          </a:p>
        </p:txBody>
      </p:sp>
      <p:sp>
        <p:nvSpPr>
          <p:cNvPr id="20" name="TextBox 19"/>
          <p:cNvSpPr txBox="1"/>
          <p:nvPr/>
        </p:nvSpPr>
        <p:spPr>
          <a:xfrm>
            <a:off x="6480770" y="4731544"/>
            <a:ext cx="494923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Weigert het voorgeschreven schoeisel of de draagsensor</a:t>
            </a:r>
          </a:p>
        </p:txBody>
      </p:sp>
      <p:pic>
        <p:nvPicPr>
          <p:cNvPr id="21" name="Picture 2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3" name="TextBox 22"/>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INTERVENTIES</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4" name="Rectangle 3"/>
          <p:cNvSpPr/>
          <p:nvPr/>
        </p:nvSpPr>
        <p:spPr>
          <a:xfrm>
            <a:off x="812800" y="1766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17348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874441"/>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7" name="TextBox 6"/>
          <p:cNvSpPr txBox="1"/>
          <p:nvPr/>
        </p:nvSpPr>
        <p:spPr>
          <a:xfrm>
            <a:off x="2514600" y="1861741"/>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met dezelfde opbouw · voetzorg elke 3 maanden · dezelfde metingen · MoveMonitor en Orthotimer</a:t>
            </a:r>
          </a:p>
        </p:txBody>
      </p:sp>
      <p:sp>
        <p:nvSpPr>
          <p:cNvPr id="8" name="TextBox 7"/>
          <p:cNvSpPr txBox="1"/>
          <p:nvPr/>
        </p:nvSpPr>
        <p:spPr>
          <a:xfrm>
            <a:off x="812800" y="2332236"/>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9" name="Rounded Rectangle 8"/>
          <p:cNvSpPr/>
          <p:nvPr/>
        </p:nvSpPr>
        <p:spPr>
          <a:xfrm>
            <a:off x="81280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615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1" name="TextBox 10"/>
          <p:cNvSpPr txBox="1"/>
          <p:nvPr/>
        </p:nvSpPr>
        <p:spPr>
          <a:xfrm>
            <a:off x="94615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2" name="Connector 11"/>
          <p:cNvCxnSpPr/>
          <p:nvPr/>
        </p:nvCxnSpPr>
        <p:spPr>
          <a:xfrm>
            <a:off x="331787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08375" y="2617986"/>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075" y="273228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5" name="TextBox 14"/>
          <p:cNvSpPr txBox="1"/>
          <p:nvPr/>
        </p:nvSpPr>
        <p:spPr>
          <a:xfrm>
            <a:off x="3648075" y="2967236"/>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6" name="Connector 15"/>
          <p:cNvCxnSpPr/>
          <p:nvPr/>
        </p:nvCxnSpPr>
        <p:spPr>
          <a:xfrm>
            <a:off x="6026150"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665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000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19" name="TextBox 18"/>
          <p:cNvSpPr txBox="1"/>
          <p:nvPr/>
        </p:nvSpPr>
        <p:spPr>
          <a:xfrm>
            <a:off x="635000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0" name="Connector 19"/>
          <p:cNvCxnSpPr/>
          <p:nvPr/>
        </p:nvCxnSpPr>
        <p:spPr>
          <a:xfrm>
            <a:off x="872172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2225"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45575"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3" name="TextBox 22"/>
          <p:cNvSpPr txBox="1"/>
          <p:nvPr/>
        </p:nvSpPr>
        <p:spPr>
          <a:xfrm>
            <a:off x="9045575" y="2960886"/>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4" name="Rounded Rectangle 23"/>
          <p:cNvSpPr/>
          <p:nvPr/>
        </p:nvSpPr>
        <p:spPr>
          <a:xfrm>
            <a:off x="81280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15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6" name="TextBox 25"/>
          <p:cNvSpPr txBox="1"/>
          <p:nvPr/>
        </p:nvSpPr>
        <p:spPr>
          <a:xfrm>
            <a:off x="94615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 dus waaktijd</a:t>
            </a:r>
          </a:p>
        </p:txBody>
      </p:sp>
      <p:cxnSp>
        <p:nvCxnSpPr>
          <p:cNvPr id="27" name="Connector 26"/>
          <p:cNvCxnSpPr/>
          <p:nvPr/>
        </p:nvCxnSpPr>
        <p:spPr>
          <a:xfrm>
            <a:off x="331787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508375" y="3814266"/>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648075" y="392856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0" name="TextBox 29"/>
          <p:cNvSpPr txBox="1"/>
          <p:nvPr/>
        </p:nvSpPr>
        <p:spPr>
          <a:xfrm>
            <a:off x="3648075" y="4163516"/>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1" name="Connector 30"/>
          <p:cNvCxnSpPr/>
          <p:nvPr/>
        </p:nvCxnSpPr>
        <p:spPr>
          <a:xfrm>
            <a:off x="6026150"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665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5000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4" name="TextBox 33"/>
          <p:cNvSpPr txBox="1"/>
          <p:nvPr/>
        </p:nvSpPr>
        <p:spPr>
          <a:xfrm>
            <a:off x="635000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5" name="Connector 34"/>
          <p:cNvCxnSpPr/>
          <p:nvPr/>
        </p:nvCxnSpPr>
        <p:spPr>
          <a:xfrm>
            <a:off x="872172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12225"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045575"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38" name="TextBox 37"/>
          <p:cNvSpPr txBox="1"/>
          <p:nvPr/>
        </p:nvSpPr>
        <p:spPr>
          <a:xfrm>
            <a:off x="9045575" y="4157166"/>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39" name="Rectangle 38"/>
          <p:cNvSpPr/>
          <p:nvPr/>
        </p:nvSpPr>
        <p:spPr>
          <a:xfrm>
            <a:off x="812800" y="5213747"/>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321697"/>
            <a:ext cx="1574800" cy="393700"/>
          </a:xfrm>
          <a:prstGeom prst="rect">
            <a:avLst/>
          </a:prstGeom>
          <a:noFill/>
        </p:spPr>
        <p:txBody>
          <a:bodyPr wrap="square" lIns="0" rIns="0" tIns="0" bIns="0" anchor="t">
            <a:noAutofit/>
          </a:bodyPr>
          <a:lstStyle/>
          <a:p>
            <a:pPr algn="l"/>
            <a:r>
              <a:rPr sz="1200" b="0" i="0" spc="150">
                <a:solidFill>
                  <a:srgbClr val="8FB0CA"/>
                </a:solidFill>
                <a:latin typeface="JetBrains Mono"/>
              </a:rPr>
              <a:t>GEBRUIKELIJKE ZORG</a:t>
            </a:r>
          </a:p>
        </p:txBody>
      </p:sp>
      <p:sp>
        <p:nvSpPr>
          <p:cNvPr id="41" name="TextBox 40"/>
          <p:cNvSpPr txBox="1"/>
          <p:nvPr/>
        </p:nvSpPr>
        <p:spPr>
          <a:xfrm>
            <a:off x="2514600" y="5308997"/>
            <a:ext cx="9041892" cy="445691"/>
          </a:xfrm>
          <a:prstGeom prst="rect">
            <a:avLst/>
          </a:prstGeom>
          <a:noFill/>
        </p:spPr>
        <p:txBody>
          <a:bodyPr wrap="square" lIns="0" rIns="0" tIns="0" bIns="0" anchor="t">
            <a:noAutofit/>
          </a:bodyPr>
          <a:lstStyle/>
          <a:p>
            <a:pPr algn="l">
              <a:lnSpc>
                <a:spcPts val="1755"/>
              </a:lnSpc>
            </a:pPr>
            <a:r>
              <a:rPr sz="1300" b="0" i="0">
                <a:solidFill>
                  <a:srgbClr val="F2F8FC"/>
                </a:solidFill>
                <a:latin typeface="DM Sans"/>
              </a:rPr>
              <a:t>Usual Care: dezelfde metingen, maar geblindeerd: niet getoetst, niet besproken, geen feedback. Educatie zoals vandaag, met hetzelfde boekje.</a:t>
            </a:r>
          </a:p>
        </p:txBody>
      </p:sp>
      <p:pic>
        <p:nvPicPr>
          <p:cNvPr id="42" name="Picture 4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44" name="TextBox 4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DRAAGNORM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4" name="Rounded Rectangle 3"/>
          <p:cNvSpPr/>
          <p:nvPr/>
        </p:nvSpPr>
        <p:spPr>
          <a:xfrm>
            <a:off x="8128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350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01 · BIJ DE START</a:t>
            </a:r>
          </a:p>
        </p:txBody>
      </p:sp>
      <p:sp>
        <p:nvSpPr>
          <p:cNvPr id="6" name="TextBox 5"/>
          <p:cNvSpPr txBox="1"/>
          <p:nvPr/>
        </p:nvSpPr>
        <p:spPr>
          <a:xfrm>
            <a:off x="1035050" y="2299891"/>
            <a:ext cx="3018282"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Eén week MoveMonitor. Daaruit halen we de slaaptijd, en dus de eigen waaktijd per dag.</a:t>
            </a:r>
          </a:p>
        </p:txBody>
      </p:sp>
      <p:sp>
        <p:nvSpPr>
          <p:cNvPr id="7" name="TextBox 6"/>
          <p:cNvSpPr txBox="1"/>
          <p:nvPr/>
        </p:nvSpPr>
        <p:spPr>
          <a:xfrm>
            <a:off x="1035050" y="3830241"/>
            <a:ext cx="1193403"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15,5 u</a:t>
            </a:r>
          </a:p>
        </p:txBody>
      </p:sp>
      <p:sp>
        <p:nvSpPr>
          <p:cNvPr id="8" name="TextBox 7"/>
          <p:cNvSpPr txBox="1"/>
          <p:nvPr/>
        </p:nvSpPr>
        <p:spPr>
          <a:xfrm>
            <a:off x="2266553" y="4052491"/>
            <a:ext cx="1210469" cy="215900"/>
          </a:xfrm>
          <a:prstGeom prst="rect">
            <a:avLst/>
          </a:prstGeom>
          <a:noFill/>
        </p:spPr>
        <p:txBody>
          <a:bodyPr wrap="none" lIns="0" rIns="0" tIns="0" bIns="0" anchor="t">
            <a:noAutofit/>
          </a:bodyPr>
          <a:lstStyle/>
          <a:p>
            <a:pPr algn="l"/>
            <a:r>
              <a:rPr sz="1300" b="0" i="0">
                <a:solidFill>
                  <a:srgbClr val="8FB0CA"/>
                </a:solidFill>
                <a:latin typeface="DM Sans"/>
              </a:rPr>
              <a:t>wakker per dag</a:t>
            </a:r>
          </a:p>
        </p:txBody>
      </p:sp>
      <p:sp>
        <p:nvSpPr>
          <p:cNvPr id="9" name="Rounded Rectangle 8"/>
          <p:cNvSpPr/>
          <p:nvPr/>
        </p:nvSpPr>
        <p:spPr>
          <a:xfrm>
            <a:off x="43942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164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02 · DE NORM</a:t>
            </a:r>
          </a:p>
        </p:txBody>
      </p:sp>
      <p:sp>
        <p:nvSpPr>
          <p:cNvPr id="11" name="TextBox 10"/>
          <p:cNvSpPr txBox="1"/>
          <p:nvPr/>
        </p:nvSpPr>
        <p:spPr>
          <a:xfrm>
            <a:off x="4616450" y="2299891"/>
            <a:ext cx="3018282"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80% van die eigen waaktijd, alle zeven dagen, ingesteld in de Orthotimer.</a:t>
            </a:r>
          </a:p>
        </p:txBody>
      </p:sp>
      <p:sp>
        <p:nvSpPr>
          <p:cNvPr id="12" name="TextBox 11"/>
          <p:cNvSpPr txBox="1"/>
          <p:nvPr/>
        </p:nvSpPr>
        <p:spPr>
          <a:xfrm>
            <a:off x="4616450" y="3830241"/>
            <a:ext cx="1196181"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12,4 u</a:t>
            </a:r>
          </a:p>
        </p:txBody>
      </p:sp>
      <p:sp>
        <p:nvSpPr>
          <p:cNvPr id="13" name="TextBox 12"/>
          <p:cNvSpPr txBox="1"/>
          <p:nvPr/>
        </p:nvSpPr>
        <p:spPr>
          <a:xfrm>
            <a:off x="5850731" y="4052491"/>
            <a:ext cx="1399381" cy="215900"/>
          </a:xfrm>
          <a:prstGeom prst="rect">
            <a:avLst/>
          </a:prstGeom>
          <a:noFill/>
        </p:spPr>
        <p:txBody>
          <a:bodyPr wrap="none" lIns="0" rIns="0" tIns="0" bIns="0" anchor="t">
            <a:noAutofit/>
          </a:bodyPr>
          <a:lstStyle/>
          <a:p>
            <a:pPr algn="l"/>
            <a:r>
              <a:rPr sz="1300" b="0" i="0">
                <a:solidFill>
                  <a:srgbClr val="8FB0CA"/>
                </a:solidFill>
                <a:latin typeface="DM Sans"/>
              </a:rPr>
              <a:t>schoeisel per dag</a:t>
            </a:r>
          </a:p>
        </p:txBody>
      </p:sp>
      <p:sp>
        <p:nvSpPr>
          <p:cNvPr id="14" name="Rounded Rectangle 13"/>
          <p:cNvSpPr/>
          <p:nvPr/>
        </p:nvSpPr>
        <p:spPr>
          <a:xfrm>
            <a:off x="7975600" y="1817291"/>
            <a:ext cx="3403600" cy="2667000"/>
          </a:xfrm>
          <a:prstGeom prst="roundRect">
            <a:avLst>
              <a:gd name="adj" fmla="val 476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97850" y="2014141"/>
            <a:ext cx="3009900" cy="198120"/>
          </a:xfrm>
          <a:prstGeom prst="rect">
            <a:avLst/>
          </a:prstGeom>
          <a:noFill/>
        </p:spPr>
        <p:txBody>
          <a:bodyPr wrap="none" lIns="0" rIns="0" tIns="0" bIns="0" anchor="t">
            <a:noAutofit/>
          </a:bodyPr>
          <a:lstStyle/>
          <a:p>
            <a:pPr algn="l"/>
            <a:r>
              <a:rPr sz="1200" b="0" i="0" spc="150">
                <a:solidFill>
                  <a:srgbClr val="52BDEC"/>
                </a:solidFill>
                <a:latin typeface="JetBrains Mono"/>
              </a:rPr>
              <a:t>03 · DE BOODSCHAP</a:t>
            </a:r>
          </a:p>
        </p:txBody>
      </p:sp>
      <p:sp>
        <p:nvSpPr>
          <p:cNvPr id="16" name="TextBox 15"/>
          <p:cNvSpPr txBox="1"/>
          <p:nvPr/>
        </p:nvSpPr>
        <p:spPr>
          <a:xfrm>
            <a:off x="8197850" y="2299891"/>
            <a:ext cx="3018282"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Wat de patiënt meekrijgt, in de educatie:</a:t>
            </a:r>
          </a:p>
        </p:txBody>
      </p:sp>
      <p:sp>
        <p:nvSpPr>
          <p:cNvPr id="17" name="TextBox 16"/>
          <p:cNvSpPr txBox="1"/>
          <p:nvPr/>
        </p:nvSpPr>
        <p:spPr>
          <a:xfrm>
            <a:off x="8197850" y="3477816"/>
            <a:ext cx="3018282" cy="809625"/>
          </a:xfrm>
          <a:prstGeom prst="rect">
            <a:avLst/>
          </a:prstGeom>
          <a:noFill/>
        </p:spPr>
        <p:txBody>
          <a:bodyPr wrap="square" lIns="0" rIns="0" tIns="0" bIns="0" anchor="t">
            <a:noAutofit/>
          </a:bodyPr>
          <a:lstStyle/>
          <a:p>
            <a:pPr algn="l">
              <a:lnSpc>
                <a:spcPts val="2125"/>
              </a:lnSpc>
            </a:pPr>
            <a:r>
              <a:rPr sz="1700" b="0" i="1">
                <a:solidFill>
                  <a:srgbClr val="F2F8FC"/>
                </a:solidFill>
                <a:latin typeface="DM Serif Display"/>
              </a:rPr>
              <a:t>“U draagt uw schoenen altijd, van het moment dat u opstaat tot u gaat slapen.”</a:t>
            </a:r>
          </a:p>
        </p:txBody>
      </p:sp>
      <p:sp>
        <p:nvSpPr>
          <p:cNvPr id="18" name="Rectangle 17"/>
          <p:cNvSpPr/>
          <p:nvPr/>
        </p:nvSpPr>
        <p:spPr>
          <a:xfrm>
            <a:off x="812800" y="4687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833541"/>
            <a:ext cx="1574800" cy="198120"/>
          </a:xfrm>
          <a:prstGeom prst="rect">
            <a:avLst/>
          </a:prstGeom>
          <a:noFill/>
        </p:spPr>
        <p:txBody>
          <a:bodyPr wrap="none" lIns="0" rIns="0" tIns="0" bIns="0" anchor="t">
            <a:noAutofit/>
          </a:bodyPr>
          <a:lstStyle/>
          <a:p>
            <a:pPr algn="l"/>
            <a:r>
              <a:rPr sz="1200" b="0" i="0" spc="150">
                <a:solidFill>
                  <a:srgbClr val="FF9A3D"/>
                </a:solidFill>
                <a:latin typeface="JetBrains Mono"/>
              </a:rPr>
              <a:t>WAT VERANDERT</a:t>
            </a:r>
          </a:p>
        </p:txBody>
      </p:sp>
      <p:sp>
        <p:nvSpPr>
          <p:cNvPr id="20" name="TextBox 19"/>
          <p:cNvSpPr txBox="1"/>
          <p:nvPr/>
        </p:nvSpPr>
        <p:spPr>
          <a:xfrm>
            <a:off x="2514600" y="4808141"/>
            <a:ext cx="9041892" cy="480020"/>
          </a:xfrm>
          <a:prstGeom prst="rect">
            <a:avLst/>
          </a:prstGeom>
          <a:noFill/>
        </p:spPr>
        <p:txBody>
          <a:bodyPr wrap="square" lIns="0" rIns="0" tIns="0" bIns="0" anchor="t">
            <a:noAutofit/>
          </a:bodyPr>
          <a:lstStyle/>
          <a:p>
            <a:pPr algn="l">
              <a:lnSpc>
                <a:spcPts val="1889"/>
              </a:lnSpc>
            </a:pPr>
            <a:r>
              <a:rPr sz="1400" b="0" i="0">
                <a:solidFill>
                  <a:srgbClr val="F2F8FC"/>
                </a:solidFill>
                <a:latin typeface="DM Sans"/>
              </a:rPr>
              <a:t>De MoveMonitor alleen nog bij de start. De meetweek op maand 6 en het uitlezen een week later vervallen: minder werk voor uw team, en een norm op maat van elke patiënt.</a:t>
            </a:r>
          </a:p>
        </p:txBody>
      </p:sp>
      <p:pic>
        <p:nvPicPr>
          <p:cNvPr id="21" name="Picture 2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3" name="TextBox 2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beslissing 30 september 2026 · eCRF 25b, 28</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246380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46380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246380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336163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163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336163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425956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956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425956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515739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39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515739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605532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5532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605532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695315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5315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695315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785108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5108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785108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874901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4901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874901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964684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4684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964684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1054477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4477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1054477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TextBox 33"/>
          <p:cNvSpPr txBox="1"/>
          <p:nvPr/>
        </p:nvSpPr>
        <p:spPr>
          <a:xfrm>
            <a:off x="812800" y="2449215"/>
            <a:ext cx="1638300" cy="396081"/>
          </a:xfrm>
          <a:prstGeom prst="rect">
            <a:avLst/>
          </a:prstGeom>
          <a:noFill/>
        </p:spPr>
        <p:txBody>
          <a:bodyPr wrap="square" lIns="0" rIns="0" tIns="0" bIns="0" anchor="t">
            <a:noAutofit/>
          </a:bodyPr>
          <a:lstStyle/>
          <a:p>
            <a:pPr algn="l">
              <a:lnSpc>
                <a:spcPts val="1560"/>
              </a:lnSpc>
            </a:pPr>
            <a:r>
              <a:rPr sz="1300" b="1" i="0">
                <a:solidFill>
                  <a:srgbClr val="0A2540"/>
                </a:solidFill>
                <a:latin typeface="DM Sans"/>
              </a:rPr>
              <a:t>Toestemming, loting</a:t>
            </a:r>
          </a:p>
        </p:txBody>
      </p:sp>
      <p:sp>
        <p:nvSpPr>
          <p:cNvPr id="35" name="Rectangle 34"/>
          <p:cNvSpPr/>
          <p:nvPr/>
        </p:nvSpPr>
        <p:spPr>
          <a:xfrm>
            <a:off x="246380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463800" y="2501205"/>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463800" y="2552005"/>
            <a:ext cx="8343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8" name="Rectangle 37"/>
          <p:cNvSpPr/>
          <p:nvPr/>
        </p:nvSpPr>
        <p:spPr>
          <a:xfrm>
            <a:off x="336163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361630" y="2501205"/>
            <a:ext cx="8344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361630" y="2552005"/>
            <a:ext cx="8344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1" name="Rectangle 40"/>
          <p:cNvSpPr/>
          <p:nvPr/>
        </p:nvSpPr>
        <p:spPr>
          <a:xfrm>
            <a:off x="425956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15739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05532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5315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85108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74901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4684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54477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3128665"/>
            <a:ext cx="1002804"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Drukmeting</a:t>
            </a:r>
          </a:p>
        </p:txBody>
      </p:sp>
      <p:sp>
        <p:nvSpPr>
          <p:cNvPr id="50" name="Rectangle 49"/>
          <p:cNvSpPr/>
          <p:nvPr/>
        </p:nvSpPr>
        <p:spPr>
          <a:xfrm>
            <a:off x="2463800" y="296922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361630" y="296922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59560" y="296922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259560" y="3081635"/>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259560" y="3132435"/>
            <a:ext cx="8343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5" name="Rectangle 54"/>
          <p:cNvSpPr/>
          <p:nvPr/>
        </p:nvSpPr>
        <p:spPr>
          <a:xfrm>
            <a:off x="5157391" y="296922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157391" y="3081635"/>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5157391" y="3132435"/>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8" name="Rectangle 57"/>
          <p:cNvSpPr/>
          <p:nvPr/>
        </p:nvSpPr>
        <p:spPr>
          <a:xfrm>
            <a:off x="6055320" y="296922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953151" y="296922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953151" y="3081635"/>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953151" y="3132435"/>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2" name="Rectangle 61"/>
          <p:cNvSpPr/>
          <p:nvPr/>
        </p:nvSpPr>
        <p:spPr>
          <a:xfrm>
            <a:off x="7851080" y="296922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749010" y="296922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749010" y="3081635"/>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749010" y="3132435"/>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6" name="Rectangle 65"/>
          <p:cNvSpPr/>
          <p:nvPr/>
        </p:nvSpPr>
        <p:spPr>
          <a:xfrm>
            <a:off x="9646841" y="296922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544770" y="296922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0544770" y="3081635"/>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544770" y="3132435"/>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0" name="TextBox 69"/>
          <p:cNvSpPr txBox="1"/>
          <p:nvPr/>
        </p:nvSpPr>
        <p:spPr>
          <a:xfrm>
            <a:off x="812800" y="3709095"/>
            <a:ext cx="1114723"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MoveMonitor</a:t>
            </a:r>
          </a:p>
        </p:txBody>
      </p:sp>
      <p:sp>
        <p:nvSpPr>
          <p:cNvPr id="71" name="Rectangle 70"/>
          <p:cNvSpPr/>
          <p:nvPr/>
        </p:nvSpPr>
        <p:spPr>
          <a:xfrm>
            <a:off x="2463800" y="354965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361630" y="354965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59560" y="354965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4259560" y="3662065"/>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259560" y="3712865"/>
            <a:ext cx="8343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6" name="Rectangle 75"/>
          <p:cNvSpPr/>
          <p:nvPr/>
        </p:nvSpPr>
        <p:spPr>
          <a:xfrm>
            <a:off x="5157391" y="354965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055320" y="354965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53151" y="354965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851080" y="354965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749010" y="354965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646841" y="354965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544770" y="354965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2800" y="4289524"/>
            <a:ext cx="957560"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Orthotimer</a:t>
            </a:r>
          </a:p>
        </p:txBody>
      </p:sp>
      <p:sp>
        <p:nvSpPr>
          <p:cNvPr id="84" name="Rectangle 83"/>
          <p:cNvSpPr/>
          <p:nvPr/>
        </p:nvSpPr>
        <p:spPr>
          <a:xfrm>
            <a:off x="2463800" y="413008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361630" y="413008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259560" y="413008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57391" y="413008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5157391" y="4242495"/>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157391" y="4293295"/>
            <a:ext cx="8344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0" name="Rectangle 89"/>
          <p:cNvSpPr/>
          <p:nvPr/>
        </p:nvSpPr>
        <p:spPr>
          <a:xfrm>
            <a:off x="6055320" y="413008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6055320" y="4242495"/>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055320" y="4293295"/>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3" name="Rectangle 92"/>
          <p:cNvSpPr/>
          <p:nvPr/>
        </p:nvSpPr>
        <p:spPr>
          <a:xfrm>
            <a:off x="6953151" y="413008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6953151" y="4242495"/>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953151" y="4293295"/>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6" name="Rectangle 95"/>
          <p:cNvSpPr/>
          <p:nvPr/>
        </p:nvSpPr>
        <p:spPr>
          <a:xfrm>
            <a:off x="7851080" y="413008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7851080" y="4242495"/>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7851080" y="4293295"/>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9" name="Rectangle 98"/>
          <p:cNvSpPr/>
          <p:nvPr/>
        </p:nvSpPr>
        <p:spPr>
          <a:xfrm>
            <a:off x="8749010" y="413008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8749010" y="4242495"/>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8749010" y="4293295"/>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2" name="Rectangle 101"/>
          <p:cNvSpPr/>
          <p:nvPr/>
        </p:nvSpPr>
        <p:spPr>
          <a:xfrm>
            <a:off x="9646841" y="4130080"/>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9646841" y="4242495"/>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9646841" y="4293295"/>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5" name="Rectangle 104"/>
          <p:cNvSpPr/>
          <p:nvPr/>
        </p:nvSpPr>
        <p:spPr>
          <a:xfrm>
            <a:off x="10544770" y="4130080"/>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0544770" y="4242495"/>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544770" y="4293295"/>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8" name="TextBox 107"/>
          <p:cNvSpPr txBox="1"/>
          <p:nvPr/>
        </p:nvSpPr>
        <p:spPr>
          <a:xfrm>
            <a:off x="812800" y="4869954"/>
            <a:ext cx="1419027"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SEBIA · PARADISE</a:t>
            </a:r>
          </a:p>
        </p:txBody>
      </p:sp>
      <p:sp>
        <p:nvSpPr>
          <p:cNvPr id="109" name="Rectangle 108"/>
          <p:cNvSpPr/>
          <p:nvPr/>
        </p:nvSpPr>
        <p:spPr>
          <a:xfrm>
            <a:off x="2463800" y="47105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3361630" y="47105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259560" y="47105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4259560" y="4822924"/>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4259560" y="4873724"/>
            <a:ext cx="8343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14" name="Rectangle 113"/>
          <p:cNvSpPr/>
          <p:nvPr/>
        </p:nvSpPr>
        <p:spPr>
          <a:xfrm>
            <a:off x="5157391" y="47105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5157391" y="4822924"/>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5157391" y="4873724"/>
            <a:ext cx="8344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17" name="Rectangle 116"/>
          <p:cNvSpPr/>
          <p:nvPr/>
        </p:nvSpPr>
        <p:spPr>
          <a:xfrm>
            <a:off x="6055320" y="47105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6055320" y="4822924"/>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6055320" y="4873724"/>
            <a:ext cx="8343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0" name="Rectangle 119"/>
          <p:cNvSpPr/>
          <p:nvPr/>
        </p:nvSpPr>
        <p:spPr>
          <a:xfrm>
            <a:off x="6953151" y="47105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6953151" y="4822924"/>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6953151" y="4873724"/>
            <a:ext cx="8344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3" name="Rectangle 122"/>
          <p:cNvSpPr/>
          <p:nvPr/>
        </p:nvSpPr>
        <p:spPr>
          <a:xfrm>
            <a:off x="7851080" y="47105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7851080" y="4822924"/>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851080" y="4873724"/>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6" name="Rectangle 125"/>
          <p:cNvSpPr/>
          <p:nvPr/>
        </p:nvSpPr>
        <p:spPr>
          <a:xfrm>
            <a:off x="8749010" y="47105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8749010" y="4822924"/>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8749010" y="4873724"/>
            <a:ext cx="8343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9" name="Rectangle 128"/>
          <p:cNvSpPr/>
          <p:nvPr/>
        </p:nvSpPr>
        <p:spPr>
          <a:xfrm>
            <a:off x="9646841" y="47105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9646841" y="4822924"/>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9646841" y="4873724"/>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2" name="Rectangle 131"/>
          <p:cNvSpPr/>
          <p:nvPr/>
        </p:nvSpPr>
        <p:spPr>
          <a:xfrm>
            <a:off x="10544770" y="47105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544770" y="4822924"/>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10544770" y="4873724"/>
            <a:ext cx="8343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35" name="TextBox 134"/>
          <p:cNvSpPr txBox="1"/>
          <p:nvPr/>
        </p:nvSpPr>
        <p:spPr>
          <a:xfrm>
            <a:off x="812800" y="5430639"/>
            <a:ext cx="10777728" cy="411361"/>
          </a:xfrm>
          <a:prstGeom prst="rect">
            <a:avLst/>
          </a:prstGeom>
          <a:noFill/>
        </p:spPr>
        <p:txBody>
          <a:bodyPr wrap="square" lIns="0" rIns="0" tIns="0" bIns="0" anchor="t">
            <a:noAutofit/>
          </a:bodyPr>
          <a:lstStyle/>
          <a:p>
            <a:pPr algn="l">
              <a:lnSpc>
                <a:spcPts val="1620"/>
              </a:lnSpc>
            </a:pPr>
            <a:r>
              <a:rPr sz="1200" b="0" i="0">
                <a:solidFill>
                  <a:srgbClr val="5A6E80"/>
                </a:solidFill>
                <a:latin typeface="DM Sans"/>
              </a:rPr>
              <a:t>A = in de schoen, zónder de CMFO · B = mét de CMFO · op V1 en vanaf V3 elke visite ook voet- en schoeiselscreening.</a:t>
            </a:r>
          </a:p>
          <a:p>
            <a:pPr algn="l">
              <a:lnSpc>
                <a:spcPts val="1620"/>
              </a:lnSpc>
            </a:pPr>
            <a:r>
              <a:rPr sz="1200" b="0" i="0">
                <a:solidFill>
                  <a:srgbClr val="5A6E80"/>
                </a:solidFill>
                <a:latin typeface="DM Sans"/>
              </a:rPr>
              <a:t>SEBIA volgens het script (eCRF 17) en REDCap: een gesprek op elke visite, ook op maand 3; het manuscript beschrijft het nog anders.</a:t>
            </a:r>
          </a:p>
        </p:txBody>
      </p:sp>
      <p:pic>
        <p:nvPicPr>
          <p:cNvPr id="136" name="Picture 1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37" name="TextBox 1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8" name="TextBox 13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graphicFrame>
        <p:nvGraphicFramePr>
          <p:cNvPr id="4" name="Table 3"/>
          <p:cNvGraphicFramePr>
            <a:graphicFrameLocks noGrp="1"/>
          </p:cNvGraphicFramePr>
          <p:nvPr/>
        </p:nvGraphicFramePr>
        <p:xfrm>
          <a:off x="812800" y="1817291"/>
          <a:ext cx="10560050" cy="3772099"/>
        </p:xfrm>
        <a:graphic>
          <a:graphicData uri="http://schemas.openxmlformats.org/drawingml/2006/table">
            <a:tbl>
              <a:tblPr firstRow="0" bandRow="0">
                <a:tableStyleId>{2D5ABB26-0587-4C30-8999-92F81FD0307C}</a:tableStyleId>
              </a:tblPr>
              <a:tblGrid>
                <a:gridCol w="4435177"/>
                <a:gridCol w="1900734"/>
                <a:gridCol w="4224139"/>
              </a:tblGrid>
              <a:tr h="309761">
                <a:tc>
                  <a:txBody>
                    <a:bodyPr wrap="square"/>
                    <a:lstStyle/>
                    <a:p>
                      <a:pPr algn="l"/>
                      <a:r>
                        <a:rPr sz="1200" b="1" i="0">
                          <a:solidFill>
                            <a:srgbClr val="C5D8E8"/>
                          </a:solidFill>
                          <a:latin typeface="DM Sans"/>
                        </a:rPr>
                        <a:t>Wat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Tegen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Waarom het ertoe doet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506611">
                <a:tc>
                  <a:txBody>
                    <a:bodyPr wrap="square"/>
                    <a:lstStyle/>
                    <a:p>
                      <a:pPr algn="l"/>
                      <a:r>
                        <a:rPr sz="1200" b="0" i="0">
                          <a:solidFill>
                            <a:srgbClr val="C5D8E8"/>
                          </a:solidFill>
                          <a:latin typeface="DM Sans"/>
                        </a:rPr>
                        <a:t>Ethische goedkeuring: centraal (EC UZ Leuven), FAGG, lokaal per 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lokaal: januari</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Geen inclusie vóór alle goedkeuringen; opleiden kan wel. Zie de stand per 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Toetsingsblad met de opleidingsdata terug</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16 okt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Daarna ligt de kalender vast.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506611">
                <a:tc>
                  <a:txBody>
                    <a:bodyPr wrap="square"/>
                    <a:lstStyle/>
                    <a:p>
                      <a:pPr algn="l"/>
                      <a:r>
                        <a:rPr sz="1200" b="0" i="0">
                          <a:solidFill>
                            <a:srgbClr val="C5D8E8"/>
                          </a:solidFill>
                          <a:latin typeface="DM Sans"/>
                        </a:rPr>
                        <a:t>Drukmeting, Orthotimer-software en MoveMonitors geïnstalleerd</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vóór uw technologiesessie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Anders valt die sessie stil. Zie het materiaal per 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506611">
                <a:tc>
                  <a:txBody>
                    <a:bodyPr wrap="square"/>
                    <a:lstStyle/>
                    <a:p>
                      <a:pPr algn="l"/>
                      <a:r>
                        <a:rPr sz="1200" b="0" i="0">
                          <a:solidFill>
                            <a:srgbClr val="C5D8E8"/>
                          </a:solidFill>
                          <a:latin typeface="DM Sans"/>
                        </a:rPr>
                        <a:t>MoveMonitor alleen nog bij de start: protocol, eCRF's en REDCap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vóór de EC-indiening</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Anders als amendement. De meetweek op maand 6 vervalt.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506611">
                <a:tc>
                  <a:txBody>
                    <a:bodyPr wrap="square"/>
                    <a:lstStyle/>
                    <a:p>
                      <a:pPr algn="l"/>
                      <a:r>
                        <a:rPr sz="1200" b="0" i="0">
                          <a:solidFill>
                            <a:srgbClr val="C5D8E8"/>
                          </a:solidFill>
                          <a:latin typeface="DM Sans"/>
                        </a:rPr>
                        <a:t>Screeningslog vanaf de eerste patiënt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vanaf de start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Wie overwogen wordt, komt met de reden in het CONSORT-diagram.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SEBIA-schema: het script of het manuscript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te beslissen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Daarna REDCap en manuscript gelijkzetten.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506611">
                <a:tc>
                  <a:txBody>
                    <a:bodyPr wrap="square"/>
                    <a:lstStyle/>
                    <a:p>
                      <a:pPr algn="l"/>
                      <a:r>
                        <a:rPr sz="1200" b="0" i="0">
                          <a:solidFill>
                            <a:srgbClr val="C5D8E8"/>
                          </a:solidFill>
                          <a:latin typeface="DM Sans"/>
                        </a:rPr>
                        <a:t>Aparte toestemming voor opnames en observatie in eCRF 02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vóór de EC-indiening</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Nodig voor de procesevaluatie.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Licenties HLS-EU-Q6 en NAFF</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oktober</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Nodig voor de vragenlijstenset.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pic>
        <p:nvPicPr>
          <p:cNvPr id="5" name="Picture 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 name="TextBox 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7" name="TextBox 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895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2800" y="4070350"/>
            <a:ext cx="1638300" cy="198120"/>
          </a:xfrm>
          <a:prstGeom prst="rect">
            <a:avLst/>
          </a:prstGeom>
          <a:noFill/>
        </p:spPr>
        <p:txBody>
          <a:bodyPr wrap="none" lIns="0" rIns="0" tIns="0" bIns="0" anchor="t">
            <a:noAutofit/>
          </a:bodyPr>
          <a:lstStyle/>
          <a:p>
            <a:pPr algn="l"/>
            <a:r>
              <a:rPr sz="1200" b="0" i="0">
                <a:solidFill>
                  <a:srgbClr val="A34A00"/>
                </a:solidFill>
                <a:latin typeface="JetBrains Mono"/>
              </a:rPr>
              <a:t>16 okt 2026</a:t>
            </a:r>
          </a:p>
        </p:txBody>
      </p:sp>
      <p:sp>
        <p:nvSpPr>
          <p:cNvPr id="24" name="TextBox 23"/>
          <p:cNvSpPr txBox="1"/>
          <p:nvPr/>
        </p:nvSpPr>
        <p:spPr>
          <a:xfrm>
            <a:off x="2552700" y="4064000"/>
            <a:ext cx="3390900" cy="214630"/>
          </a:xfrm>
          <a:prstGeom prst="rect">
            <a:avLst/>
          </a:prstGeom>
          <a:noFill/>
        </p:spPr>
        <p:txBody>
          <a:bodyPr wrap="none" lIns="0" rIns="0" tIns="0" bIns="0" anchor="t">
            <a:noAutofit/>
          </a:bodyPr>
          <a:lstStyle/>
          <a:p>
            <a:pPr algn="l">
              <a:lnSpc>
                <a:spcPts val="1689"/>
              </a:lnSpc>
            </a:pPr>
            <a:r>
              <a:rPr sz="1300" b="0" i="0">
                <a:solidFill>
                  <a:srgbClr val="0A2540"/>
                </a:solidFill>
                <a:latin typeface="DM Sans"/>
              </a:rPr>
              <a:t>Toetsingsblad terug; de kalender ligt vast</a:t>
            </a:r>
          </a:p>
        </p:txBody>
      </p:sp>
      <p:sp>
        <p:nvSpPr>
          <p:cNvPr id="25" name="Rectangle 24"/>
          <p:cNvSpPr/>
          <p:nvPr/>
        </p:nvSpPr>
        <p:spPr>
          <a:xfrm>
            <a:off x="812800" y="455672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4632920"/>
            <a:ext cx="16383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7" name="TextBox 26"/>
          <p:cNvSpPr txBox="1"/>
          <p:nvPr/>
        </p:nvSpPr>
        <p:spPr>
          <a:xfrm>
            <a:off x="2552700" y="4626570"/>
            <a:ext cx="3390900" cy="214630"/>
          </a:xfrm>
          <a:prstGeom prst="rect">
            <a:avLst/>
          </a:prstGeom>
          <a:noFill/>
        </p:spPr>
        <p:txBody>
          <a:bodyPr wrap="none" lIns="0" rIns="0" tIns="0" bIns="0" anchor="t">
            <a:noAutofit/>
          </a:bodyPr>
          <a:lstStyle/>
          <a:p>
            <a:pPr algn="l">
              <a:lnSpc>
                <a:spcPts val="1689"/>
              </a:lnSpc>
            </a:pPr>
            <a:r>
              <a:rPr sz="1300" b="0" i="0">
                <a:solidFill>
                  <a:srgbClr val="0A2540"/>
                </a:solidFill>
                <a:latin typeface="DM Sans"/>
              </a:rPr>
              <a:t>Lokale ethische goedkeuringen</a:t>
            </a:r>
          </a:p>
        </p:txBody>
      </p:sp>
      <p:sp>
        <p:nvSpPr>
          <p:cNvPr id="28" name="Rectangle 27"/>
          <p:cNvSpPr/>
          <p:nvPr/>
        </p:nvSpPr>
        <p:spPr>
          <a:xfrm>
            <a:off x="812800" y="49046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4980880"/>
            <a:ext cx="16383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30" name="TextBox 29"/>
          <p:cNvSpPr txBox="1"/>
          <p:nvPr/>
        </p:nvSpPr>
        <p:spPr>
          <a:xfrm>
            <a:off x="2552700" y="4974530"/>
            <a:ext cx="3406902" cy="429220"/>
          </a:xfrm>
          <a:prstGeom prst="rect">
            <a:avLst/>
          </a:prstGeom>
          <a:noFill/>
        </p:spPr>
        <p:txBody>
          <a:bodyPr wrap="square" lIns="0" rIns="0" tIns="0" bIns="0" anchor="t">
            <a:noAutofit/>
          </a:bodyPr>
          <a:lstStyle/>
          <a:p>
            <a:pPr algn="l">
              <a:lnSpc>
                <a:spcPts val="1689"/>
              </a:lnSpc>
            </a:pPr>
            <a:r>
              <a:rPr sz="1300" b="0" i="0">
                <a:solidFill>
                  <a:srgbClr val="0A2540"/>
                </a:solidFill>
                <a:latin typeface="DM Sans"/>
              </a:rPr>
              <a:t>Go/No-Go na de piloot; de inclusie start meteen daarna</a:t>
            </a:r>
          </a:p>
        </p:txBody>
      </p:sp>
      <p:sp>
        <p:nvSpPr>
          <p:cNvPr id="31" name="TextBox 30"/>
          <p:cNvSpPr txBox="1"/>
          <p:nvPr/>
        </p:nvSpPr>
        <p:spPr>
          <a:xfrm>
            <a:off x="6299200" y="4070350"/>
            <a:ext cx="1638300" cy="393700"/>
          </a:xfrm>
          <a:prstGeom prst="rect">
            <a:avLst/>
          </a:prstGeom>
          <a:noFill/>
        </p:spPr>
        <p:txBody>
          <a:bodyPr wrap="square" lIns="0" rIns="0" tIns="0" bIns="0" anchor="t">
            <a:noAutofit/>
          </a:bodyPr>
          <a:lstStyle/>
          <a:p>
            <a:pPr algn="l"/>
            <a:r>
              <a:rPr sz="1200" b="0" i="0">
                <a:solidFill>
                  <a:srgbClr val="A34A00"/>
                </a:solidFill>
                <a:latin typeface="JetBrains Mono"/>
              </a:rPr>
              <a:t>eind februari 2028</a:t>
            </a:r>
          </a:p>
        </p:txBody>
      </p:sp>
      <p:sp>
        <p:nvSpPr>
          <p:cNvPr id="32" name="TextBox 31"/>
          <p:cNvSpPr txBox="1"/>
          <p:nvPr/>
        </p:nvSpPr>
        <p:spPr>
          <a:xfrm>
            <a:off x="8039100" y="4064000"/>
            <a:ext cx="3406902" cy="429220"/>
          </a:xfrm>
          <a:prstGeom prst="rect">
            <a:avLst/>
          </a:prstGeom>
          <a:noFill/>
        </p:spPr>
        <p:txBody>
          <a:bodyPr wrap="square" lIns="0" rIns="0" tIns="0" bIns="0" anchor="t">
            <a:noAutofit/>
          </a:bodyPr>
          <a:lstStyle/>
          <a:p>
            <a:pPr algn="l">
              <a:lnSpc>
                <a:spcPts val="1689"/>
              </a:lnSpc>
            </a:pPr>
            <a:r>
              <a:rPr sz="1300" b="0" i="0">
                <a:solidFill>
                  <a:srgbClr val="0A2540"/>
                </a:solidFill>
                <a:latin typeface="DM Sans"/>
              </a:rPr>
              <a:t>144 gerandomiseerd, na twaalf maanden inclusie</a:t>
            </a:r>
          </a:p>
        </p:txBody>
      </p:sp>
      <p:sp>
        <p:nvSpPr>
          <p:cNvPr id="33" name="Rectangle 32"/>
          <p:cNvSpPr/>
          <p:nvPr/>
        </p:nvSpPr>
        <p:spPr>
          <a:xfrm>
            <a:off x="6299200" y="455672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9200" y="4632920"/>
            <a:ext cx="1638300" cy="198120"/>
          </a:xfrm>
          <a:prstGeom prst="rect">
            <a:avLst/>
          </a:prstGeom>
          <a:noFill/>
        </p:spPr>
        <p:txBody>
          <a:bodyPr wrap="none" lIns="0" rIns="0" tIns="0" bIns="0" anchor="t">
            <a:noAutofit/>
          </a:bodyPr>
          <a:lstStyle/>
          <a:p>
            <a:pPr algn="l"/>
            <a:r>
              <a:rPr sz="1200" b="0" i="0">
                <a:solidFill>
                  <a:srgbClr val="A34A00"/>
                </a:solidFill>
                <a:latin typeface="JetBrains Mono"/>
              </a:rPr>
              <a:t>eind maart 2028</a:t>
            </a:r>
          </a:p>
        </p:txBody>
      </p:sp>
      <p:sp>
        <p:nvSpPr>
          <p:cNvPr id="35" name="TextBox 34"/>
          <p:cNvSpPr txBox="1"/>
          <p:nvPr/>
        </p:nvSpPr>
        <p:spPr>
          <a:xfrm>
            <a:off x="8039100" y="4626570"/>
            <a:ext cx="3390900" cy="214630"/>
          </a:xfrm>
          <a:prstGeom prst="rect">
            <a:avLst/>
          </a:prstGeom>
          <a:noFill/>
        </p:spPr>
        <p:txBody>
          <a:bodyPr wrap="none" lIns="0" rIns="0" tIns="0" bIns="0" anchor="t">
            <a:noAutofit/>
          </a:bodyPr>
          <a:lstStyle/>
          <a:p>
            <a:pPr algn="l">
              <a:lnSpc>
                <a:spcPts val="1689"/>
              </a:lnSpc>
            </a:pPr>
            <a:r>
              <a:rPr sz="1300" b="0" i="0">
                <a:solidFill>
                  <a:srgbClr val="0A2540"/>
                </a:solidFill>
                <a:latin typeface="DM Sans"/>
              </a:rPr>
              <a:t>Uiterste datum voor de laatste inclusie</a:t>
            </a:r>
          </a:p>
        </p:txBody>
      </p:sp>
      <p:sp>
        <p:nvSpPr>
          <p:cNvPr id="36" name="Rectangle 35"/>
          <p:cNvSpPr/>
          <p:nvPr/>
        </p:nvSpPr>
        <p:spPr>
          <a:xfrm>
            <a:off x="6299200" y="49046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9200" y="4980880"/>
            <a:ext cx="1638300" cy="393700"/>
          </a:xfrm>
          <a:prstGeom prst="rect">
            <a:avLst/>
          </a:prstGeom>
          <a:noFill/>
        </p:spPr>
        <p:txBody>
          <a:bodyPr wrap="square" lIns="0" rIns="0" tIns="0" bIns="0" anchor="t">
            <a:noAutofit/>
          </a:bodyPr>
          <a:lstStyle/>
          <a:p>
            <a:pPr algn="l"/>
            <a:r>
              <a:rPr sz="1200" b="0" i="0">
                <a:solidFill>
                  <a:srgbClr val="A34A00"/>
                </a:solidFill>
                <a:latin typeface="JetBrains Mono"/>
              </a:rPr>
              <a:t>eind augustus 2029</a:t>
            </a:r>
          </a:p>
        </p:txBody>
      </p:sp>
      <p:sp>
        <p:nvSpPr>
          <p:cNvPr id="38" name="TextBox 37"/>
          <p:cNvSpPr txBox="1"/>
          <p:nvPr/>
        </p:nvSpPr>
        <p:spPr>
          <a:xfrm>
            <a:off x="8039100" y="4974530"/>
            <a:ext cx="3406902" cy="429220"/>
          </a:xfrm>
          <a:prstGeom prst="rect">
            <a:avLst/>
          </a:prstGeom>
          <a:noFill/>
        </p:spPr>
        <p:txBody>
          <a:bodyPr wrap="square" lIns="0" rIns="0" tIns="0" bIns="0" anchor="t">
            <a:noAutofit/>
          </a:bodyPr>
          <a:lstStyle/>
          <a:p>
            <a:pPr algn="l">
              <a:lnSpc>
                <a:spcPts val="1689"/>
              </a:lnSpc>
            </a:pPr>
            <a:r>
              <a:rPr sz="1300" b="0" i="0">
                <a:solidFill>
                  <a:srgbClr val="0A2540"/>
                </a:solidFill>
                <a:latin typeface="DM Sans"/>
              </a:rPr>
              <a:t>Laatste visite volgens plan; september 2029 is de grens</a:t>
            </a:r>
          </a:p>
        </p:txBody>
      </p:sp>
      <p:pic>
        <p:nvPicPr>
          <p:cNvPr id="39" name="Picture 3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41" name="TextBox 4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777728" cy="445691"/>
          </a:xfrm>
          <a:prstGeom prst="rect">
            <a:avLst/>
          </a:prstGeom>
          <a:noFill/>
        </p:spPr>
        <p:txBody>
          <a:bodyPr wrap="square" lIns="0" rIns="0" tIns="0" bIns="0" anchor="t">
            <a:noAutofit/>
          </a:bodyPr>
          <a:lstStyle/>
          <a:p>
            <a:pPr algn="l">
              <a:lnSpc>
                <a:spcPts val="1755"/>
              </a:lnSpc>
            </a:pPr>
            <a:r>
              <a:rPr sz="1300" b="0" i="0">
                <a:solidFill>
                  <a:srgbClr val="F2F8FC"/>
                </a:solidFill>
                <a:latin typeface="DM Sans"/>
              </a:rPr>
              <a:t>Artsen volgen alleen de theorie; de praktijk is voor de podologen. De twee pedorthisten komen één keer, naar de theorie van de technologie. Online sessies worden opgenomen, praktijksessies niet. SEBIA 6 volgt online, september tot november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pic>
        <p:nvPicPr>
          <p:cNvPr id="4" name="Picture 3" descr="tempo_0.gif"/>
          <p:cNvPicPr>
            <a:picLocks noChangeAspect="1"/>
          </p:cNvPicPr>
          <p:nvPr/>
        </p:nvPicPr>
        <p:blipFill>
          <a:blip r:embed="rId2"/>
          <a:stretch>
            <a:fillRect/>
          </a:stretch>
        </p:blipFill>
        <p:spPr>
          <a:xfrm>
            <a:off x="812800" y="2095500"/>
            <a:ext cx="5461000" cy="3746500"/>
          </a:xfrm>
          <a:prstGeom prst="rect">
            <a:avLst/>
          </a:prstGeom>
        </p:spPr>
      </p:pic>
      <p:sp>
        <p:nvSpPr>
          <p:cNvPr id="5" name="TextBox 4"/>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6" name="TextBox 5"/>
          <p:cNvSpPr txBox="1"/>
          <p:nvPr/>
        </p:nvSpPr>
        <p:spPr>
          <a:xfrm>
            <a:off x="8115300" y="2305050"/>
            <a:ext cx="3329178"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aan drie per maand zijn 24 binnen het jaar haalt; aan twee per maand 53%</a:t>
            </a:r>
          </a:p>
        </p:txBody>
      </p:sp>
      <p:sp>
        <p:nvSpPr>
          <p:cNvPr id="7" name="Rectangle 6"/>
          <p:cNvSpPr/>
          <p:nvPr/>
        </p:nvSpPr>
        <p:spPr>
          <a:xfrm>
            <a:off x="6731000" y="316478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1000" y="331083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9" name="TextBox 8"/>
          <p:cNvSpPr txBox="1"/>
          <p:nvPr/>
        </p:nvSpPr>
        <p:spPr>
          <a:xfrm>
            <a:off x="8115300" y="3520380"/>
            <a:ext cx="3329178"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binnen het jaar halen, als elk centrum echt drie haalt; aan twee per maand 2%</a:t>
            </a:r>
          </a:p>
        </p:txBody>
      </p:sp>
      <p:sp>
        <p:nvSpPr>
          <p:cNvPr id="10" name="Rectangle 9"/>
          <p:cNvSpPr/>
          <p:nvPr/>
        </p:nvSpPr>
        <p:spPr>
          <a:xfrm>
            <a:off x="6731000" y="438011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1000" y="452616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2" name="TextBox 11"/>
          <p:cNvSpPr txBox="1"/>
          <p:nvPr/>
        </p:nvSpPr>
        <p:spPr>
          <a:xfrm>
            <a:off x="8115300" y="473571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voor de helft van de centra of sneller</a:t>
            </a:r>
          </a:p>
        </p:txBody>
      </p:sp>
      <p:sp>
        <p:nvSpPr>
          <p:cNvPr id="13" name="TextBox 12"/>
          <p:cNvSpPr txBox="1"/>
          <p:nvPr/>
        </p:nvSpPr>
        <p:spPr>
          <a:xfrm>
            <a:off x="6731000" y="5372100"/>
            <a:ext cx="4741164" cy="720030"/>
          </a:xfrm>
          <a:prstGeom prst="rect">
            <a:avLst/>
          </a:prstGeom>
          <a:noFill/>
        </p:spPr>
        <p:txBody>
          <a:bodyPr wrap="square" lIns="0" rIns="0" tIns="0" bIns="0" anchor="t">
            <a:noAutofit/>
          </a:bodyPr>
          <a:lstStyle/>
          <a:p>
            <a:pPr algn="l">
              <a:lnSpc>
                <a:spcPts val="1889"/>
              </a:lnSpc>
            </a:pPr>
            <a:r>
              <a:rPr sz="1400" b="0" i="0">
                <a:solidFill>
                  <a:srgbClr val="F2F8FC"/>
                </a:solidFill>
                <a:latin typeface="DM Sans"/>
              </a:rPr>
              <a:t>12 maanden inclusie, 18 maanden opvolging: 144 gerandomiseerd eind februari 2028, laatste visite eind augustus 2029.</a:t>
            </a:r>
          </a:p>
        </p:txBody>
      </p:sp>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6" name="TextBox 15"/>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pic>
        <p:nvPicPr>
          <p:cNvPr id="4" name="Picture 3" descr="tweepermaand_0.gif"/>
          <p:cNvPicPr>
            <a:picLocks noChangeAspect="1"/>
          </p:cNvPicPr>
          <p:nvPr/>
        </p:nvPicPr>
        <p:blipFill>
          <a:blip r:embed="rId2"/>
          <a:stretch>
            <a:fillRect/>
          </a:stretch>
        </p:blipFill>
        <p:spPr>
          <a:xfrm>
            <a:off x="812800" y="2095500"/>
            <a:ext cx="5715000" cy="3746500"/>
          </a:xfrm>
          <a:prstGeom prst="rect">
            <a:avLst/>
          </a:prstGeom>
        </p:spPr>
      </p:pic>
      <p:sp>
        <p:nvSpPr>
          <p:cNvPr id="5" name="TextBox 4"/>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6" name="Rectangle 5"/>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8" name="TextBox 7"/>
          <p:cNvSpPr txBox="1"/>
          <p:nvPr/>
        </p:nvSpPr>
        <p:spPr>
          <a:xfrm>
            <a:off x="8356600" y="2609850"/>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maanden per centrum; 8 op 10 centra tussen 9 en 15 maanden</a:t>
            </a:r>
          </a:p>
        </p:txBody>
      </p:sp>
      <p:sp>
        <p:nvSpPr>
          <p:cNvPr id="9" name="Rectangle 8"/>
          <p:cNvSpPr/>
          <p:nvPr/>
        </p:nvSpPr>
        <p:spPr>
          <a:xfrm>
            <a:off x="6934200" y="31571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34200" y="3265091"/>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11" name="TextBox 10"/>
          <p:cNvSpPr txBox="1"/>
          <p:nvPr/>
        </p:nvSpPr>
        <p:spPr>
          <a:xfrm>
            <a:off x="8356600" y="3398441"/>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 gemiddeld</a:t>
            </a:r>
          </a:p>
        </p:txBody>
      </p:sp>
      <p:sp>
        <p:nvSpPr>
          <p:cNvPr id="12" name="Rectangle 11"/>
          <p:cNvSpPr/>
          <p:nvPr/>
        </p:nvSpPr>
        <p:spPr>
          <a:xfrm>
            <a:off x="6934200" y="3722886"/>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34200" y="3830836"/>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14" name="TextBox 13"/>
          <p:cNvSpPr txBox="1"/>
          <p:nvPr/>
        </p:nvSpPr>
        <p:spPr>
          <a:xfrm>
            <a:off x="8356600" y="3964186"/>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 aan drie per maand 98%</a:t>
            </a:r>
          </a:p>
        </p:txBody>
      </p:sp>
      <p:sp>
        <p:nvSpPr>
          <p:cNvPr id="15" name="Rectangle 14"/>
          <p:cNvSpPr/>
          <p:nvPr/>
        </p:nvSpPr>
        <p:spPr>
          <a:xfrm>
            <a:off x="6934200" y="4511477"/>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4200" y="4619427"/>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17" name="TextBox 16"/>
          <p:cNvSpPr txBox="1"/>
          <p:nvPr/>
        </p:nvSpPr>
        <p:spPr>
          <a:xfrm>
            <a:off x="8356600" y="4752777"/>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18" name="TextBox 17"/>
          <p:cNvSpPr txBox="1"/>
          <p:nvPr/>
        </p:nvSpPr>
        <p:spPr>
          <a:xfrm>
            <a:off x="6934200" y="5372100"/>
            <a:ext cx="4533900" cy="480020"/>
          </a:xfrm>
          <a:prstGeom prst="rect">
            <a:avLst/>
          </a:prstGeom>
          <a:noFill/>
        </p:spPr>
        <p:txBody>
          <a:bodyPr wrap="square" lIns="0" rIns="0" tIns="0" bIns="0" anchor="t">
            <a:noAutofit/>
          </a:bodyPr>
          <a:lstStyle/>
          <a:p>
            <a:pPr algn="l">
              <a:lnSpc>
                <a:spcPts val="1889"/>
              </a:lnSpc>
            </a:pPr>
            <a:r>
              <a:rPr sz="1400" b="0" i="0">
                <a:solidFill>
                  <a:srgbClr val="F2F8FC"/>
                </a:solidFill>
                <a:latin typeface="DM Sans"/>
              </a:rPr>
              <a:t>Mediaan: alle zes klaar na 15 maanden, laatste visite eind november 2029.</a:t>
            </a:r>
          </a:p>
        </p:txBody>
      </p:sp>
      <p:pic>
        <p:nvPicPr>
          <p:cNvPr id="19" name="Picture 1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0" name="TextBox 1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1" name="TextBox 20"/>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533900"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Elk centrum haalt precies het gemiddelde. Zo rekenden de vorige dia's.</a:t>
            </a:r>
          </a:p>
        </p:txBody>
      </p:sp>
      <p:sp>
        <p:nvSpPr>
          <p:cNvPr id="8" name="Rectangle 7"/>
          <p:cNvSpPr/>
          <p:nvPr/>
        </p:nvSpPr>
        <p:spPr>
          <a:xfrm>
            <a:off x="6934200" y="28904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3011091"/>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246041"/>
            <a:ext cx="4533900"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Realistischer: het ene centrum haalt een kwart meer, het andere een kwart minder.</a:t>
            </a:r>
          </a:p>
        </p:txBody>
      </p:sp>
      <p:sp>
        <p:nvSpPr>
          <p:cNvPr id="11" name="Rectangle 10"/>
          <p:cNvSpPr/>
          <p:nvPr/>
        </p:nvSpPr>
        <p:spPr>
          <a:xfrm>
            <a:off x="6934200" y="38060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92668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4161631"/>
            <a:ext cx="4533900" cy="668536"/>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Het risicoplan van de aanvraag voorziet het: wie sneller gaat, includeert door tot de 144 er zijn. Hier met een plafond van 30 per centrum.</a:t>
            </a:r>
          </a:p>
        </p:txBody>
      </p:sp>
      <p:sp>
        <p:nvSpPr>
          <p:cNvPr id="14" name="TextBox 13"/>
          <p:cNvSpPr txBox="1"/>
          <p:nvPr/>
        </p:nvSpPr>
        <p:spPr>
          <a:xfrm>
            <a:off x="6934200" y="5372100"/>
            <a:ext cx="4533900" cy="480020"/>
          </a:xfrm>
          <a:prstGeom prst="rect">
            <a:avLst/>
          </a:prstGeom>
          <a:noFill/>
        </p:spPr>
        <p:txBody>
          <a:bodyPr wrap="square" lIns="0" rIns="0" tIns="0" bIns="0" anchor="t">
            <a:noAutofit/>
          </a:bodyPr>
          <a:lstStyle/>
          <a:p>
            <a:pPr algn="l">
              <a:lnSpc>
                <a:spcPts val="1889"/>
              </a:lnSpc>
            </a:pPr>
            <a:r>
              <a:rPr sz="1400" b="0" i="0">
                <a:solidFill>
                  <a:srgbClr val="F2F8FC"/>
                </a:solidFill>
                <a:latin typeface="DM Sans"/>
              </a:rPr>
              <a:t>Drie per maand én bijspringen maken het zeker; binnen twaalf maanden: 92%, 48% en 99%.</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7167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Volledig logo, op een lichte achtergrond: formulieren, brieven, patiëntenmateriaal.</a:t>
            </a:r>
          </a:p>
        </p:txBody>
      </p:sp>
      <p:sp>
        <p:nvSpPr>
          <p:cNvPr id="7" name="Rounded Rectangle 6"/>
          <p:cNvSpPr/>
          <p:nvPr/>
        </p:nvSpPr>
        <p:spPr>
          <a:xfrm>
            <a:off x="4394200" y="1842691"/>
            <a:ext cx="3403600" cy="2286000"/>
          </a:xfrm>
          <a:prstGeom prst="roundRect">
            <a:avLst>
              <a:gd name="adj" fmla="val 5555"/>
            </a:avLst>
          </a:prstGeom>
          <a:solidFill>
            <a:srgbClr val="071B30"/>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14abb052316bca6838ae130b0aff4182.png"/>
          <p:cNvPicPr>
            <a:picLocks noChangeAspect="1"/>
          </p:cNvPicPr>
          <p:nvPr/>
        </p:nvPicPr>
        <p:blipFill>
          <a:blip r:embed="rId2"/>
          <a:stretch>
            <a:fillRect/>
          </a:stretch>
        </p:blipFill>
        <p:spPr>
          <a:xfrm>
            <a:off x="4635500" y="2446633"/>
            <a:ext cx="2921000" cy="1078115"/>
          </a:xfrm>
          <a:prstGeom prst="rect">
            <a:avLst/>
          </a:prstGeom>
        </p:spPr>
      </p:pic>
      <p:sp>
        <p:nvSpPr>
          <p:cNvPr id="9" name="TextBox 8"/>
          <p:cNvSpPr txBox="1"/>
          <p:nvPr/>
        </p:nvSpPr>
        <p:spPr>
          <a:xfrm>
            <a:off x="4394200" y="4230291"/>
            <a:ext cx="347167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Op een donkere achtergrond: presentaties en website.</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3"/>
          <a:stretch>
            <a:fillRect/>
          </a:stretch>
        </p:blipFill>
        <p:spPr>
          <a:xfrm>
            <a:off x="8978900" y="2187405"/>
            <a:ext cx="1397000" cy="1596571"/>
          </a:xfrm>
          <a:prstGeom prst="rect">
            <a:avLst/>
          </a:prstGeom>
        </p:spPr>
      </p:pic>
      <p:sp>
        <p:nvSpPr>
          <p:cNvPr id="12" name="TextBox 11"/>
          <p:cNvSpPr txBox="1"/>
          <p:nvPr/>
        </p:nvSpPr>
        <p:spPr>
          <a:xfrm>
            <a:off x="7975600" y="4230291"/>
            <a:ext cx="347167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Alleen het symbool: klein formaat, pictogram, badge.</a:t>
            </a:r>
          </a:p>
        </p:txBody>
      </p:sp>
      <p:sp>
        <p:nvSpPr>
          <p:cNvPr id="13" name="TextBox 12"/>
          <p:cNvSpPr txBox="1"/>
          <p:nvPr/>
        </p:nvSpPr>
        <p:spPr>
          <a:xfrm>
            <a:off x="812800" y="4904581"/>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0464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79241"/>
            <a:ext cx="5611308" cy="480020"/>
          </a:xfrm>
          <a:prstGeom prst="rect">
            <a:avLst/>
          </a:prstGeom>
          <a:noFill/>
        </p:spPr>
        <p:txBody>
          <a:bodyPr wrap="square" lIns="0" rIns="0" tIns="0" bIns="0" anchor="t">
            <a:noAutofit/>
          </a:bodyPr>
          <a:lstStyle/>
          <a:p>
            <a:pPr algn="l">
              <a:lnSpc>
                <a:spcPts val="1889"/>
              </a:lnSpc>
            </a:pPr>
            <a:r>
              <a:rPr sz="1400" b="1" i="0">
                <a:solidFill>
                  <a:srgbClr val="3A4F63"/>
                </a:solidFill>
                <a:latin typeface="DM Sans"/>
              </a:rPr>
              <a:t>Drie inclusies per maand,</a:t>
            </a:r>
            <a:r>
              <a:rPr sz="1400" b="0" i="0">
                <a:solidFill>
                  <a:srgbClr val="3A4F63"/>
                </a:solidFill>
                <a:latin typeface="DM Sans"/>
              </a:rPr>
              <a:t> vanaf de start na de Go/No-Go. Dan is de inclusie binnen een jaar rond.</a:t>
            </a:r>
          </a:p>
        </p:txBody>
      </p:sp>
      <p:sp>
        <p:nvSpPr>
          <p:cNvPr id="7" name="Rectangle 6"/>
          <p:cNvSpPr/>
          <p:nvPr/>
        </p:nvSpPr>
        <p:spPr>
          <a:xfrm>
            <a:off x="812800" y="27481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86881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843411"/>
            <a:ext cx="5611308" cy="480020"/>
          </a:xfrm>
          <a:prstGeom prst="rect">
            <a:avLst/>
          </a:prstGeom>
          <a:noFill/>
        </p:spPr>
        <p:txBody>
          <a:bodyPr wrap="square" lIns="0" rIns="0" tIns="0" bIns="0" anchor="t">
            <a:noAutofit/>
          </a:bodyPr>
          <a:lstStyle/>
          <a:p>
            <a:pPr algn="l">
              <a:lnSpc>
                <a:spcPts val="1889"/>
              </a:lnSpc>
            </a:pPr>
            <a:r>
              <a:rPr sz="1400" b="1" i="0">
                <a:solidFill>
                  <a:srgbClr val="3A4F63"/>
                </a:solidFill>
                <a:latin typeface="DM Sans"/>
              </a:rPr>
              <a:t>Een screeningslog</a:t>
            </a:r>
            <a:r>
              <a:rPr sz="1400" b="0" i="0">
                <a:solidFill>
                  <a:srgbClr val="3A4F63"/>
                </a:solidFill>
                <a:latin typeface="DM Sans"/>
              </a:rPr>
              <a:t> vanaf de eerste patiënt: wie overwogen wordt, en waarom het niet doorgaat.</a:t>
            </a:r>
          </a:p>
        </p:txBody>
      </p:sp>
      <p:sp>
        <p:nvSpPr>
          <p:cNvPr id="10" name="Rectangle 9"/>
          <p:cNvSpPr/>
          <p:nvPr/>
        </p:nvSpPr>
        <p:spPr>
          <a:xfrm>
            <a:off x="812800" y="3412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53298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507581"/>
            <a:ext cx="5611308" cy="480020"/>
          </a:xfrm>
          <a:prstGeom prst="rect">
            <a:avLst/>
          </a:prstGeom>
          <a:noFill/>
        </p:spPr>
        <p:txBody>
          <a:bodyPr wrap="square" lIns="0" rIns="0" tIns="0" bIns="0" anchor="t">
            <a:noAutofit/>
          </a:bodyPr>
          <a:lstStyle/>
          <a:p>
            <a:pPr algn="l">
              <a:lnSpc>
                <a:spcPts val="1889"/>
              </a:lnSpc>
            </a:pPr>
            <a:r>
              <a:rPr sz="1400" b="1" i="0">
                <a:solidFill>
                  <a:srgbClr val="3A4F63"/>
                </a:solidFill>
                <a:latin typeface="DM Sans"/>
              </a:rPr>
              <a:t>Het toetsingsblad terug tegen vrijdag 16 oktober:</a:t>
            </a:r>
            <a:r>
              <a:rPr sz="1400" b="0" i="0">
                <a:solidFill>
                  <a:srgbClr val="3A4F63"/>
                </a:solidFill>
                <a:latin typeface="DM Sans"/>
              </a:rPr>
              <a:t> per onderwerp optie A of B, en de vaste data bevestigd.</a:t>
            </a:r>
          </a:p>
        </p:txBody>
      </p:sp>
      <p:sp>
        <p:nvSpPr>
          <p:cNvPr id="13" name="Rectangle 12"/>
          <p:cNvSpPr/>
          <p:nvPr/>
        </p:nvSpPr>
        <p:spPr>
          <a:xfrm>
            <a:off x="812800" y="40765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419715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4171752"/>
            <a:ext cx="5611308" cy="480020"/>
          </a:xfrm>
          <a:prstGeom prst="rect">
            <a:avLst/>
          </a:prstGeom>
          <a:noFill/>
        </p:spPr>
        <p:txBody>
          <a:bodyPr wrap="square" lIns="0" rIns="0" tIns="0" bIns="0" anchor="t">
            <a:noAutofit/>
          </a:bodyPr>
          <a:lstStyle/>
          <a:p>
            <a:pPr algn="l">
              <a:lnSpc>
                <a:spcPts val="1889"/>
              </a:lnSpc>
            </a:pPr>
            <a:r>
              <a:rPr sz="1400" b="1" i="0">
                <a:solidFill>
                  <a:srgbClr val="3A4F63"/>
                </a:solidFill>
                <a:latin typeface="DM Sans"/>
              </a:rPr>
              <a:t>Wie deelneemt:</a:t>
            </a:r>
            <a:r>
              <a:rPr sz="1400" b="0" i="0">
                <a:solidFill>
                  <a:srgbClr val="3A4F63"/>
                </a:solidFill>
                <a:latin typeface="DM Sans"/>
              </a:rPr>
              <a:t> de namen van de podologen, en welke artsen de theorie volgen.</a:t>
            </a:r>
          </a:p>
        </p:txBody>
      </p:sp>
      <p:sp>
        <p:nvSpPr>
          <p:cNvPr id="16" name="Rectangle 15"/>
          <p:cNvSpPr/>
          <p:nvPr/>
        </p:nvSpPr>
        <p:spPr>
          <a:xfrm>
            <a:off x="812800" y="4740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86132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835922"/>
            <a:ext cx="5611308" cy="480020"/>
          </a:xfrm>
          <a:prstGeom prst="rect">
            <a:avLst/>
          </a:prstGeom>
          <a:noFill/>
        </p:spPr>
        <p:txBody>
          <a:bodyPr wrap="square" lIns="0" rIns="0" tIns="0" bIns="0" anchor="t">
            <a:noAutofit/>
          </a:bodyPr>
          <a:lstStyle/>
          <a:p>
            <a:pPr algn="l">
              <a:lnSpc>
                <a:spcPts val="1889"/>
              </a:lnSpc>
            </a:pPr>
            <a:r>
              <a:rPr sz="1400" b="1" i="0">
                <a:solidFill>
                  <a:srgbClr val="3A4F63"/>
                </a:solidFill>
                <a:latin typeface="DM Sans"/>
              </a:rPr>
              <a:t>De drukmeting geïnstalleerd</a:t>
            </a:r>
            <a:r>
              <a:rPr sz="1400" b="0" i="0">
                <a:solidFill>
                  <a:srgbClr val="3A4F63"/>
                </a:solidFill>
                <a:latin typeface="DM Sans"/>
              </a:rPr>
              <a:t> vóór uw technologiesessie in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1036241"/>
          </a:xfrm>
          <a:prstGeom prst="roundRect">
            <a:avLst>
              <a:gd name="adj" fmla="val 12255"/>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39992" y="2325291"/>
            <a:ext cx="4005858"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Bijspringen als een centrum achterblijft</a:t>
            </a:r>
          </a:p>
        </p:txBody>
      </p:sp>
      <p:sp>
        <p:nvSpPr>
          <p:cNvPr id="22" name="TextBox 21"/>
          <p:cNvSpPr txBox="1"/>
          <p:nvPr/>
        </p:nvSpPr>
        <p:spPr>
          <a:xfrm>
            <a:off x="7239992" y="2598341"/>
            <a:ext cx="40341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Wie sneller gaat, includeert door tot de 144 er zijn. Welk plafond per centrum, en extra enveloppen.</a:t>
            </a:r>
          </a:p>
        </p:txBody>
      </p:sp>
      <p:sp>
        <p:nvSpPr>
          <p:cNvPr id="23" name="Rounded Rectangle 22"/>
          <p:cNvSpPr/>
          <p:nvPr/>
        </p:nvSpPr>
        <p:spPr>
          <a:xfrm>
            <a:off x="7055842" y="3329781"/>
            <a:ext cx="4323358" cy="1036241"/>
          </a:xfrm>
          <a:prstGeom prst="roundRect">
            <a:avLst>
              <a:gd name="adj" fmla="val 12255"/>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39992" y="3488531"/>
            <a:ext cx="4005858"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Twaalf maanden inclusie, geen achttien</a:t>
            </a:r>
          </a:p>
        </p:txBody>
      </p:sp>
      <p:sp>
        <p:nvSpPr>
          <p:cNvPr id="25" name="TextBox 24"/>
          <p:cNvSpPr txBox="1"/>
          <p:nvPr/>
        </p:nvSpPr>
        <p:spPr>
          <a:xfrm>
            <a:off x="7239992" y="3761581"/>
            <a:ext cx="40341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Evenveel uren voor uw team, maar dan blijft er na de laatste visite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Groeninge</a:t>
            </a:r>
          </a:p>
        </p:txBody>
      </p:sp>
      <p:sp>
        <p:nvSpPr>
          <p:cNvPr id="6" name="TextBox 5"/>
          <p:cNvSpPr txBox="1"/>
          <p:nvPr/>
        </p:nvSpPr>
        <p:spPr>
          <a:xfrm>
            <a:off x="996950"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Kortrijk</a:t>
            </a:r>
          </a:p>
        </p:txBody>
      </p:sp>
      <p:sp>
        <p:nvSpPr>
          <p:cNvPr id="7" name="Rounded Rectangle 6"/>
          <p:cNvSpPr/>
          <p:nvPr/>
        </p:nvSpPr>
        <p:spPr>
          <a:xfrm>
            <a:off x="3755628"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939778"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Sint-Jan</a:t>
            </a:r>
          </a:p>
        </p:txBody>
      </p:sp>
      <p:sp>
        <p:nvSpPr>
          <p:cNvPr id="9" name="TextBox 8"/>
          <p:cNvSpPr txBox="1"/>
          <p:nvPr/>
        </p:nvSpPr>
        <p:spPr>
          <a:xfrm>
            <a:off x="3939778"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Brugge</a:t>
            </a:r>
          </a:p>
        </p:txBody>
      </p:sp>
      <p:sp>
        <p:nvSpPr>
          <p:cNvPr id="10" name="Rounded Rectangle 9"/>
          <p:cNvSpPr/>
          <p:nvPr/>
        </p:nvSpPr>
        <p:spPr>
          <a:xfrm>
            <a:off x="812800"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6950"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Gent</a:t>
            </a:r>
          </a:p>
        </p:txBody>
      </p:sp>
      <p:sp>
        <p:nvSpPr>
          <p:cNvPr id="12" name="TextBox 11"/>
          <p:cNvSpPr txBox="1"/>
          <p:nvPr/>
        </p:nvSpPr>
        <p:spPr>
          <a:xfrm>
            <a:off x="996950"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Gent</a:t>
            </a:r>
          </a:p>
        </p:txBody>
      </p:sp>
      <p:sp>
        <p:nvSpPr>
          <p:cNvPr id="13" name="Rounded Rectangle 12"/>
          <p:cNvSpPr/>
          <p:nvPr/>
        </p:nvSpPr>
        <p:spPr>
          <a:xfrm>
            <a:off x="3755628"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939778"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AZORG</a:t>
            </a:r>
          </a:p>
        </p:txBody>
      </p:sp>
      <p:sp>
        <p:nvSpPr>
          <p:cNvPr id="15" name="TextBox 14"/>
          <p:cNvSpPr txBox="1"/>
          <p:nvPr/>
        </p:nvSpPr>
        <p:spPr>
          <a:xfrm>
            <a:off x="3939778"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Aalst</a:t>
            </a:r>
          </a:p>
        </p:txBody>
      </p:sp>
      <p:sp>
        <p:nvSpPr>
          <p:cNvPr id="16" name="Rounded Rectangle 15"/>
          <p:cNvSpPr/>
          <p:nvPr/>
        </p:nvSpPr>
        <p:spPr>
          <a:xfrm>
            <a:off x="812800"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96950"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Leuven</a:t>
            </a:r>
          </a:p>
        </p:txBody>
      </p:sp>
      <p:sp>
        <p:nvSpPr>
          <p:cNvPr id="18" name="TextBox 17"/>
          <p:cNvSpPr txBox="1"/>
          <p:nvPr/>
        </p:nvSpPr>
        <p:spPr>
          <a:xfrm>
            <a:off x="996950"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Leuven</a:t>
            </a:r>
          </a:p>
        </p:txBody>
      </p:sp>
      <p:sp>
        <p:nvSpPr>
          <p:cNvPr id="19" name="Rounded Rectangle 18"/>
          <p:cNvSpPr/>
          <p:nvPr/>
        </p:nvSpPr>
        <p:spPr>
          <a:xfrm>
            <a:off x="3755628"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39778"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Antwerpen</a:t>
            </a:r>
          </a:p>
        </p:txBody>
      </p:sp>
      <p:sp>
        <p:nvSpPr>
          <p:cNvPr id="21" name="TextBox 20"/>
          <p:cNvSpPr txBox="1"/>
          <p:nvPr/>
        </p:nvSpPr>
        <p:spPr>
          <a:xfrm>
            <a:off x="3939778"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Edegem</a:t>
            </a:r>
          </a:p>
        </p:txBody>
      </p:sp>
      <p:sp>
        <p:nvSpPr>
          <p:cNvPr id="22" name="TextBox 21"/>
          <p:cNvSpPr txBox="1"/>
          <p:nvPr/>
        </p:nvSpPr>
        <p:spPr>
          <a:xfrm>
            <a:off x="6939756" y="193794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23" name="TextBox 22"/>
          <p:cNvSpPr txBox="1"/>
          <p:nvPr/>
        </p:nvSpPr>
        <p:spPr>
          <a:xfrm>
            <a:off x="7249716" y="1931591"/>
            <a:ext cx="283249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Staat de drukmeting er, en werkt ze?</a:t>
            </a:r>
          </a:p>
        </p:txBody>
      </p:sp>
      <p:sp>
        <p:nvSpPr>
          <p:cNvPr id="24" name="Rectangle 23"/>
          <p:cNvSpPr/>
          <p:nvPr/>
        </p:nvSpPr>
        <p:spPr>
          <a:xfrm>
            <a:off x="6939756" y="220970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9756" y="228590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26" name="TextBox 25"/>
          <p:cNvSpPr txBox="1"/>
          <p:nvPr/>
        </p:nvSpPr>
        <p:spPr>
          <a:xfrm>
            <a:off x="7249716" y="2279551"/>
            <a:ext cx="3285133"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Wie volgt de opleiding: podologen, artsen?</a:t>
            </a:r>
          </a:p>
        </p:txBody>
      </p:sp>
      <p:sp>
        <p:nvSpPr>
          <p:cNvPr id="27" name="Rectangle 26"/>
          <p:cNvSpPr/>
          <p:nvPr/>
        </p:nvSpPr>
        <p:spPr>
          <a:xfrm>
            <a:off x="6939756" y="255766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9756" y="26338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29" name="TextBox 28"/>
          <p:cNvSpPr txBox="1"/>
          <p:nvPr/>
        </p:nvSpPr>
        <p:spPr>
          <a:xfrm>
            <a:off x="7249716" y="2627511"/>
            <a:ext cx="362624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Hoeveel geschikte patiënten ziet u per maand?</a:t>
            </a:r>
          </a:p>
        </p:txBody>
      </p:sp>
      <p:sp>
        <p:nvSpPr>
          <p:cNvPr id="30" name="Rectangle 29"/>
          <p:cNvSpPr/>
          <p:nvPr/>
        </p:nvSpPr>
        <p:spPr>
          <a:xfrm>
            <a:off x="6939756" y="290562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9756" y="298182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32" name="TextBox 31"/>
          <p:cNvSpPr txBox="1"/>
          <p:nvPr/>
        </p:nvSpPr>
        <p:spPr>
          <a:xfrm>
            <a:off x="7249716" y="2975471"/>
            <a:ext cx="4212074" cy="429220"/>
          </a:xfrm>
          <a:prstGeom prst="rect">
            <a:avLst/>
          </a:prstGeom>
          <a:noFill/>
        </p:spPr>
        <p:txBody>
          <a:bodyPr wrap="square" lIns="0" rIns="0" tIns="0" bIns="0" anchor="t">
            <a:noAutofit/>
          </a:bodyPr>
          <a:lstStyle/>
          <a:p>
            <a:pPr algn="l">
              <a:lnSpc>
                <a:spcPts val="1689"/>
              </a:lnSpc>
            </a:pPr>
            <a:r>
              <a:rPr sz="1300" b="0" i="0">
                <a:solidFill>
                  <a:srgbClr val="3A4F63"/>
                </a:solidFill>
                <a:latin typeface="DM Sans"/>
              </a:rPr>
              <a:t>Afvaardiging voor de Executive Board en de Clinical Trial Management Group</a:t>
            </a:r>
          </a:p>
        </p:txBody>
      </p:sp>
      <p:sp>
        <p:nvSpPr>
          <p:cNvPr id="33" name="Rectangle 32"/>
          <p:cNvSpPr/>
          <p:nvPr/>
        </p:nvSpPr>
        <p:spPr>
          <a:xfrm>
            <a:off x="6939756" y="346819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9756" y="3544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35" name="TextBox 34"/>
          <p:cNvSpPr txBox="1"/>
          <p:nvPr/>
        </p:nvSpPr>
        <p:spPr>
          <a:xfrm>
            <a:off x="7249716" y="3538041"/>
            <a:ext cx="133667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Vragen of zorgen</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