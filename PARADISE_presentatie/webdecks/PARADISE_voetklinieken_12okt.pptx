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chart>
    <c:plotArea>
      <c:layout>
        <c:manualLayout>
          <c:layoutTarget val="inner"/>
          <c:xMode val="edge"/>
          <c:yMode val="edge"/>
          <c:x val="0.1047"/>
          <c:y val="0.0678"/>
          <c:w val="0.8605"/>
          <c:h val="0.7458"/>
        </c:manualLayout>
      </c:layout>
      <c:scatterChart>
        <c:scatterStyle val="lineMarker"/>
        <c:varyColors val="0"/>
        <c:ser>
          <c:idx val="0"/>
          <c:order val="0"/>
          <c:tx>
            <c:strRef>
              <c:f>Sheet1!$B$1</c:f>
              <c:strCache>
                <c:ptCount val="1"/>
                <c:pt idx="0">
                  <c:v>kans</c:v>
                </c:pt>
              </c:strCache>
            </c:strRef>
          </c:tx>
          <c:spPr>
            <a:ln w="19050">
              <a:solidFill>
                <a:srgbClr val="C5D8E8"/>
              </a:solidFill>
            </a:ln>
          </c:spPr>
          <c:marker>
            <c:symbol val="none"/>
          </c:marker>
          <c:xVal>
            <c:numRef>
              <c:f>Sheet1!$A$2:$A$252</c:f>
              <c:numCache>
                <c:formatCode>General</c:formatCode>
                <c:ptCount val="251"/>
                <c:pt idx="0">
                  <c:v>1.5</c:v>
                </c:pt>
                <c:pt idx="1">
                  <c:v>1.51</c:v>
                </c:pt>
                <c:pt idx="2">
                  <c:v>1.52</c:v>
                </c:pt>
                <c:pt idx="3">
                  <c:v>1.53</c:v>
                </c:pt>
                <c:pt idx="4">
                  <c:v>1.54</c:v>
                </c:pt>
                <c:pt idx="5">
                  <c:v>1.55</c:v>
                </c:pt>
                <c:pt idx="6">
                  <c:v>1.56</c:v>
                </c:pt>
                <c:pt idx="7">
                  <c:v>1.57</c:v>
                </c:pt>
                <c:pt idx="8">
                  <c:v>1.58</c:v>
                </c:pt>
                <c:pt idx="9">
                  <c:v>1.59</c:v>
                </c:pt>
                <c:pt idx="10">
                  <c:v>1.6</c:v>
                </c:pt>
                <c:pt idx="11">
                  <c:v>1.61</c:v>
                </c:pt>
                <c:pt idx="12">
                  <c:v>1.62</c:v>
                </c:pt>
                <c:pt idx="13">
                  <c:v>1.63</c:v>
                </c:pt>
                <c:pt idx="14">
                  <c:v>1.64</c:v>
                </c:pt>
                <c:pt idx="15">
                  <c:v>1.65</c:v>
                </c:pt>
                <c:pt idx="16">
                  <c:v>1.66</c:v>
                </c:pt>
                <c:pt idx="17">
                  <c:v>1.67</c:v>
                </c:pt>
                <c:pt idx="18">
                  <c:v>1.68</c:v>
                </c:pt>
                <c:pt idx="19">
                  <c:v>1.69</c:v>
                </c:pt>
                <c:pt idx="20">
                  <c:v>1.7</c:v>
                </c:pt>
                <c:pt idx="21">
                  <c:v>1.71</c:v>
                </c:pt>
                <c:pt idx="22">
                  <c:v>1.72</c:v>
                </c:pt>
                <c:pt idx="23">
                  <c:v>1.73</c:v>
                </c:pt>
                <c:pt idx="24">
                  <c:v>1.74</c:v>
                </c:pt>
                <c:pt idx="25">
                  <c:v>1.75</c:v>
                </c:pt>
                <c:pt idx="26">
                  <c:v>1.76</c:v>
                </c:pt>
                <c:pt idx="27">
                  <c:v>1.77</c:v>
                </c:pt>
                <c:pt idx="28">
                  <c:v>1.78</c:v>
                </c:pt>
                <c:pt idx="29">
                  <c:v>1.79</c:v>
                </c:pt>
                <c:pt idx="30">
                  <c:v>1.8</c:v>
                </c:pt>
                <c:pt idx="31">
                  <c:v>1.81</c:v>
                </c:pt>
                <c:pt idx="32">
                  <c:v>1.82</c:v>
                </c:pt>
                <c:pt idx="33">
                  <c:v>1.83</c:v>
                </c:pt>
                <c:pt idx="34">
                  <c:v>1.84</c:v>
                </c:pt>
                <c:pt idx="35">
                  <c:v>1.85</c:v>
                </c:pt>
                <c:pt idx="36">
                  <c:v>1.86</c:v>
                </c:pt>
                <c:pt idx="37">
                  <c:v>1.87</c:v>
                </c:pt>
                <c:pt idx="38">
                  <c:v>1.88</c:v>
                </c:pt>
                <c:pt idx="39">
                  <c:v>1.89</c:v>
                </c:pt>
                <c:pt idx="40">
                  <c:v>1.9</c:v>
                </c:pt>
                <c:pt idx="41">
                  <c:v>1.91</c:v>
                </c:pt>
                <c:pt idx="42">
                  <c:v>1.92</c:v>
                </c:pt>
                <c:pt idx="43">
                  <c:v>1.93</c:v>
                </c:pt>
                <c:pt idx="44">
                  <c:v>1.94</c:v>
                </c:pt>
                <c:pt idx="45">
                  <c:v>1.95</c:v>
                </c:pt>
                <c:pt idx="46">
                  <c:v>1.96</c:v>
                </c:pt>
                <c:pt idx="47">
                  <c:v>1.97</c:v>
                </c:pt>
                <c:pt idx="48">
                  <c:v>1.98</c:v>
                </c:pt>
                <c:pt idx="49">
                  <c:v>1.99</c:v>
                </c:pt>
                <c:pt idx="50">
                  <c:v>2.0</c:v>
                </c:pt>
                <c:pt idx="51">
                  <c:v>2.01</c:v>
                </c:pt>
                <c:pt idx="52">
                  <c:v>2.02</c:v>
                </c:pt>
                <c:pt idx="53">
                  <c:v>2.03</c:v>
                </c:pt>
                <c:pt idx="54">
                  <c:v>2.04</c:v>
                </c:pt>
                <c:pt idx="55">
                  <c:v>2.05</c:v>
                </c:pt>
                <c:pt idx="56">
                  <c:v>2.06</c:v>
                </c:pt>
                <c:pt idx="57">
                  <c:v>2.07</c:v>
                </c:pt>
                <c:pt idx="58">
                  <c:v>2.08</c:v>
                </c:pt>
                <c:pt idx="59">
                  <c:v>2.09</c:v>
                </c:pt>
                <c:pt idx="60">
                  <c:v>2.1</c:v>
                </c:pt>
                <c:pt idx="61">
                  <c:v>2.11</c:v>
                </c:pt>
                <c:pt idx="62">
                  <c:v>2.12</c:v>
                </c:pt>
                <c:pt idx="63">
                  <c:v>2.13</c:v>
                </c:pt>
                <c:pt idx="64">
                  <c:v>2.14</c:v>
                </c:pt>
                <c:pt idx="65">
                  <c:v>2.15</c:v>
                </c:pt>
                <c:pt idx="66">
                  <c:v>2.16</c:v>
                </c:pt>
                <c:pt idx="67">
                  <c:v>2.17</c:v>
                </c:pt>
                <c:pt idx="68">
                  <c:v>2.18</c:v>
                </c:pt>
                <c:pt idx="69">
                  <c:v>2.19</c:v>
                </c:pt>
                <c:pt idx="70">
                  <c:v>2.2</c:v>
                </c:pt>
                <c:pt idx="71">
                  <c:v>2.21</c:v>
                </c:pt>
                <c:pt idx="72">
                  <c:v>2.22</c:v>
                </c:pt>
                <c:pt idx="73">
                  <c:v>2.23</c:v>
                </c:pt>
                <c:pt idx="74">
                  <c:v>2.24</c:v>
                </c:pt>
                <c:pt idx="75">
                  <c:v>2.25</c:v>
                </c:pt>
                <c:pt idx="76">
                  <c:v>2.26</c:v>
                </c:pt>
                <c:pt idx="77">
                  <c:v>2.27</c:v>
                </c:pt>
                <c:pt idx="78">
                  <c:v>2.28</c:v>
                </c:pt>
                <c:pt idx="79">
                  <c:v>2.29</c:v>
                </c:pt>
                <c:pt idx="80">
                  <c:v>2.3</c:v>
                </c:pt>
                <c:pt idx="81">
                  <c:v>2.31</c:v>
                </c:pt>
                <c:pt idx="82">
                  <c:v>2.32</c:v>
                </c:pt>
                <c:pt idx="83">
                  <c:v>2.33</c:v>
                </c:pt>
                <c:pt idx="84">
                  <c:v>2.34</c:v>
                </c:pt>
                <c:pt idx="85">
                  <c:v>2.35</c:v>
                </c:pt>
                <c:pt idx="86">
                  <c:v>2.36</c:v>
                </c:pt>
                <c:pt idx="87">
                  <c:v>2.37</c:v>
                </c:pt>
                <c:pt idx="88">
                  <c:v>2.38</c:v>
                </c:pt>
                <c:pt idx="89">
                  <c:v>2.39</c:v>
                </c:pt>
                <c:pt idx="90">
                  <c:v>2.4</c:v>
                </c:pt>
                <c:pt idx="91">
                  <c:v>2.41</c:v>
                </c:pt>
                <c:pt idx="92">
                  <c:v>2.42</c:v>
                </c:pt>
                <c:pt idx="93">
                  <c:v>2.43</c:v>
                </c:pt>
                <c:pt idx="94">
                  <c:v>2.44</c:v>
                </c:pt>
                <c:pt idx="95">
                  <c:v>2.45</c:v>
                </c:pt>
                <c:pt idx="96">
                  <c:v>2.46</c:v>
                </c:pt>
                <c:pt idx="97">
                  <c:v>2.47</c:v>
                </c:pt>
                <c:pt idx="98">
                  <c:v>2.48</c:v>
                </c:pt>
                <c:pt idx="99">
                  <c:v>2.49</c:v>
                </c:pt>
                <c:pt idx="100">
                  <c:v>2.5</c:v>
                </c:pt>
                <c:pt idx="101">
                  <c:v>2.51</c:v>
                </c:pt>
                <c:pt idx="102">
                  <c:v>2.52</c:v>
                </c:pt>
                <c:pt idx="103">
                  <c:v>2.53</c:v>
                </c:pt>
                <c:pt idx="104">
                  <c:v>2.54</c:v>
                </c:pt>
                <c:pt idx="105">
                  <c:v>2.55</c:v>
                </c:pt>
                <c:pt idx="106">
                  <c:v>2.56</c:v>
                </c:pt>
                <c:pt idx="107">
                  <c:v>2.57</c:v>
                </c:pt>
                <c:pt idx="108">
                  <c:v>2.58</c:v>
                </c:pt>
                <c:pt idx="109">
                  <c:v>2.59</c:v>
                </c:pt>
                <c:pt idx="110">
                  <c:v>2.6</c:v>
                </c:pt>
                <c:pt idx="111">
                  <c:v>2.61</c:v>
                </c:pt>
                <c:pt idx="112">
                  <c:v>2.62</c:v>
                </c:pt>
                <c:pt idx="113">
                  <c:v>2.63</c:v>
                </c:pt>
                <c:pt idx="114">
                  <c:v>2.64</c:v>
                </c:pt>
                <c:pt idx="115">
                  <c:v>2.65</c:v>
                </c:pt>
                <c:pt idx="116">
                  <c:v>2.66</c:v>
                </c:pt>
                <c:pt idx="117">
                  <c:v>2.67</c:v>
                </c:pt>
                <c:pt idx="118">
                  <c:v>2.68</c:v>
                </c:pt>
                <c:pt idx="119">
                  <c:v>2.69</c:v>
                </c:pt>
                <c:pt idx="120">
                  <c:v>2.7</c:v>
                </c:pt>
                <c:pt idx="121">
                  <c:v>2.71</c:v>
                </c:pt>
                <c:pt idx="122">
                  <c:v>2.72</c:v>
                </c:pt>
                <c:pt idx="123">
                  <c:v>2.73</c:v>
                </c:pt>
                <c:pt idx="124">
                  <c:v>2.74</c:v>
                </c:pt>
                <c:pt idx="125">
                  <c:v>2.75</c:v>
                </c:pt>
                <c:pt idx="126">
                  <c:v>2.76</c:v>
                </c:pt>
                <c:pt idx="127">
                  <c:v>2.77</c:v>
                </c:pt>
                <c:pt idx="128">
                  <c:v>2.78</c:v>
                </c:pt>
                <c:pt idx="129">
                  <c:v>2.79</c:v>
                </c:pt>
                <c:pt idx="130">
                  <c:v>2.8</c:v>
                </c:pt>
                <c:pt idx="131">
                  <c:v>2.81</c:v>
                </c:pt>
                <c:pt idx="132">
                  <c:v>2.82</c:v>
                </c:pt>
                <c:pt idx="133">
                  <c:v>2.83</c:v>
                </c:pt>
                <c:pt idx="134">
                  <c:v>2.84</c:v>
                </c:pt>
                <c:pt idx="135">
                  <c:v>2.85</c:v>
                </c:pt>
                <c:pt idx="136">
                  <c:v>2.86</c:v>
                </c:pt>
                <c:pt idx="137">
                  <c:v>2.87</c:v>
                </c:pt>
                <c:pt idx="138">
                  <c:v>2.88</c:v>
                </c:pt>
                <c:pt idx="139">
                  <c:v>2.89</c:v>
                </c:pt>
                <c:pt idx="140">
                  <c:v>2.9</c:v>
                </c:pt>
                <c:pt idx="141">
                  <c:v>2.91</c:v>
                </c:pt>
                <c:pt idx="142">
                  <c:v>2.92</c:v>
                </c:pt>
                <c:pt idx="143">
                  <c:v>2.93</c:v>
                </c:pt>
                <c:pt idx="144">
                  <c:v>2.94</c:v>
                </c:pt>
                <c:pt idx="145">
                  <c:v>2.95</c:v>
                </c:pt>
                <c:pt idx="146">
                  <c:v>2.96</c:v>
                </c:pt>
                <c:pt idx="147">
                  <c:v>2.97</c:v>
                </c:pt>
                <c:pt idx="148">
                  <c:v>2.98</c:v>
                </c:pt>
                <c:pt idx="149">
                  <c:v>2.99</c:v>
                </c:pt>
                <c:pt idx="150">
                  <c:v>3.0</c:v>
                </c:pt>
                <c:pt idx="151">
                  <c:v>3.01</c:v>
                </c:pt>
                <c:pt idx="152">
                  <c:v>3.02</c:v>
                </c:pt>
                <c:pt idx="153">
                  <c:v>3.03</c:v>
                </c:pt>
                <c:pt idx="154">
                  <c:v>3.04</c:v>
                </c:pt>
                <c:pt idx="155">
                  <c:v>3.05</c:v>
                </c:pt>
                <c:pt idx="156">
                  <c:v>3.06</c:v>
                </c:pt>
                <c:pt idx="157">
                  <c:v>3.07</c:v>
                </c:pt>
                <c:pt idx="158">
                  <c:v>3.08</c:v>
                </c:pt>
                <c:pt idx="159">
                  <c:v>3.09</c:v>
                </c:pt>
                <c:pt idx="160">
                  <c:v>3.1</c:v>
                </c:pt>
                <c:pt idx="161">
                  <c:v>3.11</c:v>
                </c:pt>
                <c:pt idx="162">
                  <c:v>3.12</c:v>
                </c:pt>
                <c:pt idx="163">
                  <c:v>3.13</c:v>
                </c:pt>
                <c:pt idx="164">
                  <c:v>3.14</c:v>
                </c:pt>
                <c:pt idx="165">
                  <c:v>3.15</c:v>
                </c:pt>
                <c:pt idx="166">
                  <c:v>3.16</c:v>
                </c:pt>
                <c:pt idx="167">
                  <c:v>3.17</c:v>
                </c:pt>
                <c:pt idx="168">
                  <c:v>3.18</c:v>
                </c:pt>
                <c:pt idx="169">
                  <c:v>3.19</c:v>
                </c:pt>
                <c:pt idx="170">
                  <c:v>3.2</c:v>
                </c:pt>
                <c:pt idx="171">
                  <c:v>3.21</c:v>
                </c:pt>
                <c:pt idx="172">
                  <c:v>3.22</c:v>
                </c:pt>
                <c:pt idx="173">
                  <c:v>3.23</c:v>
                </c:pt>
                <c:pt idx="174">
                  <c:v>3.24</c:v>
                </c:pt>
                <c:pt idx="175">
                  <c:v>3.25</c:v>
                </c:pt>
                <c:pt idx="176">
                  <c:v>3.26</c:v>
                </c:pt>
                <c:pt idx="177">
                  <c:v>3.27</c:v>
                </c:pt>
                <c:pt idx="178">
                  <c:v>3.28</c:v>
                </c:pt>
                <c:pt idx="179">
                  <c:v>3.29</c:v>
                </c:pt>
                <c:pt idx="180">
                  <c:v>3.3</c:v>
                </c:pt>
                <c:pt idx="181">
                  <c:v>3.31</c:v>
                </c:pt>
                <c:pt idx="182">
                  <c:v>3.32</c:v>
                </c:pt>
                <c:pt idx="183">
                  <c:v>3.33</c:v>
                </c:pt>
                <c:pt idx="184">
                  <c:v>3.34</c:v>
                </c:pt>
                <c:pt idx="185">
                  <c:v>3.35</c:v>
                </c:pt>
                <c:pt idx="186">
                  <c:v>3.36</c:v>
                </c:pt>
                <c:pt idx="187">
                  <c:v>3.37</c:v>
                </c:pt>
                <c:pt idx="188">
                  <c:v>3.38</c:v>
                </c:pt>
                <c:pt idx="189">
                  <c:v>3.39</c:v>
                </c:pt>
                <c:pt idx="190">
                  <c:v>3.4</c:v>
                </c:pt>
                <c:pt idx="191">
                  <c:v>3.41</c:v>
                </c:pt>
                <c:pt idx="192">
                  <c:v>3.42</c:v>
                </c:pt>
                <c:pt idx="193">
                  <c:v>3.43</c:v>
                </c:pt>
                <c:pt idx="194">
                  <c:v>3.44</c:v>
                </c:pt>
                <c:pt idx="195">
                  <c:v>3.45</c:v>
                </c:pt>
                <c:pt idx="196">
                  <c:v>3.46</c:v>
                </c:pt>
                <c:pt idx="197">
                  <c:v>3.47</c:v>
                </c:pt>
                <c:pt idx="198">
                  <c:v>3.48</c:v>
                </c:pt>
                <c:pt idx="199">
                  <c:v>3.49</c:v>
                </c:pt>
                <c:pt idx="200">
                  <c:v>3.5</c:v>
                </c:pt>
                <c:pt idx="201">
                  <c:v>3.51</c:v>
                </c:pt>
                <c:pt idx="202">
                  <c:v>3.52</c:v>
                </c:pt>
                <c:pt idx="203">
                  <c:v>3.53</c:v>
                </c:pt>
                <c:pt idx="204">
                  <c:v>3.54</c:v>
                </c:pt>
                <c:pt idx="205">
                  <c:v>3.55</c:v>
                </c:pt>
                <c:pt idx="206">
                  <c:v>3.56</c:v>
                </c:pt>
                <c:pt idx="207">
                  <c:v>3.57</c:v>
                </c:pt>
                <c:pt idx="208">
                  <c:v>3.58</c:v>
                </c:pt>
                <c:pt idx="209">
                  <c:v>3.59</c:v>
                </c:pt>
                <c:pt idx="210">
                  <c:v>3.6</c:v>
                </c:pt>
                <c:pt idx="211">
                  <c:v>3.61</c:v>
                </c:pt>
                <c:pt idx="212">
                  <c:v>3.62</c:v>
                </c:pt>
                <c:pt idx="213">
                  <c:v>3.63</c:v>
                </c:pt>
                <c:pt idx="214">
                  <c:v>3.64</c:v>
                </c:pt>
                <c:pt idx="215">
                  <c:v>3.65</c:v>
                </c:pt>
                <c:pt idx="216">
                  <c:v>3.66</c:v>
                </c:pt>
                <c:pt idx="217">
                  <c:v>3.67</c:v>
                </c:pt>
                <c:pt idx="218">
                  <c:v>3.68</c:v>
                </c:pt>
                <c:pt idx="219">
                  <c:v>3.69</c:v>
                </c:pt>
                <c:pt idx="220">
                  <c:v>3.7</c:v>
                </c:pt>
                <c:pt idx="221">
                  <c:v>3.71</c:v>
                </c:pt>
                <c:pt idx="222">
                  <c:v>3.72</c:v>
                </c:pt>
                <c:pt idx="223">
                  <c:v>3.73</c:v>
                </c:pt>
                <c:pt idx="224">
                  <c:v>3.74</c:v>
                </c:pt>
                <c:pt idx="225">
                  <c:v>3.75</c:v>
                </c:pt>
                <c:pt idx="226">
                  <c:v>3.76</c:v>
                </c:pt>
                <c:pt idx="227">
                  <c:v>3.77</c:v>
                </c:pt>
                <c:pt idx="228">
                  <c:v>3.78</c:v>
                </c:pt>
                <c:pt idx="229">
                  <c:v>3.79</c:v>
                </c:pt>
                <c:pt idx="230">
                  <c:v>3.8</c:v>
                </c:pt>
                <c:pt idx="231">
                  <c:v>3.81</c:v>
                </c:pt>
                <c:pt idx="232">
                  <c:v>3.82</c:v>
                </c:pt>
                <c:pt idx="233">
                  <c:v>3.83</c:v>
                </c:pt>
                <c:pt idx="234">
                  <c:v>3.84</c:v>
                </c:pt>
                <c:pt idx="235">
                  <c:v>3.85</c:v>
                </c:pt>
                <c:pt idx="236">
                  <c:v>3.86</c:v>
                </c:pt>
                <c:pt idx="237">
                  <c:v>3.87</c:v>
                </c:pt>
                <c:pt idx="238">
                  <c:v>3.88</c:v>
                </c:pt>
                <c:pt idx="239">
                  <c:v>3.89</c:v>
                </c:pt>
                <c:pt idx="240">
                  <c:v>3.9</c:v>
                </c:pt>
                <c:pt idx="241">
                  <c:v>3.91</c:v>
                </c:pt>
                <c:pt idx="242">
                  <c:v>3.92</c:v>
                </c:pt>
                <c:pt idx="243">
                  <c:v>3.93</c:v>
                </c:pt>
                <c:pt idx="244">
                  <c:v>3.94</c:v>
                </c:pt>
                <c:pt idx="245">
                  <c:v>3.95</c:v>
                </c:pt>
                <c:pt idx="246">
                  <c:v>3.96</c:v>
                </c:pt>
                <c:pt idx="247">
                  <c:v>3.97</c:v>
                </c:pt>
                <c:pt idx="248">
                  <c:v>3.98</c:v>
                </c:pt>
                <c:pt idx="249">
                  <c:v>3.99</c:v>
                </c:pt>
                <c:pt idx="250">
                  <c:v>4.0</c:v>
                </c:pt>
              </c:numCache>
            </c:numRef>
          </c:xVal>
          <c:yVal>
            <c:numRef>
              <c:f>Sheet1!$B$2:$B$252</c:f>
              <c:numCache>
                <c:formatCode>General</c:formatCode>
                <c:ptCount val="251"/>
                <c:pt idx="0">
                  <c:v>10.111009185571074</c:v>
                </c:pt>
                <c:pt idx="1">
                  <c:v>10.645373875787179</c:v>
                </c:pt>
                <c:pt idx="2">
                  <c:v>11.197289303461266</c:v>
                </c:pt>
                <c:pt idx="3">
                  <c:v>11.7667610136725</c:v>
                </c:pt>
                <c:pt idx="4">
                  <c:v>12.353766690916835</c:v>
                </c:pt>
                <c:pt idx="5">
                  <c:v>12.958255899581117</c:v>
                </c:pt>
                <c:pt idx="6">
                  <c:v>13.580149911675466</c:v>
                </c:pt>
                <c:pt idx="7">
                  <c:v>14.219341622254989</c:v>
                </c:pt>
                <c:pt idx="8">
                  <c:v>14.875695552560398</c:v>
                </c:pt>
                <c:pt idx="9">
                  <c:v>15.5490479404923</c:v>
                </c:pt>
                <c:pt idx="10">
                  <c:v>16.239206917639525</c:v>
                </c:pt>
                <c:pt idx="11">
                  <c:v>16.945952771702146</c:v>
                </c:pt>
                <c:pt idx="12">
                  <c:v>17.669038292769244</c:v>
                </c:pt>
                <c:pt idx="13">
                  <c:v>18.40818920155912</c:v>
                </c:pt>
                <c:pt idx="14">
                  <c:v>19.16310465739449</c:v>
                </c:pt>
                <c:pt idx="15">
                  <c:v>19.933457843349345</c:v>
                </c:pt>
                <c:pt idx="16">
                  <c:v>20.71889662571742</c:v>
                </c:pt>
                <c:pt idx="17">
                  <c:v>21.519044284663025</c:v>
                </c:pt>
                <c:pt idx="18">
                  <c:v>22.333500312652465</c:v>
                </c:pt>
                <c:pt idx="19">
                  <c:v>23.16184127704124</c:v>
                </c:pt>
                <c:pt idx="20">
                  <c:v>24.00362174296642</c:v>
                </c:pt>
                <c:pt idx="21">
                  <c:v>24.858375252511667</c:v>
                </c:pt>
                <c:pt idx="22">
                  <c:v>25.725615355949294</c:v>
                </c:pt>
                <c:pt idx="23">
                  <c:v>26.60483669072239</c:v>
                </c:pt>
                <c:pt idx="24">
                  <c:v>27.495516103715257</c:v>
                </c:pt>
                <c:pt idx="25">
                  <c:v>28.39711381227733</c:v>
                </c:pt>
                <c:pt idx="26">
                  <c:v>29.309074599385664</c:v>
                </c:pt>
                <c:pt idx="27">
                  <c:v>30.230829038310503</c:v>
                </c:pt>
                <c:pt idx="28">
                  <c:v>31.161794742108874</c:v>
                </c:pt>
                <c:pt idx="29">
                  <c:v>32.101377633290426</c:v>
                </c:pt>
                <c:pt idx="30">
                  <c:v>33.04897322901762</c:v>
                </c:pt>
                <c:pt idx="31">
                  <c:v>34.00396793726035</c:v>
                </c:pt>
                <c:pt idx="32">
                  <c:v>34.965740359370336</c:v>
                </c:pt>
                <c:pt idx="33">
                  <c:v>35.93366259465485</c:v>
                </c:pt>
                <c:pt idx="34">
                  <c:v>36.90710154261505</c:v>
                </c:pt>
                <c:pt idx="35">
                  <c:v>37.88542019863562</c:v>
                </c:pt>
                <c:pt idx="36">
                  <c:v>38.86797893905164</c:v>
                </c:pt>
                <c:pt idx="37">
                  <c:v>39.854136791679515</c:v>
                </c:pt>
                <c:pt idx="38">
                  <c:v>40.84325268803618</c:v>
                </c:pt>
                <c:pt idx="39">
                  <c:v>41.83468669366748</c:v>
                </c:pt>
                <c:pt idx="40">
                  <c:v>42.82780121318539</c:v>
                </c:pt>
                <c:pt idx="41">
                  <c:v>43.82196216680319</c:v>
                </c:pt>
                <c:pt idx="42">
                  <c:v>44.81654013535435</c:v>
                </c:pt>
                <c:pt idx="43">
                  <c:v>45.810911471009476</c:v>
                </c:pt>
                <c:pt idx="44">
                  <c:v>46.80445937108571</c:v>
                </c:pt>
                <c:pt idx="45">
                  <c:v>47.79657491258976</c:v>
                </c:pt>
                <c:pt idx="46">
                  <c:v>48.78665804532981</c:v>
                </c:pt>
                <c:pt idx="47">
                  <c:v>49.77411854167194</c:v>
                </c:pt>
                <c:pt idx="48">
                  <c:v>50.758376901212934</c:v>
                </c:pt>
                <c:pt idx="49">
                  <c:v>51.738865208888555</c:v>
                </c:pt>
                <c:pt idx="50">
                  <c:v>52.715027945225536</c:v>
                </c:pt>
                <c:pt idx="51">
                  <c:v>53.68632274767937</c:v>
                </c:pt>
                <c:pt idx="52">
                  <c:v>54.65222112220469</c:v>
                </c:pt>
                <c:pt idx="53">
                  <c:v>55.612209104403476</c:v>
                </c:pt>
                <c:pt idx="54">
                  <c:v>56.56578786981344</c:v>
                </c:pt>
                <c:pt idx="55">
                  <c:v>57.51247429306989</c:v>
                </c:pt>
                <c:pt idx="56">
                  <c:v>58.45180145589131</c:v>
                </c:pt>
                <c:pt idx="57">
                  <c:v>59.383319103988995</c:v>
                </c:pt>
                <c:pt idx="58">
                  <c:v>60.306594053201465</c:v>
                </c:pt>
                <c:pt idx="59">
                  <c:v>61.22121054529368</c:v>
                </c:pt>
                <c:pt idx="60">
                  <c:v>62.12677055404136</c:v>
                </c:pt>
                <c:pt idx="61">
                  <c:v>63.0228940423454</c:v>
                </c:pt>
                <c:pt idx="62">
                  <c:v>63.90921917127732</c:v>
                </c:pt>
                <c:pt idx="63">
                  <c:v>64.78540246207099</c:v>
                </c:pt>
                <c:pt idx="64">
                  <c:v>65.65111891220796</c:v>
                </c:pt>
                <c:pt idx="65">
                  <c:v>66.50606206684158</c:v>
                </c:pt>
                <c:pt idx="66">
                  <c:v>67.34994404690894</c:v>
                </c:pt>
                <c:pt idx="67">
                  <c:v>68.18249553537815</c:v>
                </c:pt>
                <c:pt idx="68">
                  <c:v>69.0034657231433</c:v>
                </c:pt>
                <c:pt idx="69">
                  <c:v>69.8126222161655</c:v>
                </c:pt>
                <c:pt idx="70">
                  <c:v>70.60975090551077</c:v>
                </c:pt>
                <c:pt idx="71">
                  <c:v>71.39465580199412</c:v>
                </c:pt>
                <c:pt idx="72">
                  <c:v>72.16715883718443</c:v>
                </c:pt>
                <c:pt idx="73">
                  <c:v>72.92709963254761</c:v>
                </c:pt>
                <c:pt idx="74">
                  <c:v>73.67433523855726</c:v>
                </c:pt>
                <c:pt idx="75">
                  <c:v>74.408739845591</c:v>
                </c:pt>
                <c:pt idx="76">
                  <c:v>75.13020446847192</c:v>
                </c:pt>
                <c:pt idx="77">
                  <c:v>75.83863660649457</c:v>
                </c:pt>
                <c:pt idx="78">
                  <c:v>76.53395988078749</c:v>
                </c:pt>
                <c:pt idx="79">
                  <c:v>77.21611365084988</c:v>
                </c:pt>
                <c:pt idx="80">
                  <c:v>77.88505261208084</c:v>
                </c:pt>
                <c:pt idx="81">
                  <c:v>78.54074637610722</c:v>
                </c:pt>
                <c:pt idx="82">
                  <c:v>79.18317903567755</c:v>
                </c:pt>
                <c:pt idx="83">
                  <c:v>79.81234871587002</c:v>
                </c:pt>
                <c:pt idx="84">
                  <c:v>80.42826711331537</c:v>
                </c:pt>
                <c:pt idx="85">
                  <c:v>81.03095902510037</c:v>
                </c:pt>
                <c:pt idx="86">
                  <c:v>81.62046186897258</c:v>
                </c:pt>
                <c:pt idx="87">
                  <c:v>82.1968251964179</c:v>
                </c:pt>
                <c:pt idx="88">
                  <c:v>82.76011020012875</c:v>
                </c:pt>
                <c:pt idx="89">
                  <c:v>83.31038921733291</c:v>
                </c:pt>
                <c:pt idx="90">
                  <c:v>83.84774523039094</c:v>
                </c:pt>
                <c:pt idx="91">
                  <c:v>84.37227136601435</c:v>
                </c:pt>
                <c:pt idx="92">
                  <c:v>84.88407039439566</c:v>
                </c:pt>
                <c:pt idx="93">
                  <c:v>85.38325422948294</c:v>
                </c:pt>
                <c:pt idx="94">
                  <c:v>85.86994343156408</c:v>
                </c:pt>
                <c:pt idx="95">
                  <c:v>86.3442667132671</c:v>
                </c:pt>
                <c:pt idx="96">
                  <c:v>86.80636045001887</c:v>
                </c:pt>
                <c:pt idx="97">
                  <c:v>87.25636819593913</c:v>
                </c:pt>
                <c:pt idx="98">
                  <c:v>87.69444020608154</c:v>
                </c:pt>
                <c:pt idx="99">
                  <c:v>88.12073296587856</c:v>
                </c:pt>
                <c:pt idx="100">
                  <c:v>88.53540872857259</c:v>
                </c:pt>
                <c:pt idx="101">
                  <c:v>88.93863506136157</c:v>
                </c:pt>
                <c:pt idx="102">
                  <c:v>89.33058440092543</c:v>
                </c:pt>
                <c:pt idx="103">
                  <c:v>89.71143361893586</c:v>
                </c:pt>
                <c:pt idx="104">
                  <c:v>90.08136359809887</c:v>
                </c:pt>
                <c:pt idx="105">
                  <c:v>90.44055881921615</c:v>
                </c:pt>
                <c:pt idx="106">
                  <c:v>90.7892069597024</c:v>
                </c:pt>
                <c:pt idx="107">
                  <c:v>91.12749850393367</c:v>
                </c:pt>
                <c:pt idx="108">
                  <c:v>91.45562636575899</c:v>
                </c:pt>
                <c:pt idx="109">
                  <c:v>91.77378552344807</c:v>
                </c:pt>
                <c:pt idx="110">
                  <c:v>92.08217266730541</c:v>
                </c:pt>
                <c:pt idx="111">
                  <c:v>92.38098586013164</c:v>
                </c:pt>
                <c:pt idx="112">
                  <c:v>92.67042421067094</c:v>
                </c:pt>
                <c:pt idx="113">
                  <c:v>92.95068756013836</c:v>
                </c:pt>
                <c:pt idx="114">
                  <c:v>93.22197618188069</c:v>
                </c:pt>
                <c:pt idx="115">
                  <c:v>93.48449049419081</c:v>
                </c:pt>
                <c:pt idx="116">
                  <c:v>93.73843078625255</c:v>
                </c:pt>
                <c:pt idx="117">
                  <c:v>93.98399695716402</c:v>
                </c:pt>
                <c:pt idx="118">
                  <c:v>94.22138826795529</c:v>
                </c:pt>
                <c:pt idx="119">
                  <c:v>94.45080310648318</c:v>
                </c:pt>
                <c:pt idx="120">
                  <c:v>94.67243876506288</c:v>
                </c:pt>
                <c:pt idx="121">
                  <c:v>94.88649123066702</c:v>
                </c:pt>
                <c:pt idx="122">
                  <c:v>95.09315498750088</c:v>
                </c:pt>
                <c:pt idx="123">
                  <c:v>95.2926228317405</c:v>
                </c:pt>
                <c:pt idx="124">
                  <c:v>95.48508569820075</c:v>
                </c:pt>
                <c:pt idx="125">
                  <c:v>95.67073249868227</c:v>
                </c:pt>
                <c:pt idx="126">
                  <c:v>95.84974997173119</c:v>
                </c:pt>
                <c:pt idx="127">
                  <c:v>96.02232254352953</c:v>
                </c:pt>
                <c:pt idx="128">
                  <c:v>96.18863219962338</c:v>
                </c:pt>
                <c:pt idx="129">
                  <c:v>96.34885836718395</c:v>
                </c:pt>
                <c:pt idx="130">
                  <c:v>96.50317780748753</c:v>
                </c:pt>
                <c:pt idx="131">
                  <c:v>96.65176451829217</c:v>
                </c:pt>
                <c:pt idx="132">
                  <c:v>96.79478964578308</c:v>
                </c:pt>
                <c:pt idx="133">
                  <c:v>96.9324214057528</c:v>
                </c:pt>
                <c:pt idx="134">
                  <c:v>97.06482501367886</c:v>
                </c:pt>
                <c:pt idx="135">
                  <c:v>97.19216262335885</c:v>
                </c:pt>
                <c:pt idx="136">
                  <c:v>97.31459327376172</c:v>
                </c:pt>
                <c:pt idx="137">
                  <c:v>97.43227284375216</c:v>
                </c:pt>
                <c:pt idx="138">
                  <c:v>97.54535401434846</c:v>
                </c:pt>
                <c:pt idx="139">
                  <c:v>97.65398623817254</c:v>
                </c:pt>
                <c:pt idx="140">
                  <c:v>97.75831571575499</c:v>
                </c:pt>
                <c:pt idx="141">
                  <c:v>97.85848537836175</c:v>
                </c:pt>
                <c:pt idx="142">
                  <c:v>97.9546348770109</c:v>
                </c:pt>
                <c:pt idx="143">
                  <c:v>98.04690057735476</c:v>
                </c:pt>
                <c:pt idx="144">
                  <c:v>98.13541556010664</c:v>
                </c:pt>
                <c:pt idx="145">
                  <c:v>98.22030962669758</c:v>
                </c:pt>
                <c:pt idx="146">
                  <c:v>98.3017093098554</c:v>
                </c:pt>
                <c:pt idx="147">
                  <c:v>98.37973788880365</c:v>
                </c:pt>
                <c:pt idx="148">
                  <c:v>98.45451540878743</c:v>
                </c:pt>
                <c:pt idx="149">
                  <c:v>98.5261587046384</c:v>
                </c:pt>
                <c:pt idx="150">
                  <c:v>98.59478142810087</c:v>
                </c:pt>
                <c:pt idx="151">
                  <c:v>98.66049407864791</c:v>
                </c:pt>
                <c:pt idx="152">
                  <c:v>98.72340403752534</c:v>
                </c:pt>
                <c:pt idx="153">
                  <c:v>98.78361560476962</c:v>
                </c:pt>
                <c:pt idx="154">
                  <c:v>98.84123003895473</c:v>
                </c:pt>
                <c:pt idx="155">
                  <c:v>98.89634559943121</c:v>
                </c:pt>
                <c:pt idx="156">
                  <c:v>98.94905759083044</c:v>
                </c:pt>
                <c:pt idx="157">
                  <c:v>98.99945840961473</c:v>
                </c:pt>
                <c:pt idx="158">
                  <c:v>99.0476375924642</c:v>
                </c:pt>
                <c:pt idx="159">
                  <c:v>99.0936818662986</c:v>
                </c:pt>
                <c:pt idx="160">
                  <c:v>99.13767519974283</c:v>
                </c:pt>
                <c:pt idx="161">
                  <c:v>99.17969885585215</c:v>
                </c:pt>
                <c:pt idx="162">
                  <c:v>99.2198314459225</c:v>
                </c:pt>
                <c:pt idx="163">
                  <c:v>99.25814898421996</c:v>
                </c:pt>
                <c:pt idx="164">
                  <c:v>99.29472494347115</c:v>
                </c:pt>
                <c:pt idx="165">
                  <c:v>99.32963031096557</c:v>
                </c:pt>
                <c:pt idx="166">
                  <c:v>99.36293364512792</c:v>
                </c:pt>
                <c:pt idx="167">
                  <c:v>99.39470113242757</c:v>
                </c:pt>
                <c:pt idx="168">
                  <c:v>99.42499664449889</c:v>
                </c:pt>
                <c:pt idx="169">
                  <c:v>99.45388179535473</c:v>
                </c:pt>
                <c:pt idx="170">
                  <c:v>99.48141599858212</c:v>
                </c:pt>
                <c:pt idx="171">
                  <c:v>99.5076565244166</c:v>
                </c:pt>
                <c:pt idx="172">
                  <c:v>99.53265855659842</c:v>
                </c:pt>
                <c:pt idx="173">
                  <c:v>99.55647524892069</c:v>
                </c:pt>
                <c:pt idx="174">
                  <c:v>99.57915778138623</c:v>
                </c:pt>
                <c:pt idx="175">
                  <c:v>99.60075541589532</c:v>
                </c:pt>
                <c:pt idx="176">
                  <c:v>99.6213155513939</c:v>
                </c:pt>
                <c:pt idx="177">
                  <c:v>99.6408837784162</c:v>
                </c:pt>
                <c:pt idx="178">
                  <c:v>99.65950393296235</c:v>
                </c:pt>
                <c:pt idx="179">
                  <c:v>99.67721814965641</c:v>
                </c:pt>
                <c:pt idx="180">
                  <c:v>99.69406691413533</c:v>
                </c:pt>
                <c:pt idx="181">
                  <c:v>99.71008911462464</c:v>
                </c:pt>
                <c:pt idx="182">
                  <c:v>99.7253220926605</c:v>
                </c:pt>
                <c:pt idx="183">
                  <c:v>99.73980169292356</c:v>
                </c:pt>
                <c:pt idx="184">
                  <c:v>99.75356231215247</c:v>
                </c:pt>
                <c:pt idx="185">
                  <c:v>99.76663694711063</c:v>
                </c:pt>
                <c:pt idx="186">
                  <c:v>99.77905724158248</c:v>
                </c:pt>
                <c:pt idx="187">
                  <c:v>99.79085353237946</c:v>
                </c:pt>
                <c:pt idx="188">
                  <c:v>99.80205489433945</c:v>
                </c:pt>
                <c:pt idx="189">
                  <c:v>99.81268918430611</c:v>
                </c:pt>
                <c:pt idx="190">
                  <c:v>99.82278308407845</c:v>
                </c:pt>
                <c:pt idx="191">
                  <c:v>99.83236214232252</c:v>
                </c:pt>
                <c:pt idx="192">
                  <c:v>99.84145081544096</c:v>
                </c:pt>
                <c:pt idx="193">
                  <c:v>99.8500725073979</c:v>
                </c:pt>
                <c:pt idx="194">
                  <c:v>99.85824960849914</c:v>
                </c:pt>
                <c:pt idx="195">
                  <c:v>99.86600353312974</c:v>
                </c:pt>
                <c:pt idx="196">
                  <c:v>99.87335475645321</c:v>
                </c:pt>
                <c:pt idx="197">
                  <c:v>99.8803228500779</c:v>
                </c:pt>
                <c:pt idx="198">
                  <c:v>99.88692651669865</c:v>
                </c:pt>
                <c:pt idx="199">
                  <c:v>99.89318362372225</c:v>
                </c:pt>
                <c:pt idx="200">
                  <c:v>99.89911123588787</c:v>
                </c:pt>
                <c:pt idx="201">
                  <c:v>99.9047256468938</c:v>
                </c:pt>
                <c:pt idx="202">
                  <c:v>99.91004241004376</c:v>
                </c:pt>
                <c:pt idx="203">
                  <c:v>99.91507636792684</c:v>
                </c:pt>
                <c:pt idx="204">
                  <c:v>99.919841681146</c:v>
                </c:pt>
                <c:pt idx="205">
                  <c:v>99.92435185611097</c:v>
                </c:pt>
                <c:pt idx="206">
                  <c:v>99.92861977191244</c:v>
                </c:pt>
                <c:pt idx="207">
                  <c:v>99.93265770629431</c:v>
                </c:pt>
                <c:pt idx="208">
                  <c:v>99.93647736074227</c:v>
                </c:pt>
                <c:pt idx="209">
                  <c:v>99.94008988470692</c:v>
                </c:pt>
                <c:pt idx="210">
                  <c:v>99.94350589898</c:v>
                </c:pt>
                <c:pt idx="211">
                  <c:v>99.94673551824302</c:v>
                </c:pt>
                <c:pt idx="212">
                  <c:v>99.9497883728075</c:v>
                </c:pt>
                <c:pt idx="213">
                  <c:v>99.95267362956648</c:v>
                </c:pt>
                <c:pt idx="214">
                  <c:v>99.95540001217688</c:v>
                </c:pt>
                <c:pt idx="215">
                  <c:v>99.95797582049263</c:v>
                </c:pt>
                <c:pt idx="216">
                  <c:v>99.96040894926827</c:v>
                </c:pt>
                <c:pt idx="217">
                  <c:v>99.96270690615302</c:v>
                </c:pt>
                <c:pt idx="218">
                  <c:v>99.964876828995</c:v>
                </c:pt>
                <c:pt idx="219">
                  <c:v>99.96692550247526</c:v>
                </c:pt>
                <c:pt idx="220">
                  <c:v>99.96885937409134</c:v>
                </c:pt>
                <c:pt idx="221">
                  <c:v>99.97068456950959</c:v>
                </c:pt>
                <c:pt idx="222">
                  <c:v>99.97240690730563</c:v>
                </c:pt>
                <c:pt idx="223">
                  <c:v>99.97403191311184</c:v>
                </c:pt>
                <c:pt idx="224">
                  <c:v>99.97556483319069</c:v>
                </c:pt>
                <c:pt idx="225">
                  <c:v>99.97701064745242</c:v>
                </c:pt>
                <c:pt idx="226">
                  <c:v>99.97837408193517</c:v>
                </c:pt>
                <c:pt idx="227">
                  <c:v>99.97965962076563</c:v>
                </c:pt>
                <c:pt idx="228">
                  <c:v>99.98087151761756</c:v>
                </c:pt>
                <c:pt idx="229">
                  <c:v>99.98201380668566</c:v>
                </c:pt>
                <c:pt idx="230">
                  <c:v>99.98309031319145</c:v>
                </c:pt>
                <c:pt idx="231">
                  <c:v>99.98410466343796</c:v>
                </c:pt>
                <c:pt idx="232">
                  <c:v>99.98506029442909</c:v>
                </c:pt>
                <c:pt idx="233">
                  <c:v>99.98596046306959</c:v>
                </c:pt>
                <c:pt idx="234">
                  <c:v>99.98680825496126</c:v>
                </c:pt>
                <c:pt idx="235">
                  <c:v>99.98760659280995</c:v>
                </c:pt>
                <c:pt idx="236">
                  <c:v>99.98835824445842</c:v>
                </c:pt>
                <c:pt idx="237">
                  <c:v>99.98906583055913</c:v>
                </c:pt>
                <c:pt idx="238">
                  <c:v>99.98973183190076</c:v>
                </c:pt>
                <c:pt idx="239">
                  <c:v>99.9903585964021</c:v>
                </c:pt>
                <c:pt idx="240">
                  <c:v>99.9909483457864</c:v>
                </c:pt>
                <c:pt idx="241">
                  <c:v>99.99150318194856</c:v>
                </c:pt>
                <c:pt idx="242">
                  <c:v>99.99202509302792</c:v>
                </c:pt>
                <c:pt idx="243">
                  <c:v>99.99251595919829</c:v>
                </c:pt>
                <c:pt idx="244">
                  <c:v>99.99297755818695</c:v>
                </c:pt>
                <c:pt idx="245">
                  <c:v>99.99341157053362</c:v>
                </c:pt>
                <c:pt idx="246">
                  <c:v>99.99381958460046</c:v>
                </c:pt>
                <c:pt idx="247">
                  <c:v>99.99420310134332</c:v>
                </c:pt>
                <c:pt idx="248">
                  <c:v>99.9945635388546</c:v>
                </c:pt>
                <c:pt idx="249">
                  <c:v>99.99490223668731</c:v>
                </c:pt>
                <c:pt idx="250">
                  <c:v>99.99522045996969</c:v>
                </c:pt>
              </c:numCache>
            </c:numRef>
          </c:yVal>
          <c:smooth val="0"/>
        </c:ser>
        <c:ser>
          <c:idx val="1"/>
          <c:order val="1"/>
          <c:tx>
            <c:strRef>
              <c:f>Sheet1!$B$254</c:f>
              <c:strCache>
                <c:ptCount val="1"/>
                <c:pt idx="0">
                  <c:v>lood 2.0</c:v>
                </c:pt>
              </c:strCache>
            </c:strRef>
          </c:tx>
          <c:spPr>
            <a:ln w="12700">
              <a:solidFill>
                <a:srgbClr val="FF9A3D"/>
              </a:solidFill>
              <a:prstDash val="dash"/>
            </a:ln>
          </c:spPr>
          <c:marker>
            <c:symbol val="none"/>
          </c:marker>
          <c:xVal>
            <c:numRef>
              <c:f>Sheet1!$A$255:$A$256</c:f>
              <c:numCache>
                <c:formatCode>General</c:formatCode>
                <c:ptCount val="2"/>
                <c:pt idx="0">
                  <c:v>2.0</c:v>
                </c:pt>
                <c:pt idx="1">
                  <c:v>2.0</c:v>
                </c:pt>
              </c:numCache>
            </c:numRef>
          </c:xVal>
          <c:yVal>
            <c:numRef>
              <c:f>Sheet1!$B$255:$B$256</c:f>
              <c:numCache>
                <c:formatCode>General</c:formatCode>
                <c:ptCount val="2"/>
                <c:pt idx="0">
                  <c:v>0</c:v>
                </c:pt>
                <c:pt idx="1">
                  <c:v>52.715027945225536</c:v>
                </c:pt>
              </c:numCache>
            </c:numRef>
          </c:yVal>
          <c:smooth val="0"/>
        </c:ser>
        <c:ser>
          <c:idx val="2"/>
          <c:order val="2"/>
          <c:tx>
            <c:strRef>
              <c:f>Sheet1!$B$258</c:f>
              <c:strCache>
                <c:ptCount val="1"/>
                <c:pt idx="0">
                  <c:v>lood 3.0</c:v>
                </c:pt>
              </c:strCache>
            </c:strRef>
          </c:tx>
          <c:spPr>
            <a:ln w="12700">
              <a:solidFill>
                <a:srgbClr val="52BDEC"/>
              </a:solidFill>
              <a:prstDash val="dash"/>
            </a:ln>
          </c:spPr>
          <c:marker>
            <c:symbol val="none"/>
          </c:marker>
          <c:xVal>
            <c:numRef>
              <c:f>Sheet1!$A$259:$A$260</c:f>
              <c:numCache>
                <c:formatCode>General</c:formatCode>
                <c:ptCount val="2"/>
                <c:pt idx="0">
                  <c:v>3.0</c:v>
                </c:pt>
                <c:pt idx="1">
                  <c:v>3.0</c:v>
                </c:pt>
              </c:numCache>
            </c:numRef>
          </c:xVal>
          <c:yVal>
            <c:numRef>
              <c:f>Sheet1!$B$259:$B$260</c:f>
              <c:numCache>
                <c:formatCode>General</c:formatCode>
                <c:ptCount val="2"/>
                <c:pt idx="0">
                  <c:v>0</c:v>
                </c:pt>
                <c:pt idx="1">
                  <c:v>98.59478142810087</c:v>
                </c:pt>
              </c:numCache>
            </c:numRef>
          </c:yVal>
          <c:smooth val="0"/>
        </c:ser>
        <c:ser>
          <c:idx val="3"/>
          <c:order val="3"/>
          <c:tx>
            <c:strRef>
              <c:f>Sheet1!$B$262</c:f>
              <c:strCache>
                <c:ptCount val="1"/>
                <c:pt idx="0">
                  <c:v>punt 2.0</c:v>
                </c:pt>
              </c:strCache>
            </c:strRef>
          </c:tx>
          <c:spPr>
            <a:ln>
              <a:noFill/>
            </a:ln>
          </c:spPr>
          <c:marker>
            <c:symbol val="circle"/>
            <c:size val="9"/>
            <c:spPr>
              <a:solidFill>
                <a:srgbClr val="FF9A3D"/>
              </a:solidFill>
              <a:ln w="19050">
                <a:solidFill>
                  <a:srgbClr val="0A2540"/>
                </a:solidFill>
              </a:ln>
            </c:spPr>
          </c:marker>
          <c:xVal>
            <c:numRef>
              <c:f>Sheet1!$A$263:$A$263</c:f>
              <c:numCache>
                <c:formatCode>General</c:formatCode>
                <c:ptCount val="1"/>
                <c:pt idx="0">
                  <c:v>2.0</c:v>
                </c:pt>
              </c:numCache>
            </c:numRef>
          </c:xVal>
          <c:yVal>
            <c:numRef>
              <c:f>Sheet1!$B$263:$B$263</c:f>
              <c:numCache>
                <c:formatCode>General</c:formatCode>
                <c:ptCount val="1"/>
                <c:pt idx="0">
                  <c:v>52.715027945225536</c:v>
                </c:pt>
              </c:numCache>
            </c:numRef>
          </c:yVal>
          <c:smooth val="0"/>
        </c:ser>
        <c:ser>
          <c:idx val="4"/>
          <c:order val="4"/>
          <c:tx>
            <c:strRef>
              <c:f>Sheet1!$B$265</c:f>
              <c:strCache>
                <c:ptCount val="1"/>
                <c:pt idx="0">
                  <c:v>punt 3.0</c:v>
                </c:pt>
              </c:strCache>
            </c:strRef>
          </c:tx>
          <c:spPr>
            <a:ln>
              <a:noFill/>
            </a:ln>
          </c:spPr>
          <c:marker>
            <c:symbol val="circle"/>
            <c:size val="9"/>
            <c:spPr>
              <a:solidFill>
                <a:srgbClr val="52BDEC"/>
              </a:solidFill>
              <a:ln w="19050">
                <a:solidFill>
                  <a:srgbClr val="0A2540"/>
                </a:solidFill>
              </a:ln>
            </c:spPr>
          </c:marker>
          <c:xVal>
            <c:numRef>
              <c:f>Sheet1!$A$266:$A$266</c:f>
              <c:numCache>
                <c:formatCode>General</c:formatCode>
                <c:ptCount val="1"/>
                <c:pt idx="0">
                  <c:v>3.0</c:v>
                </c:pt>
              </c:numCache>
            </c:numRef>
          </c:xVal>
          <c:yVal>
            <c:numRef>
              <c:f>Sheet1!$B$266:$B$266</c:f>
              <c:numCache>
                <c:formatCode>General</c:formatCode>
                <c:ptCount val="1"/>
                <c:pt idx="0">
                  <c:v>98.59478142810087</c:v>
                </c:pt>
              </c:numCache>
            </c:numRef>
          </c:yVal>
          <c:smooth val="0"/>
        </c:ser>
        <c:axId val="-2128940872"/>
        <c:axId val="-2129643912"/>
      </c:scatterChart>
      <c:valAx>
        <c:axId val="-2128940872"/>
        <c:scaling>
          <c:orientation val="minMax"/>
          <c:max val="4.0"/>
          <c:min val="1.5"/>
        </c:scaling>
        <c:delete val="0"/>
        <c:axPos val="b"/>
        <c:numFmt formatCode="0.0" sourceLinked="0"/>
        <c:majorTickMark val="none"/>
        <c:minorTickMark val="none"/>
        <c:tickLblPos val="low"/>
        <c:spPr>
          <a:ln>
            <a:solidFill>
              <a:srgbClr val="15395A"/>
            </a:solidFill>
          </a:ln>
        </c:spPr>
        <c:txPr>
          <a:bodyPr/>
          <a:lstStyle/>
          <a:p>
            <a:pPr>
              <a:defRPr sz="1200" b="0">
                <a:solidFill>
                  <a:srgbClr val="8FB0CA"/>
                </a:solidFill>
                <a:latin typeface="Segoe UI"/>
              </a:defRPr>
            </a:pPr>
          </a:p>
        </c:txPr>
        <c:crossAx val="-2129643912"/>
        <c:crosses val="autoZero"/>
        <c:crossBetween val="midCat"/>
        <c:majorUnit val="0.5"/>
      </c:valAx>
      <c:valAx>
        <c:axId val="-2129643912"/>
        <c:scaling>
          <c:orientation val="minMax"/>
          <c:max val="100.0"/>
          <c:min val="0.0"/>
        </c:scaling>
        <c:delete val="0"/>
        <c:axPos val="l"/>
        <c:majorGridlines>
          <c:spPr>
            <a:ln w="9525">
              <a:solidFill>
                <a:srgbClr val="15395A"/>
              </a:solidFill>
            </a:ln>
          </c:spPr>
        </c:majorGridlines>
        <c:numFmt formatCode="0&quot;%&quot;" sourceLinked="0"/>
        <c:majorTickMark val="none"/>
        <c:minorTickMark val="none"/>
        <c:tickLblPos val="nextTo"/>
        <c:spPr>
          <a:ln>
            <a:noFill/>
          </a:ln>
        </c:spPr>
        <c:txPr>
          <a:bodyPr/>
          <a:lstStyle/>
          <a:p>
            <a:pPr>
              <a:defRPr sz="1200" b="0">
                <a:solidFill>
                  <a:srgbClr val="8FB0CA"/>
                </a:solidFill>
                <a:latin typeface="Segoe UI"/>
              </a:defRPr>
            </a:pPr>
          </a:p>
        </c:txPr>
        <c:crossAx val="-2128940872"/>
        <c:crosses val="autoZero"/>
        <c:crossBetween val="midCat"/>
        <c:majorUnit val="20.0"/>
      </c:valAx>
      <c:spPr>
        <a:noFill/>
        <a:ln>
          <a:noFill/>
        </a:ln>
      </c:spPr>
    </c:plotArea>
    <c:plotVisOnly val="1"/>
    <c:dispBlanksAs val="gap"/>
    <c:showDLblsOverMax val="0"/>
  </c:chart>
  <c:spPr>
    <a:noFill/>
    <a:ln>
      <a:noFill/>
    </a:ln>
  </c:spPr>
  <c:txPr>
    <a:bodyPr/>
    <a:lstStyle/>
    <a:p>
      <a:pPr>
        <a:defRPr sz="1200">
          <a:solidFill>
            <a:srgbClr val="8FB0CA"/>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layout>
        <c:manualLayout>
          <c:layoutTarget val="inner"/>
          <c:xMode val="edge"/>
          <c:yMode val="edge"/>
          <c:x val="0.0889"/>
          <c:y val="0.0678"/>
          <c:w val="0.8889"/>
          <c:h val="0.6949"/>
        </c:manualLayout>
      </c:layout>
      <c:scatterChart>
        <c:scatterStyle val="lineMarker"/>
        <c:varyColors val="0"/>
        <c:ser>
          <c:idx val="0"/>
          <c:order val="0"/>
          <c:tx>
            <c:strRef>
              <c:f>Sheet1!$B$1</c:f>
              <c:strCache>
                <c:ptCount val="1"/>
                <c:pt idx="0">
                  <c:v>3 per maand, één centrum</c:v>
                </c:pt>
              </c:strCache>
            </c:strRef>
          </c:tx>
          <c:spPr>
            <a:ln w="12700">
              <a:solidFill>
                <a:srgbClr val="52BDEC"/>
              </a:solidFill>
            </a:ln>
          </c:spPr>
          <c:marker>
            <c:symbol val="none"/>
          </c:marker>
          <c:xVal>
            <c:numRef>
              <c:f>Sheet1!$A$2:$A$402</c:f>
              <c:numCache>
                <c:formatCode>General</c:formatCode>
                <c:ptCount val="40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11.0</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12.0</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13.0</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14.0</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15.0</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16.0</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17.0</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18.0</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19.0</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20.0</c:v>
                </c:pt>
              </c:numCache>
            </c:numRef>
          </c:xVal>
          <c:yVal>
            <c:numRef>
              <c:f>Sheet1!$B$2:$B$402</c:f>
              <c:numCache>
                <c:formatCode>General</c:formatCode>
                <c:ptCount val="401"/>
                <c:pt idx="0">
                  <c:v>0.0</c:v>
                </c:pt>
                <c:pt idx="1">
                  <c:v>0.0</c:v>
                </c:pt>
                <c:pt idx="2">
                  <c:v>0.0</c:v>
                </c:pt>
                <c:pt idx="3">
                  <c:v>0.0</c:v>
                </c:pt>
                <c:pt idx="4">
                  <c:v>0.0</c:v>
                </c:pt>
                <c:pt idx="5">
                  <c:v>0.0</c:v>
                </c:pt>
                <c:pt idx="6">
                  <c:v>0.0</c:v>
                </c:pt>
                <c:pt idx="7">
                  <c:v>0.0</c:v>
                </c:pt>
                <c:pt idx="8">
                  <c:v>0.0</c:v>
                </c:pt>
                <c:pt idx="9">
                  <c:v>-2.220446049250313e-14</c:v>
                </c:pt>
                <c:pt idx="10">
                  <c:v>0.0</c:v>
                </c:pt>
                <c:pt idx="11">
                  <c:v>-2.220446049250313e-14</c:v>
                </c:pt>
                <c:pt idx="12">
                  <c:v>-2.220446049250313e-14</c:v>
                </c:pt>
                <c:pt idx="13">
                  <c:v>0.0</c:v>
                </c:pt>
                <c:pt idx="14">
                  <c:v>0.0</c:v>
                </c:pt>
                <c:pt idx="15">
                  <c:v>0.0</c:v>
                </c:pt>
                <c:pt idx="16">
                  <c:v>2.220446049250313e-14</c:v>
                </c:pt>
                <c:pt idx="17">
                  <c:v>7.771561172376096e-14</c:v>
                </c:pt>
                <c:pt idx="18">
                  <c:v>2.6645352591003757e-13</c:v>
                </c:pt>
                <c:pt idx="19">
                  <c:v>8.659739592076221e-13</c:v>
                </c:pt>
                <c:pt idx="20">
                  <c:v>2.55351295663786e-12</c:v>
                </c:pt>
                <c:pt idx="21">
                  <c:v>7.227551890309769e-12</c:v>
                </c:pt>
                <c:pt idx="22">
                  <c:v>1.907363156306019e-11</c:v>
                </c:pt>
                <c:pt idx="23">
                  <c:v>4.796163466380676e-11</c:v>
                </c:pt>
                <c:pt idx="24">
                  <c:v>1.1539658117953877e-10</c:v>
                </c:pt>
                <c:pt idx="25">
                  <c:v>2.6638691252856006e-10</c:v>
                </c:pt>
                <c:pt idx="26">
                  <c:v>5.918265877369322e-10</c:v>
                </c:pt>
                <c:pt idx="27">
                  <c:v>1.2689960193768002e-09</c:v>
                </c:pt>
                <c:pt idx="28">
                  <c:v>2.6330271296615138e-09</c:v>
                </c:pt>
                <c:pt idx="29">
                  <c:v>5.298594896174791e-09</c:v>
                </c:pt>
                <c:pt idx="30">
                  <c:v>1.0362810609620965e-08</c:v>
                </c:pt>
                <c:pt idx="31">
                  <c:v>1.9734758271994224e-08</c:v>
                </c:pt>
                <c:pt idx="32">
                  <c:v>3.665653336426544e-08</c:v>
                </c:pt>
                <c:pt idx="33">
                  <c:v>6.65134058941419e-08</c:v>
                </c:pt>
                <c:pt idx="34">
                  <c:v>1.1806238209288722e-07</c:v>
                </c:pt>
                <c:pt idx="35">
                  <c:v>2.052648162553794e-07</c:v>
                </c:pt>
                <c:pt idx="36">
                  <c:v>3.499666001438584e-07</c:v>
                </c:pt>
                <c:pt idx="37">
                  <c:v>5.857530016584178e-07</c:v>
                </c:pt>
                <c:pt idx="38">
                  <c:v>9.634021913562663e-07</c:v>
                </c:pt>
                <c:pt idx="39">
                  <c:v>1.5584829093917563e-06</c:v>
                </c:pt>
                <c:pt idx="40">
                  <c:v>2.481781780083736e-06</c:v>
                </c:pt>
                <c:pt idx="41">
                  <c:v>3.893418931699699e-06</c:v>
                </c:pt>
                <c:pt idx="42">
                  <c:v>6.021699239244782e-06</c:v>
                </c:pt>
                <c:pt idx="43">
                  <c:v>9.187969307600241e-06</c:v>
                </c:pt>
                <c:pt idx="44">
                  <c:v>1.3838997758863769e-05</c:v>
                </c:pt>
                <c:pt idx="45">
                  <c:v>2.058866042098373e-05</c:v>
                </c:pt>
                <c:pt idx="46">
                  <c:v>3.0271011686178184e-05</c:v>
                </c:pt>
                <c:pt idx="47">
                  <c:v>4.4007117605548984e-05</c:v>
                </c:pt>
                <c:pt idx="48">
                  <c:v>6.32883580542476e-05</c:v>
                </c:pt>
                <c:pt idx="49">
                  <c:v>9.00792152536134e-05</c:v>
                </c:pt>
                <c:pt idx="50">
                  <c:v>0.00012694288609171878</c:v>
                </c:pt>
                <c:pt idx="51">
                  <c:v>0.00017719335889676557</c:v>
                </c:pt>
                <c:pt idx="52">
                  <c:v>0.0002450778650686658</c:v>
                </c:pt>
                <c:pt idx="53">
                  <c:v>0.00033599385687033134</c:v>
                </c:pt>
                <c:pt idx="54">
                  <c:v>0.0004567448426695542</c:v>
                </c:pt>
                <c:pt idx="55">
                  <c:v>0.0006158395419397777</c:v>
                </c:pt>
                <c:pt idx="56">
                  <c:v>0.0008238388552350706</c:v>
                </c:pt>
                <c:pt idx="57">
                  <c:v>0.0010937551111256383</c:v>
                </c:pt>
                <c:pt idx="58">
                  <c:v>0.0014415078980700713</c:v>
                </c:pt>
                <c:pt idx="59">
                  <c:v>0.0018864405373131277</c:v>
                </c:pt>
                <c:pt idx="60">
                  <c:v>0.002451900876310198</c:v>
                </c:pt>
                <c:pt idx="61">
                  <c:v>0.0031658895757180616</c:v>
                </c:pt>
                <c:pt idx="62">
                  <c:v>0.004061778433606111</c:v>
                </c:pt>
                <c:pt idx="63">
                  <c:v>0.005179100524055347</c:v>
                </c:pt>
                <c:pt idx="64">
                  <c:v>0.006564413031284744</c:v>
                </c:pt>
                <c:pt idx="65">
                  <c:v>0.00827223264758814</c:v>
                </c:pt>
                <c:pt idx="66">
                  <c:v>0.010366042258114216</c:v>
                </c:pt>
                <c:pt idx="67">
                  <c:v>0.01291936640500646</c:v>
                </c:pt>
                <c:pt idx="68">
                  <c:v>0.01601691169130781</c:v>
                </c:pt>
                <c:pt idx="69">
                  <c:v>0.019755766883533532</c:v>
                </c:pt>
                <c:pt idx="70">
                  <c:v>0.02424665601927778</c:v>
                </c:pt>
                <c:pt idx="71">
                  <c:v>0.029615236351432372</c:v>
                </c:pt>
                <c:pt idx="72">
                  <c:v>0.036003431479147974</c:v>
                </c:pt>
                <c:pt idx="73">
                  <c:v>0.04357078855168339</c:v>
                </c:pt>
                <c:pt idx="74">
                  <c:v>0.0524958470427106</c:v>
                </c:pt>
                <c:pt idx="75">
                  <c:v>0.06297750524958401</c:v>
                </c:pt>
                <c:pt idx="76">
                  <c:v>0.07523636948191248</c:v>
                </c:pt>
                <c:pt idx="77">
                  <c:v>0.08951606979724636</c:v>
                </c:pt>
                <c:pt idx="78">
                  <c:v>0.10608452525641132</c:v>
                </c:pt>
                <c:pt idx="79">
                  <c:v>0.12523514090934107</c:v>
                </c:pt>
                <c:pt idx="80">
                  <c:v>0.1472879182314979</c:v>
                </c:pt>
                <c:pt idx="81">
                  <c:v>0.17259046040608572</c:v>
                </c:pt>
                <c:pt idx="82">
                  <c:v>0.20151885380907952</c:v>
                </c:pt>
                <c:pt idx="83">
                  <c:v>0.2344784072504713</c:v>
                </c:pt>
                <c:pt idx="84">
                  <c:v>0.2719042309676567</c:v>
                </c:pt>
                <c:pt idx="85">
                  <c:v>0.31426163811402175</c:v>
                </c:pt>
                <c:pt idx="86">
                  <c:v>0.36204635242602645</c:v>
                </c:pt>
                <c:pt idx="87">
                  <c:v>0.41578450703926295</c:v>
                </c:pt>
                <c:pt idx="88">
                  <c:v>0.47603242085230146</c:v>
                </c:pt>
                <c:pt idx="89">
                  <c:v>0.5433761405975179</c:v>
                </c:pt>
                <c:pt idx="90">
                  <c:v>0.6184307386750465</c:v>
                </c:pt>
                <c:pt idx="91">
                  <c:v>0.7018393589252381</c:v>
                </c:pt>
                <c:pt idx="92">
                  <c:v>0.7942720048181973</c:v>
                </c:pt>
                <c:pt idx="93">
                  <c:v>0.8964240669395607</c:v>
                </c:pt>
                <c:pt idx="94">
                  <c:v>1.0090145891815783</c:v>
                </c:pt>
                <c:pt idx="95">
                  <c:v>1.1327842756779227</c:v>
                </c:pt>
                <c:pt idx="96">
                  <c:v>1.268493243130553</c:v>
                </c:pt>
                <c:pt idx="97">
                  <c:v>1.4169185258669947</c:v>
                </c:pt>
                <c:pt idx="98">
                  <c:v>1.5788513435706975</c:v>
                </c:pt>
                <c:pt idx="99">
                  <c:v>1.7550941442155743</c:v>
                </c:pt>
                <c:pt idx="100">
                  <c:v>1.9464574372022314</c:v>
                </c:pt>
                <c:pt idx="101">
                  <c:v>2.1537564340373794</c:v>
                </c:pt>
                <c:pt idx="102">
                  <c:v>2.3778075161249412</c:v>
                </c:pt>
                <c:pt idx="103">
                  <c:v>2.619424551216487</c:v>
                </c:pt>
                <c:pt idx="104">
                  <c:v>2.879415081907999</c:v>
                </c:pt>
                <c:pt idx="105">
                  <c:v>3.1585764111389247</c:v>
                </c:pt>
                <c:pt idx="106">
                  <c:v>3.457691610981739</c:v>
                </c:pt>
                <c:pt idx="107">
                  <c:v>3.777525482097621</c:v>
                </c:pt>
                <c:pt idx="108">
                  <c:v>4.118820492023745</c:v>
                </c:pt>
                <c:pt idx="109">
                  <c:v>4.48229272098235</c:v>
                </c:pt>
                <c:pt idx="110">
                  <c:v>4.868627844140483</c:v>
                </c:pt>
                <c:pt idx="111">
                  <c:v>5.278477179196828</c:v>
                </c:pt>
                <c:pt idx="112">
                  <c:v>5.7124538278527375</c:v>
                </c:pt>
                <c:pt idx="113">
                  <c:v>6.1711289391023545</c:v>
                </c:pt>
                <c:pt idx="114">
                  <c:v>6.655028121430917</c:v>
                </c:pt>
                <c:pt idx="115">
                  <c:v>7.164628029870112</c:v>
                </c:pt>
                <c:pt idx="116">
                  <c:v>7.700353152515104</c:v>
                </c:pt>
                <c:pt idx="117">
                  <c:v>8.262572819527925</c:v>
                </c:pt>
                <c:pt idx="118">
                  <c:v>8.851598455882403</c:v>
                </c:pt>
                <c:pt idx="119">
                  <c:v>9.467681097154967</c:v>
                </c:pt>
                <c:pt idx="120">
                  <c:v>10.111009185571074</c:v>
                </c:pt>
                <c:pt idx="121">
                  <c:v>10.781706661280232</c:v>
                </c:pt>
                <c:pt idx="122">
                  <c:v>11.479831361520276</c:v>
                </c:pt>
                <c:pt idx="123">
                  <c:v>12.205373737897807</c:v>
                </c:pt>
                <c:pt idx="124">
                  <c:v>12.958255899581117</c:v>
                </c:pt>
                <c:pt idx="125">
                  <c:v>13.738330987711556</c:v>
                </c:pt>
                <c:pt idx="126">
                  <c:v>14.545382883837144</c:v>
                </c:pt>
                <c:pt idx="127">
                  <c:v>15.379126252746445</c:v>
                </c:pt>
                <c:pt idx="128">
                  <c:v>16.239206917639525</c:v>
                </c:pt>
                <c:pt idx="129">
                  <c:v>17.12520256323977</c:v>
                </c:pt>
                <c:pt idx="130">
                  <c:v>18.03662376019588</c:v>
                </c:pt>
                <c:pt idx="131">
                  <c:v>18.972915301963244</c:v>
                </c:pt>
                <c:pt idx="132">
                  <c:v>19.933457843348844</c:v>
                </c:pt>
                <c:pt idx="133">
                  <c:v>20.917569827986227</c:v>
                </c:pt>
                <c:pt idx="134">
                  <c:v>21.92450969029033</c:v>
                </c:pt>
                <c:pt idx="135">
                  <c:v>22.9534783158738</c:v>
                </c:pt>
                <c:pt idx="136">
                  <c:v>24.00362174296662</c:v>
                </c:pt>
                <c:pt idx="137">
                  <c:v>25.074034086186536</c:v>
                </c:pt>
                <c:pt idx="138">
                  <c:v>26.16376066295054</c:v>
                </c:pt>
                <c:pt idx="139">
                  <c:v>27.271801301923816</c:v>
                </c:pt>
                <c:pt idx="140">
                  <c:v>28.39711381227733</c:v>
                </c:pt>
                <c:pt idx="141">
                  <c:v>29.538617591961845</c:v>
                </c:pt>
                <c:pt idx="142">
                  <c:v>30.695197352942728</c:v>
                </c:pt>
                <c:pt idx="143">
                  <c:v>31.865706941160077</c:v>
                </c:pt>
                <c:pt idx="144">
                  <c:v>33.04897322901762</c:v>
                </c:pt>
                <c:pt idx="145">
                  <c:v>34.24380005839485</c:v>
                </c:pt>
                <c:pt idx="146">
                  <c:v>35.44897221250256</c:v>
                </c:pt>
                <c:pt idx="147">
                  <c:v>36.663259395404765</c:v>
                </c:pt>
                <c:pt idx="148">
                  <c:v>37.88542019863562</c:v>
                </c:pt>
                <c:pt idx="149">
                  <c:v>39.11420603507533</c:v>
                </c:pt>
                <c:pt idx="150">
                  <c:v>40.348365021127385</c:v>
                </c:pt>
                <c:pt idx="151">
                  <c:v>41.586645789152264</c:v>
                </c:pt>
                <c:pt idx="152">
                  <c:v>42.82780121318549</c:v>
                </c:pt>
                <c:pt idx="153">
                  <c:v>44.07059203205764</c:v>
                </c:pt>
                <c:pt idx="154">
                  <c:v>45.31379035521586</c:v>
                </c:pt>
                <c:pt idx="155">
                  <c:v>46.55618303777557</c:v>
                </c:pt>
                <c:pt idx="156">
                  <c:v>47.796574912590096</c:v>
                </c:pt>
                <c:pt idx="157">
                  <c:v>49.03379186840452</c:v>
                </c:pt>
                <c:pt idx="158">
                  <c:v>50.26668376449719</c:v>
                </c:pt>
                <c:pt idx="159">
                  <c:v>51.49412717347253</c:v>
                </c:pt>
                <c:pt idx="160">
                  <c:v>52.715027945225536</c:v>
                </c:pt>
                <c:pt idx="161">
                  <c:v>53.928323586346</c:v>
                </c:pt>
                <c:pt idx="162">
                  <c:v>55.13298545051863</c:v>
                </c:pt>
                <c:pt idx="163">
                  <c:v>56.32802073670371</c:v>
                </c:pt>
                <c:pt idx="164">
                  <c:v>57.512474293070156</c:v>
                </c:pt>
                <c:pt idx="165">
                  <c:v>58.68543022581585</c:v>
                </c:pt>
                <c:pt idx="166">
                  <c:v>59.84601331309385</c:v>
                </c:pt>
                <c:pt idx="167">
                  <c:v>60.99339022530978</c:v>
                </c:pt>
                <c:pt idx="168">
                  <c:v>62.12677055404136</c:v>
                </c:pt>
                <c:pt idx="169">
                  <c:v>63.245407652733945</c:v>
                </c:pt>
                <c:pt idx="170">
                  <c:v>64.34859929318775</c:v>
                </c:pt>
                <c:pt idx="171">
                  <c:v>65.43568814262598</c:v>
                </c:pt>
                <c:pt idx="172">
                  <c:v>66.50606206684158</c:v>
                </c:pt>
                <c:pt idx="173">
                  <c:v>67.55915426556157</c:v>
                </c:pt>
                <c:pt idx="174">
                  <c:v>68.5944432467334</c:v>
                </c:pt>
                <c:pt idx="175">
                  <c:v>69.61145264693138</c:v>
                </c:pt>
                <c:pt idx="176">
                  <c:v>70.60975090551077</c:v>
                </c:pt>
                <c:pt idx="177">
                  <c:v>71.58895080048877</c:v>
                </c:pt>
                <c:pt idx="178">
                  <c:v>72.54870885442774</c:v>
                </c:pt>
                <c:pt idx="179">
                  <c:v>73.48872461881317</c:v>
                </c:pt>
                <c:pt idx="180">
                  <c:v>74.408739845591</c:v>
                </c:pt>
                <c:pt idx="181">
                  <c:v>75.30853755462392</c:v>
                </c:pt>
                <c:pt idx="182">
                  <c:v>76.18794100587844</c:v>
                </c:pt>
                <c:pt idx="183">
                  <c:v>77.04681258515197</c:v>
                </c:pt>
                <c:pt idx="184">
                  <c:v>77.88505261208084</c:v>
                </c:pt>
                <c:pt idx="185">
                  <c:v>78.7025980790878</c:v>
                </c:pt>
                <c:pt idx="186">
                  <c:v>79.49942132976568</c:v>
                </c:pt>
                <c:pt idx="187">
                  <c:v>80.27552868502353</c:v>
                </c:pt>
                <c:pt idx="188">
                  <c:v>81.03095902510037</c:v>
                </c:pt>
                <c:pt idx="189">
                  <c:v>81.76578233529841</c:v>
                </c:pt>
                <c:pt idx="190">
                  <c:v>82.48009822302103</c:v>
                </c:pt>
                <c:pt idx="191">
                  <c:v>83.17403441338801</c:v>
                </c:pt>
                <c:pt idx="192">
                  <c:v>83.84774523039106</c:v>
                </c:pt>
                <c:pt idx="193">
                  <c:v>84.50141007020504</c:v>
                </c:pt>
                <c:pt idx="194">
                  <c:v>85.13523187292333</c:v>
                </c:pt>
                <c:pt idx="195">
                  <c:v>85.74943559861944</c:v>
                </c:pt>
                <c:pt idx="196">
                  <c:v>86.3442667132671</c:v>
                </c:pt>
                <c:pt idx="197">
                  <c:v>86.91998968967395</c:v>
                </c:pt>
                <c:pt idx="198">
                  <c:v>87.47688652820595</c:v>
                </c:pt>
                <c:pt idx="199">
                  <c:v>88.01525530169805</c:v>
                </c:pt>
                <c:pt idx="200">
                  <c:v>88.53540872857259</c:v>
                </c:pt>
                <c:pt idx="201">
                  <c:v>89.03767277781279</c:v>
                </c:pt>
                <c:pt idx="202">
                  <c:v>89.52238530907026</c:v>
                </c:pt>
                <c:pt idx="203">
                  <c:v>89.98989475083228</c:v>
                </c:pt>
                <c:pt idx="204">
                  <c:v>90.4405588192162</c:v>
                </c:pt>
                <c:pt idx="205">
                  <c:v>90.87474327962953</c:v>
                </c:pt>
                <c:pt idx="206">
                  <c:v>91.29282075319819</c:v>
                </c:pt>
                <c:pt idx="207">
                  <c:v>91.69516956955896</c:v>
                </c:pt>
                <c:pt idx="208">
                  <c:v>92.08217266730541</c:v>
                </c:pt>
                <c:pt idx="209">
                  <c:v>92.4542165430951</c:v>
                </c:pt>
                <c:pt idx="210">
                  <c:v>92.81169025015294</c:v>
                </c:pt>
                <c:pt idx="211">
                  <c:v>93.15498444664885</c:v>
                </c:pt>
                <c:pt idx="212">
                  <c:v>93.48449049419081</c:v>
                </c:pt>
                <c:pt idx="213">
                  <c:v>93.80059960644655</c:v>
                </c:pt>
                <c:pt idx="214">
                  <c:v>94.10370204770096</c:v>
                </c:pt>
                <c:pt idx="215">
                  <c:v>94.39418638096382</c:v>
                </c:pt>
                <c:pt idx="216">
                  <c:v>94.67243876506288</c:v>
                </c:pt>
                <c:pt idx="217">
                  <c:v>94.93884229999927</c:v>
                </c:pt>
                <c:pt idx="218">
                  <c:v>95.19377641969263</c:v>
                </c:pt>
                <c:pt idx="219">
                  <c:v>95.43761633111352</c:v>
                </c:pt>
                <c:pt idx="220">
                  <c:v>95.67073249868227</c:v>
                </c:pt>
                <c:pt idx="221">
                  <c:v>95.8934901727105</c:v>
                </c:pt>
                <c:pt idx="222">
                  <c:v>96.10624896057027</c:v>
                </c:pt>
                <c:pt idx="223">
                  <c:v>96.30936243919993</c:v>
                </c:pt>
                <c:pt idx="224">
                  <c:v>96.50317780748753</c:v>
                </c:pt>
                <c:pt idx="225">
                  <c:v>96.68803557702269</c:v>
                </c:pt>
                <c:pt idx="226">
                  <c:v>96.86426929966079</c:v>
                </c:pt>
                <c:pt idx="227">
                  <c:v>97.0322053303141</c:v>
                </c:pt>
                <c:pt idx="228">
                  <c:v>97.19216262335885</c:v>
                </c:pt>
                <c:pt idx="229">
                  <c:v>97.34445256103528</c:v>
                </c:pt>
                <c:pt idx="230">
                  <c:v>97.48937881220984</c:v>
                </c:pt>
                <c:pt idx="231">
                  <c:v>97.6272372198734</c:v>
                </c:pt>
                <c:pt idx="232">
                  <c:v>97.75831571575499</c:v>
                </c:pt>
                <c:pt idx="233">
                  <c:v>97.88289426044965</c:v>
                </c:pt>
                <c:pt idx="234">
                  <c:v>98.00124480747718</c:v>
                </c:pt>
                <c:pt idx="235">
                  <c:v>98.11363128971739</c:v>
                </c:pt>
                <c:pt idx="236">
                  <c:v>98.22030962669758</c:v>
                </c:pt>
                <c:pt idx="237">
                  <c:v>98.32152775124398</c:v>
                </c:pt>
                <c:pt idx="238">
                  <c:v>98.41752565404761</c:v>
                </c:pt>
                <c:pt idx="239">
                  <c:v>98.50853544473773</c:v>
                </c:pt>
                <c:pt idx="240">
                  <c:v>98.59478142810087</c:v>
                </c:pt>
                <c:pt idx="241">
                  <c:v>98.67648019413018</c:v>
                </c:pt>
                <c:pt idx="242">
                  <c:v>98.75384072063987</c:v>
                </c:pt>
                <c:pt idx="243">
                  <c:v>98.82706448722901</c:v>
                </c:pt>
                <c:pt idx="244">
                  <c:v>98.89634559943123</c:v>
                </c:pt>
                <c:pt idx="245">
                  <c:v>98.96187092193861</c:v>
                </c:pt>
                <c:pt idx="246">
                  <c:v>99.02382021984161</c:v>
                </c:pt>
                <c:pt idx="247">
                  <c:v>99.08236630687864</c:v>
                </c:pt>
                <c:pt idx="248">
                  <c:v>99.13767519974283</c:v>
                </c:pt>
                <c:pt idx="249">
                  <c:v>99.18990627754509</c:v>
                </c:pt>
                <c:pt idx="250">
                  <c:v>99.23921244558491</c:v>
                </c:pt>
                <c:pt idx="251">
                  <c:v>99.28574030263117</c:v>
                </c:pt>
                <c:pt idx="252">
                  <c:v>99.32963031096557</c:v>
                </c:pt>
                <c:pt idx="253">
                  <c:v>99.3710169684902</c:v>
                </c:pt>
                <c:pt idx="254">
                  <c:v>99.41002898224858</c:v>
                </c:pt>
                <c:pt idx="255">
                  <c:v>99.44678944275633</c:v>
                </c:pt>
                <c:pt idx="256">
                  <c:v>99.48141599858212</c:v>
                </c:pt>
                <c:pt idx="257">
                  <c:v>99.51402103066384</c:v>
                </c:pt>
                <c:pt idx="258">
                  <c:v>99.54471182588618</c:v>
                </c:pt>
                <c:pt idx="259">
                  <c:v>99.57359074948656</c:v>
                </c:pt>
                <c:pt idx="260">
                  <c:v>99.60075541589532</c:v>
                </c:pt>
                <c:pt idx="261">
                  <c:v>99.6262988576521</c:v>
                </c:pt>
                <c:pt idx="262">
                  <c:v>99.6503096920766</c:v>
                </c:pt>
                <c:pt idx="263">
                  <c:v>99.67287228540505</c:v>
                </c:pt>
                <c:pt idx="264">
                  <c:v>99.69406691413535</c:v>
                </c:pt>
                <c:pt idx="265">
                  <c:v>99.71396992335421</c:v>
                </c:pt>
                <c:pt idx="266">
                  <c:v>99.73265388184814</c:v>
                </c:pt>
                <c:pt idx="267">
                  <c:v>99.75018773382654</c:v>
                </c:pt>
                <c:pt idx="268">
                  <c:v>99.76663694711063</c:v>
                </c:pt>
                <c:pt idx="269">
                  <c:v>99.7820636576653</c:v>
                </c:pt>
                <c:pt idx="270">
                  <c:v>99.79652681037298</c:v>
                </c:pt>
                <c:pt idx="271">
                  <c:v>99.81008229596922</c:v>
                </c:pt>
                <c:pt idx="272">
                  <c:v>99.82278308407845</c:v>
                </c:pt>
                <c:pt idx="273">
                  <c:v>99.83467935230622</c:v>
                </c:pt>
                <c:pt idx="274">
                  <c:v>99.8458186113602</c:v>
                </c:pt>
                <c:pt idx="275">
                  <c:v>99.85624582618763</c:v>
                </c:pt>
                <c:pt idx="276">
                  <c:v>99.86600353312974</c:v>
                </c:pt>
                <c:pt idx="277">
                  <c:v>99.87513195310719</c:v>
                </c:pt>
                <c:pt idx="278">
                  <c:v>99.88366910086093</c:v>
                </c:pt>
                <c:pt idx="279">
                  <c:v>99.89165089028394</c:v>
                </c:pt>
                <c:pt idx="280">
                  <c:v>99.89911123588787</c:v>
                </c:pt>
                <c:pt idx="281">
                  <c:v>99.90608215045742</c:v>
                </c:pt>
                <c:pt idx="282">
                  <c:v>99.91259383895216</c:v>
                </c:pt>
                <c:pt idx="283">
                  <c:v>99.91867478872241</c:v>
                </c:pt>
                <c:pt idx="284">
                  <c:v>99.92435185611097</c:v>
                </c:pt>
                <c:pt idx="285">
                  <c:v>99.92965034951786</c:v>
                </c:pt>
                <c:pt idx="286">
                  <c:v>99.93459410900907</c:v>
                </c:pt>
                <c:pt idx="287">
                  <c:v>99.93920558255415</c:v>
                </c:pt>
                <c:pt idx="288">
                  <c:v>99.94350589898</c:v>
                </c:pt>
                <c:pt idx="289">
                  <c:v>99.94751493773101</c:v>
                </c:pt>
                <c:pt idx="290">
                  <c:v>99.95125139552712</c:v>
                </c:pt>
                <c:pt idx="291">
                  <c:v>99.95473285001306</c:v>
                </c:pt>
                <c:pt idx="292">
                  <c:v>99.95797582049263</c:v>
                </c:pt>
                <c:pt idx="293">
                  <c:v>99.96099582584245</c:v>
                </c:pt>
                <c:pt idx="294">
                  <c:v>99.96380743969986</c:v>
                </c:pt>
                <c:pt idx="295">
                  <c:v>99.96642434301941</c:v>
                </c:pt>
                <c:pt idx="296">
                  <c:v>99.96885937409134</c:v>
                </c:pt>
                <c:pt idx="297">
                  <c:v>99.97112457611568</c:v>
                </c:pt>
                <c:pt idx="298">
                  <c:v>99.97323124242354</c:v>
                </c:pt>
                <c:pt idx="299">
                  <c:v>99.97518995943632</c:v>
                </c:pt>
                <c:pt idx="300">
                  <c:v>99.97701064745242</c:v>
                </c:pt>
                <c:pt idx="301">
                  <c:v>99.97870259934874</c:v>
                </c:pt>
                <c:pt idx="302">
                  <c:v>99.98027451728306</c:v>
                </c:pt>
                <c:pt idx="303">
                  <c:v>99.98173454748131</c:v>
                </c:pt>
                <c:pt idx="304">
                  <c:v>99.98309031319145</c:v>
                </c:pt>
                <c:pt idx="305">
                  <c:v>99.98434894588428</c:v>
                </c:pt>
                <c:pt idx="306">
                  <c:v>99.98551711477852</c:v>
                </c:pt>
                <c:pt idx="307">
                  <c:v>99.986601054766</c:v>
                </c:pt>
                <c:pt idx="308">
                  <c:v>99.98760659280995</c:v>
                </c:pt>
                <c:pt idx="309">
                  <c:v>99.98853917288758</c:v>
                </c:pt>
                <c:pt idx="310">
                  <c:v>99.9894038795455</c:v>
                </c:pt>
                <c:pt idx="311">
                  <c:v>99.99020546013429</c:v>
                </c:pt>
                <c:pt idx="312">
                  <c:v>99.9909483457864</c:v>
                </c:pt>
                <c:pt idx="313">
                  <c:v>99.99163667119889</c:v>
                </c:pt>
                <c:pt idx="314">
                  <c:v>99.99227429328054</c:v>
                </c:pt>
                <c:pt idx="315">
                  <c:v>99.99286480872058</c:v>
                </c:pt>
                <c:pt idx="316">
                  <c:v>99.99341157053362</c:v>
                </c:pt>
                <c:pt idx="317">
                  <c:v>99.99391770363394</c:v>
                </c:pt>
                <c:pt idx="318">
                  <c:v>99.99438611948929</c:v>
                </c:pt>
                <c:pt idx="319">
                  <c:v>99.99481952990288</c:v>
                </c:pt>
                <c:pt idx="320">
                  <c:v>99.99522045996969</c:v>
                </c:pt>
                <c:pt idx="321">
                  <c:v>99.9955912602517</c:v>
                </c:pt>
                <c:pt idx="322">
                  <c:v>99.99593411821414</c:v>
                </c:pt>
                <c:pt idx="323">
                  <c:v>99.99625106896325</c:v>
                </c:pt>
                <c:pt idx="324">
                  <c:v>99.99654400532432</c:v>
                </c:pt>
                <c:pt idx="325">
                  <c:v>99.99681468729648</c:v>
                </c:pt>
                <c:pt idx="326">
                  <c:v>99.9970647509194</c:v>
                </c:pt>
                <c:pt idx="327">
                  <c:v>99.99729571658548</c:v>
                </c:pt>
                <c:pt idx="328">
                  <c:v>99.99750899682867</c:v>
                </c:pt>
                <c:pt idx="329">
                  <c:v>99.99770590362063</c:v>
                </c:pt>
                <c:pt idx="330">
                  <c:v>99.99788765520246</c:v>
                </c:pt>
                <c:pt idx="331">
                  <c:v>99.99805538247948</c:v>
                </c:pt>
                <c:pt idx="332">
                  <c:v>99.9982101350045</c:v>
                </c:pt>
                <c:pt idx="333">
                  <c:v>99.99835288657424</c:v>
                </c:pt>
                <c:pt idx="334">
                  <c:v>99.998484540462</c:v>
                </c:pt>
                <c:pt idx="335">
                  <c:v>99.99860593430839</c:v>
                </c:pt>
                <c:pt idx="336">
                  <c:v>99.99871784469106</c:v>
                </c:pt>
                <c:pt idx="337">
                  <c:v>99.99882099139268</c:v>
                </c:pt>
                <c:pt idx="338">
                  <c:v>99.99891604138617</c:v>
                </c:pt>
                <c:pt idx="339">
                  <c:v>99.99900361255419</c:v>
                </c:pt>
                <c:pt idx="340">
                  <c:v>99.99908427715988</c:v>
                </c:pt>
                <c:pt idx="341">
                  <c:v>99.99915856508396</c:v>
                </c:pt>
                <c:pt idx="342">
                  <c:v>99.9992269668434</c:v>
                </c:pt>
                <c:pt idx="343">
                  <c:v>99.999289936405</c:v>
                </c:pt>
                <c:pt idx="344">
                  <c:v>99.99934789380745</c:v>
                </c:pt>
                <c:pt idx="345">
                  <c:v>99.9994012276037</c:v>
                </c:pt>
                <c:pt idx="346">
                  <c:v>99.99945029713547</c:v>
                </c:pt>
                <c:pt idx="347">
                  <c:v>99.99949543465078</c:v>
                </c:pt>
                <c:pt idx="348">
                  <c:v>99.99953694727466</c:v>
                </c:pt>
                <c:pt idx="349">
                  <c:v>99.9995751188426</c:v>
                </c:pt>
                <c:pt idx="350">
                  <c:v>99.99961021160591</c:v>
                </c:pt>
                <c:pt idx="351">
                  <c:v>99.99964246781742</c:v>
                </c:pt>
                <c:pt idx="352">
                  <c:v>99.99967211120538</c:v>
                </c:pt>
                <c:pt idx="353">
                  <c:v>99.99969934834324</c:v>
                </c:pt>
                <c:pt idx="354">
                  <c:v>99.99972436992202</c:v>
                </c:pt>
                <c:pt idx="355">
                  <c:v>99.99974735193214</c:v>
                </c:pt>
                <c:pt idx="356">
                  <c:v>99.99976845676069</c:v>
                </c:pt>
                <c:pt idx="357">
                  <c:v>99.99978783420983</c:v>
                </c:pt>
                <c:pt idx="358">
                  <c:v>99.99980562244181</c:v>
                </c:pt>
                <c:pt idx="359">
                  <c:v>99.99982194885587</c:v>
                </c:pt>
                <c:pt idx="360">
                  <c:v>99.99983693090117</c:v>
                </c:pt>
                <c:pt idx="361">
                  <c:v>99.99985067683073</c:v>
                </c:pt>
                <c:pt idx="362">
                  <c:v>99.99986328640023</c:v>
                </c:pt>
                <c:pt idx="363">
                  <c:v>99.99987485151553</c:v>
                </c:pt>
                <c:pt idx="364">
                  <c:v>99.99988545683264</c:v>
                </c:pt>
                <c:pt idx="365">
                  <c:v>99.9998951803132</c:v>
                </c:pt>
                <c:pt idx="366">
                  <c:v>99.99990409373908</c:v>
                </c:pt>
                <c:pt idx="367">
                  <c:v>99.99991226318853</c:v>
                </c:pt>
                <c:pt idx="368">
                  <c:v>99.99991974947699</c:v>
                </c:pt>
                <c:pt idx="369">
                  <c:v>99.99992660856476</c:v>
                </c:pt>
                <c:pt idx="370">
                  <c:v>99.99993289193431</c:v>
                </c:pt>
                <c:pt idx="371">
                  <c:v>99.999938646939</c:v>
                </c:pt>
                <c:pt idx="372">
                  <c:v>99.99994391712558</c:v>
                </c:pt>
                <c:pt idx="373">
                  <c:v>99.99994874253227</c:v>
                </c:pt>
                <c:pt idx="374">
                  <c:v>99.99995315996416</c:v>
                </c:pt>
                <c:pt idx="375">
                  <c:v>99.9999572032477</c:v>
                </c:pt>
                <c:pt idx="376">
                  <c:v>99.99996090346569</c:v>
                </c:pt>
                <c:pt idx="377">
                  <c:v>99.9999642891743</c:v>
                </c:pt>
                <c:pt idx="378">
                  <c:v>99.99996738660343</c:v>
                </c:pt>
                <c:pt idx="379">
                  <c:v>99.99997021984159</c:v>
                </c:pt>
                <c:pt idx="380">
                  <c:v>99.99997281100651</c:v>
                </c:pt>
                <c:pt idx="381">
                  <c:v>99.99997518040266</c:v>
                </c:pt>
                <c:pt idx="382">
                  <c:v>99.99997734666626</c:v>
                </c:pt>
                <c:pt idx="383">
                  <c:v>99.99997932689925</c:v>
                </c:pt>
                <c:pt idx="384">
                  <c:v>99.99998113679268</c:v>
                </c:pt>
                <c:pt idx="385">
                  <c:v>99.9999827907405</c:v>
                </c:pt>
                <c:pt idx="386">
                  <c:v>99.99998430194428</c:v>
                </c:pt>
                <c:pt idx="387">
                  <c:v>99.99998568250986</c:v>
                </c:pt>
                <c:pt idx="388">
                  <c:v>99.99998694353629</c:v>
                </c:pt>
                <c:pt idx="389">
                  <c:v>99.99998809519766</c:v>
                </c:pt>
                <c:pt idx="390">
                  <c:v>99.99998914681865</c:v>
                </c:pt>
                <c:pt idx="391">
                  <c:v>99.99999010694377</c:v>
                </c:pt>
                <c:pt idx="392">
                  <c:v>99.99999098340139</c:v>
                </c:pt>
                <c:pt idx="393">
                  <c:v>99.99999178336242</c:v>
                </c:pt>
                <c:pt idx="394">
                  <c:v>99.99999251339443</c:v>
                </c:pt>
                <c:pt idx="395">
                  <c:v>99.99999317951136</c:v>
                </c:pt>
                <c:pt idx="396">
                  <c:v>99.99999378721921</c:v>
                </c:pt>
                <c:pt idx="397">
                  <c:v>99.99999434155812</c:v>
                </c:pt>
                <c:pt idx="398">
                  <c:v>99.99999484714097</c:v>
                </c:pt>
                <c:pt idx="399">
                  <c:v>99.99999530818893</c:v>
                </c:pt>
                <c:pt idx="400">
                  <c:v>99.99999572856399</c:v>
                </c:pt>
              </c:numCache>
            </c:numRef>
          </c:yVal>
          <c:smooth val="0"/>
        </c:ser>
        <c:ser>
          <c:idx val="1"/>
          <c:order val="1"/>
          <c:tx>
            <c:strRef>
              <c:f>Sheet1!$B$404</c:f>
              <c:strCache>
                <c:ptCount val="1"/>
                <c:pt idx="0">
                  <c:v>3 per maand, alle zes</c:v>
                </c:pt>
              </c:strCache>
            </c:strRef>
          </c:tx>
          <c:spPr>
            <a:ln w="19050">
              <a:solidFill>
                <a:srgbClr val="52BDEC"/>
              </a:solidFill>
              <a:prstDash val="dash"/>
            </a:ln>
          </c:spPr>
          <c:marker>
            <c:symbol val="none"/>
          </c:marker>
          <c:xVal>
            <c:numRef>
              <c:f>Sheet1!$A$405:$A$805</c:f>
              <c:numCache>
                <c:formatCode>General</c:formatCode>
                <c:ptCount val="40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11.0</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12.0</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13.0</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14.0</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15.0</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16.0</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17.0</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18.0</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19.0</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20.0</c:v>
                </c:pt>
              </c:numCache>
            </c:numRef>
          </c:xVal>
          <c:yVal>
            <c:numRef>
              <c:f>Sheet1!$B$405:$B$805</c:f>
              <c:numCache>
                <c:formatCode>General</c:formatCode>
                <c:ptCount val="401"/>
                <c:pt idx="0">
                  <c:v>0.0</c:v>
                </c:pt>
                <c:pt idx="1">
                  <c:v>0.0</c:v>
                </c:pt>
                <c:pt idx="2">
                  <c:v>0.0</c:v>
                </c:pt>
                <c:pt idx="3">
                  <c:v>0.0</c:v>
                </c:pt>
                <c:pt idx="4">
                  <c:v>0.0</c:v>
                </c:pt>
                <c:pt idx="5">
                  <c:v>0.0</c:v>
                </c:pt>
                <c:pt idx="6">
                  <c:v>0.0</c:v>
                </c:pt>
                <c:pt idx="7">
                  <c:v>0.0</c:v>
                </c:pt>
                <c:pt idx="8">
                  <c:v>0.0</c:v>
                </c:pt>
                <c:pt idx="9">
                  <c:v>1.1985091468012028e-92</c:v>
                </c:pt>
                <c:pt idx="10">
                  <c:v>0.0</c:v>
                </c:pt>
                <c:pt idx="11">
                  <c:v>1.1985091468012028e-92</c:v>
                </c:pt>
                <c:pt idx="12">
                  <c:v>1.1985091468012028e-92</c:v>
                </c:pt>
                <c:pt idx="13">
                  <c:v>0.0</c:v>
                </c:pt>
                <c:pt idx="14">
                  <c:v>0.0</c:v>
                </c:pt>
                <c:pt idx="15">
                  <c:v>0.0</c:v>
                </c:pt>
                <c:pt idx="16">
                  <c:v>1.1985091468012028e-92</c:v>
                </c:pt>
                <c:pt idx="17">
                  <c:v>2.2031781658127298e-89</c:v>
                </c:pt>
                <c:pt idx="18">
                  <c:v>3.578729136202043e-86</c:v>
                </c:pt>
                <c:pt idx="19">
                  <c:v>4.217246582808165e-83</c:v>
                </c:pt>
                <c:pt idx="20">
                  <c:v>2.7722244847085556e-80</c:v>
                </c:pt>
                <c:pt idx="21">
                  <c:v>1.4254346456700096e-77</c:v>
                </c:pt>
                <c:pt idx="22">
                  <c:v>4.815044839867513e-75</c:v>
                </c:pt>
                <c:pt idx="23">
                  <c:v>1.2172053701583038e-72</c:v>
                </c:pt>
                <c:pt idx="24">
                  <c:v>2.3613352688400177e-70</c:v>
                </c:pt>
                <c:pt idx="25">
                  <c:v>3.5733643964381614e-68</c:v>
                </c:pt>
                <c:pt idx="26">
                  <c:v>4.29701462021823e-66</c:v>
                </c:pt>
                <c:pt idx="27">
                  <c:v>4.176010276606486e-64</c:v>
                </c:pt>
                <c:pt idx="28">
                  <c:v>3.332207239245199e-62</c:v>
                </c:pt>
                <c:pt idx="29">
                  <c:v>2.2129128002990937e-60</c:v>
                </c:pt>
                <c:pt idx="30">
                  <c:v>1.238412612670638e-58</c:v>
                </c:pt>
                <c:pt idx="31">
                  <c:v>5.907325028517092e-57</c:v>
                </c:pt>
                <c:pt idx="32">
                  <c:v>2.4260980350628877e-55</c:v>
                </c:pt>
                <c:pt idx="33">
                  <c:v>8.658748425253087e-54</c:v>
                </c:pt>
                <c:pt idx="34">
                  <c:v>2.708128385222427e-52</c:v>
                </c:pt>
                <c:pt idx="35">
                  <c:v>7.479750110540721e-51</c:v>
                </c:pt>
                <c:pt idx="36">
                  <c:v>1.8372133422299007e-49</c:v>
                </c:pt>
                <c:pt idx="37">
                  <c:v>4.039123541101407e-48</c:v>
                </c:pt>
                <c:pt idx="38">
                  <c:v>7.995502786322957e-47</c:v>
                </c:pt>
                <c:pt idx="39">
                  <c:v>1.432888062390633e-45</c:v>
                </c:pt>
                <c:pt idx="40">
                  <c:v>2.336584822027721e-44</c:v>
                </c:pt>
                <c:pt idx="41">
                  <c:v>3.4832674206080663e-43</c:v>
                </c:pt>
                <c:pt idx="42">
                  <c:v>4.7677597424334e-42</c:v>
                </c:pt>
                <c:pt idx="43">
                  <c:v>6.016130033542261e-41</c:v>
                </c:pt>
                <c:pt idx="44">
                  <c:v>7.024700844058088e-40</c:v>
                </c:pt>
                <c:pt idx="45">
                  <c:v>7.616729700702639e-39</c:v>
                </c:pt>
                <c:pt idx="46">
                  <c:v>7.694167107892326e-38</c:v>
                </c:pt>
                <c:pt idx="47">
                  <c:v>7.263359556596256e-37</c:v>
                </c:pt>
                <c:pt idx="48">
                  <c:v>6.426033291976316e-36</c:v>
                </c:pt>
                <c:pt idx="49">
                  <c:v>5.342537317553466e-35</c:v>
                </c:pt>
                <c:pt idx="50">
                  <c:v>4.184563933530145e-34</c:v>
                </c:pt>
                <c:pt idx="51">
                  <c:v>3.095170977776207e-33</c:v>
                </c:pt>
                <c:pt idx="52">
                  <c:v>2.166828457275942e-32</c:v>
                </c:pt>
                <c:pt idx="53">
                  <c:v>1.4387588973548732e-31</c:v>
                </c:pt>
                <c:pt idx="54">
                  <c:v>9.079081472430852e-31</c:v>
                </c:pt>
                <c:pt idx="55">
                  <c:v>5.4551340159212184e-30</c:v>
                </c:pt>
                <c:pt idx="56">
                  <c:v>3.126465394749341e-29</c:v>
                </c:pt>
                <c:pt idx="57">
                  <c:v>1.71206627713079e-28</c:v>
                </c:pt>
                <c:pt idx="58">
                  <c:v>8.972266348638936e-28</c:v>
                </c:pt>
                <c:pt idx="59">
                  <c:v>4.506700755015146e-27</c:v>
                </c:pt>
                <c:pt idx="60">
                  <c:v>2.1727884956637314e-26</c:v>
                </c:pt>
                <c:pt idx="61">
                  <c:v>1.0068727266401712e-25</c:v>
                </c:pt>
                <c:pt idx="62">
                  <c:v>4.4905276620661625e-25</c:v>
                </c:pt>
                <c:pt idx="63">
                  <c:v>1.929861060903768e-24</c:v>
                </c:pt>
                <c:pt idx="64">
                  <c:v>8.001573403834077e-24</c:v>
                </c:pt>
                <c:pt idx="65">
                  <c:v>3.20432412757975e-23</c:v>
                </c:pt>
                <c:pt idx="66">
                  <c:v>1.2407316181160317e-22</c:v>
                </c:pt>
                <c:pt idx="67">
                  <c:v>4.649939393165216e-22</c:v>
                </c:pt>
                <c:pt idx="68">
                  <c:v>1.6883896712949263e-21</c:v>
                </c:pt>
                <c:pt idx="69">
                  <c:v>5.9451574011166215e-21</c:v>
                </c:pt>
                <c:pt idx="70">
                  <c:v>2.0319410665707816e-20</c:v>
                </c:pt>
                <c:pt idx="71">
                  <c:v>6.746697183846333e-20</c:v>
                </c:pt>
                <c:pt idx="72">
                  <c:v>2.1780275632337306e-19</c:v>
                </c:pt>
                <c:pt idx="73">
                  <c:v>6.841833791344309e-19</c:v>
                </c:pt>
                <c:pt idx="74">
                  <c:v>2.0929058207139843e-18</c:v>
                </c:pt>
                <c:pt idx="75">
                  <c:v>6.2389674046294284e-18</c:v>
                </c:pt>
                <c:pt idx="76">
                  <c:v>1.8137063915573395e-17</c:v>
                </c:pt>
                <c:pt idx="77">
                  <c:v>5.145244741142236e-17</c:v>
                </c:pt>
                <c:pt idx="78">
                  <c:v>1.4253194879403707e-16</c:v>
                </c:pt>
                <c:pt idx="79">
                  <c:v>3.857955843224853e-16</c:v>
                </c:pt>
                <c:pt idx="80">
                  <c:v>1.0209459328037421e-15</c:v>
                </c:pt>
                <c:pt idx="81">
                  <c:v>2.643021668638845e-15</c:v>
                </c:pt>
                <c:pt idx="82">
                  <c:v>6.69721291408263e-15</c:v>
                </c:pt>
                <c:pt idx="83">
                  <c:v>1.661946856402469e-14</c:v>
                </c:pt>
                <c:pt idx="84">
                  <c:v>4.041064598266316e-14</c:v>
                </c:pt>
                <c:pt idx="85">
                  <c:v>9.632704102318654e-14</c:v>
                </c:pt>
                <c:pt idx="86">
                  <c:v>2.252086453323539e-13</c:v>
                </c:pt>
                <c:pt idx="87">
                  <c:v>5.166659198583674e-13</c:v>
                </c:pt>
                <c:pt idx="88">
                  <c:v>1.1636414739258241e-12</c:v>
                </c:pt>
                <c:pt idx="89">
                  <c:v>2.5739694554277922e-12</c:v>
                </c:pt>
                <c:pt idx="90">
                  <c:v>5.594308429468905e-12</c:v>
                </c:pt>
                <c:pt idx="91">
                  <c:v>1.1951607384473617e-11</c:v>
                </c:pt>
                <c:pt idx="92">
                  <c:v>2.510819732847126e-11</c:v>
                </c:pt>
                <c:pt idx="93">
                  <c:v>5.1889686519966445e-11</c:v>
                </c:pt>
                <c:pt idx="94">
                  <c:v>1.0553212277919751e-10</c:v>
                </c:pt>
                <c:pt idx="95">
                  <c:v>2.112921057528971e-10</c:v>
                </c:pt>
                <c:pt idx="96">
                  <c:v>4.1660928922266784e-10</c:v>
                </c:pt>
                <c:pt idx="97">
                  <c:v>8.092249636259161e-10</c:v>
                </c:pt>
                <c:pt idx="98">
                  <c:v>1.548985834487732e-09</c:v>
                </c:pt>
                <c:pt idx="99">
                  <c:v>2.9228229134141036e-09</c:v>
                </c:pt>
                <c:pt idx="100">
                  <c:v>5.438378986519277e-09</c:v>
                </c:pt>
                <c:pt idx="101">
                  <c:v>9.981125747666005e-09</c:v>
                </c:pt>
                <c:pt idx="102">
                  <c:v>1.8074245336253395e-08</c:v>
                </c:pt>
                <c:pt idx="103">
                  <c:v>3.2302442522460975e-08</c:v>
                </c:pt>
                <c:pt idx="104">
                  <c:v>5.6993542319343134e-08</c:v>
                </c:pt>
                <c:pt idx="105">
                  <c:v>9.929978905541412e-08</c:v>
                </c:pt>
                <c:pt idx="106">
                  <c:v>1.708903493180778e-07</c:v>
                </c:pt>
                <c:pt idx="107">
                  <c:v>2.9056574645843823e-07</c:v>
                </c:pt>
                <c:pt idx="108">
                  <c:v>4.88244307734076e-07</c:v>
                </c:pt>
                <c:pt idx="109">
                  <c:v>8.109634688887817e-07</c:v>
                </c:pt>
                <c:pt idx="110">
                  <c:v>1.3318014124956953e-06</c:v>
                </c:pt>
                <c:pt idx="111">
                  <c:v>2.1629769416393604e-06</c:v>
                </c:pt>
                <c:pt idx="112">
                  <c:v>3.474851239210593e-06</c:v>
                </c:pt>
                <c:pt idx="113">
                  <c:v>5.523161262882017e-06</c:v>
                </c:pt>
                <c:pt idx="114">
                  <c:v>8.687591061275583e-06</c:v>
                </c:pt>
                <c:pt idx="115">
                  <c:v>1.3525766532080235e-05</c:v>
                </c:pt>
                <c:pt idx="116">
                  <c:v>2.0847974112363244e-05</c:v>
                </c:pt>
                <c:pt idx="117">
                  <c:v>3.181938637262238e-05</c:v>
                </c:pt>
                <c:pt idx="118">
                  <c:v>4.809835530053361e-05</c:v>
                </c:pt>
                <c:pt idx="119">
                  <c:v>7.20214276847799e-05</c:v>
                </c:pt>
                <c:pt idx="120">
                  <c:v>0.00010684815554451748</c:v>
                </c:pt>
                <c:pt idx="121">
                  <c:v>0.00015708151115637208</c:v>
                </c:pt>
                <c:pt idx="122">
                  <c:v>0.00022888274323590326</c:v>
                </c:pt>
                <c:pt idx="123">
                  <c:v>0.00033060277477634425</c:v>
                </c:pt>
                <c:pt idx="124">
                  <c:v>0.0004734556600834903</c:v>
                </c:pt>
                <c:pt idx="125">
                  <c:v>0.0006723630705593346</c:v>
                </c:pt>
                <c:pt idx="126">
                  <c:v>0.0009470021108279276</c:v>
                </c:pt>
                <c:pt idx="127">
                  <c:v>0.0013230917863129704</c:v>
                </c:pt>
                <c:pt idx="128">
                  <c:v>0.0018339559216775001</c:v>
                </c:pt>
                <c:pt idx="129">
                  <c:v>0.0025224020061287602</c:v>
                </c:pt>
                <c:pt idx="130">
                  <c:v>0.0034429560314678084</c:v>
                </c:pt>
                <c:pt idx="131">
                  <c:v>0.004664492592984746</c:v>
                </c:pt>
                <c:pt idx="132">
                  <c:v>0.006273297042816341</c:v>
                </c:pt>
                <c:pt idx="133">
                  <c:v>0.00837659203749361</c:v>
                </c:pt>
                <c:pt idx="134">
                  <c:v>0.011106554158974559</c:v>
                </c:pt>
                <c:pt idx="135">
                  <c:v>0.0146248372200539</c:v>
                </c:pt>
                <c:pt idx="136">
                  <c:v>0.019127607275664</c:v>
                </c:pt>
                <c:pt idx="137">
                  <c:v>0.02485108023304619</c:v>
                </c:pt>
                <c:pt idx="138">
                  <c:v>0.03207753638139056</c:v>
                </c:pt>
                <c:pt idx="139">
                  <c:v>0.04114176736829041</c:v>
                </c:pt>
                <c:pt idx="140">
                  <c:v>0.052437890496270054</c:v>
                </c:pt>
                <c:pt idx="141">
                  <c:v>0.06642644319421966</c:v>
                </c:pt>
                <c:pt idx="142">
                  <c:v>0.08364164776810605</c:v>
                </c:pt>
                <c:pt idx="143">
                  <c:v>0.10469871380235549</c:v>
                </c:pt>
                <c:pt idx="144">
                  <c:v>0.13030102371866487</c:v>
                </c:pt>
                <c:pt idx="145">
                  <c:v>0.1612470269226935</c:v>
                </c:pt>
                <c:pt idx="146">
                  <c:v>0.19843665063592505</c:v>
                </c:pt>
                <c:pt idx="147">
                  <c:v>0.24287702187080268</c:v>
                </c:pt>
                <c:pt idx="148">
                  <c:v>0.295687285961121</c:v>
                </c:pt>
                <c:pt idx="149">
                  <c:v>0.3581023034125747</c:v>
                </c:pt>
                <c:pt idx="150">
                  <c:v>0.4314750092591402</c:v>
                </c:pt>
                <c:pt idx="151">
                  <c:v>0.517277228083592</c:v>
                </c:pt>
                <c:pt idx="152">
                  <c:v>0.6170987536658364</c:v>
                </c:pt>
                <c:pt idx="153">
                  <c:v>0.7326445248912102</c:v>
                </c:pt>
                <c:pt idx="154">
                  <c:v>0.8657297588668702</c:v>
                </c:pt>
                <c:pt idx="155">
                  <c:v>1.0182729376775361</c:v>
                </c:pt>
                <c:pt idx="156">
                  <c:v>1.1922865861284513</c:v>
                </c:pt>
                <c:pt idx="157">
                  <c:v>1.389865823205217</c:v>
                </c:pt>
                <c:pt idx="158">
                  <c:v>1.6131747186627965</c:v>
                </c:pt>
                <c:pt idx="159">
                  <c:v>1.8644305367854066</c:v>
                </c:pt>
                <c:pt idx="160">
                  <c:v>2.14588600050768</c:v>
                </c:pt>
                <c:pt idx="161">
                  <c:v>2.459809759210309</c:v>
                </c:pt>
                <c:pt idx="162">
                  <c:v>2.808465291102373</c:v>
                </c:pt>
                <c:pt idx="163">
                  <c:v>3.1940885146941294</c:v>
                </c:pt>
                <c:pt idx="164">
                  <c:v>3.6188644220883734</c:v>
                </c:pt>
                <c:pt idx="165">
                  <c:v>4.084903078481363</c:v>
                </c:pt>
                <c:pt idx="166">
                  <c:v>4.59421535635226</c:v>
                </c:pt>
                <c:pt idx="167">
                  <c:v>5.1486887885855825</c:v>
                </c:pt>
                <c:pt idx="168">
                  <c:v>5.750063931715628</c:v>
                </c:pt>
                <c:pt idx="169">
                  <c:v>6.3999116283771365</c:v>
                </c:pt>
                <c:pt idx="170">
                  <c:v>7.099611546977017</c:v>
                </c:pt>
                <c:pt idx="171">
                  <c:v>7.850332356887497</c:v>
                </c:pt>
                <c:pt idx="172">
                  <c:v>8.653013869703303</c:v>
                </c:pt>
                <c:pt idx="173">
                  <c:v>9.508351442128994</c:v>
                </c:pt>
                <c:pt idx="174">
                  <c:v>10.41678289487644</c:v>
                </c:pt>
                <c:pt idx="175">
                  <c:v>11.378478155726626</c:v>
                </c:pt>
                <c:pt idx="176">
                  <c:v>12.393331784926552</c:v>
                </c:pt>
                <c:pt idx="177">
                  <c:v>13.46095848867868</c:v>
                </c:pt>
                <c:pt idx="178">
                  <c:v>14.580691673010621</c:v>
                </c:pt>
                <c:pt idx="179">
                  <c:v>15.751585037093118</c:v>
                </c:pt>
                <c:pt idx="180">
                  <c:v>16.972417153396993</c:v>
                </c:pt>
                <c:pt idx="181">
                  <c:v>18.241698933070605</c:v>
                </c:pt>
                <c:pt idx="182">
                  <c:v>19.557683829638428</c:v>
                </c:pt>
                <c:pt idx="183">
                  <c:v>20.918380593429983</c:v>
                </c:pt>
                <c:pt idx="184">
                  <c:v>22.321568353723322</c:v>
                </c:pt>
                <c:pt idx="185">
                  <c:v>23.764813776024248</c:v>
                </c:pt>
                <c:pt idx="186">
                  <c:v>25.245490018440698</c:v>
                </c:pt>
                <c:pt idx="187">
                  <c:v>26.760797194012177</c:v>
                </c:pt>
                <c:pt idx="188">
                  <c:v>28.307784035042115</c:v>
                </c:pt>
                <c:pt idx="189">
                  <c:v>29.88337045081055</c:v>
                </c:pt>
                <c:pt idx="190">
                  <c:v>31.484370671245625</c:v>
                </c:pt>
                <c:pt idx="191">
                  <c:v>33.10751667571305</c:v>
                </c:pt>
                <c:pt idx="192">
                  <c:v>34.74948161761375</c:v>
                </c:pt>
                <c:pt idx="193">
                  <c:v>36.40690297128207</c:v>
                </c:pt>
                <c:pt idx="194">
                  <c:v>38.076405147172835</c:v>
                </c:pt>
                <c:pt idx="195">
                  <c:v>39.7546213438022</c:v>
                </c:pt>
                <c:pt idx="196">
                  <c:v>41.43821442969821</c:v>
                </c:pt>
                <c:pt idx="197">
                  <c:v>43.12389667504511</c:v>
                </c:pt>
                <c:pt idx="198">
                  <c:v>44.80844818012182</c:v>
                </c:pt>
                <c:pt idx="199">
                  <c:v>46.48873387542442</c:v>
                </c:pt>
                <c:pt idx="200">
                  <c:v>48.16171899598515</c:v>
                </c:pt>
                <c:pt idx="201">
                  <c:v>49.82448295933461</c:v>
                </c:pt>
                <c:pt idx="202">
                  <c:v>51.47423160237121</c:v>
                </c:pt>
                <c:pt idx="203">
                  <c:v>53.108307756761434</c:v>
                </c:pt>
                <c:pt idx="204">
                  <c:v>54.72420016503023</c:v>
                </c:pt>
                <c:pt idx="205">
                  <c:v>56.31955076008811</c:v>
                </c:pt>
                <c:pt idx="206">
                  <c:v>57.89216034929472</c:v>
                </c:pt>
                <c:pt idx="207">
                  <c:v>59.439992760291915</c:v>
                </c:pt>
                <c:pt idx="208">
                  <c:v>60.961177519605805</c:v>
                </c:pt>
                <c:pt idx="209">
                  <c:v>62.45401114650745</c:v>
                </c:pt>
                <c:pt idx="210">
                  <c:v>63.9169571538237</c:v>
                </c:pt>
                <c:pt idx="211">
                  <c:v>65.34864485441689</c:v>
                </c:pt>
                <c:pt idx="212">
                  <c:v>66.7478670770393</c:v>
                </c:pt>
                <c:pt idx="213">
                  <c:v>68.11357689831561</c:v>
                </c:pt>
                <c:pt idx="214">
                  <c:v>69.44488349892045</c:v>
                </c:pt>
                <c:pt idx="215">
                  <c:v>70.741047251756</c:v>
                </c:pt>
                <c:pt idx="216">
                  <c:v>72.00147414825622</c:v>
                </c:pt>
                <c:pt idx="217">
                  <c:v>73.22570966608932</c:v>
                </c:pt>
                <c:pt idx="218">
                  <c:v>74.41343217761585</c:v>
                </c:pt>
                <c:pt idx="219">
                  <c:v>75.56444599372115</c:v>
                </c:pt>
                <c:pt idx="220">
                  <c:v>76.67867413220986</c:v>
                </c:pt>
                <c:pt idx="221">
                  <c:v>77.75615089401053</c:v>
                </c:pt>
                <c:pt idx="222">
                  <c:v>78.79701432412021</c:v>
                </c:pt>
                <c:pt idx="223">
                  <c:v>79.80149862768002</c:v>
                </c:pt>
                <c:pt idx="224">
                  <c:v>80.76992660490001</c:v>
                </c:pt>
                <c:pt idx="225">
                  <c:v>81.7027021619034</c:v>
                </c:pt>
                <c:pt idx="226">
                  <c:v>82.60030294796486</c:v>
                </c:pt>
                <c:pt idx="227">
                  <c:v>83.46327316322248</c:v>
                </c:pt>
                <c:pt idx="228">
                  <c:v>84.29221657475222</c:v>
                </c:pt>
                <c:pt idx="229">
                  <c:v>85.08778977301371</c:v>
                </c:pt>
                <c:pt idx="230">
                  <c:v>85.85069569510102</c:v>
                </c:pt>
                <c:pt idx="231">
                  <c:v>86.58167743604156</c:v>
                </c:pt>
                <c:pt idx="232">
                  <c:v>87.2815123645449</c:v>
                </c:pt>
                <c:pt idx="233">
                  <c:v>87.95100655518976</c:v>
                </c:pt>
                <c:pt idx="234">
                  <c:v>88.59098954499119</c:v>
                </c:pt>
                <c:pt idx="235">
                  <c:v>89.20230941865931</c:v>
                </c:pt>
                <c:pt idx="236">
                  <c:v>89.78582822361565</c:v>
                </c:pt>
                <c:pt idx="237">
                  <c:v>90.34241771296168</c:v>
                </c:pt>
                <c:pt idx="238">
                  <c:v>90.87295541209332</c:v>
                </c:pt>
                <c:pt idx="239">
                  <c:v>91.37832100249193</c:v>
                </c:pt>
                <c:pt idx="240">
                  <c:v>91.85939301439353</c:v>
                </c:pt>
                <c:pt idx="241">
                  <c:v>92.3170458184995</c:v>
                </c:pt>
                <c:pt idx="242">
                  <c:v>92.7521469056496</c:v>
                </c:pt>
                <c:pt idx="243">
                  <c:v>93.16555444237767</c:v>
                </c:pt>
                <c:pt idx="244">
                  <c:v>93.55811508951744</c:v>
                </c:pt>
                <c:pt idx="245">
                  <c:v>93.93066207047211</c:v>
                </c:pt>
                <c:pt idx="246">
                  <c:v>94.28401347540841</c:v>
                </c:pt>
                <c:pt idx="247">
                  <c:v>94.61897078743931</c:v>
                </c:pt>
                <c:pt idx="248">
                  <c:v>94.93631761681773</c:v>
                </c:pt>
                <c:pt idx="249">
                  <c:v>95.23681862924677</c:v>
                </c:pt>
                <c:pt idx="250">
                  <c:v>95.52121865460352</c:v>
                </c:pt>
                <c:pt idx="251">
                  <c:v>95.79024196266023</c:v>
                </c:pt>
                <c:pt idx="252">
                  <c:v>96.04459169275081</c:v>
                </c:pt>
                <c:pt idx="253">
                  <c:v>96.28494942475486</c:v>
                </c:pt>
                <c:pt idx="254">
                  <c:v>96.51197487925157</c:v>
                </c:pt>
                <c:pt idx="255">
                  <c:v>96.72630573521074</c:v>
                </c:pt>
                <c:pt idx="256">
                  <c:v>96.92855755413441</c:v>
                </c:pt>
                <c:pt idx="257">
                  <c:v>97.11932380012779</c:v>
                </c:pt>
                <c:pt idx="258">
                  <c:v>97.29917594595565</c:v>
                </c:pt>
                <c:pt idx="259">
                  <c:v>97.46866365572168</c:v>
                </c:pt>
                <c:pt idx="260">
                  <c:v>97.62831503539225</c:v>
                </c:pt>
                <c:pt idx="261">
                  <c:v>97.77863694295658</c:v>
                </c:pt>
                <c:pt idx="262">
                  <c:v>97.92011535058482</c:v>
                </c:pt>
                <c:pt idx="263">
                  <c:v>98.05321575169293</c:v>
                </c:pt>
                <c:pt idx="264">
                  <c:v>98.1783836063591</c:v>
                </c:pt>
                <c:pt idx="265">
                  <c:v>98.29604481904887</c:v>
                </c:pt>
                <c:pt idx="266">
                  <c:v>98.4066062431039</c:v>
                </c:pt>
                <c:pt idx="267">
                  <c:v>98.51045620691575</c:v>
                </c:pt>
                <c:pt idx="268">
                  <c:v>98.60796505715889</c:v>
                </c:pt>
                <c:pt idx="269">
                  <c:v>98.69948571487954</c:v>
                </c:pt>
                <c:pt idx="270">
                  <c:v>98.78535424063759</c:v>
                </c:pt>
                <c:pt idx="271">
                  <c:v>98.86589040527808</c:v>
                </c:pt>
                <c:pt idx="272">
                  <c:v>98.94139826325794</c:v>
                </c:pt>
                <c:pt idx="273">
                  <c:v>99.01216672578803</c:v>
                </c:pt>
                <c:pt idx="274">
                  <c:v>99.0784701313537</c:v>
                </c:pt>
                <c:pt idx="275">
                  <c:v>99.14056881146568</c:v>
                </c:pt>
                <c:pt idx="276">
                  <c:v>99.19870964975432</c:v>
                </c:pt>
                <c:pt idx="277">
                  <c:v>99.25312663276576</c:v>
                </c:pt>
                <c:pt idx="278">
                  <c:v>99.30404139104179</c:v>
                </c:pt>
                <c:pt idx="279">
                  <c:v>99.35166372927131</c:v>
                </c:pt>
                <c:pt idx="280">
                  <c:v>99.39619214448805</c:v>
                </c:pt>
                <c:pt idx="281">
                  <c:v>99.437814331464</c:v>
                </c:pt>
                <c:pt idx="282">
                  <c:v>99.47670767459886</c:v>
                </c:pt>
                <c:pt idx="283">
                  <c:v>99.51303972575309</c:v>
                </c:pt>
                <c:pt idx="284">
                  <c:v>99.54696866759355</c:v>
                </c:pt>
                <c:pt idx="285">
                  <c:v>99.5786437621417</c:v>
                </c:pt>
                <c:pt idx="286">
                  <c:v>99.60820578431156</c:v>
                </c:pt>
                <c:pt idx="287">
                  <c:v>99.63578744032101</c:v>
                </c:pt>
                <c:pt idx="288">
                  <c:v>99.661513770939</c:v>
                </c:pt>
                <c:pt idx="289">
                  <c:v>99.68550253960477</c:v>
                </c:pt>
                <c:pt idx="290">
                  <c:v>99.70786460551817</c:v>
                </c:pt>
                <c:pt idx="291">
                  <c:v>99.72870428185635</c:v>
                </c:pt>
                <c:pt idx="292">
                  <c:v>99.74811967932004</c:v>
                </c:pt>
                <c:pt idx="293">
                  <c:v>99.76620303525355</c:v>
                </c:pt>
                <c:pt idx="294">
                  <c:v>99.78304102862074</c:v>
                </c:pt>
                <c:pt idx="295">
                  <c:v>99.79871508114545</c:v>
                </c:pt>
                <c:pt idx="296">
                  <c:v>99.81330164495287</c:v>
                </c:pt>
                <c:pt idx="297">
                  <c:v>99.82687247706815</c:v>
                </c:pt>
                <c:pt idx="298">
                  <c:v>99.83949490114311</c:v>
                </c:pt>
                <c:pt idx="299">
                  <c:v>99.85123205679744</c:v>
                </c:pt>
                <c:pt idx="300">
                  <c:v>99.86214313696803</c:v>
                </c:pt>
                <c:pt idx="301">
                  <c:v>99.87228361366654</c:v>
                </c:pt>
                <c:pt idx="302">
                  <c:v>99.88170545255075</c:v>
                </c:pt>
                <c:pt idx="303">
                  <c:v>99.89045731671523</c:v>
                </c:pt>
                <c:pt idx="304">
                  <c:v>99.89858476010588</c:v>
                </c:pt>
                <c:pt idx="305">
                  <c:v>99.90613041096314</c:v>
                </c:pt>
                <c:pt idx="306">
                  <c:v>99.91313414569075</c:v>
                </c:pt>
                <c:pt idx="307">
                  <c:v>99.91963325354541</c:v>
                </c:pt>
                <c:pt idx="308">
                  <c:v>99.92566259253417</c:v>
                </c:pt>
                <c:pt idx="309">
                  <c:v>99.93125473689875</c:v>
                </c:pt>
                <c:pt idx="310">
                  <c:v>99.93644011655908</c:v>
                </c:pt>
                <c:pt idx="311">
                  <c:v>99.94124714887835</c:v>
                </c:pt>
                <c:pt idx="312">
                  <c:v>99.94570236310186</c:v>
                </c:pt>
                <c:pt idx="313">
                  <c:v>99.94983051781377</c:v>
                </c:pt>
                <c:pt idx="314">
                  <c:v>99.95365471174274</c:v>
                </c:pt>
                <c:pt idx="315">
                  <c:v>99.95719648824021</c:v>
                </c:pt>
                <c:pt idx="316">
                  <c:v>99.96047593374018</c:v>
                </c:pt>
                <c:pt idx="317">
                  <c:v>99.963511770503</c:v>
                </c:pt>
                <c:pt idx="318">
                  <c:v>99.96632144393011</c:v>
                </c:pt>
                <c:pt idx="319">
                  <c:v>99.96892120472978</c:v>
                </c:pt>
                <c:pt idx="320">
                  <c:v>99.97132618620016</c:v>
                </c:pt>
                <c:pt idx="321">
                  <c:v>99.97355047688676</c:v>
                </c:pt>
                <c:pt idx="322">
                  <c:v>99.9756071888596</c:v>
                </c:pt>
                <c:pt idx="323">
                  <c:v>99.9775085218467</c:v>
                </c:pt>
                <c:pt idx="324">
                  <c:v>99.97926582344829</c:v>
                </c:pt>
                <c:pt idx="325">
                  <c:v>99.98088964564677</c:v>
                </c:pt>
                <c:pt idx="326">
                  <c:v>99.98238979781894</c:v>
                </c:pt>
                <c:pt idx="327">
                  <c:v>99.9837753964457</c:v>
                </c:pt>
                <c:pt idx="328">
                  <c:v>99.98505491170566</c:v>
                </c:pt>
                <c:pt idx="329">
                  <c:v>99.98623621113134</c:v>
                </c:pt>
                <c:pt idx="330">
                  <c:v>99.98732660049596</c:v>
                </c:pt>
                <c:pt idx="331">
                  <c:v>99.98833286209276</c:v>
                </c:pt>
                <c:pt idx="332">
                  <c:v>99.989261290558</c:v>
                </c:pt>
                <c:pt idx="333">
                  <c:v>99.99011772638389</c:v>
                </c:pt>
                <c:pt idx="334">
                  <c:v>99.99090758725767</c:v>
                </c:pt>
                <c:pt idx="335">
                  <c:v>99.99163589735781</c:v>
                </c:pt>
                <c:pt idx="336">
                  <c:v>99.99230731473044</c:v>
                </c:pt>
                <c:pt idx="337">
                  <c:v>99.99292615686198</c:v>
                </c:pt>
                <c:pt idx="338">
                  <c:v>99.9934964245594</c:v>
                </c:pt>
                <c:pt idx="339">
                  <c:v>99.99402182424137</c:v>
                </c:pt>
                <c:pt idx="340">
                  <c:v>99.99450578873997</c:v>
                </c:pt>
                <c:pt idx="341">
                  <c:v>99.99495149670446</c:v>
                </c:pt>
                <c:pt idx="342">
                  <c:v>99.99536189069647</c:v>
                </c:pt>
                <c:pt idx="343">
                  <c:v>99.99573969405783</c:v>
                </c:pt>
                <c:pt idx="344">
                  <c:v>99.99608742663055</c:v>
                </c:pt>
                <c:pt idx="345">
                  <c:v>99.99640741940104</c:v>
                </c:pt>
                <c:pt idx="346">
                  <c:v>99.99670182813843</c:v>
                </c:pt>
                <c:pt idx="347">
                  <c:v>99.99697264609233</c:v>
                </c:pt>
                <c:pt idx="348">
                  <c:v>99.99722171581043</c:v>
                </c:pt>
                <c:pt idx="349">
                  <c:v>99.99745074013404</c:v>
                </c:pt>
                <c:pt idx="350">
                  <c:v>99.99766129242562</c:v>
                </c:pt>
                <c:pt idx="351">
                  <c:v>99.99785482607881</c:v>
                </c:pt>
                <c:pt idx="352">
                  <c:v>99.9980326833589</c:v>
                </c:pt>
                <c:pt idx="353">
                  <c:v>99.9981961036181</c:v>
                </c:pt>
                <c:pt idx="354">
                  <c:v>99.99834623092785</c:v>
                </c:pt>
                <c:pt idx="355">
                  <c:v>99.9984841211675</c:v>
                </c:pt>
                <c:pt idx="356">
                  <c:v>99.99861074860598</c:v>
                </c:pt>
                <c:pt idx="357">
                  <c:v>99.99872701201105</c:v>
                </c:pt>
                <c:pt idx="358">
                  <c:v>99.99883374031828</c:v>
                </c:pt>
                <c:pt idx="359">
                  <c:v>99.99893169789054</c:v>
                </c:pt>
                <c:pt idx="360">
                  <c:v>99.99902158939571</c:v>
                </c:pt>
                <c:pt idx="361">
                  <c:v>99.99910406432896</c:v>
                </c:pt>
                <c:pt idx="362">
                  <c:v>99.99917972120494</c:v>
                </c:pt>
                <c:pt idx="363">
                  <c:v>99.99924911144254</c:v>
                </c:pt>
                <c:pt idx="364">
                  <c:v>99.99931274296384</c:v>
                </c:pt>
                <c:pt idx="365">
                  <c:v>99.9993710835273</c:v>
                </c:pt>
                <c:pt idx="366">
                  <c:v>99.99942456381416</c:v>
                </c:pt>
                <c:pt idx="367">
                  <c:v>99.99947358028584</c:v>
                </c:pt>
                <c:pt idx="368">
                  <c:v>99.99951849782792</c:v>
                </c:pt>
                <c:pt idx="369">
                  <c:v>99.9995596521965</c:v>
                </c:pt>
                <c:pt idx="370">
                  <c:v>99.99959735228137</c:v>
                </c:pt>
                <c:pt idx="371">
                  <c:v>99.99963188219864</c:v>
                </c:pt>
                <c:pt idx="372">
                  <c:v>99.99966350322525</c:v>
                </c:pt>
                <c:pt idx="373">
                  <c:v>99.99969245558768</c:v>
                </c:pt>
                <c:pt idx="374">
                  <c:v>99.99971896011407</c:v>
                </c:pt>
                <c:pt idx="375">
                  <c:v>99.99974321976094</c:v>
                </c:pt>
                <c:pt idx="376">
                  <c:v>99.99976542102343</c:v>
                </c:pt>
                <c:pt idx="377">
                  <c:v>99.99978573523711</c:v>
                </c:pt>
                <c:pt idx="378">
                  <c:v>99.99980431978011</c:v>
                </c:pt>
                <c:pt idx="379">
                  <c:v>99.99982131918253</c:v>
                </c:pt>
                <c:pt idx="380">
                  <c:v>99.99983686615002</c:v>
                </c:pt>
                <c:pt idx="381">
                  <c:v>99.99985108250834</c:v>
                </c:pt>
                <c:pt idx="382">
                  <c:v>99.99986408007452</c:v>
                </c:pt>
                <c:pt idx="383">
                  <c:v>99.99987596145958</c:v>
                </c:pt>
                <c:pt idx="384">
                  <c:v>99.99988682080946</c:v>
                </c:pt>
                <c:pt idx="385">
                  <c:v>99.99989674448744</c:v>
                </c:pt>
                <c:pt idx="386">
                  <c:v>99.99990581170263</c:v>
                </c:pt>
                <c:pt idx="387">
                  <c:v>99.99991409508992</c:v>
                </c:pt>
                <c:pt idx="388">
                  <c:v>99.9999216612433</c:v>
                </c:pt>
                <c:pt idx="389">
                  <c:v>99.99992857120726</c:v>
                </c:pt>
                <c:pt idx="390">
                  <c:v>99.99993488092954</c:v>
                </c:pt>
                <c:pt idx="391">
                  <c:v>99.9999406416773</c:v>
                </c:pt>
                <c:pt idx="392">
                  <c:v>99.99994590042051</c:v>
                </c:pt>
                <c:pt idx="393">
                  <c:v>99.99995070018464</c:v>
                </c:pt>
                <c:pt idx="394">
                  <c:v>99.99995508037499</c:v>
                </c:pt>
                <c:pt idx="395">
                  <c:v>99.99995907707515</c:v>
                </c:pt>
                <c:pt idx="396">
                  <c:v>99.99996272332105</c:v>
                </c:pt>
                <c:pt idx="397">
                  <c:v>99.99996604935352</c:v>
                </c:pt>
                <c:pt idx="398">
                  <c:v>99.99996908284982</c:v>
                </c:pt>
                <c:pt idx="399">
                  <c:v>99.99997184913686</c:v>
                </c:pt>
                <c:pt idx="400">
                  <c:v>99.99997437138671</c:v>
                </c:pt>
              </c:numCache>
            </c:numRef>
          </c:yVal>
          <c:smooth val="0"/>
        </c:ser>
        <c:ser>
          <c:idx val="2"/>
          <c:order val="2"/>
          <c:tx>
            <c:strRef>
              <c:f>Sheet1!$B$807</c:f>
              <c:strCache>
                <c:ptCount val="1"/>
                <c:pt idx="0">
                  <c:v>2 per maand, één centrum</c:v>
                </c:pt>
              </c:strCache>
            </c:strRef>
          </c:tx>
          <c:spPr>
            <a:ln w="12700">
              <a:solidFill>
                <a:srgbClr val="FF9A3D"/>
              </a:solidFill>
            </a:ln>
          </c:spPr>
          <c:marker>
            <c:symbol val="none"/>
          </c:marker>
          <c:xVal>
            <c:numRef>
              <c:f>Sheet1!$A$808:$A$1208</c:f>
              <c:numCache>
                <c:formatCode>General</c:formatCode>
                <c:ptCount val="40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11.0</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12.0</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13.0</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14.0</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15.0</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16.0</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17.0</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18.0</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19.0</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20.0</c:v>
                </c:pt>
              </c:numCache>
            </c:numRef>
          </c:xVal>
          <c:yVal>
            <c:numRef>
              <c:f>Sheet1!$B$808:$B$1208</c:f>
              <c:numCache>
                <c:formatCode>General</c:formatCode>
                <c:ptCount val="401"/>
                <c:pt idx="0">
                  <c:v>0.0</c:v>
                </c:pt>
                <c:pt idx="1">
                  <c:v>0.0</c:v>
                </c:pt>
                <c:pt idx="2">
                  <c:v>0.0</c:v>
                </c:pt>
                <c:pt idx="3">
                  <c:v>0.0</c:v>
                </c:pt>
                <c:pt idx="4">
                  <c:v>0.0</c:v>
                </c:pt>
                <c:pt idx="5">
                  <c:v>0.0</c:v>
                </c:pt>
                <c:pt idx="6">
                  <c:v>0.0</c:v>
                </c:pt>
                <c:pt idx="7">
                  <c:v>0.0</c:v>
                </c:pt>
                <c:pt idx="8">
                  <c:v>0.0</c:v>
                </c:pt>
                <c:pt idx="9">
                  <c:v>0.0</c:v>
                </c:pt>
                <c:pt idx="10">
                  <c:v>0.0</c:v>
                </c:pt>
                <c:pt idx="11">
                  <c:v>-2.220446049250313e-14</c:v>
                </c:pt>
                <c:pt idx="12">
                  <c:v>0.0</c:v>
                </c:pt>
                <c:pt idx="13">
                  <c:v>0.0</c:v>
                </c:pt>
                <c:pt idx="14">
                  <c:v>0.0</c:v>
                </c:pt>
                <c:pt idx="15">
                  <c:v>0.0</c:v>
                </c:pt>
                <c:pt idx="16">
                  <c:v>-2.220446049250313e-14</c:v>
                </c:pt>
                <c:pt idx="17">
                  <c:v>0.0</c:v>
                </c:pt>
                <c:pt idx="18">
                  <c:v>-2.220446049250313e-14</c:v>
                </c:pt>
                <c:pt idx="19">
                  <c:v>0.0</c:v>
                </c:pt>
                <c:pt idx="20">
                  <c:v>0.0</c:v>
                </c:pt>
                <c:pt idx="21">
                  <c:v>0.0</c:v>
                </c:pt>
                <c:pt idx="22">
                  <c:v>0.0</c:v>
                </c:pt>
                <c:pt idx="23">
                  <c:v>1.1102230246251565e-14</c:v>
                </c:pt>
                <c:pt idx="24">
                  <c:v>2.220446049250313e-14</c:v>
                </c:pt>
                <c:pt idx="25">
                  <c:v>3.3306690738754696e-14</c:v>
                </c:pt>
                <c:pt idx="26">
                  <c:v>1.3322676295501878e-13</c:v>
                </c:pt>
                <c:pt idx="27">
                  <c:v>2.6645352591003757e-13</c:v>
                </c:pt>
                <c:pt idx="28">
                  <c:v>5.88418203051333e-13</c:v>
                </c:pt>
                <c:pt idx="29">
                  <c:v>1.2545520178264269e-12</c:v>
                </c:pt>
                <c:pt idx="30">
                  <c:v>2.55351295663786e-12</c:v>
                </c:pt>
                <c:pt idx="31">
                  <c:v>5.129230373768223e-12</c:v>
                </c:pt>
                <c:pt idx="32">
                  <c:v>1.0025313912365164e-11</c:v>
                </c:pt>
                <c:pt idx="33">
                  <c:v>1.907363156306019e-11</c:v>
                </c:pt>
                <c:pt idx="34">
                  <c:v>3.539391002504999e-11</c:v>
                </c:pt>
                <c:pt idx="35">
                  <c:v>6.45483666517066e-11</c:v>
                </c:pt>
                <c:pt idx="36">
                  <c:v>1.1541878564003127e-10</c:v>
                </c:pt>
                <c:pt idx="37">
                  <c:v>2.0241586184965854e-10</c:v>
                </c:pt>
                <c:pt idx="38">
                  <c:v>3.4904301671190296e-10</c:v>
                </c:pt>
                <c:pt idx="39">
                  <c:v>5.918265877369322e-10</c:v>
                </c:pt>
                <c:pt idx="40">
                  <c:v>9.878764473114643e-10</c:v>
                </c:pt>
                <c:pt idx="41">
                  <c:v>1.6243117961778353e-09</c:v>
                </c:pt>
                <c:pt idx="42">
                  <c:v>2.6330271296615138e-09</c:v>
                </c:pt>
                <c:pt idx="43">
                  <c:v>4.210609638732876e-09</c:v>
                </c:pt>
                <c:pt idx="44">
                  <c:v>6.6466054882141634e-09</c:v>
                </c:pt>
                <c:pt idx="45">
                  <c:v>1.0362810609620965e-08</c:v>
                </c:pt>
                <c:pt idx="46">
                  <c:v>1.596685006433063e-08</c:v>
                </c:pt>
                <c:pt idx="47">
                  <c:v>2.432427592680142e-08</c:v>
                </c:pt>
                <c:pt idx="48">
                  <c:v>3.665653336426544e-08</c:v>
                </c:pt>
                <c:pt idx="49">
                  <c:v>5.466976871204565e-08</c:v>
                </c:pt>
                <c:pt idx="50">
                  <c:v>8.072538193459877e-08</c:v>
                </c:pt>
                <c:pt idx="51">
                  <c:v>1.1806238209288722e-07</c:v>
                </c:pt>
                <c:pt idx="52">
                  <c:v>1.7108608973970263e-07</c:v>
                </c:pt>
                <c:pt idx="53">
                  <c:v>2.457375414266494e-07</c:v>
                </c:pt>
                <c:pt idx="54">
                  <c:v>3.499666001438584e-07</c:v>
                </c:pt>
                <c:pt idx="55">
                  <c:v>4.943291553871632e-07</c:v>
                </c:pt>
                <c:pt idx="56">
                  <c:v>6.927383111587915e-07</c:v>
                </c:pt>
                <c:pt idx="57">
                  <c:v>9.634021913562663e-07</c:v>
                </c:pt>
                <c:pt idx="58">
                  <c:v>1.3299865764260232e-06</c:v>
                </c:pt>
                <c:pt idx="59">
                  <c:v>1.8230468801228028e-06</c:v>
                </c:pt>
                <c:pt idx="60">
                  <c:v>2.481781780083736e-06</c:v>
                </c:pt>
                <c:pt idx="61">
                  <c:v>3.356167488366424e-06</c:v>
                </c:pt>
                <c:pt idx="62">
                  <c:v>4.5095395306837815e-06</c:v>
                </c:pt>
                <c:pt idx="63">
                  <c:v>6.021699239244782e-06</c:v>
                </c:pt>
                <c:pt idx="64">
                  <c:v>7.992629547093344e-06</c:v>
                </c:pt>
                <c:pt idx="65">
                  <c:v>1.0546919071430239e-05</c:v>
                </c:pt>
                <c:pt idx="66">
                  <c:v>1.3838997758863769e-05</c:v>
                </c:pt>
                <c:pt idx="67">
                  <c:v>1.805930579523718e-05</c:v>
                </c:pt>
                <c:pt idx="68">
                  <c:v>2.3441524765743793e-05</c:v>
                </c:pt>
                <c:pt idx="69">
                  <c:v>3.0271011686178184e-05</c:v>
                </c:pt>
                <c:pt idx="70">
                  <c:v>3.889459530004302e-05</c:v>
                </c:pt>
                <c:pt idx="71">
                  <c:v>4.973189648982412e-05</c:v>
                </c:pt>
                <c:pt idx="72">
                  <c:v>6.32883580542476e-05</c:v>
                </c:pt>
                <c:pt idx="73">
                  <c:v>8.01701723451842e-05</c:v>
                </c:pt>
                <c:pt idx="74">
                  <c:v>0.00010110131254403854</c:v>
                </c:pt>
                <c:pt idx="75">
                  <c:v>0.00012694288609171878</c:v>
                </c:pt>
                <c:pt idx="76">
                  <c:v>0.0001587150306514573</c:v>
                </c:pt>
                <c:pt idx="77">
                  <c:v>0.00019762159850778005</c:v>
                </c:pt>
                <c:pt idx="78">
                  <c:v>0.0002450778650686658</c:v>
                </c:pt>
                <c:pt idx="79">
                  <c:v>0.0003027415217071727</c:v>
                </c:pt>
                <c:pt idx="80">
                  <c:v>0.00037254720772761374</c:v>
                </c:pt>
                <c:pt idx="81">
                  <c:v>0.00045674484251412295</c:v>
                </c:pt>
                <c:pt idx="82">
                  <c:v>0.0005579420298218452</c:v>
                </c:pt>
                <c:pt idx="83">
                  <c:v>0.0006791507839110089</c:v>
                </c:pt>
                <c:pt idx="84">
                  <c:v>0.0008238388552350706</c:v>
                </c:pt>
                <c:pt idx="85">
                  <c:v>0.0009959858953689782</c:v>
                </c:pt>
                <c:pt idx="86">
                  <c:v>0.0012001447203591198</c:v>
                </c:pt>
                <c:pt idx="87">
                  <c:v>0.0014415078980700713</c:v>
                </c:pt>
                <c:pt idx="88">
                  <c:v>0.0017259798886115618</c:v>
                </c:pt>
                <c:pt idx="89">
                  <c:v>0.002060254932889638</c:v>
                </c:pt>
                <c:pt idx="90">
                  <c:v>0.002451900876310198</c:v>
                </c:pt>
                <c:pt idx="91">
                  <c:v>0.0029094490828440733</c:v>
                </c:pt>
                <c:pt idx="92">
                  <c:v>0.0034424905653196447</c:v>
                </c:pt>
                <c:pt idx="93">
                  <c:v>0.004061778433606111</c:v>
                </c:pt>
                <c:pt idx="94">
                  <c:v>0.004779336720217575</c:v>
                </c:pt>
                <c:pt idx="95">
                  <c:v>0.005608575606030897</c:v>
                </c:pt>
                <c:pt idx="96">
                  <c:v>0.006564413031284744</c:v>
                </c:pt>
                <c:pt idx="97">
                  <c:v>0.007663402627766658</c:v>
                </c:pt>
                <c:pt idx="98">
                  <c:v>0.008923867866761359</c:v>
                </c:pt>
                <c:pt idx="99">
                  <c:v>0.010366042258114216</c:v>
                </c:pt>
                <c:pt idx="100">
                  <c:v>0.01201221539470776</c:v>
                </c:pt>
                <c:pt idx="101">
                  <c:v>0.01388688457680809</c:v>
                </c:pt>
                <c:pt idx="102">
                  <c:v>0.01601691169130781</c:v>
                </c:pt>
                <c:pt idx="103">
                  <c:v>0.018431684980058094</c:v>
                </c:pt>
                <c:pt idx="104">
                  <c:v>0.021163285245151542</c:v>
                </c:pt>
                <c:pt idx="105">
                  <c:v>0.02424665601927778</c:v>
                </c:pt>
                <c:pt idx="106">
                  <c:v>0.027719777130452705</c:v>
                </c:pt>
                <c:pt idx="107">
                  <c:v>0.031623841068062486</c:v>
                </c:pt>
                <c:pt idx="108">
                  <c:v>0.036003431479147974</c:v>
                </c:pt>
                <c:pt idx="109">
                  <c:v>0.04090670307194122</c:v>
                </c:pt>
                <c:pt idx="110">
                  <c:v>0.04638556216406409</c:v>
                </c:pt>
                <c:pt idx="111">
                  <c:v>0.0524958470427106</c:v>
                </c:pt>
                <c:pt idx="112">
                  <c:v>0.059297507268851746</c:v>
                </c:pt>
                <c:pt idx="113">
                  <c:v>0.06685478101694509</c:v>
                </c:pt>
                <c:pt idx="114">
                  <c:v>0.07523636948191248</c:v>
                </c:pt>
                <c:pt idx="115">
                  <c:v>0.08451560737743335</c:v>
                </c:pt>
                <c:pt idx="116">
                  <c:v>0.09477062849115869</c:v>
                </c:pt>
                <c:pt idx="117">
                  <c:v>0.10608452525641132</c:v>
                </c:pt>
                <c:pt idx="118">
                  <c:v>0.11854550126630947</c:v>
                </c:pt>
                <c:pt idx="119">
                  <c:v>0.13224701565294206</c:v>
                </c:pt>
                <c:pt idx="120">
                  <c:v>0.1472879182314979</c:v>
                </c:pt>
                <c:pt idx="121">
                  <c:v>0.16377257432348413</c:v>
                </c:pt>
                <c:pt idx="122">
                  <c:v>0.18181097816284408</c:v>
                </c:pt>
                <c:pt idx="123">
                  <c:v>0.20151885380907952</c:v>
                </c:pt>
                <c:pt idx="124">
                  <c:v>0.22301774250795825</c:v>
                </c:pt>
                <c:pt idx="125">
                  <c:v>0.2464350754544653</c:v>
                </c:pt>
                <c:pt idx="126">
                  <c:v>0.2719042309676567</c:v>
                </c:pt>
                <c:pt idx="127">
                  <c:v>0.29956457509583423</c:v>
                </c:pt>
                <c:pt idx="128">
                  <c:v>0.3295614847407591</c:v>
                </c:pt>
                <c:pt idx="129">
                  <c:v>0.36204635242609307</c:v>
                </c:pt>
                <c:pt idx="130">
                  <c:v>0.3971765719003373</c:v>
                </c:pt>
                <c:pt idx="131">
                  <c:v>0.435115503821093</c:v>
                </c:pt>
                <c:pt idx="132">
                  <c:v>0.47603242085230146</c:v>
                </c:pt>
                <c:pt idx="133">
                  <c:v>0.5201024315567904</c:v>
                </c:pt>
                <c:pt idx="134">
                  <c:v>0.567506382581584</c:v>
                </c:pt>
                <c:pt idx="135">
                  <c:v>0.6184307386750465</c:v>
                </c:pt>
                <c:pt idx="136">
                  <c:v>0.6730674402077752</c:v>
                </c:pt>
                <c:pt idx="137">
                  <c:v>0.7316137379317356</c:v>
                </c:pt>
                <c:pt idx="138">
                  <c:v>0.7942720048181973</c:v>
                </c:pt>
                <c:pt idx="139">
                  <c:v>0.8612495249238683</c:v>
                </c:pt>
                <c:pt idx="140">
                  <c:v>0.932758259311417</c:v>
                </c:pt>
                <c:pt idx="141">
                  <c:v>1.0090145891815783</c:v>
                </c:pt>
                <c:pt idx="142">
                  <c:v>1.0902390364586845</c:v>
                </c:pt>
                <c:pt idx="143">
                  <c:v>1.1766559621770312</c:v>
                </c:pt>
                <c:pt idx="144">
                  <c:v>1.2684932431308193</c:v>
                </c:pt>
                <c:pt idx="145">
                  <c:v>1.3659819273371343</c:v>
                </c:pt>
                <c:pt idx="146">
                  <c:v>1.469355868977129</c:v>
                </c:pt>
                <c:pt idx="147">
                  <c:v>1.5788513435706975</c:v>
                </c:pt>
                <c:pt idx="148">
                  <c:v>1.6947066442395964</c:v>
                </c:pt>
                <c:pt idx="149">
                  <c:v>1.8171616600118567</c:v>
                </c:pt>
                <c:pt idx="150">
                  <c:v>1.9464574372022314</c:v>
                </c:pt>
                <c:pt idx="151">
                  <c:v>2.082835724994936</c:v>
                </c:pt>
                <c:pt idx="152">
                  <c:v>2.226538506437925</c:v>
                </c:pt>
                <c:pt idx="153">
                  <c:v>2.3778075161249412</c:v>
                </c:pt>
                <c:pt idx="154">
                  <c:v>2.536883745931684</c:v>
                </c:pt>
                <c:pt idx="155">
                  <c:v>2.7040069402070377</c:v>
                </c:pt>
                <c:pt idx="156">
                  <c:v>2.879415081907999</c:v>
                </c:pt>
                <c:pt idx="157">
                  <c:v>3.0633438712118433</c:v>
                </c:pt>
                <c:pt idx="158">
                  <c:v>3.256026198161155</c:v>
                </c:pt>
                <c:pt idx="159">
                  <c:v>3.457691610981384</c:v>
                </c:pt>
                <c:pt idx="160">
                  <c:v>3.668565781694033</c:v>
                </c:pt>
                <c:pt idx="161">
                  <c:v>3.888869970699016</c:v>
                </c:pt>
                <c:pt idx="162">
                  <c:v>4.118820492024156</c:v>
                </c:pt>
                <c:pt idx="163">
                  <c:v>4.3586281809188225</c:v>
                </c:pt>
                <c:pt idx="164">
                  <c:v>4.608497865501593</c:v>
                </c:pt>
                <c:pt idx="165">
                  <c:v>4.868627844140483</c:v>
                </c:pt>
                <c:pt idx="166">
                  <c:v>5.13920937025778</c:v>
                </c:pt>
                <c:pt idx="167">
                  <c:v>5.4204261462067365</c:v>
                </c:pt>
                <c:pt idx="168">
                  <c:v>5.7124538278527375</c:v>
                </c:pt>
                <c:pt idx="169">
                  <c:v>6.015459541459112</c:v>
                </c:pt>
                <c:pt idx="170">
                  <c:v>6.32960141443204</c:v>
                </c:pt>
                <c:pt idx="171">
                  <c:v>6.655028121430917</c:v>
                </c:pt>
                <c:pt idx="172">
                  <c:v>6.991878447305055</c:v>
                </c:pt>
                <c:pt idx="173">
                  <c:v>7.340280868248961</c:v>
                </c:pt>
                <c:pt idx="174">
                  <c:v>7.700353152515104</c:v>
                </c:pt>
                <c:pt idx="175">
                  <c:v>8.072201981940651</c:v>
                </c:pt>
                <c:pt idx="176">
                  <c:v>8.455922595484655</c:v>
                </c:pt>
                <c:pt idx="177">
                  <c:v>8.851598455882648</c:v>
                </c:pt>
                <c:pt idx="178">
                  <c:v>9.259300940449332</c:v>
                </c:pt>
                <c:pt idx="179">
                  <c:v>9.679089056975975</c:v>
                </c:pt>
                <c:pt idx="180">
                  <c:v>10.111009185571074</c:v>
                </c:pt>
                <c:pt idx="181">
                  <c:v>10.555094847215262</c:v>
                </c:pt>
                <c:pt idx="182">
                  <c:v>11.01136649970007</c:v>
                </c:pt>
                <c:pt idx="183">
                  <c:v>11.479831361520276</c:v>
                </c:pt>
                <c:pt idx="184">
                  <c:v>11.960483264211408</c:v>
                </c:pt>
                <c:pt idx="185">
                  <c:v>12.453302533502097</c:v>
                </c:pt>
                <c:pt idx="186">
                  <c:v>12.958255899581117</c:v>
                </c:pt>
                <c:pt idx="187">
                  <c:v>13.475296436658969</c:v>
                </c:pt>
                <c:pt idx="188">
                  <c:v>14.00436353191451</c:v>
                </c:pt>
                <c:pt idx="189">
                  <c:v>14.545382883837144</c:v>
                </c:pt>
                <c:pt idx="190">
                  <c:v>15.09826652984626</c:v>
                </c:pt>
                <c:pt idx="191">
                  <c:v>15.662912903020509</c:v>
                </c:pt>
                <c:pt idx="192">
                  <c:v>16.239206917639525</c:v>
                </c:pt>
                <c:pt idx="193">
                  <c:v>16.827020083172663</c:v>
                </c:pt>
                <c:pt idx="194">
                  <c:v>17.426210646267272</c:v>
                </c:pt>
                <c:pt idx="195">
                  <c:v>18.03662376019588</c:v>
                </c:pt>
                <c:pt idx="196">
                  <c:v>18.65809168113706</c:v>
                </c:pt>
                <c:pt idx="197">
                  <c:v>19.290433990621313</c:v>
                </c:pt>
                <c:pt idx="198">
                  <c:v>19.933457843348844</c:v>
                </c:pt>
                <c:pt idx="199">
                  <c:v>20.58695823957678</c:v>
                </c:pt>
                <c:pt idx="200">
                  <c:v>21.25071832115748</c:v>
                </c:pt>
                <c:pt idx="201">
                  <c:v>21.92450969029033</c:v>
                </c:pt>
                <c:pt idx="202">
                  <c:v>22.608092749970798</c:v>
                </c:pt>
                <c:pt idx="203">
                  <c:v>23.30121706507182</c:v>
                </c:pt>
                <c:pt idx="204">
                  <c:v>24.00362174296662</c:v>
                </c:pt>
                <c:pt idx="205">
                  <c:v>24.715035832530962</c:v>
                </c:pt>
                <c:pt idx="206">
                  <c:v>25.4351787403567</c:v>
                </c:pt>
                <c:pt idx="207">
                  <c:v>26.16376066295054</c:v>
                </c:pt>
                <c:pt idx="208">
                  <c:v>26.900483033686086</c:v>
                </c:pt>
                <c:pt idx="209">
                  <c:v>27.645038983248106</c:v>
                </c:pt>
                <c:pt idx="210">
                  <c:v>28.39711381227733</c:v>
                </c:pt>
                <c:pt idx="211">
                  <c:v>29.156385474943935</c:v>
                </c:pt>
                <c:pt idx="212">
                  <c:v>29.9225250721316</c:v>
                </c:pt>
                <c:pt idx="213">
                  <c:v>30.695197352942728</c:v>
                </c:pt>
                <c:pt idx="214">
                  <c:v>31.474061223215777</c:v>
                </c:pt>
                <c:pt idx="215">
                  <c:v>32.258770259758364</c:v>
                </c:pt>
                <c:pt idx="216">
                  <c:v>33.04897322901762</c:v>
                </c:pt>
                <c:pt idx="217">
                  <c:v>33.84431460890261</c:v>
                </c:pt>
                <c:pt idx="218">
                  <c:v>34.64443511250674</c:v>
                </c:pt>
                <c:pt idx="219">
                  <c:v>35.44897221250256</c:v>
                </c:pt>
                <c:pt idx="220">
                  <c:v>36.25756066497896</c:v>
                </c:pt>
                <c:pt idx="221">
                  <c:v>37.06983303156222</c:v>
                </c:pt>
                <c:pt idx="222">
                  <c:v>37.88542019863562</c:v>
                </c:pt>
                <c:pt idx="223">
                  <c:v>38.70395189257165</c:v>
                </c:pt>
                <c:pt idx="224">
                  <c:v>39.52505718986361</c:v>
                </c:pt>
                <c:pt idx="225">
                  <c:v>40.348365021127385</c:v>
                </c:pt>
                <c:pt idx="226">
                  <c:v>41.17350466796195</c:v>
                </c:pt>
                <c:pt idx="227">
                  <c:v>42.00010625170908</c:v>
                </c:pt>
                <c:pt idx="228">
                  <c:v>42.82780121318549</c:v>
                </c:pt>
                <c:pt idx="229">
                  <c:v>43.656222782530165</c:v>
                </c:pt>
                <c:pt idx="230">
                  <c:v>44.48500643832314</c:v>
                </c:pt>
                <c:pt idx="231">
                  <c:v>45.31379035521586</c:v>
                </c:pt>
                <c:pt idx="232">
                  <c:v>46.14221583933231</c:v>
                </c:pt>
                <c:pt idx="233">
                  <c:v>46.96992775077348</c:v>
                </c:pt>
                <c:pt idx="234">
                  <c:v>47.796574912590096</c:v>
                </c:pt>
                <c:pt idx="235">
                  <c:v>48.62181050565499</c:v>
                </c:pt>
                <c:pt idx="236">
                  <c:v>49.44529244890877</c:v>
                </c:pt>
                <c:pt idx="237">
                  <c:v>50.26668376449719</c:v>
                </c:pt>
                <c:pt idx="238">
                  <c:v>51.08565292739149</c:v>
                </c:pt>
                <c:pt idx="239">
                  <c:v>51.901874199111184</c:v>
                </c:pt>
                <c:pt idx="240">
                  <c:v>52.715027945225536</c:v>
                </c:pt>
                <c:pt idx="241">
                  <c:v>53.52480093636947</c:v>
                </c:pt>
                <c:pt idx="242">
                  <c:v>54.33088663254229</c:v>
                </c:pt>
                <c:pt idx="243">
                  <c:v>55.13298545051866</c:v>
                </c:pt>
                <c:pt idx="244">
                  <c:v>55.930805014238146</c:v>
                </c:pt>
                <c:pt idx="245">
                  <c:v>56.724060388092056</c:v>
                </c:pt>
                <c:pt idx="246">
                  <c:v>57.512474293070156</c:v>
                </c:pt>
                <c:pt idx="247">
                  <c:v>58.295777305761334</c:v>
                </c:pt>
                <c:pt idx="248">
                  <c:v>59.07370804026619</c:v>
                </c:pt>
                <c:pt idx="249">
                  <c:v>59.84601331309385</c:v>
                </c:pt>
                <c:pt idx="250">
                  <c:v>60.61244829117175</c:v>
                </c:pt>
                <c:pt idx="251">
                  <c:v>61.37277662312852</c:v>
                </c:pt>
                <c:pt idx="252">
                  <c:v>62.12677055404136</c:v>
                </c:pt>
                <c:pt idx="253">
                  <c:v>62.874211023874494</c:v>
                </c:pt>
                <c:pt idx="254">
                  <c:v>63.61488774987147</c:v>
                </c:pt>
                <c:pt idx="255">
                  <c:v>64.34859929318775</c:v>
                </c:pt>
                <c:pt idx="256">
                  <c:v>65.07515311007582</c:v>
                </c:pt>
                <c:pt idx="257">
                  <c:v>65.79436558797157</c:v>
                </c:pt>
                <c:pt idx="258">
                  <c:v>66.50606206684127</c:v>
                </c:pt>
                <c:pt idx="259">
                  <c:v>67.21007684618112</c:v>
                </c:pt>
                <c:pt idx="260">
                  <c:v>67.90625317807364</c:v>
                </c:pt>
                <c:pt idx="261">
                  <c:v>68.5944432467334</c:v>
                </c:pt>
                <c:pt idx="262">
                  <c:v>69.27450813497731</c:v>
                </c:pt>
                <c:pt idx="263">
                  <c:v>69.94631777808401</c:v>
                </c:pt>
                <c:pt idx="264">
                  <c:v>70.60975090551077</c:v>
                </c:pt>
                <c:pt idx="265">
                  <c:v>71.26469497094672</c:v>
                </c:pt>
                <c:pt idx="266">
                  <c:v>71.91104607120276</c:v>
                </c:pt>
                <c:pt idx="267">
                  <c:v>72.54870885442774</c:v>
                </c:pt>
                <c:pt idx="268">
                  <c:v>73.17759641816363</c:v>
                </c:pt>
                <c:pt idx="269">
                  <c:v>73.79763019775089</c:v>
                </c:pt>
                <c:pt idx="270">
                  <c:v>74.408739845591</c:v>
                </c:pt>
                <c:pt idx="271">
                  <c:v>75.01086310179247</c:v>
                </c:pt>
                <c:pt idx="272">
                  <c:v>75.60394565670691</c:v>
                </c:pt>
                <c:pt idx="273">
                  <c:v>76.18794100587832</c:v>
                </c:pt>
                <c:pt idx="274">
                  <c:v>76.76281029791394</c:v>
                </c:pt>
                <c:pt idx="275">
                  <c:v>77.32852217578674</c:v>
                </c:pt>
                <c:pt idx="276">
                  <c:v>77.88505261208084</c:v>
                </c:pt>
                <c:pt idx="277">
                  <c:v>78.4323847386696</c:v>
                </c:pt>
                <c:pt idx="278">
                  <c:v>78.97050867132911</c:v>
                </c:pt>
                <c:pt idx="279">
                  <c:v>79.49942132976568</c:v>
                </c:pt>
                <c:pt idx="280">
                  <c:v>80.01912625353758</c:v>
                </c:pt>
                <c:pt idx="281">
                  <c:v>80.52963341433906</c:v>
                </c:pt>
                <c:pt idx="282">
                  <c:v>81.03095902510037</c:v>
                </c:pt>
                <c:pt idx="283">
                  <c:v>81.52312534635526</c:v>
                </c:pt>
                <c:pt idx="284">
                  <c:v>82.0061604903076</c:v>
                </c:pt>
                <c:pt idx="285">
                  <c:v>82.48009822302103</c:v>
                </c:pt>
                <c:pt idx="286">
                  <c:v>82.94497776514456</c:v>
                </c:pt>
                <c:pt idx="287">
                  <c:v>83.40084359156728</c:v>
                </c:pt>
                <c:pt idx="288">
                  <c:v>83.84774523039096</c:v>
                </c:pt>
                <c:pt idx="289">
                  <c:v>84.28573706158751</c:v>
                </c:pt>
                <c:pt idx="290">
                  <c:v>84.71487811569915</c:v>
                </c:pt>
                <c:pt idx="291">
                  <c:v>85.13523187292333</c:v>
                </c:pt>
                <c:pt idx="292">
                  <c:v>85.54686606290893</c:v>
                </c:pt>
                <c:pt idx="293">
                  <c:v>85.94985246557751</c:v>
                </c:pt>
                <c:pt idx="294">
                  <c:v>86.3442667132671</c:v>
                </c:pt>
                <c:pt idx="295">
                  <c:v>86.73018809448149</c:v>
                </c:pt>
                <c:pt idx="296">
                  <c:v>87.10769935951554</c:v>
                </c:pt>
                <c:pt idx="297">
                  <c:v>87.47688652820595</c:v>
                </c:pt>
                <c:pt idx="298">
                  <c:v>87.83783870005126</c:v>
                </c:pt>
                <c:pt idx="299">
                  <c:v>88.19064786692219</c:v>
                </c:pt>
                <c:pt idx="300">
                  <c:v>88.53540872857259</c:v>
                </c:pt>
                <c:pt idx="301">
                  <c:v>88.87221851114779</c:v>
                </c:pt>
                <c:pt idx="302">
                  <c:v>89.20117678887001</c:v>
                </c:pt>
                <c:pt idx="303">
                  <c:v>89.52238530907029</c:v>
                </c:pt>
                <c:pt idx="304">
                  <c:v>89.83594782071813</c:v>
                </c:pt>
                <c:pt idx="305">
                  <c:v>90.14196990659184</c:v>
                </c:pt>
                <c:pt idx="306">
                  <c:v>90.4405588192162</c:v>
                </c:pt>
                <c:pt idx="307">
                  <c:v>90.73182332068045</c:v>
                </c:pt>
                <c:pt idx="308">
                  <c:v>91.01587352644086</c:v>
                </c:pt>
                <c:pt idx="309">
                  <c:v>91.29282075319819</c:v>
                </c:pt>
                <c:pt idx="310">
                  <c:v>91.56277737092506</c:v>
                </c:pt>
                <c:pt idx="311">
                  <c:v>91.82585665911505</c:v>
                </c:pt>
                <c:pt idx="312">
                  <c:v>92.08217266730541</c:v>
                </c:pt>
                <c:pt idx="313">
                  <c:v>92.33184007992125</c:v>
                </c:pt>
                <c:pt idx="314">
                  <c:v>92.57497408547619</c:v>
                </c:pt>
                <c:pt idx="315">
                  <c:v>92.81169025015294</c:v>
                </c:pt>
                <c:pt idx="316">
                  <c:v>93.04210439578384</c:v>
                </c:pt>
                <c:pt idx="317">
                  <c:v>93.26633248223438</c:v>
                </c:pt>
                <c:pt idx="318">
                  <c:v>93.48449049419085</c:v>
                </c:pt>
                <c:pt idx="319">
                  <c:v>93.69669433234232</c:v>
                </c:pt>
                <c:pt idx="320">
                  <c:v>93.90305970893854</c:v>
                </c:pt>
                <c:pt idx="321">
                  <c:v>94.10370204770096</c:v>
                </c:pt>
                <c:pt idx="322">
                  <c:v>94.29873638805368</c:v>
                </c:pt>
                <c:pt idx="323">
                  <c:v>94.48827729363745</c:v>
                </c:pt>
                <c:pt idx="324">
                  <c:v>94.67243876506286</c:v>
                </c:pt>
                <c:pt idx="325">
                  <c:v>94.85133415685183</c:v>
                </c:pt>
                <c:pt idx="326">
                  <c:v>95.0250760985133</c:v>
                </c:pt>
                <c:pt idx="327">
                  <c:v>95.19377641969263</c:v>
                </c:pt>
                <c:pt idx="328">
                  <c:v>95.35754607933056</c:v>
                </c:pt>
                <c:pt idx="329">
                  <c:v>95.51649509876187</c:v>
                </c:pt>
                <c:pt idx="330">
                  <c:v>95.67073249868227</c:v>
                </c:pt>
                <c:pt idx="331">
                  <c:v>95.82036623990642</c:v>
                </c:pt>
                <c:pt idx="332">
                  <c:v>95.96550316783818</c:v>
                </c:pt>
                <c:pt idx="333">
                  <c:v>96.10624896057027</c:v>
                </c:pt>
                <c:pt idx="334">
                  <c:v>96.24270808052925</c:v>
                </c:pt>
                <c:pt idx="335">
                  <c:v>96.37498372957806</c:v>
                </c:pt>
                <c:pt idx="336">
                  <c:v>96.50317780748753</c:v>
                </c:pt>
                <c:pt idx="337">
                  <c:v>96.62739087368625</c:v>
                </c:pt>
                <c:pt idx="338">
                  <c:v>96.74772211219607</c:v>
                </c:pt>
                <c:pt idx="339">
                  <c:v>96.8642692996608</c:v>
                </c:pt>
                <c:pt idx="340">
                  <c:v>96.97712877637358</c:v>
                </c:pt>
                <c:pt idx="341">
                  <c:v>97.08639542020818</c:v>
                </c:pt>
                <c:pt idx="342">
                  <c:v>97.19216262335885</c:v>
                </c:pt>
                <c:pt idx="343">
                  <c:v>97.294522271794</c:v>
                </c:pt>
                <c:pt idx="344">
                  <c:v>97.39356472732689</c:v>
                </c:pt>
                <c:pt idx="345">
                  <c:v>97.48937881220984</c:v>
                </c:pt>
                <c:pt idx="346">
                  <c:v>97.58205179615548</c:v>
                </c:pt>
                <c:pt idx="347">
                  <c:v>97.67166938569152</c:v>
                </c:pt>
                <c:pt idx="348">
                  <c:v>97.75831571575499</c:v>
                </c:pt>
                <c:pt idx="349">
                  <c:v>97.84207334343343</c:v>
                </c:pt>
                <c:pt idx="350">
                  <c:v>97.92302324376078</c:v>
                </c:pt>
                <c:pt idx="351">
                  <c:v>98.00124480747718</c:v>
                </c:pt>
                <c:pt idx="352">
                  <c:v>98.07681584066353</c:v>
                </c:pt>
                <c:pt idx="353">
                  <c:v>98.14981256616228</c:v>
                </c:pt>
                <c:pt idx="354">
                  <c:v>98.22030962669757</c:v>
                </c:pt>
                <c:pt idx="355">
                  <c:v>98.28838008960984</c:v>
                </c:pt>
                <c:pt idx="356">
                  <c:v>98.35409545312088</c:v>
                </c:pt>
                <c:pt idx="357">
                  <c:v>98.41752565404761</c:v>
                </c:pt>
                <c:pt idx="358">
                  <c:v>98.4787390768844</c:v>
                </c:pt>
                <c:pt idx="359">
                  <c:v>98.53780256417548</c:v>
                </c:pt>
                <c:pt idx="360">
                  <c:v>98.59478142810087</c:v>
                </c:pt>
                <c:pt idx="361">
                  <c:v>98.64973946320141</c:v>
                </c:pt>
                <c:pt idx="362">
                  <c:v>98.70273896017021</c:v>
                </c:pt>
                <c:pt idx="363">
                  <c:v>98.75384072063987</c:v>
                </c:pt>
                <c:pt idx="364">
                  <c:v>98.80310407289667</c:v>
                </c:pt>
                <c:pt idx="365">
                  <c:v>98.85058688845562</c:v>
                </c:pt>
                <c:pt idx="366">
                  <c:v>98.89634559943123</c:v>
                </c:pt>
                <c:pt idx="367">
                  <c:v>98.94043521664186</c:v>
                </c:pt>
                <c:pt idx="368">
                  <c:v>98.98290934838744</c:v>
                </c:pt>
                <c:pt idx="369">
                  <c:v>99.02382021984161</c:v>
                </c:pt>
                <c:pt idx="370">
                  <c:v>99.06321869300258</c:v>
                </c:pt>
                <c:pt idx="371">
                  <c:v>99.10115428714816</c:v>
                </c:pt>
                <c:pt idx="372">
                  <c:v>99.13767519974283</c:v>
                </c:pt>
                <c:pt idx="373">
                  <c:v>99.17282832774674</c:v>
                </c:pt>
                <c:pt idx="374">
                  <c:v>99.20665928927839</c:v>
                </c:pt>
                <c:pt idx="375">
                  <c:v>99.23921244558491</c:v>
                </c:pt>
                <c:pt idx="376">
                  <c:v>99.27053092327559</c:v>
                </c:pt>
                <c:pt idx="377">
                  <c:v>99.30065663677647</c:v>
                </c:pt>
                <c:pt idx="378">
                  <c:v>99.32963031096557</c:v>
                </c:pt>
                <c:pt idx="379">
                  <c:v>99.35749150395019</c:v>
                </c:pt>
                <c:pt idx="380">
                  <c:v>99.38427862994965</c:v>
                </c:pt>
                <c:pt idx="381">
                  <c:v>99.41002898224858</c:v>
                </c:pt>
                <c:pt idx="382">
                  <c:v>99.43477875618743</c:v>
                </c:pt>
                <c:pt idx="383">
                  <c:v>99.4585630721592</c:v>
                </c:pt>
                <c:pt idx="384">
                  <c:v>99.48141599858212</c:v>
                </c:pt>
                <c:pt idx="385">
                  <c:v>99.50337057482072</c:v>
                </c:pt>
                <c:pt idx="386">
                  <c:v>99.52445883402831</c:v>
                </c:pt>
                <c:pt idx="387">
                  <c:v>99.54471182588618</c:v>
                </c:pt>
                <c:pt idx="388">
                  <c:v>99.56415963921617</c:v>
                </c:pt>
                <c:pt idx="389">
                  <c:v>99.58283142444431</c:v>
                </c:pt>
                <c:pt idx="390">
                  <c:v>99.60075541589532</c:v>
                </c:pt>
                <c:pt idx="391">
                  <c:v>99.61795895389854</c:v>
                </c:pt>
                <c:pt idx="392">
                  <c:v>99.63446850668744</c:v>
                </c:pt>
                <c:pt idx="393">
                  <c:v>99.6503096920766</c:v>
                </c:pt>
                <c:pt idx="394">
                  <c:v>99.66550729890002</c:v>
                </c:pt>
                <c:pt idx="395">
                  <c:v>99.68008530819748</c:v>
                </c:pt>
                <c:pt idx="396">
                  <c:v>99.69406691413535</c:v>
                </c:pt>
                <c:pt idx="397">
                  <c:v>99.7074745446504</c:v>
                </c:pt>
                <c:pt idx="398">
                  <c:v>99.7203298818056</c:v>
                </c:pt>
                <c:pt idx="399">
                  <c:v>99.73265388184814</c:v>
                </c:pt>
                <c:pt idx="400">
                  <c:v>99.74446679496101</c:v>
                </c:pt>
              </c:numCache>
            </c:numRef>
          </c:yVal>
          <c:smooth val="0"/>
        </c:ser>
        <c:ser>
          <c:idx val="3"/>
          <c:order val="3"/>
          <c:tx>
            <c:strRef>
              <c:f>Sheet1!$B$1210</c:f>
              <c:strCache>
                <c:ptCount val="1"/>
                <c:pt idx="0">
                  <c:v>2 per maand, alle zes</c:v>
                </c:pt>
              </c:strCache>
            </c:strRef>
          </c:tx>
          <c:spPr>
            <a:ln w="19050">
              <a:solidFill>
                <a:srgbClr val="FF9A3D"/>
              </a:solidFill>
              <a:prstDash val="dash"/>
            </a:ln>
          </c:spPr>
          <c:marker>
            <c:symbol val="none"/>
          </c:marker>
          <c:xVal>
            <c:numRef>
              <c:f>Sheet1!$A$1211:$A$1611</c:f>
              <c:numCache>
                <c:formatCode>General</c:formatCode>
                <c:ptCount val="40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pt idx="201">
                  <c:v>10.05</c:v>
                </c:pt>
                <c:pt idx="202">
                  <c:v>10.1</c:v>
                </c:pt>
                <c:pt idx="203">
                  <c:v>10.15</c:v>
                </c:pt>
                <c:pt idx="204">
                  <c:v>10.2</c:v>
                </c:pt>
                <c:pt idx="205">
                  <c:v>10.25</c:v>
                </c:pt>
                <c:pt idx="206">
                  <c:v>10.3</c:v>
                </c:pt>
                <c:pt idx="207">
                  <c:v>10.35</c:v>
                </c:pt>
                <c:pt idx="208">
                  <c:v>10.4</c:v>
                </c:pt>
                <c:pt idx="209">
                  <c:v>10.45</c:v>
                </c:pt>
                <c:pt idx="210">
                  <c:v>10.5</c:v>
                </c:pt>
                <c:pt idx="211">
                  <c:v>10.55</c:v>
                </c:pt>
                <c:pt idx="212">
                  <c:v>10.6</c:v>
                </c:pt>
                <c:pt idx="213">
                  <c:v>10.65</c:v>
                </c:pt>
                <c:pt idx="214">
                  <c:v>10.7</c:v>
                </c:pt>
                <c:pt idx="215">
                  <c:v>10.75</c:v>
                </c:pt>
                <c:pt idx="216">
                  <c:v>10.8</c:v>
                </c:pt>
                <c:pt idx="217">
                  <c:v>10.85</c:v>
                </c:pt>
                <c:pt idx="218">
                  <c:v>10.9</c:v>
                </c:pt>
                <c:pt idx="219">
                  <c:v>10.95</c:v>
                </c:pt>
                <c:pt idx="220">
                  <c:v>11.0</c:v>
                </c:pt>
                <c:pt idx="221">
                  <c:v>11.05</c:v>
                </c:pt>
                <c:pt idx="222">
                  <c:v>11.1</c:v>
                </c:pt>
                <c:pt idx="223">
                  <c:v>11.15</c:v>
                </c:pt>
                <c:pt idx="224">
                  <c:v>11.2</c:v>
                </c:pt>
                <c:pt idx="225">
                  <c:v>11.25</c:v>
                </c:pt>
                <c:pt idx="226">
                  <c:v>11.3</c:v>
                </c:pt>
                <c:pt idx="227">
                  <c:v>11.35</c:v>
                </c:pt>
                <c:pt idx="228">
                  <c:v>11.4</c:v>
                </c:pt>
                <c:pt idx="229">
                  <c:v>11.45</c:v>
                </c:pt>
                <c:pt idx="230">
                  <c:v>11.5</c:v>
                </c:pt>
                <c:pt idx="231">
                  <c:v>11.55</c:v>
                </c:pt>
                <c:pt idx="232">
                  <c:v>11.6</c:v>
                </c:pt>
                <c:pt idx="233">
                  <c:v>11.65</c:v>
                </c:pt>
                <c:pt idx="234">
                  <c:v>11.7</c:v>
                </c:pt>
                <c:pt idx="235">
                  <c:v>11.75</c:v>
                </c:pt>
                <c:pt idx="236">
                  <c:v>11.8</c:v>
                </c:pt>
                <c:pt idx="237">
                  <c:v>11.85</c:v>
                </c:pt>
                <c:pt idx="238">
                  <c:v>11.9</c:v>
                </c:pt>
                <c:pt idx="239">
                  <c:v>11.95</c:v>
                </c:pt>
                <c:pt idx="240">
                  <c:v>12.0</c:v>
                </c:pt>
                <c:pt idx="241">
                  <c:v>12.05</c:v>
                </c:pt>
                <c:pt idx="242">
                  <c:v>12.1</c:v>
                </c:pt>
                <c:pt idx="243">
                  <c:v>12.15</c:v>
                </c:pt>
                <c:pt idx="244">
                  <c:v>12.2</c:v>
                </c:pt>
                <c:pt idx="245">
                  <c:v>12.25</c:v>
                </c:pt>
                <c:pt idx="246">
                  <c:v>12.3</c:v>
                </c:pt>
                <c:pt idx="247">
                  <c:v>12.35</c:v>
                </c:pt>
                <c:pt idx="248">
                  <c:v>12.4</c:v>
                </c:pt>
                <c:pt idx="249">
                  <c:v>12.45</c:v>
                </c:pt>
                <c:pt idx="250">
                  <c:v>12.5</c:v>
                </c:pt>
                <c:pt idx="251">
                  <c:v>12.55</c:v>
                </c:pt>
                <c:pt idx="252">
                  <c:v>12.6</c:v>
                </c:pt>
                <c:pt idx="253">
                  <c:v>12.65</c:v>
                </c:pt>
                <c:pt idx="254">
                  <c:v>12.7</c:v>
                </c:pt>
                <c:pt idx="255">
                  <c:v>12.75</c:v>
                </c:pt>
                <c:pt idx="256">
                  <c:v>12.8</c:v>
                </c:pt>
                <c:pt idx="257">
                  <c:v>12.85</c:v>
                </c:pt>
                <c:pt idx="258">
                  <c:v>12.9</c:v>
                </c:pt>
                <c:pt idx="259">
                  <c:v>12.95</c:v>
                </c:pt>
                <c:pt idx="260">
                  <c:v>13.0</c:v>
                </c:pt>
                <c:pt idx="261">
                  <c:v>13.05</c:v>
                </c:pt>
                <c:pt idx="262">
                  <c:v>13.1</c:v>
                </c:pt>
                <c:pt idx="263">
                  <c:v>13.15</c:v>
                </c:pt>
                <c:pt idx="264">
                  <c:v>13.2</c:v>
                </c:pt>
                <c:pt idx="265">
                  <c:v>13.25</c:v>
                </c:pt>
                <c:pt idx="266">
                  <c:v>13.3</c:v>
                </c:pt>
                <c:pt idx="267">
                  <c:v>13.35</c:v>
                </c:pt>
                <c:pt idx="268">
                  <c:v>13.4</c:v>
                </c:pt>
                <c:pt idx="269">
                  <c:v>13.45</c:v>
                </c:pt>
                <c:pt idx="270">
                  <c:v>13.5</c:v>
                </c:pt>
                <c:pt idx="271">
                  <c:v>13.55</c:v>
                </c:pt>
                <c:pt idx="272">
                  <c:v>13.6</c:v>
                </c:pt>
                <c:pt idx="273">
                  <c:v>13.65</c:v>
                </c:pt>
                <c:pt idx="274">
                  <c:v>13.7</c:v>
                </c:pt>
                <c:pt idx="275">
                  <c:v>13.75</c:v>
                </c:pt>
                <c:pt idx="276">
                  <c:v>13.8</c:v>
                </c:pt>
                <c:pt idx="277">
                  <c:v>13.85</c:v>
                </c:pt>
                <c:pt idx="278">
                  <c:v>13.9</c:v>
                </c:pt>
                <c:pt idx="279">
                  <c:v>13.95</c:v>
                </c:pt>
                <c:pt idx="280">
                  <c:v>14.0</c:v>
                </c:pt>
                <c:pt idx="281">
                  <c:v>14.05</c:v>
                </c:pt>
                <c:pt idx="282">
                  <c:v>14.1</c:v>
                </c:pt>
                <c:pt idx="283">
                  <c:v>14.15</c:v>
                </c:pt>
                <c:pt idx="284">
                  <c:v>14.2</c:v>
                </c:pt>
                <c:pt idx="285">
                  <c:v>14.25</c:v>
                </c:pt>
                <c:pt idx="286">
                  <c:v>14.3</c:v>
                </c:pt>
                <c:pt idx="287">
                  <c:v>14.35</c:v>
                </c:pt>
                <c:pt idx="288">
                  <c:v>14.4</c:v>
                </c:pt>
                <c:pt idx="289">
                  <c:v>14.45</c:v>
                </c:pt>
                <c:pt idx="290">
                  <c:v>14.5</c:v>
                </c:pt>
                <c:pt idx="291">
                  <c:v>14.55</c:v>
                </c:pt>
                <c:pt idx="292">
                  <c:v>14.6</c:v>
                </c:pt>
                <c:pt idx="293">
                  <c:v>14.65</c:v>
                </c:pt>
                <c:pt idx="294">
                  <c:v>14.7</c:v>
                </c:pt>
                <c:pt idx="295">
                  <c:v>14.75</c:v>
                </c:pt>
                <c:pt idx="296">
                  <c:v>14.8</c:v>
                </c:pt>
                <c:pt idx="297">
                  <c:v>14.85</c:v>
                </c:pt>
                <c:pt idx="298">
                  <c:v>14.9</c:v>
                </c:pt>
                <c:pt idx="299">
                  <c:v>14.95</c:v>
                </c:pt>
                <c:pt idx="300">
                  <c:v>15.0</c:v>
                </c:pt>
                <c:pt idx="301">
                  <c:v>15.05</c:v>
                </c:pt>
                <c:pt idx="302">
                  <c:v>15.1</c:v>
                </c:pt>
                <c:pt idx="303">
                  <c:v>15.15</c:v>
                </c:pt>
                <c:pt idx="304">
                  <c:v>15.2</c:v>
                </c:pt>
                <c:pt idx="305">
                  <c:v>15.25</c:v>
                </c:pt>
                <c:pt idx="306">
                  <c:v>15.3</c:v>
                </c:pt>
                <c:pt idx="307">
                  <c:v>15.35</c:v>
                </c:pt>
                <c:pt idx="308">
                  <c:v>15.4</c:v>
                </c:pt>
                <c:pt idx="309">
                  <c:v>15.45</c:v>
                </c:pt>
                <c:pt idx="310">
                  <c:v>15.5</c:v>
                </c:pt>
                <c:pt idx="311">
                  <c:v>15.55</c:v>
                </c:pt>
                <c:pt idx="312">
                  <c:v>15.6</c:v>
                </c:pt>
                <c:pt idx="313">
                  <c:v>15.65</c:v>
                </c:pt>
                <c:pt idx="314">
                  <c:v>15.7</c:v>
                </c:pt>
                <c:pt idx="315">
                  <c:v>15.75</c:v>
                </c:pt>
                <c:pt idx="316">
                  <c:v>15.8</c:v>
                </c:pt>
                <c:pt idx="317">
                  <c:v>15.85</c:v>
                </c:pt>
                <c:pt idx="318">
                  <c:v>15.9</c:v>
                </c:pt>
                <c:pt idx="319">
                  <c:v>15.95</c:v>
                </c:pt>
                <c:pt idx="320">
                  <c:v>16.0</c:v>
                </c:pt>
                <c:pt idx="321">
                  <c:v>16.05</c:v>
                </c:pt>
                <c:pt idx="322">
                  <c:v>16.1</c:v>
                </c:pt>
                <c:pt idx="323">
                  <c:v>16.15</c:v>
                </c:pt>
                <c:pt idx="324">
                  <c:v>16.2</c:v>
                </c:pt>
                <c:pt idx="325">
                  <c:v>16.25</c:v>
                </c:pt>
                <c:pt idx="326">
                  <c:v>16.3</c:v>
                </c:pt>
                <c:pt idx="327">
                  <c:v>16.35</c:v>
                </c:pt>
                <c:pt idx="328">
                  <c:v>16.4</c:v>
                </c:pt>
                <c:pt idx="329">
                  <c:v>16.45</c:v>
                </c:pt>
                <c:pt idx="330">
                  <c:v>16.5</c:v>
                </c:pt>
                <c:pt idx="331">
                  <c:v>16.55</c:v>
                </c:pt>
                <c:pt idx="332">
                  <c:v>16.6</c:v>
                </c:pt>
                <c:pt idx="333">
                  <c:v>16.65</c:v>
                </c:pt>
                <c:pt idx="334">
                  <c:v>16.7</c:v>
                </c:pt>
                <c:pt idx="335">
                  <c:v>16.75</c:v>
                </c:pt>
                <c:pt idx="336">
                  <c:v>16.8</c:v>
                </c:pt>
                <c:pt idx="337">
                  <c:v>16.85</c:v>
                </c:pt>
                <c:pt idx="338">
                  <c:v>16.9</c:v>
                </c:pt>
                <c:pt idx="339">
                  <c:v>16.95</c:v>
                </c:pt>
                <c:pt idx="340">
                  <c:v>17.0</c:v>
                </c:pt>
                <c:pt idx="341">
                  <c:v>17.05</c:v>
                </c:pt>
                <c:pt idx="342">
                  <c:v>17.1</c:v>
                </c:pt>
                <c:pt idx="343">
                  <c:v>17.15</c:v>
                </c:pt>
                <c:pt idx="344">
                  <c:v>17.2</c:v>
                </c:pt>
                <c:pt idx="345">
                  <c:v>17.25</c:v>
                </c:pt>
                <c:pt idx="346">
                  <c:v>17.3</c:v>
                </c:pt>
                <c:pt idx="347">
                  <c:v>17.35</c:v>
                </c:pt>
                <c:pt idx="348">
                  <c:v>17.4</c:v>
                </c:pt>
                <c:pt idx="349">
                  <c:v>17.45</c:v>
                </c:pt>
                <c:pt idx="350">
                  <c:v>17.5</c:v>
                </c:pt>
                <c:pt idx="351">
                  <c:v>17.55</c:v>
                </c:pt>
                <c:pt idx="352">
                  <c:v>17.6</c:v>
                </c:pt>
                <c:pt idx="353">
                  <c:v>17.65</c:v>
                </c:pt>
                <c:pt idx="354">
                  <c:v>17.7</c:v>
                </c:pt>
                <c:pt idx="355">
                  <c:v>17.75</c:v>
                </c:pt>
                <c:pt idx="356">
                  <c:v>17.8</c:v>
                </c:pt>
                <c:pt idx="357">
                  <c:v>17.85</c:v>
                </c:pt>
                <c:pt idx="358">
                  <c:v>17.9</c:v>
                </c:pt>
                <c:pt idx="359">
                  <c:v>17.95</c:v>
                </c:pt>
                <c:pt idx="360">
                  <c:v>18.0</c:v>
                </c:pt>
                <c:pt idx="361">
                  <c:v>18.05</c:v>
                </c:pt>
                <c:pt idx="362">
                  <c:v>18.1</c:v>
                </c:pt>
                <c:pt idx="363">
                  <c:v>18.15</c:v>
                </c:pt>
                <c:pt idx="364">
                  <c:v>18.2</c:v>
                </c:pt>
                <c:pt idx="365">
                  <c:v>18.25</c:v>
                </c:pt>
                <c:pt idx="366">
                  <c:v>18.3</c:v>
                </c:pt>
                <c:pt idx="367">
                  <c:v>18.35</c:v>
                </c:pt>
                <c:pt idx="368">
                  <c:v>18.4</c:v>
                </c:pt>
                <c:pt idx="369">
                  <c:v>18.45</c:v>
                </c:pt>
                <c:pt idx="370">
                  <c:v>18.5</c:v>
                </c:pt>
                <c:pt idx="371">
                  <c:v>18.55</c:v>
                </c:pt>
                <c:pt idx="372">
                  <c:v>18.6</c:v>
                </c:pt>
                <c:pt idx="373">
                  <c:v>18.65</c:v>
                </c:pt>
                <c:pt idx="374">
                  <c:v>18.7</c:v>
                </c:pt>
                <c:pt idx="375">
                  <c:v>18.75</c:v>
                </c:pt>
                <c:pt idx="376">
                  <c:v>18.8</c:v>
                </c:pt>
                <c:pt idx="377">
                  <c:v>18.85</c:v>
                </c:pt>
                <c:pt idx="378">
                  <c:v>18.9</c:v>
                </c:pt>
                <c:pt idx="379">
                  <c:v>18.95</c:v>
                </c:pt>
                <c:pt idx="380">
                  <c:v>19.0</c:v>
                </c:pt>
                <c:pt idx="381">
                  <c:v>19.05</c:v>
                </c:pt>
                <c:pt idx="382">
                  <c:v>19.1</c:v>
                </c:pt>
                <c:pt idx="383">
                  <c:v>19.15</c:v>
                </c:pt>
                <c:pt idx="384">
                  <c:v>19.2</c:v>
                </c:pt>
                <c:pt idx="385">
                  <c:v>19.25</c:v>
                </c:pt>
                <c:pt idx="386">
                  <c:v>19.3</c:v>
                </c:pt>
                <c:pt idx="387">
                  <c:v>19.35</c:v>
                </c:pt>
                <c:pt idx="388">
                  <c:v>19.4</c:v>
                </c:pt>
                <c:pt idx="389">
                  <c:v>19.45</c:v>
                </c:pt>
                <c:pt idx="390">
                  <c:v>19.5</c:v>
                </c:pt>
                <c:pt idx="391">
                  <c:v>19.55</c:v>
                </c:pt>
                <c:pt idx="392">
                  <c:v>19.6</c:v>
                </c:pt>
                <c:pt idx="393">
                  <c:v>19.65</c:v>
                </c:pt>
                <c:pt idx="394">
                  <c:v>19.7</c:v>
                </c:pt>
                <c:pt idx="395">
                  <c:v>19.75</c:v>
                </c:pt>
                <c:pt idx="396">
                  <c:v>19.8</c:v>
                </c:pt>
                <c:pt idx="397">
                  <c:v>19.85</c:v>
                </c:pt>
                <c:pt idx="398">
                  <c:v>19.9</c:v>
                </c:pt>
                <c:pt idx="399">
                  <c:v>19.95</c:v>
                </c:pt>
                <c:pt idx="400">
                  <c:v>20.0</c:v>
                </c:pt>
              </c:numCache>
            </c:numRef>
          </c:xVal>
          <c:yVal>
            <c:numRef>
              <c:f>Sheet1!$B$1211:$B$1611</c:f>
              <c:numCache>
                <c:formatCode>General</c:formatCode>
                <c:ptCount val="401"/>
                <c:pt idx="0">
                  <c:v>0.0</c:v>
                </c:pt>
                <c:pt idx="1">
                  <c:v>0.0</c:v>
                </c:pt>
                <c:pt idx="2">
                  <c:v>0.0</c:v>
                </c:pt>
                <c:pt idx="3">
                  <c:v>0.0</c:v>
                </c:pt>
                <c:pt idx="4">
                  <c:v>0.0</c:v>
                </c:pt>
                <c:pt idx="5">
                  <c:v>0.0</c:v>
                </c:pt>
                <c:pt idx="6">
                  <c:v>0.0</c:v>
                </c:pt>
                <c:pt idx="7">
                  <c:v>0.0</c:v>
                </c:pt>
                <c:pt idx="8">
                  <c:v>0.0</c:v>
                </c:pt>
                <c:pt idx="9">
                  <c:v>0.0</c:v>
                </c:pt>
                <c:pt idx="10">
                  <c:v>0.0</c:v>
                </c:pt>
                <c:pt idx="11">
                  <c:v>1.1985091468012028e-92</c:v>
                </c:pt>
                <c:pt idx="12">
                  <c:v>0.0</c:v>
                </c:pt>
                <c:pt idx="13">
                  <c:v>0.0</c:v>
                </c:pt>
                <c:pt idx="14">
                  <c:v>0.0</c:v>
                </c:pt>
                <c:pt idx="15">
                  <c:v>0.0</c:v>
                </c:pt>
                <c:pt idx="16">
                  <c:v>1.1985091468012028e-92</c:v>
                </c:pt>
                <c:pt idx="17">
                  <c:v>0.0</c:v>
                </c:pt>
                <c:pt idx="18">
                  <c:v>1.1985091468012028e-92</c:v>
                </c:pt>
                <c:pt idx="19">
                  <c:v>0.0</c:v>
                </c:pt>
                <c:pt idx="20">
                  <c:v>0.0</c:v>
                </c:pt>
                <c:pt idx="21">
                  <c:v>0.0</c:v>
                </c:pt>
                <c:pt idx="22">
                  <c:v>0.0</c:v>
                </c:pt>
                <c:pt idx="23">
                  <c:v>1.8726705418768793e-94</c:v>
                </c:pt>
                <c:pt idx="24">
                  <c:v>1.1985091468012028e-92</c:v>
                </c:pt>
                <c:pt idx="25">
                  <c:v>1.365176825028245e-91</c:v>
                </c:pt>
                <c:pt idx="26">
                  <c:v>5.591764275315692e-88</c:v>
                </c:pt>
                <c:pt idx="27">
                  <c:v>3.578729136202043e-86</c:v>
                </c:pt>
                <c:pt idx="28">
                  <c:v>4.150654616579927e-84</c:v>
                </c:pt>
                <c:pt idx="29">
                  <c:v>3.8988097167198147e-82</c:v>
                </c:pt>
                <c:pt idx="30">
                  <c:v>2.7722244847085556e-80</c:v>
                </c:pt>
                <c:pt idx="31">
                  <c:v>1.8210137799342793e-78</c:v>
                </c:pt>
                <c:pt idx="32">
                  <c:v>1.0152847915796762e-76</c:v>
                </c:pt>
                <c:pt idx="33">
                  <c:v>4.815044839867513e-75</c:v>
                </c:pt>
                <c:pt idx="34">
                  <c:v>1.965944508912397e-73</c:v>
                </c:pt>
                <c:pt idx="35">
                  <c:v>7.232884723842325e-72</c:v>
                </c:pt>
                <c:pt idx="36">
                  <c:v>2.3640627710216433e-70</c:v>
                </c:pt>
                <c:pt idx="37">
                  <c:v>6.878080459711346e-69</c:v>
                </c:pt>
                <c:pt idx="38">
                  <c:v>1.8083134857131762e-67</c:v>
                </c:pt>
                <c:pt idx="39">
                  <c:v>4.29701462021823e-66</c:v>
                </c:pt>
                <c:pt idx="40">
                  <c:v>9.294280757725854e-65</c:v>
                </c:pt>
                <c:pt idx="41">
                  <c:v>1.836607653124796e-63</c:v>
                </c:pt>
                <c:pt idx="42">
                  <c:v>3.332207239245199e-62</c:v>
                </c:pt>
                <c:pt idx="43">
                  <c:v>5.572754121847788e-61</c:v>
                </c:pt>
                <c:pt idx="44">
                  <c:v>8.621829116689193e-60</c:v>
                </c:pt>
                <c:pt idx="45">
                  <c:v>1.238412612670638e-58</c:v>
                </c:pt>
                <c:pt idx="46">
                  <c:v>1.6569731939279047e-57</c:v>
                </c:pt>
                <c:pt idx="47">
                  <c:v>2.071283414300022e-56</c:v>
                </c:pt>
                <c:pt idx="48">
                  <c:v>2.4260980350628877e-55</c:v>
                </c:pt>
                <c:pt idx="49">
                  <c:v>2.6698288353100773e-54</c:v>
                </c:pt>
                <c:pt idx="50">
                  <c:v>2.7673280857322066e-53</c:v>
                </c:pt>
                <c:pt idx="51">
                  <c:v>2.708128385222427e-52</c:v>
                </c:pt>
                <c:pt idx="52">
                  <c:v>2.5077728853448524e-51</c:v>
                </c:pt>
                <c:pt idx="53">
                  <c:v>2.2020595196985367e-50</c:v>
                </c:pt>
                <c:pt idx="54">
                  <c:v>1.8372133422299007e-49</c:v>
                </c:pt>
                <c:pt idx="55">
                  <c:v>1.4591413155032454e-48</c:v>
                </c:pt>
                <c:pt idx="56">
                  <c:v>1.1051347597904817e-47</c:v>
                </c:pt>
                <c:pt idx="57">
                  <c:v>7.995502786322957e-47</c:v>
                </c:pt>
                <c:pt idx="58">
                  <c:v>5.53456568259737e-46</c:v>
                </c:pt>
                <c:pt idx="59">
                  <c:v>3.6710222838035397e-45</c:v>
                </c:pt>
                <c:pt idx="60">
                  <c:v>2.336584822027721e-44</c:v>
                </c:pt>
                <c:pt idx="61">
                  <c:v>1.4290971596927036e-43</c:v>
                </c:pt>
                <c:pt idx="62">
                  <c:v>8.409945663884266e-43</c:v>
                </c:pt>
                <c:pt idx="63">
                  <c:v>4.7677597424334e-42</c:v>
                </c:pt>
                <c:pt idx="64">
                  <c:v>2.6069824353828554e-41</c:v>
                </c:pt>
                <c:pt idx="65">
                  <c:v>1.3764285796822632e-40</c:v>
                </c:pt>
                <c:pt idx="66">
                  <c:v>7.024700844058088e-40</c:v>
                </c:pt>
                <c:pt idx="67">
                  <c:v>3.469016067552974e-39</c:v>
                </c:pt>
                <c:pt idx="68">
                  <c:v>1.6592626716764856e-38</c:v>
                </c:pt>
                <c:pt idx="69">
                  <c:v>7.694167107892326e-38</c:v>
                </c:pt>
                <c:pt idx="70">
                  <c:v>3.462067586916468e-37</c:v>
                </c:pt>
                <c:pt idx="71">
                  <c:v>1.5128996636285256e-36</c:v>
                </c:pt>
                <c:pt idx="72">
                  <c:v>6.426033291976316e-36</c:v>
                </c:pt>
                <c:pt idx="73">
                  <c:v>2.6550756716752545e-35</c:v>
                </c:pt>
                <c:pt idx="74">
                  <c:v>1.0679250236651868e-34</c:v>
                </c:pt>
                <c:pt idx="75">
                  <c:v>4.184563933530145e-34</c:v>
                </c:pt>
                <c:pt idx="76">
                  <c:v>1.5984841852236738e-33</c:v>
                </c:pt>
                <c:pt idx="77">
                  <c:v>5.956709863093895e-33</c:v>
                </c:pt>
                <c:pt idx="78">
                  <c:v>2.166828457275942e-32</c:v>
                </c:pt>
                <c:pt idx="79">
                  <c:v>7.69895776657549e-32</c:v>
                </c:pt>
                <c:pt idx="80">
                  <c:v>2.673547324976239e-31</c:v>
                </c:pt>
                <c:pt idx="81">
                  <c:v>9.07908145389307e-31</c:v>
                </c:pt>
                <c:pt idx="82">
                  <c:v>3.0167162903644964e-30</c:v>
                </c:pt>
                <c:pt idx="83">
                  <c:v>9.812896944382331e-30</c:v>
                </c:pt>
                <c:pt idx="84">
                  <c:v>3.126465394749341e-29</c:v>
                </c:pt>
                <c:pt idx="85">
                  <c:v>9.761557780536533e-29</c:v>
                </c:pt>
                <c:pt idx="86">
                  <c:v>2.988145314930418e-28</c:v>
                </c:pt>
                <c:pt idx="87">
                  <c:v>8.972266348638936e-28</c:v>
                </c:pt>
                <c:pt idx="88">
                  <c:v>2.6437134811471988e-27</c:v>
                </c:pt>
                <c:pt idx="89">
                  <c:v>7.647610765741103e-27</c:v>
                </c:pt>
                <c:pt idx="90">
                  <c:v>2.1727884956637314e-26</c:v>
                </c:pt>
                <c:pt idx="91">
                  <c:v>6.065471508494247e-26</c:v>
                </c:pt>
                <c:pt idx="92">
                  <c:v>1.6643189268958518e-25</c:v>
                </c:pt>
                <c:pt idx="93">
                  <c:v>4.4905276620661625e-25</c:v>
                </c:pt>
                <c:pt idx="94">
                  <c:v>1.1918065682413987e-24</c:v>
                </c:pt>
                <c:pt idx="95">
                  <c:v>3.112543805628426e-24</c:v>
                </c:pt>
                <c:pt idx="96">
                  <c:v>8.001573403834077e-24</c:v>
                </c:pt>
                <c:pt idx="97">
                  <c:v>2.0254888714890518e-23</c:v>
                </c:pt>
                <c:pt idx="98">
                  <c:v>5.050318723054513e-23</c:v>
                </c:pt>
                <c:pt idx="99">
                  <c:v>1.2407316181160317e-22</c:v>
                </c:pt>
                <c:pt idx="100">
                  <c:v>3.0042679617207547e-22</c:v>
                </c:pt>
                <c:pt idx="101">
                  <c:v>7.17181296232957e-22</c:v>
                </c:pt>
                <c:pt idx="102">
                  <c:v>1.6883896712949263e-21</c:v>
                </c:pt>
                <c:pt idx="103">
                  <c:v>3.920940347857801e-21</c:v>
                </c:pt>
                <c:pt idx="104">
                  <c:v>8.984595166885794e-21</c:v>
                </c:pt>
                <c:pt idx="105">
                  <c:v>2.0319410665707816e-20</c:v>
                </c:pt>
                <c:pt idx="106">
                  <c:v>4.536682697582384e-20</c:v>
                </c:pt>
                <c:pt idx="107">
                  <c:v>1.0002019852920533e-19</c:v>
                </c:pt>
                <c:pt idx="108">
                  <c:v>2.1780275632337306e-19</c:v>
                </c:pt>
                <c:pt idx="109">
                  <c:v>4.685617902397457e-19</c:v>
                </c:pt>
                <c:pt idx="110">
                  <c:v>9.960862521398185e-19</c:v>
                </c:pt>
                <c:pt idx="111">
                  <c:v>2.0929058207139843e-18</c:v>
                </c:pt>
                <c:pt idx="112">
                  <c:v>4.347290098653168e-18</c:v>
                </c:pt>
                <c:pt idx="113">
                  <c:v>8.928835537698481e-18</c:v>
                </c:pt>
                <c:pt idx="114">
                  <c:v>1.8137063915573395e-17</c:v>
                </c:pt>
                <c:pt idx="115">
                  <c:v>3.644361931536831e-17</c:v>
                </c:pt>
                <c:pt idx="116">
                  <c:v>7.245069643381944e-17</c:v>
                </c:pt>
                <c:pt idx="117">
                  <c:v>1.4253194879403707e-16</c:v>
                </c:pt>
                <c:pt idx="118">
                  <c:v>2.775303378771487e-16</c:v>
                </c:pt>
                <c:pt idx="119">
                  <c:v>5.349525745439893e-16</c:v>
                </c:pt>
                <c:pt idx="120">
                  <c:v>1.0209459328037421e-15</c:v>
                </c:pt>
                <c:pt idx="121">
                  <c:v>1.929510091212135e-15</c:v>
                </c:pt>
                <c:pt idx="122">
                  <c:v>3.6117744399887815e-15</c:v>
                </c:pt>
                <c:pt idx="123">
                  <c:v>6.69721291408263e-15</c:v>
                </c:pt>
                <c:pt idx="124">
                  <c:v>1.2303721501876299e-14</c:v>
                </c:pt>
                <c:pt idx="125">
                  <c:v>2.239830374535479e-14</c:v>
                </c:pt>
                <c:pt idx="126">
                  <c:v>4.041064598266316e-14</c:v>
                </c:pt>
                <c:pt idx="127">
                  <c:v>7.226744961403614e-14</c:v>
                </c:pt>
                <c:pt idx="128">
                  <c:v>1.2812052353631298e-13</c:v>
                </c:pt>
                <c:pt idx="129">
                  <c:v>2.252086453326025e-13</c:v>
                </c:pt>
                <c:pt idx="130">
                  <c:v>3.925561070402452e-13</c:v>
                </c:pt>
                <c:pt idx="131">
                  <c:v>6.786210843872063e-13</c:v>
                </c:pt>
                <c:pt idx="132">
                  <c:v>1.1636414739258241e-12</c:v>
                </c:pt>
                <c:pt idx="133">
                  <c:v>1.9793988108826954e-12</c:v>
                </c:pt>
                <c:pt idx="134">
                  <c:v>3.3406001914638485e-12</c:v>
                </c:pt>
                <c:pt idx="135">
                  <c:v>5.594308429468905e-12</c:v>
                </c:pt>
                <c:pt idx="136">
                  <c:v>9.297185405986568e-12</c:v>
                </c:pt>
                <c:pt idx="137">
                  <c:v>1.5335258859075054e-11</c:v>
                </c:pt>
                <c:pt idx="138">
                  <c:v>2.510819732847126e-11</c:v>
                </c:pt>
                <c:pt idx="139">
                  <c:v>4.0810693244124966e-11</c:v>
                </c:pt>
                <c:pt idx="140">
                  <c:v>6.585892229542468e-11</c:v>
                </c:pt>
                <c:pt idx="141">
                  <c:v>1.0553212277919751e-10</c:v>
                </c:pt>
                <c:pt idx="142">
                  <c:v>1.679308044356696e-10</c:v>
                </c:pt>
                <c:pt idx="143">
                  <c:v>2.6539760443196816e-10</c:v>
                </c:pt>
                <c:pt idx="144">
                  <c:v>4.1660928922319294e-10</c:v>
                </c:pt>
                <c:pt idx="145">
                  <c:v>6.496354570360806e-10</c:v>
                </c:pt>
                <c:pt idx="146">
                  <c:v>1.0063798947291304e-09</c:v>
                </c:pt>
                <c:pt idx="147">
                  <c:v>1.548985834487732e-09</c:v>
                </c:pt>
                <c:pt idx="148">
                  <c:v>2.369011630591396e-09</c:v>
                </c:pt>
                <c:pt idx="149">
                  <c:v>3.6004881906052876e-09</c:v>
                </c:pt>
                <c:pt idx="150">
                  <c:v>5.438378986519277e-09</c:v>
                </c:pt>
                <c:pt idx="151">
                  <c:v>8.16450968909753e-09</c:v>
                </c:pt>
                <c:pt idx="152">
                  <c:v>1.2183757940722693e-08</c:v>
                </c:pt>
                <c:pt idx="153">
                  <c:v>1.8074245336253395e-08</c:v>
                </c:pt>
                <c:pt idx="154">
                  <c:v>2.665651653917194e-08</c:v>
                </c:pt>
                <c:pt idx="155">
                  <c:v>3.908830259790567e-08</c:v>
                </c:pt>
                <c:pt idx="156">
                  <c:v>5.6993542319343134e-08</c:v>
                </c:pt>
                <c:pt idx="157">
                  <c:v>8.263699265117718e-08</c:v>
                </c:pt>
                <c:pt idx="158">
                  <c:v>1.1915913543992057e-07</c:v>
                </c:pt>
                <c:pt idx="159">
                  <c:v>1.7089034931797245e-07</c:v>
                </c:pt>
                <c:pt idx="160">
                  <c:v>2.4376865738104044e-07</c:v>
                </c:pt>
                <c:pt idx="161">
                  <c:v>3.4589201251637244e-07</c:v>
                </c:pt>
                <c:pt idx="162">
                  <c:v>4.882443077343681e-07</c:v>
                </c:pt>
                <c:pt idx="163">
                  <c:v>6.856444025474625e-07</c:v>
                </c:pt>
                <c:pt idx="164">
                  <c:v>9.579797833004718e-07</c:v>
                </c:pt>
                <c:pt idx="165">
                  <c:v>1.3318014124956953e-06</c:v>
                </c:pt>
                <c:pt idx="166">
                  <c:v>1.8423742991005288e-06</c:v>
                </c:pt>
                <c:pt idx="167">
                  <c:v>2.5362998088858363e-06</c:v>
                </c:pt>
                <c:pt idx="168">
                  <c:v>3.474851239210593e-06</c:v>
                </c:pt>
                <c:pt idx="169">
                  <c:v>4.738194246857412e-06</c:v>
                </c:pt>
                <c:pt idx="170">
                  <c:v>6.430698905614217e-06</c:v>
                </c:pt>
                <c:pt idx="171">
                  <c:v>8.687591061275583e-06</c:v>
                </c:pt>
                <c:pt idx="172">
                  <c:v>1.1683237824711693e-05</c:v>
                </c:pt>
                <c:pt idx="173">
                  <c:v>1.564141606038366e-05</c:v>
                </c:pt>
                <c:pt idx="174">
                  <c:v>2.0847974112363244e-05</c:v>
                </c:pt>
                <c:pt idx="175">
                  <c:v>2.7666366223878997e-05</c:v>
                </c:pt>
                <c:pt idx="176">
                  <c:v>3.655661652149866e-05</c:v>
                </c:pt>
                <c:pt idx="177">
                  <c:v>4.809835530054157e-05</c:v>
                </c:pt>
                <c:pt idx="178">
                  <c:v>6.301866475852114e-05</c:v>
                </c:pt>
                <c:pt idx="179">
                  <c:v>8.222557417955009e-05</c:v>
                </c:pt>
                <c:pt idx="180">
                  <c:v>0.00010684815554451748</c:v>
                </c:pt>
                <c:pt idx="181">
                  <c:v>0.00013828428903110487</c:v>
                </c:pt>
                <c:pt idx="182">
                  <c:v>0.00017825729296499487</c:v>
                </c:pt>
                <c:pt idx="183">
                  <c:v>0.00022888274323590326</c:v>
                </c:pt>
                <c:pt idx="184">
                  <c:v>0.0002927469413706434</c:v>
                </c:pt>
                <c:pt idx="185">
                  <c:v>0.0003729986263172815</c:v>
                </c:pt>
                <c:pt idx="186">
                  <c:v>0.0004734556600834903</c:v>
                </c:pt>
                <c:pt idx="187">
                  <c:v>0.0005987285487745428</c:v>
                </c:pt>
                <c:pt idx="188">
                  <c:v>0.0007543627849537323</c:v>
                </c:pt>
                <c:pt idx="189">
                  <c:v>0.0009470021108279276</c:v>
                </c:pt>
                <c:pt idx="190">
                  <c:v>0.001184574900343876</c:v>
                </c:pt>
                <c:pt idx="191">
                  <c:v>0.0014765059373544737</c:v>
                </c:pt>
                <c:pt idx="192">
                  <c:v>0.0018339559216775001</c:v>
                </c:pt>
                <c:pt idx="193">
                  <c:v>0.0022700910600678857</c:v>
                </c:pt>
                <c:pt idx="194">
                  <c:v>0.002800385089604775</c:v>
                </c:pt>
                <c:pt idx="195">
                  <c:v>0.0034429560314678084</c:v>
                </c:pt>
                <c:pt idx="196">
                  <c:v>0.004218939878349105</c:v>
                </c:pt>
                <c:pt idx="197">
                  <c:v>0.005152903273891842</c:v>
                </c:pt>
                <c:pt idx="198">
                  <c:v>0.006273297042816341</c:v>
                </c:pt>
                <c:pt idx="199">
                  <c:v>0.007612952171915884</c:v>
                </c:pt>
                <c:pt idx="200">
                  <c:v>0.009209619521213614</c:v>
                </c:pt>
                <c:pt idx="201">
                  <c:v>0.011106554158974559</c:v>
                </c:pt>
                <c:pt idx="202">
                  <c:v>0.013353144762194728</c:v>
                </c:pt>
                <c:pt idx="203">
                  <c:v>0.016005588005361632</c:v>
                </c:pt>
                <c:pt idx="204">
                  <c:v>0.019127607275664</c:v>
                </c:pt>
                <c:pt idx="205">
                  <c:v>0.022791214404502835</c:v>
                </c:pt>
                <c:pt idx="206">
                  <c:v>0.02707751239731724</c:v>
                </c:pt>
                <c:pt idx="207">
                  <c:v>0.03207753638139056</c:v>
                </c:pt>
                <c:pt idx="208">
                  <c:v>0.03789312918188362</c:v>
                </c:pt>
                <c:pt idx="209">
                  <c:v>0.04463784708821438</c:v>
                </c:pt>
                <c:pt idx="210">
                  <c:v>0.052437890496270054</c:v>
                </c:pt>
                <c:pt idx="211">
                  <c:v>0.06143305321904892</c:v>
                </c:pt>
                <c:pt idx="212">
                  <c:v>0.07177768336130276</c:v>
                </c:pt>
                <c:pt idx="213">
                  <c:v>0.08364164776810605</c:v>
                </c:pt>
                <c:pt idx="214">
                  <c:v>0.09721129119725704</c:v>
                </c:pt>
                <c:pt idx="215">
                  <c:v>0.11269038054784164</c:v>
                </c:pt>
                <c:pt idx="216">
                  <c:v>0.13030102371866487</c:v>
                </c:pt>
                <c:pt idx="217">
                  <c:v>0.1502845519866778</c:v>
                </c:pt>
                <c:pt idx="218">
                  <c:v>0.17290235420477115</c:v>
                </c:pt>
                <c:pt idx="219">
                  <c:v>0.19843665063592505</c:v>
                </c:pt>
                <c:pt idx="220">
                  <c:v>0.22719119388112885</c:v>
                </c:pt>
                <c:pt idx="221">
                  <c:v>0.25949188413879104</c:v>
                </c:pt>
                <c:pt idx="222">
                  <c:v>0.295687285961121</c:v>
                </c:pt>
                <c:pt idx="223">
                  <c:v>0.3361490337660576</c:v>
                </c:pt>
                <c:pt idx="224">
                  <c:v>0.38127211362176006</c:v>
                </c:pt>
                <c:pt idx="225">
                  <c:v>0.4314750092591402</c:v>
                </c:pt>
                <c:pt idx="226">
                  <c:v>0.48719970088341674</c:v>
                </c:pt>
                <c:pt idx="227">
                  <c:v>0.5489115061527511</c:v>
                </c:pt>
                <c:pt idx="228">
                  <c:v>0.6170987536658364</c:v>
                </c:pt>
                <c:pt idx="229">
                  <c:v>0.6922722804493693</c:v>
                </c:pt>
                <c:pt idx="230">
                  <c:v>0.7749647462455055</c:v>
                </c:pt>
                <c:pt idx="231">
                  <c:v>0.8657297588668702</c:v>
                </c:pt>
                <c:pt idx="232">
                  <c:v>0.9651408064877168</c:v>
                </c:pt>
                <c:pt idx="233">
                  <c:v>1.0737899944673894</c:v>
                </c:pt>
                <c:pt idx="234">
                  <c:v>1.1922865861284513</c:v>
                </c:pt>
                <c:pt idx="235">
                  <c:v>1.321255348822588</c:v>
                </c:pt>
                <c:pt idx="236">
                  <c:v>1.4613347085833297</c:v>
                </c:pt>
                <c:pt idx="237">
                  <c:v>1.6131747186627965</c:v>
                </c:pt>
                <c:pt idx="238">
                  <c:v>1.7774348492596996</c:v>
                </c:pt>
                <c:pt idx="239">
                  <c:v>1.9547816077293685</c:v>
                </c:pt>
                <c:pt idx="240">
                  <c:v>2.14588600050768</c:v>
                </c:pt>
                <c:pt idx="241">
                  <c:v>2.3514208498508977</c:v>
                </c:pt>
                <c:pt idx="242">
                  <c:v>2.572057980259374</c:v>
                </c:pt>
                <c:pt idx="243">
                  <c:v>2.8084652911023795</c:v>
                </c:pt>
                <c:pt idx="244">
                  <c:v>3.0613037334591007</c:v>
                </c:pt>
                <c:pt idx="245">
                  <c:v>3.331224210525996</c:v>
                </c:pt>
                <c:pt idx="246">
                  <c:v>3.6188644220883734</c:v>
                </c:pt>
                <c:pt idx="247">
                  <c:v>3.9248456744954847</c:v>
                </c:pt>
                <c:pt idx="248">
                  <c:v>4.249769678316714</c:v>
                </c:pt>
                <c:pt idx="249">
                  <c:v>4.59421535635226</c:v>
                </c:pt>
                <c:pt idx="250">
                  <c:v>4.958735684950608</c:v>
                </c:pt>
                <c:pt idx="251">
                  <c:v>5.343854591619584</c:v>
                </c:pt>
                <c:pt idx="252">
                  <c:v>5.750063931715628</c:v>
                </c:pt>
                <c:pt idx="253">
                  <c:v>6.177820566561733</c:v>
                </c:pt>
                <c:pt idx="254">
                  <c:v>6.627543564684565</c:v>
                </c:pt>
                <c:pt idx="255">
                  <c:v>7.099611546977017</c:v>
                </c:pt>
                <c:pt idx="256">
                  <c:v>7.594360195501462</c:v>
                </c:pt>
                <c:pt idx="257">
                  <c:v>8.112079944373932</c:v>
                </c:pt>
                <c:pt idx="258">
                  <c:v>8.653013869703061</c:v>
                </c:pt>
                <c:pt idx="259">
                  <c:v>9.217355793948974</c:v>
                </c:pt>
                <c:pt idx="260">
                  <c:v>9.805248618308855</c:v>
                </c:pt>
                <c:pt idx="261">
                  <c:v>10.41678289487644</c:v>
                </c:pt>
                <c:pt idx="262">
                  <c:v>11.051995648350793</c:v>
                </c:pt>
                <c:pt idx="263">
                  <c:v>11.71086945505293</c:v>
                </c:pt>
                <c:pt idx="264">
                  <c:v>12.393331784926552</c:v>
                </c:pt>
                <c:pt idx="265">
                  <c:v>13.099254610101777</c:v>
                </c:pt>
                <c:pt idx="266">
                  <c:v>13.828454281517677</c:v>
                </c:pt>
                <c:pt idx="267">
                  <c:v>14.580691673010621</c:v>
                </c:pt>
                <c:pt idx="268">
                  <c:v>15.355672590266249</c:v>
                </c:pt>
                <c:pt idx="269">
                  <c:v>16.153048440068947</c:v>
                </c:pt>
                <c:pt idx="270">
                  <c:v>16.972417153396993</c:v>
                </c:pt>
                <c:pt idx="271">
                  <c:v>17.813324354160525</c:v>
                </c:pt>
                <c:pt idx="272">
                  <c:v>18.675264763697378</c:v>
                </c:pt>
                <c:pt idx="273">
                  <c:v>19.557683829638222</c:v>
                </c:pt>
                <c:pt idx="274">
                  <c:v>20.459979566350057</c:v>
                </c:pt>
                <c:pt idx="275">
                  <c:v>21.3815045929387</c:v>
                </c:pt>
                <c:pt idx="276">
                  <c:v>22.321568353723322</c:v>
                </c:pt>
                <c:pt idx="277">
                  <c:v>23.27943950515455</c:v>
                </c:pt>
                <c:pt idx="278">
                  <c:v>24.25434845242896</c:v>
                </c:pt>
                <c:pt idx="279">
                  <c:v>25.245490018440698</c:v>
                </c:pt>
                <c:pt idx="280">
                  <c:v>26.252026227307013</c:v>
                </c:pt>
                <c:pt idx="281">
                  <c:v>27.273089184442085</c:v>
                </c:pt>
                <c:pt idx="282">
                  <c:v>28.307784035042115</c:v>
                </c:pt>
                <c:pt idx="283">
                  <c:v>29.35519198291153</c:v>
                </c:pt>
                <c:pt idx="284">
                  <c:v>30.41437335173628</c:v>
                </c:pt>
                <c:pt idx="285">
                  <c:v>31.484370671245625</c:v>
                </c:pt>
                <c:pt idx="286">
                  <c:v>32.56421177116265</c:v>
                </c:pt>
                <c:pt idx="287">
                  <c:v>33.65291286639522</c:v>
                </c:pt>
                <c:pt idx="288">
                  <c:v>34.749481617613505</c:v>
                </c:pt>
                <c:pt idx="289">
                  <c:v>35.85292015210671</c:v>
                </c:pt>
                <c:pt idx="290">
                  <c:v>36.962228030668406</c:v>
                </c:pt>
                <c:pt idx="291">
                  <c:v>38.076405147172835</c:v>
                </c:pt>
                <c:pt idx="292">
                  <c:v>39.19445454847372</c:v>
                </c:pt>
                <c:pt idx="293">
                  <c:v>40.31538516327813</c:v>
                </c:pt>
                <c:pt idx="294">
                  <c:v>41.43821442969821</c:v>
                </c:pt>
                <c:pt idx="295">
                  <c:v>42.561970812254835</c:v>
                </c:pt>
                <c:pt idx="296">
                  <c:v>43.6856962002036</c:v>
                </c:pt>
                <c:pt idx="297">
                  <c:v>44.80844818012182</c:v>
                </c:pt>
                <c:pt idx="298">
                  <c:v>45.9293021768026</c:v>
                </c:pt>
                <c:pt idx="299">
                  <c:v>47.047353457545846</c:v>
                </c:pt>
                <c:pt idx="300">
                  <c:v>48.16171899598515</c:v>
                </c:pt>
                <c:pt idx="301">
                  <c:v>49.27153919260426</c:v>
                </c:pt>
                <c:pt idx="302">
                  <c:v>50.37597945006033</c:v>
                </c:pt>
                <c:pt idx="303">
                  <c:v>51.47423160237129</c:v>
                </c:pt>
                <c:pt idx="304">
                  <c:v>52.56551519789372</c:v>
                </c:pt>
                <c:pt idx="305">
                  <c:v>53.64907863686233</c:v>
                </c:pt>
                <c:pt idx="306">
                  <c:v>54.72420016503023</c:v>
                </c:pt>
                <c:pt idx="307">
                  <c:v>55.79018872565985</c:v>
                </c:pt>
                <c:pt idx="308">
                  <c:v>56.84638467279015</c:v>
                </c:pt>
                <c:pt idx="309">
                  <c:v>57.89216034929472</c:v>
                </c:pt>
                <c:pt idx="310">
                  <c:v>58.92692053377233</c:v>
                </c:pt>
                <c:pt idx="311">
                  <c:v>59.9501027608177</c:v>
                </c:pt>
                <c:pt idx="312">
                  <c:v>60.961177519605805</c:v>
                </c:pt>
                <c:pt idx="313">
                  <c:v>61.95964833610341</c:v>
                </c:pt>
                <c:pt idx="314">
                  <c:v>62.94505174451752</c:v>
                </c:pt>
                <c:pt idx="315">
                  <c:v>63.9169571538237</c:v>
                </c:pt>
                <c:pt idx="316">
                  <c:v>64.87496661543997</c:v>
                </c:pt>
                <c:pt idx="317">
                  <c:v>65.8187144982169</c:v>
                </c:pt>
                <c:pt idx="318">
                  <c:v>66.74786707703949</c:v>
                </c:pt>
                <c:pt idx="319">
                  <c:v>67.66212204137409</c:v>
                </c:pt>
                <c:pt idx="320">
                  <c:v>68.56120793009643</c:v>
                </c:pt>
                <c:pt idx="321">
                  <c:v>69.44488349892045</c:v>
                </c:pt>
                <c:pt idx="322">
                  <c:v>70.3129370266647</c:v>
                </c:pt>
                <c:pt idx="323">
                  <c:v>71.16518556650836</c:v>
                </c:pt>
                <c:pt idx="324">
                  <c:v>72.00147414825618</c:v>
                </c:pt>
                <c:pt idx="325">
                  <c:v>72.82167493747282</c:v>
                </c:pt>
                <c:pt idx="326">
                  <c:v>73.62568635718131</c:v>
                </c:pt>
                <c:pt idx="327">
                  <c:v>74.41343217761585</c:v>
                </c:pt>
                <c:pt idx="328">
                  <c:v>75.18486057931226</c:v>
                </c:pt>
                <c:pt idx="329">
                  <c:v>75.93994319458474</c:v>
                </c:pt>
                <c:pt idx="330">
                  <c:v>76.67867413220986</c:v>
                </c:pt>
                <c:pt idx="331">
                  <c:v>77.40106898988155</c:v>
                </c:pt>
                <c:pt idx="332">
                  <c:v>78.10716385875315</c:v>
                </c:pt>
                <c:pt idx="333">
                  <c:v>78.79701432412021</c:v>
                </c:pt>
                <c:pt idx="334">
                  <c:v>79.47069446604218</c:v>
                </c:pt>
                <c:pt idx="335">
                  <c:v>80.12829586343332</c:v>
                </c:pt>
                <c:pt idx="336">
                  <c:v>80.76992660490001</c:v>
                </c:pt>
                <c:pt idx="337">
                  <c:v>81.39571030933975</c:v>
                </c:pt>
                <c:pt idx="338">
                  <c:v>82.00578515906416</c:v>
                </c:pt>
                <c:pt idx="339">
                  <c:v>82.60030294796492</c:v>
                </c:pt>
                <c:pt idx="340">
                  <c:v>83.17942814699497</c:v>
                </c:pt>
                <c:pt idx="341">
                  <c:v>83.74333698900544</c:v>
                </c:pt>
                <c:pt idx="342">
                  <c:v>84.29221657475222</c:v>
                </c:pt>
                <c:pt idx="343">
                  <c:v>84.8262640016719</c:v>
                </c:pt>
                <c:pt idx="344">
                  <c:v>85.3456855168103</c:v>
                </c:pt>
                <c:pt idx="345">
                  <c:v>85.85069569510102</c:v>
                </c:pt>
                <c:pt idx="346">
                  <c:v>86.34151664399097</c:v>
                </c:pt>
                <c:pt idx="347">
                  <c:v>86.81837723523905</c:v>
                </c:pt>
                <c:pt idx="348">
                  <c:v>87.2815123645449</c:v>
                </c:pt>
                <c:pt idx="349">
                  <c:v>87.73116223950565</c:v>
                </c:pt>
                <c:pt idx="350">
                  <c:v>88.16757169625417</c:v>
                </c:pt>
                <c:pt idx="351">
                  <c:v>88.59098954499119</c:v>
                </c:pt>
                <c:pt idx="352">
                  <c:v>89.00166794450433</c:v>
                </c:pt>
                <c:pt idx="353">
                  <c:v>89.39986180564317</c:v>
                </c:pt>
                <c:pt idx="354">
                  <c:v>89.78582822361558</c:v>
                </c:pt>
                <c:pt idx="355">
                  <c:v>90.1598259388751</c:v>
                </c:pt>
                <c:pt idx="356">
                  <c:v>90.52211482627531</c:v>
                </c:pt>
                <c:pt idx="357">
                  <c:v>90.87295541209332</c:v>
                </c:pt>
                <c:pt idx="358">
                  <c:v>91.21260841844774</c:v>
                </c:pt>
                <c:pt idx="359">
                  <c:v>91.54133433457861</c:v>
                </c:pt>
                <c:pt idx="360">
                  <c:v>91.85939301439353</c:v>
                </c:pt>
                <c:pt idx="361">
                  <c:v>92.16704329964438</c:v>
                </c:pt>
                <c:pt idx="362">
                  <c:v>92.46454266805016</c:v>
                </c:pt>
                <c:pt idx="363">
                  <c:v>92.7521469056496</c:v>
                </c:pt>
                <c:pt idx="364">
                  <c:v>93.03010980263535</c:v>
                </c:pt>
                <c:pt idx="365">
                  <c:v>93.29868287190244</c:v>
                </c:pt>
                <c:pt idx="366">
                  <c:v>93.55811508951744</c:v>
                </c:pt>
                <c:pt idx="367">
                  <c:v>93.80865265630827</c:v>
                </c:pt>
                <c:pt idx="368">
                  <c:v>94.0505387797616</c:v>
                </c:pt>
                <c:pt idx="369">
                  <c:v>94.28401347540841</c:v>
                </c:pt>
                <c:pt idx="370">
                  <c:v>94.50931338688046</c:v>
                </c:pt>
                <c:pt idx="371">
                  <c:v>94.72667162381805</c:v>
                </c:pt>
                <c:pt idx="372">
                  <c:v>94.93631761681773</c:v>
                </c:pt>
                <c:pt idx="373">
                  <c:v>95.13847698861382</c:v>
                </c:pt>
                <c:pt idx="374">
                  <c:v>95.33337144069932</c:v>
                </c:pt>
                <c:pt idx="375">
                  <c:v>95.52121865460352</c:v>
                </c:pt>
                <c:pt idx="376">
                  <c:v>95.70223220705705</c:v>
                </c:pt>
                <c:pt idx="377">
                  <c:v>95.87662149829339</c:v>
                </c:pt>
                <c:pt idx="378">
                  <c:v>96.04459169275081</c:v>
                </c:pt>
                <c:pt idx="379">
                  <c:v>96.20634367145819</c:v>
                </c:pt>
                <c:pt idx="380">
                  <c:v>96.36207399540986</c:v>
                </c:pt>
                <c:pt idx="381">
                  <c:v>96.51197487925157</c:v>
                </c:pt>
                <c:pt idx="382">
                  <c:v>96.65623417462439</c:v>
                </c:pt>
                <c:pt idx="383">
                  <c:v>96.79503536253411</c:v>
                </c:pt>
                <c:pt idx="384">
                  <c:v>96.92855755413441</c:v>
                </c:pt>
                <c:pt idx="385">
                  <c:v>97.05697549933795</c:v>
                </c:pt>
                <c:pt idx="386">
                  <c:v>97.18045960268896</c:v>
                </c:pt>
                <c:pt idx="387">
                  <c:v>97.29917594595565</c:v>
                </c:pt>
                <c:pt idx="388">
                  <c:v>97.4132863169232</c:v>
                </c:pt>
                <c:pt idx="389">
                  <c:v>97.52294824388989</c:v>
                </c:pt>
                <c:pt idx="390">
                  <c:v>97.62831503539225</c:v>
                </c:pt>
                <c:pt idx="391">
                  <c:v>97.72953582470612</c:v>
                </c:pt>
                <c:pt idx="392">
                  <c:v>97.82675561869335</c:v>
                </c:pt>
                <c:pt idx="393">
                  <c:v>97.92011535058482</c:v>
                </c:pt>
                <c:pt idx="394">
                  <c:v>98.00975193631015</c:v>
                </c:pt>
                <c:pt idx="395">
                  <c:v>98.09579833400669</c:v>
                </c:pt>
                <c:pt idx="396">
                  <c:v>98.1783836063591</c:v>
                </c:pt>
                <c:pt idx="397">
                  <c:v>98.25763298543978</c:v>
                </c:pt>
                <c:pt idx="398">
                  <c:v>98.3336679397409</c:v>
                </c:pt>
                <c:pt idx="399">
                  <c:v>98.4066062431039</c:v>
                </c:pt>
                <c:pt idx="400">
                  <c:v>98.47656204527306</c:v>
                </c:pt>
              </c:numCache>
            </c:numRef>
          </c:yVal>
          <c:smooth val="0"/>
        </c:ser>
        <c:ser>
          <c:idx val="4"/>
          <c:order val="4"/>
          <c:tx>
            <c:strRef>
              <c:f>Sheet1!$B$1613</c:f>
              <c:strCache>
                <c:ptCount val="1"/>
                <c:pt idx="0">
                  <c:v>grens</c:v>
                </c:pt>
              </c:strCache>
            </c:strRef>
          </c:tx>
          <c:spPr>
            <a:ln w="9525">
              <a:solidFill>
                <a:srgbClr val="F2F8FC"/>
              </a:solidFill>
              <a:prstDash val="dash"/>
            </a:ln>
          </c:spPr>
          <c:marker>
            <c:symbol val="none"/>
          </c:marker>
          <c:xVal>
            <c:numRef>
              <c:f>Sheet1!$A$1614:$A$1616</c:f>
              <c:numCache>
                <c:formatCode>General</c:formatCode>
                <c:ptCount val="3"/>
                <c:pt idx="0">
                  <c:v>13.17</c:v>
                </c:pt>
                <c:pt idx="1">
                  <c:v>13.17</c:v>
                </c:pt>
                <c:pt idx="2">
                  <c:v>13.17</c:v>
                </c:pt>
              </c:numCache>
            </c:numRef>
          </c:xVal>
          <c:yVal>
            <c:numRef>
              <c:f>Sheet1!$B$1614:$B$1616</c:f>
              <c:numCache>
                <c:formatCode>General</c:formatCode>
                <c:ptCount val="3"/>
                <c:pt idx="0">
                  <c:v>0</c:v>
                </c:pt>
                <c:pt idx="1">
                  <c:v>5</c:v>
                </c:pt>
                <c:pt idx="2">
                  <c:v>100</c:v>
                </c:pt>
              </c:numCache>
            </c:numRef>
          </c:yVal>
          <c:smooth val="0"/>
        </c:ser>
        <c:ser>
          <c:idx val="5"/>
          <c:order val="5"/>
          <c:tx>
            <c:strRef>
              <c:f>Sheet1!$B$1618</c:f>
              <c:strCache>
                <c:ptCount val="1"/>
                <c:pt idx="0">
                  <c:v>punt 3</c:v>
                </c:pt>
              </c:strCache>
            </c:strRef>
          </c:tx>
          <c:spPr>
            <a:ln>
              <a:noFill/>
            </a:ln>
          </c:spPr>
          <c:marker>
            <c:symbol val="circle"/>
            <c:size val="8"/>
            <c:spPr>
              <a:solidFill>
                <a:srgbClr val="52BDEC"/>
              </a:solidFill>
              <a:ln w="19050">
                <a:solidFill>
                  <a:srgbClr val="0A2540"/>
                </a:solidFill>
              </a:ln>
            </c:spPr>
          </c:marker>
          <c:xVal>
            <c:numRef>
              <c:f>Sheet1!$A$1619:$A$1619</c:f>
              <c:numCache>
                <c:formatCode>General</c:formatCode>
                <c:ptCount val="1"/>
                <c:pt idx="0">
                  <c:v>13.17</c:v>
                </c:pt>
              </c:numCache>
            </c:numRef>
          </c:xVal>
          <c:yVal>
            <c:numRef>
              <c:f>Sheet1!$B$1619:$B$1619</c:f>
              <c:numCache>
                <c:formatCode>General</c:formatCode>
                <c:ptCount val="1"/>
                <c:pt idx="0">
                  <c:v>98.10421051574819</c:v>
                </c:pt>
              </c:numCache>
            </c:numRef>
          </c:yVal>
          <c:smooth val="0"/>
        </c:ser>
        <c:ser>
          <c:idx val="6"/>
          <c:order val="6"/>
          <c:tx>
            <c:strRef>
              <c:f>Sheet1!$B$1621</c:f>
              <c:strCache>
                <c:ptCount val="1"/>
                <c:pt idx="0">
                  <c:v>punt 2</c:v>
                </c:pt>
              </c:strCache>
            </c:strRef>
          </c:tx>
          <c:spPr>
            <a:ln>
              <a:noFill/>
            </a:ln>
          </c:spPr>
          <c:marker>
            <c:symbol val="circle"/>
            <c:size val="8"/>
            <c:spPr>
              <a:solidFill>
                <a:srgbClr val="FF9A3D"/>
              </a:solidFill>
              <a:ln w="19050">
                <a:solidFill>
                  <a:srgbClr val="0A2540"/>
                </a:solidFill>
              </a:ln>
            </c:spPr>
          </c:marker>
          <c:xVal>
            <c:numRef>
              <c:f>Sheet1!$A$1622:$A$1622</c:f>
              <c:numCache>
                <c:formatCode>General</c:formatCode>
                <c:ptCount val="1"/>
                <c:pt idx="0">
                  <c:v>13.17</c:v>
                </c:pt>
              </c:numCache>
            </c:numRef>
          </c:xVal>
          <c:yVal>
            <c:numRef>
              <c:f>Sheet1!$B$1622:$B$1622</c:f>
              <c:numCache>
                <c:formatCode>General</c:formatCode>
                <c:ptCount val="1"/>
                <c:pt idx="0">
                  <c:v>11.981029688055258</c:v>
                </c:pt>
              </c:numCache>
            </c:numRef>
          </c:yVal>
          <c:smooth val="0"/>
        </c:ser>
        <c:axId val="-2128940872"/>
        <c:axId val="-2129643912"/>
      </c:scatterChart>
      <c:valAx>
        <c:axId val="-2128940872"/>
        <c:scaling>
          <c:orientation val="minMax"/>
          <c:max val="20.0"/>
          <c:min val="0.0"/>
        </c:scaling>
        <c:delete val="0"/>
        <c:axPos val="b"/>
        <c:numFmt formatCode="0" sourceLinked="0"/>
        <c:majorTickMark val="none"/>
        <c:minorTickMark val="none"/>
        <c:tickLblPos val="low"/>
        <c:spPr>
          <a:ln>
            <a:solidFill>
              <a:srgbClr val="15395A"/>
            </a:solidFill>
          </a:ln>
        </c:spPr>
        <c:txPr>
          <a:bodyPr/>
          <a:lstStyle/>
          <a:p>
            <a:pPr>
              <a:defRPr sz="1200" b="0">
                <a:solidFill>
                  <a:srgbClr val="8FB0CA"/>
                </a:solidFill>
                <a:latin typeface="Segoe UI"/>
              </a:defRPr>
            </a:pPr>
          </a:p>
        </c:txPr>
        <c:crossAx val="-2129643912"/>
        <c:crosses val="autoZero"/>
        <c:crossBetween val="midCat"/>
        <c:majorUnit val="6.0"/>
      </c:valAx>
      <c:valAx>
        <c:axId val="-2129643912"/>
        <c:scaling>
          <c:orientation val="minMax"/>
          <c:max val="100.0"/>
          <c:min val="0.0"/>
        </c:scaling>
        <c:delete val="0"/>
        <c:axPos val="l"/>
        <c:majorGridlines>
          <c:spPr>
            <a:ln w="9525">
              <a:solidFill>
                <a:srgbClr val="15395A"/>
              </a:solidFill>
            </a:ln>
          </c:spPr>
        </c:majorGridlines>
        <c:numFmt formatCode="0&quot;%&quot;" sourceLinked="0"/>
        <c:majorTickMark val="none"/>
        <c:minorTickMark val="none"/>
        <c:tickLblPos val="nextTo"/>
        <c:spPr>
          <a:ln>
            <a:noFill/>
          </a:ln>
        </c:spPr>
        <c:txPr>
          <a:bodyPr/>
          <a:lstStyle/>
          <a:p>
            <a:pPr>
              <a:defRPr sz="1200" b="0">
                <a:solidFill>
                  <a:srgbClr val="8FB0CA"/>
                </a:solidFill>
                <a:latin typeface="Segoe UI"/>
              </a:defRPr>
            </a:pPr>
          </a:p>
        </c:txPr>
        <c:crossAx val="-2128940872"/>
        <c:crosses val="autoZero"/>
        <c:crossBetween val="midCat"/>
        <c:majorUnit val="25.0"/>
      </c:valAx>
      <c:spPr>
        <a:noFill/>
        <a:ln>
          <a:noFill/>
        </a:ln>
      </c:spPr>
    </c:plotArea>
    <c:plotVisOnly val="1"/>
    <c:dispBlanksAs val="gap"/>
    <c:showDLblsOverMax val="0"/>
  </c:chart>
  <c:spPr>
    <a:noFill/>
    <a:ln>
      <a:noFill/>
    </a:ln>
  </c:spPr>
  <c:txPr>
    <a:bodyPr/>
    <a:lstStyle/>
    <a:p>
      <a:pPr>
        <a:defRPr sz="1200">
          <a:solidFill>
            <a:srgbClr val="8FB0CA"/>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even snel</c:v>
                </c:pt>
              </c:strCache>
            </c:strRef>
          </c:tx>
          <c:spPr>
            <a:solidFill>
              <a:srgbClr val="8FB0CA"/>
            </a:solidFill>
            <a:ln>
              <a:noFill/>
            </a:ln>
          </c:spPr>
          <c:dLbls>
            <c:dLbl>
              <c:idx val="0"/>
              <c:tx>
                <c:rich>
                  <a:bodyPr/>
                  <a:lstStyle/>
                  <a:p>
                    <a:r>
                      <a:rPr sz="1300" b="1">
                        <a:solidFill>
                          <a:srgbClr val="F2F8FC"/>
                        </a:solidFill>
                        <a:latin typeface="Segoe UI"/>
                      </a:rPr>
                      <a:t>98%</a:t>
                    </a:r>
                  </a:p>
                </c:rich>
              </c:tx>
              <c:dLblPos val="outEnd"/>
              <c:showLegendKey val="0"/>
              <c:showVal val="1"/>
              <c:showCatName val="0"/>
              <c:showSerName val="0"/>
              <c:showPercent val="0"/>
              <c:showBubbleSize val="0"/>
            </c:dLbl>
            <c:dLbl>
              <c:idx val="1"/>
              <c:tx>
                <c:rich>
                  <a:bodyPr/>
                  <a:lstStyle/>
                  <a:p>
                    <a:r>
                      <a:rPr sz="1300" b="1">
                        <a:solidFill>
                          <a:srgbClr val="F2F8FC"/>
                        </a:solidFill>
                        <a:latin typeface="Segoe UI"/>
                      </a:rPr>
                      <a:t>12%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3 per maand</c:v>
                </c:pt>
                <c:pt idx="1">
                  <c:v>2 per maand</c:v>
                </c:pt>
              </c:strCache>
            </c:strRef>
          </c:cat>
          <c:val>
            <c:numRef>
              <c:f>Sheet1!$B$2:$B$3</c:f>
              <c:numCache>
                <c:formatCode>General</c:formatCode>
                <c:ptCount val="2"/>
                <c:pt idx="0">
                  <c:v>98.1</c:v>
                </c:pt>
                <c:pt idx="1">
                  <c:v>12.0</c:v>
                </c:pt>
              </c:numCache>
            </c:numRef>
          </c:val>
        </c:ser>
        <c:ser>
          <c:idx val="1"/>
          <c:order val="1"/>
          <c:tx>
            <c:strRef>
              <c:f>Sheet1!$C$1</c:f>
              <c:strCache>
                <c:ptCount val="1"/>
                <c:pt idx="0">
                  <c:v>verschillen</c:v>
                </c:pt>
              </c:strCache>
            </c:strRef>
          </c:tx>
          <c:spPr>
            <a:solidFill>
              <a:srgbClr val="FF9A3D"/>
            </a:solidFill>
            <a:ln>
              <a:noFill/>
            </a:ln>
          </c:spPr>
          <c:dLbls>
            <c:dLbl>
              <c:idx val="0"/>
              <c:tx>
                <c:rich>
                  <a:bodyPr/>
                  <a:lstStyle/>
                  <a:p>
                    <a:r>
                      <a:rPr sz="1300" b="1">
                        <a:solidFill>
                          <a:srgbClr val="F2F8FC"/>
                        </a:solidFill>
                        <a:latin typeface="Segoe UI"/>
                      </a:rPr>
                      <a:t>65%</a:t>
                    </a:r>
                  </a:p>
                </c:rich>
              </c:tx>
              <c:dLblPos val="outEnd"/>
              <c:showLegendKey val="0"/>
              <c:showVal val="1"/>
              <c:showCatName val="0"/>
              <c:showSerName val="0"/>
              <c:showPercent val="0"/>
              <c:showBubbleSize val="0"/>
            </c:dLbl>
            <c:dLbl>
              <c:idx val="1"/>
              <c:tx>
                <c:rich>
                  <a:bodyPr/>
                  <a:lstStyle/>
                  <a:p>
                    <a:r>
                      <a:rPr sz="1300" b="1">
                        <a:solidFill>
                          <a:srgbClr val="F2F8FC"/>
                        </a:solidFill>
                        <a:latin typeface="Segoe UI"/>
                      </a:rPr>
                      <a:t>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3 per maand</c:v>
                </c:pt>
                <c:pt idx="1">
                  <c:v>2 per maand</c:v>
                </c:pt>
              </c:strCache>
            </c:strRef>
          </c:cat>
          <c:val>
            <c:numRef>
              <c:f>Sheet1!$C$2:$C$3</c:f>
              <c:numCache>
                <c:formatCode>General</c:formatCode>
                <c:ptCount val="2"/>
                <c:pt idx="0">
                  <c:v>65.1</c:v>
                </c:pt>
                <c:pt idx="1">
                  <c:v>4.9</c:v>
                </c:pt>
              </c:numCache>
            </c:numRef>
          </c:val>
        </c:ser>
        <c:ser>
          <c:idx val="2"/>
          <c:order val="2"/>
          <c:tx>
            <c:strRef>
              <c:f>Sheet1!$D$1</c:f>
              <c:strCache>
                <c:ptCount val="1"/>
                <c:pt idx="0">
                  <c:v>verschillen + bijspringen</c:v>
                </c:pt>
              </c:strCache>
            </c:strRef>
          </c:tx>
          <c:spPr>
            <a:solidFill>
              <a:srgbClr val="52BDEC"/>
            </a:solidFill>
            <a:ln>
              <a:noFill/>
            </a:ln>
          </c:spPr>
          <c:dLbls>
            <c:dLbl>
              <c:idx val="0"/>
              <c:tx>
                <c:rich>
                  <a:bodyPr/>
                  <a:lstStyle/>
                  <a:p>
                    <a:r>
                      <a:rPr sz="1300" b="1">
                        <a:solidFill>
                          <a:srgbClr val="F2F8FC"/>
                        </a:solidFill>
                        <a:latin typeface="Segoe UI"/>
                      </a:rPr>
                      <a:t>&gt; 99%</a:t>
                    </a:r>
                  </a:p>
                </c:rich>
              </c:tx>
              <c:dLblPos val="outEnd"/>
              <c:showLegendKey val="0"/>
              <c:showVal val="1"/>
              <c:showCatName val="0"/>
              <c:showSerName val="0"/>
              <c:showPercent val="0"/>
              <c:showBubbleSize val="0"/>
            </c:dLbl>
            <c:dLbl>
              <c:idx val="1"/>
              <c:tx>
                <c:rich>
                  <a:bodyPr/>
                  <a:lstStyle/>
                  <a:p>
                    <a:r>
                      <a:rPr sz="1300" b="1">
                        <a:solidFill>
                          <a:srgbClr val="F2F8FC"/>
                        </a:solidFill>
                        <a:latin typeface="Segoe UI"/>
                      </a:rPr>
                      <a:t>61%</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Sheet1!$A$2:$A$3</c:f>
              <c:strCache>
                <c:ptCount val="2"/>
                <c:pt idx="0">
                  <c:v>3 per maand</c:v>
                </c:pt>
                <c:pt idx="1">
                  <c:v>2 per maand</c:v>
                </c:pt>
              </c:strCache>
            </c:strRef>
          </c:cat>
          <c:val>
            <c:numRef>
              <c:f>Sheet1!$D$2:$D$3</c:f>
              <c:numCache>
                <c:formatCode>General</c:formatCode>
                <c:ptCount val="2"/>
                <c:pt idx="0">
                  <c:v>99.9</c:v>
                </c:pt>
                <c:pt idx="1">
                  <c:v>60.9</c:v>
                </c:pt>
              </c:numCache>
            </c:numRef>
          </c:val>
        </c:ser>
        <c:gapWidth val="60"/>
        <c:overlap val="-10"/>
        <c:axId val="-2068027336"/>
        <c:axId val="-2113994440"/>
      </c:barChart>
      <c:catAx>
        <c:axId val="-2068027336"/>
        <c:scaling>
          <c:orientation val="minMax"/>
        </c:scaling>
        <c:delete val="0"/>
        <c:axPos val="b"/>
        <c:majorTickMark val="none"/>
        <c:minorTickMark val="none"/>
        <c:tickLblPos val="low"/>
        <c:spPr>
          <a:ln>
            <a:solidFill>
              <a:srgbClr val="15395A"/>
            </a:solidFill>
          </a:ln>
        </c:spPr>
        <c:txPr>
          <a:bodyPr/>
          <a:lstStyle/>
          <a:p>
            <a:pPr>
              <a:defRPr sz="1200" b="0">
                <a:solidFill>
                  <a:srgbClr val="8FB0CA"/>
                </a:solidFill>
                <a:latin typeface="Segoe UI"/>
              </a:defRPr>
            </a:pPr>
          </a:p>
        </c:txPr>
        <c:crossAx val="-2113994440"/>
        <c:crosses val="autoZero"/>
        <c:auto val="1"/>
        <c:lblAlgn val="ctr"/>
        <c:lblOffset val="100"/>
        <c:tickLblSkip val="1"/>
        <c:noMultiLvlLbl val="0"/>
      </c:catAx>
      <c:valAx>
        <c:axId val="-2113994440"/>
        <c:scaling>
          <c:max val="100.0"/>
          <c:min val="0.0"/>
        </c:scaling>
        <c:delete val="0"/>
        <c:axPos val="l"/>
        <c:majorGridlines>
          <c:spPr>
            <a:ln w="9525">
              <a:solidFill>
                <a:srgbClr val="15395A"/>
              </a:solidFill>
            </a:ln>
          </c:spPr>
        </c:majorGridlines>
        <c:numFmt formatCode="0&quot;%&quot;" sourceLinked="0"/>
        <c:majorTickMark val="none"/>
        <c:minorTickMark val="none"/>
        <c:tickLblPos val="nextTo"/>
        <c:spPr>
          <a:ln>
            <a:noFill/>
          </a:ln>
        </c:spPr>
        <c:txPr>
          <a:bodyPr/>
          <a:lstStyle/>
          <a:p>
            <a:pPr>
              <a:defRPr sz="1200" b="0">
                <a:solidFill>
                  <a:srgbClr val="8FB0CA"/>
                </a:solidFill>
                <a:latin typeface="Segoe UI"/>
              </a:defRPr>
            </a:pPr>
          </a:p>
        </c:txPr>
        <c:crossAx val="-2068027336"/>
        <c:crosses val="autoZero"/>
        <c:majorUnit val="25.0"/>
      </c:valAx>
      <c:spPr>
        <a:noFill/>
        <a:ln>
          <a:noFill/>
        </a:ln>
      </c:spPr>
    </c:plotArea>
    <c:legend>
      <c:legendPos val="b"/>
      <c:overlay val="0"/>
      <c:txPr>
        <a:bodyPr/>
        <a:lstStyle/>
        <a:p>
          <a:pPr>
            <a:defRPr sz="1200" b="0">
              <a:solidFill>
                <a:srgbClr val="C5D8E8"/>
              </a:solidFill>
              <a:latin typeface="Segoe UI"/>
            </a:defRPr>
          </a:pPr>
        </a:p>
      </c:txPr>
    </c:legend>
    <c:dispBlanksAs val="gap"/>
  </c:chart>
  <c:spPr>
    <a:noFill/>
    <a:ln>
      <a:noFill/>
    </a:ln>
  </c:spPr>
  <c:txPr>
    <a:bodyPr/>
    <a:lstStyle/>
    <a:p>
      <a:pPr>
        <a:defRPr sz="1200">
          <a:solidFill>
            <a:srgbClr val="8FB0CA"/>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Visite 1</c:v>
                </c:pt>
              </c:strCache>
            </c:strRef>
          </c:tx>
          <c:spPr>
            <a:solidFill>
              <a:srgbClr val="3987E5"/>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6.0</c:v>
                </c:pt>
                <c:pt idx="1">
                  <c:v>6.1</c:v>
                </c:pt>
                <c:pt idx="2">
                  <c:v>6.0</c:v>
                </c:pt>
                <c:pt idx="3">
                  <c:v>6.0</c:v>
                </c:pt>
                <c:pt idx="4">
                  <c:v>5.9</c:v>
                </c:pt>
                <c:pt idx="5">
                  <c:v>5.7</c:v>
                </c:pt>
                <c:pt idx="6">
                  <c:v>4.9</c:v>
                </c:pt>
                <c:pt idx="7">
                  <c:v>3.6</c:v>
                </c:pt>
                <c:pt idx="8">
                  <c:v>2.1</c:v>
                </c:pt>
                <c:pt idx="9">
                  <c:v>1.0</c:v>
                </c:pt>
                <c:pt idx="10">
                  <c:v>0.5</c:v>
                </c:pt>
                <c:pt idx="11">
                  <c:v>0.2</c:v>
                </c:pt>
                <c:pt idx="12">
                  <c:v>0.1</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1"/>
          <c:order val="1"/>
          <c:tx>
            <c:strRef>
              <c:f>Sheet1!$C$1</c:f>
              <c:strCache>
                <c:ptCount val="1"/>
                <c:pt idx="0">
                  <c:v>Visite 2</c:v>
                </c:pt>
              </c:strCache>
            </c:strRef>
          </c:tx>
          <c:spPr>
            <a:solidFill>
              <a:srgbClr val="D95926"/>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1.3</c:v>
                </c:pt>
                <c:pt idx="1">
                  <c:v>4.5</c:v>
                </c:pt>
                <c:pt idx="2">
                  <c:v>4.5</c:v>
                </c:pt>
                <c:pt idx="3">
                  <c:v>4.5</c:v>
                </c:pt>
                <c:pt idx="4">
                  <c:v>4.5</c:v>
                </c:pt>
                <c:pt idx="5">
                  <c:v>4.4</c:v>
                </c:pt>
                <c:pt idx="6">
                  <c:v>4.1</c:v>
                </c:pt>
                <c:pt idx="7">
                  <c:v>3.4</c:v>
                </c:pt>
                <c:pt idx="8">
                  <c:v>2.4</c:v>
                </c:pt>
                <c:pt idx="9">
                  <c:v>1.3</c:v>
                </c:pt>
                <c:pt idx="10">
                  <c:v>0.6</c:v>
                </c:pt>
                <c:pt idx="11">
                  <c:v>0.3</c:v>
                </c:pt>
                <c:pt idx="12">
                  <c:v>0.1</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2"/>
          <c:order val="2"/>
          <c:tx>
            <c:strRef>
              <c:f>Sheet1!$D$1</c:f>
              <c:strCache>
                <c:ptCount val="1"/>
                <c:pt idx="0">
                  <c:v>Maand 3</c:v>
                </c:pt>
              </c:strCache>
            </c:strRef>
          </c:tx>
          <c:spPr>
            <a:solidFill>
              <a:srgbClr val="199E7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0.0</c:v>
                </c:pt>
                <c:pt idx="1">
                  <c:v>0.0</c:v>
                </c:pt>
                <c:pt idx="2">
                  <c:v>0.1</c:v>
                </c:pt>
                <c:pt idx="3">
                  <c:v>4.5</c:v>
                </c:pt>
                <c:pt idx="4">
                  <c:v>4.6</c:v>
                </c:pt>
                <c:pt idx="5">
                  <c:v>4.5</c:v>
                </c:pt>
                <c:pt idx="6">
                  <c:v>4.5</c:v>
                </c:pt>
                <c:pt idx="7">
                  <c:v>4.4</c:v>
                </c:pt>
                <c:pt idx="8">
                  <c:v>4.2</c:v>
                </c:pt>
                <c:pt idx="9">
                  <c:v>3.6</c:v>
                </c:pt>
                <c:pt idx="10">
                  <c:v>2.7</c:v>
                </c:pt>
                <c:pt idx="11">
                  <c:v>1.6</c:v>
                </c:pt>
                <c:pt idx="12">
                  <c:v>0.8</c:v>
                </c:pt>
                <c:pt idx="13">
                  <c:v>0.3</c:v>
                </c:pt>
                <c:pt idx="14">
                  <c:v>0.1</c:v>
                </c:pt>
                <c:pt idx="15">
                  <c:v>0.0</c:v>
                </c:pt>
                <c:pt idx="16">
                  <c:v>0.0</c:v>
                </c:pt>
                <c:pt idx="17">
                  <c:v>0.0</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3"/>
          <c:order val="3"/>
          <c:tx>
            <c:strRef>
              <c:f>Sheet1!$E$1</c:f>
              <c:strCache>
                <c:ptCount val="1"/>
                <c:pt idx="0">
                  <c:v>Maand 6</c:v>
                </c:pt>
              </c:strCache>
            </c:strRef>
          </c:tx>
          <c:spPr>
            <a:solidFill>
              <a:srgbClr val="C9850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0.0</c:v>
                </c:pt>
                <c:pt idx="1">
                  <c:v>0.0</c:v>
                </c:pt>
                <c:pt idx="2">
                  <c:v>0.0</c:v>
                </c:pt>
                <c:pt idx="3">
                  <c:v>0.0</c:v>
                </c:pt>
                <c:pt idx="4">
                  <c:v>0.0</c:v>
                </c:pt>
                <c:pt idx="5">
                  <c:v>0.1</c:v>
                </c:pt>
                <c:pt idx="6">
                  <c:v>4.5</c:v>
                </c:pt>
                <c:pt idx="7">
                  <c:v>4.6</c:v>
                </c:pt>
                <c:pt idx="8">
                  <c:v>4.5</c:v>
                </c:pt>
                <c:pt idx="9">
                  <c:v>4.5</c:v>
                </c:pt>
                <c:pt idx="10">
                  <c:v>4.4</c:v>
                </c:pt>
                <c:pt idx="11">
                  <c:v>4.2</c:v>
                </c:pt>
                <c:pt idx="12">
                  <c:v>3.6</c:v>
                </c:pt>
                <c:pt idx="13">
                  <c:v>2.7</c:v>
                </c:pt>
                <c:pt idx="14">
                  <c:v>1.6</c:v>
                </c:pt>
                <c:pt idx="15">
                  <c:v>0.8</c:v>
                </c:pt>
                <c:pt idx="16">
                  <c:v>0.3</c:v>
                </c:pt>
                <c:pt idx="17">
                  <c:v>0.1</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4"/>
          <c:order val="4"/>
          <c:tx>
            <c:strRef>
              <c:f>Sheet1!$F$1</c:f>
              <c:strCache>
                <c:ptCount val="1"/>
                <c:pt idx="0">
                  <c:v>Maand 9</c:v>
                </c:pt>
              </c:strCache>
            </c:strRef>
          </c:tx>
          <c:spPr>
            <a:solidFill>
              <a:srgbClr val="D55181"/>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0.0</c:v>
                </c:pt>
                <c:pt idx="1">
                  <c:v>0.0</c:v>
                </c:pt>
                <c:pt idx="2">
                  <c:v>0.0</c:v>
                </c:pt>
                <c:pt idx="3">
                  <c:v>0.0</c:v>
                </c:pt>
                <c:pt idx="4">
                  <c:v>0.0</c:v>
                </c:pt>
                <c:pt idx="5">
                  <c:v>0.0</c:v>
                </c:pt>
                <c:pt idx="6">
                  <c:v>0.0</c:v>
                </c:pt>
                <c:pt idx="7">
                  <c:v>0.0</c:v>
                </c:pt>
                <c:pt idx="8">
                  <c:v>0.1</c:v>
                </c:pt>
                <c:pt idx="9">
                  <c:v>4.5</c:v>
                </c:pt>
                <c:pt idx="10">
                  <c:v>4.6</c:v>
                </c:pt>
                <c:pt idx="11">
                  <c:v>4.5</c:v>
                </c:pt>
                <c:pt idx="12">
                  <c:v>4.5</c:v>
                </c:pt>
                <c:pt idx="13">
                  <c:v>4.4</c:v>
                </c:pt>
                <c:pt idx="14">
                  <c:v>4.2</c:v>
                </c:pt>
                <c:pt idx="15">
                  <c:v>3.6</c:v>
                </c:pt>
                <c:pt idx="16">
                  <c:v>2.7</c:v>
                </c:pt>
                <c:pt idx="17">
                  <c:v>1.6</c:v>
                </c:pt>
                <c:pt idx="18">
                  <c:v>0.8</c:v>
                </c:pt>
                <c:pt idx="19">
                  <c:v>0.3</c:v>
                </c:pt>
                <c:pt idx="20">
                  <c:v>0.1</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5"/>
          <c:order val="5"/>
          <c:tx>
            <c:strRef>
              <c:f>Sheet1!$G$1</c:f>
              <c:strCache>
                <c:ptCount val="1"/>
                <c:pt idx="0">
                  <c:v>Maand 12</c:v>
                </c:pt>
              </c:strCache>
            </c:strRef>
          </c:tx>
          <c:spPr>
            <a:solidFill>
              <a:srgbClr val="00830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4.5</c:v>
                </c:pt>
                <c:pt idx="13">
                  <c:v>4.6</c:v>
                </c:pt>
                <c:pt idx="14">
                  <c:v>4.5</c:v>
                </c:pt>
                <c:pt idx="15">
                  <c:v>4.5</c:v>
                </c:pt>
                <c:pt idx="16">
                  <c:v>4.4</c:v>
                </c:pt>
                <c:pt idx="17">
                  <c:v>4.2</c:v>
                </c:pt>
                <c:pt idx="18">
                  <c:v>3.7</c:v>
                </c:pt>
                <c:pt idx="19">
                  <c:v>2.7</c:v>
                </c:pt>
                <c:pt idx="20">
                  <c:v>1.6</c:v>
                </c:pt>
                <c:pt idx="21">
                  <c:v>0.8</c:v>
                </c:pt>
                <c:pt idx="22">
                  <c:v>0.3</c:v>
                </c:pt>
                <c:pt idx="23">
                  <c:v>0.1</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6"/>
          <c:order val="6"/>
          <c:tx>
            <c:strRef>
              <c:f>Sheet1!$H$1</c:f>
              <c:strCache>
                <c:ptCount val="1"/>
                <c:pt idx="0">
                  <c:v>Maand 15</c:v>
                </c:pt>
              </c:strCache>
            </c:strRef>
          </c:tx>
          <c:spPr>
            <a:solidFill>
              <a:srgbClr val="9085E9"/>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0.1</c:v>
                </c:pt>
                <c:pt idx="15">
                  <c:v>4.5</c:v>
                </c:pt>
                <c:pt idx="16">
                  <c:v>4.6</c:v>
                </c:pt>
                <c:pt idx="17">
                  <c:v>4.5</c:v>
                </c:pt>
                <c:pt idx="18">
                  <c:v>4.5</c:v>
                </c:pt>
                <c:pt idx="19">
                  <c:v>4.4</c:v>
                </c:pt>
                <c:pt idx="20">
                  <c:v>4.2</c:v>
                </c:pt>
                <c:pt idx="21">
                  <c:v>3.6</c:v>
                </c:pt>
                <c:pt idx="22">
                  <c:v>2.7</c:v>
                </c:pt>
                <c:pt idx="23">
                  <c:v>1.6</c:v>
                </c:pt>
                <c:pt idx="24">
                  <c:v>0.8</c:v>
                </c:pt>
                <c:pt idx="25">
                  <c:v>0.3</c:v>
                </c:pt>
                <c:pt idx="26">
                  <c:v>0.1</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7"/>
          <c:order val="7"/>
          <c:tx>
            <c:strRef>
              <c:f>Sheet1!$I$1</c:f>
              <c:strCache>
                <c:ptCount val="1"/>
                <c:pt idx="0">
                  <c:v>Maand 18</c:v>
                </c:pt>
              </c:strCache>
            </c:strRef>
          </c:tx>
          <c:spPr>
            <a:solidFill>
              <a:srgbClr val="E66767"/>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0.1</c:v>
                </c:pt>
                <c:pt idx="18">
                  <c:v>4.5</c:v>
                </c:pt>
                <c:pt idx="19">
                  <c:v>4.6</c:v>
                </c:pt>
                <c:pt idx="20">
                  <c:v>4.5</c:v>
                </c:pt>
                <c:pt idx="21">
                  <c:v>4.5</c:v>
                </c:pt>
                <c:pt idx="22">
                  <c:v>4.4</c:v>
                </c:pt>
                <c:pt idx="23">
                  <c:v>4.2</c:v>
                </c:pt>
                <c:pt idx="24">
                  <c:v>3.6</c:v>
                </c:pt>
                <c:pt idx="25">
                  <c:v>2.7</c:v>
                </c:pt>
                <c:pt idx="26">
                  <c:v>1.6</c:v>
                </c:pt>
                <c:pt idx="27">
                  <c:v>0.8</c:v>
                </c:pt>
                <c:pt idx="28">
                  <c:v>0.3</c:v>
                </c:pt>
                <c:pt idx="29">
                  <c:v>0.1</c:v>
                </c:pt>
                <c:pt idx="30">
                  <c:v>0.0</c:v>
                </c:pt>
                <c:pt idx="31">
                  <c:v>0.0</c:v>
                </c:pt>
                <c:pt idx="32">
                  <c:v>0.0</c:v>
                </c:pt>
                <c:pt idx="33">
                  <c:v>0.0</c:v>
                </c:pt>
                <c:pt idx="34">
                  <c:v>0.0</c:v>
                </c:pt>
                <c:pt idx="35">
                  <c:v>0.0</c:v>
                </c:pt>
                <c:pt idx="36">
                  <c:v>0.0</c:v>
                </c:pt>
                <c:pt idx="37">
                  <c:v>0.0</c:v>
                </c:pt>
                <c:pt idx="38">
                  <c:v>0.0</c:v>
                </c:pt>
                <c:pt idx="39">
                  <c:v>0.0</c:v>
                </c:pt>
              </c:numCache>
            </c:numRef>
          </c:val>
        </c:ser>
        <c:gapWidth val="20"/>
        <c:overlap val="100"/>
        <c:axId val="-2068027336"/>
        <c:axId val="-2113994440"/>
      </c:barChart>
      <c:catAx>
        <c:axId val="-2068027336"/>
        <c:scaling>
          <c:orientation val="minMax"/>
        </c:scaling>
        <c:delete val="0"/>
        <c:axPos val="b"/>
        <c:majorTickMark val="none"/>
        <c:minorTickMark val="none"/>
        <c:tickLblPos val="low"/>
        <c:spPr>
          <a:ln>
            <a:solidFill>
              <a:srgbClr val="15395A"/>
            </a:solidFill>
          </a:ln>
        </c:spPr>
        <c:txPr>
          <a:bodyPr/>
          <a:lstStyle/>
          <a:p>
            <a:pPr>
              <a:defRPr sz="1200" b="0">
                <a:solidFill>
                  <a:srgbClr val="8FB0CA"/>
                </a:solidFill>
                <a:latin typeface="Segoe UI"/>
              </a:defRPr>
            </a:pPr>
          </a:p>
        </c:txPr>
        <c:crossAx val="-2113994440"/>
        <c:crosses val="autoZero"/>
        <c:auto val="1"/>
        <c:lblAlgn val="ctr"/>
        <c:lblOffset val="100"/>
        <c:tickLblSkip val="1"/>
        <c:noMultiLvlLbl val="0"/>
      </c:catAx>
      <c:valAx>
        <c:axId val="-2113994440"/>
        <c:scaling>
          <c:max val="20.0"/>
          <c:min val="0.0"/>
        </c:scaling>
        <c:delete val="0"/>
        <c:axPos val="l"/>
        <c:majorGridlines>
          <c:spPr>
            <a:ln w="9525">
              <a:solidFill>
                <a:srgbClr val="15395A"/>
              </a:solidFill>
            </a:ln>
          </c:spPr>
        </c:majorGridlines>
        <c:majorTickMark val="none"/>
        <c:minorTickMark val="none"/>
        <c:tickLblPos val="nextTo"/>
        <c:spPr>
          <a:ln>
            <a:noFill/>
          </a:ln>
        </c:spPr>
        <c:txPr>
          <a:bodyPr/>
          <a:lstStyle/>
          <a:p>
            <a:pPr>
              <a:defRPr sz="1200" b="0">
                <a:solidFill>
                  <a:srgbClr val="8FB0CA"/>
                </a:solidFill>
                <a:latin typeface="Segoe UI"/>
              </a:defRPr>
            </a:pPr>
          </a:p>
        </c:txPr>
        <c:crossAx val="-2068027336"/>
        <c:crosses val="autoZero"/>
        <c:majorUnit val="5.0"/>
      </c:valAx>
      <c:spPr>
        <a:noFill/>
        <a:ln>
          <a:noFill/>
        </a:ln>
      </c:spPr>
    </c:plotArea>
    <c:dispBlanksAs val="gap"/>
  </c:chart>
  <c:spPr>
    <a:noFill/>
    <a:ln>
      <a:noFill/>
    </a:ln>
  </c:spPr>
  <c:txPr>
    <a:bodyPr/>
    <a:lstStyle/>
    <a:p>
      <a:pPr>
        <a:defRPr sz="1200">
          <a:solidFill>
            <a:srgbClr val="8FB0CA"/>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Visite 1</c:v>
                </c:pt>
              </c:strCache>
            </c:strRef>
          </c:tx>
          <c:spPr>
            <a:solidFill>
              <a:srgbClr val="3987E5"/>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4.0</c:v>
                </c:pt>
                <c:pt idx="1">
                  <c:v>4.1</c:v>
                </c:pt>
                <c:pt idx="2">
                  <c:v>4.0</c:v>
                </c:pt>
                <c:pt idx="3">
                  <c:v>4.0</c:v>
                </c:pt>
                <c:pt idx="4">
                  <c:v>4.0</c:v>
                </c:pt>
                <c:pt idx="5">
                  <c:v>4.0</c:v>
                </c:pt>
                <c:pt idx="6">
                  <c:v>4.0</c:v>
                </c:pt>
                <c:pt idx="7">
                  <c:v>3.9</c:v>
                </c:pt>
                <c:pt idx="8">
                  <c:v>3.7</c:v>
                </c:pt>
                <c:pt idx="9">
                  <c:v>3.4</c:v>
                </c:pt>
                <c:pt idx="10">
                  <c:v>2.9</c:v>
                </c:pt>
                <c:pt idx="11">
                  <c:v>2.2</c:v>
                </c:pt>
                <c:pt idx="12">
                  <c:v>1.5</c:v>
                </c:pt>
                <c:pt idx="13">
                  <c:v>1.0</c:v>
                </c:pt>
                <c:pt idx="14">
                  <c:v>0.6</c:v>
                </c:pt>
                <c:pt idx="15">
                  <c:v>0.4</c:v>
                </c:pt>
                <c:pt idx="16">
                  <c:v>0.2</c:v>
                </c:pt>
                <c:pt idx="17">
                  <c:v>0.1</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1"/>
          <c:order val="1"/>
          <c:tx>
            <c:strRef>
              <c:f>Sheet1!$C$1</c:f>
              <c:strCache>
                <c:ptCount val="1"/>
                <c:pt idx="0">
                  <c:v>Visite 2</c:v>
                </c:pt>
              </c:strCache>
            </c:strRef>
          </c:tx>
          <c:spPr>
            <a:solidFill>
              <a:srgbClr val="D95926"/>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0.8</c:v>
                </c:pt>
                <c:pt idx="1">
                  <c:v>3.0</c:v>
                </c:pt>
                <c:pt idx="2">
                  <c:v>3.0</c:v>
                </c:pt>
                <c:pt idx="3">
                  <c:v>3.0</c:v>
                </c:pt>
                <c:pt idx="4">
                  <c:v>3.0</c:v>
                </c:pt>
                <c:pt idx="5">
                  <c:v>3.0</c:v>
                </c:pt>
                <c:pt idx="6">
                  <c:v>3.0</c:v>
                </c:pt>
                <c:pt idx="7">
                  <c:v>3.0</c:v>
                </c:pt>
                <c:pt idx="8">
                  <c:v>2.9</c:v>
                </c:pt>
                <c:pt idx="9">
                  <c:v>2.8</c:v>
                </c:pt>
                <c:pt idx="10">
                  <c:v>2.4</c:v>
                </c:pt>
                <c:pt idx="11">
                  <c:v>2.0</c:v>
                </c:pt>
                <c:pt idx="12">
                  <c:v>1.5</c:v>
                </c:pt>
                <c:pt idx="13">
                  <c:v>1.0</c:v>
                </c:pt>
                <c:pt idx="14">
                  <c:v>0.7</c:v>
                </c:pt>
                <c:pt idx="15">
                  <c:v>0.4</c:v>
                </c:pt>
                <c:pt idx="16">
                  <c:v>0.2</c:v>
                </c:pt>
                <c:pt idx="17">
                  <c:v>0.1</c:v>
                </c:pt>
                <c:pt idx="18">
                  <c:v>0.1</c:v>
                </c:pt>
                <c:pt idx="19">
                  <c:v>0.0</c:v>
                </c:pt>
                <c:pt idx="20">
                  <c:v>0.0</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2"/>
          <c:order val="2"/>
          <c:tx>
            <c:strRef>
              <c:f>Sheet1!$D$1</c:f>
              <c:strCache>
                <c:ptCount val="1"/>
                <c:pt idx="0">
                  <c:v>Maand 3</c:v>
                </c:pt>
              </c:strCache>
            </c:strRef>
          </c:tx>
          <c:spPr>
            <a:solidFill>
              <a:srgbClr val="199E7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0.0</c:v>
                </c:pt>
                <c:pt idx="1">
                  <c:v>0.0</c:v>
                </c:pt>
                <c:pt idx="2">
                  <c:v>0.0</c:v>
                </c:pt>
                <c:pt idx="3">
                  <c:v>3.0</c:v>
                </c:pt>
                <c:pt idx="4">
                  <c:v>3.1</c:v>
                </c:pt>
                <c:pt idx="5">
                  <c:v>3.0</c:v>
                </c:pt>
                <c:pt idx="6">
                  <c:v>3.0</c:v>
                </c:pt>
                <c:pt idx="7">
                  <c:v>3.0</c:v>
                </c:pt>
                <c:pt idx="8">
                  <c:v>3.0</c:v>
                </c:pt>
                <c:pt idx="9">
                  <c:v>3.0</c:v>
                </c:pt>
                <c:pt idx="10">
                  <c:v>2.9</c:v>
                </c:pt>
                <c:pt idx="11">
                  <c:v>2.8</c:v>
                </c:pt>
                <c:pt idx="12">
                  <c:v>2.6</c:v>
                </c:pt>
                <c:pt idx="13">
                  <c:v>2.1</c:v>
                </c:pt>
                <c:pt idx="14">
                  <c:v>1.7</c:v>
                </c:pt>
                <c:pt idx="15">
                  <c:v>1.1</c:v>
                </c:pt>
                <c:pt idx="16">
                  <c:v>0.8</c:v>
                </c:pt>
                <c:pt idx="17">
                  <c:v>0.5</c:v>
                </c:pt>
                <c:pt idx="18">
                  <c:v>0.3</c:v>
                </c:pt>
                <c:pt idx="19">
                  <c:v>0.1</c:v>
                </c:pt>
                <c:pt idx="20">
                  <c:v>0.1</c:v>
                </c:pt>
                <c:pt idx="21">
                  <c:v>0.0</c:v>
                </c:pt>
                <c:pt idx="22">
                  <c:v>0.0</c:v>
                </c:pt>
                <c:pt idx="23">
                  <c:v>0.0</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3"/>
          <c:order val="3"/>
          <c:tx>
            <c:strRef>
              <c:f>Sheet1!$E$1</c:f>
              <c:strCache>
                <c:ptCount val="1"/>
                <c:pt idx="0">
                  <c:v>Maand 6</c:v>
                </c:pt>
              </c:strCache>
            </c:strRef>
          </c:tx>
          <c:spPr>
            <a:solidFill>
              <a:srgbClr val="C9850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0.0</c:v>
                </c:pt>
                <c:pt idx="1">
                  <c:v>0.0</c:v>
                </c:pt>
                <c:pt idx="2">
                  <c:v>0.0</c:v>
                </c:pt>
                <c:pt idx="3">
                  <c:v>0.0</c:v>
                </c:pt>
                <c:pt idx="4">
                  <c:v>0.0</c:v>
                </c:pt>
                <c:pt idx="5">
                  <c:v>0.1</c:v>
                </c:pt>
                <c:pt idx="6">
                  <c:v>3.0</c:v>
                </c:pt>
                <c:pt idx="7">
                  <c:v>3.1</c:v>
                </c:pt>
                <c:pt idx="8">
                  <c:v>3.0</c:v>
                </c:pt>
                <c:pt idx="9">
                  <c:v>3.0</c:v>
                </c:pt>
                <c:pt idx="10">
                  <c:v>3.0</c:v>
                </c:pt>
                <c:pt idx="11">
                  <c:v>3.0</c:v>
                </c:pt>
                <c:pt idx="12">
                  <c:v>3.0</c:v>
                </c:pt>
                <c:pt idx="13">
                  <c:v>2.9</c:v>
                </c:pt>
                <c:pt idx="14">
                  <c:v>2.8</c:v>
                </c:pt>
                <c:pt idx="15">
                  <c:v>2.6</c:v>
                </c:pt>
                <c:pt idx="16">
                  <c:v>2.1</c:v>
                </c:pt>
                <c:pt idx="17">
                  <c:v>1.7</c:v>
                </c:pt>
                <c:pt idx="18">
                  <c:v>1.1</c:v>
                </c:pt>
                <c:pt idx="19">
                  <c:v>0.8</c:v>
                </c:pt>
                <c:pt idx="20">
                  <c:v>0.5</c:v>
                </c:pt>
                <c:pt idx="21">
                  <c:v>0.3</c:v>
                </c:pt>
                <c:pt idx="22">
                  <c:v>0.1</c:v>
                </c:pt>
                <c:pt idx="23">
                  <c:v>0.1</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4"/>
          <c:order val="4"/>
          <c:tx>
            <c:strRef>
              <c:f>Sheet1!$F$1</c:f>
              <c:strCache>
                <c:ptCount val="1"/>
                <c:pt idx="0">
                  <c:v>Maand 9</c:v>
                </c:pt>
              </c:strCache>
            </c:strRef>
          </c:tx>
          <c:spPr>
            <a:solidFill>
              <a:srgbClr val="D55181"/>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0.0</c:v>
                </c:pt>
                <c:pt idx="1">
                  <c:v>0.0</c:v>
                </c:pt>
                <c:pt idx="2">
                  <c:v>0.0</c:v>
                </c:pt>
                <c:pt idx="3">
                  <c:v>0.0</c:v>
                </c:pt>
                <c:pt idx="4">
                  <c:v>0.0</c:v>
                </c:pt>
                <c:pt idx="5">
                  <c:v>0.0</c:v>
                </c:pt>
                <c:pt idx="6">
                  <c:v>0.0</c:v>
                </c:pt>
                <c:pt idx="7">
                  <c:v>0.0</c:v>
                </c:pt>
                <c:pt idx="8">
                  <c:v>0.1</c:v>
                </c:pt>
                <c:pt idx="9">
                  <c:v>3.0</c:v>
                </c:pt>
                <c:pt idx="10">
                  <c:v>3.1</c:v>
                </c:pt>
                <c:pt idx="11">
                  <c:v>3.0</c:v>
                </c:pt>
                <c:pt idx="12">
                  <c:v>3.0</c:v>
                </c:pt>
                <c:pt idx="13">
                  <c:v>3.0</c:v>
                </c:pt>
                <c:pt idx="14">
                  <c:v>3.0</c:v>
                </c:pt>
                <c:pt idx="15">
                  <c:v>3.0</c:v>
                </c:pt>
                <c:pt idx="16">
                  <c:v>2.9</c:v>
                </c:pt>
                <c:pt idx="17">
                  <c:v>2.8</c:v>
                </c:pt>
                <c:pt idx="18">
                  <c:v>2.5</c:v>
                </c:pt>
                <c:pt idx="19">
                  <c:v>2.1</c:v>
                </c:pt>
                <c:pt idx="20">
                  <c:v>1.6</c:v>
                </c:pt>
                <c:pt idx="21">
                  <c:v>1.1</c:v>
                </c:pt>
                <c:pt idx="22">
                  <c:v>0.8</c:v>
                </c:pt>
                <c:pt idx="23">
                  <c:v>0.5</c:v>
                </c:pt>
                <c:pt idx="24">
                  <c:v>0.3</c:v>
                </c:pt>
                <c:pt idx="25">
                  <c:v>0.1</c:v>
                </c:pt>
                <c:pt idx="26">
                  <c:v>0.1</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5"/>
          <c:order val="5"/>
          <c:tx>
            <c:strRef>
              <c:f>Sheet1!$G$1</c:f>
              <c:strCache>
                <c:ptCount val="1"/>
                <c:pt idx="0">
                  <c:v>Maand 12</c:v>
                </c:pt>
              </c:strCache>
            </c:strRef>
          </c:tx>
          <c:spPr>
            <a:solidFill>
              <a:srgbClr val="00830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3.0</c:v>
                </c:pt>
                <c:pt idx="13">
                  <c:v>3.1</c:v>
                </c:pt>
                <c:pt idx="14">
                  <c:v>3.0</c:v>
                </c:pt>
                <c:pt idx="15">
                  <c:v>3.0</c:v>
                </c:pt>
                <c:pt idx="16">
                  <c:v>3.0</c:v>
                </c:pt>
                <c:pt idx="17">
                  <c:v>3.0</c:v>
                </c:pt>
                <c:pt idx="18">
                  <c:v>3.0</c:v>
                </c:pt>
                <c:pt idx="19">
                  <c:v>2.9</c:v>
                </c:pt>
                <c:pt idx="20">
                  <c:v>2.8</c:v>
                </c:pt>
                <c:pt idx="21">
                  <c:v>2.6</c:v>
                </c:pt>
                <c:pt idx="22">
                  <c:v>2.1</c:v>
                </c:pt>
                <c:pt idx="23">
                  <c:v>1.6</c:v>
                </c:pt>
                <c:pt idx="24">
                  <c:v>1.1</c:v>
                </c:pt>
                <c:pt idx="25">
                  <c:v>0.8</c:v>
                </c:pt>
                <c:pt idx="26">
                  <c:v>0.5</c:v>
                </c:pt>
                <c:pt idx="27">
                  <c:v>0.3</c:v>
                </c:pt>
                <c:pt idx="28">
                  <c:v>0.1</c:v>
                </c:pt>
                <c:pt idx="29">
                  <c:v>0.1</c:v>
                </c:pt>
                <c:pt idx="30">
                  <c:v>0.0</c:v>
                </c:pt>
                <c:pt idx="31">
                  <c:v>0.0</c:v>
                </c:pt>
                <c:pt idx="32">
                  <c:v>0.0</c:v>
                </c:pt>
                <c:pt idx="33">
                  <c:v>0.0</c:v>
                </c:pt>
                <c:pt idx="34">
                  <c:v>0.0</c:v>
                </c:pt>
                <c:pt idx="35">
                  <c:v>0.0</c:v>
                </c:pt>
                <c:pt idx="36">
                  <c:v>0.0</c:v>
                </c:pt>
                <c:pt idx="37">
                  <c:v>0.0</c:v>
                </c:pt>
                <c:pt idx="38">
                  <c:v>0.0</c:v>
                </c:pt>
                <c:pt idx="39">
                  <c:v>0.0</c:v>
                </c:pt>
              </c:numCache>
            </c:numRef>
          </c:val>
        </c:ser>
        <c:ser>
          <c:idx val="6"/>
          <c:order val="6"/>
          <c:tx>
            <c:strRef>
              <c:f>Sheet1!$H$1</c:f>
              <c:strCache>
                <c:ptCount val="1"/>
                <c:pt idx="0">
                  <c:v>Maand 15</c:v>
                </c:pt>
              </c:strCache>
            </c:strRef>
          </c:tx>
          <c:spPr>
            <a:solidFill>
              <a:srgbClr val="9085E9"/>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0.1</c:v>
                </c:pt>
                <c:pt idx="15">
                  <c:v>3.0</c:v>
                </c:pt>
                <c:pt idx="16">
                  <c:v>3.1</c:v>
                </c:pt>
                <c:pt idx="17">
                  <c:v>3.0</c:v>
                </c:pt>
                <c:pt idx="18">
                  <c:v>3.0</c:v>
                </c:pt>
                <c:pt idx="19">
                  <c:v>3.0</c:v>
                </c:pt>
                <c:pt idx="20">
                  <c:v>3.0</c:v>
                </c:pt>
                <c:pt idx="21">
                  <c:v>3.0</c:v>
                </c:pt>
                <c:pt idx="22">
                  <c:v>2.9</c:v>
                </c:pt>
                <c:pt idx="23">
                  <c:v>2.8</c:v>
                </c:pt>
                <c:pt idx="24">
                  <c:v>2.6</c:v>
                </c:pt>
                <c:pt idx="25">
                  <c:v>2.1</c:v>
                </c:pt>
                <c:pt idx="26">
                  <c:v>1.7</c:v>
                </c:pt>
                <c:pt idx="27">
                  <c:v>1.1</c:v>
                </c:pt>
                <c:pt idx="28">
                  <c:v>0.8</c:v>
                </c:pt>
                <c:pt idx="29">
                  <c:v>0.5</c:v>
                </c:pt>
                <c:pt idx="30">
                  <c:v>0.3</c:v>
                </c:pt>
                <c:pt idx="31">
                  <c:v>0.1</c:v>
                </c:pt>
                <c:pt idx="32">
                  <c:v>0.1</c:v>
                </c:pt>
                <c:pt idx="33">
                  <c:v>0.0</c:v>
                </c:pt>
                <c:pt idx="34">
                  <c:v>0.0</c:v>
                </c:pt>
                <c:pt idx="35">
                  <c:v>0.0</c:v>
                </c:pt>
                <c:pt idx="36">
                  <c:v>0.0</c:v>
                </c:pt>
                <c:pt idx="37">
                  <c:v>0.0</c:v>
                </c:pt>
                <c:pt idx="38">
                  <c:v>0.0</c:v>
                </c:pt>
                <c:pt idx="39">
                  <c:v>0.0</c:v>
                </c:pt>
              </c:numCache>
            </c:numRef>
          </c:val>
        </c:ser>
        <c:ser>
          <c:idx val="7"/>
          <c:order val="7"/>
          <c:tx>
            <c:strRef>
              <c:f>Sheet1!$I$1</c:f>
              <c:strCache>
                <c:ptCount val="1"/>
                <c:pt idx="0">
                  <c:v>Maand 18</c:v>
                </c:pt>
              </c:strCache>
            </c:strRef>
          </c:tx>
          <c:spPr>
            <a:solidFill>
              <a:srgbClr val="E66767"/>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0.1</c:v>
                </c:pt>
                <c:pt idx="18">
                  <c:v>3.0</c:v>
                </c:pt>
                <c:pt idx="19">
                  <c:v>3.1</c:v>
                </c:pt>
                <c:pt idx="20">
                  <c:v>3.0</c:v>
                </c:pt>
                <c:pt idx="21">
                  <c:v>3.0</c:v>
                </c:pt>
                <c:pt idx="22">
                  <c:v>3.0</c:v>
                </c:pt>
                <c:pt idx="23">
                  <c:v>3.0</c:v>
                </c:pt>
                <c:pt idx="24">
                  <c:v>3.0</c:v>
                </c:pt>
                <c:pt idx="25">
                  <c:v>2.9</c:v>
                </c:pt>
                <c:pt idx="26">
                  <c:v>2.8</c:v>
                </c:pt>
                <c:pt idx="27">
                  <c:v>2.5</c:v>
                </c:pt>
                <c:pt idx="28">
                  <c:v>2.1</c:v>
                </c:pt>
                <c:pt idx="29">
                  <c:v>1.6</c:v>
                </c:pt>
                <c:pt idx="30">
                  <c:v>1.1</c:v>
                </c:pt>
                <c:pt idx="31">
                  <c:v>0.8</c:v>
                </c:pt>
                <c:pt idx="32">
                  <c:v>0.5</c:v>
                </c:pt>
                <c:pt idx="33">
                  <c:v>0.3</c:v>
                </c:pt>
                <c:pt idx="34">
                  <c:v>0.1</c:v>
                </c:pt>
                <c:pt idx="35">
                  <c:v>0.1</c:v>
                </c:pt>
                <c:pt idx="36">
                  <c:v>0.0</c:v>
                </c:pt>
                <c:pt idx="37">
                  <c:v>0.0</c:v>
                </c:pt>
                <c:pt idx="38">
                  <c:v>0.0</c:v>
                </c:pt>
                <c:pt idx="39">
                  <c:v>0.0</c:v>
                </c:pt>
              </c:numCache>
            </c:numRef>
          </c:val>
        </c:ser>
        <c:gapWidth val="20"/>
        <c:overlap val="100"/>
        <c:axId val="-2068027336"/>
        <c:axId val="-2113994440"/>
      </c:barChart>
      <c:catAx>
        <c:axId val="-2068027336"/>
        <c:scaling>
          <c:orientation val="minMax"/>
        </c:scaling>
        <c:delete val="0"/>
        <c:axPos val="b"/>
        <c:majorTickMark val="none"/>
        <c:minorTickMark val="none"/>
        <c:tickLblPos val="low"/>
        <c:spPr>
          <a:ln>
            <a:solidFill>
              <a:srgbClr val="15395A"/>
            </a:solidFill>
          </a:ln>
        </c:spPr>
        <c:txPr>
          <a:bodyPr/>
          <a:lstStyle/>
          <a:p>
            <a:pPr>
              <a:defRPr sz="1200" b="0">
                <a:solidFill>
                  <a:srgbClr val="8FB0CA"/>
                </a:solidFill>
                <a:latin typeface="Segoe UI"/>
              </a:defRPr>
            </a:pPr>
          </a:p>
        </c:txPr>
        <c:crossAx val="-2113994440"/>
        <c:crosses val="autoZero"/>
        <c:auto val="1"/>
        <c:lblAlgn val="ctr"/>
        <c:lblOffset val="100"/>
        <c:tickLblSkip val="1"/>
        <c:noMultiLvlLbl val="0"/>
      </c:catAx>
      <c:valAx>
        <c:axId val="-2113994440"/>
        <c:scaling>
          <c:max val="20.0"/>
          <c:min val="0.0"/>
        </c:scaling>
        <c:delete val="0"/>
        <c:axPos val="l"/>
        <c:majorGridlines>
          <c:spPr>
            <a:ln w="9525">
              <a:solidFill>
                <a:srgbClr val="15395A"/>
              </a:solidFill>
            </a:ln>
          </c:spPr>
        </c:majorGridlines>
        <c:majorTickMark val="none"/>
        <c:minorTickMark val="none"/>
        <c:tickLblPos val="none"/>
        <c:spPr>
          <a:ln>
            <a:noFill/>
          </a:ln>
        </c:spPr>
        <c:txPr>
          <a:bodyPr/>
          <a:lstStyle/>
          <a:p>
            <a:pPr>
              <a:defRPr sz="1200" b="0">
                <a:solidFill>
                  <a:srgbClr val="8FB0CA"/>
                </a:solidFill>
                <a:latin typeface="Segoe UI"/>
              </a:defRPr>
            </a:pPr>
          </a:p>
        </c:txPr>
        <c:crossAx val="-2068027336"/>
        <c:crosses val="autoZero"/>
        <c:majorUnit val="5.0"/>
      </c:valAx>
      <c:spPr>
        <a:noFill/>
        <a:ln>
          <a:noFill/>
        </a:ln>
      </c:spPr>
    </c:plotArea>
    <c:dispBlanksAs val="gap"/>
  </c:chart>
  <c:spPr>
    <a:noFill/>
    <a:ln>
      <a:noFill/>
    </a:ln>
  </c:spPr>
  <c:txPr>
    <a:bodyPr/>
    <a:lstStyle/>
    <a:p>
      <a:pPr>
        <a:defRPr sz="1200">
          <a:solidFill>
            <a:srgbClr val="8FB0CA"/>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Visite 1</c:v>
                </c:pt>
              </c:strCache>
            </c:strRef>
          </c:tx>
          <c:spPr>
            <a:solidFill>
              <a:srgbClr val="3987E5"/>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Sheet1!$B$2:$B$41</c:f>
              <c:numCache>
                <c:formatCode>General</c:formatCode>
                <c:ptCount val="40"/>
                <c:pt idx="0">
                  <c:v>3.0</c:v>
                </c:pt>
                <c:pt idx="1">
                  <c:v>3.0</c:v>
                </c:pt>
                <c:pt idx="2">
                  <c:v>3.0</c:v>
                </c:pt>
                <c:pt idx="3">
                  <c:v>3.0</c:v>
                </c:pt>
                <c:pt idx="4">
                  <c:v>3.0</c:v>
                </c:pt>
                <c:pt idx="5">
                  <c:v>3.0</c:v>
                </c:pt>
                <c:pt idx="6">
                  <c:v>3.0</c:v>
                </c:pt>
                <c:pt idx="7">
                  <c:v>3.1</c:v>
                </c:pt>
                <c:pt idx="8">
                  <c:v>3.0</c:v>
                </c:pt>
                <c:pt idx="9">
                  <c:v>3.0</c:v>
                </c:pt>
                <c:pt idx="10">
                  <c:v>2.9</c:v>
                </c:pt>
                <c:pt idx="11">
                  <c:v>2.8</c:v>
                </c:pt>
                <c:pt idx="12">
                  <c:v>2.6</c:v>
                </c:pt>
                <c:pt idx="13">
                  <c:v>2.3</c:v>
                </c:pt>
                <c:pt idx="14">
                  <c:v>1.9</c:v>
                </c:pt>
                <c:pt idx="15">
                  <c:v>1.6</c:v>
                </c:pt>
                <c:pt idx="16">
                  <c:v>1.2</c:v>
                </c:pt>
                <c:pt idx="17">
                  <c:v>0.9</c:v>
                </c:pt>
                <c:pt idx="18">
                  <c:v>0.6</c:v>
                </c:pt>
                <c:pt idx="19">
                  <c:v>0.4</c:v>
                </c:pt>
                <c:pt idx="20">
                  <c:v>0.3</c:v>
                </c:pt>
                <c:pt idx="21">
                  <c:v>0.2</c:v>
                </c:pt>
                <c:pt idx="22">
                  <c:v>0.1</c:v>
                </c:pt>
                <c:pt idx="23">
                  <c:v>0.1</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1"/>
          <c:order val="1"/>
          <c:tx>
            <c:strRef>
              <c:f>Sheet1!$C$1</c:f>
              <c:strCache>
                <c:ptCount val="1"/>
                <c:pt idx="0">
                  <c:v>Visite 2</c:v>
                </c:pt>
              </c:strCache>
            </c:strRef>
          </c:tx>
          <c:spPr>
            <a:solidFill>
              <a:srgbClr val="D95926"/>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Sheet1!$C$2:$C$41</c:f>
              <c:numCache>
                <c:formatCode>General</c:formatCode>
                <c:ptCount val="40"/>
                <c:pt idx="0">
                  <c:v>0.6</c:v>
                </c:pt>
                <c:pt idx="1">
                  <c:v>2.2</c:v>
                </c:pt>
                <c:pt idx="2">
                  <c:v>2.2</c:v>
                </c:pt>
                <c:pt idx="3">
                  <c:v>2.2</c:v>
                </c:pt>
                <c:pt idx="4">
                  <c:v>2.3</c:v>
                </c:pt>
                <c:pt idx="5">
                  <c:v>2.2</c:v>
                </c:pt>
                <c:pt idx="6">
                  <c:v>2.3</c:v>
                </c:pt>
                <c:pt idx="7">
                  <c:v>2.3</c:v>
                </c:pt>
                <c:pt idx="8">
                  <c:v>2.3</c:v>
                </c:pt>
                <c:pt idx="9">
                  <c:v>2.2</c:v>
                </c:pt>
                <c:pt idx="10">
                  <c:v>2.2</c:v>
                </c:pt>
                <c:pt idx="11">
                  <c:v>2.1</c:v>
                </c:pt>
                <c:pt idx="12">
                  <c:v>2.1</c:v>
                </c:pt>
                <c:pt idx="13">
                  <c:v>1.9</c:v>
                </c:pt>
                <c:pt idx="14">
                  <c:v>1.7</c:v>
                </c:pt>
                <c:pt idx="15">
                  <c:v>1.4</c:v>
                </c:pt>
                <c:pt idx="16">
                  <c:v>1.1</c:v>
                </c:pt>
                <c:pt idx="17">
                  <c:v>0.8</c:v>
                </c:pt>
                <c:pt idx="18">
                  <c:v>0.6</c:v>
                </c:pt>
                <c:pt idx="19">
                  <c:v>0.4</c:v>
                </c:pt>
                <c:pt idx="20">
                  <c:v>0.3</c:v>
                </c:pt>
                <c:pt idx="21">
                  <c:v>0.2</c:v>
                </c:pt>
                <c:pt idx="22">
                  <c:v>0.1</c:v>
                </c:pt>
                <c:pt idx="23">
                  <c:v>0.1</c:v>
                </c:pt>
                <c:pt idx="24">
                  <c:v>0.0</c:v>
                </c:pt>
                <c:pt idx="25">
                  <c:v>0.0</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2"/>
          <c:order val="2"/>
          <c:tx>
            <c:strRef>
              <c:f>Sheet1!$D$1</c:f>
              <c:strCache>
                <c:ptCount val="1"/>
                <c:pt idx="0">
                  <c:v>Maand 3</c:v>
                </c:pt>
              </c:strCache>
            </c:strRef>
          </c:tx>
          <c:spPr>
            <a:solidFill>
              <a:srgbClr val="199E7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Sheet1!$D$2:$D$41</c:f>
              <c:numCache>
                <c:formatCode>General</c:formatCode>
                <c:ptCount val="40"/>
                <c:pt idx="0">
                  <c:v>0.0</c:v>
                </c:pt>
                <c:pt idx="1">
                  <c:v>0.0</c:v>
                </c:pt>
                <c:pt idx="2">
                  <c:v>0.0</c:v>
                </c:pt>
                <c:pt idx="3">
                  <c:v>2.2</c:v>
                </c:pt>
                <c:pt idx="4">
                  <c:v>2.3</c:v>
                </c:pt>
                <c:pt idx="5">
                  <c:v>2.2</c:v>
                </c:pt>
                <c:pt idx="6">
                  <c:v>2.2</c:v>
                </c:pt>
                <c:pt idx="7">
                  <c:v>2.3</c:v>
                </c:pt>
                <c:pt idx="8">
                  <c:v>2.3</c:v>
                </c:pt>
                <c:pt idx="9">
                  <c:v>2.2</c:v>
                </c:pt>
                <c:pt idx="10">
                  <c:v>2.3</c:v>
                </c:pt>
                <c:pt idx="11">
                  <c:v>2.2</c:v>
                </c:pt>
                <c:pt idx="12">
                  <c:v>2.3</c:v>
                </c:pt>
                <c:pt idx="13">
                  <c:v>2.1</c:v>
                </c:pt>
                <c:pt idx="14">
                  <c:v>2.1</c:v>
                </c:pt>
                <c:pt idx="15">
                  <c:v>2.0</c:v>
                </c:pt>
                <c:pt idx="16">
                  <c:v>1.7</c:v>
                </c:pt>
                <c:pt idx="17">
                  <c:v>1.5</c:v>
                </c:pt>
                <c:pt idx="18">
                  <c:v>1.2</c:v>
                </c:pt>
                <c:pt idx="19">
                  <c:v>0.9</c:v>
                </c:pt>
                <c:pt idx="20">
                  <c:v>0.7</c:v>
                </c:pt>
                <c:pt idx="21">
                  <c:v>0.5</c:v>
                </c:pt>
                <c:pt idx="22">
                  <c:v>0.3</c:v>
                </c:pt>
                <c:pt idx="23">
                  <c:v>0.2</c:v>
                </c:pt>
                <c:pt idx="24">
                  <c:v>0.1</c:v>
                </c:pt>
                <c:pt idx="25">
                  <c:v>0.1</c:v>
                </c:pt>
                <c:pt idx="26">
                  <c:v>0.0</c:v>
                </c:pt>
                <c:pt idx="27">
                  <c:v>0.0</c:v>
                </c:pt>
                <c:pt idx="28">
                  <c:v>0.0</c:v>
                </c:pt>
                <c:pt idx="29">
                  <c:v>0.0</c:v>
                </c:pt>
                <c:pt idx="30">
                  <c:v>0.0</c:v>
                </c:pt>
                <c:pt idx="31">
                  <c:v>0.0</c:v>
                </c:pt>
                <c:pt idx="32">
                  <c:v>0.0</c:v>
                </c:pt>
                <c:pt idx="33">
                  <c:v>0.0</c:v>
                </c:pt>
                <c:pt idx="34">
                  <c:v>0.0</c:v>
                </c:pt>
                <c:pt idx="35">
                  <c:v>0.0</c:v>
                </c:pt>
                <c:pt idx="36">
                  <c:v>0.0</c:v>
                </c:pt>
                <c:pt idx="37">
                  <c:v>0.0</c:v>
                </c:pt>
                <c:pt idx="38">
                  <c:v>0.0</c:v>
                </c:pt>
                <c:pt idx="39">
                  <c:v>0.0</c:v>
                </c:pt>
              </c:numCache>
            </c:numRef>
          </c:val>
        </c:ser>
        <c:ser>
          <c:idx val="3"/>
          <c:order val="3"/>
          <c:tx>
            <c:strRef>
              <c:f>Sheet1!$E$1</c:f>
              <c:strCache>
                <c:ptCount val="1"/>
                <c:pt idx="0">
                  <c:v>Maand 6</c:v>
                </c:pt>
              </c:strCache>
            </c:strRef>
          </c:tx>
          <c:spPr>
            <a:solidFill>
              <a:srgbClr val="C9850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Sheet1!$E$2:$E$41</c:f>
              <c:numCache>
                <c:formatCode>General</c:formatCode>
                <c:ptCount val="40"/>
                <c:pt idx="0">
                  <c:v>0.0</c:v>
                </c:pt>
                <c:pt idx="1">
                  <c:v>0.0</c:v>
                </c:pt>
                <c:pt idx="2">
                  <c:v>0.0</c:v>
                </c:pt>
                <c:pt idx="3">
                  <c:v>0.0</c:v>
                </c:pt>
                <c:pt idx="4">
                  <c:v>0.0</c:v>
                </c:pt>
                <c:pt idx="5">
                  <c:v>0.1</c:v>
                </c:pt>
                <c:pt idx="6">
                  <c:v>2.2</c:v>
                </c:pt>
                <c:pt idx="7">
                  <c:v>2.3</c:v>
                </c:pt>
                <c:pt idx="8">
                  <c:v>2.2</c:v>
                </c:pt>
                <c:pt idx="9">
                  <c:v>2.3</c:v>
                </c:pt>
                <c:pt idx="10">
                  <c:v>2.3</c:v>
                </c:pt>
                <c:pt idx="11">
                  <c:v>2.3</c:v>
                </c:pt>
                <c:pt idx="12">
                  <c:v>2.2</c:v>
                </c:pt>
                <c:pt idx="13">
                  <c:v>2.3</c:v>
                </c:pt>
                <c:pt idx="14">
                  <c:v>2.2</c:v>
                </c:pt>
                <c:pt idx="15">
                  <c:v>2.3</c:v>
                </c:pt>
                <c:pt idx="16">
                  <c:v>2.1</c:v>
                </c:pt>
                <c:pt idx="17">
                  <c:v>2.1</c:v>
                </c:pt>
                <c:pt idx="18">
                  <c:v>2.0</c:v>
                </c:pt>
                <c:pt idx="19">
                  <c:v>1.7</c:v>
                </c:pt>
                <c:pt idx="20">
                  <c:v>1.5</c:v>
                </c:pt>
                <c:pt idx="21">
                  <c:v>1.2</c:v>
                </c:pt>
                <c:pt idx="22">
                  <c:v>0.9</c:v>
                </c:pt>
                <c:pt idx="23">
                  <c:v>0.7</c:v>
                </c:pt>
                <c:pt idx="24">
                  <c:v>0.5</c:v>
                </c:pt>
                <c:pt idx="25">
                  <c:v>0.3</c:v>
                </c:pt>
                <c:pt idx="26">
                  <c:v>0.2</c:v>
                </c:pt>
                <c:pt idx="27">
                  <c:v>0.1</c:v>
                </c:pt>
                <c:pt idx="28">
                  <c:v>0.1</c:v>
                </c:pt>
                <c:pt idx="29">
                  <c:v>0.0</c:v>
                </c:pt>
                <c:pt idx="30">
                  <c:v>0.0</c:v>
                </c:pt>
                <c:pt idx="31">
                  <c:v>0.0</c:v>
                </c:pt>
                <c:pt idx="32">
                  <c:v>0.0</c:v>
                </c:pt>
                <c:pt idx="33">
                  <c:v>0.0</c:v>
                </c:pt>
                <c:pt idx="34">
                  <c:v>0.0</c:v>
                </c:pt>
                <c:pt idx="35">
                  <c:v>0.0</c:v>
                </c:pt>
                <c:pt idx="36">
                  <c:v>0.0</c:v>
                </c:pt>
                <c:pt idx="37">
                  <c:v>0.0</c:v>
                </c:pt>
                <c:pt idx="38">
                  <c:v>0.0</c:v>
                </c:pt>
                <c:pt idx="39">
                  <c:v>0.0</c:v>
                </c:pt>
              </c:numCache>
            </c:numRef>
          </c:val>
        </c:ser>
        <c:ser>
          <c:idx val="4"/>
          <c:order val="4"/>
          <c:tx>
            <c:strRef>
              <c:f>Sheet1!$F$1</c:f>
              <c:strCache>
                <c:ptCount val="1"/>
                <c:pt idx="0">
                  <c:v>Maand 9</c:v>
                </c:pt>
              </c:strCache>
            </c:strRef>
          </c:tx>
          <c:spPr>
            <a:solidFill>
              <a:srgbClr val="D55181"/>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Sheet1!$F$2:$F$41</c:f>
              <c:numCache>
                <c:formatCode>General</c:formatCode>
                <c:ptCount val="40"/>
                <c:pt idx="0">
                  <c:v>0.0</c:v>
                </c:pt>
                <c:pt idx="1">
                  <c:v>0.0</c:v>
                </c:pt>
                <c:pt idx="2">
                  <c:v>0.0</c:v>
                </c:pt>
                <c:pt idx="3">
                  <c:v>0.0</c:v>
                </c:pt>
                <c:pt idx="4">
                  <c:v>0.0</c:v>
                </c:pt>
                <c:pt idx="5">
                  <c:v>0.0</c:v>
                </c:pt>
                <c:pt idx="6">
                  <c:v>0.0</c:v>
                </c:pt>
                <c:pt idx="7">
                  <c:v>0.0</c:v>
                </c:pt>
                <c:pt idx="8">
                  <c:v>0.1</c:v>
                </c:pt>
                <c:pt idx="9">
                  <c:v>2.2</c:v>
                </c:pt>
                <c:pt idx="10">
                  <c:v>2.3</c:v>
                </c:pt>
                <c:pt idx="11">
                  <c:v>2.2</c:v>
                </c:pt>
                <c:pt idx="12">
                  <c:v>2.2</c:v>
                </c:pt>
                <c:pt idx="13">
                  <c:v>2.3</c:v>
                </c:pt>
                <c:pt idx="14">
                  <c:v>2.2</c:v>
                </c:pt>
                <c:pt idx="15">
                  <c:v>2.2</c:v>
                </c:pt>
                <c:pt idx="16">
                  <c:v>2.3</c:v>
                </c:pt>
                <c:pt idx="17">
                  <c:v>2.2</c:v>
                </c:pt>
                <c:pt idx="18">
                  <c:v>2.2</c:v>
                </c:pt>
                <c:pt idx="19">
                  <c:v>2.1</c:v>
                </c:pt>
                <c:pt idx="20">
                  <c:v>2.1</c:v>
                </c:pt>
                <c:pt idx="21">
                  <c:v>2.0</c:v>
                </c:pt>
                <c:pt idx="22">
                  <c:v>1.7</c:v>
                </c:pt>
                <c:pt idx="23">
                  <c:v>1.5</c:v>
                </c:pt>
                <c:pt idx="24">
                  <c:v>1.2</c:v>
                </c:pt>
                <c:pt idx="25">
                  <c:v>0.9</c:v>
                </c:pt>
                <c:pt idx="26">
                  <c:v>0.7</c:v>
                </c:pt>
                <c:pt idx="27">
                  <c:v>0.5</c:v>
                </c:pt>
                <c:pt idx="28">
                  <c:v>0.3</c:v>
                </c:pt>
                <c:pt idx="29">
                  <c:v>0.2</c:v>
                </c:pt>
                <c:pt idx="30">
                  <c:v>0.1</c:v>
                </c:pt>
                <c:pt idx="31">
                  <c:v>0.1</c:v>
                </c:pt>
                <c:pt idx="32">
                  <c:v>0.0</c:v>
                </c:pt>
                <c:pt idx="33">
                  <c:v>0.0</c:v>
                </c:pt>
                <c:pt idx="34">
                  <c:v>0.0</c:v>
                </c:pt>
                <c:pt idx="35">
                  <c:v>0.0</c:v>
                </c:pt>
                <c:pt idx="36">
                  <c:v>0.0</c:v>
                </c:pt>
                <c:pt idx="37">
                  <c:v>0.0</c:v>
                </c:pt>
                <c:pt idx="38">
                  <c:v>0.0</c:v>
                </c:pt>
                <c:pt idx="39">
                  <c:v>0.0</c:v>
                </c:pt>
              </c:numCache>
            </c:numRef>
          </c:val>
        </c:ser>
        <c:ser>
          <c:idx val="5"/>
          <c:order val="5"/>
          <c:tx>
            <c:strRef>
              <c:f>Sheet1!$G$1</c:f>
              <c:strCache>
                <c:ptCount val="1"/>
                <c:pt idx="0">
                  <c:v>Maand 12</c:v>
                </c:pt>
              </c:strCache>
            </c:strRef>
          </c:tx>
          <c:spPr>
            <a:solidFill>
              <a:srgbClr val="008300"/>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Sheet1!$G$2:$G$41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2.2</c:v>
                </c:pt>
                <c:pt idx="13">
                  <c:v>2.3</c:v>
                </c:pt>
                <c:pt idx="14">
                  <c:v>2.2</c:v>
                </c:pt>
                <c:pt idx="15">
                  <c:v>2.2</c:v>
                </c:pt>
                <c:pt idx="16">
                  <c:v>2.3</c:v>
                </c:pt>
                <c:pt idx="17">
                  <c:v>2.2</c:v>
                </c:pt>
                <c:pt idx="18">
                  <c:v>2.2</c:v>
                </c:pt>
                <c:pt idx="19">
                  <c:v>2.3</c:v>
                </c:pt>
                <c:pt idx="20">
                  <c:v>2.2</c:v>
                </c:pt>
                <c:pt idx="21">
                  <c:v>2.3</c:v>
                </c:pt>
                <c:pt idx="22">
                  <c:v>2.1</c:v>
                </c:pt>
                <c:pt idx="23">
                  <c:v>2.1</c:v>
                </c:pt>
                <c:pt idx="24">
                  <c:v>2.0</c:v>
                </c:pt>
                <c:pt idx="25">
                  <c:v>1.7</c:v>
                </c:pt>
                <c:pt idx="26">
                  <c:v>1.5</c:v>
                </c:pt>
                <c:pt idx="27">
                  <c:v>1.2</c:v>
                </c:pt>
                <c:pt idx="28">
                  <c:v>0.9</c:v>
                </c:pt>
                <c:pt idx="29">
                  <c:v>0.7</c:v>
                </c:pt>
                <c:pt idx="30">
                  <c:v>0.5</c:v>
                </c:pt>
                <c:pt idx="31">
                  <c:v>0.3</c:v>
                </c:pt>
                <c:pt idx="32">
                  <c:v>0.2</c:v>
                </c:pt>
                <c:pt idx="33">
                  <c:v>0.1</c:v>
                </c:pt>
                <c:pt idx="34">
                  <c:v>0.1</c:v>
                </c:pt>
                <c:pt idx="35">
                  <c:v>0.0</c:v>
                </c:pt>
                <c:pt idx="36">
                  <c:v>0.0</c:v>
                </c:pt>
                <c:pt idx="37">
                  <c:v>0.0</c:v>
                </c:pt>
                <c:pt idx="38">
                  <c:v>0.0</c:v>
                </c:pt>
                <c:pt idx="39">
                  <c:v>0.0</c:v>
                </c:pt>
              </c:numCache>
            </c:numRef>
          </c:val>
        </c:ser>
        <c:ser>
          <c:idx val="6"/>
          <c:order val="6"/>
          <c:tx>
            <c:strRef>
              <c:f>Sheet1!$H$1</c:f>
              <c:strCache>
                <c:ptCount val="1"/>
                <c:pt idx="0">
                  <c:v>Maand 15</c:v>
                </c:pt>
              </c:strCache>
            </c:strRef>
          </c:tx>
          <c:spPr>
            <a:solidFill>
              <a:srgbClr val="9085E9"/>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Sheet1!$H$2:$H$41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0.1</c:v>
                </c:pt>
                <c:pt idx="15">
                  <c:v>2.2</c:v>
                </c:pt>
                <c:pt idx="16">
                  <c:v>2.3</c:v>
                </c:pt>
                <c:pt idx="17">
                  <c:v>2.2</c:v>
                </c:pt>
                <c:pt idx="18">
                  <c:v>2.3</c:v>
                </c:pt>
                <c:pt idx="19">
                  <c:v>2.3</c:v>
                </c:pt>
                <c:pt idx="20">
                  <c:v>2.3</c:v>
                </c:pt>
                <c:pt idx="21">
                  <c:v>2.2</c:v>
                </c:pt>
                <c:pt idx="22">
                  <c:v>2.3</c:v>
                </c:pt>
                <c:pt idx="23">
                  <c:v>2.2</c:v>
                </c:pt>
                <c:pt idx="24">
                  <c:v>2.3</c:v>
                </c:pt>
                <c:pt idx="25">
                  <c:v>2.1</c:v>
                </c:pt>
                <c:pt idx="26">
                  <c:v>2.1</c:v>
                </c:pt>
                <c:pt idx="27">
                  <c:v>2.0</c:v>
                </c:pt>
                <c:pt idx="28">
                  <c:v>1.7</c:v>
                </c:pt>
                <c:pt idx="29">
                  <c:v>1.5</c:v>
                </c:pt>
                <c:pt idx="30">
                  <c:v>1.2</c:v>
                </c:pt>
                <c:pt idx="31">
                  <c:v>0.9</c:v>
                </c:pt>
                <c:pt idx="32">
                  <c:v>0.7</c:v>
                </c:pt>
                <c:pt idx="33">
                  <c:v>0.5</c:v>
                </c:pt>
                <c:pt idx="34">
                  <c:v>0.3</c:v>
                </c:pt>
                <c:pt idx="35">
                  <c:v>0.2</c:v>
                </c:pt>
                <c:pt idx="36">
                  <c:v>0.1</c:v>
                </c:pt>
                <c:pt idx="37">
                  <c:v>0.1</c:v>
                </c:pt>
                <c:pt idx="38">
                  <c:v>0.0</c:v>
                </c:pt>
                <c:pt idx="39">
                  <c:v>0.0</c:v>
                </c:pt>
              </c:numCache>
            </c:numRef>
          </c:val>
        </c:ser>
        <c:ser>
          <c:idx val="7"/>
          <c:order val="7"/>
          <c:tx>
            <c:strRef>
              <c:f>Sheet1!$I$1</c:f>
              <c:strCache>
                <c:ptCount val="1"/>
                <c:pt idx="0">
                  <c:v>Maand 18</c:v>
                </c:pt>
              </c:strCache>
            </c:strRef>
          </c:tx>
          <c:spPr>
            <a:solidFill>
              <a:srgbClr val="E66767"/>
            </a:solidFill>
            <a:ln>
              <a:noFill/>
            </a:ln>
          </c:spPr>
          <c:cat>
            <c:strRef>
              <c:f>Sheet1!$A$2:$A$41</c:f>
              <c:strCache>
                <c:ptCount val="40"/>
                <c:pt idx="0">
                  <c:v>1</c:v>
                </c:pt>
                <c:pt idx="1">
                  <c:v> </c:v>
                </c:pt>
                <c:pt idx="2">
                  <c:v> </c:v>
                </c:pt>
                <c:pt idx="3">
                  <c:v> </c:v>
                </c:pt>
                <c:pt idx="4">
                  <c:v> </c:v>
                </c:pt>
                <c:pt idx="5">
                  <c:v> </c:v>
                </c:pt>
                <c:pt idx="6">
                  <c:v> </c:v>
                </c:pt>
                <c:pt idx="7">
                  <c:v> </c:v>
                </c:pt>
                <c:pt idx="8">
                  <c:v> </c:v>
                </c:pt>
                <c:pt idx="9">
                  <c:v> </c:v>
                </c:pt>
                <c:pt idx="10">
                  <c:v> </c:v>
                </c:pt>
                <c:pt idx="11">
                  <c:v>12</c:v>
                </c:pt>
                <c:pt idx="12">
                  <c:v> </c:v>
                </c:pt>
                <c:pt idx="13">
                  <c:v> </c:v>
                </c:pt>
                <c:pt idx="14">
                  <c:v> </c:v>
                </c:pt>
                <c:pt idx="15">
                  <c:v> </c:v>
                </c:pt>
                <c:pt idx="16">
                  <c:v> </c:v>
                </c:pt>
                <c:pt idx="17">
                  <c:v> </c:v>
                </c:pt>
                <c:pt idx="18">
                  <c:v> </c:v>
                </c:pt>
                <c:pt idx="19">
                  <c:v> </c:v>
                </c:pt>
                <c:pt idx="20">
                  <c:v> </c:v>
                </c:pt>
                <c:pt idx="21">
                  <c:v> </c:v>
                </c:pt>
                <c:pt idx="22">
                  <c:v> </c:v>
                </c:pt>
                <c:pt idx="23">
                  <c:v>24</c:v>
                </c:pt>
                <c:pt idx="24">
                  <c:v> </c:v>
                </c:pt>
                <c:pt idx="25">
                  <c:v> </c:v>
                </c:pt>
                <c:pt idx="26">
                  <c:v> </c:v>
                </c:pt>
                <c:pt idx="27">
                  <c:v> </c:v>
                </c:pt>
                <c:pt idx="28">
                  <c:v> </c:v>
                </c:pt>
                <c:pt idx="29">
                  <c:v> </c:v>
                </c:pt>
                <c:pt idx="30">
                  <c:v> </c:v>
                </c:pt>
                <c:pt idx="31">
                  <c:v> </c:v>
                </c:pt>
                <c:pt idx="32">
                  <c:v> </c:v>
                </c:pt>
                <c:pt idx="33">
                  <c:v> </c:v>
                </c:pt>
                <c:pt idx="34">
                  <c:v> </c:v>
                </c:pt>
                <c:pt idx="35">
                  <c:v>36</c:v>
                </c:pt>
                <c:pt idx="36">
                  <c:v> </c:v>
                </c:pt>
                <c:pt idx="37">
                  <c:v> </c:v>
                </c:pt>
                <c:pt idx="38">
                  <c:v> </c:v>
                </c:pt>
                <c:pt idx="39">
                  <c:v> </c:v>
                </c:pt>
              </c:strCache>
            </c:strRef>
          </c:cat>
          <c:val>
            <c:numRef>
              <c:f>Sheet1!$I$2:$I$41</c:f>
              <c:numCache>
                <c:formatCode>General</c:formatCode>
                <c:ptCount val="40"/>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0.1</c:v>
                </c:pt>
                <c:pt idx="18">
                  <c:v>2.2</c:v>
                </c:pt>
                <c:pt idx="19">
                  <c:v>2.3</c:v>
                </c:pt>
                <c:pt idx="20">
                  <c:v>2.2</c:v>
                </c:pt>
                <c:pt idx="21">
                  <c:v>2.2</c:v>
                </c:pt>
                <c:pt idx="22">
                  <c:v>2.3</c:v>
                </c:pt>
                <c:pt idx="23">
                  <c:v>2.2</c:v>
                </c:pt>
                <c:pt idx="24">
                  <c:v>2.2</c:v>
                </c:pt>
                <c:pt idx="25">
                  <c:v>2.3</c:v>
                </c:pt>
                <c:pt idx="26">
                  <c:v>2.2</c:v>
                </c:pt>
                <c:pt idx="27">
                  <c:v>2.3</c:v>
                </c:pt>
                <c:pt idx="28">
                  <c:v>2.1</c:v>
                </c:pt>
                <c:pt idx="29">
                  <c:v>2.1</c:v>
                </c:pt>
                <c:pt idx="30">
                  <c:v>2.0</c:v>
                </c:pt>
                <c:pt idx="31">
                  <c:v>1.7</c:v>
                </c:pt>
                <c:pt idx="32">
                  <c:v>1.5</c:v>
                </c:pt>
                <c:pt idx="33">
                  <c:v>1.2</c:v>
                </c:pt>
                <c:pt idx="34">
                  <c:v>0.9</c:v>
                </c:pt>
                <c:pt idx="35">
                  <c:v>0.7</c:v>
                </c:pt>
                <c:pt idx="36">
                  <c:v>0.5</c:v>
                </c:pt>
                <c:pt idx="37">
                  <c:v>0.3</c:v>
                </c:pt>
                <c:pt idx="38">
                  <c:v>0.2</c:v>
                </c:pt>
                <c:pt idx="39">
                  <c:v>0.1</c:v>
                </c:pt>
              </c:numCache>
            </c:numRef>
          </c:val>
        </c:ser>
        <c:gapWidth val="20"/>
        <c:overlap val="100"/>
        <c:axId val="-2068027336"/>
        <c:axId val="-2113994440"/>
      </c:barChart>
      <c:catAx>
        <c:axId val="-2068027336"/>
        <c:scaling>
          <c:orientation val="minMax"/>
        </c:scaling>
        <c:delete val="0"/>
        <c:axPos val="b"/>
        <c:majorTickMark val="none"/>
        <c:minorTickMark val="none"/>
        <c:tickLblPos val="low"/>
        <c:spPr>
          <a:ln>
            <a:solidFill>
              <a:srgbClr val="15395A"/>
            </a:solidFill>
          </a:ln>
        </c:spPr>
        <c:txPr>
          <a:bodyPr/>
          <a:lstStyle/>
          <a:p>
            <a:pPr>
              <a:defRPr sz="1200" b="0">
                <a:solidFill>
                  <a:srgbClr val="8FB0CA"/>
                </a:solidFill>
                <a:latin typeface="Segoe UI"/>
              </a:defRPr>
            </a:pPr>
          </a:p>
        </c:txPr>
        <c:crossAx val="-2113994440"/>
        <c:crosses val="autoZero"/>
        <c:auto val="1"/>
        <c:lblAlgn val="ctr"/>
        <c:lblOffset val="100"/>
        <c:tickLblSkip val="1"/>
        <c:noMultiLvlLbl val="0"/>
      </c:catAx>
      <c:valAx>
        <c:axId val="-2113994440"/>
        <c:scaling>
          <c:max val="20.0"/>
          <c:min val="0.0"/>
        </c:scaling>
        <c:delete val="0"/>
        <c:axPos val="l"/>
        <c:majorGridlines>
          <c:spPr>
            <a:ln w="9525">
              <a:solidFill>
                <a:srgbClr val="15395A"/>
              </a:solidFill>
            </a:ln>
          </c:spPr>
        </c:majorGridlines>
        <c:majorTickMark val="none"/>
        <c:minorTickMark val="none"/>
        <c:tickLblPos val="none"/>
        <c:spPr>
          <a:ln>
            <a:noFill/>
          </a:ln>
        </c:spPr>
        <c:txPr>
          <a:bodyPr/>
          <a:lstStyle/>
          <a:p>
            <a:pPr>
              <a:defRPr sz="1200" b="0">
                <a:solidFill>
                  <a:srgbClr val="8FB0CA"/>
                </a:solidFill>
                <a:latin typeface="Segoe UI"/>
              </a:defRPr>
            </a:pPr>
          </a:p>
        </c:txPr>
        <c:crossAx val="-2068027336"/>
        <c:crosses val="autoZero"/>
        <c:majorUnit val="5.0"/>
      </c:valAx>
      <c:spPr>
        <a:noFill/>
        <a:ln>
          <a:noFill/>
        </a:ln>
      </c:spPr>
    </c:plotArea>
    <c:dispBlanksAs val="gap"/>
  </c:chart>
  <c:spPr>
    <a:noFill/>
    <a:ln>
      <a:noFill/>
    </a:ln>
  </c:spPr>
  <c:txPr>
    <a:bodyPr/>
    <a:lstStyle/>
    <a:p>
      <a:pPr>
        <a:defRPr sz="1200">
          <a:solidFill>
            <a:srgbClr val="8FB0C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op de eerste officiële meeting van PARADISE met de zes voetklinieken: de kick-off van de studie. Op de kaart de zes centra: AZ Sint-Jan in Brugge, UZ Gent, AZ Groeninge in Kortrijk, UZ Antwerpen in Edegem, AZORG in Aalst en UZ Leuven. We volgen de agenda die u vooraf kreeg: de stand van zaken, wat er sinds 1 april veranderde, de werkpakketten, de aandachtspunten, de mijlpalen en de planning, en dan de bespreking en een ronde per centrum.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agenda zoals u ze vooraf kreeg. De dia's volgen dezelfde nummering: bovenaan elke dia ziet u bij welk punt ze hoort. Het meeste tijd gaat naar punt 5, de planning, en naar de bespreking; daar hebben we uw input nodig.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 herinnering: 144 deelnemers, 24 in elk van de zes voetklinieken, twaalf in elke arm. Drie academische centra, Leuven, Gent en Antwerpen, en drie niet-academische, Aalst, Kortrijk en Brugge. Elke deelnemer wordt achttien maanden gevolgd. Er is één primair eindpunt: het voetulcusrecidief over achttien maanden. De PI loot per centrum met verzegelde enveloppen, pas na bevestigde geschiktheid en toestemming. Blijft één centrum achter, dan haalt de studie het niet: vandaar het tempo dat we straks vragen.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punten, en daarna twee dia's per centrum: de ethische goedkeuring en het materiaal. De ethische goedkeuring is het kritieke pad, want nergens wordt geïncludeerd vóór alle goedkeuringen binnen zijn. De drukmeetsystemen, de Novel pedar, zijn geleverd en worden centrum per centrum geïnstalleerd. De REDCap-databank staat klaar: u vult papieren formulieren in, het studieteam voert ze in, u voert zelf niets in. De opleidingsplanning ligt klaar, van 10 november tot maart; elk centrum krijgt een toetsingsblad met zijn eigen data. En in februari 2027 volgen de piloot, de Go/No-Go en dan de eerste patiënt.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ethische goedkeuring, centrum per centrum. Bovenaan wat voor de hele studie geldt: de centrale ethische commissie van UZ Leuven en het FAGG. Daaronder per centrum: wanneer het lokale dossier ingediend is, wanneer het goedgekeurd is, en hoe ver het contract staat. Geen enkel centrum includeert vóór alle goedkeuringen binnen zijn; opleiden kan wel. Vul de stand per centrum in, of vraag ze tijdens de tour de table 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materiaal, centrum per centrum, zoals het er vandaag voor staat. De Novel pedar, met laptop, router en twee zenders, is in Brugge en in Leuven geïnstalleerd; in Gent is hij onderweg; in Kortrijk, Aalst en Antwerpen is hij aanwezig maar nog niet geïnstalleerd. De vier MoveMonitors en de Orthotimers met de pen zijn in Leuven geïnstalleerd en in de vijf andere centra aanwezig. Alles hoort geïnstalleerd te zijn vóór de technologiesessie van dat centrum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er sinds de vorige meeting van 1 april is vastgelegd. De drukmeting: de keuze is gemaakt voor de Novel pedar als klinisch toestel; de F-Scan GO gebruikt alleen het studieteam, om beide te vergelijken. De druknorm: alles gebeurt in de schoen, er wordt niet blootsvoets gemeten, en de 25 procent wordt gerekend tegenover de meting zonder zool op visite 2, die voor de hele studie de referentie blijft; beslissingen van de PI op 11 en 22 september. Het eindpunt: sinds 3 september is er één primair eindpunt, het recidief over achttien maanden; therapietrouw wordt volledig gemeten als mediator. De draagnorm: tachtig procent van de eigen waaktijd, sinds 26 september in beide armen in de Orthotimer gezet. De MoveMonitor dient daarvoor alleen nog bij de start: één week bepaalt de slaaptijd, en dus de waaktijd. De meetweek op maand zes vervalt, wat uw team werk bespaart. De CMFO: de opbouw hangt af van het schoentype, en het tweede paar is een identiek duplicaat zodra de norm gehaald is. De blindering: in gebruikelijke zorg worden de drukwaarden niet getoond of besproken. De data: het protocol v1.0 dateert van 17 mei, de REDCap-databank staat klaar, en zoals op 1 april voorgesteld werken de centra op papier. En de rekrutering: het protocol voorziet twaalf maanden, niet de achttien van de aanvraag. Met achttien maanden zou de laatste visite na september 2029 vallen.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vijf werkpakketten, zoals op 1 april voorgesteld. WP1 is de studie zelf: protocol en formulieren zijn klaar, de opleidingen lopen van november tot maart, in februari volgen de piloot en de Go/No-Go, en daarna de inclusie. WP2, de procesevaluatie onder Maaike Fobelets: de doctorandi nemen PARADISE-sessies met patiënten op en observeren ze, de therapeut houdt een dagboek bij (eCRF 40), er volgen interviews met patiënten, therapeuten en management, en de fidelity van SEBIA wordt gemeten. WP3, de gezondheidseconomie onder Koen Putman: levenskwaliteit, medische consumptie en productiviteit, met de EQ-5D-5L, de iMCQ en de iPCQ, waarvoor de licenties geregeld zijn, en een gezondheidseconomisch dagboek dat telefonisch bevraagd wordt. WP4, project- en databeheer onder Kevin Deschamps: de REDCap-databank, waarin het studieteam de papieren formulieren invoert, en de overlegorganen, de Executive Board en de Clinical Trial Management Group. WP5, de disseminatie: huisstijl en website, publicaties, en communicatie naar zorgverleners, patiënten en publiek. De volgende dia's gaan over WP1: wie in aanmerking komt, wat de armen krijgen en wanneer.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wie in aanmerking komt, met een ezelsbruggetje: VOETEN. Vaten stabiel: een stabiele vaatstatus, naar oordeel van de arts. Ooit een voetwonde: IWGDF-risico 3, met een genezen plantair ulcus, een partiële voetamputatie of een resectie van een metatarsaalkop, ook de eerste, tussen twee weken en achttien maanden geleden. Eigen stappen: de patiënt stapt zelfstandig blootsvoets, zonder hulpmiddel. Type 1 of 2: diabetes type 1 of 2, dus geen zwangerschapsdiabetes. Echt beschermend schoeisel: of bereid om over te schakelen; alle drie de schoeiselsituaties komen in aanmerking, volledig maatwerk, of maatzolen in semi-orthopedisch of in extra-diep confectieschoeisel. Nederlands en volwassen: achttien jaar of ouder en begrijpt Nederlands. Rechts wie niet. Drie punten worden het vaakst gemist. Een resectie van de eerste metatarsaalkop komt wél in aanmerking: alleen een amputatie proximaal van de MTP-gewrichten sluit uit. Een enkel-voetorthese sluit uit, omdat de druksensoren er niet in passen. En wie de draagsensor in de zool weigert, valt af, want zonder sensor kunnen we de draagtijd niet meten. De verwachte overleving beoordeelt de arts. De arts screent en vraagt de toestemming.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Beide armen krijgen hetzelfde pakket: een nieuwe drukherverdelende maatzool met dezelfde opbouw, driemaandelijkse voetzorg en screening, dezelfde drukmetingen, een draagsensor in de zool en één week MoveMonitor bij de start. Het verschil zit in wat er met de metingen gebeurt. In PARADISE sturen twee normen de zorg. Bovenaan de druk: de pedar meet de piekdruk mét de zool; de norm is onder 200 kilopascal, óf minstens 25 procent lager dan zonder zool op visite 2. Eén van beide volstaat. De zool wordt aangepast tot dat gehaald is, en op maand 6, 12 en 18 opnieuw getoetst; zodra de norm gehaald is, volgt een identiek tweede paar. Onderaan het dragen: de MoveMonitor geeft bij de start de slaaptijd en dus de waaktijd, 80 procent daarvan is de draagnorm, alle zeven dagen, en de Orthotimer meet hoeveel de zool echt gedragen wordt. Dat komt terug in het SEBIA-gesprek op elke visite. In gebruikelijke zorg wordt exact hetzelfde gemeten, maar blijft het geblindeerd: niet getoetst, niet besproken, geen feedback, en educatie zoals vandaag met hetzelfde boekje.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Waar komt de tachtig procent vandaan? Uit DIAFOS, de Nederlandse studie van Bus en collega's uit 2013. De methodesectie zegt letterlijk waarom: de grens van tachtig procent werd vooraf gekozen omdat ze twee groepen van vergelijkbare grootte oplevert, één met hoge en één met lage therapietrouw. De reden was dus statistisch, niet biologisch, en de noemer waren de stappen. Het resultaat gaf de grens wel gezag: bij de 79 patiënten met hoge therapietrouw kreeg 25,7 procent met het drukverlagende schoeisel een recidief, tegenover 47,8 procent in de gebruikelijke zorg. Rechts waarom de noemer zo belangrijk is. Waaijman berekende bij dezelfde 107 patiënten, in dezelfde meetweek, twee getallen: 71 procent van de stappen met het schoeisel, en 59 procent van een aangenomen dag van zestien uur. Hetzelfde gedrag, een ander percentage, alleen door de noemer. Referenties: Bus e.a., Diabetes Care 2013;36:4109–16. Waaijman e.a., Diabetes Care 2013;36:1613–8.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literatuur naast elkaar, per noemer: waardoor deelt elke studie de draagtijd? In de bolletjes de grens die ze hanteren. Chantelau rekende in dagtijd, zonder sensor, en zag minder recidief boven zestig procent. Arts en Exterkate deelden door een aangenomen dag van zestien uur uit bed; Arts vroeg de uren aan de patiënt, Exterkate mat ze met de Orthotimer. Waaijman en Bus delen door de stappen, gemeten met een temperatuursensor in de schoen en een StepWatch aan de enkel. DIASSIST drukt de uitkomst uit als deel van de stappen, en noemt in het protocol minder dan acht uur per dag niet therapietrouw; van Netten gebruikt beide. Jarl nam de gewichtdragende tijd als referentie en vond voor de uren per dag een grens van 12,2 uur. Vanaf DIASSIST werkt men met dezelfde toestellen als wij, de Orthotimer en de MoveMonitor; voor DIASSIST steunen we daarvoor op het protocol, want de publicatie van 2026 noemt in haar samenvatting geen toestellen. PARADISE staat alleen in de laatste kolom: niemand deelt door een gemeten waaktijd. Referenties: Chantelau en Haage, Diabet Med 1994;11:114–6. Arts e.a., J Rehabil Med 2014;46:357–62. Waaijman e.a., Diabetes Care 2013;36:1613–8. Bus e.a., Diabetes Care 2013;36:4109–16. Vossen e.a., Trials 2023;24:663, en Diabetes Care 2026;49:1384–94. Exterkate e.a., J Foot Ankle Res 2023;16:60. van Netten e.a., J Clin Med 2025;14:3635. Jarl e.a., Sensors 2023;23:1648.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betekent dat voor PARADISE? Links wat we overnemen. De tachtig procent als lat: ze komt uit DIAFOS, waar het drukverlagend schoeisel werkte bij wie ze haalde. Dezelfde toestellen als de recente Nederlandse en Zweedse studies: de Orthotimer en de MoveMonitor. De draaguren als maat: Jarl toonde met precies onze toestellen dat de uren per dag de referentie bijna even goed volgen als het deel van de stappen, r = 0,91 tegenover 0,96, terwijl wat de patiënt zelf opgeeft maar matig meevolgt, 0,42. Jarl schrijft er wel bij dat er geen gouden standaard bestaat. En een lat rond twaalf uur: Jarl vond 12,2 uur per dag als grens; onze lat voor iemand die 15,5 uur wakker is, ligt op 12,4 uur. Rechts wat niet voor ons geldt. Het deel van de stappen kunnen we niet berekenen, want McRoberts levert alleen dagtotalen en geen data per tijdstip; dan weet je niet of de schoen aan was tijdens het stappen. Een aangenomen dag van zestien uur is niet nodig, want wij meten de eigen waaktijd. Een MoveMonitor-week op maand 6 en 12, zoals in het DIASSIST-protocol, doen we niet: bij ons alleen bij de start. En zelfrapportage gebruiken we niet als maat.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 werkt de draagnorm, met een voorbeeldpatiënt. Bij de start draagt de patiënt één week de MoveMonitor. Daaruit halen we de slaaptijd, en dus hoe lang iemand per dag wakker is; hier 15,5 uur, met 8,5 uur slaap. De norm is tachtig procent van die waaktijd, hier 12,4 uur schoeisel per dag, voor alle zeven dagen van de week, en die zetten we in de Orthotimer. De Orthotimer meet hoeveel uur het schoeisel echt aan was, en wordt elk kwartaal uitgelezen. Voor de patiënt vertalen we dat in één eenvoudige boodschap: u draagt uw schoenen altijd, van het moment dat u opstaat tot u gaat slapen. Wat verandert tegenover eerder: de MoveMonitor gaat alleen nog mee bij de start. De meetweek op maand zes en het uitlezen een week later vervallen. Dat bespaart uw team een contact per patiënt, en de norm blijft toch op maat.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hele traject op één blad. Bovenaan de contactmomenten: de arts screent en vraagt toestemming, op visite 0 wordt de geschiktheid bevestigd en loot de PI. Visite 1 is de baseline, visite 2 volgt tussen 14 dagen en een maand later bij de aflevering van de zool, en daarna is het ritme elke drie maanden, tot maand 18: hetzelfde ritme als de controle die deze patiënten al krijgen. De rijen tonen wat wanneer gebeurt. De drukmeting: op visite 1 alleen zonder zool, op visite 2 en op maand 6, 12 en 18 zonder en met zool. De MoveMonitor gaat één keer een week mee, bij de start: daaruit halen we de slaaptijd en dus de waaktijd. De meetweek op maand 6 vervalt. De Orthotimer gaat op visite 2 in de zool en wordt daarna bij elke visite uitgelezen. Op visite 1 en vanaf visite 3 volgt ook telkens de voet- en schoeiselscreening. En SEBIA, alleen in de PARADISE-arm, met een gesprek op elke visite: educatie en demonstratie van de voetzorg op baseline, het belang van de schoenen bij de aflevering, feedback op de draagtijd met ondersteunende interventies op maand 3, 9 en 15, een evaluatie van kennis en kunde met feedback op maand 6 en 12, en een afrondend gesprek op maand 18. Zo staat het in het SEBIA-script, eCRF 17, en in REDCap, waar de feedback op therapietrouw op elke opvolgvisite staat. Het manuscript beschrijft het nog anders; dat wordt nog gelijkgezet.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Vijf openstaande punten. Eén: de ethische goedkeuring, centraal bij de EC van UZ Leuven, bij het FAGG en lokaal in elk centrum. Nergens wordt geïncludeerd vóór alle goedkeuringen binnen zijn; opleiden kan wel. De stand per centrum staat op een aparte dia. Twee: de toestellen geïnstalleerd vóór de technologiesessie van elk centrum, anders valt die sessie stil; ook dat staat per centrum op een aparte dia. Drie: de dryrun en het pilootbezoek. Vier: welk SEBIA-schema geldt, dat van het script of dat van het manuscript; daarna zetten we REDCap en het manuscript gelijk. Vijf: een aparte toestemming voor de opnames en observaties van de procesevaluatie in het toestemmingsformulier, eCRF 02.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grote lijnen tot het einde. De opleidingen lopen van november tot maart. Op 23 februari beslist de Executive Board na de piloot over Go of No-Go, en de inclusie start meteen daarna, eind februari 2027. We vragen twaalf maanden inclusie: 144 gerandomiseerde deelnemers eind februari 2028, zoals het protocol voorziet. Elke deelnemer wordt achttien maanden gevolgd, dus de laatste visite valt volgens plan eind augustus 2029. De geplande laatste visite is september 2029; achttien maanden terugrekenen geeft de uiterste datum voor de laatste inclusie: eind maart 2028. Er is dus één maand marge tussen het plan en die grens.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opleiding loopt van november tot maart; een bolletje is een sessie, een balk een reeks sessies centrum per centrum, en de kleur zegt waar. Online, en opgenomen: de theorie in vier blokken op dinsdag 10 en 24 november, gezondheidseconomie en procesevaluatie op 8 december, telkens van half één tot twee, en datacollectie en vragenlijsten op 12 januari van negen tot elf, na een zelftest waarbij elk centrum de vragenlijsten eens zelf invult. Wie niet live kan, bekijkt de opname. Ter plaatse, in uw centrum: de technologie tussen 2 en 15 december, eerst theorie en dan praktijk, en de droogloop van de vier visites tussen 13 en 27 januari. SEBIA 1 en 2 bij Fabienne Dobbels, overdag en op dagen uit haar eigen agenda, in drie groepen: Kortrijk met de eerste podoloog van Brugge op woensdag 6 januari, groep Oost met de tweede podoloog van Brugge op dinsdag 12 januari, en Gent op vrijdag 15 januari in het eigen centrum, telkens in de namiddag. SEBIA 3 en 4 stellen we in dezelfde groepen voor op 9, 10 en 12 maart, maar mevrouw Dobbels gaf na januari nog geen data; die vragen we eerst bij haar op. Daarna SEBIA 5, individueel in het eigen centrum, van 15 tot 26 maart, en SEBIA 6 online als intervisie met feedback, zes tot negen maanden na de start van eind februari, dus van september tot november 2027. In februari lopen de piloot en op 23 februari de Go/No-Go van de Executive Board. Artsen volgen alleen theorie; de praktijk is voor de podologen. De twee pedorthisten komen één keer, naar de theorie van de technologie. De praktijksessies worden niet opgenomen, dus daar is aanwezigheid nodig.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Hoe we de SEBIA-opleiding zien. SEBIA heeft twee doelen: goede voetzorg, via educatie en vaardigheidstraining, en therapietrouw aan het schoeisel, via monitoring, motivatie en het aanpakken van drempels. Het SEBIA-gesprek komt op elke visite van de PARADISE-arm terug: op de eerste visites ligt de focus op educatie, daarna op de draagtijd, en op maand 6 en 12 op beide. Fabienne Dobbels geeft de opleiding aan de podologen, in zes sessies. Sessie 1 gaat over het geven van educatie: de patiënt als volwassen lerende, need to know tegenover nice to know, teach-back en show-me, en het voordoen van de voetzorg. Sessie 2 over het evalueren van kennis en vaardigheden met de NAFF, het uitlezen van de sensor met een uitdraai, en feedback over het dragen van de zolen. Die twee samen duren vier uur, overdag in januari, in drie groepen: Kortrijk met de eerste podoloog van Brugge op woensdag 6 januari, groep Oost met de tweede podoloog van Brugge op dinsdag 12 januari, en Gent op vrijdag 15 januari, telkens in de namiddag. Sessie 3 en 4 gaan over motiverende gespreksvoering: de motivatie van de patiënt inschatten en een interventie kiezen die daarbij past; samen weer vier uur, in dezelfde groepen. We stellen 9, 10 en 12 maart voor, maar mevrouw Dobbels gaf na januari nog geen data; die vragen we eerst bij haar op. Sessie 5 is een individuele oefensessie van anderhalf uur in uw eigen centrum, met rollenspel op de scripts, tussen 15 en 26 maart. Sessie 6 is een online intervisie van een uur, individueel, zes tot negen maanden na de start van de inclusie, dus van september tot november 2027: casussen bespreken en bijsturen waar het moeilijk loopt. De praktijksessies worden niet opgenomen, dus daar is aanwezigheid nodig.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centrum de voorgestelde data, allemaal gekozen op dagen dat uw podoloog er volgens uw eigen opgave is; voor Antwerpen valt de donderdag in een even week. SEBIA volgt de agenda van de lesgever, Fabienne Dobbels. SEBIA 1 en 2 gebeurt overdag, in drie groepen, want er is geen moment waarop Kortrijk, Brugge en Gent samen kunnen. Kortrijk en de eerste podoloog van Brugge op woensdag 6 januari in de namiddag, met woensdag 16 december als optie B. Groep Oost, met Aalst, Leuven en Antwerpen, en de tweede podoloog van Brugge op dinsdag 12 januari in de namiddag, na de datacollectie online in de voormiddag. Gent op vrijdag 15 januari in de namiddag, in het eigen centrum, met vrijdag 11 december als optie B; de droogloop van Gent schuift daarvoor naar donderdag 21 januari. Voor SEBIA 3 en 4 stellen we dezelfde drie groepen voor, op 9, 10 en 12 maart, maar mevrouw Dobbels gaf na januari nog geen data; die vragen we eerst bij haar op. Waar een datum niet voor iedereen lukt, staat op uw toetsingsblad een optie B. Graag uw antwoord tegen vrijdag 16 oktober; daarna ligt de kalender vast.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vragen elk centrum drie inclusies per maand. Patiënten komen niet netjes op regelmatige tijdstippen binnen; daarom rekenden we met willekeurige instroom. De curve toont de kans dat een centrum zijn 24 binnen twaalf maanden haalt, bij elk gemiddeld tempo. Aan twee per maand ligt het doel precies op het gemiddelde: het is een muntworp, 53 procent. Aan drie per maand is het 99 procent. De studie is pas rond als het traagste centrum klaar is: dat alle zes het binnen het jaar halen, is aan drie per maand 92 procent, aan twee per maand amper 2 procent. De helft van de centra is aan drie per maand na 7,9 maanden of sneller klaar. De inclusie start eind februari 2027, meteen na de Go/No-Go van 23 februari. Twaalf maanden inclusie betekent 144 gerandomiseerd eind februari 2028, zoals het protocol voorziet. Met achttien maanden opvolging valt de laatste visite dan eind augustus 2029, één maand vóór de geplande laatste visite in september. Een eerlijke kanttekening: deze cijfers gaan ervan uit dat elk centrum echt drie per maand haalt. Verschillen de centra onderling, dan is het minder zeker. Daarover gaat de dia na de volgende.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als een centrum twee per maand haalt in plaats van drie? De grafiek toont, maand na maand, hoeveel kans er is dat de inclusie klaar is: de volle lijnen voor één centrum, de streepjeslijnen voor alle zes samen. Blauw is drie per maand, oranje twee. Aan twee per maand duurt het gemiddeld twaalf maanden per centrum, met een spreiding van tweeënhalve maand: acht op tien centra zijn klaar tussen negen en vijftien maanden. Na een jaar is gemiddeld maar de helft van de centra rond, drie van de zes. De studie is pas rond als het traagste centrum klaar is. De geplande laatste visite is september 2029; achttien maanden terug is dat eind maart 2028, de uiterste datum voor de laatste inclusie. We starten eind februari 2027, meteen na de Go/No-Go; dan zijn dat dertien maanden: de verticale lijn. Aan twee per maand halen alle zes die grens maar in 12 procent van de gevallen; aan drie per maand in 98 procent. In de helft van de gevallen is het laatste centrum pas na vijftien maanden klaar, en valt de laatste visite eind november 2029; in één op tien pas in februari 2030. En in acht procent is na achttien maanden nog altijd een centrum niet rond. Dit is gerekend met zes centra die allemaal even snel zijn. Verschillen ze onderling, dan wordt het nog later; dat toont de volgende dia.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 hier rekenden we alsof elk centrum precies het gemiddelde haalt. Zo werkt het in de praktijk niet: het ene centrum heeft meer geschikte patiënten dan het andere. Een statisticus rekent daarom met centra die onderling verschillen; hier het ene een kwart sneller, het andere een kwart trager dan gemiddeld. De grafiek toont telkens de kans dat alle 144 deelnemers er zijn vóór eind maart 2028, de uiterste datum voor een laatste visite in september 2029, bij een start eind februari 2027, meteen na de Go/No-Go. Aan drie per maand en met centra die even snel zijn is dat 98 procent. Verschillen de centra, dan zakt het naar 65 procent, omdat het traagste centrum de studie ophoudt. Aan twee per maand is het 12 procent, en met verschillen 5 procent. Wat wél helpt, staat al in het risicoplan van de FWO-aanvraag: bijspringen door andere centra. Wie sneller gaat, includeert door, hier tot maximaal 30 per centrum, tot de 144 er zijn. Dan is het aan drie per maand vrijwel zeker, ook als de centra verschillen, en aan twee per maand ongeveer zes kansen op tien. Ons plan is twaalf maanden, eind februari 2028: aan drie per maand is dat 92 procent met even snelle centra, 48 procent als ze verschillen, en 99 procent met bijspringen. Het plan haalt het dus alleen met bijspringen zeker. Bijspringen vraagt wel extra enveloppen per centrum en een afspraak over het plafond; dat leggen we straks ter bespreking voor.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het tempo van uw team vraagt, per maand, en in kleur per visite: onderaan de baseline en de aflevering, daarboven de opvolgvisites van maand drie tot achttien. Links ons voorstel: drie per maand, twaalf maanden inclusie. Dan is het 14 uur per maand zolang de inclusie loopt, met een piek rond maand zeven, en de laatste visite valt rond jun 2029. In het midden en rechts wat achttien maanden inclusie zou geven, aan twee of anderhalve patiënt per maand. Per maand is dat iets minder, rond de elf en tien uur, maar het duurt langer. In totaal is het overal hetzelfde: 300 uur per centrum, want elke patiënt krijgt dezelfde visites. Het verschil zit in het einde. Aan twee per maand valt de laatste visite rond nov 2029, aan anderhalve rond apr 2030: na de geplande laatste visite van september 2029. Dan blijft er voor ons geen tijd om de gegevens te verwerken. Aan anderhalve per maand zijn bovendien maar in 17 procent van de gevallen alle zes centra binnen de achttien maanden rond. De uren zijn die per visite: twee uur in Optimal Care, één uur in Usual Care, twee uur bij de start. Het uitlezen van de MoveMonitor op maand zes valt weg.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logo van PARADISE, zoals het nu in alle materiaal staat: de voet als drukbeeld, van koel naar warm, met de P die erin zit. Links het volledige logo op een lichte achtergrond, zoals op de formulieren en het patiëntenmateriaal; rechts het symbool alleen, voor klein formaat. In het midden is er ruimte voor een nieuw idee, dat we samen kunnen uitwerken. Dit is de eerste officiële meeting, dus we vragen uw akkoord: gebruiken we dit logo overal, of wilt u iets aangepast zien?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wat we van elk centrum vragen. Eén: drie inclusies per maand, vanaf de start na de Go/No-Go; dan is de inclusie binnen een jaar rond. Twee: een screeningslog vanaf de eerste patiënt, zodat we weten wie overwogen werd en waarom het niet doorging; dat hebben we nodig voor het CONSORT-diagram, en het toont vroeg waar het stokt. Drie: het toetsingsblad terug tegen vrijdag 16 oktober, met per onderwerp optie A of B en de vaste data bevestigd. Vier: wie deelneemt aan de opleidingen, de namen van de podologen en welke artsen de theorie volgen. Vijf: de drukmeting geïnstalleerd vóór uw technologiesessie in december. Rechts twee punten waarover we uw mening vragen. Het eerste: bijspringen. Het risicoplan van de aanvraag voorziet dat andere centra bijspringen als een centrum achterblijft: wie sneller gaat, includeert door tot de 144 er zijn. Daarvoor moeten we afspreken tot hoeveel deelnemers een centrum mag gaan, en zijn er extra enveloppen nodig. Het tweede: twaalf maanden inclusie in plaats van achttien. Dat kost uw team in totaal evenveel uren, alleen sneller; maar met achttien maanden valt de laatste visite in 2030, en dan blijft er voor ons geen tijd voor de verwerking.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 slot een ronde per centrum, telkens kort, aan de hand van dezelfde vijf vragen. Of de drukmeting er staat en werkt. Wie de opleiding volgt. Hoeveel geschikte patiënten het centrum per maand ziet: dat is de beste toets van de drie per maand, en het vertelt ons vroeg waar we moeten bijspringen. De afvaardiging voor de Executive Board en de Clinical Trial Management Group, zoals op 1 april gevraagd. En vragen of zorgen.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image" Target="../media/image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image" Target="../media/image5.pn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_cov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20700" y="368300"/>
            <a:ext cx="5765800" cy="198120"/>
          </a:xfrm>
          <a:prstGeom prst="rect">
            <a:avLst/>
          </a:prstGeom>
          <a:noFill/>
        </p:spPr>
        <p:txBody>
          <a:bodyPr wrap="none" lIns="0" rIns="0" tIns="0" bIns="0" anchor="t">
            <a:noAutofit/>
          </a:bodyPr>
          <a:lstStyle/>
          <a:p>
            <a:pPr algn="l"/>
            <a:r>
              <a:rPr sz="1200" b="0" i="0" spc="200">
                <a:solidFill>
                  <a:srgbClr val="52BDEC"/>
                </a:solidFill>
                <a:latin typeface="JetBrains Mono"/>
              </a:rPr>
              <a:t>KICK-OFF · PARADISE</a:t>
            </a:r>
          </a:p>
        </p:txBody>
      </p:sp>
      <p:sp>
        <p:nvSpPr>
          <p:cNvPr id="4" name="TextBox 3"/>
          <p:cNvSpPr txBox="1"/>
          <p:nvPr/>
        </p:nvSpPr>
        <p:spPr>
          <a:xfrm>
            <a:off x="508000" y="609600"/>
            <a:ext cx="7670800" cy="640080"/>
          </a:xfrm>
          <a:prstGeom prst="rect">
            <a:avLst/>
          </a:prstGeom>
          <a:noFill/>
        </p:spPr>
        <p:txBody>
          <a:bodyPr wrap="none" lIns="0" rIns="0" tIns="0" bIns="0" anchor="t">
            <a:noAutofit/>
          </a:bodyPr>
          <a:lstStyle/>
          <a:p>
            <a:pPr algn="l">
              <a:lnSpc>
                <a:spcPts val="5040"/>
              </a:lnSpc>
            </a:pPr>
            <a:r>
              <a:rPr sz="4800" b="0" i="0" spc="-100">
                <a:solidFill>
                  <a:srgbClr val="F2F8FC"/>
                </a:solidFill>
                <a:latin typeface="DM Serif Display"/>
              </a:rPr>
              <a:t>Eerste officiële </a:t>
            </a:r>
            <a:r>
              <a:rPr sz="4800" b="0" i="0" spc="-100">
                <a:solidFill>
                  <a:srgbClr val="52BDEC"/>
                </a:solidFill>
                <a:latin typeface="DM Serif Display"/>
              </a:rPr>
              <a:t>meeting</a:t>
            </a:r>
          </a:p>
        </p:txBody>
      </p:sp>
      <p:sp>
        <p:nvSpPr>
          <p:cNvPr id="5" name="Rounded Rectangle 4"/>
          <p:cNvSpPr/>
          <p:nvPr/>
        </p:nvSpPr>
        <p:spPr>
          <a:xfrm>
            <a:off x="9017000" y="355600"/>
            <a:ext cx="2667000" cy="558800"/>
          </a:xfrm>
          <a:prstGeom prst="roundRect">
            <a:avLst>
              <a:gd name="adj" fmla="val 18181"/>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75504389baacf5fb07e89c0ba89ea558.png"/>
          <p:cNvPicPr>
            <a:picLocks noChangeAspect="1"/>
          </p:cNvPicPr>
          <p:nvPr/>
        </p:nvPicPr>
        <p:blipFill>
          <a:blip r:embed="rId3"/>
          <a:stretch>
            <a:fillRect/>
          </a:stretch>
        </p:blipFill>
        <p:spPr>
          <a:xfrm>
            <a:off x="9182100" y="457200"/>
            <a:ext cx="1244600" cy="355600"/>
          </a:xfrm>
          <a:prstGeom prst="rect">
            <a:avLst/>
          </a:prstGeom>
        </p:spPr>
      </p:pic>
      <p:pic>
        <p:nvPicPr>
          <p:cNvPr id="7" name="Picture 6" descr="228c2b11ec878f28c18f6d8655b98aa7.png"/>
          <p:cNvPicPr>
            <a:picLocks noChangeAspect="1"/>
          </p:cNvPicPr>
          <p:nvPr/>
        </p:nvPicPr>
        <p:blipFill>
          <a:blip r:embed="rId4"/>
          <a:stretch>
            <a:fillRect/>
          </a:stretch>
        </p:blipFill>
        <p:spPr>
          <a:xfrm>
            <a:off x="10604500" y="466726"/>
            <a:ext cx="939205" cy="336548"/>
          </a:xfrm>
          <a:prstGeom prst="rect">
            <a:avLst/>
          </a:prstGeom>
        </p:spPr>
      </p:pic>
      <p:sp>
        <p:nvSpPr>
          <p:cNvPr id="8" name="TextBox 7"/>
          <p:cNvSpPr txBox="1"/>
          <p:nvPr/>
        </p:nvSpPr>
        <p:spPr>
          <a:xfrm>
            <a:off x="8966200" y="1066800"/>
            <a:ext cx="2717800" cy="198120"/>
          </a:xfrm>
          <a:prstGeom prst="rect">
            <a:avLst/>
          </a:prstGeom>
          <a:noFill/>
        </p:spPr>
        <p:txBody>
          <a:bodyPr wrap="none" lIns="0" rIns="0" tIns="0" bIns="0" anchor="t">
            <a:noAutofit/>
          </a:bodyPr>
          <a:lstStyle/>
          <a:p>
            <a:pPr algn="r"/>
            <a:r>
              <a:rPr sz="1200" b="0" i="0" spc="300">
                <a:solidFill>
                  <a:srgbClr val="8FB0CA"/>
                </a:solidFill>
                <a:latin typeface="JetBrains Mono"/>
              </a:rPr>
              <a:t>12 OKTOBER 2026</a:t>
            </a:r>
          </a:p>
        </p:txBody>
      </p:sp>
      <p:sp>
        <p:nvSpPr>
          <p:cNvPr id="9" name="Rounded Rectangle 8"/>
          <p:cNvSpPr/>
          <p:nvPr/>
        </p:nvSpPr>
        <p:spPr>
          <a:xfrm>
            <a:off x="469900" y="1701800"/>
            <a:ext cx="11252200" cy="4838700"/>
          </a:xfrm>
          <a:prstGeom prst="roundRect">
            <a:avLst>
              <a:gd name="adj" fmla="val 787"/>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83bb7709f18bd90d55edda29faeb1426.png"/>
          <p:cNvPicPr>
            <a:picLocks noChangeAspect="1"/>
          </p:cNvPicPr>
          <p:nvPr/>
        </p:nvPicPr>
        <p:blipFill>
          <a:blip r:embed="rId5"/>
          <a:stretch>
            <a:fillRect/>
          </a:stretch>
        </p:blipFill>
        <p:spPr>
          <a:xfrm>
            <a:off x="469900" y="1703685"/>
            <a:ext cx="11252200" cy="4834930"/>
          </a:xfrm>
          <a:prstGeom prst="rect">
            <a:avLst/>
          </a:prstGeom>
        </p:spPr>
      </p:pic>
    </p:spTree>
  </p:cSld>
  <p:clrMapOvr>
    <a:masterClrMapping/>
  </p:clrMapOvr>
  <p:transition xmlns:p14="http://schemas.microsoft.com/office/powerpoint/2010/main" spd="med" p14:dur="700">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AGENDA</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Wat we vandaag overlopen</a:t>
            </a:r>
          </a:p>
        </p:txBody>
      </p:sp>
      <p:sp>
        <p:nvSpPr>
          <p:cNvPr id="4" name="TextBox 3"/>
          <p:cNvSpPr txBox="1"/>
          <p:nvPr/>
        </p:nvSpPr>
        <p:spPr>
          <a:xfrm>
            <a:off x="812800" y="1963341"/>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01</a:t>
            </a:r>
          </a:p>
        </p:txBody>
      </p:sp>
      <p:sp>
        <p:nvSpPr>
          <p:cNvPr id="5" name="TextBox 4"/>
          <p:cNvSpPr txBox="1"/>
          <p:nvPr/>
        </p:nvSpPr>
        <p:spPr>
          <a:xfrm>
            <a:off x="1397000" y="1944291"/>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Stand van zaken</a:t>
            </a:r>
          </a:p>
        </p:txBody>
      </p:sp>
      <p:sp>
        <p:nvSpPr>
          <p:cNvPr id="6" name="Rectangle 5"/>
          <p:cNvSpPr/>
          <p:nvPr/>
        </p:nvSpPr>
        <p:spPr>
          <a:xfrm>
            <a:off x="812800" y="2315766"/>
            <a:ext cx="825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2442766"/>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02</a:t>
            </a:r>
          </a:p>
        </p:txBody>
      </p:sp>
      <p:sp>
        <p:nvSpPr>
          <p:cNvPr id="8" name="TextBox 7"/>
          <p:cNvSpPr txBox="1"/>
          <p:nvPr/>
        </p:nvSpPr>
        <p:spPr>
          <a:xfrm>
            <a:off x="1397000" y="2423716"/>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Ontwikkelingen sinds 1 april</a:t>
            </a:r>
          </a:p>
        </p:txBody>
      </p:sp>
      <p:sp>
        <p:nvSpPr>
          <p:cNvPr id="9" name="Rectangle 8"/>
          <p:cNvSpPr/>
          <p:nvPr/>
        </p:nvSpPr>
        <p:spPr>
          <a:xfrm>
            <a:off x="812800" y="2795191"/>
            <a:ext cx="825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922191"/>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03</a:t>
            </a:r>
          </a:p>
        </p:txBody>
      </p:sp>
      <p:sp>
        <p:nvSpPr>
          <p:cNvPr id="11" name="TextBox 10"/>
          <p:cNvSpPr txBox="1"/>
          <p:nvPr/>
        </p:nvSpPr>
        <p:spPr>
          <a:xfrm>
            <a:off x="1397000" y="2903141"/>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Werkpakketten</a:t>
            </a:r>
          </a:p>
        </p:txBody>
      </p:sp>
      <p:sp>
        <p:nvSpPr>
          <p:cNvPr id="12" name="Rectangle 11"/>
          <p:cNvSpPr/>
          <p:nvPr/>
        </p:nvSpPr>
        <p:spPr>
          <a:xfrm>
            <a:off x="812800" y="3274616"/>
            <a:ext cx="825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3401616"/>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04</a:t>
            </a:r>
          </a:p>
        </p:txBody>
      </p:sp>
      <p:sp>
        <p:nvSpPr>
          <p:cNvPr id="14" name="TextBox 13"/>
          <p:cNvSpPr txBox="1"/>
          <p:nvPr/>
        </p:nvSpPr>
        <p:spPr>
          <a:xfrm>
            <a:off x="1397000" y="3382566"/>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Aandachtspunten</a:t>
            </a:r>
          </a:p>
        </p:txBody>
      </p:sp>
      <p:sp>
        <p:nvSpPr>
          <p:cNvPr id="15" name="Rectangle 14"/>
          <p:cNvSpPr/>
          <p:nvPr/>
        </p:nvSpPr>
        <p:spPr>
          <a:xfrm>
            <a:off x="812800" y="3754041"/>
            <a:ext cx="825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800" y="3881041"/>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05</a:t>
            </a:r>
          </a:p>
        </p:txBody>
      </p:sp>
      <p:sp>
        <p:nvSpPr>
          <p:cNvPr id="17" name="TextBox 16"/>
          <p:cNvSpPr txBox="1"/>
          <p:nvPr/>
        </p:nvSpPr>
        <p:spPr>
          <a:xfrm>
            <a:off x="1397000" y="3861991"/>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Mijlpalen en planning</a:t>
            </a:r>
          </a:p>
        </p:txBody>
      </p:sp>
      <p:sp>
        <p:nvSpPr>
          <p:cNvPr id="18" name="Rectangle 17"/>
          <p:cNvSpPr/>
          <p:nvPr/>
        </p:nvSpPr>
        <p:spPr>
          <a:xfrm>
            <a:off x="812800" y="4233466"/>
            <a:ext cx="825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4360466"/>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06</a:t>
            </a:r>
          </a:p>
        </p:txBody>
      </p:sp>
      <p:sp>
        <p:nvSpPr>
          <p:cNvPr id="20" name="TextBox 19"/>
          <p:cNvSpPr txBox="1"/>
          <p:nvPr/>
        </p:nvSpPr>
        <p:spPr>
          <a:xfrm>
            <a:off x="1397000" y="4341416"/>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Bespreking</a:t>
            </a:r>
          </a:p>
        </p:txBody>
      </p:sp>
      <p:sp>
        <p:nvSpPr>
          <p:cNvPr id="21" name="Rectangle 20"/>
          <p:cNvSpPr/>
          <p:nvPr/>
        </p:nvSpPr>
        <p:spPr>
          <a:xfrm>
            <a:off x="812800" y="4712891"/>
            <a:ext cx="8255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800" y="4839891"/>
            <a:ext cx="431800" cy="234950"/>
          </a:xfrm>
          <a:prstGeom prst="rect">
            <a:avLst/>
          </a:prstGeom>
          <a:noFill/>
        </p:spPr>
        <p:txBody>
          <a:bodyPr wrap="none" lIns="0" rIns="0" tIns="0" bIns="0" anchor="t">
            <a:noAutofit/>
          </a:bodyPr>
          <a:lstStyle/>
          <a:p>
            <a:pPr algn="l"/>
            <a:r>
              <a:rPr sz="1400" b="0" i="0">
                <a:solidFill>
                  <a:srgbClr val="0B6E8F"/>
                </a:solidFill>
                <a:latin typeface="JetBrains Mono"/>
              </a:rPr>
              <a:t>07</a:t>
            </a:r>
          </a:p>
        </p:txBody>
      </p:sp>
      <p:sp>
        <p:nvSpPr>
          <p:cNvPr id="23" name="TextBox 22"/>
          <p:cNvSpPr txBox="1"/>
          <p:nvPr/>
        </p:nvSpPr>
        <p:spPr>
          <a:xfrm>
            <a:off x="1397000" y="4820841"/>
            <a:ext cx="7721600" cy="269875"/>
          </a:xfrm>
          <a:prstGeom prst="rect">
            <a:avLst/>
          </a:prstGeom>
          <a:noFill/>
        </p:spPr>
        <p:txBody>
          <a:bodyPr wrap="none" lIns="0" rIns="0" tIns="0" bIns="0" anchor="t">
            <a:noAutofit/>
          </a:bodyPr>
          <a:lstStyle/>
          <a:p>
            <a:pPr algn="l">
              <a:lnSpc>
                <a:spcPts val="2125"/>
              </a:lnSpc>
            </a:pPr>
            <a:r>
              <a:rPr sz="1700" b="0" i="0">
                <a:solidFill>
                  <a:srgbClr val="0A2540"/>
                </a:solidFill>
                <a:latin typeface="DM Sans"/>
              </a:rPr>
              <a:t>Tour de table</a:t>
            </a:r>
          </a:p>
        </p:txBody>
      </p:sp>
      <p:pic>
        <p:nvPicPr>
          <p:cNvPr id="24" name="Picture 23"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25" name="TextBox 24"/>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Tree>
  </p:cSld>
  <p:clrMapOvr>
    <a:masterClrMapping/>
  </p:clrMapOvr>
  <p:transition xmlns:p14="http://schemas.microsoft.com/office/powerpoint/2010/main" spd="med" p14:dur="700">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4114800" cy="198120"/>
          </a:xfrm>
          <a:prstGeom prst="rect">
            <a:avLst/>
          </a:prstGeom>
          <a:noFill/>
        </p:spPr>
        <p:txBody>
          <a:bodyPr wrap="none" lIns="0" rIns="0" tIns="0" bIns="0" anchor="t">
            <a:noAutofit/>
          </a:bodyPr>
          <a:lstStyle/>
          <a:p>
            <a:pPr algn="l"/>
            <a:r>
              <a:rPr sz="1200" b="0" i="0" spc="200">
                <a:solidFill>
                  <a:srgbClr val="0B6E8F"/>
                </a:solidFill>
                <a:latin typeface="JetBrains Mono"/>
              </a:rPr>
              <a:t>1 · STAND VAN ZAKEN</a:t>
            </a:r>
          </a:p>
        </p:txBody>
      </p:sp>
      <p:sp>
        <p:nvSpPr>
          <p:cNvPr id="3" name="TextBox 2"/>
          <p:cNvSpPr txBox="1"/>
          <p:nvPr/>
        </p:nvSpPr>
        <p:spPr>
          <a:xfrm>
            <a:off x="812800" y="1111250"/>
            <a:ext cx="4145280" cy="1005681"/>
          </a:xfrm>
          <a:prstGeom prst="rect">
            <a:avLst/>
          </a:prstGeom>
          <a:noFill/>
        </p:spPr>
        <p:txBody>
          <a:bodyPr wrap="square" lIns="0" rIns="0" tIns="0" bIns="0" anchor="t">
            <a:noAutofit/>
          </a:bodyPr>
          <a:lstStyle/>
          <a:p>
            <a:pPr algn="l">
              <a:lnSpc>
                <a:spcPts val="3960"/>
              </a:lnSpc>
            </a:pPr>
            <a:r>
              <a:rPr sz="3600" b="0" i="0" spc="-50">
                <a:solidFill>
                  <a:srgbClr val="0A2540"/>
                </a:solidFill>
                <a:latin typeface="DM Serif Display"/>
              </a:rPr>
              <a:t>144 deelnemers, zes voetklinieken</a:t>
            </a:r>
          </a:p>
        </p:txBody>
      </p:sp>
      <p:sp>
        <p:nvSpPr>
          <p:cNvPr id="4" name="TextBox 3"/>
          <p:cNvSpPr txBox="1"/>
          <p:nvPr/>
        </p:nvSpPr>
        <p:spPr>
          <a:xfrm>
            <a:off x="812800" y="2485231"/>
            <a:ext cx="812800" cy="508000"/>
          </a:xfrm>
          <a:prstGeom prst="rect">
            <a:avLst/>
          </a:prstGeom>
          <a:noFill/>
        </p:spPr>
        <p:txBody>
          <a:bodyPr wrap="none" lIns="0" rIns="0" tIns="0" bIns="0" anchor="t">
            <a:noAutofit/>
          </a:bodyPr>
          <a:lstStyle/>
          <a:p>
            <a:pPr algn="l">
              <a:lnSpc>
                <a:spcPts val="4000"/>
              </a:lnSpc>
            </a:pPr>
            <a:r>
              <a:rPr sz="4000" b="0" i="0">
                <a:solidFill>
                  <a:srgbClr val="0A2540"/>
                </a:solidFill>
                <a:latin typeface="DM Serif Display"/>
              </a:rPr>
              <a:t>24</a:t>
            </a:r>
          </a:p>
        </p:txBody>
      </p:sp>
      <p:sp>
        <p:nvSpPr>
          <p:cNvPr id="5" name="TextBox 4"/>
          <p:cNvSpPr txBox="1"/>
          <p:nvPr/>
        </p:nvSpPr>
        <p:spPr>
          <a:xfrm>
            <a:off x="1778000" y="2739231"/>
            <a:ext cx="3031236" cy="480020"/>
          </a:xfrm>
          <a:prstGeom prst="rect">
            <a:avLst/>
          </a:prstGeom>
          <a:noFill/>
        </p:spPr>
        <p:txBody>
          <a:bodyPr wrap="square" lIns="0" rIns="0" tIns="0" bIns="0" anchor="t">
            <a:noAutofit/>
          </a:bodyPr>
          <a:lstStyle/>
          <a:p>
            <a:pPr algn="l">
              <a:lnSpc>
                <a:spcPts val="1889"/>
              </a:lnSpc>
            </a:pPr>
            <a:r>
              <a:rPr sz="1400" b="0" i="0">
                <a:solidFill>
                  <a:srgbClr val="3A4F63"/>
                </a:solidFill>
                <a:latin typeface="DM Sans"/>
              </a:rPr>
              <a:t>per centrum: 12 in PARADISE, 12 in gebruikelijke zorg</a:t>
            </a:r>
          </a:p>
        </p:txBody>
      </p:sp>
      <p:sp>
        <p:nvSpPr>
          <p:cNvPr id="6" name="Rectangle 5"/>
          <p:cNvSpPr/>
          <p:nvPr/>
        </p:nvSpPr>
        <p:spPr>
          <a:xfrm>
            <a:off x="812800" y="3333552"/>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3454202"/>
            <a:ext cx="812800" cy="508000"/>
          </a:xfrm>
          <a:prstGeom prst="rect">
            <a:avLst/>
          </a:prstGeom>
          <a:noFill/>
        </p:spPr>
        <p:txBody>
          <a:bodyPr wrap="none" lIns="0" rIns="0" tIns="0" bIns="0" anchor="t">
            <a:noAutofit/>
          </a:bodyPr>
          <a:lstStyle/>
          <a:p>
            <a:pPr algn="l">
              <a:lnSpc>
                <a:spcPts val="4000"/>
              </a:lnSpc>
            </a:pPr>
            <a:r>
              <a:rPr sz="4000" b="0" i="0">
                <a:solidFill>
                  <a:srgbClr val="0A2540"/>
                </a:solidFill>
                <a:latin typeface="DM Serif Display"/>
              </a:rPr>
              <a:t>18</a:t>
            </a:r>
          </a:p>
        </p:txBody>
      </p:sp>
      <p:sp>
        <p:nvSpPr>
          <p:cNvPr id="8" name="TextBox 7"/>
          <p:cNvSpPr txBox="1"/>
          <p:nvPr/>
        </p:nvSpPr>
        <p:spPr>
          <a:xfrm>
            <a:off x="1778000" y="3708202"/>
            <a:ext cx="3022600" cy="240030"/>
          </a:xfrm>
          <a:prstGeom prst="rect">
            <a:avLst/>
          </a:prstGeom>
          <a:noFill/>
        </p:spPr>
        <p:txBody>
          <a:bodyPr wrap="none" lIns="0" rIns="0" tIns="0" bIns="0" anchor="t">
            <a:noAutofit/>
          </a:bodyPr>
          <a:lstStyle/>
          <a:p>
            <a:pPr algn="l">
              <a:lnSpc>
                <a:spcPts val="1889"/>
              </a:lnSpc>
            </a:pPr>
            <a:r>
              <a:rPr sz="1400" b="0" i="0">
                <a:solidFill>
                  <a:srgbClr val="3A4F63"/>
                </a:solidFill>
                <a:latin typeface="DM Sans"/>
              </a:rPr>
              <a:t>maanden opvolging per deelnemer</a:t>
            </a:r>
          </a:p>
        </p:txBody>
      </p:sp>
      <p:sp>
        <p:nvSpPr>
          <p:cNvPr id="9" name="Rectangle 8"/>
          <p:cNvSpPr/>
          <p:nvPr/>
        </p:nvSpPr>
        <p:spPr>
          <a:xfrm>
            <a:off x="812800" y="4076502"/>
            <a:ext cx="3937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4197152"/>
            <a:ext cx="812800" cy="508000"/>
          </a:xfrm>
          <a:prstGeom prst="rect">
            <a:avLst/>
          </a:prstGeom>
          <a:noFill/>
        </p:spPr>
        <p:txBody>
          <a:bodyPr wrap="none" lIns="0" rIns="0" tIns="0" bIns="0" anchor="t">
            <a:noAutofit/>
          </a:bodyPr>
          <a:lstStyle/>
          <a:p>
            <a:pPr algn="l">
              <a:lnSpc>
                <a:spcPts val="4000"/>
              </a:lnSpc>
            </a:pPr>
            <a:r>
              <a:rPr sz="4000" b="0" i="0">
                <a:solidFill>
                  <a:srgbClr val="0A2540"/>
                </a:solidFill>
                <a:latin typeface="DM Serif Display"/>
              </a:rPr>
              <a:t>1</a:t>
            </a:r>
          </a:p>
        </p:txBody>
      </p:sp>
      <p:sp>
        <p:nvSpPr>
          <p:cNvPr id="11" name="TextBox 10"/>
          <p:cNvSpPr txBox="1"/>
          <p:nvPr/>
        </p:nvSpPr>
        <p:spPr>
          <a:xfrm>
            <a:off x="1778000" y="4451152"/>
            <a:ext cx="3031236" cy="480020"/>
          </a:xfrm>
          <a:prstGeom prst="rect">
            <a:avLst/>
          </a:prstGeom>
          <a:noFill/>
        </p:spPr>
        <p:txBody>
          <a:bodyPr wrap="square" lIns="0" rIns="0" tIns="0" bIns="0" anchor="t">
            <a:noAutofit/>
          </a:bodyPr>
          <a:lstStyle/>
          <a:p>
            <a:pPr algn="l">
              <a:lnSpc>
                <a:spcPts val="1889"/>
              </a:lnSpc>
            </a:pPr>
            <a:r>
              <a:rPr sz="1400" b="0" i="0">
                <a:solidFill>
                  <a:srgbClr val="3A4F63"/>
                </a:solidFill>
                <a:latin typeface="DM Sans"/>
              </a:rPr>
              <a:t>primair eindpunt: voetulcusrecidief over 18 maanden</a:t>
            </a:r>
          </a:p>
        </p:txBody>
      </p:sp>
      <p:sp>
        <p:nvSpPr>
          <p:cNvPr id="12" name="TextBox 11"/>
          <p:cNvSpPr txBox="1"/>
          <p:nvPr/>
        </p:nvSpPr>
        <p:spPr>
          <a:xfrm>
            <a:off x="812800" y="5299472"/>
            <a:ext cx="3987800" cy="222885"/>
          </a:xfrm>
          <a:prstGeom prst="rect">
            <a:avLst/>
          </a:prstGeom>
          <a:noFill/>
        </p:spPr>
        <p:txBody>
          <a:bodyPr wrap="none" lIns="0" rIns="0" tIns="0" bIns="0" anchor="t">
            <a:noAutofit/>
          </a:bodyPr>
          <a:lstStyle/>
          <a:p>
            <a:pPr algn="l">
              <a:lnSpc>
                <a:spcPts val="1755"/>
              </a:lnSpc>
            </a:pPr>
            <a:r>
              <a:rPr sz="1300" b="0" i="0">
                <a:solidFill>
                  <a:srgbClr val="5A6E80"/>
                </a:solidFill>
                <a:latin typeface="DM Sans"/>
              </a:rPr>
              <a:t>De PI loot per centrum, met verzegelde enveloppen.</a:t>
            </a:r>
          </a:p>
        </p:txBody>
      </p:sp>
      <p:pic>
        <p:nvPicPr>
          <p:cNvPr id="13" name="Picture 12" descr="bca0e7442a2bdffe745679463c941007.png"/>
          <p:cNvPicPr>
            <a:picLocks noChangeAspect="1"/>
          </p:cNvPicPr>
          <p:nvPr/>
        </p:nvPicPr>
        <p:blipFill>
          <a:blip r:embed="rId2"/>
          <a:stretch>
            <a:fillRect/>
          </a:stretch>
        </p:blipFill>
        <p:spPr>
          <a:xfrm>
            <a:off x="5207000" y="1521619"/>
            <a:ext cx="6172200" cy="3471862"/>
          </a:xfrm>
          <a:prstGeom prst="rect">
            <a:avLst/>
          </a:prstGeom>
        </p:spPr>
      </p:pic>
      <p:pic>
        <p:nvPicPr>
          <p:cNvPr id="14" name="Picture 13"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5" name="TextBox 14"/>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16" name="TextBox 15"/>
          <p:cNvSpPr txBox="1"/>
          <p:nvPr/>
        </p:nvSpPr>
        <p:spPr>
          <a:xfrm>
            <a:off x="6502400" y="6254750"/>
            <a:ext cx="4876800" cy="198120"/>
          </a:xfrm>
          <a:prstGeom prst="rect">
            <a:avLst/>
          </a:prstGeom>
          <a:noFill/>
        </p:spPr>
        <p:txBody>
          <a:bodyPr wrap="none" lIns="0" rIns="0" tIns="0" bIns="0" anchor="t">
            <a:noAutofit/>
          </a:bodyPr>
          <a:lstStyle/>
          <a:p>
            <a:pPr algn="r"/>
            <a:r>
              <a:rPr sz="1200" b="0" i="0">
                <a:solidFill>
                  <a:srgbClr val="5A6E80"/>
                </a:solidFill>
                <a:latin typeface="JetBrains Mono"/>
              </a:rPr>
              <a:t>Bron · studieprotocol S71769</a:t>
            </a:r>
          </a:p>
        </p:txBody>
      </p:sp>
    </p:spTree>
  </p:cSld>
  <p:clrMapOvr>
    <a:masterClrMapping/>
  </p:clrMapOvr>
  <p:transition xmlns:p14="http://schemas.microsoft.com/office/powerpoint/2010/main" spd="med" p14:dur="700">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1 · STAND VAN ZAKEN</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Waar we vandaag staan</a:t>
            </a:r>
          </a:p>
        </p:txBody>
      </p:sp>
      <p:sp>
        <p:nvSpPr>
          <p:cNvPr id="4" name="Rounded Rectangle 3"/>
          <p:cNvSpPr/>
          <p:nvPr/>
        </p:nvSpPr>
        <p:spPr>
          <a:xfrm>
            <a:off x="812800" y="1918891"/>
            <a:ext cx="5194300" cy="1013321"/>
          </a:xfrm>
          <a:prstGeom prst="roundRect">
            <a:avLst>
              <a:gd name="adj" fmla="val 12533"/>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7750" y="2128441"/>
            <a:ext cx="4775200" cy="243840"/>
          </a:xfrm>
          <a:prstGeom prst="rect">
            <a:avLst/>
          </a:prstGeom>
          <a:noFill/>
        </p:spPr>
        <p:txBody>
          <a:bodyPr wrap="none" lIns="0" rIns="0" tIns="0" bIns="0" anchor="t">
            <a:noAutofit/>
          </a:bodyPr>
          <a:lstStyle/>
          <a:p>
            <a:pPr algn="l">
              <a:lnSpc>
                <a:spcPts val="1920"/>
              </a:lnSpc>
            </a:pPr>
            <a:r>
              <a:rPr sz="1600" b="1" i="0">
                <a:solidFill>
                  <a:srgbClr val="F2F8FC"/>
                </a:solidFill>
                <a:latin typeface="DM Sans"/>
              </a:rPr>
              <a:t>Drukmeting</a:t>
            </a:r>
          </a:p>
        </p:txBody>
      </p:sp>
      <p:sp>
        <p:nvSpPr>
          <p:cNvPr id="6" name="TextBox 5"/>
          <p:cNvSpPr txBox="1"/>
          <p:nvPr/>
        </p:nvSpPr>
        <p:spPr>
          <a:xfrm>
            <a:off x="1047750" y="2448421"/>
            <a:ext cx="4775200" cy="274320"/>
          </a:xfrm>
          <a:prstGeom prst="rect">
            <a:avLst/>
          </a:prstGeom>
          <a:noFill/>
        </p:spPr>
        <p:txBody>
          <a:bodyPr wrap="none" lIns="0" rIns="0" tIns="0" bIns="0" anchor="t">
            <a:noAutofit/>
          </a:bodyPr>
          <a:lstStyle/>
          <a:p>
            <a:pPr algn="l">
              <a:lnSpc>
                <a:spcPts val="2160"/>
              </a:lnSpc>
            </a:pPr>
            <a:r>
              <a:rPr sz="1600" b="0" i="0">
                <a:solidFill>
                  <a:srgbClr val="C5D8E8"/>
                </a:solidFill>
                <a:latin typeface="DM Sans"/>
              </a:rPr>
              <a:t>Novel pedar geleverd; installatie loopt</a:t>
            </a:r>
          </a:p>
        </p:txBody>
      </p:sp>
      <p:sp>
        <p:nvSpPr>
          <p:cNvPr id="7" name="Rounded Rectangle 6"/>
          <p:cNvSpPr/>
          <p:nvPr/>
        </p:nvSpPr>
        <p:spPr>
          <a:xfrm>
            <a:off x="6184900" y="1918891"/>
            <a:ext cx="5194300" cy="1013321"/>
          </a:xfrm>
          <a:prstGeom prst="roundRect">
            <a:avLst>
              <a:gd name="adj" fmla="val 12533"/>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19850" y="2128441"/>
            <a:ext cx="4775200" cy="243840"/>
          </a:xfrm>
          <a:prstGeom prst="rect">
            <a:avLst/>
          </a:prstGeom>
          <a:noFill/>
        </p:spPr>
        <p:txBody>
          <a:bodyPr wrap="none" lIns="0" rIns="0" tIns="0" bIns="0" anchor="t">
            <a:noAutofit/>
          </a:bodyPr>
          <a:lstStyle/>
          <a:p>
            <a:pPr algn="l">
              <a:lnSpc>
                <a:spcPts val="1920"/>
              </a:lnSpc>
            </a:pPr>
            <a:r>
              <a:rPr sz="1600" b="1" i="0">
                <a:solidFill>
                  <a:srgbClr val="F2F8FC"/>
                </a:solidFill>
                <a:latin typeface="DM Sans"/>
              </a:rPr>
              <a:t>Databank</a:t>
            </a:r>
          </a:p>
        </p:txBody>
      </p:sp>
      <p:sp>
        <p:nvSpPr>
          <p:cNvPr id="9" name="TextBox 8"/>
          <p:cNvSpPr txBox="1"/>
          <p:nvPr/>
        </p:nvSpPr>
        <p:spPr>
          <a:xfrm>
            <a:off x="6419850" y="2448421"/>
            <a:ext cx="4775200" cy="274320"/>
          </a:xfrm>
          <a:prstGeom prst="rect">
            <a:avLst/>
          </a:prstGeom>
          <a:noFill/>
        </p:spPr>
        <p:txBody>
          <a:bodyPr wrap="none" lIns="0" rIns="0" tIns="0" bIns="0" anchor="t">
            <a:noAutofit/>
          </a:bodyPr>
          <a:lstStyle/>
          <a:p>
            <a:pPr algn="l">
              <a:lnSpc>
                <a:spcPts val="2160"/>
              </a:lnSpc>
            </a:pPr>
            <a:r>
              <a:rPr sz="1600" b="0" i="0">
                <a:solidFill>
                  <a:srgbClr val="C5D8E8"/>
                </a:solidFill>
                <a:latin typeface="DM Sans"/>
              </a:rPr>
              <a:t>REDCap klaar; u werkt op papier</a:t>
            </a:r>
          </a:p>
        </p:txBody>
      </p:sp>
      <p:sp>
        <p:nvSpPr>
          <p:cNvPr id="10" name="Rounded Rectangle 9"/>
          <p:cNvSpPr/>
          <p:nvPr/>
        </p:nvSpPr>
        <p:spPr>
          <a:xfrm>
            <a:off x="812800" y="3110012"/>
            <a:ext cx="5194300" cy="1013321"/>
          </a:xfrm>
          <a:prstGeom prst="roundRect">
            <a:avLst>
              <a:gd name="adj" fmla="val 12533"/>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7750" y="3319562"/>
            <a:ext cx="4775200" cy="243840"/>
          </a:xfrm>
          <a:prstGeom prst="rect">
            <a:avLst/>
          </a:prstGeom>
          <a:noFill/>
        </p:spPr>
        <p:txBody>
          <a:bodyPr wrap="none" lIns="0" rIns="0" tIns="0" bIns="0" anchor="t">
            <a:noAutofit/>
          </a:bodyPr>
          <a:lstStyle/>
          <a:p>
            <a:pPr algn="l">
              <a:lnSpc>
                <a:spcPts val="1920"/>
              </a:lnSpc>
            </a:pPr>
            <a:r>
              <a:rPr sz="1600" b="1" i="0">
                <a:solidFill>
                  <a:srgbClr val="F2F8FC"/>
                </a:solidFill>
                <a:latin typeface="DM Sans"/>
              </a:rPr>
              <a:t>Opleidingen</a:t>
            </a:r>
          </a:p>
        </p:txBody>
      </p:sp>
      <p:sp>
        <p:nvSpPr>
          <p:cNvPr id="12" name="TextBox 11"/>
          <p:cNvSpPr txBox="1"/>
          <p:nvPr/>
        </p:nvSpPr>
        <p:spPr>
          <a:xfrm>
            <a:off x="1047750" y="3639542"/>
            <a:ext cx="4775200" cy="274320"/>
          </a:xfrm>
          <a:prstGeom prst="rect">
            <a:avLst/>
          </a:prstGeom>
          <a:noFill/>
        </p:spPr>
        <p:txBody>
          <a:bodyPr wrap="none" lIns="0" rIns="0" tIns="0" bIns="0" anchor="t">
            <a:noAutofit/>
          </a:bodyPr>
          <a:lstStyle/>
          <a:p>
            <a:pPr algn="l">
              <a:lnSpc>
                <a:spcPts val="2160"/>
              </a:lnSpc>
            </a:pPr>
            <a:r>
              <a:rPr sz="1600" b="0" i="0">
                <a:solidFill>
                  <a:srgbClr val="C5D8E8"/>
                </a:solidFill>
                <a:latin typeface="DM Sans"/>
              </a:rPr>
              <a:t>10 november tot maart</a:t>
            </a:r>
          </a:p>
        </p:txBody>
      </p:sp>
      <p:sp>
        <p:nvSpPr>
          <p:cNvPr id="13" name="Rounded Rectangle 12"/>
          <p:cNvSpPr/>
          <p:nvPr/>
        </p:nvSpPr>
        <p:spPr>
          <a:xfrm>
            <a:off x="6184900" y="3110012"/>
            <a:ext cx="5194300" cy="1013321"/>
          </a:xfrm>
          <a:prstGeom prst="roundRect">
            <a:avLst>
              <a:gd name="adj" fmla="val 12533"/>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19850" y="3319562"/>
            <a:ext cx="4775200" cy="243840"/>
          </a:xfrm>
          <a:prstGeom prst="rect">
            <a:avLst/>
          </a:prstGeom>
          <a:noFill/>
        </p:spPr>
        <p:txBody>
          <a:bodyPr wrap="none" lIns="0" rIns="0" tIns="0" bIns="0" anchor="t">
            <a:noAutofit/>
          </a:bodyPr>
          <a:lstStyle/>
          <a:p>
            <a:pPr algn="l">
              <a:lnSpc>
                <a:spcPts val="1920"/>
              </a:lnSpc>
            </a:pPr>
            <a:r>
              <a:rPr sz="1600" b="1" i="0">
                <a:solidFill>
                  <a:srgbClr val="F2F8FC"/>
                </a:solidFill>
                <a:latin typeface="DM Sans"/>
              </a:rPr>
              <a:t>Start</a:t>
            </a:r>
          </a:p>
        </p:txBody>
      </p:sp>
      <p:sp>
        <p:nvSpPr>
          <p:cNvPr id="15" name="TextBox 14"/>
          <p:cNvSpPr txBox="1"/>
          <p:nvPr/>
        </p:nvSpPr>
        <p:spPr>
          <a:xfrm>
            <a:off x="6419850" y="3639542"/>
            <a:ext cx="4775200" cy="274320"/>
          </a:xfrm>
          <a:prstGeom prst="rect">
            <a:avLst/>
          </a:prstGeom>
          <a:noFill/>
        </p:spPr>
        <p:txBody>
          <a:bodyPr wrap="none" lIns="0" rIns="0" tIns="0" bIns="0" anchor="t">
            <a:noAutofit/>
          </a:bodyPr>
          <a:lstStyle/>
          <a:p>
            <a:pPr algn="l">
              <a:lnSpc>
                <a:spcPts val="2160"/>
              </a:lnSpc>
            </a:pPr>
            <a:r>
              <a:rPr sz="1600" b="0" i="0">
                <a:solidFill>
                  <a:srgbClr val="C5D8E8"/>
                </a:solidFill>
                <a:latin typeface="DM Sans"/>
              </a:rPr>
              <a:t>Februari 2027: piloot, Go/No-Go, eerste patiënt</a:t>
            </a:r>
          </a:p>
        </p:txBody>
      </p:sp>
      <p:pic>
        <p:nvPicPr>
          <p:cNvPr id="16" name="Picture 15"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17" name="TextBox 16"/>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18" name="TextBox 17"/>
          <p:cNvSpPr txBox="1"/>
          <p:nvPr/>
        </p:nvSpPr>
        <p:spPr>
          <a:xfrm>
            <a:off x="5613400" y="6254750"/>
            <a:ext cx="5765800" cy="198120"/>
          </a:xfrm>
          <a:prstGeom prst="rect">
            <a:avLst/>
          </a:prstGeom>
          <a:noFill/>
        </p:spPr>
        <p:txBody>
          <a:bodyPr wrap="none" lIns="0" rIns="0" tIns="0" bIns="0" anchor="t">
            <a:noAutofit/>
          </a:bodyPr>
          <a:lstStyle/>
          <a:p>
            <a:pPr algn="r"/>
            <a:r>
              <a:rPr sz="1200" b="0" i="0">
                <a:solidFill>
                  <a:srgbClr val="6F8FAA"/>
                </a:solidFill>
                <a:latin typeface="JetBrains Mono"/>
              </a:rPr>
              <a:t>Bron · opleidingsplanning, 30 september 2026 · REDCap-opzet</a:t>
            </a:r>
          </a:p>
        </p:txBody>
      </p:sp>
    </p:spTree>
  </p:cSld>
  <p:clrMapOvr>
    <a:masterClrMapping/>
  </p:clrMapOvr>
  <p:transition xmlns:p14="http://schemas.microsoft.com/office/powerpoint/2010/main" spd="med" p14:dur="700">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1 · STAND VAN ZAKEN · ETHISCHE GOEDKEURING</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Goedkeuring per centrum</a:t>
            </a:r>
          </a:p>
        </p:txBody>
      </p:sp>
      <p:sp>
        <p:nvSpPr>
          <p:cNvPr id="4" name="Rounded Rectangle 3"/>
          <p:cNvSpPr/>
          <p:nvPr/>
        </p:nvSpPr>
        <p:spPr>
          <a:xfrm>
            <a:off x="812800" y="1817291"/>
            <a:ext cx="5194300" cy="457200"/>
          </a:xfrm>
          <a:prstGeom prst="roundRect">
            <a:avLst>
              <a:gd name="adj" fmla="val 22222"/>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84250" y="1947466"/>
            <a:ext cx="2592090" cy="198120"/>
          </a:xfrm>
          <a:prstGeom prst="rect">
            <a:avLst/>
          </a:prstGeom>
          <a:noFill/>
        </p:spPr>
        <p:txBody>
          <a:bodyPr wrap="none" lIns="0" rIns="0" tIns="0" bIns="0" anchor="t">
            <a:noAutofit/>
          </a:bodyPr>
          <a:lstStyle/>
          <a:p>
            <a:pPr algn="l"/>
            <a:r>
              <a:rPr sz="1200" b="0" i="0" spc="150">
                <a:solidFill>
                  <a:srgbClr val="0B6E8F"/>
                </a:solidFill>
                <a:latin typeface="JetBrains Mono"/>
              </a:rPr>
              <a:t>CENTRAAL · EC UZ LEUVEN</a:t>
            </a:r>
          </a:p>
        </p:txBody>
      </p:sp>
      <p:sp>
        <p:nvSpPr>
          <p:cNvPr id="6" name="TextBox 5"/>
          <p:cNvSpPr txBox="1"/>
          <p:nvPr/>
        </p:nvSpPr>
        <p:spPr>
          <a:xfrm>
            <a:off x="3677940" y="1937941"/>
            <a:ext cx="2208510" cy="215900"/>
          </a:xfrm>
          <a:prstGeom prst="rect">
            <a:avLst/>
          </a:prstGeom>
          <a:noFill/>
        </p:spPr>
        <p:txBody>
          <a:bodyPr wrap="none" lIns="0" rIns="0" tIns="0" bIns="0" anchor="t">
            <a:noAutofit/>
          </a:bodyPr>
          <a:lstStyle/>
          <a:p>
            <a:pPr algn="l"/>
            <a:r>
              <a:rPr sz="1300" b="0" i="0">
                <a:solidFill>
                  <a:srgbClr val="5A6E80"/>
                </a:solidFill>
                <a:latin typeface="DM Sans"/>
              </a:rPr>
              <a:t>…</a:t>
            </a:r>
          </a:p>
        </p:txBody>
      </p:sp>
      <p:sp>
        <p:nvSpPr>
          <p:cNvPr id="7" name="Rounded Rectangle 6"/>
          <p:cNvSpPr/>
          <p:nvPr/>
        </p:nvSpPr>
        <p:spPr>
          <a:xfrm>
            <a:off x="6184900" y="1817291"/>
            <a:ext cx="5194300" cy="457200"/>
          </a:xfrm>
          <a:prstGeom prst="roundRect">
            <a:avLst>
              <a:gd name="adj" fmla="val 22222"/>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56350" y="1947466"/>
            <a:ext cx="492820" cy="198120"/>
          </a:xfrm>
          <a:prstGeom prst="rect">
            <a:avLst/>
          </a:prstGeom>
          <a:noFill/>
        </p:spPr>
        <p:txBody>
          <a:bodyPr wrap="none" lIns="0" rIns="0" tIns="0" bIns="0" anchor="t">
            <a:noAutofit/>
          </a:bodyPr>
          <a:lstStyle/>
          <a:p>
            <a:pPr algn="l"/>
            <a:r>
              <a:rPr sz="1200" b="0" i="0" spc="150">
                <a:solidFill>
                  <a:srgbClr val="0B6E8F"/>
                </a:solidFill>
                <a:latin typeface="JetBrains Mono"/>
              </a:rPr>
              <a:t>FAGG</a:t>
            </a:r>
          </a:p>
        </p:txBody>
      </p:sp>
      <p:sp>
        <p:nvSpPr>
          <p:cNvPr id="9" name="TextBox 8"/>
          <p:cNvSpPr txBox="1"/>
          <p:nvPr/>
        </p:nvSpPr>
        <p:spPr>
          <a:xfrm>
            <a:off x="6950770" y="1937941"/>
            <a:ext cx="4307780" cy="215900"/>
          </a:xfrm>
          <a:prstGeom prst="rect">
            <a:avLst/>
          </a:prstGeom>
          <a:noFill/>
        </p:spPr>
        <p:txBody>
          <a:bodyPr wrap="none" lIns="0" rIns="0" tIns="0" bIns="0" anchor="t">
            <a:noAutofit/>
          </a:bodyPr>
          <a:lstStyle/>
          <a:p>
            <a:pPr algn="l"/>
            <a:r>
              <a:rPr sz="1300" b="0" i="0">
                <a:solidFill>
                  <a:srgbClr val="5A6E80"/>
                </a:solidFill>
                <a:latin typeface="DM Sans"/>
              </a:rPr>
              <a:t>…</a:t>
            </a:r>
          </a:p>
        </p:txBody>
      </p:sp>
      <p:graphicFrame>
        <p:nvGraphicFramePr>
          <p:cNvPr id="10" name="Table 9"/>
          <p:cNvGraphicFramePr>
            <a:graphicFrameLocks noGrp="1"/>
          </p:cNvGraphicFramePr>
          <p:nvPr/>
        </p:nvGraphicFramePr>
        <p:xfrm>
          <a:off x="812800" y="2477691"/>
          <a:ext cx="10560050" cy="2776141"/>
        </p:xfrm>
        <a:graphic>
          <a:graphicData uri="http://schemas.openxmlformats.org/drawingml/2006/table">
            <a:tbl>
              <a:tblPr firstRow="0" bandRow="0">
                <a:tableStyleId>{2D5ABB26-0587-4C30-8999-92F81FD0307C}</a:tableStyleId>
              </a:tblPr>
              <a:tblGrid>
                <a:gridCol w="2323207"/>
                <a:gridCol w="1689596"/>
                <a:gridCol w="1689596"/>
                <a:gridCol w="1689596"/>
                <a:gridCol w="3168055"/>
              </a:tblGrid>
              <a:tr h="337741">
                <a:tc>
                  <a:txBody>
                    <a:bodyPr wrap="square"/>
                    <a:lstStyle/>
                    <a:p>
                      <a:pPr algn="l"/>
                      <a:r>
                        <a:rPr sz="1300" b="1" i="0">
                          <a:solidFill>
                            <a:srgbClr val="3A4F63"/>
                          </a:solidFill>
                          <a:latin typeface="DM Sans"/>
                        </a:rPr>
                        <a:t>Centrum</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wrap="square"/>
                    <a:lstStyle/>
                    <a:p>
                      <a:pPr algn="l"/>
                      <a:r>
                        <a:rPr sz="1300" b="1" i="0">
                          <a:solidFill>
                            <a:srgbClr val="3A4F63"/>
                          </a:solidFill>
                          <a:latin typeface="DM Sans"/>
                        </a:rPr>
                        <a:t>Lokaal ingediend</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wrap="square"/>
                    <a:lstStyle/>
                    <a:p>
                      <a:pPr algn="l"/>
                      <a:r>
                        <a:rPr sz="1300" b="1" i="0">
                          <a:solidFill>
                            <a:srgbClr val="3A4F63"/>
                          </a:solidFill>
                          <a:latin typeface="DM Sans"/>
                        </a:rPr>
                        <a:t>Goedgekeurd</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wrap="square"/>
                    <a:lstStyle/>
                    <a:p>
                      <a:pPr algn="l"/>
                      <a:r>
                        <a:rPr sz="1300" b="1" i="0">
                          <a:solidFill>
                            <a:srgbClr val="3A4F63"/>
                          </a:solidFill>
                          <a:latin typeface="DM Sans"/>
                        </a:rPr>
                        <a:t>Contract</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c>
                  <a:txBody>
                    <a:bodyPr wrap="square"/>
                    <a:lstStyle/>
                    <a:p>
                      <a:pPr algn="l"/>
                      <a:r>
                        <a:rPr sz="1300" b="1" i="0">
                          <a:solidFill>
                            <a:srgbClr val="3A4F63"/>
                          </a:solidFill>
                          <a:latin typeface="DM Sans"/>
                        </a:rPr>
                        <a:t>Opmerking</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E2EBF2"/>
                    </a:solidFill>
                  </a:tcPr>
                </a:tc>
              </a:tr>
              <a:tr h="406400">
                <a:tc>
                  <a:txBody>
                    <a:bodyPr wrap="square"/>
                    <a:lstStyle/>
                    <a:p>
                      <a:pPr algn="l"/>
                      <a:r>
                        <a:rPr sz="1300" b="0" i="0">
                          <a:solidFill>
                            <a:srgbClr val="3A4F63"/>
                          </a:solidFill>
                          <a:latin typeface="DM Sans"/>
                        </a:rPr>
                        <a:t>AZ Groeninge Kortrijk</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406400">
                <a:tc>
                  <a:txBody>
                    <a:bodyPr wrap="square"/>
                    <a:lstStyle/>
                    <a:p>
                      <a:pPr algn="l"/>
                      <a:r>
                        <a:rPr sz="1300" b="0" i="0">
                          <a:solidFill>
                            <a:srgbClr val="3A4F63"/>
                          </a:solidFill>
                          <a:latin typeface="DM Sans"/>
                        </a:rPr>
                        <a:t>AZ Sint-Jan Brugge</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406400">
                <a:tc>
                  <a:txBody>
                    <a:bodyPr wrap="square"/>
                    <a:lstStyle/>
                    <a:p>
                      <a:pPr algn="l"/>
                      <a:r>
                        <a:rPr sz="1300" b="0" i="0">
                          <a:solidFill>
                            <a:srgbClr val="3A4F63"/>
                          </a:solidFill>
                          <a:latin typeface="DM Sans"/>
                        </a:rPr>
                        <a:t>UZ Gent</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406400">
                <a:tc>
                  <a:txBody>
                    <a:bodyPr wrap="square"/>
                    <a:lstStyle/>
                    <a:p>
                      <a:pPr algn="l"/>
                      <a:r>
                        <a:rPr sz="1300" b="0" i="0">
                          <a:solidFill>
                            <a:srgbClr val="3A4F63"/>
                          </a:solidFill>
                          <a:latin typeface="DM Sans"/>
                        </a:rPr>
                        <a:t>AZORG Aalst</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406400">
                <a:tc>
                  <a:txBody>
                    <a:bodyPr wrap="square"/>
                    <a:lstStyle/>
                    <a:p>
                      <a:pPr algn="l"/>
                      <a:r>
                        <a:rPr sz="1300" b="0" i="0">
                          <a:solidFill>
                            <a:srgbClr val="3A4F63"/>
                          </a:solidFill>
                          <a:latin typeface="DM Sans"/>
                        </a:rPr>
                        <a:t>UZ Leuven</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406400">
                <a:tc>
                  <a:txBody>
                    <a:bodyPr wrap="square"/>
                    <a:lstStyle/>
                    <a:p>
                      <a:pPr algn="l"/>
                      <a:r>
                        <a:rPr sz="1300" b="0" i="0">
                          <a:solidFill>
                            <a:srgbClr val="3A4F63"/>
                          </a:solidFill>
                          <a:latin typeface="DM Sans"/>
                        </a:rPr>
                        <a:t>UZ Antwerpen</a:t>
                      </a:r>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txBody>
                  <a:tcPr marT="57785" marR="99060" marB="57785" marL="9906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bl>
          </a:graphicData>
        </a:graphic>
      </p:graphicFrame>
      <p:sp>
        <p:nvSpPr>
          <p:cNvPr id="11" name="TextBox 10"/>
          <p:cNvSpPr txBox="1"/>
          <p:nvPr/>
        </p:nvSpPr>
        <p:spPr>
          <a:xfrm>
            <a:off x="876300" y="5504656"/>
            <a:ext cx="919559" cy="184150"/>
          </a:xfrm>
          <a:prstGeom prst="rect">
            <a:avLst/>
          </a:prstGeom>
          <a:noFill/>
        </p:spPr>
        <p:txBody>
          <a:bodyPr wrap="none" lIns="0" rIns="0" tIns="0" bIns="0" anchor="t">
            <a:noAutofit/>
          </a:bodyPr>
          <a:lstStyle/>
          <a:p>
            <a:pPr algn="l"/>
            <a:r>
              <a:rPr sz="1100" b="1" i="0" spc="100">
                <a:solidFill>
                  <a:srgbClr val="0B6E8F"/>
                </a:solidFill>
                <a:latin typeface="JetBrains Mono"/>
              </a:rPr>
              <a:t>PER VAKJE</a:t>
            </a:r>
          </a:p>
        </p:txBody>
      </p:sp>
      <p:pic>
        <p:nvPicPr>
          <p:cNvPr id="12" name="Picture 11" descr="82cf45269531fa897797d3d2655be317.png"/>
          <p:cNvPicPr>
            <a:picLocks noChangeAspect="1"/>
          </p:cNvPicPr>
          <p:nvPr/>
        </p:nvPicPr>
        <p:blipFill>
          <a:blip r:embed="rId2"/>
          <a:stretch>
            <a:fillRect/>
          </a:stretch>
        </p:blipFill>
        <p:spPr>
          <a:xfrm>
            <a:off x="2100659" y="5463381"/>
            <a:ext cx="266700" cy="266700"/>
          </a:xfrm>
          <a:prstGeom prst="rect">
            <a:avLst/>
          </a:prstGeom>
        </p:spPr>
      </p:pic>
      <p:sp>
        <p:nvSpPr>
          <p:cNvPr id="13" name="TextBox 12"/>
          <p:cNvSpPr txBox="1"/>
          <p:nvPr/>
        </p:nvSpPr>
        <p:spPr>
          <a:xfrm>
            <a:off x="2481659" y="5488781"/>
            <a:ext cx="1057771" cy="215900"/>
          </a:xfrm>
          <a:prstGeom prst="rect">
            <a:avLst/>
          </a:prstGeom>
          <a:noFill/>
        </p:spPr>
        <p:txBody>
          <a:bodyPr wrap="none" lIns="0" rIns="0" tIns="0" bIns="0" anchor="t">
            <a:noAutofit/>
          </a:bodyPr>
          <a:lstStyle/>
          <a:p>
            <a:pPr algn="l"/>
            <a:r>
              <a:rPr sz="1300" b="0" i="0">
                <a:solidFill>
                  <a:srgbClr val="0A2540"/>
                </a:solidFill>
                <a:latin typeface="DM Sans"/>
              </a:rPr>
              <a:t>Geïnstalleerd</a:t>
            </a:r>
          </a:p>
        </p:txBody>
      </p:sp>
      <p:pic>
        <p:nvPicPr>
          <p:cNvPr id="14" name="Picture 13" descr="1f596db9c1021e63086a95f6bfd0eb12.png"/>
          <p:cNvPicPr>
            <a:picLocks noChangeAspect="1"/>
          </p:cNvPicPr>
          <p:nvPr/>
        </p:nvPicPr>
        <p:blipFill>
          <a:blip r:embed="rId3"/>
          <a:stretch>
            <a:fillRect/>
          </a:stretch>
        </p:blipFill>
        <p:spPr>
          <a:xfrm>
            <a:off x="3844230" y="5463381"/>
            <a:ext cx="266700" cy="266700"/>
          </a:xfrm>
          <a:prstGeom prst="rect">
            <a:avLst/>
          </a:prstGeom>
        </p:spPr>
      </p:pic>
      <p:sp>
        <p:nvSpPr>
          <p:cNvPr id="15" name="TextBox 14"/>
          <p:cNvSpPr txBox="1"/>
          <p:nvPr/>
        </p:nvSpPr>
        <p:spPr>
          <a:xfrm>
            <a:off x="4225230" y="5488781"/>
            <a:ext cx="765770" cy="215900"/>
          </a:xfrm>
          <a:prstGeom prst="rect">
            <a:avLst/>
          </a:prstGeom>
          <a:noFill/>
        </p:spPr>
        <p:txBody>
          <a:bodyPr wrap="none" lIns="0" rIns="0" tIns="0" bIns="0" anchor="t">
            <a:noAutofit/>
          </a:bodyPr>
          <a:lstStyle/>
          <a:p>
            <a:pPr algn="l"/>
            <a:r>
              <a:rPr sz="1300" b="0" i="0">
                <a:solidFill>
                  <a:srgbClr val="0A2540"/>
                </a:solidFill>
                <a:latin typeface="DM Sans"/>
              </a:rPr>
              <a:t>Aanwezig</a:t>
            </a:r>
          </a:p>
        </p:txBody>
      </p:sp>
      <p:pic>
        <p:nvPicPr>
          <p:cNvPr id="16" name="Picture 15" descr="c5e3cc5c84b3abbad34d0511b44999e9.png"/>
          <p:cNvPicPr>
            <a:picLocks noChangeAspect="1"/>
          </p:cNvPicPr>
          <p:nvPr/>
        </p:nvPicPr>
        <p:blipFill>
          <a:blip r:embed="rId4"/>
          <a:stretch>
            <a:fillRect/>
          </a:stretch>
        </p:blipFill>
        <p:spPr>
          <a:xfrm>
            <a:off x="5295801" y="5463381"/>
            <a:ext cx="266700" cy="266700"/>
          </a:xfrm>
          <a:prstGeom prst="rect">
            <a:avLst/>
          </a:prstGeom>
        </p:spPr>
      </p:pic>
      <p:sp>
        <p:nvSpPr>
          <p:cNvPr id="17" name="TextBox 16"/>
          <p:cNvSpPr txBox="1"/>
          <p:nvPr/>
        </p:nvSpPr>
        <p:spPr>
          <a:xfrm>
            <a:off x="5676801" y="5488781"/>
            <a:ext cx="839986" cy="215900"/>
          </a:xfrm>
          <a:prstGeom prst="rect">
            <a:avLst/>
          </a:prstGeom>
          <a:noFill/>
        </p:spPr>
        <p:txBody>
          <a:bodyPr wrap="none" lIns="0" rIns="0" tIns="0" bIns="0" anchor="t">
            <a:noAutofit/>
          </a:bodyPr>
          <a:lstStyle/>
          <a:p>
            <a:pPr algn="l"/>
            <a:r>
              <a:rPr sz="1300" b="0" i="0">
                <a:solidFill>
                  <a:srgbClr val="0A2540"/>
                </a:solidFill>
                <a:latin typeface="DM Sans"/>
              </a:rPr>
              <a:t>Onderweg</a:t>
            </a:r>
          </a:p>
        </p:txBody>
      </p:sp>
      <p:pic>
        <p:nvPicPr>
          <p:cNvPr id="18" name="Picture 17" descr="badfa62eaaa366672d8c5bfc525aab58.png"/>
          <p:cNvPicPr>
            <a:picLocks noChangeAspect="1"/>
          </p:cNvPicPr>
          <p:nvPr/>
        </p:nvPicPr>
        <p:blipFill>
          <a:blip r:embed="rId5"/>
          <a:stretch>
            <a:fillRect/>
          </a:stretch>
        </p:blipFill>
        <p:spPr>
          <a:xfrm>
            <a:off x="6821587" y="5463381"/>
            <a:ext cx="266700" cy="266700"/>
          </a:xfrm>
          <a:prstGeom prst="rect">
            <a:avLst/>
          </a:prstGeom>
        </p:spPr>
      </p:pic>
      <p:sp>
        <p:nvSpPr>
          <p:cNvPr id="19" name="TextBox 18"/>
          <p:cNvSpPr txBox="1"/>
          <p:nvPr/>
        </p:nvSpPr>
        <p:spPr>
          <a:xfrm>
            <a:off x="7202587" y="5488781"/>
            <a:ext cx="1102519" cy="215900"/>
          </a:xfrm>
          <a:prstGeom prst="rect">
            <a:avLst/>
          </a:prstGeom>
          <a:noFill/>
        </p:spPr>
        <p:txBody>
          <a:bodyPr wrap="none" lIns="0" rIns="0" tIns="0" bIns="0" anchor="t">
            <a:noAutofit/>
          </a:bodyPr>
          <a:lstStyle/>
          <a:p>
            <a:pPr algn="l"/>
            <a:r>
              <a:rPr sz="1300" b="0" i="0">
                <a:solidFill>
                  <a:srgbClr val="0A2540"/>
                </a:solidFill>
                <a:latin typeface="DM Sans"/>
              </a:rPr>
              <a:t>Niet aanwezig</a:t>
            </a:r>
          </a:p>
        </p:txBody>
      </p:sp>
      <p:pic>
        <p:nvPicPr>
          <p:cNvPr id="20" name="Picture 19"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21" name="TextBox 20"/>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22" name="TextBox 21"/>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stand op 12 oktober 2026</a:t>
            </a:r>
          </a:p>
        </p:txBody>
      </p:sp>
    </p:spTree>
  </p:cSld>
  <p:clrMapOvr>
    <a:masterClrMapping/>
  </p:clrMapOvr>
  <p:transition xmlns:p14="http://schemas.microsoft.com/office/powerpoint/2010/main" spd="med" p14:dur="700">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1 · STAND VAN ZAKEN · MATERIAAL</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Materiaal per centrum</a:t>
            </a:r>
          </a:p>
        </p:txBody>
      </p:sp>
      <p:sp>
        <p:nvSpPr>
          <p:cNvPr id="4" name="Rectangle 3"/>
          <p:cNvSpPr/>
          <p:nvPr/>
        </p:nvSpPr>
        <p:spPr>
          <a:xfrm>
            <a:off x="812800" y="2103041"/>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817291"/>
            <a:ext cx="3606800" cy="198120"/>
          </a:xfrm>
          <a:prstGeom prst="rect">
            <a:avLst/>
          </a:prstGeom>
          <a:noFill/>
        </p:spPr>
        <p:txBody>
          <a:bodyPr wrap="none" lIns="0" rIns="0" tIns="0" bIns="0" anchor="t">
            <a:noAutofit/>
          </a:bodyPr>
          <a:lstStyle/>
          <a:p>
            <a:pPr algn="l"/>
            <a:r>
              <a:rPr sz="1200" b="1" i="0">
                <a:solidFill>
                  <a:srgbClr val="5A6E80"/>
                </a:solidFill>
                <a:latin typeface="DM Sans"/>
              </a:rPr>
              <a:t>Materiaal</a:t>
            </a:r>
          </a:p>
        </p:txBody>
      </p:sp>
      <p:sp>
        <p:nvSpPr>
          <p:cNvPr id="6" name="TextBox 5"/>
          <p:cNvSpPr txBox="1"/>
          <p:nvPr/>
        </p:nvSpPr>
        <p:spPr>
          <a:xfrm>
            <a:off x="4343400" y="1817291"/>
            <a:ext cx="1219200" cy="198120"/>
          </a:xfrm>
          <a:prstGeom prst="rect">
            <a:avLst/>
          </a:prstGeom>
          <a:noFill/>
        </p:spPr>
        <p:txBody>
          <a:bodyPr wrap="none" lIns="0" rIns="0" tIns="0" bIns="0" anchor="t">
            <a:noAutofit/>
          </a:bodyPr>
          <a:lstStyle/>
          <a:p>
            <a:pPr algn="ctr"/>
            <a:r>
              <a:rPr sz="1200" b="1" i="0">
                <a:solidFill>
                  <a:srgbClr val="5A6E80"/>
                </a:solidFill>
                <a:latin typeface="DM Sans"/>
              </a:rPr>
              <a:t>Kortrijk</a:t>
            </a:r>
          </a:p>
        </p:txBody>
      </p:sp>
      <p:sp>
        <p:nvSpPr>
          <p:cNvPr id="7" name="TextBox 6"/>
          <p:cNvSpPr txBox="1"/>
          <p:nvPr/>
        </p:nvSpPr>
        <p:spPr>
          <a:xfrm>
            <a:off x="5511800" y="1817291"/>
            <a:ext cx="1219200" cy="198120"/>
          </a:xfrm>
          <a:prstGeom prst="rect">
            <a:avLst/>
          </a:prstGeom>
          <a:noFill/>
        </p:spPr>
        <p:txBody>
          <a:bodyPr wrap="none" lIns="0" rIns="0" tIns="0" bIns="0" anchor="t">
            <a:noAutofit/>
          </a:bodyPr>
          <a:lstStyle/>
          <a:p>
            <a:pPr algn="ctr"/>
            <a:r>
              <a:rPr sz="1200" b="1" i="0">
                <a:solidFill>
                  <a:srgbClr val="5A6E80"/>
                </a:solidFill>
                <a:latin typeface="DM Sans"/>
              </a:rPr>
              <a:t>Brugge</a:t>
            </a:r>
          </a:p>
        </p:txBody>
      </p:sp>
      <p:sp>
        <p:nvSpPr>
          <p:cNvPr id="8" name="TextBox 7"/>
          <p:cNvSpPr txBox="1"/>
          <p:nvPr/>
        </p:nvSpPr>
        <p:spPr>
          <a:xfrm>
            <a:off x="6680200" y="1817291"/>
            <a:ext cx="1219200" cy="198120"/>
          </a:xfrm>
          <a:prstGeom prst="rect">
            <a:avLst/>
          </a:prstGeom>
          <a:noFill/>
        </p:spPr>
        <p:txBody>
          <a:bodyPr wrap="none" lIns="0" rIns="0" tIns="0" bIns="0" anchor="t">
            <a:noAutofit/>
          </a:bodyPr>
          <a:lstStyle/>
          <a:p>
            <a:pPr algn="ctr"/>
            <a:r>
              <a:rPr sz="1200" b="1" i="0">
                <a:solidFill>
                  <a:srgbClr val="5A6E80"/>
                </a:solidFill>
                <a:latin typeface="DM Sans"/>
              </a:rPr>
              <a:t>Gent</a:t>
            </a:r>
          </a:p>
        </p:txBody>
      </p:sp>
      <p:sp>
        <p:nvSpPr>
          <p:cNvPr id="9" name="TextBox 8"/>
          <p:cNvSpPr txBox="1"/>
          <p:nvPr/>
        </p:nvSpPr>
        <p:spPr>
          <a:xfrm>
            <a:off x="7848600" y="1817291"/>
            <a:ext cx="1219200" cy="198120"/>
          </a:xfrm>
          <a:prstGeom prst="rect">
            <a:avLst/>
          </a:prstGeom>
          <a:noFill/>
        </p:spPr>
        <p:txBody>
          <a:bodyPr wrap="none" lIns="0" rIns="0" tIns="0" bIns="0" anchor="t">
            <a:noAutofit/>
          </a:bodyPr>
          <a:lstStyle/>
          <a:p>
            <a:pPr algn="ctr"/>
            <a:r>
              <a:rPr sz="1200" b="1" i="0">
                <a:solidFill>
                  <a:srgbClr val="5A6E80"/>
                </a:solidFill>
                <a:latin typeface="DM Sans"/>
              </a:rPr>
              <a:t>Aalst</a:t>
            </a:r>
          </a:p>
        </p:txBody>
      </p:sp>
      <p:sp>
        <p:nvSpPr>
          <p:cNvPr id="10" name="TextBox 9"/>
          <p:cNvSpPr txBox="1"/>
          <p:nvPr/>
        </p:nvSpPr>
        <p:spPr>
          <a:xfrm>
            <a:off x="9017000" y="1817291"/>
            <a:ext cx="1219200" cy="198120"/>
          </a:xfrm>
          <a:prstGeom prst="rect">
            <a:avLst/>
          </a:prstGeom>
          <a:noFill/>
        </p:spPr>
        <p:txBody>
          <a:bodyPr wrap="none" lIns="0" rIns="0" tIns="0" bIns="0" anchor="t">
            <a:noAutofit/>
          </a:bodyPr>
          <a:lstStyle/>
          <a:p>
            <a:pPr algn="ctr"/>
            <a:r>
              <a:rPr sz="1200" b="1" i="0">
                <a:solidFill>
                  <a:srgbClr val="5A6E80"/>
                </a:solidFill>
                <a:latin typeface="DM Sans"/>
              </a:rPr>
              <a:t>Leuven</a:t>
            </a:r>
          </a:p>
        </p:txBody>
      </p:sp>
      <p:sp>
        <p:nvSpPr>
          <p:cNvPr id="11" name="TextBox 10"/>
          <p:cNvSpPr txBox="1"/>
          <p:nvPr/>
        </p:nvSpPr>
        <p:spPr>
          <a:xfrm>
            <a:off x="10185400" y="1817291"/>
            <a:ext cx="1219200" cy="198120"/>
          </a:xfrm>
          <a:prstGeom prst="rect">
            <a:avLst/>
          </a:prstGeom>
          <a:noFill/>
        </p:spPr>
        <p:txBody>
          <a:bodyPr wrap="none" lIns="0" rIns="0" tIns="0" bIns="0" anchor="t">
            <a:noAutofit/>
          </a:bodyPr>
          <a:lstStyle/>
          <a:p>
            <a:pPr algn="ctr"/>
            <a:r>
              <a:rPr sz="1200" b="1" i="0">
                <a:solidFill>
                  <a:srgbClr val="5A6E80"/>
                </a:solidFill>
                <a:latin typeface="DM Sans"/>
              </a:rPr>
              <a:t>Antwerpen</a:t>
            </a:r>
          </a:p>
        </p:txBody>
      </p:sp>
      <p:sp>
        <p:nvSpPr>
          <p:cNvPr id="12" name="Rectangle 11"/>
          <p:cNvSpPr/>
          <p:nvPr/>
        </p:nvSpPr>
        <p:spPr>
          <a:xfrm>
            <a:off x="812800" y="269359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2301478"/>
            <a:ext cx="3606800" cy="206375"/>
          </a:xfrm>
          <a:prstGeom prst="rect">
            <a:avLst/>
          </a:prstGeom>
          <a:noFill/>
        </p:spPr>
        <p:txBody>
          <a:bodyPr wrap="none" lIns="0" rIns="0" tIns="0" bIns="0" anchor="t">
            <a:noAutofit/>
          </a:bodyPr>
          <a:lstStyle/>
          <a:p>
            <a:pPr algn="l">
              <a:lnSpc>
                <a:spcPts val="1625"/>
              </a:lnSpc>
            </a:pPr>
            <a:r>
              <a:rPr sz="1300" b="1" i="0">
                <a:solidFill>
                  <a:srgbClr val="0A2540"/>
                </a:solidFill>
                <a:latin typeface="DM Sans"/>
              </a:rPr>
              <a:t>Novel pedar: laptop, router en twee zenders</a:t>
            </a:r>
          </a:p>
        </p:txBody>
      </p:sp>
      <p:pic>
        <p:nvPicPr>
          <p:cNvPr id="14" name="Picture 13" descr="1f596db9c1021e63086a95f6bfd0eb12.png"/>
          <p:cNvPicPr>
            <a:picLocks noChangeAspect="1"/>
          </p:cNvPicPr>
          <p:nvPr/>
        </p:nvPicPr>
        <p:blipFill>
          <a:blip r:embed="rId2"/>
          <a:stretch>
            <a:fillRect/>
          </a:stretch>
        </p:blipFill>
        <p:spPr>
          <a:xfrm>
            <a:off x="4813300" y="2264966"/>
            <a:ext cx="279400" cy="279400"/>
          </a:xfrm>
          <a:prstGeom prst="rect">
            <a:avLst/>
          </a:prstGeom>
        </p:spPr>
      </p:pic>
      <p:pic>
        <p:nvPicPr>
          <p:cNvPr id="15" name="Picture 14" descr="82cf45269531fa897797d3d2655be317.png"/>
          <p:cNvPicPr>
            <a:picLocks noChangeAspect="1"/>
          </p:cNvPicPr>
          <p:nvPr/>
        </p:nvPicPr>
        <p:blipFill>
          <a:blip r:embed="rId3"/>
          <a:stretch>
            <a:fillRect/>
          </a:stretch>
        </p:blipFill>
        <p:spPr>
          <a:xfrm>
            <a:off x="5981700" y="2264966"/>
            <a:ext cx="279400" cy="279400"/>
          </a:xfrm>
          <a:prstGeom prst="rect">
            <a:avLst/>
          </a:prstGeom>
        </p:spPr>
      </p:pic>
      <p:pic>
        <p:nvPicPr>
          <p:cNvPr id="16" name="Picture 15" descr="c5e3cc5c84b3abbad34d0511b44999e9.png"/>
          <p:cNvPicPr>
            <a:picLocks noChangeAspect="1"/>
          </p:cNvPicPr>
          <p:nvPr/>
        </p:nvPicPr>
        <p:blipFill>
          <a:blip r:embed="rId4"/>
          <a:stretch>
            <a:fillRect/>
          </a:stretch>
        </p:blipFill>
        <p:spPr>
          <a:xfrm>
            <a:off x="7150100" y="2264966"/>
            <a:ext cx="279400" cy="279400"/>
          </a:xfrm>
          <a:prstGeom prst="rect">
            <a:avLst/>
          </a:prstGeom>
        </p:spPr>
      </p:pic>
      <p:pic>
        <p:nvPicPr>
          <p:cNvPr id="17" name="Picture 16" descr="1f596db9c1021e63086a95f6bfd0eb12.png"/>
          <p:cNvPicPr>
            <a:picLocks noChangeAspect="1"/>
          </p:cNvPicPr>
          <p:nvPr/>
        </p:nvPicPr>
        <p:blipFill>
          <a:blip r:embed="rId2"/>
          <a:stretch>
            <a:fillRect/>
          </a:stretch>
        </p:blipFill>
        <p:spPr>
          <a:xfrm>
            <a:off x="8318500" y="2264966"/>
            <a:ext cx="279400" cy="279400"/>
          </a:xfrm>
          <a:prstGeom prst="rect">
            <a:avLst/>
          </a:prstGeom>
        </p:spPr>
      </p:pic>
      <p:pic>
        <p:nvPicPr>
          <p:cNvPr id="18" name="Picture 17" descr="82cf45269531fa897797d3d2655be317.png"/>
          <p:cNvPicPr>
            <a:picLocks noChangeAspect="1"/>
          </p:cNvPicPr>
          <p:nvPr/>
        </p:nvPicPr>
        <p:blipFill>
          <a:blip r:embed="rId3"/>
          <a:stretch>
            <a:fillRect/>
          </a:stretch>
        </p:blipFill>
        <p:spPr>
          <a:xfrm>
            <a:off x="9486900" y="2264966"/>
            <a:ext cx="279400" cy="279400"/>
          </a:xfrm>
          <a:prstGeom prst="rect">
            <a:avLst/>
          </a:prstGeom>
        </p:spPr>
      </p:pic>
      <p:pic>
        <p:nvPicPr>
          <p:cNvPr id="19" name="Picture 18" descr="1f596db9c1021e63086a95f6bfd0eb12.png"/>
          <p:cNvPicPr>
            <a:picLocks noChangeAspect="1"/>
          </p:cNvPicPr>
          <p:nvPr/>
        </p:nvPicPr>
        <p:blipFill>
          <a:blip r:embed="rId2"/>
          <a:stretch>
            <a:fillRect/>
          </a:stretch>
        </p:blipFill>
        <p:spPr>
          <a:xfrm>
            <a:off x="10655300" y="2264966"/>
            <a:ext cx="279400" cy="279400"/>
          </a:xfrm>
          <a:prstGeom prst="rect">
            <a:avLst/>
          </a:prstGeom>
        </p:spPr>
      </p:pic>
      <p:sp>
        <p:nvSpPr>
          <p:cNvPr id="20" name="Rectangle 19"/>
          <p:cNvSpPr/>
          <p:nvPr/>
        </p:nvSpPr>
        <p:spPr>
          <a:xfrm>
            <a:off x="812800" y="327779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800" y="2885678"/>
            <a:ext cx="3606800" cy="206375"/>
          </a:xfrm>
          <a:prstGeom prst="rect">
            <a:avLst/>
          </a:prstGeom>
          <a:noFill/>
        </p:spPr>
        <p:txBody>
          <a:bodyPr wrap="none" lIns="0" rIns="0" tIns="0" bIns="0" anchor="t">
            <a:noAutofit/>
          </a:bodyPr>
          <a:lstStyle/>
          <a:p>
            <a:pPr algn="l">
              <a:lnSpc>
                <a:spcPts val="1625"/>
              </a:lnSpc>
            </a:pPr>
            <a:r>
              <a:rPr sz="1300" b="1" i="0">
                <a:solidFill>
                  <a:srgbClr val="0A2540"/>
                </a:solidFill>
                <a:latin typeface="DM Sans"/>
              </a:rPr>
              <a:t>Vier MoveMonitors</a:t>
            </a:r>
          </a:p>
        </p:txBody>
      </p:sp>
      <p:pic>
        <p:nvPicPr>
          <p:cNvPr id="22" name="Picture 21" descr="1f596db9c1021e63086a95f6bfd0eb12.png"/>
          <p:cNvPicPr>
            <a:picLocks noChangeAspect="1"/>
          </p:cNvPicPr>
          <p:nvPr/>
        </p:nvPicPr>
        <p:blipFill>
          <a:blip r:embed="rId2"/>
          <a:stretch>
            <a:fillRect/>
          </a:stretch>
        </p:blipFill>
        <p:spPr>
          <a:xfrm>
            <a:off x="4813300" y="2849166"/>
            <a:ext cx="279400" cy="279400"/>
          </a:xfrm>
          <a:prstGeom prst="rect">
            <a:avLst/>
          </a:prstGeom>
        </p:spPr>
      </p:pic>
      <p:pic>
        <p:nvPicPr>
          <p:cNvPr id="23" name="Picture 22" descr="1f596db9c1021e63086a95f6bfd0eb12.png"/>
          <p:cNvPicPr>
            <a:picLocks noChangeAspect="1"/>
          </p:cNvPicPr>
          <p:nvPr/>
        </p:nvPicPr>
        <p:blipFill>
          <a:blip r:embed="rId2"/>
          <a:stretch>
            <a:fillRect/>
          </a:stretch>
        </p:blipFill>
        <p:spPr>
          <a:xfrm>
            <a:off x="5981700" y="2849166"/>
            <a:ext cx="279400" cy="279400"/>
          </a:xfrm>
          <a:prstGeom prst="rect">
            <a:avLst/>
          </a:prstGeom>
        </p:spPr>
      </p:pic>
      <p:pic>
        <p:nvPicPr>
          <p:cNvPr id="24" name="Picture 23" descr="1f596db9c1021e63086a95f6bfd0eb12.png"/>
          <p:cNvPicPr>
            <a:picLocks noChangeAspect="1"/>
          </p:cNvPicPr>
          <p:nvPr/>
        </p:nvPicPr>
        <p:blipFill>
          <a:blip r:embed="rId2"/>
          <a:stretch>
            <a:fillRect/>
          </a:stretch>
        </p:blipFill>
        <p:spPr>
          <a:xfrm>
            <a:off x="7150100" y="2849166"/>
            <a:ext cx="279400" cy="279400"/>
          </a:xfrm>
          <a:prstGeom prst="rect">
            <a:avLst/>
          </a:prstGeom>
        </p:spPr>
      </p:pic>
      <p:pic>
        <p:nvPicPr>
          <p:cNvPr id="25" name="Picture 24" descr="1f596db9c1021e63086a95f6bfd0eb12.png"/>
          <p:cNvPicPr>
            <a:picLocks noChangeAspect="1"/>
          </p:cNvPicPr>
          <p:nvPr/>
        </p:nvPicPr>
        <p:blipFill>
          <a:blip r:embed="rId2"/>
          <a:stretch>
            <a:fillRect/>
          </a:stretch>
        </p:blipFill>
        <p:spPr>
          <a:xfrm>
            <a:off x="8318500" y="2849166"/>
            <a:ext cx="279400" cy="279400"/>
          </a:xfrm>
          <a:prstGeom prst="rect">
            <a:avLst/>
          </a:prstGeom>
        </p:spPr>
      </p:pic>
      <p:pic>
        <p:nvPicPr>
          <p:cNvPr id="26" name="Picture 25" descr="82cf45269531fa897797d3d2655be317.png"/>
          <p:cNvPicPr>
            <a:picLocks noChangeAspect="1"/>
          </p:cNvPicPr>
          <p:nvPr/>
        </p:nvPicPr>
        <p:blipFill>
          <a:blip r:embed="rId3"/>
          <a:stretch>
            <a:fillRect/>
          </a:stretch>
        </p:blipFill>
        <p:spPr>
          <a:xfrm>
            <a:off x="9486900" y="2849166"/>
            <a:ext cx="279400" cy="279400"/>
          </a:xfrm>
          <a:prstGeom prst="rect">
            <a:avLst/>
          </a:prstGeom>
        </p:spPr>
      </p:pic>
      <p:pic>
        <p:nvPicPr>
          <p:cNvPr id="27" name="Picture 26" descr="1f596db9c1021e63086a95f6bfd0eb12.png"/>
          <p:cNvPicPr>
            <a:picLocks noChangeAspect="1"/>
          </p:cNvPicPr>
          <p:nvPr/>
        </p:nvPicPr>
        <p:blipFill>
          <a:blip r:embed="rId2"/>
          <a:stretch>
            <a:fillRect/>
          </a:stretch>
        </p:blipFill>
        <p:spPr>
          <a:xfrm>
            <a:off x="10655300" y="2849166"/>
            <a:ext cx="279400" cy="279400"/>
          </a:xfrm>
          <a:prstGeom prst="rect">
            <a:avLst/>
          </a:prstGeom>
        </p:spPr>
      </p:pic>
      <p:sp>
        <p:nvSpPr>
          <p:cNvPr id="28" name="Rectangle 27"/>
          <p:cNvSpPr/>
          <p:nvPr/>
        </p:nvSpPr>
        <p:spPr>
          <a:xfrm>
            <a:off x="812800" y="3861991"/>
            <a:ext cx="105664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2800" y="3469878"/>
            <a:ext cx="3606800" cy="206375"/>
          </a:xfrm>
          <a:prstGeom prst="rect">
            <a:avLst/>
          </a:prstGeom>
          <a:noFill/>
        </p:spPr>
        <p:txBody>
          <a:bodyPr wrap="none" lIns="0" rIns="0" tIns="0" bIns="0" anchor="t">
            <a:noAutofit/>
          </a:bodyPr>
          <a:lstStyle/>
          <a:p>
            <a:pPr algn="l">
              <a:lnSpc>
                <a:spcPts val="1625"/>
              </a:lnSpc>
            </a:pPr>
            <a:r>
              <a:rPr sz="1300" b="1" i="0">
                <a:solidFill>
                  <a:srgbClr val="0A2540"/>
                </a:solidFill>
                <a:latin typeface="DM Sans"/>
              </a:rPr>
              <a:t>Orthotimers en de pen</a:t>
            </a:r>
          </a:p>
        </p:txBody>
      </p:sp>
      <p:pic>
        <p:nvPicPr>
          <p:cNvPr id="30" name="Picture 29" descr="1f596db9c1021e63086a95f6bfd0eb12.png"/>
          <p:cNvPicPr>
            <a:picLocks noChangeAspect="1"/>
          </p:cNvPicPr>
          <p:nvPr/>
        </p:nvPicPr>
        <p:blipFill>
          <a:blip r:embed="rId2"/>
          <a:stretch>
            <a:fillRect/>
          </a:stretch>
        </p:blipFill>
        <p:spPr>
          <a:xfrm>
            <a:off x="4813300" y="3433366"/>
            <a:ext cx="279400" cy="279400"/>
          </a:xfrm>
          <a:prstGeom prst="rect">
            <a:avLst/>
          </a:prstGeom>
        </p:spPr>
      </p:pic>
      <p:pic>
        <p:nvPicPr>
          <p:cNvPr id="31" name="Picture 30" descr="1f596db9c1021e63086a95f6bfd0eb12.png"/>
          <p:cNvPicPr>
            <a:picLocks noChangeAspect="1"/>
          </p:cNvPicPr>
          <p:nvPr/>
        </p:nvPicPr>
        <p:blipFill>
          <a:blip r:embed="rId2"/>
          <a:stretch>
            <a:fillRect/>
          </a:stretch>
        </p:blipFill>
        <p:spPr>
          <a:xfrm>
            <a:off x="5981700" y="3433366"/>
            <a:ext cx="279400" cy="279400"/>
          </a:xfrm>
          <a:prstGeom prst="rect">
            <a:avLst/>
          </a:prstGeom>
        </p:spPr>
      </p:pic>
      <p:pic>
        <p:nvPicPr>
          <p:cNvPr id="32" name="Picture 31" descr="1f596db9c1021e63086a95f6bfd0eb12.png"/>
          <p:cNvPicPr>
            <a:picLocks noChangeAspect="1"/>
          </p:cNvPicPr>
          <p:nvPr/>
        </p:nvPicPr>
        <p:blipFill>
          <a:blip r:embed="rId2"/>
          <a:stretch>
            <a:fillRect/>
          </a:stretch>
        </p:blipFill>
        <p:spPr>
          <a:xfrm>
            <a:off x="7150100" y="3433366"/>
            <a:ext cx="279400" cy="279400"/>
          </a:xfrm>
          <a:prstGeom prst="rect">
            <a:avLst/>
          </a:prstGeom>
        </p:spPr>
      </p:pic>
      <p:pic>
        <p:nvPicPr>
          <p:cNvPr id="33" name="Picture 32" descr="1f596db9c1021e63086a95f6bfd0eb12.png"/>
          <p:cNvPicPr>
            <a:picLocks noChangeAspect="1"/>
          </p:cNvPicPr>
          <p:nvPr/>
        </p:nvPicPr>
        <p:blipFill>
          <a:blip r:embed="rId2"/>
          <a:stretch>
            <a:fillRect/>
          </a:stretch>
        </p:blipFill>
        <p:spPr>
          <a:xfrm>
            <a:off x="8318500" y="3433366"/>
            <a:ext cx="279400" cy="279400"/>
          </a:xfrm>
          <a:prstGeom prst="rect">
            <a:avLst/>
          </a:prstGeom>
        </p:spPr>
      </p:pic>
      <p:pic>
        <p:nvPicPr>
          <p:cNvPr id="34" name="Picture 33" descr="82cf45269531fa897797d3d2655be317.png"/>
          <p:cNvPicPr>
            <a:picLocks noChangeAspect="1"/>
          </p:cNvPicPr>
          <p:nvPr/>
        </p:nvPicPr>
        <p:blipFill>
          <a:blip r:embed="rId3"/>
          <a:stretch>
            <a:fillRect/>
          </a:stretch>
        </p:blipFill>
        <p:spPr>
          <a:xfrm>
            <a:off x="9486900" y="3433366"/>
            <a:ext cx="279400" cy="279400"/>
          </a:xfrm>
          <a:prstGeom prst="rect">
            <a:avLst/>
          </a:prstGeom>
        </p:spPr>
      </p:pic>
      <p:pic>
        <p:nvPicPr>
          <p:cNvPr id="35" name="Picture 34" descr="1f596db9c1021e63086a95f6bfd0eb12.png"/>
          <p:cNvPicPr>
            <a:picLocks noChangeAspect="1"/>
          </p:cNvPicPr>
          <p:nvPr/>
        </p:nvPicPr>
        <p:blipFill>
          <a:blip r:embed="rId2"/>
          <a:stretch>
            <a:fillRect/>
          </a:stretch>
        </p:blipFill>
        <p:spPr>
          <a:xfrm>
            <a:off x="10655300" y="3433366"/>
            <a:ext cx="279400" cy="279400"/>
          </a:xfrm>
          <a:prstGeom prst="rect">
            <a:avLst/>
          </a:prstGeom>
        </p:spPr>
      </p:pic>
      <p:sp>
        <p:nvSpPr>
          <p:cNvPr id="36" name="TextBox 35"/>
          <p:cNvSpPr txBox="1"/>
          <p:nvPr/>
        </p:nvSpPr>
        <p:spPr>
          <a:xfrm>
            <a:off x="876300" y="4468416"/>
            <a:ext cx="919559" cy="184150"/>
          </a:xfrm>
          <a:prstGeom prst="rect">
            <a:avLst/>
          </a:prstGeom>
          <a:noFill/>
        </p:spPr>
        <p:txBody>
          <a:bodyPr wrap="none" lIns="0" rIns="0" tIns="0" bIns="0" anchor="t">
            <a:noAutofit/>
          </a:bodyPr>
          <a:lstStyle/>
          <a:p>
            <a:pPr algn="l"/>
            <a:r>
              <a:rPr sz="1100" b="1" i="0" spc="100">
                <a:solidFill>
                  <a:srgbClr val="0B6E8F"/>
                </a:solidFill>
                <a:latin typeface="JetBrains Mono"/>
              </a:rPr>
              <a:t>PER VAKJE</a:t>
            </a:r>
          </a:p>
        </p:txBody>
      </p:sp>
      <p:pic>
        <p:nvPicPr>
          <p:cNvPr id="37" name="Picture 36" descr="82cf45269531fa897797d3d2655be317.png"/>
          <p:cNvPicPr>
            <a:picLocks noChangeAspect="1"/>
          </p:cNvPicPr>
          <p:nvPr/>
        </p:nvPicPr>
        <p:blipFill>
          <a:blip r:embed="rId3"/>
          <a:stretch>
            <a:fillRect/>
          </a:stretch>
        </p:blipFill>
        <p:spPr>
          <a:xfrm>
            <a:off x="2100659" y="4427141"/>
            <a:ext cx="266700" cy="266700"/>
          </a:xfrm>
          <a:prstGeom prst="rect">
            <a:avLst/>
          </a:prstGeom>
        </p:spPr>
      </p:pic>
      <p:sp>
        <p:nvSpPr>
          <p:cNvPr id="38" name="TextBox 37"/>
          <p:cNvSpPr txBox="1"/>
          <p:nvPr/>
        </p:nvSpPr>
        <p:spPr>
          <a:xfrm>
            <a:off x="2481659" y="4452541"/>
            <a:ext cx="1057771" cy="215900"/>
          </a:xfrm>
          <a:prstGeom prst="rect">
            <a:avLst/>
          </a:prstGeom>
          <a:noFill/>
        </p:spPr>
        <p:txBody>
          <a:bodyPr wrap="none" lIns="0" rIns="0" tIns="0" bIns="0" anchor="t">
            <a:noAutofit/>
          </a:bodyPr>
          <a:lstStyle/>
          <a:p>
            <a:pPr algn="l"/>
            <a:r>
              <a:rPr sz="1300" b="0" i="0">
                <a:solidFill>
                  <a:srgbClr val="0A2540"/>
                </a:solidFill>
                <a:latin typeface="DM Sans"/>
              </a:rPr>
              <a:t>Geïnstalleerd</a:t>
            </a:r>
          </a:p>
        </p:txBody>
      </p:sp>
      <p:pic>
        <p:nvPicPr>
          <p:cNvPr id="39" name="Picture 38" descr="1f596db9c1021e63086a95f6bfd0eb12.png"/>
          <p:cNvPicPr>
            <a:picLocks noChangeAspect="1"/>
          </p:cNvPicPr>
          <p:nvPr/>
        </p:nvPicPr>
        <p:blipFill>
          <a:blip r:embed="rId2"/>
          <a:stretch>
            <a:fillRect/>
          </a:stretch>
        </p:blipFill>
        <p:spPr>
          <a:xfrm>
            <a:off x="3844230" y="4427141"/>
            <a:ext cx="266700" cy="266700"/>
          </a:xfrm>
          <a:prstGeom prst="rect">
            <a:avLst/>
          </a:prstGeom>
        </p:spPr>
      </p:pic>
      <p:sp>
        <p:nvSpPr>
          <p:cNvPr id="40" name="TextBox 39"/>
          <p:cNvSpPr txBox="1"/>
          <p:nvPr/>
        </p:nvSpPr>
        <p:spPr>
          <a:xfrm>
            <a:off x="4225230" y="4452541"/>
            <a:ext cx="765770" cy="215900"/>
          </a:xfrm>
          <a:prstGeom prst="rect">
            <a:avLst/>
          </a:prstGeom>
          <a:noFill/>
        </p:spPr>
        <p:txBody>
          <a:bodyPr wrap="none" lIns="0" rIns="0" tIns="0" bIns="0" anchor="t">
            <a:noAutofit/>
          </a:bodyPr>
          <a:lstStyle/>
          <a:p>
            <a:pPr algn="l"/>
            <a:r>
              <a:rPr sz="1300" b="0" i="0">
                <a:solidFill>
                  <a:srgbClr val="0A2540"/>
                </a:solidFill>
                <a:latin typeface="DM Sans"/>
              </a:rPr>
              <a:t>Aanwezig</a:t>
            </a:r>
          </a:p>
        </p:txBody>
      </p:sp>
      <p:pic>
        <p:nvPicPr>
          <p:cNvPr id="41" name="Picture 40" descr="c5e3cc5c84b3abbad34d0511b44999e9.png"/>
          <p:cNvPicPr>
            <a:picLocks noChangeAspect="1"/>
          </p:cNvPicPr>
          <p:nvPr/>
        </p:nvPicPr>
        <p:blipFill>
          <a:blip r:embed="rId4"/>
          <a:stretch>
            <a:fillRect/>
          </a:stretch>
        </p:blipFill>
        <p:spPr>
          <a:xfrm>
            <a:off x="5295801" y="4427141"/>
            <a:ext cx="266700" cy="266700"/>
          </a:xfrm>
          <a:prstGeom prst="rect">
            <a:avLst/>
          </a:prstGeom>
        </p:spPr>
      </p:pic>
      <p:sp>
        <p:nvSpPr>
          <p:cNvPr id="42" name="TextBox 41"/>
          <p:cNvSpPr txBox="1"/>
          <p:nvPr/>
        </p:nvSpPr>
        <p:spPr>
          <a:xfrm>
            <a:off x="5676801" y="4452541"/>
            <a:ext cx="839986" cy="215900"/>
          </a:xfrm>
          <a:prstGeom prst="rect">
            <a:avLst/>
          </a:prstGeom>
          <a:noFill/>
        </p:spPr>
        <p:txBody>
          <a:bodyPr wrap="none" lIns="0" rIns="0" tIns="0" bIns="0" anchor="t">
            <a:noAutofit/>
          </a:bodyPr>
          <a:lstStyle/>
          <a:p>
            <a:pPr algn="l"/>
            <a:r>
              <a:rPr sz="1300" b="0" i="0">
                <a:solidFill>
                  <a:srgbClr val="0A2540"/>
                </a:solidFill>
                <a:latin typeface="DM Sans"/>
              </a:rPr>
              <a:t>Onderweg</a:t>
            </a:r>
          </a:p>
        </p:txBody>
      </p:sp>
      <p:pic>
        <p:nvPicPr>
          <p:cNvPr id="43" name="Picture 42" descr="badfa62eaaa366672d8c5bfc525aab58.png"/>
          <p:cNvPicPr>
            <a:picLocks noChangeAspect="1"/>
          </p:cNvPicPr>
          <p:nvPr/>
        </p:nvPicPr>
        <p:blipFill>
          <a:blip r:embed="rId5"/>
          <a:stretch>
            <a:fillRect/>
          </a:stretch>
        </p:blipFill>
        <p:spPr>
          <a:xfrm>
            <a:off x="6821587" y="4427141"/>
            <a:ext cx="266700" cy="266700"/>
          </a:xfrm>
          <a:prstGeom prst="rect">
            <a:avLst/>
          </a:prstGeom>
        </p:spPr>
      </p:pic>
      <p:sp>
        <p:nvSpPr>
          <p:cNvPr id="44" name="TextBox 43"/>
          <p:cNvSpPr txBox="1"/>
          <p:nvPr/>
        </p:nvSpPr>
        <p:spPr>
          <a:xfrm>
            <a:off x="7202587" y="4452541"/>
            <a:ext cx="1102519" cy="215900"/>
          </a:xfrm>
          <a:prstGeom prst="rect">
            <a:avLst/>
          </a:prstGeom>
          <a:noFill/>
        </p:spPr>
        <p:txBody>
          <a:bodyPr wrap="none" lIns="0" rIns="0" tIns="0" bIns="0" anchor="t">
            <a:noAutofit/>
          </a:bodyPr>
          <a:lstStyle/>
          <a:p>
            <a:pPr algn="l"/>
            <a:r>
              <a:rPr sz="1300" b="0" i="0">
                <a:solidFill>
                  <a:srgbClr val="0A2540"/>
                </a:solidFill>
                <a:latin typeface="DM Sans"/>
              </a:rPr>
              <a:t>Niet aanwezig</a:t>
            </a:r>
          </a:p>
        </p:txBody>
      </p:sp>
      <p:pic>
        <p:nvPicPr>
          <p:cNvPr id="45" name="Picture 44" descr="ec5c93e6f83f209b4e97ddfdecd480c8.png"/>
          <p:cNvPicPr>
            <a:picLocks noChangeAspect="1"/>
          </p:cNvPicPr>
          <p:nvPr/>
        </p:nvPicPr>
        <p:blipFill>
          <a:blip r:embed="rId6"/>
          <a:stretch>
            <a:fillRect/>
          </a:stretch>
        </p:blipFill>
        <p:spPr>
          <a:xfrm>
            <a:off x="812967" y="6261100"/>
            <a:ext cx="171116" cy="203200"/>
          </a:xfrm>
          <a:prstGeom prst="rect">
            <a:avLst/>
          </a:prstGeom>
        </p:spPr>
      </p:pic>
      <p:sp>
        <p:nvSpPr>
          <p:cNvPr id="46" name="TextBox 45"/>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47" name="TextBox 46"/>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stand op 12 oktober 2026</a:t>
            </a:r>
          </a:p>
        </p:txBody>
      </p:sp>
    </p:spTree>
  </p:cSld>
  <p:clrMapOvr>
    <a:masterClrMapping/>
  </p:clrMapOvr>
  <p:transition xmlns:p14="http://schemas.microsoft.com/office/powerpoint/2010/main" spd="med" p14:dur="700">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2 · SINDS DE VORIGE MEETING VAN 1 APRIL</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Wat intussen vastligt</a:t>
            </a:r>
          </a:p>
        </p:txBody>
      </p:sp>
      <p:sp>
        <p:nvSpPr>
          <p:cNvPr id="4" name="Rounded Rectangle 3"/>
          <p:cNvSpPr/>
          <p:nvPr/>
        </p:nvSpPr>
        <p:spPr>
          <a:xfrm>
            <a:off x="812800" y="1791891"/>
            <a:ext cx="2546350" cy="1601192"/>
          </a:xfrm>
          <a:prstGeom prst="roundRect">
            <a:avLst>
              <a:gd name="adj" fmla="val 793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950" y="1963341"/>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DRUKMETING</a:t>
            </a:r>
          </a:p>
        </p:txBody>
      </p:sp>
      <p:sp>
        <p:nvSpPr>
          <p:cNvPr id="6" name="TextBox 5"/>
          <p:cNvSpPr txBox="1"/>
          <p:nvPr/>
        </p:nvSpPr>
        <p:spPr>
          <a:xfrm>
            <a:off x="996950" y="2223691"/>
            <a:ext cx="2228850" cy="525661"/>
          </a:xfrm>
          <a:prstGeom prst="rect">
            <a:avLst/>
          </a:prstGeom>
          <a:noFill/>
        </p:spPr>
        <p:txBody>
          <a:bodyPr wrap="square" lIns="0" rIns="0" tIns="0" bIns="0" anchor="t">
            <a:noAutofit/>
          </a:bodyPr>
          <a:lstStyle/>
          <a:p>
            <a:pPr algn="l">
              <a:lnSpc>
                <a:spcPts val="2070"/>
              </a:lnSpc>
            </a:pPr>
            <a:r>
              <a:rPr sz="1800" b="0" i="0">
                <a:solidFill>
                  <a:srgbClr val="F2F8FC"/>
                </a:solidFill>
                <a:latin typeface="DM Serif Display"/>
              </a:rPr>
              <a:t>Novel pedar in de kliniek</a:t>
            </a:r>
          </a:p>
        </p:txBody>
      </p:sp>
      <p:sp>
        <p:nvSpPr>
          <p:cNvPr id="7" name="TextBox 6"/>
          <p:cNvSpPr txBox="1"/>
          <p:nvPr/>
        </p:nvSpPr>
        <p:spPr>
          <a:xfrm>
            <a:off x="996950" y="2825552"/>
            <a:ext cx="2228850" cy="396081"/>
          </a:xfrm>
          <a:prstGeom prst="rect">
            <a:avLst/>
          </a:prstGeom>
          <a:noFill/>
        </p:spPr>
        <p:txBody>
          <a:bodyPr wrap="square" lIns="0" rIns="0" tIns="0" bIns="0" anchor="t">
            <a:noAutofit/>
          </a:bodyPr>
          <a:lstStyle/>
          <a:p>
            <a:pPr algn="l">
              <a:lnSpc>
                <a:spcPts val="1560"/>
              </a:lnSpc>
            </a:pPr>
            <a:r>
              <a:rPr sz="1200" b="0" i="0">
                <a:solidFill>
                  <a:srgbClr val="8FB0CA"/>
                </a:solidFill>
                <a:latin typeface="DM Sans"/>
              </a:rPr>
              <a:t>F-Scan GO alleen bij het studieteam</a:t>
            </a:r>
          </a:p>
        </p:txBody>
      </p:sp>
      <p:sp>
        <p:nvSpPr>
          <p:cNvPr id="8" name="Rounded Rectangle 7"/>
          <p:cNvSpPr/>
          <p:nvPr/>
        </p:nvSpPr>
        <p:spPr>
          <a:xfrm>
            <a:off x="3486150" y="1791891"/>
            <a:ext cx="2546350" cy="1601192"/>
          </a:xfrm>
          <a:prstGeom prst="roundRect">
            <a:avLst>
              <a:gd name="adj" fmla="val 793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670300" y="1963341"/>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DRUKNORM</a:t>
            </a:r>
          </a:p>
        </p:txBody>
      </p:sp>
      <p:sp>
        <p:nvSpPr>
          <p:cNvPr id="10" name="TextBox 9"/>
          <p:cNvSpPr txBox="1"/>
          <p:nvPr/>
        </p:nvSpPr>
        <p:spPr>
          <a:xfrm>
            <a:off x="3670300" y="2223691"/>
            <a:ext cx="2228850" cy="525661"/>
          </a:xfrm>
          <a:prstGeom prst="rect">
            <a:avLst/>
          </a:prstGeom>
          <a:noFill/>
        </p:spPr>
        <p:txBody>
          <a:bodyPr wrap="square" lIns="0" rIns="0" tIns="0" bIns="0" anchor="t">
            <a:noAutofit/>
          </a:bodyPr>
          <a:lstStyle/>
          <a:p>
            <a:pPr algn="l">
              <a:lnSpc>
                <a:spcPts val="2070"/>
              </a:lnSpc>
            </a:pPr>
            <a:r>
              <a:rPr sz="1800" b="0" i="0">
                <a:solidFill>
                  <a:srgbClr val="F2F8FC"/>
                </a:solidFill>
                <a:latin typeface="DM Serif Display"/>
              </a:rPr>
              <a:t>&lt; 200 kPa óf ≥ 25% lager</a:t>
            </a:r>
          </a:p>
        </p:txBody>
      </p:sp>
      <p:sp>
        <p:nvSpPr>
          <p:cNvPr id="11" name="Rounded Rectangle 10"/>
          <p:cNvSpPr/>
          <p:nvPr/>
        </p:nvSpPr>
        <p:spPr>
          <a:xfrm>
            <a:off x="6159500" y="1791891"/>
            <a:ext cx="2546350" cy="1601192"/>
          </a:xfrm>
          <a:prstGeom prst="roundRect">
            <a:avLst>
              <a:gd name="adj" fmla="val 793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43650" y="1963341"/>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EINDPUNT</a:t>
            </a:r>
          </a:p>
        </p:txBody>
      </p:sp>
      <p:sp>
        <p:nvSpPr>
          <p:cNvPr id="13" name="TextBox 12"/>
          <p:cNvSpPr txBox="1"/>
          <p:nvPr/>
        </p:nvSpPr>
        <p:spPr>
          <a:xfrm>
            <a:off x="6343650" y="2223691"/>
            <a:ext cx="2228850" cy="525661"/>
          </a:xfrm>
          <a:prstGeom prst="rect">
            <a:avLst/>
          </a:prstGeom>
          <a:noFill/>
        </p:spPr>
        <p:txBody>
          <a:bodyPr wrap="square" lIns="0" rIns="0" tIns="0" bIns="0" anchor="t">
            <a:noAutofit/>
          </a:bodyPr>
          <a:lstStyle/>
          <a:p>
            <a:pPr algn="l">
              <a:lnSpc>
                <a:spcPts val="2070"/>
              </a:lnSpc>
            </a:pPr>
            <a:r>
              <a:rPr sz="1800" b="0" i="0">
                <a:solidFill>
                  <a:srgbClr val="F2F8FC"/>
                </a:solidFill>
                <a:latin typeface="DM Serif Display"/>
              </a:rPr>
              <a:t>Recidief over 18 maanden</a:t>
            </a:r>
          </a:p>
        </p:txBody>
      </p:sp>
      <p:sp>
        <p:nvSpPr>
          <p:cNvPr id="14" name="TextBox 13"/>
          <p:cNvSpPr txBox="1"/>
          <p:nvPr/>
        </p:nvSpPr>
        <p:spPr>
          <a:xfrm>
            <a:off x="6343650" y="2825552"/>
            <a:ext cx="2228850" cy="198120"/>
          </a:xfrm>
          <a:prstGeom prst="rect">
            <a:avLst/>
          </a:prstGeom>
          <a:noFill/>
        </p:spPr>
        <p:txBody>
          <a:bodyPr wrap="none" lIns="0" rIns="0" tIns="0" bIns="0" anchor="t">
            <a:noAutofit/>
          </a:bodyPr>
          <a:lstStyle/>
          <a:p>
            <a:pPr algn="l">
              <a:lnSpc>
                <a:spcPts val="1560"/>
              </a:lnSpc>
            </a:pPr>
            <a:r>
              <a:rPr sz="1200" b="0" i="0">
                <a:solidFill>
                  <a:srgbClr val="8FB0CA"/>
                </a:solidFill>
                <a:latin typeface="DM Sans"/>
              </a:rPr>
              <a:t>therapietrouw is de mediator</a:t>
            </a:r>
          </a:p>
        </p:txBody>
      </p:sp>
      <p:sp>
        <p:nvSpPr>
          <p:cNvPr id="15" name="Rounded Rectangle 14"/>
          <p:cNvSpPr/>
          <p:nvPr/>
        </p:nvSpPr>
        <p:spPr>
          <a:xfrm>
            <a:off x="8832850" y="1791891"/>
            <a:ext cx="2546350" cy="1601192"/>
          </a:xfrm>
          <a:prstGeom prst="roundRect">
            <a:avLst>
              <a:gd name="adj" fmla="val 793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17000" y="1963341"/>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DRAAGNORM</a:t>
            </a:r>
          </a:p>
        </p:txBody>
      </p:sp>
      <p:sp>
        <p:nvSpPr>
          <p:cNvPr id="17" name="TextBox 16"/>
          <p:cNvSpPr txBox="1"/>
          <p:nvPr/>
        </p:nvSpPr>
        <p:spPr>
          <a:xfrm>
            <a:off x="9017000" y="2223691"/>
            <a:ext cx="2228850" cy="525661"/>
          </a:xfrm>
          <a:prstGeom prst="rect">
            <a:avLst/>
          </a:prstGeom>
          <a:noFill/>
        </p:spPr>
        <p:txBody>
          <a:bodyPr wrap="square" lIns="0" rIns="0" tIns="0" bIns="0" anchor="t">
            <a:noAutofit/>
          </a:bodyPr>
          <a:lstStyle/>
          <a:p>
            <a:pPr algn="l">
              <a:lnSpc>
                <a:spcPts val="2070"/>
              </a:lnSpc>
            </a:pPr>
            <a:r>
              <a:rPr sz="1800" b="0" i="0">
                <a:solidFill>
                  <a:srgbClr val="F2F8FC"/>
                </a:solidFill>
                <a:latin typeface="DM Serif Display"/>
              </a:rPr>
              <a:t>80% van de eigen waaktijd</a:t>
            </a:r>
          </a:p>
        </p:txBody>
      </p:sp>
      <p:sp>
        <p:nvSpPr>
          <p:cNvPr id="18" name="TextBox 17"/>
          <p:cNvSpPr txBox="1"/>
          <p:nvPr/>
        </p:nvSpPr>
        <p:spPr>
          <a:xfrm>
            <a:off x="9017000" y="2825552"/>
            <a:ext cx="2228850" cy="396081"/>
          </a:xfrm>
          <a:prstGeom prst="rect">
            <a:avLst/>
          </a:prstGeom>
          <a:noFill/>
        </p:spPr>
        <p:txBody>
          <a:bodyPr wrap="square" lIns="0" rIns="0" tIns="0" bIns="0" anchor="t">
            <a:noAutofit/>
          </a:bodyPr>
          <a:lstStyle/>
          <a:p>
            <a:pPr algn="l">
              <a:lnSpc>
                <a:spcPts val="1560"/>
              </a:lnSpc>
            </a:pPr>
            <a:r>
              <a:rPr sz="1200" b="0" i="0">
                <a:solidFill>
                  <a:srgbClr val="8FB0CA"/>
                </a:solidFill>
                <a:latin typeface="DM Sans"/>
              </a:rPr>
              <a:t>MoveMonitor alleen bij de start</a:t>
            </a:r>
          </a:p>
        </p:txBody>
      </p:sp>
      <p:sp>
        <p:nvSpPr>
          <p:cNvPr id="19" name="Rounded Rectangle 18"/>
          <p:cNvSpPr/>
          <p:nvPr/>
        </p:nvSpPr>
        <p:spPr>
          <a:xfrm>
            <a:off x="812800" y="3520083"/>
            <a:ext cx="2546350" cy="1403152"/>
          </a:xfrm>
          <a:prstGeom prst="roundRect">
            <a:avLst>
              <a:gd name="adj" fmla="val 905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96950" y="3691533"/>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CMFO</a:t>
            </a:r>
          </a:p>
        </p:txBody>
      </p:sp>
      <p:sp>
        <p:nvSpPr>
          <p:cNvPr id="21" name="TextBox 20"/>
          <p:cNvSpPr txBox="1"/>
          <p:nvPr/>
        </p:nvSpPr>
        <p:spPr>
          <a:xfrm>
            <a:off x="996950" y="3951883"/>
            <a:ext cx="2228850" cy="525661"/>
          </a:xfrm>
          <a:prstGeom prst="rect">
            <a:avLst/>
          </a:prstGeom>
          <a:noFill/>
        </p:spPr>
        <p:txBody>
          <a:bodyPr wrap="square" lIns="0" rIns="0" tIns="0" bIns="0" anchor="t">
            <a:noAutofit/>
          </a:bodyPr>
          <a:lstStyle/>
          <a:p>
            <a:pPr algn="l">
              <a:lnSpc>
                <a:spcPts val="2070"/>
              </a:lnSpc>
            </a:pPr>
            <a:r>
              <a:rPr sz="1800" b="0" i="0">
                <a:solidFill>
                  <a:srgbClr val="F2F8FC"/>
                </a:solidFill>
                <a:latin typeface="DM Serif Display"/>
              </a:rPr>
              <a:t>Opbouw per schoentype</a:t>
            </a:r>
          </a:p>
        </p:txBody>
      </p:sp>
      <p:sp>
        <p:nvSpPr>
          <p:cNvPr id="22" name="TextBox 21"/>
          <p:cNvSpPr txBox="1"/>
          <p:nvPr/>
        </p:nvSpPr>
        <p:spPr>
          <a:xfrm>
            <a:off x="996950" y="4553744"/>
            <a:ext cx="2228850" cy="198120"/>
          </a:xfrm>
          <a:prstGeom prst="rect">
            <a:avLst/>
          </a:prstGeom>
          <a:noFill/>
        </p:spPr>
        <p:txBody>
          <a:bodyPr wrap="none" lIns="0" rIns="0" tIns="0" bIns="0" anchor="t">
            <a:noAutofit/>
          </a:bodyPr>
          <a:lstStyle/>
          <a:p>
            <a:pPr algn="l">
              <a:lnSpc>
                <a:spcPts val="1560"/>
              </a:lnSpc>
            </a:pPr>
            <a:r>
              <a:rPr sz="1200" b="0" i="0">
                <a:solidFill>
                  <a:srgbClr val="8FB0CA"/>
                </a:solidFill>
                <a:latin typeface="DM Sans"/>
              </a:rPr>
              <a:t>plus een identiek tweede paar</a:t>
            </a:r>
          </a:p>
        </p:txBody>
      </p:sp>
      <p:sp>
        <p:nvSpPr>
          <p:cNvPr id="23" name="Rounded Rectangle 22"/>
          <p:cNvSpPr/>
          <p:nvPr/>
        </p:nvSpPr>
        <p:spPr>
          <a:xfrm>
            <a:off x="3486150" y="3520083"/>
            <a:ext cx="2546350" cy="1403152"/>
          </a:xfrm>
          <a:prstGeom prst="roundRect">
            <a:avLst>
              <a:gd name="adj" fmla="val 905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670300" y="3691533"/>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BLINDERING</a:t>
            </a:r>
          </a:p>
        </p:txBody>
      </p:sp>
      <p:sp>
        <p:nvSpPr>
          <p:cNvPr id="25" name="TextBox 24"/>
          <p:cNvSpPr txBox="1"/>
          <p:nvPr/>
        </p:nvSpPr>
        <p:spPr>
          <a:xfrm>
            <a:off x="3670300" y="3951883"/>
            <a:ext cx="2228850" cy="525661"/>
          </a:xfrm>
          <a:prstGeom prst="rect">
            <a:avLst/>
          </a:prstGeom>
          <a:noFill/>
        </p:spPr>
        <p:txBody>
          <a:bodyPr wrap="square" lIns="0" rIns="0" tIns="0" bIns="0" anchor="t">
            <a:noAutofit/>
          </a:bodyPr>
          <a:lstStyle/>
          <a:p>
            <a:pPr algn="l">
              <a:lnSpc>
                <a:spcPts val="2070"/>
              </a:lnSpc>
            </a:pPr>
            <a:r>
              <a:rPr sz="1800" b="0" i="0">
                <a:solidFill>
                  <a:srgbClr val="F2F8FC"/>
                </a:solidFill>
                <a:latin typeface="DM Serif Display"/>
              </a:rPr>
              <a:t>Geen drukwaarden in gebruikelijke zorg</a:t>
            </a:r>
          </a:p>
        </p:txBody>
      </p:sp>
      <p:sp>
        <p:nvSpPr>
          <p:cNvPr id="26" name="Rounded Rectangle 25"/>
          <p:cNvSpPr/>
          <p:nvPr/>
        </p:nvSpPr>
        <p:spPr>
          <a:xfrm>
            <a:off x="6159500" y="3520083"/>
            <a:ext cx="2546350" cy="1403152"/>
          </a:xfrm>
          <a:prstGeom prst="roundRect">
            <a:avLst>
              <a:gd name="adj" fmla="val 905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43650" y="3691533"/>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DATA</a:t>
            </a:r>
          </a:p>
        </p:txBody>
      </p:sp>
      <p:sp>
        <p:nvSpPr>
          <p:cNvPr id="28" name="TextBox 27"/>
          <p:cNvSpPr txBox="1"/>
          <p:nvPr/>
        </p:nvSpPr>
        <p:spPr>
          <a:xfrm>
            <a:off x="6343650" y="3951883"/>
            <a:ext cx="2228850" cy="262890"/>
          </a:xfrm>
          <a:prstGeom prst="rect">
            <a:avLst/>
          </a:prstGeom>
          <a:noFill/>
        </p:spPr>
        <p:txBody>
          <a:bodyPr wrap="none" lIns="0" rIns="0" tIns="0" bIns="0" anchor="t">
            <a:noAutofit/>
          </a:bodyPr>
          <a:lstStyle/>
          <a:p>
            <a:pPr algn="l">
              <a:lnSpc>
                <a:spcPts val="2070"/>
              </a:lnSpc>
            </a:pPr>
            <a:r>
              <a:rPr sz="1800" b="0" i="0">
                <a:solidFill>
                  <a:srgbClr val="F2F8FC"/>
                </a:solidFill>
                <a:latin typeface="DM Serif Display"/>
              </a:rPr>
              <a:t>REDCap klaar</a:t>
            </a:r>
          </a:p>
        </p:txBody>
      </p:sp>
      <p:sp>
        <p:nvSpPr>
          <p:cNvPr id="29" name="TextBox 28"/>
          <p:cNvSpPr txBox="1"/>
          <p:nvPr/>
        </p:nvSpPr>
        <p:spPr>
          <a:xfrm>
            <a:off x="6343650" y="4290913"/>
            <a:ext cx="2228850" cy="396081"/>
          </a:xfrm>
          <a:prstGeom prst="rect">
            <a:avLst/>
          </a:prstGeom>
          <a:noFill/>
        </p:spPr>
        <p:txBody>
          <a:bodyPr wrap="square" lIns="0" rIns="0" tIns="0" bIns="0" anchor="t">
            <a:noAutofit/>
          </a:bodyPr>
          <a:lstStyle/>
          <a:p>
            <a:pPr algn="l">
              <a:lnSpc>
                <a:spcPts val="1560"/>
              </a:lnSpc>
            </a:pPr>
            <a:r>
              <a:rPr sz="1200" b="0" i="0">
                <a:solidFill>
                  <a:srgbClr val="8FB0CA"/>
                </a:solidFill>
                <a:latin typeface="DM Sans"/>
              </a:rPr>
              <a:t>u werkt op papier, wij zetten over</a:t>
            </a:r>
          </a:p>
        </p:txBody>
      </p:sp>
      <p:sp>
        <p:nvSpPr>
          <p:cNvPr id="30" name="Rounded Rectangle 29"/>
          <p:cNvSpPr/>
          <p:nvPr/>
        </p:nvSpPr>
        <p:spPr>
          <a:xfrm>
            <a:off x="8832850" y="3520083"/>
            <a:ext cx="2546350" cy="1403152"/>
          </a:xfrm>
          <a:prstGeom prst="roundRect">
            <a:avLst>
              <a:gd name="adj" fmla="val 905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017000" y="3691533"/>
            <a:ext cx="2228850" cy="184150"/>
          </a:xfrm>
          <a:prstGeom prst="rect">
            <a:avLst/>
          </a:prstGeom>
          <a:noFill/>
        </p:spPr>
        <p:txBody>
          <a:bodyPr wrap="none" lIns="0" rIns="0" tIns="0" bIns="0" anchor="t">
            <a:noAutofit/>
          </a:bodyPr>
          <a:lstStyle/>
          <a:p>
            <a:pPr algn="l"/>
            <a:r>
              <a:rPr sz="1100" b="0" i="0" spc="150">
                <a:solidFill>
                  <a:srgbClr val="52BDEC"/>
                </a:solidFill>
                <a:latin typeface="JetBrains Mono"/>
              </a:rPr>
              <a:t>REKRUTERING</a:t>
            </a:r>
          </a:p>
        </p:txBody>
      </p:sp>
      <p:sp>
        <p:nvSpPr>
          <p:cNvPr id="32" name="TextBox 31"/>
          <p:cNvSpPr txBox="1"/>
          <p:nvPr/>
        </p:nvSpPr>
        <p:spPr>
          <a:xfrm>
            <a:off x="9017000" y="3951883"/>
            <a:ext cx="2228850" cy="262890"/>
          </a:xfrm>
          <a:prstGeom prst="rect">
            <a:avLst/>
          </a:prstGeom>
          <a:noFill/>
        </p:spPr>
        <p:txBody>
          <a:bodyPr wrap="none" lIns="0" rIns="0" tIns="0" bIns="0" anchor="t">
            <a:noAutofit/>
          </a:bodyPr>
          <a:lstStyle/>
          <a:p>
            <a:pPr algn="l">
              <a:lnSpc>
                <a:spcPts val="2070"/>
              </a:lnSpc>
            </a:pPr>
            <a:r>
              <a:rPr sz="1800" b="0" i="0">
                <a:solidFill>
                  <a:srgbClr val="F2F8FC"/>
                </a:solidFill>
                <a:latin typeface="DM Serif Display"/>
              </a:rPr>
              <a:t>12 maanden</a:t>
            </a:r>
          </a:p>
        </p:txBody>
      </p:sp>
      <p:sp>
        <p:nvSpPr>
          <p:cNvPr id="33" name="TextBox 32"/>
          <p:cNvSpPr txBox="1"/>
          <p:nvPr/>
        </p:nvSpPr>
        <p:spPr>
          <a:xfrm>
            <a:off x="9017000" y="4290913"/>
            <a:ext cx="2228850" cy="396081"/>
          </a:xfrm>
          <a:prstGeom prst="rect">
            <a:avLst/>
          </a:prstGeom>
          <a:noFill/>
        </p:spPr>
        <p:txBody>
          <a:bodyPr wrap="square" lIns="0" rIns="0" tIns="0" bIns="0" anchor="t">
            <a:noAutofit/>
          </a:bodyPr>
          <a:lstStyle/>
          <a:p>
            <a:pPr algn="l">
              <a:lnSpc>
                <a:spcPts val="1560"/>
              </a:lnSpc>
            </a:pPr>
            <a:r>
              <a:rPr sz="1200" b="0" i="0">
                <a:solidFill>
                  <a:srgbClr val="8FB0CA"/>
                </a:solidFill>
                <a:latin typeface="DM Sans"/>
              </a:rPr>
              <a:t>februari 2027 tot februari 2028</a:t>
            </a:r>
          </a:p>
        </p:txBody>
      </p:sp>
      <p:pic>
        <p:nvPicPr>
          <p:cNvPr id="34" name="Picture 33"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35" name="TextBox 34"/>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36" name="TextBox 35"/>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6F8FAA"/>
                </a:solidFill>
                <a:latin typeface="JetBrains Mono"/>
              </a:rPr>
              <a:t>Bron · protocol · beslissingen PI aug–sep 2026 · meeting 1 april</a:t>
            </a:r>
          </a:p>
        </p:txBody>
      </p:sp>
    </p:spTree>
  </p:cSld>
  <p:clrMapOvr>
    <a:masterClrMapping/>
  </p:clrMapOvr>
  <p:transition xmlns:p14="http://schemas.microsoft.com/office/powerpoint/2010/main" spd="med" p14:dur="700">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3 · WERKPAKKETTEN EN ACTIVITEITEN</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Vijf werkpakketten, één studie</a:t>
            </a:r>
          </a:p>
        </p:txBody>
      </p:sp>
      <p:sp>
        <p:nvSpPr>
          <p:cNvPr id="4" name="Rounded Rectangle 3"/>
          <p:cNvSpPr/>
          <p:nvPr/>
        </p:nvSpPr>
        <p:spPr>
          <a:xfrm>
            <a:off x="812800" y="1868091"/>
            <a:ext cx="1826121" cy="2392958"/>
          </a:xfrm>
          <a:prstGeom prst="roundRect">
            <a:avLst>
              <a:gd name="adj" fmla="val 6954"/>
            </a:avLst>
          </a:prstGeom>
          <a:solidFill>
            <a:srgbClr val="FCFDFE"/>
          </a:solidFill>
          <a:ln w="12700">
            <a:solidFill>
              <a:srgbClr val="0B6E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0600" y="2045891"/>
            <a:ext cx="1521321" cy="198120"/>
          </a:xfrm>
          <a:prstGeom prst="rect">
            <a:avLst/>
          </a:prstGeom>
          <a:noFill/>
        </p:spPr>
        <p:txBody>
          <a:bodyPr wrap="none" lIns="0" rIns="0" tIns="0" bIns="0" anchor="t">
            <a:noAutofit/>
          </a:bodyPr>
          <a:lstStyle/>
          <a:p>
            <a:pPr algn="l"/>
            <a:r>
              <a:rPr sz="1200" b="0" i="0" spc="150">
                <a:solidFill>
                  <a:srgbClr val="0B6E8F"/>
                </a:solidFill>
                <a:latin typeface="JetBrains Mono"/>
              </a:rPr>
              <a:t>WP1</a:t>
            </a:r>
          </a:p>
        </p:txBody>
      </p:sp>
      <p:sp>
        <p:nvSpPr>
          <p:cNvPr id="6" name="TextBox 5"/>
          <p:cNvSpPr txBox="1"/>
          <p:nvPr/>
        </p:nvSpPr>
        <p:spPr>
          <a:xfrm>
            <a:off x="990600" y="2306241"/>
            <a:ext cx="1521321" cy="502841"/>
          </a:xfrm>
          <a:prstGeom prst="rect">
            <a:avLst/>
          </a:prstGeom>
          <a:noFill/>
        </p:spPr>
        <p:txBody>
          <a:bodyPr wrap="square" lIns="0" rIns="0" tIns="0" bIns="0" anchor="t">
            <a:noAutofit/>
          </a:bodyPr>
          <a:lstStyle/>
          <a:p>
            <a:pPr algn="l">
              <a:lnSpc>
                <a:spcPts val="1980"/>
              </a:lnSpc>
            </a:pPr>
            <a:r>
              <a:rPr sz="1800" b="0" i="0">
                <a:solidFill>
                  <a:srgbClr val="0A2540"/>
                </a:solidFill>
                <a:latin typeface="DM Serif Display"/>
              </a:rPr>
              <a:t>De klinische studie</a:t>
            </a:r>
          </a:p>
        </p:txBody>
      </p:sp>
      <p:sp>
        <p:nvSpPr>
          <p:cNvPr id="7" name="TextBox 6"/>
          <p:cNvSpPr txBox="1"/>
          <p:nvPr/>
        </p:nvSpPr>
        <p:spPr>
          <a:xfrm>
            <a:off x="990600" y="2872581"/>
            <a:ext cx="1521321" cy="396081"/>
          </a:xfrm>
          <a:prstGeom prst="rect">
            <a:avLst/>
          </a:prstGeom>
          <a:noFill/>
        </p:spPr>
        <p:txBody>
          <a:bodyPr wrap="square" lIns="0" rIns="0" tIns="0" bIns="0" anchor="t">
            <a:noAutofit/>
          </a:bodyPr>
          <a:lstStyle/>
          <a:p>
            <a:pPr algn="l">
              <a:lnSpc>
                <a:spcPts val="1560"/>
              </a:lnSpc>
            </a:pPr>
            <a:r>
              <a:rPr sz="1200" b="0" i="0">
                <a:solidFill>
                  <a:srgbClr val="5A6E80"/>
                </a:solidFill>
                <a:latin typeface="DM Sans"/>
              </a:rPr>
              <a:t>studieteam KU Leuven</a:t>
            </a:r>
          </a:p>
        </p:txBody>
      </p:sp>
      <p:sp>
        <p:nvSpPr>
          <p:cNvPr id="8" name="Rectangle 7"/>
          <p:cNvSpPr/>
          <p:nvPr/>
        </p:nvSpPr>
        <p:spPr>
          <a:xfrm>
            <a:off x="990600" y="3332162"/>
            <a:ext cx="147052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0600" y="3414712"/>
            <a:ext cx="1521321" cy="668536"/>
          </a:xfrm>
          <a:prstGeom prst="rect">
            <a:avLst/>
          </a:prstGeom>
          <a:noFill/>
        </p:spPr>
        <p:txBody>
          <a:bodyPr wrap="square" lIns="0" rIns="0" tIns="0" bIns="0" anchor="t">
            <a:noAutofit/>
          </a:bodyPr>
          <a:lstStyle/>
          <a:p>
            <a:pPr algn="l">
              <a:lnSpc>
                <a:spcPts val="1755"/>
              </a:lnSpc>
            </a:pPr>
            <a:r>
              <a:rPr sz="1300" b="0" i="0">
                <a:solidFill>
                  <a:srgbClr val="3A4F63"/>
                </a:solidFill>
                <a:latin typeface="DM Sans"/>
              </a:rPr>
              <a:t>Protocol en eCRF's klaar; opleiding, piloot, inclusie</a:t>
            </a:r>
          </a:p>
        </p:txBody>
      </p:sp>
      <p:sp>
        <p:nvSpPr>
          <p:cNvPr id="10" name="Rounded Rectangle 9"/>
          <p:cNvSpPr/>
          <p:nvPr/>
        </p:nvSpPr>
        <p:spPr>
          <a:xfrm>
            <a:off x="2765921" y="1868091"/>
            <a:ext cx="1945680" cy="2392958"/>
          </a:xfrm>
          <a:prstGeom prst="roundRect">
            <a:avLst>
              <a:gd name="adj" fmla="val 652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937371" y="2039541"/>
            <a:ext cx="1653580" cy="198120"/>
          </a:xfrm>
          <a:prstGeom prst="rect">
            <a:avLst/>
          </a:prstGeom>
          <a:noFill/>
        </p:spPr>
        <p:txBody>
          <a:bodyPr wrap="none" lIns="0" rIns="0" tIns="0" bIns="0" anchor="t">
            <a:noAutofit/>
          </a:bodyPr>
          <a:lstStyle/>
          <a:p>
            <a:pPr algn="l"/>
            <a:r>
              <a:rPr sz="1200" b="0" i="0" spc="150">
                <a:solidFill>
                  <a:srgbClr val="0B6E8F"/>
                </a:solidFill>
                <a:latin typeface="JetBrains Mono"/>
              </a:rPr>
              <a:t>WP2</a:t>
            </a:r>
          </a:p>
        </p:txBody>
      </p:sp>
      <p:sp>
        <p:nvSpPr>
          <p:cNvPr id="12" name="TextBox 11"/>
          <p:cNvSpPr txBox="1"/>
          <p:nvPr/>
        </p:nvSpPr>
        <p:spPr>
          <a:xfrm>
            <a:off x="2937371" y="2299891"/>
            <a:ext cx="1653580" cy="251460"/>
          </a:xfrm>
          <a:prstGeom prst="rect">
            <a:avLst/>
          </a:prstGeom>
          <a:noFill/>
        </p:spPr>
        <p:txBody>
          <a:bodyPr wrap="none" lIns="0" rIns="0" tIns="0" bIns="0" anchor="t">
            <a:noAutofit/>
          </a:bodyPr>
          <a:lstStyle/>
          <a:p>
            <a:pPr algn="l">
              <a:lnSpc>
                <a:spcPts val="1980"/>
              </a:lnSpc>
            </a:pPr>
            <a:r>
              <a:rPr sz="1800" b="0" i="0">
                <a:solidFill>
                  <a:srgbClr val="0A2540"/>
                </a:solidFill>
                <a:latin typeface="DM Serif Display"/>
              </a:rPr>
              <a:t>Procesevaluatie</a:t>
            </a:r>
          </a:p>
        </p:txBody>
      </p:sp>
      <p:sp>
        <p:nvSpPr>
          <p:cNvPr id="13" name="TextBox 12"/>
          <p:cNvSpPr txBox="1"/>
          <p:nvPr/>
        </p:nvSpPr>
        <p:spPr>
          <a:xfrm>
            <a:off x="2937371" y="2614811"/>
            <a:ext cx="1653580" cy="198120"/>
          </a:xfrm>
          <a:prstGeom prst="rect">
            <a:avLst/>
          </a:prstGeom>
          <a:noFill/>
        </p:spPr>
        <p:txBody>
          <a:bodyPr wrap="none" lIns="0" rIns="0" tIns="0" bIns="0" anchor="t">
            <a:noAutofit/>
          </a:bodyPr>
          <a:lstStyle/>
          <a:p>
            <a:pPr algn="l">
              <a:lnSpc>
                <a:spcPts val="1560"/>
              </a:lnSpc>
            </a:pPr>
            <a:r>
              <a:rPr sz="1200" b="0" i="0">
                <a:solidFill>
                  <a:srgbClr val="5A6E80"/>
                </a:solidFill>
                <a:latin typeface="DM Sans"/>
              </a:rPr>
              <a:t>Maaike Fobelets, VUB</a:t>
            </a:r>
          </a:p>
        </p:txBody>
      </p:sp>
      <p:sp>
        <p:nvSpPr>
          <p:cNvPr id="14" name="Rectangle 13"/>
          <p:cNvSpPr/>
          <p:nvPr/>
        </p:nvSpPr>
        <p:spPr>
          <a:xfrm>
            <a:off x="2937371" y="2876352"/>
            <a:ext cx="160278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37371" y="2958902"/>
            <a:ext cx="1653580" cy="668536"/>
          </a:xfrm>
          <a:prstGeom prst="rect">
            <a:avLst/>
          </a:prstGeom>
          <a:noFill/>
        </p:spPr>
        <p:txBody>
          <a:bodyPr wrap="square" lIns="0" rIns="0" tIns="0" bIns="0" anchor="t">
            <a:noAutofit/>
          </a:bodyPr>
          <a:lstStyle/>
          <a:p>
            <a:pPr algn="l">
              <a:lnSpc>
                <a:spcPts val="1755"/>
              </a:lnSpc>
            </a:pPr>
            <a:r>
              <a:rPr sz="1300" b="0" i="0">
                <a:solidFill>
                  <a:srgbClr val="3A4F63"/>
                </a:solidFill>
                <a:latin typeface="DM Sans"/>
              </a:rPr>
              <a:t>Opnames, interviews, fidelity van SEBIA</a:t>
            </a:r>
          </a:p>
        </p:txBody>
      </p:sp>
      <p:sp>
        <p:nvSpPr>
          <p:cNvPr id="16" name="Rounded Rectangle 15"/>
          <p:cNvSpPr/>
          <p:nvPr/>
        </p:nvSpPr>
        <p:spPr>
          <a:xfrm>
            <a:off x="4838601" y="1868091"/>
            <a:ext cx="2634159" cy="2392958"/>
          </a:xfrm>
          <a:prstGeom prst="roundRect">
            <a:avLst>
              <a:gd name="adj" fmla="val 530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010051" y="2039541"/>
            <a:ext cx="2342059" cy="198120"/>
          </a:xfrm>
          <a:prstGeom prst="rect">
            <a:avLst/>
          </a:prstGeom>
          <a:noFill/>
        </p:spPr>
        <p:txBody>
          <a:bodyPr wrap="none" lIns="0" rIns="0" tIns="0" bIns="0" anchor="t">
            <a:noAutofit/>
          </a:bodyPr>
          <a:lstStyle/>
          <a:p>
            <a:pPr algn="l"/>
            <a:r>
              <a:rPr sz="1200" b="0" i="0" spc="150">
                <a:solidFill>
                  <a:srgbClr val="0B6E8F"/>
                </a:solidFill>
                <a:latin typeface="JetBrains Mono"/>
              </a:rPr>
              <a:t>WP3</a:t>
            </a:r>
          </a:p>
        </p:txBody>
      </p:sp>
      <p:sp>
        <p:nvSpPr>
          <p:cNvPr id="18" name="TextBox 17"/>
          <p:cNvSpPr txBox="1"/>
          <p:nvPr/>
        </p:nvSpPr>
        <p:spPr>
          <a:xfrm>
            <a:off x="5010051" y="2299891"/>
            <a:ext cx="2342059" cy="251460"/>
          </a:xfrm>
          <a:prstGeom prst="rect">
            <a:avLst/>
          </a:prstGeom>
          <a:noFill/>
        </p:spPr>
        <p:txBody>
          <a:bodyPr wrap="none" lIns="0" rIns="0" tIns="0" bIns="0" anchor="t">
            <a:noAutofit/>
          </a:bodyPr>
          <a:lstStyle/>
          <a:p>
            <a:pPr algn="l">
              <a:lnSpc>
                <a:spcPts val="1980"/>
              </a:lnSpc>
            </a:pPr>
            <a:r>
              <a:rPr sz="1800" b="0" i="0">
                <a:solidFill>
                  <a:srgbClr val="0A2540"/>
                </a:solidFill>
                <a:latin typeface="DM Serif Display"/>
              </a:rPr>
              <a:t>Gezondheidseconomie</a:t>
            </a:r>
          </a:p>
        </p:txBody>
      </p:sp>
      <p:sp>
        <p:nvSpPr>
          <p:cNvPr id="19" name="TextBox 18"/>
          <p:cNvSpPr txBox="1"/>
          <p:nvPr/>
        </p:nvSpPr>
        <p:spPr>
          <a:xfrm>
            <a:off x="5010051" y="2614811"/>
            <a:ext cx="2342059" cy="198120"/>
          </a:xfrm>
          <a:prstGeom prst="rect">
            <a:avLst/>
          </a:prstGeom>
          <a:noFill/>
        </p:spPr>
        <p:txBody>
          <a:bodyPr wrap="none" lIns="0" rIns="0" tIns="0" bIns="0" anchor="t">
            <a:noAutofit/>
          </a:bodyPr>
          <a:lstStyle/>
          <a:p>
            <a:pPr algn="l">
              <a:lnSpc>
                <a:spcPts val="1560"/>
              </a:lnSpc>
            </a:pPr>
            <a:r>
              <a:rPr sz="1200" b="0" i="0">
                <a:solidFill>
                  <a:srgbClr val="5A6E80"/>
                </a:solidFill>
                <a:latin typeface="DM Sans"/>
              </a:rPr>
              <a:t>Koen Putman, VUB</a:t>
            </a:r>
          </a:p>
        </p:txBody>
      </p:sp>
      <p:sp>
        <p:nvSpPr>
          <p:cNvPr id="20" name="Rectangle 19"/>
          <p:cNvSpPr/>
          <p:nvPr/>
        </p:nvSpPr>
        <p:spPr>
          <a:xfrm>
            <a:off x="5010051" y="2876352"/>
            <a:ext cx="2291259"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10051" y="2958902"/>
            <a:ext cx="2342059" cy="445691"/>
          </a:xfrm>
          <a:prstGeom prst="rect">
            <a:avLst/>
          </a:prstGeom>
          <a:noFill/>
        </p:spPr>
        <p:txBody>
          <a:bodyPr wrap="square" lIns="0" rIns="0" tIns="0" bIns="0" anchor="t">
            <a:noAutofit/>
          </a:bodyPr>
          <a:lstStyle/>
          <a:p>
            <a:pPr algn="l">
              <a:lnSpc>
                <a:spcPts val="1755"/>
              </a:lnSpc>
            </a:pPr>
            <a:r>
              <a:rPr sz="1300" b="0" i="0">
                <a:solidFill>
                  <a:srgbClr val="3A4F63"/>
                </a:solidFill>
                <a:latin typeface="DM Sans"/>
              </a:rPr>
              <a:t>Levenskwaliteit, zorggebruik, productiviteit</a:t>
            </a:r>
          </a:p>
        </p:txBody>
      </p:sp>
      <p:sp>
        <p:nvSpPr>
          <p:cNvPr id="22" name="Rounded Rectangle 21"/>
          <p:cNvSpPr/>
          <p:nvPr/>
        </p:nvSpPr>
        <p:spPr>
          <a:xfrm>
            <a:off x="7599759" y="1868091"/>
            <a:ext cx="1826220" cy="2392958"/>
          </a:xfrm>
          <a:prstGeom prst="roundRect">
            <a:avLst>
              <a:gd name="adj" fmla="val 6954"/>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71209" y="2039541"/>
            <a:ext cx="1534120" cy="198120"/>
          </a:xfrm>
          <a:prstGeom prst="rect">
            <a:avLst/>
          </a:prstGeom>
          <a:noFill/>
        </p:spPr>
        <p:txBody>
          <a:bodyPr wrap="none" lIns="0" rIns="0" tIns="0" bIns="0" anchor="t">
            <a:noAutofit/>
          </a:bodyPr>
          <a:lstStyle/>
          <a:p>
            <a:pPr algn="l"/>
            <a:r>
              <a:rPr sz="1200" b="0" i="0" spc="150">
                <a:solidFill>
                  <a:srgbClr val="0B6E8F"/>
                </a:solidFill>
                <a:latin typeface="JetBrains Mono"/>
              </a:rPr>
              <a:t>WP4</a:t>
            </a:r>
          </a:p>
        </p:txBody>
      </p:sp>
      <p:sp>
        <p:nvSpPr>
          <p:cNvPr id="24" name="TextBox 23"/>
          <p:cNvSpPr txBox="1"/>
          <p:nvPr/>
        </p:nvSpPr>
        <p:spPr>
          <a:xfrm>
            <a:off x="7771209" y="2299891"/>
            <a:ext cx="1534120" cy="502841"/>
          </a:xfrm>
          <a:prstGeom prst="rect">
            <a:avLst/>
          </a:prstGeom>
          <a:noFill/>
        </p:spPr>
        <p:txBody>
          <a:bodyPr wrap="square" lIns="0" rIns="0" tIns="0" bIns="0" anchor="t">
            <a:noAutofit/>
          </a:bodyPr>
          <a:lstStyle/>
          <a:p>
            <a:pPr algn="l">
              <a:lnSpc>
                <a:spcPts val="1980"/>
              </a:lnSpc>
            </a:pPr>
            <a:r>
              <a:rPr sz="1800" b="0" i="0">
                <a:solidFill>
                  <a:srgbClr val="0A2540"/>
                </a:solidFill>
                <a:latin typeface="DM Serif Display"/>
              </a:rPr>
              <a:t>Project- en databeheer</a:t>
            </a:r>
          </a:p>
        </p:txBody>
      </p:sp>
      <p:sp>
        <p:nvSpPr>
          <p:cNvPr id="25" name="TextBox 24"/>
          <p:cNvSpPr txBox="1"/>
          <p:nvPr/>
        </p:nvSpPr>
        <p:spPr>
          <a:xfrm>
            <a:off x="7771209" y="2866231"/>
            <a:ext cx="1534120" cy="396081"/>
          </a:xfrm>
          <a:prstGeom prst="rect">
            <a:avLst/>
          </a:prstGeom>
          <a:noFill/>
        </p:spPr>
        <p:txBody>
          <a:bodyPr wrap="square" lIns="0" rIns="0" tIns="0" bIns="0" anchor="t">
            <a:noAutofit/>
          </a:bodyPr>
          <a:lstStyle/>
          <a:p>
            <a:pPr algn="l">
              <a:lnSpc>
                <a:spcPts val="1560"/>
              </a:lnSpc>
            </a:pPr>
            <a:r>
              <a:rPr sz="1200" b="0" i="0">
                <a:solidFill>
                  <a:srgbClr val="5A6E80"/>
                </a:solidFill>
                <a:latin typeface="DM Sans"/>
              </a:rPr>
              <a:t>Kevin Deschamps, KU Leuven</a:t>
            </a:r>
          </a:p>
        </p:txBody>
      </p:sp>
      <p:sp>
        <p:nvSpPr>
          <p:cNvPr id="26" name="Rectangle 25"/>
          <p:cNvSpPr/>
          <p:nvPr/>
        </p:nvSpPr>
        <p:spPr>
          <a:xfrm>
            <a:off x="7771209" y="3325812"/>
            <a:ext cx="148332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1209" y="3408362"/>
            <a:ext cx="1534120" cy="445691"/>
          </a:xfrm>
          <a:prstGeom prst="rect">
            <a:avLst/>
          </a:prstGeom>
          <a:noFill/>
        </p:spPr>
        <p:txBody>
          <a:bodyPr wrap="square" lIns="0" rIns="0" tIns="0" bIns="0" anchor="t">
            <a:noAutofit/>
          </a:bodyPr>
          <a:lstStyle/>
          <a:p>
            <a:pPr algn="l">
              <a:lnSpc>
                <a:spcPts val="1755"/>
              </a:lnSpc>
            </a:pPr>
            <a:r>
              <a:rPr sz="1300" b="0" i="0">
                <a:solidFill>
                  <a:srgbClr val="3A4F63"/>
                </a:solidFill>
                <a:latin typeface="DM Sans"/>
              </a:rPr>
              <a:t>REDCap, Mango en de overlegorganen</a:t>
            </a:r>
          </a:p>
        </p:txBody>
      </p:sp>
      <p:sp>
        <p:nvSpPr>
          <p:cNvPr id="28" name="Rounded Rectangle 27"/>
          <p:cNvSpPr/>
          <p:nvPr/>
        </p:nvSpPr>
        <p:spPr>
          <a:xfrm>
            <a:off x="9552980" y="1868091"/>
            <a:ext cx="1826121" cy="2392958"/>
          </a:xfrm>
          <a:prstGeom prst="roundRect">
            <a:avLst>
              <a:gd name="adj" fmla="val 6954"/>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24430" y="2039541"/>
            <a:ext cx="1534021" cy="198120"/>
          </a:xfrm>
          <a:prstGeom prst="rect">
            <a:avLst/>
          </a:prstGeom>
          <a:noFill/>
        </p:spPr>
        <p:txBody>
          <a:bodyPr wrap="none" lIns="0" rIns="0" tIns="0" bIns="0" anchor="t">
            <a:noAutofit/>
          </a:bodyPr>
          <a:lstStyle/>
          <a:p>
            <a:pPr algn="l"/>
            <a:r>
              <a:rPr sz="1200" b="0" i="0" spc="150">
                <a:solidFill>
                  <a:srgbClr val="0B6E8F"/>
                </a:solidFill>
                <a:latin typeface="JetBrains Mono"/>
              </a:rPr>
              <a:t>WP5</a:t>
            </a:r>
          </a:p>
        </p:txBody>
      </p:sp>
      <p:sp>
        <p:nvSpPr>
          <p:cNvPr id="30" name="TextBox 29"/>
          <p:cNvSpPr txBox="1"/>
          <p:nvPr/>
        </p:nvSpPr>
        <p:spPr>
          <a:xfrm>
            <a:off x="9724430" y="2299891"/>
            <a:ext cx="1534021" cy="251460"/>
          </a:xfrm>
          <a:prstGeom prst="rect">
            <a:avLst/>
          </a:prstGeom>
          <a:noFill/>
        </p:spPr>
        <p:txBody>
          <a:bodyPr wrap="none" lIns="0" rIns="0" tIns="0" bIns="0" anchor="t">
            <a:noAutofit/>
          </a:bodyPr>
          <a:lstStyle/>
          <a:p>
            <a:pPr algn="l">
              <a:lnSpc>
                <a:spcPts val="1980"/>
              </a:lnSpc>
            </a:pPr>
            <a:r>
              <a:rPr sz="1800" b="0" i="0">
                <a:solidFill>
                  <a:srgbClr val="0A2540"/>
                </a:solidFill>
                <a:latin typeface="DM Serif Display"/>
              </a:rPr>
              <a:t>Disseminatie</a:t>
            </a:r>
          </a:p>
        </p:txBody>
      </p:sp>
      <p:sp>
        <p:nvSpPr>
          <p:cNvPr id="31" name="Rectangle 30"/>
          <p:cNvSpPr/>
          <p:nvPr/>
        </p:nvSpPr>
        <p:spPr>
          <a:xfrm>
            <a:off x="9724430" y="2614811"/>
            <a:ext cx="1483221"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4430" y="2697361"/>
            <a:ext cx="1534021" cy="668536"/>
          </a:xfrm>
          <a:prstGeom prst="rect">
            <a:avLst/>
          </a:prstGeom>
          <a:noFill/>
        </p:spPr>
        <p:txBody>
          <a:bodyPr wrap="square" lIns="0" rIns="0" tIns="0" bIns="0" anchor="t">
            <a:noAutofit/>
          </a:bodyPr>
          <a:lstStyle/>
          <a:p>
            <a:pPr algn="l">
              <a:lnSpc>
                <a:spcPts val="1755"/>
              </a:lnSpc>
            </a:pPr>
            <a:r>
              <a:rPr sz="1300" b="0" i="0">
                <a:solidFill>
                  <a:srgbClr val="3A4F63"/>
                </a:solidFill>
                <a:latin typeface="DM Sans"/>
              </a:rPr>
              <a:t>Website, publicaties, communicatie</a:t>
            </a:r>
          </a:p>
        </p:txBody>
      </p:sp>
      <p:pic>
        <p:nvPicPr>
          <p:cNvPr id="33" name="Picture 32"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34" name="TextBox 33"/>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35" name="TextBox 34"/>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Bron · consortiummeeting 1 april 2026, dia 46 en 60–65 · eCRF-lijst</a:t>
            </a:r>
          </a:p>
        </p:txBody>
      </p:sp>
    </p:spTree>
  </p:cSld>
  <p:clrMapOvr>
    <a:masterClrMapping/>
  </p:clrMapOvr>
  <p:transition xmlns:p14="http://schemas.microsoft.com/office/powerpoint/2010/main" spd="med" p14:dur="700">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3 · WP1 · GESCHIKTHEID</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Wie komt in aanmerking</a:t>
            </a:r>
          </a:p>
        </p:txBody>
      </p:sp>
      <p:sp>
        <p:nvSpPr>
          <p:cNvPr id="4" name="TextBox 3"/>
          <p:cNvSpPr txBox="1"/>
          <p:nvPr/>
        </p:nvSpPr>
        <p:spPr>
          <a:xfrm>
            <a:off x="812800" y="1842691"/>
            <a:ext cx="5130800" cy="228600"/>
          </a:xfrm>
          <a:prstGeom prst="rect">
            <a:avLst/>
          </a:prstGeom>
          <a:noFill/>
        </p:spPr>
        <p:txBody>
          <a:bodyPr wrap="none" lIns="0" rIns="0" tIns="0" bIns="0" anchor="t">
            <a:noAutofit/>
          </a:bodyPr>
          <a:lstStyle/>
          <a:p>
            <a:pPr algn="l">
              <a:lnSpc>
                <a:spcPts val="1800"/>
              </a:lnSpc>
            </a:pPr>
            <a:r>
              <a:rPr sz="1500" b="1" i="0">
                <a:solidFill>
                  <a:srgbClr val="52BDEC"/>
                </a:solidFill>
                <a:latin typeface="DM Sans"/>
              </a:rPr>
              <a:t>Wel</a:t>
            </a:r>
            <a:r>
              <a:rPr sz="1200" b="0" i="0">
                <a:solidFill>
                  <a:srgbClr val="8FB0CA"/>
                </a:solidFill>
                <a:latin typeface="DM Sans"/>
              </a:rPr>
              <a:t> · onthoud VOETEN</a:t>
            </a:r>
          </a:p>
        </p:txBody>
      </p:sp>
      <p:sp>
        <p:nvSpPr>
          <p:cNvPr id="5" name="Rounded Rectangle 4"/>
          <p:cNvSpPr/>
          <p:nvPr/>
        </p:nvSpPr>
        <p:spPr>
          <a:xfrm>
            <a:off x="812800" y="2172891"/>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7674" y="2242741"/>
            <a:ext cx="171252" cy="190500"/>
          </a:xfrm>
          <a:prstGeom prst="rect">
            <a:avLst/>
          </a:prstGeom>
          <a:noFill/>
        </p:spPr>
        <p:txBody>
          <a:bodyPr wrap="none" lIns="0" rIns="0" tIns="0" bIns="0" anchor="t">
            <a:noAutofit/>
          </a:bodyPr>
          <a:lstStyle/>
          <a:p>
            <a:pPr algn="l">
              <a:lnSpc>
                <a:spcPts val="1500"/>
              </a:lnSpc>
            </a:pPr>
            <a:r>
              <a:rPr sz="1500" b="0" i="0">
                <a:solidFill>
                  <a:srgbClr val="0A2540"/>
                </a:solidFill>
                <a:latin typeface="DM Serif Display"/>
              </a:rPr>
              <a:t>V</a:t>
            </a:r>
          </a:p>
        </p:txBody>
      </p:sp>
      <p:sp>
        <p:nvSpPr>
          <p:cNvPr id="7" name="TextBox 6"/>
          <p:cNvSpPr txBox="1"/>
          <p:nvPr/>
        </p:nvSpPr>
        <p:spPr>
          <a:xfrm>
            <a:off x="1282700" y="2172891"/>
            <a:ext cx="1342529" cy="214312"/>
          </a:xfrm>
          <a:prstGeom prst="rect">
            <a:avLst/>
          </a:prstGeom>
          <a:noFill/>
        </p:spPr>
        <p:txBody>
          <a:bodyPr wrap="none" lIns="0" rIns="0" tIns="0" bIns="0" anchor="t">
            <a:noAutofit/>
          </a:bodyPr>
          <a:lstStyle/>
          <a:p>
            <a:pPr algn="l">
              <a:lnSpc>
                <a:spcPts val="1687"/>
              </a:lnSpc>
            </a:pPr>
            <a:r>
              <a:rPr sz="1350" b="1" i="0">
                <a:solidFill>
                  <a:srgbClr val="52BDEC"/>
                </a:solidFill>
                <a:latin typeface="DM Sans"/>
              </a:rPr>
              <a:t>V</a:t>
            </a:r>
            <a:r>
              <a:rPr sz="1350" b="1" i="0">
                <a:solidFill>
                  <a:srgbClr val="F2F8FC"/>
                </a:solidFill>
                <a:latin typeface="DM Sans"/>
              </a:rPr>
              <a:t>aten stabiel</a:t>
            </a:r>
          </a:p>
        </p:txBody>
      </p:sp>
      <p:sp>
        <p:nvSpPr>
          <p:cNvPr id="8" name="TextBox 7"/>
          <p:cNvSpPr txBox="1"/>
          <p:nvPr/>
        </p:nvSpPr>
        <p:spPr>
          <a:xfrm>
            <a:off x="1282700" y="2399903"/>
            <a:ext cx="1342529" cy="189865"/>
          </a:xfrm>
          <a:prstGeom prst="rect">
            <a:avLst/>
          </a:prstGeom>
          <a:noFill/>
        </p:spPr>
        <p:txBody>
          <a:bodyPr wrap="none" lIns="0" rIns="0" tIns="0" bIns="0" anchor="t">
            <a:noAutofit/>
          </a:bodyPr>
          <a:lstStyle/>
          <a:p>
            <a:pPr algn="l">
              <a:lnSpc>
                <a:spcPts val="1495"/>
              </a:lnSpc>
            </a:pPr>
            <a:r>
              <a:rPr sz="1150" b="0" i="0">
                <a:solidFill>
                  <a:srgbClr val="C5D8E8"/>
                </a:solidFill>
                <a:latin typeface="DM Sans"/>
              </a:rPr>
              <a:t>Stabiele vaatstatus</a:t>
            </a:r>
          </a:p>
        </p:txBody>
      </p:sp>
      <p:sp>
        <p:nvSpPr>
          <p:cNvPr id="9" name="Rounded Rectangle 8"/>
          <p:cNvSpPr/>
          <p:nvPr/>
        </p:nvSpPr>
        <p:spPr>
          <a:xfrm>
            <a:off x="812800" y="2691309"/>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003" y="2761159"/>
            <a:ext cx="178495" cy="190500"/>
          </a:xfrm>
          <a:prstGeom prst="rect">
            <a:avLst/>
          </a:prstGeom>
          <a:noFill/>
        </p:spPr>
        <p:txBody>
          <a:bodyPr wrap="none" lIns="0" rIns="0" tIns="0" bIns="0" anchor="t">
            <a:noAutofit/>
          </a:bodyPr>
          <a:lstStyle/>
          <a:p>
            <a:pPr algn="l">
              <a:lnSpc>
                <a:spcPts val="1500"/>
              </a:lnSpc>
            </a:pPr>
            <a:r>
              <a:rPr sz="1500" b="0" i="0">
                <a:solidFill>
                  <a:srgbClr val="0A2540"/>
                </a:solidFill>
                <a:latin typeface="DM Serif Display"/>
              </a:rPr>
              <a:t>O</a:t>
            </a:r>
          </a:p>
        </p:txBody>
      </p:sp>
      <p:sp>
        <p:nvSpPr>
          <p:cNvPr id="11" name="TextBox 10"/>
          <p:cNvSpPr txBox="1"/>
          <p:nvPr/>
        </p:nvSpPr>
        <p:spPr>
          <a:xfrm>
            <a:off x="1282700" y="2691309"/>
            <a:ext cx="4660900" cy="214312"/>
          </a:xfrm>
          <a:prstGeom prst="rect">
            <a:avLst/>
          </a:prstGeom>
          <a:noFill/>
        </p:spPr>
        <p:txBody>
          <a:bodyPr wrap="none" lIns="0" rIns="0" tIns="0" bIns="0" anchor="t">
            <a:noAutofit/>
          </a:bodyPr>
          <a:lstStyle/>
          <a:p>
            <a:pPr algn="l">
              <a:lnSpc>
                <a:spcPts val="1687"/>
              </a:lnSpc>
            </a:pPr>
            <a:r>
              <a:rPr sz="1350" b="1" i="0">
                <a:solidFill>
                  <a:srgbClr val="52BDEC"/>
                </a:solidFill>
                <a:latin typeface="DM Sans"/>
              </a:rPr>
              <a:t>O</a:t>
            </a:r>
            <a:r>
              <a:rPr sz="1350" b="1" i="0">
                <a:solidFill>
                  <a:srgbClr val="F2F8FC"/>
                </a:solidFill>
                <a:latin typeface="DM Sans"/>
              </a:rPr>
              <a:t>oit een voetwonde</a:t>
            </a:r>
          </a:p>
        </p:txBody>
      </p:sp>
      <p:sp>
        <p:nvSpPr>
          <p:cNvPr id="12" name="TextBox 11"/>
          <p:cNvSpPr txBox="1"/>
          <p:nvPr/>
        </p:nvSpPr>
        <p:spPr>
          <a:xfrm>
            <a:off x="1282700" y="2918321"/>
            <a:ext cx="4702302" cy="569416"/>
          </a:xfrm>
          <a:prstGeom prst="rect">
            <a:avLst/>
          </a:prstGeom>
          <a:noFill/>
        </p:spPr>
        <p:txBody>
          <a:bodyPr wrap="square" lIns="0" rIns="0" tIns="0" bIns="0" anchor="t">
            <a:noAutofit/>
          </a:bodyPr>
          <a:lstStyle/>
          <a:p>
            <a:pPr algn="l">
              <a:lnSpc>
                <a:spcPts val="1495"/>
              </a:lnSpc>
            </a:pPr>
            <a:r>
              <a:rPr sz="1150" b="0" i="0">
                <a:solidFill>
                  <a:srgbClr val="C5D8E8"/>
                </a:solidFill>
                <a:latin typeface="DM Sans"/>
              </a:rPr>
              <a:t>IWGDF-risico 3: genezen plantair ulcus, partiële voetamputatie of resectie van een metatarsaalkop (ook de eerste), 2 weken tot 18 maanden geleden</a:t>
            </a:r>
          </a:p>
        </p:txBody>
      </p:sp>
      <p:sp>
        <p:nvSpPr>
          <p:cNvPr id="13" name="Rounded Rectangle 12"/>
          <p:cNvSpPr/>
          <p:nvPr/>
        </p:nvSpPr>
        <p:spPr>
          <a:xfrm>
            <a:off x="812800" y="3589338"/>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016" y="3659188"/>
            <a:ext cx="156567" cy="190500"/>
          </a:xfrm>
          <a:prstGeom prst="rect">
            <a:avLst/>
          </a:prstGeom>
          <a:noFill/>
        </p:spPr>
        <p:txBody>
          <a:bodyPr wrap="none" lIns="0" rIns="0" tIns="0" bIns="0" anchor="t">
            <a:noAutofit/>
          </a:bodyPr>
          <a:lstStyle/>
          <a:p>
            <a:pPr algn="l">
              <a:lnSpc>
                <a:spcPts val="1500"/>
              </a:lnSpc>
            </a:pPr>
            <a:r>
              <a:rPr sz="1500" b="0" i="0">
                <a:solidFill>
                  <a:srgbClr val="0A2540"/>
                </a:solidFill>
                <a:latin typeface="DM Serif Display"/>
              </a:rPr>
              <a:t>E</a:t>
            </a:r>
          </a:p>
        </p:txBody>
      </p:sp>
      <p:sp>
        <p:nvSpPr>
          <p:cNvPr id="15" name="TextBox 14"/>
          <p:cNvSpPr txBox="1"/>
          <p:nvPr/>
        </p:nvSpPr>
        <p:spPr>
          <a:xfrm>
            <a:off x="1282700" y="3589338"/>
            <a:ext cx="3341390" cy="214312"/>
          </a:xfrm>
          <a:prstGeom prst="rect">
            <a:avLst/>
          </a:prstGeom>
          <a:noFill/>
        </p:spPr>
        <p:txBody>
          <a:bodyPr wrap="none" lIns="0" rIns="0" tIns="0" bIns="0" anchor="t">
            <a:noAutofit/>
          </a:bodyPr>
          <a:lstStyle/>
          <a:p>
            <a:pPr algn="l">
              <a:lnSpc>
                <a:spcPts val="1687"/>
              </a:lnSpc>
            </a:pPr>
            <a:r>
              <a:rPr sz="1350" b="1" i="0">
                <a:solidFill>
                  <a:srgbClr val="52BDEC"/>
                </a:solidFill>
                <a:latin typeface="DM Sans"/>
              </a:rPr>
              <a:t>E</a:t>
            </a:r>
            <a:r>
              <a:rPr sz="1350" b="1" i="0">
                <a:solidFill>
                  <a:srgbClr val="F2F8FC"/>
                </a:solidFill>
                <a:latin typeface="DM Sans"/>
              </a:rPr>
              <a:t>igen stappen</a:t>
            </a:r>
          </a:p>
        </p:txBody>
      </p:sp>
      <p:sp>
        <p:nvSpPr>
          <p:cNvPr id="16" name="TextBox 15"/>
          <p:cNvSpPr txBox="1"/>
          <p:nvPr/>
        </p:nvSpPr>
        <p:spPr>
          <a:xfrm>
            <a:off x="1282700" y="3816350"/>
            <a:ext cx="3341390" cy="189865"/>
          </a:xfrm>
          <a:prstGeom prst="rect">
            <a:avLst/>
          </a:prstGeom>
          <a:noFill/>
        </p:spPr>
        <p:txBody>
          <a:bodyPr wrap="none" lIns="0" rIns="0" tIns="0" bIns="0" anchor="t">
            <a:noAutofit/>
          </a:bodyPr>
          <a:lstStyle/>
          <a:p>
            <a:pPr algn="l">
              <a:lnSpc>
                <a:spcPts val="1495"/>
              </a:lnSpc>
            </a:pPr>
            <a:r>
              <a:rPr sz="1150" b="0" i="0">
                <a:solidFill>
                  <a:srgbClr val="C5D8E8"/>
                </a:solidFill>
                <a:latin typeface="DM Sans"/>
              </a:rPr>
              <a:t>Stapt zelfstandig blootsvoets, zonder hulpmiddel</a:t>
            </a:r>
          </a:p>
        </p:txBody>
      </p:sp>
      <p:sp>
        <p:nvSpPr>
          <p:cNvPr id="17" name="Rounded Rectangle 16"/>
          <p:cNvSpPr/>
          <p:nvPr/>
        </p:nvSpPr>
        <p:spPr>
          <a:xfrm>
            <a:off x="812800" y="4107755"/>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8170" y="4177605"/>
            <a:ext cx="170259" cy="190500"/>
          </a:xfrm>
          <a:prstGeom prst="rect">
            <a:avLst/>
          </a:prstGeom>
          <a:noFill/>
        </p:spPr>
        <p:txBody>
          <a:bodyPr wrap="none" lIns="0" rIns="0" tIns="0" bIns="0" anchor="t">
            <a:noAutofit/>
          </a:bodyPr>
          <a:lstStyle/>
          <a:p>
            <a:pPr algn="l">
              <a:lnSpc>
                <a:spcPts val="1500"/>
              </a:lnSpc>
            </a:pPr>
            <a:r>
              <a:rPr sz="1500" b="0" i="0">
                <a:solidFill>
                  <a:srgbClr val="0A2540"/>
                </a:solidFill>
                <a:latin typeface="DM Serif Display"/>
              </a:rPr>
              <a:t>T</a:t>
            </a:r>
          </a:p>
        </p:txBody>
      </p:sp>
      <p:sp>
        <p:nvSpPr>
          <p:cNvPr id="19" name="TextBox 18"/>
          <p:cNvSpPr txBox="1"/>
          <p:nvPr/>
        </p:nvSpPr>
        <p:spPr>
          <a:xfrm>
            <a:off x="1282700" y="4107755"/>
            <a:ext cx="1383407" cy="214312"/>
          </a:xfrm>
          <a:prstGeom prst="rect">
            <a:avLst/>
          </a:prstGeom>
          <a:noFill/>
        </p:spPr>
        <p:txBody>
          <a:bodyPr wrap="none" lIns="0" rIns="0" tIns="0" bIns="0" anchor="t">
            <a:noAutofit/>
          </a:bodyPr>
          <a:lstStyle/>
          <a:p>
            <a:pPr algn="l">
              <a:lnSpc>
                <a:spcPts val="1687"/>
              </a:lnSpc>
            </a:pPr>
            <a:r>
              <a:rPr sz="1350" b="1" i="0">
                <a:solidFill>
                  <a:srgbClr val="52BDEC"/>
                </a:solidFill>
                <a:latin typeface="DM Sans"/>
              </a:rPr>
              <a:t>T</a:t>
            </a:r>
            <a:r>
              <a:rPr sz="1350" b="1" i="0">
                <a:solidFill>
                  <a:srgbClr val="F2F8FC"/>
                </a:solidFill>
                <a:latin typeface="DM Sans"/>
              </a:rPr>
              <a:t>ype 1 of 2</a:t>
            </a:r>
          </a:p>
        </p:txBody>
      </p:sp>
      <p:sp>
        <p:nvSpPr>
          <p:cNvPr id="20" name="TextBox 19"/>
          <p:cNvSpPr txBox="1"/>
          <p:nvPr/>
        </p:nvSpPr>
        <p:spPr>
          <a:xfrm>
            <a:off x="1282700" y="4334768"/>
            <a:ext cx="1383407" cy="189865"/>
          </a:xfrm>
          <a:prstGeom prst="rect">
            <a:avLst/>
          </a:prstGeom>
          <a:noFill/>
        </p:spPr>
        <p:txBody>
          <a:bodyPr wrap="none" lIns="0" rIns="0" tIns="0" bIns="0" anchor="t">
            <a:noAutofit/>
          </a:bodyPr>
          <a:lstStyle/>
          <a:p>
            <a:pPr algn="l">
              <a:lnSpc>
                <a:spcPts val="1495"/>
              </a:lnSpc>
            </a:pPr>
            <a:r>
              <a:rPr sz="1150" b="0" i="0">
                <a:solidFill>
                  <a:srgbClr val="C5D8E8"/>
                </a:solidFill>
                <a:latin typeface="DM Sans"/>
              </a:rPr>
              <a:t>Diabetes type 1 of 2</a:t>
            </a:r>
          </a:p>
        </p:txBody>
      </p:sp>
      <p:sp>
        <p:nvSpPr>
          <p:cNvPr id="21" name="Rounded Rectangle 20"/>
          <p:cNvSpPr/>
          <p:nvPr/>
        </p:nvSpPr>
        <p:spPr>
          <a:xfrm>
            <a:off x="812800" y="4626173"/>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5016" y="4696023"/>
            <a:ext cx="156567" cy="190500"/>
          </a:xfrm>
          <a:prstGeom prst="rect">
            <a:avLst/>
          </a:prstGeom>
          <a:noFill/>
        </p:spPr>
        <p:txBody>
          <a:bodyPr wrap="none" lIns="0" rIns="0" tIns="0" bIns="0" anchor="t">
            <a:noAutofit/>
          </a:bodyPr>
          <a:lstStyle/>
          <a:p>
            <a:pPr algn="l">
              <a:lnSpc>
                <a:spcPts val="1500"/>
              </a:lnSpc>
            </a:pPr>
            <a:r>
              <a:rPr sz="1500" b="0" i="0">
                <a:solidFill>
                  <a:srgbClr val="0A2540"/>
                </a:solidFill>
                <a:latin typeface="DM Serif Display"/>
              </a:rPr>
              <a:t>E</a:t>
            </a:r>
          </a:p>
        </p:txBody>
      </p:sp>
      <p:sp>
        <p:nvSpPr>
          <p:cNvPr id="23" name="TextBox 22"/>
          <p:cNvSpPr txBox="1"/>
          <p:nvPr/>
        </p:nvSpPr>
        <p:spPr>
          <a:xfrm>
            <a:off x="1282700" y="4626173"/>
            <a:ext cx="3556000" cy="214312"/>
          </a:xfrm>
          <a:prstGeom prst="rect">
            <a:avLst/>
          </a:prstGeom>
          <a:noFill/>
        </p:spPr>
        <p:txBody>
          <a:bodyPr wrap="none" lIns="0" rIns="0" tIns="0" bIns="0" anchor="t">
            <a:noAutofit/>
          </a:bodyPr>
          <a:lstStyle/>
          <a:p>
            <a:pPr algn="l">
              <a:lnSpc>
                <a:spcPts val="1687"/>
              </a:lnSpc>
            </a:pPr>
            <a:r>
              <a:rPr sz="1350" b="1" i="0">
                <a:solidFill>
                  <a:srgbClr val="52BDEC"/>
                </a:solidFill>
                <a:latin typeface="DM Sans"/>
              </a:rPr>
              <a:t>E</a:t>
            </a:r>
            <a:r>
              <a:rPr sz="1350" b="1" i="0">
                <a:solidFill>
                  <a:srgbClr val="F2F8FC"/>
                </a:solidFill>
                <a:latin typeface="DM Sans"/>
              </a:rPr>
              <a:t>cht beschermend schoeisel</a:t>
            </a:r>
          </a:p>
        </p:txBody>
      </p:sp>
      <p:sp>
        <p:nvSpPr>
          <p:cNvPr id="24" name="TextBox 23"/>
          <p:cNvSpPr txBox="1"/>
          <p:nvPr/>
        </p:nvSpPr>
        <p:spPr>
          <a:xfrm>
            <a:off x="1282700" y="4853186"/>
            <a:ext cx="3556000" cy="189865"/>
          </a:xfrm>
          <a:prstGeom prst="rect">
            <a:avLst/>
          </a:prstGeom>
          <a:noFill/>
        </p:spPr>
        <p:txBody>
          <a:bodyPr wrap="none" lIns="0" rIns="0" tIns="0" bIns="0" anchor="t">
            <a:noAutofit/>
          </a:bodyPr>
          <a:lstStyle/>
          <a:p>
            <a:pPr algn="l">
              <a:lnSpc>
                <a:spcPts val="1495"/>
              </a:lnSpc>
            </a:pPr>
            <a:r>
              <a:rPr sz="1150" b="0" i="0">
                <a:solidFill>
                  <a:srgbClr val="C5D8E8"/>
                </a:solidFill>
                <a:latin typeface="DM Sans"/>
              </a:rPr>
              <a:t>Beschermend schoeisel, of bereid over te schakelen</a:t>
            </a:r>
          </a:p>
        </p:txBody>
      </p:sp>
      <p:sp>
        <p:nvSpPr>
          <p:cNvPr id="25" name="Rounded Rectangle 24"/>
          <p:cNvSpPr/>
          <p:nvPr/>
        </p:nvSpPr>
        <p:spPr>
          <a:xfrm>
            <a:off x="812800" y="5144591"/>
            <a:ext cx="330200" cy="3302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15690" y="5214441"/>
            <a:ext cx="175220" cy="190500"/>
          </a:xfrm>
          <a:prstGeom prst="rect">
            <a:avLst/>
          </a:prstGeom>
          <a:noFill/>
        </p:spPr>
        <p:txBody>
          <a:bodyPr wrap="none" lIns="0" rIns="0" tIns="0" bIns="0" anchor="t">
            <a:noAutofit/>
          </a:bodyPr>
          <a:lstStyle/>
          <a:p>
            <a:pPr algn="l">
              <a:lnSpc>
                <a:spcPts val="1500"/>
              </a:lnSpc>
            </a:pPr>
            <a:r>
              <a:rPr sz="1500" b="0" i="0">
                <a:solidFill>
                  <a:srgbClr val="0A2540"/>
                </a:solidFill>
                <a:latin typeface="DM Serif Display"/>
              </a:rPr>
              <a:t>N</a:t>
            </a:r>
          </a:p>
        </p:txBody>
      </p:sp>
      <p:sp>
        <p:nvSpPr>
          <p:cNvPr id="27" name="TextBox 26"/>
          <p:cNvSpPr txBox="1"/>
          <p:nvPr/>
        </p:nvSpPr>
        <p:spPr>
          <a:xfrm>
            <a:off x="1282700" y="5144591"/>
            <a:ext cx="2484041" cy="214312"/>
          </a:xfrm>
          <a:prstGeom prst="rect">
            <a:avLst/>
          </a:prstGeom>
          <a:noFill/>
        </p:spPr>
        <p:txBody>
          <a:bodyPr wrap="none" lIns="0" rIns="0" tIns="0" bIns="0" anchor="t">
            <a:noAutofit/>
          </a:bodyPr>
          <a:lstStyle/>
          <a:p>
            <a:pPr algn="l">
              <a:lnSpc>
                <a:spcPts val="1687"/>
              </a:lnSpc>
            </a:pPr>
            <a:r>
              <a:rPr sz="1350" b="1" i="0">
                <a:solidFill>
                  <a:srgbClr val="52BDEC"/>
                </a:solidFill>
                <a:latin typeface="DM Sans"/>
              </a:rPr>
              <a:t>N</a:t>
            </a:r>
            <a:r>
              <a:rPr sz="1350" b="1" i="0">
                <a:solidFill>
                  <a:srgbClr val="F2F8FC"/>
                </a:solidFill>
                <a:latin typeface="DM Sans"/>
              </a:rPr>
              <a:t>ederlands en volwassen</a:t>
            </a:r>
          </a:p>
        </p:txBody>
      </p:sp>
      <p:sp>
        <p:nvSpPr>
          <p:cNvPr id="28" name="TextBox 27"/>
          <p:cNvSpPr txBox="1"/>
          <p:nvPr/>
        </p:nvSpPr>
        <p:spPr>
          <a:xfrm>
            <a:off x="1282700" y="5371604"/>
            <a:ext cx="2484041" cy="189865"/>
          </a:xfrm>
          <a:prstGeom prst="rect">
            <a:avLst/>
          </a:prstGeom>
          <a:noFill/>
        </p:spPr>
        <p:txBody>
          <a:bodyPr wrap="none" lIns="0" rIns="0" tIns="0" bIns="0" anchor="t">
            <a:noAutofit/>
          </a:bodyPr>
          <a:lstStyle/>
          <a:p>
            <a:pPr algn="l">
              <a:lnSpc>
                <a:spcPts val="1495"/>
              </a:lnSpc>
            </a:pPr>
            <a:r>
              <a:rPr sz="1150" b="0" i="0">
                <a:solidFill>
                  <a:srgbClr val="C5D8E8"/>
                </a:solidFill>
                <a:latin typeface="DM Sans"/>
              </a:rPr>
              <a:t>18 jaar of ouder, begrijpt Nederlands</a:t>
            </a:r>
          </a:p>
        </p:txBody>
      </p:sp>
      <p:sp>
        <p:nvSpPr>
          <p:cNvPr id="29" name="TextBox 28"/>
          <p:cNvSpPr txBox="1"/>
          <p:nvPr/>
        </p:nvSpPr>
        <p:spPr>
          <a:xfrm>
            <a:off x="6299200" y="1842691"/>
            <a:ext cx="5130800" cy="228600"/>
          </a:xfrm>
          <a:prstGeom prst="rect">
            <a:avLst/>
          </a:prstGeom>
          <a:noFill/>
        </p:spPr>
        <p:txBody>
          <a:bodyPr wrap="none" lIns="0" rIns="0" tIns="0" bIns="0" anchor="t">
            <a:noAutofit/>
          </a:bodyPr>
          <a:lstStyle/>
          <a:p>
            <a:pPr algn="l">
              <a:lnSpc>
                <a:spcPts val="1800"/>
              </a:lnSpc>
            </a:pPr>
            <a:r>
              <a:rPr sz="1500" b="1" i="0">
                <a:solidFill>
                  <a:srgbClr val="FF9A3D"/>
                </a:solidFill>
                <a:latin typeface="DM Sans"/>
              </a:rPr>
              <a:t>Niet</a:t>
            </a:r>
          </a:p>
        </p:txBody>
      </p:sp>
      <p:sp>
        <p:nvSpPr>
          <p:cNvPr id="30" name="TextBox 29"/>
          <p:cNvSpPr txBox="1"/>
          <p:nvPr/>
        </p:nvSpPr>
        <p:spPr>
          <a:xfrm>
            <a:off x="6299200" y="2147491"/>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31" name="TextBox 30"/>
          <p:cNvSpPr txBox="1"/>
          <p:nvPr/>
        </p:nvSpPr>
        <p:spPr>
          <a:xfrm>
            <a:off x="6483747" y="2147491"/>
            <a:ext cx="3499941"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Amputatie proximaal van de MTP-gewrichten</a:t>
            </a:r>
          </a:p>
        </p:txBody>
      </p:sp>
      <p:sp>
        <p:nvSpPr>
          <p:cNvPr id="32" name="TextBox 31"/>
          <p:cNvSpPr txBox="1"/>
          <p:nvPr/>
        </p:nvSpPr>
        <p:spPr>
          <a:xfrm>
            <a:off x="6299200" y="2438301"/>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33" name="TextBox 32"/>
          <p:cNvSpPr txBox="1"/>
          <p:nvPr/>
        </p:nvSpPr>
        <p:spPr>
          <a:xfrm>
            <a:off x="6483747" y="2438301"/>
            <a:ext cx="3088481"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Actief voetulcus of Charcot-deformiteit</a:t>
            </a:r>
          </a:p>
        </p:txBody>
      </p:sp>
      <p:sp>
        <p:nvSpPr>
          <p:cNvPr id="34" name="TextBox 33"/>
          <p:cNvSpPr txBox="1"/>
          <p:nvPr/>
        </p:nvSpPr>
        <p:spPr>
          <a:xfrm>
            <a:off x="6299200" y="2729111"/>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35" name="TextBox 34"/>
          <p:cNvSpPr txBox="1"/>
          <p:nvPr/>
        </p:nvSpPr>
        <p:spPr>
          <a:xfrm>
            <a:off x="6483747" y="2729111"/>
            <a:ext cx="4993362" cy="42922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Kritische ischemie (PEDIS 3: enkeldruk &lt; 50, teendruk &lt; 30 of TcpO₂ &lt; 30 mmHg)</a:t>
            </a:r>
          </a:p>
        </p:txBody>
      </p:sp>
      <p:sp>
        <p:nvSpPr>
          <p:cNvPr id="36" name="TextBox 35"/>
          <p:cNvSpPr txBox="1"/>
          <p:nvPr/>
        </p:nvSpPr>
        <p:spPr>
          <a:xfrm>
            <a:off x="6299200" y="3234531"/>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37" name="TextBox 36"/>
          <p:cNvSpPr txBox="1"/>
          <p:nvPr/>
        </p:nvSpPr>
        <p:spPr>
          <a:xfrm>
            <a:off x="6483747" y="3234531"/>
            <a:ext cx="4428133"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Nierfunctievervangende of immunosuppressieve therapie</a:t>
            </a:r>
          </a:p>
        </p:txBody>
      </p:sp>
      <p:sp>
        <p:nvSpPr>
          <p:cNvPr id="38" name="TextBox 37"/>
          <p:cNvSpPr txBox="1"/>
          <p:nvPr/>
        </p:nvSpPr>
        <p:spPr>
          <a:xfrm>
            <a:off x="6299200" y="3525341"/>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39" name="TextBox 38"/>
          <p:cNvSpPr txBox="1"/>
          <p:nvPr/>
        </p:nvSpPr>
        <p:spPr>
          <a:xfrm>
            <a:off x="6483747" y="3525341"/>
            <a:ext cx="2768104"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Verwachte overleving &lt; 18 maanden</a:t>
            </a:r>
          </a:p>
        </p:txBody>
      </p:sp>
      <p:sp>
        <p:nvSpPr>
          <p:cNvPr id="40" name="TextBox 39"/>
          <p:cNvSpPr txBox="1"/>
          <p:nvPr/>
        </p:nvSpPr>
        <p:spPr>
          <a:xfrm>
            <a:off x="6299200" y="3816152"/>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41" name="TextBox 40"/>
          <p:cNvSpPr txBox="1"/>
          <p:nvPr/>
        </p:nvSpPr>
        <p:spPr>
          <a:xfrm>
            <a:off x="6483747" y="3816152"/>
            <a:ext cx="3841552"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Kan niet toestemmen of de instructies niet volgen</a:t>
            </a:r>
          </a:p>
        </p:txBody>
      </p:sp>
      <p:sp>
        <p:nvSpPr>
          <p:cNvPr id="42" name="TextBox 41"/>
          <p:cNvSpPr txBox="1"/>
          <p:nvPr/>
        </p:nvSpPr>
        <p:spPr>
          <a:xfrm>
            <a:off x="6299200" y="4106962"/>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43" name="TextBox 42"/>
          <p:cNvSpPr txBox="1"/>
          <p:nvPr/>
        </p:nvSpPr>
        <p:spPr>
          <a:xfrm>
            <a:off x="6483747" y="4106962"/>
            <a:ext cx="4993362" cy="42922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Enkel-voetorthese of ander hulpmiddel dat de sensoren belemmert</a:t>
            </a:r>
          </a:p>
        </p:txBody>
      </p:sp>
      <p:sp>
        <p:nvSpPr>
          <p:cNvPr id="44" name="TextBox 43"/>
          <p:cNvSpPr txBox="1"/>
          <p:nvPr/>
        </p:nvSpPr>
        <p:spPr>
          <a:xfrm>
            <a:off x="6299200" y="4612382"/>
            <a:ext cx="146447" cy="214630"/>
          </a:xfrm>
          <a:prstGeom prst="rect">
            <a:avLst/>
          </a:prstGeom>
          <a:noFill/>
        </p:spPr>
        <p:txBody>
          <a:bodyPr wrap="none" lIns="0" rIns="0" tIns="0" bIns="0" anchor="t">
            <a:noAutofit/>
          </a:bodyPr>
          <a:lstStyle/>
          <a:p>
            <a:pPr algn="l">
              <a:lnSpc>
                <a:spcPts val="1689"/>
              </a:lnSpc>
            </a:pPr>
            <a:r>
              <a:rPr sz="1300" b="1" i="0">
                <a:solidFill>
                  <a:srgbClr val="FF9A3D"/>
                </a:solidFill>
                <a:latin typeface="DM Sans"/>
              </a:rPr>
              <a:t>×</a:t>
            </a:r>
          </a:p>
        </p:txBody>
      </p:sp>
      <p:sp>
        <p:nvSpPr>
          <p:cNvPr id="45" name="TextBox 44"/>
          <p:cNvSpPr txBox="1"/>
          <p:nvPr/>
        </p:nvSpPr>
        <p:spPr>
          <a:xfrm>
            <a:off x="6483747" y="4612382"/>
            <a:ext cx="3132237"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Weigert het schoeisel of de draagsensor</a:t>
            </a:r>
          </a:p>
        </p:txBody>
      </p:sp>
      <p:pic>
        <p:nvPicPr>
          <p:cNvPr id="46" name="Picture 45"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47" name="TextBox 46"/>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48" name="TextBox 47"/>
          <p:cNvSpPr txBox="1"/>
          <p:nvPr/>
        </p:nvSpPr>
        <p:spPr>
          <a:xfrm>
            <a:off x="6502400" y="6254750"/>
            <a:ext cx="4876800" cy="198120"/>
          </a:xfrm>
          <a:prstGeom prst="rect">
            <a:avLst/>
          </a:prstGeom>
          <a:noFill/>
        </p:spPr>
        <p:txBody>
          <a:bodyPr wrap="none" lIns="0" rIns="0" tIns="0" bIns="0" anchor="t">
            <a:noAutofit/>
          </a:bodyPr>
          <a:lstStyle/>
          <a:p>
            <a:pPr algn="r"/>
            <a:r>
              <a:rPr sz="1200" b="0" i="0">
                <a:solidFill>
                  <a:srgbClr val="6F8FAA"/>
                </a:solidFill>
                <a:latin typeface="JetBrains Mono"/>
              </a:rPr>
              <a:t>Bron · studieprotocol §4.1 · IWGDF 2023</a:t>
            </a:r>
          </a:p>
        </p:txBody>
      </p:sp>
    </p:spTree>
  </p:cSld>
  <p:clrMapOvr>
    <a:masterClrMapping/>
  </p:clrMapOvr>
  <p:transition xmlns:p14="http://schemas.microsoft.com/office/powerpoint/2010/main" spd="med" p14:dur="700">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3 · WP1 · DE INTERVENTIES</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Zelfde metingen, ander gebruik</a:t>
            </a:r>
          </a:p>
        </p:txBody>
      </p:sp>
      <p:sp>
        <p:nvSpPr>
          <p:cNvPr id="4" name="Rectangle 3"/>
          <p:cNvSpPr/>
          <p:nvPr/>
        </p:nvSpPr>
        <p:spPr>
          <a:xfrm>
            <a:off x="812800" y="1766491"/>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17348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1874441"/>
            <a:ext cx="1574800" cy="198120"/>
          </a:xfrm>
          <a:prstGeom prst="rect">
            <a:avLst/>
          </a:prstGeom>
          <a:noFill/>
        </p:spPr>
        <p:txBody>
          <a:bodyPr wrap="none" lIns="0" rIns="0" tIns="0" bIns="0" anchor="t">
            <a:noAutofit/>
          </a:bodyPr>
          <a:lstStyle/>
          <a:p>
            <a:pPr algn="l"/>
            <a:r>
              <a:rPr sz="1200" b="0" i="0" spc="150">
                <a:solidFill>
                  <a:srgbClr val="8FB0CA"/>
                </a:solidFill>
                <a:latin typeface="JetBrains Mono"/>
              </a:rPr>
              <a:t>BEIDE ARMEN</a:t>
            </a:r>
          </a:p>
        </p:txBody>
      </p:sp>
      <p:sp>
        <p:nvSpPr>
          <p:cNvPr id="7" name="TextBox 6"/>
          <p:cNvSpPr txBox="1"/>
          <p:nvPr/>
        </p:nvSpPr>
        <p:spPr>
          <a:xfrm>
            <a:off x="2514600" y="1861741"/>
            <a:ext cx="89154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CMFO met dezelfde opbouw · voetzorg elke 3 maanden · dezelfde metingen · MoveMonitor en Orthotimer</a:t>
            </a:r>
          </a:p>
        </p:txBody>
      </p:sp>
      <p:sp>
        <p:nvSpPr>
          <p:cNvPr id="8" name="TextBox 7"/>
          <p:cNvSpPr txBox="1"/>
          <p:nvPr/>
        </p:nvSpPr>
        <p:spPr>
          <a:xfrm>
            <a:off x="812800" y="2332236"/>
            <a:ext cx="10617200" cy="198120"/>
          </a:xfrm>
          <a:prstGeom prst="rect">
            <a:avLst/>
          </a:prstGeom>
          <a:noFill/>
        </p:spPr>
        <p:txBody>
          <a:bodyPr wrap="none" lIns="0" rIns="0" tIns="0" bIns="0" anchor="t">
            <a:noAutofit/>
          </a:bodyPr>
          <a:lstStyle/>
          <a:p>
            <a:pPr algn="l"/>
            <a:r>
              <a:rPr sz="1200" b="0" i="0" spc="150">
                <a:solidFill>
                  <a:srgbClr val="52BDEC"/>
                </a:solidFill>
                <a:latin typeface="JetBrains Mono"/>
              </a:rPr>
              <a:t>PARADISE, OF OPTIMAL CARE · TWEE NORMEN</a:t>
            </a:r>
          </a:p>
        </p:txBody>
      </p:sp>
      <p:sp>
        <p:nvSpPr>
          <p:cNvPr id="9" name="Rounded Rectangle 8"/>
          <p:cNvSpPr/>
          <p:nvPr/>
        </p:nvSpPr>
        <p:spPr>
          <a:xfrm>
            <a:off x="812800" y="2617986"/>
            <a:ext cx="2466975" cy="1107380"/>
          </a:xfrm>
          <a:prstGeom prst="roundRect">
            <a:avLst>
              <a:gd name="adj" fmla="val 9174"/>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46150" y="2725936"/>
            <a:ext cx="2251075" cy="198120"/>
          </a:xfrm>
          <a:prstGeom prst="rect">
            <a:avLst/>
          </a:prstGeom>
          <a:noFill/>
        </p:spPr>
        <p:txBody>
          <a:bodyPr wrap="none" lIns="0" rIns="0" tIns="0" bIns="0" anchor="t">
            <a:noAutofit/>
          </a:bodyPr>
          <a:lstStyle/>
          <a:p>
            <a:pPr algn="l"/>
            <a:r>
              <a:rPr sz="1200" b="0" i="0" spc="100">
                <a:solidFill>
                  <a:srgbClr val="52BDEC"/>
                </a:solidFill>
                <a:latin typeface="JetBrains Mono"/>
              </a:rPr>
              <a:t>NOVEL PEDAR</a:t>
            </a:r>
          </a:p>
        </p:txBody>
      </p:sp>
      <p:sp>
        <p:nvSpPr>
          <p:cNvPr id="11" name="TextBox 10"/>
          <p:cNvSpPr txBox="1"/>
          <p:nvPr/>
        </p:nvSpPr>
        <p:spPr>
          <a:xfrm>
            <a:off x="946150" y="2960886"/>
            <a:ext cx="2251075" cy="42922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piekdruk per doelregio, mét de CMFO</a:t>
            </a:r>
          </a:p>
        </p:txBody>
      </p:sp>
      <p:cxnSp>
        <p:nvCxnSpPr>
          <p:cNvPr id="12" name="Connector 11"/>
          <p:cNvCxnSpPr/>
          <p:nvPr/>
        </p:nvCxnSpPr>
        <p:spPr>
          <a:xfrm>
            <a:off x="3317875" y="3171627"/>
            <a:ext cx="152400" cy="0"/>
          </a:xfrm>
          <a:prstGeom prst="line">
            <a:avLst/>
          </a:prstGeom>
          <a:ln w="19050">
            <a:solidFill>
              <a:srgbClr val="52BDE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08375" y="2617986"/>
            <a:ext cx="2479675" cy="1107380"/>
          </a:xfrm>
          <a:prstGeom prst="roundRect">
            <a:avLst>
              <a:gd name="adj" fmla="val 9174"/>
            </a:avLst>
          </a:prstGeom>
          <a:solidFill>
            <a:srgbClr val="0F2F4E"/>
          </a:solidFill>
          <a:ln w="12700">
            <a:solidFill>
              <a:srgbClr val="FF9A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648075" y="2732286"/>
            <a:ext cx="2251075" cy="198120"/>
          </a:xfrm>
          <a:prstGeom prst="rect">
            <a:avLst/>
          </a:prstGeom>
          <a:noFill/>
        </p:spPr>
        <p:txBody>
          <a:bodyPr wrap="none" lIns="0" rIns="0" tIns="0" bIns="0" anchor="t">
            <a:noAutofit/>
          </a:bodyPr>
          <a:lstStyle/>
          <a:p>
            <a:pPr algn="l"/>
            <a:r>
              <a:rPr sz="1200" b="0" i="0" spc="100">
                <a:solidFill>
                  <a:srgbClr val="FF9A3D"/>
                </a:solidFill>
                <a:latin typeface="JetBrains Mono"/>
              </a:rPr>
              <a:t>DRUKNORM</a:t>
            </a:r>
          </a:p>
        </p:txBody>
      </p:sp>
      <p:sp>
        <p:nvSpPr>
          <p:cNvPr id="15" name="TextBox 14"/>
          <p:cNvSpPr txBox="1"/>
          <p:nvPr/>
        </p:nvSpPr>
        <p:spPr>
          <a:xfrm>
            <a:off x="3648075" y="2967236"/>
            <a:ext cx="2251075" cy="643830"/>
          </a:xfrm>
          <a:prstGeom prst="rect">
            <a:avLst/>
          </a:prstGeom>
          <a:noFill/>
        </p:spPr>
        <p:txBody>
          <a:bodyPr wrap="square" lIns="0" rIns="0" tIns="0" bIns="0" anchor="t">
            <a:noAutofit/>
          </a:bodyPr>
          <a:lstStyle/>
          <a:p>
            <a:pPr algn="l">
              <a:lnSpc>
                <a:spcPts val="1689"/>
              </a:lnSpc>
            </a:pPr>
            <a:r>
              <a:rPr sz="1300" b="0" i="0">
                <a:solidFill>
                  <a:srgbClr val="F2F8FC"/>
                </a:solidFill>
                <a:latin typeface="DM Sans"/>
              </a:rPr>
              <a:t>&lt; 200 kPa óf ≥ 25% lager dan zonder CMFO op visite 2</a:t>
            </a:r>
          </a:p>
        </p:txBody>
      </p:sp>
      <p:cxnSp>
        <p:nvCxnSpPr>
          <p:cNvPr id="16" name="Connector 15"/>
          <p:cNvCxnSpPr/>
          <p:nvPr/>
        </p:nvCxnSpPr>
        <p:spPr>
          <a:xfrm>
            <a:off x="6026150" y="3171627"/>
            <a:ext cx="152400" cy="0"/>
          </a:xfrm>
          <a:prstGeom prst="line">
            <a:avLst/>
          </a:prstGeom>
          <a:ln w="19050">
            <a:solidFill>
              <a:srgbClr val="52BDE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6650" y="2617986"/>
            <a:ext cx="2466975" cy="1107380"/>
          </a:xfrm>
          <a:prstGeom prst="roundRect">
            <a:avLst>
              <a:gd name="adj" fmla="val 9174"/>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50000" y="2725936"/>
            <a:ext cx="2251075" cy="198120"/>
          </a:xfrm>
          <a:prstGeom prst="rect">
            <a:avLst/>
          </a:prstGeom>
          <a:noFill/>
        </p:spPr>
        <p:txBody>
          <a:bodyPr wrap="none" lIns="0" rIns="0" tIns="0" bIns="0" anchor="t">
            <a:noAutofit/>
          </a:bodyPr>
          <a:lstStyle/>
          <a:p>
            <a:pPr algn="l"/>
            <a:r>
              <a:rPr sz="1200" b="0" i="0" spc="100">
                <a:solidFill>
                  <a:srgbClr val="52BDEC"/>
                </a:solidFill>
                <a:latin typeface="JetBrains Mono"/>
              </a:rPr>
              <a:t>AANPASSEN</a:t>
            </a:r>
          </a:p>
        </p:txBody>
      </p:sp>
      <p:sp>
        <p:nvSpPr>
          <p:cNvPr id="19" name="TextBox 18"/>
          <p:cNvSpPr txBox="1"/>
          <p:nvPr/>
        </p:nvSpPr>
        <p:spPr>
          <a:xfrm>
            <a:off x="6350000" y="2960886"/>
            <a:ext cx="2251075" cy="42922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tot de norm gehaald is; opnieuw op maand 6, 12, 18</a:t>
            </a:r>
          </a:p>
        </p:txBody>
      </p:sp>
      <p:cxnSp>
        <p:nvCxnSpPr>
          <p:cNvPr id="20" name="Connector 19"/>
          <p:cNvCxnSpPr/>
          <p:nvPr/>
        </p:nvCxnSpPr>
        <p:spPr>
          <a:xfrm>
            <a:off x="8721725" y="3171627"/>
            <a:ext cx="152400" cy="0"/>
          </a:xfrm>
          <a:prstGeom prst="line">
            <a:avLst/>
          </a:prstGeom>
          <a:ln w="19050">
            <a:solidFill>
              <a:srgbClr val="52BDE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912225" y="2617986"/>
            <a:ext cx="2466975" cy="1107380"/>
          </a:xfrm>
          <a:prstGeom prst="roundRect">
            <a:avLst>
              <a:gd name="adj" fmla="val 9174"/>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045575" y="2725936"/>
            <a:ext cx="2251075" cy="198120"/>
          </a:xfrm>
          <a:prstGeom prst="rect">
            <a:avLst/>
          </a:prstGeom>
          <a:noFill/>
        </p:spPr>
        <p:txBody>
          <a:bodyPr wrap="none" lIns="0" rIns="0" tIns="0" bIns="0" anchor="t">
            <a:noAutofit/>
          </a:bodyPr>
          <a:lstStyle/>
          <a:p>
            <a:pPr algn="l"/>
            <a:r>
              <a:rPr sz="1200" b="0" i="0" spc="100">
                <a:solidFill>
                  <a:srgbClr val="52BDEC"/>
                </a:solidFill>
                <a:latin typeface="JetBrains Mono"/>
              </a:rPr>
              <a:t>DAARNA</a:t>
            </a:r>
          </a:p>
        </p:txBody>
      </p:sp>
      <p:sp>
        <p:nvSpPr>
          <p:cNvPr id="23" name="TextBox 22"/>
          <p:cNvSpPr txBox="1"/>
          <p:nvPr/>
        </p:nvSpPr>
        <p:spPr>
          <a:xfrm>
            <a:off x="9045575" y="2960886"/>
            <a:ext cx="2251075" cy="214630"/>
          </a:xfrm>
          <a:prstGeom prst="rect">
            <a:avLst/>
          </a:prstGeom>
          <a:noFill/>
        </p:spPr>
        <p:txBody>
          <a:bodyPr wrap="none" lIns="0" rIns="0" tIns="0" bIns="0" anchor="t">
            <a:noAutofit/>
          </a:bodyPr>
          <a:lstStyle/>
          <a:p>
            <a:pPr algn="l">
              <a:lnSpc>
                <a:spcPts val="1689"/>
              </a:lnSpc>
            </a:pPr>
            <a:r>
              <a:rPr sz="1300" b="0" i="0">
                <a:solidFill>
                  <a:srgbClr val="C5D8E8"/>
                </a:solidFill>
                <a:latin typeface="DM Sans"/>
              </a:rPr>
              <a:t>een identiek tweede paar</a:t>
            </a:r>
          </a:p>
        </p:txBody>
      </p:sp>
      <p:sp>
        <p:nvSpPr>
          <p:cNvPr id="24" name="Rounded Rectangle 23"/>
          <p:cNvSpPr/>
          <p:nvPr/>
        </p:nvSpPr>
        <p:spPr>
          <a:xfrm>
            <a:off x="812800" y="3814266"/>
            <a:ext cx="2466975" cy="1094680"/>
          </a:xfrm>
          <a:prstGeom prst="roundRect">
            <a:avLst>
              <a:gd name="adj" fmla="val 928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46150" y="3922216"/>
            <a:ext cx="2251075" cy="198120"/>
          </a:xfrm>
          <a:prstGeom prst="rect">
            <a:avLst/>
          </a:prstGeom>
          <a:noFill/>
        </p:spPr>
        <p:txBody>
          <a:bodyPr wrap="none" lIns="0" rIns="0" tIns="0" bIns="0" anchor="t">
            <a:noAutofit/>
          </a:bodyPr>
          <a:lstStyle/>
          <a:p>
            <a:pPr algn="l"/>
            <a:r>
              <a:rPr sz="1200" b="0" i="0" spc="100">
                <a:solidFill>
                  <a:srgbClr val="52BDEC"/>
                </a:solidFill>
                <a:latin typeface="JetBrains Mono"/>
              </a:rPr>
              <a:t>MOVEMONITOR</a:t>
            </a:r>
          </a:p>
        </p:txBody>
      </p:sp>
      <p:sp>
        <p:nvSpPr>
          <p:cNvPr id="26" name="TextBox 25"/>
          <p:cNvSpPr txBox="1"/>
          <p:nvPr/>
        </p:nvSpPr>
        <p:spPr>
          <a:xfrm>
            <a:off x="946150" y="4157166"/>
            <a:ext cx="2251075" cy="42922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één week bij de start: slaaptijd, dus waaktijd</a:t>
            </a:r>
          </a:p>
        </p:txBody>
      </p:sp>
      <p:cxnSp>
        <p:nvCxnSpPr>
          <p:cNvPr id="27" name="Connector 26"/>
          <p:cNvCxnSpPr/>
          <p:nvPr/>
        </p:nvCxnSpPr>
        <p:spPr>
          <a:xfrm>
            <a:off x="3317875" y="4361557"/>
            <a:ext cx="152400" cy="0"/>
          </a:xfrm>
          <a:prstGeom prst="line">
            <a:avLst/>
          </a:prstGeom>
          <a:ln w="19050">
            <a:solidFill>
              <a:srgbClr val="52BDE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508375" y="3814266"/>
            <a:ext cx="2479675" cy="1094680"/>
          </a:xfrm>
          <a:prstGeom prst="roundRect">
            <a:avLst>
              <a:gd name="adj" fmla="val 9281"/>
            </a:avLst>
          </a:prstGeom>
          <a:solidFill>
            <a:srgbClr val="0F2F4E"/>
          </a:solidFill>
          <a:ln w="12700">
            <a:solidFill>
              <a:srgbClr val="FF9A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648075" y="3928566"/>
            <a:ext cx="2251075" cy="198120"/>
          </a:xfrm>
          <a:prstGeom prst="rect">
            <a:avLst/>
          </a:prstGeom>
          <a:noFill/>
        </p:spPr>
        <p:txBody>
          <a:bodyPr wrap="none" lIns="0" rIns="0" tIns="0" bIns="0" anchor="t">
            <a:noAutofit/>
          </a:bodyPr>
          <a:lstStyle/>
          <a:p>
            <a:pPr algn="l"/>
            <a:r>
              <a:rPr sz="1200" b="0" i="0" spc="100">
                <a:solidFill>
                  <a:srgbClr val="FF9A3D"/>
                </a:solidFill>
                <a:latin typeface="JetBrains Mono"/>
              </a:rPr>
              <a:t>DRAAGNORM</a:t>
            </a:r>
          </a:p>
        </p:txBody>
      </p:sp>
      <p:sp>
        <p:nvSpPr>
          <p:cNvPr id="30" name="TextBox 29"/>
          <p:cNvSpPr txBox="1"/>
          <p:nvPr/>
        </p:nvSpPr>
        <p:spPr>
          <a:xfrm>
            <a:off x="3648075" y="4163516"/>
            <a:ext cx="2251075" cy="429220"/>
          </a:xfrm>
          <a:prstGeom prst="rect">
            <a:avLst/>
          </a:prstGeom>
          <a:noFill/>
        </p:spPr>
        <p:txBody>
          <a:bodyPr wrap="square" lIns="0" rIns="0" tIns="0" bIns="0" anchor="t">
            <a:noAutofit/>
          </a:bodyPr>
          <a:lstStyle/>
          <a:p>
            <a:pPr algn="l">
              <a:lnSpc>
                <a:spcPts val="1689"/>
              </a:lnSpc>
            </a:pPr>
            <a:r>
              <a:rPr sz="1300" b="0" i="0">
                <a:solidFill>
                  <a:srgbClr val="F2F8FC"/>
                </a:solidFill>
                <a:latin typeface="DM Sans"/>
              </a:rPr>
              <a:t>80% van de waaktijd, 7 dagen per week</a:t>
            </a:r>
          </a:p>
        </p:txBody>
      </p:sp>
      <p:cxnSp>
        <p:nvCxnSpPr>
          <p:cNvPr id="31" name="Connector 30"/>
          <p:cNvCxnSpPr/>
          <p:nvPr/>
        </p:nvCxnSpPr>
        <p:spPr>
          <a:xfrm>
            <a:off x="6026150" y="4361557"/>
            <a:ext cx="152400" cy="0"/>
          </a:xfrm>
          <a:prstGeom prst="line">
            <a:avLst/>
          </a:prstGeom>
          <a:ln w="19050">
            <a:solidFill>
              <a:srgbClr val="52BDE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216650" y="3814266"/>
            <a:ext cx="2466975" cy="1094680"/>
          </a:xfrm>
          <a:prstGeom prst="roundRect">
            <a:avLst>
              <a:gd name="adj" fmla="val 928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50000" y="3922216"/>
            <a:ext cx="2251075" cy="198120"/>
          </a:xfrm>
          <a:prstGeom prst="rect">
            <a:avLst/>
          </a:prstGeom>
          <a:noFill/>
        </p:spPr>
        <p:txBody>
          <a:bodyPr wrap="none" lIns="0" rIns="0" tIns="0" bIns="0" anchor="t">
            <a:noAutofit/>
          </a:bodyPr>
          <a:lstStyle/>
          <a:p>
            <a:pPr algn="l"/>
            <a:r>
              <a:rPr sz="1200" b="0" i="0" spc="100">
                <a:solidFill>
                  <a:srgbClr val="52BDEC"/>
                </a:solidFill>
                <a:latin typeface="JetBrains Mono"/>
              </a:rPr>
              <a:t>ORTHOTIMER</a:t>
            </a:r>
          </a:p>
        </p:txBody>
      </p:sp>
      <p:sp>
        <p:nvSpPr>
          <p:cNvPr id="34" name="TextBox 33"/>
          <p:cNvSpPr txBox="1"/>
          <p:nvPr/>
        </p:nvSpPr>
        <p:spPr>
          <a:xfrm>
            <a:off x="6350000" y="4157166"/>
            <a:ext cx="2251075" cy="42922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draagtijd per dag, elke 3 maanden uitgelezen</a:t>
            </a:r>
          </a:p>
        </p:txBody>
      </p:sp>
      <p:cxnSp>
        <p:nvCxnSpPr>
          <p:cNvPr id="35" name="Connector 34"/>
          <p:cNvCxnSpPr/>
          <p:nvPr/>
        </p:nvCxnSpPr>
        <p:spPr>
          <a:xfrm>
            <a:off x="8721725" y="4361557"/>
            <a:ext cx="152400" cy="0"/>
          </a:xfrm>
          <a:prstGeom prst="line">
            <a:avLst/>
          </a:prstGeom>
          <a:ln w="19050">
            <a:solidFill>
              <a:srgbClr val="52BDE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912225" y="3814266"/>
            <a:ext cx="2466975" cy="1094680"/>
          </a:xfrm>
          <a:prstGeom prst="roundRect">
            <a:avLst>
              <a:gd name="adj" fmla="val 9281"/>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045575" y="3922216"/>
            <a:ext cx="2251075" cy="198120"/>
          </a:xfrm>
          <a:prstGeom prst="rect">
            <a:avLst/>
          </a:prstGeom>
          <a:noFill/>
        </p:spPr>
        <p:txBody>
          <a:bodyPr wrap="none" lIns="0" rIns="0" tIns="0" bIns="0" anchor="t">
            <a:noAutofit/>
          </a:bodyPr>
          <a:lstStyle/>
          <a:p>
            <a:pPr algn="l"/>
            <a:r>
              <a:rPr sz="1200" b="0" i="0" spc="100">
                <a:solidFill>
                  <a:srgbClr val="52BDEC"/>
                </a:solidFill>
                <a:latin typeface="JetBrains Mono"/>
              </a:rPr>
              <a:t>SEBIA</a:t>
            </a:r>
          </a:p>
        </p:txBody>
      </p:sp>
      <p:sp>
        <p:nvSpPr>
          <p:cNvPr id="38" name="TextBox 37"/>
          <p:cNvSpPr txBox="1"/>
          <p:nvPr/>
        </p:nvSpPr>
        <p:spPr>
          <a:xfrm>
            <a:off x="9045575" y="4157166"/>
            <a:ext cx="2251075" cy="643830"/>
          </a:xfrm>
          <a:prstGeom prst="rect">
            <a:avLst/>
          </a:prstGeom>
          <a:noFill/>
        </p:spPr>
        <p:txBody>
          <a:bodyPr wrap="square" lIns="0" rIns="0" tIns="0" bIns="0" anchor="t">
            <a:noAutofit/>
          </a:bodyPr>
          <a:lstStyle/>
          <a:p>
            <a:pPr algn="l">
              <a:lnSpc>
                <a:spcPts val="1689"/>
              </a:lnSpc>
            </a:pPr>
            <a:r>
              <a:rPr sz="1300" b="0" i="0">
                <a:solidFill>
                  <a:srgbClr val="C5D8E8"/>
                </a:solidFill>
                <a:latin typeface="DM Sans"/>
              </a:rPr>
              <a:t>een gesprek op elke visite, met feedback op de eigen data</a:t>
            </a:r>
          </a:p>
        </p:txBody>
      </p:sp>
      <p:sp>
        <p:nvSpPr>
          <p:cNvPr id="39" name="Rectangle 38"/>
          <p:cNvSpPr/>
          <p:nvPr/>
        </p:nvSpPr>
        <p:spPr>
          <a:xfrm>
            <a:off x="812800" y="5251450"/>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2800" y="5359400"/>
            <a:ext cx="1574800" cy="393700"/>
          </a:xfrm>
          <a:prstGeom prst="rect">
            <a:avLst/>
          </a:prstGeom>
          <a:noFill/>
        </p:spPr>
        <p:txBody>
          <a:bodyPr wrap="square" lIns="0" rIns="0" tIns="0" bIns="0" anchor="t">
            <a:noAutofit/>
          </a:bodyPr>
          <a:lstStyle/>
          <a:p>
            <a:pPr algn="l"/>
            <a:r>
              <a:rPr sz="1200" b="0" i="0" spc="150">
                <a:solidFill>
                  <a:srgbClr val="8FB0CA"/>
                </a:solidFill>
                <a:latin typeface="JetBrains Mono"/>
              </a:rPr>
              <a:t>GEBRUIKELIJKE ZORG</a:t>
            </a:r>
          </a:p>
        </p:txBody>
      </p:sp>
      <p:sp>
        <p:nvSpPr>
          <p:cNvPr id="41" name="TextBox 40"/>
          <p:cNvSpPr txBox="1"/>
          <p:nvPr/>
        </p:nvSpPr>
        <p:spPr>
          <a:xfrm>
            <a:off x="2514600" y="5346700"/>
            <a:ext cx="89154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Dezelfde metingen, geblindeerd: geen toetsing, geen feedback</a:t>
            </a:r>
          </a:p>
        </p:txBody>
      </p:sp>
      <p:pic>
        <p:nvPicPr>
          <p:cNvPr id="42" name="Picture 41"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43" name="TextBox 42"/>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44" name="TextBox 43"/>
          <p:cNvSpPr txBox="1"/>
          <p:nvPr/>
        </p:nvSpPr>
        <p:spPr>
          <a:xfrm>
            <a:off x="6502400" y="6254750"/>
            <a:ext cx="4876800" cy="198120"/>
          </a:xfrm>
          <a:prstGeom prst="rect">
            <a:avLst/>
          </a:prstGeom>
          <a:noFill/>
        </p:spPr>
        <p:txBody>
          <a:bodyPr wrap="none" lIns="0" rIns="0" tIns="0" bIns="0" anchor="t">
            <a:noAutofit/>
          </a:bodyPr>
          <a:lstStyle/>
          <a:p>
            <a:pPr algn="r"/>
            <a:r>
              <a:rPr sz="1200" b="0" i="0">
                <a:solidFill>
                  <a:srgbClr val="6F8FAA"/>
                </a:solidFill>
                <a:latin typeface="JetBrains Mono"/>
              </a:rPr>
              <a:t>Bron · studieprotocol §5.4</a:t>
            </a:r>
          </a:p>
        </p:txBody>
      </p:sp>
    </p:spTree>
  </p:cSld>
  <p:clrMapOvr>
    <a:masterClrMapping/>
  </p:clrMapOvr>
  <p:transition xmlns:p14="http://schemas.microsoft.com/office/powerpoint/2010/main" spd="med" p14:dur="700">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3 · WP1 · DE DRAAGNORM · HERKOMST</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De 80% komt uit één studie</a:t>
            </a:r>
          </a:p>
        </p:txBody>
      </p:sp>
      <p:sp>
        <p:nvSpPr>
          <p:cNvPr id="4" name="Rounded Rectangle 3"/>
          <p:cNvSpPr/>
          <p:nvPr/>
        </p:nvSpPr>
        <p:spPr>
          <a:xfrm>
            <a:off x="812800" y="1842691"/>
            <a:ext cx="5405934" cy="3140571"/>
          </a:xfrm>
          <a:prstGeom prst="roundRect">
            <a:avLst>
              <a:gd name="adj" fmla="val 4043"/>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7750" y="2052241"/>
            <a:ext cx="4986834" cy="184150"/>
          </a:xfrm>
          <a:prstGeom prst="rect">
            <a:avLst/>
          </a:prstGeom>
          <a:noFill/>
        </p:spPr>
        <p:txBody>
          <a:bodyPr wrap="none" lIns="0" rIns="0" tIns="0" bIns="0" anchor="t">
            <a:noAutofit/>
          </a:bodyPr>
          <a:lstStyle/>
          <a:p>
            <a:pPr algn="l"/>
            <a:r>
              <a:rPr sz="1100" b="0" i="0" spc="150">
                <a:solidFill>
                  <a:srgbClr val="0B6E8F"/>
                </a:solidFill>
                <a:latin typeface="JetBrains Mono"/>
              </a:rPr>
              <a:t>DIAFOS · BUS E.A. 2013</a:t>
            </a:r>
          </a:p>
        </p:txBody>
      </p:sp>
      <p:sp>
        <p:nvSpPr>
          <p:cNvPr id="6" name="TextBox 5"/>
          <p:cNvSpPr txBox="1"/>
          <p:nvPr/>
        </p:nvSpPr>
        <p:spPr>
          <a:xfrm>
            <a:off x="1047750" y="2376091"/>
            <a:ext cx="4986834" cy="363220"/>
          </a:xfrm>
          <a:prstGeom prst="rect">
            <a:avLst/>
          </a:prstGeom>
          <a:noFill/>
        </p:spPr>
        <p:txBody>
          <a:bodyPr wrap="none" lIns="0" rIns="0" tIns="0" bIns="0" anchor="t">
            <a:noAutofit/>
          </a:bodyPr>
          <a:lstStyle/>
          <a:p>
            <a:pPr algn="l">
              <a:lnSpc>
                <a:spcPts val="2860"/>
              </a:lnSpc>
            </a:pPr>
            <a:r>
              <a:rPr sz="2600" b="0" i="0">
                <a:solidFill>
                  <a:srgbClr val="0A2540"/>
                </a:solidFill>
                <a:latin typeface="DM Serif Display"/>
              </a:rPr>
              <a:t>80% van de stappen</a:t>
            </a:r>
          </a:p>
        </p:txBody>
      </p:sp>
      <p:sp>
        <p:nvSpPr>
          <p:cNvPr id="7" name="TextBox 6"/>
          <p:cNvSpPr txBox="1"/>
          <p:nvPr/>
        </p:nvSpPr>
        <p:spPr>
          <a:xfrm>
            <a:off x="1047750" y="2878931"/>
            <a:ext cx="4986834" cy="240030"/>
          </a:xfrm>
          <a:prstGeom prst="rect">
            <a:avLst/>
          </a:prstGeom>
          <a:noFill/>
        </p:spPr>
        <p:txBody>
          <a:bodyPr wrap="none" lIns="0" rIns="0" tIns="0" bIns="0" anchor="t">
            <a:noAutofit/>
          </a:bodyPr>
          <a:lstStyle/>
          <a:p>
            <a:pPr algn="l">
              <a:lnSpc>
                <a:spcPts val="1889"/>
              </a:lnSpc>
            </a:pPr>
            <a:r>
              <a:rPr sz="1400" b="0" i="0">
                <a:solidFill>
                  <a:srgbClr val="3A4F63"/>
                </a:solidFill>
                <a:latin typeface="DM Sans"/>
              </a:rPr>
              <a:t>vooraf gekozen om twee </a:t>
            </a:r>
            <a:r>
              <a:rPr sz="1400" b="1" i="0">
                <a:solidFill>
                  <a:srgbClr val="3A4F63"/>
                </a:solidFill>
                <a:latin typeface="DM Sans"/>
              </a:rPr>
              <a:t>even grote groepen</a:t>
            </a:r>
            <a:r>
              <a:rPr sz="1400" b="0" i="0">
                <a:solidFill>
                  <a:srgbClr val="3A4F63"/>
                </a:solidFill>
                <a:latin typeface="DM Sans"/>
              </a:rPr>
              <a:t> te maken</a:t>
            </a:r>
          </a:p>
        </p:txBody>
      </p:sp>
      <p:sp>
        <p:nvSpPr>
          <p:cNvPr id="8" name="Rectangle 7"/>
          <p:cNvSpPr/>
          <p:nvPr/>
        </p:nvSpPr>
        <p:spPr>
          <a:xfrm>
            <a:off x="1047750" y="3258641"/>
            <a:ext cx="4936034"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3379291"/>
            <a:ext cx="4986834" cy="165100"/>
          </a:xfrm>
          <a:prstGeom prst="rect">
            <a:avLst/>
          </a:prstGeom>
          <a:noFill/>
        </p:spPr>
        <p:txBody>
          <a:bodyPr wrap="none" lIns="0" rIns="0" tIns="0" bIns="0" anchor="t">
            <a:noAutofit/>
          </a:bodyPr>
          <a:lstStyle/>
          <a:p>
            <a:pPr algn="l"/>
            <a:r>
              <a:rPr sz="1000" b="0" i="0" spc="100">
                <a:solidFill>
                  <a:srgbClr val="5A6E80"/>
                </a:solidFill>
                <a:latin typeface="JetBrains Mono"/>
              </a:rPr>
              <a:t>RECIDIEF BIJ WIE 80% HAALDE · N = 79</a:t>
            </a:r>
          </a:p>
        </p:txBody>
      </p:sp>
      <p:sp>
        <p:nvSpPr>
          <p:cNvPr id="10" name="TextBox 9"/>
          <p:cNvSpPr txBox="1"/>
          <p:nvPr/>
        </p:nvSpPr>
        <p:spPr>
          <a:xfrm>
            <a:off x="1047750" y="3645991"/>
            <a:ext cx="4986834" cy="182880"/>
          </a:xfrm>
          <a:prstGeom prst="rect">
            <a:avLst/>
          </a:prstGeom>
          <a:noFill/>
        </p:spPr>
        <p:txBody>
          <a:bodyPr wrap="none" lIns="0" rIns="0" tIns="0" bIns="0" anchor="t">
            <a:noAutofit/>
          </a:bodyPr>
          <a:lstStyle/>
          <a:p>
            <a:pPr algn="l">
              <a:lnSpc>
                <a:spcPts val="1440"/>
              </a:lnSpc>
            </a:pPr>
            <a:r>
              <a:rPr sz="1200" b="0" i="0">
                <a:solidFill>
                  <a:srgbClr val="3A4F63"/>
                </a:solidFill>
                <a:latin typeface="DM Sans"/>
              </a:rPr>
              <a:t>drukverlagend schoeisel</a:t>
            </a:r>
          </a:p>
        </p:txBody>
      </p:sp>
      <p:sp>
        <p:nvSpPr>
          <p:cNvPr id="11" name="Rounded Rectangle 10"/>
          <p:cNvSpPr/>
          <p:nvPr/>
        </p:nvSpPr>
        <p:spPr>
          <a:xfrm>
            <a:off x="1047750" y="3892352"/>
            <a:ext cx="1416050" cy="254000"/>
          </a:xfrm>
          <a:prstGeom prst="roundRect">
            <a:avLst>
              <a:gd name="adj" fmla="val 2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65400" y="3879652"/>
            <a:ext cx="811907" cy="279400"/>
          </a:xfrm>
          <a:prstGeom prst="rect">
            <a:avLst/>
          </a:prstGeom>
          <a:noFill/>
        </p:spPr>
        <p:txBody>
          <a:bodyPr wrap="none" lIns="0" rIns="0" tIns="0" bIns="0" anchor="t">
            <a:noAutofit/>
          </a:bodyPr>
          <a:lstStyle/>
          <a:p>
            <a:pPr algn="l">
              <a:lnSpc>
                <a:spcPts val="2200"/>
              </a:lnSpc>
            </a:pPr>
            <a:r>
              <a:rPr sz="2200" b="0" i="0">
                <a:solidFill>
                  <a:srgbClr val="0A2540"/>
                </a:solidFill>
                <a:latin typeface="DM Serif Display"/>
              </a:rPr>
              <a:t>25,7%</a:t>
            </a:r>
          </a:p>
        </p:txBody>
      </p:sp>
      <p:sp>
        <p:nvSpPr>
          <p:cNvPr id="13" name="TextBox 12"/>
          <p:cNvSpPr txBox="1"/>
          <p:nvPr/>
        </p:nvSpPr>
        <p:spPr>
          <a:xfrm>
            <a:off x="1047750" y="4260652"/>
            <a:ext cx="4986834" cy="182880"/>
          </a:xfrm>
          <a:prstGeom prst="rect">
            <a:avLst/>
          </a:prstGeom>
          <a:noFill/>
        </p:spPr>
        <p:txBody>
          <a:bodyPr wrap="none" lIns="0" rIns="0" tIns="0" bIns="0" anchor="t">
            <a:noAutofit/>
          </a:bodyPr>
          <a:lstStyle/>
          <a:p>
            <a:pPr algn="l">
              <a:lnSpc>
                <a:spcPts val="1440"/>
              </a:lnSpc>
            </a:pPr>
            <a:r>
              <a:rPr sz="1200" b="0" i="0">
                <a:solidFill>
                  <a:srgbClr val="3A4F63"/>
                </a:solidFill>
                <a:latin typeface="DM Sans"/>
              </a:rPr>
              <a:t>gebruikelijke zorg</a:t>
            </a:r>
          </a:p>
        </p:txBody>
      </p:sp>
      <p:sp>
        <p:nvSpPr>
          <p:cNvPr id="14" name="Rounded Rectangle 13"/>
          <p:cNvSpPr/>
          <p:nvPr/>
        </p:nvSpPr>
        <p:spPr>
          <a:xfrm>
            <a:off x="1047750" y="4507012"/>
            <a:ext cx="2628900" cy="254000"/>
          </a:xfrm>
          <a:prstGeom prst="roundRect">
            <a:avLst>
              <a:gd name="adj" fmla="val 200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78250" y="4494312"/>
            <a:ext cx="805259" cy="279400"/>
          </a:xfrm>
          <a:prstGeom prst="rect">
            <a:avLst/>
          </a:prstGeom>
          <a:noFill/>
        </p:spPr>
        <p:txBody>
          <a:bodyPr wrap="none" lIns="0" rIns="0" tIns="0" bIns="0" anchor="t">
            <a:noAutofit/>
          </a:bodyPr>
          <a:lstStyle/>
          <a:p>
            <a:pPr algn="l">
              <a:lnSpc>
                <a:spcPts val="2200"/>
              </a:lnSpc>
            </a:pPr>
            <a:r>
              <a:rPr sz="2200" b="0" i="0">
                <a:solidFill>
                  <a:srgbClr val="3A4F63"/>
                </a:solidFill>
                <a:latin typeface="DM Serif Display"/>
              </a:rPr>
              <a:t>47,8%</a:t>
            </a:r>
          </a:p>
        </p:txBody>
      </p:sp>
      <p:sp>
        <p:nvSpPr>
          <p:cNvPr id="16" name="Rounded Rectangle 15"/>
          <p:cNvSpPr/>
          <p:nvPr/>
        </p:nvSpPr>
        <p:spPr>
          <a:xfrm>
            <a:off x="6421934" y="1842691"/>
            <a:ext cx="4957266" cy="3140571"/>
          </a:xfrm>
          <a:prstGeom prst="roundRect">
            <a:avLst>
              <a:gd name="adj" fmla="val 4043"/>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656884" y="2052241"/>
            <a:ext cx="4538166" cy="184150"/>
          </a:xfrm>
          <a:prstGeom prst="rect">
            <a:avLst/>
          </a:prstGeom>
          <a:noFill/>
        </p:spPr>
        <p:txBody>
          <a:bodyPr wrap="none" lIns="0" rIns="0" tIns="0" bIns="0" anchor="t">
            <a:noAutofit/>
          </a:bodyPr>
          <a:lstStyle/>
          <a:p>
            <a:pPr algn="l"/>
            <a:r>
              <a:rPr sz="1100" b="0" i="0" spc="150">
                <a:solidFill>
                  <a:srgbClr val="0B6E8F"/>
                </a:solidFill>
                <a:latin typeface="JetBrains Mono"/>
              </a:rPr>
              <a:t>WAAIJMAN E.A. 2013 · 107 PATIËNTEN</a:t>
            </a:r>
          </a:p>
        </p:txBody>
      </p:sp>
      <p:sp>
        <p:nvSpPr>
          <p:cNvPr id="18" name="TextBox 17"/>
          <p:cNvSpPr txBox="1"/>
          <p:nvPr/>
        </p:nvSpPr>
        <p:spPr>
          <a:xfrm>
            <a:off x="6656884" y="2376091"/>
            <a:ext cx="4538166" cy="363220"/>
          </a:xfrm>
          <a:prstGeom prst="rect">
            <a:avLst/>
          </a:prstGeom>
          <a:noFill/>
        </p:spPr>
        <p:txBody>
          <a:bodyPr wrap="none" lIns="0" rIns="0" tIns="0" bIns="0" anchor="t">
            <a:noAutofit/>
          </a:bodyPr>
          <a:lstStyle/>
          <a:p>
            <a:pPr algn="l">
              <a:lnSpc>
                <a:spcPts val="2860"/>
              </a:lnSpc>
            </a:pPr>
            <a:r>
              <a:rPr sz="2600" b="0" i="0">
                <a:solidFill>
                  <a:srgbClr val="0A2540"/>
                </a:solidFill>
                <a:latin typeface="DM Serif Display"/>
              </a:rPr>
              <a:t>De noemer bepaalt het getal</a:t>
            </a:r>
          </a:p>
        </p:txBody>
      </p:sp>
      <p:sp>
        <p:nvSpPr>
          <p:cNvPr id="19" name="TextBox 18"/>
          <p:cNvSpPr txBox="1"/>
          <p:nvPr/>
        </p:nvSpPr>
        <p:spPr>
          <a:xfrm>
            <a:off x="6656884" y="2878931"/>
            <a:ext cx="4538166" cy="240030"/>
          </a:xfrm>
          <a:prstGeom prst="rect">
            <a:avLst/>
          </a:prstGeom>
          <a:noFill/>
        </p:spPr>
        <p:txBody>
          <a:bodyPr wrap="none" lIns="0" rIns="0" tIns="0" bIns="0" anchor="t">
            <a:noAutofit/>
          </a:bodyPr>
          <a:lstStyle/>
          <a:p>
            <a:pPr algn="l">
              <a:lnSpc>
                <a:spcPts val="1889"/>
              </a:lnSpc>
            </a:pPr>
            <a:r>
              <a:rPr sz="1400" b="0" i="0">
                <a:solidFill>
                  <a:srgbClr val="3A4F63"/>
                </a:solidFill>
                <a:latin typeface="DM Sans"/>
              </a:rPr>
              <a:t>dezelfde patiënten, dezelfde meetweek</a:t>
            </a:r>
          </a:p>
        </p:txBody>
      </p:sp>
      <p:sp>
        <p:nvSpPr>
          <p:cNvPr id="20" name="Rectangle 19"/>
          <p:cNvSpPr/>
          <p:nvPr/>
        </p:nvSpPr>
        <p:spPr>
          <a:xfrm>
            <a:off x="6656884" y="3258641"/>
            <a:ext cx="4487366"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56884" y="3379291"/>
            <a:ext cx="4538166" cy="165100"/>
          </a:xfrm>
          <a:prstGeom prst="rect">
            <a:avLst/>
          </a:prstGeom>
          <a:noFill/>
        </p:spPr>
        <p:txBody>
          <a:bodyPr wrap="none" lIns="0" rIns="0" tIns="0" bIns="0" anchor="t">
            <a:noAutofit/>
          </a:bodyPr>
          <a:lstStyle/>
          <a:p>
            <a:pPr algn="l"/>
            <a:r>
              <a:rPr sz="1000" b="0" i="0" spc="100">
                <a:solidFill>
                  <a:srgbClr val="5A6E80"/>
                </a:solidFill>
                <a:latin typeface="JetBrains Mono"/>
              </a:rPr>
              <a:t>GEMIDDELDE THERAPIETROUW</a:t>
            </a:r>
          </a:p>
        </p:txBody>
      </p:sp>
      <p:sp>
        <p:nvSpPr>
          <p:cNvPr id="22" name="TextBox 21"/>
          <p:cNvSpPr txBox="1"/>
          <p:nvPr/>
        </p:nvSpPr>
        <p:spPr>
          <a:xfrm>
            <a:off x="6656884" y="3645991"/>
            <a:ext cx="4538166" cy="182880"/>
          </a:xfrm>
          <a:prstGeom prst="rect">
            <a:avLst/>
          </a:prstGeom>
          <a:noFill/>
        </p:spPr>
        <p:txBody>
          <a:bodyPr wrap="none" lIns="0" rIns="0" tIns="0" bIns="0" anchor="t">
            <a:noAutofit/>
          </a:bodyPr>
          <a:lstStyle/>
          <a:p>
            <a:pPr algn="l">
              <a:lnSpc>
                <a:spcPts val="1440"/>
              </a:lnSpc>
            </a:pPr>
            <a:r>
              <a:rPr sz="1200" b="0" i="0">
                <a:solidFill>
                  <a:srgbClr val="3A4F63"/>
                </a:solidFill>
                <a:latin typeface="DM Sans"/>
              </a:rPr>
              <a:t>als deel van de stappen</a:t>
            </a:r>
          </a:p>
        </p:txBody>
      </p:sp>
      <p:sp>
        <p:nvSpPr>
          <p:cNvPr id="23" name="Rounded Rectangle 22"/>
          <p:cNvSpPr/>
          <p:nvPr/>
        </p:nvSpPr>
        <p:spPr>
          <a:xfrm>
            <a:off x="6656884" y="3892352"/>
            <a:ext cx="2120900" cy="254000"/>
          </a:xfrm>
          <a:prstGeom prst="roundRect">
            <a:avLst>
              <a:gd name="adj" fmla="val 2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879384" y="3879652"/>
            <a:ext cx="528638" cy="279400"/>
          </a:xfrm>
          <a:prstGeom prst="rect">
            <a:avLst/>
          </a:prstGeom>
          <a:noFill/>
        </p:spPr>
        <p:txBody>
          <a:bodyPr wrap="none" lIns="0" rIns="0" tIns="0" bIns="0" anchor="t">
            <a:noAutofit/>
          </a:bodyPr>
          <a:lstStyle/>
          <a:p>
            <a:pPr algn="l">
              <a:lnSpc>
                <a:spcPts val="2200"/>
              </a:lnSpc>
            </a:pPr>
            <a:r>
              <a:rPr sz="2200" b="0" i="0">
                <a:solidFill>
                  <a:srgbClr val="0A2540"/>
                </a:solidFill>
                <a:latin typeface="DM Serif Display"/>
              </a:rPr>
              <a:t>71%</a:t>
            </a:r>
          </a:p>
        </p:txBody>
      </p:sp>
      <p:sp>
        <p:nvSpPr>
          <p:cNvPr id="25" name="TextBox 24"/>
          <p:cNvSpPr txBox="1"/>
          <p:nvPr/>
        </p:nvSpPr>
        <p:spPr>
          <a:xfrm>
            <a:off x="6656884" y="4260652"/>
            <a:ext cx="4538166" cy="182880"/>
          </a:xfrm>
          <a:prstGeom prst="rect">
            <a:avLst/>
          </a:prstGeom>
          <a:noFill/>
        </p:spPr>
        <p:txBody>
          <a:bodyPr wrap="none" lIns="0" rIns="0" tIns="0" bIns="0" anchor="t">
            <a:noAutofit/>
          </a:bodyPr>
          <a:lstStyle/>
          <a:p>
            <a:pPr algn="l">
              <a:lnSpc>
                <a:spcPts val="1440"/>
              </a:lnSpc>
            </a:pPr>
            <a:r>
              <a:rPr sz="1200" b="0" i="0">
                <a:solidFill>
                  <a:srgbClr val="3A4F63"/>
                </a:solidFill>
                <a:latin typeface="DM Sans"/>
              </a:rPr>
              <a:t>als deel van een dag van 16 uur</a:t>
            </a:r>
          </a:p>
        </p:txBody>
      </p:sp>
      <p:sp>
        <p:nvSpPr>
          <p:cNvPr id="26" name="Rounded Rectangle 25"/>
          <p:cNvSpPr/>
          <p:nvPr/>
        </p:nvSpPr>
        <p:spPr>
          <a:xfrm>
            <a:off x="6656884" y="4507012"/>
            <a:ext cx="1758950" cy="254000"/>
          </a:xfrm>
          <a:prstGeom prst="roundRect">
            <a:avLst>
              <a:gd name="adj" fmla="val 200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517434" y="4494312"/>
            <a:ext cx="591443" cy="279400"/>
          </a:xfrm>
          <a:prstGeom prst="rect">
            <a:avLst/>
          </a:prstGeom>
          <a:noFill/>
        </p:spPr>
        <p:txBody>
          <a:bodyPr wrap="none" lIns="0" rIns="0" tIns="0" bIns="0" anchor="t">
            <a:noAutofit/>
          </a:bodyPr>
          <a:lstStyle/>
          <a:p>
            <a:pPr algn="l">
              <a:lnSpc>
                <a:spcPts val="2200"/>
              </a:lnSpc>
            </a:pPr>
            <a:r>
              <a:rPr sz="2200" b="0" i="0">
                <a:solidFill>
                  <a:srgbClr val="3A4F63"/>
                </a:solidFill>
                <a:latin typeface="DM Serif Display"/>
              </a:rPr>
              <a:t>59%</a:t>
            </a:r>
          </a:p>
        </p:txBody>
      </p:sp>
      <p:sp>
        <p:nvSpPr>
          <p:cNvPr id="28" name="TextBox 27"/>
          <p:cNvSpPr txBox="1"/>
          <p:nvPr/>
        </p:nvSpPr>
        <p:spPr>
          <a:xfrm>
            <a:off x="812800" y="5211862"/>
            <a:ext cx="10617200" cy="257175"/>
          </a:xfrm>
          <a:prstGeom prst="rect">
            <a:avLst/>
          </a:prstGeom>
          <a:noFill/>
        </p:spPr>
        <p:txBody>
          <a:bodyPr wrap="none" lIns="0" rIns="0" tIns="0" bIns="0" anchor="t">
            <a:noAutofit/>
          </a:bodyPr>
          <a:lstStyle/>
          <a:p>
            <a:pPr algn="l">
              <a:lnSpc>
                <a:spcPts val="2025"/>
              </a:lnSpc>
            </a:pPr>
            <a:r>
              <a:rPr sz="1500" b="0" i="0">
                <a:solidFill>
                  <a:srgbClr val="0A2540"/>
                </a:solidFill>
                <a:latin typeface="DM Sans"/>
              </a:rPr>
              <a:t>Het gezag van de 80% komt van het resultaat, niet van de reden waarom ze gekozen werd.</a:t>
            </a:r>
          </a:p>
        </p:txBody>
      </p:sp>
      <p:pic>
        <p:nvPicPr>
          <p:cNvPr id="29" name="Picture 28"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30" name="TextBox 29"/>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31" name="TextBox 30"/>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Bron · Bus e.a. 2013 (DIAFOS) · Waaijman e.a. 2013</a:t>
            </a:r>
          </a:p>
        </p:txBody>
      </p:sp>
    </p:spTree>
  </p:cSld>
  <p:clrMapOvr>
    <a:masterClrMapping/>
  </p:clrMapOvr>
  <p:transition xmlns:p14="http://schemas.microsoft.com/office/powerpoint/2010/main" spd="med" p14:dur="700">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3 · WP1 · DE DRAAGNORM · LITERATUUR</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Iedereen koos een andere noemer</a:t>
            </a:r>
          </a:p>
        </p:txBody>
      </p:sp>
      <p:sp>
        <p:nvSpPr>
          <p:cNvPr id="4" name="TextBox 3"/>
          <p:cNvSpPr txBox="1"/>
          <p:nvPr/>
        </p:nvSpPr>
        <p:spPr>
          <a:xfrm>
            <a:off x="3238500" y="1955403"/>
            <a:ext cx="1605260" cy="150812"/>
          </a:xfrm>
          <a:prstGeom prst="rect">
            <a:avLst/>
          </a:prstGeom>
          <a:noFill/>
        </p:spPr>
        <p:txBody>
          <a:bodyPr wrap="none" lIns="0" rIns="0" tIns="0" bIns="0" anchor="t">
            <a:noAutofit/>
          </a:bodyPr>
          <a:lstStyle/>
          <a:p>
            <a:pPr algn="ctr">
              <a:lnSpc>
                <a:spcPts val="1187"/>
              </a:lnSpc>
            </a:pPr>
            <a:r>
              <a:rPr sz="950" b="0" i="0" spc="50">
                <a:solidFill>
                  <a:srgbClr val="52BDEC"/>
                </a:solidFill>
                <a:latin typeface="JetBrains Mono"/>
              </a:rPr>
              <a:t>DAG, AANGENOMEN</a:t>
            </a:r>
          </a:p>
        </p:txBody>
      </p:sp>
      <p:sp>
        <p:nvSpPr>
          <p:cNvPr id="5" name="TextBox 4"/>
          <p:cNvSpPr txBox="1"/>
          <p:nvPr/>
        </p:nvSpPr>
        <p:spPr>
          <a:xfrm>
            <a:off x="4869160" y="1955403"/>
            <a:ext cx="1605260" cy="150812"/>
          </a:xfrm>
          <a:prstGeom prst="rect">
            <a:avLst/>
          </a:prstGeom>
          <a:noFill/>
        </p:spPr>
        <p:txBody>
          <a:bodyPr wrap="none" lIns="0" rIns="0" tIns="0" bIns="0" anchor="t">
            <a:noAutofit/>
          </a:bodyPr>
          <a:lstStyle/>
          <a:p>
            <a:pPr algn="ctr">
              <a:lnSpc>
                <a:spcPts val="1187"/>
              </a:lnSpc>
            </a:pPr>
            <a:r>
              <a:rPr sz="950" b="0" i="0" spc="50">
                <a:solidFill>
                  <a:srgbClr val="52BDEC"/>
                </a:solidFill>
                <a:latin typeface="JetBrains Mono"/>
              </a:rPr>
              <a:t>STAPPEN</a:t>
            </a:r>
          </a:p>
        </p:txBody>
      </p:sp>
      <p:sp>
        <p:nvSpPr>
          <p:cNvPr id="6" name="TextBox 5"/>
          <p:cNvSpPr txBox="1"/>
          <p:nvPr/>
        </p:nvSpPr>
        <p:spPr>
          <a:xfrm>
            <a:off x="6499820" y="1955403"/>
            <a:ext cx="1605260" cy="150812"/>
          </a:xfrm>
          <a:prstGeom prst="rect">
            <a:avLst/>
          </a:prstGeom>
          <a:noFill/>
        </p:spPr>
        <p:txBody>
          <a:bodyPr wrap="none" lIns="0" rIns="0" tIns="0" bIns="0" anchor="t">
            <a:noAutofit/>
          </a:bodyPr>
          <a:lstStyle/>
          <a:p>
            <a:pPr algn="ctr">
              <a:lnSpc>
                <a:spcPts val="1187"/>
              </a:lnSpc>
            </a:pPr>
            <a:r>
              <a:rPr sz="950" b="0" i="0" spc="50">
                <a:solidFill>
                  <a:srgbClr val="52BDEC"/>
                </a:solidFill>
                <a:latin typeface="JetBrains Mono"/>
              </a:rPr>
              <a:t>UREN PER DAG</a:t>
            </a:r>
          </a:p>
        </p:txBody>
      </p:sp>
      <p:sp>
        <p:nvSpPr>
          <p:cNvPr id="7" name="TextBox 6"/>
          <p:cNvSpPr txBox="1"/>
          <p:nvPr/>
        </p:nvSpPr>
        <p:spPr>
          <a:xfrm>
            <a:off x="8130480" y="1804591"/>
            <a:ext cx="1605260" cy="301625"/>
          </a:xfrm>
          <a:prstGeom prst="rect">
            <a:avLst/>
          </a:prstGeom>
          <a:noFill/>
        </p:spPr>
        <p:txBody>
          <a:bodyPr wrap="square" lIns="0" rIns="0" tIns="0" bIns="0" anchor="t">
            <a:noAutofit/>
          </a:bodyPr>
          <a:lstStyle/>
          <a:p>
            <a:pPr algn="ctr">
              <a:lnSpc>
                <a:spcPts val="1187"/>
              </a:lnSpc>
            </a:pPr>
            <a:r>
              <a:rPr sz="950" b="0" i="0" spc="50">
                <a:solidFill>
                  <a:srgbClr val="52BDEC"/>
                </a:solidFill>
                <a:latin typeface="JetBrains Mono"/>
              </a:rPr>
              <a:t>GEWICHTDRAGENDE TIJD</a:t>
            </a:r>
          </a:p>
        </p:txBody>
      </p:sp>
      <p:sp>
        <p:nvSpPr>
          <p:cNvPr id="8" name="TextBox 7"/>
          <p:cNvSpPr txBox="1"/>
          <p:nvPr/>
        </p:nvSpPr>
        <p:spPr>
          <a:xfrm>
            <a:off x="9761141" y="1955403"/>
            <a:ext cx="1605260" cy="150812"/>
          </a:xfrm>
          <a:prstGeom prst="rect">
            <a:avLst/>
          </a:prstGeom>
          <a:noFill/>
        </p:spPr>
        <p:txBody>
          <a:bodyPr wrap="none" lIns="0" rIns="0" tIns="0" bIns="0" anchor="t">
            <a:noAutofit/>
          </a:bodyPr>
          <a:lstStyle/>
          <a:p>
            <a:pPr algn="ctr">
              <a:lnSpc>
                <a:spcPts val="1187"/>
              </a:lnSpc>
            </a:pPr>
            <a:r>
              <a:rPr sz="950" b="0" i="0" spc="50">
                <a:solidFill>
                  <a:srgbClr val="FF9A3D"/>
                </a:solidFill>
                <a:latin typeface="JetBrains Mono"/>
              </a:rPr>
              <a:t>GEMETEN WAAKTIJD</a:t>
            </a:r>
          </a:p>
        </p:txBody>
      </p:sp>
      <p:sp>
        <p:nvSpPr>
          <p:cNvPr id="9" name="TextBox 8"/>
          <p:cNvSpPr txBox="1"/>
          <p:nvPr/>
        </p:nvSpPr>
        <p:spPr>
          <a:xfrm>
            <a:off x="812800" y="2205633"/>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Chantelau 1994</a:t>
            </a:r>
          </a:p>
        </p:txBody>
      </p:sp>
      <p:sp>
        <p:nvSpPr>
          <p:cNvPr id="10" name="TextBox 9"/>
          <p:cNvSpPr txBox="1"/>
          <p:nvPr/>
        </p:nvSpPr>
        <p:spPr>
          <a:xfrm>
            <a:off x="812800" y="2408138"/>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geen sensor</a:t>
            </a:r>
          </a:p>
        </p:txBody>
      </p:sp>
      <p:sp>
        <p:nvSpPr>
          <p:cNvPr id="11" name="Rounded Rectangle 10"/>
          <p:cNvSpPr/>
          <p:nvPr/>
        </p:nvSpPr>
        <p:spPr>
          <a:xfrm>
            <a:off x="3713361" y="2257326"/>
            <a:ext cx="655439"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827661" y="2295426"/>
            <a:ext cx="477639"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&gt; 60%</a:t>
            </a:r>
          </a:p>
        </p:txBody>
      </p:sp>
      <p:sp>
        <p:nvSpPr>
          <p:cNvPr id="13" name="Rectangle 12"/>
          <p:cNvSpPr/>
          <p:nvPr/>
        </p:nvSpPr>
        <p:spPr>
          <a:xfrm>
            <a:off x="9748441" y="2169716"/>
            <a:ext cx="1630660" cy="41910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2800" y="258881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800" y="2627908"/>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Arts 2014</a:t>
            </a:r>
          </a:p>
        </p:txBody>
      </p:sp>
      <p:sp>
        <p:nvSpPr>
          <p:cNvPr id="16" name="TextBox 15"/>
          <p:cNvSpPr txBox="1"/>
          <p:nvPr/>
        </p:nvSpPr>
        <p:spPr>
          <a:xfrm>
            <a:off x="812800" y="28304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zelfrapportage</a:t>
            </a:r>
          </a:p>
        </p:txBody>
      </p:sp>
      <p:sp>
        <p:nvSpPr>
          <p:cNvPr id="17" name="Rounded Rectangle 16"/>
          <p:cNvSpPr/>
          <p:nvPr/>
        </p:nvSpPr>
        <p:spPr>
          <a:xfrm>
            <a:off x="3770312" y="2679601"/>
            <a:ext cx="541536"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884612" y="2717701"/>
            <a:ext cx="363736"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60%</a:t>
            </a:r>
          </a:p>
        </p:txBody>
      </p:sp>
      <p:sp>
        <p:nvSpPr>
          <p:cNvPr id="19" name="Rectangle 18"/>
          <p:cNvSpPr/>
          <p:nvPr/>
        </p:nvSpPr>
        <p:spPr>
          <a:xfrm>
            <a:off x="9748441" y="25951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2800" y="300791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800" y="3047008"/>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Waaijman · Bus 2013</a:t>
            </a:r>
          </a:p>
        </p:txBody>
      </p:sp>
      <p:sp>
        <p:nvSpPr>
          <p:cNvPr id="22" name="TextBox 21"/>
          <p:cNvSpPr txBox="1"/>
          <p:nvPr/>
        </p:nvSpPr>
        <p:spPr>
          <a:xfrm>
            <a:off x="812800" y="32495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@monitor + StepWatch</a:t>
            </a:r>
          </a:p>
        </p:txBody>
      </p:sp>
      <p:sp>
        <p:nvSpPr>
          <p:cNvPr id="23" name="Rounded Rectangle 22"/>
          <p:cNvSpPr/>
          <p:nvPr/>
        </p:nvSpPr>
        <p:spPr>
          <a:xfrm>
            <a:off x="5401072" y="3098701"/>
            <a:ext cx="541338"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515372" y="3136801"/>
            <a:ext cx="363538"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80%</a:t>
            </a:r>
          </a:p>
        </p:txBody>
      </p:sp>
      <p:sp>
        <p:nvSpPr>
          <p:cNvPr id="25" name="Rectangle 24"/>
          <p:cNvSpPr/>
          <p:nvPr/>
        </p:nvSpPr>
        <p:spPr>
          <a:xfrm>
            <a:off x="9748441" y="30142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12800" y="342701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800" y="3466108"/>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DIASSIST 2023 · 2026</a:t>
            </a:r>
          </a:p>
        </p:txBody>
      </p:sp>
      <p:sp>
        <p:nvSpPr>
          <p:cNvPr id="28" name="TextBox 27"/>
          <p:cNvSpPr txBox="1"/>
          <p:nvPr/>
        </p:nvSpPr>
        <p:spPr>
          <a:xfrm>
            <a:off x="812800" y="36686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Orthotimer + MoveMonitor (protocol)</a:t>
            </a:r>
          </a:p>
        </p:txBody>
      </p:sp>
      <p:sp>
        <p:nvSpPr>
          <p:cNvPr id="29" name="Rounded Rectangle 28"/>
          <p:cNvSpPr/>
          <p:nvPr/>
        </p:nvSpPr>
        <p:spPr>
          <a:xfrm>
            <a:off x="5252938" y="3517801"/>
            <a:ext cx="837605"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367238" y="3555901"/>
            <a:ext cx="659805"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uitkomst</a:t>
            </a:r>
          </a:p>
        </p:txBody>
      </p:sp>
      <p:sp>
        <p:nvSpPr>
          <p:cNvPr id="31" name="Rounded Rectangle 30"/>
          <p:cNvSpPr/>
          <p:nvPr/>
        </p:nvSpPr>
        <p:spPr>
          <a:xfrm>
            <a:off x="7027565" y="3517801"/>
            <a:ext cx="54977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41865" y="3555901"/>
            <a:ext cx="371971"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&lt; 8 u</a:t>
            </a:r>
          </a:p>
        </p:txBody>
      </p:sp>
      <p:sp>
        <p:nvSpPr>
          <p:cNvPr id="33" name="Rectangle 32"/>
          <p:cNvSpPr/>
          <p:nvPr/>
        </p:nvSpPr>
        <p:spPr>
          <a:xfrm>
            <a:off x="9748441" y="34333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12800" y="384611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2800" y="3885208"/>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Exterkate 2023</a:t>
            </a:r>
          </a:p>
        </p:txBody>
      </p:sp>
      <p:sp>
        <p:nvSpPr>
          <p:cNvPr id="36" name="TextBox 35"/>
          <p:cNvSpPr txBox="1"/>
          <p:nvPr/>
        </p:nvSpPr>
        <p:spPr>
          <a:xfrm>
            <a:off x="812800" y="40877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Orthotimer</a:t>
            </a:r>
          </a:p>
        </p:txBody>
      </p:sp>
      <p:sp>
        <p:nvSpPr>
          <p:cNvPr id="37" name="Rounded Rectangle 36"/>
          <p:cNvSpPr/>
          <p:nvPr/>
        </p:nvSpPr>
        <p:spPr>
          <a:xfrm>
            <a:off x="3495873" y="3936901"/>
            <a:ext cx="1090414"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610173" y="3975001"/>
            <a:ext cx="912614"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60% en 80%</a:t>
            </a:r>
          </a:p>
        </p:txBody>
      </p:sp>
      <p:sp>
        <p:nvSpPr>
          <p:cNvPr id="39" name="Rectangle 38"/>
          <p:cNvSpPr/>
          <p:nvPr/>
        </p:nvSpPr>
        <p:spPr>
          <a:xfrm>
            <a:off x="9748441" y="38524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812800" y="426521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2800" y="4304308"/>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van Netten 2025</a:t>
            </a:r>
          </a:p>
        </p:txBody>
      </p:sp>
      <p:sp>
        <p:nvSpPr>
          <p:cNvPr id="42" name="TextBox 41"/>
          <p:cNvSpPr txBox="1"/>
          <p:nvPr/>
        </p:nvSpPr>
        <p:spPr>
          <a:xfrm>
            <a:off x="812800" y="45068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Orthotimer + MoveMonitor</a:t>
            </a:r>
          </a:p>
        </p:txBody>
      </p:sp>
      <p:sp>
        <p:nvSpPr>
          <p:cNvPr id="43" name="Rounded Rectangle 42"/>
          <p:cNvSpPr/>
          <p:nvPr/>
        </p:nvSpPr>
        <p:spPr>
          <a:xfrm>
            <a:off x="5344220" y="4356001"/>
            <a:ext cx="65514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458520" y="4394101"/>
            <a:ext cx="477341"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&lt; 80%</a:t>
            </a:r>
          </a:p>
        </p:txBody>
      </p:sp>
      <p:sp>
        <p:nvSpPr>
          <p:cNvPr id="45" name="Rounded Rectangle 44"/>
          <p:cNvSpPr/>
          <p:nvPr/>
        </p:nvSpPr>
        <p:spPr>
          <a:xfrm>
            <a:off x="7027565" y="4356001"/>
            <a:ext cx="549771"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141865" y="4394101"/>
            <a:ext cx="371971"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&lt; 8 u</a:t>
            </a:r>
          </a:p>
        </p:txBody>
      </p:sp>
      <p:sp>
        <p:nvSpPr>
          <p:cNvPr id="47" name="Rectangle 46"/>
          <p:cNvSpPr/>
          <p:nvPr/>
        </p:nvSpPr>
        <p:spPr>
          <a:xfrm>
            <a:off x="9748441" y="42715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812800" y="4684316"/>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2800" y="4723408"/>
            <a:ext cx="2463800" cy="189865"/>
          </a:xfrm>
          <a:prstGeom prst="rect">
            <a:avLst/>
          </a:prstGeom>
          <a:noFill/>
        </p:spPr>
        <p:txBody>
          <a:bodyPr wrap="none" lIns="0" rIns="0" tIns="0" bIns="0" anchor="t">
            <a:noAutofit/>
          </a:bodyPr>
          <a:lstStyle/>
          <a:p>
            <a:pPr algn="l">
              <a:lnSpc>
                <a:spcPts val="1495"/>
              </a:lnSpc>
            </a:pPr>
            <a:r>
              <a:rPr sz="1300" b="1" i="0">
                <a:solidFill>
                  <a:srgbClr val="F2F8FC"/>
                </a:solidFill>
                <a:latin typeface="DM Sans"/>
              </a:rPr>
              <a:t>Jarl 2023</a:t>
            </a:r>
          </a:p>
        </p:txBody>
      </p:sp>
      <p:sp>
        <p:nvSpPr>
          <p:cNvPr id="50" name="TextBox 49"/>
          <p:cNvSpPr txBox="1"/>
          <p:nvPr/>
        </p:nvSpPr>
        <p:spPr>
          <a:xfrm>
            <a:off x="812800" y="49259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Orthotimer + MoveMonitor</a:t>
            </a:r>
          </a:p>
        </p:txBody>
      </p:sp>
      <p:sp>
        <p:nvSpPr>
          <p:cNvPr id="51" name="Rounded Rectangle 50"/>
          <p:cNvSpPr/>
          <p:nvPr/>
        </p:nvSpPr>
        <p:spPr>
          <a:xfrm>
            <a:off x="7005340" y="4775101"/>
            <a:ext cx="594122"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119640" y="4813201"/>
            <a:ext cx="416322"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12,2 u</a:t>
            </a:r>
          </a:p>
        </p:txBody>
      </p:sp>
      <p:sp>
        <p:nvSpPr>
          <p:cNvPr id="53" name="Rounded Rectangle 52"/>
          <p:cNvSpPr/>
          <p:nvPr/>
        </p:nvSpPr>
        <p:spPr>
          <a:xfrm>
            <a:off x="8477548" y="4775101"/>
            <a:ext cx="911126" cy="243780"/>
          </a:xfrm>
          <a:prstGeom prst="roundRect">
            <a:avLst>
              <a:gd name="adj" fmla="val 500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591848" y="4813201"/>
            <a:ext cx="733326"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referentie</a:t>
            </a:r>
          </a:p>
        </p:txBody>
      </p:sp>
      <p:sp>
        <p:nvSpPr>
          <p:cNvPr id="55" name="Rectangle 54"/>
          <p:cNvSpPr/>
          <p:nvPr/>
        </p:nvSpPr>
        <p:spPr>
          <a:xfrm>
            <a:off x="9748441" y="46906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812800" y="5103416"/>
            <a:ext cx="10566400" cy="6350"/>
          </a:xfrm>
          <a:prstGeom prst="rect">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2800" y="5142508"/>
            <a:ext cx="2463800" cy="189865"/>
          </a:xfrm>
          <a:prstGeom prst="rect">
            <a:avLst/>
          </a:prstGeom>
          <a:noFill/>
        </p:spPr>
        <p:txBody>
          <a:bodyPr wrap="none" lIns="0" rIns="0" tIns="0" bIns="0" anchor="t">
            <a:noAutofit/>
          </a:bodyPr>
          <a:lstStyle/>
          <a:p>
            <a:pPr algn="l">
              <a:lnSpc>
                <a:spcPts val="1495"/>
              </a:lnSpc>
            </a:pPr>
            <a:r>
              <a:rPr sz="1300" b="1" i="0">
                <a:solidFill>
                  <a:srgbClr val="FF9A3D"/>
                </a:solidFill>
                <a:latin typeface="DM Sans"/>
              </a:rPr>
              <a:t>PARADISE</a:t>
            </a:r>
          </a:p>
        </p:txBody>
      </p:sp>
      <p:sp>
        <p:nvSpPr>
          <p:cNvPr id="58" name="TextBox 57"/>
          <p:cNvSpPr txBox="1"/>
          <p:nvPr/>
        </p:nvSpPr>
        <p:spPr>
          <a:xfrm>
            <a:off x="812800" y="5345013"/>
            <a:ext cx="2463800" cy="144780"/>
          </a:xfrm>
          <a:prstGeom prst="rect">
            <a:avLst/>
          </a:prstGeom>
          <a:noFill/>
        </p:spPr>
        <p:txBody>
          <a:bodyPr wrap="none" lIns="0" rIns="0" tIns="0" bIns="0" anchor="t">
            <a:noAutofit/>
          </a:bodyPr>
          <a:lstStyle/>
          <a:p>
            <a:pPr algn="l">
              <a:lnSpc>
                <a:spcPts val="1140"/>
              </a:lnSpc>
            </a:pPr>
            <a:r>
              <a:rPr sz="950" b="0" i="0">
                <a:solidFill>
                  <a:srgbClr val="8FB0CA"/>
                </a:solidFill>
                <a:latin typeface="DM Sans"/>
              </a:rPr>
              <a:t>Orthotimer + MoveMonitor bij de start</a:t>
            </a:r>
          </a:p>
        </p:txBody>
      </p:sp>
      <p:sp>
        <p:nvSpPr>
          <p:cNvPr id="59" name="Rectangle 58"/>
          <p:cNvSpPr/>
          <p:nvPr/>
        </p:nvSpPr>
        <p:spPr>
          <a:xfrm>
            <a:off x="9748441" y="5109766"/>
            <a:ext cx="1630660" cy="412750"/>
          </a:xfrm>
          <a:prstGeom prst="rect">
            <a:avLst/>
          </a:prstGeom>
          <a:solidFill>
            <a:srgbClr val="FF9A3D">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ounded Rectangle 59"/>
          <p:cNvSpPr/>
          <p:nvPr/>
        </p:nvSpPr>
        <p:spPr>
          <a:xfrm>
            <a:off x="10293052" y="5194201"/>
            <a:ext cx="541338" cy="243780"/>
          </a:xfrm>
          <a:prstGeom prst="roundRect">
            <a:avLst>
              <a:gd name="adj" fmla="val 50000"/>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10407352" y="5232301"/>
            <a:ext cx="363538" cy="167640"/>
          </a:xfrm>
          <a:prstGeom prst="rect">
            <a:avLst/>
          </a:prstGeom>
          <a:noFill/>
        </p:spPr>
        <p:txBody>
          <a:bodyPr wrap="none" lIns="0" rIns="0" tIns="0" bIns="0" anchor="t">
            <a:noAutofit/>
          </a:bodyPr>
          <a:lstStyle/>
          <a:p>
            <a:pPr algn="l">
              <a:lnSpc>
                <a:spcPts val="1320"/>
              </a:lnSpc>
            </a:pPr>
            <a:r>
              <a:rPr sz="1100" b="1" i="0">
                <a:solidFill>
                  <a:srgbClr val="FFFFFF"/>
                </a:solidFill>
                <a:latin typeface="DM Sans"/>
              </a:rPr>
              <a:t>80%</a:t>
            </a:r>
          </a:p>
        </p:txBody>
      </p:sp>
      <p:sp>
        <p:nvSpPr>
          <p:cNvPr id="62" name="TextBox 61"/>
          <p:cNvSpPr txBox="1"/>
          <p:nvPr/>
        </p:nvSpPr>
        <p:spPr>
          <a:xfrm>
            <a:off x="812800" y="5713016"/>
            <a:ext cx="106172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Dezelfde toestellen als PARADISE, maar niemand deelt door een gemeten waaktijd.</a:t>
            </a:r>
          </a:p>
        </p:txBody>
      </p:sp>
      <p:pic>
        <p:nvPicPr>
          <p:cNvPr id="63" name="Picture 62"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64" name="TextBox 63"/>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65" name="TextBox 64"/>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6F8FAA"/>
                </a:solidFill>
                <a:latin typeface="JetBrains Mono"/>
              </a:rPr>
              <a:t>Bron · referenties in de notities</a:t>
            </a:r>
          </a:p>
        </p:txBody>
      </p:sp>
    </p:spTree>
  </p:cSld>
  <p:clrMapOvr>
    <a:masterClrMapping/>
  </p:clrMapOvr>
  <p:transition xmlns:p14="http://schemas.microsoft.com/office/powerpoint/2010/main" spd="med" p14:dur="700">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3 · WP1 · DE DRAAGNORM · VOOR PARADISE</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Wat we overnemen, en wat niet</a:t>
            </a:r>
          </a:p>
        </p:txBody>
      </p:sp>
      <p:sp>
        <p:nvSpPr>
          <p:cNvPr id="4" name="Rounded Rectangle 3"/>
          <p:cNvSpPr/>
          <p:nvPr/>
        </p:nvSpPr>
        <p:spPr>
          <a:xfrm>
            <a:off x="812800" y="1817291"/>
            <a:ext cx="1122759" cy="2857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39800" y="1868091"/>
            <a:ext cx="919559" cy="184150"/>
          </a:xfrm>
          <a:prstGeom prst="rect">
            <a:avLst/>
          </a:prstGeom>
          <a:noFill/>
        </p:spPr>
        <p:txBody>
          <a:bodyPr wrap="none" lIns="0" rIns="0" tIns="0" bIns="0" anchor="t">
            <a:noAutofit/>
          </a:bodyPr>
          <a:lstStyle/>
          <a:p>
            <a:pPr algn="l"/>
            <a:r>
              <a:rPr sz="1100" b="0" i="0" spc="100">
                <a:solidFill>
                  <a:srgbClr val="FFFFFF"/>
                </a:solidFill>
                <a:latin typeface="JetBrains Mono"/>
              </a:rPr>
              <a:t>OVERNEMEN</a:t>
            </a:r>
          </a:p>
        </p:txBody>
      </p:sp>
      <p:sp>
        <p:nvSpPr>
          <p:cNvPr id="6" name="Rectangle 5"/>
          <p:cNvSpPr/>
          <p:nvPr/>
        </p:nvSpPr>
        <p:spPr>
          <a:xfrm>
            <a:off x="812800" y="2179241"/>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2287191"/>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De 80% als lat</a:t>
            </a:r>
          </a:p>
        </p:txBody>
      </p:sp>
      <p:sp>
        <p:nvSpPr>
          <p:cNvPr id="8" name="TextBox 7"/>
          <p:cNvSpPr txBox="1"/>
          <p:nvPr/>
        </p:nvSpPr>
        <p:spPr>
          <a:xfrm>
            <a:off x="812800" y="2547541"/>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uit DIAFOS: bij wie ze haalde, werkte het drukverlagend schoeisel</a:t>
            </a:r>
          </a:p>
        </p:txBody>
      </p:sp>
      <p:sp>
        <p:nvSpPr>
          <p:cNvPr id="9" name="Rectangle 8"/>
          <p:cNvSpPr/>
          <p:nvPr/>
        </p:nvSpPr>
        <p:spPr>
          <a:xfrm>
            <a:off x="812800" y="2846288"/>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954238"/>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Dezelfde toestellen</a:t>
            </a:r>
          </a:p>
        </p:txBody>
      </p:sp>
      <p:sp>
        <p:nvSpPr>
          <p:cNvPr id="11" name="TextBox 10"/>
          <p:cNvSpPr txBox="1"/>
          <p:nvPr/>
        </p:nvSpPr>
        <p:spPr>
          <a:xfrm>
            <a:off x="812800" y="3214588"/>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Orthotimer en MoveMonitor, zoals DIASSIST, van Netten en Jarl</a:t>
            </a:r>
          </a:p>
        </p:txBody>
      </p:sp>
      <p:sp>
        <p:nvSpPr>
          <p:cNvPr id="12" name="Rectangle 11"/>
          <p:cNvSpPr/>
          <p:nvPr/>
        </p:nvSpPr>
        <p:spPr>
          <a:xfrm>
            <a:off x="812800" y="3513336"/>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3621286"/>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Draaguren als maat</a:t>
            </a:r>
          </a:p>
        </p:txBody>
      </p:sp>
      <p:sp>
        <p:nvSpPr>
          <p:cNvPr id="14" name="TextBox 13"/>
          <p:cNvSpPr txBox="1"/>
          <p:nvPr/>
        </p:nvSpPr>
        <p:spPr>
          <a:xfrm>
            <a:off x="812800" y="3881636"/>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volgen de referentie bijna even goed als de stappen (Jarl)</a:t>
            </a:r>
          </a:p>
        </p:txBody>
      </p:sp>
      <p:sp>
        <p:nvSpPr>
          <p:cNvPr id="15" name="TextBox 14"/>
          <p:cNvSpPr txBox="1"/>
          <p:nvPr/>
        </p:nvSpPr>
        <p:spPr>
          <a:xfrm>
            <a:off x="812800" y="4154984"/>
            <a:ext cx="1257300" cy="177800"/>
          </a:xfrm>
          <a:prstGeom prst="rect">
            <a:avLst/>
          </a:prstGeom>
          <a:noFill/>
        </p:spPr>
        <p:txBody>
          <a:bodyPr wrap="none" lIns="0" rIns="0" tIns="0" bIns="0" anchor="t">
            <a:noAutofit/>
          </a:bodyPr>
          <a:lstStyle/>
          <a:p>
            <a:pPr algn="l"/>
            <a:r>
              <a:rPr sz="1050" b="0" i="0">
                <a:solidFill>
                  <a:srgbClr val="3A4F63"/>
                </a:solidFill>
                <a:latin typeface="DM Sans"/>
              </a:rPr>
              <a:t>% van de stappen</a:t>
            </a:r>
          </a:p>
        </p:txBody>
      </p:sp>
      <p:sp>
        <p:nvSpPr>
          <p:cNvPr id="16" name="Rounded Rectangle 15"/>
          <p:cNvSpPr/>
          <p:nvPr/>
        </p:nvSpPr>
        <p:spPr>
          <a:xfrm>
            <a:off x="2095500" y="4193084"/>
            <a:ext cx="1587500" cy="101600"/>
          </a:xfrm>
          <a:prstGeom prst="roundRect">
            <a:avLst>
              <a:gd name="adj" fmla="val 375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759200" y="4158159"/>
            <a:ext cx="690959" cy="173355"/>
          </a:xfrm>
          <a:prstGeom prst="rect">
            <a:avLst/>
          </a:prstGeom>
          <a:noFill/>
        </p:spPr>
        <p:txBody>
          <a:bodyPr wrap="none" lIns="0" rIns="0" tIns="0" bIns="0" anchor="t">
            <a:noAutofit/>
          </a:bodyPr>
          <a:lstStyle/>
          <a:p>
            <a:pPr algn="l"/>
            <a:r>
              <a:rPr sz="1050" b="0" i="0">
                <a:solidFill>
                  <a:srgbClr val="0A2540"/>
                </a:solidFill>
                <a:latin typeface="JetBrains Mono"/>
              </a:rPr>
              <a:t>r = 0,96</a:t>
            </a:r>
          </a:p>
        </p:txBody>
      </p:sp>
      <p:sp>
        <p:nvSpPr>
          <p:cNvPr id="18" name="TextBox 17"/>
          <p:cNvSpPr txBox="1"/>
          <p:nvPr/>
        </p:nvSpPr>
        <p:spPr>
          <a:xfrm>
            <a:off x="812800" y="4370884"/>
            <a:ext cx="1257300" cy="177800"/>
          </a:xfrm>
          <a:prstGeom prst="rect">
            <a:avLst/>
          </a:prstGeom>
          <a:noFill/>
        </p:spPr>
        <p:txBody>
          <a:bodyPr wrap="none" lIns="0" rIns="0" tIns="0" bIns="0" anchor="t">
            <a:noAutofit/>
          </a:bodyPr>
          <a:lstStyle/>
          <a:p>
            <a:pPr algn="l"/>
            <a:r>
              <a:rPr sz="1050" b="0" i="0">
                <a:solidFill>
                  <a:srgbClr val="3A4F63"/>
                </a:solidFill>
                <a:latin typeface="DM Sans"/>
              </a:rPr>
              <a:t>uren per dag</a:t>
            </a:r>
          </a:p>
        </p:txBody>
      </p:sp>
      <p:sp>
        <p:nvSpPr>
          <p:cNvPr id="19" name="Rounded Rectangle 18"/>
          <p:cNvSpPr/>
          <p:nvPr/>
        </p:nvSpPr>
        <p:spPr>
          <a:xfrm>
            <a:off x="2095500" y="4408984"/>
            <a:ext cx="1504950" cy="101600"/>
          </a:xfrm>
          <a:prstGeom prst="roundRect">
            <a:avLst>
              <a:gd name="adj" fmla="val 37500"/>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676650" y="4374059"/>
            <a:ext cx="690959" cy="173355"/>
          </a:xfrm>
          <a:prstGeom prst="rect">
            <a:avLst/>
          </a:prstGeom>
          <a:noFill/>
        </p:spPr>
        <p:txBody>
          <a:bodyPr wrap="none" lIns="0" rIns="0" tIns="0" bIns="0" anchor="t">
            <a:noAutofit/>
          </a:bodyPr>
          <a:lstStyle/>
          <a:p>
            <a:pPr algn="l"/>
            <a:r>
              <a:rPr sz="1050" b="0" i="0">
                <a:solidFill>
                  <a:srgbClr val="0A2540"/>
                </a:solidFill>
                <a:latin typeface="JetBrains Mono"/>
              </a:rPr>
              <a:t>r = 0,91</a:t>
            </a:r>
          </a:p>
        </p:txBody>
      </p:sp>
      <p:sp>
        <p:nvSpPr>
          <p:cNvPr id="21" name="TextBox 20"/>
          <p:cNvSpPr txBox="1"/>
          <p:nvPr/>
        </p:nvSpPr>
        <p:spPr>
          <a:xfrm>
            <a:off x="812800" y="4586784"/>
            <a:ext cx="1257300" cy="177800"/>
          </a:xfrm>
          <a:prstGeom prst="rect">
            <a:avLst/>
          </a:prstGeom>
          <a:noFill/>
        </p:spPr>
        <p:txBody>
          <a:bodyPr wrap="none" lIns="0" rIns="0" tIns="0" bIns="0" anchor="t">
            <a:noAutofit/>
          </a:bodyPr>
          <a:lstStyle/>
          <a:p>
            <a:pPr algn="l"/>
            <a:r>
              <a:rPr sz="1050" b="0" i="0">
                <a:solidFill>
                  <a:srgbClr val="3A4F63"/>
                </a:solidFill>
                <a:latin typeface="DM Sans"/>
              </a:rPr>
              <a:t>zelfrapportage</a:t>
            </a:r>
          </a:p>
        </p:txBody>
      </p:sp>
      <p:sp>
        <p:nvSpPr>
          <p:cNvPr id="22" name="Rounded Rectangle 21"/>
          <p:cNvSpPr/>
          <p:nvPr/>
        </p:nvSpPr>
        <p:spPr>
          <a:xfrm>
            <a:off x="2095500" y="4624884"/>
            <a:ext cx="692150" cy="101600"/>
          </a:xfrm>
          <a:prstGeom prst="roundRect">
            <a:avLst>
              <a:gd name="adj" fmla="val 37500"/>
            </a:avLst>
          </a:prstGeom>
          <a:solidFill>
            <a:srgbClr val="8FA3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863850" y="4589959"/>
            <a:ext cx="690959" cy="173355"/>
          </a:xfrm>
          <a:prstGeom prst="rect">
            <a:avLst/>
          </a:prstGeom>
          <a:noFill/>
        </p:spPr>
        <p:txBody>
          <a:bodyPr wrap="none" lIns="0" rIns="0" tIns="0" bIns="0" anchor="t">
            <a:noAutofit/>
          </a:bodyPr>
          <a:lstStyle/>
          <a:p>
            <a:pPr algn="l"/>
            <a:r>
              <a:rPr sz="1050" b="0" i="0">
                <a:solidFill>
                  <a:srgbClr val="0A2540"/>
                </a:solidFill>
                <a:latin typeface="JetBrains Mono"/>
              </a:rPr>
              <a:t>r = 0,42</a:t>
            </a:r>
          </a:p>
        </p:txBody>
      </p:sp>
      <p:sp>
        <p:nvSpPr>
          <p:cNvPr id="24" name="Rectangle 23"/>
          <p:cNvSpPr/>
          <p:nvPr/>
        </p:nvSpPr>
        <p:spPr>
          <a:xfrm>
            <a:off x="812800" y="4866184"/>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800" y="4974134"/>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Een lat rond 12 uur</a:t>
            </a:r>
          </a:p>
        </p:txBody>
      </p:sp>
      <p:sp>
        <p:nvSpPr>
          <p:cNvPr id="26" name="TextBox 25"/>
          <p:cNvSpPr txBox="1"/>
          <p:nvPr/>
        </p:nvSpPr>
        <p:spPr>
          <a:xfrm>
            <a:off x="812800" y="5234484"/>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Jarl: 12,2 u per dag; onze lat bij 15,5 u wakker: 12,4 u</a:t>
            </a:r>
          </a:p>
        </p:txBody>
      </p:sp>
      <p:sp>
        <p:nvSpPr>
          <p:cNvPr id="27" name="Rounded Rectangle 26"/>
          <p:cNvSpPr/>
          <p:nvPr/>
        </p:nvSpPr>
        <p:spPr>
          <a:xfrm>
            <a:off x="6324600" y="1817291"/>
            <a:ext cx="1991420" cy="285750"/>
          </a:xfrm>
          <a:prstGeom prst="roundRect">
            <a:avLst>
              <a:gd name="adj" fmla="val 50000"/>
            </a:avLst>
          </a:prstGeom>
          <a:solidFill>
            <a:srgbClr val="B85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51600" y="1868091"/>
            <a:ext cx="1788220" cy="184150"/>
          </a:xfrm>
          <a:prstGeom prst="rect">
            <a:avLst/>
          </a:prstGeom>
          <a:noFill/>
        </p:spPr>
        <p:txBody>
          <a:bodyPr wrap="none" lIns="0" rIns="0" tIns="0" bIns="0" anchor="t">
            <a:noAutofit/>
          </a:bodyPr>
          <a:lstStyle/>
          <a:p>
            <a:pPr algn="l"/>
            <a:r>
              <a:rPr sz="1100" b="0" i="0" spc="100">
                <a:solidFill>
                  <a:srgbClr val="FFFFFF"/>
                </a:solidFill>
                <a:latin typeface="JetBrains Mono"/>
              </a:rPr>
              <a:t>NIET VOOR PARADISE</a:t>
            </a:r>
          </a:p>
        </p:txBody>
      </p:sp>
      <p:sp>
        <p:nvSpPr>
          <p:cNvPr id="29" name="Rectangle 28"/>
          <p:cNvSpPr/>
          <p:nvPr/>
        </p:nvSpPr>
        <p:spPr>
          <a:xfrm>
            <a:off x="6324600" y="2179241"/>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24600" y="2287191"/>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 van de stappen</a:t>
            </a:r>
          </a:p>
        </p:txBody>
      </p:sp>
      <p:sp>
        <p:nvSpPr>
          <p:cNvPr id="31" name="TextBox 30"/>
          <p:cNvSpPr txBox="1"/>
          <p:nvPr/>
        </p:nvSpPr>
        <p:spPr>
          <a:xfrm>
            <a:off x="6324600" y="2547541"/>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McRoberts levert alleen dagtotalen, geen data per tijdstip</a:t>
            </a:r>
          </a:p>
        </p:txBody>
      </p:sp>
      <p:sp>
        <p:nvSpPr>
          <p:cNvPr id="32" name="Rectangle 31"/>
          <p:cNvSpPr/>
          <p:nvPr/>
        </p:nvSpPr>
        <p:spPr>
          <a:xfrm>
            <a:off x="6324600" y="2846288"/>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4600" y="2954238"/>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Een aangenomen dag van 16 uur</a:t>
            </a:r>
          </a:p>
        </p:txBody>
      </p:sp>
      <p:sp>
        <p:nvSpPr>
          <p:cNvPr id="34" name="TextBox 33"/>
          <p:cNvSpPr txBox="1"/>
          <p:nvPr/>
        </p:nvSpPr>
        <p:spPr>
          <a:xfrm>
            <a:off x="6324600" y="3214588"/>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wij meten de eigen waaktijd</a:t>
            </a:r>
          </a:p>
        </p:txBody>
      </p:sp>
      <p:sp>
        <p:nvSpPr>
          <p:cNvPr id="35" name="Rectangle 34"/>
          <p:cNvSpPr/>
          <p:nvPr/>
        </p:nvSpPr>
        <p:spPr>
          <a:xfrm>
            <a:off x="6324600" y="3513336"/>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24600" y="3621286"/>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MoveMonitor op 6 en 12 maanden</a:t>
            </a:r>
          </a:p>
        </p:txBody>
      </p:sp>
      <p:sp>
        <p:nvSpPr>
          <p:cNvPr id="37" name="TextBox 36"/>
          <p:cNvSpPr txBox="1"/>
          <p:nvPr/>
        </p:nvSpPr>
        <p:spPr>
          <a:xfrm>
            <a:off x="6324600" y="3881636"/>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zoals in het DIASSIST-protocol; bij ons alleen bij de start</a:t>
            </a:r>
          </a:p>
        </p:txBody>
      </p:sp>
      <p:sp>
        <p:nvSpPr>
          <p:cNvPr id="38" name="Rectangle 37"/>
          <p:cNvSpPr/>
          <p:nvPr/>
        </p:nvSpPr>
        <p:spPr>
          <a:xfrm>
            <a:off x="6324600" y="4180384"/>
            <a:ext cx="50546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24600" y="4288334"/>
            <a:ext cx="510540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Zelfrapportage</a:t>
            </a:r>
          </a:p>
        </p:txBody>
      </p:sp>
      <p:sp>
        <p:nvSpPr>
          <p:cNvPr id="40" name="TextBox 39"/>
          <p:cNvSpPr txBox="1"/>
          <p:nvPr/>
        </p:nvSpPr>
        <p:spPr>
          <a:xfrm>
            <a:off x="6324600" y="4548684"/>
            <a:ext cx="5105400" cy="197168"/>
          </a:xfrm>
          <a:prstGeom prst="rect">
            <a:avLst/>
          </a:prstGeom>
          <a:noFill/>
        </p:spPr>
        <p:txBody>
          <a:bodyPr wrap="none" lIns="0" rIns="0" tIns="0" bIns="0" anchor="t">
            <a:noAutofit/>
          </a:bodyPr>
          <a:lstStyle/>
          <a:p>
            <a:pPr algn="l">
              <a:lnSpc>
                <a:spcPts val="1552"/>
              </a:lnSpc>
            </a:pPr>
            <a:r>
              <a:rPr sz="1150" b="0" i="0">
                <a:solidFill>
                  <a:srgbClr val="5A6E80"/>
                </a:solidFill>
                <a:latin typeface="DM Sans"/>
              </a:rPr>
              <a:t>volgt de referentie maar matig (r = 0,42)</a:t>
            </a:r>
          </a:p>
        </p:txBody>
      </p:sp>
      <p:pic>
        <p:nvPicPr>
          <p:cNvPr id="41" name="Picture 40"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42" name="TextBox 41"/>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43" name="TextBox 42"/>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Bron · Bus 2013 · Jarl 2023 · DIASSIST-protocol 2023</a:t>
            </a:r>
          </a:p>
        </p:txBody>
      </p:sp>
    </p:spTree>
  </p:cSld>
  <p:clrMapOvr>
    <a:masterClrMapping/>
  </p:clrMapOvr>
  <p:transition xmlns:p14="http://schemas.microsoft.com/office/powerpoint/2010/main" spd="med" p14:dur="700">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3 · WP1 · DE DRAAGNORM</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Eén week MoveMonitor, een norm op maat</a:t>
            </a:r>
          </a:p>
        </p:txBody>
      </p:sp>
      <p:sp>
        <p:nvSpPr>
          <p:cNvPr id="4" name="TextBox 3"/>
          <p:cNvSpPr txBox="1"/>
          <p:nvPr/>
        </p:nvSpPr>
        <p:spPr>
          <a:xfrm>
            <a:off x="812800" y="1829991"/>
            <a:ext cx="10617200" cy="184150"/>
          </a:xfrm>
          <a:prstGeom prst="rect">
            <a:avLst/>
          </a:prstGeom>
          <a:noFill/>
        </p:spPr>
        <p:txBody>
          <a:bodyPr wrap="none" lIns="0" rIns="0" tIns="0" bIns="0" anchor="t">
            <a:noAutofit/>
          </a:bodyPr>
          <a:lstStyle/>
          <a:p>
            <a:pPr algn="l"/>
            <a:r>
              <a:rPr sz="1100" b="0" i="0" spc="100">
                <a:solidFill>
                  <a:srgbClr val="52BDEC"/>
                </a:solidFill>
                <a:latin typeface="JetBrains Mono"/>
              </a:rPr>
              <a:t>01 · BIJ DE START: ÉÉN WEEK MOVEMONITOR</a:t>
            </a:r>
          </a:p>
        </p:txBody>
      </p:sp>
      <p:sp>
        <p:nvSpPr>
          <p:cNvPr id="5" name="Rectangle 4"/>
          <p:cNvSpPr/>
          <p:nvPr/>
        </p:nvSpPr>
        <p:spPr>
          <a:xfrm>
            <a:off x="812800" y="2090341"/>
            <a:ext cx="6826250" cy="533400"/>
          </a:xfrm>
          <a:prstGeom prst="rect">
            <a:avLst/>
          </a:prstGeom>
          <a:solidFill>
            <a:srgbClr val="1D8D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2500" y="2259211"/>
            <a:ext cx="1196777" cy="195580"/>
          </a:xfrm>
          <a:prstGeom prst="rect">
            <a:avLst/>
          </a:prstGeom>
          <a:noFill/>
        </p:spPr>
        <p:txBody>
          <a:bodyPr wrap="none" lIns="0" rIns="0" tIns="0" bIns="0" anchor="t">
            <a:noAutofit/>
          </a:bodyPr>
          <a:lstStyle/>
          <a:p>
            <a:pPr algn="l">
              <a:lnSpc>
                <a:spcPts val="1540"/>
              </a:lnSpc>
            </a:pPr>
            <a:r>
              <a:rPr sz="1400" b="1" i="0">
                <a:solidFill>
                  <a:srgbClr val="FFFFFF"/>
                </a:solidFill>
                <a:latin typeface="DM Sans"/>
              </a:rPr>
              <a:t>wakker 15,5 u</a:t>
            </a:r>
          </a:p>
        </p:txBody>
      </p:sp>
      <p:sp>
        <p:nvSpPr>
          <p:cNvPr id="7" name="Rectangle 6"/>
          <p:cNvSpPr/>
          <p:nvPr/>
        </p:nvSpPr>
        <p:spPr>
          <a:xfrm>
            <a:off x="7639050" y="2090341"/>
            <a:ext cx="3740150" cy="5334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8750" y="2259211"/>
            <a:ext cx="977404" cy="195580"/>
          </a:xfrm>
          <a:prstGeom prst="rect">
            <a:avLst/>
          </a:prstGeom>
          <a:noFill/>
        </p:spPr>
        <p:txBody>
          <a:bodyPr wrap="none" lIns="0" rIns="0" tIns="0" bIns="0" anchor="t">
            <a:noAutofit/>
          </a:bodyPr>
          <a:lstStyle/>
          <a:p>
            <a:pPr algn="l">
              <a:lnSpc>
                <a:spcPts val="1540"/>
              </a:lnSpc>
            </a:pPr>
            <a:r>
              <a:rPr sz="1400" b="1" i="0">
                <a:solidFill>
                  <a:srgbClr val="C5D8E8"/>
                </a:solidFill>
                <a:latin typeface="DM Sans"/>
              </a:rPr>
              <a:t>slaap 8,5 u</a:t>
            </a:r>
          </a:p>
        </p:txBody>
      </p:sp>
      <p:sp>
        <p:nvSpPr>
          <p:cNvPr id="9" name="TextBox 8"/>
          <p:cNvSpPr txBox="1"/>
          <p:nvPr/>
        </p:nvSpPr>
        <p:spPr>
          <a:xfrm>
            <a:off x="812800" y="2699941"/>
            <a:ext cx="575171" cy="184150"/>
          </a:xfrm>
          <a:prstGeom prst="rect">
            <a:avLst/>
          </a:prstGeom>
          <a:noFill/>
        </p:spPr>
        <p:txBody>
          <a:bodyPr wrap="none" lIns="0" rIns="0" tIns="0" bIns="0" anchor="t">
            <a:noAutofit/>
          </a:bodyPr>
          <a:lstStyle/>
          <a:p>
            <a:pPr algn="l"/>
            <a:r>
              <a:rPr sz="1100" b="0" i="0">
                <a:solidFill>
                  <a:srgbClr val="8FB0CA"/>
                </a:solidFill>
                <a:latin typeface="DM Sans"/>
              </a:rPr>
              <a:t>opstaan</a:t>
            </a:r>
          </a:p>
        </p:txBody>
      </p:sp>
      <p:sp>
        <p:nvSpPr>
          <p:cNvPr id="10" name="TextBox 9"/>
          <p:cNvSpPr txBox="1"/>
          <p:nvPr/>
        </p:nvSpPr>
        <p:spPr>
          <a:xfrm>
            <a:off x="6904633" y="2699941"/>
            <a:ext cx="785217" cy="184150"/>
          </a:xfrm>
          <a:prstGeom prst="rect">
            <a:avLst/>
          </a:prstGeom>
          <a:noFill/>
        </p:spPr>
        <p:txBody>
          <a:bodyPr wrap="none" lIns="0" rIns="0" tIns="0" bIns="0" anchor="t">
            <a:noAutofit/>
          </a:bodyPr>
          <a:lstStyle/>
          <a:p>
            <a:pPr algn="l"/>
            <a:r>
              <a:rPr sz="1100" b="0" i="0">
                <a:solidFill>
                  <a:srgbClr val="8FB0CA"/>
                </a:solidFill>
                <a:latin typeface="DM Sans"/>
              </a:rPr>
              <a:t>slapengaan</a:t>
            </a:r>
          </a:p>
        </p:txBody>
      </p:sp>
      <p:sp>
        <p:nvSpPr>
          <p:cNvPr id="11" name="TextBox 10"/>
          <p:cNvSpPr txBox="1"/>
          <p:nvPr/>
        </p:nvSpPr>
        <p:spPr>
          <a:xfrm>
            <a:off x="812800" y="3099991"/>
            <a:ext cx="10617200" cy="184150"/>
          </a:xfrm>
          <a:prstGeom prst="rect">
            <a:avLst/>
          </a:prstGeom>
          <a:noFill/>
        </p:spPr>
        <p:txBody>
          <a:bodyPr wrap="none" lIns="0" rIns="0" tIns="0" bIns="0" anchor="t">
            <a:noAutofit/>
          </a:bodyPr>
          <a:lstStyle/>
          <a:p>
            <a:pPr algn="l"/>
            <a:r>
              <a:rPr sz="1100" b="0" i="0" spc="100">
                <a:solidFill>
                  <a:srgbClr val="52BDEC"/>
                </a:solidFill>
                <a:latin typeface="JetBrains Mono"/>
              </a:rPr>
              <a:t>02 · DE NORM: 80% VAN DIE WAAKTIJD, ZEVEN DAGEN PER WEEK</a:t>
            </a:r>
          </a:p>
        </p:txBody>
      </p:sp>
      <p:sp>
        <p:nvSpPr>
          <p:cNvPr id="12" name="Rectangle 11"/>
          <p:cNvSpPr/>
          <p:nvPr/>
        </p:nvSpPr>
        <p:spPr>
          <a:xfrm>
            <a:off x="812800" y="3360341"/>
            <a:ext cx="5461000" cy="5334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2500" y="3529211"/>
            <a:ext cx="1801614" cy="195580"/>
          </a:xfrm>
          <a:prstGeom prst="rect">
            <a:avLst/>
          </a:prstGeom>
          <a:noFill/>
        </p:spPr>
        <p:txBody>
          <a:bodyPr wrap="none" lIns="0" rIns="0" tIns="0" bIns="0" anchor="t">
            <a:noAutofit/>
          </a:bodyPr>
          <a:lstStyle/>
          <a:p>
            <a:pPr algn="l">
              <a:lnSpc>
                <a:spcPts val="1540"/>
              </a:lnSpc>
            </a:pPr>
            <a:r>
              <a:rPr sz="1400" b="1" i="0">
                <a:solidFill>
                  <a:srgbClr val="FFFFFF"/>
                </a:solidFill>
                <a:latin typeface="DM Sans"/>
              </a:rPr>
              <a:t>schoeisel aan: 12,4 u</a:t>
            </a:r>
          </a:p>
        </p:txBody>
      </p:sp>
      <p:sp>
        <p:nvSpPr>
          <p:cNvPr id="14" name="Rectangle 13"/>
          <p:cNvSpPr/>
          <p:nvPr/>
        </p:nvSpPr>
        <p:spPr>
          <a:xfrm>
            <a:off x="6273800" y="3360341"/>
            <a:ext cx="1365250" cy="12700"/>
          </a:xfrm>
          <a:prstGeom prst="rect">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26350" y="3360341"/>
            <a:ext cx="12700" cy="533400"/>
          </a:xfrm>
          <a:prstGeom prst="rect">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3800" y="3881041"/>
            <a:ext cx="1365250" cy="12700"/>
          </a:xfrm>
          <a:prstGeom prst="rect">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800" y="4109641"/>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2800" y="4344591"/>
            <a:ext cx="1955800" cy="184150"/>
          </a:xfrm>
          <a:prstGeom prst="rect">
            <a:avLst/>
          </a:prstGeom>
          <a:noFill/>
        </p:spPr>
        <p:txBody>
          <a:bodyPr wrap="none" lIns="0" rIns="0" tIns="0" bIns="0" anchor="t">
            <a:noAutofit/>
          </a:bodyPr>
          <a:lstStyle/>
          <a:p>
            <a:pPr algn="l"/>
            <a:r>
              <a:rPr sz="1100" b="0" i="0" spc="100">
                <a:solidFill>
                  <a:srgbClr val="52BDEC"/>
                </a:solidFill>
                <a:latin typeface="JetBrains Mono"/>
              </a:rPr>
              <a:t>03 · DE BOODSCHAP</a:t>
            </a:r>
          </a:p>
        </p:txBody>
      </p:sp>
      <p:sp>
        <p:nvSpPr>
          <p:cNvPr id="19" name="TextBox 18"/>
          <p:cNvSpPr txBox="1"/>
          <p:nvPr/>
        </p:nvSpPr>
        <p:spPr>
          <a:xfrm>
            <a:off x="2895600" y="4255691"/>
            <a:ext cx="8534400" cy="293688"/>
          </a:xfrm>
          <a:prstGeom prst="rect">
            <a:avLst/>
          </a:prstGeom>
          <a:noFill/>
        </p:spPr>
        <p:txBody>
          <a:bodyPr wrap="none" lIns="0" rIns="0" tIns="0" bIns="0" anchor="t">
            <a:noAutofit/>
          </a:bodyPr>
          <a:lstStyle/>
          <a:p>
            <a:pPr algn="l">
              <a:lnSpc>
                <a:spcPts val="2312"/>
              </a:lnSpc>
            </a:pPr>
            <a:r>
              <a:rPr sz="1850" b="0" i="1">
                <a:solidFill>
                  <a:srgbClr val="F2F8FC"/>
                </a:solidFill>
                <a:latin typeface="DM Serif Display"/>
              </a:rPr>
              <a:t>“U draagt uw schoenen altijd, van het moment dat u opstaat tot u gaat slapen.”</a:t>
            </a:r>
          </a:p>
        </p:txBody>
      </p:sp>
      <p:sp>
        <p:nvSpPr>
          <p:cNvPr id="20" name="TextBox 19"/>
          <p:cNvSpPr txBox="1"/>
          <p:nvPr/>
        </p:nvSpPr>
        <p:spPr>
          <a:xfrm>
            <a:off x="812800" y="4803378"/>
            <a:ext cx="1955800" cy="184150"/>
          </a:xfrm>
          <a:prstGeom prst="rect">
            <a:avLst/>
          </a:prstGeom>
          <a:noFill/>
        </p:spPr>
        <p:txBody>
          <a:bodyPr wrap="none" lIns="0" rIns="0" tIns="0" bIns="0" anchor="t">
            <a:noAutofit/>
          </a:bodyPr>
          <a:lstStyle/>
          <a:p>
            <a:pPr algn="l"/>
            <a:r>
              <a:rPr sz="1100" b="0" i="0" spc="100">
                <a:solidFill>
                  <a:srgbClr val="FF9A3D"/>
                </a:solidFill>
                <a:latin typeface="JetBrains Mono"/>
              </a:rPr>
              <a:t>WAT VERANDERT</a:t>
            </a:r>
          </a:p>
        </p:txBody>
      </p:sp>
      <p:sp>
        <p:nvSpPr>
          <p:cNvPr id="21" name="TextBox 20"/>
          <p:cNvSpPr txBox="1"/>
          <p:nvPr/>
        </p:nvSpPr>
        <p:spPr>
          <a:xfrm>
            <a:off x="2895600" y="4765278"/>
            <a:ext cx="85344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De meetweek op maand 6 vervalt: minder werk voor uw team.</a:t>
            </a:r>
          </a:p>
        </p:txBody>
      </p:sp>
      <p:pic>
        <p:nvPicPr>
          <p:cNvPr id="22" name="Picture 21"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23" name="TextBox 22"/>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24" name="TextBox 23"/>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6F8FAA"/>
                </a:solidFill>
                <a:latin typeface="JetBrains Mono"/>
              </a:rPr>
              <a:t>Voorbeeldpatiënt · Bron · beslissing 30 september 2026 · eCRF 25b, 28</a:t>
            </a:r>
          </a:p>
        </p:txBody>
      </p:sp>
    </p:spTree>
  </p:cSld>
  <p:clrMapOvr>
    <a:masterClrMapping/>
  </p:clrMapOvr>
  <p:transition xmlns:p14="http://schemas.microsoft.com/office/powerpoint/2010/main" spd="med" p14:dur="700">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3 · WP1 · WANNEER</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Screening plus negen visites</a:t>
            </a:r>
          </a:p>
        </p:txBody>
      </p:sp>
      <p:sp>
        <p:nvSpPr>
          <p:cNvPr id="4" name="Rectangle 3"/>
          <p:cNvSpPr/>
          <p:nvPr/>
        </p:nvSpPr>
        <p:spPr>
          <a:xfrm>
            <a:off x="812800" y="231259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1817291"/>
            <a:ext cx="897830" cy="198120"/>
          </a:xfrm>
          <a:prstGeom prst="rect">
            <a:avLst/>
          </a:prstGeom>
          <a:noFill/>
        </p:spPr>
        <p:txBody>
          <a:bodyPr wrap="none" lIns="0" rIns="0" tIns="0" bIns="0" anchor="t">
            <a:noAutofit/>
          </a:bodyPr>
          <a:lstStyle/>
          <a:p>
            <a:pPr algn="l"/>
            <a:r>
              <a:rPr sz="1200" b="1" i="0">
                <a:solidFill>
                  <a:srgbClr val="0A2540"/>
                </a:solidFill>
                <a:latin typeface="JetBrains Mono"/>
              </a:rPr>
              <a:t>Scr</a:t>
            </a:r>
          </a:p>
        </p:txBody>
      </p:sp>
      <p:sp>
        <p:nvSpPr>
          <p:cNvPr id="6" name="TextBox 5"/>
          <p:cNvSpPr txBox="1"/>
          <p:nvPr/>
        </p:nvSpPr>
        <p:spPr>
          <a:xfrm>
            <a:off x="812800" y="2039541"/>
            <a:ext cx="897830" cy="198120"/>
          </a:xfrm>
          <a:prstGeom prst="rect">
            <a:avLst/>
          </a:prstGeom>
          <a:noFill/>
        </p:spPr>
        <p:txBody>
          <a:bodyPr wrap="none" lIns="0" rIns="0" tIns="0" bIns="0" anchor="t">
            <a:noAutofit/>
          </a:bodyPr>
          <a:lstStyle/>
          <a:p>
            <a:pPr algn="l"/>
            <a:r>
              <a:rPr sz="1200" b="0" i="0">
                <a:solidFill>
                  <a:srgbClr val="5A6E80"/>
                </a:solidFill>
                <a:latin typeface="DM Sans"/>
              </a:rPr>
              <a:t>screening</a:t>
            </a:r>
          </a:p>
        </p:txBody>
      </p:sp>
      <p:sp>
        <p:nvSpPr>
          <p:cNvPr id="7" name="Rectangle 6"/>
          <p:cNvSpPr/>
          <p:nvPr/>
        </p:nvSpPr>
        <p:spPr>
          <a:xfrm>
            <a:off x="1723330" y="231259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23330" y="1817291"/>
            <a:ext cx="897930" cy="198120"/>
          </a:xfrm>
          <a:prstGeom prst="rect">
            <a:avLst/>
          </a:prstGeom>
          <a:noFill/>
        </p:spPr>
        <p:txBody>
          <a:bodyPr wrap="none" lIns="0" rIns="0" tIns="0" bIns="0" anchor="t">
            <a:noAutofit/>
          </a:bodyPr>
          <a:lstStyle/>
          <a:p>
            <a:pPr algn="l"/>
            <a:r>
              <a:rPr sz="1200" b="1" i="0">
                <a:solidFill>
                  <a:srgbClr val="0A2540"/>
                </a:solidFill>
                <a:latin typeface="JetBrains Mono"/>
              </a:rPr>
              <a:t>V0</a:t>
            </a:r>
          </a:p>
        </p:txBody>
      </p:sp>
      <p:sp>
        <p:nvSpPr>
          <p:cNvPr id="9" name="TextBox 8"/>
          <p:cNvSpPr txBox="1"/>
          <p:nvPr/>
        </p:nvSpPr>
        <p:spPr>
          <a:xfrm>
            <a:off x="1723330" y="2039541"/>
            <a:ext cx="897930" cy="198120"/>
          </a:xfrm>
          <a:prstGeom prst="rect">
            <a:avLst/>
          </a:prstGeom>
          <a:noFill/>
        </p:spPr>
        <p:txBody>
          <a:bodyPr wrap="none" lIns="0" rIns="0" tIns="0" bIns="0" anchor="t">
            <a:noAutofit/>
          </a:bodyPr>
          <a:lstStyle/>
          <a:p>
            <a:pPr algn="l"/>
            <a:r>
              <a:rPr sz="1200" b="0" i="0">
                <a:solidFill>
                  <a:srgbClr val="5A6E80"/>
                </a:solidFill>
                <a:latin typeface="DM Sans"/>
              </a:rPr>
              <a:t>geschikt</a:t>
            </a:r>
          </a:p>
        </p:txBody>
      </p:sp>
      <p:sp>
        <p:nvSpPr>
          <p:cNvPr id="10" name="Rectangle 9"/>
          <p:cNvSpPr/>
          <p:nvPr/>
        </p:nvSpPr>
        <p:spPr>
          <a:xfrm>
            <a:off x="2633960" y="231259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33960" y="1817291"/>
            <a:ext cx="897830" cy="198120"/>
          </a:xfrm>
          <a:prstGeom prst="rect">
            <a:avLst/>
          </a:prstGeom>
          <a:noFill/>
        </p:spPr>
        <p:txBody>
          <a:bodyPr wrap="none" lIns="0" rIns="0" tIns="0" bIns="0" anchor="t">
            <a:noAutofit/>
          </a:bodyPr>
          <a:lstStyle/>
          <a:p>
            <a:pPr algn="l"/>
            <a:r>
              <a:rPr sz="1200" b="1" i="0">
                <a:solidFill>
                  <a:srgbClr val="0A2540"/>
                </a:solidFill>
                <a:latin typeface="JetBrains Mono"/>
              </a:rPr>
              <a:t>V1</a:t>
            </a:r>
          </a:p>
        </p:txBody>
      </p:sp>
      <p:sp>
        <p:nvSpPr>
          <p:cNvPr id="12" name="TextBox 11"/>
          <p:cNvSpPr txBox="1"/>
          <p:nvPr/>
        </p:nvSpPr>
        <p:spPr>
          <a:xfrm>
            <a:off x="2633960" y="2039541"/>
            <a:ext cx="897830" cy="198120"/>
          </a:xfrm>
          <a:prstGeom prst="rect">
            <a:avLst/>
          </a:prstGeom>
          <a:noFill/>
        </p:spPr>
        <p:txBody>
          <a:bodyPr wrap="none" lIns="0" rIns="0" tIns="0" bIns="0" anchor="t">
            <a:noAutofit/>
          </a:bodyPr>
          <a:lstStyle/>
          <a:p>
            <a:pPr algn="l"/>
            <a:r>
              <a:rPr sz="1200" b="0" i="0">
                <a:solidFill>
                  <a:srgbClr val="5A6E80"/>
                </a:solidFill>
                <a:latin typeface="DM Sans"/>
              </a:rPr>
              <a:t>baseline</a:t>
            </a:r>
          </a:p>
        </p:txBody>
      </p:sp>
      <p:sp>
        <p:nvSpPr>
          <p:cNvPr id="13" name="Rectangle 12"/>
          <p:cNvSpPr/>
          <p:nvPr/>
        </p:nvSpPr>
        <p:spPr>
          <a:xfrm>
            <a:off x="3544491" y="231259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44491" y="1817291"/>
            <a:ext cx="897930" cy="198120"/>
          </a:xfrm>
          <a:prstGeom prst="rect">
            <a:avLst/>
          </a:prstGeom>
          <a:noFill/>
        </p:spPr>
        <p:txBody>
          <a:bodyPr wrap="none" lIns="0" rIns="0" tIns="0" bIns="0" anchor="t">
            <a:noAutofit/>
          </a:bodyPr>
          <a:lstStyle/>
          <a:p>
            <a:pPr algn="l"/>
            <a:r>
              <a:rPr sz="1200" b="1" i="0">
                <a:solidFill>
                  <a:srgbClr val="0A2540"/>
                </a:solidFill>
                <a:latin typeface="JetBrains Mono"/>
              </a:rPr>
              <a:t>V2</a:t>
            </a:r>
          </a:p>
        </p:txBody>
      </p:sp>
      <p:sp>
        <p:nvSpPr>
          <p:cNvPr id="15" name="TextBox 14"/>
          <p:cNvSpPr txBox="1"/>
          <p:nvPr/>
        </p:nvSpPr>
        <p:spPr>
          <a:xfrm>
            <a:off x="3544491" y="2039541"/>
            <a:ext cx="897930" cy="198120"/>
          </a:xfrm>
          <a:prstGeom prst="rect">
            <a:avLst/>
          </a:prstGeom>
          <a:noFill/>
        </p:spPr>
        <p:txBody>
          <a:bodyPr wrap="none" lIns="0" rIns="0" tIns="0" bIns="0" anchor="t">
            <a:noAutofit/>
          </a:bodyPr>
          <a:lstStyle/>
          <a:p>
            <a:pPr algn="l"/>
            <a:r>
              <a:rPr sz="1200" b="0" i="0">
                <a:solidFill>
                  <a:srgbClr val="5A6E80"/>
                </a:solidFill>
                <a:latin typeface="DM Sans"/>
              </a:rPr>
              <a:t>14 d–1 m</a:t>
            </a:r>
          </a:p>
        </p:txBody>
      </p:sp>
      <p:sp>
        <p:nvSpPr>
          <p:cNvPr id="16" name="Rectangle 15"/>
          <p:cNvSpPr/>
          <p:nvPr/>
        </p:nvSpPr>
        <p:spPr>
          <a:xfrm>
            <a:off x="4455120" y="231259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55120" y="1817291"/>
            <a:ext cx="897830" cy="198120"/>
          </a:xfrm>
          <a:prstGeom prst="rect">
            <a:avLst/>
          </a:prstGeom>
          <a:noFill/>
        </p:spPr>
        <p:txBody>
          <a:bodyPr wrap="none" lIns="0" rIns="0" tIns="0" bIns="0" anchor="t">
            <a:noAutofit/>
          </a:bodyPr>
          <a:lstStyle/>
          <a:p>
            <a:pPr algn="l"/>
            <a:r>
              <a:rPr sz="1200" b="1" i="0">
                <a:solidFill>
                  <a:srgbClr val="0A2540"/>
                </a:solidFill>
                <a:latin typeface="JetBrains Mono"/>
              </a:rPr>
              <a:t>V3</a:t>
            </a:r>
          </a:p>
        </p:txBody>
      </p:sp>
      <p:sp>
        <p:nvSpPr>
          <p:cNvPr id="18" name="TextBox 17"/>
          <p:cNvSpPr txBox="1"/>
          <p:nvPr/>
        </p:nvSpPr>
        <p:spPr>
          <a:xfrm>
            <a:off x="4455120" y="2039541"/>
            <a:ext cx="897830" cy="198120"/>
          </a:xfrm>
          <a:prstGeom prst="rect">
            <a:avLst/>
          </a:prstGeom>
          <a:noFill/>
        </p:spPr>
        <p:txBody>
          <a:bodyPr wrap="none" lIns="0" rIns="0" tIns="0" bIns="0" anchor="t">
            <a:noAutofit/>
          </a:bodyPr>
          <a:lstStyle/>
          <a:p>
            <a:pPr algn="l"/>
            <a:r>
              <a:rPr sz="1200" b="0" i="0">
                <a:solidFill>
                  <a:srgbClr val="5A6E80"/>
                </a:solidFill>
                <a:latin typeface="DM Sans"/>
              </a:rPr>
              <a:t>m 3</a:t>
            </a:r>
          </a:p>
        </p:txBody>
      </p:sp>
      <p:sp>
        <p:nvSpPr>
          <p:cNvPr id="19" name="Rectangle 18"/>
          <p:cNvSpPr/>
          <p:nvPr/>
        </p:nvSpPr>
        <p:spPr>
          <a:xfrm>
            <a:off x="5365651" y="231259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65651" y="1817291"/>
            <a:ext cx="897930" cy="198120"/>
          </a:xfrm>
          <a:prstGeom prst="rect">
            <a:avLst/>
          </a:prstGeom>
          <a:noFill/>
        </p:spPr>
        <p:txBody>
          <a:bodyPr wrap="none" lIns="0" rIns="0" tIns="0" bIns="0" anchor="t">
            <a:noAutofit/>
          </a:bodyPr>
          <a:lstStyle/>
          <a:p>
            <a:pPr algn="l"/>
            <a:r>
              <a:rPr sz="1200" b="1" i="0">
                <a:solidFill>
                  <a:srgbClr val="0A2540"/>
                </a:solidFill>
                <a:latin typeface="JetBrains Mono"/>
              </a:rPr>
              <a:t>V4</a:t>
            </a:r>
          </a:p>
        </p:txBody>
      </p:sp>
      <p:sp>
        <p:nvSpPr>
          <p:cNvPr id="21" name="TextBox 20"/>
          <p:cNvSpPr txBox="1"/>
          <p:nvPr/>
        </p:nvSpPr>
        <p:spPr>
          <a:xfrm>
            <a:off x="5365651" y="2039541"/>
            <a:ext cx="897930" cy="198120"/>
          </a:xfrm>
          <a:prstGeom prst="rect">
            <a:avLst/>
          </a:prstGeom>
          <a:noFill/>
        </p:spPr>
        <p:txBody>
          <a:bodyPr wrap="none" lIns="0" rIns="0" tIns="0" bIns="0" anchor="t">
            <a:noAutofit/>
          </a:bodyPr>
          <a:lstStyle/>
          <a:p>
            <a:pPr algn="l"/>
            <a:r>
              <a:rPr sz="1200" b="0" i="0">
                <a:solidFill>
                  <a:srgbClr val="5A6E80"/>
                </a:solidFill>
                <a:latin typeface="DM Sans"/>
              </a:rPr>
              <a:t>m 6</a:t>
            </a:r>
          </a:p>
        </p:txBody>
      </p:sp>
      <p:sp>
        <p:nvSpPr>
          <p:cNvPr id="22" name="Rectangle 21"/>
          <p:cNvSpPr/>
          <p:nvPr/>
        </p:nvSpPr>
        <p:spPr>
          <a:xfrm>
            <a:off x="6276280" y="231259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6280" y="1817291"/>
            <a:ext cx="897930" cy="198120"/>
          </a:xfrm>
          <a:prstGeom prst="rect">
            <a:avLst/>
          </a:prstGeom>
          <a:noFill/>
        </p:spPr>
        <p:txBody>
          <a:bodyPr wrap="none" lIns="0" rIns="0" tIns="0" bIns="0" anchor="t">
            <a:noAutofit/>
          </a:bodyPr>
          <a:lstStyle/>
          <a:p>
            <a:pPr algn="l"/>
            <a:r>
              <a:rPr sz="1200" b="1" i="0">
                <a:solidFill>
                  <a:srgbClr val="0A2540"/>
                </a:solidFill>
                <a:latin typeface="JetBrains Mono"/>
              </a:rPr>
              <a:t>V5</a:t>
            </a:r>
          </a:p>
        </p:txBody>
      </p:sp>
      <p:sp>
        <p:nvSpPr>
          <p:cNvPr id="24" name="TextBox 23"/>
          <p:cNvSpPr txBox="1"/>
          <p:nvPr/>
        </p:nvSpPr>
        <p:spPr>
          <a:xfrm>
            <a:off x="6276280" y="2039541"/>
            <a:ext cx="897930" cy="198120"/>
          </a:xfrm>
          <a:prstGeom prst="rect">
            <a:avLst/>
          </a:prstGeom>
          <a:noFill/>
        </p:spPr>
        <p:txBody>
          <a:bodyPr wrap="none" lIns="0" rIns="0" tIns="0" bIns="0" anchor="t">
            <a:noAutofit/>
          </a:bodyPr>
          <a:lstStyle/>
          <a:p>
            <a:pPr algn="l"/>
            <a:r>
              <a:rPr sz="1200" b="0" i="0">
                <a:solidFill>
                  <a:srgbClr val="5A6E80"/>
                </a:solidFill>
                <a:latin typeface="DM Sans"/>
              </a:rPr>
              <a:t>m 9</a:t>
            </a:r>
          </a:p>
        </p:txBody>
      </p:sp>
      <p:sp>
        <p:nvSpPr>
          <p:cNvPr id="25" name="Rectangle 24"/>
          <p:cNvSpPr/>
          <p:nvPr/>
        </p:nvSpPr>
        <p:spPr>
          <a:xfrm>
            <a:off x="7186910" y="231259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86910" y="1817291"/>
            <a:ext cx="897830" cy="198120"/>
          </a:xfrm>
          <a:prstGeom prst="rect">
            <a:avLst/>
          </a:prstGeom>
          <a:noFill/>
        </p:spPr>
        <p:txBody>
          <a:bodyPr wrap="none" lIns="0" rIns="0" tIns="0" bIns="0" anchor="t">
            <a:noAutofit/>
          </a:bodyPr>
          <a:lstStyle/>
          <a:p>
            <a:pPr algn="l"/>
            <a:r>
              <a:rPr sz="1200" b="1" i="0">
                <a:solidFill>
                  <a:srgbClr val="0A2540"/>
                </a:solidFill>
                <a:latin typeface="JetBrains Mono"/>
              </a:rPr>
              <a:t>V6</a:t>
            </a:r>
          </a:p>
        </p:txBody>
      </p:sp>
      <p:sp>
        <p:nvSpPr>
          <p:cNvPr id="27" name="TextBox 26"/>
          <p:cNvSpPr txBox="1"/>
          <p:nvPr/>
        </p:nvSpPr>
        <p:spPr>
          <a:xfrm>
            <a:off x="7186910" y="2039541"/>
            <a:ext cx="897830" cy="198120"/>
          </a:xfrm>
          <a:prstGeom prst="rect">
            <a:avLst/>
          </a:prstGeom>
          <a:noFill/>
        </p:spPr>
        <p:txBody>
          <a:bodyPr wrap="none" lIns="0" rIns="0" tIns="0" bIns="0" anchor="t">
            <a:noAutofit/>
          </a:bodyPr>
          <a:lstStyle/>
          <a:p>
            <a:pPr algn="l"/>
            <a:r>
              <a:rPr sz="1200" b="0" i="0">
                <a:solidFill>
                  <a:srgbClr val="5A6E80"/>
                </a:solidFill>
                <a:latin typeface="DM Sans"/>
              </a:rPr>
              <a:t>m 12</a:t>
            </a:r>
          </a:p>
        </p:txBody>
      </p:sp>
      <p:sp>
        <p:nvSpPr>
          <p:cNvPr id="28" name="Rectangle 27"/>
          <p:cNvSpPr/>
          <p:nvPr/>
        </p:nvSpPr>
        <p:spPr>
          <a:xfrm>
            <a:off x="8097441" y="2312591"/>
            <a:ext cx="8471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7441" y="1817291"/>
            <a:ext cx="897930" cy="198120"/>
          </a:xfrm>
          <a:prstGeom prst="rect">
            <a:avLst/>
          </a:prstGeom>
          <a:noFill/>
        </p:spPr>
        <p:txBody>
          <a:bodyPr wrap="none" lIns="0" rIns="0" tIns="0" bIns="0" anchor="t">
            <a:noAutofit/>
          </a:bodyPr>
          <a:lstStyle/>
          <a:p>
            <a:pPr algn="l"/>
            <a:r>
              <a:rPr sz="1200" b="1" i="0">
                <a:solidFill>
                  <a:srgbClr val="0A2540"/>
                </a:solidFill>
                <a:latin typeface="JetBrains Mono"/>
              </a:rPr>
              <a:t>V7</a:t>
            </a:r>
          </a:p>
        </p:txBody>
      </p:sp>
      <p:sp>
        <p:nvSpPr>
          <p:cNvPr id="30" name="TextBox 29"/>
          <p:cNvSpPr txBox="1"/>
          <p:nvPr/>
        </p:nvSpPr>
        <p:spPr>
          <a:xfrm>
            <a:off x="8097441" y="2039541"/>
            <a:ext cx="897930" cy="198120"/>
          </a:xfrm>
          <a:prstGeom prst="rect">
            <a:avLst/>
          </a:prstGeom>
          <a:noFill/>
        </p:spPr>
        <p:txBody>
          <a:bodyPr wrap="none" lIns="0" rIns="0" tIns="0" bIns="0" anchor="t">
            <a:noAutofit/>
          </a:bodyPr>
          <a:lstStyle/>
          <a:p>
            <a:pPr algn="l"/>
            <a:r>
              <a:rPr sz="1200" b="0" i="0">
                <a:solidFill>
                  <a:srgbClr val="5A6E80"/>
                </a:solidFill>
                <a:latin typeface="DM Sans"/>
              </a:rPr>
              <a:t>m 15</a:t>
            </a:r>
          </a:p>
        </p:txBody>
      </p:sp>
      <p:sp>
        <p:nvSpPr>
          <p:cNvPr id="31" name="Rectangle 30"/>
          <p:cNvSpPr/>
          <p:nvPr/>
        </p:nvSpPr>
        <p:spPr>
          <a:xfrm>
            <a:off x="9008070" y="2312591"/>
            <a:ext cx="84703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08070" y="1817291"/>
            <a:ext cx="897830" cy="198120"/>
          </a:xfrm>
          <a:prstGeom prst="rect">
            <a:avLst/>
          </a:prstGeom>
          <a:noFill/>
        </p:spPr>
        <p:txBody>
          <a:bodyPr wrap="none" lIns="0" rIns="0" tIns="0" bIns="0" anchor="t">
            <a:noAutofit/>
          </a:bodyPr>
          <a:lstStyle/>
          <a:p>
            <a:pPr algn="l"/>
            <a:r>
              <a:rPr sz="1200" b="1" i="0">
                <a:solidFill>
                  <a:srgbClr val="0A2540"/>
                </a:solidFill>
                <a:latin typeface="JetBrains Mono"/>
              </a:rPr>
              <a:t>V8</a:t>
            </a:r>
          </a:p>
        </p:txBody>
      </p:sp>
      <p:sp>
        <p:nvSpPr>
          <p:cNvPr id="33" name="TextBox 32"/>
          <p:cNvSpPr txBox="1"/>
          <p:nvPr/>
        </p:nvSpPr>
        <p:spPr>
          <a:xfrm>
            <a:off x="9008070" y="2039541"/>
            <a:ext cx="897830" cy="198120"/>
          </a:xfrm>
          <a:prstGeom prst="rect">
            <a:avLst/>
          </a:prstGeom>
          <a:noFill/>
        </p:spPr>
        <p:txBody>
          <a:bodyPr wrap="none" lIns="0" rIns="0" tIns="0" bIns="0" anchor="t">
            <a:noAutofit/>
          </a:bodyPr>
          <a:lstStyle/>
          <a:p>
            <a:pPr algn="l"/>
            <a:r>
              <a:rPr sz="1200" b="0" i="0">
                <a:solidFill>
                  <a:srgbClr val="5A6E80"/>
                </a:solidFill>
                <a:latin typeface="DM Sans"/>
              </a:rPr>
              <a:t>m 18</a:t>
            </a:r>
          </a:p>
        </p:txBody>
      </p:sp>
      <p:sp>
        <p:nvSpPr>
          <p:cNvPr id="34" name="Rectangle 33"/>
          <p:cNvSpPr/>
          <p:nvPr/>
        </p:nvSpPr>
        <p:spPr>
          <a:xfrm>
            <a:off x="812800" y="238879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12800" y="2521744"/>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12800" y="2572544"/>
            <a:ext cx="847030" cy="198120"/>
          </a:xfrm>
          <a:prstGeom prst="rect">
            <a:avLst/>
          </a:prstGeom>
          <a:noFill/>
        </p:spPr>
        <p:txBody>
          <a:bodyPr wrap="none" lIns="0" rIns="0" tIns="0" bIns="0" anchor="t">
            <a:noAutofit/>
          </a:bodyPr>
          <a:lstStyle/>
          <a:p>
            <a:pPr algn="ctr"/>
            <a:r>
              <a:rPr sz="1200" b="0" i="0">
                <a:solidFill>
                  <a:srgbClr val="F2F8FC"/>
                </a:solidFill>
                <a:latin typeface="DM Sans"/>
              </a:rPr>
              <a:t>arts</a:t>
            </a:r>
          </a:p>
        </p:txBody>
      </p:sp>
      <p:sp>
        <p:nvSpPr>
          <p:cNvPr id="37" name="Rectangle 36"/>
          <p:cNvSpPr/>
          <p:nvPr/>
        </p:nvSpPr>
        <p:spPr>
          <a:xfrm>
            <a:off x="1723330" y="238879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1723330" y="2521744"/>
            <a:ext cx="8471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723330" y="2572544"/>
            <a:ext cx="847130" cy="198120"/>
          </a:xfrm>
          <a:prstGeom prst="rect">
            <a:avLst/>
          </a:prstGeom>
          <a:noFill/>
        </p:spPr>
        <p:txBody>
          <a:bodyPr wrap="none" lIns="0" rIns="0" tIns="0" bIns="0" anchor="t">
            <a:noAutofit/>
          </a:bodyPr>
          <a:lstStyle/>
          <a:p>
            <a:pPr algn="ctr"/>
            <a:r>
              <a:rPr sz="1200" b="0" i="0">
                <a:solidFill>
                  <a:srgbClr val="F2F8FC"/>
                </a:solidFill>
                <a:latin typeface="DM Sans"/>
              </a:rPr>
              <a:t>PI</a:t>
            </a:r>
          </a:p>
        </p:txBody>
      </p:sp>
      <p:sp>
        <p:nvSpPr>
          <p:cNvPr id="40" name="Rectangle 39"/>
          <p:cNvSpPr/>
          <p:nvPr/>
        </p:nvSpPr>
        <p:spPr>
          <a:xfrm>
            <a:off x="2633960" y="238879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544491" y="238879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455120" y="238879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365651" y="238879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76280" y="238879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186910" y="238879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97441" y="2388791"/>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008070" y="2388791"/>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20201" y="2469753"/>
            <a:ext cx="1409700" cy="396081"/>
          </a:xfrm>
          <a:prstGeom prst="rect">
            <a:avLst/>
          </a:prstGeom>
          <a:noFill/>
        </p:spPr>
        <p:txBody>
          <a:bodyPr wrap="square" lIns="0" rIns="0" tIns="0" bIns="0" anchor="t">
            <a:noAutofit/>
          </a:bodyPr>
          <a:lstStyle/>
          <a:p>
            <a:pPr algn="l">
              <a:lnSpc>
                <a:spcPts val="1560"/>
              </a:lnSpc>
            </a:pPr>
            <a:r>
              <a:rPr sz="1300" b="1" i="0">
                <a:solidFill>
                  <a:srgbClr val="0A2540"/>
                </a:solidFill>
                <a:latin typeface="DM Sans"/>
              </a:rPr>
              <a:t>Toestemming, loting</a:t>
            </a:r>
          </a:p>
        </p:txBody>
      </p:sp>
      <p:sp>
        <p:nvSpPr>
          <p:cNvPr id="49" name="Rectangle 48"/>
          <p:cNvSpPr/>
          <p:nvPr/>
        </p:nvSpPr>
        <p:spPr>
          <a:xfrm>
            <a:off x="812800" y="3010297"/>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723330" y="3010297"/>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633960" y="3010297"/>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2633960" y="314325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2633960" y="3194050"/>
            <a:ext cx="847030" cy="198120"/>
          </a:xfrm>
          <a:prstGeom prst="rect">
            <a:avLst/>
          </a:prstGeom>
          <a:noFill/>
        </p:spPr>
        <p:txBody>
          <a:bodyPr wrap="none" lIns="0" rIns="0" tIns="0" bIns="0" anchor="t">
            <a:noAutofit/>
          </a:bodyPr>
          <a:lstStyle/>
          <a:p>
            <a:pPr algn="ctr"/>
            <a:r>
              <a:rPr sz="1200" b="0" i="0">
                <a:solidFill>
                  <a:srgbClr val="F2F8FC"/>
                </a:solidFill>
                <a:latin typeface="DM Sans"/>
              </a:rPr>
              <a:t>A</a:t>
            </a:r>
          </a:p>
        </p:txBody>
      </p:sp>
      <p:sp>
        <p:nvSpPr>
          <p:cNvPr id="54" name="Rectangle 53"/>
          <p:cNvSpPr/>
          <p:nvPr/>
        </p:nvSpPr>
        <p:spPr>
          <a:xfrm>
            <a:off x="3544491" y="3010297"/>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544491" y="3143250"/>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3544491" y="3194050"/>
            <a:ext cx="847130" cy="198120"/>
          </a:xfrm>
          <a:prstGeom prst="rect">
            <a:avLst/>
          </a:prstGeom>
          <a:noFill/>
        </p:spPr>
        <p:txBody>
          <a:bodyPr wrap="none" lIns="0" rIns="0" tIns="0" bIns="0" anchor="t">
            <a:noAutofit/>
          </a:bodyPr>
          <a:lstStyle/>
          <a:p>
            <a:pPr algn="ctr"/>
            <a:r>
              <a:rPr sz="1200" b="0" i="0">
                <a:solidFill>
                  <a:srgbClr val="F2F8FC"/>
                </a:solidFill>
                <a:latin typeface="DM Sans"/>
              </a:rPr>
              <a:t>A + B</a:t>
            </a:r>
          </a:p>
        </p:txBody>
      </p:sp>
      <p:sp>
        <p:nvSpPr>
          <p:cNvPr id="57" name="Rectangle 56"/>
          <p:cNvSpPr/>
          <p:nvPr/>
        </p:nvSpPr>
        <p:spPr>
          <a:xfrm>
            <a:off x="4455120" y="3010297"/>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365651" y="3010297"/>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5365651" y="3143250"/>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5365651" y="3194050"/>
            <a:ext cx="847130" cy="198120"/>
          </a:xfrm>
          <a:prstGeom prst="rect">
            <a:avLst/>
          </a:prstGeom>
          <a:noFill/>
        </p:spPr>
        <p:txBody>
          <a:bodyPr wrap="none" lIns="0" rIns="0" tIns="0" bIns="0" anchor="t">
            <a:noAutofit/>
          </a:bodyPr>
          <a:lstStyle/>
          <a:p>
            <a:pPr algn="ctr"/>
            <a:r>
              <a:rPr sz="1200" b="0" i="0">
                <a:solidFill>
                  <a:srgbClr val="F2F8FC"/>
                </a:solidFill>
                <a:latin typeface="DM Sans"/>
              </a:rPr>
              <a:t>A + B</a:t>
            </a:r>
          </a:p>
        </p:txBody>
      </p:sp>
      <p:sp>
        <p:nvSpPr>
          <p:cNvPr id="61" name="Rectangle 60"/>
          <p:cNvSpPr/>
          <p:nvPr/>
        </p:nvSpPr>
        <p:spPr>
          <a:xfrm>
            <a:off x="6276280" y="3010297"/>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186910" y="3010297"/>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186910" y="314325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186910" y="3194050"/>
            <a:ext cx="847030" cy="198120"/>
          </a:xfrm>
          <a:prstGeom prst="rect">
            <a:avLst/>
          </a:prstGeom>
          <a:noFill/>
        </p:spPr>
        <p:txBody>
          <a:bodyPr wrap="none" lIns="0" rIns="0" tIns="0" bIns="0" anchor="t">
            <a:noAutofit/>
          </a:bodyPr>
          <a:lstStyle/>
          <a:p>
            <a:pPr algn="ctr"/>
            <a:r>
              <a:rPr sz="1200" b="0" i="0">
                <a:solidFill>
                  <a:srgbClr val="F2F8FC"/>
                </a:solidFill>
                <a:latin typeface="DM Sans"/>
              </a:rPr>
              <a:t>A + B</a:t>
            </a:r>
          </a:p>
        </p:txBody>
      </p:sp>
      <p:sp>
        <p:nvSpPr>
          <p:cNvPr id="65" name="Rectangle 64"/>
          <p:cNvSpPr/>
          <p:nvPr/>
        </p:nvSpPr>
        <p:spPr>
          <a:xfrm>
            <a:off x="8097441" y="3010297"/>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008070" y="3010297"/>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9008070" y="3143250"/>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008070" y="3194050"/>
            <a:ext cx="847030" cy="198120"/>
          </a:xfrm>
          <a:prstGeom prst="rect">
            <a:avLst/>
          </a:prstGeom>
          <a:noFill/>
        </p:spPr>
        <p:txBody>
          <a:bodyPr wrap="none" lIns="0" rIns="0" tIns="0" bIns="0" anchor="t">
            <a:noAutofit/>
          </a:bodyPr>
          <a:lstStyle/>
          <a:p>
            <a:pPr algn="ctr"/>
            <a:r>
              <a:rPr sz="1200" b="0" i="0">
                <a:solidFill>
                  <a:srgbClr val="F2F8FC"/>
                </a:solidFill>
                <a:latin typeface="DM Sans"/>
              </a:rPr>
              <a:t>A + B</a:t>
            </a:r>
          </a:p>
        </p:txBody>
      </p:sp>
      <p:sp>
        <p:nvSpPr>
          <p:cNvPr id="69" name="TextBox 68"/>
          <p:cNvSpPr txBox="1"/>
          <p:nvPr/>
        </p:nvSpPr>
        <p:spPr>
          <a:xfrm>
            <a:off x="10020201" y="3190280"/>
            <a:ext cx="1002804" cy="198120"/>
          </a:xfrm>
          <a:prstGeom prst="rect">
            <a:avLst/>
          </a:prstGeom>
          <a:noFill/>
        </p:spPr>
        <p:txBody>
          <a:bodyPr wrap="none" lIns="0" rIns="0" tIns="0" bIns="0" anchor="t">
            <a:noAutofit/>
          </a:bodyPr>
          <a:lstStyle/>
          <a:p>
            <a:pPr algn="l">
              <a:lnSpc>
                <a:spcPts val="1560"/>
              </a:lnSpc>
            </a:pPr>
            <a:r>
              <a:rPr sz="1300" b="1" i="0">
                <a:solidFill>
                  <a:srgbClr val="0A2540"/>
                </a:solidFill>
                <a:latin typeface="DM Sans"/>
              </a:rPr>
              <a:t>Drukmeting</a:t>
            </a:r>
          </a:p>
        </p:txBody>
      </p:sp>
      <p:sp>
        <p:nvSpPr>
          <p:cNvPr id="70" name="Rectangle 69"/>
          <p:cNvSpPr/>
          <p:nvPr/>
        </p:nvSpPr>
        <p:spPr>
          <a:xfrm>
            <a:off x="812800" y="3631902"/>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723330" y="3631902"/>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633960" y="3631902"/>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2633960" y="3764855"/>
            <a:ext cx="847030" cy="29845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2633960" y="3815655"/>
            <a:ext cx="847030" cy="198120"/>
          </a:xfrm>
          <a:prstGeom prst="rect">
            <a:avLst/>
          </a:prstGeom>
          <a:noFill/>
        </p:spPr>
        <p:txBody>
          <a:bodyPr wrap="none" lIns="0" rIns="0" tIns="0" bIns="0" anchor="t">
            <a:noAutofit/>
          </a:bodyPr>
          <a:lstStyle/>
          <a:p>
            <a:pPr algn="ctr"/>
            <a:r>
              <a:rPr sz="1200" b="0" i="0">
                <a:solidFill>
                  <a:srgbClr val="F2F8FC"/>
                </a:solidFill>
                <a:latin typeface="DM Sans"/>
              </a:rPr>
              <a:t>1 week</a:t>
            </a:r>
          </a:p>
        </p:txBody>
      </p:sp>
      <p:sp>
        <p:nvSpPr>
          <p:cNvPr id="75" name="Rectangle 74"/>
          <p:cNvSpPr/>
          <p:nvPr/>
        </p:nvSpPr>
        <p:spPr>
          <a:xfrm>
            <a:off x="3544491" y="3631902"/>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455120" y="3631902"/>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365651" y="3631902"/>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276280" y="3631902"/>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7186910" y="3631902"/>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097441" y="3631902"/>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008070" y="3631902"/>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020201" y="3811885"/>
            <a:ext cx="1114723" cy="198120"/>
          </a:xfrm>
          <a:prstGeom prst="rect">
            <a:avLst/>
          </a:prstGeom>
          <a:noFill/>
        </p:spPr>
        <p:txBody>
          <a:bodyPr wrap="none" lIns="0" rIns="0" tIns="0" bIns="0" anchor="t">
            <a:noAutofit/>
          </a:bodyPr>
          <a:lstStyle/>
          <a:p>
            <a:pPr algn="l">
              <a:lnSpc>
                <a:spcPts val="1560"/>
              </a:lnSpc>
            </a:pPr>
            <a:r>
              <a:rPr sz="1300" b="1" i="0">
                <a:solidFill>
                  <a:srgbClr val="0A2540"/>
                </a:solidFill>
                <a:latin typeface="DM Sans"/>
              </a:rPr>
              <a:t>MoveMonitor</a:t>
            </a:r>
          </a:p>
        </p:txBody>
      </p:sp>
      <p:sp>
        <p:nvSpPr>
          <p:cNvPr id="83" name="Rectangle 82"/>
          <p:cNvSpPr/>
          <p:nvPr/>
        </p:nvSpPr>
        <p:spPr>
          <a:xfrm>
            <a:off x="812800" y="4253409"/>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723330" y="4253409"/>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2633960" y="4253409"/>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3544491" y="4253409"/>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3544491" y="4386362"/>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3544491" y="4437162"/>
            <a:ext cx="847130" cy="198120"/>
          </a:xfrm>
          <a:prstGeom prst="rect">
            <a:avLst/>
          </a:prstGeom>
          <a:noFill/>
        </p:spPr>
        <p:txBody>
          <a:bodyPr wrap="none" lIns="0" rIns="0" tIns="0" bIns="0" anchor="t">
            <a:noAutofit/>
          </a:bodyPr>
          <a:lstStyle/>
          <a:p>
            <a:pPr algn="ctr"/>
            <a:r>
              <a:rPr sz="1200" b="0" i="0">
                <a:solidFill>
                  <a:srgbClr val="F2F8FC"/>
                </a:solidFill>
                <a:latin typeface="DM Sans"/>
              </a:rPr>
              <a:t>start</a:t>
            </a:r>
          </a:p>
        </p:txBody>
      </p:sp>
      <p:sp>
        <p:nvSpPr>
          <p:cNvPr id="89" name="Rectangle 88"/>
          <p:cNvSpPr/>
          <p:nvPr/>
        </p:nvSpPr>
        <p:spPr>
          <a:xfrm>
            <a:off x="4455120" y="4253409"/>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4455120" y="4386362"/>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4455120" y="4437162"/>
            <a:ext cx="847030" cy="198120"/>
          </a:xfrm>
          <a:prstGeom prst="rect">
            <a:avLst/>
          </a:prstGeom>
          <a:noFill/>
        </p:spPr>
        <p:txBody>
          <a:bodyPr wrap="none" lIns="0" rIns="0" tIns="0" bIns="0" anchor="t">
            <a:noAutofit/>
          </a:bodyPr>
          <a:lstStyle/>
          <a:p>
            <a:pPr algn="ctr"/>
            <a:r>
              <a:rPr sz="1200" b="0" i="0">
                <a:solidFill>
                  <a:srgbClr val="F2F8FC"/>
                </a:solidFill>
                <a:latin typeface="DM Sans"/>
              </a:rPr>
              <a:t>uitlezen</a:t>
            </a:r>
          </a:p>
        </p:txBody>
      </p:sp>
      <p:sp>
        <p:nvSpPr>
          <p:cNvPr id="92" name="Rectangle 91"/>
          <p:cNvSpPr/>
          <p:nvPr/>
        </p:nvSpPr>
        <p:spPr>
          <a:xfrm>
            <a:off x="5365651" y="4253409"/>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5365651" y="4386362"/>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5365651" y="4437162"/>
            <a:ext cx="847130" cy="198120"/>
          </a:xfrm>
          <a:prstGeom prst="rect">
            <a:avLst/>
          </a:prstGeom>
          <a:noFill/>
        </p:spPr>
        <p:txBody>
          <a:bodyPr wrap="none" lIns="0" rIns="0" tIns="0" bIns="0" anchor="t">
            <a:noAutofit/>
          </a:bodyPr>
          <a:lstStyle/>
          <a:p>
            <a:pPr algn="ctr"/>
            <a:r>
              <a:rPr sz="1200" b="0" i="0">
                <a:solidFill>
                  <a:srgbClr val="F2F8FC"/>
                </a:solidFill>
                <a:latin typeface="DM Sans"/>
              </a:rPr>
              <a:t>uitlezen</a:t>
            </a:r>
          </a:p>
        </p:txBody>
      </p:sp>
      <p:sp>
        <p:nvSpPr>
          <p:cNvPr id="95" name="Rectangle 94"/>
          <p:cNvSpPr/>
          <p:nvPr/>
        </p:nvSpPr>
        <p:spPr>
          <a:xfrm>
            <a:off x="6276280" y="4253409"/>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6276280" y="4386362"/>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6276280" y="4437162"/>
            <a:ext cx="847130" cy="198120"/>
          </a:xfrm>
          <a:prstGeom prst="rect">
            <a:avLst/>
          </a:prstGeom>
          <a:noFill/>
        </p:spPr>
        <p:txBody>
          <a:bodyPr wrap="none" lIns="0" rIns="0" tIns="0" bIns="0" anchor="t">
            <a:noAutofit/>
          </a:bodyPr>
          <a:lstStyle/>
          <a:p>
            <a:pPr algn="ctr"/>
            <a:r>
              <a:rPr sz="1200" b="0" i="0">
                <a:solidFill>
                  <a:srgbClr val="F2F8FC"/>
                </a:solidFill>
                <a:latin typeface="DM Sans"/>
              </a:rPr>
              <a:t>uitlezen</a:t>
            </a:r>
          </a:p>
        </p:txBody>
      </p:sp>
      <p:sp>
        <p:nvSpPr>
          <p:cNvPr id="98" name="Rectangle 97"/>
          <p:cNvSpPr/>
          <p:nvPr/>
        </p:nvSpPr>
        <p:spPr>
          <a:xfrm>
            <a:off x="7186910" y="4253409"/>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7186910" y="4386362"/>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7186910" y="4437162"/>
            <a:ext cx="847030" cy="198120"/>
          </a:xfrm>
          <a:prstGeom prst="rect">
            <a:avLst/>
          </a:prstGeom>
          <a:noFill/>
        </p:spPr>
        <p:txBody>
          <a:bodyPr wrap="none" lIns="0" rIns="0" tIns="0" bIns="0" anchor="t">
            <a:noAutofit/>
          </a:bodyPr>
          <a:lstStyle/>
          <a:p>
            <a:pPr algn="ctr"/>
            <a:r>
              <a:rPr sz="1200" b="0" i="0">
                <a:solidFill>
                  <a:srgbClr val="F2F8FC"/>
                </a:solidFill>
                <a:latin typeface="DM Sans"/>
              </a:rPr>
              <a:t>uitlezen</a:t>
            </a:r>
          </a:p>
        </p:txBody>
      </p:sp>
      <p:sp>
        <p:nvSpPr>
          <p:cNvPr id="101" name="Rectangle 100"/>
          <p:cNvSpPr/>
          <p:nvPr/>
        </p:nvSpPr>
        <p:spPr>
          <a:xfrm>
            <a:off x="8097441" y="4253409"/>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8097441" y="4386362"/>
            <a:ext cx="8471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8097441" y="4437162"/>
            <a:ext cx="847130" cy="198120"/>
          </a:xfrm>
          <a:prstGeom prst="rect">
            <a:avLst/>
          </a:prstGeom>
          <a:noFill/>
        </p:spPr>
        <p:txBody>
          <a:bodyPr wrap="none" lIns="0" rIns="0" tIns="0" bIns="0" anchor="t">
            <a:noAutofit/>
          </a:bodyPr>
          <a:lstStyle/>
          <a:p>
            <a:pPr algn="ctr"/>
            <a:r>
              <a:rPr sz="1200" b="0" i="0">
                <a:solidFill>
                  <a:srgbClr val="F2F8FC"/>
                </a:solidFill>
                <a:latin typeface="DM Sans"/>
              </a:rPr>
              <a:t>uitlezen</a:t>
            </a:r>
          </a:p>
        </p:txBody>
      </p:sp>
      <p:sp>
        <p:nvSpPr>
          <p:cNvPr id="104" name="Rectangle 103"/>
          <p:cNvSpPr/>
          <p:nvPr/>
        </p:nvSpPr>
        <p:spPr>
          <a:xfrm>
            <a:off x="9008070" y="4253409"/>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9008070" y="4386362"/>
            <a:ext cx="847030" cy="298450"/>
          </a:xfrm>
          <a:prstGeom prst="roundRect">
            <a:avLst>
              <a:gd name="adj" fmla="val 50000"/>
            </a:avLst>
          </a:prstGeom>
          <a:solidFill>
            <a:srgbClr val="A34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Box 105"/>
          <p:cNvSpPr txBox="1"/>
          <p:nvPr/>
        </p:nvSpPr>
        <p:spPr>
          <a:xfrm>
            <a:off x="9008070" y="4437162"/>
            <a:ext cx="847030" cy="198120"/>
          </a:xfrm>
          <a:prstGeom prst="rect">
            <a:avLst/>
          </a:prstGeom>
          <a:noFill/>
        </p:spPr>
        <p:txBody>
          <a:bodyPr wrap="none" lIns="0" rIns="0" tIns="0" bIns="0" anchor="t">
            <a:noAutofit/>
          </a:bodyPr>
          <a:lstStyle/>
          <a:p>
            <a:pPr algn="ctr"/>
            <a:r>
              <a:rPr sz="1200" b="0" i="0">
                <a:solidFill>
                  <a:srgbClr val="F2F8FC"/>
                </a:solidFill>
                <a:latin typeface="DM Sans"/>
              </a:rPr>
              <a:t>uitlezen</a:t>
            </a:r>
          </a:p>
        </p:txBody>
      </p:sp>
      <p:sp>
        <p:nvSpPr>
          <p:cNvPr id="107" name="TextBox 106"/>
          <p:cNvSpPr txBox="1"/>
          <p:nvPr/>
        </p:nvSpPr>
        <p:spPr>
          <a:xfrm>
            <a:off x="10020201" y="4433391"/>
            <a:ext cx="957560" cy="198120"/>
          </a:xfrm>
          <a:prstGeom prst="rect">
            <a:avLst/>
          </a:prstGeom>
          <a:noFill/>
        </p:spPr>
        <p:txBody>
          <a:bodyPr wrap="none" lIns="0" rIns="0" tIns="0" bIns="0" anchor="t">
            <a:noAutofit/>
          </a:bodyPr>
          <a:lstStyle/>
          <a:p>
            <a:pPr algn="l">
              <a:lnSpc>
                <a:spcPts val="1560"/>
              </a:lnSpc>
            </a:pPr>
            <a:r>
              <a:rPr sz="1300" b="1" i="0">
                <a:solidFill>
                  <a:srgbClr val="0A2540"/>
                </a:solidFill>
                <a:latin typeface="DM Sans"/>
              </a:rPr>
              <a:t>Orthotimer</a:t>
            </a:r>
          </a:p>
        </p:txBody>
      </p:sp>
      <p:sp>
        <p:nvSpPr>
          <p:cNvPr id="108" name="Rectangle 107"/>
          <p:cNvSpPr/>
          <p:nvPr/>
        </p:nvSpPr>
        <p:spPr>
          <a:xfrm>
            <a:off x="812800" y="4875014"/>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723330" y="4875014"/>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2633960" y="4875014"/>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2633960" y="5007967"/>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2633960" y="5058767"/>
            <a:ext cx="847030" cy="198120"/>
          </a:xfrm>
          <a:prstGeom prst="rect">
            <a:avLst/>
          </a:prstGeom>
          <a:noFill/>
        </p:spPr>
        <p:txBody>
          <a:bodyPr wrap="none" lIns="0" rIns="0" tIns="0" bIns="0" anchor="t">
            <a:noAutofit/>
          </a:bodyPr>
          <a:lstStyle/>
          <a:p>
            <a:pPr algn="ctr"/>
            <a:r>
              <a:rPr sz="1200" b="0" i="0">
                <a:solidFill>
                  <a:srgbClr val="F2F8FC"/>
                </a:solidFill>
                <a:latin typeface="DM Sans"/>
              </a:rPr>
              <a:t>educatie</a:t>
            </a:r>
          </a:p>
        </p:txBody>
      </p:sp>
      <p:sp>
        <p:nvSpPr>
          <p:cNvPr id="113" name="Rectangle 112"/>
          <p:cNvSpPr/>
          <p:nvPr/>
        </p:nvSpPr>
        <p:spPr>
          <a:xfrm>
            <a:off x="3544491" y="4875014"/>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3544491" y="5007967"/>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3544491" y="5058767"/>
            <a:ext cx="847130" cy="198120"/>
          </a:xfrm>
          <a:prstGeom prst="rect">
            <a:avLst/>
          </a:prstGeom>
          <a:noFill/>
        </p:spPr>
        <p:txBody>
          <a:bodyPr wrap="none" lIns="0" rIns="0" tIns="0" bIns="0" anchor="t">
            <a:noAutofit/>
          </a:bodyPr>
          <a:lstStyle/>
          <a:p>
            <a:pPr algn="ctr"/>
            <a:r>
              <a:rPr sz="1200" b="0" i="0">
                <a:solidFill>
                  <a:srgbClr val="F2F8FC"/>
                </a:solidFill>
                <a:latin typeface="DM Sans"/>
              </a:rPr>
              <a:t>schoenen</a:t>
            </a:r>
          </a:p>
        </p:txBody>
      </p:sp>
      <p:sp>
        <p:nvSpPr>
          <p:cNvPr id="116" name="Rectangle 115"/>
          <p:cNvSpPr/>
          <p:nvPr/>
        </p:nvSpPr>
        <p:spPr>
          <a:xfrm>
            <a:off x="4455120" y="4875014"/>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4455120" y="5007967"/>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4455120" y="5058767"/>
            <a:ext cx="847030" cy="198120"/>
          </a:xfrm>
          <a:prstGeom prst="rect">
            <a:avLst/>
          </a:prstGeom>
          <a:noFill/>
        </p:spPr>
        <p:txBody>
          <a:bodyPr wrap="none" lIns="0" rIns="0" tIns="0" bIns="0" anchor="t">
            <a:noAutofit/>
          </a:bodyPr>
          <a:lstStyle/>
          <a:p>
            <a:pPr algn="ctr"/>
            <a:r>
              <a:rPr sz="1200" b="0" i="0">
                <a:solidFill>
                  <a:srgbClr val="F2F8FC"/>
                </a:solidFill>
                <a:latin typeface="DM Sans"/>
              </a:rPr>
              <a:t>feedback</a:t>
            </a:r>
          </a:p>
        </p:txBody>
      </p:sp>
      <p:sp>
        <p:nvSpPr>
          <p:cNvPr id="119" name="Rectangle 118"/>
          <p:cNvSpPr/>
          <p:nvPr/>
        </p:nvSpPr>
        <p:spPr>
          <a:xfrm>
            <a:off x="5365651" y="4875014"/>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5365651" y="5007967"/>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5365651" y="5058767"/>
            <a:ext cx="847130" cy="198120"/>
          </a:xfrm>
          <a:prstGeom prst="rect">
            <a:avLst/>
          </a:prstGeom>
          <a:noFill/>
        </p:spPr>
        <p:txBody>
          <a:bodyPr wrap="none" lIns="0" rIns="0" tIns="0" bIns="0" anchor="t">
            <a:noAutofit/>
          </a:bodyPr>
          <a:lstStyle/>
          <a:p>
            <a:pPr algn="ctr"/>
            <a:r>
              <a:rPr sz="1200" b="0" i="0">
                <a:solidFill>
                  <a:srgbClr val="F2F8FC"/>
                </a:solidFill>
                <a:latin typeface="DM Sans"/>
              </a:rPr>
              <a:t>evaluatie</a:t>
            </a:r>
          </a:p>
        </p:txBody>
      </p:sp>
      <p:sp>
        <p:nvSpPr>
          <p:cNvPr id="122" name="Rectangle 121"/>
          <p:cNvSpPr/>
          <p:nvPr/>
        </p:nvSpPr>
        <p:spPr>
          <a:xfrm>
            <a:off x="6276280" y="4875014"/>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6276280" y="5007967"/>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6276280" y="5058767"/>
            <a:ext cx="847130" cy="198120"/>
          </a:xfrm>
          <a:prstGeom prst="rect">
            <a:avLst/>
          </a:prstGeom>
          <a:noFill/>
        </p:spPr>
        <p:txBody>
          <a:bodyPr wrap="none" lIns="0" rIns="0" tIns="0" bIns="0" anchor="t">
            <a:noAutofit/>
          </a:bodyPr>
          <a:lstStyle/>
          <a:p>
            <a:pPr algn="ctr"/>
            <a:r>
              <a:rPr sz="1200" b="0" i="0">
                <a:solidFill>
                  <a:srgbClr val="F2F8FC"/>
                </a:solidFill>
                <a:latin typeface="DM Sans"/>
              </a:rPr>
              <a:t>feedback</a:t>
            </a:r>
          </a:p>
        </p:txBody>
      </p:sp>
      <p:sp>
        <p:nvSpPr>
          <p:cNvPr id="125" name="Rectangle 124"/>
          <p:cNvSpPr/>
          <p:nvPr/>
        </p:nvSpPr>
        <p:spPr>
          <a:xfrm>
            <a:off x="7186910" y="4875014"/>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7186910" y="5007967"/>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7186910" y="5058767"/>
            <a:ext cx="847030" cy="198120"/>
          </a:xfrm>
          <a:prstGeom prst="rect">
            <a:avLst/>
          </a:prstGeom>
          <a:noFill/>
        </p:spPr>
        <p:txBody>
          <a:bodyPr wrap="none" lIns="0" rIns="0" tIns="0" bIns="0" anchor="t">
            <a:noAutofit/>
          </a:bodyPr>
          <a:lstStyle/>
          <a:p>
            <a:pPr algn="ctr"/>
            <a:r>
              <a:rPr sz="1200" b="0" i="0">
                <a:solidFill>
                  <a:srgbClr val="F2F8FC"/>
                </a:solidFill>
                <a:latin typeface="DM Sans"/>
              </a:rPr>
              <a:t>evaluatie</a:t>
            </a:r>
          </a:p>
        </p:txBody>
      </p:sp>
      <p:sp>
        <p:nvSpPr>
          <p:cNvPr id="128" name="Rectangle 127"/>
          <p:cNvSpPr/>
          <p:nvPr/>
        </p:nvSpPr>
        <p:spPr>
          <a:xfrm>
            <a:off x="8097441" y="4875014"/>
            <a:ext cx="8471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8097441" y="5007967"/>
            <a:ext cx="8471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8097441" y="5058767"/>
            <a:ext cx="847130" cy="198120"/>
          </a:xfrm>
          <a:prstGeom prst="rect">
            <a:avLst/>
          </a:prstGeom>
          <a:noFill/>
        </p:spPr>
        <p:txBody>
          <a:bodyPr wrap="none" lIns="0" rIns="0" tIns="0" bIns="0" anchor="t">
            <a:noAutofit/>
          </a:bodyPr>
          <a:lstStyle/>
          <a:p>
            <a:pPr algn="ctr"/>
            <a:r>
              <a:rPr sz="1200" b="0" i="0">
                <a:solidFill>
                  <a:srgbClr val="F2F8FC"/>
                </a:solidFill>
                <a:latin typeface="DM Sans"/>
              </a:rPr>
              <a:t>feedback</a:t>
            </a:r>
          </a:p>
        </p:txBody>
      </p:sp>
      <p:sp>
        <p:nvSpPr>
          <p:cNvPr id="131" name="Rectangle 130"/>
          <p:cNvSpPr/>
          <p:nvPr/>
        </p:nvSpPr>
        <p:spPr>
          <a:xfrm>
            <a:off x="9008070" y="4875014"/>
            <a:ext cx="84703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9008070" y="5007967"/>
            <a:ext cx="847030" cy="29845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9008070" y="5058767"/>
            <a:ext cx="847030" cy="198120"/>
          </a:xfrm>
          <a:prstGeom prst="rect">
            <a:avLst/>
          </a:prstGeom>
          <a:noFill/>
        </p:spPr>
        <p:txBody>
          <a:bodyPr wrap="none" lIns="0" rIns="0" tIns="0" bIns="0" anchor="t">
            <a:noAutofit/>
          </a:bodyPr>
          <a:lstStyle/>
          <a:p>
            <a:pPr algn="ctr"/>
            <a:r>
              <a:rPr sz="1200" b="0" i="0">
                <a:solidFill>
                  <a:srgbClr val="F2F8FC"/>
                </a:solidFill>
                <a:latin typeface="DM Sans"/>
              </a:rPr>
              <a:t>afronding</a:t>
            </a:r>
          </a:p>
        </p:txBody>
      </p:sp>
      <p:sp>
        <p:nvSpPr>
          <p:cNvPr id="134" name="TextBox 133"/>
          <p:cNvSpPr txBox="1"/>
          <p:nvPr/>
        </p:nvSpPr>
        <p:spPr>
          <a:xfrm>
            <a:off x="10020201" y="4955977"/>
            <a:ext cx="1409700" cy="396081"/>
          </a:xfrm>
          <a:prstGeom prst="rect">
            <a:avLst/>
          </a:prstGeom>
          <a:noFill/>
        </p:spPr>
        <p:txBody>
          <a:bodyPr wrap="square" lIns="0" rIns="0" tIns="0" bIns="0" anchor="t">
            <a:noAutofit/>
          </a:bodyPr>
          <a:lstStyle/>
          <a:p>
            <a:pPr algn="l">
              <a:lnSpc>
                <a:spcPts val="1560"/>
              </a:lnSpc>
            </a:pPr>
            <a:r>
              <a:rPr sz="1300" b="1" i="0">
                <a:solidFill>
                  <a:srgbClr val="0A2540"/>
                </a:solidFill>
                <a:latin typeface="DM Sans"/>
              </a:rPr>
              <a:t>SEBIA · PARADISE</a:t>
            </a:r>
          </a:p>
        </p:txBody>
      </p:sp>
      <p:sp>
        <p:nvSpPr>
          <p:cNvPr id="135" name="TextBox 134"/>
          <p:cNvSpPr txBox="1"/>
          <p:nvPr/>
        </p:nvSpPr>
        <p:spPr>
          <a:xfrm>
            <a:off x="812800" y="5636320"/>
            <a:ext cx="10617200" cy="205740"/>
          </a:xfrm>
          <a:prstGeom prst="rect">
            <a:avLst/>
          </a:prstGeom>
          <a:noFill/>
        </p:spPr>
        <p:txBody>
          <a:bodyPr wrap="none" lIns="0" rIns="0" tIns="0" bIns="0" anchor="t">
            <a:noAutofit/>
          </a:bodyPr>
          <a:lstStyle/>
          <a:p>
            <a:pPr algn="l">
              <a:lnSpc>
                <a:spcPts val="1620"/>
              </a:lnSpc>
            </a:pPr>
            <a:r>
              <a:rPr sz="1200" b="0" i="0">
                <a:solidFill>
                  <a:srgbClr val="5A6E80"/>
                </a:solidFill>
                <a:latin typeface="DM Sans"/>
              </a:rPr>
              <a:t>A = in de schoen, zónder de CMFO · B = mét de CMFO · op V1 en vanaf V3 ook voet- en schoeiselscreening</a:t>
            </a:r>
          </a:p>
        </p:txBody>
      </p:sp>
      <p:pic>
        <p:nvPicPr>
          <p:cNvPr id="136" name="Picture 135"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137" name="TextBox 136"/>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138" name="TextBox 137"/>
          <p:cNvSpPr txBox="1"/>
          <p:nvPr/>
        </p:nvSpPr>
        <p:spPr>
          <a:xfrm>
            <a:off x="6502400" y="6254750"/>
            <a:ext cx="4876800" cy="198120"/>
          </a:xfrm>
          <a:prstGeom prst="rect">
            <a:avLst/>
          </a:prstGeom>
          <a:noFill/>
        </p:spPr>
        <p:txBody>
          <a:bodyPr wrap="none" lIns="0" rIns="0" tIns="0" bIns="0" anchor="t">
            <a:noAutofit/>
          </a:bodyPr>
          <a:lstStyle/>
          <a:p>
            <a:pPr algn="r"/>
            <a:r>
              <a:rPr sz="1200" b="0" i="0">
                <a:solidFill>
                  <a:srgbClr val="5A6E80"/>
                </a:solidFill>
                <a:latin typeface="JetBrains Mono"/>
              </a:rPr>
              <a:t>Bron · studieprotocol §5.5 · SEBIA-script (eCRF 17)</a:t>
            </a:r>
          </a:p>
        </p:txBody>
      </p:sp>
    </p:spTree>
  </p:cSld>
  <p:clrMapOvr>
    <a:masterClrMapping/>
  </p:clrMapOvr>
  <p:transition xmlns:p14="http://schemas.microsoft.com/office/powerpoint/2010/main" spd="med" p14:dur="700">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4 · AANDACHTSPUNTEN EN OPENSTAANDE ZAKEN</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Wat nog moet gebeuren</a:t>
            </a:r>
          </a:p>
        </p:txBody>
      </p:sp>
      <p:sp>
        <p:nvSpPr>
          <p:cNvPr id="4" name="TextBox 3"/>
          <p:cNvSpPr txBox="1"/>
          <p:nvPr/>
        </p:nvSpPr>
        <p:spPr>
          <a:xfrm>
            <a:off x="812800" y="1925241"/>
            <a:ext cx="7747000" cy="231140"/>
          </a:xfrm>
          <a:prstGeom prst="rect">
            <a:avLst/>
          </a:prstGeom>
          <a:noFill/>
        </p:spPr>
        <p:txBody>
          <a:bodyPr wrap="none" lIns="0" rIns="0" tIns="0" bIns="0" anchor="t">
            <a:noAutofit/>
          </a:bodyPr>
          <a:lstStyle/>
          <a:p>
            <a:pPr algn="l">
              <a:lnSpc>
                <a:spcPts val="1820"/>
              </a:lnSpc>
            </a:pPr>
            <a:r>
              <a:rPr sz="1400" b="0" i="0">
                <a:solidFill>
                  <a:srgbClr val="F2F8FC"/>
                </a:solidFill>
                <a:latin typeface="DM Sans"/>
              </a:rPr>
              <a:t>Ethische goedkeuring: centraal, FAGG en lokaal</a:t>
            </a:r>
          </a:p>
        </p:txBody>
      </p:sp>
      <p:sp>
        <p:nvSpPr>
          <p:cNvPr id="5" name="TextBox 4"/>
          <p:cNvSpPr txBox="1"/>
          <p:nvPr/>
        </p:nvSpPr>
        <p:spPr>
          <a:xfrm>
            <a:off x="8661400" y="1944291"/>
            <a:ext cx="2717800" cy="198120"/>
          </a:xfrm>
          <a:prstGeom prst="rect">
            <a:avLst/>
          </a:prstGeom>
          <a:noFill/>
        </p:spPr>
        <p:txBody>
          <a:bodyPr wrap="none" lIns="0" rIns="0" tIns="0" bIns="0" anchor="t">
            <a:noAutofit/>
          </a:bodyPr>
          <a:lstStyle/>
          <a:p>
            <a:pPr algn="r"/>
            <a:r>
              <a:rPr sz="1200" b="0" i="0">
                <a:solidFill>
                  <a:srgbClr val="FF9A3D"/>
                </a:solidFill>
                <a:latin typeface="JetBrains Mono"/>
              </a:rPr>
              <a:t>lokaal: januari</a:t>
            </a:r>
          </a:p>
        </p:txBody>
      </p:sp>
      <p:sp>
        <p:nvSpPr>
          <p:cNvPr id="6" name="Rectangle 5"/>
          <p:cNvSpPr/>
          <p:nvPr/>
        </p:nvSpPr>
        <p:spPr>
          <a:xfrm>
            <a:off x="812800" y="2238871"/>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2800" y="2327771"/>
            <a:ext cx="7747000" cy="231140"/>
          </a:xfrm>
          <a:prstGeom prst="rect">
            <a:avLst/>
          </a:prstGeom>
          <a:noFill/>
        </p:spPr>
        <p:txBody>
          <a:bodyPr wrap="none" lIns="0" rIns="0" tIns="0" bIns="0" anchor="t">
            <a:noAutofit/>
          </a:bodyPr>
          <a:lstStyle/>
          <a:p>
            <a:pPr algn="l">
              <a:lnSpc>
                <a:spcPts val="1820"/>
              </a:lnSpc>
            </a:pPr>
            <a:r>
              <a:rPr sz="1400" b="0" i="0">
                <a:solidFill>
                  <a:srgbClr val="F2F8FC"/>
                </a:solidFill>
                <a:latin typeface="DM Sans"/>
              </a:rPr>
              <a:t>Drukmeting, Orthotimer-software en MoveMonitors geïnstalleerd</a:t>
            </a:r>
          </a:p>
        </p:txBody>
      </p:sp>
      <p:sp>
        <p:nvSpPr>
          <p:cNvPr id="8" name="TextBox 7"/>
          <p:cNvSpPr txBox="1"/>
          <p:nvPr/>
        </p:nvSpPr>
        <p:spPr>
          <a:xfrm>
            <a:off x="8661400" y="2346821"/>
            <a:ext cx="2717800" cy="198120"/>
          </a:xfrm>
          <a:prstGeom prst="rect">
            <a:avLst/>
          </a:prstGeom>
          <a:noFill/>
        </p:spPr>
        <p:txBody>
          <a:bodyPr wrap="none" lIns="0" rIns="0" tIns="0" bIns="0" anchor="t">
            <a:noAutofit/>
          </a:bodyPr>
          <a:lstStyle/>
          <a:p>
            <a:pPr algn="r"/>
            <a:r>
              <a:rPr sz="1200" b="0" i="0">
                <a:solidFill>
                  <a:srgbClr val="FF9A3D"/>
                </a:solidFill>
                <a:latin typeface="JetBrains Mono"/>
              </a:rPr>
              <a:t>vóór uw technologiesessie</a:t>
            </a:r>
          </a:p>
        </p:txBody>
      </p:sp>
      <p:sp>
        <p:nvSpPr>
          <p:cNvPr id="9" name="Rectangle 8"/>
          <p:cNvSpPr/>
          <p:nvPr/>
        </p:nvSpPr>
        <p:spPr>
          <a:xfrm>
            <a:off x="812800" y="2641402"/>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730302"/>
            <a:ext cx="7747000" cy="231140"/>
          </a:xfrm>
          <a:prstGeom prst="rect">
            <a:avLst/>
          </a:prstGeom>
          <a:noFill/>
        </p:spPr>
        <p:txBody>
          <a:bodyPr wrap="none" lIns="0" rIns="0" tIns="0" bIns="0" anchor="t">
            <a:noAutofit/>
          </a:bodyPr>
          <a:lstStyle/>
          <a:p>
            <a:pPr algn="l">
              <a:lnSpc>
                <a:spcPts val="1820"/>
              </a:lnSpc>
            </a:pPr>
            <a:r>
              <a:rPr sz="1400" b="0" i="0">
                <a:solidFill>
                  <a:srgbClr val="F2F8FC"/>
                </a:solidFill>
                <a:latin typeface="DM Sans"/>
              </a:rPr>
              <a:t>Dryrun en pilootbezoek</a:t>
            </a:r>
          </a:p>
        </p:txBody>
      </p:sp>
      <p:sp>
        <p:nvSpPr>
          <p:cNvPr id="11" name="TextBox 10"/>
          <p:cNvSpPr txBox="1"/>
          <p:nvPr/>
        </p:nvSpPr>
        <p:spPr>
          <a:xfrm>
            <a:off x="8661400" y="2749352"/>
            <a:ext cx="2717800" cy="198120"/>
          </a:xfrm>
          <a:prstGeom prst="rect">
            <a:avLst/>
          </a:prstGeom>
          <a:noFill/>
        </p:spPr>
        <p:txBody>
          <a:bodyPr wrap="none" lIns="0" rIns="0" tIns="0" bIns="0" anchor="t">
            <a:noAutofit/>
          </a:bodyPr>
          <a:lstStyle/>
          <a:p>
            <a:pPr algn="r"/>
            <a:r>
              <a:rPr sz="1200" b="0" i="0">
                <a:solidFill>
                  <a:srgbClr val="FF9A3D"/>
                </a:solidFill>
                <a:latin typeface="JetBrains Mono"/>
              </a:rPr>
              <a:t>vanaf de eerste patiënt</a:t>
            </a:r>
          </a:p>
        </p:txBody>
      </p:sp>
      <p:sp>
        <p:nvSpPr>
          <p:cNvPr id="12" name="Rectangle 11"/>
          <p:cNvSpPr/>
          <p:nvPr/>
        </p:nvSpPr>
        <p:spPr>
          <a:xfrm>
            <a:off x="812800" y="3043932"/>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 y="3132832"/>
            <a:ext cx="7747000" cy="231140"/>
          </a:xfrm>
          <a:prstGeom prst="rect">
            <a:avLst/>
          </a:prstGeom>
          <a:noFill/>
        </p:spPr>
        <p:txBody>
          <a:bodyPr wrap="none" lIns="0" rIns="0" tIns="0" bIns="0" anchor="t">
            <a:noAutofit/>
          </a:bodyPr>
          <a:lstStyle/>
          <a:p>
            <a:pPr algn="l">
              <a:lnSpc>
                <a:spcPts val="1820"/>
              </a:lnSpc>
            </a:pPr>
            <a:r>
              <a:rPr sz="1400" b="0" i="0">
                <a:solidFill>
                  <a:srgbClr val="F2F8FC"/>
                </a:solidFill>
                <a:latin typeface="DM Sans"/>
              </a:rPr>
              <a:t>SEBIA-schema: het script of het manuscript</a:t>
            </a:r>
          </a:p>
        </p:txBody>
      </p:sp>
      <p:sp>
        <p:nvSpPr>
          <p:cNvPr id="14" name="TextBox 13"/>
          <p:cNvSpPr txBox="1"/>
          <p:nvPr/>
        </p:nvSpPr>
        <p:spPr>
          <a:xfrm>
            <a:off x="8661400" y="3151882"/>
            <a:ext cx="2717800" cy="198120"/>
          </a:xfrm>
          <a:prstGeom prst="rect">
            <a:avLst/>
          </a:prstGeom>
          <a:noFill/>
        </p:spPr>
        <p:txBody>
          <a:bodyPr wrap="none" lIns="0" rIns="0" tIns="0" bIns="0" anchor="t">
            <a:noAutofit/>
          </a:bodyPr>
          <a:lstStyle/>
          <a:p>
            <a:pPr algn="r"/>
            <a:r>
              <a:rPr sz="1200" b="0" i="0">
                <a:solidFill>
                  <a:srgbClr val="FF9A3D"/>
                </a:solidFill>
                <a:latin typeface="JetBrains Mono"/>
              </a:rPr>
              <a:t>te beslissen</a:t>
            </a:r>
          </a:p>
        </p:txBody>
      </p:sp>
      <p:sp>
        <p:nvSpPr>
          <p:cNvPr id="15" name="Rectangle 14"/>
          <p:cNvSpPr/>
          <p:nvPr/>
        </p:nvSpPr>
        <p:spPr>
          <a:xfrm>
            <a:off x="812800" y="3446462"/>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800" y="3535362"/>
            <a:ext cx="7747000" cy="231140"/>
          </a:xfrm>
          <a:prstGeom prst="rect">
            <a:avLst/>
          </a:prstGeom>
          <a:noFill/>
        </p:spPr>
        <p:txBody>
          <a:bodyPr wrap="none" lIns="0" rIns="0" tIns="0" bIns="0" anchor="t">
            <a:noAutofit/>
          </a:bodyPr>
          <a:lstStyle/>
          <a:p>
            <a:pPr algn="l">
              <a:lnSpc>
                <a:spcPts val="1820"/>
              </a:lnSpc>
            </a:pPr>
            <a:r>
              <a:rPr sz="1400" b="0" i="0">
                <a:solidFill>
                  <a:srgbClr val="F2F8FC"/>
                </a:solidFill>
                <a:latin typeface="DM Sans"/>
              </a:rPr>
              <a:t>Aparte toestemming voor opnames (eCRF 02)</a:t>
            </a:r>
          </a:p>
        </p:txBody>
      </p:sp>
      <p:sp>
        <p:nvSpPr>
          <p:cNvPr id="17" name="TextBox 16"/>
          <p:cNvSpPr txBox="1"/>
          <p:nvPr/>
        </p:nvSpPr>
        <p:spPr>
          <a:xfrm>
            <a:off x="8661400" y="3554412"/>
            <a:ext cx="2717800" cy="198120"/>
          </a:xfrm>
          <a:prstGeom prst="rect">
            <a:avLst/>
          </a:prstGeom>
          <a:noFill/>
        </p:spPr>
        <p:txBody>
          <a:bodyPr wrap="none" lIns="0" rIns="0" tIns="0" bIns="0" anchor="t">
            <a:noAutofit/>
          </a:bodyPr>
          <a:lstStyle/>
          <a:p>
            <a:pPr algn="r"/>
            <a:r>
              <a:rPr sz="1200" b="0" i="0">
                <a:solidFill>
                  <a:srgbClr val="FF9A3D"/>
                </a:solidFill>
                <a:latin typeface="JetBrains Mono"/>
              </a:rPr>
              <a:t>vóór de EC-indiening</a:t>
            </a:r>
          </a:p>
        </p:txBody>
      </p:sp>
      <p:pic>
        <p:nvPicPr>
          <p:cNvPr id="18" name="Picture 17"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19" name="TextBox 18"/>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20" name="TextBox 19"/>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6F8FAA"/>
                </a:solidFill>
                <a:latin typeface="JetBrains Mono"/>
              </a:rPr>
              <a:t>Bron · opleidingsplanning §4, §7 · protocol · simulatie</a:t>
            </a:r>
          </a:p>
        </p:txBody>
      </p:sp>
    </p:spTree>
  </p:cSld>
  <p:clrMapOvr>
    <a:masterClrMapping/>
  </p:clrMapOvr>
  <p:transition xmlns:p14="http://schemas.microsoft.com/office/powerpoint/2010/main" spd="med" p14:dur="700">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5 · KOMENDE MIJLPALEN EN PLANNING</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Van de opleiding tot de laatste visite</a:t>
            </a:r>
          </a:p>
        </p:txBody>
      </p:sp>
      <p:sp>
        <p:nvSpPr>
          <p:cNvPr id="4" name="Rectangle 3"/>
          <p:cNvSpPr/>
          <p:nvPr/>
        </p:nvSpPr>
        <p:spPr>
          <a:xfrm>
            <a:off x="167640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739900" y="2019300"/>
            <a:ext cx="812800" cy="198120"/>
          </a:xfrm>
          <a:prstGeom prst="rect">
            <a:avLst/>
          </a:prstGeom>
          <a:noFill/>
        </p:spPr>
        <p:txBody>
          <a:bodyPr wrap="none" lIns="0" rIns="0" tIns="0" bIns="0" anchor="t">
            <a:noAutofit/>
          </a:bodyPr>
          <a:lstStyle/>
          <a:p>
            <a:pPr algn="l"/>
            <a:r>
              <a:rPr sz="1200" b="0" i="0">
                <a:solidFill>
                  <a:srgbClr val="5A6E80"/>
                </a:solidFill>
                <a:latin typeface="JetBrains Mono"/>
              </a:rPr>
              <a:t>2027</a:t>
            </a:r>
          </a:p>
        </p:txBody>
      </p:sp>
      <p:sp>
        <p:nvSpPr>
          <p:cNvPr id="6" name="Rectangle 5"/>
          <p:cNvSpPr/>
          <p:nvPr/>
        </p:nvSpPr>
        <p:spPr>
          <a:xfrm>
            <a:off x="5099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62550" y="2019300"/>
            <a:ext cx="812800" cy="198120"/>
          </a:xfrm>
          <a:prstGeom prst="rect">
            <a:avLst/>
          </a:prstGeom>
          <a:noFill/>
        </p:spPr>
        <p:txBody>
          <a:bodyPr wrap="none" lIns="0" rIns="0" tIns="0" bIns="0" anchor="t">
            <a:noAutofit/>
          </a:bodyPr>
          <a:lstStyle/>
          <a:p>
            <a:pPr algn="l"/>
            <a:r>
              <a:rPr sz="1200" b="0" i="0">
                <a:solidFill>
                  <a:srgbClr val="5A6E80"/>
                </a:solidFill>
                <a:latin typeface="JetBrains Mono"/>
              </a:rPr>
              <a:t>2028</a:t>
            </a:r>
          </a:p>
        </p:txBody>
      </p:sp>
      <p:sp>
        <p:nvSpPr>
          <p:cNvPr id="8" name="Rectangle 7"/>
          <p:cNvSpPr/>
          <p:nvPr/>
        </p:nvSpPr>
        <p:spPr>
          <a:xfrm>
            <a:off x="8528050" y="2019300"/>
            <a:ext cx="6350" cy="166370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91550" y="2019300"/>
            <a:ext cx="812800" cy="198120"/>
          </a:xfrm>
          <a:prstGeom prst="rect">
            <a:avLst/>
          </a:prstGeom>
          <a:noFill/>
        </p:spPr>
        <p:txBody>
          <a:bodyPr wrap="none" lIns="0" rIns="0" tIns="0" bIns="0" anchor="t">
            <a:noAutofit/>
          </a:bodyPr>
          <a:lstStyle/>
          <a:p>
            <a:pPr algn="l"/>
            <a:r>
              <a:rPr sz="1200" b="0" i="0">
                <a:solidFill>
                  <a:srgbClr val="5A6E80"/>
                </a:solidFill>
                <a:latin typeface="JetBrains Mono"/>
              </a:rPr>
              <a:t>2029</a:t>
            </a:r>
          </a:p>
        </p:txBody>
      </p:sp>
      <p:sp>
        <p:nvSpPr>
          <p:cNvPr id="10" name="Rounded Rectangle 9"/>
          <p:cNvSpPr/>
          <p:nvPr/>
        </p:nvSpPr>
        <p:spPr>
          <a:xfrm>
            <a:off x="1187450" y="2349500"/>
            <a:ext cx="1320800" cy="279400"/>
          </a:xfrm>
          <a:prstGeom prst="roundRect">
            <a:avLst>
              <a:gd name="adj" fmla="val 50000"/>
            </a:avLst>
          </a:prstGeom>
          <a:solidFill>
            <a:srgbClr val="0B6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301750" y="2387600"/>
            <a:ext cx="5765800" cy="198120"/>
          </a:xfrm>
          <a:prstGeom prst="rect">
            <a:avLst/>
          </a:prstGeom>
          <a:noFill/>
        </p:spPr>
        <p:txBody>
          <a:bodyPr wrap="none" lIns="0" rIns="0" tIns="0" bIns="0" anchor="t">
            <a:noAutofit/>
          </a:bodyPr>
          <a:lstStyle/>
          <a:p>
            <a:pPr algn="l"/>
            <a:r>
              <a:rPr sz="1200" b="1" i="0">
                <a:solidFill>
                  <a:srgbClr val="F2F8FC"/>
                </a:solidFill>
                <a:latin typeface="DM Sans"/>
              </a:rPr>
              <a:t>Opleidingen</a:t>
            </a:r>
          </a:p>
        </p:txBody>
      </p:sp>
      <p:sp>
        <p:nvSpPr>
          <p:cNvPr id="12" name="Rounded Rectangle 11"/>
          <p:cNvSpPr/>
          <p:nvPr/>
        </p:nvSpPr>
        <p:spPr>
          <a:xfrm>
            <a:off x="2184400" y="2768600"/>
            <a:ext cx="3422650" cy="279400"/>
          </a:xfrm>
          <a:prstGeom prst="roundRect">
            <a:avLst>
              <a:gd name="adj" fmla="val 50000"/>
            </a:avLst>
          </a:prstGeom>
          <a:solidFill>
            <a:srgbClr val="004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298700" y="2806700"/>
            <a:ext cx="5765800" cy="198120"/>
          </a:xfrm>
          <a:prstGeom prst="rect">
            <a:avLst/>
          </a:prstGeom>
          <a:noFill/>
        </p:spPr>
        <p:txBody>
          <a:bodyPr wrap="none" lIns="0" rIns="0" tIns="0" bIns="0" anchor="t">
            <a:noAutofit/>
          </a:bodyPr>
          <a:lstStyle/>
          <a:p>
            <a:pPr algn="l"/>
            <a:r>
              <a:rPr sz="1200" b="1" i="0">
                <a:solidFill>
                  <a:srgbClr val="F2F8FC"/>
                </a:solidFill>
                <a:latin typeface="DM Sans"/>
              </a:rPr>
              <a:t>Inclusie, 144 in 12 maanden</a:t>
            </a:r>
          </a:p>
        </p:txBody>
      </p:sp>
      <p:sp>
        <p:nvSpPr>
          <p:cNvPr id="14" name="Rounded Rectangle 13"/>
          <p:cNvSpPr/>
          <p:nvPr/>
        </p:nvSpPr>
        <p:spPr>
          <a:xfrm>
            <a:off x="2184400" y="3187700"/>
            <a:ext cx="8553450" cy="2794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298700" y="3225800"/>
            <a:ext cx="5765800" cy="198120"/>
          </a:xfrm>
          <a:prstGeom prst="rect">
            <a:avLst/>
          </a:prstGeom>
          <a:noFill/>
        </p:spPr>
        <p:txBody>
          <a:bodyPr wrap="none" lIns="0" rIns="0" tIns="0" bIns="0" anchor="t">
            <a:noAutofit/>
          </a:bodyPr>
          <a:lstStyle/>
          <a:p>
            <a:pPr algn="l"/>
            <a:r>
              <a:rPr sz="1200" b="1" i="0">
                <a:solidFill>
                  <a:srgbClr val="F2F8FC"/>
                </a:solidFill>
                <a:latin typeface="DM Sans"/>
              </a:rPr>
              <a:t>Opvolging, 18 maanden per deelnemer</a:t>
            </a:r>
          </a:p>
        </p:txBody>
      </p:sp>
      <p:sp>
        <p:nvSpPr>
          <p:cNvPr id="16" name="Rectangle 15"/>
          <p:cNvSpPr/>
          <p:nvPr/>
        </p:nvSpPr>
        <p:spPr>
          <a:xfrm rot="2700000">
            <a:off x="175260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rot="2700000">
            <a:off x="2114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rot="2700000">
            <a:off x="55435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rot="2700000">
            <a:off x="58864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rot="2700000">
            <a:off x="10674350" y="3638550"/>
            <a:ext cx="114300" cy="114300"/>
          </a:xfrm>
          <a:prstGeom prst="rect">
            <a:avLst/>
          </a:prstGeom>
          <a:solidFill>
            <a:srgbClr val="FF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12800" y="3689350"/>
            <a:ext cx="10566400" cy="12700"/>
          </a:xfrm>
          <a:prstGeom prst="rect">
            <a:avLst/>
          </a:prstGeom>
          <a:solidFill>
            <a:srgbClr val="0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2800" y="4083050"/>
            <a:ext cx="1447800" cy="198120"/>
          </a:xfrm>
          <a:prstGeom prst="rect">
            <a:avLst/>
          </a:prstGeom>
          <a:noFill/>
        </p:spPr>
        <p:txBody>
          <a:bodyPr wrap="none" lIns="0" rIns="0" tIns="0" bIns="0" anchor="t">
            <a:noAutofit/>
          </a:bodyPr>
          <a:lstStyle/>
          <a:p>
            <a:pPr algn="l"/>
            <a:r>
              <a:rPr sz="1200" b="0" i="0">
                <a:solidFill>
                  <a:srgbClr val="A34A00"/>
                </a:solidFill>
                <a:latin typeface="JetBrains Mono"/>
              </a:rPr>
              <a:t>januari 2027</a:t>
            </a:r>
          </a:p>
        </p:txBody>
      </p:sp>
      <p:sp>
        <p:nvSpPr>
          <p:cNvPr id="23" name="TextBox 22"/>
          <p:cNvSpPr txBox="1"/>
          <p:nvPr/>
        </p:nvSpPr>
        <p:spPr>
          <a:xfrm>
            <a:off x="2362200" y="4064000"/>
            <a:ext cx="3581400" cy="231140"/>
          </a:xfrm>
          <a:prstGeom prst="rect">
            <a:avLst/>
          </a:prstGeom>
          <a:noFill/>
        </p:spPr>
        <p:txBody>
          <a:bodyPr wrap="none" lIns="0" rIns="0" tIns="0" bIns="0" anchor="t">
            <a:noAutofit/>
          </a:bodyPr>
          <a:lstStyle/>
          <a:p>
            <a:pPr algn="l">
              <a:lnSpc>
                <a:spcPts val="1820"/>
              </a:lnSpc>
            </a:pPr>
            <a:r>
              <a:rPr sz="1400" b="0" i="0">
                <a:solidFill>
                  <a:srgbClr val="0A2540"/>
                </a:solidFill>
                <a:latin typeface="DM Sans"/>
              </a:rPr>
              <a:t>Lokale ethische goedkeuringen</a:t>
            </a:r>
          </a:p>
        </p:txBody>
      </p:sp>
      <p:sp>
        <p:nvSpPr>
          <p:cNvPr id="24" name="Rectangle 23"/>
          <p:cNvSpPr/>
          <p:nvPr/>
        </p:nvSpPr>
        <p:spPr>
          <a:xfrm>
            <a:off x="8128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2800" y="4447480"/>
            <a:ext cx="1447800" cy="198120"/>
          </a:xfrm>
          <a:prstGeom prst="rect">
            <a:avLst/>
          </a:prstGeom>
          <a:noFill/>
        </p:spPr>
        <p:txBody>
          <a:bodyPr wrap="none" lIns="0" rIns="0" tIns="0" bIns="0" anchor="t">
            <a:noAutofit/>
          </a:bodyPr>
          <a:lstStyle/>
          <a:p>
            <a:pPr algn="l"/>
            <a:r>
              <a:rPr sz="1200" b="0" i="0">
                <a:solidFill>
                  <a:srgbClr val="A34A00"/>
                </a:solidFill>
                <a:latin typeface="JetBrains Mono"/>
              </a:rPr>
              <a:t>23 feb 2027</a:t>
            </a:r>
          </a:p>
        </p:txBody>
      </p:sp>
      <p:sp>
        <p:nvSpPr>
          <p:cNvPr id="26" name="TextBox 25"/>
          <p:cNvSpPr txBox="1"/>
          <p:nvPr/>
        </p:nvSpPr>
        <p:spPr>
          <a:xfrm>
            <a:off x="2362200" y="4428430"/>
            <a:ext cx="3581400" cy="231140"/>
          </a:xfrm>
          <a:prstGeom prst="rect">
            <a:avLst/>
          </a:prstGeom>
          <a:noFill/>
        </p:spPr>
        <p:txBody>
          <a:bodyPr wrap="none" lIns="0" rIns="0" tIns="0" bIns="0" anchor="t">
            <a:noAutofit/>
          </a:bodyPr>
          <a:lstStyle/>
          <a:p>
            <a:pPr algn="l">
              <a:lnSpc>
                <a:spcPts val="1820"/>
              </a:lnSpc>
            </a:pPr>
            <a:r>
              <a:rPr sz="1400" b="0" i="0">
                <a:solidFill>
                  <a:srgbClr val="0A2540"/>
                </a:solidFill>
                <a:latin typeface="DM Sans"/>
              </a:rPr>
              <a:t>Go/No-Go; start inclusie</a:t>
            </a:r>
          </a:p>
        </p:txBody>
      </p:sp>
      <p:sp>
        <p:nvSpPr>
          <p:cNvPr id="27" name="Rectangle 26"/>
          <p:cNvSpPr/>
          <p:nvPr/>
        </p:nvSpPr>
        <p:spPr>
          <a:xfrm>
            <a:off x="812800" y="4723011"/>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2800" y="4811911"/>
            <a:ext cx="1447800" cy="198120"/>
          </a:xfrm>
          <a:prstGeom prst="rect">
            <a:avLst/>
          </a:prstGeom>
          <a:noFill/>
        </p:spPr>
        <p:txBody>
          <a:bodyPr wrap="none" lIns="0" rIns="0" tIns="0" bIns="0" anchor="t">
            <a:noAutofit/>
          </a:bodyPr>
          <a:lstStyle/>
          <a:p>
            <a:pPr algn="l"/>
            <a:r>
              <a:rPr sz="1200" b="0" i="0">
                <a:solidFill>
                  <a:srgbClr val="A34A00"/>
                </a:solidFill>
                <a:latin typeface="JetBrains Mono"/>
              </a:rPr>
              <a:t>eind feb 2028</a:t>
            </a:r>
          </a:p>
        </p:txBody>
      </p:sp>
      <p:sp>
        <p:nvSpPr>
          <p:cNvPr id="29" name="TextBox 28"/>
          <p:cNvSpPr txBox="1"/>
          <p:nvPr/>
        </p:nvSpPr>
        <p:spPr>
          <a:xfrm>
            <a:off x="2362200" y="4792861"/>
            <a:ext cx="3581400" cy="231140"/>
          </a:xfrm>
          <a:prstGeom prst="rect">
            <a:avLst/>
          </a:prstGeom>
          <a:noFill/>
        </p:spPr>
        <p:txBody>
          <a:bodyPr wrap="none" lIns="0" rIns="0" tIns="0" bIns="0" anchor="t">
            <a:noAutofit/>
          </a:bodyPr>
          <a:lstStyle/>
          <a:p>
            <a:pPr algn="l">
              <a:lnSpc>
                <a:spcPts val="1820"/>
              </a:lnSpc>
            </a:pPr>
            <a:r>
              <a:rPr sz="1400" b="0" i="0">
                <a:solidFill>
                  <a:srgbClr val="0A2540"/>
                </a:solidFill>
                <a:latin typeface="DM Sans"/>
              </a:rPr>
              <a:t>144 gerandomiseerd</a:t>
            </a:r>
          </a:p>
        </p:txBody>
      </p:sp>
      <p:sp>
        <p:nvSpPr>
          <p:cNvPr id="30" name="TextBox 29"/>
          <p:cNvSpPr txBox="1"/>
          <p:nvPr/>
        </p:nvSpPr>
        <p:spPr>
          <a:xfrm>
            <a:off x="6299200" y="4083050"/>
            <a:ext cx="1447800" cy="198120"/>
          </a:xfrm>
          <a:prstGeom prst="rect">
            <a:avLst/>
          </a:prstGeom>
          <a:noFill/>
        </p:spPr>
        <p:txBody>
          <a:bodyPr wrap="none" lIns="0" rIns="0" tIns="0" bIns="0" anchor="t">
            <a:noAutofit/>
          </a:bodyPr>
          <a:lstStyle/>
          <a:p>
            <a:pPr algn="l"/>
            <a:r>
              <a:rPr sz="1200" b="0" i="0">
                <a:solidFill>
                  <a:srgbClr val="A34A00"/>
                </a:solidFill>
                <a:latin typeface="JetBrains Mono"/>
              </a:rPr>
              <a:t>eind mrt 2028</a:t>
            </a:r>
          </a:p>
        </p:txBody>
      </p:sp>
      <p:sp>
        <p:nvSpPr>
          <p:cNvPr id="31" name="TextBox 30"/>
          <p:cNvSpPr txBox="1"/>
          <p:nvPr/>
        </p:nvSpPr>
        <p:spPr>
          <a:xfrm>
            <a:off x="7848600" y="4064000"/>
            <a:ext cx="3581400" cy="231140"/>
          </a:xfrm>
          <a:prstGeom prst="rect">
            <a:avLst/>
          </a:prstGeom>
          <a:noFill/>
        </p:spPr>
        <p:txBody>
          <a:bodyPr wrap="none" lIns="0" rIns="0" tIns="0" bIns="0" anchor="t">
            <a:noAutofit/>
          </a:bodyPr>
          <a:lstStyle/>
          <a:p>
            <a:pPr algn="l">
              <a:lnSpc>
                <a:spcPts val="1820"/>
              </a:lnSpc>
            </a:pPr>
            <a:r>
              <a:rPr sz="1400" b="0" i="0">
                <a:solidFill>
                  <a:srgbClr val="0A2540"/>
                </a:solidFill>
                <a:latin typeface="DM Sans"/>
              </a:rPr>
              <a:t>Uiterste laatste inclusie</a:t>
            </a:r>
          </a:p>
        </p:txBody>
      </p:sp>
      <p:sp>
        <p:nvSpPr>
          <p:cNvPr id="32" name="Rectangle 31"/>
          <p:cNvSpPr/>
          <p:nvPr/>
        </p:nvSpPr>
        <p:spPr>
          <a:xfrm>
            <a:off x="6299200" y="4358580"/>
            <a:ext cx="508000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9200" y="4447480"/>
            <a:ext cx="1447800" cy="198120"/>
          </a:xfrm>
          <a:prstGeom prst="rect">
            <a:avLst/>
          </a:prstGeom>
          <a:noFill/>
        </p:spPr>
        <p:txBody>
          <a:bodyPr wrap="none" lIns="0" rIns="0" tIns="0" bIns="0" anchor="t">
            <a:noAutofit/>
          </a:bodyPr>
          <a:lstStyle/>
          <a:p>
            <a:pPr algn="l"/>
            <a:r>
              <a:rPr sz="1200" b="0" i="0">
                <a:solidFill>
                  <a:srgbClr val="A34A00"/>
                </a:solidFill>
                <a:latin typeface="JetBrains Mono"/>
              </a:rPr>
              <a:t>eind aug 2029</a:t>
            </a:r>
          </a:p>
        </p:txBody>
      </p:sp>
      <p:sp>
        <p:nvSpPr>
          <p:cNvPr id="34" name="TextBox 33"/>
          <p:cNvSpPr txBox="1"/>
          <p:nvPr/>
        </p:nvSpPr>
        <p:spPr>
          <a:xfrm>
            <a:off x="7848600" y="4428430"/>
            <a:ext cx="3581400" cy="231140"/>
          </a:xfrm>
          <a:prstGeom prst="rect">
            <a:avLst/>
          </a:prstGeom>
          <a:noFill/>
        </p:spPr>
        <p:txBody>
          <a:bodyPr wrap="none" lIns="0" rIns="0" tIns="0" bIns="0" anchor="t">
            <a:noAutofit/>
          </a:bodyPr>
          <a:lstStyle/>
          <a:p>
            <a:pPr algn="l">
              <a:lnSpc>
                <a:spcPts val="1820"/>
              </a:lnSpc>
            </a:pPr>
            <a:r>
              <a:rPr sz="1400" b="0" i="0">
                <a:solidFill>
                  <a:srgbClr val="0A2540"/>
                </a:solidFill>
                <a:latin typeface="DM Sans"/>
              </a:rPr>
              <a:t>Laatste visite</a:t>
            </a:r>
          </a:p>
        </p:txBody>
      </p:sp>
      <p:pic>
        <p:nvPicPr>
          <p:cNvPr id="35" name="Picture 34"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36" name="TextBox 35"/>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37" name="TextBox 36"/>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Bron · protocol · opleidingsplanning, 30 september 2026</a:t>
            </a:r>
          </a:p>
        </p:txBody>
      </p:sp>
    </p:spTree>
  </p:cSld>
  <p:clrMapOvr>
    <a:masterClrMapping/>
  </p:clrMapOvr>
  <p:transition xmlns:p14="http://schemas.microsoft.com/office/powerpoint/2010/main" spd="med" p14:dur="700">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5 · PLANNING · OPLEIDINGEN</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Van november tot maart</a:t>
            </a:r>
          </a:p>
        </p:txBody>
      </p:sp>
      <p:sp>
        <p:nvSpPr>
          <p:cNvPr id="4" name="Rounded Rectangle 3"/>
          <p:cNvSpPr/>
          <p:nvPr/>
        </p:nvSpPr>
        <p:spPr>
          <a:xfrm>
            <a:off x="6704012" y="1533525"/>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94512" y="1498600"/>
            <a:ext cx="1380430" cy="198120"/>
          </a:xfrm>
          <a:prstGeom prst="rect">
            <a:avLst/>
          </a:prstGeom>
          <a:noFill/>
        </p:spPr>
        <p:txBody>
          <a:bodyPr wrap="none" lIns="0" rIns="0" tIns="0" bIns="0" anchor="t">
            <a:noAutofit/>
          </a:bodyPr>
          <a:lstStyle/>
          <a:p>
            <a:pPr algn="l"/>
            <a:r>
              <a:rPr sz="1200" b="0" i="0">
                <a:solidFill>
                  <a:srgbClr val="C5D8E8"/>
                </a:solidFill>
                <a:latin typeface="DM Sans"/>
              </a:rPr>
              <a:t>online, opgenomen</a:t>
            </a:r>
          </a:p>
        </p:txBody>
      </p:sp>
      <p:sp>
        <p:nvSpPr>
          <p:cNvPr id="6" name="Rounded Rectangle 5"/>
          <p:cNvSpPr/>
          <p:nvPr/>
        </p:nvSpPr>
        <p:spPr>
          <a:xfrm>
            <a:off x="8427343" y="1533525"/>
            <a:ext cx="127000" cy="127000"/>
          </a:xfrm>
          <a:prstGeom prst="roundRect">
            <a:avLst>
              <a:gd name="adj" fmla="val 50000"/>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17843" y="1498600"/>
            <a:ext cx="807839" cy="198120"/>
          </a:xfrm>
          <a:prstGeom prst="rect">
            <a:avLst/>
          </a:prstGeom>
          <a:noFill/>
        </p:spPr>
        <p:txBody>
          <a:bodyPr wrap="none" lIns="0" rIns="0" tIns="0" bIns="0" anchor="t">
            <a:noAutofit/>
          </a:bodyPr>
          <a:lstStyle/>
          <a:p>
            <a:pPr algn="l"/>
            <a:r>
              <a:rPr sz="1200" b="0" i="0">
                <a:solidFill>
                  <a:srgbClr val="C5D8E8"/>
                </a:solidFill>
                <a:latin typeface="DM Sans"/>
              </a:rPr>
              <a:t>ter plaatse</a:t>
            </a:r>
          </a:p>
        </p:txBody>
      </p:sp>
      <p:sp>
        <p:nvSpPr>
          <p:cNvPr id="8" name="Rounded Rectangle 7"/>
          <p:cNvSpPr/>
          <p:nvPr/>
        </p:nvSpPr>
        <p:spPr>
          <a:xfrm>
            <a:off x="9578082" y="1533525"/>
            <a:ext cx="127000" cy="127000"/>
          </a:xfrm>
          <a:prstGeom prst="roundRect">
            <a:avLst>
              <a:gd name="adj" fmla="val 50000"/>
            </a:avLst>
          </a:prstGeom>
          <a:solidFill>
            <a:srgbClr val="F2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68582" y="1498600"/>
            <a:ext cx="627955" cy="198120"/>
          </a:xfrm>
          <a:prstGeom prst="rect">
            <a:avLst/>
          </a:prstGeom>
          <a:noFill/>
        </p:spPr>
        <p:txBody>
          <a:bodyPr wrap="none" lIns="0" rIns="0" tIns="0" bIns="0" anchor="t">
            <a:noAutofit/>
          </a:bodyPr>
          <a:lstStyle/>
          <a:p>
            <a:pPr algn="l"/>
            <a:r>
              <a:rPr sz="1200" b="0" i="0">
                <a:solidFill>
                  <a:srgbClr val="C5D8E8"/>
                </a:solidFill>
                <a:latin typeface="DM Sans"/>
              </a:rPr>
              <a:t>centraal</a:t>
            </a:r>
          </a:p>
        </p:txBody>
      </p:sp>
      <p:sp>
        <p:nvSpPr>
          <p:cNvPr id="10" name="Rectangle 9"/>
          <p:cNvSpPr/>
          <p:nvPr/>
        </p:nvSpPr>
        <p:spPr>
          <a:xfrm>
            <a:off x="10548938" y="1508125"/>
            <a:ext cx="177800" cy="177800"/>
          </a:xfrm>
          <a:prstGeom prst="rect">
            <a:avLst/>
          </a:prstGeom>
          <a:solidFill>
            <a:srgbClr val="0F2F4E"/>
          </a:solidFill>
          <a:ln w="6350">
            <a:solidFill>
              <a:srgbClr val="21507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790238" y="1498600"/>
            <a:ext cx="639762" cy="198120"/>
          </a:xfrm>
          <a:prstGeom prst="rect">
            <a:avLst/>
          </a:prstGeom>
          <a:noFill/>
        </p:spPr>
        <p:txBody>
          <a:bodyPr wrap="none" lIns="0" rIns="0" tIns="0" bIns="0" anchor="t">
            <a:noAutofit/>
          </a:bodyPr>
          <a:lstStyle/>
          <a:p>
            <a:pPr algn="l"/>
            <a:r>
              <a:rPr sz="1200" b="0" i="0">
                <a:solidFill>
                  <a:srgbClr val="C5D8E8"/>
                </a:solidFill>
                <a:latin typeface="DM Sans"/>
              </a:rPr>
              <a:t>vakantie</a:t>
            </a:r>
          </a:p>
        </p:txBody>
      </p:sp>
      <p:sp>
        <p:nvSpPr>
          <p:cNvPr id="12" name="Rectangle 11"/>
          <p:cNvSpPr/>
          <p:nvPr/>
        </p:nvSpPr>
        <p:spPr>
          <a:xfrm>
            <a:off x="4286250" y="2374900"/>
            <a:ext cx="330200" cy="2971800"/>
          </a:xfrm>
          <a:prstGeom prst="rect">
            <a:avLst/>
          </a:prstGeom>
          <a:solidFill>
            <a:srgbClr val="0F2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604000" y="2374900"/>
            <a:ext cx="660400" cy="2971800"/>
          </a:xfrm>
          <a:prstGeom prst="rect">
            <a:avLst/>
          </a:prstGeom>
          <a:solidFill>
            <a:srgbClr val="0F2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921750" y="2374900"/>
            <a:ext cx="330200" cy="2971800"/>
          </a:xfrm>
          <a:prstGeom prst="rect">
            <a:avLst/>
          </a:prstGeom>
          <a:solidFill>
            <a:srgbClr val="0F2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239500" y="2374900"/>
            <a:ext cx="139700" cy="2971800"/>
          </a:xfrm>
          <a:prstGeom prst="rect">
            <a:avLst/>
          </a:prstGeom>
          <a:solidFill>
            <a:srgbClr val="0F2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241800" y="2095500"/>
            <a:ext cx="6350" cy="32512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05300" y="2120900"/>
            <a:ext cx="1320800" cy="198120"/>
          </a:xfrm>
          <a:prstGeom prst="rect">
            <a:avLst/>
          </a:prstGeom>
          <a:noFill/>
        </p:spPr>
        <p:txBody>
          <a:bodyPr wrap="none" lIns="0" rIns="0" tIns="0" bIns="0" anchor="t">
            <a:noAutofit/>
          </a:bodyPr>
          <a:lstStyle/>
          <a:p>
            <a:pPr algn="l"/>
            <a:r>
              <a:rPr sz="1200" b="0" i="0">
                <a:solidFill>
                  <a:srgbClr val="8FB0CA"/>
                </a:solidFill>
                <a:latin typeface="JetBrains Mono"/>
              </a:rPr>
              <a:t>november</a:t>
            </a:r>
          </a:p>
        </p:txBody>
      </p:sp>
      <p:sp>
        <p:nvSpPr>
          <p:cNvPr id="18" name="Rectangle 17"/>
          <p:cNvSpPr/>
          <p:nvPr/>
        </p:nvSpPr>
        <p:spPr>
          <a:xfrm>
            <a:off x="5657850" y="2095500"/>
            <a:ext cx="6350" cy="32512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721350" y="2120900"/>
            <a:ext cx="1320800" cy="198120"/>
          </a:xfrm>
          <a:prstGeom prst="rect">
            <a:avLst/>
          </a:prstGeom>
          <a:noFill/>
        </p:spPr>
        <p:txBody>
          <a:bodyPr wrap="none" lIns="0" rIns="0" tIns="0" bIns="0" anchor="t">
            <a:noAutofit/>
          </a:bodyPr>
          <a:lstStyle/>
          <a:p>
            <a:pPr algn="l"/>
            <a:r>
              <a:rPr sz="1200" b="0" i="0">
                <a:solidFill>
                  <a:srgbClr val="8FB0CA"/>
                </a:solidFill>
                <a:latin typeface="JetBrains Mono"/>
              </a:rPr>
              <a:t>december</a:t>
            </a:r>
          </a:p>
        </p:txBody>
      </p:sp>
      <p:sp>
        <p:nvSpPr>
          <p:cNvPr id="20" name="Rectangle 19"/>
          <p:cNvSpPr/>
          <p:nvPr/>
        </p:nvSpPr>
        <p:spPr>
          <a:xfrm>
            <a:off x="7124700" y="2095500"/>
            <a:ext cx="6350" cy="32512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188200" y="2120900"/>
            <a:ext cx="1320800" cy="198120"/>
          </a:xfrm>
          <a:prstGeom prst="rect">
            <a:avLst/>
          </a:prstGeom>
          <a:noFill/>
        </p:spPr>
        <p:txBody>
          <a:bodyPr wrap="none" lIns="0" rIns="0" tIns="0" bIns="0" anchor="t">
            <a:noAutofit/>
          </a:bodyPr>
          <a:lstStyle/>
          <a:p>
            <a:pPr algn="l"/>
            <a:r>
              <a:rPr sz="1200" b="0" i="0">
                <a:solidFill>
                  <a:srgbClr val="8FB0CA"/>
                </a:solidFill>
                <a:latin typeface="JetBrains Mono"/>
              </a:rPr>
              <a:t>januari</a:t>
            </a:r>
          </a:p>
        </p:txBody>
      </p:sp>
      <p:sp>
        <p:nvSpPr>
          <p:cNvPr id="22" name="Rectangle 21"/>
          <p:cNvSpPr/>
          <p:nvPr/>
        </p:nvSpPr>
        <p:spPr>
          <a:xfrm>
            <a:off x="8591550" y="2095500"/>
            <a:ext cx="6350" cy="32512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655050" y="2120900"/>
            <a:ext cx="1320800" cy="198120"/>
          </a:xfrm>
          <a:prstGeom prst="rect">
            <a:avLst/>
          </a:prstGeom>
          <a:noFill/>
        </p:spPr>
        <p:txBody>
          <a:bodyPr wrap="none" lIns="0" rIns="0" tIns="0" bIns="0" anchor="t">
            <a:noAutofit/>
          </a:bodyPr>
          <a:lstStyle/>
          <a:p>
            <a:pPr algn="l"/>
            <a:r>
              <a:rPr sz="1200" b="0" i="0">
                <a:solidFill>
                  <a:srgbClr val="8FB0CA"/>
                </a:solidFill>
                <a:latin typeface="JetBrains Mono"/>
              </a:rPr>
              <a:t>februari</a:t>
            </a:r>
          </a:p>
        </p:txBody>
      </p:sp>
      <p:sp>
        <p:nvSpPr>
          <p:cNvPr id="24" name="Rectangle 23"/>
          <p:cNvSpPr/>
          <p:nvPr/>
        </p:nvSpPr>
        <p:spPr>
          <a:xfrm>
            <a:off x="9912350" y="2095500"/>
            <a:ext cx="6350" cy="325120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975850" y="2120900"/>
            <a:ext cx="1320800" cy="198120"/>
          </a:xfrm>
          <a:prstGeom prst="rect">
            <a:avLst/>
          </a:prstGeom>
          <a:noFill/>
        </p:spPr>
        <p:txBody>
          <a:bodyPr wrap="none" lIns="0" rIns="0" tIns="0" bIns="0" anchor="t">
            <a:noAutofit/>
          </a:bodyPr>
          <a:lstStyle/>
          <a:p>
            <a:pPr algn="l"/>
            <a:r>
              <a:rPr sz="1200" b="0" i="0">
                <a:solidFill>
                  <a:srgbClr val="8FB0CA"/>
                </a:solidFill>
                <a:latin typeface="JetBrains Mono"/>
              </a:rPr>
              <a:t>maart</a:t>
            </a:r>
          </a:p>
        </p:txBody>
      </p:sp>
      <p:sp>
        <p:nvSpPr>
          <p:cNvPr id="26" name="Rectangle 25"/>
          <p:cNvSpPr/>
          <p:nvPr/>
        </p:nvSpPr>
        <p:spPr>
          <a:xfrm>
            <a:off x="812800" y="2368550"/>
            <a:ext cx="105664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2800" y="24257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Theorie, vier blokken</a:t>
            </a:r>
          </a:p>
        </p:txBody>
      </p:sp>
      <p:sp>
        <p:nvSpPr>
          <p:cNvPr id="28" name="Rounded Rectangle 27"/>
          <p:cNvSpPr/>
          <p:nvPr/>
        </p:nvSpPr>
        <p:spPr>
          <a:xfrm>
            <a:off x="4629150" y="24765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5289550" y="24765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0050" y="2432050"/>
            <a:ext cx="2336800" cy="198120"/>
          </a:xfrm>
          <a:prstGeom prst="rect">
            <a:avLst/>
          </a:prstGeom>
          <a:noFill/>
        </p:spPr>
        <p:txBody>
          <a:bodyPr wrap="none" lIns="0" rIns="0" tIns="0" bIns="0" anchor="t">
            <a:noAutofit/>
          </a:bodyPr>
          <a:lstStyle/>
          <a:p>
            <a:pPr algn="l"/>
            <a:r>
              <a:rPr sz="1200" b="0" i="0">
                <a:solidFill>
                  <a:srgbClr val="C5D8E8"/>
                </a:solidFill>
                <a:latin typeface="DM Sans"/>
              </a:rPr>
              <a:t>10 en 24 nov · Janou</a:t>
            </a:r>
          </a:p>
        </p:txBody>
      </p:sp>
      <p:sp>
        <p:nvSpPr>
          <p:cNvPr id="31" name="Rectangle 30"/>
          <p:cNvSpPr/>
          <p:nvPr/>
        </p:nvSpPr>
        <p:spPr>
          <a:xfrm>
            <a:off x="812800" y="27051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12800" y="27559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Gezondheidseconomie en procesevaluatie</a:t>
            </a:r>
          </a:p>
        </p:txBody>
      </p:sp>
      <p:sp>
        <p:nvSpPr>
          <p:cNvPr id="33" name="Rounded Rectangle 32"/>
          <p:cNvSpPr/>
          <p:nvPr/>
        </p:nvSpPr>
        <p:spPr>
          <a:xfrm>
            <a:off x="5949950" y="28067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140450" y="2762250"/>
            <a:ext cx="2336800" cy="198120"/>
          </a:xfrm>
          <a:prstGeom prst="rect">
            <a:avLst/>
          </a:prstGeom>
          <a:noFill/>
        </p:spPr>
        <p:txBody>
          <a:bodyPr wrap="none" lIns="0" rIns="0" tIns="0" bIns="0" anchor="t">
            <a:noAutofit/>
          </a:bodyPr>
          <a:lstStyle/>
          <a:p>
            <a:pPr algn="l"/>
            <a:r>
              <a:rPr sz="1200" b="0" i="0">
                <a:solidFill>
                  <a:srgbClr val="C5D8E8"/>
                </a:solidFill>
                <a:latin typeface="DM Sans"/>
              </a:rPr>
              <a:t>8 dec · doctorandi A of B</a:t>
            </a:r>
          </a:p>
        </p:txBody>
      </p:sp>
      <p:sp>
        <p:nvSpPr>
          <p:cNvPr id="35" name="Rectangle 34"/>
          <p:cNvSpPr/>
          <p:nvPr/>
        </p:nvSpPr>
        <p:spPr>
          <a:xfrm>
            <a:off x="812800" y="30353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12800" y="30861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Technologie</a:t>
            </a:r>
          </a:p>
        </p:txBody>
      </p:sp>
      <p:sp>
        <p:nvSpPr>
          <p:cNvPr id="37" name="Rounded Rectangle 36"/>
          <p:cNvSpPr/>
          <p:nvPr/>
        </p:nvSpPr>
        <p:spPr>
          <a:xfrm>
            <a:off x="5708650" y="3143250"/>
            <a:ext cx="660400" cy="114300"/>
          </a:xfrm>
          <a:prstGeom prst="roundRect">
            <a:avLst>
              <a:gd name="adj" fmla="val 50000"/>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96050" y="3092450"/>
            <a:ext cx="2336800" cy="198120"/>
          </a:xfrm>
          <a:prstGeom prst="rect">
            <a:avLst/>
          </a:prstGeom>
          <a:noFill/>
        </p:spPr>
        <p:txBody>
          <a:bodyPr wrap="none" lIns="0" rIns="0" tIns="0" bIns="0" anchor="t">
            <a:noAutofit/>
          </a:bodyPr>
          <a:lstStyle/>
          <a:p>
            <a:pPr algn="l"/>
            <a:r>
              <a:rPr sz="1200" b="0" i="0">
                <a:solidFill>
                  <a:srgbClr val="C5D8E8"/>
                </a:solidFill>
                <a:latin typeface="DM Sans"/>
              </a:rPr>
              <a:t>2 tot 15 dec · Janou</a:t>
            </a:r>
          </a:p>
        </p:txBody>
      </p:sp>
      <p:sp>
        <p:nvSpPr>
          <p:cNvPr id="39" name="Rectangle 38"/>
          <p:cNvSpPr/>
          <p:nvPr/>
        </p:nvSpPr>
        <p:spPr>
          <a:xfrm>
            <a:off x="812800" y="33655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12800" y="34163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Datacollectie en vragenlijsten</a:t>
            </a:r>
          </a:p>
        </p:txBody>
      </p:sp>
      <p:sp>
        <p:nvSpPr>
          <p:cNvPr id="41" name="Rounded Rectangle 40"/>
          <p:cNvSpPr/>
          <p:nvPr/>
        </p:nvSpPr>
        <p:spPr>
          <a:xfrm>
            <a:off x="7607300" y="3467100"/>
            <a:ext cx="127000" cy="127000"/>
          </a:xfrm>
          <a:prstGeom prst="roundRect">
            <a:avLst>
              <a:gd name="adj" fmla="val 50000"/>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797800" y="3422650"/>
            <a:ext cx="2336800" cy="198120"/>
          </a:xfrm>
          <a:prstGeom prst="rect">
            <a:avLst/>
          </a:prstGeom>
          <a:noFill/>
        </p:spPr>
        <p:txBody>
          <a:bodyPr wrap="none" lIns="0" rIns="0" tIns="0" bIns="0" anchor="t">
            <a:noAutofit/>
          </a:bodyPr>
          <a:lstStyle/>
          <a:p>
            <a:pPr algn="l"/>
            <a:r>
              <a:rPr sz="1200" b="0" i="0">
                <a:solidFill>
                  <a:srgbClr val="C5D8E8"/>
                </a:solidFill>
                <a:latin typeface="DM Sans"/>
              </a:rPr>
              <a:t>12 jan · Janou</a:t>
            </a:r>
          </a:p>
        </p:txBody>
      </p:sp>
      <p:sp>
        <p:nvSpPr>
          <p:cNvPr id="43" name="Rectangle 42"/>
          <p:cNvSpPr/>
          <p:nvPr/>
        </p:nvSpPr>
        <p:spPr>
          <a:xfrm>
            <a:off x="812800" y="36957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12800" y="37465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SEBIA 1 en 2, drie groepen</a:t>
            </a:r>
          </a:p>
        </p:txBody>
      </p:sp>
      <p:sp>
        <p:nvSpPr>
          <p:cNvPr id="45" name="Rounded Rectangle 44"/>
          <p:cNvSpPr/>
          <p:nvPr/>
        </p:nvSpPr>
        <p:spPr>
          <a:xfrm>
            <a:off x="7321550" y="3797300"/>
            <a:ext cx="127000" cy="127000"/>
          </a:xfrm>
          <a:prstGeom prst="roundRect">
            <a:avLst>
              <a:gd name="adj" fmla="val 50000"/>
            </a:avLst>
          </a:prstGeom>
          <a:solidFill>
            <a:srgbClr val="F2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7607300" y="3797300"/>
            <a:ext cx="127000" cy="127000"/>
          </a:xfrm>
          <a:prstGeom prst="roundRect">
            <a:avLst>
              <a:gd name="adj" fmla="val 50000"/>
            </a:avLst>
          </a:prstGeom>
          <a:solidFill>
            <a:srgbClr val="F2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7747000" y="3797300"/>
            <a:ext cx="127000" cy="127000"/>
          </a:xfrm>
          <a:prstGeom prst="roundRect">
            <a:avLst>
              <a:gd name="adj" fmla="val 50000"/>
            </a:avLst>
          </a:prstGeom>
          <a:solidFill>
            <a:srgbClr val="F2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937500" y="3752850"/>
            <a:ext cx="2336800" cy="198120"/>
          </a:xfrm>
          <a:prstGeom prst="rect">
            <a:avLst/>
          </a:prstGeom>
          <a:noFill/>
        </p:spPr>
        <p:txBody>
          <a:bodyPr wrap="none" lIns="0" rIns="0" tIns="0" bIns="0" anchor="t">
            <a:noAutofit/>
          </a:bodyPr>
          <a:lstStyle/>
          <a:p>
            <a:pPr algn="l"/>
            <a:r>
              <a:rPr sz="1200" b="0" i="0">
                <a:solidFill>
                  <a:srgbClr val="C5D8E8"/>
                </a:solidFill>
                <a:latin typeface="DM Sans"/>
              </a:rPr>
              <a:t>6, 12 en 15 jan · Dobbels</a:t>
            </a:r>
          </a:p>
        </p:txBody>
      </p:sp>
      <p:sp>
        <p:nvSpPr>
          <p:cNvPr id="49" name="Rectangle 48"/>
          <p:cNvSpPr/>
          <p:nvPr/>
        </p:nvSpPr>
        <p:spPr>
          <a:xfrm>
            <a:off x="812800" y="40259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12800" y="40767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Droogloop, vier visites</a:t>
            </a:r>
          </a:p>
        </p:txBody>
      </p:sp>
      <p:sp>
        <p:nvSpPr>
          <p:cNvPr id="51" name="Rounded Rectangle 50"/>
          <p:cNvSpPr/>
          <p:nvPr/>
        </p:nvSpPr>
        <p:spPr>
          <a:xfrm>
            <a:off x="7689850" y="4133850"/>
            <a:ext cx="711200" cy="114300"/>
          </a:xfrm>
          <a:prstGeom prst="roundRect">
            <a:avLst>
              <a:gd name="adj" fmla="val 50000"/>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8528050" y="4083050"/>
            <a:ext cx="2336800" cy="198120"/>
          </a:xfrm>
          <a:prstGeom prst="rect">
            <a:avLst/>
          </a:prstGeom>
          <a:noFill/>
        </p:spPr>
        <p:txBody>
          <a:bodyPr wrap="none" lIns="0" rIns="0" tIns="0" bIns="0" anchor="t">
            <a:noAutofit/>
          </a:bodyPr>
          <a:lstStyle/>
          <a:p>
            <a:pPr algn="l"/>
            <a:r>
              <a:rPr sz="1200" b="0" i="0">
                <a:solidFill>
                  <a:srgbClr val="C5D8E8"/>
                </a:solidFill>
                <a:latin typeface="DM Sans"/>
              </a:rPr>
              <a:t>13 tot 27 jan · Janou</a:t>
            </a:r>
          </a:p>
        </p:txBody>
      </p:sp>
      <p:sp>
        <p:nvSpPr>
          <p:cNvPr id="53" name="Rectangle 52"/>
          <p:cNvSpPr/>
          <p:nvPr/>
        </p:nvSpPr>
        <p:spPr>
          <a:xfrm>
            <a:off x="812800" y="43561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812800" y="44069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Piloot en Go/No-Go</a:t>
            </a:r>
          </a:p>
        </p:txBody>
      </p:sp>
      <p:sp>
        <p:nvSpPr>
          <p:cNvPr id="55" name="Rounded Rectangle 54"/>
          <p:cNvSpPr/>
          <p:nvPr/>
        </p:nvSpPr>
        <p:spPr>
          <a:xfrm>
            <a:off x="8591550" y="4464050"/>
            <a:ext cx="234950" cy="1143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ounded Rectangle 55"/>
          <p:cNvSpPr/>
          <p:nvPr/>
        </p:nvSpPr>
        <p:spPr>
          <a:xfrm>
            <a:off x="9251950" y="4464050"/>
            <a:ext cx="234950" cy="1143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9588500" y="4457700"/>
            <a:ext cx="127000" cy="127000"/>
          </a:xfrm>
          <a:prstGeom prst="roundRect">
            <a:avLst>
              <a:gd name="adj" fmla="val 50000"/>
            </a:avLst>
          </a:prstGeom>
          <a:solidFill>
            <a:srgbClr val="8FB0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9779000" y="4413250"/>
            <a:ext cx="2336800" cy="198120"/>
          </a:xfrm>
          <a:prstGeom prst="rect">
            <a:avLst/>
          </a:prstGeom>
          <a:noFill/>
        </p:spPr>
        <p:txBody>
          <a:bodyPr wrap="none" lIns="0" rIns="0" tIns="0" bIns="0" anchor="t">
            <a:noAutofit/>
          </a:bodyPr>
          <a:lstStyle/>
          <a:p>
            <a:pPr algn="l"/>
            <a:r>
              <a:rPr sz="1200" b="0" i="0">
                <a:solidFill>
                  <a:srgbClr val="C5D8E8"/>
                </a:solidFill>
                <a:latin typeface="DM Sans"/>
              </a:rPr>
              <a:t>Go/No-Go 23 feb</a:t>
            </a:r>
          </a:p>
        </p:txBody>
      </p:sp>
      <p:sp>
        <p:nvSpPr>
          <p:cNvPr id="59" name="Rectangle 58"/>
          <p:cNvSpPr/>
          <p:nvPr/>
        </p:nvSpPr>
        <p:spPr>
          <a:xfrm>
            <a:off x="812800" y="46863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812800" y="47371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SEBIA 3 en 4, drie groepen</a:t>
            </a:r>
          </a:p>
        </p:txBody>
      </p:sp>
      <p:sp>
        <p:nvSpPr>
          <p:cNvPr id="61" name="Rounded Rectangle 60"/>
          <p:cNvSpPr/>
          <p:nvPr/>
        </p:nvSpPr>
        <p:spPr>
          <a:xfrm>
            <a:off x="10293350" y="4794250"/>
            <a:ext cx="190500" cy="114300"/>
          </a:xfrm>
          <a:prstGeom prst="roundRect">
            <a:avLst>
              <a:gd name="adj" fmla="val 50000"/>
            </a:avLst>
          </a:prstGeom>
          <a:solidFill>
            <a:srgbClr val="F2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7067550" y="4743450"/>
            <a:ext cx="3098800" cy="198120"/>
          </a:xfrm>
          <a:prstGeom prst="rect">
            <a:avLst/>
          </a:prstGeom>
          <a:noFill/>
        </p:spPr>
        <p:txBody>
          <a:bodyPr wrap="none" lIns="0" rIns="0" tIns="0" bIns="0" anchor="t">
            <a:noAutofit/>
          </a:bodyPr>
          <a:lstStyle/>
          <a:p>
            <a:pPr algn="r"/>
            <a:r>
              <a:rPr sz="1200" b="0" i="0">
                <a:solidFill>
                  <a:srgbClr val="C5D8E8"/>
                </a:solidFill>
                <a:latin typeface="DM Sans"/>
              </a:rPr>
              <a:t>voorstel 9 tot 12 mrt · Dobbels</a:t>
            </a:r>
          </a:p>
        </p:txBody>
      </p:sp>
      <p:sp>
        <p:nvSpPr>
          <p:cNvPr id="63" name="Rectangle 62"/>
          <p:cNvSpPr/>
          <p:nvPr/>
        </p:nvSpPr>
        <p:spPr>
          <a:xfrm>
            <a:off x="812800" y="5016500"/>
            <a:ext cx="3302000" cy="6350"/>
          </a:xfrm>
          <a:prstGeom prst="rect">
            <a:avLst/>
          </a:prstGeom>
          <a:solidFill>
            <a:srgbClr val="1539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12800" y="5067300"/>
            <a:ext cx="33401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SEBIA 5, per podoloog</a:t>
            </a:r>
          </a:p>
        </p:txBody>
      </p:sp>
      <p:sp>
        <p:nvSpPr>
          <p:cNvPr id="65" name="Rounded Rectangle 64"/>
          <p:cNvSpPr/>
          <p:nvPr/>
        </p:nvSpPr>
        <p:spPr>
          <a:xfrm>
            <a:off x="10572750" y="5124450"/>
            <a:ext cx="565150" cy="114300"/>
          </a:xfrm>
          <a:prstGeom prst="roundRect">
            <a:avLst>
              <a:gd name="adj" fmla="val 50000"/>
            </a:avLst>
          </a:prstGeom>
          <a:solidFill>
            <a:srgbClr val="FF9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346950" y="5073650"/>
            <a:ext cx="3098800" cy="198120"/>
          </a:xfrm>
          <a:prstGeom prst="rect">
            <a:avLst/>
          </a:prstGeom>
          <a:noFill/>
        </p:spPr>
        <p:txBody>
          <a:bodyPr wrap="none" lIns="0" rIns="0" tIns="0" bIns="0" anchor="t">
            <a:noAutofit/>
          </a:bodyPr>
          <a:lstStyle/>
          <a:p>
            <a:pPr algn="r"/>
            <a:r>
              <a:rPr sz="1200" b="0" i="0">
                <a:solidFill>
                  <a:srgbClr val="C5D8E8"/>
                </a:solidFill>
                <a:latin typeface="DM Sans"/>
              </a:rPr>
              <a:t>15 tot 26 mrt, in het centrum · Dobbels</a:t>
            </a:r>
          </a:p>
        </p:txBody>
      </p:sp>
      <p:sp>
        <p:nvSpPr>
          <p:cNvPr id="67" name="TextBox 66"/>
          <p:cNvSpPr txBox="1"/>
          <p:nvPr/>
        </p:nvSpPr>
        <p:spPr>
          <a:xfrm>
            <a:off x="812800" y="5524500"/>
            <a:ext cx="10617200" cy="222885"/>
          </a:xfrm>
          <a:prstGeom prst="rect">
            <a:avLst/>
          </a:prstGeom>
          <a:noFill/>
        </p:spPr>
        <p:txBody>
          <a:bodyPr wrap="none" lIns="0" rIns="0" tIns="0" bIns="0" anchor="t">
            <a:noAutofit/>
          </a:bodyPr>
          <a:lstStyle/>
          <a:p>
            <a:pPr algn="l">
              <a:lnSpc>
                <a:spcPts val="1755"/>
              </a:lnSpc>
            </a:pPr>
            <a:r>
              <a:rPr sz="1300" b="0" i="0">
                <a:solidFill>
                  <a:srgbClr val="F2F8FC"/>
                </a:solidFill>
                <a:latin typeface="DM Sans"/>
              </a:rPr>
              <a:t>Artsen: alleen de theorie · online sessies worden opgenomen · SEBIA 6 online, sep–nov 2027</a:t>
            </a:r>
          </a:p>
        </p:txBody>
      </p:sp>
      <p:pic>
        <p:nvPicPr>
          <p:cNvPr id="68" name="Picture 67"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69" name="TextBox 68"/>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70" name="TextBox 69"/>
          <p:cNvSpPr txBox="1"/>
          <p:nvPr/>
        </p:nvSpPr>
        <p:spPr>
          <a:xfrm>
            <a:off x="6502400" y="6254750"/>
            <a:ext cx="4876800" cy="198120"/>
          </a:xfrm>
          <a:prstGeom prst="rect">
            <a:avLst/>
          </a:prstGeom>
          <a:noFill/>
        </p:spPr>
        <p:txBody>
          <a:bodyPr wrap="none" lIns="0" rIns="0" tIns="0" bIns="0" anchor="t">
            <a:noAutofit/>
          </a:bodyPr>
          <a:lstStyle/>
          <a:p>
            <a:pPr algn="r"/>
            <a:r>
              <a:rPr sz="1200" b="0" i="0">
                <a:solidFill>
                  <a:srgbClr val="6F8FAA"/>
                </a:solidFill>
                <a:latin typeface="JetBrains Mono"/>
              </a:rPr>
              <a:t>Bron · opleidingsplanning, 30 september 2026</a:t>
            </a:r>
          </a:p>
        </p:txBody>
      </p:sp>
    </p:spTree>
  </p:cSld>
  <p:clrMapOvr>
    <a:masterClrMapping/>
  </p:clrMapOvr>
  <p:transition xmlns:p14="http://schemas.microsoft.com/office/powerpoint/2010/main" spd="med" p14:dur="700">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5 · PLANNING · SEBIA-OPLEIDING</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Zes sessies, van educatie naar therapietrouw</a:t>
            </a:r>
          </a:p>
        </p:txBody>
      </p:sp>
      <p:sp>
        <p:nvSpPr>
          <p:cNvPr id="4" name="TextBox 3"/>
          <p:cNvSpPr txBox="1"/>
          <p:nvPr/>
        </p:nvSpPr>
        <p:spPr>
          <a:xfrm>
            <a:off x="812800" y="1817291"/>
            <a:ext cx="10617200" cy="257175"/>
          </a:xfrm>
          <a:prstGeom prst="rect">
            <a:avLst/>
          </a:prstGeom>
          <a:noFill/>
        </p:spPr>
        <p:txBody>
          <a:bodyPr wrap="none" lIns="0" rIns="0" tIns="0" bIns="0" anchor="t">
            <a:noAutofit/>
          </a:bodyPr>
          <a:lstStyle/>
          <a:p>
            <a:pPr algn="l">
              <a:lnSpc>
                <a:spcPts val="2025"/>
              </a:lnSpc>
            </a:pPr>
            <a:r>
              <a:rPr sz="1500" b="0" i="0">
                <a:solidFill>
                  <a:srgbClr val="0A2540"/>
                </a:solidFill>
                <a:latin typeface="DM Sans"/>
              </a:rPr>
              <a:t>Het SEBIA-gesprek komt op elke visite van de PARADISE-arm terug. Fabienne leert het de podologen aan.</a:t>
            </a:r>
          </a:p>
        </p:txBody>
      </p:sp>
      <p:sp>
        <p:nvSpPr>
          <p:cNvPr id="5" name="Rounded Rectangle 4"/>
          <p:cNvSpPr/>
          <p:nvPr/>
        </p:nvSpPr>
        <p:spPr>
          <a:xfrm>
            <a:off x="812800" y="2277666"/>
            <a:ext cx="2546350" cy="2621161"/>
          </a:xfrm>
          <a:prstGeom prst="roundRect">
            <a:avLst>
              <a:gd name="adj" fmla="val 498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950" y="2449116"/>
            <a:ext cx="2228850" cy="184150"/>
          </a:xfrm>
          <a:prstGeom prst="rect">
            <a:avLst/>
          </a:prstGeom>
          <a:noFill/>
        </p:spPr>
        <p:txBody>
          <a:bodyPr wrap="none" lIns="0" rIns="0" tIns="0" bIns="0" anchor="t">
            <a:noAutofit/>
          </a:bodyPr>
          <a:lstStyle/>
          <a:p>
            <a:pPr algn="l"/>
            <a:r>
              <a:rPr sz="1100" b="0" i="0" spc="100">
                <a:solidFill>
                  <a:srgbClr val="0B6E8F"/>
                </a:solidFill>
                <a:latin typeface="JetBrains Mono"/>
              </a:rPr>
              <a:t>JANUARI · 4 U</a:t>
            </a:r>
          </a:p>
        </p:txBody>
      </p:sp>
      <p:sp>
        <p:nvSpPr>
          <p:cNvPr id="7" name="TextBox 6"/>
          <p:cNvSpPr txBox="1"/>
          <p:nvPr/>
        </p:nvSpPr>
        <p:spPr>
          <a:xfrm>
            <a:off x="996950" y="2696766"/>
            <a:ext cx="2228850" cy="406400"/>
          </a:xfrm>
          <a:prstGeom prst="rect">
            <a:avLst/>
          </a:prstGeom>
          <a:noFill/>
        </p:spPr>
        <p:txBody>
          <a:bodyPr wrap="none" lIns="0" rIns="0" tIns="0" bIns="0" anchor="t">
            <a:noAutofit/>
          </a:bodyPr>
          <a:lstStyle/>
          <a:p>
            <a:pPr algn="l">
              <a:lnSpc>
                <a:spcPts val="3200"/>
              </a:lnSpc>
            </a:pPr>
            <a:r>
              <a:rPr sz="3200" b="0" i="0">
                <a:solidFill>
                  <a:srgbClr val="0A2540"/>
                </a:solidFill>
                <a:latin typeface="DM Serif Display"/>
              </a:rPr>
              <a:t>1 + 2</a:t>
            </a:r>
          </a:p>
        </p:txBody>
      </p:sp>
      <p:sp>
        <p:nvSpPr>
          <p:cNvPr id="8" name="TextBox 7"/>
          <p:cNvSpPr txBox="1"/>
          <p:nvPr/>
        </p:nvSpPr>
        <p:spPr>
          <a:xfrm>
            <a:off x="996950" y="3166666"/>
            <a:ext cx="222885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Educatie en feedback</a:t>
            </a:r>
          </a:p>
        </p:txBody>
      </p:sp>
      <p:sp>
        <p:nvSpPr>
          <p:cNvPr id="9" name="TextBox 8"/>
          <p:cNvSpPr txBox="1"/>
          <p:nvPr/>
        </p:nvSpPr>
        <p:spPr>
          <a:xfrm>
            <a:off x="996950" y="3452416"/>
            <a:ext cx="2228850" cy="883841"/>
          </a:xfrm>
          <a:prstGeom prst="rect">
            <a:avLst/>
          </a:prstGeom>
          <a:noFill/>
        </p:spPr>
        <p:txBody>
          <a:bodyPr wrap="square" lIns="0" rIns="0" tIns="0" bIns="0" anchor="t">
            <a:noAutofit/>
          </a:bodyPr>
          <a:lstStyle/>
          <a:p>
            <a:pPr algn="l">
              <a:lnSpc>
                <a:spcPts val="1739"/>
              </a:lnSpc>
            </a:pPr>
            <a:r>
              <a:rPr sz="1200" b="0" i="0">
                <a:solidFill>
                  <a:srgbClr val="3A4F63"/>
                </a:solidFill>
                <a:latin typeface="DM Sans"/>
              </a:rPr>
              <a:t>teach-back en show-me</a:t>
            </a:r>
          </a:p>
          <a:p>
            <a:pPr algn="l">
              <a:lnSpc>
                <a:spcPts val="1739"/>
              </a:lnSpc>
            </a:pPr>
            <a:r>
              <a:rPr sz="1200" b="0" i="0">
                <a:solidFill>
                  <a:srgbClr val="3A4F63"/>
                </a:solidFill>
                <a:latin typeface="DM Sans"/>
              </a:rPr>
              <a:t>voetzorg voordoen</a:t>
            </a:r>
          </a:p>
          <a:p>
            <a:pPr algn="l">
              <a:lnSpc>
                <a:spcPts val="1739"/>
              </a:lnSpc>
            </a:pPr>
            <a:r>
              <a:rPr sz="1200" b="0" i="0">
                <a:solidFill>
                  <a:srgbClr val="3A4F63"/>
                </a:solidFill>
                <a:latin typeface="DM Sans"/>
              </a:rPr>
              <a:t>kennis toetsen (NAFF)</a:t>
            </a:r>
          </a:p>
          <a:p>
            <a:pPr algn="l">
              <a:lnSpc>
                <a:spcPts val="1739"/>
              </a:lnSpc>
            </a:pPr>
            <a:r>
              <a:rPr sz="1200" b="0" i="0">
                <a:solidFill>
                  <a:srgbClr val="3A4F63"/>
                </a:solidFill>
                <a:latin typeface="DM Sans"/>
              </a:rPr>
              <a:t>feedback op de draagtijd</a:t>
            </a:r>
          </a:p>
        </p:txBody>
      </p:sp>
      <p:sp>
        <p:nvSpPr>
          <p:cNvPr id="10" name="Rectangle 9"/>
          <p:cNvSpPr/>
          <p:nvPr/>
        </p:nvSpPr>
        <p:spPr>
          <a:xfrm>
            <a:off x="996950" y="4463256"/>
            <a:ext cx="2178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950" y="4545806"/>
            <a:ext cx="2228850" cy="181610"/>
          </a:xfrm>
          <a:prstGeom prst="rect">
            <a:avLst/>
          </a:prstGeom>
          <a:noFill/>
        </p:spPr>
        <p:txBody>
          <a:bodyPr wrap="none" lIns="0" rIns="0" tIns="0" bIns="0" anchor="t">
            <a:noAutofit/>
          </a:bodyPr>
          <a:lstStyle/>
          <a:p>
            <a:pPr algn="l">
              <a:lnSpc>
                <a:spcPts val="1430"/>
              </a:lnSpc>
            </a:pPr>
            <a:r>
              <a:rPr sz="1100" b="0" i="0">
                <a:solidFill>
                  <a:srgbClr val="5A6E80"/>
                </a:solidFill>
                <a:latin typeface="DM Sans"/>
              </a:rPr>
              <a:t>overdag, drie groepen</a:t>
            </a:r>
          </a:p>
        </p:txBody>
      </p:sp>
      <p:sp>
        <p:nvSpPr>
          <p:cNvPr id="12" name="Rounded Rectangle 11"/>
          <p:cNvSpPr/>
          <p:nvPr/>
        </p:nvSpPr>
        <p:spPr>
          <a:xfrm>
            <a:off x="3486150" y="2277666"/>
            <a:ext cx="2546350" cy="2621161"/>
          </a:xfrm>
          <a:prstGeom prst="roundRect">
            <a:avLst>
              <a:gd name="adj" fmla="val 498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670300" y="2449116"/>
            <a:ext cx="2228850" cy="184150"/>
          </a:xfrm>
          <a:prstGeom prst="rect">
            <a:avLst/>
          </a:prstGeom>
          <a:noFill/>
        </p:spPr>
        <p:txBody>
          <a:bodyPr wrap="none" lIns="0" rIns="0" tIns="0" bIns="0" anchor="t">
            <a:noAutofit/>
          </a:bodyPr>
          <a:lstStyle/>
          <a:p>
            <a:pPr algn="l"/>
            <a:r>
              <a:rPr sz="1100" b="0" i="0" spc="100">
                <a:solidFill>
                  <a:srgbClr val="0B6E8F"/>
                </a:solidFill>
                <a:latin typeface="JetBrains Mono"/>
              </a:rPr>
              <a:t>MAART · 4 U</a:t>
            </a:r>
          </a:p>
        </p:txBody>
      </p:sp>
      <p:sp>
        <p:nvSpPr>
          <p:cNvPr id="14" name="TextBox 13"/>
          <p:cNvSpPr txBox="1"/>
          <p:nvPr/>
        </p:nvSpPr>
        <p:spPr>
          <a:xfrm>
            <a:off x="3670300" y="2696766"/>
            <a:ext cx="2228850" cy="406400"/>
          </a:xfrm>
          <a:prstGeom prst="rect">
            <a:avLst/>
          </a:prstGeom>
          <a:noFill/>
        </p:spPr>
        <p:txBody>
          <a:bodyPr wrap="none" lIns="0" rIns="0" tIns="0" bIns="0" anchor="t">
            <a:noAutofit/>
          </a:bodyPr>
          <a:lstStyle/>
          <a:p>
            <a:pPr algn="l">
              <a:lnSpc>
                <a:spcPts val="3200"/>
              </a:lnSpc>
            </a:pPr>
            <a:r>
              <a:rPr sz="3200" b="0" i="0">
                <a:solidFill>
                  <a:srgbClr val="0A2540"/>
                </a:solidFill>
                <a:latin typeface="DM Serif Display"/>
              </a:rPr>
              <a:t>3 + 4</a:t>
            </a:r>
          </a:p>
        </p:txBody>
      </p:sp>
      <p:sp>
        <p:nvSpPr>
          <p:cNvPr id="15" name="TextBox 14"/>
          <p:cNvSpPr txBox="1"/>
          <p:nvPr/>
        </p:nvSpPr>
        <p:spPr>
          <a:xfrm>
            <a:off x="3670300" y="3166666"/>
            <a:ext cx="2228850" cy="444500"/>
          </a:xfrm>
          <a:prstGeom prst="rect">
            <a:avLst/>
          </a:prstGeom>
          <a:noFill/>
        </p:spPr>
        <p:txBody>
          <a:bodyPr wrap="square" lIns="0" rIns="0" tIns="0" bIns="0" anchor="t">
            <a:noAutofit/>
          </a:bodyPr>
          <a:lstStyle/>
          <a:p>
            <a:pPr algn="l">
              <a:lnSpc>
                <a:spcPts val="1750"/>
              </a:lnSpc>
            </a:pPr>
            <a:r>
              <a:rPr sz="1400" b="1" i="0">
                <a:solidFill>
                  <a:srgbClr val="0A2540"/>
                </a:solidFill>
                <a:latin typeface="DM Sans"/>
              </a:rPr>
              <a:t>Motiverende gespreksvoering</a:t>
            </a:r>
          </a:p>
        </p:txBody>
      </p:sp>
      <p:sp>
        <p:nvSpPr>
          <p:cNvPr id="16" name="TextBox 15"/>
          <p:cNvSpPr txBox="1"/>
          <p:nvPr/>
        </p:nvSpPr>
        <p:spPr>
          <a:xfrm>
            <a:off x="3670300" y="3674666"/>
            <a:ext cx="2228850" cy="441920"/>
          </a:xfrm>
          <a:prstGeom prst="rect">
            <a:avLst/>
          </a:prstGeom>
          <a:noFill/>
        </p:spPr>
        <p:txBody>
          <a:bodyPr wrap="square" lIns="0" rIns="0" tIns="0" bIns="0" anchor="t">
            <a:noAutofit/>
          </a:bodyPr>
          <a:lstStyle/>
          <a:p>
            <a:pPr algn="l">
              <a:lnSpc>
                <a:spcPts val="1739"/>
              </a:lnSpc>
            </a:pPr>
            <a:r>
              <a:rPr sz="1200" b="0" i="0">
                <a:solidFill>
                  <a:srgbClr val="3A4F63"/>
                </a:solidFill>
                <a:latin typeface="DM Sans"/>
              </a:rPr>
              <a:t>motivatie inschatten</a:t>
            </a:r>
          </a:p>
          <a:p>
            <a:pPr algn="l">
              <a:lnSpc>
                <a:spcPts val="1739"/>
              </a:lnSpc>
            </a:pPr>
            <a:r>
              <a:rPr sz="1200" b="0" i="0">
                <a:solidFill>
                  <a:srgbClr val="3A4F63"/>
                </a:solidFill>
                <a:latin typeface="DM Sans"/>
              </a:rPr>
              <a:t>interventie op maat</a:t>
            </a:r>
          </a:p>
        </p:txBody>
      </p:sp>
      <p:sp>
        <p:nvSpPr>
          <p:cNvPr id="17" name="Rectangle 16"/>
          <p:cNvSpPr/>
          <p:nvPr/>
        </p:nvSpPr>
        <p:spPr>
          <a:xfrm>
            <a:off x="3670300" y="4463256"/>
            <a:ext cx="2178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300" y="4545806"/>
            <a:ext cx="2228850" cy="181610"/>
          </a:xfrm>
          <a:prstGeom prst="rect">
            <a:avLst/>
          </a:prstGeom>
          <a:noFill/>
        </p:spPr>
        <p:txBody>
          <a:bodyPr wrap="none" lIns="0" rIns="0" tIns="0" bIns="0" anchor="t">
            <a:noAutofit/>
          </a:bodyPr>
          <a:lstStyle/>
          <a:p>
            <a:pPr algn="l">
              <a:lnSpc>
                <a:spcPts val="1430"/>
              </a:lnSpc>
            </a:pPr>
            <a:r>
              <a:rPr sz="1100" b="0" i="0">
                <a:solidFill>
                  <a:srgbClr val="5A6E80"/>
                </a:solidFill>
                <a:latin typeface="DM Sans"/>
              </a:rPr>
              <a:t>overdag, drie groepen (voorstel)</a:t>
            </a:r>
          </a:p>
        </p:txBody>
      </p:sp>
      <p:sp>
        <p:nvSpPr>
          <p:cNvPr id="19" name="Rounded Rectangle 18"/>
          <p:cNvSpPr/>
          <p:nvPr/>
        </p:nvSpPr>
        <p:spPr>
          <a:xfrm>
            <a:off x="6159500" y="2277666"/>
            <a:ext cx="2546350" cy="2621161"/>
          </a:xfrm>
          <a:prstGeom prst="roundRect">
            <a:avLst>
              <a:gd name="adj" fmla="val 498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43650" y="2449116"/>
            <a:ext cx="2228850" cy="184150"/>
          </a:xfrm>
          <a:prstGeom prst="rect">
            <a:avLst/>
          </a:prstGeom>
          <a:noFill/>
        </p:spPr>
        <p:txBody>
          <a:bodyPr wrap="none" lIns="0" rIns="0" tIns="0" bIns="0" anchor="t">
            <a:noAutofit/>
          </a:bodyPr>
          <a:lstStyle/>
          <a:p>
            <a:pPr algn="l"/>
            <a:r>
              <a:rPr sz="1100" b="0" i="0" spc="100">
                <a:solidFill>
                  <a:srgbClr val="0B6E8F"/>
                </a:solidFill>
                <a:latin typeface="JetBrains Mono"/>
              </a:rPr>
              <a:t>15–26 MAART · 1,5 U</a:t>
            </a:r>
          </a:p>
        </p:txBody>
      </p:sp>
      <p:sp>
        <p:nvSpPr>
          <p:cNvPr id="21" name="TextBox 20"/>
          <p:cNvSpPr txBox="1"/>
          <p:nvPr/>
        </p:nvSpPr>
        <p:spPr>
          <a:xfrm>
            <a:off x="6343650" y="2696766"/>
            <a:ext cx="2228850" cy="406400"/>
          </a:xfrm>
          <a:prstGeom prst="rect">
            <a:avLst/>
          </a:prstGeom>
          <a:noFill/>
        </p:spPr>
        <p:txBody>
          <a:bodyPr wrap="none" lIns="0" rIns="0" tIns="0" bIns="0" anchor="t">
            <a:noAutofit/>
          </a:bodyPr>
          <a:lstStyle/>
          <a:p>
            <a:pPr algn="l">
              <a:lnSpc>
                <a:spcPts val="3200"/>
              </a:lnSpc>
            </a:pPr>
            <a:r>
              <a:rPr sz="3200" b="0" i="0">
                <a:solidFill>
                  <a:srgbClr val="0A2540"/>
                </a:solidFill>
                <a:latin typeface="DM Serif Display"/>
              </a:rPr>
              <a:t>5</a:t>
            </a:r>
          </a:p>
        </p:txBody>
      </p:sp>
      <p:sp>
        <p:nvSpPr>
          <p:cNvPr id="22" name="TextBox 21"/>
          <p:cNvSpPr txBox="1"/>
          <p:nvPr/>
        </p:nvSpPr>
        <p:spPr>
          <a:xfrm>
            <a:off x="6343650" y="3166666"/>
            <a:ext cx="222885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Oefenen</a:t>
            </a:r>
          </a:p>
        </p:txBody>
      </p:sp>
      <p:sp>
        <p:nvSpPr>
          <p:cNvPr id="23" name="TextBox 22"/>
          <p:cNvSpPr txBox="1"/>
          <p:nvPr/>
        </p:nvSpPr>
        <p:spPr>
          <a:xfrm>
            <a:off x="6343650" y="3452416"/>
            <a:ext cx="2228850" cy="220980"/>
          </a:xfrm>
          <a:prstGeom prst="rect">
            <a:avLst/>
          </a:prstGeom>
          <a:noFill/>
        </p:spPr>
        <p:txBody>
          <a:bodyPr wrap="none" lIns="0" rIns="0" tIns="0" bIns="0" anchor="t">
            <a:noAutofit/>
          </a:bodyPr>
          <a:lstStyle/>
          <a:p>
            <a:pPr algn="l">
              <a:lnSpc>
                <a:spcPts val="1739"/>
              </a:lnSpc>
            </a:pPr>
            <a:r>
              <a:rPr sz="1200" b="0" i="0">
                <a:solidFill>
                  <a:srgbClr val="3A4F63"/>
                </a:solidFill>
                <a:latin typeface="DM Sans"/>
              </a:rPr>
              <a:t>rollenspel met de scripts</a:t>
            </a:r>
          </a:p>
        </p:txBody>
      </p:sp>
      <p:sp>
        <p:nvSpPr>
          <p:cNvPr id="24" name="Rectangle 23"/>
          <p:cNvSpPr/>
          <p:nvPr/>
        </p:nvSpPr>
        <p:spPr>
          <a:xfrm>
            <a:off x="6343650" y="4463256"/>
            <a:ext cx="2178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3650" y="4545806"/>
            <a:ext cx="2228850" cy="181610"/>
          </a:xfrm>
          <a:prstGeom prst="rect">
            <a:avLst/>
          </a:prstGeom>
          <a:noFill/>
        </p:spPr>
        <p:txBody>
          <a:bodyPr wrap="none" lIns="0" rIns="0" tIns="0" bIns="0" anchor="t">
            <a:noAutofit/>
          </a:bodyPr>
          <a:lstStyle/>
          <a:p>
            <a:pPr algn="l">
              <a:lnSpc>
                <a:spcPts val="1430"/>
              </a:lnSpc>
            </a:pPr>
            <a:r>
              <a:rPr sz="1100" b="0" i="0">
                <a:solidFill>
                  <a:srgbClr val="5A6E80"/>
                </a:solidFill>
                <a:latin typeface="DM Sans"/>
              </a:rPr>
              <a:t>in uw centrum, individueel</a:t>
            </a:r>
          </a:p>
        </p:txBody>
      </p:sp>
      <p:sp>
        <p:nvSpPr>
          <p:cNvPr id="26" name="Rounded Rectangle 25"/>
          <p:cNvSpPr/>
          <p:nvPr/>
        </p:nvSpPr>
        <p:spPr>
          <a:xfrm>
            <a:off x="8832850" y="2277666"/>
            <a:ext cx="2546350" cy="2621161"/>
          </a:xfrm>
          <a:prstGeom prst="roundRect">
            <a:avLst>
              <a:gd name="adj" fmla="val 498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017000" y="2449116"/>
            <a:ext cx="2228850" cy="184150"/>
          </a:xfrm>
          <a:prstGeom prst="rect">
            <a:avLst/>
          </a:prstGeom>
          <a:noFill/>
        </p:spPr>
        <p:txBody>
          <a:bodyPr wrap="none" lIns="0" rIns="0" tIns="0" bIns="0" anchor="t">
            <a:noAutofit/>
          </a:bodyPr>
          <a:lstStyle/>
          <a:p>
            <a:pPr algn="l"/>
            <a:r>
              <a:rPr sz="1100" b="0" i="0" spc="100">
                <a:solidFill>
                  <a:srgbClr val="0B6E8F"/>
                </a:solidFill>
                <a:latin typeface="JetBrains Mono"/>
              </a:rPr>
              <a:t>SEP–NOV 2027 · 1 U</a:t>
            </a:r>
          </a:p>
        </p:txBody>
      </p:sp>
      <p:sp>
        <p:nvSpPr>
          <p:cNvPr id="28" name="TextBox 27"/>
          <p:cNvSpPr txBox="1"/>
          <p:nvPr/>
        </p:nvSpPr>
        <p:spPr>
          <a:xfrm>
            <a:off x="9017000" y="2696766"/>
            <a:ext cx="2228850" cy="406400"/>
          </a:xfrm>
          <a:prstGeom prst="rect">
            <a:avLst/>
          </a:prstGeom>
          <a:noFill/>
        </p:spPr>
        <p:txBody>
          <a:bodyPr wrap="none" lIns="0" rIns="0" tIns="0" bIns="0" anchor="t">
            <a:noAutofit/>
          </a:bodyPr>
          <a:lstStyle/>
          <a:p>
            <a:pPr algn="l">
              <a:lnSpc>
                <a:spcPts val="3200"/>
              </a:lnSpc>
            </a:pPr>
            <a:r>
              <a:rPr sz="3200" b="0" i="0">
                <a:solidFill>
                  <a:srgbClr val="0A2540"/>
                </a:solidFill>
                <a:latin typeface="DM Serif Display"/>
              </a:rPr>
              <a:t>6</a:t>
            </a:r>
          </a:p>
        </p:txBody>
      </p:sp>
      <p:sp>
        <p:nvSpPr>
          <p:cNvPr id="29" name="TextBox 28"/>
          <p:cNvSpPr txBox="1"/>
          <p:nvPr/>
        </p:nvSpPr>
        <p:spPr>
          <a:xfrm>
            <a:off x="9017000" y="3166666"/>
            <a:ext cx="2228850" cy="222250"/>
          </a:xfrm>
          <a:prstGeom prst="rect">
            <a:avLst/>
          </a:prstGeom>
          <a:noFill/>
        </p:spPr>
        <p:txBody>
          <a:bodyPr wrap="none" lIns="0" rIns="0" tIns="0" bIns="0" anchor="t">
            <a:noAutofit/>
          </a:bodyPr>
          <a:lstStyle/>
          <a:p>
            <a:pPr algn="l">
              <a:lnSpc>
                <a:spcPts val="1750"/>
              </a:lnSpc>
            </a:pPr>
            <a:r>
              <a:rPr sz="1400" b="1" i="0">
                <a:solidFill>
                  <a:srgbClr val="0A2540"/>
                </a:solidFill>
                <a:latin typeface="DM Sans"/>
              </a:rPr>
              <a:t>Intervisie</a:t>
            </a:r>
          </a:p>
        </p:txBody>
      </p:sp>
      <p:sp>
        <p:nvSpPr>
          <p:cNvPr id="30" name="TextBox 29"/>
          <p:cNvSpPr txBox="1"/>
          <p:nvPr/>
        </p:nvSpPr>
        <p:spPr>
          <a:xfrm>
            <a:off x="9017000" y="3452416"/>
            <a:ext cx="2228850" cy="441920"/>
          </a:xfrm>
          <a:prstGeom prst="rect">
            <a:avLst/>
          </a:prstGeom>
          <a:noFill/>
        </p:spPr>
        <p:txBody>
          <a:bodyPr wrap="square" lIns="0" rIns="0" tIns="0" bIns="0" anchor="t">
            <a:noAutofit/>
          </a:bodyPr>
          <a:lstStyle/>
          <a:p>
            <a:pPr algn="l">
              <a:lnSpc>
                <a:spcPts val="1739"/>
              </a:lnSpc>
            </a:pPr>
            <a:r>
              <a:rPr sz="1200" b="0" i="0">
                <a:solidFill>
                  <a:srgbClr val="3A4F63"/>
                </a:solidFill>
                <a:latin typeface="DM Sans"/>
              </a:rPr>
              <a:t>casussen bespreken</a:t>
            </a:r>
          </a:p>
          <a:p>
            <a:pPr algn="l">
              <a:lnSpc>
                <a:spcPts val="1739"/>
              </a:lnSpc>
            </a:pPr>
            <a:r>
              <a:rPr sz="1200" b="0" i="0">
                <a:solidFill>
                  <a:srgbClr val="3A4F63"/>
                </a:solidFill>
                <a:latin typeface="DM Sans"/>
              </a:rPr>
              <a:t>bijsturen</a:t>
            </a:r>
          </a:p>
        </p:txBody>
      </p:sp>
      <p:sp>
        <p:nvSpPr>
          <p:cNvPr id="31" name="Rectangle 30"/>
          <p:cNvSpPr/>
          <p:nvPr/>
        </p:nvSpPr>
        <p:spPr>
          <a:xfrm>
            <a:off x="9017000" y="4463256"/>
            <a:ext cx="2178050"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17000" y="4545806"/>
            <a:ext cx="2228850" cy="181610"/>
          </a:xfrm>
          <a:prstGeom prst="rect">
            <a:avLst/>
          </a:prstGeom>
          <a:noFill/>
        </p:spPr>
        <p:txBody>
          <a:bodyPr wrap="none" lIns="0" rIns="0" tIns="0" bIns="0" anchor="t">
            <a:noAutofit/>
          </a:bodyPr>
          <a:lstStyle/>
          <a:p>
            <a:pPr algn="l">
              <a:lnSpc>
                <a:spcPts val="1430"/>
              </a:lnSpc>
            </a:pPr>
            <a:r>
              <a:rPr sz="1100" b="0" i="0">
                <a:solidFill>
                  <a:srgbClr val="5A6E80"/>
                </a:solidFill>
                <a:latin typeface="DM Sans"/>
              </a:rPr>
              <a:t>online, individueel</a:t>
            </a:r>
          </a:p>
        </p:txBody>
      </p:sp>
      <p:pic>
        <p:nvPicPr>
          <p:cNvPr id="33" name="Picture 32"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34" name="TextBox 33"/>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35" name="TextBox 34"/>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Bron · SEBIA-training, F. Dobbels, 23 sept 2026 · opleidingsplanning</a:t>
            </a:r>
          </a:p>
        </p:txBody>
      </p:sp>
    </p:spTree>
  </p:cSld>
  <p:clrMapOvr>
    <a:masterClrMapping/>
  </p:clrMapOvr>
  <p:transition xmlns:p14="http://schemas.microsoft.com/office/powerpoint/2010/main" spd="med" p14:dur="700">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5 · PLANNING · OPLEIDINGEN PER CENTRUM</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Uw data, zoals voorgesteld</a:t>
            </a:r>
          </a:p>
        </p:txBody>
      </p:sp>
      <p:graphicFrame>
        <p:nvGraphicFramePr>
          <p:cNvPr id="4" name="Table 3"/>
          <p:cNvGraphicFramePr>
            <a:graphicFrameLocks noGrp="1"/>
          </p:cNvGraphicFramePr>
          <p:nvPr/>
        </p:nvGraphicFramePr>
        <p:xfrm>
          <a:off x="812800" y="1868091"/>
          <a:ext cx="10560051" cy="2168327"/>
        </p:xfrm>
        <a:graphic>
          <a:graphicData uri="http://schemas.openxmlformats.org/drawingml/2006/table">
            <a:tbl>
              <a:tblPr firstRow="0" bandRow="0">
                <a:tableStyleId>{2D5ABB26-0587-4C30-8999-92F81FD0307C}</a:tableStyleId>
              </a:tblPr>
              <a:tblGrid>
                <a:gridCol w="2323207"/>
                <a:gridCol w="1689596"/>
                <a:gridCol w="2534345"/>
                <a:gridCol w="2006402"/>
                <a:gridCol w="2006501"/>
              </a:tblGrid>
              <a:tr h="309761">
                <a:tc>
                  <a:txBody>
                    <a:bodyPr wrap="square"/>
                    <a:lstStyle/>
                    <a:p>
                      <a:pPr algn="l"/>
                      <a:r>
                        <a:rPr sz="1200" b="1" i="0">
                          <a:solidFill>
                            <a:srgbClr val="C5D8E8"/>
                          </a:solidFill>
                          <a:latin typeface="DM Sans"/>
                        </a:rPr>
                        <a:t>Centrum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0F2F4E"/>
                    </a:solidFill>
                  </a:tcPr>
                </a:tc>
                <a:tc>
                  <a:txBody>
                    <a:bodyPr wrap="square"/>
                    <a:lstStyle/>
                    <a:p>
                      <a:pPr algn="l"/>
                      <a:r>
                        <a:rPr sz="1200" b="1" i="0">
                          <a:solidFill>
                            <a:srgbClr val="C5D8E8"/>
                          </a:solidFill>
                          <a:latin typeface="DM Sans"/>
                        </a:rPr>
                        <a:t>Technologie</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0F2F4E"/>
                    </a:solidFill>
                  </a:tcPr>
                </a:tc>
                <a:tc>
                  <a:txBody>
                    <a:bodyPr wrap="square"/>
                    <a:lstStyle/>
                    <a:p>
                      <a:pPr algn="l"/>
                      <a:r>
                        <a:rPr sz="1200" b="1" i="0">
                          <a:solidFill>
                            <a:srgbClr val="C5D8E8"/>
                          </a:solidFill>
                          <a:latin typeface="DM Sans"/>
                        </a:rPr>
                        <a:t>SEBIA 1 en 2</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0F2F4E"/>
                    </a:solidFill>
                  </a:tcPr>
                </a:tc>
                <a:tc>
                  <a:txBody>
                    <a:bodyPr wrap="square"/>
                    <a:lstStyle/>
                    <a:p>
                      <a:pPr algn="l"/>
                      <a:r>
                        <a:rPr sz="1200" b="1" i="0">
                          <a:solidFill>
                            <a:srgbClr val="C5D8E8"/>
                          </a:solidFill>
                          <a:latin typeface="DM Sans"/>
                        </a:rPr>
                        <a:t>Droogloop</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0F2F4E"/>
                    </a:solidFill>
                  </a:tcPr>
                </a:tc>
                <a:tc>
                  <a:txBody>
                    <a:bodyPr wrap="square"/>
                    <a:lstStyle/>
                    <a:p>
                      <a:pPr algn="l"/>
                      <a:r>
                        <a:rPr sz="1200" b="1" i="0">
                          <a:solidFill>
                            <a:srgbClr val="C5D8E8"/>
                          </a:solidFill>
                          <a:latin typeface="DM Sans"/>
                        </a:rPr>
                        <a:t>Inhaalslot</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solidFill>
                      <a:srgbClr val="0F2F4E"/>
                    </a:solidFill>
                  </a:tcPr>
                </a:tc>
              </a:tr>
              <a:tr h="309761">
                <a:tc>
                  <a:txBody>
                    <a:bodyPr wrap="square"/>
                    <a:lstStyle/>
                    <a:p>
                      <a:pPr algn="l"/>
                      <a:r>
                        <a:rPr sz="1200" b="0" i="0">
                          <a:solidFill>
                            <a:srgbClr val="C5D8E8"/>
                          </a:solidFill>
                          <a:latin typeface="DM Sans"/>
                        </a:rPr>
                        <a:t>AZ Groeninge Kortrijk</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2 dec,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6 jan, 13u–17u, met Brugge</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20 jan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ma 25 jan, NM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309761">
                <a:tc>
                  <a:txBody>
                    <a:bodyPr wrap="square"/>
                    <a:lstStyle/>
                    <a:p>
                      <a:pPr algn="l"/>
                      <a:r>
                        <a:rPr sz="1200" b="0" i="0">
                          <a:solidFill>
                            <a:srgbClr val="C5D8E8"/>
                          </a:solidFill>
                          <a:latin typeface="DM Sans"/>
                        </a:rPr>
                        <a:t>AZ Sint-Jan Brugge</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2 dec, NM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1e wo 6 jan · 2e di 12 jan, 13u–17u</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13 jan, NM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ma 18 jan,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309761">
                <a:tc>
                  <a:txBody>
                    <a:bodyPr wrap="square"/>
                    <a:lstStyle/>
                    <a:p>
                      <a:pPr algn="l"/>
                      <a:r>
                        <a:rPr sz="1200" b="0" i="0">
                          <a:solidFill>
                            <a:srgbClr val="C5D8E8"/>
                          </a:solidFill>
                          <a:latin typeface="DM Sans"/>
                        </a:rPr>
                        <a:t>UZ Gent</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do 10 dec,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vr 15 jan, 13u–17u, in UZ Gent</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do 21 jan, 8u–12u30</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vr 22 of do 28 jan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309761">
                <a:tc>
                  <a:txBody>
                    <a:bodyPr wrap="square"/>
                    <a:lstStyle/>
                    <a:p>
                      <a:pPr algn="l"/>
                      <a:r>
                        <a:rPr sz="1200" b="0" i="0">
                          <a:solidFill>
                            <a:srgbClr val="C5D8E8"/>
                          </a:solidFill>
                          <a:latin typeface="DM Sans"/>
                        </a:rPr>
                        <a:t>AZORG Aalst</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do 10 dec, NM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Oost · di 12 jan, 13u–17u</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di 19 jan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do 21 jan, NM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309761">
                <a:tc>
                  <a:txBody>
                    <a:bodyPr wrap="square"/>
                    <a:lstStyle/>
                    <a:p>
                      <a:pPr algn="l"/>
                      <a:r>
                        <a:rPr sz="1200" b="0" i="0">
                          <a:solidFill>
                            <a:srgbClr val="C5D8E8"/>
                          </a:solidFill>
                          <a:latin typeface="DM Sans"/>
                        </a:rPr>
                        <a:t>UZ Leuven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di 15 dec,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Oost · di 12 jan, 13u–17u</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di 26 jan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vr 22 jan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r h="309761">
                <a:tc>
                  <a:txBody>
                    <a:bodyPr wrap="square"/>
                    <a:lstStyle/>
                    <a:p>
                      <a:pPr algn="l"/>
                      <a:r>
                        <a:rPr sz="1200" b="0" i="0">
                          <a:solidFill>
                            <a:srgbClr val="C5D8E8"/>
                          </a:solidFill>
                          <a:latin typeface="DM Sans"/>
                        </a:rPr>
                        <a:t>UZ Antwerpen</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9 dec,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Oost · di 12 jan, 13u–17u</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wo 27 jan,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c>
                  <a:txBody>
                    <a:bodyPr wrap="square"/>
                    <a:lstStyle/>
                    <a:p>
                      <a:pPr algn="l"/>
                      <a:r>
                        <a:rPr sz="1200" b="0" i="0">
                          <a:solidFill>
                            <a:srgbClr val="C5D8E8"/>
                          </a:solidFill>
                          <a:latin typeface="DM Sans"/>
                        </a:rPr>
                        <a:t>do 28 jan, VM</a:t>
                      </a:r>
                    </a:p>
                  </a:txBody>
                  <a:tcPr marT="53340" marR="91440" marB="53340" marL="91440" anchor="ctr">
                    <a:lnL w="6350" cmpd="sng">
                      <a:solidFill>
                        <a:srgbClr val="21507A"/>
                      </a:solidFill>
                    </a:lnL>
                    <a:lnR w="6350" cmpd="sng">
                      <a:solidFill>
                        <a:srgbClr val="21507A"/>
                      </a:solidFill>
                    </a:lnR>
                    <a:lnT w="6350" cmpd="sng">
                      <a:solidFill>
                        <a:srgbClr val="21507A"/>
                      </a:solidFill>
                    </a:lnT>
                    <a:lnB w="6350" cmpd="sng">
                      <a:solidFill>
                        <a:srgbClr val="21507A"/>
                      </a:solidFill>
                    </a:lnB>
                    <a:noFill/>
                  </a:tcPr>
                </a:tc>
              </a:tr>
            </a:tbl>
          </a:graphicData>
        </a:graphic>
      </p:graphicFrame>
      <p:sp>
        <p:nvSpPr>
          <p:cNvPr id="5" name="TextBox 4"/>
          <p:cNvSpPr txBox="1"/>
          <p:nvPr/>
        </p:nvSpPr>
        <p:spPr>
          <a:xfrm>
            <a:off x="812800" y="4296767"/>
            <a:ext cx="106172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Waar het niet voor iedereen lukt, staat een optie B op uw toetsingsblad. Antwoord graag tegen vrijdag 16 oktober.</a:t>
            </a:r>
          </a:p>
        </p:txBody>
      </p:sp>
      <p:pic>
        <p:nvPicPr>
          <p:cNvPr id="6" name="Picture 5"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7" name="TextBox 6"/>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8" name="TextBox 7"/>
          <p:cNvSpPr txBox="1"/>
          <p:nvPr/>
        </p:nvSpPr>
        <p:spPr>
          <a:xfrm>
            <a:off x="6502400" y="6254750"/>
            <a:ext cx="4876800" cy="198120"/>
          </a:xfrm>
          <a:prstGeom prst="rect">
            <a:avLst/>
          </a:prstGeom>
          <a:noFill/>
        </p:spPr>
        <p:txBody>
          <a:bodyPr wrap="none" lIns="0" rIns="0" tIns="0" bIns="0" anchor="t">
            <a:noAutofit/>
          </a:bodyPr>
          <a:lstStyle/>
          <a:p>
            <a:pPr algn="r"/>
            <a:r>
              <a:rPr sz="1200" b="0" i="0">
                <a:solidFill>
                  <a:srgbClr val="6F8FAA"/>
                </a:solidFill>
                <a:latin typeface="JetBrains Mono"/>
              </a:rPr>
              <a:t>Bron · opleidingsplanning, 30 september 2026</a:t>
            </a:r>
          </a:p>
        </p:txBody>
      </p:sp>
    </p:spTree>
  </p:cSld>
  <p:clrMapOvr>
    <a:masterClrMapping/>
  </p:clrMapOvr>
  <p:transition xmlns:p14="http://schemas.microsoft.com/office/powerpoint/2010/main" spd="med" p14:dur="700">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5 · INCLUSIE</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Drie per maand, binnen een jaar</a:t>
            </a:r>
          </a:p>
        </p:txBody>
      </p:sp>
      <p:graphicFrame>
        <p:nvGraphicFramePr>
          <p:cNvPr id="4" name="Chart 3"/>
          <p:cNvGraphicFramePr>
            <a:graphicFrameLocks noGrp="1"/>
          </p:cNvGraphicFramePr>
          <p:nvPr/>
        </p:nvGraphicFramePr>
        <p:xfrm>
          <a:off x="812800" y="2095500"/>
          <a:ext cx="5461000" cy="3746500"/>
        </p:xfrm>
        <a:graphic>
          <a:graphicData uri="http://schemas.openxmlformats.org/drawingml/2006/chart">
            <c:chart xmlns:c="http://schemas.openxmlformats.org/drawingml/2006/chart" r:id="rId2"/>
          </a:graphicData>
        </a:graphic>
      </p:graphicFrame>
      <p:sp>
        <p:nvSpPr>
          <p:cNvPr id="5" name="TextBox 4"/>
          <p:cNvSpPr txBox="1"/>
          <p:nvPr/>
        </p:nvSpPr>
        <p:spPr>
          <a:xfrm>
            <a:off x="2463800" y="3543642"/>
            <a:ext cx="2286000" cy="248920"/>
          </a:xfrm>
          <a:prstGeom prst="rect">
            <a:avLst/>
          </a:prstGeom>
          <a:noFill/>
        </p:spPr>
        <p:txBody>
          <a:bodyPr wrap="none" lIns="0" rIns="0" tIns="0" bIns="0">
            <a:spAutoFit/>
          </a:bodyPr>
          <a:lstStyle/>
          <a:p>
            <a:pPr algn="l"/>
            <a:r>
              <a:rPr sz="1400" b="1">
                <a:solidFill>
                  <a:srgbClr val="F2F8FC"/>
                </a:solidFill>
                <a:latin typeface="Segoe UI"/>
              </a:rPr>
              <a:t>2 per maand → 53%</a:t>
            </a:r>
          </a:p>
        </p:txBody>
      </p:sp>
      <p:sp>
        <p:nvSpPr>
          <p:cNvPr id="6" name="TextBox 5"/>
          <p:cNvSpPr txBox="1"/>
          <p:nvPr/>
        </p:nvSpPr>
        <p:spPr>
          <a:xfrm>
            <a:off x="4343400" y="2490362"/>
            <a:ext cx="2286000" cy="248920"/>
          </a:xfrm>
          <a:prstGeom prst="rect">
            <a:avLst/>
          </a:prstGeom>
          <a:noFill/>
        </p:spPr>
        <p:txBody>
          <a:bodyPr wrap="none" lIns="0" rIns="0" tIns="0" bIns="0">
            <a:spAutoFit/>
          </a:bodyPr>
          <a:lstStyle/>
          <a:p>
            <a:pPr algn="l"/>
            <a:r>
              <a:rPr sz="1400" b="1">
                <a:solidFill>
                  <a:srgbClr val="F2F8FC"/>
                </a:solidFill>
                <a:latin typeface="Segoe UI"/>
              </a:rPr>
              <a:t>3 per maand → 99%</a:t>
            </a:r>
          </a:p>
        </p:txBody>
      </p:sp>
      <p:sp>
        <p:nvSpPr>
          <p:cNvPr id="7" name="TextBox 6"/>
          <p:cNvSpPr txBox="1"/>
          <p:nvPr/>
        </p:nvSpPr>
        <p:spPr>
          <a:xfrm>
            <a:off x="1384300" y="2108200"/>
            <a:ext cx="4826000" cy="213360"/>
          </a:xfrm>
          <a:prstGeom prst="rect">
            <a:avLst/>
          </a:prstGeom>
          <a:noFill/>
        </p:spPr>
        <p:txBody>
          <a:bodyPr wrap="none" lIns="0" rIns="0" tIns="0" bIns="0">
            <a:spAutoFit/>
          </a:bodyPr>
          <a:lstStyle/>
          <a:p>
            <a:pPr algn="l"/>
            <a:r>
              <a:rPr sz="1200" b="0">
                <a:solidFill>
                  <a:srgbClr val="8FB0CA"/>
                </a:solidFill>
                <a:latin typeface="Segoe UI"/>
              </a:rPr>
              <a:t>kans dat een centrum 24 haalt binnen 12 maanden</a:t>
            </a:r>
          </a:p>
        </p:txBody>
      </p:sp>
      <p:sp>
        <p:nvSpPr>
          <p:cNvPr id="8" name="TextBox 7"/>
          <p:cNvSpPr txBox="1"/>
          <p:nvPr/>
        </p:nvSpPr>
        <p:spPr>
          <a:xfrm>
            <a:off x="1384300" y="5461000"/>
            <a:ext cx="4699000" cy="213360"/>
          </a:xfrm>
          <a:prstGeom prst="rect">
            <a:avLst/>
          </a:prstGeom>
          <a:noFill/>
        </p:spPr>
        <p:txBody>
          <a:bodyPr wrap="none" lIns="0" rIns="0" tIns="0" bIns="0">
            <a:spAutoFit/>
          </a:bodyPr>
          <a:lstStyle/>
          <a:p>
            <a:pPr algn="ctr"/>
            <a:r>
              <a:rPr sz="1200" b="0">
                <a:solidFill>
                  <a:srgbClr val="8FB0CA"/>
                </a:solidFill>
                <a:latin typeface="Segoe UI"/>
              </a:rPr>
              <a:t>gemiddeld aantal inclusies per maand, per centrum</a:t>
            </a:r>
          </a:p>
        </p:txBody>
      </p:sp>
      <p:sp>
        <p:nvSpPr>
          <p:cNvPr id="9" name="TextBox 8"/>
          <p:cNvSpPr txBox="1"/>
          <p:nvPr/>
        </p:nvSpPr>
        <p:spPr>
          <a:xfrm>
            <a:off x="6731000" y="2095500"/>
            <a:ext cx="1257300" cy="457200"/>
          </a:xfrm>
          <a:prstGeom prst="rect">
            <a:avLst/>
          </a:prstGeom>
          <a:noFill/>
        </p:spPr>
        <p:txBody>
          <a:bodyPr wrap="none" lIns="0" rIns="0" tIns="0" bIns="0" anchor="t">
            <a:noAutofit/>
          </a:bodyPr>
          <a:lstStyle/>
          <a:p>
            <a:pPr algn="l">
              <a:lnSpc>
                <a:spcPts val="3600"/>
              </a:lnSpc>
            </a:pPr>
            <a:r>
              <a:rPr sz="3600" b="0" i="0">
                <a:solidFill>
                  <a:srgbClr val="52BDEC"/>
                </a:solidFill>
                <a:latin typeface="DM Serif Display"/>
              </a:rPr>
              <a:t>99%</a:t>
            </a:r>
          </a:p>
        </p:txBody>
      </p:sp>
      <p:sp>
        <p:nvSpPr>
          <p:cNvPr id="10" name="TextBox 9"/>
          <p:cNvSpPr txBox="1"/>
          <p:nvPr/>
        </p:nvSpPr>
        <p:spPr>
          <a:xfrm>
            <a:off x="8115300" y="2305050"/>
            <a:ext cx="3329178" cy="480020"/>
          </a:xfrm>
          <a:prstGeom prst="rect">
            <a:avLst/>
          </a:prstGeom>
          <a:noFill/>
        </p:spPr>
        <p:txBody>
          <a:bodyPr wrap="square" lIns="0" rIns="0" tIns="0" bIns="0" anchor="t">
            <a:noAutofit/>
          </a:bodyPr>
          <a:lstStyle/>
          <a:p>
            <a:pPr algn="l">
              <a:lnSpc>
                <a:spcPts val="1889"/>
              </a:lnSpc>
            </a:pPr>
            <a:r>
              <a:rPr sz="1400" b="0" i="0">
                <a:solidFill>
                  <a:srgbClr val="C5D8E8"/>
                </a:solidFill>
                <a:latin typeface="DM Sans"/>
              </a:rPr>
              <a:t>kans dat een centrum zijn 24 haalt binnen het jaar</a:t>
            </a:r>
          </a:p>
        </p:txBody>
      </p:sp>
      <p:sp>
        <p:nvSpPr>
          <p:cNvPr id="11" name="Rectangle 10"/>
          <p:cNvSpPr/>
          <p:nvPr/>
        </p:nvSpPr>
        <p:spPr>
          <a:xfrm>
            <a:off x="6731000" y="2924770"/>
            <a:ext cx="46482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31000" y="3070820"/>
            <a:ext cx="1257300" cy="457200"/>
          </a:xfrm>
          <a:prstGeom prst="rect">
            <a:avLst/>
          </a:prstGeom>
          <a:noFill/>
        </p:spPr>
        <p:txBody>
          <a:bodyPr wrap="none" lIns="0" rIns="0" tIns="0" bIns="0" anchor="t">
            <a:noAutofit/>
          </a:bodyPr>
          <a:lstStyle/>
          <a:p>
            <a:pPr algn="l">
              <a:lnSpc>
                <a:spcPts val="3600"/>
              </a:lnSpc>
            </a:pPr>
            <a:r>
              <a:rPr sz="3600" b="0" i="0">
                <a:solidFill>
                  <a:srgbClr val="52BDEC"/>
                </a:solidFill>
                <a:latin typeface="DM Serif Display"/>
              </a:rPr>
              <a:t>92%</a:t>
            </a:r>
          </a:p>
        </p:txBody>
      </p:sp>
      <p:sp>
        <p:nvSpPr>
          <p:cNvPr id="13" name="TextBox 12"/>
          <p:cNvSpPr txBox="1"/>
          <p:nvPr/>
        </p:nvSpPr>
        <p:spPr>
          <a:xfrm>
            <a:off x="8115300" y="3280370"/>
            <a:ext cx="3329178" cy="480020"/>
          </a:xfrm>
          <a:prstGeom prst="rect">
            <a:avLst/>
          </a:prstGeom>
          <a:noFill/>
        </p:spPr>
        <p:txBody>
          <a:bodyPr wrap="square" lIns="0" rIns="0" tIns="0" bIns="0" anchor="t">
            <a:noAutofit/>
          </a:bodyPr>
          <a:lstStyle/>
          <a:p>
            <a:pPr algn="l">
              <a:lnSpc>
                <a:spcPts val="1889"/>
              </a:lnSpc>
            </a:pPr>
            <a:r>
              <a:rPr sz="1400" b="0" i="0">
                <a:solidFill>
                  <a:srgbClr val="C5D8E8"/>
                </a:solidFill>
                <a:latin typeface="DM Sans"/>
              </a:rPr>
              <a:t>kans dat alle zes het halen binnen het jaar</a:t>
            </a:r>
          </a:p>
        </p:txBody>
      </p:sp>
      <p:sp>
        <p:nvSpPr>
          <p:cNvPr id="14" name="Rectangle 13"/>
          <p:cNvSpPr/>
          <p:nvPr/>
        </p:nvSpPr>
        <p:spPr>
          <a:xfrm>
            <a:off x="6731000" y="3900091"/>
            <a:ext cx="46482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31000" y="4046141"/>
            <a:ext cx="1257300" cy="457200"/>
          </a:xfrm>
          <a:prstGeom prst="rect">
            <a:avLst/>
          </a:prstGeom>
          <a:noFill/>
        </p:spPr>
        <p:txBody>
          <a:bodyPr wrap="none" lIns="0" rIns="0" tIns="0" bIns="0" anchor="t">
            <a:noAutofit/>
          </a:bodyPr>
          <a:lstStyle/>
          <a:p>
            <a:pPr algn="l">
              <a:lnSpc>
                <a:spcPts val="3600"/>
              </a:lnSpc>
            </a:pPr>
            <a:r>
              <a:rPr sz="3600" b="0" i="0">
                <a:solidFill>
                  <a:srgbClr val="F2F8FC"/>
                </a:solidFill>
                <a:latin typeface="DM Serif Display"/>
              </a:rPr>
              <a:t>7,9</a:t>
            </a:r>
          </a:p>
        </p:txBody>
      </p:sp>
      <p:sp>
        <p:nvSpPr>
          <p:cNvPr id="16" name="TextBox 15"/>
          <p:cNvSpPr txBox="1"/>
          <p:nvPr/>
        </p:nvSpPr>
        <p:spPr>
          <a:xfrm>
            <a:off x="8115300" y="4255691"/>
            <a:ext cx="3329178" cy="480020"/>
          </a:xfrm>
          <a:prstGeom prst="rect">
            <a:avLst/>
          </a:prstGeom>
          <a:noFill/>
        </p:spPr>
        <p:txBody>
          <a:bodyPr wrap="square" lIns="0" rIns="0" tIns="0" bIns="0" anchor="t">
            <a:noAutofit/>
          </a:bodyPr>
          <a:lstStyle/>
          <a:p>
            <a:pPr algn="l">
              <a:lnSpc>
                <a:spcPts val="1889"/>
              </a:lnSpc>
            </a:pPr>
            <a:r>
              <a:rPr sz="1400" b="0" i="0">
                <a:solidFill>
                  <a:srgbClr val="C5D8E8"/>
                </a:solidFill>
                <a:latin typeface="DM Sans"/>
              </a:rPr>
              <a:t>maanden tot 24 inclusies, mediaan per centrum</a:t>
            </a:r>
          </a:p>
        </p:txBody>
      </p:sp>
      <p:sp>
        <p:nvSpPr>
          <p:cNvPr id="17" name="TextBox 16"/>
          <p:cNvSpPr txBox="1"/>
          <p:nvPr/>
        </p:nvSpPr>
        <p:spPr>
          <a:xfrm>
            <a:off x="6731000" y="5372100"/>
            <a:ext cx="46990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Laatste visite eind augustus 2029</a:t>
            </a:r>
          </a:p>
        </p:txBody>
      </p:sp>
      <p:pic>
        <p:nvPicPr>
          <p:cNvPr id="18" name="Picture 17"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9" name="TextBox 18"/>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20" name="TextBox 19"/>
          <p:cNvSpPr txBox="1"/>
          <p:nvPr/>
        </p:nvSpPr>
        <p:spPr>
          <a:xfrm>
            <a:off x="5613400" y="6254750"/>
            <a:ext cx="5765800" cy="198120"/>
          </a:xfrm>
          <a:prstGeom prst="rect">
            <a:avLst/>
          </a:prstGeom>
          <a:noFill/>
        </p:spPr>
        <p:txBody>
          <a:bodyPr wrap="none" lIns="0" rIns="0" tIns="0" bIns="0" anchor="t">
            <a:noAutofit/>
          </a:bodyPr>
          <a:lstStyle/>
          <a:p>
            <a:pPr algn="r"/>
            <a:r>
              <a:rPr sz="1200" b="0" i="0">
                <a:solidFill>
                  <a:srgbClr val="6F8FAA"/>
                </a:solidFill>
                <a:latin typeface="JetBrains Mono"/>
              </a:rPr>
              <a:t>Bron · Poisson-instroom, exact en in 200.000 runs · protocol</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right)">
                                      <p:cBhvr>
                                        <p:cTn id="6" dur="1400"/>
                                        <p:tgtEl>
                                          <p:spTgt spid="4"/>
                                        </p:tgtEl>
                                      </p:cBhvr>
                                    </p:animEffect>
                                  </p:childTnLst>
                                </p:cTn>
                              </p:par>
                            </p:childTnLst>
                          </p:cTn>
                        </p:par>
                        <p:par>
                          <p:cTn id="14" fill="hold">
                            <p:stCondLst>
                              <p:cond delay="0"/>
                            </p:stCondLst>
                            <p:childTnLst>
                              <p:par>
                                <p:cTn id="7" presetID="10" presetClass="entr" presetSubtype="0" fill="hold" grpId="0" nodeType="afterEffect">
                                  <p:stCondLst>
                                    <p:cond delay="2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5" fill="hold">
                            <p:stCondLst>
                              <p:cond delay="0"/>
                            </p:stCondLst>
                            <p:childTnLst>
                              <p:par>
                                <p:cTn id="10" presetID="10" presetClass="entr" presetSubtype="0" fill="hold" grpId="0" nodeType="after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5 · EN AAN TWEE PER MAAND?</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Dan valt de laatste visite na september 2029</a:t>
            </a:r>
          </a:p>
        </p:txBody>
      </p:sp>
      <p:graphicFrame>
        <p:nvGraphicFramePr>
          <p:cNvPr id="4" name="Chart 3"/>
          <p:cNvGraphicFramePr>
            <a:graphicFrameLocks noGrp="1"/>
          </p:cNvGraphicFramePr>
          <p:nvPr/>
        </p:nvGraphicFramePr>
        <p:xfrm>
          <a:off x="812800" y="2095500"/>
          <a:ext cx="5715000" cy="3746500"/>
        </p:xfrm>
        <a:graphic>
          <a:graphicData uri="http://schemas.openxmlformats.org/drawingml/2006/chart">
            <c:chart xmlns:c="http://schemas.openxmlformats.org/drawingml/2006/chart" r:id="rId2"/>
          </a:graphicData>
        </a:graphic>
      </p:graphicFrame>
      <p:sp>
        <p:nvSpPr>
          <p:cNvPr id="5" name="TextBox 4"/>
          <p:cNvSpPr txBox="1"/>
          <p:nvPr/>
        </p:nvSpPr>
        <p:spPr>
          <a:xfrm>
            <a:off x="4729480" y="4692650"/>
            <a:ext cx="1905000" cy="213360"/>
          </a:xfrm>
          <a:prstGeom prst="rect">
            <a:avLst/>
          </a:prstGeom>
          <a:noFill/>
        </p:spPr>
        <p:txBody>
          <a:bodyPr wrap="none" lIns="0" rIns="0" tIns="0" bIns="0">
            <a:spAutoFit/>
          </a:bodyPr>
          <a:lstStyle/>
          <a:p>
            <a:pPr algn="l"/>
            <a:r>
              <a:rPr sz="1200" b="0">
                <a:solidFill>
                  <a:srgbClr val="F2F8FC"/>
                </a:solidFill>
                <a:latin typeface="Segoe UI"/>
              </a:rPr>
              <a:t>13: uiterste grens</a:t>
            </a:r>
          </a:p>
        </p:txBody>
      </p:sp>
      <p:sp>
        <p:nvSpPr>
          <p:cNvPr id="6" name="TextBox 5"/>
          <p:cNvSpPr txBox="1"/>
          <p:nvPr/>
        </p:nvSpPr>
        <p:spPr>
          <a:xfrm>
            <a:off x="4157980" y="2106757"/>
            <a:ext cx="1016000" cy="231140"/>
          </a:xfrm>
          <a:prstGeom prst="rect">
            <a:avLst/>
          </a:prstGeom>
          <a:noFill/>
        </p:spPr>
        <p:txBody>
          <a:bodyPr wrap="none" lIns="0" rIns="0" tIns="0" bIns="0">
            <a:spAutoFit/>
          </a:bodyPr>
          <a:lstStyle/>
          <a:p>
            <a:pPr algn="ctr"/>
            <a:r>
              <a:rPr sz="1300" b="1">
                <a:solidFill>
                  <a:srgbClr val="F2F8FC"/>
                </a:solidFill>
                <a:latin typeface="Segoe UI"/>
              </a:rPr>
              <a:t>98%</a:t>
            </a:r>
          </a:p>
        </p:txBody>
      </p:sp>
      <p:sp>
        <p:nvSpPr>
          <p:cNvPr id="7" name="TextBox 6"/>
          <p:cNvSpPr txBox="1"/>
          <p:nvPr/>
        </p:nvSpPr>
        <p:spPr>
          <a:xfrm>
            <a:off x="3548380" y="4520424"/>
            <a:ext cx="1016000" cy="231140"/>
          </a:xfrm>
          <a:prstGeom prst="rect">
            <a:avLst/>
          </a:prstGeom>
          <a:noFill/>
        </p:spPr>
        <p:txBody>
          <a:bodyPr wrap="none" lIns="0" rIns="0" tIns="0" bIns="0">
            <a:spAutoFit/>
          </a:bodyPr>
          <a:lstStyle/>
          <a:p>
            <a:pPr algn="r"/>
            <a:r>
              <a:rPr sz="1300" b="1">
                <a:solidFill>
                  <a:srgbClr val="F2F8FC"/>
                </a:solidFill>
                <a:latin typeface="Segoe UI"/>
              </a:rPr>
              <a:t>12%</a:t>
            </a:r>
          </a:p>
        </p:txBody>
      </p:sp>
      <p:sp>
        <p:nvSpPr>
          <p:cNvPr id="8" name="TextBox 7"/>
          <p:cNvSpPr txBox="1"/>
          <p:nvPr/>
        </p:nvSpPr>
        <p:spPr>
          <a:xfrm>
            <a:off x="1320800" y="5232400"/>
            <a:ext cx="5080000" cy="213360"/>
          </a:xfrm>
          <a:prstGeom prst="rect">
            <a:avLst/>
          </a:prstGeom>
          <a:noFill/>
        </p:spPr>
        <p:txBody>
          <a:bodyPr wrap="none" lIns="0" rIns="0" tIns="0" bIns="0">
            <a:spAutoFit/>
          </a:bodyPr>
          <a:lstStyle/>
          <a:p>
            <a:pPr algn="ctr"/>
            <a:r>
              <a:rPr sz="1200" b="0">
                <a:solidFill>
                  <a:srgbClr val="8FB0CA"/>
                </a:solidFill>
                <a:latin typeface="Segoe UI"/>
              </a:rPr>
              <a:t>maanden na de start van de inclusie</a:t>
            </a:r>
          </a:p>
        </p:txBody>
      </p:sp>
      <p:sp>
        <p:nvSpPr>
          <p:cNvPr id="9" name="Rectangle 8"/>
          <p:cNvSpPr/>
          <p:nvPr/>
        </p:nvSpPr>
        <p:spPr>
          <a:xfrm>
            <a:off x="1320800" y="5613400"/>
            <a:ext cx="139700" cy="139700"/>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24000" y="5588000"/>
            <a:ext cx="984250" cy="213360"/>
          </a:xfrm>
          <a:prstGeom prst="rect">
            <a:avLst/>
          </a:prstGeom>
          <a:noFill/>
        </p:spPr>
        <p:txBody>
          <a:bodyPr wrap="none" lIns="0" rIns="0" tIns="0" bIns="0">
            <a:spAutoFit/>
          </a:bodyPr>
          <a:lstStyle/>
          <a:p>
            <a:pPr algn="l"/>
            <a:r>
              <a:rPr sz="1200" b="0">
                <a:solidFill>
                  <a:srgbClr val="C5D8E8"/>
                </a:solidFill>
                <a:latin typeface="Segoe UI"/>
              </a:rPr>
              <a:t>3 per maand</a:t>
            </a:r>
          </a:p>
        </p:txBody>
      </p:sp>
      <p:sp>
        <p:nvSpPr>
          <p:cNvPr id="11" name="Rectangle 10"/>
          <p:cNvSpPr/>
          <p:nvPr/>
        </p:nvSpPr>
        <p:spPr>
          <a:xfrm>
            <a:off x="2635250" y="5613400"/>
            <a:ext cx="139700" cy="139700"/>
          </a:xfrm>
          <a:prstGeom prst="rect">
            <a:avLst/>
          </a:prstGeom>
          <a:solidFill>
            <a:srgbClr val="FF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8450" y="5588000"/>
            <a:ext cx="984250" cy="213360"/>
          </a:xfrm>
          <a:prstGeom prst="rect">
            <a:avLst/>
          </a:prstGeom>
          <a:noFill/>
        </p:spPr>
        <p:txBody>
          <a:bodyPr wrap="none" lIns="0" rIns="0" tIns="0" bIns="0">
            <a:spAutoFit/>
          </a:bodyPr>
          <a:lstStyle/>
          <a:p>
            <a:pPr algn="l"/>
            <a:r>
              <a:rPr sz="1200" b="0">
                <a:solidFill>
                  <a:srgbClr val="C5D8E8"/>
                </a:solidFill>
                <a:latin typeface="Segoe UI"/>
              </a:rPr>
              <a:t>2 per maand</a:t>
            </a:r>
          </a:p>
        </p:txBody>
      </p:sp>
      <p:cxnSp>
        <p:nvCxnSpPr>
          <p:cNvPr id="13" name="Connector 12"/>
          <p:cNvCxnSpPr/>
          <p:nvPr/>
        </p:nvCxnSpPr>
        <p:spPr>
          <a:xfrm>
            <a:off x="3949700" y="5683250"/>
            <a:ext cx="254000" cy="0"/>
          </a:xfrm>
          <a:prstGeom prst="line">
            <a:avLst/>
          </a:prstGeom>
          <a:ln w="19050">
            <a:solidFill>
              <a:srgbClr val="C5D8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67200" y="5588000"/>
            <a:ext cx="990600" cy="213360"/>
          </a:xfrm>
          <a:prstGeom prst="rect">
            <a:avLst/>
          </a:prstGeom>
          <a:noFill/>
        </p:spPr>
        <p:txBody>
          <a:bodyPr wrap="none" lIns="0" rIns="0" tIns="0" bIns="0">
            <a:spAutoFit/>
          </a:bodyPr>
          <a:lstStyle/>
          <a:p>
            <a:pPr algn="l"/>
            <a:r>
              <a:rPr sz="1200" b="0">
                <a:solidFill>
                  <a:srgbClr val="C5D8E8"/>
                </a:solidFill>
                <a:latin typeface="Segoe UI"/>
              </a:rPr>
              <a:t>één centrum</a:t>
            </a:r>
          </a:p>
        </p:txBody>
      </p:sp>
      <p:cxnSp>
        <p:nvCxnSpPr>
          <p:cNvPr id="15" name="Connector 14"/>
          <p:cNvCxnSpPr/>
          <p:nvPr/>
        </p:nvCxnSpPr>
        <p:spPr>
          <a:xfrm>
            <a:off x="5384800" y="5683250"/>
            <a:ext cx="254000" cy="0"/>
          </a:xfrm>
          <a:prstGeom prst="line">
            <a:avLst/>
          </a:prstGeom>
          <a:ln w="19050">
            <a:solidFill>
              <a:srgbClr val="C5D8E8"/>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702300" y="5588000"/>
            <a:ext cx="622300" cy="213360"/>
          </a:xfrm>
          <a:prstGeom prst="rect">
            <a:avLst/>
          </a:prstGeom>
          <a:noFill/>
        </p:spPr>
        <p:txBody>
          <a:bodyPr wrap="none" lIns="0" rIns="0" tIns="0" bIns="0">
            <a:spAutoFit/>
          </a:bodyPr>
          <a:lstStyle/>
          <a:p>
            <a:pPr algn="l"/>
            <a:r>
              <a:rPr sz="1200" b="0">
                <a:solidFill>
                  <a:srgbClr val="C5D8E8"/>
                </a:solidFill>
                <a:latin typeface="Segoe UI"/>
              </a:rPr>
              <a:t>alle zes</a:t>
            </a:r>
          </a:p>
        </p:txBody>
      </p:sp>
      <p:sp>
        <p:nvSpPr>
          <p:cNvPr id="17" name="TextBox 16"/>
          <p:cNvSpPr txBox="1"/>
          <p:nvPr/>
        </p:nvSpPr>
        <p:spPr>
          <a:xfrm>
            <a:off x="6934200" y="2095500"/>
            <a:ext cx="4495800" cy="198120"/>
          </a:xfrm>
          <a:prstGeom prst="rect">
            <a:avLst/>
          </a:prstGeom>
          <a:noFill/>
        </p:spPr>
        <p:txBody>
          <a:bodyPr wrap="none" lIns="0" rIns="0" tIns="0" bIns="0" anchor="t">
            <a:noAutofit/>
          </a:bodyPr>
          <a:lstStyle/>
          <a:p>
            <a:pPr algn="l"/>
            <a:r>
              <a:rPr sz="1200" b="0" i="0" spc="150">
                <a:solidFill>
                  <a:srgbClr val="FF9A3D"/>
                </a:solidFill>
                <a:latin typeface="JetBrains Mono"/>
              </a:rPr>
              <a:t>TWEE PER MAAND</a:t>
            </a:r>
          </a:p>
        </p:txBody>
      </p:sp>
      <p:sp>
        <p:nvSpPr>
          <p:cNvPr id="18" name="Rectangle 17"/>
          <p:cNvSpPr/>
          <p:nvPr/>
        </p:nvSpPr>
        <p:spPr>
          <a:xfrm>
            <a:off x="6934200" y="2368550"/>
            <a:ext cx="44450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34200" y="2476500"/>
            <a:ext cx="1320800" cy="355600"/>
          </a:xfrm>
          <a:prstGeom prst="rect">
            <a:avLst/>
          </a:prstGeom>
          <a:noFill/>
        </p:spPr>
        <p:txBody>
          <a:bodyPr wrap="none" lIns="0" rIns="0" tIns="0" bIns="0" anchor="t">
            <a:noAutofit/>
          </a:bodyPr>
          <a:lstStyle/>
          <a:p>
            <a:pPr algn="l">
              <a:lnSpc>
                <a:spcPts val="2800"/>
              </a:lnSpc>
            </a:pPr>
            <a:r>
              <a:rPr sz="2800" b="0" i="0">
                <a:solidFill>
                  <a:srgbClr val="F2F8FC"/>
                </a:solidFill>
                <a:latin typeface="DM Serif Display"/>
              </a:rPr>
              <a:t>12 ± 2,5</a:t>
            </a:r>
          </a:p>
        </p:txBody>
      </p:sp>
      <p:sp>
        <p:nvSpPr>
          <p:cNvPr id="20" name="TextBox 19"/>
          <p:cNvSpPr txBox="1"/>
          <p:nvPr/>
        </p:nvSpPr>
        <p:spPr>
          <a:xfrm>
            <a:off x="8356600" y="2609850"/>
            <a:ext cx="30734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maanden per centrum</a:t>
            </a:r>
          </a:p>
        </p:txBody>
      </p:sp>
      <p:sp>
        <p:nvSpPr>
          <p:cNvPr id="21" name="Rectangle 20"/>
          <p:cNvSpPr/>
          <p:nvPr/>
        </p:nvSpPr>
        <p:spPr>
          <a:xfrm>
            <a:off x="6934200" y="2934295"/>
            <a:ext cx="44450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34200" y="3042245"/>
            <a:ext cx="1320800" cy="355600"/>
          </a:xfrm>
          <a:prstGeom prst="rect">
            <a:avLst/>
          </a:prstGeom>
          <a:noFill/>
        </p:spPr>
        <p:txBody>
          <a:bodyPr wrap="none" lIns="0" rIns="0" tIns="0" bIns="0" anchor="t">
            <a:noAutofit/>
          </a:bodyPr>
          <a:lstStyle/>
          <a:p>
            <a:pPr algn="l">
              <a:lnSpc>
                <a:spcPts val="2800"/>
              </a:lnSpc>
            </a:pPr>
            <a:r>
              <a:rPr sz="2800" b="0" i="0">
                <a:solidFill>
                  <a:srgbClr val="F2F8FC"/>
                </a:solidFill>
                <a:latin typeface="DM Serif Display"/>
              </a:rPr>
              <a:t>3 van 6</a:t>
            </a:r>
          </a:p>
        </p:txBody>
      </p:sp>
      <p:sp>
        <p:nvSpPr>
          <p:cNvPr id="23" name="TextBox 22"/>
          <p:cNvSpPr txBox="1"/>
          <p:nvPr/>
        </p:nvSpPr>
        <p:spPr>
          <a:xfrm>
            <a:off x="8356600" y="3175595"/>
            <a:ext cx="30734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centra klaar na een jaar</a:t>
            </a:r>
          </a:p>
        </p:txBody>
      </p:sp>
      <p:sp>
        <p:nvSpPr>
          <p:cNvPr id="24" name="Rectangle 23"/>
          <p:cNvSpPr/>
          <p:nvPr/>
        </p:nvSpPr>
        <p:spPr>
          <a:xfrm>
            <a:off x="6934200" y="3500041"/>
            <a:ext cx="44450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34200" y="3607991"/>
            <a:ext cx="1320800" cy="355600"/>
          </a:xfrm>
          <a:prstGeom prst="rect">
            <a:avLst/>
          </a:prstGeom>
          <a:noFill/>
        </p:spPr>
        <p:txBody>
          <a:bodyPr wrap="none" lIns="0" rIns="0" tIns="0" bIns="0" anchor="t">
            <a:noAutofit/>
          </a:bodyPr>
          <a:lstStyle/>
          <a:p>
            <a:pPr algn="l">
              <a:lnSpc>
                <a:spcPts val="2800"/>
              </a:lnSpc>
            </a:pPr>
            <a:r>
              <a:rPr sz="2800" b="0" i="0">
                <a:solidFill>
                  <a:srgbClr val="FF9A3D"/>
                </a:solidFill>
                <a:latin typeface="DM Serif Display"/>
              </a:rPr>
              <a:t>12%</a:t>
            </a:r>
          </a:p>
        </p:txBody>
      </p:sp>
      <p:sp>
        <p:nvSpPr>
          <p:cNvPr id="26" name="TextBox 25"/>
          <p:cNvSpPr txBox="1"/>
          <p:nvPr/>
        </p:nvSpPr>
        <p:spPr>
          <a:xfrm>
            <a:off x="8356600" y="3741341"/>
            <a:ext cx="3083052" cy="445691"/>
          </a:xfrm>
          <a:prstGeom prst="rect">
            <a:avLst/>
          </a:prstGeom>
          <a:noFill/>
        </p:spPr>
        <p:txBody>
          <a:bodyPr wrap="square" lIns="0" rIns="0" tIns="0" bIns="0" anchor="t">
            <a:noAutofit/>
          </a:bodyPr>
          <a:lstStyle/>
          <a:p>
            <a:pPr algn="l">
              <a:lnSpc>
                <a:spcPts val="1755"/>
              </a:lnSpc>
            </a:pPr>
            <a:r>
              <a:rPr sz="1300" b="0" i="0">
                <a:solidFill>
                  <a:srgbClr val="C5D8E8"/>
                </a:solidFill>
                <a:latin typeface="DM Sans"/>
              </a:rPr>
              <a:t>kans dat alle zes klaar zijn vóór eind maart 2028</a:t>
            </a:r>
          </a:p>
        </p:txBody>
      </p:sp>
      <p:sp>
        <p:nvSpPr>
          <p:cNvPr id="27" name="Rectangle 26"/>
          <p:cNvSpPr/>
          <p:nvPr/>
        </p:nvSpPr>
        <p:spPr>
          <a:xfrm>
            <a:off x="6934200" y="4288631"/>
            <a:ext cx="44450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34200" y="4396581"/>
            <a:ext cx="1320800" cy="355600"/>
          </a:xfrm>
          <a:prstGeom prst="rect">
            <a:avLst/>
          </a:prstGeom>
          <a:noFill/>
        </p:spPr>
        <p:txBody>
          <a:bodyPr wrap="none" lIns="0" rIns="0" tIns="0" bIns="0" anchor="t">
            <a:noAutofit/>
          </a:bodyPr>
          <a:lstStyle/>
          <a:p>
            <a:pPr algn="l">
              <a:lnSpc>
                <a:spcPts val="2800"/>
              </a:lnSpc>
            </a:pPr>
            <a:r>
              <a:rPr sz="2800" b="0" i="0">
                <a:solidFill>
                  <a:srgbClr val="FF9A3D"/>
                </a:solidFill>
                <a:latin typeface="DM Serif Display"/>
              </a:rPr>
              <a:t>8%</a:t>
            </a:r>
          </a:p>
        </p:txBody>
      </p:sp>
      <p:sp>
        <p:nvSpPr>
          <p:cNvPr id="29" name="TextBox 28"/>
          <p:cNvSpPr txBox="1"/>
          <p:nvPr/>
        </p:nvSpPr>
        <p:spPr>
          <a:xfrm>
            <a:off x="8356600" y="4529931"/>
            <a:ext cx="3083052" cy="445691"/>
          </a:xfrm>
          <a:prstGeom prst="rect">
            <a:avLst/>
          </a:prstGeom>
          <a:noFill/>
        </p:spPr>
        <p:txBody>
          <a:bodyPr wrap="square" lIns="0" rIns="0" tIns="0" bIns="0" anchor="t">
            <a:noAutofit/>
          </a:bodyPr>
          <a:lstStyle/>
          <a:p>
            <a:pPr algn="l">
              <a:lnSpc>
                <a:spcPts val="1755"/>
              </a:lnSpc>
            </a:pPr>
            <a:r>
              <a:rPr sz="1300" b="0" i="0">
                <a:solidFill>
                  <a:srgbClr val="C5D8E8"/>
                </a:solidFill>
                <a:latin typeface="DM Sans"/>
              </a:rPr>
              <a:t>kans dat na 18 maanden nog een centrum niet rond is</a:t>
            </a:r>
          </a:p>
        </p:txBody>
      </p:sp>
      <p:sp>
        <p:nvSpPr>
          <p:cNvPr id="30" name="TextBox 29"/>
          <p:cNvSpPr txBox="1"/>
          <p:nvPr/>
        </p:nvSpPr>
        <p:spPr>
          <a:xfrm>
            <a:off x="6934200" y="5372100"/>
            <a:ext cx="44958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Laatste visite eind november 2029</a:t>
            </a:r>
          </a:p>
        </p:txBody>
      </p:sp>
      <p:pic>
        <p:nvPicPr>
          <p:cNvPr id="31" name="Picture 30"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32" name="TextBox 31"/>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33" name="TextBox 32"/>
          <p:cNvSpPr txBox="1"/>
          <p:nvPr/>
        </p:nvSpPr>
        <p:spPr>
          <a:xfrm>
            <a:off x="5613400" y="6254750"/>
            <a:ext cx="5765800" cy="198120"/>
          </a:xfrm>
          <a:prstGeom prst="rect">
            <a:avLst/>
          </a:prstGeom>
          <a:noFill/>
        </p:spPr>
        <p:txBody>
          <a:bodyPr wrap="none" lIns="0" rIns="0" tIns="0" bIns="0" anchor="t">
            <a:noAutofit/>
          </a:bodyPr>
          <a:lstStyle/>
          <a:p>
            <a:pPr algn="r"/>
            <a:r>
              <a:rPr sz="1200" b="0" i="0">
                <a:solidFill>
                  <a:srgbClr val="6F8FAA"/>
                </a:solidFill>
                <a:latin typeface="JetBrains Mono"/>
              </a:rPr>
              <a:t>Bron · Poisson-instroom, start 24 feb 2027</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22" presetClass="entr" presetSubtype="8"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right)">
                                      <p:cBhvr>
                                        <p:cTn id="6" dur="1400"/>
                                        <p:tgtEl>
                                          <p:spTgt spid="4"/>
                                        </p:tgtEl>
                                      </p:cBhvr>
                                    </p:animEffect>
                                  </p:childTnLst>
                                </p:cTn>
                              </p:par>
                            </p:childTnLst>
                          </p:cTn>
                        </p:par>
                        <p:par>
                          <p:cTn id="17" fill="hold">
                            <p:stCondLst>
                              <p:cond delay="0"/>
                            </p:stCondLst>
                            <p:childTnLst>
                              <p:par>
                                <p:cTn id="7" presetID="10" presetClass="entr" presetSubtype="0" fill="hold" grpId="0" nodeType="afterEffect">
                                  <p:stCondLst>
                                    <p:cond delay="2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
                                        <p:tgtEl>
                                          <p:spTgt spid="5"/>
                                        </p:tgtEl>
                                      </p:cBhvr>
                                    </p:animEffect>
                                  </p:childTnLst>
                                </p:cTn>
                              </p:par>
                            </p:childTnLst>
                          </p:cTn>
                        </p:par>
                        <p:par>
                          <p:cTn id="18" fill="hold">
                            <p:stCondLst>
                              <p:cond delay="0"/>
                            </p:stCondLst>
                            <p:childTnLst>
                              <p:par>
                                <p:cTn id="10" presetID="10" presetClass="entr" presetSubtype="0" fill="hold" grpId="0" nodeType="after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9" fill="hold">
                            <p:stCondLst>
                              <p:cond delay="0"/>
                            </p:stCondLst>
                            <p:childTnLst>
                              <p:par>
                                <p:cTn id="13" presetID="10" presetClass="entr" presetSubtype="0" fill="hold" grpId="0" nodeType="after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animBg="1"/>
      <p:bldP spid="6" grpId="0" animBg="1"/>
      <p:bldP spid="7"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5 · INCLUSIE · WAT DE KANS BEPAALT</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Het traagste centrum bepaalt het einde</a:t>
            </a:r>
          </a:p>
        </p:txBody>
      </p:sp>
      <p:graphicFrame>
        <p:nvGraphicFramePr>
          <p:cNvPr id="4" name="Chart 3"/>
          <p:cNvGraphicFramePr>
            <a:graphicFrameLocks noGrp="1"/>
          </p:cNvGraphicFramePr>
          <p:nvPr/>
        </p:nvGraphicFramePr>
        <p:xfrm>
          <a:off x="812800" y="2476500"/>
          <a:ext cx="5715000" cy="3365500"/>
        </p:xfrm>
        <a:graphic>
          <a:graphicData uri="http://schemas.openxmlformats.org/drawingml/2006/chart">
            <c:chart xmlns:c="http://schemas.openxmlformats.org/drawingml/2006/chart" r:id="rId2"/>
          </a:graphicData>
        </a:graphic>
      </p:graphicFrame>
      <p:sp>
        <p:nvSpPr>
          <p:cNvPr id="5" name="TextBox 4"/>
          <p:cNvSpPr txBox="1"/>
          <p:nvPr/>
        </p:nvSpPr>
        <p:spPr>
          <a:xfrm>
            <a:off x="1320800" y="2171700"/>
            <a:ext cx="5080000" cy="213360"/>
          </a:xfrm>
          <a:prstGeom prst="rect">
            <a:avLst/>
          </a:prstGeom>
          <a:noFill/>
        </p:spPr>
        <p:txBody>
          <a:bodyPr wrap="none" lIns="0" rIns="0" tIns="0" bIns="0">
            <a:spAutoFit/>
          </a:bodyPr>
          <a:lstStyle/>
          <a:p>
            <a:pPr algn="l"/>
            <a:r>
              <a:rPr sz="1200" b="0">
                <a:solidFill>
                  <a:srgbClr val="8FB0CA"/>
                </a:solidFill>
                <a:latin typeface="Segoe UI"/>
              </a:rPr>
              <a:t>kans dat alle 144 er zijn vóór eind maart 2028</a:t>
            </a:r>
          </a:p>
        </p:txBody>
      </p:sp>
      <p:sp>
        <p:nvSpPr>
          <p:cNvPr id="6" name="TextBox 5"/>
          <p:cNvSpPr txBox="1"/>
          <p:nvPr/>
        </p:nvSpPr>
        <p:spPr>
          <a:xfrm>
            <a:off x="6934200" y="2095500"/>
            <a:ext cx="4495800" cy="198120"/>
          </a:xfrm>
          <a:prstGeom prst="rect">
            <a:avLst/>
          </a:prstGeom>
          <a:noFill/>
        </p:spPr>
        <p:txBody>
          <a:bodyPr wrap="none" lIns="0" rIns="0" tIns="0" bIns="0" anchor="t">
            <a:noAutofit/>
          </a:bodyPr>
          <a:lstStyle/>
          <a:p>
            <a:pPr algn="l"/>
            <a:r>
              <a:rPr sz="1200" b="0" i="0" spc="150">
                <a:solidFill>
                  <a:srgbClr val="8FB0CA"/>
                </a:solidFill>
                <a:latin typeface="JetBrains Mono"/>
              </a:rPr>
              <a:t>ALLE CENTRA EVEN SNEL</a:t>
            </a:r>
          </a:p>
        </p:txBody>
      </p:sp>
      <p:sp>
        <p:nvSpPr>
          <p:cNvPr id="7" name="TextBox 6"/>
          <p:cNvSpPr txBox="1"/>
          <p:nvPr/>
        </p:nvSpPr>
        <p:spPr>
          <a:xfrm>
            <a:off x="6934200" y="2330450"/>
            <a:ext cx="44958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elk centrum haalt het gemiddelde</a:t>
            </a:r>
          </a:p>
        </p:txBody>
      </p:sp>
      <p:sp>
        <p:nvSpPr>
          <p:cNvPr id="8" name="Rectangle 7"/>
          <p:cNvSpPr/>
          <p:nvPr/>
        </p:nvSpPr>
        <p:spPr>
          <a:xfrm>
            <a:off x="6934200" y="2667595"/>
            <a:ext cx="44450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34200" y="2788245"/>
            <a:ext cx="4495800" cy="198120"/>
          </a:xfrm>
          <a:prstGeom prst="rect">
            <a:avLst/>
          </a:prstGeom>
          <a:noFill/>
        </p:spPr>
        <p:txBody>
          <a:bodyPr wrap="none" lIns="0" rIns="0" tIns="0" bIns="0" anchor="t">
            <a:noAutofit/>
          </a:bodyPr>
          <a:lstStyle/>
          <a:p>
            <a:pPr algn="l"/>
            <a:r>
              <a:rPr sz="1200" b="0" i="0" spc="150">
                <a:solidFill>
                  <a:srgbClr val="FF9A3D"/>
                </a:solidFill>
                <a:latin typeface="JetBrains Mono"/>
              </a:rPr>
              <a:t>CENTRA VERSCHILLEN</a:t>
            </a:r>
          </a:p>
        </p:txBody>
      </p:sp>
      <p:sp>
        <p:nvSpPr>
          <p:cNvPr id="10" name="TextBox 9"/>
          <p:cNvSpPr txBox="1"/>
          <p:nvPr/>
        </p:nvSpPr>
        <p:spPr>
          <a:xfrm>
            <a:off x="6934200" y="3023195"/>
            <a:ext cx="44958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het ene een kwart meer, het andere een kwart minder</a:t>
            </a:r>
          </a:p>
        </p:txBody>
      </p:sp>
      <p:sp>
        <p:nvSpPr>
          <p:cNvPr id="11" name="Rectangle 10"/>
          <p:cNvSpPr/>
          <p:nvPr/>
        </p:nvSpPr>
        <p:spPr>
          <a:xfrm>
            <a:off x="6934200" y="3360341"/>
            <a:ext cx="4445000" cy="6350"/>
          </a:xfrm>
          <a:prstGeom prst="rect">
            <a:avLst/>
          </a:prstGeom>
          <a:solidFill>
            <a:srgbClr val="2150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34200" y="3480991"/>
            <a:ext cx="4495800" cy="198120"/>
          </a:xfrm>
          <a:prstGeom prst="rect">
            <a:avLst/>
          </a:prstGeom>
          <a:noFill/>
        </p:spPr>
        <p:txBody>
          <a:bodyPr wrap="none" lIns="0" rIns="0" tIns="0" bIns="0" anchor="t">
            <a:noAutofit/>
          </a:bodyPr>
          <a:lstStyle/>
          <a:p>
            <a:pPr algn="l"/>
            <a:r>
              <a:rPr sz="1200" b="0" i="0" spc="150">
                <a:solidFill>
                  <a:srgbClr val="52BDEC"/>
                </a:solidFill>
                <a:latin typeface="JetBrains Mono"/>
              </a:rPr>
              <a:t>MET BIJSPRINGEN</a:t>
            </a:r>
          </a:p>
        </p:txBody>
      </p:sp>
      <p:sp>
        <p:nvSpPr>
          <p:cNvPr id="13" name="TextBox 12"/>
          <p:cNvSpPr txBox="1"/>
          <p:nvPr/>
        </p:nvSpPr>
        <p:spPr>
          <a:xfrm>
            <a:off x="6934200" y="3715941"/>
            <a:ext cx="44958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wie sneller gaat, includeert door, tot 30 per centrum</a:t>
            </a:r>
          </a:p>
        </p:txBody>
      </p:sp>
      <p:sp>
        <p:nvSpPr>
          <p:cNvPr id="14" name="TextBox 13"/>
          <p:cNvSpPr txBox="1"/>
          <p:nvPr/>
        </p:nvSpPr>
        <p:spPr>
          <a:xfrm>
            <a:off x="6934200" y="5372100"/>
            <a:ext cx="44958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Drie per maand én bijspringen maken het zeker</a:t>
            </a:r>
          </a:p>
        </p:txBody>
      </p:sp>
      <p:pic>
        <p:nvPicPr>
          <p:cNvPr id="15" name="Picture 14" descr="ec5c93e6f83f209b4e97ddfdecd480c8.png"/>
          <p:cNvPicPr>
            <a:picLocks noChangeAspect="1"/>
          </p:cNvPicPr>
          <p:nvPr/>
        </p:nvPicPr>
        <p:blipFill>
          <a:blip r:embed="rId3"/>
          <a:stretch>
            <a:fillRect/>
          </a:stretch>
        </p:blipFill>
        <p:spPr>
          <a:xfrm>
            <a:off x="812967" y="6261100"/>
            <a:ext cx="171116" cy="203200"/>
          </a:xfrm>
          <a:prstGeom prst="rect">
            <a:avLst/>
          </a:prstGeom>
        </p:spPr>
      </p:pic>
      <p:sp>
        <p:nvSpPr>
          <p:cNvPr id="16" name="TextBox 15"/>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17" name="TextBox 16"/>
          <p:cNvSpPr txBox="1"/>
          <p:nvPr/>
        </p:nvSpPr>
        <p:spPr>
          <a:xfrm>
            <a:off x="5613400" y="6254750"/>
            <a:ext cx="5765800" cy="198120"/>
          </a:xfrm>
          <a:prstGeom prst="rect">
            <a:avLst/>
          </a:prstGeom>
          <a:noFill/>
        </p:spPr>
        <p:txBody>
          <a:bodyPr wrap="none" lIns="0" rIns="0" tIns="0" bIns="0" anchor="t">
            <a:noAutofit/>
          </a:bodyPr>
          <a:lstStyle/>
          <a:p>
            <a:pPr algn="r"/>
            <a:r>
              <a:rPr sz="1200" b="0" i="0">
                <a:solidFill>
                  <a:srgbClr val="6F8FAA"/>
                </a:solidFill>
                <a:latin typeface="JetBrains Mono"/>
              </a:rPr>
              <a:t>Bron · Poisson-gammamodel, 20.000 runs · risicoplan FWO</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22" presetClass="entr" presetSubtype="4"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up)">
                                      <p:cBhvr>
                                        <p:cTn id="6" dur="1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5 · WAT HET VAN UW TEAM VRAAGT</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Evenveel uren, sneller klaar</a:t>
            </a:r>
          </a:p>
        </p:txBody>
      </p:sp>
      <p:sp>
        <p:nvSpPr>
          <p:cNvPr id="4" name="TextBox 3"/>
          <p:cNvSpPr txBox="1"/>
          <p:nvPr/>
        </p:nvSpPr>
        <p:spPr>
          <a:xfrm>
            <a:off x="1003300" y="1930400"/>
            <a:ext cx="1905000" cy="266700"/>
          </a:xfrm>
          <a:prstGeom prst="rect">
            <a:avLst/>
          </a:prstGeom>
          <a:noFill/>
        </p:spPr>
        <p:txBody>
          <a:bodyPr wrap="none" lIns="0" rIns="0" tIns="0" bIns="0">
            <a:spAutoFit/>
          </a:bodyPr>
          <a:lstStyle/>
          <a:p>
            <a:pPr algn="l"/>
            <a:r>
              <a:rPr sz="1500" b="1">
                <a:solidFill>
                  <a:srgbClr val="F2F8FC"/>
                </a:solidFill>
                <a:latin typeface="Segoe UI"/>
              </a:rPr>
              <a:t>3 per maand</a:t>
            </a:r>
          </a:p>
        </p:txBody>
      </p:sp>
      <p:sp>
        <p:nvSpPr>
          <p:cNvPr id="5" name="TextBox 4"/>
          <p:cNvSpPr txBox="1"/>
          <p:nvPr/>
        </p:nvSpPr>
        <p:spPr>
          <a:xfrm>
            <a:off x="2222500" y="1968500"/>
            <a:ext cx="2032000" cy="213360"/>
          </a:xfrm>
          <a:prstGeom prst="rect">
            <a:avLst/>
          </a:prstGeom>
          <a:noFill/>
        </p:spPr>
        <p:txBody>
          <a:bodyPr wrap="none" lIns="0" rIns="0" tIns="0" bIns="0">
            <a:spAutoFit/>
          </a:bodyPr>
          <a:lstStyle/>
          <a:p>
            <a:pPr algn="l"/>
            <a:r>
              <a:rPr sz="1200" b="0">
                <a:solidFill>
                  <a:srgbClr val="8FB0CA"/>
                </a:solidFill>
                <a:latin typeface="Segoe UI"/>
              </a:rPr>
              <a:t>12 maanden inclusie</a:t>
            </a:r>
          </a:p>
        </p:txBody>
      </p:sp>
      <p:sp>
        <p:nvSpPr>
          <p:cNvPr id="6" name="TextBox 5"/>
          <p:cNvSpPr txBox="1"/>
          <p:nvPr/>
        </p:nvSpPr>
        <p:spPr>
          <a:xfrm>
            <a:off x="1003300" y="2222500"/>
            <a:ext cx="3302000" cy="213360"/>
          </a:xfrm>
          <a:prstGeom prst="rect">
            <a:avLst/>
          </a:prstGeom>
          <a:noFill/>
        </p:spPr>
        <p:txBody>
          <a:bodyPr wrap="none" lIns="0" rIns="0" tIns="0" bIns="0">
            <a:spAutoFit/>
          </a:bodyPr>
          <a:lstStyle/>
          <a:p>
            <a:pPr algn="l"/>
            <a:r>
              <a:rPr sz="1200" b="0">
                <a:solidFill>
                  <a:srgbClr val="C5D8E8"/>
                </a:solidFill>
                <a:latin typeface="Segoe UI"/>
              </a:rPr>
              <a:t>14,0 u/maand tijdens de inclusie</a:t>
            </a:r>
          </a:p>
        </p:txBody>
      </p:sp>
      <p:sp>
        <p:nvSpPr>
          <p:cNvPr id="7" name="TextBox 6"/>
          <p:cNvSpPr txBox="1"/>
          <p:nvPr/>
        </p:nvSpPr>
        <p:spPr>
          <a:xfrm>
            <a:off x="1003300" y="2425700"/>
            <a:ext cx="3302000" cy="213360"/>
          </a:xfrm>
          <a:prstGeom prst="rect">
            <a:avLst/>
          </a:prstGeom>
          <a:noFill/>
        </p:spPr>
        <p:txBody>
          <a:bodyPr wrap="none" lIns="0" rIns="0" tIns="0" bIns="0">
            <a:spAutoFit/>
          </a:bodyPr>
          <a:lstStyle/>
          <a:p>
            <a:pPr algn="l"/>
            <a:r>
              <a:rPr sz="1200" b="0">
                <a:solidFill>
                  <a:srgbClr val="C5D8E8"/>
                </a:solidFill>
                <a:latin typeface="Segoe UI"/>
              </a:rPr>
              <a:t>laatste visite jun 2029</a:t>
            </a:r>
          </a:p>
        </p:txBody>
      </p:sp>
      <p:graphicFrame>
        <p:nvGraphicFramePr>
          <p:cNvPr id="8" name="Chart 7"/>
          <p:cNvGraphicFramePr>
            <a:graphicFrameLocks noGrp="1"/>
          </p:cNvGraphicFramePr>
          <p:nvPr/>
        </p:nvGraphicFramePr>
        <p:xfrm>
          <a:off x="812800" y="2616200"/>
          <a:ext cx="3581400" cy="2413000"/>
        </p:xfrm>
        <a:graphic>
          <a:graphicData uri="http://schemas.openxmlformats.org/drawingml/2006/chart">
            <c:chart xmlns:c="http://schemas.openxmlformats.org/drawingml/2006/chart" r:id="rId2"/>
          </a:graphicData>
        </a:graphic>
      </p:graphicFrame>
      <p:sp>
        <p:nvSpPr>
          <p:cNvPr id="9" name="TextBox 8"/>
          <p:cNvSpPr txBox="1"/>
          <p:nvPr/>
        </p:nvSpPr>
        <p:spPr>
          <a:xfrm>
            <a:off x="4724400" y="1930400"/>
            <a:ext cx="1905000" cy="266700"/>
          </a:xfrm>
          <a:prstGeom prst="rect">
            <a:avLst/>
          </a:prstGeom>
          <a:noFill/>
        </p:spPr>
        <p:txBody>
          <a:bodyPr wrap="none" lIns="0" rIns="0" tIns="0" bIns="0">
            <a:spAutoFit/>
          </a:bodyPr>
          <a:lstStyle/>
          <a:p>
            <a:pPr algn="l"/>
            <a:r>
              <a:rPr sz="1500" b="1">
                <a:solidFill>
                  <a:srgbClr val="F2F8FC"/>
                </a:solidFill>
                <a:latin typeface="Segoe UI"/>
              </a:rPr>
              <a:t>2 per maand</a:t>
            </a:r>
          </a:p>
        </p:txBody>
      </p:sp>
      <p:sp>
        <p:nvSpPr>
          <p:cNvPr id="10" name="TextBox 9"/>
          <p:cNvSpPr txBox="1"/>
          <p:nvPr/>
        </p:nvSpPr>
        <p:spPr>
          <a:xfrm>
            <a:off x="5943600" y="1968500"/>
            <a:ext cx="2032000" cy="213360"/>
          </a:xfrm>
          <a:prstGeom prst="rect">
            <a:avLst/>
          </a:prstGeom>
          <a:noFill/>
        </p:spPr>
        <p:txBody>
          <a:bodyPr wrap="none" lIns="0" rIns="0" tIns="0" bIns="0">
            <a:spAutoFit/>
          </a:bodyPr>
          <a:lstStyle/>
          <a:p>
            <a:pPr algn="l"/>
            <a:r>
              <a:rPr sz="1200" b="0">
                <a:solidFill>
                  <a:srgbClr val="8FB0CA"/>
                </a:solidFill>
                <a:latin typeface="Segoe UI"/>
              </a:rPr>
              <a:t>18 maanden inclusie</a:t>
            </a:r>
          </a:p>
        </p:txBody>
      </p:sp>
      <p:sp>
        <p:nvSpPr>
          <p:cNvPr id="11" name="TextBox 10"/>
          <p:cNvSpPr txBox="1"/>
          <p:nvPr/>
        </p:nvSpPr>
        <p:spPr>
          <a:xfrm>
            <a:off x="4724400" y="2222500"/>
            <a:ext cx="3302000" cy="213360"/>
          </a:xfrm>
          <a:prstGeom prst="rect">
            <a:avLst/>
          </a:prstGeom>
          <a:noFill/>
        </p:spPr>
        <p:txBody>
          <a:bodyPr wrap="none" lIns="0" rIns="0" tIns="0" bIns="0">
            <a:spAutoFit/>
          </a:bodyPr>
          <a:lstStyle/>
          <a:p>
            <a:pPr algn="l"/>
            <a:r>
              <a:rPr sz="1200" b="0">
                <a:solidFill>
                  <a:srgbClr val="C5D8E8"/>
                </a:solidFill>
                <a:latin typeface="Segoe UI"/>
              </a:rPr>
              <a:t>11,4 u/maand tijdens de inclusie</a:t>
            </a:r>
          </a:p>
        </p:txBody>
      </p:sp>
      <p:sp>
        <p:nvSpPr>
          <p:cNvPr id="12" name="TextBox 11"/>
          <p:cNvSpPr txBox="1"/>
          <p:nvPr/>
        </p:nvSpPr>
        <p:spPr>
          <a:xfrm>
            <a:off x="4724400" y="2425700"/>
            <a:ext cx="3302000" cy="213360"/>
          </a:xfrm>
          <a:prstGeom prst="rect">
            <a:avLst/>
          </a:prstGeom>
          <a:noFill/>
        </p:spPr>
        <p:txBody>
          <a:bodyPr wrap="none" lIns="0" rIns="0" tIns="0" bIns="0">
            <a:spAutoFit/>
          </a:bodyPr>
          <a:lstStyle/>
          <a:p>
            <a:pPr algn="l"/>
            <a:r>
              <a:rPr sz="1200" b="0">
                <a:solidFill>
                  <a:srgbClr val="C5D8E8"/>
                </a:solidFill>
                <a:latin typeface="Segoe UI"/>
              </a:rPr>
              <a:t>laatste visite nov 2029</a:t>
            </a:r>
          </a:p>
        </p:txBody>
      </p:sp>
      <p:graphicFrame>
        <p:nvGraphicFramePr>
          <p:cNvPr id="13" name="Chart 12"/>
          <p:cNvGraphicFramePr>
            <a:graphicFrameLocks noGrp="1"/>
          </p:cNvGraphicFramePr>
          <p:nvPr/>
        </p:nvGraphicFramePr>
        <p:xfrm>
          <a:off x="4533900" y="2616200"/>
          <a:ext cx="3492500" cy="2413000"/>
        </p:xfrm>
        <a:graphic>
          <a:graphicData uri="http://schemas.openxmlformats.org/drawingml/2006/chart">
            <c:chart xmlns:c="http://schemas.openxmlformats.org/drawingml/2006/chart" r:id="rId3"/>
          </a:graphicData>
        </a:graphic>
      </p:graphicFrame>
      <p:sp>
        <p:nvSpPr>
          <p:cNvPr id="14" name="TextBox 13"/>
          <p:cNvSpPr txBox="1"/>
          <p:nvPr/>
        </p:nvSpPr>
        <p:spPr>
          <a:xfrm>
            <a:off x="8356600" y="1930400"/>
            <a:ext cx="1905000" cy="266700"/>
          </a:xfrm>
          <a:prstGeom prst="rect">
            <a:avLst/>
          </a:prstGeom>
          <a:noFill/>
        </p:spPr>
        <p:txBody>
          <a:bodyPr wrap="none" lIns="0" rIns="0" tIns="0" bIns="0">
            <a:spAutoFit/>
          </a:bodyPr>
          <a:lstStyle/>
          <a:p>
            <a:pPr algn="l"/>
            <a:r>
              <a:rPr sz="1500" b="1">
                <a:solidFill>
                  <a:srgbClr val="F2F8FC"/>
                </a:solidFill>
                <a:latin typeface="Segoe UI"/>
              </a:rPr>
              <a:t>1,5 per maand</a:t>
            </a:r>
          </a:p>
        </p:txBody>
      </p:sp>
      <p:sp>
        <p:nvSpPr>
          <p:cNvPr id="15" name="TextBox 14"/>
          <p:cNvSpPr txBox="1"/>
          <p:nvPr/>
        </p:nvSpPr>
        <p:spPr>
          <a:xfrm>
            <a:off x="9734550" y="1968500"/>
            <a:ext cx="2032000" cy="213360"/>
          </a:xfrm>
          <a:prstGeom prst="rect">
            <a:avLst/>
          </a:prstGeom>
          <a:noFill/>
        </p:spPr>
        <p:txBody>
          <a:bodyPr wrap="none" lIns="0" rIns="0" tIns="0" bIns="0">
            <a:spAutoFit/>
          </a:bodyPr>
          <a:lstStyle/>
          <a:p>
            <a:pPr algn="l"/>
            <a:r>
              <a:rPr sz="1200" b="0">
                <a:solidFill>
                  <a:srgbClr val="8FB0CA"/>
                </a:solidFill>
                <a:latin typeface="Segoe UI"/>
              </a:rPr>
              <a:t>18 maanden inclusie</a:t>
            </a:r>
          </a:p>
        </p:txBody>
      </p:sp>
      <p:sp>
        <p:nvSpPr>
          <p:cNvPr id="16" name="TextBox 15"/>
          <p:cNvSpPr txBox="1"/>
          <p:nvPr/>
        </p:nvSpPr>
        <p:spPr>
          <a:xfrm>
            <a:off x="8356600" y="2222500"/>
            <a:ext cx="3302000" cy="213360"/>
          </a:xfrm>
          <a:prstGeom prst="rect">
            <a:avLst/>
          </a:prstGeom>
          <a:noFill/>
        </p:spPr>
        <p:txBody>
          <a:bodyPr wrap="none" lIns="0" rIns="0" tIns="0" bIns="0">
            <a:spAutoFit/>
          </a:bodyPr>
          <a:lstStyle/>
          <a:p>
            <a:pPr algn="l"/>
            <a:r>
              <a:rPr sz="1200" b="0">
                <a:solidFill>
                  <a:srgbClr val="C5D8E8"/>
                </a:solidFill>
                <a:latin typeface="Segoe UI"/>
              </a:rPr>
              <a:t>10,0 u/maand tijdens de inclusie</a:t>
            </a:r>
          </a:p>
        </p:txBody>
      </p:sp>
      <p:sp>
        <p:nvSpPr>
          <p:cNvPr id="17" name="TextBox 16"/>
          <p:cNvSpPr txBox="1"/>
          <p:nvPr/>
        </p:nvSpPr>
        <p:spPr>
          <a:xfrm>
            <a:off x="8356600" y="2425700"/>
            <a:ext cx="3302000" cy="213360"/>
          </a:xfrm>
          <a:prstGeom prst="rect">
            <a:avLst/>
          </a:prstGeom>
          <a:noFill/>
        </p:spPr>
        <p:txBody>
          <a:bodyPr wrap="none" lIns="0" rIns="0" tIns="0" bIns="0">
            <a:spAutoFit/>
          </a:bodyPr>
          <a:lstStyle/>
          <a:p>
            <a:pPr algn="l"/>
            <a:r>
              <a:rPr sz="1200" b="0">
                <a:solidFill>
                  <a:srgbClr val="C5D8E8"/>
                </a:solidFill>
                <a:latin typeface="Segoe UI"/>
              </a:rPr>
              <a:t>laatste visite apr 2030</a:t>
            </a:r>
          </a:p>
        </p:txBody>
      </p:sp>
      <p:graphicFrame>
        <p:nvGraphicFramePr>
          <p:cNvPr id="18" name="Chart 17"/>
          <p:cNvGraphicFramePr>
            <a:graphicFrameLocks noGrp="1"/>
          </p:cNvGraphicFramePr>
          <p:nvPr/>
        </p:nvGraphicFramePr>
        <p:xfrm>
          <a:off x="8166100" y="2616200"/>
          <a:ext cx="3492500" cy="2413000"/>
        </p:xfrm>
        <a:graphic>
          <a:graphicData uri="http://schemas.openxmlformats.org/drawingml/2006/chart">
            <c:chart xmlns:c="http://schemas.openxmlformats.org/drawingml/2006/chart" r:id="rId4"/>
          </a:graphicData>
        </a:graphic>
      </p:graphicFrame>
      <p:sp>
        <p:nvSpPr>
          <p:cNvPr id="19" name="Rectangle 18"/>
          <p:cNvSpPr/>
          <p:nvPr/>
        </p:nvSpPr>
        <p:spPr>
          <a:xfrm>
            <a:off x="1092200" y="5245100"/>
            <a:ext cx="139700" cy="139700"/>
          </a:xfrm>
          <a:prstGeom prst="rect">
            <a:avLst/>
          </a:prstGeom>
          <a:solidFill>
            <a:srgbClr val="3987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2700" y="5207000"/>
            <a:ext cx="1270000" cy="213360"/>
          </a:xfrm>
          <a:prstGeom prst="rect">
            <a:avLst/>
          </a:prstGeom>
          <a:noFill/>
        </p:spPr>
        <p:txBody>
          <a:bodyPr wrap="none" lIns="0" rIns="0" tIns="0" bIns="0">
            <a:spAutoFit/>
          </a:bodyPr>
          <a:lstStyle/>
          <a:p>
            <a:pPr algn="l"/>
            <a:r>
              <a:rPr sz="1200" b="0">
                <a:solidFill>
                  <a:srgbClr val="C5D8E8"/>
                </a:solidFill>
                <a:latin typeface="Segoe UI"/>
              </a:rPr>
              <a:t>Visite 1</a:t>
            </a:r>
          </a:p>
        </p:txBody>
      </p:sp>
      <p:sp>
        <p:nvSpPr>
          <p:cNvPr id="21" name="Rectangle 20"/>
          <p:cNvSpPr/>
          <p:nvPr/>
        </p:nvSpPr>
        <p:spPr>
          <a:xfrm>
            <a:off x="1993900" y="5245100"/>
            <a:ext cx="139700" cy="139700"/>
          </a:xfrm>
          <a:prstGeom prst="rect">
            <a:avLst/>
          </a:prstGeom>
          <a:solidFill>
            <a:srgbClr val="D959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184400" y="5207000"/>
            <a:ext cx="1270000" cy="213360"/>
          </a:xfrm>
          <a:prstGeom prst="rect">
            <a:avLst/>
          </a:prstGeom>
          <a:noFill/>
        </p:spPr>
        <p:txBody>
          <a:bodyPr wrap="none" lIns="0" rIns="0" tIns="0" bIns="0">
            <a:spAutoFit/>
          </a:bodyPr>
          <a:lstStyle/>
          <a:p>
            <a:pPr algn="l"/>
            <a:r>
              <a:rPr sz="1200" b="0">
                <a:solidFill>
                  <a:srgbClr val="C5D8E8"/>
                </a:solidFill>
                <a:latin typeface="Segoe UI"/>
              </a:rPr>
              <a:t>Visite 2</a:t>
            </a:r>
          </a:p>
        </p:txBody>
      </p:sp>
      <p:sp>
        <p:nvSpPr>
          <p:cNvPr id="23" name="Rectangle 22"/>
          <p:cNvSpPr/>
          <p:nvPr/>
        </p:nvSpPr>
        <p:spPr>
          <a:xfrm>
            <a:off x="2895600" y="5245100"/>
            <a:ext cx="139700" cy="139700"/>
          </a:xfrm>
          <a:prstGeom prst="rect">
            <a:avLst/>
          </a:prstGeom>
          <a:solidFill>
            <a:srgbClr val="199E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86100" y="5207000"/>
            <a:ext cx="1270000" cy="213360"/>
          </a:xfrm>
          <a:prstGeom prst="rect">
            <a:avLst/>
          </a:prstGeom>
          <a:noFill/>
        </p:spPr>
        <p:txBody>
          <a:bodyPr wrap="none" lIns="0" rIns="0" tIns="0" bIns="0">
            <a:spAutoFit/>
          </a:bodyPr>
          <a:lstStyle/>
          <a:p>
            <a:pPr algn="l"/>
            <a:r>
              <a:rPr sz="1200" b="0">
                <a:solidFill>
                  <a:srgbClr val="C5D8E8"/>
                </a:solidFill>
                <a:latin typeface="Segoe UI"/>
              </a:rPr>
              <a:t>Maand 3</a:t>
            </a:r>
          </a:p>
        </p:txBody>
      </p:sp>
      <p:sp>
        <p:nvSpPr>
          <p:cNvPr id="25" name="Rectangle 24"/>
          <p:cNvSpPr/>
          <p:nvPr/>
        </p:nvSpPr>
        <p:spPr>
          <a:xfrm>
            <a:off x="3898900" y="5245100"/>
            <a:ext cx="139700" cy="139700"/>
          </a:xfrm>
          <a:prstGeom prst="rect">
            <a:avLst/>
          </a:prstGeom>
          <a:solidFill>
            <a:srgbClr val="C9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89400" y="5207000"/>
            <a:ext cx="1270000" cy="213360"/>
          </a:xfrm>
          <a:prstGeom prst="rect">
            <a:avLst/>
          </a:prstGeom>
          <a:noFill/>
        </p:spPr>
        <p:txBody>
          <a:bodyPr wrap="none" lIns="0" rIns="0" tIns="0" bIns="0">
            <a:spAutoFit/>
          </a:bodyPr>
          <a:lstStyle/>
          <a:p>
            <a:pPr algn="l"/>
            <a:r>
              <a:rPr sz="1200" b="0">
                <a:solidFill>
                  <a:srgbClr val="C5D8E8"/>
                </a:solidFill>
                <a:latin typeface="Segoe UI"/>
              </a:rPr>
              <a:t>Maand 6</a:t>
            </a:r>
          </a:p>
        </p:txBody>
      </p:sp>
      <p:sp>
        <p:nvSpPr>
          <p:cNvPr id="27" name="Rectangle 26"/>
          <p:cNvSpPr/>
          <p:nvPr/>
        </p:nvSpPr>
        <p:spPr>
          <a:xfrm>
            <a:off x="4902200" y="5245100"/>
            <a:ext cx="139700" cy="139700"/>
          </a:xfrm>
          <a:prstGeom prst="rect">
            <a:avLst/>
          </a:prstGeom>
          <a:solidFill>
            <a:srgbClr val="D551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2700" y="5207000"/>
            <a:ext cx="1270000" cy="213360"/>
          </a:xfrm>
          <a:prstGeom prst="rect">
            <a:avLst/>
          </a:prstGeom>
          <a:noFill/>
        </p:spPr>
        <p:txBody>
          <a:bodyPr wrap="none" lIns="0" rIns="0" tIns="0" bIns="0">
            <a:spAutoFit/>
          </a:bodyPr>
          <a:lstStyle/>
          <a:p>
            <a:pPr algn="l"/>
            <a:r>
              <a:rPr sz="1200" b="0">
                <a:solidFill>
                  <a:srgbClr val="C5D8E8"/>
                </a:solidFill>
                <a:latin typeface="Segoe UI"/>
              </a:rPr>
              <a:t>Maand 9</a:t>
            </a:r>
          </a:p>
        </p:txBody>
      </p:sp>
      <p:sp>
        <p:nvSpPr>
          <p:cNvPr id="29" name="Rectangle 28"/>
          <p:cNvSpPr/>
          <p:nvPr/>
        </p:nvSpPr>
        <p:spPr>
          <a:xfrm>
            <a:off x="5905500" y="5245100"/>
            <a:ext cx="139700" cy="139700"/>
          </a:xfrm>
          <a:prstGeom prst="rect">
            <a:avLst/>
          </a:prstGeom>
          <a:solidFill>
            <a:srgbClr val="008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96000" y="5207000"/>
            <a:ext cx="1270000" cy="213360"/>
          </a:xfrm>
          <a:prstGeom prst="rect">
            <a:avLst/>
          </a:prstGeom>
          <a:noFill/>
        </p:spPr>
        <p:txBody>
          <a:bodyPr wrap="none" lIns="0" rIns="0" tIns="0" bIns="0">
            <a:spAutoFit/>
          </a:bodyPr>
          <a:lstStyle/>
          <a:p>
            <a:pPr algn="l"/>
            <a:r>
              <a:rPr sz="1200" b="0">
                <a:solidFill>
                  <a:srgbClr val="C5D8E8"/>
                </a:solidFill>
                <a:latin typeface="Segoe UI"/>
              </a:rPr>
              <a:t>Maand 12</a:t>
            </a:r>
          </a:p>
        </p:txBody>
      </p:sp>
      <p:sp>
        <p:nvSpPr>
          <p:cNvPr id="31" name="Rectangle 30"/>
          <p:cNvSpPr/>
          <p:nvPr/>
        </p:nvSpPr>
        <p:spPr>
          <a:xfrm>
            <a:off x="6991350" y="5245100"/>
            <a:ext cx="139700" cy="139700"/>
          </a:xfrm>
          <a:prstGeom prst="rect">
            <a:avLst/>
          </a:prstGeom>
          <a:solidFill>
            <a:srgbClr val="908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81850" y="5207000"/>
            <a:ext cx="1270000" cy="213360"/>
          </a:xfrm>
          <a:prstGeom prst="rect">
            <a:avLst/>
          </a:prstGeom>
          <a:noFill/>
        </p:spPr>
        <p:txBody>
          <a:bodyPr wrap="none" lIns="0" rIns="0" tIns="0" bIns="0">
            <a:spAutoFit/>
          </a:bodyPr>
          <a:lstStyle/>
          <a:p>
            <a:pPr algn="l"/>
            <a:r>
              <a:rPr sz="1200" b="0">
                <a:solidFill>
                  <a:srgbClr val="C5D8E8"/>
                </a:solidFill>
                <a:latin typeface="Segoe UI"/>
              </a:rPr>
              <a:t>Maand 15</a:t>
            </a:r>
          </a:p>
        </p:txBody>
      </p:sp>
      <p:sp>
        <p:nvSpPr>
          <p:cNvPr id="33" name="Rectangle 32"/>
          <p:cNvSpPr/>
          <p:nvPr/>
        </p:nvSpPr>
        <p:spPr>
          <a:xfrm>
            <a:off x="8077200" y="5245100"/>
            <a:ext cx="139700" cy="139700"/>
          </a:xfrm>
          <a:prstGeom prst="rect">
            <a:avLst/>
          </a:prstGeom>
          <a:solidFill>
            <a:srgbClr val="E667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67700" y="5207000"/>
            <a:ext cx="1270000" cy="213360"/>
          </a:xfrm>
          <a:prstGeom prst="rect">
            <a:avLst/>
          </a:prstGeom>
          <a:noFill/>
        </p:spPr>
        <p:txBody>
          <a:bodyPr wrap="none" lIns="0" rIns="0" tIns="0" bIns="0">
            <a:spAutoFit/>
          </a:bodyPr>
          <a:lstStyle/>
          <a:p>
            <a:pPr algn="l"/>
            <a:r>
              <a:rPr sz="1200" b="0">
                <a:solidFill>
                  <a:srgbClr val="C5D8E8"/>
                </a:solidFill>
                <a:latin typeface="Segoe UI"/>
              </a:rPr>
              <a:t>Maand 18</a:t>
            </a:r>
          </a:p>
        </p:txBody>
      </p:sp>
      <p:sp>
        <p:nvSpPr>
          <p:cNvPr id="35" name="TextBox 34"/>
          <p:cNvSpPr txBox="1"/>
          <p:nvPr/>
        </p:nvSpPr>
        <p:spPr>
          <a:xfrm>
            <a:off x="8839200" y="5207000"/>
            <a:ext cx="2540000" cy="213360"/>
          </a:xfrm>
          <a:prstGeom prst="rect">
            <a:avLst/>
          </a:prstGeom>
          <a:noFill/>
        </p:spPr>
        <p:txBody>
          <a:bodyPr wrap="none" lIns="0" rIns="0" tIns="0" bIns="0">
            <a:spAutoFit/>
          </a:bodyPr>
          <a:lstStyle/>
          <a:p>
            <a:pPr algn="r"/>
            <a:r>
              <a:rPr sz="1200" b="0">
                <a:solidFill>
                  <a:srgbClr val="8FB0CA"/>
                </a:solidFill>
                <a:latin typeface="Segoe UI"/>
              </a:rPr>
              <a:t>maand na de start</a:t>
            </a:r>
          </a:p>
        </p:txBody>
      </p:sp>
      <p:sp>
        <p:nvSpPr>
          <p:cNvPr id="36" name="TextBox 35"/>
          <p:cNvSpPr txBox="1"/>
          <p:nvPr/>
        </p:nvSpPr>
        <p:spPr>
          <a:xfrm>
            <a:off x="812800" y="5613400"/>
            <a:ext cx="10617200" cy="240030"/>
          </a:xfrm>
          <a:prstGeom prst="rect">
            <a:avLst/>
          </a:prstGeom>
          <a:noFill/>
        </p:spPr>
        <p:txBody>
          <a:bodyPr wrap="none" lIns="0" rIns="0" tIns="0" bIns="0" anchor="t">
            <a:noAutofit/>
          </a:bodyPr>
          <a:lstStyle/>
          <a:p>
            <a:pPr algn="l">
              <a:lnSpc>
                <a:spcPts val="1889"/>
              </a:lnSpc>
            </a:pPr>
            <a:r>
              <a:rPr sz="1400" b="0" i="0">
                <a:solidFill>
                  <a:srgbClr val="F2F8FC"/>
                </a:solidFill>
                <a:latin typeface="DM Sans"/>
              </a:rPr>
              <a:t>Elk tempo vraagt 300 uur per centrum. Trager includeren spreidt ze, maar schuift de laatste visite naar 2030.</a:t>
            </a:r>
          </a:p>
        </p:txBody>
      </p:sp>
      <p:pic>
        <p:nvPicPr>
          <p:cNvPr id="37" name="Picture 36"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38" name="TextBox 37"/>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
        <p:nvSpPr>
          <p:cNvPr id="39" name="TextBox 38"/>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6F8FAA"/>
                </a:solidFill>
                <a:latin typeface="JetBrains Mono"/>
              </a:rPr>
              <a:t>Bron · simulatie, 4.000 runs · 16 u OC, 9 u UC · start 24 feb 2027</a:t>
            </a:r>
          </a:p>
        </p:txBody>
      </p:sp>
    </p:spTree>
  </p:cSld>
  <p:clrMapOvr>
    <a:masterClrMapping/>
  </p:clrMapOvr>
  <p:transition xmlns:p14="http://schemas.microsoft.com/office/powerpoint/2010/main" spd="med" p14:dur="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22" presetClass="entr" presetSubtype="4" fill="hold" grpId="0"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wipe(up)">
                                      <p:cBhvr>
                                        <p:cTn id="6" dur="1400"/>
                                        <p:tgtEl>
                                          <p:spTgt spid="8"/>
                                        </p:tgtEl>
                                      </p:cBhvr>
                                    </p:animEffect>
                                  </p:childTnLst>
                                </p:cTn>
                              </p:par>
                            </p:childTnLst>
                          </p:cTn>
                        </p:par>
                        <p:par>
                          <p:cTn id="14" fill="hold">
                            <p:stCondLst>
                              <p:cond delay="0"/>
                            </p:stCondLst>
                            <p:childTnLst>
                              <p:par>
                                <p:cTn id="7" presetID="22" presetClass="entr" presetSubtype="4" fill="hold" grpId="0" nodeType="afterEffect">
                                  <p:stCondLst>
                                    <p:cond delay="200"/>
                                  </p:stCondLst>
                                  <p:childTnLst>
                                    <p:set>
                                      <p:cBhvr>
                                        <p:cTn id="8" dur="1" fill="hold">
                                          <p:stCondLst>
                                            <p:cond delay="0"/>
                                          </p:stCondLst>
                                        </p:cTn>
                                        <p:tgtEl>
                                          <p:spTgt spid="13"/>
                                        </p:tgtEl>
                                        <p:attrNameLst>
                                          <p:attrName>style.visibility</p:attrName>
                                        </p:attrNameLst>
                                      </p:cBhvr>
                                      <p:to>
                                        <p:strVal val="visible"/>
                                      </p:to>
                                    </p:set>
                                    <p:animEffect transition="in" filter="wipe(up)">
                                      <p:cBhvr>
                                        <p:cTn id="9" dur="1400"/>
                                        <p:tgtEl>
                                          <p:spTgt spid="13"/>
                                        </p:tgtEl>
                                      </p:cBhvr>
                                    </p:animEffect>
                                  </p:childTnLst>
                                </p:cTn>
                              </p:par>
                            </p:childTnLst>
                          </p:cTn>
                        </p:par>
                        <p:par>
                          <p:cTn id="15" fill="hold">
                            <p:stCondLst>
                              <p:cond delay="0"/>
                            </p:stCondLst>
                            <p:childTnLst>
                              <p:par>
                                <p:cTn id="10" presetID="22" presetClass="entr" presetSubtype="4" fill="hold" grpId="0" nodeType="afterEffect">
                                  <p:stCondLst>
                                    <p:cond delay="200"/>
                                  </p:stCondLst>
                                  <p:childTnLst>
                                    <p:set>
                                      <p:cBhvr>
                                        <p:cTn id="11" dur="1" fill="hold">
                                          <p:stCondLst>
                                            <p:cond delay="0"/>
                                          </p:stCondLst>
                                        </p:cTn>
                                        <p:tgtEl>
                                          <p:spTgt spid="18"/>
                                        </p:tgtEl>
                                        <p:attrNameLst>
                                          <p:attrName>style.visibility</p:attrName>
                                        </p:attrNameLst>
                                      </p:cBhvr>
                                      <p:to>
                                        <p:strVal val="visible"/>
                                      </p:to>
                                    </p:set>
                                    <p:animEffect transition="in" filter="wipe(up)">
                                      <p:cBhvr>
                                        <p:cTn id="12" dur="1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13" grpId="0">
        <p:bldAsOne/>
      </p:bldGraphic>
      <p:bldGraphic spid="18" grpId="0">
        <p:bldAsOne/>
      </p:bldGraphic>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2540"/>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52BDEC"/>
                </a:solidFill>
                <a:latin typeface="JetBrains Mono"/>
              </a:rPr>
              <a:t>6 · BESPREKING · HUISSTIJL</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F2F8FC"/>
                </a:solidFill>
                <a:latin typeface="DM Serif Display"/>
              </a:rPr>
              <a:t>Het logo, ter goedkeuring</a:t>
            </a:r>
          </a:p>
        </p:txBody>
      </p:sp>
      <p:sp>
        <p:nvSpPr>
          <p:cNvPr id="4" name="Rounded Rectangle 3"/>
          <p:cNvSpPr/>
          <p:nvPr/>
        </p:nvSpPr>
        <p:spPr>
          <a:xfrm>
            <a:off x="812800" y="1842691"/>
            <a:ext cx="3403600" cy="2286000"/>
          </a:xfrm>
          <a:prstGeom prst="roundRect">
            <a:avLst>
              <a:gd name="adj" fmla="val 5555"/>
            </a:avLst>
          </a:prstGeom>
          <a:solidFill>
            <a:srgbClr val="F2F6F9"/>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14abb052316bca6838ae130b0aff4182.png"/>
          <p:cNvPicPr>
            <a:picLocks noChangeAspect="1"/>
          </p:cNvPicPr>
          <p:nvPr/>
        </p:nvPicPr>
        <p:blipFill>
          <a:blip r:embed="rId2"/>
          <a:stretch>
            <a:fillRect/>
          </a:stretch>
        </p:blipFill>
        <p:spPr>
          <a:xfrm>
            <a:off x="1054100" y="2446633"/>
            <a:ext cx="2921000" cy="1078115"/>
          </a:xfrm>
          <a:prstGeom prst="rect">
            <a:avLst/>
          </a:prstGeom>
        </p:spPr>
      </p:pic>
      <p:sp>
        <p:nvSpPr>
          <p:cNvPr id="6" name="TextBox 5"/>
          <p:cNvSpPr txBox="1"/>
          <p:nvPr/>
        </p:nvSpPr>
        <p:spPr>
          <a:xfrm>
            <a:off x="812800" y="4230291"/>
            <a:ext cx="34544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Licht: formulieren en patiëntenmateriaal</a:t>
            </a:r>
          </a:p>
        </p:txBody>
      </p:sp>
      <p:sp>
        <p:nvSpPr>
          <p:cNvPr id="7" name="Rounded Rectangle 6"/>
          <p:cNvSpPr/>
          <p:nvPr/>
        </p:nvSpPr>
        <p:spPr>
          <a:xfrm>
            <a:off x="4394200" y="1842691"/>
            <a:ext cx="3403600" cy="2286000"/>
          </a:xfrm>
          <a:prstGeom prst="roundRect">
            <a:avLst>
              <a:gd name="adj" fmla="val 5555"/>
            </a:avLst>
          </a:prstGeom>
          <a:solidFill>
            <a:srgbClr val="F2F6F9"/>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26a7dee763c7c6bdb630f5266dca120c.png"/>
          <p:cNvPicPr>
            <a:picLocks noChangeAspect="1"/>
          </p:cNvPicPr>
          <p:nvPr/>
        </p:nvPicPr>
        <p:blipFill>
          <a:blip r:embed="rId3"/>
          <a:stretch>
            <a:fillRect/>
          </a:stretch>
        </p:blipFill>
        <p:spPr>
          <a:xfrm>
            <a:off x="5270500" y="2255441"/>
            <a:ext cx="1651000" cy="1460500"/>
          </a:xfrm>
          <a:prstGeom prst="rect">
            <a:avLst/>
          </a:prstGeom>
        </p:spPr>
      </p:pic>
      <p:sp>
        <p:nvSpPr>
          <p:cNvPr id="9" name="TextBox 8"/>
          <p:cNvSpPr txBox="1"/>
          <p:nvPr/>
        </p:nvSpPr>
        <p:spPr>
          <a:xfrm>
            <a:off x="4368800" y="4230291"/>
            <a:ext cx="3454400" cy="222885"/>
          </a:xfrm>
          <a:prstGeom prst="rect">
            <a:avLst/>
          </a:prstGeom>
          <a:noFill/>
        </p:spPr>
        <p:txBody>
          <a:bodyPr wrap="none" lIns="0" rIns="0" tIns="0" bIns="0" anchor="t">
            <a:noAutofit/>
          </a:bodyPr>
          <a:lstStyle/>
          <a:p>
            <a:pPr algn="ctr">
              <a:lnSpc>
                <a:spcPts val="1755"/>
              </a:lnSpc>
            </a:pPr>
            <a:r>
              <a:rPr sz="1300" b="0" i="0">
                <a:solidFill>
                  <a:srgbClr val="C5D8E8"/>
                </a:solidFill>
                <a:latin typeface="DM Sans"/>
              </a:rPr>
              <a:t>Nieuw idee uitwerken</a:t>
            </a:r>
          </a:p>
        </p:txBody>
      </p:sp>
      <p:sp>
        <p:nvSpPr>
          <p:cNvPr id="10" name="Rounded Rectangle 9"/>
          <p:cNvSpPr/>
          <p:nvPr/>
        </p:nvSpPr>
        <p:spPr>
          <a:xfrm>
            <a:off x="7975600" y="1842691"/>
            <a:ext cx="3403600" cy="2286000"/>
          </a:xfrm>
          <a:prstGeom prst="roundRect">
            <a:avLst>
              <a:gd name="adj" fmla="val 5555"/>
            </a:avLst>
          </a:prstGeom>
          <a:solidFill>
            <a:srgbClr val="F2F6F9"/>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27f39b7b096b67629011c49f0e7b794e.png"/>
          <p:cNvPicPr>
            <a:picLocks noChangeAspect="1"/>
          </p:cNvPicPr>
          <p:nvPr/>
        </p:nvPicPr>
        <p:blipFill>
          <a:blip r:embed="rId4"/>
          <a:stretch>
            <a:fillRect/>
          </a:stretch>
        </p:blipFill>
        <p:spPr>
          <a:xfrm>
            <a:off x="8978900" y="2187405"/>
            <a:ext cx="1397000" cy="1596571"/>
          </a:xfrm>
          <a:prstGeom prst="rect">
            <a:avLst/>
          </a:prstGeom>
        </p:spPr>
      </p:pic>
      <p:sp>
        <p:nvSpPr>
          <p:cNvPr id="12" name="TextBox 11"/>
          <p:cNvSpPr txBox="1"/>
          <p:nvPr/>
        </p:nvSpPr>
        <p:spPr>
          <a:xfrm>
            <a:off x="7975600" y="4230291"/>
            <a:ext cx="3454400" cy="222885"/>
          </a:xfrm>
          <a:prstGeom prst="rect">
            <a:avLst/>
          </a:prstGeom>
          <a:noFill/>
        </p:spPr>
        <p:txBody>
          <a:bodyPr wrap="none" lIns="0" rIns="0" tIns="0" bIns="0" anchor="t">
            <a:noAutofit/>
          </a:bodyPr>
          <a:lstStyle/>
          <a:p>
            <a:pPr algn="l">
              <a:lnSpc>
                <a:spcPts val="1755"/>
              </a:lnSpc>
            </a:pPr>
            <a:r>
              <a:rPr sz="1300" b="0" i="0">
                <a:solidFill>
                  <a:srgbClr val="C5D8E8"/>
                </a:solidFill>
                <a:latin typeface="DM Sans"/>
              </a:rPr>
              <a:t>Symbool: klein formaat</a:t>
            </a:r>
          </a:p>
        </p:txBody>
      </p:sp>
      <p:sp>
        <p:nvSpPr>
          <p:cNvPr id="13" name="TextBox 12"/>
          <p:cNvSpPr txBox="1"/>
          <p:nvPr/>
        </p:nvSpPr>
        <p:spPr>
          <a:xfrm>
            <a:off x="812800" y="4681736"/>
            <a:ext cx="10617200" cy="257175"/>
          </a:xfrm>
          <a:prstGeom prst="rect">
            <a:avLst/>
          </a:prstGeom>
          <a:noFill/>
        </p:spPr>
        <p:txBody>
          <a:bodyPr wrap="none" lIns="0" rIns="0" tIns="0" bIns="0" anchor="t">
            <a:noAutofit/>
          </a:bodyPr>
          <a:lstStyle/>
          <a:p>
            <a:pPr algn="l">
              <a:lnSpc>
                <a:spcPts val="2025"/>
              </a:lnSpc>
            </a:pPr>
            <a:r>
              <a:rPr sz="1500" b="0" i="0">
                <a:solidFill>
                  <a:srgbClr val="F2F8FC"/>
                </a:solidFill>
                <a:latin typeface="DM Sans"/>
              </a:rPr>
              <a:t>Akkoord om dit logo overal te gebruiken, of zijn er aanpassingen?</a:t>
            </a:r>
          </a:p>
        </p:txBody>
      </p:sp>
      <p:pic>
        <p:nvPicPr>
          <p:cNvPr id="14" name="Picture 13" descr="ec5c93e6f83f209b4e97ddfdecd480c8.png"/>
          <p:cNvPicPr>
            <a:picLocks noChangeAspect="1"/>
          </p:cNvPicPr>
          <p:nvPr/>
        </p:nvPicPr>
        <p:blipFill>
          <a:blip r:embed="rId5"/>
          <a:stretch>
            <a:fillRect/>
          </a:stretch>
        </p:blipFill>
        <p:spPr>
          <a:xfrm>
            <a:off x="812967" y="6261100"/>
            <a:ext cx="171116" cy="203200"/>
          </a:xfrm>
          <a:prstGeom prst="rect">
            <a:avLst/>
          </a:prstGeom>
        </p:spPr>
      </p:pic>
      <p:sp>
        <p:nvSpPr>
          <p:cNvPr id="15" name="TextBox 14"/>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6F8FAA"/>
                </a:solidFill>
                <a:latin typeface="JetBrains Mono"/>
              </a:rPr>
              <a:t>PARADISE · meeting 12 oktober</a:t>
            </a:r>
          </a:p>
        </p:txBody>
      </p:sp>
    </p:spTree>
  </p:cSld>
  <p:clrMapOvr>
    <a:masterClrMapping/>
  </p:clrMapOvr>
  <p:transition xmlns:p14="http://schemas.microsoft.com/office/powerpoint/2010/main" spd="med" p14:dur="700">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6 · BESPREKING EN INPUT</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Wat we vragen, en wat we voorleggen</a:t>
            </a:r>
          </a:p>
        </p:txBody>
      </p:sp>
      <p:sp>
        <p:nvSpPr>
          <p:cNvPr id="4" name="TextBox 3"/>
          <p:cNvSpPr txBox="1"/>
          <p:nvPr/>
        </p:nvSpPr>
        <p:spPr>
          <a:xfrm>
            <a:off x="812800" y="1842691"/>
            <a:ext cx="5887442" cy="198120"/>
          </a:xfrm>
          <a:prstGeom prst="rect">
            <a:avLst/>
          </a:prstGeom>
          <a:noFill/>
        </p:spPr>
        <p:txBody>
          <a:bodyPr wrap="none" lIns="0" rIns="0" tIns="0" bIns="0" anchor="t">
            <a:noAutofit/>
          </a:bodyPr>
          <a:lstStyle/>
          <a:p>
            <a:pPr algn="l"/>
            <a:r>
              <a:rPr sz="1200" b="0" i="0" spc="150">
                <a:solidFill>
                  <a:srgbClr val="0B6E8F"/>
                </a:solidFill>
                <a:latin typeface="JetBrains Mono"/>
              </a:rPr>
              <a:t>WAT WE VRAGEN</a:t>
            </a:r>
          </a:p>
        </p:txBody>
      </p:sp>
      <p:sp>
        <p:nvSpPr>
          <p:cNvPr id="5" name="TextBox 4"/>
          <p:cNvSpPr txBox="1"/>
          <p:nvPr/>
        </p:nvSpPr>
        <p:spPr>
          <a:xfrm>
            <a:off x="812800" y="2236391"/>
            <a:ext cx="233759" cy="198120"/>
          </a:xfrm>
          <a:prstGeom prst="rect">
            <a:avLst/>
          </a:prstGeom>
          <a:noFill/>
        </p:spPr>
        <p:txBody>
          <a:bodyPr wrap="none" lIns="0" rIns="0" tIns="0" bIns="0" anchor="t">
            <a:noAutofit/>
          </a:bodyPr>
          <a:lstStyle/>
          <a:p>
            <a:pPr algn="l"/>
            <a:r>
              <a:rPr sz="1200" b="0" i="0">
                <a:solidFill>
                  <a:srgbClr val="0B6E8F"/>
                </a:solidFill>
                <a:latin typeface="JetBrains Mono"/>
              </a:rPr>
              <a:t>01</a:t>
            </a:r>
          </a:p>
        </p:txBody>
      </p:sp>
      <p:sp>
        <p:nvSpPr>
          <p:cNvPr id="6" name="TextBox 5"/>
          <p:cNvSpPr txBox="1"/>
          <p:nvPr/>
        </p:nvSpPr>
        <p:spPr>
          <a:xfrm>
            <a:off x="1148159" y="2191941"/>
            <a:ext cx="2503289" cy="264160"/>
          </a:xfrm>
          <a:prstGeom prst="rect">
            <a:avLst/>
          </a:prstGeom>
          <a:noFill/>
        </p:spPr>
        <p:txBody>
          <a:bodyPr wrap="none" lIns="0" rIns="0" tIns="0" bIns="0" anchor="t">
            <a:noAutofit/>
          </a:bodyPr>
          <a:lstStyle/>
          <a:p>
            <a:pPr algn="l">
              <a:lnSpc>
                <a:spcPts val="2080"/>
              </a:lnSpc>
            </a:pPr>
            <a:r>
              <a:rPr sz="1600" b="1" i="0">
                <a:solidFill>
                  <a:srgbClr val="0A2540"/>
                </a:solidFill>
                <a:latin typeface="DM Sans"/>
              </a:rPr>
              <a:t>Drie inclusies per maand</a:t>
            </a:r>
          </a:p>
        </p:txBody>
      </p:sp>
      <p:sp>
        <p:nvSpPr>
          <p:cNvPr id="7" name="Rectangle 6"/>
          <p:cNvSpPr/>
          <p:nvPr/>
        </p:nvSpPr>
        <p:spPr>
          <a:xfrm>
            <a:off x="812800" y="2557661"/>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2710061"/>
            <a:ext cx="233759" cy="198120"/>
          </a:xfrm>
          <a:prstGeom prst="rect">
            <a:avLst/>
          </a:prstGeom>
          <a:noFill/>
        </p:spPr>
        <p:txBody>
          <a:bodyPr wrap="none" lIns="0" rIns="0" tIns="0" bIns="0" anchor="t">
            <a:noAutofit/>
          </a:bodyPr>
          <a:lstStyle/>
          <a:p>
            <a:pPr algn="l"/>
            <a:r>
              <a:rPr sz="1200" b="0" i="0">
                <a:solidFill>
                  <a:srgbClr val="0B6E8F"/>
                </a:solidFill>
                <a:latin typeface="JetBrains Mono"/>
              </a:rPr>
              <a:t>02</a:t>
            </a:r>
          </a:p>
        </p:txBody>
      </p:sp>
      <p:sp>
        <p:nvSpPr>
          <p:cNvPr id="9" name="TextBox 8"/>
          <p:cNvSpPr txBox="1"/>
          <p:nvPr/>
        </p:nvSpPr>
        <p:spPr>
          <a:xfrm>
            <a:off x="1148159" y="2665611"/>
            <a:ext cx="4089400" cy="264160"/>
          </a:xfrm>
          <a:prstGeom prst="rect">
            <a:avLst/>
          </a:prstGeom>
          <a:noFill/>
        </p:spPr>
        <p:txBody>
          <a:bodyPr wrap="none" lIns="0" rIns="0" tIns="0" bIns="0" anchor="t">
            <a:noAutofit/>
          </a:bodyPr>
          <a:lstStyle/>
          <a:p>
            <a:pPr algn="l">
              <a:lnSpc>
                <a:spcPts val="2080"/>
              </a:lnSpc>
            </a:pPr>
            <a:r>
              <a:rPr sz="1600" b="1" i="0">
                <a:solidFill>
                  <a:srgbClr val="0A2540"/>
                </a:solidFill>
                <a:latin typeface="DM Sans"/>
              </a:rPr>
              <a:t>Een screeningslog</a:t>
            </a:r>
            <a:r>
              <a:rPr sz="1600" b="0" i="0">
                <a:solidFill>
                  <a:srgbClr val="0A2540"/>
                </a:solidFill>
                <a:latin typeface="DM Sans"/>
              </a:rPr>
              <a:t> </a:t>
            </a:r>
            <a:r>
              <a:rPr sz="1600" b="0" i="0">
                <a:solidFill>
                  <a:srgbClr val="5A6E80"/>
                </a:solidFill>
                <a:latin typeface="DM Sans"/>
              </a:rPr>
              <a:t>vanaf de eerste patiënt</a:t>
            </a:r>
          </a:p>
        </p:txBody>
      </p:sp>
      <p:sp>
        <p:nvSpPr>
          <p:cNvPr id="10" name="Rectangle 9"/>
          <p:cNvSpPr/>
          <p:nvPr/>
        </p:nvSpPr>
        <p:spPr>
          <a:xfrm>
            <a:off x="812800" y="3031331"/>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2800" y="3183731"/>
            <a:ext cx="233759" cy="198120"/>
          </a:xfrm>
          <a:prstGeom prst="rect">
            <a:avLst/>
          </a:prstGeom>
          <a:noFill/>
        </p:spPr>
        <p:txBody>
          <a:bodyPr wrap="none" lIns="0" rIns="0" tIns="0" bIns="0" anchor="t">
            <a:noAutofit/>
          </a:bodyPr>
          <a:lstStyle/>
          <a:p>
            <a:pPr algn="l"/>
            <a:r>
              <a:rPr sz="1200" b="0" i="0">
                <a:solidFill>
                  <a:srgbClr val="0B6E8F"/>
                </a:solidFill>
                <a:latin typeface="JetBrains Mono"/>
              </a:rPr>
              <a:t>03</a:t>
            </a:r>
          </a:p>
        </p:txBody>
      </p:sp>
      <p:sp>
        <p:nvSpPr>
          <p:cNvPr id="12" name="TextBox 11"/>
          <p:cNvSpPr txBox="1"/>
          <p:nvPr/>
        </p:nvSpPr>
        <p:spPr>
          <a:xfrm>
            <a:off x="1148159" y="3139281"/>
            <a:ext cx="4723309" cy="264160"/>
          </a:xfrm>
          <a:prstGeom prst="rect">
            <a:avLst/>
          </a:prstGeom>
          <a:noFill/>
        </p:spPr>
        <p:txBody>
          <a:bodyPr wrap="none" lIns="0" rIns="0" tIns="0" bIns="0" anchor="t">
            <a:noAutofit/>
          </a:bodyPr>
          <a:lstStyle/>
          <a:p>
            <a:pPr algn="l">
              <a:lnSpc>
                <a:spcPts val="2080"/>
              </a:lnSpc>
            </a:pPr>
            <a:r>
              <a:rPr sz="1600" b="1" i="0">
                <a:solidFill>
                  <a:srgbClr val="0A2540"/>
                </a:solidFill>
                <a:latin typeface="DM Sans"/>
              </a:rPr>
              <a:t>Het toetsingsblad terug</a:t>
            </a:r>
            <a:r>
              <a:rPr sz="1600" b="0" i="0">
                <a:solidFill>
                  <a:srgbClr val="0A2540"/>
                </a:solidFill>
                <a:latin typeface="DM Sans"/>
              </a:rPr>
              <a:t> </a:t>
            </a:r>
            <a:r>
              <a:rPr sz="1600" b="0" i="0">
                <a:solidFill>
                  <a:srgbClr val="5A6E80"/>
                </a:solidFill>
                <a:latin typeface="DM Sans"/>
              </a:rPr>
              <a:t>tegen vrijdag 16 oktober</a:t>
            </a:r>
          </a:p>
        </p:txBody>
      </p:sp>
      <p:sp>
        <p:nvSpPr>
          <p:cNvPr id="13" name="Rectangle 12"/>
          <p:cNvSpPr/>
          <p:nvPr/>
        </p:nvSpPr>
        <p:spPr>
          <a:xfrm>
            <a:off x="812800" y="3505002"/>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2800" y="3657402"/>
            <a:ext cx="233759" cy="198120"/>
          </a:xfrm>
          <a:prstGeom prst="rect">
            <a:avLst/>
          </a:prstGeom>
          <a:noFill/>
        </p:spPr>
        <p:txBody>
          <a:bodyPr wrap="none" lIns="0" rIns="0" tIns="0" bIns="0" anchor="t">
            <a:noAutofit/>
          </a:bodyPr>
          <a:lstStyle/>
          <a:p>
            <a:pPr algn="l"/>
            <a:r>
              <a:rPr sz="1200" b="0" i="0">
                <a:solidFill>
                  <a:srgbClr val="0B6E8F"/>
                </a:solidFill>
                <a:latin typeface="JetBrains Mono"/>
              </a:rPr>
              <a:t>04</a:t>
            </a:r>
          </a:p>
        </p:txBody>
      </p:sp>
      <p:sp>
        <p:nvSpPr>
          <p:cNvPr id="15" name="TextBox 14"/>
          <p:cNvSpPr txBox="1"/>
          <p:nvPr/>
        </p:nvSpPr>
        <p:spPr>
          <a:xfrm>
            <a:off x="1148159" y="3612952"/>
            <a:ext cx="3557091" cy="264160"/>
          </a:xfrm>
          <a:prstGeom prst="rect">
            <a:avLst/>
          </a:prstGeom>
          <a:noFill/>
        </p:spPr>
        <p:txBody>
          <a:bodyPr wrap="none" lIns="0" rIns="0" tIns="0" bIns="0" anchor="t">
            <a:noAutofit/>
          </a:bodyPr>
          <a:lstStyle/>
          <a:p>
            <a:pPr algn="l">
              <a:lnSpc>
                <a:spcPts val="2080"/>
              </a:lnSpc>
            </a:pPr>
            <a:r>
              <a:rPr sz="1600" b="1" i="0">
                <a:solidFill>
                  <a:srgbClr val="0A2540"/>
                </a:solidFill>
                <a:latin typeface="DM Sans"/>
              </a:rPr>
              <a:t>Wie deelneemt</a:t>
            </a:r>
            <a:r>
              <a:rPr sz="1600" b="0" i="0">
                <a:solidFill>
                  <a:srgbClr val="0A2540"/>
                </a:solidFill>
                <a:latin typeface="DM Sans"/>
              </a:rPr>
              <a:t> </a:t>
            </a:r>
            <a:r>
              <a:rPr sz="1600" b="0" i="0">
                <a:solidFill>
                  <a:srgbClr val="5A6E80"/>
                </a:solidFill>
                <a:latin typeface="DM Sans"/>
              </a:rPr>
              <a:t>podologen en artsen</a:t>
            </a:r>
          </a:p>
        </p:txBody>
      </p:sp>
      <p:sp>
        <p:nvSpPr>
          <p:cNvPr id="16" name="Rectangle 15"/>
          <p:cNvSpPr/>
          <p:nvPr/>
        </p:nvSpPr>
        <p:spPr>
          <a:xfrm>
            <a:off x="812800" y="3978672"/>
            <a:ext cx="5836642" cy="6350"/>
          </a:xfrm>
          <a:prstGeom prst="rect">
            <a:avLst/>
          </a:prstGeom>
          <a:solidFill>
            <a:srgbClr val="D3D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800" y="4131072"/>
            <a:ext cx="233759" cy="198120"/>
          </a:xfrm>
          <a:prstGeom prst="rect">
            <a:avLst/>
          </a:prstGeom>
          <a:noFill/>
        </p:spPr>
        <p:txBody>
          <a:bodyPr wrap="none" lIns="0" rIns="0" tIns="0" bIns="0" anchor="t">
            <a:noAutofit/>
          </a:bodyPr>
          <a:lstStyle/>
          <a:p>
            <a:pPr algn="l"/>
            <a:r>
              <a:rPr sz="1200" b="0" i="0">
                <a:solidFill>
                  <a:srgbClr val="0B6E8F"/>
                </a:solidFill>
                <a:latin typeface="JetBrains Mono"/>
              </a:rPr>
              <a:t>05</a:t>
            </a:r>
          </a:p>
        </p:txBody>
      </p:sp>
      <p:sp>
        <p:nvSpPr>
          <p:cNvPr id="18" name="TextBox 17"/>
          <p:cNvSpPr txBox="1"/>
          <p:nvPr/>
        </p:nvSpPr>
        <p:spPr>
          <a:xfrm>
            <a:off x="1148159" y="4086622"/>
            <a:ext cx="4372173" cy="264160"/>
          </a:xfrm>
          <a:prstGeom prst="rect">
            <a:avLst/>
          </a:prstGeom>
          <a:noFill/>
        </p:spPr>
        <p:txBody>
          <a:bodyPr wrap="none" lIns="0" rIns="0" tIns="0" bIns="0" anchor="t">
            <a:noAutofit/>
          </a:bodyPr>
          <a:lstStyle/>
          <a:p>
            <a:pPr algn="l">
              <a:lnSpc>
                <a:spcPts val="2080"/>
              </a:lnSpc>
            </a:pPr>
            <a:r>
              <a:rPr sz="1600" b="1" i="0">
                <a:solidFill>
                  <a:srgbClr val="0A2540"/>
                </a:solidFill>
                <a:latin typeface="DM Sans"/>
              </a:rPr>
              <a:t>De drukmeting geïnstalleerd</a:t>
            </a:r>
            <a:r>
              <a:rPr sz="1600" b="0" i="0">
                <a:solidFill>
                  <a:srgbClr val="0A2540"/>
                </a:solidFill>
                <a:latin typeface="DM Sans"/>
              </a:rPr>
              <a:t> </a:t>
            </a:r>
            <a:r>
              <a:rPr sz="1600" b="0" i="0">
                <a:solidFill>
                  <a:srgbClr val="5A6E80"/>
                </a:solidFill>
                <a:latin typeface="DM Sans"/>
              </a:rPr>
              <a:t>vóór december</a:t>
            </a:r>
          </a:p>
        </p:txBody>
      </p:sp>
      <p:sp>
        <p:nvSpPr>
          <p:cNvPr id="19" name="TextBox 18"/>
          <p:cNvSpPr txBox="1"/>
          <p:nvPr/>
        </p:nvSpPr>
        <p:spPr>
          <a:xfrm>
            <a:off x="7055842" y="1842691"/>
            <a:ext cx="4374158" cy="198120"/>
          </a:xfrm>
          <a:prstGeom prst="rect">
            <a:avLst/>
          </a:prstGeom>
          <a:noFill/>
        </p:spPr>
        <p:txBody>
          <a:bodyPr wrap="none" lIns="0" rIns="0" tIns="0" bIns="0" anchor="t">
            <a:noAutofit/>
          </a:bodyPr>
          <a:lstStyle/>
          <a:p>
            <a:pPr algn="l"/>
            <a:r>
              <a:rPr sz="1200" b="0" i="0" spc="150">
                <a:solidFill>
                  <a:srgbClr val="A34A00"/>
                </a:solidFill>
                <a:latin typeface="JetBrains Mono"/>
              </a:rPr>
              <a:t>TER BESPREKING</a:t>
            </a:r>
          </a:p>
        </p:txBody>
      </p:sp>
      <p:sp>
        <p:nvSpPr>
          <p:cNvPr id="20" name="Rounded Rectangle 19"/>
          <p:cNvSpPr/>
          <p:nvPr/>
        </p:nvSpPr>
        <p:spPr>
          <a:xfrm>
            <a:off x="7055842" y="2166541"/>
            <a:ext cx="4323358" cy="884535"/>
          </a:xfrm>
          <a:prstGeom prst="roundRect">
            <a:avLst>
              <a:gd name="adj" fmla="val 1435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52692" y="2337991"/>
            <a:ext cx="3980458" cy="238125"/>
          </a:xfrm>
          <a:prstGeom prst="rect">
            <a:avLst/>
          </a:prstGeom>
          <a:noFill/>
        </p:spPr>
        <p:txBody>
          <a:bodyPr wrap="none" lIns="0" rIns="0" tIns="0" bIns="0" anchor="t">
            <a:noAutofit/>
          </a:bodyPr>
          <a:lstStyle/>
          <a:p>
            <a:pPr algn="l">
              <a:lnSpc>
                <a:spcPts val="1875"/>
              </a:lnSpc>
            </a:pPr>
            <a:r>
              <a:rPr sz="1500" b="1" i="0">
                <a:solidFill>
                  <a:srgbClr val="0A2540"/>
                </a:solidFill>
                <a:latin typeface="DM Sans"/>
              </a:rPr>
              <a:t>Bijspringen als een centrum achterblijft</a:t>
            </a:r>
          </a:p>
        </p:txBody>
      </p:sp>
      <p:sp>
        <p:nvSpPr>
          <p:cNvPr id="22" name="TextBox 21"/>
          <p:cNvSpPr txBox="1"/>
          <p:nvPr/>
        </p:nvSpPr>
        <p:spPr>
          <a:xfrm>
            <a:off x="7252692" y="2639616"/>
            <a:ext cx="3980458" cy="240030"/>
          </a:xfrm>
          <a:prstGeom prst="rect">
            <a:avLst/>
          </a:prstGeom>
          <a:noFill/>
        </p:spPr>
        <p:txBody>
          <a:bodyPr wrap="none" lIns="0" rIns="0" tIns="0" bIns="0" anchor="t">
            <a:noAutofit/>
          </a:bodyPr>
          <a:lstStyle/>
          <a:p>
            <a:pPr algn="l">
              <a:lnSpc>
                <a:spcPts val="1889"/>
              </a:lnSpc>
            </a:pPr>
            <a:r>
              <a:rPr sz="1400" b="0" i="0">
                <a:solidFill>
                  <a:srgbClr val="3A4F63"/>
                </a:solidFill>
                <a:latin typeface="DM Sans"/>
              </a:rPr>
              <a:t>Welk plafond per centrum? Extra enveloppen?</a:t>
            </a:r>
          </a:p>
        </p:txBody>
      </p:sp>
      <p:sp>
        <p:nvSpPr>
          <p:cNvPr id="23" name="Rounded Rectangle 22"/>
          <p:cNvSpPr/>
          <p:nvPr/>
        </p:nvSpPr>
        <p:spPr>
          <a:xfrm>
            <a:off x="7055842" y="3178076"/>
            <a:ext cx="4323358" cy="884535"/>
          </a:xfrm>
          <a:prstGeom prst="roundRect">
            <a:avLst>
              <a:gd name="adj" fmla="val 14357"/>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252692" y="3349526"/>
            <a:ext cx="3980458" cy="238125"/>
          </a:xfrm>
          <a:prstGeom prst="rect">
            <a:avLst/>
          </a:prstGeom>
          <a:noFill/>
        </p:spPr>
        <p:txBody>
          <a:bodyPr wrap="none" lIns="0" rIns="0" tIns="0" bIns="0" anchor="t">
            <a:noAutofit/>
          </a:bodyPr>
          <a:lstStyle/>
          <a:p>
            <a:pPr algn="l">
              <a:lnSpc>
                <a:spcPts val="1875"/>
              </a:lnSpc>
            </a:pPr>
            <a:r>
              <a:rPr sz="1500" b="1" i="0">
                <a:solidFill>
                  <a:srgbClr val="0A2540"/>
                </a:solidFill>
                <a:latin typeface="DM Sans"/>
              </a:rPr>
              <a:t>Twaalf maanden inclusie, geen achttien</a:t>
            </a:r>
          </a:p>
        </p:txBody>
      </p:sp>
      <p:sp>
        <p:nvSpPr>
          <p:cNvPr id="25" name="TextBox 24"/>
          <p:cNvSpPr txBox="1"/>
          <p:nvPr/>
        </p:nvSpPr>
        <p:spPr>
          <a:xfrm>
            <a:off x="7252692" y="3651151"/>
            <a:ext cx="3980458" cy="240030"/>
          </a:xfrm>
          <a:prstGeom prst="rect">
            <a:avLst/>
          </a:prstGeom>
          <a:noFill/>
        </p:spPr>
        <p:txBody>
          <a:bodyPr wrap="none" lIns="0" rIns="0" tIns="0" bIns="0" anchor="t">
            <a:noAutofit/>
          </a:bodyPr>
          <a:lstStyle/>
          <a:p>
            <a:pPr algn="l">
              <a:lnSpc>
                <a:spcPts val="1889"/>
              </a:lnSpc>
            </a:pPr>
            <a:r>
              <a:rPr sz="1400" b="0" i="0">
                <a:solidFill>
                  <a:srgbClr val="3A4F63"/>
                </a:solidFill>
                <a:latin typeface="DM Sans"/>
              </a:rPr>
              <a:t>Evenveel uren, meer tijd voor de verwerking.</a:t>
            </a:r>
          </a:p>
        </p:txBody>
      </p:sp>
      <p:pic>
        <p:nvPicPr>
          <p:cNvPr id="26" name="Picture 25"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27" name="TextBox 26"/>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28" name="TextBox 27"/>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janou.debuyser@kuleuven.be</a:t>
            </a:r>
          </a:p>
        </p:txBody>
      </p:sp>
    </p:spTree>
  </p:cSld>
  <p:clrMapOvr>
    <a:masterClrMapping/>
  </p:clrMapOvr>
  <p:transition xmlns:p14="http://schemas.microsoft.com/office/powerpoint/2010/main" spd="med" p14:dur="700">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6F9"/>
        </a:solidFill>
        <a:effectLst/>
      </p:bgPr>
    </p:bg>
    <p:spTree>
      <p:nvGrpSpPr>
        <p:cNvPr id="1" name=""/>
        <p:cNvGrpSpPr/>
        <p:nvPr/>
      </p:nvGrpSpPr>
      <p:grpSpPr/>
      <p:sp>
        <p:nvSpPr>
          <p:cNvPr id="2" name="TextBox 1"/>
          <p:cNvSpPr txBox="1"/>
          <p:nvPr/>
        </p:nvSpPr>
        <p:spPr>
          <a:xfrm>
            <a:off x="812800" y="812800"/>
            <a:ext cx="10617200" cy="198120"/>
          </a:xfrm>
          <a:prstGeom prst="rect">
            <a:avLst/>
          </a:prstGeom>
          <a:noFill/>
        </p:spPr>
        <p:txBody>
          <a:bodyPr wrap="none" lIns="0" rIns="0" tIns="0" bIns="0" anchor="t">
            <a:noAutofit/>
          </a:bodyPr>
          <a:lstStyle/>
          <a:p>
            <a:pPr algn="l"/>
            <a:r>
              <a:rPr sz="1200" b="0" i="0" spc="200">
                <a:solidFill>
                  <a:srgbClr val="0B6E8F"/>
                </a:solidFill>
                <a:latin typeface="JetBrains Mono"/>
              </a:rPr>
              <a:t>7 · TOUR DE TABLE</a:t>
            </a:r>
          </a:p>
        </p:txBody>
      </p:sp>
      <p:sp>
        <p:nvSpPr>
          <p:cNvPr id="3" name="TextBox 2"/>
          <p:cNvSpPr txBox="1"/>
          <p:nvPr/>
        </p:nvSpPr>
        <p:spPr>
          <a:xfrm>
            <a:off x="812800" y="1111250"/>
            <a:ext cx="10617200" cy="502920"/>
          </a:xfrm>
          <a:prstGeom prst="rect">
            <a:avLst/>
          </a:prstGeom>
          <a:noFill/>
        </p:spPr>
        <p:txBody>
          <a:bodyPr wrap="none" lIns="0" rIns="0" tIns="0" bIns="0" anchor="t">
            <a:noAutofit/>
          </a:bodyPr>
          <a:lstStyle/>
          <a:p>
            <a:pPr algn="l">
              <a:lnSpc>
                <a:spcPts val="3960"/>
              </a:lnSpc>
            </a:pPr>
            <a:r>
              <a:rPr sz="3600" b="0" i="0" spc="-50">
                <a:solidFill>
                  <a:srgbClr val="0A2540"/>
                </a:solidFill>
                <a:latin typeface="DM Serif Display"/>
              </a:rPr>
              <a:t>Per centrum, kort</a:t>
            </a:r>
          </a:p>
        </p:txBody>
      </p:sp>
      <p:sp>
        <p:nvSpPr>
          <p:cNvPr id="4" name="Rounded Rectangle 3"/>
          <p:cNvSpPr/>
          <p:nvPr/>
        </p:nvSpPr>
        <p:spPr>
          <a:xfrm>
            <a:off x="812800" y="1868091"/>
            <a:ext cx="2828528" cy="793750"/>
          </a:xfrm>
          <a:prstGeom prst="roundRect">
            <a:avLst>
              <a:gd name="adj" fmla="val 16000"/>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96950" y="2014141"/>
            <a:ext cx="2511028" cy="279400"/>
          </a:xfrm>
          <a:prstGeom prst="rect">
            <a:avLst/>
          </a:prstGeom>
          <a:noFill/>
        </p:spPr>
        <p:txBody>
          <a:bodyPr wrap="none" lIns="0" rIns="0" tIns="0" bIns="0" anchor="t">
            <a:noAutofit/>
          </a:bodyPr>
          <a:lstStyle/>
          <a:p>
            <a:pPr algn="l">
              <a:lnSpc>
                <a:spcPts val="2200"/>
              </a:lnSpc>
            </a:pPr>
            <a:r>
              <a:rPr sz="2000" b="0" i="0">
                <a:solidFill>
                  <a:srgbClr val="0A2540"/>
                </a:solidFill>
                <a:latin typeface="DM Serif Display"/>
              </a:rPr>
              <a:t>AZ Groeninge</a:t>
            </a:r>
          </a:p>
        </p:txBody>
      </p:sp>
      <p:sp>
        <p:nvSpPr>
          <p:cNvPr id="6" name="TextBox 5"/>
          <p:cNvSpPr txBox="1"/>
          <p:nvPr/>
        </p:nvSpPr>
        <p:spPr>
          <a:xfrm>
            <a:off x="996950" y="2318941"/>
            <a:ext cx="2511028" cy="198120"/>
          </a:xfrm>
          <a:prstGeom prst="rect">
            <a:avLst/>
          </a:prstGeom>
          <a:noFill/>
        </p:spPr>
        <p:txBody>
          <a:bodyPr wrap="none" lIns="0" rIns="0" tIns="0" bIns="0" anchor="t">
            <a:noAutofit/>
          </a:bodyPr>
          <a:lstStyle/>
          <a:p>
            <a:pPr algn="l"/>
            <a:r>
              <a:rPr sz="1200" b="0" i="0">
                <a:solidFill>
                  <a:srgbClr val="5A6E80"/>
                </a:solidFill>
                <a:latin typeface="DM Sans"/>
              </a:rPr>
              <a:t>Kortrijk</a:t>
            </a:r>
          </a:p>
        </p:txBody>
      </p:sp>
      <p:sp>
        <p:nvSpPr>
          <p:cNvPr id="7" name="Rounded Rectangle 6"/>
          <p:cNvSpPr/>
          <p:nvPr/>
        </p:nvSpPr>
        <p:spPr>
          <a:xfrm>
            <a:off x="3755628" y="1868091"/>
            <a:ext cx="2828528" cy="793750"/>
          </a:xfrm>
          <a:prstGeom prst="roundRect">
            <a:avLst>
              <a:gd name="adj" fmla="val 16000"/>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939778" y="2014141"/>
            <a:ext cx="2511028" cy="279400"/>
          </a:xfrm>
          <a:prstGeom prst="rect">
            <a:avLst/>
          </a:prstGeom>
          <a:noFill/>
        </p:spPr>
        <p:txBody>
          <a:bodyPr wrap="none" lIns="0" rIns="0" tIns="0" bIns="0" anchor="t">
            <a:noAutofit/>
          </a:bodyPr>
          <a:lstStyle/>
          <a:p>
            <a:pPr algn="l">
              <a:lnSpc>
                <a:spcPts val="2200"/>
              </a:lnSpc>
            </a:pPr>
            <a:r>
              <a:rPr sz="2000" b="0" i="0">
                <a:solidFill>
                  <a:srgbClr val="0A2540"/>
                </a:solidFill>
                <a:latin typeface="DM Serif Display"/>
              </a:rPr>
              <a:t>AZ Sint-Jan</a:t>
            </a:r>
          </a:p>
        </p:txBody>
      </p:sp>
      <p:sp>
        <p:nvSpPr>
          <p:cNvPr id="9" name="TextBox 8"/>
          <p:cNvSpPr txBox="1"/>
          <p:nvPr/>
        </p:nvSpPr>
        <p:spPr>
          <a:xfrm>
            <a:off x="3939778" y="2318941"/>
            <a:ext cx="2511028" cy="198120"/>
          </a:xfrm>
          <a:prstGeom prst="rect">
            <a:avLst/>
          </a:prstGeom>
          <a:noFill/>
        </p:spPr>
        <p:txBody>
          <a:bodyPr wrap="none" lIns="0" rIns="0" tIns="0" bIns="0" anchor="t">
            <a:noAutofit/>
          </a:bodyPr>
          <a:lstStyle/>
          <a:p>
            <a:pPr algn="l"/>
            <a:r>
              <a:rPr sz="1200" b="0" i="0">
                <a:solidFill>
                  <a:srgbClr val="5A6E80"/>
                </a:solidFill>
                <a:latin typeface="DM Sans"/>
              </a:rPr>
              <a:t>Brugge</a:t>
            </a:r>
          </a:p>
        </p:txBody>
      </p:sp>
      <p:sp>
        <p:nvSpPr>
          <p:cNvPr id="10" name="Rounded Rectangle 9"/>
          <p:cNvSpPr/>
          <p:nvPr/>
        </p:nvSpPr>
        <p:spPr>
          <a:xfrm>
            <a:off x="812800" y="2776141"/>
            <a:ext cx="2828528" cy="793750"/>
          </a:xfrm>
          <a:prstGeom prst="roundRect">
            <a:avLst>
              <a:gd name="adj" fmla="val 16000"/>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96950" y="2922191"/>
            <a:ext cx="2511028" cy="279400"/>
          </a:xfrm>
          <a:prstGeom prst="rect">
            <a:avLst/>
          </a:prstGeom>
          <a:noFill/>
        </p:spPr>
        <p:txBody>
          <a:bodyPr wrap="none" lIns="0" rIns="0" tIns="0" bIns="0" anchor="t">
            <a:noAutofit/>
          </a:bodyPr>
          <a:lstStyle/>
          <a:p>
            <a:pPr algn="l">
              <a:lnSpc>
                <a:spcPts val="2200"/>
              </a:lnSpc>
            </a:pPr>
            <a:r>
              <a:rPr sz="2000" b="0" i="0">
                <a:solidFill>
                  <a:srgbClr val="0A2540"/>
                </a:solidFill>
                <a:latin typeface="DM Serif Display"/>
              </a:rPr>
              <a:t>UZ Gent</a:t>
            </a:r>
          </a:p>
        </p:txBody>
      </p:sp>
      <p:sp>
        <p:nvSpPr>
          <p:cNvPr id="12" name="TextBox 11"/>
          <p:cNvSpPr txBox="1"/>
          <p:nvPr/>
        </p:nvSpPr>
        <p:spPr>
          <a:xfrm>
            <a:off x="996950" y="3226991"/>
            <a:ext cx="2511028" cy="198120"/>
          </a:xfrm>
          <a:prstGeom prst="rect">
            <a:avLst/>
          </a:prstGeom>
          <a:noFill/>
        </p:spPr>
        <p:txBody>
          <a:bodyPr wrap="none" lIns="0" rIns="0" tIns="0" bIns="0" anchor="t">
            <a:noAutofit/>
          </a:bodyPr>
          <a:lstStyle/>
          <a:p>
            <a:pPr algn="l"/>
            <a:r>
              <a:rPr sz="1200" b="0" i="0">
                <a:solidFill>
                  <a:srgbClr val="5A6E80"/>
                </a:solidFill>
                <a:latin typeface="DM Sans"/>
              </a:rPr>
              <a:t>Gent</a:t>
            </a:r>
          </a:p>
        </p:txBody>
      </p:sp>
      <p:sp>
        <p:nvSpPr>
          <p:cNvPr id="13" name="Rounded Rectangle 12"/>
          <p:cNvSpPr/>
          <p:nvPr/>
        </p:nvSpPr>
        <p:spPr>
          <a:xfrm>
            <a:off x="3755628" y="2776141"/>
            <a:ext cx="2828528" cy="793750"/>
          </a:xfrm>
          <a:prstGeom prst="roundRect">
            <a:avLst>
              <a:gd name="adj" fmla="val 16000"/>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39778" y="2922191"/>
            <a:ext cx="2511028" cy="279400"/>
          </a:xfrm>
          <a:prstGeom prst="rect">
            <a:avLst/>
          </a:prstGeom>
          <a:noFill/>
        </p:spPr>
        <p:txBody>
          <a:bodyPr wrap="none" lIns="0" rIns="0" tIns="0" bIns="0" anchor="t">
            <a:noAutofit/>
          </a:bodyPr>
          <a:lstStyle/>
          <a:p>
            <a:pPr algn="l">
              <a:lnSpc>
                <a:spcPts val="2200"/>
              </a:lnSpc>
            </a:pPr>
            <a:r>
              <a:rPr sz="2000" b="0" i="0">
                <a:solidFill>
                  <a:srgbClr val="0A2540"/>
                </a:solidFill>
                <a:latin typeface="DM Serif Display"/>
              </a:rPr>
              <a:t>AZORG</a:t>
            </a:r>
          </a:p>
        </p:txBody>
      </p:sp>
      <p:sp>
        <p:nvSpPr>
          <p:cNvPr id="15" name="TextBox 14"/>
          <p:cNvSpPr txBox="1"/>
          <p:nvPr/>
        </p:nvSpPr>
        <p:spPr>
          <a:xfrm>
            <a:off x="3939778" y="3226991"/>
            <a:ext cx="2511028" cy="198120"/>
          </a:xfrm>
          <a:prstGeom prst="rect">
            <a:avLst/>
          </a:prstGeom>
          <a:noFill/>
        </p:spPr>
        <p:txBody>
          <a:bodyPr wrap="none" lIns="0" rIns="0" tIns="0" bIns="0" anchor="t">
            <a:noAutofit/>
          </a:bodyPr>
          <a:lstStyle/>
          <a:p>
            <a:pPr algn="l"/>
            <a:r>
              <a:rPr sz="1200" b="0" i="0">
                <a:solidFill>
                  <a:srgbClr val="5A6E80"/>
                </a:solidFill>
                <a:latin typeface="DM Sans"/>
              </a:rPr>
              <a:t>Aalst</a:t>
            </a:r>
          </a:p>
        </p:txBody>
      </p:sp>
      <p:sp>
        <p:nvSpPr>
          <p:cNvPr id="16" name="Rounded Rectangle 15"/>
          <p:cNvSpPr/>
          <p:nvPr/>
        </p:nvSpPr>
        <p:spPr>
          <a:xfrm>
            <a:off x="812800" y="3684191"/>
            <a:ext cx="2828528" cy="793750"/>
          </a:xfrm>
          <a:prstGeom prst="roundRect">
            <a:avLst>
              <a:gd name="adj" fmla="val 16000"/>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96950" y="3830241"/>
            <a:ext cx="2511028" cy="279400"/>
          </a:xfrm>
          <a:prstGeom prst="rect">
            <a:avLst/>
          </a:prstGeom>
          <a:noFill/>
        </p:spPr>
        <p:txBody>
          <a:bodyPr wrap="none" lIns="0" rIns="0" tIns="0" bIns="0" anchor="t">
            <a:noAutofit/>
          </a:bodyPr>
          <a:lstStyle/>
          <a:p>
            <a:pPr algn="l">
              <a:lnSpc>
                <a:spcPts val="2200"/>
              </a:lnSpc>
            </a:pPr>
            <a:r>
              <a:rPr sz="2000" b="0" i="0">
                <a:solidFill>
                  <a:srgbClr val="0A2540"/>
                </a:solidFill>
                <a:latin typeface="DM Serif Display"/>
              </a:rPr>
              <a:t>UZ Leuven</a:t>
            </a:r>
          </a:p>
        </p:txBody>
      </p:sp>
      <p:sp>
        <p:nvSpPr>
          <p:cNvPr id="18" name="TextBox 17"/>
          <p:cNvSpPr txBox="1"/>
          <p:nvPr/>
        </p:nvSpPr>
        <p:spPr>
          <a:xfrm>
            <a:off x="996950" y="4135041"/>
            <a:ext cx="2511028" cy="198120"/>
          </a:xfrm>
          <a:prstGeom prst="rect">
            <a:avLst/>
          </a:prstGeom>
          <a:noFill/>
        </p:spPr>
        <p:txBody>
          <a:bodyPr wrap="none" lIns="0" rIns="0" tIns="0" bIns="0" anchor="t">
            <a:noAutofit/>
          </a:bodyPr>
          <a:lstStyle/>
          <a:p>
            <a:pPr algn="l"/>
            <a:r>
              <a:rPr sz="1200" b="0" i="0">
                <a:solidFill>
                  <a:srgbClr val="5A6E80"/>
                </a:solidFill>
                <a:latin typeface="DM Sans"/>
              </a:rPr>
              <a:t>Leuven</a:t>
            </a:r>
          </a:p>
        </p:txBody>
      </p:sp>
      <p:sp>
        <p:nvSpPr>
          <p:cNvPr id="19" name="Rounded Rectangle 18"/>
          <p:cNvSpPr/>
          <p:nvPr/>
        </p:nvSpPr>
        <p:spPr>
          <a:xfrm>
            <a:off x="3755628" y="3684191"/>
            <a:ext cx="2828528" cy="793750"/>
          </a:xfrm>
          <a:prstGeom prst="roundRect">
            <a:avLst>
              <a:gd name="adj" fmla="val 16000"/>
            </a:avLst>
          </a:prstGeom>
          <a:solidFill>
            <a:srgbClr val="FCFDFE"/>
          </a:solidFill>
          <a:ln w="6350">
            <a:solidFill>
              <a:srgbClr val="D3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939778" y="3830241"/>
            <a:ext cx="2511028" cy="279400"/>
          </a:xfrm>
          <a:prstGeom prst="rect">
            <a:avLst/>
          </a:prstGeom>
          <a:noFill/>
        </p:spPr>
        <p:txBody>
          <a:bodyPr wrap="none" lIns="0" rIns="0" tIns="0" bIns="0" anchor="t">
            <a:noAutofit/>
          </a:bodyPr>
          <a:lstStyle/>
          <a:p>
            <a:pPr algn="l">
              <a:lnSpc>
                <a:spcPts val="2200"/>
              </a:lnSpc>
            </a:pPr>
            <a:r>
              <a:rPr sz="2000" b="0" i="0">
                <a:solidFill>
                  <a:srgbClr val="0A2540"/>
                </a:solidFill>
                <a:latin typeface="DM Serif Display"/>
              </a:rPr>
              <a:t>UZ Antwerpen</a:t>
            </a:r>
          </a:p>
        </p:txBody>
      </p:sp>
      <p:sp>
        <p:nvSpPr>
          <p:cNvPr id="21" name="TextBox 20"/>
          <p:cNvSpPr txBox="1"/>
          <p:nvPr/>
        </p:nvSpPr>
        <p:spPr>
          <a:xfrm>
            <a:off x="3939778" y="4135041"/>
            <a:ext cx="2511028" cy="198120"/>
          </a:xfrm>
          <a:prstGeom prst="rect">
            <a:avLst/>
          </a:prstGeom>
          <a:noFill/>
        </p:spPr>
        <p:txBody>
          <a:bodyPr wrap="none" lIns="0" rIns="0" tIns="0" bIns="0" anchor="t">
            <a:noAutofit/>
          </a:bodyPr>
          <a:lstStyle/>
          <a:p>
            <a:pPr algn="l"/>
            <a:r>
              <a:rPr sz="1200" b="0" i="0">
                <a:solidFill>
                  <a:srgbClr val="5A6E80"/>
                </a:solidFill>
                <a:latin typeface="DM Sans"/>
              </a:rPr>
              <a:t>Edegem</a:t>
            </a:r>
          </a:p>
        </p:txBody>
      </p:sp>
      <p:pic>
        <p:nvPicPr>
          <p:cNvPr id="22" name="Picture 21" descr="ec5c93e6f83f209b4e97ddfdecd480c8.png"/>
          <p:cNvPicPr>
            <a:picLocks noChangeAspect="1"/>
          </p:cNvPicPr>
          <p:nvPr/>
        </p:nvPicPr>
        <p:blipFill>
          <a:blip r:embed="rId2"/>
          <a:stretch>
            <a:fillRect/>
          </a:stretch>
        </p:blipFill>
        <p:spPr>
          <a:xfrm>
            <a:off x="812967" y="6261100"/>
            <a:ext cx="171116" cy="203200"/>
          </a:xfrm>
          <a:prstGeom prst="rect">
            <a:avLst/>
          </a:prstGeom>
        </p:spPr>
      </p:pic>
      <p:sp>
        <p:nvSpPr>
          <p:cNvPr id="23" name="TextBox 22"/>
          <p:cNvSpPr txBox="1"/>
          <p:nvPr/>
        </p:nvSpPr>
        <p:spPr>
          <a:xfrm>
            <a:off x="1066800" y="6254750"/>
            <a:ext cx="4495800" cy="198120"/>
          </a:xfrm>
          <a:prstGeom prst="rect">
            <a:avLst/>
          </a:prstGeom>
          <a:noFill/>
        </p:spPr>
        <p:txBody>
          <a:bodyPr wrap="none" lIns="0" rIns="0" tIns="0" bIns="0" anchor="t">
            <a:noAutofit/>
          </a:bodyPr>
          <a:lstStyle/>
          <a:p>
            <a:pPr algn="l"/>
            <a:r>
              <a:rPr sz="1200" b="0" i="0">
                <a:solidFill>
                  <a:srgbClr val="5A6E80"/>
                </a:solidFill>
                <a:latin typeface="JetBrains Mono"/>
              </a:rPr>
              <a:t>PARADISE · meeting 12 oktober</a:t>
            </a:r>
          </a:p>
        </p:txBody>
      </p:sp>
      <p:sp>
        <p:nvSpPr>
          <p:cNvPr id="24" name="TextBox 23"/>
          <p:cNvSpPr txBox="1"/>
          <p:nvPr/>
        </p:nvSpPr>
        <p:spPr>
          <a:xfrm>
            <a:off x="4978400" y="6254750"/>
            <a:ext cx="6400800" cy="198120"/>
          </a:xfrm>
          <a:prstGeom prst="rect">
            <a:avLst/>
          </a:prstGeom>
          <a:noFill/>
        </p:spPr>
        <p:txBody>
          <a:bodyPr wrap="none" lIns="0" rIns="0" tIns="0" bIns="0" anchor="t">
            <a:noAutofit/>
          </a:bodyPr>
          <a:lstStyle/>
          <a:p>
            <a:pPr algn="r"/>
            <a:r>
              <a:rPr sz="1200" b="0" i="0">
                <a:solidFill>
                  <a:srgbClr val="5A6E80"/>
                </a:solidFill>
                <a:latin typeface="JetBrains Mono"/>
              </a:rPr>
              <a:t>Bron · consortiummeeting 1 april 2026, actiepunten</a:t>
            </a:r>
          </a:p>
        </p:txBody>
      </p:sp>
    </p:spTree>
  </p:cSld>
  <p:clrMapOvr>
    <a:masterClrMapping/>
  </p:clrMapOvr>
  <p:transition xmlns:p14="http://schemas.microsoft.com/office/powerpoint/2010/main" spd="med" p14:dur="7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PARADISE — Eerste officiële meeting met de voetklinieken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