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rts/chart1.xml" ContentType="application/vnd.openxmlformats-officedocument.drawingml.chart+xml"/>
  <Override PartName="/ppt/notesSlides/notesSlide41.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rts/chart5.xml" ContentType="application/vnd.openxmlformats-officedocument.drawingml.chart+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nl-NL"/>
  <c:roundedCorners val="1"/>
  <c:style val="2"/>
  <c:chart>
    <c:autoTitleDeleted val="1"/>
    <c:plotArea>
      <c:layout>
        <c:manualLayout>
          <c:layoutTarget val="inner"/>
          <c:xMode val="edge"/>
          <c:yMode val="edge"/>
          <c:x val="0.1047"/>
          <c:y val="6.7799999999999999E-2"/>
          <c:w val="0.86050000000000004"/>
          <c:h val="0.74580000000000002"/>
        </c:manualLayout>
      </c:layout>
      <c:scatterChart>
        <c:scatterStyle val="lineMarker"/>
        <c:varyColors val="0"/>
        <c:ser>
          <c:idx val="0"/>
          <c:order val="0"/>
          <c:tx>
            <c:strRef>
              <c:f>Sheet1!$B$1</c:f>
              <c:strCache>
                <c:ptCount val="1"/>
                <c:pt idx="0">
                  <c:v>kans</c:v>
                </c:pt>
              </c:strCache>
            </c:strRef>
          </c:tx>
          <c:spPr>
            <a:ln w="19050">
              <a:solidFill>
                <a:srgbClr val="3A4F63"/>
              </a:solidFill>
            </a:ln>
          </c:spPr>
          <c:marker>
            <c:symbol val="none"/>
          </c:marker>
          <c:xVal>
            <c:numRef>
              <c:f>Sheet1!$A$2:$A$252</c:f>
              <c:numCache>
                <c:formatCode>General</c:formatCode>
                <c:ptCount val="251"/>
                <c:pt idx="0">
                  <c:v>1.5</c:v>
                </c:pt>
                <c:pt idx="1">
                  <c:v>1.51</c:v>
                </c:pt>
                <c:pt idx="2">
                  <c:v>1.52</c:v>
                </c:pt>
                <c:pt idx="3">
                  <c:v>1.53</c:v>
                </c:pt>
                <c:pt idx="4">
                  <c:v>1.54</c:v>
                </c:pt>
                <c:pt idx="5">
                  <c:v>1.55</c:v>
                </c:pt>
                <c:pt idx="6">
                  <c:v>1.56</c:v>
                </c:pt>
                <c:pt idx="7">
                  <c:v>1.57</c:v>
                </c:pt>
                <c:pt idx="8">
                  <c:v>1.58</c:v>
                </c:pt>
                <c:pt idx="9">
                  <c:v>1.59</c:v>
                </c:pt>
                <c:pt idx="10">
                  <c:v>1.6</c:v>
                </c:pt>
                <c:pt idx="11">
                  <c:v>1.61</c:v>
                </c:pt>
                <c:pt idx="12">
                  <c:v>1.62</c:v>
                </c:pt>
                <c:pt idx="13">
                  <c:v>1.63</c:v>
                </c:pt>
                <c:pt idx="14">
                  <c:v>1.64</c:v>
                </c:pt>
                <c:pt idx="15">
                  <c:v>1.65</c:v>
                </c:pt>
                <c:pt idx="16">
                  <c:v>1.66</c:v>
                </c:pt>
                <c:pt idx="17">
                  <c:v>1.67</c:v>
                </c:pt>
                <c:pt idx="18">
                  <c:v>1.68</c:v>
                </c:pt>
                <c:pt idx="19">
                  <c:v>1.69</c:v>
                </c:pt>
                <c:pt idx="20">
                  <c:v>1.7</c:v>
                </c:pt>
                <c:pt idx="21">
                  <c:v>1.71</c:v>
                </c:pt>
                <c:pt idx="22">
                  <c:v>1.72</c:v>
                </c:pt>
                <c:pt idx="23">
                  <c:v>1.73</c:v>
                </c:pt>
                <c:pt idx="24">
                  <c:v>1.74</c:v>
                </c:pt>
                <c:pt idx="25">
                  <c:v>1.75</c:v>
                </c:pt>
                <c:pt idx="26">
                  <c:v>1.76</c:v>
                </c:pt>
                <c:pt idx="27">
                  <c:v>1.77</c:v>
                </c:pt>
                <c:pt idx="28">
                  <c:v>1.78</c:v>
                </c:pt>
                <c:pt idx="29">
                  <c:v>1.79</c:v>
                </c:pt>
                <c:pt idx="30">
                  <c:v>1.8</c:v>
                </c:pt>
                <c:pt idx="31">
                  <c:v>1.81</c:v>
                </c:pt>
                <c:pt idx="32">
                  <c:v>1.82</c:v>
                </c:pt>
                <c:pt idx="33">
                  <c:v>1.83</c:v>
                </c:pt>
                <c:pt idx="34">
                  <c:v>1.84</c:v>
                </c:pt>
                <c:pt idx="35">
                  <c:v>1.85</c:v>
                </c:pt>
                <c:pt idx="36">
                  <c:v>1.86</c:v>
                </c:pt>
                <c:pt idx="37">
                  <c:v>1.87</c:v>
                </c:pt>
                <c:pt idx="38">
                  <c:v>1.88</c:v>
                </c:pt>
                <c:pt idx="39">
                  <c:v>1.89</c:v>
                </c:pt>
                <c:pt idx="40">
                  <c:v>1.9</c:v>
                </c:pt>
                <c:pt idx="41">
                  <c:v>1.91</c:v>
                </c:pt>
                <c:pt idx="42">
                  <c:v>1.92</c:v>
                </c:pt>
                <c:pt idx="43">
                  <c:v>1.93</c:v>
                </c:pt>
                <c:pt idx="44">
                  <c:v>1.94</c:v>
                </c:pt>
                <c:pt idx="45">
                  <c:v>1.95</c:v>
                </c:pt>
                <c:pt idx="46">
                  <c:v>1.96</c:v>
                </c:pt>
                <c:pt idx="47">
                  <c:v>1.97</c:v>
                </c:pt>
                <c:pt idx="48">
                  <c:v>1.98</c:v>
                </c:pt>
                <c:pt idx="49">
                  <c:v>1.99</c:v>
                </c:pt>
                <c:pt idx="50">
                  <c:v>2</c:v>
                </c:pt>
                <c:pt idx="51">
                  <c:v>2.0099999999999998</c:v>
                </c:pt>
                <c:pt idx="52">
                  <c:v>2.02</c:v>
                </c:pt>
                <c:pt idx="53">
                  <c:v>2.0299999999999998</c:v>
                </c:pt>
                <c:pt idx="54">
                  <c:v>2.04</c:v>
                </c:pt>
                <c:pt idx="55">
                  <c:v>2.0499999999999998</c:v>
                </c:pt>
                <c:pt idx="56">
                  <c:v>2.06</c:v>
                </c:pt>
                <c:pt idx="57">
                  <c:v>2.0699999999999998</c:v>
                </c:pt>
                <c:pt idx="58">
                  <c:v>2.08</c:v>
                </c:pt>
                <c:pt idx="59">
                  <c:v>2.09</c:v>
                </c:pt>
                <c:pt idx="60">
                  <c:v>2.1</c:v>
                </c:pt>
                <c:pt idx="61">
                  <c:v>2.11</c:v>
                </c:pt>
                <c:pt idx="62">
                  <c:v>2.12</c:v>
                </c:pt>
                <c:pt idx="63">
                  <c:v>2.13</c:v>
                </c:pt>
                <c:pt idx="64">
                  <c:v>2.14</c:v>
                </c:pt>
                <c:pt idx="65">
                  <c:v>2.15</c:v>
                </c:pt>
                <c:pt idx="66">
                  <c:v>2.16</c:v>
                </c:pt>
                <c:pt idx="67">
                  <c:v>2.17</c:v>
                </c:pt>
                <c:pt idx="68">
                  <c:v>2.1800000000000002</c:v>
                </c:pt>
                <c:pt idx="69">
                  <c:v>2.19</c:v>
                </c:pt>
                <c:pt idx="70">
                  <c:v>2.2000000000000002</c:v>
                </c:pt>
                <c:pt idx="71">
                  <c:v>2.21</c:v>
                </c:pt>
                <c:pt idx="72">
                  <c:v>2.2200000000000002</c:v>
                </c:pt>
                <c:pt idx="73">
                  <c:v>2.23</c:v>
                </c:pt>
                <c:pt idx="74">
                  <c:v>2.2400000000000002</c:v>
                </c:pt>
                <c:pt idx="75">
                  <c:v>2.25</c:v>
                </c:pt>
                <c:pt idx="76">
                  <c:v>2.2599999999999998</c:v>
                </c:pt>
                <c:pt idx="77">
                  <c:v>2.27</c:v>
                </c:pt>
                <c:pt idx="78">
                  <c:v>2.2799999999999998</c:v>
                </c:pt>
                <c:pt idx="79">
                  <c:v>2.29</c:v>
                </c:pt>
                <c:pt idx="80">
                  <c:v>2.2999999999999998</c:v>
                </c:pt>
                <c:pt idx="81">
                  <c:v>2.31</c:v>
                </c:pt>
                <c:pt idx="82">
                  <c:v>2.3199999999999998</c:v>
                </c:pt>
                <c:pt idx="83">
                  <c:v>2.33</c:v>
                </c:pt>
                <c:pt idx="84">
                  <c:v>2.34</c:v>
                </c:pt>
                <c:pt idx="85">
                  <c:v>2.35</c:v>
                </c:pt>
                <c:pt idx="86">
                  <c:v>2.36</c:v>
                </c:pt>
                <c:pt idx="87">
                  <c:v>2.37</c:v>
                </c:pt>
                <c:pt idx="88">
                  <c:v>2.38</c:v>
                </c:pt>
                <c:pt idx="89">
                  <c:v>2.39</c:v>
                </c:pt>
                <c:pt idx="90">
                  <c:v>2.4</c:v>
                </c:pt>
                <c:pt idx="91">
                  <c:v>2.41</c:v>
                </c:pt>
                <c:pt idx="92">
                  <c:v>2.42</c:v>
                </c:pt>
                <c:pt idx="93">
                  <c:v>2.4300000000000002</c:v>
                </c:pt>
                <c:pt idx="94">
                  <c:v>2.44</c:v>
                </c:pt>
                <c:pt idx="95">
                  <c:v>2.4500000000000002</c:v>
                </c:pt>
                <c:pt idx="96">
                  <c:v>2.46</c:v>
                </c:pt>
                <c:pt idx="97">
                  <c:v>2.4700000000000002</c:v>
                </c:pt>
                <c:pt idx="98">
                  <c:v>2.48</c:v>
                </c:pt>
                <c:pt idx="99">
                  <c:v>2.4900000000000002</c:v>
                </c:pt>
                <c:pt idx="100">
                  <c:v>2.5</c:v>
                </c:pt>
                <c:pt idx="101">
                  <c:v>2.5099999999999998</c:v>
                </c:pt>
                <c:pt idx="102">
                  <c:v>2.52</c:v>
                </c:pt>
                <c:pt idx="103">
                  <c:v>2.5299999999999998</c:v>
                </c:pt>
                <c:pt idx="104">
                  <c:v>2.54</c:v>
                </c:pt>
                <c:pt idx="105">
                  <c:v>2.5499999999999998</c:v>
                </c:pt>
                <c:pt idx="106">
                  <c:v>2.56</c:v>
                </c:pt>
                <c:pt idx="107">
                  <c:v>2.57</c:v>
                </c:pt>
                <c:pt idx="108">
                  <c:v>2.58</c:v>
                </c:pt>
                <c:pt idx="109">
                  <c:v>2.59</c:v>
                </c:pt>
                <c:pt idx="110">
                  <c:v>2.6</c:v>
                </c:pt>
                <c:pt idx="111">
                  <c:v>2.61</c:v>
                </c:pt>
                <c:pt idx="112">
                  <c:v>2.62</c:v>
                </c:pt>
                <c:pt idx="113">
                  <c:v>2.63</c:v>
                </c:pt>
                <c:pt idx="114">
                  <c:v>2.64</c:v>
                </c:pt>
                <c:pt idx="115">
                  <c:v>2.65</c:v>
                </c:pt>
                <c:pt idx="116">
                  <c:v>2.66</c:v>
                </c:pt>
                <c:pt idx="117">
                  <c:v>2.67</c:v>
                </c:pt>
                <c:pt idx="118">
                  <c:v>2.68</c:v>
                </c:pt>
                <c:pt idx="119">
                  <c:v>2.69</c:v>
                </c:pt>
                <c:pt idx="120">
                  <c:v>2.7</c:v>
                </c:pt>
                <c:pt idx="121">
                  <c:v>2.71</c:v>
                </c:pt>
                <c:pt idx="122">
                  <c:v>2.72</c:v>
                </c:pt>
                <c:pt idx="123">
                  <c:v>2.73</c:v>
                </c:pt>
                <c:pt idx="124">
                  <c:v>2.74</c:v>
                </c:pt>
                <c:pt idx="125">
                  <c:v>2.75</c:v>
                </c:pt>
                <c:pt idx="126">
                  <c:v>2.76</c:v>
                </c:pt>
                <c:pt idx="127">
                  <c:v>2.77</c:v>
                </c:pt>
                <c:pt idx="128">
                  <c:v>2.78</c:v>
                </c:pt>
                <c:pt idx="129">
                  <c:v>2.79</c:v>
                </c:pt>
                <c:pt idx="130">
                  <c:v>2.8</c:v>
                </c:pt>
                <c:pt idx="131">
                  <c:v>2.81</c:v>
                </c:pt>
                <c:pt idx="132">
                  <c:v>2.82</c:v>
                </c:pt>
                <c:pt idx="133">
                  <c:v>2.83</c:v>
                </c:pt>
                <c:pt idx="134">
                  <c:v>2.84</c:v>
                </c:pt>
                <c:pt idx="135">
                  <c:v>2.85</c:v>
                </c:pt>
                <c:pt idx="136">
                  <c:v>2.86</c:v>
                </c:pt>
                <c:pt idx="137">
                  <c:v>2.87</c:v>
                </c:pt>
                <c:pt idx="138">
                  <c:v>2.88</c:v>
                </c:pt>
                <c:pt idx="139">
                  <c:v>2.89</c:v>
                </c:pt>
                <c:pt idx="140">
                  <c:v>2.9</c:v>
                </c:pt>
                <c:pt idx="141">
                  <c:v>2.91</c:v>
                </c:pt>
                <c:pt idx="142">
                  <c:v>2.92</c:v>
                </c:pt>
                <c:pt idx="143">
                  <c:v>2.93</c:v>
                </c:pt>
                <c:pt idx="144">
                  <c:v>2.94</c:v>
                </c:pt>
                <c:pt idx="145">
                  <c:v>2.95</c:v>
                </c:pt>
                <c:pt idx="146">
                  <c:v>2.96</c:v>
                </c:pt>
                <c:pt idx="147">
                  <c:v>2.97</c:v>
                </c:pt>
                <c:pt idx="148">
                  <c:v>2.98</c:v>
                </c:pt>
                <c:pt idx="149">
                  <c:v>2.99</c:v>
                </c:pt>
                <c:pt idx="150">
                  <c:v>3</c:v>
                </c:pt>
                <c:pt idx="151">
                  <c:v>3.01</c:v>
                </c:pt>
                <c:pt idx="152">
                  <c:v>3.02</c:v>
                </c:pt>
                <c:pt idx="153">
                  <c:v>3.03</c:v>
                </c:pt>
                <c:pt idx="154">
                  <c:v>3.04</c:v>
                </c:pt>
                <c:pt idx="155">
                  <c:v>3.05</c:v>
                </c:pt>
                <c:pt idx="156">
                  <c:v>3.06</c:v>
                </c:pt>
                <c:pt idx="157">
                  <c:v>3.07</c:v>
                </c:pt>
                <c:pt idx="158">
                  <c:v>3.08</c:v>
                </c:pt>
                <c:pt idx="159">
                  <c:v>3.09</c:v>
                </c:pt>
                <c:pt idx="160">
                  <c:v>3.1</c:v>
                </c:pt>
                <c:pt idx="161">
                  <c:v>3.11</c:v>
                </c:pt>
                <c:pt idx="162">
                  <c:v>3.12</c:v>
                </c:pt>
                <c:pt idx="163">
                  <c:v>3.13</c:v>
                </c:pt>
                <c:pt idx="164">
                  <c:v>3.14</c:v>
                </c:pt>
                <c:pt idx="165">
                  <c:v>3.15</c:v>
                </c:pt>
                <c:pt idx="166">
                  <c:v>3.16</c:v>
                </c:pt>
                <c:pt idx="167">
                  <c:v>3.17</c:v>
                </c:pt>
                <c:pt idx="168">
                  <c:v>3.18</c:v>
                </c:pt>
                <c:pt idx="169">
                  <c:v>3.19</c:v>
                </c:pt>
                <c:pt idx="170">
                  <c:v>3.2</c:v>
                </c:pt>
                <c:pt idx="171">
                  <c:v>3.21</c:v>
                </c:pt>
                <c:pt idx="172">
                  <c:v>3.22</c:v>
                </c:pt>
                <c:pt idx="173">
                  <c:v>3.23</c:v>
                </c:pt>
                <c:pt idx="174">
                  <c:v>3.24</c:v>
                </c:pt>
                <c:pt idx="175">
                  <c:v>3.25</c:v>
                </c:pt>
                <c:pt idx="176">
                  <c:v>3.26</c:v>
                </c:pt>
                <c:pt idx="177">
                  <c:v>3.27</c:v>
                </c:pt>
                <c:pt idx="178">
                  <c:v>3.28</c:v>
                </c:pt>
                <c:pt idx="179">
                  <c:v>3.29</c:v>
                </c:pt>
                <c:pt idx="180">
                  <c:v>3.3</c:v>
                </c:pt>
                <c:pt idx="181">
                  <c:v>3.31</c:v>
                </c:pt>
                <c:pt idx="182">
                  <c:v>3.32</c:v>
                </c:pt>
                <c:pt idx="183">
                  <c:v>3.33</c:v>
                </c:pt>
                <c:pt idx="184">
                  <c:v>3.34</c:v>
                </c:pt>
                <c:pt idx="185">
                  <c:v>3.35</c:v>
                </c:pt>
                <c:pt idx="186">
                  <c:v>3.36</c:v>
                </c:pt>
                <c:pt idx="187">
                  <c:v>3.37</c:v>
                </c:pt>
                <c:pt idx="188">
                  <c:v>3.38</c:v>
                </c:pt>
                <c:pt idx="189">
                  <c:v>3.39</c:v>
                </c:pt>
                <c:pt idx="190">
                  <c:v>3.4</c:v>
                </c:pt>
                <c:pt idx="191">
                  <c:v>3.41</c:v>
                </c:pt>
                <c:pt idx="192">
                  <c:v>3.42</c:v>
                </c:pt>
                <c:pt idx="193">
                  <c:v>3.43</c:v>
                </c:pt>
                <c:pt idx="194">
                  <c:v>3.44</c:v>
                </c:pt>
                <c:pt idx="195">
                  <c:v>3.45</c:v>
                </c:pt>
                <c:pt idx="196">
                  <c:v>3.46</c:v>
                </c:pt>
                <c:pt idx="197">
                  <c:v>3.47</c:v>
                </c:pt>
                <c:pt idx="198">
                  <c:v>3.48</c:v>
                </c:pt>
                <c:pt idx="199">
                  <c:v>3.49</c:v>
                </c:pt>
                <c:pt idx="200">
                  <c:v>3.5</c:v>
                </c:pt>
                <c:pt idx="201">
                  <c:v>3.51</c:v>
                </c:pt>
                <c:pt idx="202">
                  <c:v>3.52</c:v>
                </c:pt>
                <c:pt idx="203">
                  <c:v>3.53</c:v>
                </c:pt>
                <c:pt idx="204">
                  <c:v>3.54</c:v>
                </c:pt>
                <c:pt idx="205">
                  <c:v>3.55</c:v>
                </c:pt>
                <c:pt idx="206">
                  <c:v>3.56</c:v>
                </c:pt>
                <c:pt idx="207">
                  <c:v>3.57</c:v>
                </c:pt>
                <c:pt idx="208">
                  <c:v>3.58</c:v>
                </c:pt>
                <c:pt idx="209">
                  <c:v>3.59</c:v>
                </c:pt>
                <c:pt idx="210">
                  <c:v>3.6</c:v>
                </c:pt>
                <c:pt idx="211">
                  <c:v>3.61</c:v>
                </c:pt>
                <c:pt idx="212">
                  <c:v>3.62</c:v>
                </c:pt>
                <c:pt idx="213">
                  <c:v>3.63</c:v>
                </c:pt>
                <c:pt idx="214">
                  <c:v>3.64</c:v>
                </c:pt>
                <c:pt idx="215">
                  <c:v>3.65</c:v>
                </c:pt>
                <c:pt idx="216">
                  <c:v>3.66</c:v>
                </c:pt>
                <c:pt idx="217">
                  <c:v>3.67</c:v>
                </c:pt>
                <c:pt idx="218">
                  <c:v>3.68</c:v>
                </c:pt>
                <c:pt idx="219">
                  <c:v>3.69</c:v>
                </c:pt>
                <c:pt idx="220">
                  <c:v>3.7</c:v>
                </c:pt>
                <c:pt idx="221">
                  <c:v>3.71</c:v>
                </c:pt>
                <c:pt idx="222">
                  <c:v>3.72</c:v>
                </c:pt>
                <c:pt idx="223">
                  <c:v>3.73</c:v>
                </c:pt>
                <c:pt idx="224">
                  <c:v>3.74</c:v>
                </c:pt>
                <c:pt idx="225">
                  <c:v>3.75</c:v>
                </c:pt>
                <c:pt idx="226">
                  <c:v>3.76</c:v>
                </c:pt>
                <c:pt idx="227">
                  <c:v>3.77</c:v>
                </c:pt>
                <c:pt idx="228">
                  <c:v>3.78</c:v>
                </c:pt>
                <c:pt idx="229">
                  <c:v>3.79</c:v>
                </c:pt>
                <c:pt idx="230">
                  <c:v>3.8</c:v>
                </c:pt>
                <c:pt idx="231">
                  <c:v>3.81</c:v>
                </c:pt>
                <c:pt idx="232">
                  <c:v>3.82</c:v>
                </c:pt>
                <c:pt idx="233">
                  <c:v>3.83</c:v>
                </c:pt>
                <c:pt idx="234">
                  <c:v>3.84</c:v>
                </c:pt>
                <c:pt idx="235">
                  <c:v>3.85</c:v>
                </c:pt>
                <c:pt idx="236">
                  <c:v>3.86</c:v>
                </c:pt>
                <c:pt idx="237">
                  <c:v>3.87</c:v>
                </c:pt>
                <c:pt idx="238">
                  <c:v>3.88</c:v>
                </c:pt>
                <c:pt idx="239">
                  <c:v>3.89</c:v>
                </c:pt>
                <c:pt idx="240">
                  <c:v>3.9</c:v>
                </c:pt>
                <c:pt idx="241">
                  <c:v>3.91</c:v>
                </c:pt>
                <c:pt idx="242">
                  <c:v>3.92</c:v>
                </c:pt>
                <c:pt idx="243">
                  <c:v>3.93</c:v>
                </c:pt>
                <c:pt idx="244">
                  <c:v>3.94</c:v>
                </c:pt>
                <c:pt idx="245">
                  <c:v>3.95</c:v>
                </c:pt>
                <c:pt idx="246">
                  <c:v>3.96</c:v>
                </c:pt>
                <c:pt idx="247">
                  <c:v>3.97</c:v>
                </c:pt>
                <c:pt idx="248">
                  <c:v>3.98</c:v>
                </c:pt>
                <c:pt idx="249">
                  <c:v>3.99</c:v>
                </c:pt>
                <c:pt idx="250">
                  <c:v>4</c:v>
                </c:pt>
              </c:numCache>
            </c:numRef>
          </c:xVal>
          <c:yVal>
            <c:numRef>
              <c:f>Sheet1!$B$2:$B$252</c:f>
              <c:numCache>
                <c:formatCode>General</c:formatCode>
                <c:ptCount val="251"/>
                <c:pt idx="0">
                  <c:v>10.111009185571074</c:v>
                </c:pt>
                <c:pt idx="1">
                  <c:v>10.645373875787179</c:v>
                </c:pt>
                <c:pt idx="2">
                  <c:v>11.197289303461266</c:v>
                </c:pt>
                <c:pt idx="3">
                  <c:v>11.7667610136725</c:v>
                </c:pt>
                <c:pt idx="4">
                  <c:v>12.353766690916835</c:v>
                </c:pt>
                <c:pt idx="5">
                  <c:v>12.958255899581117</c:v>
                </c:pt>
                <c:pt idx="6">
                  <c:v>13.580149911675466</c:v>
                </c:pt>
                <c:pt idx="7">
                  <c:v>14.219341622254989</c:v>
                </c:pt>
                <c:pt idx="8">
                  <c:v>14.875695552560398</c:v>
                </c:pt>
                <c:pt idx="9">
                  <c:v>15.549047940492301</c:v>
                </c:pt>
                <c:pt idx="10">
                  <c:v>16.239206917639525</c:v>
                </c:pt>
                <c:pt idx="11">
                  <c:v>16.945952771702146</c:v>
                </c:pt>
                <c:pt idx="12">
                  <c:v>17.669038292769244</c:v>
                </c:pt>
                <c:pt idx="13">
                  <c:v>18.408189201559122</c:v>
                </c:pt>
                <c:pt idx="14">
                  <c:v>19.163104657394491</c:v>
                </c:pt>
                <c:pt idx="15">
                  <c:v>19.933457843349345</c:v>
                </c:pt>
                <c:pt idx="16">
                  <c:v>20.71889662571742</c:v>
                </c:pt>
                <c:pt idx="17">
                  <c:v>21.519044284663025</c:v>
                </c:pt>
                <c:pt idx="18">
                  <c:v>22.333500312652465</c:v>
                </c:pt>
                <c:pt idx="19">
                  <c:v>23.161841277041241</c:v>
                </c:pt>
                <c:pt idx="20">
                  <c:v>24.00362174296642</c:v>
                </c:pt>
                <c:pt idx="21">
                  <c:v>24.858375252511667</c:v>
                </c:pt>
                <c:pt idx="22">
                  <c:v>25.725615355949294</c:v>
                </c:pt>
                <c:pt idx="23">
                  <c:v>26.60483669072239</c:v>
                </c:pt>
                <c:pt idx="24">
                  <c:v>27.495516103715257</c:v>
                </c:pt>
                <c:pt idx="25">
                  <c:v>28.397113812277329</c:v>
                </c:pt>
                <c:pt idx="26">
                  <c:v>29.309074599385664</c:v>
                </c:pt>
                <c:pt idx="27">
                  <c:v>30.230829038310503</c:v>
                </c:pt>
                <c:pt idx="28">
                  <c:v>31.161794742108874</c:v>
                </c:pt>
                <c:pt idx="29">
                  <c:v>32.101377633290426</c:v>
                </c:pt>
                <c:pt idx="30">
                  <c:v>33.048973229017619</c:v>
                </c:pt>
                <c:pt idx="31">
                  <c:v>34.003967937260349</c:v>
                </c:pt>
                <c:pt idx="32">
                  <c:v>34.965740359370336</c:v>
                </c:pt>
                <c:pt idx="33">
                  <c:v>35.933662594654848</c:v>
                </c:pt>
                <c:pt idx="34">
                  <c:v>36.907101542615052</c:v>
                </c:pt>
                <c:pt idx="35">
                  <c:v>37.885420198635622</c:v>
                </c:pt>
                <c:pt idx="36">
                  <c:v>38.867978939051639</c:v>
                </c:pt>
                <c:pt idx="37">
                  <c:v>39.854136791679515</c:v>
                </c:pt>
                <c:pt idx="38">
                  <c:v>40.843252688036181</c:v>
                </c:pt>
                <c:pt idx="39">
                  <c:v>41.834686693667479</c:v>
                </c:pt>
                <c:pt idx="40">
                  <c:v>42.827801213185388</c:v>
                </c:pt>
                <c:pt idx="41">
                  <c:v>43.821962166803189</c:v>
                </c:pt>
                <c:pt idx="42">
                  <c:v>44.816540135354352</c:v>
                </c:pt>
                <c:pt idx="43">
                  <c:v>45.810911471009476</c:v>
                </c:pt>
                <c:pt idx="44">
                  <c:v>46.804459371085713</c:v>
                </c:pt>
                <c:pt idx="45">
                  <c:v>47.796574912589762</c:v>
                </c:pt>
                <c:pt idx="46">
                  <c:v>48.786658045329808</c:v>
                </c:pt>
                <c:pt idx="47">
                  <c:v>49.774118541671939</c:v>
                </c:pt>
                <c:pt idx="48">
                  <c:v>50.758376901212934</c:v>
                </c:pt>
                <c:pt idx="49">
                  <c:v>51.738865208888555</c:v>
                </c:pt>
                <c:pt idx="50">
                  <c:v>52.715027945225536</c:v>
                </c:pt>
                <c:pt idx="51">
                  <c:v>53.68632274767937</c:v>
                </c:pt>
                <c:pt idx="52">
                  <c:v>54.652221122204693</c:v>
                </c:pt>
                <c:pt idx="53">
                  <c:v>55.612209104403476</c:v>
                </c:pt>
                <c:pt idx="54">
                  <c:v>56.565787869813441</c:v>
                </c:pt>
                <c:pt idx="55">
                  <c:v>57.512474293069893</c:v>
                </c:pt>
                <c:pt idx="56">
                  <c:v>58.451801455891307</c:v>
                </c:pt>
                <c:pt idx="57">
                  <c:v>59.383319103988995</c:v>
                </c:pt>
                <c:pt idx="58">
                  <c:v>60.306594053201465</c:v>
                </c:pt>
                <c:pt idx="59">
                  <c:v>61.22121054529368</c:v>
                </c:pt>
                <c:pt idx="60">
                  <c:v>62.126770554041357</c:v>
                </c:pt>
                <c:pt idx="61">
                  <c:v>63.022894042345399</c:v>
                </c:pt>
                <c:pt idx="62">
                  <c:v>63.909219171277321</c:v>
                </c:pt>
                <c:pt idx="63">
                  <c:v>64.785402462070991</c:v>
                </c:pt>
                <c:pt idx="64">
                  <c:v>65.651118912207963</c:v>
                </c:pt>
                <c:pt idx="65">
                  <c:v>66.506062066841579</c:v>
                </c:pt>
                <c:pt idx="66">
                  <c:v>67.349944046908945</c:v>
                </c:pt>
                <c:pt idx="67">
                  <c:v>68.182495535378152</c:v>
                </c:pt>
                <c:pt idx="68">
                  <c:v>69.003465723143293</c:v>
                </c:pt>
                <c:pt idx="69">
                  <c:v>69.812622216165494</c:v>
                </c:pt>
                <c:pt idx="70">
                  <c:v>70.609750905510765</c:v>
                </c:pt>
                <c:pt idx="71">
                  <c:v>71.394655801994119</c:v>
                </c:pt>
                <c:pt idx="72">
                  <c:v>72.167158837184431</c:v>
                </c:pt>
                <c:pt idx="73">
                  <c:v>72.927099632547609</c:v>
                </c:pt>
                <c:pt idx="74">
                  <c:v>73.674335238557262</c:v>
                </c:pt>
                <c:pt idx="75">
                  <c:v>74.408739845591001</c:v>
                </c:pt>
                <c:pt idx="76">
                  <c:v>75.130204468471916</c:v>
                </c:pt>
                <c:pt idx="77">
                  <c:v>75.838636606494575</c:v>
                </c:pt>
                <c:pt idx="78">
                  <c:v>76.533959880787492</c:v>
                </c:pt>
                <c:pt idx="79">
                  <c:v>77.216113650849877</c:v>
                </c:pt>
                <c:pt idx="80">
                  <c:v>77.885052612080841</c:v>
                </c:pt>
                <c:pt idx="81">
                  <c:v>78.540746376107222</c:v>
                </c:pt>
                <c:pt idx="82">
                  <c:v>79.183179035677554</c:v>
                </c:pt>
                <c:pt idx="83">
                  <c:v>79.812348715870016</c:v>
                </c:pt>
                <c:pt idx="84">
                  <c:v>80.428267113315371</c:v>
                </c:pt>
                <c:pt idx="85">
                  <c:v>81.030959025100373</c:v>
                </c:pt>
                <c:pt idx="86">
                  <c:v>81.620461868972583</c:v>
                </c:pt>
                <c:pt idx="87">
                  <c:v>82.196825196417905</c:v>
                </c:pt>
                <c:pt idx="88">
                  <c:v>82.76011020012875</c:v>
                </c:pt>
                <c:pt idx="89">
                  <c:v>83.310389217332911</c:v>
                </c:pt>
                <c:pt idx="90">
                  <c:v>83.847745230390942</c:v>
                </c:pt>
                <c:pt idx="91">
                  <c:v>84.372271366014346</c:v>
                </c:pt>
                <c:pt idx="92">
                  <c:v>84.884070394395664</c:v>
                </c:pt>
                <c:pt idx="93">
                  <c:v>85.383254229482944</c:v>
                </c:pt>
                <c:pt idx="94">
                  <c:v>85.869943431564081</c:v>
                </c:pt>
                <c:pt idx="95">
                  <c:v>86.344266713267103</c:v>
                </c:pt>
                <c:pt idx="96">
                  <c:v>86.806360450018872</c:v>
                </c:pt>
                <c:pt idx="97">
                  <c:v>87.256368195939132</c:v>
                </c:pt>
                <c:pt idx="98">
                  <c:v>87.694440206081538</c:v>
                </c:pt>
                <c:pt idx="99">
                  <c:v>88.12073296587856</c:v>
                </c:pt>
                <c:pt idx="100">
                  <c:v>88.535408728572591</c:v>
                </c:pt>
                <c:pt idx="101">
                  <c:v>88.938635061361566</c:v>
                </c:pt>
                <c:pt idx="102">
                  <c:v>89.330584400925432</c:v>
                </c:pt>
                <c:pt idx="103">
                  <c:v>89.711433618935857</c:v>
                </c:pt>
                <c:pt idx="104">
                  <c:v>90.081363598098875</c:v>
                </c:pt>
                <c:pt idx="105">
                  <c:v>90.44055881921615</c:v>
                </c:pt>
                <c:pt idx="106">
                  <c:v>90.789206959702398</c:v>
                </c:pt>
                <c:pt idx="107">
                  <c:v>91.127498503933666</c:v>
                </c:pt>
                <c:pt idx="108">
                  <c:v>91.455626365758988</c:v>
                </c:pt>
                <c:pt idx="109">
                  <c:v>91.773785523448069</c:v>
                </c:pt>
                <c:pt idx="110">
                  <c:v>92.082172667305414</c:v>
                </c:pt>
                <c:pt idx="111">
                  <c:v>92.380985860131645</c:v>
                </c:pt>
                <c:pt idx="112">
                  <c:v>92.670424210670944</c:v>
                </c:pt>
                <c:pt idx="113">
                  <c:v>92.950687560138363</c:v>
                </c:pt>
                <c:pt idx="114">
                  <c:v>93.221976181880692</c:v>
                </c:pt>
                <c:pt idx="115">
                  <c:v>93.484490494190808</c:v>
                </c:pt>
                <c:pt idx="116">
                  <c:v>93.73843078625255</c:v>
                </c:pt>
                <c:pt idx="117">
                  <c:v>93.983996957164024</c:v>
                </c:pt>
                <c:pt idx="118">
                  <c:v>94.221388267955291</c:v>
                </c:pt>
                <c:pt idx="119">
                  <c:v>94.450803106483178</c:v>
                </c:pt>
                <c:pt idx="120">
                  <c:v>94.672438765062878</c:v>
                </c:pt>
                <c:pt idx="121">
                  <c:v>94.886491230667019</c:v>
                </c:pt>
                <c:pt idx="122">
                  <c:v>95.093154987500881</c:v>
                </c:pt>
                <c:pt idx="123">
                  <c:v>95.292622831740502</c:v>
                </c:pt>
                <c:pt idx="124">
                  <c:v>95.485085698200749</c:v>
                </c:pt>
                <c:pt idx="125">
                  <c:v>95.67073249868227</c:v>
                </c:pt>
                <c:pt idx="126">
                  <c:v>95.849749971731185</c:v>
                </c:pt>
                <c:pt idx="127">
                  <c:v>96.022322543529526</c:v>
                </c:pt>
                <c:pt idx="128">
                  <c:v>96.188632199623385</c:v>
                </c:pt>
                <c:pt idx="129">
                  <c:v>96.348858367183951</c:v>
                </c:pt>
                <c:pt idx="130">
                  <c:v>96.503177807487532</c:v>
                </c:pt>
                <c:pt idx="131">
                  <c:v>96.651764518292168</c:v>
                </c:pt>
                <c:pt idx="132">
                  <c:v>96.794789645783084</c:v>
                </c:pt>
                <c:pt idx="133">
                  <c:v>96.932421405752805</c:v>
                </c:pt>
                <c:pt idx="134">
                  <c:v>97.064825013678856</c:v>
                </c:pt>
                <c:pt idx="135">
                  <c:v>97.192162623358854</c:v>
                </c:pt>
                <c:pt idx="136">
                  <c:v>97.314593273761716</c:v>
                </c:pt>
                <c:pt idx="137">
                  <c:v>97.432272843752159</c:v>
                </c:pt>
                <c:pt idx="138">
                  <c:v>97.545354014348462</c:v>
                </c:pt>
                <c:pt idx="139">
                  <c:v>97.653986238172536</c:v>
                </c:pt>
                <c:pt idx="140">
                  <c:v>97.758315715754989</c:v>
                </c:pt>
                <c:pt idx="141">
                  <c:v>97.858485378361749</c:v>
                </c:pt>
                <c:pt idx="142">
                  <c:v>97.954634877010903</c:v>
                </c:pt>
                <c:pt idx="143">
                  <c:v>98.046900577354762</c:v>
                </c:pt>
                <c:pt idx="144">
                  <c:v>98.135415560106637</c:v>
                </c:pt>
                <c:pt idx="145">
                  <c:v>98.220309626697585</c:v>
                </c:pt>
                <c:pt idx="146">
                  <c:v>98.301709309855397</c:v>
                </c:pt>
                <c:pt idx="147">
                  <c:v>98.379737888803646</c:v>
                </c:pt>
                <c:pt idx="148">
                  <c:v>98.454515408787429</c:v>
                </c:pt>
                <c:pt idx="149">
                  <c:v>98.526158704638405</c:v>
                </c:pt>
                <c:pt idx="150">
                  <c:v>98.594781428100873</c:v>
                </c:pt>
                <c:pt idx="151">
                  <c:v>98.660494078647915</c:v>
                </c:pt>
                <c:pt idx="152">
                  <c:v>98.723404037525341</c:v>
                </c:pt>
                <c:pt idx="153">
                  <c:v>98.783615604769622</c:v>
                </c:pt>
                <c:pt idx="154">
                  <c:v>98.841230038954734</c:v>
                </c:pt>
                <c:pt idx="155">
                  <c:v>98.896345599431214</c:v>
                </c:pt>
                <c:pt idx="156">
                  <c:v>98.949057590830435</c:v>
                </c:pt>
                <c:pt idx="157">
                  <c:v>98.999458409614732</c:v>
                </c:pt>
                <c:pt idx="158">
                  <c:v>99.047637592464199</c:v>
                </c:pt>
                <c:pt idx="159">
                  <c:v>99.093681866298596</c:v>
                </c:pt>
                <c:pt idx="160">
                  <c:v>99.13767519974283</c:v>
                </c:pt>
                <c:pt idx="161">
                  <c:v>99.179698855852152</c:v>
                </c:pt>
                <c:pt idx="162">
                  <c:v>99.219831445922495</c:v>
                </c:pt>
                <c:pt idx="163">
                  <c:v>99.258148984219957</c:v>
                </c:pt>
                <c:pt idx="164">
                  <c:v>99.294724943471152</c:v>
                </c:pt>
                <c:pt idx="165">
                  <c:v>99.32963031096557</c:v>
                </c:pt>
                <c:pt idx="166">
                  <c:v>99.362933645127924</c:v>
                </c:pt>
                <c:pt idx="167">
                  <c:v>99.394701132427571</c:v>
                </c:pt>
                <c:pt idx="168">
                  <c:v>99.42499664449889</c:v>
                </c:pt>
                <c:pt idx="169">
                  <c:v>99.453881795354732</c:v>
                </c:pt>
                <c:pt idx="170">
                  <c:v>99.481415998582122</c:v>
                </c:pt>
                <c:pt idx="171">
                  <c:v>99.507656524416603</c:v>
                </c:pt>
                <c:pt idx="172">
                  <c:v>99.53265855659842</c:v>
                </c:pt>
                <c:pt idx="173">
                  <c:v>99.556475248920691</c:v>
                </c:pt>
                <c:pt idx="174">
                  <c:v>99.579157781386229</c:v>
                </c:pt>
                <c:pt idx="175">
                  <c:v>99.600755415895321</c:v>
                </c:pt>
                <c:pt idx="176">
                  <c:v>99.621315551393906</c:v>
                </c:pt>
                <c:pt idx="177">
                  <c:v>99.640883778416196</c:v>
                </c:pt>
                <c:pt idx="178">
                  <c:v>99.659503932962352</c:v>
                </c:pt>
                <c:pt idx="179">
                  <c:v>99.677218149656412</c:v>
                </c:pt>
                <c:pt idx="180">
                  <c:v>99.694066914135334</c:v>
                </c:pt>
                <c:pt idx="181">
                  <c:v>99.710089114624637</c:v>
                </c:pt>
                <c:pt idx="182">
                  <c:v>99.725322092660505</c:v>
                </c:pt>
                <c:pt idx="183">
                  <c:v>99.739801692923564</c:v>
                </c:pt>
                <c:pt idx="184">
                  <c:v>99.753562312152468</c:v>
                </c:pt>
                <c:pt idx="185">
                  <c:v>99.766636947110626</c:v>
                </c:pt>
                <c:pt idx="186">
                  <c:v>99.779057241582478</c:v>
                </c:pt>
                <c:pt idx="187">
                  <c:v>99.790853532379458</c:v>
                </c:pt>
                <c:pt idx="188">
                  <c:v>99.802054894339449</c:v>
                </c:pt>
                <c:pt idx="189">
                  <c:v>99.812689184306109</c:v>
                </c:pt>
                <c:pt idx="190">
                  <c:v>99.822783084078452</c:v>
                </c:pt>
                <c:pt idx="191">
                  <c:v>99.832362142322523</c:v>
                </c:pt>
                <c:pt idx="192">
                  <c:v>99.841450815440965</c:v>
                </c:pt>
                <c:pt idx="193">
                  <c:v>99.850072507397897</c:v>
                </c:pt>
                <c:pt idx="194">
                  <c:v>99.858249608499136</c:v>
                </c:pt>
                <c:pt idx="195">
                  <c:v>99.866003533129742</c:v>
                </c:pt>
                <c:pt idx="196">
                  <c:v>99.87335475645321</c:v>
                </c:pt>
                <c:pt idx="197">
                  <c:v>99.880322850077903</c:v>
                </c:pt>
                <c:pt idx="198">
                  <c:v>99.886926516698651</c:v>
                </c:pt>
                <c:pt idx="199">
                  <c:v>99.893183623722251</c:v>
                </c:pt>
                <c:pt idx="200">
                  <c:v>99.899111235887872</c:v>
                </c:pt>
                <c:pt idx="201">
                  <c:v>99.904725646893795</c:v>
                </c:pt>
                <c:pt idx="202">
                  <c:v>99.910042410043758</c:v>
                </c:pt>
                <c:pt idx="203">
                  <c:v>99.915076367926844</c:v>
                </c:pt>
                <c:pt idx="204">
                  <c:v>99.919841681145996</c:v>
                </c:pt>
                <c:pt idx="205">
                  <c:v>99.924351856110974</c:v>
                </c:pt>
                <c:pt idx="206">
                  <c:v>99.928619771912437</c:v>
                </c:pt>
                <c:pt idx="207">
                  <c:v>99.932657706294307</c:v>
                </c:pt>
                <c:pt idx="208">
                  <c:v>99.936477360742273</c:v>
                </c:pt>
                <c:pt idx="209">
                  <c:v>99.940089884706921</c:v>
                </c:pt>
                <c:pt idx="210">
                  <c:v>99.943505898980007</c:v>
                </c:pt>
                <c:pt idx="211">
                  <c:v>99.946735518243017</c:v>
                </c:pt>
                <c:pt idx="212">
                  <c:v>99.949788372807504</c:v>
                </c:pt>
                <c:pt idx="213">
                  <c:v>99.952673629566476</c:v>
                </c:pt>
                <c:pt idx="214">
                  <c:v>99.955400012176881</c:v>
                </c:pt>
                <c:pt idx="215">
                  <c:v>99.957975820492635</c:v>
                </c:pt>
                <c:pt idx="216">
                  <c:v>99.96040894926827</c:v>
                </c:pt>
                <c:pt idx="217">
                  <c:v>99.962706906153016</c:v>
                </c:pt>
                <c:pt idx="218">
                  <c:v>99.964876828995003</c:v>
                </c:pt>
                <c:pt idx="219">
                  <c:v>99.966925502475263</c:v>
                </c:pt>
                <c:pt idx="220">
                  <c:v>99.968859374091338</c:v>
                </c:pt>
                <c:pt idx="221">
                  <c:v>99.970684569509586</c:v>
                </c:pt>
                <c:pt idx="222">
                  <c:v>99.972406907305626</c:v>
                </c:pt>
                <c:pt idx="223">
                  <c:v>99.974031913111844</c:v>
                </c:pt>
                <c:pt idx="224">
                  <c:v>99.975564833190688</c:v>
                </c:pt>
                <c:pt idx="225">
                  <c:v>99.977010647452417</c:v>
                </c:pt>
                <c:pt idx="226">
                  <c:v>99.978374081935172</c:v>
                </c:pt>
                <c:pt idx="227">
                  <c:v>99.979659620765631</c:v>
                </c:pt>
                <c:pt idx="228">
                  <c:v>99.980871517617558</c:v>
                </c:pt>
                <c:pt idx="229">
                  <c:v>99.982013806685657</c:v>
                </c:pt>
                <c:pt idx="230">
                  <c:v>99.983090313191454</c:v>
                </c:pt>
                <c:pt idx="231">
                  <c:v>99.984104663437961</c:v>
                </c:pt>
                <c:pt idx="232">
                  <c:v>99.98506029442909</c:v>
                </c:pt>
                <c:pt idx="233">
                  <c:v>99.985960463069588</c:v>
                </c:pt>
                <c:pt idx="234">
                  <c:v>99.986808254961261</c:v>
                </c:pt>
                <c:pt idx="235">
                  <c:v>99.987606592809954</c:v>
                </c:pt>
                <c:pt idx="236">
                  <c:v>99.988358244458425</c:v>
                </c:pt>
                <c:pt idx="237">
                  <c:v>99.989065830559127</c:v>
                </c:pt>
                <c:pt idx="238">
                  <c:v>99.989731831900755</c:v>
                </c:pt>
                <c:pt idx="239">
                  <c:v>99.990358596402103</c:v>
                </c:pt>
                <c:pt idx="240">
                  <c:v>99.990948345786407</c:v>
                </c:pt>
                <c:pt idx="241">
                  <c:v>99.991503181948559</c:v>
                </c:pt>
                <c:pt idx="242">
                  <c:v>99.99202509302792</c:v>
                </c:pt>
                <c:pt idx="243">
                  <c:v>99.992515959198286</c:v>
                </c:pt>
                <c:pt idx="244">
                  <c:v>99.992977558186951</c:v>
                </c:pt>
                <c:pt idx="245">
                  <c:v>99.993411570533624</c:v>
                </c:pt>
                <c:pt idx="246">
                  <c:v>99.993819584600459</c:v>
                </c:pt>
                <c:pt idx="247">
                  <c:v>99.994203101343317</c:v>
                </c:pt>
                <c:pt idx="248">
                  <c:v>99.994563538854607</c:v>
                </c:pt>
                <c:pt idx="249">
                  <c:v>99.994902236687309</c:v>
                </c:pt>
                <c:pt idx="250">
                  <c:v>99.995220459969687</c:v>
                </c:pt>
              </c:numCache>
            </c:numRef>
          </c:yVal>
          <c:smooth val="0"/>
          <c:extLst>
            <c:ext xmlns:c16="http://schemas.microsoft.com/office/drawing/2014/chart" uri="{C3380CC4-5D6E-409C-BE32-E72D297353CC}">
              <c16:uniqueId val="{00000000-7EB4-484F-A5B6-B62B3C5FDBE2}"/>
            </c:ext>
          </c:extLst>
        </c:ser>
        <c:ser>
          <c:idx val="1"/>
          <c:order val="1"/>
          <c:tx>
            <c:strRef>
              <c:f>Sheet1!$B$254</c:f>
              <c:strCache>
                <c:ptCount val="1"/>
                <c:pt idx="0">
                  <c:v>lood 2.0</c:v>
                </c:pt>
              </c:strCache>
            </c:strRef>
          </c:tx>
          <c:spPr>
            <a:ln w="12700">
              <a:solidFill>
                <a:srgbClr val="FF7A00"/>
              </a:solidFill>
              <a:prstDash val="dash"/>
            </a:ln>
          </c:spPr>
          <c:marker>
            <c:symbol val="none"/>
          </c:marker>
          <c:xVal>
            <c:numRef>
              <c:f>Sheet1!$A$255:$A$256</c:f>
              <c:numCache>
                <c:formatCode>General</c:formatCode>
                <c:ptCount val="2"/>
                <c:pt idx="0">
                  <c:v>2</c:v>
                </c:pt>
                <c:pt idx="1">
                  <c:v>2</c:v>
                </c:pt>
              </c:numCache>
            </c:numRef>
          </c:xVal>
          <c:yVal>
            <c:numRef>
              <c:f>Sheet1!$B$255:$B$256</c:f>
              <c:numCache>
                <c:formatCode>General</c:formatCode>
                <c:ptCount val="2"/>
                <c:pt idx="0">
                  <c:v>0</c:v>
                </c:pt>
                <c:pt idx="1">
                  <c:v>52.715027945225536</c:v>
                </c:pt>
              </c:numCache>
            </c:numRef>
          </c:yVal>
          <c:smooth val="0"/>
          <c:extLst>
            <c:ext xmlns:c16="http://schemas.microsoft.com/office/drawing/2014/chart" uri="{C3380CC4-5D6E-409C-BE32-E72D297353CC}">
              <c16:uniqueId val="{00000001-7EB4-484F-A5B6-B62B3C5FDBE2}"/>
            </c:ext>
          </c:extLst>
        </c:ser>
        <c:ser>
          <c:idx val="2"/>
          <c:order val="2"/>
          <c:tx>
            <c:strRef>
              <c:f>Sheet1!$B$258</c:f>
              <c:strCache>
                <c:ptCount val="1"/>
                <c:pt idx="0">
                  <c:v>lood 3.0</c:v>
                </c:pt>
              </c:strCache>
            </c:strRef>
          </c:tx>
          <c:spPr>
            <a:ln w="12700">
              <a:solidFill>
                <a:srgbClr val="1D8DB0"/>
              </a:solidFill>
              <a:prstDash val="dash"/>
            </a:ln>
          </c:spPr>
          <c:marker>
            <c:symbol val="none"/>
          </c:marker>
          <c:xVal>
            <c:numRef>
              <c:f>Sheet1!$A$259:$A$260</c:f>
              <c:numCache>
                <c:formatCode>General</c:formatCode>
                <c:ptCount val="2"/>
                <c:pt idx="0">
                  <c:v>3</c:v>
                </c:pt>
                <c:pt idx="1">
                  <c:v>3</c:v>
                </c:pt>
              </c:numCache>
            </c:numRef>
          </c:xVal>
          <c:yVal>
            <c:numRef>
              <c:f>Sheet1!$B$259:$B$260</c:f>
              <c:numCache>
                <c:formatCode>General</c:formatCode>
                <c:ptCount val="2"/>
                <c:pt idx="0">
                  <c:v>0</c:v>
                </c:pt>
                <c:pt idx="1">
                  <c:v>98.594781428100873</c:v>
                </c:pt>
              </c:numCache>
            </c:numRef>
          </c:yVal>
          <c:smooth val="0"/>
          <c:extLst>
            <c:ext xmlns:c16="http://schemas.microsoft.com/office/drawing/2014/chart" uri="{C3380CC4-5D6E-409C-BE32-E72D297353CC}">
              <c16:uniqueId val="{00000002-7EB4-484F-A5B6-B62B3C5FDBE2}"/>
            </c:ext>
          </c:extLst>
        </c:ser>
        <c:ser>
          <c:idx val="3"/>
          <c:order val="3"/>
          <c:tx>
            <c:strRef>
              <c:f>Sheet1!$B$262</c:f>
              <c:strCache>
                <c:ptCount val="1"/>
                <c:pt idx="0">
                  <c:v>punt 2.0</c:v>
                </c:pt>
              </c:strCache>
            </c:strRef>
          </c:tx>
          <c:spPr>
            <a:ln>
              <a:noFill/>
            </a:ln>
          </c:spPr>
          <c:marker>
            <c:symbol val="circle"/>
            <c:size val="9"/>
            <c:spPr>
              <a:solidFill>
                <a:srgbClr val="FF7A00"/>
              </a:solidFill>
              <a:ln w="19050">
                <a:solidFill>
                  <a:srgbClr val="F2F6F9"/>
                </a:solidFill>
              </a:ln>
            </c:spPr>
          </c:marker>
          <c:xVal>
            <c:numRef>
              <c:f>Sheet1!$A$263:$A$263</c:f>
              <c:numCache>
                <c:formatCode>General</c:formatCode>
                <c:ptCount val="1"/>
                <c:pt idx="0">
                  <c:v>2</c:v>
                </c:pt>
              </c:numCache>
            </c:numRef>
          </c:xVal>
          <c:yVal>
            <c:numRef>
              <c:f>Sheet1!$B$263:$B$263</c:f>
              <c:numCache>
                <c:formatCode>General</c:formatCode>
                <c:ptCount val="1"/>
                <c:pt idx="0">
                  <c:v>52.715027945225536</c:v>
                </c:pt>
              </c:numCache>
            </c:numRef>
          </c:yVal>
          <c:smooth val="0"/>
          <c:extLst>
            <c:ext xmlns:c16="http://schemas.microsoft.com/office/drawing/2014/chart" uri="{C3380CC4-5D6E-409C-BE32-E72D297353CC}">
              <c16:uniqueId val="{00000003-7EB4-484F-A5B6-B62B3C5FDBE2}"/>
            </c:ext>
          </c:extLst>
        </c:ser>
        <c:ser>
          <c:idx val="4"/>
          <c:order val="4"/>
          <c:tx>
            <c:strRef>
              <c:f>Sheet1!$B$265</c:f>
              <c:strCache>
                <c:ptCount val="1"/>
                <c:pt idx="0">
                  <c:v>punt 3.0</c:v>
                </c:pt>
              </c:strCache>
            </c:strRef>
          </c:tx>
          <c:spPr>
            <a:ln>
              <a:noFill/>
            </a:ln>
          </c:spPr>
          <c:marker>
            <c:symbol val="circle"/>
            <c:size val="9"/>
            <c:spPr>
              <a:solidFill>
                <a:srgbClr val="1D8DB0"/>
              </a:solidFill>
              <a:ln w="19050">
                <a:solidFill>
                  <a:srgbClr val="F2F6F9"/>
                </a:solidFill>
              </a:ln>
            </c:spPr>
          </c:marker>
          <c:xVal>
            <c:numRef>
              <c:f>Sheet1!$A$266:$A$266</c:f>
              <c:numCache>
                <c:formatCode>General</c:formatCode>
                <c:ptCount val="1"/>
                <c:pt idx="0">
                  <c:v>3</c:v>
                </c:pt>
              </c:numCache>
            </c:numRef>
          </c:xVal>
          <c:yVal>
            <c:numRef>
              <c:f>Sheet1!$B$266:$B$266</c:f>
              <c:numCache>
                <c:formatCode>General</c:formatCode>
                <c:ptCount val="1"/>
                <c:pt idx="0">
                  <c:v>98.594781428100873</c:v>
                </c:pt>
              </c:numCache>
            </c:numRef>
          </c:yVal>
          <c:smooth val="0"/>
          <c:extLst>
            <c:ext xmlns:c16="http://schemas.microsoft.com/office/drawing/2014/chart" uri="{C3380CC4-5D6E-409C-BE32-E72D297353CC}">
              <c16:uniqueId val="{00000004-7EB4-484F-A5B6-B62B3C5FDBE2}"/>
            </c:ext>
          </c:extLst>
        </c:ser>
        <c:dLbls>
          <c:showLegendKey val="0"/>
          <c:showVal val="0"/>
          <c:showCatName val="0"/>
          <c:showSerName val="0"/>
          <c:showPercent val="0"/>
          <c:showBubbleSize val="0"/>
        </c:dLbls>
        <c:axId val="-2128940872"/>
        <c:axId val="-2129643912"/>
      </c:scatterChart>
      <c:valAx>
        <c:axId val="-2128940872"/>
        <c:scaling>
          <c:orientation val="minMax"/>
          <c:max val="4"/>
          <c:min val="1.5"/>
        </c:scaling>
        <c:delete val="0"/>
        <c:axPos val="b"/>
        <c:numFmt formatCode="0.0" sourceLinked="0"/>
        <c:majorTickMark val="none"/>
        <c:minorTickMark val="none"/>
        <c:tickLblPos val="low"/>
        <c:spPr>
          <a:ln>
            <a:solidFill>
              <a:srgbClr val="D3DFE8"/>
            </a:solidFill>
          </a:ln>
        </c:spPr>
        <c:txPr>
          <a:bodyPr/>
          <a:lstStyle/>
          <a:p>
            <a:pPr>
              <a:defRPr sz="1200" b="0">
                <a:solidFill>
                  <a:srgbClr val="5A6E80"/>
                </a:solidFill>
                <a:latin typeface="Segoe UI"/>
              </a:defRPr>
            </a:pPr>
            <a:endParaRPr lang="nl-BE"/>
          </a:p>
        </c:txPr>
        <c:crossAx val="-2129643912"/>
        <c:crosses val="autoZero"/>
        <c:crossBetween val="midCat"/>
        <c:majorUnit val="0.5"/>
      </c:valAx>
      <c:valAx>
        <c:axId val="-2129643912"/>
        <c:scaling>
          <c:orientation val="minMax"/>
          <c:max val="100"/>
          <c:min val="0"/>
        </c:scaling>
        <c:delete val="0"/>
        <c:axPos val="l"/>
        <c:majorGridlines>
          <c:spPr>
            <a:ln w="9525">
              <a:solidFill>
                <a:srgbClr val="D3DFE8"/>
              </a:solidFill>
            </a:ln>
          </c:spPr>
        </c:majorGridlines>
        <c:numFmt formatCode="0&quot;%&quot;" sourceLinked="0"/>
        <c:majorTickMark val="none"/>
        <c:minorTickMark val="none"/>
        <c:tickLblPos val="nextTo"/>
        <c:spPr>
          <a:ln>
            <a:noFill/>
          </a:ln>
        </c:spPr>
        <c:txPr>
          <a:bodyPr/>
          <a:lstStyle/>
          <a:p>
            <a:pPr>
              <a:defRPr sz="1200" b="0">
                <a:solidFill>
                  <a:srgbClr val="5A6E80"/>
                </a:solidFill>
                <a:latin typeface="Segoe UI"/>
              </a:defRPr>
            </a:pPr>
            <a:endParaRPr lang="nl-BE"/>
          </a:p>
        </c:txPr>
        <c:crossAx val="-2128940872"/>
        <c:crosses val="autoZero"/>
        <c:crossBetween val="midCat"/>
        <c:majorUnit val="20"/>
      </c:valAx>
      <c:spPr>
        <a:noFill/>
        <a:ln>
          <a:noFill/>
        </a:ln>
      </c:spPr>
    </c:plotArea>
    <c:plotVisOnly val="1"/>
    <c:dispBlanksAs val="gap"/>
    <c:showDLblsOverMax val="0"/>
  </c:chart>
  <c:spPr>
    <a:noFill/>
    <a:ln>
      <a:noFill/>
    </a:ln>
  </c:spPr>
  <c:txPr>
    <a:bodyPr/>
    <a:lstStyle/>
    <a:p>
      <a:pPr>
        <a:defRPr sz="1200">
          <a:solidFill>
            <a:srgbClr val="5A6E80"/>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1"/>
  <c:style val="2"/>
  <c:chart>
    <c:autoTitleDeleted val="0"/>
    <c:plotArea>
      <c:layout/>
      <c:barChart>
        <c:barDir val="col"/>
        <c:grouping val="stacked"/>
        <c:varyColors val="1"/>
        <c:ser>
          <c:idx val="0"/>
          <c:order val="0"/>
          <c:tx>
            <c:strRef>
              <c:f>Sheet1!$B$1</c:f>
              <c:strCache>
                <c:ptCount val="1"/>
                <c:pt idx="0">
                  <c:v>Visite 1</c:v>
                </c:pt>
              </c:strCache>
            </c:strRef>
          </c:tx>
          <c:spPr>
            <a:solidFill>
              <a:srgbClr val="FF7A00"/>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Sheet1!$B$2:$B$41</c:f>
              <c:numCache>
                <c:formatCode>General</c:formatCode>
                <c:ptCount val="40"/>
                <c:pt idx="0">
                  <c:v>6</c:v>
                </c:pt>
                <c:pt idx="1">
                  <c:v>6.1</c:v>
                </c:pt>
                <c:pt idx="2">
                  <c:v>6</c:v>
                </c:pt>
                <c:pt idx="3">
                  <c:v>6</c:v>
                </c:pt>
                <c:pt idx="4">
                  <c:v>5.9</c:v>
                </c:pt>
                <c:pt idx="5">
                  <c:v>5.7</c:v>
                </c:pt>
                <c:pt idx="6">
                  <c:v>4.9000000000000004</c:v>
                </c:pt>
                <c:pt idx="7">
                  <c:v>3.6</c:v>
                </c:pt>
                <c:pt idx="8">
                  <c:v>2.1</c:v>
                </c:pt>
                <c:pt idx="9">
                  <c:v>1</c:v>
                </c:pt>
                <c:pt idx="10">
                  <c:v>0.5</c:v>
                </c:pt>
                <c:pt idx="11">
                  <c:v>0.2</c:v>
                </c:pt>
                <c:pt idx="12">
                  <c:v>0.1</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6613-447A-A7FC-BC5B6B56665F}"/>
            </c:ext>
          </c:extLst>
        </c:ser>
        <c:ser>
          <c:idx val="1"/>
          <c:order val="1"/>
          <c:tx>
            <c:strRef>
              <c:f>Sheet1!$C$1</c:f>
              <c:strCache>
                <c:ptCount val="1"/>
                <c:pt idx="0">
                  <c:v>Visite 2</c:v>
                </c:pt>
              </c:strCache>
            </c:strRef>
          </c:tx>
          <c:spPr>
            <a:solidFill>
              <a:srgbClr val="FFB15C"/>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Sheet1!$C$2:$C$41</c:f>
              <c:numCache>
                <c:formatCode>General</c:formatCode>
                <c:ptCount val="40"/>
                <c:pt idx="0">
                  <c:v>1.3</c:v>
                </c:pt>
                <c:pt idx="1">
                  <c:v>4.5</c:v>
                </c:pt>
                <c:pt idx="2">
                  <c:v>4.5</c:v>
                </c:pt>
                <c:pt idx="3">
                  <c:v>4.5</c:v>
                </c:pt>
                <c:pt idx="4">
                  <c:v>4.5</c:v>
                </c:pt>
                <c:pt idx="5">
                  <c:v>4.4000000000000004</c:v>
                </c:pt>
                <c:pt idx="6">
                  <c:v>4.0999999999999996</c:v>
                </c:pt>
                <c:pt idx="7">
                  <c:v>3.4</c:v>
                </c:pt>
                <c:pt idx="8">
                  <c:v>2.4</c:v>
                </c:pt>
                <c:pt idx="9">
                  <c:v>1.3</c:v>
                </c:pt>
                <c:pt idx="10">
                  <c:v>0.6</c:v>
                </c:pt>
                <c:pt idx="11">
                  <c:v>0.3</c:v>
                </c:pt>
                <c:pt idx="12">
                  <c:v>0.1</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6613-447A-A7FC-BC5B6B56665F}"/>
            </c:ext>
          </c:extLst>
        </c:ser>
        <c:ser>
          <c:idx val="2"/>
          <c:order val="2"/>
          <c:tx>
            <c:strRef>
              <c:f>Sheet1!$D$1</c:f>
              <c:strCache>
                <c:ptCount val="1"/>
                <c:pt idx="0">
                  <c:v>Maand 3</c:v>
                </c:pt>
              </c:strCache>
            </c:strRef>
          </c:tx>
          <c:spPr>
            <a:solidFill>
              <a:srgbClr val="1F6FA0"/>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Sheet1!$D$2:$D$41</c:f>
              <c:numCache>
                <c:formatCode>General</c:formatCode>
                <c:ptCount val="40"/>
                <c:pt idx="0">
                  <c:v>0</c:v>
                </c:pt>
                <c:pt idx="1">
                  <c:v>0</c:v>
                </c:pt>
                <c:pt idx="2">
                  <c:v>0.1</c:v>
                </c:pt>
                <c:pt idx="3">
                  <c:v>4.5</c:v>
                </c:pt>
                <c:pt idx="4">
                  <c:v>4.5999999999999996</c:v>
                </c:pt>
                <c:pt idx="5">
                  <c:v>4.5</c:v>
                </c:pt>
                <c:pt idx="6">
                  <c:v>4.5</c:v>
                </c:pt>
                <c:pt idx="7">
                  <c:v>4.4000000000000004</c:v>
                </c:pt>
                <c:pt idx="8">
                  <c:v>4.2</c:v>
                </c:pt>
                <c:pt idx="9">
                  <c:v>3.6</c:v>
                </c:pt>
                <c:pt idx="10">
                  <c:v>2.7</c:v>
                </c:pt>
                <c:pt idx="11">
                  <c:v>1.6</c:v>
                </c:pt>
                <c:pt idx="12">
                  <c:v>0.8</c:v>
                </c:pt>
                <c:pt idx="13">
                  <c:v>0.3</c:v>
                </c:pt>
                <c:pt idx="14">
                  <c:v>0.1</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6613-447A-A7FC-BC5B6B56665F}"/>
            </c:ext>
          </c:extLst>
        </c:ser>
        <c:ser>
          <c:idx val="3"/>
          <c:order val="3"/>
          <c:tx>
            <c:strRef>
              <c:f>Sheet1!$E$1</c:f>
              <c:strCache>
                <c:ptCount val="1"/>
                <c:pt idx="0">
                  <c:v>Maand 6</c:v>
                </c:pt>
              </c:strCache>
            </c:strRef>
          </c:tx>
          <c:spPr>
            <a:solidFill>
              <a:srgbClr val="2A8CC0"/>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Sheet1!$E$2:$E$41</c:f>
              <c:numCache>
                <c:formatCode>General</c:formatCode>
                <c:ptCount val="40"/>
                <c:pt idx="0">
                  <c:v>0</c:v>
                </c:pt>
                <c:pt idx="1">
                  <c:v>0</c:v>
                </c:pt>
                <c:pt idx="2">
                  <c:v>0</c:v>
                </c:pt>
                <c:pt idx="3">
                  <c:v>0</c:v>
                </c:pt>
                <c:pt idx="4">
                  <c:v>0</c:v>
                </c:pt>
                <c:pt idx="5">
                  <c:v>0.1</c:v>
                </c:pt>
                <c:pt idx="6">
                  <c:v>4.5</c:v>
                </c:pt>
                <c:pt idx="7">
                  <c:v>4.5999999999999996</c:v>
                </c:pt>
                <c:pt idx="8">
                  <c:v>4.5</c:v>
                </c:pt>
                <c:pt idx="9">
                  <c:v>4.5</c:v>
                </c:pt>
                <c:pt idx="10">
                  <c:v>4.4000000000000004</c:v>
                </c:pt>
                <c:pt idx="11">
                  <c:v>4.2</c:v>
                </c:pt>
                <c:pt idx="12">
                  <c:v>3.6</c:v>
                </c:pt>
                <c:pt idx="13">
                  <c:v>2.7</c:v>
                </c:pt>
                <c:pt idx="14">
                  <c:v>1.6</c:v>
                </c:pt>
                <c:pt idx="15">
                  <c:v>0.8</c:v>
                </c:pt>
                <c:pt idx="16">
                  <c:v>0.3</c:v>
                </c:pt>
                <c:pt idx="17">
                  <c:v>0.1</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6613-447A-A7FC-BC5B6B56665F}"/>
            </c:ext>
          </c:extLst>
        </c:ser>
        <c:ser>
          <c:idx val="4"/>
          <c:order val="4"/>
          <c:tx>
            <c:strRef>
              <c:f>Sheet1!$F$1</c:f>
              <c:strCache>
                <c:ptCount val="1"/>
                <c:pt idx="0">
                  <c:v>Maand 9</c:v>
                </c:pt>
              </c:strCache>
            </c:strRef>
          </c:tx>
          <c:spPr>
            <a:solidFill>
              <a:srgbClr val="45A9DB"/>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Sheet1!$F$2:$F$41</c:f>
              <c:numCache>
                <c:formatCode>General</c:formatCode>
                <c:ptCount val="40"/>
                <c:pt idx="0">
                  <c:v>0</c:v>
                </c:pt>
                <c:pt idx="1">
                  <c:v>0</c:v>
                </c:pt>
                <c:pt idx="2">
                  <c:v>0</c:v>
                </c:pt>
                <c:pt idx="3">
                  <c:v>0</c:v>
                </c:pt>
                <c:pt idx="4">
                  <c:v>0</c:v>
                </c:pt>
                <c:pt idx="5">
                  <c:v>0</c:v>
                </c:pt>
                <c:pt idx="6">
                  <c:v>0</c:v>
                </c:pt>
                <c:pt idx="7">
                  <c:v>0</c:v>
                </c:pt>
                <c:pt idx="8">
                  <c:v>0.1</c:v>
                </c:pt>
                <c:pt idx="9">
                  <c:v>4.5</c:v>
                </c:pt>
                <c:pt idx="10">
                  <c:v>4.5999999999999996</c:v>
                </c:pt>
                <c:pt idx="11">
                  <c:v>4.5</c:v>
                </c:pt>
                <c:pt idx="12">
                  <c:v>4.5</c:v>
                </c:pt>
                <c:pt idx="13">
                  <c:v>4.4000000000000004</c:v>
                </c:pt>
                <c:pt idx="14">
                  <c:v>4.2</c:v>
                </c:pt>
                <c:pt idx="15">
                  <c:v>3.6</c:v>
                </c:pt>
                <c:pt idx="16">
                  <c:v>2.7</c:v>
                </c:pt>
                <c:pt idx="17">
                  <c:v>1.6</c:v>
                </c:pt>
                <c:pt idx="18">
                  <c:v>0.8</c:v>
                </c:pt>
                <c:pt idx="19">
                  <c:v>0.3</c:v>
                </c:pt>
                <c:pt idx="20">
                  <c:v>0.1</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4-6613-447A-A7FC-BC5B6B56665F}"/>
            </c:ext>
          </c:extLst>
        </c:ser>
        <c:ser>
          <c:idx val="5"/>
          <c:order val="5"/>
          <c:tx>
            <c:strRef>
              <c:f>Sheet1!$G$1</c:f>
              <c:strCache>
                <c:ptCount val="1"/>
                <c:pt idx="0">
                  <c:v>Maand 12</c:v>
                </c:pt>
              </c:strCache>
            </c:strRef>
          </c:tx>
          <c:spPr>
            <a:solidFill>
              <a:srgbClr val="6CC2EC"/>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Sheet1!$G$2:$G$41</c:f>
              <c:numCache>
                <c:formatCode>General</c:formatCode>
                <c:ptCount val="40"/>
                <c:pt idx="0">
                  <c:v>0</c:v>
                </c:pt>
                <c:pt idx="1">
                  <c:v>0</c:v>
                </c:pt>
                <c:pt idx="2">
                  <c:v>0</c:v>
                </c:pt>
                <c:pt idx="3">
                  <c:v>0</c:v>
                </c:pt>
                <c:pt idx="4">
                  <c:v>0</c:v>
                </c:pt>
                <c:pt idx="5">
                  <c:v>0</c:v>
                </c:pt>
                <c:pt idx="6">
                  <c:v>0</c:v>
                </c:pt>
                <c:pt idx="7">
                  <c:v>0</c:v>
                </c:pt>
                <c:pt idx="8">
                  <c:v>0</c:v>
                </c:pt>
                <c:pt idx="9">
                  <c:v>0</c:v>
                </c:pt>
                <c:pt idx="10">
                  <c:v>0</c:v>
                </c:pt>
                <c:pt idx="11">
                  <c:v>0</c:v>
                </c:pt>
                <c:pt idx="12">
                  <c:v>4.5</c:v>
                </c:pt>
                <c:pt idx="13">
                  <c:v>4.5999999999999996</c:v>
                </c:pt>
                <c:pt idx="14">
                  <c:v>4.5</c:v>
                </c:pt>
                <c:pt idx="15">
                  <c:v>4.5</c:v>
                </c:pt>
                <c:pt idx="16">
                  <c:v>4.4000000000000004</c:v>
                </c:pt>
                <c:pt idx="17">
                  <c:v>4.2</c:v>
                </c:pt>
                <c:pt idx="18">
                  <c:v>3.7</c:v>
                </c:pt>
                <c:pt idx="19">
                  <c:v>2.7</c:v>
                </c:pt>
                <c:pt idx="20">
                  <c:v>1.6</c:v>
                </c:pt>
                <c:pt idx="21">
                  <c:v>0.8</c:v>
                </c:pt>
                <c:pt idx="22">
                  <c:v>0.3</c:v>
                </c:pt>
                <c:pt idx="23">
                  <c:v>0.1</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6613-447A-A7FC-BC5B6B56665F}"/>
            </c:ext>
          </c:extLst>
        </c:ser>
        <c:ser>
          <c:idx val="6"/>
          <c:order val="6"/>
          <c:tx>
            <c:strRef>
              <c:f>Sheet1!$H$1</c:f>
              <c:strCache>
                <c:ptCount val="1"/>
                <c:pt idx="0">
                  <c:v>Maand 15</c:v>
                </c:pt>
              </c:strCache>
            </c:strRef>
          </c:tx>
          <c:spPr>
            <a:solidFill>
              <a:srgbClr val="97D5F2"/>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Sheet1!$H$2:$H$41</c:f>
              <c:numCache>
                <c:formatCode>General</c:formatCode>
                <c:ptCount val="4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0.1</c:v>
                </c:pt>
                <c:pt idx="15">
                  <c:v>4.5</c:v>
                </c:pt>
                <c:pt idx="16">
                  <c:v>4.5999999999999996</c:v>
                </c:pt>
                <c:pt idx="17">
                  <c:v>4.5</c:v>
                </c:pt>
                <c:pt idx="18">
                  <c:v>4.5</c:v>
                </c:pt>
                <c:pt idx="19">
                  <c:v>4.4000000000000004</c:v>
                </c:pt>
                <c:pt idx="20">
                  <c:v>4.2</c:v>
                </c:pt>
                <c:pt idx="21">
                  <c:v>3.6</c:v>
                </c:pt>
                <c:pt idx="22">
                  <c:v>2.7</c:v>
                </c:pt>
                <c:pt idx="23">
                  <c:v>1.6</c:v>
                </c:pt>
                <c:pt idx="24">
                  <c:v>0.8</c:v>
                </c:pt>
                <c:pt idx="25">
                  <c:v>0.3</c:v>
                </c:pt>
                <c:pt idx="26">
                  <c:v>0.1</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6613-447A-A7FC-BC5B6B56665F}"/>
            </c:ext>
          </c:extLst>
        </c:ser>
        <c:ser>
          <c:idx val="7"/>
          <c:order val="7"/>
          <c:tx>
            <c:strRef>
              <c:f>Sheet1!$I$1</c:f>
              <c:strCache>
                <c:ptCount val="1"/>
                <c:pt idx="0">
                  <c:v>Maand 18</c:v>
                </c:pt>
              </c:strCache>
            </c:strRef>
          </c:tx>
          <c:spPr>
            <a:solidFill>
              <a:srgbClr val="C4E8F8"/>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Sheet1!$I$2:$I$41</c:f>
              <c:numCache>
                <c:formatCode>General</c:formatCode>
                <c:ptCount val="4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0.1</c:v>
                </c:pt>
                <c:pt idx="18">
                  <c:v>4.5</c:v>
                </c:pt>
                <c:pt idx="19">
                  <c:v>4.5999999999999996</c:v>
                </c:pt>
                <c:pt idx="20">
                  <c:v>4.5</c:v>
                </c:pt>
                <c:pt idx="21">
                  <c:v>4.5</c:v>
                </c:pt>
                <c:pt idx="22">
                  <c:v>4.4000000000000004</c:v>
                </c:pt>
                <c:pt idx="23">
                  <c:v>4.2</c:v>
                </c:pt>
                <c:pt idx="24">
                  <c:v>3.6</c:v>
                </c:pt>
                <c:pt idx="25">
                  <c:v>2.7</c:v>
                </c:pt>
                <c:pt idx="26">
                  <c:v>1.6</c:v>
                </c:pt>
                <c:pt idx="27">
                  <c:v>0.8</c:v>
                </c:pt>
                <c:pt idx="28">
                  <c:v>0.3</c:v>
                </c:pt>
                <c:pt idx="29">
                  <c:v>0.1</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7-6613-447A-A7FC-BC5B6B56665F}"/>
            </c:ext>
          </c:extLst>
        </c:ser>
        <c:dLbls>
          <c:showLegendKey val="0"/>
          <c:showVal val="0"/>
          <c:showCatName val="0"/>
          <c:showSerName val="0"/>
          <c:showPercent val="0"/>
          <c:showBubbleSize val="0"/>
        </c:dLbls>
        <c:gapWidth val="20"/>
        <c:overlap val="100"/>
        <c:axId val="-2068027336"/>
        <c:axId val="-2113994440"/>
      </c:barChart>
      <c:catAx>
        <c:axId val="-2068027336"/>
        <c:scaling>
          <c:orientation val="minMax"/>
        </c:scaling>
        <c:delete val="0"/>
        <c:axPos val="b"/>
        <c:numFmt formatCode="General" sourceLinked="0"/>
        <c:majorTickMark val="none"/>
        <c:minorTickMark val="none"/>
        <c:tickLblPos val="low"/>
        <c:spPr>
          <a:ln>
            <a:solidFill>
              <a:srgbClr val="D3DFE8"/>
            </a:solidFill>
          </a:ln>
        </c:spPr>
        <c:txPr>
          <a:bodyPr/>
          <a:lstStyle/>
          <a:p>
            <a:pPr>
              <a:defRPr sz="1200" b="0">
                <a:solidFill>
                  <a:srgbClr val="5A6E80"/>
                </a:solidFill>
                <a:latin typeface="Segoe UI"/>
              </a:defRPr>
            </a:pPr>
            <a:endParaRPr lang="nl-BE"/>
          </a:p>
        </c:txPr>
        <c:crossAx val="-2113994440"/>
        <c:crosses val="autoZero"/>
        <c:auto val="1"/>
        <c:lblAlgn val="ctr"/>
        <c:lblOffset val="100"/>
        <c:tickLblSkip val="1"/>
        <c:noMultiLvlLbl val="0"/>
      </c:catAx>
      <c:valAx>
        <c:axId val="-2113994440"/>
        <c:scaling>
          <c:orientation val="minMax"/>
          <c:max val="20"/>
          <c:min val="0"/>
        </c:scaling>
        <c:delete val="0"/>
        <c:axPos val="l"/>
        <c:majorGridlines>
          <c:spPr>
            <a:ln w="9525">
              <a:solidFill>
                <a:srgbClr val="D3DFE8"/>
              </a:solidFill>
            </a:ln>
          </c:spPr>
        </c:majorGridlines>
        <c:numFmt formatCode="General" sourceLinked="1"/>
        <c:majorTickMark val="none"/>
        <c:minorTickMark val="none"/>
        <c:tickLblPos val="nextTo"/>
        <c:spPr>
          <a:ln>
            <a:noFill/>
          </a:ln>
        </c:spPr>
        <c:txPr>
          <a:bodyPr/>
          <a:lstStyle/>
          <a:p>
            <a:pPr>
              <a:defRPr sz="1200" b="0">
                <a:solidFill>
                  <a:srgbClr val="5A6E80"/>
                </a:solidFill>
                <a:latin typeface="Segoe UI"/>
              </a:defRPr>
            </a:pPr>
            <a:endParaRPr lang="nl-BE"/>
          </a:p>
        </c:txPr>
        <c:crossAx val="-2068027336"/>
        <c:crosses val="autoZero"/>
        <c:crossBetween val="between"/>
        <c:majorUnit val="5"/>
      </c:valAx>
      <c:spPr>
        <a:noFill/>
        <a:ln>
          <a:noFill/>
        </a:ln>
      </c:spPr>
    </c:plotArea>
    <c:plotVisOnly val="1"/>
    <c:dispBlanksAs val="gap"/>
    <c:showDLblsOverMax val="1"/>
  </c:chart>
  <c:spPr>
    <a:noFill/>
    <a:ln>
      <a:noFill/>
    </a:ln>
  </c:spPr>
  <c:txPr>
    <a:bodyPr/>
    <a:lstStyle/>
    <a:p>
      <a:pPr>
        <a:defRPr sz="1200">
          <a:solidFill>
            <a:srgbClr val="5A6E80"/>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1"/>
  <c:style val="2"/>
  <c:chart>
    <c:autoTitleDeleted val="0"/>
    <c:plotArea>
      <c:layout/>
      <c:barChart>
        <c:barDir val="col"/>
        <c:grouping val="stacked"/>
        <c:varyColors val="1"/>
        <c:ser>
          <c:idx val="0"/>
          <c:order val="0"/>
          <c:tx>
            <c:strRef>
              <c:f>Sheet1!$B$1</c:f>
              <c:strCache>
                <c:ptCount val="1"/>
                <c:pt idx="0">
                  <c:v>Visite 1</c:v>
                </c:pt>
              </c:strCache>
            </c:strRef>
          </c:tx>
          <c:spPr>
            <a:solidFill>
              <a:srgbClr val="FF7A00"/>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Sheet1!$B$2:$B$41</c:f>
              <c:numCache>
                <c:formatCode>General</c:formatCode>
                <c:ptCount val="40"/>
                <c:pt idx="0">
                  <c:v>4</c:v>
                </c:pt>
                <c:pt idx="1">
                  <c:v>4.0999999999999996</c:v>
                </c:pt>
                <c:pt idx="2">
                  <c:v>4</c:v>
                </c:pt>
                <c:pt idx="3">
                  <c:v>4</c:v>
                </c:pt>
                <c:pt idx="4">
                  <c:v>4</c:v>
                </c:pt>
                <c:pt idx="5">
                  <c:v>4</c:v>
                </c:pt>
                <c:pt idx="6">
                  <c:v>4</c:v>
                </c:pt>
                <c:pt idx="7">
                  <c:v>3.9</c:v>
                </c:pt>
                <c:pt idx="8">
                  <c:v>3.7</c:v>
                </c:pt>
                <c:pt idx="9">
                  <c:v>3.4</c:v>
                </c:pt>
                <c:pt idx="10">
                  <c:v>2.9</c:v>
                </c:pt>
                <c:pt idx="11">
                  <c:v>2.2000000000000002</c:v>
                </c:pt>
                <c:pt idx="12">
                  <c:v>1.5</c:v>
                </c:pt>
                <c:pt idx="13">
                  <c:v>1</c:v>
                </c:pt>
                <c:pt idx="14">
                  <c:v>0.6</c:v>
                </c:pt>
                <c:pt idx="15">
                  <c:v>0.4</c:v>
                </c:pt>
                <c:pt idx="16">
                  <c:v>0.2</c:v>
                </c:pt>
                <c:pt idx="17">
                  <c:v>0.1</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EEDB-44E0-BED0-3CA1ED24E3E9}"/>
            </c:ext>
          </c:extLst>
        </c:ser>
        <c:ser>
          <c:idx val="1"/>
          <c:order val="1"/>
          <c:tx>
            <c:strRef>
              <c:f>Sheet1!$C$1</c:f>
              <c:strCache>
                <c:ptCount val="1"/>
                <c:pt idx="0">
                  <c:v>Visite 2</c:v>
                </c:pt>
              </c:strCache>
            </c:strRef>
          </c:tx>
          <c:spPr>
            <a:solidFill>
              <a:srgbClr val="FFB15C"/>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Sheet1!$C$2:$C$41</c:f>
              <c:numCache>
                <c:formatCode>General</c:formatCode>
                <c:ptCount val="40"/>
                <c:pt idx="0">
                  <c:v>0.8</c:v>
                </c:pt>
                <c:pt idx="1">
                  <c:v>3</c:v>
                </c:pt>
                <c:pt idx="2">
                  <c:v>3</c:v>
                </c:pt>
                <c:pt idx="3">
                  <c:v>3</c:v>
                </c:pt>
                <c:pt idx="4">
                  <c:v>3</c:v>
                </c:pt>
                <c:pt idx="5">
                  <c:v>3</c:v>
                </c:pt>
                <c:pt idx="6">
                  <c:v>3</c:v>
                </c:pt>
                <c:pt idx="7">
                  <c:v>3</c:v>
                </c:pt>
                <c:pt idx="8">
                  <c:v>2.9</c:v>
                </c:pt>
                <c:pt idx="9">
                  <c:v>2.8</c:v>
                </c:pt>
                <c:pt idx="10">
                  <c:v>2.4</c:v>
                </c:pt>
                <c:pt idx="11">
                  <c:v>2</c:v>
                </c:pt>
                <c:pt idx="12">
                  <c:v>1.5</c:v>
                </c:pt>
                <c:pt idx="13">
                  <c:v>1</c:v>
                </c:pt>
                <c:pt idx="14">
                  <c:v>0.7</c:v>
                </c:pt>
                <c:pt idx="15">
                  <c:v>0.4</c:v>
                </c:pt>
                <c:pt idx="16">
                  <c:v>0.2</c:v>
                </c:pt>
                <c:pt idx="17">
                  <c:v>0.1</c:v>
                </c:pt>
                <c:pt idx="18">
                  <c:v>0.1</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EEDB-44E0-BED0-3CA1ED24E3E9}"/>
            </c:ext>
          </c:extLst>
        </c:ser>
        <c:ser>
          <c:idx val="2"/>
          <c:order val="2"/>
          <c:tx>
            <c:strRef>
              <c:f>Sheet1!$D$1</c:f>
              <c:strCache>
                <c:ptCount val="1"/>
                <c:pt idx="0">
                  <c:v>Maand 3</c:v>
                </c:pt>
              </c:strCache>
            </c:strRef>
          </c:tx>
          <c:spPr>
            <a:solidFill>
              <a:srgbClr val="1F6FA0"/>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Sheet1!$D$2:$D$41</c:f>
              <c:numCache>
                <c:formatCode>General</c:formatCode>
                <c:ptCount val="40"/>
                <c:pt idx="0">
                  <c:v>0</c:v>
                </c:pt>
                <c:pt idx="1">
                  <c:v>0</c:v>
                </c:pt>
                <c:pt idx="2">
                  <c:v>0</c:v>
                </c:pt>
                <c:pt idx="3">
                  <c:v>3</c:v>
                </c:pt>
                <c:pt idx="4">
                  <c:v>3.1</c:v>
                </c:pt>
                <c:pt idx="5">
                  <c:v>3</c:v>
                </c:pt>
                <c:pt idx="6">
                  <c:v>3</c:v>
                </c:pt>
                <c:pt idx="7">
                  <c:v>3</c:v>
                </c:pt>
                <c:pt idx="8">
                  <c:v>3</c:v>
                </c:pt>
                <c:pt idx="9">
                  <c:v>3</c:v>
                </c:pt>
                <c:pt idx="10">
                  <c:v>2.9</c:v>
                </c:pt>
                <c:pt idx="11">
                  <c:v>2.8</c:v>
                </c:pt>
                <c:pt idx="12">
                  <c:v>2.6</c:v>
                </c:pt>
                <c:pt idx="13">
                  <c:v>2.1</c:v>
                </c:pt>
                <c:pt idx="14">
                  <c:v>1.7</c:v>
                </c:pt>
                <c:pt idx="15">
                  <c:v>1.1000000000000001</c:v>
                </c:pt>
                <c:pt idx="16">
                  <c:v>0.8</c:v>
                </c:pt>
                <c:pt idx="17">
                  <c:v>0.5</c:v>
                </c:pt>
                <c:pt idx="18">
                  <c:v>0.3</c:v>
                </c:pt>
                <c:pt idx="19">
                  <c:v>0.1</c:v>
                </c:pt>
                <c:pt idx="20">
                  <c:v>0.1</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EEDB-44E0-BED0-3CA1ED24E3E9}"/>
            </c:ext>
          </c:extLst>
        </c:ser>
        <c:ser>
          <c:idx val="3"/>
          <c:order val="3"/>
          <c:tx>
            <c:strRef>
              <c:f>Sheet1!$E$1</c:f>
              <c:strCache>
                <c:ptCount val="1"/>
                <c:pt idx="0">
                  <c:v>Maand 6</c:v>
                </c:pt>
              </c:strCache>
            </c:strRef>
          </c:tx>
          <c:spPr>
            <a:solidFill>
              <a:srgbClr val="2A8CC0"/>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Sheet1!$E$2:$E$41</c:f>
              <c:numCache>
                <c:formatCode>General</c:formatCode>
                <c:ptCount val="40"/>
                <c:pt idx="0">
                  <c:v>0</c:v>
                </c:pt>
                <c:pt idx="1">
                  <c:v>0</c:v>
                </c:pt>
                <c:pt idx="2">
                  <c:v>0</c:v>
                </c:pt>
                <c:pt idx="3">
                  <c:v>0</c:v>
                </c:pt>
                <c:pt idx="4">
                  <c:v>0</c:v>
                </c:pt>
                <c:pt idx="5">
                  <c:v>0.1</c:v>
                </c:pt>
                <c:pt idx="6">
                  <c:v>3</c:v>
                </c:pt>
                <c:pt idx="7">
                  <c:v>3.1</c:v>
                </c:pt>
                <c:pt idx="8">
                  <c:v>3</c:v>
                </c:pt>
                <c:pt idx="9">
                  <c:v>3</c:v>
                </c:pt>
                <c:pt idx="10">
                  <c:v>3</c:v>
                </c:pt>
                <c:pt idx="11">
                  <c:v>3</c:v>
                </c:pt>
                <c:pt idx="12">
                  <c:v>3</c:v>
                </c:pt>
                <c:pt idx="13">
                  <c:v>2.9</c:v>
                </c:pt>
                <c:pt idx="14">
                  <c:v>2.8</c:v>
                </c:pt>
                <c:pt idx="15">
                  <c:v>2.6</c:v>
                </c:pt>
                <c:pt idx="16">
                  <c:v>2.1</c:v>
                </c:pt>
                <c:pt idx="17">
                  <c:v>1.7</c:v>
                </c:pt>
                <c:pt idx="18">
                  <c:v>1.1000000000000001</c:v>
                </c:pt>
                <c:pt idx="19">
                  <c:v>0.8</c:v>
                </c:pt>
                <c:pt idx="20">
                  <c:v>0.5</c:v>
                </c:pt>
                <c:pt idx="21">
                  <c:v>0.3</c:v>
                </c:pt>
                <c:pt idx="22">
                  <c:v>0.1</c:v>
                </c:pt>
                <c:pt idx="23">
                  <c:v>0.1</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EEDB-44E0-BED0-3CA1ED24E3E9}"/>
            </c:ext>
          </c:extLst>
        </c:ser>
        <c:ser>
          <c:idx val="4"/>
          <c:order val="4"/>
          <c:tx>
            <c:strRef>
              <c:f>Sheet1!$F$1</c:f>
              <c:strCache>
                <c:ptCount val="1"/>
                <c:pt idx="0">
                  <c:v>Maand 9</c:v>
                </c:pt>
              </c:strCache>
            </c:strRef>
          </c:tx>
          <c:spPr>
            <a:solidFill>
              <a:srgbClr val="45A9DB"/>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Sheet1!$F$2:$F$41</c:f>
              <c:numCache>
                <c:formatCode>General</c:formatCode>
                <c:ptCount val="40"/>
                <c:pt idx="0">
                  <c:v>0</c:v>
                </c:pt>
                <c:pt idx="1">
                  <c:v>0</c:v>
                </c:pt>
                <c:pt idx="2">
                  <c:v>0</c:v>
                </c:pt>
                <c:pt idx="3">
                  <c:v>0</c:v>
                </c:pt>
                <c:pt idx="4">
                  <c:v>0</c:v>
                </c:pt>
                <c:pt idx="5">
                  <c:v>0</c:v>
                </c:pt>
                <c:pt idx="6">
                  <c:v>0</c:v>
                </c:pt>
                <c:pt idx="7">
                  <c:v>0</c:v>
                </c:pt>
                <c:pt idx="8">
                  <c:v>0.1</c:v>
                </c:pt>
                <c:pt idx="9">
                  <c:v>3</c:v>
                </c:pt>
                <c:pt idx="10">
                  <c:v>3.1</c:v>
                </c:pt>
                <c:pt idx="11">
                  <c:v>3</c:v>
                </c:pt>
                <c:pt idx="12">
                  <c:v>3</c:v>
                </c:pt>
                <c:pt idx="13">
                  <c:v>3</c:v>
                </c:pt>
                <c:pt idx="14">
                  <c:v>3</c:v>
                </c:pt>
                <c:pt idx="15">
                  <c:v>3</c:v>
                </c:pt>
                <c:pt idx="16">
                  <c:v>2.9</c:v>
                </c:pt>
                <c:pt idx="17">
                  <c:v>2.8</c:v>
                </c:pt>
                <c:pt idx="18">
                  <c:v>2.5</c:v>
                </c:pt>
                <c:pt idx="19">
                  <c:v>2.1</c:v>
                </c:pt>
                <c:pt idx="20">
                  <c:v>1.6</c:v>
                </c:pt>
                <c:pt idx="21">
                  <c:v>1.1000000000000001</c:v>
                </c:pt>
                <c:pt idx="22">
                  <c:v>0.8</c:v>
                </c:pt>
                <c:pt idx="23">
                  <c:v>0.5</c:v>
                </c:pt>
                <c:pt idx="24">
                  <c:v>0.3</c:v>
                </c:pt>
                <c:pt idx="25">
                  <c:v>0.1</c:v>
                </c:pt>
                <c:pt idx="26">
                  <c:v>0.1</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4-EEDB-44E0-BED0-3CA1ED24E3E9}"/>
            </c:ext>
          </c:extLst>
        </c:ser>
        <c:ser>
          <c:idx val="5"/>
          <c:order val="5"/>
          <c:tx>
            <c:strRef>
              <c:f>Sheet1!$G$1</c:f>
              <c:strCache>
                <c:ptCount val="1"/>
                <c:pt idx="0">
                  <c:v>Maand 12</c:v>
                </c:pt>
              </c:strCache>
            </c:strRef>
          </c:tx>
          <c:spPr>
            <a:solidFill>
              <a:srgbClr val="6CC2EC"/>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Sheet1!$G$2:$G$41</c:f>
              <c:numCache>
                <c:formatCode>General</c:formatCode>
                <c:ptCount val="40"/>
                <c:pt idx="0">
                  <c:v>0</c:v>
                </c:pt>
                <c:pt idx="1">
                  <c:v>0</c:v>
                </c:pt>
                <c:pt idx="2">
                  <c:v>0</c:v>
                </c:pt>
                <c:pt idx="3">
                  <c:v>0</c:v>
                </c:pt>
                <c:pt idx="4">
                  <c:v>0</c:v>
                </c:pt>
                <c:pt idx="5">
                  <c:v>0</c:v>
                </c:pt>
                <c:pt idx="6">
                  <c:v>0</c:v>
                </c:pt>
                <c:pt idx="7">
                  <c:v>0</c:v>
                </c:pt>
                <c:pt idx="8">
                  <c:v>0</c:v>
                </c:pt>
                <c:pt idx="9">
                  <c:v>0</c:v>
                </c:pt>
                <c:pt idx="10">
                  <c:v>0</c:v>
                </c:pt>
                <c:pt idx="11">
                  <c:v>0</c:v>
                </c:pt>
                <c:pt idx="12">
                  <c:v>3</c:v>
                </c:pt>
                <c:pt idx="13">
                  <c:v>3.1</c:v>
                </c:pt>
                <c:pt idx="14">
                  <c:v>3</c:v>
                </c:pt>
                <c:pt idx="15">
                  <c:v>3</c:v>
                </c:pt>
                <c:pt idx="16">
                  <c:v>3</c:v>
                </c:pt>
                <c:pt idx="17">
                  <c:v>3</c:v>
                </c:pt>
                <c:pt idx="18">
                  <c:v>3</c:v>
                </c:pt>
                <c:pt idx="19">
                  <c:v>2.9</c:v>
                </c:pt>
                <c:pt idx="20">
                  <c:v>2.8</c:v>
                </c:pt>
                <c:pt idx="21">
                  <c:v>2.6</c:v>
                </c:pt>
                <c:pt idx="22">
                  <c:v>2.1</c:v>
                </c:pt>
                <c:pt idx="23">
                  <c:v>1.6</c:v>
                </c:pt>
                <c:pt idx="24">
                  <c:v>1.1000000000000001</c:v>
                </c:pt>
                <c:pt idx="25">
                  <c:v>0.8</c:v>
                </c:pt>
                <c:pt idx="26">
                  <c:v>0.5</c:v>
                </c:pt>
                <c:pt idx="27">
                  <c:v>0.3</c:v>
                </c:pt>
                <c:pt idx="28">
                  <c:v>0.1</c:v>
                </c:pt>
                <c:pt idx="29">
                  <c:v>0.1</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EEDB-44E0-BED0-3CA1ED24E3E9}"/>
            </c:ext>
          </c:extLst>
        </c:ser>
        <c:ser>
          <c:idx val="6"/>
          <c:order val="6"/>
          <c:tx>
            <c:strRef>
              <c:f>Sheet1!$H$1</c:f>
              <c:strCache>
                <c:ptCount val="1"/>
                <c:pt idx="0">
                  <c:v>Maand 15</c:v>
                </c:pt>
              </c:strCache>
            </c:strRef>
          </c:tx>
          <c:spPr>
            <a:solidFill>
              <a:srgbClr val="97D5F2"/>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Sheet1!$H$2:$H$41</c:f>
              <c:numCache>
                <c:formatCode>General</c:formatCode>
                <c:ptCount val="4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0.1</c:v>
                </c:pt>
                <c:pt idx="15">
                  <c:v>3</c:v>
                </c:pt>
                <c:pt idx="16">
                  <c:v>3.1</c:v>
                </c:pt>
                <c:pt idx="17">
                  <c:v>3</c:v>
                </c:pt>
                <c:pt idx="18">
                  <c:v>3</c:v>
                </c:pt>
                <c:pt idx="19">
                  <c:v>3</c:v>
                </c:pt>
                <c:pt idx="20">
                  <c:v>3</c:v>
                </c:pt>
                <c:pt idx="21">
                  <c:v>3</c:v>
                </c:pt>
                <c:pt idx="22">
                  <c:v>2.9</c:v>
                </c:pt>
                <c:pt idx="23">
                  <c:v>2.8</c:v>
                </c:pt>
                <c:pt idx="24">
                  <c:v>2.6</c:v>
                </c:pt>
                <c:pt idx="25">
                  <c:v>2.1</c:v>
                </c:pt>
                <c:pt idx="26">
                  <c:v>1.7</c:v>
                </c:pt>
                <c:pt idx="27">
                  <c:v>1.1000000000000001</c:v>
                </c:pt>
                <c:pt idx="28">
                  <c:v>0.8</c:v>
                </c:pt>
                <c:pt idx="29">
                  <c:v>0.5</c:v>
                </c:pt>
                <c:pt idx="30">
                  <c:v>0.3</c:v>
                </c:pt>
                <c:pt idx="31">
                  <c:v>0.1</c:v>
                </c:pt>
                <c:pt idx="32">
                  <c:v>0.1</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EEDB-44E0-BED0-3CA1ED24E3E9}"/>
            </c:ext>
          </c:extLst>
        </c:ser>
        <c:ser>
          <c:idx val="7"/>
          <c:order val="7"/>
          <c:tx>
            <c:strRef>
              <c:f>Sheet1!$I$1</c:f>
              <c:strCache>
                <c:ptCount val="1"/>
                <c:pt idx="0">
                  <c:v>Maand 18</c:v>
                </c:pt>
              </c:strCache>
            </c:strRef>
          </c:tx>
          <c:spPr>
            <a:solidFill>
              <a:srgbClr val="C4E8F8"/>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Sheet1!$I$2:$I$41</c:f>
              <c:numCache>
                <c:formatCode>General</c:formatCode>
                <c:ptCount val="4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0.1</c:v>
                </c:pt>
                <c:pt idx="18">
                  <c:v>3</c:v>
                </c:pt>
                <c:pt idx="19">
                  <c:v>3.1</c:v>
                </c:pt>
                <c:pt idx="20">
                  <c:v>3</c:v>
                </c:pt>
                <c:pt idx="21">
                  <c:v>3</c:v>
                </c:pt>
                <c:pt idx="22">
                  <c:v>3</c:v>
                </c:pt>
                <c:pt idx="23">
                  <c:v>3</c:v>
                </c:pt>
                <c:pt idx="24">
                  <c:v>3</c:v>
                </c:pt>
                <c:pt idx="25">
                  <c:v>2.9</c:v>
                </c:pt>
                <c:pt idx="26">
                  <c:v>2.8</c:v>
                </c:pt>
                <c:pt idx="27">
                  <c:v>2.5</c:v>
                </c:pt>
                <c:pt idx="28">
                  <c:v>2.1</c:v>
                </c:pt>
                <c:pt idx="29">
                  <c:v>1.6</c:v>
                </c:pt>
                <c:pt idx="30">
                  <c:v>1.1000000000000001</c:v>
                </c:pt>
                <c:pt idx="31">
                  <c:v>0.8</c:v>
                </c:pt>
                <c:pt idx="32">
                  <c:v>0.5</c:v>
                </c:pt>
                <c:pt idx="33">
                  <c:v>0.3</c:v>
                </c:pt>
                <c:pt idx="34">
                  <c:v>0.1</c:v>
                </c:pt>
                <c:pt idx="35">
                  <c:v>0.1</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7-EEDB-44E0-BED0-3CA1ED24E3E9}"/>
            </c:ext>
          </c:extLst>
        </c:ser>
        <c:dLbls>
          <c:showLegendKey val="0"/>
          <c:showVal val="0"/>
          <c:showCatName val="0"/>
          <c:showSerName val="0"/>
          <c:showPercent val="0"/>
          <c:showBubbleSize val="0"/>
        </c:dLbls>
        <c:gapWidth val="20"/>
        <c:overlap val="100"/>
        <c:axId val="-2068027336"/>
        <c:axId val="-2113994440"/>
      </c:barChart>
      <c:catAx>
        <c:axId val="-2068027336"/>
        <c:scaling>
          <c:orientation val="minMax"/>
        </c:scaling>
        <c:delete val="0"/>
        <c:axPos val="b"/>
        <c:numFmt formatCode="General" sourceLinked="0"/>
        <c:majorTickMark val="none"/>
        <c:minorTickMark val="none"/>
        <c:tickLblPos val="low"/>
        <c:spPr>
          <a:ln>
            <a:solidFill>
              <a:srgbClr val="D3DFE8"/>
            </a:solidFill>
          </a:ln>
        </c:spPr>
        <c:txPr>
          <a:bodyPr/>
          <a:lstStyle/>
          <a:p>
            <a:pPr>
              <a:defRPr sz="1200" b="0">
                <a:solidFill>
                  <a:srgbClr val="5A6E80"/>
                </a:solidFill>
                <a:latin typeface="Segoe UI"/>
              </a:defRPr>
            </a:pPr>
            <a:endParaRPr lang="nl-BE"/>
          </a:p>
        </c:txPr>
        <c:crossAx val="-2113994440"/>
        <c:crosses val="autoZero"/>
        <c:auto val="1"/>
        <c:lblAlgn val="ctr"/>
        <c:lblOffset val="100"/>
        <c:tickLblSkip val="1"/>
        <c:noMultiLvlLbl val="0"/>
      </c:catAx>
      <c:valAx>
        <c:axId val="-2113994440"/>
        <c:scaling>
          <c:orientation val="minMax"/>
          <c:max val="20"/>
          <c:min val="0"/>
        </c:scaling>
        <c:delete val="0"/>
        <c:axPos val="l"/>
        <c:majorGridlines>
          <c:spPr>
            <a:ln w="9525">
              <a:solidFill>
                <a:srgbClr val="D3DFE8"/>
              </a:solidFill>
            </a:ln>
          </c:spPr>
        </c:majorGridlines>
        <c:numFmt formatCode="General" sourceLinked="1"/>
        <c:majorTickMark val="none"/>
        <c:minorTickMark val="none"/>
        <c:tickLblPos val="none"/>
        <c:spPr>
          <a:ln>
            <a:noFill/>
          </a:ln>
        </c:spPr>
        <c:txPr>
          <a:bodyPr/>
          <a:lstStyle/>
          <a:p>
            <a:pPr>
              <a:defRPr sz="1200" b="0">
                <a:solidFill>
                  <a:srgbClr val="5A6E80"/>
                </a:solidFill>
                <a:latin typeface="Segoe UI"/>
              </a:defRPr>
            </a:pPr>
            <a:endParaRPr lang="nl-BE"/>
          </a:p>
        </c:txPr>
        <c:crossAx val="-2068027336"/>
        <c:crosses val="autoZero"/>
        <c:crossBetween val="between"/>
        <c:majorUnit val="5"/>
      </c:valAx>
      <c:spPr>
        <a:noFill/>
        <a:ln>
          <a:noFill/>
        </a:ln>
      </c:spPr>
    </c:plotArea>
    <c:plotVisOnly val="1"/>
    <c:dispBlanksAs val="gap"/>
    <c:showDLblsOverMax val="1"/>
  </c:chart>
  <c:spPr>
    <a:noFill/>
    <a:ln>
      <a:noFill/>
    </a:ln>
  </c:spPr>
  <c:txPr>
    <a:bodyPr/>
    <a:lstStyle/>
    <a:p>
      <a:pPr>
        <a:defRPr sz="1200">
          <a:solidFill>
            <a:srgbClr val="5A6E80"/>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1"/>
  <c:style val="2"/>
  <c:chart>
    <c:autoTitleDeleted val="0"/>
    <c:plotArea>
      <c:layout/>
      <c:barChart>
        <c:barDir val="col"/>
        <c:grouping val="stacked"/>
        <c:varyColors val="1"/>
        <c:ser>
          <c:idx val="0"/>
          <c:order val="0"/>
          <c:tx>
            <c:strRef>
              <c:f>Sheet1!$B$1</c:f>
              <c:strCache>
                <c:ptCount val="1"/>
                <c:pt idx="0">
                  <c:v>Visite 1</c:v>
                </c:pt>
              </c:strCache>
            </c:strRef>
          </c:tx>
          <c:spPr>
            <a:solidFill>
              <a:srgbClr val="FF7A00"/>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Sheet1!$B$2:$B$41</c:f>
              <c:numCache>
                <c:formatCode>General</c:formatCode>
                <c:ptCount val="40"/>
                <c:pt idx="0">
                  <c:v>3</c:v>
                </c:pt>
                <c:pt idx="1">
                  <c:v>3</c:v>
                </c:pt>
                <c:pt idx="2">
                  <c:v>3</c:v>
                </c:pt>
                <c:pt idx="3">
                  <c:v>3</c:v>
                </c:pt>
                <c:pt idx="4">
                  <c:v>3</c:v>
                </c:pt>
                <c:pt idx="5">
                  <c:v>3</c:v>
                </c:pt>
                <c:pt idx="6">
                  <c:v>3</c:v>
                </c:pt>
                <c:pt idx="7">
                  <c:v>3.1</c:v>
                </c:pt>
                <c:pt idx="8">
                  <c:v>3</c:v>
                </c:pt>
                <c:pt idx="9">
                  <c:v>3</c:v>
                </c:pt>
                <c:pt idx="10">
                  <c:v>2.9</c:v>
                </c:pt>
                <c:pt idx="11">
                  <c:v>2.8</c:v>
                </c:pt>
                <c:pt idx="12">
                  <c:v>2.6</c:v>
                </c:pt>
                <c:pt idx="13">
                  <c:v>2.2999999999999998</c:v>
                </c:pt>
                <c:pt idx="14">
                  <c:v>1.9</c:v>
                </c:pt>
                <c:pt idx="15">
                  <c:v>1.6</c:v>
                </c:pt>
                <c:pt idx="16">
                  <c:v>1.2</c:v>
                </c:pt>
                <c:pt idx="17">
                  <c:v>0.9</c:v>
                </c:pt>
                <c:pt idx="18">
                  <c:v>0.6</c:v>
                </c:pt>
                <c:pt idx="19">
                  <c:v>0.4</c:v>
                </c:pt>
                <c:pt idx="20">
                  <c:v>0.3</c:v>
                </c:pt>
                <c:pt idx="21">
                  <c:v>0.2</c:v>
                </c:pt>
                <c:pt idx="22">
                  <c:v>0.1</c:v>
                </c:pt>
                <c:pt idx="23">
                  <c:v>0.1</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3501-4794-8769-C2CA7420FAB5}"/>
            </c:ext>
          </c:extLst>
        </c:ser>
        <c:ser>
          <c:idx val="1"/>
          <c:order val="1"/>
          <c:tx>
            <c:strRef>
              <c:f>Sheet1!$C$1</c:f>
              <c:strCache>
                <c:ptCount val="1"/>
                <c:pt idx="0">
                  <c:v>Visite 2</c:v>
                </c:pt>
              </c:strCache>
            </c:strRef>
          </c:tx>
          <c:spPr>
            <a:solidFill>
              <a:srgbClr val="FFB15C"/>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Sheet1!$C$2:$C$41</c:f>
              <c:numCache>
                <c:formatCode>General</c:formatCode>
                <c:ptCount val="40"/>
                <c:pt idx="0">
                  <c:v>0.6</c:v>
                </c:pt>
                <c:pt idx="1">
                  <c:v>2.2000000000000002</c:v>
                </c:pt>
                <c:pt idx="2">
                  <c:v>2.2000000000000002</c:v>
                </c:pt>
                <c:pt idx="3">
                  <c:v>2.2000000000000002</c:v>
                </c:pt>
                <c:pt idx="4">
                  <c:v>2.2999999999999998</c:v>
                </c:pt>
                <c:pt idx="5">
                  <c:v>2.2000000000000002</c:v>
                </c:pt>
                <c:pt idx="6">
                  <c:v>2.2999999999999998</c:v>
                </c:pt>
                <c:pt idx="7">
                  <c:v>2.2999999999999998</c:v>
                </c:pt>
                <c:pt idx="8">
                  <c:v>2.2999999999999998</c:v>
                </c:pt>
                <c:pt idx="9">
                  <c:v>2.2000000000000002</c:v>
                </c:pt>
                <c:pt idx="10">
                  <c:v>2.2000000000000002</c:v>
                </c:pt>
                <c:pt idx="11">
                  <c:v>2.1</c:v>
                </c:pt>
                <c:pt idx="12">
                  <c:v>2.1</c:v>
                </c:pt>
                <c:pt idx="13">
                  <c:v>1.9</c:v>
                </c:pt>
                <c:pt idx="14">
                  <c:v>1.7</c:v>
                </c:pt>
                <c:pt idx="15">
                  <c:v>1.4</c:v>
                </c:pt>
                <c:pt idx="16">
                  <c:v>1.1000000000000001</c:v>
                </c:pt>
                <c:pt idx="17">
                  <c:v>0.8</c:v>
                </c:pt>
                <c:pt idx="18">
                  <c:v>0.6</c:v>
                </c:pt>
                <c:pt idx="19">
                  <c:v>0.4</c:v>
                </c:pt>
                <c:pt idx="20">
                  <c:v>0.3</c:v>
                </c:pt>
                <c:pt idx="21">
                  <c:v>0.2</c:v>
                </c:pt>
                <c:pt idx="22">
                  <c:v>0.1</c:v>
                </c:pt>
                <c:pt idx="23">
                  <c:v>0.1</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3501-4794-8769-C2CA7420FAB5}"/>
            </c:ext>
          </c:extLst>
        </c:ser>
        <c:ser>
          <c:idx val="2"/>
          <c:order val="2"/>
          <c:tx>
            <c:strRef>
              <c:f>Sheet1!$D$1</c:f>
              <c:strCache>
                <c:ptCount val="1"/>
                <c:pt idx="0">
                  <c:v>Maand 3</c:v>
                </c:pt>
              </c:strCache>
            </c:strRef>
          </c:tx>
          <c:spPr>
            <a:solidFill>
              <a:srgbClr val="1F6FA0"/>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Sheet1!$D$2:$D$41</c:f>
              <c:numCache>
                <c:formatCode>General</c:formatCode>
                <c:ptCount val="40"/>
                <c:pt idx="0">
                  <c:v>0</c:v>
                </c:pt>
                <c:pt idx="1">
                  <c:v>0</c:v>
                </c:pt>
                <c:pt idx="2">
                  <c:v>0</c:v>
                </c:pt>
                <c:pt idx="3">
                  <c:v>2.2000000000000002</c:v>
                </c:pt>
                <c:pt idx="4">
                  <c:v>2.2999999999999998</c:v>
                </c:pt>
                <c:pt idx="5">
                  <c:v>2.2000000000000002</c:v>
                </c:pt>
                <c:pt idx="6">
                  <c:v>2.2000000000000002</c:v>
                </c:pt>
                <c:pt idx="7">
                  <c:v>2.2999999999999998</c:v>
                </c:pt>
                <c:pt idx="8">
                  <c:v>2.2999999999999998</c:v>
                </c:pt>
                <c:pt idx="9">
                  <c:v>2.2000000000000002</c:v>
                </c:pt>
                <c:pt idx="10">
                  <c:v>2.2999999999999998</c:v>
                </c:pt>
                <c:pt idx="11">
                  <c:v>2.2000000000000002</c:v>
                </c:pt>
                <c:pt idx="12">
                  <c:v>2.2999999999999998</c:v>
                </c:pt>
                <c:pt idx="13">
                  <c:v>2.1</c:v>
                </c:pt>
                <c:pt idx="14">
                  <c:v>2.1</c:v>
                </c:pt>
                <c:pt idx="15">
                  <c:v>2</c:v>
                </c:pt>
                <c:pt idx="16">
                  <c:v>1.7</c:v>
                </c:pt>
                <c:pt idx="17">
                  <c:v>1.5</c:v>
                </c:pt>
                <c:pt idx="18">
                  <c:v>1.2</c:v>
                </c:pt>
                <c:pt idx="19">
                  <c:v>0.9</c:v>
                </c:pt>
                <c:pt idx="20">
                  <c:v>0.7</c:v>
                </c:pt>
                <c:pt idx="21">
                  <c:v>0.5</c:v>
                </c:pt>
                <c:pt idx="22">
                  <c:v>0.3</c:v>
                </c:pt>
                <c:pt idx="23">
                  <c:v>0.2</c:v>
                </c:pt>
                <c:pt idx="24">
                  <c:v>0.1</c:v>
                </c:pt>
                <c:pt idx="25">
                  <c:v>0.1</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501-4794-8769-C2CA7420FAB5}"/>
            </c:ext>
          </c:extLst>
        </c:ser>
        <c:ser>
          <c:idx val="3"/>
          <c:order val="3"/>
          <c:tx>
            <c:strRef>
              <c:f>Sheet1!$E$1</c:f>
              <c:strCache>
                <c:ptCount val="1"/>
                <c:pt idx="0">
                  <c:v>Maand 6</c:v>
                </c:pt>
              </c:strCache>
            </c:strRef>
          </c:tx>
          <c:spPr>
            <a:solidFill>
              <a:srgbClr val="2A8CC0"/>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Sheet1!$E$2:$E$41</c:f>
              <c:numCache>
                <c:formatCode>General</c:formatCode>
                <c:ptCount val="40"/>
                <c:pt idx="0">
                  <c:v>0</c:v>
                </c:pt>
                <c:pt idx="1">
                  <c:v>0</c:v>
                </c:pt>
                <c:pt idx="2">
                  <c:v>0</c:v>
                </c:pt>
                <c:pt idx="3">
                  <c:v>0</c:v>
                </c:pt>
                <c:pt idx="4">
                  <c:v>0</c:v>
                </c:pt>
                <c:pt idx="5">
                  <c:v>0.1</c:v>
                </c:pt>
                <c:pt idx="6">
                  <c:v>2.2000000000000002</c:v>
                </c:pt>
                <c:pt idx="7">
                  <c:v>2.2999999999999998</c:v>
                </c:pt>
                <c:pt idx="8">
                  <c:v>2.2000000000000002</c:v>
                </c:pt>
                <c:pt idx="9">
                  <c:v>2.2999999999999998</c:v>
                </c:pt>
                <c:pt idx="10">
                  <c:v>2.2999999999999998</c:v>
                </c:pt>
                <c:pt idx="11">
                  <c:v>2.2999999999999998</c:v>
                </c:pt>
                <c:pt idx="12">
                  <c:v>2.2000000000000002</c:v>
                </c:pt>
                <c:pt idx="13">
                  <c:v>2.2999999999999998</c:v>
                </c:pt>
                <c:pt idx="14">
                  <c:v>2.2000000000000002</c:v>
                </c:pt>
                <c:pt idx="15">
                  <c:v>2.2999999999999998</c:v>
                </c:pt>
                <c:pt idx="16">
                  <c:v>2.1</c:v>
                </c:pt>
                <c:pt idx="17">
                  <c:v>2.1</c:v>
                </c:pt>
                <c:pt idx="18">
                  <c:v>2</c:v>
                </c:pt>
                <c:pt idx="19">
                  <c:v>1.7</c:v>
                </c:pt>
                <c:pt idx="20">
                  <c:v>1.5</c:v>
                </c:pt>
                <c:pt idx="21">
                  <c:v>1.2</c:v>
                </c:pt>
                <c:pt idx="22">
                  <c:v>0.9</c:v>
                </c:pt>
                <c:pt idx="23">
                  <c:v>0.7</c:v>
                </c:pt>
                <c:pt idx="24">
                  <c:v>0.5</c:v>
                </c:pt>
                <c:pt idx="25">
                  <c:v>0.3</c:v>
                </c:pt>
                <c:pt idx="26">
                  <c:v>0.2</c:v>
                </c:pt>
                <c:pt idx="27">
                  <c:v>0.1</c:v>
                </c:pt>
                <c:pt idx="28">
                  <c:v>0.1</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3501-4794-8769-C2CA7420FAB5}"/>
            </c:ext>
          </c:extLst>
        </c:ser>
        <c:ser>
          <c:idx val="4"/>
          <c:order val="4"/>
          <c:tx>
            <c:strRef>
              <c:f>Sheet1!$F$1</c:f>
              <c:strCache>
                <c:ptCount val="1"/>
                <c:pt idx="0">
                  <c:v>Maand 9</c:v>
                </c:pt>
              </c:strCache>
            </c:strRef>
          </c:tx>
          <c:spPr>
            <a:solidFill>
              <a:srgbClr val="45A9DB"/>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Sheet1!$F$2:$F$41</c:f>
              <c:numCache>
                <c:formatCode>General</c:formatCode>
                <c:ptCount val="40"/>
                <c:pt idx="0">
                  <c:v>0</c:v>
                </c:pt>
                <c:pt idx="1">
                  <c:v>0</c:v>
                </c:pt>
                <c:pt idx="2">
                  <c:v>0</c:v>
                </c:pt>
                <c:pt idx="3">
                  <c:v>0</c:v>
                </c:pt>
                <c:pt idx="4">
                  <c:v>0</c:v>
                </c:pt>
                <c:pt idx="5">
                  <c:v>0</c:v>
                </c:pt>
                <c:pt idx="6">
                  <c:v>0</c:v>
                </c:pt>
                <c:pt idx="7">
                  <c:v>0</c:v>
                </c:pt>
                <c:pt idx="8">
                  <c:v>0.1</c:v>
                </c:pt>
                <c:pt idx="9">
                  <c:v>2.2000000000000002</c:v>
                </c:pt>
                <c:pt idx="10">
                  <c:v>2.2999999999999998</c:v>
                </c:pt>
                <c:pt idx="11">
                  <c:v>2.2000000000000002</c:v>
                </c:pt>
                <c:pt idx="12">
                  <c:v>2.2000000000000002</c:v>
                </c:pt>
                <c:pt idx="13">
                  <c:v>2.2999999999999998</c:v>
                </c:pt>
                <c:pt idx="14">
                  <c:v>2.2000000000000002</c:v>
                </c:pt>
                <c:pt idx="15">
                  <c:v>2.2000000000000002</c:v>
                </c:pt>
                <c:pt idx="16">
                  <c:v>2.2999999999999998</c:v>
                </c:pt>
                <c:pt idx="17">
                  <c:v>2.2000000000000002</c:v>
                </c:pt>
                <c:pt idx="18">
                  <c:v>2.2000000000000002</c:v>
                </c:pt>
                <c:pt idx="19">
                  <c:v>2.1</c:v>
                </c:pt>
                <c:pt idx="20">
                  <c:v>2.1</c:v>
                </c:pt>
                <c:pt idx="21">
                  <c:v>2</c:v>
                </c:pt>
                <c:pt idx="22">
                  <c:v>1.7</c:v>
                </c:pt>
                <c:pt idx="23">
                  <c:v>1.5</c:v>
                </c:pt>
                <c:pt idx="24">
                  <c:v>1.2</c:v>
                </c:pt>
                <c:pt idx="25">
                  <c:v>0.9</c:v>
                </c:pt>
                <c:pt idx="26">
                  <c:v>0.7</c:v>
                </c:pt>
                <c:pt idx="27">
                  <c:v>0.5</c:v>
                </c:pt>
                <c:pt idx="28">
                  <c:v>0.3</c:v>
                </c:pt>
                <c:pt idx="29">
                  <c:v>0.2</c:v>
                </c:pt>
                <c:pt idx="30">
                  <c:v>0.1</c:v>
                </c:pt>
                <c:pt idx="31">
                  <c:v>0.1</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4-3501-4794-8769-C2CA7420FAB5}"/>
            </c:ext>
          </c:extLst>
        </c:ser>
        <c:ser>
          <c:idx val="5"/>
          <c:order val="5"/>
          <c:tx>
            <c:strRef>
              <c:f>Sheet1!$G$1</c:f>
              <c:strCache>
                <c:ptCount val="1"/>
                <c:pt idx="0">
                  <c:v>Maand 12</c:v>
                </c:pt>
              </c:strCache>
            </c:strRef>
          </c:tx>
          <c:spPr>
            <a:solidFill>
              <a:srgbClr val="6CC2EC"/>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Sheet1!$G$2:$G$41</c:f>
              <c:numCache>
                <c:formatCode>General</c:formatCode>
                <c:ptCount val="40"/>
                <c:pt idx="0">
                  <c:v>0</c:v>
                </c:pt>
                <c:pt idx="1">
                  <c:v>0</c:v>
                </c:pt>
                <c:pt idx="2">
                  <c:v>0</c:v>
                </c:pt>
                <c:pt idx="3">
                  <c:v>0</c:v>
                </c:pt>
                <c:pt idx="4">
                  <c:v>0</c:v>
                </c:pt>
                <c:pt idx="5">
                  <c:v>0</c:v>
                </c:pt>
                <c:pt idx="6">
                  <c:v>0</c:v>
                </c:pt>
                <c:pt idx="7">
                  <c:v>0</c:v>
                </c:pt>
                <c:pt idx="8">
                  <c:v>0</c:v>
                </c:pt>
                <c:pt idx="9">
                  <c:v>0</c:v>
                </c:pt>
                <c:pt idx="10">
                  <c:v>0</c:v>
                </c:pt>
                <c:pt idx="11">
                  <c:v>0</c:v>
                </c:pt>
                <c:pt idx="12">
                  <c:v>2.2000000000000002</c:v>
                </c:pt>
                <c:pt idx="13">
                  <c:v>2.2999999999999998</c:v>
                </c:pt>
                <c:pt idx="14">
                  <c:v>2.2000000000000002</c:v>
                </c:pt>
                <c:pt idx="15">
                  <c:v>2.2000000000000002</c:v>
                </c:pt>
                <c:pt idx="16">
                  <c:v>2.2999999999999998</c:v>
                </c:pt>
                <c:pt idx="17">
                  <c:v>2.2000000000000002</c:v>
                </c:pt>
                <c:pt idx="18">
                  <c:v>2.2000000000000002</c:v>
                </c:pt>
                <c:pt idx="19">
                  <c:v>2.2999999999999998</c:v>
                </c:pt>
                <c:pt idx="20">
                  <c:v>2.2000000000000002</c:v>
                </c:pt>
                <c:pt idx="21">
                  <c:v>2.2999999999999998</c:v>
                </c:pt>
                <c:pt idx="22">
                  <c:v>2.1</c:v>
                </c:pt>
                <c:pt idx="23">
                  <c:v>2.1</c:v>
                </c:pt>
                <c:pt idx="24">
                  <c:v>2</c:v>
                </c:pt>
                <c:pt idx="25">
                  <c:v>1.7</c:v>
                </c:pt>
                <c:pt idx="26">
                  <c:v>1.5</c:v>
                </c:pt>
                <c:pt idx="27">
                  <c:v>1.2</c:v>
                </c:pt>
                <c:pt idx="28">
                  <c:v>0.9</c:v>
                </c:pt>
                <c:pt idx="29">
                  <c:v>0.7</c:v>
                </c:pt>
                <c:pt idx="30">
                  <c:v>0.5</c:v>
                </c:pt>
                <c:pt idx="31">
                  <c:v>0.3</c:v>
                </c:pt>
                <c:pt idx="32">
                  <c:v>0.2</c:v>
                </c:pt>
                <c:pt idx="33">
                  <c:v>0.1</c:v>
                </c:pt>
                <c:pt idx="34">
                  <c:v>0.1</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3501-4794-8769-C2CA7420FAB5}"/>
            </c:ext>
          </c:extLst>
        </c:ser>
        <c:ser>
          <c:idx val="6"/>
          <c:order val="6"/>
          <c:tx>
            <c:strRef>
              <c:f>Sheet1!$H$1</c:f>
              <c:strCache>
                <c:ptCount val="1"/>
                <c:pt idx="0">
                  <c:v>Maand 15</c:v>
                </c:pt>
              </c:strCache>
            </c:strRef>
          </c:tx>
          <c:spPr>
            <a:solidFill>
              <a:srgbClr val="97D5F2"/>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Sheet1!$H$2:$H$41</c:f>
              <c:numCache>
                <c:formatCode>General</c:formatCode>
                <c:ptCount val="4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0.1</c:v>
                </c:pt>
                <c:pt idx="15">
                  <c:v>2.2000000000000002</c:v>
                </c:pt>
                <c:pt idx="16">
                  <c:v>2.2999999999999998</c:v>
                </c:pt>
                <c:pt idx="17">
                  <c:v>2.2000000000000002</c:v>
                </c:pt>
                <c:pt idx="18">
                  <c:v>2.2999999999999998</c:v>
                </c:pt>
                <c:pt idx="19">
                  <c:v>2.2999999999999998</c:v>
                </c:pt>
                <c:pt idx="20">
                  <c:v>2.2999999999999998</c:v>
                </c:pt>
                <c:pt idx="21">
                  <c:v>2.2000000000000002</c:v>
                </c:pt>
                <c:pt idx="22">
                  <c:v>2.2999999999999998</c:v>
                </c:pt>
                <c:pt idx="23">
                  <c:v>2.2000000000000002</c:v>
                </c:pt>
                <c:pt idx="24">
                  <c:v>2.2999999999999998</c:v>
                </c:pt>
                <c:pt idx="25">
                  <c:v>2.1</c:v>
                </c:pt>
                <c:pt idx="26">
                  <c:v>2.1</c:v>
                </c:pt>
                <c:pt idx="27">
                  <c:v>2</c:v>
                </c:pt>
                <c:pt idx="28">
                  <c:v>1.7</c:v>
                </c:pt>
                <c:pt idx="29">
                  <c:v>1.5</c:v>
                </c:pt>
                <c:pt idx="30">
                  <c:v>1.2</c:v>
                </c:pt>
                <c:pt idx="31">
                  <c:v>0.9</c:v>
                </c:pt>
                <c:pt idx="32">
                  <c:v>0.7</c:v>
                </c:pt>
                <c:pt idx="33">
                  <c:v>0.5</c:v>
                </c:pt>
                <c:pt idx="34">
                  <c:v>0.3</c:v>
                </c:pt>
                <c:pt idx="35">
                  <c:v>0.2</c:v>
                </c:pt>
                <c:pt idx="36">
                  <c:v>0.1</c:v>
                </c:pt>
                <c:pt idx="37">
                  <c:v>0.1</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3501-4794-8769-C2CA7420FAB5}"/>
            </c:ext>
          </c:extLst>
        </c:ser>
        <c:ser>
          <c:idx val="7"/>
          <c:order val="7"/>
          <c:tx>
            <c:strRef>
              <c:f>Sheet1!$I$1</c:f>
              <c:strCache>
                <c:ptCount val="1"/>
                <c:pt idx="0">
                  <c:v>Maand 18</c:v>
                </c:pt>
              </c:strCache>
            </c:strRef>
          </c:tx>
          <c:spPr>
            <a:solidFill>
              <a:srgbClr val="C4E8F8"/>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Sheet1!$I$2:$I$41</c:f>
              <c:numCache>
                <c:formatCode>General</c:formatCode>
                <c:ptCount val="4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0.1</c:v>
                </c:pt>
                <c:pt idx="18">
                  <c:v>2.2000000000000002</c:v>
                </c:pt>
                <c:pt idx="19">
                  <c:v>2.2999999999999998</c:v>
                </c:pt>
                <c:pt idx="20">
                  <c:v>2.2000000000000002</c:v>
                </c:pt>
                <c:pt idx="21">
                  <c:v>2.2000000000000002</c:v>
                </c:pt>
                <c:pt idx="22">
                  <c:v>2.2999999999999998</c:v>
                </c:pt>
                <c:pt idx="23">
                  <c:v>2.2000000000000002</c:v>
                </c:pt>
                <c:pt idx="24">
                  <c:v>2.2000000000000002</c:v>
                </c:pt>
                <c:pt idx="25">
                  <c:v>2.2999999999999998</c:v>
                </c:pt>
                <c:pt idx="26">
                  <c:v>2.2000000000000002</c:v>
                </c:pt>
                <c:pt idx="27">
                  <c:v>2.2999999999999998</c:v>
                </c:pt>
                <c:pt idx="28">
                  <c:v>2.1</c:v>
                </c:pt>
                <c:pt idx="29">
                  <c:v>2.1</c:v>
                </c:pt>
                <c:pt idx="30">
                  <c:v>2</c:v>
                </c:pt>
                <c:pt idx="31">
                  <c:v>1.7</c:v>
                </c:pt>
                <c:pt idx="32">
                  <c:v>1.5</c:v>
                </c:pt>
                <c:pt idx="33">
                  <c:v>1.2</c:v>
                </c:pt>
                <c:pt idx="34">
                  <c:v>0.9</c:v>
                </c:pt>
                <c:pt idx="35">
                  <c:v>0.7</c:v>
                </c:pt>
                <c:pt idx="36">
                  <c:v>0.5</c:v>
                </c:pt>
                <c:pt idx="37">
                  <c:v>0.3</c:v>
                </c:pt>
                <c:pt idx="38">
                  <c:v>0.2</c:v>
                </c:pt>
                <c:pt idx="39">
                  <c:v>0.1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7-3501-4794-8769-C2CA7420FAB5}"/>
            </c:ext>
          </c:extLst>
        </c:ser>
        <c:dLbls>
          <c:showLegendKey val="0"/>
          <c:showVal val="0"/>
          <c:showCatName val="0"/>
          <c:showSerName val="0"/>
          <c:showPercent val="0"/>
          <c:showBubbleSize val="0"/>
        </c:dLbls>
        <c:gapWidth val="20"/>
        <c:overlap val="100"/>
        <c:axId val="-2068027336"/>
        <c:axId val="-2113994440"/>
      </c:barChart>
      <c:catAx>
        <c:axId val="-2068027336"/>
        <c:scaling>
          <c:orientation val="minMax"/>
        </c:scaling>
        <c:delete val="0"/>
        <c:axPos val="b"/>
        <c:numFmt formatCode="General" sourceLinked="0"/>
        <c:majorTickMark val="none"/>
        <c:minorTickMark val="none"/>
        <c:tickLblPos val="low"/>
        <c:spPr>
          <a:ln>
            <a:solidFill>
              <a:srgbClr val="D3DFE8"/>
            </a:solidFill>
          </a:ln>
        </c:spPr>
        <c:txPr>
          <a:bodyPr/>
          <a:lstStyle/>
          <a:p>
            <a:pPr>
              <a:defRPr sz="1200" b="0">
                <a:solidFill>
                  <a:srgbClr val="5A6E80"/>
                </a:solidFill>
                <a:latin typeface="Segoe UI"/>
              </a:defRPr>
            </a:pPr>
            <a:endParaRPr lang="nl-BE"/>
          </a:p>
        </c:txPr>
        <c:crossAx val="-2113994440"/>
        <c:crosses val="autoZero"/>
        <c:auto val="1"/>
        <c:lblAlgn val="ctr"/>
        <c:lblOffset val="100"/>
        <c:tickLblSkip val="1"/>
        <c:noMultiLvlLbl val="0"/>
      </c:catAx>
      <c:valAx>
        <c:axId val="-2113994440"/>
        <c:scaling>
          <c:orientation val="minMax"/>
          <c:max val="20"/>
          <c:min val="0"/>
        </c:scaling>
        <c:delete val="0"/>
        <c:axPos val="l"/>
        <c:majorGridlines>
          <c:spPr>
            <a:ln w="9525">
              <a:solidFill>
                <a:srgbClr val="D3DFE8"/>
              </a:solidFill>
            </a:ln>
          </c:spPr>
        </c:majorGridlines>
        <c:numFmt formatCode="General" sourceLinked="1"/>
        <c:majorTickMark val="none"/>
        <c:minorTickMark val="none"/>
        <c:tickLblPos val="none"/>
        <c:spPr>
          <a:ln>
            <a:noFill/>
          </a:ln>
        </c:spPr>
        <c:txPr>
          <a:bodyPr/>
          <a:lstStyle/>
          <a:p>
            <a:pPr>
              <a:defRPr sz="1200" b="0">
                <a:solidFill>
                  <a:srgbClr val="5A6E80"/>
                </a:solidFill>
                <a:latin typeface="Segoe UI"/>
              </a:defRPr>
            </a:pPr>
            <a:endParaRPr lang="nl-BE"/>
          </a:p>
        </c:txPr>
        <c:crossAx val="-2068027336"/>
        <c:crosses val="autoZero"/>
        <c:crossBetween val="between"/>
        <c:majorUnit val="5"/>
      </c:valAx>
      <c:spPr>
        <a:noFill/>
        <a:ln>
          <a:noFill/>
        </a:ln>
      </c:spPr>
    </c:plotArea>
    <c:plotVisOnly val="1"/>
    <c:dispBlanksAs val="gap"/>
    <c:showDLblsOverMax val="1"/>
  </c:chart>
  <c:spPr>
    <a:noFill/>
    <a:ln>
      <a:noFill/>
    </a:ln>
  </c:spPr>
  <c:txPr>
    <a:bodyPr/>
    <a:lstStyle/>
    <a:p>
      <a:pPr>
        <a:defRPr sz="1200">
          <a:solidFill>
            <a:srgbClr val="5A6E80"/>
          </a:solidFill>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nl-NL"/>
  <c:roundedCorners val="1"/>
  <c:style val="2"/>
  <c:chart>
    <c:autoTitleDeleted val="1"/>
    <c:plotArea>
      <c:layout>
        <c:manualLayout>
          <c:layoutTarget val="inner"/>
          <c:xMode val="edge"/>
          <c:yMode val="edge"/>
          <c:x val="8.8900000000000007E-2"/>
          <c:y val="6.7799999999999999E-2"/>
          <c:w val="0.88890000000000002"/>
          <c:h val="0.69489999999999996"/>
        </c:manualLayout>
      </c:layout>
      <c:scatterChart>
        <c:scatterStyle val="lineMarker"/>
        <c:varyColors val="0"/>
        <c:ser>
          <c:idx val="0"/>
          <c:order val="0"/>
          <c:tx>
            <c:strRef>
              <c:f>Sheet1!$B$1</c:f>
              <c:strCache>
                <c:ptCount val="1"/>
                <c:pt idx="0">
                  <c:v>3 per maand, één centrum</c:v>
                </c:pt>
              </c:strCache>
            </c:strRef>
          </c:tx>
          <c:spPr>
            <a:ln w="12700">
              <a:solidFill>
                <a:srgbClr val="1D8DB0"/>
              </a:solidFill>
            </a:ln>
          </c:spPr>
          <c:marker>
            <c:symbol val="none"/>
          </c:marker>
          <c:xVal>
            <c:numRef>
              <c:f>Sheet1!$A$2:$A$402</c:f>
              <c:numCache>
                <c:formatCode>General</c:formatCode>
                <c:ptCount val="40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2.0499999999999998</c:v>
                </c:pt>
                <c:pt idx="42">
                  <c:v>2.1</c:v>
                </c:pt>
                <c:pt idx="43">
                  <c:v>2.15</c:v>
                </c:pt>
                <c:pt idx="44">
                  <c:v>2.2000000000000002</c:v>
                </c:pt>
                <c:pt idx="45">
                  <c:v>2.25</c:v>
                </c:pt>
                <c:pt idx="46">
                  <c:v>2.2999999999999998</c:v>
                </c:pt>
                <c:pt idx="47">
                  <c:v>2.35</c:v>
                </c:pt>
                <c:pt idx="48">
                  <c:v>2.4</c:v>
                </c:pt>
                <c:pt idx="49">
                  <c:v>2.4500000000000002</c:v>
                </c:pt>
                <c:pt idx="50">
                  <c:v>2.5</c:v>
                </c:pt>
                <c:pt idx="51">
                  <c:v>2.5499999999999998</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4.0999999999999996</c:v>
                </c:pt>
                <c:pt idx="83">
                  <c:v>4.1500000000000004</c:v>
                </c:pt>
                <c:pt idx="84">
                  <c:v>4.2</c:v>
                </c:pt>
                <c:pt idx="85">
                  <c:v>4.25</c:v>
                </c:pt>
                <c:pt idx="86">
                  <c:v>4.3</c:v>
                </c:pt>
                <c:pt idx="87">
                  <c:v>4.3499999999999996</c:v>
                </c:pt>
                <c:pt idx="88">
                  <c:v>4.4000000000000004</c:v>
                </c:pt>
                <c:pt idx="89">
                  <c:v>4.45</c:v>
                </c:pt>
                <c:pt idx="90">
                  <c:v>4.5</c:v>
                </c:pt>
                <c:pt idx="91">
                  <c:v>4.55</c:v>
                </c:pt>
                <c:pt idx="92">
                  <c:v>4.5999999999999996</c:v>
                </c:pt>
                <c:pt idx="93">
                  <c:v>4.6500000000000004</c:v>
                </c:pt>
                <c:pt idx="94">
                  <c:v>4.7</c:v>
                </c:pt>
                <c:pt idx="95">
                  <c:v>4.75</c:v>
                </c:pt>
                <c:pt idx="96">
                  <c:v>4.8</c:v>
                </c:pt>
                <c:pt idx="97">
                  <c:v>4.8499999999999996</c:v>
                </c:pt>
                <c:pt idx="98">
                  <c:v>4.9000000000000004</c:v>
                </c:pt>
                <c:pt idx="99">
                  <c:v>4.95</c:v>
                </c:pt>
                <c:pt idx="100">
                  <c:v>5</c:v>
                </c:pt>
                <c:pt idx="101">
                  <c:v>5.05</c:v>
                </c:pt>
                <c:pt idx="102">
                  <c:v>5.0999999999999996</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pt idx="161">
                  <c:v>8.0500000000000007</c:v>
                </c:pt>
                <c:pt idx="162">
                  <c:v>8.1</c:v>
                </c:pt>
                <c:pt idx="163">
                  <c:v>8.15</c:v>
                </c:pt>
                <c:pt idx="164">
                  <c:v>8.1999999999999993</c:v>
                </c:pt>
                <c:pt idx="165">
                  <c:v>8.25</c:v>
                </c:pt>
                <c:pt idx="166">
                  <c:v>8.3000000000000007</c:v>
                </c:pt>
                <c:pt idx="167">
                  <c:v>8.35</c:v>
                </c:pt>
                <c:pt idx="168">
                  <c:v>8.4</c:v>
                </c:pt>
                <c:pt idx="169">
                  <c:v>8.4499999999999993</c:v>
                </c:pt>
                <c:pt idx="170">
                  <c:v>8.5</c:v>
                </c:pt>
                <c:pt idx="171">
                  <c:v>8.5500000000000007</c:v>
                </c:pt>
                <c:pt idx="172">
                  <c:v>8.6</c:v>
                </c:pt>
                <c:pt idx="173">
                  <c:v>8.65</c:v>
                </c:pt>
                <c:pt idx="174">
                  <c:v>8.6999999999999993</c:v>
                </c:pt>
                <c:pt idx="175">
                  <c:v>8.75</c:v>
                </c:pt>
                <c:pt idx="176">
                  <c:v>8.8000000000000007</c:v>
                </c:pt>
                <c:pt idx="177">
                  <c:v>8.85</c:v>
                </c:pt>
                <c:pt idx="178">
                  <c:v>8.9</c:v>
                </c:pt>
                <c:pt idx="179">
                  <c:v>8.9499999999999993</c:v>
                </c:pt>
                <c:pt idx="180">
                  <c:v>9</c:v>
                </c:pt>
                <c:pt idx="181">
                  <c:v>9.0500000000000007</c:v>
                </c:pt>
                <c:pt idx="182">
                  <c:v>9.1</c:v>
                </c:pt>
                <c:pt idx="183">
                  <c:v>9.15</c:v>
                </c:pt>
                <c:pt idx="184">
                  <c:v>9.1999999999999993</c:v>
                </c:pt>
                <c:pt idx="185">
                  <c:v>9.25</c:v>
                </c:pt>
                <c:pt idx="186">
                  <c:v>9.3000000000000007</c:v>
                </c:pt>
                <c:pt idx="187">
                  <c:v>9.35</c:v>
                </c:pt>
                <c:pt idx="188">
                  <c:v>9.4</c:v>
                </c:pt>
                <c:pt idx="189">
                  <c:v>9.4499999999999993</c:v>
                </c:pt>
                <c:pt idx="190">
                  <c:v>9.5</c:v>
                </c:pt>
                <c:pt idx="191">
                  <c:v>9.5500000000000007</c:v>
                </c:pt>
                <c:pt idx="192">
                  <c:v>9.6</c:v>
                </c:pt>
                <c:pt idx="193">
                  <c:v>9.65</c:v>
                </c:pt>
                <c:pt idx="194">
                  <c:v>9.6999999999999993</c:v>
                </c:pt>
                <c:pt idx="195">
                  <c:v>9.75</c:v>
                </c:pt>
                <c:pt idx="196">
                  <c:v>9.8000000000000007</c:v>
                </c:pt>
                <c:pt idx="197">
                  <c:v>9.85</c:v>
                </c:pt>
                <c:pt idx="198">
                  <c:v>9.9</c:v>
                </c:pt>
                <c:pt idx="199">
                  <c:v>9.9499999999999993</c:v>
                </c:pt>
                <c:pt idx="200">
                  <c:v>10</c:v>
                </c:pt>
                <c:pt idx="201">
                  <c:v>10.050000000000001</c:v>
                </c:pt>
                <c:pt idx="202">
                  <c:v>10.1</c:v>
                </c:pt>
                <c:pt idx="203">
                  <c:v>10.15</c:v>
                </c:pt>
                <c:pt idx="204">
                  <c:v>10.199999999999999</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c:v>
                </c:pt>
                <c:pt idx="221">
                  <c:v>11.05</c:v>
                </c:pt>
                <c:pt idx="222">
                  <c:v>11.1</c:v>
                </c:pt>
                <c:pt idx="223">
                  <c:v>11.15</c:v>
                </c:pt>
                <c:pt idx="224">
                  <c:v>11.2</c:v>
                </c:pt>
                <c:pt idx="225">
                  <c:v>11.25</c:v>
                </c:pt>
                <c:pt idx="226">
                  <c:v>11.3</c:v>
                </c:pt>
                <c:pt idx="227">
                  <c:v>11.35</c:v>
                </c:pt>
                <c:pt idx="228">
                  <c:v>11.4</c:v>
                </c:pt>
                <c:pt idx="229">
                  <c:v>11.45</c:v>
                </c:pt>
                <c:pt idx="230">
                  <c:v>11.5</c:v>
                </c:pt>
                <c:pt idx="231">
                  <c:v>11.55</c:v>
                </c:pt>
                <c:pt idx="232">
                  <c:v>11.6</c:v>
                </c:pt>
                <c:pt idx="233">
                  <c:v>11.65</c:v>
                </c:pt>
                <c:pt idx="234">
                  <c:v>11.7</c:v>
                </c:pt>
                <c:pt idx="235">
                  <c:v>11.75</c:v>
                </c:pt>
                <c:pt idx="236">
                  <c:v>11.8</c:v>
                </c:pt>
                <c:pt idx="237">
                  <c:v>11.85</c:v>
                </c:pt>
                <c:pt idx="238">
                  <c:v>11.9</c:v>
                </c:pt>
                <c:pt idx="239">
                  <c:v>11.95</c:v>
                </c:pt>
                <c:pt idx="240">
                  <c:v>12</c:v>
                </c:pt>
                <c:pt idx="241">
                  <c:v>12.05</c:v>
                </c:pt>
                <c:pt idx="242">
                  <c:v>12.1</c:v>
                </c:pt>
                <c:pt idx="243">
                  <c:v>12.15</c:v>
                </c:pt>
                <c:pt idx="244">
                  <c:v>12.2</c:v>
                </c:pt>
                <c:pt idx="245">
                  <c:v>12.25</c:v>
                </c:pt>
                <c:pt idx="246">
                  <c:v>12.3</c:v>
                </c:pt>
                <c:pt idx="247">
                  <c:v>12.35</c:v>
                </c:pt>
                <c:pt idx="248">
                  <c:v>12.4</c:v>
                </c:pt>
                <c:pt idx="249">
                  <c:v>12.45</c:v>
                </c:pt>
                <c:pt idx="250">
                  <c:v>12.5</c:v>
                </c:pt>
                <c:pt idx="251">
                  <c:v>12.55</c:v>
                </c:pt>
                <c:pt idx="252">
                  <c:v>12.6</c:v>
                </c:pt>
                <c:pt idx="253">
                  <c:v>12.65</c:v>
                </c:pt>
                <c:pt idx="254">
                  <c:v>12.7</c:v>
                </c:pt>
                <c:pt idx="255">
                  <c:v>12.75</c:v>
                </c:pt>
                <c:pt idx="256">
                  <c:v>12.8</c:v>
                </c:pt>
                <c:pt idx="257">
                  <c:v>12.85</c:v>
                </c:pt>
                <c:pt idx="258">
                  <c:v>12.9</c:v>
                </c:pt>
                <c:pt idx="259">
                  <c:v>12.95</c:v>
                </c:pt>
                <c:pt idx="260">
                  <c:v>13</c:v>
                </c:pt>
                <c:pt idx="261">
                  <c:v>13.05</c:v>
                </c:pt>
                <c:pt idx="262">
                  <c:v>13.1</c:v>
                </c:pt>
                <c:pt idx="263">
                  <c:v>13.15</c:v>
                </c:pt>
                <c:pt idx="264">
                  <c:v>13.2</c:v>
                </c:pt>
                <c:pt idx="265">
                  <c:v>13.25</c:v>
                </c:pt>
                <c:pt idx="266">
                  <c:v>13.3</c:v>
                </c:pt>
                <c:pt idx="267">
                  <c:v>13.35</c:v>
                </c:pt>
                <c:pt idx="268">
                  <c:v>13.4</c:v>
                </c:pt>
                <c:pt idx="269">
                  <c:v>13.45</c:v>
                </c:pt>
                <c:pt idx="270">
                  <c:v>13.5</c:v>
                </c:pt>
                <c:pt idx="271">
                  <c:v>13.55</c:v>
                </c:pt>
                <c:pt idx="272">
                  <c:v>13.6</c:v>
                </c:pt>
                <c:pt idx="273">
                  <c:v>13.65</c:v>
                </c:pt>
                <c:pt idx="274">
                  <c:v>13.7</c:v>
                </c:pt>
                <c:pt idx="275">
                  <c:v>13.75</c:v>
                </c:pt>
                <c:pt idx="276">
                  <c:v>13.8</c:v>
                </c:pt>
                <c:pt idx="277">
                  <c:v>13.85</c:v>
                </c:pt>
                <c:pt idx="278">
                  <c:v>13.9</c:v>
                </c:pt>
                <c:pt idx="279">
                  <c:v>13.95</c:v>
                </c:pt>
                <c:pt idx="280">
                  <c:v>14</c:v>
                </c:pt>
                <c:pt idx="281">
                  <c:v>14.05</c:v>
                </c:pt>
                <c:pt idx="282">
                  <c:v>14.1</c:v>
                </c:pt>
                <c:pt idx="283">
                  <c:v>14.15</c:v>
                </c:pt>
                <c:pt idx="284">
                  <c:v>14.2</c:v>
                </c:pt>
                <c:pt idx="285">
                  <c:v>14.25</c:v>
                </c:pt>
                <c:pt idx="286">
                  <c:v>14.3</c:v>
                </c:pt>
                <c:pt idx="287">
                  <c:v>14.35</c:v>
                </c:pt>
                <c:pt idx="288">
                  <c:v>14.4</c:v>
                </c:pt>
                <c:pt idx="289">
                  <c:v>14.45</c:v>
                </c:pt>
                <c:pt idx="290">
                  <c:v>14.5</c:v>
                </c:pt>
                <c:pt idx="291">
                  <c:v>14.55</c:v>
                </c:pt>
                <c:pt idx="292">
                  <c:v>14.6</c:v>
                </c:pt>
                <c:pt idx="293">
                  <c:v>14.65</c:v>
                </c:pt>
                <c:pt idx="294">
                  <c:v>14.7</c:v>
                </c:pt>
                <c:pt idx="295">
                  <c:v>14.75</c:v>
                </c:pt>
                <c:pt idx="296">
                  <c:v>14.8</c:v>
                </c:pt>
                <c:pt idx="297">
                  <c:v>14.85</c:v>
                </c:pt>
                <c:pt idx="298">
                  <c:v>14.9</c:v>
                </c:pt>
                <c:pt idx="299">
                  <c:v>14.95</c:v>
                </c:pt>
                <c:pt idx="300">
                  <c:v>15</c:v>
                </c:pt>
                <c:pt idx="301">
                  <c:v>15.05</c:v>
                </c:pt>
                <c:pt idx="302">
                  <c:v>15.1</c:v>
                </c:pt>
                <c:pt idx="303">
                  <c:v>15.15</c:v>
                </c:pt>
                <c:pt idx="304">
                  <c:v>15.2</c:v>
                </c:pt>
                <c:pt idx="305">
                  <c:v>15.25</c:v>
                </c:pt>
                <c:pt idx="306">
                  <c:v>15.3</c:v>
                </c:pt>
                <c:pt idx="307">
                  <c:v>15.35</c:v>
                </c:pt>
                <c:pt idx="308">
                  <c:v>15.4</c:v>
                </c:pt>
                <c:pt idx="309">
                  <c:v>15.45</c:v>
                </c:pt>
                <c:pt idx="310">
                  <c:v>15.5</c:v>
                </c:pt>
                <c:pt idx="311">
                  <c:v>15.55</c:v>
                </c:pt>
                <c:pt idx="312">
                  <c:v>15.6</c:v>
                </c:pt>
                <c:pt idx="313">
                  <c:v>15.65</c:v>
                </c:pt>
                <c:pt idx="314">
                  <c:v>15.7</c:v>
                </c:pt>
                <c:pt idx="315">
                  <c:v>15.75</c:v>
                </c:pt>
                <c:pt idx="316">
                  <c:v>15.8</c:v>
                </c:pt>
                <c:pt idx="317">
                  <c:v>15.85</c:v>
                </c:pt>
                <c:pt idx="318">
                  <c:v>15.9</c:v>
                </c:pt>
                <c:pt idx="319">
                  <c:v>15.95</c:v>
                </c:pt>
                <c:pt idx="320">
                  <c:v>16</c:v>
                </c:pt>
                <c:pt idx="321">
                  <c:v>16.05</c:v>
                </c:pt>
                <c:pt idx="322">
                  <c:v>16.100000000000001</c:v>
                </c:pt>
                <c:pt idx="323">
                  <c:v>16.149999999999999</c:v>
                </c:pt>
                <c:pt idx="324">
                  <c:v>16.2</c:v>
                </c:pt>
                <c:pt idx="325">
                  <c:v>16.25</c:v>
                </c:pt>
                <c:pt idx="326">
                  <c:v>16.3</c:v>
                </c:pt>
                <c:pt idx="327">
                  <c:v>16.350000000000001</c:v>
                </c:pt>
                <c:pt idx="328">
                  <c:v>16.399999999999999</c:v>
                </c:pt>
                <c:pt idx="329">
                  <c:v>16.45</c:v>
                </c:pt>
                <c:pt idx="330">
                  <c:v>16.5</c:v>
                </c:pt>
                <c:pt idx="331">
                  <c:v>16.55</c:v>
                </c:pt>
                <c:pt idx="332">
                  <c:v>16.600000000000001</c:v>
                </c:pt>
                <c:pt idx="333">
                  <c:v>16.649999999999999</c:v>
                </c:pt>
                <c:pt idx="334">
                  <c:v>16.7</c:v>
                </c:pt>
                <c:pt idx="335">
                  <c:v>16.75</c:v>
                </c:pt>
                <c:pt idx="336">
                  <c:v>16.8</c:v>
                </c:pt>
                <c:pt idx="337">
                  <c:v>16.850000000000001</c:v>
                </c:pt>
                <c:pt idx="338">
                  <c:v>16.899999999999999</c:v>
                </c:pt>
                <c:pt idx="339">
                  <c:v>16.95</c:v>
                </c:pt>
                <c:pt idx="340">
                  <c:v>17</c:v>
                </c:pt>
                <c:pt idx="341">
                  <c:v>17.05</c:v>
                </c:pt>
                <c:pt idx="342">
                  <c:v>17.100000000000001</c:v>
                </c:pt>
                <c:pt idx="343">
                  <c:v>17.149999999999999</c:v>
                </c:pt>
                <c:pt idx="344">
                  <c:v>17.2</c:v>
                </c:pt>
                <c:pt idx="345">
                  <c:v>17.25</c:v>
                </c:pt>
                <c:pt idx="346">
                  <c:v>17.3</c:v>
                </c:pt>
                <c:pt idx="347">
                  <c:v>17.350000000000001</c:v>
                </c:pt>
                <c:pt idx="348">
                  <c:v>17.399999999999999</c:v>
                </c:pt>
                <c:pt idx="349">
                  <c:v>17.45</c:v>
                </c:pt>
                <c:pt idx="350">
                  <c:v>17.5</c:v>
                </c:pt>
                <c:pt idx="351">
                  <c:v>17.55</c:v>
                </c:pt>
                <c:pt idx="352">
                  <c:v>17.600000000000001</c:v>
                </c:pt>
                <c:pt idx="353">
                  <c:v>17.649999999999999</c:v>
                </c:pt>
                <c:pt idx="354">
                  <c:v>17.7</c:v>
                </c:pt>
                <c:pt idx="355">
                  <c:v>17.75</c:v>
                </c:pt>
                <c:pt idx="356">
                  <c:v>17.8</c:v>
                </c:pt>
                <c:pt idx="357">
                  <c:v>17.850000000000001</c:v>
                </c:pt>
                <c:pt idx="358">
                  <c:v>17.899999999999999</c:v>
                </c:pt>
                <c:pt idx="359">
                  <c:v>17.95</c:v>
                </c:pt>
                <c:pt idx="360">
                  <c:v>18</c:v>
                </c:pt>
                <c:pt idx="361">
                  <c:v>18.05</c:v>
                </c:pt>
                <c:pt idx="362">
                  <c:v>18.100000000000001</c:v>
                </c:pt>
                <c:pt idx="363">
                  <c:v>18.149999999999999</c:v>
                </c:pt>
                <c:pt idx="364">
                  <c:v>18.2</c:v>
                </c:pt>
                <c:pt idx="365">
                  <c:v>18.25</c:v>
                </c:pt>
                <c:pt idx="366">
                  <c:v>18.3</c:v>
                </c:pt>
                <c:pt idx="367">
                  <c:v>18.350000000000001</c:v>
                </c:pt>
                <c:pt idx="368">
                  <c:v>18.399999999999999</c:v>
                </c:pt>
                <c:pt idx="369">
                  <c:v>18.45</c:v>
                </c:pt>
                <c:pt idx="370">
                  <c:v>18.5</c:v>
                </c:pt>
                <c:pt idx="371">
                  <c:v>18.55</c:v>
                </c:pt>
                <c:pt idx="372">
                  <c:v>18.600000000000001</c:v>
                </c:pt>
                <c:pt idx="373">
                  <c:v>18.649999999999999</c:v>
                </c:pt>
                <c:pt idx="374">
                  <c:v>18.7</c:v>
                </c:pt>
                <c:pt idx="375">
                  <c:v>18.75</c:v>
                </c:pt>
                <c:pt idx="376">
                  <c:v>18.8</c:v>
                </c:pt>
                <c:pt idx="377">
                  <c:v>18.850000000000001</c:v>
                </c:pt>
                <c:pt idx="378">
                  <c:v>18.899999999999999</c:v>
                </c:pt>
                <c:pt idx="379">
                  <c:v>18.95</c:v>
                </c:pt>
                <c:pt idx="380">
                  <c:v>19</c:v>
                </c:pt>
                <c:pt idx="381">
                  <c:v>19.05</c:v>
                </c:pt>
                <c:pt idx="382">
                  <c:v>19.100000000000001</c:v>
                </c:pt>
                <c:pt idx="383">
                  <c:v>19.149999999999999</c:v>
                </c:pt>
                <c:pt idx="384">
                  <c:v>19.2</c:v>
                </c:pt>
                <c:pt idx="385">
                  <c:v>19.25</c:v>
                </c:pt>
                <c:pt idx="386">
                  <c:v>19.3</c:v>
                </c:pt>
                <c:pt idx="387">
                  <c:v>19.350000000000001</c:v>
                </c:pt>
                <c:pt idx="388">
                  <c:v>19.399999999999999</c:v>
                </c:pt>
                <c:pt idx="389">
                  <c:v>19.45</c:v>
                </c:pt>
                <c:pt idx="390">
                  <c:v>19.5</c:v>
                </c:pt>
                <c:pt idx="391">
                  <c:v>19.55</c:v>
                </c:pt>
                <c:pt idx="392">
                  <c:v>19.600000000000001</c:v>
                </c:pt>
                <c:pt idx="393">
                  <c:v>19.649999999999999</c:v>
                </c:pt>
                <c:pt idx="394">
                  <c:v>19.7</c:v>
                </c:pt>
                <c:pt idx="395">
                  <c:v>19.75</c:v>
                </c:pt>
                <c:pt idx="396">
                  <c:v>19.8</c:v>
                </c:pt>
                <c:pt idx="397">
                  <c:v>19.850000000000001</c:v>
                </c:pt>
                <c:pt idx="398">
                  <c:v>19.899999999999999</c:v>
                </c:pt>
                <c:pt idx="399">
                  <c:v>19.95</c:v>
                </c:pt>
                <c:pt idx="400">
                  <c:v>20</c:v>
                </c:pt>
              </c:numCache>
            </c:numRef>
          </c:xVal>
          <c:yVal>
            <c:numRef>
              <c:f>Sheet1!$B$2:$B$402</c:f>
              <c:numCache>
                <c:formatCode>General</c:formatCode>
                <c:ptCount val="401"/>
                <c:pt idx="0">
                  <c:v>0</c:v>
                </c:pt>
                <c:pt idx="1">
                  <c:v>0</c:v>
                </c:pt>
                <c:pt idx="2">
                  <c:v>0</c:v>
                </c:pt>
                <c:pt idx="3">
                  <c:v>0</c:v>
                </c:pt>
                <c:pt idx="4">
                  <c:v>0</c:v>
                </c:pt>
                <c:pt idx="5">
                  <c:v>0</c:v>
                </c:pt>
                <c:pt idx="6">
                  <c:v>0</c:v>
                </c:pt>
                <c:pt idx="7">
                  <c:v>0</c:v>
                </c:pt>
                <c:pt idx="8">
                  <c:v>0</c:v>
                </c:pt>
                <c:pt idx="9">
                  <c:v>-2.2204460492503131E-14</c:v>
                </c:pt>
                <c:pt idx="10">
                  <c:v>0</c:v>
                </c:pt>
                <c:pt idx="11">
                  <c:v>-2.2204460492503131E-14</c:v>
                </c:pt>
                <c:pt idx="12">
                  <c:v>-2.2204460492503131E-14</c:v>
                </c:pt>
                <c:pt idx="13">
                  <c:v>0</c:v>
                </c:pt>
                <c:pt idx="14">
                  <c:v>0</c:v>
                </c:pt>
                <c:pt idx="15">
                  <c:v>0</c:v>
                </c:pt>
                <c:pt idx="16">
                  <c:v>2.2204460492503131E-14</c:v>
                </c:pt>
                <c:pt idx="17">
                  <c:v>7.7715611723760958E-14</c:v>
                </c:pt>
                <c:pt idx="18">
                  <c:v>2.6645352591003757E-13</c:v>
                </c:pt>
                <c:pt idx="19">
                  <c:v>8.659739592076221E-13</c:v>
                </c:pt>
                <c:pt idx="20">
                  <c:v>2.55351295663786E-12</c:v>
                </c:pt>
                <c:pt idx="21">
                  <c:v>7.2275518903097691E-12</c:v>
                </c:pt>
                <c:pt idx="22">
                  <c:v>1.9073631563060189E-11</c:v>
                </c:pt>
                <c:pt idx="23">
                  <c:v>4.7961634663806763E-11</c:v>
                </c:pt>
                <c:pt idx="24">
                  <c:v>1.1539658117953877E-10</c:v>
                </c:pt>
                <c:pt idx="25">
                  <c:v>2.6638691252856006E-10</c:v>
                </c:pt>
                <c:pt idx="26">
                  <c:v>5.918265877369322E-10</c:v>
                </c:pt>
                <c:pt idx="27">
                  <c:v>1.2689960193768002E-9</c:v>
                </c:pt>
                <c:pt idx="28">
                  <c:v>2.6330271296615138E-9</c:v>
                </c:pt>
                <c:pt idx="29">
                  <c:v>5.2985948961747908E-9</c:v>
                </c:pt>
                <c:pt idx="30">
                  <c:v>1.0362810609620965E-8</c:v>
                </c:pt>
                <c:pt idx="31">
                  <c:v>1.9734758271994224E-8</c:v>
                </c:pt>
                <c:pt idx="32">
                  <c:v>3.6656533364265442E-8</c:v>
                </c:pt>
                <c:pt idx="33">
                  <c:v>6.6513405894141897E-8</c:v>
                </c:pt>
                <c:pt idx="34">
                  <c:v>1.1806238209288722E-7</c:v>
                </c:pt>
                <c:pt idx="35">
                  <c:v>2.052648162553794E-7</c:v>
                </c:pt>
                <c:pt idx="36">
                  <c:v>3.4996660014385839E-7</c:v>
                </c:pt>
                <c:pt idx="37">
                  <c:v>5.8575300165841782E-7</c:v>
                </c:pt>
                <c:pt idx="38">
                  <c:v>9.6340219135626626E-7</c:v>
                </c:pt>
                <c:pt idx="39">
                  <c:v>1.5584829093917563E-6</c:v>
                </c:pt>
                <c:pt idx="40">
                  <c:v>2.4817817800837361E-6</c:v>
                </c:pt>
                <c:pt idx="41">
                  <c:v>3.8934189316996992E-6</c:v>
                </c:pt>
                <c:pt idx="42">
                  <c:v>6.0216992392447821E-6</c:v>
                </c:pt>
                <c:pt idx="43">
                  <c:v>9.1879693076002411E-6</c:v>
                </c:pt>
                <c:pt idx="44">
                  <c:v>1.3838997758863769E-5</c:v>
                </c:pt>
                <c:pt idx="45">
                  <c:v>2.0588660420983729E-5</c:v>
                </c:pt>
                <c:pt idx="46">
                  <c:v>3.0271011686178184E-5</c:v>
                </c:pt>
                <c:pt idx="47">
                  <c:v>4.4007117605548984E-5</c:v>
                </c:pt>
                <c:pt idx="48">
                  <c:v>6.3288358054247595E-5</c:v>
                </c:pt>
                <c:pt idx="49">
                  <c:v>9.0079215253613398E-5</c:v>
                </c:pt>
                <c:pt idx="50">
                  <c:v>1.2694288609171878E-4</c:v>
                </c:pt>
                <c:pt idx="51">
                  <c:v>1.7719335889676557E-4</c:v>
                </c:pt>
                <c:pt idx="52">
                  <c:v>2.450778650686658E-4</c:v>
                </c:pt>
                <c:pt idx="53">
                  <c:v>3.3599385687033134E-4</c:v>
                </c:pt>
                <c:pt idx="54">
                  <c:v>4.5674484266955417E-4</c:v>
                </c:pt>
                <c:pt idx="55">
                  <c:v>6.1583954193977775E-4</c:v>
                </c:pt>
                <c:pt idx="56">
                  <c:v>8.2383885523507061E-4</c:v>
                </c:pt>
                <c:pt idx="57">
                  <c:v>1.0937551111256383E-3</c:v>
                </c:pt>
                <c:pt idx="58">
                  <c:v>1.4415078980700713E-3</c:v>
                </c:pt>
                <c:pt idx="59">
                  <c:v>1.8864405373131277E-3</c:v>
                </c:pt>
                <c:pt idx="60">
                  <c:v>2.4519008763101979E-3</c:v>
                </c:pt>
                <c:pt idx="61">
                  <c:v>3.1658895757180616E-3</c:v>
                </c:pt>
                <c:pt idx="62">
                  <c:v>4.0617784336061113E-3</c:v>
                </c:pt>
                <c:pt idx="63">
                  <c:v>5.1791005240553467E-3</c:v>
                </c:pt>
                <c:pt idx="64">
                  <c:v>6.5644130312847437E-3</c:v>
                </c:pt>
                <c:pt idx="65">
                  <c:v>8.2722326475881403E-3</c:v>
                </c:pt>
                <c:pt idx="66">
                  <c:v>1.0366042258114216E-2</c:v>
                </c:pt>
                <c:pt idx="67">
                  <c:v>1.291936640500646E-2</c:v>
                </c:pt>
                <c:pt idx="68">
                  <c:v>1.6016911691307811E-2</c:v>
                </c:pt>
                <c:pt idx="69">
                  <c:v>1.9755766883533532E-2</c:v>
                </c:pt>
                <c:pt idx="70">
                  <c:v>2.4246656019277779E-2</c:v>
                </c:pt>
                <c:pt idx="71">
                  <c:v>2.9615236351432372E-2</c:v>
                </c:pt>
                <c:pt idx="72">
                  <c:v>3.6003431479147974E-2</c:v>
                </c:pt>
                <c:pt idx="73">
                  <c:v>4.3570788551683393E-2</c:v>
                </c:pt>
                <c:pt idx="74">
                  <c:v>5.2495847042710597E-2</c:v>
                </c:pt>
                <c:pt idx="75">
                  <c:v>6.2977505249584009E-2</c:v>
                </c:pt>
                <c:pt idx="76">
                  <c:v>7.523636948191248E-2</c:v>
                </c:pt>
                <c:pt idx="77">
                  <c:v>8.9516069797246356E-2</c:v>
                </c:pt>
                <c:pt idx="78">
                  <c:v>0.10608452525641132</c:v>
                </c:pt>
                <c:pt idx="79">
                  <c:v>0.12523514090934107</c:v>
                </c:pt>
                <c:pt idx="80">
                  <c:v>0.14728791823149789</c:v>
                </c:pt>
                <c:pt idx="81">
                  <c:v>0.17259046040608572</c:v>
                </c:pt>
                <c:pt idx="82">
                  <c:v>0.20151885380907952</c:v>
                </c:pt>
                <c:pt idx="83">
                  <c:v>0.23447840725047131</c:v>
                </c:pt>
                <c:pt idx="84">
                  <c:v>0.2719042309676567</c:v>
                </c:pt>
                <c:pt idx="85">
                  <c:v>0.31426163811402175</c:v>
                </c:pt>
                <c:pt idx="86">
                  <c:v>0.36204635242602645</c:v>
                </c:pt>
                <c:pt idx="87">
                  <c:v>0.41578450703926295</c:v>
                </c:pt>
                <c:pt idx="88">
                  <c:v>0.47603242085230146</c:v>
                </c:pt>
                <c:pt idx="89">
                  <c:v>0.54337614059751793</c:v>
                </c:pt>
                <c:pt idx="90">
                  <c:v>0.6184307386750465</c:v>
                </c:pt>
                <c:pt idx="91">
                  <c:v>0.70183935892523808</c:v>
                </c:pt>
                <c:pt idx="92">
                  <c:v>0.79427200481819726</c:v>
                </c:pt>
                <c:pt idx="93">
                  <c:v>0.89642406693956067</c:v>
                </c:pt>
                <c:pt idx="94">
                  <c:v>1.0090145891815783</c:v>
                </c:pt>
                <c:pt idx="95">
                  <c:v>1.1327842756779227</c:v>
                </c:pt>
                <c:pt idx="96">
                  <c:v>1.2684932431305529</c:v>
                </c:pt>
                <c:pt idx="97">
                  <c:v>1.4169185258669947</c:v>
                </c:pt>
                <c:pt idx="98">
                  <c:v>1.5788513435706975</c:v>
                </c:pt>
                <c:pt idx="99">
                  <c:v>1.7550941442155743</c:v>
                </c:pt>
                <c:pt idx="100">
                  <c:v>1.9464574372022314</c:v>
                </c:pt>
                <c:pt idx="101">
                  <c:v>2.1537564340373794</c:v>
                </c:pt>
                <c:pt idx="102">
                  <c:v>2.3778075161249412</c:v>
                </c:pt>
                <c:pt idx="103">
                  <c:v>2.6194245512164871</c:v>
                </c:pt>
                <c:pt idx="104">
                  <c:v>2.8794150819079989</c:v>
                </c:pt>
                <c:pt idx="105">
                  <c:v>3.1585764111389247</c:v>
                </c:pt>
                <c:pt idx="106">
                  <c:v>3.457691610981739</c:v>
                </c:pt>
                <c:pt idx="107">
                  <c:v>3.7775254820976212</c:v>
                </c:pt>
                <c:pt idx="108">
                  <c:v>4.1188204920237448</c:v>
                </c:pt>
                <c:pt idx="109">
                  <c:v>4.4822927209823504</c:v>
                </c:pt>
                <c:pt idx="110">
                  <c:v>4.8686278441404829</c:v>
                </c:pt>
                <c:pt idx="111">
                  <c:v>5.2784771791968277</c:v>
                </c:pt>
                <c:pt idx="112">
                  <c:v>5.7124538278527375</c:v>
                </c:pt>
                <c:pt idx="113">
                  <c:v>6.1711289391023545</c:v>
                </c:pt>
                <c:pt idx="114">
                  <c:v>6.6550281214309166</c:v>
                </c:pt>
                <c:pt idx="115">
                  <c:v>7.1646280298701122</c:v>
                </c:pt>
                <c:pt idx="116">
                  <c:v>7.7003531525151043</c:v>
                </c:pt>
                <c:pt idx="117">
                  <c:v>8.2625728195279251</c:v>
                </c:pt>
                <c:pt idx="118">
                  <c:v>8.851598455882403</c:v>
                </c:pt>
                <c:pt idx="119">
                  <c:v>9.4676810971549674</c:v>
                </c:pt>
                <c:pt idx="120">
                  <c:v>10.111009185571074</c:v>
                </c:pt>
                <c:pt idx="121">
                  <c:v>10.781706661280232</c:v>
                </c:pt>
                <c:pt idx="122">
                  <c:v>11.479831361520276</c:v>
                </c:pt>
                <c:pt idx="123">
                  <c:v>12.205373737897807</c:v>
                </c:pt>
                <c:pt idx="124">
                  <c:v>12.958255899581117</c:v>
                </c:pt>
                <c:pt idx="125">
                  <c:v>13.738330987711556</c:v>
                </c:pt>
                <c:pt idx="126">
                  <c:v>14.545382883837144</c:v>
                </c:pt>
                <c:pt idx="127">
                  <c:v>15.379126252746445</c:v>
                </c:pt>
                <c:pt idx="128">
                  <c:v>16.239206917639525</c:v>
                </c:pt>
                <c:pt idx="129">
                  <c:v>17.125202563239771</c:v>
                </c:pt>
                <c:pt idx="130">
                  <c:v>18.03662376019588</c:v>
                </c:pt>
                <c:pt idx="131">
                  <c:v>18.972915301963244</c:v>
                </c:pt>
                <c:pt idx="132">
                  <c:v>19.933457843348844</c:v>
                </c:pt>
                <c:pt idx="133">
                  <c:v>20.917569827986227</c:v>
                </c:pt>
                <c:pt idx="134">
                  <c:v>21.924509690290328</c:v>
                </c:pt>
                <c:pt idx="135">
                  <c:v>22.953478315873799</c:v>
                </c:pt>
                <c:pt idx="136">
                  <c:v>24.003621742966619</c:v>
                </c:pt>
                <c:pt idx="137">
                  <c:v>25.074034086186536</c:v>
                </c:pt>
                <c:pt idx="138">
                  <c:v>26.163760662950541</c:v>
                </c:pt>
                <c:pt idx="139">
                  <c:v>27.271801301923816</c:v>
                </c:pt>
                <c:pt idx="140">
                  <c:v>28.397113812277329</c:v>
                </c:pt>
                <c:pt idx="141">
                  <c:v>29.538617591961845</c:v>
                </c:pt>
                <c:pt idx="142">
                  <c:v>30.695197352942728</c:v>
                </c:pt>
                <c:pt idx="143">
                  <c:v>31.865706941160077</c:v>
                </c:pt>
                <c:pt idx="144">
                  <c:v>33.048973229017619</c:v>
                </c:pt>
                <c:pt idx="145">
                  <c:v>34.243800058394847</c:v>
                </c:pt>
                <c:pt idx="146">
                  <c:v>35.448972212502561</c:v>
                </c:pt>
                <c:pt idx="147">
                  <c:v>36.663259395404765</c:v>
                </c:pt>
                <c:pt idx="148">
                  <c:v>37.885420198635622</c:v>
                </c:pt>
                <c:pt idx="149">
                  <c:v>39.114206035075327</c:v>
                </c:pt>
                <c:pt idx="150">
                  <c:v>40.348365021127385</c:v>
                </c:pt>
                <c:pt idx="151">
                  <c:v>41.586645789152264</c:v>
                </c:pt>
                <c:pt idx="152">
                  <c:v>42.827801213185488</c:v>
                </c:pt>
                <c:pt idx="153">
                  <c:v>44.07059203205764</c:v>
                </c:pt>
                <c:pt idx="154">
                  <c:v>45.313790355215858</c:v>
                </c:pt>
                <c:pt idx="155">
                  <c:v>46.556183037775568</c:v>
                </c:pt>
                <c:pt idx="156">
                  <c:v>47.796574912590096</c:v>
                </c:pt>
                <c:pt idx="157">
                  <c:v>49.033791868404521</c:v>
                </c:pt>
                <c:pt idx="158">
                  <c:v>50.266683764497188</c:v>
                </c:pt>
                <c:pt idx="159">
                  <c:v>51.494127173472528</c:v>
                </c:pt>
                <c:pt idx="160">
                  <c:v>52.715027945225536</c:v>
                </c:pt>
                <c:pt idx="161">
                  <c:v>53.928323586346004</c:v>
                </c:pt>
                <c:pt idx="162">
                  <c:v>55.132985450518632</c:v>
                </c:pt>
                <c:pt idx="163">
                  <c:v>56.328020736703706</c:v>
                </c:pt>
                <c:pt idx="164">
                  <c:v>57.512474293070156</c:v>
                </c:pt>
                <c:pt idx="165">
                  <c:v>58.68543022581585</c:v>
                </c:pt>
                <c:pt idx="166">
                  <c:v>59.846013313093849</c:v>
                </c:pt>
                <c:pt idx="167">
                  <c:v>60.993390225309781</c:v>
                </c:pt>
                <c:pt idx="168">
                  <c:v>62.126770554041357</c:v>
                </c:pt>
                <c:pt idx="169">
                  <c:v>63.245407652733945</c:v>
                </c:pt>
                <c:pt idx="170">
                  <c:v>64.348599293187746</c:v>
                </c:pt>
                <c:pt idx="171">
                  <c:v>65.435688142625978</c:v>
                </c:pt>
                <c:pt idx="172">
                  <c:v>66.506062066841579</c:v>
                </c:pt>
                <c:pt idx="173">
                  <c:v>67.559154265561574</c:v>
                </c:pt>
                <c:pt idx="174">
                  <c:v>68.594443246733405</c:v>
                </c:pt>
                <c:pt idx="175">
                  <c:v>69.611452646931383</c:v>
                </c:pt>
                <c:pt idx="176">
                  <c:v>70.609750905510765</c:v>
                </c:pt>
                <c:pt idx="177">
                  <c:v>71.588950800488774</c:v>
                </c:pt>
                <c:pt idx="178">
                  <c:v>72.548708854427744</c:v>
                </c:pt>
                <c:pt idx="179">
                  <c:v>73.488724618813166</c:v>
                </c:pt>
                <c:pt idx="180">
                  <c:v>74.408739845591001</c:v>
                </c:pt>
                <c:pt idx="181">
                  <c:v>75.308537554623925</c:v>
                </c:pt>
                <c:pt idx="182">
                  <c:v>76.187941005878443</c:v>
                </c:pt>
                <c:pt idx="183">
                  <c:v>77.046812585151969</c:v>
                </c:pt>
                <c:pt idx="184">
                  <c:v>77.885052612080841</c:v>
                </c:pt>
                <c:pt idx="185">
                  <c:v>78.702598079087807</c:v>
                </c:pt>
                <c:pt idx="186">
                  <c:v>79.499421329765681</c:v>
                </c:pt>
                <c:pt idx="187">
                  <c:v>80.275528685023531</c:v>
                </c:pt>
                <c:pt idx="188">
                  <c:v>81.030959025100373</c:v>
                </c:pt>
                <c:pt idx="189">
                  <c:v>81.765782335298411</c:v>
                </c:pt>
                <c:pt idx="190">
                  <c:v>82.480098223021031</c:v>
                </c:pt>
                <c:pt idx="191">
                  <c:v>83.174034413388014</c:v>
                </c:pt>
                <c:pt idx="192">
                  <c:v>83.847745230391055</c:v>
                </c:pt>
                <c:pt idx="193">
                  <c:v>84.50141007020504</c:v>
                </c:pt>
                <c:pt idx="194">
                  <c:v>85.135231872923328</c:v>
                </c:pt>
                <c:pt idx="195">
                  <c:v>85.749435598619442</c:v>
                </c:pt>
                <c:pt idx="196">
                  <c:v>86.344266713267103</c:v>
                </c:pt>
                <c:pt idx="197">
                  <c:v>86.919989689673955</c:v>
                </c:pt>
                <c:pt idx="198">
                  <c:v>87.476886528205952</c:v>
                </c:pt>
                <c:pt idx="199">
                  <c:v>88.015255301698048</c:v>
                </c:pt>
                <c:pt idx="200">
                  <c:v>88.535408728572591</c:v>
                </c:pt>
                <c:pt idx="201">
                  <c:v>89.037672777812787</c:v>
                </c:pt>
                <c:pt idx="202">
                  <c:v>89.522385309070259</c:v>
                </c:pt>
                <c:pt idx="203">
                  <c:v>89.989894750832278</c:v>
                </c:pt>
                <c:pt idx="204">
                  <c:v>90.440558819216207</c:v>
                </c:pt>
                <c:pt idx="205">
                  <c:v>90.874743279629527</c:v>
                </c:pt>
                <c:pt idx="206">
                  <c:v>91.292820753198185</c:v>
                </c:pt>
                <c:pt idx="207">
                  <c:v>91.695169569558956</c:v>
                </c:pt>
                <c:pt idx="208">
                  <c:v>92.082172667305414</c:v>
                </c:pt>
                <c:pt idx="209">
                  <c:v>92.4542165430951</c:v>
                </c:pt>
                <c:pt idx="210">
                  <c:v>92.811690250152935</c:v>
                </c:pt>
                <c:pt idx="211">
                  <c:v>93.154984446648854</c:v>
                </c:pt>
                <c:pt idx="212">
                  <c:v>93.484490494190808</c:v>
                </c:pt>
                <c:pt idx="213">
                  <c:v>93.800599606446553</c:v>
                </c:pt>
                <c:pt idx="214">
                  <c:v>94.103702047700963</c:v>
                </c:pt>
                <c:pt idx="215">
                  <c:v>94.394186380963816</c:v>
                </c:pt>
                <c:pt idx="216">
                  <c:v>94.672438765062878</c:v>
                </c:pt>
                <c:pt idx="217">
                  <c:v>94.938842299999266</c:v>
                </c:pt>
                <c:pt idx="218">
                  <c:v>95.193776419692625</c:v>
                </c:pt>
                <c:pt idx="219">
                  <c:v>95.437616331113517</c:v>
                </c:pt>
                <c:pt idx="220">
                  <c:v>95.67073249868227</c:v>
                </c:pt>
                <c:pt idx="221">
                  <c:v>95.8934901727105</c:v>
                </c:pt>
                <c:pt idx="222">
                  <c:v>96.106248960570269</c:v>
                </c:pt>
                <c:pt idx="223">
                  <c:v>96.30936243919993</c:v>
                </c:pt>
                <c:pt idx="224">
                  <c:v>96.503177807487532</c:v>
                </c:pt>
                <c:pt idx="225">
                  <c:v>96.688035577022688</c:v>
                </c:pt>
                <c:pt idx="226">
                  <c:v>96.864269299660791</c:v>
                </c:pt>
                <c:pt idx="227">
                  <c:v>97.032205330314099</c:v>
                </c:pt>
                <c:pt idx="228">
                  <c:v>97.192162623358854</c:v>
                </c:pt>
                <c:pt idx="229">
                  <c:v>97.344452561035283</c:v>
                </c:pt>
                <c:pt idx="230">
                  <c:v>97.489378812209836</c:v>
                </c:pt>
                <c:pt idx="231">
                  <c:v>97.627237219873393</c:v>
                </c:pt>
                <c:pt idx="232">
                  <c:v>97.758315715754989</c:v>
                </c:pt>
                <c:pt idx="233">
                  <c:v>97.882894260449646</c:v>
                </c:pt>
                <c:pt idx="234">
                  <c:v>98.001244807477178</c:v>
                </c:pt>
                <c:pt idx="235">
                  <c:v>98.113631289717389</c:v>
                </c:pt>
                <c:pt idx="236">
                  <c:v>98.220309626697585</c:v>
                </c:pt>
                <c:pt idx="237">
                  <c:v>98.321527751243977</c:v>
                </c:pt>
                <c:pt idx="238">
                  <c:v>98.417525654047608</c:v>
                </c:pt>
                <c:pt idx="239">
                  <c:v>98.508535444737731</c:v>
                </c:pt>
                <c:pt idx="240">
                  <c:v>98.594781428100873</c:v>
                </c:pt>
                <c:pt idx="241">
                  <c:v>98.676480194130178</c:v>
                </c:pt>
                <c:pt idx="242">
                  <c:v>98.753840720639872</c:v>
                </c:pt>
                <c:pt idx="243">
                  <c:v>98.827064487229009</c:v>
                </c:pt>
                <c:pt idx="244">
                  <c:v>98.896345599431228</c:v>
                </c:pt>
                <c:pt idx="245">
                  <c:v>98.961870921938612</c:v>
                </c:pt>
                <c:pt idx="246">
                  <c:v>99.02382021984161</c:v>
                </c:pt>
                <c:pt idx="247">
                  <c:v>99.08236630687864</c:v>
                </c:pt>
                <c:pt idx="248">
                  <c:v>99.13767519974283</c:v>
                </c:pt>
                <c:pt idx="249">
                  <c:v>99.189906277545091</c:v>
                </c:pt>
                <c:pt idx="250">
                  <c:v>99.239212445584911</c:v>
                </c:pt>
                <c:pt idx="251">
                  <c:v>99.285740302631169</c:v>
                </c:pt>
                <c:pt idx="252">
                  <c:v>99.32963031096557</c:v>
                </c:pt>
                <c:pt idx="253">
                  <c:v>99.371016968490196</c:v>
                </c:pt>
                <c:pt idx="254">
                  <c:v>99.410028982248576</c:v>
                </c:pt>
                <c:pt idx="255">
                  <c:v>99.446789442756327</c:v>
                </c:pt>
                <c:pt idx="256">
                  <c:v>99.481415998582122</c:v>
                </c:pt>
                <c:pt idx="257">
                  <c:v>99.514021030663841</c:v>
                </c:pt>
                <c:pt idx="258">
                  <c:v>99.544711825886182</c:v>
                </c:pt>
                <c:pt idx="259">
                  <c:v>99.573590749486556</c:v>
                </c:pt>
                <c:pt idx="260">
                  <c:v>99.600755415895321</c:v>
                </c:pt>
                <c:pt idx="261">
                  <c:v>99.626298857652102</c:v>
                </c:pt>
                <c:pt idx="262">
                  <c:v>99.650309692076604</c:v>
                </c:pt>
                <c:pt idx="263">
                  <c:v>99.672872285405049</c:v>
                </c:pt>
                <c:pt idx="264">
                  <c:v>99.694066914135348</c:v>
                </c:pt>
                <c:pt idx="265">
                  <c:v>99.713969923354213</c:v>
                </c:pt>
                <c:pt idx="266">
                  <c:v>99.732653881848137</c:v>
                </c:pt>
                <c:pt idx="267">
                  <c:v>99.750187733826536</c:v>
                </c:pt>
                <c:pt idx="268">
                  <c:v>99.766636947110626</c:v>
                </c:pt>
                <c:pt idx="269">
                  <c:v>99.782063657665304</c:v>
                </c:pt>
                <c:pt idx="270">
                  <c:v>99.796526810372981</c:v>
                </c:pt>
                <c:pt idx="271">
                  <c:v>99.810082295969224</c:v>
                </c:pt>
                <c:pt idx="272">
                  <c:v>99.822783084078452</c:v>
                </c:pt>
                <c:pt idx="273">
                  <c:v>99.834679352306225</c:v>
                </c:pt>
                <c:pt idx="274">
                  <c:v>99.845818611360201</c:v>
                </c:pt>
                <c:pt idx="275">
                  <c:v>99.856245826187632</c:v>
                </c:pt>
                <c:pt idx="276">
                  <c:v>99.866003533129742</c:v>
                </c:pt>
                <c:pt idx="277">
                  <c:v>99.875131953107186</c:v>
                </c:pt>
                <c:pt idx="278">
                  <c:v>99.883669100860928</c:v>
                </c:pt>
                <c:pt idx="279">
                  <c:v>99.891650890283941</c:v>
                </c:pt>
                <c:pt idx="280">
                  <c:v>99.899111235887872</c:v>
                </c:pt>
                <c:pt idx="281">
                  <c:v>99.906082150457422</c:v>
                </c:pt>
                <c:pt idx="282">
                  <c:v>99.912593838952162</c:v>
                </c:pt>
                <c:pt idx="283">
                  <c:v>99.918674788722413</c:v>
                </c:pt>
                <c:pt idx="284">
                  <c:v>99.924351856110974</c:v>
                </c:pt>
                <c:pt idx="285">
                  <c:v>99.929650349517857</c:v>
                </c:pt>
                <c:pt idx="286">
                  <c:v>99.934594109009069</c:v>
                </c:pt>
                <c:pt idx="287">
                  <c:v>99.939205582554152</c:v>
                </c:pt>
                <c:pt idx="288">
                  <c:v>99.943505898980007</c:v>
                </c:pt>
                <c:pt idx="289">
                  <c:v>99.947514937731015</c:v>
                </c:pt>
                <c:pt idx="290">
                  <c:v>99.951251395527123</c:v>
                </c:pt>
                <c:pt idx="291">
                  <c:v>99.954732850013059</c:v>
                </c:pt>
                <c:pt idx="292">
                  <c:v>99.957975820492635</c:v>
                </c:pt>
                <c:pt idx="293">
                  <c:v>99.960995825842446</c:v>
                </c:pt>
                <c:pt idx="294">
                  <c:v>99.963807439699863</c:v>
                </c:pt>
                <c:pt idx="295">
                  <c:v>99.966424343019412</c:v>
                </c:pt>
                <c:pt idx="296">
                  <c:v>99.968859374091338</c:v>
                </c:pt>
                <c:pt idx="297">
                  <c:v>99.971124576115685</c:v>
                </c:pt>
                <c:pt idx="298">
                  <c:v>99.973231242423537</c:v>
                </c:pt>
                <c:pt idx="299">
                  <c:v>99.975189959436321</c:v>
                </c:pt>
                <c:pt idx="300">
                  <c:v>99.977010647452417</c:v>
                </c:pt>
                <c:pt idx="301">
                  <c:v>99.978702599348736</c:v>
                </c:pt>
                <c:pt idx="302">
                  <c:v>99.980274517283064</c:v>
                </c:pt>
                <c:pt idx="303">
                  <c:v>99.98173454748131</c:v>
                </c:pt>
                <c:pt idx="304">
                  <c:v>99.983090313191454</c:v>
                </c:pt>
                <c:pt idx="305">
                  <c:v>99.984348945884278</c:v>
                </c:pt>
                <c:pt idx="306">
                  <c:v>99.985517114778517</c:v>
                </c:pt>
                <c:pt idx="307">
                  <c:v>99.986601054765998</c:v>
                </c:pt>
                <c:pt idx="308">
                  <c:v>99.987606592809954</c:v>
                </c:pt>
                <c:pt idx="309">
                  <c:v>99.988539172887585</c:v>
                </c:pt>
                <c:pt idx="310">
                  <c:v>99.989403879545506</c:v>
                </c:pt>
                <c:pt idx="311">
                  <c:v>99.990205460134291</c:v>
                </c:pt>
                <c:pt idx="312">
                  <c:v>99.990948345786407</c:v>
                </c:pt>
                <c:pt idx="313">
                  <c:v>99.99163667119889</c:v>
                </c:pt>
                <c:pt idx="314">
                  <c:v>99.992274293280545</c:v>
                </c:pt>
                <c:pt idx="315">
                  <c:v>99.992864808720583</c:v>
                </c:pt>
                <c:pt idx="316">
                  <c:v>99.993411570533624</c:v>
                </c:pt>
                <c:pt idx="317">
                  <c:v>99.99391770363394</c:v>
                </c:pt>
                <c:pt idx="318">
                  <c:v>99.994386119489292</c:v>
                </c:pt>
                <c:pt idx="319">
                  <c:v>99.994819529902884</c:v>
                </c:pt>
                <c:pt idx="320">
                  <c:v>99.995220459969687</c:v>
                </c:pt>
                <c:pt idx="321">
                  <c:v>99.9955912602517</c:v>
                </c:pt>
                <c:pt idx="322">
                  <c:v>99.995934118214137</c:v>
                </c:pt>
                <c:pt idx="323">
                  <c:v>99.996251068963247</c:v>
                </c:pt>
                <c:pt idx="324">
                  <c:v>99.996544005324324</c:v>
                </c:pt>
                <c:pt idx="325">
                  <c:v>99.996814687296478</c:v>
                </c:pt>
                <c:pt idx="326">
                  <c:v>99.997064750919407</c:v>
                </c:pt>
                <c:pt idx="327">
                  <c:v>99.997295716585484</c:v>
                </c:pt>
                <c:pt idx="328">
                  <c:v>99.997508996828671</c:v>
                </c:pt>
                <c:pt idx="329">
                  <c:v>99.997705903620627</c:v>
                </c:pt>
                <c:pt idx="330">
                  <c:v>99.997887655202462</c:v>
                </c:pt>
                <c:pt idx="331">
                  <c:v>99.998055382479478</c:v>
                </c:pt>
                <c:pt idx="332">
                  <c:v>99.998210135004499</c:v>
                </c:pt>
                <c:pt idx="333">
                  <c:v>99.998352886574239</c:v>
                </c:pt>
                <c:pt idx="334">
                  <c:v>99.998484540462002</c:v>
                </c:pt>
                <c:pt idx="335">
                  <c:v>99.998605934308387</c:v>
                </c:pt>
                <c:pt idx="336">
                  <c:v>99.998717844691058</c:v>
                </c:pt>
                <c:pt idx="337">
                  <c:v>99.998820991392677</c:v>
                </c:pt>
                <c:pt idx="338">
                  <c:v>99.998916041386167</c:v>
                </c:pt>
                <c:pt idx="339">
                  <c:v>99.999003612554191</c:v>
                </c:pt>
                <c:pt idx="340">
                  <c:v>99.999084277159881</c:v>
                </c:pt>
                <c:pt idx="341">
                  <c:v>99.99915856508396</c:v>
                </c:pt>
                <c:pt idx="342">
                  <c:v>99.999226966843395</c:v>
                </c:pt>
                <c:pt idx="343">
                  <c:v>99.999289936405006</c:v>
                </c:pt>
                <c:pt idx="344">
                  <c:v>99.999347893807453</c:v>
                </c:pt>
                <c:pt idx="345">
                  <c:v>99.999401227603698</c:v>
                </c:pt>
                <c:pt idx="346">
                  <c:v>99.999450297135468</c:v>
                </c:pt>
                <c:pt idx="347">
                  <c:v>99.999495434650782</c:v>
                </c:pt>
                <c:pt idx="348">
                  <c:v>99.999536947274663</c:v>
                </c:pt>
                <c:pt idx="349">
                  <c:v>99.9995751188426</c:v>
                </c:pt>
                <c:pt idx="350">
                  <c:v>99.999610211605912</c:v>
                </c:pt>
                <c:pt idx="351">
                  <c:v>99.999642467817424</c:v>
                </c:pt>
                <c:pt idx="352">
                  <c:v>99.999672111205385</c:v>
                </c:pt>
                <c:pt idx="353">
                  <c:v>99.999699348343242</c:v>
                </c:pt>
                <c:pt idx="354">
                  <c:v>99.999724369922021</c:v>
                </c:pt>
                <c:pt idx="355">
                  <c:v>99.999747351932143</c:v>
                </c:pt>
                <c:pt idx="356">
                  <c:v>99.999768456760691</c:v>
                </c:pt>
                <c:pt idx="357">
                  <c:v>99.999787834209826</c:v>
                </c:pt>
                <c:pt idx="358">
                  <c:v>99.999805622441812</c:v>
                </c:pt>
                <c:pt idx="359">
                  <c:v>99.999821948855868</c:v>
                </c:pt>
                <c:pt idx="360">
                  <c:v>99.999836930901168</c:v>
                </c:pt>
                <c:pt idx="361">
                  <c:v>99.999850676830732</c:v>
                </c:pt>
                <c:pt idx="362">
                  <c:v>99.999863286400227</c:v>
                </c:pt>
                <c:pt idx="363">
                  <c:v>99.999874851515528</c:v>
                </c:pt>
                <c:pt idx="364">
                  <c:v>99.999885456832644</c:v>
                </c:pt>
                <c:pt idx="365">
                  <c:v>99.999895180313203</c:v>
                </c:pt>
                <c:pt idx="366">
                  <c:v>99.999904093739076</c:v>
                </c:pt>
                <c:pt idx="367">
                  <c:v>99.999912263188534</c:v>
                </c:pt>
                <c:pt idx="368">
                  <c:v>99.999919749476987</c:v>
                </c:pt>
                <c:pt idx="369">
                  <c:v>99.999926608564763</c:v>
                </c:pt>
                <c:pt idx="370">
                  <c:v>99.999932891934307</c:v>
                </c:pt>
                <c:pt idx="371">
                  <c:v>99.999938646939</c:v>
                </c:pt>
                <c:pt idx="372">
                  <c:v>99.999943917125577</c:v>
                </c:pt>
                <c:pt idx="373">
                  <c:v>99.999948742532268</c:v>
                </c:pt>
                <c:pt idx="374">
                  <c:v>99.999953159964164</c:v>
                </c:pt>
                <c:pt idx="375">
                  <c:v>99.999957203247703</c:v>
                </c:pt>
                <c:pt idx="376">
                  <c:v>99.999960903465691</c:v>
                </c:pt>
                <c:pt idx="377">
                  <c:v>99.999964289174301</c:v>
                </c:pt>
                <c:pt idx="378">
                  <c:v>99.99996738660343</c:v>
                </c:pt>
                <c:pt idx="379">
                  <c:v>99.999970219841586</c:v>
                </c:pt>
                <c:pt idx="380">
                  <c:v>99.999972811006515</c:v>
                </c:pt>
                <c:pt idx="381">
                  <c:v>99.999975180402657</c:v>
                </c:pt>
                <c:pt idx="382">
                  <c:v>99.999977346666256</c:v>
                </c:pt>
                <c:pt idx="383">
                  <c:v>99.999979326899251</c:v>
                </c:pt>
                <c:pt idx="384">
                  <c:v>99.999981136792684</c:v>
                </c:pt>
                <c:pt idx="385">
                  <c:v>99.999982790740503</c:v>
                </c:pt>
                <c:pt idx="386">
                  <c:v>99.999984301944281</c:v>
                </c:pt>
                <c:pt idx="387">
                  <c:v>99.999985682509859</c:v>
                </c:pt>
                <c:pt idx="388">
                  <c:v>99.999986943536285</c:v>
                </c:pt>
                <c:pt idx="389">
                  <c:v>99.999988095197665</c:v>
                </c:pt>
                <c:pt idx="390">
                  <c:v>99.999989146818649</c:v>
                </c:pt>
                <c:pt idx="391">
                  <c:v>99.99999010694377</c:v>
                </c:pt>
                <c:pt idx="392">
                  <c:v>99.999990983401389</c:v>
                </c:pt>
                <c:pt idx="393">
                  <c:v>99.999991783362418</c:v>
                </c:pt>
                <c:pt idx="394">
                  <c:v>99.999992513394432</c:v>
                </c:pt>
                <c:pt idx="395">
                  <c:v>99.999993179511364</c:v>
                </c:pt>
                <c:pt idx="396">
                  <c:v>99.999993787219211</c:v>
                </c:pt>
                <c:pt idx="397">
                  <c:v>99.999994341558121</c:v>
                </c:pt>
                <c:pt idx="398">
                  <c:v>99.999994847140968</c:v>
                </c:pt>
                <c:pt idx="399">
                  <c:v>99.999995308188929</c:v>
                </c:pt>
                <c:pt idx="400">
                  <c:v>99.999995728563988</c:v>
                </c:pt>
              </c:numCache>
            </c:numRef>
          </c:yVal>
          <c:smooth val="0"/>
          <c:extLst>
            <c:ext xmlns:c16="http://schemas.microsoft.com/office/drawing/2014/chart" uri="{C3380CC4-5D6E-409C-BE32-E72D297353CC}">
              <c16:uniqueId val="{00000000-6C55-442D-8CC0-6E06055C17CA}"/>
            </c:ext>
          </c:extLst>
        </c:ser>
        <c:ser>
          <c:idx val="1"/>
          <c:order val="1"/>
          <c:tx>
            <c:strRef>
              <c:f>Sheet1!$B$404</c:f>
              <c:strCache>
                <c:ptCount val="1"/>
                <c:pt idx="0">
                  <c:v>3 per maand, alle zes</c:v>
                </c:pt>
              </c:strCache>
            </c:strRef>
          </c:tx>
          <c:spPr>
            <a:ln w="19050">
              <a:solidFill>
                <a:srgbClr val="1D8DB0"/>
              </a:solidFill>
              <a:prstDash val="dash"/>
            </a:ln>
          </c:spPr>
          <c:marker>
            <c:symbol val="none"/>
          </c:marker>
          <c:xVal>
            <c:numRef>
              <c:f>Sheet1!$A$405:$A$805</c:f>
              <c:numCache>
                <c:formatCode>General</c:formatCode>
                <c:ptCount val="40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2.0499999999999998</c:v>
                </c:pt>
                <c:pt idx="42">
                  <c:v>2.1</c:v>
                </c:pt>
                <c:pt idx="43">
                  <c:v>2.15</c:v>
                </c:pt>
                <c:pt idx="44">
                  <c:v>2.2000000000000002</c:v>
                </c:pt>
                <c:pt idx="45">
                  <c:v>2.25</c:v>
                </c:pt>
                <c:pt idx="46">
                  <c:v>2.2999999999999998</c:v>
                </c:pt>
                <c:pt idx="47">
                  <c:v>2.35</c:v>
                </c:pt>
                <c:pt idx="48">
                  <c:v>2.4</c:v>
                </c:pt>
                <c:pt idx="49">
                  <c:v>2.4500000000000002</c:v>
                </c:pt>
                <c:pt idx="50">
                  <c:v>2.5</c:v>
                </c:pt>
                <c:pt idx="51">
                  <c:v>2.5499999999999998</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4.0999999999999996</c:v>
                </c:pt>
                <c:pt idx="83">
                  <c:v>4.1500000000000004</c:v>
                </c:pt>
                <c:pt idx="84">
                  <c:v>4.2</c:v>
                </c:pt>
                <c:pt idx="85">
                  <c:v>4.25</c:v>
                </c:pt>
                <c:pt idx="86">
                  <c:v>4.3</c:v>
                </c:pt>
                <c:pt idx="87">
                  <c:v>4.3499999999999996</c:v>
                </c:pt>
                <c:pt idx="88">
                  <c:v>4.4000000000000004</c:v>
                </c:pt>
                <c:pt idx="89">
                  <c:v>4.45</c:v>
                </c:pt>
                <c:pt idx="90">
                  <c:v>4.5</c:v>
                </c:pt>
                <c:pt idx="91">
                  <c:v>4.55</c:v>
                </c:pt>
                <c:pt idx="92">
                  <c:v>4.5999999999999996</c:v>
                </c:pt>
                <c:pt idx="93">
                  <c:v>4.6500000000000004</c:v>
                </c:pt>
                <c:pt idx="94">
                  <c:v>4.7</c:v>
                </c:pt>
                <c:pt idx="95">
                  <c:v>4.75</c:v>
                </c:pt>
                <c:pt idx="96">
                  <c:v>4.8</c:v>
                </c:pt>
                <c:pt idx="97">
                  <c:v>4.8499999999999996</c:v>
                </c:pt>
                <c:pt idx="98">
                  <c:v>4.9000000000000004</c:v>
                </c:pt>
                <c:pt idx="99">
                  <c:v>4.95</c:v>
                </c:pt>
                <c:pt idx="100">
                  <c:v>5</c:v>
                </c:pt>
                <c:pt idx="101">
                  <c:v>5.05</c:v>
                </c:pt>
                <c:pt idx="102">
                  <c:v>5.0999999999999996</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pt idx="161">
                  <c:v>8.0500000000000007</c:v>
                </c:pt>
                <c:pt idx="162">
                  <c:v>8.1</c:v>
                </c:pt>
                <c:pt idx="163">
                  <c:v>8.15</c:v>
                </c:pt>
                <c:pt idx="164">
                  <c:v>8.1999999999999993</c:v>
                </c:pt>
                <c:pt idx="165">
                  <c:v>8.25</c:v>
                </c:pt>
                <c:pt idx="166">
                  <c:v>8.3000000000000007</c:v>
                </c:pt>
                <c:pt idx="167">
                  <c:v>8.35</c:v>
                </c:pt>
                <c:pt idx="168">
                  <c:v>8.4</c:v>
                </c:pt>
                <c:pt idx="169">
                  <c:v>8.4499999999999993</c:v>
                </c:pt>
                <c:pt idx="170">
                  <c:v>8.5</c:v>
                </c:pt>
                <c:pt idx="171">
                  <c:v>8.5500000000000007</c:v>
                </c:pt>
                <c:pt idx="172">
                  <c:v>8.6</c:v>
                </c:pt>
                <c:pt idx="173">
                  <c:v>8.65</c:v>
                </c:pt>
                <c:pt idx="174">
                  <c:v>8.6999999999999993</c:v>
                </c:pt>
                <c:pt idx="175">
                  <c:v>8.75</c:v>
                </c:pt>
                <c:pt idx="176">
                  <c:v>8.8000000000000007</c:v>
                </c:pt>
                <c:pt idx="177">
                  <c:v>8.85</c:v>
                </c:pt>
                <c:pt idx="178">
                  <c:v>8.9</c:v>
                </c:pt>
                <c:pt idx="179">
                  <c:v>8.9499999999999993</c:v>
                </c:pt>
                <c:pt idx="180">
                  <c:v>9</c:v>
                </c:pt>
                <c:pt idx="181">
                  <c:v>9.0500000000000007</c:v>
                </c:pt>
                <c:pt idx="182">
                  <c:v>9.1</c:v>
                </c:pt>
                <c:pt idx="183">
                  <c:v>9.15</c:v>
                </c:pt>
                <c:pt idx="184">
                  <c:v>9.1999999999999993</c:v>
                </c:pt>
                <c:pt idx="185">
                  <c:v>9.25</c:v>
                </c:pt>
                <c:pt idx="186">
                  <c:v>9.3000000000000007</c:v>
                </c:pt>
                <c:pt idx="187">
                  <c:v>9.35</c:v>
                </c:pt>
                <c:pt idx="188">
                  <c:v>9.4</c:v>
                </c:pt>
                <c:pt idx="189">
                  <c:v>9.4499999999999993</c:v>
                </c:pt>
                <c:pt idx="190">
                  <c:v>9.5</c:v>
                </c:pt>
                <c:pt idx="191">
                  <c:v>9.5500000000000007</c:v>
                </c:pt>
                <c:pt idx="192">
                  <c:v>9.6</c:v>
                </c:pt>
                <c:pt idx="193">
                  <c:v>9.65</c:v>
                </c:pt>
                <c:pt idx="194">
                  <c:v>9.6999999999999993</c:v>
                </c:pt>
                <c:pt idx="195">
                  <c:v>9.75</c:v>
                </c:pt>
                <c:pt idx="196">
                  <c:v>9.8000000000000007</c:v>
                </c:pt>
                <c:pt idx="197">
                  <c:v>9.85</c:v>
                </c:pt>
                <c:pt idx="198">
                  <c:v>9.9</c:v>
                </c:pt>
                <c:pt idx="199">
                  <c:v>9.9499999999999993</c:v>
                </c:pt>
                <c:pt idx="200">
                  <c:v>10</c:v>
                </c:pt>
                <c:pt idx="201">
                  <c:v>10.050000000000001</c:v>
                </c:pt>
                <c:pt idx="202">
                  <c:v>10.1</c:v>
                </c:pt>
                <c:pt idx="203">
                  <c:v>10.15</c:v>
                </c:pt>
                <c:pt idx="204">
                  <c:v>10.199999999999999</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c:v>
                </c:pt>
                <c:pt idx="221">
                  <c:v>11.05</c:v>
                </c:pt>
                <c:pt idx="222">
                  <c:v>11.1</c:v>
                </c:pt>
                <c:pt idx="223">
                  <c:v>11.15</c:v>
                </c:pt>
                <c:pt idx="224">
                  <c:v>11.2</c:v>
                </c:pt>
                <c:pt idx="225">
                  <c:v>11.25</c:v>
                </c:pt>
                <c:pt idx="226">
                  <c:v>11.3</c:v>
                </c:pt>
                <c:pt idx="227">
                  <c:v>11.35</c:v>
                </c:pt>
                <c:pt idx="228">
                  <c:v>11.4</c:v>
                </c:pt>
                <c:pt idx="229">
                  <c:v>11.45</c:v>
                </c:pt>
                <c:pt idx="230">
                  <c:v>11.5</c:v>
                </c:pt>
                <c:pt idx="231">
                  <c:v>11.55</c:v>
                </c:pt>
                <c:pt idx="232">
                  <c:v>11.6</c:v>
                </c:pt>
                <c:pt idx="233">
                  <c:v>11.65</c:v>
                </c:pt>
                <c:pt idx="234">
                  <c:v>11.7</c:v>
                </c:pt>
                <c:pt idx="235">
                  <c:v>11.75</c:v>
                </c:pt>
                <c:pt idx="236">
                  <c:v>11.8</c:v>
                </c:pt>
                <c:pt idx="237">
                  <c:v>11.85</c:v>
                </c:pt>
                <c:pt idx="238">
                  <c:v>11.9</c:v>
                </c:pt>
                <c:pt idx="239">
                  <c:v>11.95</c:v>
                </c:pt>
                <c:pt idx="240">
                  <c:v>12</c:v>
                </c:pt>
                <c:pt idx="241">
                  <c:v>12.05</c:v>
                </c:pt>
                <c:pt idx="242">
                  <c:v>12.1</c:v>
                </c:pt>
                <c:pt idx="243">
                  <c:v>12.15</c:v>
                </c:pt>
                <c:pt idx="244">
                  <c:v>12.2</c:v>
                </c:pt>
                <c:pt idx="245">
                  <c:v>12.25</c:v>
                </c:pt>
                <c:pt idx="246">
                  <c:v>12.3</c:v>
                </c:pt>
                <c:pt idx="247">
                  <c:v>12.35</c:v>
                </c:pt>
                <c:pt idx="248">
                  <c:v>12.4</c:v>
                </c:pt>
                <c:pt idx="249">
                  <c:v>12.45</c:v>
                </c:pt>
                <c:pt idx="250">
                  <c:v>12.5</c:v>
                </c:pt>
                <c:pt idx="251">
                  <c:v>12.55</c:v>
                </c:pt>
                <c:pt idx="252">
                  <c:v>12.6</c:v>
                </c:pt>
                <c:pt idx="253">
                  <c:v>12.65</c:v>
                </c:pt>
                <c:pt idx="254">
                  <c:v>12.7</c:v>
                </c:pt>
                <c:pt idx="255">
                  <c:v>12.75</c:v>
                </c:pt>
                <c:pt idx="256">
                  <c:v>12.8</c:v>
                </c:pt>
                <c:pt idx="257">
                  <c:v>12.85</c:v>
                </c:pt>
                <c:pt idx="258">
                  <c:v>12.9</c:v>
                </c:pt>
                <c:pt idx="259">
                  <c:v>12.95</c:v>
                </c:pt>
                <c:pt idx="260">
                  <c:v>13</c:v>
                </c:pt>
                <c:pt idx="261">
                  <c:v>13.05</c:v>
                </c:pt>
                <c:pt idx="262">
                  <c:v>13.1</c:v>
                </c:pt>
                <c:pt idx="263">
                  <c:v>13.15</c:v>
                </c:pt>
                <c:pt idx="264">
                  <c:v>13.2</c:v>
                </c:pt>
                <c:pt idx="265">
                  <c:v>13.25</c:v>
                </c:pt>
                <c:pt idx="266">
                  <c:v>13.3</c:v>
                </c:pt>
                <c:pt idx="267">
                  <c:v>13.35</c:v>
                </c:pt>
                <c:pt idx="268">
                  <c:v>13.4</c:v>
                </c:pt>
                <c:pt idx="269">
                  <c:v>13.45</c:v>
                </c:pt>
                <c:pt idx="270">
                  <c:v>13.5</c:v>
                </c:pt>
                <c:pt idx="271">
                  <c:v>13.55</c:v>
                </c:pt>
                <c:pt idx="272">
                  <c:v>13.6</c:v>
                </c:pt>
                <c:pt idx="273">
                  <c:v>13.65</c:v>
                </c:pt>
                <c:pt idx="274">
                  <c:v>13.7</c:v>
                </c:pt>
                <c:pt idx="275">
                  <c:v>13.75</c:v>
                </c:pt>
                <c:pt idx="276">
                  <c:v>13.8</c:v>
                </c:pt>
                <c:pt idx="277">
                  <c:v>13.85</c:v>
                </c:pt>
                <c:pt idx="278">
                  <c:v>13.9</c:v>
                </c:pt>
                <c:pt idx="279">
                  <c:v>13.95</c:v>
                </c:pt>
                <c:pt idx="280">
                  <c:v>14</c:v>
                </c:pt>
                <c:pt idx="281">
                  <c:v>14.05</c:v>
                </c:pt>
                <c:pt idx="282">
                  <c:v>14.1</c:v>
                </c:pt>
                <c:pt idx="283">
                  <c:v>14.15</c:v>
                </c:pt>
                <c:pt idx="284">
                  <c:v>14.2</c:v>
                </c:pt>
                <c:pt idx="285">
                  <c:v>14.25</c:v>
                </c:pt>
                <c:pt idx="286">
                  <c:v>14.3</c:v>
                </c:pt>
                <c:pt idx="287">
                  <c:v>14.35</c:v>
                </c:pt>
                <c:pt idx="288">
                  <c:v>14.4</c:v>
                </c:pt>
                <c:pt idx="289">
                  <c:v>14.45</c:v>
                </c:pt>
                <c:pt idx="290">
                  <c:v>14.5</c:v>
                </c:pt>
                <c:pt idx="291">
                  <c:v>14.55</c:v>
                </c:pt>
                <c:pt idx="292">
                  <c:v>14.6</c:v>
                </c:pt>
                <c:pt idx="293">
                  <c:v>14.65</c:v>
                </c:pt>
                <c:pt idx="294">
                  <c:v>14.7</c:v>
                </c:pt>
                <c:pt idx="295">
                  <c:v>14.75</c:v>
                </c:pt>
                <c:pt idx="296">
                  <c:v>14.8</c:v>
                </c:pt>
                <c:pt idx="297">
                  <c:v>14.85</c:v>
                </c:pt>
                <c:pt idx="298">
                  <c:v>14.9</c:v>
                </c:pt>
                <c:pt idx="299">
                  <c:v>14.95</c:v>
                </c:pt>
                <c:pt idx="300">
                  <c:v>15</c:v>
                </c:pt>
                <c:pt idx="301">
                  <c:v>15.05</c:v>
                </c:pt>
                <c:pt idx="302">
                  <c:v>15.1</c:v>
                </c:pt>
                <c:pt idx="303">
                  <c:v>15.15</c:v>
                </c:pt>
                <c:pt idx="304">
                  <c:v>15.2</c:v>
                </c:pt>
                <c:pt idx="305">
                  <c:v>15.25</c:v>
                </c:pt>
                <c:pt idx="306">
                  <c:v>15.3</c:v>
                </c:pt>
                <c:pt idx="307">
                  <c:v>15.35</c:v>
                </c:pt>
                <c:pt idx="308">
                  <c:v>15.4</c:v>
                </c:pt>
                <c:pt idx="309">
                  <c:v>15.45</c:v>
                </c:pt>
                <c:pt idx="310">
                  <c:v>15.5</c:v>
                </c:pt>
                <c:pt idx="311">
                  <c:v>15.55</c:v>
                </c:pt>
                <c:pt idx="312">
                  <c:v>15.6</c:v>
                </c:pt>
                <c:pt idx="313">
                  <c:v>15.65</c:v>
                </c:pt>
                <c:pt idx="314">
                  <c:v>15.7</c:v>
                </c:pt>
                <c:pt idx="315">
                  <c:v>15.75</c:v>
                </c:pt>
                <c:pt idx="316">
                  <c:v>15.8</c:v>
                </c:pt>
                <c:pt idx="317">
                  <c:v>15.85</c:v>
                </c:pt>
                <c:pt idx="318">
                  <c:v>15.9</c:v>
                </c:pt>
                <c:pt idx="319">
                  <c:v>15.95</c:v>
                </c:pt>
                <c:pt idx="320">
                  <c:v>16</c:v>
                </c:pt>
                <c:pt idx="321">
                  <c:v>16.05</c:v>
                </c:pt>
                <c:pt idx="322">
                  <c:v>16.100000000000001</c:v>
                </c:pt>
                <c:pt idx="323">
                  <c:v>16.149999999999999</c:v>
                </c:pt>
                <c:pt idx="324">
                  <c:v>16.2</c:v>
                </c:pt>
                <c:pt idx="325">
                  <c:v>16.25</c:v>
                </c:pt>
                <c:pt idx="326">
                  <c:v>16.3</c:v>
                </c:pt>
                <c:pt idx="327">
                  <c:v>16.350000000000001</c:v>
                </c:pt>
                <c:pt idx="328">
                  <c:v>16.399999999999999</c:v>
                </c:pt>
                <c:pt idx="329">
                  <c:v>16.45</c:v>
                </c:pt>
                <c:pt idx="330">
                  <c:v>16.5</c:v>
                </c:pt>
                <c:pt idx="331">
                  <c:v>16.55</c:v>
                </c:pt>
                <c:pt idx="332">
                  <c:v>16.600000000000001</c:v>
                </c:pt>
                <c:pt idx="333">
                  <c:v>16.649999999999999</c:v>
                </c:pt>
                <c:pt idx="334">
                  <c:v>16.7</c:v>
                </c:pt>
                <c:pt idx="335">
                  <c:v>16.75</c:v>
                </c:pt>
                <c:pt idx="336">
                  <c:v>16.8</c:v>
                </c:pt>
                <c:pt idx="337">
                  <c:v>16.850000000000001</c:v>
                </c:pt>
                <c:pt idx="338">
                  <c:v>16.899999999999999</c:v>
                </c:pt>
                <c:pt idx="339">
                  <c:v>16.95</c:v>
                </c:pt>
                <c:pt idx="340">
                  <c:v>17</c:v>
                </c:pt>
                <c:pt idx="341">
                  <c:v>17.05</c:v>
                </c:pt>
                <c:pt idx="342">
                  <c:v>17.100000000000001</c:v>
                </c:pt>
                <c:pt idx="343">
                  <c:v>17.149999999999999</c:v>
                </c:pt>
                <c:pt idx="344">
                  <c:v>17.2</c:v>
                </c:pt>
                <c:pt idx="345">
                  <c:v>17.25</c:v>
                </c:pt>
                <c:pt idx="346">
                  <c:v>17.3</c:v>
                </c:pt>
                <c:pt idx="347">
                  <c:v>17.350000000000001</c:v>
                </c:pt>
                <c:pt idx="348">
                  <c:v>17.399999999999999</c:v>
                </c:pt>
                <c:pt idx="349">
                  <c:v>17.45</c:v>
                </c:pt>
                <c:pt idx="350">
                  <c:v>17.5</c:v>
                </c:pt>
                <c:pt idx="351">
                  <c:v>17.55</c:v>
                </c:pt>
                <c:pt idx="352">
                  <c:v>17.600000000000001</c:v>
                </c:pt>
                <c:pt idx="353">
                  <c:v>17.649999999999999</c:v>
                </c:pt>
                <c:pt idx="354">
                  <c:v>17.7</c:v>
                </c:pt>
                <c:pt idx="355">
                  <c:v>17.75</c:v>
                </c:pt>
                <c:pt idx="356">
                  <c:v>17.8</c:v>
                </c:pt>
                <c:pt idx="357">
                  <c:v>17.850000000000001</c:v>
                </c:pt>
                <c:pt idx="358">
                  <c:v>17.899999999999999</c:v>
                </c:pt>
                <c:pt idx="359">
                  <c:v>17.95</c:v>
                </c:pt>
                <c:pt idx="360">
                  <c:v>18</c:v>
                </c:pt>
                <c:pt idx="361">
                  <c:v>18.05</c:v>
                </c:pt>
                <c:pt idx="362">
                  <c:v>18.100000000000001</c:v>
                </c:pt>
                <c:pt idx="363">
                  <c:v>18.149999999999999</c:v>
                </c:pt>
                <c:pt idx="364">
                  <c:v>18.2</c:v>
                </c:pt>
                <c:pt idx="365">
                  <c:v>18.25</c:v>
                </c:pt>
                <c:pt idx="366">
                  <c:v>18.3</c:v>
                </c:pt>
                <c:pt idx="367">
                  <c:v>18.350000000000001</c:v>
                </c:pt>
                <c:pt idx="368">
                  <c:v>18.399999999999999</c:v>
                </c:pt>
                <c:pt idx="369">
                  <c:v>18.45</c:v>
                </c:pt>
                <c:pt idx="370">
                  <c:v>18.5</c:v>
                </c:pt>
                <c:pt idx="371">
                  <c:v>18.55</c:v>
                </c:pt>
                <c:pt idx="372">
                  <c:v>18.600000000000001</c:v>
                </c:pt>
                <c:pt idx="373">
                  <c:v>18.649999999999999</c:v>
                </c:pt>
                <c:pt idx="374">
                  <c:v>18.7</c:v>
                </c:pt>
                <c:pt idx="375">
                  <c:v>18.75</c:v>
                </c:pt>
                <c:pt idx="376">
                  <c:v>18.8</c:v>
                </c:pt>
                <c:pt idx="377">
                  <c:v>18.850000000000001</c:v>
                </c:pt>
                <c:pt idx="378">
                  <c:v>18.899999999999999</c:v>
                </c:pt>
                <c:pt idx="379">
                  <c:v>18.95</c:v>
                </c:pt>
                <c:pt idx="380">
                  <c:v>19</c:v>
                </c:pt>
                <c:pt idx="381">
                  <c:v>19.05</c:v>
                </c:pt>
                <c:pt idx="382">
                  <c:v>19.100000000000001</c:v>
                </c:pt>
                <c:pt idx="383">
                  <c:v>19.149999999999999</c:v>
                </c:pt>
                <c:pt idx="384">
                  <c:v>19.2</c:v>
                </c:pt>
                <c:pt idx="385">
                  <c:v>19.25</c:v>
                </c:pt>
                <c:pt idx="386">
                  <c:v>19.3</c:v>
                </c:pt>
                <c:pt idx="387">
                  <c:v>19.350000000000001</c:v>
                </c:pt>
                <c:pt idx="388">
                  <c:v>19.399999999999999</c:v>
                </c:pt>
                <c:pt idx="389">
                  <c:v>19.45</c:v>
                </c:pt>
                <c:pt idx="390">
                  <c:v>19.5</c:v>
                </c:pt>
                <c:pt idx="391">
                  <c:v>19.55</c:v>
                </c:pt>
                <c:pt idx="392">
                  <c:v>19.600000000000001</c:v>
                </c:pt>
                <c:pt idx="393">
                  <c:v>19.649999999999999</c:v>
                </c:pt>
                <c:pt idx="394">
                  <c:v>19.7</c:v>
                </c:pt>
                <c:pt idx="395">
                  <c:v>19.75</c:v>
                </c:pt>
                <c:pt idx="396">
                  <c:v>19.8</c:v>
                </c:pt>
                <c:pt idx="397">
                  <c:v>19.850000000000001</c:v>
                </c:pt>
                <c:pt idx="398">
                  <c:v>19.899999999999999</c:v>
                </c:pt>
                <c:pt idx="399">
                  <c:v>19.95</c:v>
                </c:pt>
                <c:pt idx="400">
                  <c:v>20</c:v>
                </c:pt>
              </c:numCache>
            </c:numRef>
          </c:xVal>
          <c:yVal>
            <c:numRef>
              <c:f>Sheet1!$B$405:$B$805</c:f>
              <c:numCache>
                <c:formatCode>General</c:formatCode>
                <c:ptCount val="401"/>
                <c:pt idx="0">
                  <c:v>0</c:v>
                </c:pt>
                <c:pt idx="1">
                  <c:v>0</c:v>
                </c:pt>
                <c:pt idx="2">
                  <c:v>0</c:v>
                </c:pt>
                <c:pt idx="3">
                  <c:v>0</c:v>
                </c:pt>
                <c:pt idx="4">
                  <c:v>0</c:v>
                </c:pt>
                <c:pt idx="5">
                  <c:v>0</c:v>
                </c:pt>
                <c:pt idx="6">
                  <c:v>0</c:v>
                </c:pt>
                <c:pt idx="7">
                  <c:v>0</c:v>
                </c:pt>
                <c:pt idx="8">
                  <c:v>0</c:v>
                </c:pt>
                <c:pt idx="9">
                  <c:v>1.1985091468012028E-92</c:v>
                </c:pt>
                <c:pt idx="10">
                  <c:v>0</c:v>
                </c:pt>
                <c:pt idx="11">
                  <c:v>1.1985091468012028E-92</c:v>
                </c:pt>
                <c:pt idx="12">
                  <c:v>1.1985091468012028E-92</c:v>
                </c:pt>
                <c:pt idx="13">
                  <c:v>0</c:v>
                </c:pt>
                <c:pt idx="14">
                  <c:v>0</c:v>
                </c:pt>
                <c:pt idx="15">
                  <c:v>0</c:v>
                </c:pt>
                <c:pt idx="16">
                  <c:v>1.1985091468012028E-92</c:v>
                </c:pt>
                <c:pt idx="17">
                  <c:v>2.2031781658127298E-89</c:v>
                </c:pt>
                <c:pt idx="18">
                  <c:v>3.5787291362020427E-86</c:v>
                </c:pt>
                <c:pt idx="19">
                  <c:v>4.2172465828081654E-83</c:v>
                </c:pt>
                <c:pt idx="20">
                  <c:v>2.7722244847085556E-80</c:v>
                </c:pt>
                <c:pt idx="21">
                  <c:v>1.4254346456700096E-77</c:v>
                </c:pt>
                <c:pt idx="22">
                  <c:v>4.8150448398675127E-75</c:v>
                </c:pt>
                <c:pt idx="23">
                  <c:v>1.2172053701583038E-72</c:v>
                </c:pt>
                <c:pt idx="24">
                  <c:v>2.3613352688400177E-70</c:v>
                </c:pt>
                <c:pt idx="25">
                  <c:v>3.5733643964381614E-68</c:v>
                </c:pt>
                <c:pt idx="26">
                  <c:v>4.2970146202182299E-66</c:v>
                </c:pt>
                <c:pt idx="27">
                  <c:v>4.1760102766064862E-64</c:v>
                </c:pt>
                <c:pt idx="28">
                  <c:v>3.3322072392451988E-62</c:v>
                </c:pt>
                <c:pt idx="29">
                  <c:v>2.2129128002990937E-60</c:v>
                </c:pt>
                <c:pt idx="30">
                  <c:v>1.238412612670638E-58</c:v>
                </c:pt>
                <c:pt idx="31">
                  <c:v>5.9073250285170923E-57</c:v>
                </c:pt>
                <c:pt idx="32">
                  <c:v>2.4260980350628877E-55</c:v>
                </c:pt>
                <c:pt idx="33">
                  <c:v>8.658748425253087E-54</c:v>
                </c:pt>
                <c:pt idx="34">
                  <c:v>2.7081283852224268E-52</c:v>
                </c:pt>
                <c:pt idx="35">
                  <c:v>7.4797501105407208E-51</c:v>
                </c:pt>
                <c:pt idx="36">
                  <c:v>1.8372133422299007E-49</c:v>
                </c:pt>
                <c:pt idx="37">
                  <c:v>4.0391235411014071E-48</c:v>
                </c:pt>
                <c:pt idx="38">
                  <c:v>7.9955027863229572E-47</c:v>
                </c:pt>
                <c:pt idx="39">
                  <c:v>1.4328880623906331E-45</c:v>
                </c:pt>
                <c:pt idx="40">
                  <c:v>2.3365848220277212E-44</c:v>
                </c:pt>
                <c:pt idx="41">
                  <c:v>3.4832674206080663E-43</c:v>
                </c:pt>
                <c:pt idx="42">
                  <c:v>4.7677597424333998E-42</c:v>
                </c:pt>
                <c:pt idx="43">
                  <c:v>6.0161300335422612E-41</c:v>
                </c:pt>
                <c:pt idx="44">
                  <c:v>7.0247008440580876E-40</c:v>
                </c:pt>
                <c:pt idx="45">
                  <c:v>7.6167297007026387E-39</c:v>
                </c:pt>
                <c:pt idx="46">
                  <c:v>7.6941671078923263E-38</c:v>
                </c:pt>
                <c:pt idx="47">
                  <c:v>7.2633595565962557E-37</c:v>
                </c:pt>
                <c:pt idx="48">
                  <c:v>6.4260332919763156E-36</c:v>
                </c:pt>
                <c:pt idx="49">
                  <c:v>5.342537317553466E-35</c:v>
                </c:pt>
                <c:pt idx="50">
                  <c:v>4.1845639335301446E-34</c:v>
                </c:pt>
                <c:pt idx="51">
                  <c:v>3.0951709777762068E-33</c:v>
                </c:pt>
                <c:pt idx="52">
                  <c:v>2.166828457275942E-32</c:v>
                </c:pt>
                <c:pt idx="53">
                  <c:v>1.4387588973548732E-31</c:v>
                </c:pt>
                <c:pt idx="54">
                  <c:v>9.0790814724308521E-31</c:v>
                </c:pt>
                <c:pt idx="55">
                  <c:v>5.4551340159212184E-30</c:v>
                </c:pt>
                <c:pt idx="56">
                  <c:v>3.1264653947493409E-29</c:v>
                </c:pt>
                <c:pt idx="57">
                  <c:v>1.71206627713079E-28</c:v>
                </c:pt>
                <c:pt idx="58">
                  <c:v>8.9722663486389361E-28</c:v>
                </c:pt>
                <c:pt idx="59">
                  <c:v>4.506700755015146E-27</c:v>
                </c:pt>
                <c:pt idx="60">
                  <c:v>2.1727884956637314E-26</c:v>
                </c:pt>
                <c:pt idx="61">
                  <c:v>1.0068727266401712E-25</c:v>
                </c:pt>
                <c:pt idx="62">
                  <c:v>4.4905276620661625E-25</c:v>
                </c:pt>
                <c:pt idx="63">
                  <c:v>1.9298610609037678E-24</c:v>
                </c:pt>
                <c:pt idx="64">
                  <c:v>8.0015734038340773E-24</c:v>
                </c:pt>
                <c:pt idx="65">
                  <c:v>3.2043241275797502E-23</c:v>
                </c:pt>
                <c:pt idx="66">
                  <c:v>1.2407316181160317E-22</c:v>
                </c:pt>
                <c:pt idx="67">
                  <c:v>4.6499393931652156E-22</c:v>
                </c:pt>
                <c:pt idx="68">
                  <c:v>1.6883896712949263E-21</c:v>
                </c:pt>
                <c:pt idx="69">
                  <c:v>5.9451574011166215E-21</c:v>
                </c:pt>
                <c:pt idx="70">
                  <c:v>2.0319410665707816E-20</c:v>
                </c:pt>
                <c:pt idx="71">
                  <c:v>6.7466971838463326E-20</c:v>
                </c:pt>
                <c:pt idx="72">
                  <c:v>2.1780275632337306E-19</c:v>
                </c:pt>
                <c:pt idx="73">
                  <c:v>6.841833791344309E-19</c:v>
                </c:pt>
                <c:pt idx="74">
                  <c:v>2.0929058207139843E-18</c:v>
                </c:pt>
                <c:pt idx="75">
                  <c:v>6.2389674046294284E-18</c:v>
                </c:pt>
                <c:pt idx="76">
                  <c:v>1.8137063915573395E-17</c:v>
                </c:pt>
                <c:pt idx="77">
                  <c:v>5.1452447411422359E-17</c:v>
                </c:pt>
                <c:pt idx="78">
                  <c:v>1.4253194879403707E-16</c:v>
                </c:pt>
                <c:pt idx="79">
                  <c:v>3.8579558432248532E-16</c:v>
                </c:pt>
                <c:pt idx="80">
                  <c:v>1.0209459328037421E-15</c:v>
                </c:pt>
                <c:pt idx="81">
                  <c:v>2.6430216686388452E-15</c:v>
                </c:pt>
                <c:pt idx="82">
                  <c:v>6.6972129140826298E-15</c:v>
                </c:pt>
                <c:pt idx="83">
                  <c:v>1.661946856402469E-14</c:v>
                </c:pt>
                <c:pt idx="84">
                  <c:v>4.0410645982663158E-14</c:v>
                </c:pt>
                <c:pt idx="85">
                  <c:v>9.6327041023186541E-14</c:v>
                </c:pt>
                <c:pt idx="86">
                  <c:v>2.2520864533235391E-13</c:v>
                </c:pt>
                <c:pt idx="87">
                  <c:v>5.1666591985836742E-13</c:v>
                </c:pt>
                <c:pt idx="88">
                  <c:v>1.1636414739258241E-12</c:v>
                </c:pt>
                <c:pt idx="89">
                  <c:v>2.5739694554277922E-12</c:v>
                </c:pt>
                <c:pt idx="90">
                  <c:v>5.5943084294689048E-12</c:v>
                </c:pt>
                <c:pt idx="91">
                  <c:v>1.1951607384473617E-11</c:v>
                </c:pt>
                <c:pt idx="92">
                  <c:v>2.510819732847126E-11</c:v>
                </c:pt>
                <c:pt idx="93">
                  <c:v>5.1889686519966445E-11</c:v>
                </c:pt>
                <c:pt idx="94">
                  <c:v>1.0553212277919751E-10</c:v>
                </c:pt>
                <c:pt idx="95">
                  <c:v>2.112921057528971E-10</c:v>
                </c:pt>
                <c:pt idx="96">
                  <c:v>4.1660928922266784E-10</c:v>
                </c:pt>
                <c:pt idx="97">
                  <c:v>8.0922496362591612E-10</c:v>
                </c:pt>
                <c:pt idx="98">
                  <c:v>1.548985834487732E-9</c:v>
                </c:pt>
                <c:pt idx="99">
                  <c:v>2.9228229134141036E-9</c:v>
                </c:pt>
                <c:pt idx="100">
                  <c:v>5.4383789865192768E-9</c:v>
                </c:pt>
                <c:pt idx="101">
                  <c:v>9.9811257476660054E-9</c:v>
                </c:pt>
                <c:pt idx="102">
                  <c:v>1.8074245336253395E-8</c:v>
                </c:pt>
                <c:pt idx="103">
                  <c:v>3.2302442522460975E-8</c:v>
                </c:pt>
                <c:pt idx="104">
                  <c:v>5.6993542319343134E-8</c:v>
                </c:pt>
                <c:pt idx="105">
                  <c:v>9.9299789055414124E-8</c:v>
                </c:pt>
                <c:pt idx="106">
                  <c:v>1.708903493180778E-7</c:v>
                </c:pt>
                <c:pt idx="107">
                  <c:v>2.9056574645843823E-7</c:v>
                </c:pt>
                <c:pt idx="108">
                  <c:v>4.8824430773407596E-7</c:v>
                </c:pt>
                <c:pt idx="109">
                  <c:v>8.109634688887817E-7</c:v>
                </c:pt>
                <c:pt idx="110">
                  <c:v>1.3318014124956953E-6</c:v>
                </c:pt>
                <c:pt idx="111">
                  <c:v>2.1629769416393604E-6</c:v>
                </c:pt>
                <c:pt idx="112">
                  <c:v>3.4748512392105929E-6</c:v>
                </c:pt>
                <c:pt idx="113">
                  <c:v>5.5231612628820173E-6</c:v>
                </c:pt>
                <c:pt idx="114">
                  <c:v>8.6875910612755831E-6</c:v>
                </c:pt>
                <c:pt idx="115">
                  <c:v>1.3525766532080235E-5</c:v>
                </c:pt>
                <c:pt idx="116">
                  <c:v>2.0847974112363244E-5</c:v>
                </c:pt>
                <c:pt idx="117">
                  <c:v>3.1819386372622381E-5</c:v>
                </c:pt>
                <c:pt idx="118">
                  <c:v>4.8098355300533609E-5</c:v>
                </c:pt>
                <c:pt idx="119">
                  <c:v>7.2021427684779905E-5</c:v>
                </c:pt>
                <c:pt idx="120">
                  <c:v>1.0684815554451748E-4</c:v>
                </c:pt>
                <c:pt idx="121">
                  <c:v>1.5708151115637208E-4</c:v>
                </c:pt>
                <c:pt idx="122">
                  <c:v>2.2888274323590326E-4</c:v>
                </c:pt>
                <c:pt idx="123">
                  <c:v>3.3060277477634425E-4</c:v>
                </c:pt>
                <c:pt idx="124">
                  <c:v>4.7345566008349032E-4</c:v>
                </c:pt>
                <c:pt idx="125">
                  <c:v>6.7236307055933457E-4</c:v>
                </c:pt>
                <c:pt idx="126">
                  <c:v>9.4700211082792763E-4</c:v>
                </c:pt>
                <c:pt idx="127">
                  <c:v>1.3230917863129704E-3</c:v>
                </c:pt>
                <c:pt idx="128">
                  <c:v>1.8339559216775001E-3</c:v>
                </c:pt>
                <c:pt idx="129">
                  <c:v>2.5224020061287602E-3</c:v>
                </c:pt>
                <c:pt idx="130">
                  <c:v>3.4429560314678084E-3</c:v>
                </c:pt>
                <c:pt idx="131">
                  <c:v>4.6644925929847456E-3</c:v>
                </c:pt>
                <c:pt idx="132">
                  <c:v>6.2732970428163413E-3</c:v>
                </c:pt>
                <c:pt idx="133">
                  <c:v>8.3765920374936093E-3</c:v>
                </c:pt>
                <c:pt idx="134">
                  <c:v>1.1106554158974559E-2</c:v>
                </c:pt>
                <c:pt idx="135">
                  <c:v>1.46248372200539E-2</c:v>
                </c:pt>
                <c:pt idx="136">
                  <c:v>1.9127607275664E-2</c:v>
                </c:pt>
                <c:pt idx="137">
                  <c:v>2.4851080233046191E-2</c:v>
                </c:pt>
                <c:pt idx="138">
                  <c:v>3.2077536381390562E-2</c:v>
                </c:pt>
                <c:pt idx="139">
                  <c:v>4.1141767368290408E-2</c:v>
                </c:pt>
                <c:pt idx="140">
                  <c:v>5.2437890496270054E-2</c:v>
                </c:pt>
                <c:pt idx="141">
                  <c:v>6.6426443194219656E-2</c:v>
                </c:pt>
                <c:pt idx="142">
                  <c:v>8.3641647768106051E-2</c:v>
                </c:pt>
                <c:pt idx="143">
                  <c:v>0.10469871380235549</c:v>
                </c:pt>
                <c:pt idx="144">
                  <c:v>0.13030102371866487</c:v>
                </c:pt>
                <c:pt idx="145">
                  <c:v>0.16124702692269349</c:v>
                </c:pt>
                <c:pt idx="146">
                  <c:v>0.19843665063592505</c:v>
                </c:pt>
                <c:pt idx="147">
                  <c:v>0.24287702187080268</c:v>
                </c:pt>
                <c:pt idx="148">
                  <c:v>0.29568728596112098</c:v>
                </c:pt>
                <c:pt idx="149">
                  <c:v>0.35810230341257471</c:v>
                </c:pt>
                <c:pt idx="150">
                  <c:v>0.43147500925914017</c:v>
                </c:pt>
                <c:pt idx="151">
                  <c:v>0.517277228083592</c:v>
                </c:pt>
                <c:pt idx="152">
                  <c:v>0.61709875366583644</c:v>
                </c:pt>
                <c:pt idx="153">
                  <c:v>0.73264452489121024</c:v>
                </c:pt>
                <c:pt idx="154">
                  <c:v>0.8657297588668702</c:v>
                </c:pt>
                <c:pt idx="155">
                  <c:v>1.0182729376775361</c:v>
                </c:pt>
                <c:pt idx="156">
                  <c:v>1.1922865861284513</c:v>
                </c:pt>
                <c:pt idx="157">
                  <c:v>1.389865823205217</c:v>
                </c:pt>
                <c:pt idx="158">
                  <c:v>1.6131747186627965</c:v>
                </c:pt>
                <c:pt idx="159">
                  <c:v>1.8644305367854066</c:v>
                </c:pt>
                <c:pt idx="160">
                  <c:v>2.1458860005076801</c:v>
                </c:pt>
                <c:pt idx="161">
                  <c:v>2.4598097592103092</c:v>
                </c:pt>
                <c:pt idx="162">
                  <c:v>2.8084652911023729</c:v>
                </c:pt>
                <c:pt idx="163">
                  <c:v>3.1940885146941294</c:v>
                </c:pt>
                <c:pt idx="164">
                  <c:v>3.6188644220883734</c:v>
                </c:pt>
                <c:pt idx="165">
                  <c:v>4.0849030784813634</c:v>
                </c:pt>
                <c:pt idx="166">
                  <c:v>4.5942153563522599</c:v>
                </c:pt>
                <c:pt idx="167">
                  <c:v>5.1486887885855825</c:v>
                </c:pt>
                <c:pt idx="168">
                  <c:v>5.7500639317156281</c:v>
                </c:pt>
                <c:pt idx="169">
                  <c:v>6.3999116283771365</c:v>
                </c:pt>
                <c:pt idx="170">
                  <c:v>7.0996115469770169</c:v>
                </c:pt>
                <c:pt idx="171">
                  <c:v>7.8503323568874972</c:v>
                </c:pt>
                <c:pt idx="172">
                  <c:v>8.6530138697033028</c:v>
                </c:pt>
                <c:pt idx="173">
                  <c:v>9.5083514421289941</c:v>
                </c:pt>
                <c:pt idx="174">
                  <c:v>10.416782894876439</c:v>
                </c:pt>
                <c:pt idx="175">
                  <c:v>11.378478155726626</c:v>
                </c:pt>
                <c:pt idx="176">
                  <c:v>12.393331784926552</c:v>
                </c:pt>
                <c:pt idx="177">
                  <c:v>13.46095848867868</c:v>
                </c:pt>
                <c:pt idx="178">
                  <c:v>14.580691673010621</c:v>
                </c:pt>
                <c:pt idx="179">
                  <c:v>15.751585037093118</c:v>
                </c:pt>
                <c:pt idx="180">
                  <c:v>16.972417153396993</c:v>
                </c:pt>
                <c:pt idx="181">
                  <c:v>18.241698933070605</c:v>
                </c:pt>
                <c:pt idx="182">
                  <c:v>19.557683829638428</c:v>
                </c:pt>
                <c:pt idx="183">
                  <c:v>20.918380593429983</c:v>
                </c:pt>
                <c:pt idx="184">
                  <c:v>22.321568353723322</c:v>
                </c:pt>
                <c:pt idx="185">
                  <c:v>23.764813776024248</c:v>
                </c:pt>
                <c:pt idx="186">
                  <c:v>25.245490018440698</c:v>
                </c:pt>
                <c:pt idx="187">
                  <c:v>26.760797194012177</c:v>
                </c:pt>
                <c:pt idx="188">
                  <c:v>28.307784035042115</c:v>
                </c:pt>
                <c:pt idx="189">
                  <c:v>29.883370450810549</c:v>
                </c:pt>
                <c:pt idx="190">
                  <c:v>31.484370671245625</c:v>
                </c:pt>
                <c:pt idx="191">
                  <c:v>33.10751667571305</c:v>
                </c:pt>
                <c:pt idx="192">
                  <c:v>34.749481617613753</c:v>
                </c:pt>
                <c:pt idx="193">
                  <c:v>36.406902971282072</c:v>
                </c:pt>
                <c:pt idx="194">
                  <c:v>38.076405147172835</c:v>
                </c:pt>
                <c:pt idx="195">
                  <c:v>39.754621343802199</c:v>
                </c:pt>
                <c:pt idx="196">
                  <c:v>41.438214429698213</c:v>
                </c:pt>
                <c:pt idx="197">
                  <c:v>43.12389667504511</c:v>
                </c:pt>
                <c:pt idx="198">
                  <c:v>44.808448180121822</c:v>
                </c:pt>
                <c:pt idx="199">
                  <c:v>46.488733875424423</c:v>
                </c:pt>
                <c:pt idx="200">
                  <c:v>48.161718995985147</c:v>
                </c:pt>
                <c:pt idx="201">
                  <c:v>49.82448295933461</c:v>
                </c:pt>
                <c:pt idx="202">
                  <c:v>51.474231602371212</c:v>
                </c:pt>
                <c:pt idx="203">
                  <c:v>53.108307756761434</c:v>
                </c:pt>
                <c:pt idx="204">
                  <c:v>54.724200165030233</c:v>
                </c:pt>
                <c:pt idx="205">
                  <c:v>56.319550760088113</c:v>
                </c:pt>
                <c:pt idx="206">
                  <c:v>57.89216034929472</c:v>
                </c:pt>
                <c:pt idx="207">
                  <c:v>59.439992760291915</c:v>
                </c:pt>
                <c:pt idx="208">
                  <c:v>60.961177519605805</c:v>
                </c:pt>
                <c:pt idx="209">
                  <c:v>62.454011146507447</c:v>
                </c:pt>
                <c:pt idx="210">
                  <c:v>63.916957153823702</c:v>
                </c:pt>
                <c:pt idx="211">
                  <c:v>65.348644854416889</c:v>
                </c:pt>
                <c:pt idx="212">
                  <c:v>66.747867077039302</c:v>
                </c:pt>
                <c:pt idx="213">
                  <c:v>68.113576898315614</c:v>
                </c:pt>
                <c:pt idx="214">
                  <c:v>69.444883498920447</c:v>
                </c:pt>
                <c:pt idx="215">
                  <c:v>70.741047251756001</c:v>
                </c:pt>
                <c:pt idx="216">
                  <c:v>72.001474148256221</c:v>
                </c:pt>
                <c:pt idx="217">
                  <c:v>73.225709666089315</c:v>
                </c:pt>
                <c:pt idx="218">
                  <c:v>74.413432177615846</c:v>
                </c:pt>
                <c:pt idx="219">
                  <c:v>75.564445993721151</c:v>
                </c:pt>
                <c:pt idx="220">
                  <c:v>76.678674132209864</c:v>
                </c:pt>
                <c:pt idx="221">
                  <c:v>77.756150894010531</c:v>
                </c:pt>
                <c:pt idx="222">
                  <c:v>78.797014324120212</c:v>
                </c:pt>
                <c:pt idx="223">
                  <c:v>79.801498627680019</c:v>
                </c:pt>
                <c:pt idx="224">
                  <c:v>80.769926604900007</c:v>
                </c:pt>
                <c:pt idx="225">
                  <c:v>81.702702161903403</c:v>
                </c:pt>
                <c:pt idx="226">
                  <c:v>82.600302947964863</c:v>
                </c:pt>
                <c:pt idx="227">
                  <c:v>83.463273163222482</c:v>
                </c:pt>
                <c:pt idx="228">
                  <c:v>84.292216574752217</c:v>
                </c:pt>
                <c:pt idx="229">
                  <c:v>85.087789773013711</c:v>
                </c:pt>
                <c:pt idx="230">
                  <c:v>85.850695695101024</c:v>
                </c:pt>
                <c:pt idx="231">
                  <c:v>86.581677436041559</c:v>
                </c:pt>
                <c:pt idx="232">
                  <c:v>87.281512364544895</c:v>
                </c:pt>
                <c:pt idx="233">
                  <c:v>87.951006555189764</c:v>
                </c:pt>
                <c:pt idx="234">
                  <c:v>88.590989544991189</c:v>
                </c:pt>
                <c:pt idx="235">
                  <c:v>89.202309418659311</c:v>
                </c:pt>
                <c:pt idx="236">
                  <c:v>89.785828223615653</c:v>
                </c:pt>
                <c:pt idx="237">
                  <c:v>90.342417712961677</c:v>
                </c:pt>
                <c:pt idx="238">
                  <c:v>90.872955412093319</c:v>
                </c:pt>
                <c:pt idx="239">
                  <c:v>91.37832100249193</c:v>
                </c:pt>
                <c:pt idx="240">
                  <c:v>91.859393014393532</c:v>
                </c:pt>
                <c:pt idx="241">
                  <c:v>92.317045818499494</c:v>
                </c:pt>
                <c:pt idx="242">
                  <c:v>92.752146905649596</c:v>
                </c:pt>
                <c:pt idx="243">
                  <c:v>93.165554442377669</c:v>
                </c:pt>
                <c:pt idx="244">
                  <c:v>93.558115089517443</c:v>
                </c:pt>
                <c:pt idx="245">
                  <c:v>93.93066207047211</c:v>
                </c:pt>
                <c:pt idx="246">
                  <c:v>94.284013475408415</c:v>
                </c:pt>
                <c:pt idx="247">
                  <c:v>94.618970787439309</c:v>
                </c:pt>
                <c:pt idx="248">
                  <c:v>94.936317616817732</c:v>
                </c:pt>
                <c:pt idx="249">
                  <c:v>95.23681862924677</c:v>
                </c:pt>
                <c:pt idx="250">
                  <c:v>95.521218654603516</c:v>
                </c:pt>
                <c:pt idx="251">
                  <c:v>95.790241962660232</c:v>
                </c:pt>
                <c:pt idx="252">
                  <c:v>96.044591692750814</c:v>
                </c:pt>
                <c:pt idx="253">
                  <c:v>96.284949424754856</c:v>
                </c:pt>
                <c:pt idx="254">
                  <c:v>96.511974879251568</c:v>
                </c:pt>
                <c:pt idx="255">
                  <c:v>96.726305735210744</c:v>
                </c:pt>
                <c:pt idx="256">
                  <c:v>96.928557554134414</c:v>
                </c:pt>
                <c:pt idx="257">
                  <c:v>97.119323800127788</c:v>
                </c:pt>
                <c:pt idx="258">
                  <c:v>97.299175945955653</c:v>
                </c:pt>
                <c:pt idx="259">
                  <c:v>97.468663655721684</c:v>
                </c:pt>
                <c:pt idx="260">
                  <c:v>97.628315035392248</c:v>
                </c:pt>
                <c:pt idx="261">
                  <c:v>97.778636942956581</c:v>
                </c:pt>
                <c:pt idx="262">
                  <c:v>97.920115350584823</c:v>
                </c:pt>
                <c:pt idx="263">
                  <c:v>98.053215751692932</c:v>
                </c:pt>
                <c:pt idx="264">
                  <c:v>98.178383606359105</c:v>
                </c:pt>
                <c:pt idx="265">
                  <c:v>98.296044819048873</c:v>
                </c:pt>
                <c:pt idx="266">
                  <c:v>98.406606243103894</c:v>
                </c:pt>
                <c:pt idx="267">
                  <c:v>98.510456206915748</c:v>
                </c:pt>
                <c:pt idx="268">
                  <c:v>98.607965057158893</c:v>
                </c:pt>
                <c:pt idx="269">
                  <c:v>98.699485714879543</c:v>
                </c:pt>
                <c:pt idx="270">
                  <c:v>98.785354240637588</c:v>
                </c:pt>
                <c:pt idx="271">
                  <c:v>98.86589040527808</c:v>
                </c:pt>
                <c:pt idx="272">
                  <c:v>98.941398263257938</c:v>
                </c:pt>
                <c:pt idx="273">
                  <c:v>99.012166725788035</c:v>
                </c:pt>
                <c:pt idx="274">
                  <c:v>99.078470131353697</c:v>
                </c:pt>
                <c:pt idx="275">
                  <c:v>99.140568811465684</c:v>
                </c:pt>
                <c:pt idx="276">
                  <c:v>99.198709649754321</c:v>
                </c:pt>
                <c:pt idx="277">
                  <c:v>99.253126632765756</c:v>
                </c:pt>
                <c:pt idx="278">
                  <c:v>99.304041391041793</c:v>
                </c:pt>
                <c:pt idx="279">
                  <c:v>99.351663729271309</c:v>
                </c:pt>
                <c:pt idx="280">
                  <c:v>99.396192144488055</c:v>
                </c:pt>
                <c:pt idx="281">
                  <c:v>99.437814331463997</c:v>
                </c:pt>
                <c:pt idx="282">
                  <c:v>99.476707674598856</c:v>
                </c:pt>
                <c:pt idx="283">
                  <c:v>99.513039725753089</c:v>
                </c:pt>
                <c:pt idx="284">
                  <c:v>99.546968667593546</c:v>
                </c:pt>
                <c:pt idx="285">
                  <c:v>99.578643762141695</c:v>
                </c:pt>
                <c:pt idx="286">
                  <c:v>99.608205784311565</c:v>
                </c:pt>
                <c:pt idx="287">
                  <c:v>99.63578744032101</c:v>
                </c:pt>
                <c:pt idx="288">
                  <c:v>99.661513770938996</c:v>
                </c:pt>
                <c:pt idx="289">
                  <c:v>99.685502539604769</c:v>
                </c:pt>
                <c:pt idx="290">
                  <c:v>99.707864605518168</c:v>
                </c:pt>
                <c:pt idx="291">
                  <c:v>99.728704281856352</c:v>
                </c:pt>
                <c:pt idx="292">
                  <c:v>99.748119679320041</c:v>
                </c:pt>
                <c:pt idx="293">
                  <c:v>99.766203035253554</c:v>
                </c:pt>
                <c:pt idx="294">
                  <c:v>99.783041028620744</c:v>
                </c:pt>
                <c:pt idx="295">
                  <c:v>99.798715081145446</c:v>
                </c:pt>
                <c:pt idx="296">
                  <c:v>99.813301644952872</c:v>
                </c:pt>
                <c:pt idx="297">
                  <c:v>99.82687247706815</c:v>
                </c:pt>
                <c:pt idx="298">
                  <c:v>99.839494901143112</c:v>
                </c:pt>
                <c:pt idx="299">
                  <c:v>99.851232056797443</c:v>
                </c:pt>
                <c:pt idx="300">
                  <c:v>99.862143136968029</c:v>
                </c:pt>
                <c:pt idx="301">
                  <c:v>99.872283613666539</c:v>
                </c:pt>
                <c:pt idx="302">
                  <c:v>99.881705452550747</c:v>
                </c:pt>
                <c:pt idx="303">
                  <c:v>99.890457316715228</c:v>
                </c:pt>
                <c:pt idx="304">
                  <c:v>99.898584760105877</c:v>
                </c:pt>
                <c:pt idx="305">
                  <c:v>99.906130410963144</c:v>
                </c:pt>
                <c:pt idx="306">
                  <c:v>99.913134145690748</c:v>
                </c:pt>
                <c:pt idx="307">
                  <c:v>99.919633253545413</c:v>
                </c:pt>
                <c:pt idx="308">
                  <c:v>99.925662592534167</c:v>
                </c:pt>
                <c:pt idx="309">
                  <c:v>99.931254736898751</c:v>
                </c:pt>
                <c:pt idx="310">
                  <c:v>99.936440116559083</c:v>
                </c:pt>
                <c:pt idx="311">
                  <c:v>99.941247148878347</c:v>
                </c:pt>
                <c:pt idx="312">
                  <c:v>99.945702363101859</c:v>
                </c:pt>
                <c:pt idx="313">
                  <c:v>99.949830517813766</c:v>
                </c:pt>
                <c:pt idx="314">
                  <c:v>99.953654711742743</c:v>
                </c:pt>
                <c:pt idx="315">
                  <c:v>99.957196488240214</c:v>
                </c:pt>
                <c:pt idx="316">
                  <c:v>99.960475933740184</c:v>
                </c:pt>
                <c:pt idx="317">
                  <c:v>99.963511770503004</c:v>
                </c:pt>
                <c:pt idx="318">
                  <c:v>99.966321443930113</c:v>
                </c:pt>
                <c:pt idx="319">
                  <c:v>99.968921204729781</c:v>
                </c:pt>
                <c:pt idx="320">
                  <c:v>99.971326186200159</c:v>
                </c:pt>
                <c:pt idx="321">
                  <c:v>99.973550476886757</c:v>
                </c:pt>
                <c:pt idx="322">
                  <c:v>99.975607188859598</c:v>
                </c:pt>
                <c:pt idx="323">
                  <c:v>99.977508521846701</c:v>
                </c:pt>
                <c:pt idx="324">
                  <c:v>99.979265823448287</c:v>
                </c:pt>
                <c:pt idx="325">
                  <c:v>99.980889645646769</c:v>
                </c:pt>
                <c:pt idx="326">
                  <c:v>99.982389797818939</c:v>
                </c:pt>
                <c:pt idx="327">
                  <c:v>99.983775396445694</c:v>
                </c:pt>
                <c:pt idx="328">
                  <c:v>99.98505491170566</c:v>
                </c:pt>
                <c:pt idx="329">
                  <c:v>99.986236211131342</c:v>
                </c:pt>
                <c:pt idx="330">
                  <c:v>99.987326600495962</c:v>
                </c:pt>
                <c:pt idx="331">
                  <c:v>99.988332862092761</c:v>
                </c:pt>
                <c:pt idx="332">
                  <c:v>99.989261290558005</c:v>
                </c:pt>
                <c:pt idx="333">
                  <c:v>99.990117726383886</c:v>
                </c:pt>
                <c:pt idx="334">
                  <c:v>99.990907587257666</c:v>
                </c:pt>
                <c:pt idx="335">
                  <c:v>99.99163589735781</c:v>
                </c:pt>
                <c:pt idx="336">
                  <c:v>99.992307314730439</c:v>
                </c:pt>
                <c:pt idx="337">
                  <c:v>99.992926156861984</c:v>
                </c:pt>
                <c:pt idx="338">
                  <c:v>99.993496424559396</c:v>
                </c:pt>
                <c:pt idx="339">
                  <c:v>99.994021824241372</c:v>
                </c:pt>
                <c:pt idx="340">
                  <c:v>99.994505788739971</c:v>
                </c:pt>
                <c:pt idx="341">
                  <c:v>99.994951496704459</c:v>
                </c:pt>
                <c:pt idx="342">
                  <c:v>99.995361890696472</c:v>
                </c:pt>
                <c:pt idx="343">
                  <c:v>99.995739694057832</c:v>
                </c:pt>
                <c:pt idx="344">
                  <c:v>99.996087426630552</c:v>
                </c:pt>
                <c:pt idx="345">
                  <c:v>99.996407419401038</c:v>
                </c:pt>
                <c:pt idx="346">
                  <c:v>99.996701828138427</c:v>
                </c:pt>
                <c:pt idx="347">
                  <c:v>99.996972646092331</c:v>
                </c:pt>
                <c:pt idx="348">
                  <c:v>99.997221715810426</c:v>
                </c:pt>
                <c:pt idx="349">
                  <c:v>99.997450740134042</c:v>
                </c:pt>
                <c:pt idx="350">
                  <c:v>99.997661292425619</c:v>
                </c:pt>
                <c:pt idx="351">
                  <c:v>99.997854826078807</c:v>
                </c:pt>
                <c:pt idx="352">
                  <c:v>99.9980326833589</c:v>
                </c:pt>
                <c:pt idx="353">
                  <c:v>99.998196103618099</c:v>
                </c:pt>
                <c:pt idx="354">
                  <c:v>99.998346230927851</c:v>
                </c:pt>
                <c:pt idx="355">
                  <c:v>99.998484121167493</c:v>
                </c:pt>
                <c:pt idx="356">
                  <c:v>99.998610748605984</c:v>
                </c:pt>
                <c:pt idx="357">
                  <c:v>99.998727012011045</c:v>
                </c:pt>
                <c:pt idx="358">
                  <c:v>99.998833740318275</c:v>
                </c:pt>
                <c:pt idx="359">
                  <c:v>99.998931697890541</c:v>
                </c:pt>
                <c:pt idx="360">
                  <c:v>99.99902158939571</c:v>
                </c:pt>
                <c:pt idx="361">
                  <c:v>99.999104064328961</c:v>
                </c:pt>
                <c:pt idx="362">
                  <c:v>99.999179721204939</c:v>
                </c:pt>
                <c:pt idx="363">
                  <c:v>99.999249111442538</c:v>
                </c:pt>
                <c:pt idx="364">
                  <c:v>99.999312742963838</c:v>
                </c:pt>
                <c:pt idx="365">
                  <c:v>99.999371083527294</c:v>
                </c:pt>
                <c:pt idx="366">
                  <c:v>99.999424563814159</c:v>
                </c:pt>
                <c:pt idx="367">
                  <c:v>99.999473580285837</c:v>
                </c:pt>
                <c:pt idx="368">
                  <c:v>99.999518497827921</c:v>
                </c:pt>
                <c:pt idx="369">
                  <c:v>99.999559652196496</c:v>
                </c:pt>
                <c:pt idx="370">
                  <c:v>99.99959735228137</c:v>
                </c:pt>
                <c:pt idx="371">
                  <c:v>99.999631882198642</c:v>
                </c:pt>
                <c:pt idx="372">
                  <c:v>99.99966350322525</c:v>
                </c:pt>
                <c:pt idx="373">
                  <c:v>99.999692455587677</c:v>
                </c:pt>
                <c:pt idx="374">
                  <c:v>99.999718960114066</c:v>
                </c:pt>
                <c:pt idx="375">
                  <c:v>99.999743219760944</c:v>
                </c:pt>
                <c:pt idx="376">
                  <c:v>99.999765421023426</c:v>
                </c:pt>
                <c:pt idx="377">
                  <c:v>99.999785735237111</c:v>
                </c:pt>
                <c:pt idx="378">
                  <c:v>99.999804319780111</c:v>
                </c:pt>
                <c:pt idx="379">
                  <c:v>99.99982131918253</c:v>
                </c:pt>
                <c:pt idx="380">
                  <c:v>99.999836866150019</c:v>
                </c:pt>
                <c:pt idx="381">
                  <c:v>99.999851082508343</c:v>
                </c:pt>
                <c:pt idx="382">
                  <c:v>99.999864080074516</c:v>
                </c:pt>
                <c:pt idx="383">
                  <c:v>99.99987596145958</c:v>
                </c:pt>
                <c:pt idx="384">
                  <c:v>99.999886820809465</c:v>
                </c:pt>
                <c:pt idx="385">
                  <c:v>99.999896744487444</c:v>
                </c:pt>
                <c:pt idx="386">
                  <c:v>99.999905811702632</c:v>
                </c:pt>
                <c:pt idx="387">
                  <c:v>99.99991409508992</c:v>
                </c:pt>
                <c:pt idx="388">
                  <c:v>99.999921661243306</c:v>
                </c:pt>
                <c:pt idx="389">
                  <c:v>99.999928571207263</c:v>
                </c:pt>
                <c:pt idx="390">
                  <c:v>99.999934880929544</c:v>
                </c:pt>
                <c:pt idx="391">
                  <c:v>99.999940641677298</c:v>
                </c:pt>
                <c:pt idx="392">
                  <c:v>99.999945900420514</c:v>
                </c:pt>
                <c:pt idx="393">
                  <c:v>99.999950700184641</c:v>
                </c:pt>
                <c:pt idx="394">
                  <c:v>99.999955080374988</c:v>
                </c:pt>
                <c:pt idx="395">
                  <c:v>99.999959077075147</c:v>
                </c:pt>
                <c:pt idx="396">
                  <c:v>99.999962723321048</c:v>
                </c:pt>
                <c:pt idx="397">
                  <c:v>99.999966049353517</c:v>
                </c:pt>
                <c:pt idx="398">
                  <c:v>99.999969082849816</c:v>
                </c:pt>
                <c:pt idx="399">
                  <c:v>99.999971849136855</c:v>
                </c:pt>
                <c:pt idx="400">
                  <c:v>99.999974371386713</c:v>
                </c:pt>
              </c:numCache>
            </c:numRef>
          </c:yVal>
          <c:smooth val="0"/>
          <c:extLst>
            <c:ext xmlns:c16="http://schemas.microsoft.com/office/drawing/2014/chart" uri="{C3380CC4-5D6E-409C-BE32-E72D297353CC}">
              <c16:uniqueId val="{00000001-6C55-442D-8CC0-6E06055C17CA}"/>
            </c:ext>
          </c:extLst>
        </c:ser>
        <c:ser>
          <c:idx val="2"/>
          <c:order val="2"/>
          <c:tx>
            <c:strRef>
              <c:f>Sheet1!$B$807</c:f>
              <c:strCache>
                <c:ptCount val="1"/>
                <c:pt idx="0">
                  <c:v>2 per maand, één centrum</c:v>
                </c:pt>
              </c:strCache>
            </c:strRef>
          </c:tx>
          <c:spPr>
            <a:ln w="12700">
              <a:solidFill>
                <a:srgbClr val="FF7A00"/>
              </a:solidFill>
            </a:ln>
          </c:spPr>
          <c:marker>
            <c:symbol val="none"/>
          </c:marker>
          <c:xVal>
            <c:numRef>
              <c:f>Sheet1!$A$808:$A$1208</c:f>
              <c:numCache>
                <c:formatCode>General</c:formatCode>
                <c:ptCount val="40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2.0499999999999998</c:v>
                </c:pt>
                <c:pt idx="42">
                  <c:v>2.1</c:v>
                </c:pt>
                <c:pt idx="43">
                  <c:v>2.15</c:v>
                </c:pt>
                <c:pt idx="44">
                  <c:v>2.2000000000000002</c:v>
                </c:pt>
                <c:pt idx="45">
                  <c:v>2.25</c:v>
                </c:pt>
                <c:pt idx="46">
                  <c:v>2.2999999999999998</c:v>
                </c:pt>
                <c:pt idx="47">
                  <c:v>2.35</c:v>
                </c:pt>
                <c:pt idx="48">
                  <c:v>2.4</c:v>
                </c:pt>
                <c:pt idx="49">
                  <c:v>2.4500000000000002</c:v>
                </c:pt>
                <c:pt idx="50">
                  <c:v>2.5</c:v>
                </c:pt>
                <c:pt idx="51">
                  <c:v>2.5499999999999998</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4.0999999999999996</c:v>
                </c:pt>
                <c:pt idx="83">
                  <c:v>4.1500000000000004</c:v>
                </c:pt>
                <c:pt idx="84">
                  <c:v>4.2</c:v>
                </c:pt>
                <c:pt idx="85">
                  <c:v>4.25</c:v>
                </c:pt>
                <c:pt idx="86">
                  <c:v>4.3</c:v>
                </c:pt>
                <c:pt idx="87">
                  <c:v>4.3499999999999996</c:v>
                </c:pt>
                <c:pt idx="88">
                  <c:v>4.4000000000000004</c:v>
                </c:pt>
                <c:pt idx="89">
                  <c:v>4.45</c:v>
                </c:pt>
                <c:pt idx="90">
                  <c:v>4.5</c:v>
                </c:pt>
                <c:pt idx="91">
                  <c:v>4.55</c:v>
                </c:pt>
                <c:pt idx="92">
                  <c:v>4.5999999999999996</c:v>
                </c:pt>
                <c:pt idx="93">
                  <c:v>4.6500000000000004</c:v>
                </c:pt>
                <c:pt idx="94">
                  <c:v>4.7</c:v>
                </c:pt>
                <c:pt idx="95">
                  <c:v>4.75</c:v>
                </c:pt>
                <c:pt idx="96">
                  <c:v>4.8</c:v>
                </c:pt>
                <c:pt idx="97">
                  <c:v>4.8499999999999996</c:v>
                </c:pt>
                <c:pt idx="98">
                  <c:v>4.9000000000000004</c:v>
                </c:pt>
                <c:pt idx="99">
                  <c:v>4.95</c:v>
                </c:pt>
                <c:pt idx="100">
                  <c:v>5</c:v>
                </c:pt>
                <c:pt idx="101">
                  <c:v>5.05</c:v>
                </c:pt>
                <c:pt idx="102">
                  <c:v>5.0999999999999996</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pt idx="161">
                  <c:v>8.0500000000000007</c:v>
                </c:pt>
                <c:pt idx="162">
                  <c:v>8.1</c:v>
                </c:pt>
                <c:pt idx="163">
                  <c:v>8.15</c:v>
                </c:pt>
                <c:pt idx="164">
                  <c:v>8.1999999999999993</c:v>
                </c:pt>
                <c:pt idx="165">
                  <c:v>8.25</c:v>
                </c:pt>
                <c:pt idx="166">
                  <c:v>8.3000000000000007</c:v>
                </c:pt>
                <c:pt idx="167">
                  <c:v>8.35</c:v>
                </c:pt>
                <c:pt idx="168">
                  <c:v>8.4</c:v>
                </c:pt>
                <c:pt idx="169">
                  <c:v>8.4499999999999993</c:v>
                </c:pt>
                <c:pt idx="170">
                  <c:v>8.5</c:v>
                </c:pt>
                <c:pt idx="171">
                  <c:v>8.5500000000000007</c:v>
                </c:pt>
                <c:pt idx="172">
                  <c:v>8.6</c:v>
                </c:pt>
                <c:pt idx="173">
                  <c:v>8.65</c:v>
                </c:pt>
                <c:pt idx="174">
                  <c:v>8.6999999999999993</c:v>
                </c:pt>
                <c:pt idx="175">
                  <c:v>8.75</c:v>
                </c:pt>
                <c:pt idx="176">
                  <c:v>8.8000000000000007</c:v>
                </c:pt>
                <c:pt idx="177">
                  <c:v>8.85</c:v>
                </c:pt>
                <c:pt idx="178">
                  <c:v>8.9</c:v>
                </c:pt>
                <c:pt idx="179">
                  <c:v>8.9499999999999993</c:v>
                </c:pt>
                <c:pt idx="180">
                  <c:v>9</c:v>
                </c:pt>
                <c:pt idx="181">
                  <c:v>9.0500000000000007</c:v>
                </c:pt>
                <c:pt idx="182">
                  <c:v>9.1</c:v>
                </c:pt>
                <c:pt idx="183">
                  <c:v>9.15</c:v>
                </c:pt>
                <c:pt idx="184">
                  <c:v>9.1999999999999993</c:v>
                </c:pt>
                <c:pt idx="185">
                  <c:v>9.25</c:v>
                </c:pt>
                <c:pt idx="186">
                  <c:v>9.3000000000000007</c:v>
                </c:pt>
                <c:pt idx="187">
                  <c:v>9.35</c:v>
                </c:pt>
                <c:pt idx="188">
                  <c:v>9.4</c:v>
                </c:pt>
                <c:pt idx="189">
                  <c:v>9.4499999999999993</c:v>
                </c:pt>
                <c:pt idx="190">
                  <c:v>9.5</c:v>
                </c:pt>
                <c:pt idx="191">
                  <c:v>9.5500000000000007</c:v>
                </c:pt>
                <c:pt idx="192">
                  <c:v>9.6</c:v>
                </c:pt>
                <c:pt idx="193">
                  <c:v>9.65</c:v>
                </c:pt>
                <c:pt idx="194">
                  <c:v>9.6999999999999993</c:v>
                </c:pt>
                <c:pt idx="195">
                  <c:v>9.75</c:v>
                </c:pt>
                <c:pt idx="196">
                  <c:v>9.8000000000000007</c:v>
                </c:pt>
                <c:pt idx="197">
                  <c:v>9.85</c:v>
                </c:pt>
                <c:pt idx="198">
                  <c:v>9.9</c:v>
                </c:pt>
                <c:pt idx="199">
                  <c:v>9.9499999999999993</c:v>
                </c:pt>
                <c:pt idx="200">
                  <c:v>10</c:v>
                </c:pt>
                <c:pt idx="201">
                  <c:v>10.050000000000001</c:v>
                </c:pt>
                <c:pt idx="202">
                  <c:v>10.1</c:v>
                </c:pt>
                <c:pt idx="203">
                  <c:v>10.15</c:v>
                </c:pt>
                <c:pt idx="204">
                  <c:v>10.199999999999999</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c:v>
                </c:pt>
                <c:pt idx="221">
                  <c:v>11.05</c:v>
                </c:pt>
                <c:pt idx="222">
                  <c:v>11.1</c:v>
                </c:pt>
                <c:pt idx="223">
                  <c:v>11.15</c:v>
                </c:pt>
                <c:pt idx="224">
                  <c:v>11.2</c:v>
                </c:pt>
                <c:pt idx="225">
                  <c:v>11.25</c:v>
                </c:pt>
                <c:pt idx="226">
                  <c:v>11.3</c:v>
                </c:pt>
                <c:pt idx="227">
                  <c:v>11.35</c:v>
                </c:pt>
                <c:pt idx="228">
                  <c:v>11.4</c:v>
                </c:pt>
                <c:pt idx="229">
                  <c:v>11.45</c:v>
                </c:pt>
                <c:pt idx="230">
                  <c:v>11.5</c:v>
                </c:pt>
                <c:pt idx="231">
                  <c:v>11.55</c:v>
                </c:pt>
                <c:pt idx="232">
                  <c:v>11.6</c:v>
                </c:pt>
                <c:pt idx="233">
                  <c:v>11.65</c:v>
                </c:pt>
                <c:pt idx="234">
                  <c:v>11.7</c:v>
                </c:pt>
                <c:pt idx="235">
                  <c:v>11.75</c:v>
                </c:pt>
                <c:pt idx="236">
                  <c:v>11.8</c:v>
                </c:pt>
                <c:pt idx="237">
                  <c:v>11.85</c:v>
                </c:pt>
                <c:pt idx="238">
                  <c:v>11.9</c:v>
                </c:pt>
                <c:pt idx="239">
                  <c:v>11.95</c:v>
                </c:pt>
                <c:pt idx="240">
                  <c:v>12</c:v>
                </c:pt>
                <c:pt idx="241">
                  <c:v>12.05</c:v>
                </c:pt>
                <c:pt idx="242">
                  <c:v>12.1</c:v>
                </c:pt>
                <c:pt idx="243">
                  <c:v>12.15</c:v>
                </c:pt>
                <c:pt idx="244">
                  <c:v>12.2</c:v>
                </c:pt>
                <c:pt idx="245">
                  <c:v>12.25</c:v>
                </c:pt>
                <c:pt idx="246">
                  <c:v>12.3</c:v>
                </c:pt>
                <c:pt idx="247">
                  <c:v>12.35</c:v>
                </c:pt>
                <c:pt idx="248">
                  <c:v>12.4</c:v>
                </c:pt>
                <c:pt idx="249">
                  <c:v>12.45</c:v>
                </c:pt>
                <c:pt idx="250">
                  <c:v>12.5</c:v>
                </c:pt>
                <c:pt idx="251">
                  <c:v>12.55</c:v>
                </c:pt>
                <c:pt idx="252">
                  <c:v>12.6</c:v>
                </c:pt>
                <c:pt idx="253">
                  <c:v>12.65</c:v>
                </c:pt>
                <c:pt idx="254">
                  <c:v>12.7</c:v>
                </c:pt>
                <c:pt idx="255">
                  <c:v>12.75</c:v>
                </c:pt>
                <c:pt idx="256">
                  <c:v>12.8</c:v>
                </c:pt>
                <c:pt idx="257">
                  <c:v>12.85</c:v>
                </c:pt>
                <c:pt idx="258">
                  <c:v>12.9</c:v>
                </c:pt>
                <c:pt idx="259">
                  <c:v>12.95</c:v>
                </c:pt>
                <c:pt idx="260">
                  <c:v>13</c:v>
                </c:pt>
                <c:pt idx="261">
                  <c:v>13.05</c:v>
                </c:pt>
                <c:pt idx="262">
                  <c:v>13.1</c:v>
                </c:pt>
                <c:pt idx="263">
                  <c:v>13.15</c:v>
                </c:pt>
                <c:pt idx="264">
                  <c:v>13.2</c:v>
                </c:pt>
                <c:pt idx="265">
                  <c:v>13.25</c:v>
                </c:pt>
                <c:pt idx="266">
                  <c:v>13.3</c:v>
                </c:pt>
                <c:pt idx="267">
                  <c:v>13.35</c:v>
                </c:pt>
                <c:pt idx="268">
                  <c:v>13.4</c:v>
                </c:pt>
                <c:pt idx="269">
                  <c:v>13.45</c:v>
                </c:pt>
                <c:pt idx="270">
                  <c:v>13.5</c:v>
                </c:pt>
                <c:pt idx="271">
                  <c:v>13.55</c:v>
                </c:pt>
                <c:pt idx="272">
                  <c:v>13.6</c:v>
                </c:pt>
                <c:pt idx="273">
                  <c:v>13.65</c:v>
                </c:pt>
                <c:pt idx="274">
                  <c:v>13.7</c:v>
                </c:pt>
                <c:pt idx="275">
                  <c:v>13.75</c:v>
                </c:pt>
                <c:pt idx="276">
                  <c:v>13.8</c:v>
                </c:pt>
                <c:pt idx="277">
                  <c:v>13.85</c:v>
                </c:pt>
                <c:pt idx="278">
                  <c:v>13.9</c:v>
                </c:pt>
                <c:pt idx="279">
                  <c:v>13.95</c:v>
                </c:pt>
                <c:pt idx="280">
                  <c:v>14</c:v>
                </c:pt>
                <c:pt idx="281">
                  <c:v>14.05</c:v>
                </c:pt>
                <c:pt idx="282">
                  <c:v>14.1</c:v>
                </c:pt>
                <c:pt idx="283">
                  <c:v>14.15</c:v>
                </c:pt>
                <c:pt idx="284">
                  <c:v>14.2</c:v>
                </c:pt>
                <c:pt idx="285">
                  <c:v>14.25</c:v>
                </c:pt>
                <c:pt idx="286">
                  <c:v>14.3</c:v>
                </c:pt>
                <c:pt idx="287">
                  <c:v>14.35</c:v>
                </c:pt>
                <c:pt idx="288">
                  <c:v>14.4</c:v>
                </c:pt>
                <c:pt idx="289">
                  <c:v>14.45</c:v>
                </c:pt>
                <c:pt idx="290">
                  <c:v>14.5</c:v>
                </c:pt>
                <c:pt idx="291">
                  <c:v>14.55</c:v>
                </c:pt>
                <c:pt idx="292">
                  <c:v>14.6</c:v>
                </c:pt>
                <c:pt idx="293">
                  <c:v>14.65</c:v>
                </c:pt>
                <c:pt idx="294">
                  <c:v>14.7</c:v>
                </c:pt>
                <c:pt idx="295">
                  <c:v>14.75</c:v>
                </c:pt>
                <c:pt idx="296">
                  <c:v>14.8</c:v>
                </c:pt>
                <c:pt idx="297">
                  <c:v>14.85</c:v>
                </c:pt>
                <c:pt idx="298">
                  <c:v>14.9</c:v>
                </c:pt>
                <c:pt idx="299">
                  <c:v>14.95</c:v>
                </c:pt>
                <c:pt idx="300">
                  <c:v>15</c:v>
                </c:pt>
                <c:pt idx="301">
                  <c:v>15.05</c:v>
                </c:pt>
                <c:pt idx="302">
                  <c:v>15.1</c:v>
                </c:pt>
                <c:pt idx="303">
                  <c:v>15.15</c:v>
                </c:pt>
                <c:pt idx="304">
                  <c:v>15.2</c:v>
                </c:pt>
                <c:pt idx="305">
                  <c:v>15.25</c:v>
                </c:pt>
                <c:pt idx="306">
                  <c:v>15.3</c:v>
                </c:pt>
                <c:pt idx="307">
                  <c:v>15.35</c:v>
                </c:pt>
                <c:pt idx="308">
                  <c:v>15.4</c:v>
                </c:pt>
                <c:pt idx="309">
                  <c:v>15.45</c:v>
                </c:pt>
                <c:pt idx="310">
                  <c:v>15.5</c:v>
                </c:pt>
                <c:pt idx="311">
                  <c:v>15.55</c:v>
                </c:pt>
                <c:pt idx="312">
                  <c:v>15.6</c:v>
                </c:pt>
                <c:pt idx="313">
                  <c:v>15.65</c:v>
                </c:pt>
                <c:pt idx="314">
                  <c:v>15.7</c:v>
                </c:pt>
                <c:pt idx="315">
                  <c:v>15.75</c:v>
                </c:pt>
                <c:pt idx="316">
                  <c:v>15.8</c:v>
                </c:pt>
                <c:pt idx="317">
                  <c:v>15.85</c:v>
                </c:pt>
                <c:pt idx="318">
                  <c:v>15.9</c:v>
                </c:pt>
                <c:pt idx="319">
                  <c:v>15.95</c:v>
                </c:pt>
                <c:pt idx="320">
                  <c:v>16</c:v>
                </c:pt>
                <c:pt idx="321">
                  <c:v>16.05</c:v>
                </c:pt>
                <c:pt idx="322">
                  <c:v>16.100000000000001</c:v>
                </c:pt>
                <c:pt idx="323">
                  <c:v>16.149999999999999</c:v>
                </c:pt>
                <c:pt idx="324">
                  <c:v>16.2</c:v>
                </c:pt>
                <c:pt idx="325">
                  <c:v>16.25</c:v>
                </c:pt>
                <c:pt idx="326">
                  <c:v>16.3</c:v>
                </c:pt>
                <c:pt idx="327">
                  <c:v>16.350000000000001</c:v>
                </c:pt>
                <c:pt idx="328">
                  <c:v>16.399999999999999</c:v>
                </c:pt>
                <c:pt idx="329">
                  <c:v>16.45</c:v>
                </c:pt>
                <c:pt idx="330">
                  <c:v>16.5</c:v>
                </c:pt>
                <c:pt idx="331">
                  <c:v>16.55</c:v>
                </c:pt>
                <c:pt idx="332">
                  <c:v>16.600000000000001</c:v>
                </c:pt>
                <c:pt idx="333">
                  <c:v>16.649999999999999</c:v>
                </c:pt>
                <c:pt idx="334">
                  <c:v>16.7</c:v>
                </c:pt>
                <c:pt idx="335">
                  <c:v>16.75</c:v>
                </c:pt>
                <c:pt idx="336">
                  <c:v>16.8</c:v>
                </c:pt>
                <c:pt idx="337">
                  <c:v>16.850000000000001</c:v>
                </c:pt>
                <c:pt idx="338">
                  <c:v>16.899999999999999</c:v>
                </c:pt>
                <c:pt idx="339">
                  <c:v>16.95</c:v>
                </c:pt>
                <c:pt idx="340">
                  <c:v>17</c:v>
                </c:pt>
                <c:pt idx="341">
                  <c:v>17.05</c:v>
                </c:pt>
                <c:pt idx="342">
                  <c:v>17.100000000000001</c:v>
                </c:pt>
                <c:pt idx="343">
                  <c:v>17.149999999999999</c:v>
                </c:pt>
                <c:pt idx="344">
                  <c:v>17.2</c:v>
                </c:pt>
                <c:pt idx="345">
                  <c:v>17.25</c:v>
                </c:pt>
                <c:pt idx="346">
                  <c:v>17.3</c:v>
                </c:pt>
                <c:pt idx="347">
                  <c:v>17.350000000000001</c:v>
                </c:pt>
                <c:pt idx="348">
                  <c:v>17.399999999999999</c:v>
                </c:pt>
                <c:pt idx="349">
                  <c:v>17.45</c:v>
                </c:pt>
                <c:pt idx="350">
                  <c:v>17.5</c:v>
                </c:pt>
                <c:pt idx="351">
                  <c:v>17.55</c:v>
                </c:pt>
                <c:pt idx="352">
                  <c:v>17.600000000000001</c:v>
                </c:pt>
                <c:pt idx="353">
                  <c:v>17.649999999999999</c:v>
                </c:pt>
                <c:pt idx="354">
                  <c:v>17.7</c:v>
                </c:pt>
                <c:pt idx="355">
                  <c:v>17.75</c:v>
                </c:pt>
                <c:pt idx="356">
                  <c:v>17.8</c:v>
                </c:pt>
                <c:pt idx="357">
                  <c:v>17.850000000000001</c:v>
                </c:pt>
                <c:pt idx="358">
                  <c:v>17.899999999999999</c:v>
                </c:pt>
                <c:pt idx="359">
                  <c:v>17.95</c:v>
                </c:pt>
                <c:pt idx="360">
                  <c:v>18</c:v>
                </c:pt>
                <c:pt idx="361">
                  <c:v>18.05</c:v>
                </c:pt>
                <c:pt idx="362">
                  <c:v>18.100000000000001</c:v>
                </c:pt>
                <c:pt idx="363">
                  <c:v>18.149999999999999</c:v>
                </c:pt>
                <c:pt idx="364">
                  <c:v>18.2</c:v>
                </c:pt>
                <c:pt idx="365">
                  <c:v>18.25</c:v>
                </c:pt>
                <c:pt idx="366">
                  <c:v>18.3</c:v>
                </c:pt>
                <c:pt idx="367">
                  <c:v>18.350000000000001</c:v>
                </c:pt>
                <c:pt idx="368">
                  <c:v>18.399999999999999</c:v>
                </c:pt>
                <c:pt idx="369">
                  <c:v>18.45</c:v>
                </c:pt>
                <c:pt idx="370">
                  <c:v>18.5</c:v>
                </c:pt>
                <c:pt idx="371">
                  <c:v>18.55</c:v>
                </c:pt>
                <c:pt idx="372">
                  <c:v>18.600000000000001</c:v>
                </c:pt>
                <c:pt idx="373">
                  <c:v>18.649999999999999</c:v>
                </c:pt>
                <c:pt idx="374">
                  <c:v>18.7</c:v>
                </c:pt>
                <c:pt idx="375">
                  <c:v>18.75</c:v>
                </c:pt>
                <c:pt idx="376">
                  <c:v>18.8</c:v>
                </c:pt>
                <c:pt idx="377">
                  <c:v>18.850000000000001</c:v>
                </c:pt>
                <c:pt idx="378">
                  <c:v>18.899999999999999</c:v>
                </c:pt>
                <c:pt idx="379">
                  <c:v>18.95</c:v>
                </c:pt>
                <c:pt idx="380">
                  <c:v>19</c:v>
                </c:pt>
                <c:pt idx="381">
                  <c:v>19.05</c:v>
                </c:pt>
                <c:pt idx="382">
                  <c:v>19.100000000000001</c:v>
                </c:pt>
                <c:pt idx="383">
                  <c:v>19.149999999999999</c:v>
                </c:pt>
                <c:pt idx="384">
                  <c:v>19.2</c:v>
                </c:pt>
                <c:pt idx="385">
                  <c:v>19.25</c:v>
                </c:pt>
                <c:pt idx="386">
                  <c:v>19.3</c:v>
                </c:pt>
                <c:pt idx="387">
                  <c:v>19.350000000000001</c:v>
                </c:pt>
                <c:pt idx="388">
                  <c:v>19.399999999999999</c:v>
                </c:pt>
                <c:pt idx="389">
                  <c:v>19.45</c:v>
                </c:pt>
                <c:pt idx="390">
                  <c:v>19.5</c:v>
                </c:pt>
                <c:pt idx="391">
                  <c:v>19.55</c:v>
                </c:pt>
                <c:pt idx="392">
                  <c:v>19.600000000000001</c:v>
                </c:pt>
                <c:pt idx="393">
                  <c:v>19.649999999999999</c:v>
                </c:pt>
                <c:pt idx="394">
                  <c:v>19.7</c:v>
                </c:pt>
                <c:pt idx="395">
                  <c:v>19.75</c:v>
                </c:pt>
                <c:pt idx="396">
                  <c:v>19.8</c:v>
                </c:pt>
                <c:pt idx="397">
                  <c:v>19.850000000000001</c:v>
                </c:pt>
                <c:pt idx="398">
                  <c:v>19.899999999999999</c:v>
                </c:pt>
                <c:pt idx="399">
                  <c:v>19.95</c:v>
                </c:pt>
                <c:pt idx="400">
                  <c:v>20</c:v>
                </c:pt>
              </c:numCache>
            </c:numRef>
          </c:xVal>
          <c:yVal>
            <c:numRef>
              <c:f>Sheet1!$B$808:$B$1208</c:f>
              <c:numCache>
                <c:formatCode>General</c:formatCode>
                <c:ptCount val="401"/>
                <c:pt idx="0">
                  <c:v>0</c:v>
                </c:pt>
                <c:pt idx="1">
                  <c:v>0</c:v>
                </c:pt>
                <c:pt idx="2">
                  <c:v>0</c:v>
                </c:pt>
                <c:pt idx="3">
                  <c:v>0</c:v>
                </c:pt>
                <c:pt idx="4">
                  <c:v>0</c:v>
                </c:pt>
                <c:pt idx="5">
                  <c:v>0</c:v>
                </c:pt>
                <c:pt idx="6">
                  <c:v>0</c:v>
                </c:pt>
                <c:pt idx="7">
                  <c:v>0</c:v>
                </c:pt>
                <c:pt idx="8">
                  <c:v>0</c:v>
                </c:pt>
                <c:pt idx="9">
                  <c:v>0</c:v>
                </c:pt>
                <c:pt idx="10">
                  <c:v>0</c:v>
                </c:pt>
                <c:pt idx="11">
                  <c:v>-2.2204460492503131E-14</c:v>
                </c:pt>
                <c:pt idx="12">
                  <c:v>0</c:v>
                </c:pt>
                <c:pt idx="13">
                  <c:v>0</c:v>
                </c:pt>
                <c:pt idx="14">
                  <c:v>0</c:v>
                </c:pt>
                <c:pt idx="15">
                  <c:v>0</c:v>
                </c:pt>
                <c:pt idx="16">
                  <c:v>-2.2204460492503131E-14</c:v>
                </c:pt>
                <c:pt idx="17">
                  <c:v>0</c:v>
                </c:pt>
                <c:pt idx="18">
                  <c:v>-2.2204460492503131E-14</c:v>
                </c:pt>
                <c:pt idx="19">
                  <c:v>0</c:v>
                </c:pt>
                <c:pt idx="20">
                  <c:v>0</c:v>
                </c:pt>
                <c:pt idx="21">
                  <c:v>0</c:v>
                </c:pt>
                <c:pt idx="22">
                  <c:v>0</c:v>
                </c:pt>
                <c:pt idx="23">
                  <c:v>1.1102230246251565E-14</c:v>
                </c:pt>
                <c:pt idx="24">
                  <c:v>2.2204460492503131E-14</c:v>
                </c:pt>
                <c:pt idx="25">
                  <c:v>3.3306690738754696E-14</c:v>
                </c:pt>
                <c:pt idx="26">
                  <c:v>1.3322676295501878E-13</c:v>
                </c:pt>
                <c:pt idx="27">
                  <c:v>2.6645352591003757E-13</c:v>
                </c:pt>
                <c:pt idx="28">
                  <c:v>5.8841820305133297E-13</c:v>
                </c:pt>
                <c:pt idx="29">
                  <c:v>1.2545520178264269E-12</c:v>
                </c:pt>
                <c:pt idx="30">
                  <c:v>2.55351295663786E-12</c:v>
                </c:pt>
                <c:pt idx="31">
                  <c:v>5.1292303737682232E-12</c:v>
                </c:pt>
                <c:pt idx="32">
                  <c:v>1.0025313912365164E-11</c:v>
                </c:pt>
                <c:pt idx="33">
                  <c:v>1.9073631563060189E-11</c:v>
                </c:pt>
                <c:pt idx="34">
                  <c:v>3.5393910025049991E-11</c:v>
                </c:pt>
                <c:pt idx="35">
                  <c:v>6.4548366651706601E-11</c:v>
                </c:pt>
                <c:pt idx="36">
                  <c:v>1.1541878564003127E-10</c:v>
                </c:pt>
                <c:pt idx="37">
                  <c:v>2.0241586184965854E-10</c:v>
                </c:pt>
                <c:pt idx="38">
                  <c:v>3.4904301671190296E-10</c:v>
                </c:pt>
                <c:pt idx="39">
                  <c:v>5.918265877369322E-10</c:v>
                </c:pt>
                <c:pt idx="40">
                  <c:v>9.8787644731146429E-10</c:v>
                </c:pt>
                <c:pt idx="41">
                  <c:v>1.6243117961778353E-9</c:v>
                </c:pt>
                <c:pt idx="42">
                  <c:v>2.6330271296615138E-9</c:v>
                </c:pt>
                <c:pt idx="43">
                  <c:v>4.2106096387328762E-9</c:v>
                </c:pt>
                <c:pt idx="44">
                  <c:v>6.6466054882141634E-9</c:v>
                </c:pt>
                <c:pt idx="45">
                  <c:v>1.0362810609620965E-8</c:v>
                </c:pt>
                <c:pt idx="46">
                  <c:v>1.5966850064330629E-8</c:v>
                </c:pt>
                <c:pt idx="47">
                  <c:v>2.432427592680142E-8</c:v>
                </c:pt>
                <c:pt idx="48">
                  <c:v>3.6656533364265442E-8</c:v>
                </c:pt>
                <c:pt idx="49">
                  <c:v>5.4669768712045652E-8</c:v>
                </c:pt>
                <c:pt idx="50">
                  <c:v>8.0725381934598772E-8</c:v>
                </c:pt>
                <c:pt idx="51">
                  <c:v>1.1806238209288722E-7</c:v>
                </c:pt>
                <c:pt idx="52">
                  <c:v>1.7108608973970263E-7</c:v>
                </c:pt>
                <c:pt idx="53">
                  <c:v>2.4573754142664939E-7</c:v>
                </c:pt>
                <c:pt idx="54">
                  <c:v>3.4996660014385839E-7</c:v>
                </c:pt>
                <c:pt idx="55">
                  <c:v>4.9432915538716315E-7</c:v>
                </c:pt>
                <c:pt idx="56">
                  <c:v>6.9273831115879148E-7</c:v>
                </c:pt>
                <c:pt idx="57">
                  <c:v>9.6340219135626626E-7</c:v>
                </c:pt>
                <c:pt idx="58">
                  <c:v>1.3299865764260232E-6</c:v>
                </c:pt>
                <c:pt idx="59">
                  <c:v>1.8230468801228028E-6</c:v>
                </c:pt>
                <c:pt idx="60">
                  <c:v>2.4817817800837361E-6</c:v>
                </c:pt>
                <c:pt idx="61">
                  <c:v>3.3561674883664239E-6</c:v>
                </c:pt>
                <c:pt idx="62">
                  <c:v>4.5095395306837815E-6</c:v>
                </c:pt>
                <c:pt idx="63">
                  <c:v>6.0216992392447821E-6</c:v>
                </c:pt>
                <c:pt idx="64">
                  <c:v>7.9926295470933439E-6</c:v>
                </c:pt>
                <c:pt idx="65">
                  <c:v>1.0546919071430239E-5</c:v>
                </c:pt>
                <c:pt idx="66">
                  <c:v>1.3838997758863769E-5</c:v>
                </c:pt>
                <c:pt idx="67">
                  <c:v>1.8059305795237179E-5</c:v>
                </c:pt>
                <c:pt idx="68">
                  <c:v>2.3441524765743793E-5</c:v>
                </c:pt>
                <c:pt idx="69">
                  <c:v>3.0271011686178184E-5</c:v>
                </c:pt>
                <c:pt idx="70">
                  <c:v>3.8894595300043022E-5</c:v>
                </c:pt>
                <c:pt idx="71">
                  <c:v>4.9731896489824123E-5</c:v>
                </c:pt>
                <c:pt idx="72">
                  <c:v>6.3288358054247595E-5</c:v>
                </c:pt>
                <c:pt idx="73">
                  <c:v>8.0170172345184199E-5</c:v>
                </c:pt>
                <c:pt idx="74">
                  <c:v>1.0110131254403854E-4</c:v>
                </c:pt>
                <c:pt idx="75">
                  <c:v>1.2694288609171878E-4</c:v>
                </c:pt>
                <c:pt idx="76">
                  <c:v>1.5871503065145731E-4</c:v>
                </c:pt>
                <c:pt idx="77">
                  <c:v>1.9762159850778005E-4</c:v>
                </c:pt>
                <c:pt idx="78">
                  <c:v>2.450778650686658E-4</c:v>
                </c:pt>
                <c:pt idx="79">
                  <c:v>3.0274152170717272E-4</c:v>
                </c:pt>
                <c:pt idx="80">
                  <c:v>3.7254720772761374E-4</c:v>
                </c:pt>
                <c:pt idx="81">
                  <c:v>4.5674484251412295E-4</c:v>
                </c:pt>
                <c:pt idx="82">
                  <c:v>5.5794202982184515E-4</c:v>
                </c:pt>
                <c:pt idx="83">
                  <c:v>6.7915078391100892E-4</c:v>
                </c:pt>
                <c:pt idx="84">
                  <c:v>8.2383885523507061E-4</c:v>
                </c:pt>
                <c:pt idx="85">
                  <c:v>9.9598589536897819E-4</c:v>
                </c:pt>
                <c:pt idx="86">
                  <c:v>1.2001447203591198E-3</c:v>
                </c:pt>
                <c:pt idx="87">
                  <c:v>1.4415078980700713E-3</c:v>
                </c:pt>
                <c:pt idx="88">
                  <c:v>1.7259798886115618E-3</c:v>
                </c:pt>
                <c:pt idx="89">
                  <c:v>2.060254932889638E-3</c:v>
                </c:pt>
                <c:pt idx="90">
                  <c:v>2.4519008763101979E-3</c:v>
                </c:pt>
                <c:pt idx="91">
                  <c:v>2.9094490828440733E-3</c:v>
                </c:pt>
                <c:pt idx="92">
                  <c:v>3.4424905653196447E-3</c:v>
                </c:pt>
                <c:pt idx="93">
                  <c:v>4.0617784336061113E-3</c:v>
                </c:pt>
                <c:pt idx="94">
                  <c:v>4.7793367202175752E-3</c:v>
                </c:pt>
                <c:pt idx="95">
                  <c:v>5.6085756060308967E-3</c:v>
                </c:pt>
                <c:pt idx="96">
                  <c:v>6.5644130312847437E-3</c:v>
                </c:pt>
                <c:pt idx="97">
                  <c:v>7.6634026277666578E-3</c:v>
                </c:pt>
                <c:pt idx="98">
                  <c:v>8.9238678667613591E-3</c:v>
                </c:pt>
                <c:pt idx="99">
                  <c:v>1.0366042258114216E-2</c:v>
                </c:pt>
                <c:pt idx="100">
                  <c:v>1.2012215394707759E-2</c:v>
                </c:pt>
                <c:pt idx="101">
                  <c:v>1.388688457680809E-2</c:v>
                </c:pt>
                <c:pt idx="102">
                  <c:v>1.6016911691307811E-2</c:v>
                </c:pt>
                <c:pt idx="103">
                  <c:v>1.8431684980058094E-2</c:v>
                </c:pt>
                <c:pt idx="104">
                  <c:v>2.1163285245151542E-2</c:v>
                </c:pt>
                <c:pt idx="105">
                  <c:v>2.4246656019277779E-2</c:v>
                </c:pt>
                <c:pt idx="106">
                  <c:v>2.7719777130452705E-2</c:v>
                </c:pt>
                <c:pt idx="107">
                  <c:v>3.1623841068062486E-2</c:v>
                </c:pt>
                <c:pt idx="108">
                  <c:v>3.6003431479147974E-2</c:v>
                </c:pt>
                <c:pt idx="109">
                  <c:v>4.0906703071941219E-2</c:v>
                </c:pt>
                <c:pt idx="110">
                  <c:v>4.6385562164064087E-2</c:v>
                </c:pt>
                <c:pt idx="111">
                  <c:v>5.2495847042710597E-2</c:v>
                </c:pt>
                <c:pt idx="112">
                  <c:v>5.9297507268851746E-2</c:v>
                </c:pt>
                <c:pt idx="113">
                  <c:v>6.6854781016945086E-2</c:v>
                </c:pt>
                <c:pt idx="114">
                  <c:v>7.523636948191248E-2</c:v>
                </c:pt>
                <c:pt idx="115">
                  <c:v>8.4515607377433355E-2</c:v>
                </c:pt>
                <c:pt idx="116">
                  <c:v>9.4770628491158693E-2</c:v>
                </c:pt>
                <c:pt idx="117">
                  <c:v>0.10608452525641132</c:v>
                </c:pt>
                <c:pt idx="118">
                  <c:v>0.11854550126630947</c:v>
                </c:pt>
                <c:pt idx="119">
                  <c:v>0.13224701565294206</c:v>
                </c:pt>
                <c:pt idx="120">
                  <c:v>0.14728791823149789</c:v>
                </c:pt>
                <c:pt idx="121">
                  <c:v>0.16377257432348413</c:v>
                </c:pt>
                <c:pt idx="122">
                  <c:v>0.18181097816284408</c:v>
                </c:pt>
                <c:pt idx="123">
                  <c:v>0.20151885380907952</c:v>
                </c:pt>
                <c:pt idx="124">
                  <c:v>0.22301774250795825</c:v>
                </c:pt>
                <c:pt idx="125">
                  <c:v>0.2464350754544653</c:v>
                </c:pt>
                <c:pt idx="126">
                  <c:v>0.2719042309676567</c:v>
                </c:pt>
                <c:pt idx="127">
                  <c:v>0.29956457509583423</c:v>
                </c:pt>
                <c:pt idx="128">
                  <c:v>0.32956148474075908</c:v>
                </c:pt>
                <c:pt idx="129">
                  <c:v>0.36204635242609307</c:v>
                </c:pt>
                <c:pt idx="130">
                  <c:v>0.39717657190033728</c:v>
                </c:pt>
                <c:pt idx="131">
                  <c:v>0.43511550382109299</c:v>
                </c:pt>
                <c:pt idx="132">
                  <c:v>0.47603242085230146</c:v>
                </c:pt>
                <c:pt idx="133">
                  <c:v>0.52010243155679037</c:v>
                </c:pt>
                <c:pt idx="134">
                  <c:v>0.56750638258158403</c:v>
                </c:pt>
                <c:pt idx="135">
                  <c:v>0.6184307386750465</c:v>
                </c:pt>
                <c:pt idx="136">
                  <c:v>0.6730674402077752</c:v>
                </c:pt>
                <c:pt idx="137">
                  <c:v>0.73161373793173556</c:v>
                </c:pt>
                <c:pt idx="138">
                  <c:v>0.79427200481819726</c:v>
                </c:pt>
                <c:pt idx="139">
                  <c:v>0.8612495249238683</c:v>
                </c:pt>
                <c:pt idx="140">
                  <c:v>0.93275825931141698</c:v>
                </c:pt>
                <c:pt idx="141">
                  <c:v>1.0090145891815783</c:v>
                </c:pt>
                <c:pt idx="142">
                  <c:v>1.0902390364586845</c:v>
                </c:pt>
                <c:pt idx="143">
                  <c:v>1.1766559621770312</c:v>
                </c:pt>
                <c:pt idx="144">
                  <c:v>1.2684932431308193</c:v>
                </c:pt>
                <c:pt idx="145">
                  <c:v>1.3659819273371343</c:v>
                </c:pt>
                <c:pt idx="146">
                  <c:v>1.4693558689771291</c:v>
                </c:pt>
                <c:pt idx="147">
                  <c:v>1.5788513435706975</c:v>
                </c:pt>
                <c:pt idx="148">
                  <c:v>1.6947066442395964</c:v>
                </c:pt>
                <c:pt idx="149">
                  <c:v>1.8171616600118567</c:v>
                </c:pt>
                <c:pt idx="150">
                  <c:v>1.9464574372022314</c:v>
                </c:pt>
                <c:pt idx="151">
                  <c:v>2.0828357249949359</c:v>
                </c:pt>
                <c:pt idx="152">
                  <c:v>2.2265385064379251</c:v>
                </c:pt>
                <c:pt idx="153">
                  <c:v>2.3778075161249412</c:v>
                </c:pt>
                <c:pt idx="154">
                  <c:v>2.536883745931684</c:v>
                </c:pt>
                <c:pt idx="155">
                  <c:v>2.7040069402070377</c:v>
                </c:pt>
                <c:pt idx="156">
                  <c:v>2.8794150819079989</c:v>
                </c:pt>
                <c:pt idx="157">
                  <c:v>3.0633438712118433</c:v>
                </c:pt>
                <c:pt idx="158">
                  <c:v>3.2560261981611549</c:v>
                </c:pt>
                <c:pt idx="159">
                  <c:v>3.4576916109813838</c:v>
                </c:pt>
                <c:pt idx="160">
                  <c:v>3.6685657816940331</c:v>
                </c:pt>
                <c:pt idx="161">
                  <c:v>3.888869970699016</c:v>
                </c:pt>
                <c:pt idx="162">
                  <c:v>4.118820492024156</c:v>
                </c:pt>
                <c:pt idx="163">
                  <c:v>4.3586281809188225</c:v>
                </c:pt>
                <c:pt idx="164">
                  <c:v>4.6084978655015929</c:v>
                </c:pt>
                <c:pt idx="165">
                  <c:v>4.8686278441404829</c:v>
                </c:pt>
                <c:pt idx="166">
                  <c:v>5.1392093702577801</c:v>
                </c:pt>
                <c:pt idx="167">
                  <c:v>5.4204261462067365</c:v>
                </c:pt>
                <c:pt idx="168">
                  <c:v>5.7124538278527375</c:v>
                </c:pt>
                <c:pt idx="169">
                  <c:v>6.0154595414591121</c:v>
                </c:pt>
                <c:pt idx="170">
                  <c:v>6.3296014144320401</c:v>
                </c:pt>
                <c:pt idx="171">
                  <c:v>6.6550281214309166</c:v>
                </c:pt>
                <c:pt idx="172">
                  <c:v>6.991878447305055</c:v>
                </c:pt>
                <c:pt idx="173">
                  <c:v>7.3402808682489606</c:v>
                </c:pt>
                <c:pt idx="174">
                  <c:v>7.7003531525151043</c:v>
                </c:pt>
                <c:pt idx="175">
                  <c:v>8.0722019819406512</c:v>
                </c:pt>
                <c:pt idx="176">
                  <c:v>8.4559225954846546</c:v>
                </c:pt>
                <c:pt idx="177">
                  <c:v>8.8515984558826482</c:v>
                </c:pt>
                <c:pt idx="178">
                  <c:v>9.2593009404493323</c:v>
                </c:pt>
                <c:pt idx="179">
                  <c:v>9.6790890569759753</c:v>
                </c:pt>
                <c:pt idx="180">
                  <c:v>10.111009185571074</c:v>
                </c:pt>
                <c:pt idx="181">
                  <c:v>10.555094847215262</c:v>
                </c:pt>
                <c:pt idx="182">
                  <c:v>11.01136649970007</c:v>
                </c:pt>
                <c:pt idx="183">
                  <c:v>11.479831361520276</c:v>
                </c:pt>
                <c:pt idx="184">
                  <c:v>11.960483264211408</c:v>
                </c:pt>
                <c:pt idx="185">
                  <c:v>12.453302533502097</c:v>
                </c:pt>
                <c:pt idx="186">
                  <c:v>12.958255899581117</c:v>
                </c:pt>
                <c:pt idx="187">
                  <c:v>13.475296436658969</c:v>
                </c:pt>
                <c:pt idx="188">
                  <c:v>14.00436353191451</c:v>
                </c:pt>
                <c:pt idx="189">
                  <c:v>14.545382883837144</c:v>
                </c:pt>
                <c:pt idx="190">
                  <c:v>15.09826652984626</c:v>
                </c:pt>
                <c:pt idx="191">
                  <c:v>15.662912903020509</c:v>
                </c:pt>
                <c:pt idx="192">
                  <c:v>16.239206917639525</c:v>
                </c:pt>
                <c:pt idx="193">
                  <c:v>16.827020083172663</c:v>
                </c:pt>
                <c:pt idx="194">
                  <c:v>17.426210646267272</c:v>
                </c:pt>
                <c:pt idx="195">
                  <c:v>18.03662376019588</c:v>
                </c:pt>
                <c:pt idx="196">
                  <c:v>18.658091681137059</c:v>
                </c:pt>
                <c:pt idx="197">
                  <c:v>19.290433990621313</c:v>
                </c:pt>
                <c:pt idx="198">
                  <c:v>19.933457843348844</c:v>
                </c:pt>
                <c:pt idx="199">
                  <c:v>20.586958239576781</c:v>
                </c:pt>
                <c:pt idx="200">
                  <c:v>21.250718321157478</c:v>
                </c:pt>
                <c:pt idx="201">
                  <c:v>21.924509690290328</c:v>
                </c:pt>
                <c:pt idx="202">
                  <c:v>22.608092749970798</c:v>
                </c:pt>
                <c:pt idx="203">
                  <c:v>23.301217065071821</c:v>
                </c:pt>
                <c:pt idx="204">
                  <c:v>24.003621742966619</c:v>
                </c:pt>
                <c:pt idx="205">
                  <c:v>24.715035832530962</c:v>
                </c:pt>
                <c:pt idx="206">
                  <c:v>25.435178740356701</c:v>
                </c:pt>
                <c:pt idx="207">
                  <c:v>26.163760662950541</c:v>
                </c:pt>
                <c:pt idx="208">
                  <c:v>26.900483033686086</c:v>
                </c:pt>
                <c:pt idx="209">
                  <c:v>27.645038983248106</c:v>
                </c:pt>
                <c:pt idx="210">
                  <c:v>28.397113812277329</c:v>
                </c:pt>
                <c:pt idx="211">
                  <c:v>29.156385474943935</c:v>
                </c:pt>
                <c:pt idx="212">
                  <c:v>29.922525072131599</c:v>
                </c:pt>
                <c:pt idx="213">
                  <c:v>30.695197352942728</c:v>
                </c:pt>
                <c:pt idx="214">
                  <c:v>31.474061223215777</c:v>
                </c:pt>
                <c:pt idx="215">
                  <c:v>32.258770259758364</c:v>
                </c:pt>
                <c:pt idx="216">
                  <c:v>33.048973229017619</c:v>
                </c:pt>
                <c:pt idx="217">
                  <c:v>33.844314608902607</c:v>
                </c:pt>
                <c:pt idx="218">
                  <c:v>34.644435112506741</c:v>
                </c:pt>
                <c:pt idx="219">
                  <c:v>35.448972212502561</c:v>
                </c:pt>
                <c:pt idx="220">
                  <c:v>36.257560664978961</c:v>
                </c:pt>
                <c:pt idx="221">
                  <c:v>37.069833031562219</c:v>
                </c:pt>
                <c:pt idx="222">
                  <c:v>37.885420198635622</c:v>
                </c:pt>
                <c:pt idx="223">
                  <c:v>38.703951892571652</c:v>
                </c:pt>
                <c:pt idx="224">
                  <c:v>39.52505718986361</c:v>
                </c:pt>
                <c:pt idx="225">
                  <c:v>40.348365021127385</c:v>
                </c:pt>
                <c:pt idx="226">
                  <c:v>41.17350466796195</c:v>
                </c:pt>
                <c:pt idx="227">
                  <c:v>42.000106251709077</c:v>
                </c:pt>
                <c:pt idx="228">
                  <c:v>42.827801213185488</c:v>
                </c:pt>
                <c:pt idx="229">
                  <c:v>43.656222782530165</c:v>
                </c:pt>
                <c:pt idx="230">
                  <c:v>44.48500643832314</c:v>
                </c:pt>
                <c:pt idx="231">
                  <c:v>45.313790355215858</c:v>
                </c:pt>
                <c:pt idx="232">
                  <c:v>46.142215839332309</c:v>
                </c:pt>
                <c:pt idx="233">
                  <c:v>46.969927750773479</c:v>
                </c:pt>
                <c:pt idx="234">
                  <c:v>47.796574912590096</c:v>
                </c:pt>
                <c:pt idx="235">
                  <c:v>48.621810505654992</c:v>
                </c:pt>
                <c:pt idx="236">
                  <c:v>49.445292448908774</c:v>
                </c:pt>
                <c:pt idx="237">
                  <c:v>50.266683764497188</c:v>
                </c:pt>
                <c:pt idx="238">
                  <c:v>51.085652927391493</c:v>
                </c:pt>
                <c:pt idx="239">
                  <c:v>51.901874199111184</c:v>
                </c:pt>
                <c:pt idx="240">
                  <c:v>52.715027945225536</c:v>
                </c:pt>
                <c:pt idx="241">
                  <c:v>53.524800936369473</c:v>
                </c:pt>
                <c:pt idx="242">
                  <c:v>54.330886632542288</c:v>
                </c:pt>
                <c:pt idx="243">
                  <c:v>55.13298545051866</c:v>
                </c:pt>
                <c:pt idx="244">
                  <c:v>55.930805014238146</c:v>
                </c:pt>
                <c:pt idx="245">
                  <c:v>56.724060388092056</c:v>
                </c:pt>
                <c:pt idx="246">
                  <c:v>57.512474293070156</c:v>
                </c:pt>
                <c:pt idx="247">
                  <c:v>58.295777305761334</c:v>
                </c:pt>
                <c:pt idx="248">
                  <c:v>59.07370804026619</c:v>
                </c:pt>
                <c:pt idx="249">
                  <c:v>59.846013313093849</c:v>
                </c:pt>
                <c:pt idx="250">
                  <c:v>60.612448291171752</c:v>
                </c:pt>
                <c:pt idx="251">
                  <c:v>61.372776623128523</c:v>
                </c:pt>
                <c:pt idx="252">
                  <c:v>62.126770554041357</c:v>
                </c:pt>
                <c:pt idx="253">
                  <c:v>62.874211023874494</c:v>
                </c:pt>
                <c:pt idx="254">
                  <c:v>63.614887749871471</c:v>
                </c:pt>
                <c:pt idx="255">
                  <c:v>64.348599293187746</c:v>
                </c:pt>
                <c:pt idx="256">
                  <c:v>65.075153110075817</c:v>
                </c:pt>
                <c:pt idx="257">
                  <c:v>65.794365587971569</c:v>
                </c:pt>
                <c:pt idx="258">
                  <c:v>66.506062066841267</c:v>
                </c:pt>
                <c:pt idx="259">
                  <c:v>67.210076846181124</c:v>
                </c:pt>
                <c:pt idx="260">
                  <c:v>67.906253178073641</c:v>
                </c:pt>
                <c:pt idx="261">
                  <c:v>68.594443246733405</c:v>
                </c:pt>
                <c:pt idx="262">
                  <c:v>69.27450813497731</c:v>
                </c:pt>
                <c:pt idx="263">
                  <c:v>69.946317778084008</c:v>
                </c:pt>
                <c:pt idx="264">
                  <c:v>70.609750905510765</c:v>
                </c:pt>
                <c:pt idx="265">
                  <c:v>71.264694970946721</c:v>
                </c:pt>
                <c:pt idx="266">
                  <c:v>71.911046071202762</c:v>
                </c:pt>
                <c:pt idx="267">
                  <c:v>72.548708854427744</c:v>
                </c:pt>
                <c:pt idx="268">
                  <c:v>73.177596418163631</c:v>
                </c:pt>
                <c:pt idx="269">
                  <c:v>73.797630197750891</c:v>
                </c:pt>
                <c:pt idx="270">
                  <c:v>74.408739845591001</c:v>
                </c:pt>
                <c:pt idx="271">
                  <c:v>75.010863101792467</c:v>
                </c:pt>
                <c:pt idx="272">
                  <c:v>75.603945656706912</c:v>
                </c:pt>
                <c:pt idx="273">
                  <c:v>76.187941005878315</c:v>
                </c:pt>
                <c:pt idx="274">
                  <c:v>76.762810297913944</c:v>
                </c:pt>
                <c:pt idx="275">
                  <c:v>77.328522175786745</c:v>
                </c:pt>
                <c:pt idx="276">
                  <c:v>77.885052612080841</c:v>
                </c:pt>
                <c:pt idx="277">
                  <c:v>78.432384738669597</c:v>
                </c:pt>
                <c:pt idx="278">
                  <c:v>78.970508671329114</c:v>
                </c:pt>
                <c:pt idx="279">
                  <c:v>79.499421329765681</c:v>
                </c:pt>
                <c:pt idx="280">
                  <c:v>80.019126253537578</c:v>
                </c:pt>
                <c:pt idx="281">
                  <c:v>80.52963341433906</c:v>
                </c:pt>
                <c:pt idx="282">
                  <c:v>81.030959025100373</c:v>
                </c:pt>
                <c:pt idx="283">
                  <c:v>81.523125346355258</c:v>
                </c:pt>
                <c:pt idx="284">
                  <c:v>82.006160490307593</c:v>
                </c:pt>
                <c:pt idx="285">
                  <c:v>82.480098223021031</c:v>
                </c:pt>
                <c:pt idx="286">
                  <c:v>82.944977765144557</c:v>
                </c:pt>
                <c:pt idx="287">
                  <c:v>83.400843591567281</c:v>
                </c:pt>
                <c:pt idx="288">
                  <c:v>83.847745230390956</c:v>
                </c:pt>
                <c:pt idx="289">
                  <c:v>84.285737061587511</c:v>
                </c:pt>
                <c:pt idx="290">
                  <c:v>84.71487811569915</c:v>
                </c:pt>
                <c:pt idx="291">
                  <c:v>85.135231872923328</c:v>
                </c:pt>
                <c:pt idx="292">
                  <c:v>85.546866062908933</c:v>
                </c:pt>
                <c:pt idx="293">
                  <c:v>85.949852465577507</c:v>
                </c:pt>
                <c:pt idx="294">
                  <c:v>86.344266713267103</c:v>
                </c:pt>
                <c:pt idx="295">
                  <c:v>86.730188094481491</c:v>
                </c:pt>
                <c:pt idx="296">
                  <c:v>87.107699359515536</c:v>
                </c:pt>
                <c:pt idx="297">
                  <c:v>87.476886528205952</c:v>
                </c:pt>
                <c:pt idx="298">
                  <c:v>87.837838700051265</c:v>
                </c:pt>
                <c:pt idx="299">
                  <c:v>88.190647866922191</c:v>
                </c:pt>
                <c:pt idx="300">
                  <c:v>88.535408728572591</c:v>
                </c:pt>
                <c:pt idx="301">
                  <c:v>88.872218511147793</c:v>
                </c:pt>
                <c:pt idx="302">
                  <c:v>89.201176788870015</c:v>
                </c:pt>
                <c:pt idx="303">
                  <c:v>89.522385309070287</c:v>
                </c:pt>
                <c:pt idx="304">
                  <c:v>89.835947820718133</c:v>
                </c:pt>
                <c:pt idx="305">
                  <c:v>90.141969906591839</c:v>
                </c:pt>
                <c:pt idx="306">
                  <c:v>90.440558819216207</c:v>
                </c:pt>
                <c:pt idx="307">
                  <c:v>90.731823320680448</c:v>
                </c:pt>
                <c:pt idx="308">
                  <c:v>91.015873526440856</c:v>
                </c:pt>
                <c:pt idx="309">
                  <c:v>91.292820753198185</c:v>
                </c:pt>
                <c:pt idx="310">
                  <c:v>91.562777370925062</c:v>
                </c:pt>
                <c:pt idx="311">
                  <c:v>91.825856659115047</c:v>
                </c:pt>
                <c:pt idx="312">
                  <c:v>92.082172667305414</c:v>
                </c:pt>
                <c:pt idx="313">
                  <c:v>92.33184007992125</c:v>
                </c:pt>
                <c:pt idx="314">
                  <c:v>92.574974085476185</c:v>
                </c:pt>
                <c:pt idx="315">
                  <c:v>92.811690250152935</c:v>
                </c:pt>
                <c:pt idx="316">
                  <c:v>93.042104395783838</c:v>
                </c:pt>
                <c:pt idx="317">
                  <c:v>93.266332482234375</c:v>
                </c:pt>
                <c:pt idx="318">
                  <c:v>93.484490494190851</c:v>
                </c:pt>
                <c:pt idx="319">
                  <c:v>93.696694332342318</c:v>
                </c:pt>
                <c:pt idx="320">
                  <c:v>93.903059708938542</c:v>
                </c:pt>
                <c:pt idx="321">
                  <c:v>94.103702047700963</c:v>
                </c:pt>
                <c:pt idx="322">
                  <c:v>94.298736388053683</c:v>
                </c:pt>
                <c:pt idx="323">
                  <c:v>94.488277293637452</c:v>
                </c:pt>
                <c:pt idx="324">
                  <c:v>94.672438765062864</c:v>
                </c:pt>
                <c:pt idx="325">
                  <c:v>94.851334156851834</c:v>
                </c:pt>
                <c:pt idx="326">
                  <c:v>95.025076098513296</c:v>
                </c:pt>
                <c:pt idx="327">
                  <c:v>95.193776419692625</c:v>
                </c:pt>
                <c:pt idx="328">
                  <c:v>95.357546079330561</c:v>
                </c:pt>
                <c:pt idx="329">
                  <c:v>95.516495098761865</c:v>
                </c:pt>
                <c:pt idx="330">
                  <c:v>95.67073249868227</c:v>
                </c:pt>
                <c:pt idx="331">
                  <c:v>95.82036623990642</c:v>
                </c:pt>
                <c:pt idx="332">
                  <c:v>95.965503167838179</c:v>
                </c:pt>
                <c:pt idx="333">
                  <c:v>96.106248960570269</c:v>
                </c:pt>
                <c:pt idx="334">
                  <c:v>96.242708080529255</c:v>
                </c:pt>
                <c:pt idx="335">
                  <c:v>96.374983729578062</c:v>
                </c:pt>
                <c:pt idx="336">
                  <c:v>96.503177807487532</c:v>
                </c:pt>
                <c:pt idx="337">
                  <c:v>96.627390873686252</c:v>
                </c:pt>
                <c:pt idx="338">
                  <c:v>96.747722112196072</c:v>
                </c:pt>
                <c:pt idx="339">
                  <c:v>96.864269299660805</c:v>
                </c:pt>
                <c:pt idx="340">
                  <c:v>96.977128776373576</c:v>
                </c:pt>
                <c:pt idx="341">
                  <c:v>97.086395420208177</c:v>
                </c:pt>
                <c:pt idx="342">
                  <c:v>97.192162623358854</c:v>
                </c:pt>
                <c:pt idx="343">
                  <c:v>97.294522271793994</c:v>
                </c:pt>
                <c:pt idx="344">
                  <c:v>97.39356472732689</c:v>
                </c:pt>
                <c:pt idx="345">
                  <c:v>97.489378812209836</c:v>
                </c:pt>
                <c:pt idx="346">
                  <c:v>97.582051796155483</c:v>
                </c:pt>
                <c:pt idx="347">
                  <c:v>97.671669385691516</c:v>
                </c:pt>
                <c:pt idx="348">
                  <c:v>97.758315715754989</c:v>
                </c:pt>
                <c:pt idx="349">
                  <c:v>97.842073343433427</c:v>
                </c:pt>
                <c:pt idx="350">
                  <c:v>97.923023243760781</c:v>
                </c:pt>
                <c:pt idx="351">
                  <c:v>98.001244807477178</c:v>
                </c:pt>
                <c:pt idx="352">
                  <c:v>98.076815840663528</c:v>
                </c:pt>
                <c:pt idx="353">
                  <c:v>98.149812566162282</c:v>
                </c:pt>
                <c:pt idx="354">
                  <c:v>98.220309626697571</c:v>
                </c:pt>
                <c:pt idx="355">
                  <c:v>98.288380089609845</c:v>
                </c:pt>
                <c:pt idx="356">
                  <c:v>98.354095453120877</c:v>
                </c:pt>
                <c:pt idx="357">
                  <c:v>98.417525654047608</c:v>
                </c:pt>
                <c:pt idx="358">
                  <c:v>98.478739076884395</c:v>
                </c:pt>
                <c:pt idx="359">
                  <c:v>98.537802564175479</c:v>
                </c:pt>
                <c:pt idx="360">
                  <c:v>98.594781428100873</c:v>
                </c:pt>
                <c:pt idx="361">
                  <c:v>98.649739463201414</c:v>
                </c:pt>
                <c:pt idx="362">
                  <c:v>98.702738960170208</c:v>
                </c:pt>
                <c:pt idx="363">
                  <c:v>98.753840720639872</c:v>
                </c:pt>
                <c:pt idx="364">
                  <c:v>98.803104072896673</c:v>
                </c:pt>
                <c:pt idx="365">
                  <c:v>98.850586888455624</c:v>
                </c:pt>
                <c:pt idx="366">
                  <c:v>98.896345599431228</c:v>
                </c:pt>
                <c:pt idx="367">
                  <c:v>98.940435216641859</c:v>
                </c:pt>
                <c:pt idx="368">
                  <c:v>98.982909348387437</c:v>
                </c:pt>
                <c:pt idx="369">
                  <c:v>99.02382021984161</c:v>
                </c:pt>
                <c:pt idx="370">
                  <c:v>99.063218693002582</c:v>
                </c:pt>
                <c:pt idx="371">
                  <c:v>99.101154287148162</c:v>
                </c:pt>
                <c:pt idx="372">
                  <c:v>99.13767519974283</c:v>
                </c:pt>
                <c:pt idx="373">
                  <c:v>99.172828327746743</c:v>
                </c:pt>
                <c:pt idx="374">
                  <c:v>99.206659289278392</c:v>
                </c:pt>
                <c:pt idx="375">
                  <c:v>99.239212445584911</c:v>
                </c:pt>
                <c:pt idx="376">
                  <c:v>99.270530923275587</c:v>
                </c:pt>
                <c:pt idx="377">
                  <c:v>99.300656636776466</c:v>
                </c:pt>
                <c:pt idx="378">
                  <c:v>99.32963031096557</c:v>
                </c:pt>
                <c:pt idx="379">
                  <c:v>99.357491503950186</c:v>
                </c:pt>
                <c:pt idx="380">
                  <c:v>99.384278629949648</c:v>
                </c:pt>
                <c:pt idx="381">
                  <c:v>99.410028982248576</c:v>
                </c:pt>
                <c:pt idx="382">
                  <c:v>99.434778756187427</c:v>
                </c:pt>
                <c:pt idx="383">
                  <c:v>99.458563072159194</c:v>
                </c:pt>
                <c:pt idx="384">
                  <c:v>99.481415998582122</c:v>
                </c:pt>
                <c:pt idx="385">
                  <c:v>99.503370574820721</c:v>
                </c:pt>
                <c:pt idx="386">
                  <c:v>99.524458834028309</c:v>
                </c:pt>
                <c:pt idx="387">
                  <c:v>99.544711825886182</c:v>
                </c:pt>
                <c:pt idx="388">
                  <c:v>99.564159639216172</c:v>
                </c:pt>
                <c:pt idx="389">
                  <c:v>99.582831424444308</c:v>
                </c:pt>
                <c:pt idx="390">
                  <c:v>99.600755415895321</c:v>
                </c:pt>
                <c:pt idx="391">
                  <c:v>99.617958953898537</c:v>
                </c:pt>
                <c:pt idx="392">
                  <c:v>99.63446850668744</c:v>
                </c:pt>
                <c:pt idx="393">
                  <c:v>99.650309692076604</c:v>
                </c:pt>
                <c:pt idx="394">
                  <c:v>99.665507298900025</c:v>
                </c:pt>
                <c:pt idx="395">
                  <c:v>99.680085308197476</c:v>
                </c:pt>
                <c:pt idx="396">
                  <c:v>99.694066914135348</c:v>
                </c:pt>
                <c:pt idx="397">
                  <c:v>99.707474544650395</c:v>
                </c:pt>
                <c:pt idx="398">
                  <c:v>99.720329881805597</c:v>
                </c:pt>
                <c:pt idx="399">
                  <c:v>99.732653881848137</c:v>
                </c:pt>
                <c:pt idx="400">
                  <c:v>99.744466794961014</c:v>
                </c:pt>
              </c:numCache>
            </c:numRef>
          </c:yVal>
          <c:smooth val="0"/>
          <c:extLst>
            <c:ext xmlns:c16="http://schemas.microsoft.com/office/drawing/2014/chart" uri="{C3380CC4-5D6E-409C-BE32-E72D297353CC}">
              <c16:uniqueId val="{00000002-6C55-442D-8CC0-6E06055C17CA}"/>
            </c:ext>
          </c:extLst>
        </c:ser>
        <c:ser>
          <c:idx val="3"/>
          <c:order val="3"/>
          <c:tx>
            <c:strRef>
              <c:f>Sheet1!$B$1210</c:f>
              <c:strCache>
                <c:ptCount val="1"/>
                <c:pt idx="0">
                  <c:v>2 per maand, alle zes</c:v>
                </c:pt>
              </c:strCache>
            </c:strRef>
          </c:tx>
          <c:spPr>
            <a:ln w="19050">
              <a:solidFill>
                <a:srgbClr val="FF7A00"/>
              </a:solidFill>
              <a:prstDash val="dash"/>
            </a:ln>
          </c:spPr>
          <c:marker>
            <c:symbol val="none"/>
          </c:marker>
          <c:xVal>
            <c:numRef>
              <c:f>Sheet1!$A$1211:$A$1611</c:f>
              <c:numCache>
                <c:formatCode>General</c:formatCode>
                <c:ptCount val="40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2.0499999999999998</c:v>
                </c:pt>
                <c:pt idx="42">
                  <c:v>2.1</c:v>
                </c:pt>
                <c:pt idx="43">
                  <c:v>2.15</c:v>
                </c:pt>
                <c:pt idx="44">
                  <c:v>2.2000000000000002</c:v>
                </c:pt>
                <c:pt idx="45">
                  <c:v>2.25</c:v>
                </c:pt>
                <c:pt idx="46">
                  <c:v>2.2999999999999998</c:v>
                </c:pt>
                <c:pt idx="47">
                  <c:v>2.35</c:v>
                </c:pt>
                <c:pt idx="48">
                  <c:v>2.4</c:v>
                </c:pt>
                <c:pt idx="49">
                  <c:v>2.4500000000000002</c:v>
                </c:pt>
                <c:pt idx="50">
                  <c:v>2.5</c:v>
                </c:pt>
                <c:pt idx="51">
                  <c:v>2.5499999999999998</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4.0999999999999996</c:v>
                </c:pt>
                <c:pt idx="83">
                  <c:v>4.1500000000000004</c:v>
                </c:pt>
                <c:pt idx="84">
                  <c:v>4.2</c:v>
                </c:pt>
                <c:pt idx="85">
                  <c:v>4.25</c:v>
                </c:pt>
                <c:pt idx="86">
                  <c:v>4.3</c:v>
                </c:pt>
                <c:pt idx="87">
                  <c:v>4.3499999999999996</c:v>
                </c:pt>
                <c:pt idx="88">
                  <c:v>4.4000000000000004</c:v>
                </c:pt>
                <c:pt idx="89">
                  <c:v>4.45</c:v>
                </c:pt>
                <c:pt idx="90">
                  <c:v>4.5</c:v>
                </c:pt>
                <c:pt idx="91">
                  <c:v>4.55</c:v>
                </c:pt>
                <c:pt idx="92">
                  <c:v>4.5999999999999996</c:v>
                </c:pt>
                <c:pt idx="93">
                  <c:v>4.6500000000000004</c:v>
                </c:pt>
                <c:pt idx="94">
                  <c:v>4.7</c:v>
                </c:pt>
                <c:pt idx="95">
                  <c:v>4.75</c:v>
                </c:pt>
                <c:pt idx="96">
                  <c:v>4.8</c:v>
                </c:pt>
                <c:pt idx="97">
                  <c:v>4.8499999999999996</c:v>
                </c:pt>
                <c:pt idx="98">
                  <c:v>4.9000000000000004</c:v>
                </c:pt>
                <c:pt idx="99">
                  <c:v>4.95</c:v>
                </c:pt>
                <c:pt idx="100">
                  <c:v>5</c:v>
                </c:pt>
                <c:pt idx="101">
                  <c:v>5.05</c:v>
                </c:pt>
                <c:pt idx="102">
                  <c:v>5.0999999999999996</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pt idx="161">
                  <c:v>8.0500000000000007</c:v>
                </c:pt>
                <c:pt idx="162">
                  <c:v>8.1</c:v>
                </c:pt>
                <c:pt idx="163">
                  <c:v>8.15</c:v>
                </c:pt>
                <c:pt idx="164">
                  <c:v>8.1999999999999993</c:v>
                </c:pt>
                <c:pt idx="165">
                  <c:v>8.25</c:v>
                </c:pt>
                <c:pt idx="166">
                  <c:v>8.3000000000000007</c:v>
                </c:pt>
                <c:pt idx="167">
                  <c:v>8.35</c:v>
                </c:pt>
                <c:pt idx="168">
                  <c:v>8.4</c:v>
                </c:pt>
                <c:pt idx="169">
                  <c:v>8.4499999999999993</c:v>
                </c:pt>
                <c:pt idx="170">
                  <c:v>8.5</c:v>
                </c:pt>
                <c:pt idx="171">
                  <c:v>8.5500000000000007</c:v>
                </c:pt>
                <c:pt idx="172">
                  <c:v>8.6</c:v>
                </c:pt>
                <c:pt idx="173">
                  <c:v>8.65</c:v>
                </c:pt>
                <c:pt idx="174">
                  <c:v>8.6999999999999993</c:v>
                </c:pt>
                <c:pt idx="175">
                  <c:v>8.75</c:v>
                </c:pt>
                <c:pt idx="176">
                  <c:v>8.8000000000000007</c:v>
                </c:pt>
                <c:pt idx="177">
                  <c:v>8.85</c:v>
                </c:pt>
                <c:pt idx="178">
                  <c:v>8.9</c:v>
                </c:pt>
                <c:pt idx="179">
                  <c:v>8.9499999999999993</c:v>
                </c:pt>
                <c:pt idx="180">
                  <c:v>9</c:v>
                </c:pt>
                <c:pt idx="181">
                  <c:v>9.0500000000000007</c:v>
                </c:pt>
                <c:pt idx="182">
                  <c:v>9.1</c:v>
                </c:pt>
                <c:pt idx="183">
                  <c:v>9.15</c:v>
                </c:pt>
                <c:pt idx="184">
                  <c:v>9.1999999999999993</c:v>
                </c:pt>
                <c:pt idx="185">
                  <c:v>9.25</c:v>
                </c:pt>
                <c:pt idx="186">
                  <c:v>9.3000000000000007</c:v>
                </c:pt>
                <c:pt idx="187">
                  <c:v>9.35</c:v>
                </c:pt>
                <c:pt idx="188">
                  <c:v>9.4</c:v>
                </c:pt>
                <c:pt idx="189">
                  <c:v>9.4499999999999993</c:v>
                </c:pt>
                <c:pt idx="190">
                  <c:v>9.5</c:v>
                </c:pt>
                <c:pt idx="191">
                  <c:v>9.5500000000000007</c:v>
                </c:pt>
                <c:pt idx="192">
                  <c:v>9.6</c:v>
                </c:pt>
                <c:pt idx="193">
                  <c:v>9.65</c:v>
                </c:pt>
                <c:pt idx="194">
                  <c:v>9.6999999999999993</c:v>
                </c:pt>
                <c:pt idx="195">
                  <c:v>9.75</c:v>
                </c:pt>
                <c:pt idx="196">
                  <c:v>9.8000000000000007</c:v>
                </c:pt>
                <c:pt idx="197">
                  <c:v>9.85</c:v>
                </c:pt>
                <c:pt idx="198">
                  <c:v>9.9</c:v>
                </c:pt>
                <c:pt idx="199">
                  <c:v>9.9499999999999993</c:v>
                </c:pt>
                <c:pt idx="200">
                  <c:v>10</c:v>
                </c:pt>
                <c:pt idx="201">
                  <c:v>10.050000000000001</c:v>
                </c:pt>
                <c:pt idx="202">
                  <c:v>10.1</c:v>
                </c:pt>
                <c:pt idx="203">
                  <c:v>10.15</c:v>
                </c:pt>
                <c:pt idx="204">
                  <c:v>10.199999999999999</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c:v>
                </c:pt>
                <c:pt idx="221">
                  <c:v>11.05</c:v>
                </c:pt>
                <c:pt idx="222">
                  <c:v>11.1</c:v>
                </c:pt>
                <c:pt idx="223">
                  <c:v>11.15</c:v>
                </c:pt>
                <c:pt idx="224">
                  <c:v>11.2</c:v>
                </c:pt>
                <c:pt idx="225">
                  <c:v>11.25</c:v>
                </c:pt>
                <c:pt idx="226">
                  <c:v>11.3</c:v>
                </c:pt>
                <c:pt idx="227">
                  <c:v>11.35</c:v>
                </c:pt>
                <c:pt idx="228">
                  <c:v>11.4</c:v>
                </c:pt>
                <c:pt idx="229">
                  <c:v>11.45</c:v>
                </c:pt>
                <c:pt idx="230">
                  <c:v>11.5</c:v>
                </c:pt>
                <c:pt idx="231">
                  <c:v>11.55</c:v>
                </c:pt>
                <c:pt idx="232">
                  <c:v>11.6</c:v>
                </c:pt>
                <c:pt idx="233">
                  <c:v>11.65</c:v>
                </c:pt>
                <c:pt idx="234">
                  <c:v>11.7</c:v>
                </c:pt>
                <c:pt idx="235">
                  <c:v>11.75</c:v>
                </c:pt>
                <c:pt idx="236">
                  <c:v>11.8</c:v>
                </c:pt>
                <c:pt idx="237">
                  <c:v>11.85</c:v>
                </c:pt>
                <c:pt idx="238">
                  <c:v>11.9</c:v>
                </c:pt>
                <c:pt idx="239">
                  <c:v>11.95</c:v>
                </c:pt>
                <c:pt idx="240">
                  <c:v>12</c:v>
                </c:pt>
                <c:pt idx="241">
                  <c:v>12.05</c:v>
                </c:pt>
                <c:pt idx="242">
                  <c:v>12.1</c:v>
                </c:pt>
                <c:pt idx="243">
                  <c:v>12.15</c:v>
                </c:pt>
                <c:pt idx="244">
                  <c:v>12.2</c:v>
                </c:pt>
                <c:pt idx="245">
                  <c:v>12.25</c:v>
                </c:pt>
                <c:pt idx="246">
                  <c:v>12.3</c:v>
                </c:pt>
                <c:pt idx="247">
                  <c:v>12.35</c:v>
                </c:pt>
                <c:pt idx="248">
                  <c:v>12.4</c:v>
                </c:pt>
                <c:pt idx="249">
                  <c:v>12.45</c:v>
                </c:pt>
                <c:pt idx="250">
                  <c:v>12.5</c:v>
                </c:pt>
                <c:pt idx="251">
                  <c:v>12.55</c:v>
                </c:pt>
                <c:pt idx="252">
                  <c:v>12.6</c:v>
                </c:pt>
                <c:pt idx="253">
                  <c:v>12.65</c:v>
                </c:pt>
                <c:pt idx="254">
                  <c:v>12.7</c:v>
                </c:pt>
                <c:pt idx="255">
                  <c:v>12.75</c:v>
                </c:pt>
                <c:pt idx="256">
                  <c:v>12.8</c:v>
                </c:pt>
                <c:pt idx="257">
                  <c:v>12.85</c:v>
                </c:pt>
                <c:pt idx="258">
                  <c:v>12.9</c:v>
                </c:pt>
                <c:pt idx="259">
                  <c:v>12.95</c:v>
                </c:pt>
                <c:pt idx="260">
                  <c:v>13</c:v>
                </c:pt>
                <c:pt idx="261">
                  <c:v>13.05</c:v>
                </c:pt>
                <c:pt idx="262">
                  <c:v>13.1</c:v>
                </c:pt>
                <c:pt idx="263">
                  <c:v>13.15</c:v>
                </c:pt>
                <c:pt idx="264">
                  <c:v>13.2</c:v>
                </c:pt>
                <c:pt idx="265">
                  <c:v>13.25</c:v>
                </c:pt>
                <c:pt idx="266">
                  <c:v>13.3</c:v>
                </c:pt>
                <c:pt idx="267">
                  <c:v>13.35</c:v>
                </c:pt>
                <c:pt idx="268">
                  <c:v>13.4</c:v>
                </c:pt>
                <c:pt idx="269">
                  <c:v>13.45</c:v>
                </c:pt>
                <c:pt idx="270">
                  <c:v>13.5</c:v>
                </c:pt>
                <c:pt idx="271">
                  <c:v>13.55</c:v>
                </c:pt>
                <c:pt idx="272">
                  <c:v>13.6</c:v>
                </c:pt>
                <c:pt idx="273">
                  <c:v>13.65</c:v>
                </c:pt>
                <c:pt idx="274">
                  <c:v>13.7</c:v>
                </c:pt>
                <c:pt idx="275">
                  <c:v>13.75</c:v>
                </c:pt>
                <c:pt idx="276">
                  <c:v>13.8</c:v>
                </c:pt>
                <c:pt idx="277">
                  <c:v>13.85</c:v>
                </c:pt>
                <c:pt idx="278">
                  <c:v>13.9</c:v>
                </c:pt>
                <c:pt idx="279">
                  <c:v>13.95</c:v>
                </c:pt>
                <c:pt idx="280">
                  <c:v>14</c:v>
                </c:pt>
                <c:pt idx="281">
                  <c:v>14.05</c:v>
                </c:pt>
                <c:pt idx="282">
                  <c:v>14.1</c:v>
                </c:pt>
                <c:pt idx="283">
                  <c:v>14.15</c:v>
                </c:pt>
                <c:pt idx="284">
                  <c:v>14.2</c:v>
                </c:pt>
                <c:pt idx="285">
                  <c:v>14.25</c:v>
                </c:pt>
                <c:pt idx="286">
                  <c:v>14.3</c:v>
                </c:pt>
                <c:pt idx="287">
                  <c:v>14.35</c:v>
                </c:pt>
                <c:pt idx="288">
                  <c:v>14.4</c:v>
                </c:pt>
                <c:pt idx="289">
                  <c:v>14.45</c:v>
                </c:pt>
                <c:pt idx="290">
                  <c:v>14.5</c:v>
                </c:pt>
                <c:pt idx="291">
                  <c:v>14.55</c:v>
                </c:pt>
                <c:pt idx="292">
                  <c:v>14.6</c:v>
                </c:pt>
                <c:pt idx="293">
                  <c:v>14.65</c:v>
                </c:pt>
                <c:pt idx="294">
                  <c:v>14.7</c:v>
                </c:pt>
                <c:pt idx="295">
                  <c:v>14.75</c:v>
                </c:pt>
                <c:pt idx="296">
                  <c:v>14.8</c:v>
                </c:pt>
                <c:pt idx="297">
                  <c:v>14.85</c:v>
                </c:pt>
                <c:pt idx="298">
                  <c:v>14.9</c:v>
                </c:pt>
                <c:pt idx="299">
                  <c:v>14.95</c:v>
                </c:pt>
                <c:pt idx="300">
                  <c:v>15</c:v>
                </c:pt>
                <c:pt idx="301">
                  <c:v>15.05</c:v>
                </c:pt>
                <c:pt idx="302">
                  <c:v>15.1</c:v>
                </c:pt>
                <c:pt idx="303">
                  <c:v>15.15</c:v>
                </c:pt>
                <c:pt idx="304">
                  <c:v>15.2</c:v>
                </c:pt>
                <c:pt idx="305">
                  <c:v>15.25</c:v>
                </c:pt>
                <c:pt idx="306">
                  <c:v>15.3</c:v>
                </c:pt>
                <c:pt idx="307">
                  <c:v>15.35</c:v>
                </c:pt>
                <c:pt idx="308">
                  <c:v>15.4</c:v>
                </c:pt>
                <c:pt idx="309">
                  <c:v>15.45</c:v>
                </c:pt>
                <c:pt idx="310">
                  <c:v>15.5</c:v>
                </c:pt>
                <c:pt idx="311">
                  <c:v>15.55</c:v>
                </c:pt>
                <c:pt idx="312">
                  <c:v>15.6</c:v>
                </c:pt>
                <c:pt idx="313">
                  <c:v>15.65</c:v>
                </c:pt>
                <c:pt idx="314">
                  <c:v>15.7</c:v>
                </c:pt>
                <c:pt idx="315">
                  <c:v>15.75</c:v>
                </c:pt>
                <c:pt idx="316">
                  <c:v>15.8</c:v>
                </c:pt>
                <c:pt idx="317">
                  <c:v>15.85</c:v>
                </c:pt>
                <c:pt idx="318">
                  <c:v>15.9</c:v>
                </c:pt>
                <c:pt idx="319">
                  <c:v>15.95</c:v>
                </c:pt>
                <c:pt idx="320">
                  <c:v>16</c:v>
                </c:pt>
                <c:pt idx="321">
                  <c:v>16.05</c:v>
                </c:pt>
                <c:pt idx="322">
                  <c:v>16.100000000000001</c:v>
                </c:pt>
                <c:pt idx="323">
                  <c:v>16.149999999999999</c:v>
                </c:pt>
                <c:pt idx="324">
                  <c:v>16.2</c:v>
                </c:pt>
                <c:pt idx="325">
                  <c:v>16.25</c:v>
                </c:pt>
                <c:pt idx="326">
                  <c:v>16.3</c:v>
                </c:pt>
                <c:pt idx="327">
                  <c:v>16.350000000000001</c:v>
                </c:pt>
                <c:pt idx="328">
                  <c:v>16.399999999999999</c:v>
                </c:pt>
                <c:pt idx="329">
                  <c:v>16.45</c:v>
                </c:pt>
                <c:pt idx="330">
                  <c:v>16.5</c:v>
                </c:pt>
                <c:pt idx="331">
                  <c:v>16.55</c:v>
                </c:pt>
                <c:pt idx="332">
                  <c:v>16.600000000000001</c:v>
                </c:pt>
                <c:pt idx="333">
                  <c:v>16.649999999999999</c:v>
                </c:pt>
                <c:pt idx="334">
                  <c:v>16.7</c:v>
                </c:pt>
                <c:pt idx="335">
                  <c:v>16.75</c:v>
                </c:pt>
                <c:pt idx="336">
                  <c:v>16.8</c:v>
                </c:pt>
                <c:pt idx="337">
                  <c:v>16.850000000000001</c:v>
                </c:pt>
                <c:pt idx="338">
                  <c:v>16.899999999999999</c:v>
                </c:pt>
                <c:pt idx="339">
                  <c:v>16.95</c:v>
                </c:pt>
                <c:pt idx="340">
                  <c:v>17</c:v>
                </c:pt>
                <c:pt idx="341">
                  <c:v>17.05</c:v>
                </c:pt>
                <c:pt idx="342">
                  <c:v>17.100000000000001</c:v>
                </c:pt>
                <c:pt idx="343">
                  <c:v>17.149999999999999</c:v>
                </c:pt>
                <c:pt idx="344">
                  <c:v>17.2</c:v>
                </c:pt>
                <c:pt idx="345">
                  <c:v>17.25</c:v>
                </c:pt>
                <c:pt idx="346">
                  <c:v>17.3</c:v>
                </c:pt>
                <c:pt idx="347">
                  <c:v>17.350000000000001</c:v>
                </c:pt>
                <c:pt idx="348">
                  <c:v>17.399999999999999</c:v>
                </c:pt>
                <c:pt idx="349">
                  <c:v>17.45</c:v>
                </c:pt>
                <c:pt idx="350">
                  <c:v>17.5</c:v>
                </c:pt>
                <c:pt idx="351">
                  <c:v>17.55</c:v>
                </c:pt>
                <c:pt idx="352">
                  <c:v>17.600000000000001</c:v>
                </c:pt>
                <c:pt idx="353">
                  <c:v>17.649999999999999</c:v>
                </c:pt>
                <c:pt idx="354">
                  <c:v>17.7</c:v>
                </c:pt>
                <c:pt idx="355">
                  <c:v>17.75</c:v>
                </c:pt>
                <c:pt idx="356">
                  <c:v>17.8</c:v>
                </c:pt>
                <c:pt idx="357">
                  <c:v>17.850000000000001</c:v>
                </c:pt>
                <c:pt idx="358">
                  <c:v>17.899999999999999</c:v>
                </c:pt>
                <c:pt idx="359">
                  <c:v>17.95</c:v>
                </c:pt>
                <c:pt idx="360">
                  <c:v>18</c:v>
                </c:pt>
                <c:pt idx="361">
                  <c:v>18.05</c:v>
                </c:pt>
                <c:pt idx="362">
                  <c:v>18.100000000000001</c:v>
                </c:pt>
                <c:pt idx="363">
                  <c:v>18.149999999999999</c:v>
                </c:pt>
                <c:pt idx="364">
                  <c:v>18.2</c:v>
                </c:pt>
                <c:pt idx="365">
                  <c:v>18.25</c:v>
                </c:pt>
                <c:pt idx="366">
                  <c:v>18.3</c:v>
                </c:pt>
                <c:pt idx="367">
                  <c:v>18.350000000000001</c:v>
                </c:pt>
                <c:pt idx="368">
                  <c:v>18.399999999999999</c:v>
                </c:pt>
                <c:pt idx="369">
                  <c:v>18.45</c:v>
                </c:pt>
                <c:pt idx="370">
                  <c:v>18.5</c:v>
                </c:pt>
                <c:pt idx="371">
                  <c:v>18.55</c:v>
                </c:pt>
                <c:pt idx="372">
                  <c:v>18.600000000000001</c:v>
                </c:pt>
                <c:pt idx="373">
                  <c:v>18.649999999999999</c:v>
                </c:pt>
                <c:pt idx="374">
                  <c:v>18.7</c:v>
                </c:pt>
                <c:pt idx="375">
                  <c:v>18.75</c:v>
                </c:pt>
                <c:pt idx="376">
                  <c:v>18.8</c:v>
                </c:pt>
                <c:pt idx="377">
                  <c:v>18.850000000000001</c:v>
                </c:pt>
                <c:pt idx="378">
                  <c:v>18.899999999999999</c:v>
                </c:pt>
                <c:pt idx="379">
                  <c:v>18.95</c:v>
                </c:pt>
                <c:pt idx="380">
                  <c:v>19</c:v>
                </c:pt>
                <c:pt idx="381">
                  <c:v>19.05</c:v>
                </c:pt>
                <c:pt idx="382">
                  <c:v>19.100000000000001</c:v>
                </c:pt>
                <c:pt idx="383">
                  <c:v>19.149999999999999</c:v>
                </c:pt>
                <c:pt idx="384">
                  <c:v>19.2</c:v>
                </c:pt>
                <c:pt idx="385">
                  <c:v>19.25</c:v>
                </c:pt>
                <c:pt idx="386">
                  <c:v>19.3</c:v>
                </c:pt>
                <c:pt idx="387">
                  <c:v>19.350000000000001</c:v>
                </c:pt>
                <c:pt idx="388">
                  <c:v>19.399999999999999</c:v>
                </c:pt>
                <c:pt idx="389">
                  <c:v>19.45</c:v>
                </c:pt>
                <c:pt idx="390">
                  <c:v>19.5</c:v>
                </c:pt>
                <c:pt idx="391">
                  <c:v>19.55</c:v>
                </c:pt>
                <c:pt idx="392">
                  <c:v>19.600000000000001</c:v>
                </c:pt>
                <c:pt idx="393">
                  <c:v>19.649999999999999</c:v>
                </c:pt>
                <c:pt idx="394">
                  <c:v>19.7</c:v>
                </c:pt>
                <c:pt idx="395">
                  <c:v>19.75</c:v>
                </c:pt>
                <c:pt idx="396">
                  <c:v>19.8</c:v>
                </c:pt>
                <c:pt idx="397">
                  <c:v>19.850000000000001</c:v>
                </c:pt>
                <c:pt idx="398">
                  <c:v>19.899999999999999</c:v>
                </c:pt>
                <c:pt idx="399">
                  <c:v>19.95</c:v>
                </c:pt>
                <c:pt idx="400">
                  <c:v>20</c:v>
                </c:pt>
              </c:numCache>
            </c:numRef>
          </c:xVal>
          <c:yVal>
            <c:numRef>
              <c:f>Sheet1!$B$1211:$B$1611</c:f>
              <c:numCache>
                <c:formatCode>General</c:formatCode>
                <c:ptCount val="401"/>
                <c:pt idx="0">
                  <c:v>0</c:v>
                </c:pt>
                <c:pt idx="1">
                  <c:v>0</c:v>
                </c:pt>
                <c:pt idx="2">
                  <c:v>0</c:v>
                </c:pt>
                <c:pt idx="3">
                  <c:v>0</c:v>
                </c:pt>
                <c:pt idx="4">
                  <c:v>0</c:v>
                </c:pt>
                <c:pt idx="5">
                  <c:v>0</c:v>
                </c:pt>
                <c:pt idx="6">
                  <c:v>0</c:v>
                </c:pt>
                <c:pt idx="7">
                  <c:v>0</c:v>
                </c:pt>
                <c:pt idx="8">
                  <c:v>0</c:v>
                </c:pt>
                <c:pt idx="9">
                  <c:v>0</c:v>
                </c:pt>
                <c:pt idx="10">
                  <c:v>0</c:v>
                </c:pt>
                <c:pt idx="11">
                  <c:v>1.1985091468012028E-92</c:v>
                </c:pt>
                <c:pt idx="12">
                  <c:v>0</c:v>
                </c:pt>
                <c:pt idx="13">
                  <c:v>0</c:v>
                </c:pt>
                <c:pt idx="14">
                  <c:v>0</c:v>
                </c:pt>
                <c:pt idx="15">
                  <c:v>0</c:v>
                </c:pt>
                <c:pt idx="16">
                  <c:v>1.1985091468012028E-92</c:v>
                </c:pt>
                <c:pt idx="17">
                  <c:v>0</c:v>
                </c:pt>
                <c:pt idx="18">
                  <c:v>1.1985091468012028E-92</c:v>
                </c:pt>
                <c:pt idx="19">
                  <c:v>0</c:v>
                </c:pt>
                <c:pt idx="20">
                  <c:v>0</c:v>
                </c:pt>
                <c:pt idx="21">
                  <c:v>0</c:v>
                </c:pt>
                <c:pt idx="22">
                  <c:v>0</c:v>
                </c:pt>
                <c:pt idx="23">
                  <c:v>1.8726705418768793E-94</c:v>
                </c:pt>
                <c:pt idx="24">
                  <c:v>1.1985091468012028E-92</c:v>
                </c:pt>
                <c:pt idx="25">
                  <c:v>1.365176825028245E-91</c:v>
                </c:pt>
                <c:pt idx="26">
                  <c:v>5.5917642753156917E-88</c:v>
                </c:pt>
                <c:pt idx="27">
                  <c:v>3.5787291362020427E-86</c:v>
                </c:pt>
                <c:pt idx="28">
                  <c:v>4.1506546165799271E-84</c:v>
                </c:pt>
                <c:pt idx="29">
                  <c:v>3.8988097167198147E-82</c:v>
                </c:pt>
                <c:pt idx="30">
                  <c:v>2.7722244847085556E-80</c:v>
                </c:pt>
                <c:pt idx="31">
                  <c:v>1.8210137799342793E-78</c:v>
                </c:pt>
                <c:pt idx="32">
                  <c:v>1.0152847915796762E-76</c:v>
                </c:pt>
                <c:pt idx="33">
                  <c:v>4.8150448398675127E-75</c:v>
                </c:pt>
                <c:pt idx="34">
                  <c:v>1.9659445089123969E-73</c:v>
                </c:pt>
                <c:pt idx="35">
                  <c:v>7.2328847238423251E-72</c:v>
                </c:pt>
                <c:pt idx="36">
                  <c:v>2.3640627710216433E-70</c:v>
                </c:pt>
                <c:pt idx="37">
                  <c:v>6.8780804597113461E-69</c:v>
                </c:pt>
                <c:pt idx="38">
                  <c:v>1.8083134857131762E-67</c:v>
                </c:pt>
                <c:pt idx="39">
                  <c:v>4.2970146202182299E-66</c:v>
                </c:pt>
                <c:pt idx="40">
                  <c:v>9.2942807577258542E-65</c:v>
                </c:pt>
                <c:pt idx="41">
                  <c:v>1.836607653124796E-63</c:v>
                </c:pt>
                <c:pt idx="42">
                  <c:v>3.3322072392451988E-62</c:v>
                </c:pt>
                <c:pt idx="43">
                  <c:v>5.572754121847788E-61</c:v>
                </c:pt>
                <c:pt idx="44">
                  <c:v>8.6218291166891933E-60</c:v>
                </c:pt>
                <c:pt idx="45">
                  <c:v>1.238412612670638E-58</c:v>
                </c:pt>
                <c:pt idx="46">
                  <c:v>1.6569731939279047E-57</c:v>
                </c:pt>
                <c:pt idx="47">
                  <c:v>2.071283414300022E-56</c:v>
                </c:pt>
                <c:pt idx="48">
                  <c:v>2.4260980350628877E-55</c:v>
                </c:pt>
                <c:pt idx="49">
                  <c:v>2.6698288353100773E-54</c:v>
                </c:pt>
                <c:pt idx="50">
                  <c:v>2.7673280857322066E-53</c:v>
                </c:pt>
                <c:pt idx="51">
                  <c:v>2.7081283852224268E-52</c:v>
                </c:pt>
                <c:pt idx="52">
                  <c:v>2.5077728853448524E-51</c:v>
                </c:pt>
                <c:pt idx="53">
                  <c:v>2.2020595196985367E-50</c:v>
                </c:pt>
                <c:pt idx="54">
                  <c:v>1.8372133422299007E-49</c:v>
                </c:pt>
                <c:pt idx="55">
                  <c:v>1.4591413155032454E-48</c:v>
                </c:pt>
                <c:pt idx="56">
                  <c:v>1.1051347597904817E-47</c:v>
                </c:pt>
                <c:pt idx="57">
                  <c:v>7.9955027863229572E-47</c:v>
                </c:pt>
                <c:pt idx="58">
                  <c:v>5.53456568259737E-46</c:v>
                </c:pt>
                <c:pt idx="59">
                  <c:v>3.6710222838035397E-45</c:v>
                </c:pt>
                <c:pt idx="60">
                  <c:v>2.3365848220277212E-44</c:v>
                </c:pt>
                <c:pt idx="61">
                  <c:v>1.4290971596927036E-43</c:v>
                </c:pt>
                <c:pt idx="62">
                  <c:v>8.4099456638842665E-43</c:v>
                </c:pt>
                <c:pt idx="63">
                  <c:v>4.7677597424333998E-42</c:v>
                </c:pt>
                <c:pt idx="64">
                  <c:v>2.6069824353828554E-41</c:v>
                </c:pt>
                <c:pt idx="65">
                  <c:v>1.3764285796822632E-40</c:v>
                </c:pt>
                <c:pt idx="66">
                  <c:v>7.0247008440580876E-40</c:v>
                </c:pt>
                <c:pt idx="67">
                  <c:v>3.4690160675529742E-39</c:v>
                </c:pt>
                <c:pt idx="68">
                  <c:v>1.6592626716764856E-38</c:v>
                </c:pt>
                <c:pt idx="69">
                  <c:v>7.6941671078923263E-38</c:v>
                </c:pt>
                <c:pt idx="70">
                  <c:v>3.4620675869164678E-37</c:v>
                </c:pt>
                <c:pt idx="71">
                  <c:v>1.5128996636285256E-36</c:v>
                </c:pt>
                <c:pt idx="72">
                  <c:v>6.4260332919763156E-36</c:v>
                </c:pt>
                <c:pt idx="73">
                  <c:v>2.6550756716752545E-35</c:v>
                </c:pt>
                <c:pt idx="74">
                  <c:v>1.0679250236651868E-34</c:v>
                </c:pt>
                <c:pt idx="75">
                  <c:v>4.1845639335301446E-34</c:v>
                </c:pt>
                <c:pt idx="76">
                  <c:v>1.5984841852236738E-33</c:v>
                </c:pt>
                <c:pt idx="77">
                  <c:v>5.9567098630938949E-33</c:v>
                </c:pt>
                <c:pt idx="78">
                  <c:v>2.166828457275942E-32</c:v>
                </c:pt>
                <c:pt idx="79">
                  <c:v>7.6989577665754902E-32</c:v>
                </c:pt>
                <c:pt idx="80">
                  <c:v>2.6735473249762389E-31</c:v>
                </c:pt>
                <c:pt idx="81">
                  <c:v>9.0790814538930694E-31</c:v>
                </c:pt>
                <c:pt idx="82">
                  <c:v>3.0167162903644964E-30</c:v>
                </c:pt>
                <c:pt idx="83">
                  <c:v>9.8128969443823311E-30</c:v>
                </c:pt>
                <c:pt idx="84">
                  <c:v>3.1264653947493409E-29</c:v>
                </c:pt>
                <c:pt idx="85">
                  <c:v>9.7615577805365326E-29</c:v>
                </c:pt>
                <c:pt idx="86">
                  <c:v>2.9881453149304182E-28</c:v>
                </c:pt>
                <c:pt idx="87">
                  <c:v>8.9722663486389361E-28</c:v>
                </c:pt>
                <c:pt idx="88">
                  <c:v>2.6437134811471988E-27</c:v>
                </c:pt>
                <c:pt idx="89">
                  <c:v>7.6476107657411028E-27</c:v>
                </c:pt>
                <c:pt idx="90">
                  <c:v>2.1727884956637314E-26</c:v>
                </c:pt>
                <c:pt idx="91">
                  <c:v>6.0654715084942471E-26</c:v>
                </c:pt>
                <c:pt idx="92">
                  <c:v>1.6643189268958518E-25</c:v>
                </c:pt>
                <c:pt idx="93">
                  <c:v>4.4905276620661625E-25</c:v>
                </c:pt>
                <c:pt idx="94">
                  <c:v>1.1918065682413987E-24</c:v>
                </c:pt>
                <c:pt idx="95">
                  <c:v>3.1125438056284261E-24</c:v>
                </c:pt>
                <c:pt idx="96">
                  <c:v>8.0015734038340773E-24</c:v>
                </c:pt>
                <c:pt idx="97">
                  <c:v>2.0254888714890518E-23</c:v>
                </c:pt>
                <c:pt idx="98">
                  <c:v>5.050318723054513E-23</c:v>
                </c:pt>
                <c:pt idx="99">
                  <c:v>1.2407316181160317E-22</c:v>
                </c:pt>
                <c:pt idx="100">
                  <c:v>3.0042679617207547E-22</c:v>
                </c:pt>
                <c:pt idx="101">
                  <c:v>7.1718129623295702E-22</c:v>
                </c:pt>
                <c:pt idx="102">
                  <c:v>1.6883896712949263E-21</c:v>
                </c:pt>
                <c:pt idx="103">
                  <c:v>3.9209403478578012E-21</c:v>
                </c:pt>
                <c:pt idx="104">
                  <c:v>8.9845951668857942E-21</c:v>
                </c:pt>
                <c:pt idx="105">
                  <c:v>2.0319410665707816E-20</c:v>
                </c:pt>
                <c:pt idx="106">
                  <c:v>4.5366826975823838E-20</c:v>
                </c:pt>
                <c:pt idx="107">
                  <c:v>1.0002019852920533E-19</c:v>
                </c:pt>
                <c:pt idx="108">
                  <c:v>2.1780275632337306E-19</c:v>
                </c:pt>
                <c:pt idx="109">
                  <c:v>4.6856179023974571E-19</c:v>
                </c:pt>
                <c:pt idx="110">
                  <c:v>9.9608625213981853E-19</c:v>
                </c:pt>
                <c:pt idx="111">
                  <c:v>2.0929058207139843E-18</c:v>
                </c:pt>
                <c:pt idx="112">
                  <c:v>4.3472900986531678E-18</c:v>
                </c:pt>
                <c:pt idx="113">
                  <c:v>8.9288355376984811E-18</c:v>
                </c:pt>
                <c:pt idx="114">
                  <c:v>1.8137063915573395E-17</c:v>
                </c:pt>
                <c:pt idx="115">
                  <c:v>3.6443619315368311E-17</c:v>
                </c:pt>
                <c:pt idx="116">
                  <c:v>7.245069643381944E-17</c:v>
                </c:pt>
                <c:pt idx="117">
                  <c:v>1.4253194879403707E-16</c:v>
                </c:pt>
                <c:pt idx="118">
                  <c:v>2.7753033787714871E-16</c:v>
                </c:pt>
                <c:pt idx="119">
                  <c:v>5.3495257454398927E-16</c:v>
                </c:pt>
                <c:pt idx="120">
                  <c:v>1.0209459328037421E-15</c:v>
                </c:pt>
                <c:pt idx="121">
                  <c:v>1.9295100912121349E-15</c:v>
                </c:pt>
                <c:pt idx="122">
                  <c:v>3.6117744399887815E-15</c:v>
                </c:pt>
                <c:pt idx="123">
                  <c:v>6.6972129140826298E-15</c:v>
                </c:pt>
                <c:pt idx="124">
                  <c:v>1.2303721501876299E-14</c:v>
                </c:pt>
                <c:pt idx="125">
                  <c:v>2.2398303745354791E-14</c:v>
                </c:pt>
                <c:pt idx="126">
                  <c:v>4.0410645982663158E-14</c:v>
                </c:pt>
                <c:pt idx="127">
                  <c:v>7.2267449614036142E-14</c:v>
                </c:pt>
                <c:pt idx="128">
                  <c:v>1.2812052353631298E-13</c:v>
                </c:pt>
                <c:pt idx="129">
                  <c:v>2.2520864533260251E-13</c:v>
                </c:pt>
                <c:pt idx="130">
                  <c:v>3.9255610704024518E-13</c:v>
                </c:pt>
                <c:pt idx="131">
                  <c:v>6.7862108438720628E-13</c:v>
                </c:pt>
                <c:pt idx="132">
                  <c:v>1.1636414739258241E-12</c:v>
                </c:pt>
                <c:pt idx="133">
                  <c:v>1.9793988108826954E-12</c:v>
                </c:pt>
                <c:pt idx="134">
                  <c:v>3.3406001914638485E-12</c:v>
                </c:pt>
                <c:pt idx="135">
                  <c:v>5.5943084294689048E-12</c:v>
                </c:pt>
                <c:pt idx="136">
                  <c:v>9.2971854059865679E-12</c:v>
                </c:pt>
                <c:pt idx="137">
                  <c:v>1.5335258859075054E-11</c:v>
                </c:pt>
                <c:pt idx="138">
                  <c:v>2.510819732847126E-11</c:v>
                </c:pt>
                <c:pt idx="139">
                  <c:v>4.0810693244124966E-11</c:v>
                </c:pt>
                <c:pt idx="140">
                  <c:v>6.5858922295424677E-11</c:v>
                </c:pt>
                <c:pt idx="141">
                  <c:v>1.0553212277919751E-10</c:v>
                </c:pt>
                <c:pt idx="142">
                  <c:v>1.679308044356696E-10</c:v>
                </c:pt>
                <c:pt idx="143">
                  <c:v>2.6539760443196816E-10</c:v>
                </c:pt>
                <c:pt idx="144">
                  <c:v>4.1660928922319294E-10</c:v>
                </c:pt>
                <c:pt idx="145">
                  <c:v>6.4963545703608064E-10</c:v>
                </c:pt>
                <c:pt idx="146">
                  <c:v>1.0063798947291304E-9</c:v>
                </c:pt>
                <c:pt idx="147">
                  <c:v>1.548985834487732E-9</c:v>
                </c:pt>
                <c:pt idx="148">
                  <c:v>2.369011630591396E-9</c:v>
                </c:pt>
                <c:pt idx="149">
                  <c:v>3.6004881906052876E-9</c:v>
                </c:pt>
                <c:pt idx="150">
                  <c:v>5.4383789865192768E-9</c:v>
                </c:pt>
                <c:pt idx="151">
                  <c:v>8.1645096890975294E-9</c:v>
                </c:pt>
                <c:pt idx="152">
                  <c:v>1.2183757940722693E-8</c:v>
                </c:pt>
                <c:pt idx="153">
                  <c:v>1.8074245336253395E-8</c:v>
                </c:pt>
                <c:pt idx="154">
                  <c:v>2.665651653917194E-8</c:v>
                </c:pt>
                <c:pt idx="155">
                  <c:v>3.9088302597905671E-8</c:v>
                </c:pt>
                <c:pt idx="156">
                  <c:v>5.6993542319343134E-8</c:v>
                </c:pt>
                <c:pt idx="157">
                  <c:v>8.2636992651177183E-8</c:v>
                </c:pt>
                <c:pt idx="158">
                  <c:v>1.1915913543992057E-7</c:v>
                </c:pt>
                <c:pt idx="159">
                  <c:v>1.7089034931797245E-7</c:v>
                </c:pt>
                <c:pt idx="160">
                  <c:v>2.4376865738104044E-7</c:v>
                </c:pt>
                <c:pt idx="161">
                  <c:v>3.4589201251637244E-7</c:v>
                </c:pt>
                <c:pt idx="162">
                  <c:v>4.8824430773436808E-7</c:v>
                </c:pt>
                <c:pt idx="163">
                  <c:v>6.8564440254746246E-7</c:v>
                </c:pt>
                <c:pt idx="164">
                  <c:v>9.5797978330047182E-7</c:v>
                </c:pt>
                <c:pt idx="165">
                  <c:v>1.3318014124956953E-6</c:v>
                </c:pt>
                <c:pt idx="166">
                  <c:v>1.8423742991005288E-6</c:v>
                </c:pt>
                <c:pt idx="167">
                  <c:v>2.5362998088858363E-6</c:v>
                </c:pt>
                <c:pt idx="168">
                  <c:v>3.4748512392105929E-6</c:v>
                </c:pt>
                <c:pt idx="169">
                  <c:v>4.738194246857412E-6</c:v>
                </c:pt>
                <c:pt idx="170">
                  <c:v>6.4306989056142173E-6</c:v>
                </c:pt>
                <c:pt idx="171">
                  <c:v>8.6875910612755831E-6</c:v>
                </c:pt>
                <c:pt idx="172">
                  <c:v>1.1683237824711693E-5</c:v>
                </c:pt>
                <c:pt idx="173">
                  <c:v>1.564141606038366E-5</c:v>
                </c:pt>
                <c:pt idx="174">
                  <c:v>2.0847974112363244E-5</c:v>
                </c:pt>
                <c:pt idx="175">
                  <c:v>2.7666366223878997E-5</c:v>
                </c:pt>
                <c:pt idx="176">
                  <c:v>3.6556616521498662E-5</c:v>
                </c:pt>
                <c:pt idx="177">
                  <c:v>4.8098355300541571E-5</c:v>
                </c:pt>
                <c:pt idx="178">
                  <c:v>6.3018664758521137E-5</c:v>
                </c:pt>
                <c:pt idx="179">
                  <c:v>8.222557417955009E-5</c:v>
                </c:pt>
                <c:pt idx="180">
                  <c:v>1.0684815554451748E-4</c:v>
                </c:pt>
                <c:pt idx="181">
                  <c:v>1.3828428903110487E-4</c:v>
                </c:pt>
                <c:pt idx="182">
                  <c:v>1.7825729296499487E-4</c:v>
                </c:pt>
                <c:pt idx="183">
                  <c:v>2.2888274323590326E-4</c:v>
                </c:pt>
                <c:pt idx="184">
                  <c:v>2.9274694137064342E-4</c:v>
                </c:pt>
                <c:pt idx="185">
                  <c:v>3.7299862631728149E-4</c:v>
                </c:pt>
                <c:pt idx="186">
                  <c:v>4.7345566008349032E-4</c:v>
                </c:pt>
                <c:pt idx="187">
                  <c:v>5.9872854877454282E-4</c:v>
                </c:pt>
                <c:pt idx="188">
                  <c:v>7.5436278495373229E-4</c:v>
                </c:pt>
                <c:pt idx="189">
                  <c:v>9.4700211082792763E-4</c:v>
                </c:pt>
                <c:pt idx="190">
                  <c:v>1.1845749003438759E-3</c:v>
                </c:pt>
                <c:pt idx="191">
                  <c:v>1.4765059373544737E-3</c:v>
                </c:pt>
                <c:pt idx="192">
                  <c:v>1.8339559216775001E-3</c:v>
                </c:pt>
                <c:pt idx="193">
                  <c:v>2.2700910600678857E-3</c:v>
                </c:pt>
                <c:pt idx="194">
                  <c:v>2.8003850896047748E-3</c:v>
                </c:pt>
                <c:pt idx="195">
                  <c:v>3.4429560314678084E-3</c:v>
                </c:pt>
                <c:pt idx="196">
                  <c:v>4.2189398783491049E-3</c:v>
                </c:pt>
                <c:pt idx="197">
                  <c:v>5.1529032738918418E-3</c:v>
                </c:pt>
                <c:pt idx="198">
                  <c:v>6.2732970428163413E-3</c:v>
                </c:pt>
                <c:pt idx="199">
                  <c:v>7.6129521719158844E-3</c:v>
                </c:pt>
                <c:pt idx="200">
                  <c:v>9.2096195212136144E-3</c:v>
                </c:pt>
                <c:pt idx="201">
                  <c:v>1.1106554158974559E-2</c:v>
                </c:pt>
                <c:pt idx="202">
                  <c:v>1.3353144762194728E-2</c:v>
                </c:pt>
                <c:pt idx="203">
                  <c:v>1.6005588005361632E-2</c:v>
                </c:pt>
                <c:pt idx="204">
                  <c:v>1.9127607275664E-2</c:v>
                </c:pt>
                <c:pt idx="205">
                  <c:v>2.2791214404502835E-2</c:v>
                </c:pt>
                <c:pt idx="206">
                  <c:v>2.707751239731724E-2</c:v>
                </c:pt>
                <c:pt idx="207">
                  <c:v>3.2077536381390562E-2</c:v>
                </c:pt>
                <c:pt idx="208">
                  <c:v>3.7893129181883617E-2</c:v>
                </c:pt>
                <c:pt idx="209">
                  <c:v>4.4637847088214382E-2</c:v>
                </c:pt>
                <c:pt idx="210">
                  <c:v>5.2437890496270054E-2</c:v>
                </c:pt>
                <c:pt idx="211">
                  <c:v>6.1433053219048919E-2</c:v>
                </c:pt>
                <c:pt idx="212">
                  <c:v>7.177768336130276E-2</c:v>
                </c:pt>
                <c:pt idx="213">
                  <c:v>8.3641647768106051E-2</c:v>
                </c:pt>
                <c:pt idx="214">
                  <c:v>9.7211291197257035E-2</c:v>
                </c:pt>
                <c:pt idx="215">
                  <c:v>0.11269038054784164</c:v>
                </c:pt>
                <c:pt idx="216">
                  <c:v>0.13030102371866487</c:v>
                </c:pt>
                <c:pt idx="217">
                  <c:v>0.15028455198667781</c:v>
                </c:pt>
                <c:pt idx="218">
                  <c:v>0.17290235420477115</c:v>
                </c:pt>
                <c:pt idx="219">
                  <c:v>0.19843665063592505</c:v>
                </c:pt>
                <c:pt idx="220">
                  <c:v>0.22719119388112885</c:v>
                </c:pt>
                <c:pt idx="221">
                  <c:v>0.25949188413879104</c:v>
                </c:pt>
                <c:pt idx="222">
                  <c:v>0.29568728596112098</c:v>
                </c:pt>
                <c:pt idx="223">
                  <c:v>0.33614903376605759</c:v>
                </c:pt>
                <c:pt idx="224">
                  <c:v>0.38127211362176006</c:v>
                </c:pt>
                <c:pt idx="225">
                  <c:v>0.43147500925914017</c:v>
                </c:pt>
                <c:pt idx="226">
                  <c:v>0.48719970088341674</c:v>
                </c:pt>
                <c:pt idx="227">
                  <c:v>0.54891150615275108</c:v>
                </c:pt>
                <c:pt idx="228">
                  <c:v>0.61709875366583644</c:v>
                </c:pt>
                <c:pt idx="229">
                  <c:v>0.69227228044936928</c:v>
                </c:pt>
                <c:pt idx="230">
                  <c:v>0.77496474624550549</c:v>
                </c:pt>
                <c:pt idx="231">
                  <c:v>0.8657297588668702</c:v>
                </c:pt>
                <c:pt idx="232">
                  <c:v>0.96514080648771683</c:v>
                </c:pt>
                <c:pt idx="233">
                  <c:v>1.0737899944673894</c:v>
                </c:pt>
                <c:pt idx="234">
                  <c:v>1.1922865861284513</c:v>
                </c:pt>
                <c:pt idx="235">
                  <c:v>1.321255348822588</c:v>
                </c:pt>
                <c:pt idx="236">
                  <c:v>1.4613347085833297</c:v>
                </c:pt>
                <c:pt idx="237">
                  <c:v>1.6131747186627965</c:v>
                </c:pt>
                <c:pt idx="238">
                  <c:v>1.7774348492596996</c:v>
                </c:pt>
                <c:pt idx="239">
                  <c:v>1.9547816077293685</c:v>
                </c:pt>
                <c:pt idx="240">
                  <c:v>2.1458860005076801</c:v>
                </c:pt>
                <c:pt idx="241">
                  <c:v>2.3514208498508977</c:v>
                </c:pt>
                <c:pt idx="242">
                  <c:v>2.5720579802593742</c:v>
                </c:pt>
                <c:pt idx="243">
                  <c:v>2.8084652911023795</c:v>
                </c:pt>
                <c:pt idx="244">
                  <c:v>3.0613037334591007</c:v>
                </c:pt>
                <c:pt idx="245">
                  <c:v>3.3312242105259959</c:v>
                </c:pt>
                <c:pt idx="246">
                  <c:v>3.6188644220883734</c:v>
                </c:pt>
                <c:pt idx="247">
                  <c:v>3.9248456744954847</c:v>
                </c:pt>
                <c:pt idx="248">
                  <c:v>4.2497696783167136</c:v>
                </c:pt>
                <c:pt idx="249">
                  <c:v>4.5942153563522599</c:v>
                </c:pt>
                <c:pt idx="250">
                  <c:v>4.9587356849506081</c:v>
                </c:pt>
                <c:pt idx="251">
                  <c:v>5.3438545916195839</c:v>
                </c:pt>
                <c:pt idx="252">
                  <c:v>5.7500639317156281</c:v>
                </c:pt>
                <c:pt idx="253">
                  <c:v>6.1778205665617332</c:v>
                </c:pt>
                <c:pt idx="254">
                  <c:v>6.6275435646845651</c:v>
                </c:pt>
                <c:pt idx="255">
                  <c:v>7.0996115469770169</c:v>
                </c:pt>
                <c:pt idx="256">
                  <c:v>7.5943601955014621</c:v>
                </c:pt>
                <c:pt idx="257">
                  <c:v>8.1120799443739315</c:v>
                </c:pt>
                <c:pt idx="258">
                  <c:v>8.6530138697030612</c:v>
                </c:pt>
                <c:pt idx="259">
                  <c:v>9.2173557939489736</c:v>
                </c:pt>
                <c:pt idx="260">
                  <c:v>9.8052486183088554</c:v>
                </c:pt>
                <c:pt idx="261">
                  <c:v>10.416782894876439</c:v>
                </c:pt>
                <c:pt idx="262">
                  <c:v>11.051995648350793</c:v>
                </c:pt>
                <c:pt idx="263">
                  <c:v>11.710869455052929</c:v>
                </c:pt>
                <c:pt idx="264">
                  <c:v>12.393331784926552</c:v>
                </c:pt>
                <c:pt idx="265">
                  <c:v>13.099254610101777</c:v>
                </c:pt>
                <c:pt idx="266">
                  <c:v>13.828454281517677</c:v>
                </c:pt>
                <c:pt idx="267">
                  <c:v>14.580691673010621</c:v>
                </c:pt>
                <c:pt idx="268">
                  <c:v>15.355672590266249</c:v>
                </c:pt>
                <c:pt idx="269">
                  <c:v>16.153048440068947</c:v>
                </c:pt>
                <c:pt idx="270">
                  <c:v>16.972417153396993</c:v>
                </c:pt>
                <c:pt idx="271">
                  <c:v>17.813324354160525</c:v>
                </c:pt>
                <c:pt idx="272">
                  <c:v>18.675264763697378</c:v>
                </c:pt>
                <c:pt idx="273">
                  <c:v>19.557683829638222</c:v>
                </c:pt>
                <c:pt idx="274">
                  <c:v>20.459979566350057</c:v>
                </c:pt>
                <c:pt idx="275">
                  <c:v>21.3815045929387</c:v>
                </c:pt>
                <c:pt idx="276">
                  <c:v>22.321568353723322</c:v>
                </c:pt>
                <c:pt idx="277">
                  <c:v>23.279439505154549</c:v>
                </c:pt>
                <c:pt idx="278">
                  <c:v>24.25434845242896</c:v>
                </c:pt>
                <c:pt idx="279">
                  <c:v>25.245490018440698</c:v>
                </c:pt>
                <c:pt idx="280">
                  <c:v>26.252026227307013</c:v>
                </c:pt>
                <c:pt idx="281">
                  <c:v>27.273089184442085</c:v>
                </c:pt>
                <c:pt idx="282">
                  <c:v>28.307784035042115</c:v>
                </c:pt>
                <c:pt idx="283">
                  <c:v>29.355191982911531</c:v>
                </c:pt>
                <c:pt idx="284">
                  <c:v>30.41437335173628</c:v>
                </c:pt>
                <c:pt idx="285">
                  <c:v>31.484370671245625</c:v>
                </c:pt>
                <c:pt idx="286">
                  <c:v>32.564211771162647</c:v>
                </c:pt>
                <c:pt idx="287">
                  <c:v>33.652912866395219</c:v>
                </c:pt>
                <c:pt idx="288">
                  <c:v>34.749481617613505</c:v>
                </c:pt>
                <c:pt idx="289">
                  <c:v>35.852920152106712</c:v>
                </c:pt>
                <c:pt idx="290">
                  <c:v>36.962228030668406</c:v>
                </c:pt>
                <c:pt idx="291">
                  <c:v>38.076405147172835</c:v>
                </c:pt>
                <c:pt idx="292">
                  <c:v>39.194454548473722</c:v>
                </c:pt>
                <c:pt idx="293">
                  <c:v>40.31538516327813</c:v>
                </c:pt>
                <c:pt idx="294">
                  <c:v>41.438214429698213</c:v>
                </c:pt>
                <c:pt idx="295">
                  <c:v>42.561970812254835</c:v>
                </c:pt>
                <c:pt idx="296">
                  <c:v>43.685696200203601</c:v>
                </c:pt>
                <c:pt idx="297">
                  <c:v>44.808448180121822</c:v>
                </c:pt>
                <c:pt idx="298">
                  <c:v>45.929302176802601</c:v>
                </c:pt>
                <c:pt idx="299">
                  <c:v>47.047353457545846</c:v>
                </c:pt>
                <c:pt idx="300">
                  <c:v>48.161718995985147</c:v>
                </c:pt>
                <c:pt idx="301">
                  <c:v>49.271539192604259</c:v>
                </c:pt>
                <c:pt idx="302">
                  <c:v>50.375979450060328</c:v>
                </c:pt>
                <c:pt idx="303">
                  <c:v>51.47423160237129</c:v>
                </c:pt>
                <c:pt idx="304">
                  <c:v>52.565515197893717</c:v>
                </c:pt>
                <c:pt idx="305">
                  <c:v>53.649078636862328</c:v>
                </c:pt>
                <c:pt idx="306">
                  <c:v>54.724200165030233</c:v>
                </c:pt>
                <c:pt idx="307">
                  <c:v>55.790188725659853</c:v>
                </c:pt>
                <c:pt idx="308">
                  <c:v>56.846384672790151</c:v>
                </c:pt>
                <c:pt idx="309">
                  <c:v>57.89216034929472</c:v>
                </c:pt>
                <c:pt idx="310">
                  <c:v>58.926920533772332</c:v>
                </c:pt>
                <c:pt idx="311">
                  <c:v>59.9501027608177</c:v>
                </c:pt>
                <c:pt idx="312">
                  <c:v>60.961177519605805</c:v>
                </c:pt>
                <c:pt idx="313">
                  <c:v>61.959648336103413</c:v>
                </c:pt>
                <c:pt idx="314">
                  <c:v>62.945051744517521</c:v>
                </c:pt>
                <c:pt idx="315">
                  <c:v>63.916957153823702</c:v>
                </c:pt>
                <c:pt idx="316">
                  <c:v>64.874966615439973</c:v>
                </c:pt>
                <c:pt idx="317">
                  <c:v>65.818714498216906</c:v>
                </c:pt>
                <c:pt idx="318">
                  <c:v>66.747867077039487</c:v>
                </c:pt>
                <c:pt idx="319">
                  <c:v>67.66212204137409</c:v>
                </c:pt>
                <c:pt idx="320">
                  <c:v>68.56120793009643</c:v>
                </c:pt>
                <c:pt idx="321">
                  <c:v>69.444883498920447</c:v>
                </c:pt>
                <c:pt idx="322">
                  <c:v>70.312937026664699</c:v>
                </c:pt>
                <c:pt idx="323">
                  <c:v>71.165185566508356</c:v>
                </c:pt>
                <c:pt idx="324">
                  <c:v>72.001474148256179</c:v>
                </c:pt>
                <c:pt idx="325">
                  <c:v>72.821674937472821</c:v>
                </c:pt>
                <c:pt idx="326">
                  <c:v>73.625686357181308</c:v>
                </c:pt>
                <c:pt idx="327">
                  <c:v>74.413432177615846</c:v>
                </c:pt>
                <c:pt idx="328">
                  <c:v>75.184860579312257</c:v>
                </c:pt>
                <c:pt idx="329">
                  <c:v>75.939943194584743</c:v>
                </c:pt>
                <c:pt idx="330">
                  <c:v>76.678674132209864</c:v>
                </c:pt>
                <c:pt idx="331">
                  <c:v>77.401068989881551</c:v>
                </c:pt>
                <c:pt idx="332">
                  <c:v>78.107163858753154</c:v>
                </c:pt>
                <c:pt idx="333">
                  <c:v>78.797014324120212</c:v>
                </c:pt>
                <c:pt idx="334">
                  <c:v>79.470694466042175</c:v>
                </c:pt>
                <c:pt idx="335">
                  <c:v>80.128295863433323</c:v>
                </c:pt>
                <c:pt idx="336">
                  <c:v>80.769926604900007</c:v>
                </c:pt>
                <c:pt idx="337">
                  <c:v>81.395710309339748</c:v>
                </c:pt>
                <c:pt idx="338">
                  <c:v>82.00578515906416</c:v>
                </c:pt>
                <c:pt idx="339">
                  <c:v>82.60030294796492</c:v>
                </c:pt>
                <c:pt idx="340">
                  <c:v>83.179428146994965</c:v>
                </c:pt>
                <c:pt idx="341">
                  <c:v>83.743336989005442</c:v>
                </c:pt>
                <c:pt idx="342">
                  <c:v>84.292216574752217</c:v>
                </c:pt>
                <c:pt idx="343">
                  <c:v>84.826264001671902</c:v>
                </c:pt>
                <c:pt idx="344">
                  <c:v>85.345685516810306</c:v>
                </c:pt>
                <c:pt idx="345">
                  <c:v>85.850695695101024</c:v>
                </c:pt>
                <c:pt idx="346">
                  <c:v>86.341516643990971</c:v>
                </c:pt>
                <c:pt idx="347">
                  <c:v>86.818377235239055</c:v>
                </c:pt>
                <c:pt idx="348">
                  <c:v>87.281512364544895</c:v>
                </c:pt>
                <c:pt idx="349">
                  <c:v>87.73116223950565</c:v>
                </c:pt>
                <c:pt idx="350">
                  <c:v>88.167571696254171</c:v>
                </c:pt>
                <c:pt idx="351">
                  <c:v>88.590989544991189</c:v>
                </c:pt>
                <c:pt idx="352">
                  <c:v>89.001667944504334</c:v>
                </c:pt>
                <c:pt idx="353">
                  <c:v>89.39986180564317</c:v>
                </c:pt>
                <c:pt idx="354">
                  <c:v>89.785828223615582</c:v>
                </c:pt>
                <c:pt idx="355">
                  <c:v>90.159825938875102</c:v>
                </c:pt>
                <c:pt idx="356">
                  <c:v>90.522114826275313</c:v>
                </c:pt>
                <c:pt idx="357">
                  <c:v>90.872955412093319</c:v>
                </c:pt>
                <c:pt idx="358">
                  <c:v>91.212608418447743</c:v>
                </c:pt>
                <c:pt idx="359">
                  <c:v>91.541334334578607</c:v>
                </c:pt>
                <c:pt idx="360">
                  <c:v>91.859393014393532</c:v>
                </c:pt>
                <c:pt idx="361">
                  <c:v>92.167043299644376</c:v>
                </c:pt>
                <c:pt idx="362">
                  <c:v>92.464542668050157</c:v>
                </c:pt>
                <c:pt idx="363">
                  <c:v>92.752146905649596</c:v>
                </c:pt>
                <c:pt idx="364">
                  <c:v>93.030109802635351</c:v>
                </c:pt>
                <c:pt idx="365">
                  <c:v>93.298682871902443</c:v>
                </c:pt>
                <c:pt idx="366">
                  <c:v>93.558115089517443</c:v>
                </c:pt>
                <c:pt idx="367">
                  <c:v>93.808652656308269</c:v>
                </c:pt>
                <c:pt idx="368">
                  <c:v>94.050538779761595</c:v>
                </c:pt>
                <c:pt idx="369">
                  <c:v>94.284013475408415</c:v>
                </c:pt>
                <c:pt idx="370">
                  <c:v>94.509313386880464</c:v>
                </c:pt>
                <c:pt idx="371">
                  <c:v>94.726671623818049</c:v>
                </c:pt>
                <c:pt idx="372">
                  <c:v>94.936317616817732</c:v>
                </c:pt>
                <c:pt idx="373">
                  <c:v>95.138476988613817</c:v>
                </c:pt>
                <c:pt idx="374">
                  <c:v>95.333371440699324</c:v>
                </c:pt>
                <c:pt idx="375">
                  <c:v>95.521218654603516</c:v>
                </c:pt>
                <c:pt idx="376">
                  <c:v>95.702232207057051</c:v>
                </c:pt>
                <c:pt idx="377">
                  <c:v>95.876621498293389</c:v>
                </c:pt>
                <c:pt idx="378">
                  <c:v>96.044591692750814</c:v>
                </c:pt>
                <c:pt idx="379">
                  <c:v>96.206343671458185</c:v>
                </c:pt>
                <c:pt idx="380">
                  <c:v>96.362073995409858</c:v>
                </c:pt>
                <c:pt idx="381">
                  <c:v>96.511974879251568</c:v>
                </c:pt>
                <c:pt idx="382">
                  <c:v>96.656234174624387</c:v>
                </c:pt>
                <c:pt idx="383">
                  <c:v>96.795035362534108</c:v>
                </c:pt>
                <c:pt idx="384">
                  <c:v>96.928557554134414</c:v>
                </c:pt>
                <c:pt idx="385">
                  <c:v>97.056975499337952</c:v>
                </c:pt>
                <c:pt idx="386">
                  <c:v>97.180459602688956</c:v>
                </c:pt>
                <c:pt idx="387">
                  <c:v>97.299175945955653</c:v>
                </c:pt>
                <c:pt idx="388">
                  <c:v>97.413286316923205</c:v>
                </c:pt>
                <c:pt idx="389">
                  <c:v>97.522948243889886</c:v>
                </c:pt>
                <c:pt idx="390">
                  <c:v>97.628315035392248</c:v>
                </c:pt>
                <c:pt idx="391">
                  <c:v>97.729535824706119</c:v>
                </c:pt>
                <c:pt idx="392">
                  <c:v>97.826755618693355</c:v>
                </c:pt>
                <c:pt idx="393">
                  <c:v>97.920115350584823</c:v>
                </c:pt>
                <c:pt idx="394">
                  <c:v>98.009751936310153</c:v>
                </c:pt>
                <c:pt idx="395">
                  <c:v>98.095798334006687</c:v>
                </c:pt>
                <c:pt idx="396">
                  <c:v>98.178383606359105</c:v>
                </c:pt>
                <c:pt idx="397">
                  <c:v>98.257632985439784</c:v>
                </c:pt>
                <c:pt idx="398">
                  <c:v>98.333667939740906</c:v>
                </c:pt>
                <c:pt idx="399">
                  <c:v>98.406606243103894</c:v>
                </c:pt>
                <c:pt idx="400">
                  <c:v>98.476562045273056</c:v>
                </c:pt>
              </c:numCache>
            </c:numRef>
          </c:yVal>
          <c:smooth val="0"/>
          <c:extLst>
            <c:ext xmlns:c16="http://schemas.microsoft.com/office/drawing/2014/chart" uri="{C3380CC4-5D6E-409C-BE32-E72D297353CC}">
              <c16:uniqueId val="{00000003-6C55-442D-8CC0-6E06055C17CA}"/>
            </c:ext>
          </c:extLst>
        </c:ser>
        <c:ser>
          <c:idx val="4"/>
          <c:order val="4"/>
          <c:tx>
            <c:strRef>
              <c:f>Sheet1!$B$1613</c:f>
              <c:strCache>
                <c:ptCount val="1"/>
                <c:pt idx="0">
                  <c:v>grens</c:v>
                </c:pt>
              </c:strCache>
            </c:strRef>
          </c:tx>
          <c:spPr>
            <a:ln w="9525">
              <a:solidFill>
                <a:srgbClr val="0A2540"/>
              </a:solidFill>
              <a:prstDash val="dash"/>
            </a:ln>
          </c:spPr>
          <c:marker>
            <c:symbol val="none"/>
          </c:marker>
          <c:xVal>
            <c:numRef>
              <c:f>Sheet1!$A$1614:$A$1616</c:f>
              <c:numCache>
                <c:formatCode>General</c:formatCode>
                <c:ptCount val="3"/>
                <c:pt idx="0">
                  <c:v>13.17</c:v>
                </c:pt>
                <c:pt idx="1">
                  <c:v>13.17</c:v>
                </c:pt>
                <c:pt idx="2">
                  <c:v>13.17</c:v>
                </c:pt>
              </c:numCache>
            </c:numRef>
          </c:xVal>
          <c:yVal>
            <c:numRef>
              <c:f>Sheet1!$B$1614:$B$1616</c:f>
              <c:numCache>
                <c:formatCode>General</c:formatCode>
                <c:ptCount val="3"/>
                <c:pt idx="0">
                  <c:v>0</c:v>
                </c:pt>
                <c:pt idx="1">
                  <c:v>5</c:v>
                </c:pt>
                <c:pt idx="2">
                  <c:v>100</c:v>
                </c:pt>
              </c:numCache>
            </c:numRef>
          </c:yVal>
          <c:smooth val="0"/>
          <c:extLst>
            <c:ext xmlns:c16="http://schemas.microsoft.com/office/drawing/2014/chart" uri="{C3380CC4-5D6E-409C-BE32-E72D297353CC}">
              <c16:uniqueId val="{00000004-6C55-442D-8CC0-6E06055C17CA}"/>
            </c:ext>
          </c:extLst>
        </c:ser>
        <c:ser>
          <c:idx val="5"/>
          <c:order val="5"/>
          <c:tx>
            <c:strRef>
              <c:f>Sheet1!$B$1618</c:f>
              <c:strCache>
                <c:ptCount val="1"/>
                <c:pt idx="0">
                  <c:v>punt 3</c:v>
                </c:pt>
              </c:strCache>
            </c:strRef>
          </c:tx>
          <c:spPr>
            <a:ln>
              <a:noFill/>
            </a:ln>
          </c:spPr>
          <c:marker>
            <c:symbol val="circle"/>
            <c:size val="8"/>
            <c:spPr>
              <a:solidFill>
                <a:srgbClr val="1D8DB0"/>
              </a:solidFill>
              <a:ln w="19050">
                <a:solidFill>
                  <a:srgbClr val="F2F6F9"/>
                </a:solidFill>
              </a:ln>
            </c:spPr>
          </c:marker>
          <c:xVal>
            <c:numRef>
              <c:f>Sheet1!$A$1619:$A$1619</c:f>
              <c:numCache>
                <c:formatCode>General</c:formatCode>
                <c:ptCount val="1"/>
                <c:pt idx="0">
                  <c:v>13.17</c:v>
                </c:pt>
              </c:numCache>
            </c:numRef>
          </c:xVal>
          <c:yVal>
            <c:numRef>
              <c:f>Sheet1!$B$1619:$B$1619</c:f>
              <c:numCache>
                <c:formatCode>General</c:formatCode>
                <c:ptCount val="1"/>
                <c:pt idx="0">
                  <c:v>98.104210515748193</c:v>
                </c:pt>
              </c:numCache>
            </c:numRef>
          </c:yVal>
          <c:smooth val="0"/>
          <c:extLst>
            <c:ext xmlns:c16="http://schemas.microsoft.com/office/drawing/2014/chart" uri="{C3380CC4-5D6E-409C-BE32-E72D297353CC}">
              <c16:uniqueId val="{00000005-6C55-442D-8CC0-6E06055C17CA}"/>
            </c:ext>
          </c:extLst>
        </c:ser>
        <c:ser>
          <c:idx val="6"/>
          <c:order val="6"/>
          <c:tx>
            <c:strRef>
              <c:f>Sheet1!$B$1621</c:f>
              <c:strCache>
                <c:ptCount val="1"/>
                <c:pt idx="0">
                  <c:v>punt 2</c:v>
                </c:pt>
              </c:strCache>
            </c:strRef>
          </c:tx>
          <c:spPr>
            <a:ln>
              <a:noFill/>
            </a:ln>
          </c:spPr>
          <c:marker>
            <c:symbol val="circle"/>
            <c:size val="8"/>
            <c:spPr>
              <a:solidFill>
                <a:srgbClr val="FF7A00"/>
              </a:solidFill>
              <a:ln w="19050">
                <a:solidFill>
                  <a:srgbClr val="F2F6F9"/>
                </a:solidFill>
              </a:ln>
            </c:spPr>
          </c:marker>
          <c:xVal>
            <c:numRef>
              <c:f>Sheet1!$A$1622:$A$1622</c:f>
              <c:numCache>
                <c:formatCode>General</c:formatCode>
                <c:ptCount val="1"/>
                <c:pt idx="0">
                  <c:v>13.17</c:v>
                </c:pt>
              </c:numCache>
            </c:numRef>
          </c:xVal>
          <c:yVal>
            <c:numRef>
              <c:f>Sheet1!$B$1622:$B$1622</c:f>
              <c:numCache>
                <c:formatCode>General</c:formatCode>
                <c:ptCount val="1"/>
                <c:pt idx="0">
                  <c:v>11.981029688055258</c:v>
                </c:pt>
              </c:numCache>
            </c:numRef>
          </c:yVal>
          <c:smooth val="0"/>
          <c:extLst>
            <c:ext xmlns:c16="http://schemas.microsoft.com/office/drawing/2014/chart" uri="{C3380CC4-5D6E-409C-BE32-E72D297353CC}">
              <c16:uniqueId val="{00000006-6C55-442D-8CC0-6E06055C17CA}"/>
            </c:ext>
          </c:extLst>
        </c:ser>
        <c:dLbls>
          <c:showLegendKey val="0"/>
          <c:showVal val="0"/>
          <c:showCatName val="0"/>
          <c:showSerName val="0"/>
          <c:showPercent val="0"/>
          <c:showBubbleSize val="0"/>
        </c:dLbls>
        <c:axId val="-2128940872"/>
        <c:axId val="-2129643912"/>
      </c:scatterChart>
      <c:valAx>
        <c:axId val="-2128940872"/>
        <c:scaling>
          <c:orientation val="minMax"/>
          <c:max val="20"/>
          <c:min val="0"/>
        </c:scaling>
        <c:delete val="0"/>
        <c:axPos val="b"/>
        <c:numFmt formatCode="0" sourceLinked="0"/>
        <c:majorTickMark val="none"/>
        <c:minorTickMark val="none"/>
        <c:tickLblPos val="low"/>
        <c:spPr>
          <a:ln>
            <a:solidFill>
              <a:srgbClr val="D3DFE8"/>
            </a:solidFill>
          </a:ln>
        </c:spPr>
        <c:txPr>
          <a:bodyPr/>
          <a:lstStyle/>
          <a:p>
            <a:pPr>
              <a:defRPr sz="1200" b="0">
                <a:solidFill>
                  <a:srgbClr val="5A6E80"/>
                </a:solidFill>
                <a:latin typeface="Segoe UI"/>
              </a:defRPr>
            </a:pPr>
            <a:endParaRPr lang="nl-BE"/>
          </a:p>
        </c:txPr>
        <c:crossAx val="-2129643912"/>
        <c:crosses val="autoZero"/>
        <c:crossBetween val="midCat"/>
        <c:majorUnit val="6"/>
      </c:valAx>
      <c:valAx>
        <c:axId val="-2129643912"/>
        <c:scaling>
          <c:orientation val="minMax"/>
          <c:max val="100"/>
          <c:min val="0"/>
        </c:scaling>
        <c:delete val="0"/>
        <c:axPos val="l"/>
        <c:majorGridlines>
          <c:spPr>
            <a:ln w="9525">
              <a:solidFill>
                <a:srgbClr val="D3DFE8"/>
              </a:solidFill>
            </a:ln>
          </c:spPr>
        </c:majorGridlines>
        <c:numFmt formatCode="0&quot;%&quot;" sourceLinked="0"/>
        <c:majorTickMark val="none"/>
        <c:minorTickMark val="none"/>
        <c:tickLblPos val="nextTo"/>
        <c:spPr>
          <a:ln>
            <a:noFill/>
          </a:ln>
        </c:spPr>
        <c:txPr>
          <a:bodyPr/>
          <a:lstStyle/>
          <a:p>
            <a:pPr>
              <a:defRPr sz="1200" b="0">
                <a:solidFill>
                  <a:srgbClr val="5A6E80"/>
                </a:solidFill>
                <a:latin typeface="Segoe UI"/>
              </a:defRPr>
            </a:pPr>
            <a:endParaRPr lang="nl-BE"/>
          </a:p>
        </c:txPr>
        <c:crossAx val="-2128940872"/>
        <c:crosses val="autoZero"/>
        <c:crossBetween val="midCat"/>
        <c:majorUnit val="25"/>
      </c:valAx>
      <c:spPr>
        <a:noFill/>
        <a:ln>
          <a:noFill/>
        </a:ln>
      </c:spPr>
    </c:plotArea>
    <c:plotVisOnly val="1"/>
    <c:dispBlanksAs val="gap"/>
    <c:showDLblsOverMax val="0"/>
  </c:chart>
  <c:spPr>
    <a:noFill/>
    <a:ln>
      <a:noFill/>
    </a:ln>
  </c:spPr>
  <c:txPr>
    <a:bodyPr/>
    <a:lstStyle/>
    <a:p>
      <a:pPr>
        <a:defRPr sz="1200">
          <a:solidFill>
            <a:srgbClr val="5A6E80"/>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8484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Welkom op de eerste officiële meeting van PARADISE: de kick-off van de studie. PARADISE staat voor Towards Pressure-Adherence and Education Driven Service in Diabetic Foot Disease; onthoud vooral die drie woorden: de druk, het dragen en de educatie. De zes centra: AZ Sint-Jan in Brugge, AZ Groeninge in Kortrijk, UZ Gent, AZORG in Aalst, UZ Antwerpen en UZ Leuven. We volgen de agenda die u vooraf kreeg.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Vandaag vertellen we het verhaal van PARADISE in zeven delen, en elk deel beantwoordt één vraag. Waar staan we vandaag? Wat ligt sinds april vast? Wat verandert er in uw kliniek? Wat moet er nog gebeuren? Hoe geraken we tot de eerste patiënt, eind februari? Wat vragen we van u? En dan is het uw beurt. De meeste tijd gaat naar deel 2, de twee normen, naar deel 5, de planning, en naar de bespreking.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Deel 1: Stand van zaken. Eerst waar we vandaag staan: de studie in één beeld, de goedkeuring per centrum en het materiaal dat bij u staat.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 herinnering: 144 deelnemers, 24 per voetkliniek, twaalf in elke arm: Optimal Care, de PARADISE-zorg, en Usual Care, de gebruikelijke zorg. Elke deelnemer wordt achttien maanden gevolgd, met één primair eindpunt: het voetulcusrecidief over die achttien maanden. De PI loot per centrum met verzegelde enveloppen, na bevestigde geschiktheid en toestemming. Blijft één centrum achter, dan loopt de hele studie uit: vandaar het tempo dat we straks vragen. Op de kaart ook uw contactpersoon: Janou De Buyser, PhD A, voor Brugge, Gent en Kortrijk; PhD B voor Aalst, Leuven en Antwerpen.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Drie nieuwe namen in het studieteam. Janou De Buyser, doctoraatsonderzoeker, PhD A: uw contactpersoon in Brugge, Gent en Kortrijk; hij doet de procesevaluatie in Leuven, Aalst en Antwerpen, en geeft de theorie, de technologie, de datacollectie en de droogloop. PhD B, nog te selecteren, wordt de contactpersoon in Aalst, Leuven en Antwerpen en doet de procesevaluatie in Brugge, Gent en Kortrijk. Zo evalueert nooit wie uw dagelijkse contactpersoon is. Gillian Debra is labmanager en neemt het trial master file, de ethische comités en het FAGG op zich.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ethische goedkeuring is het kritieke pad: zonder alle goedkeuringen geen piloot en geen eerste patiënt. Bovenaan wat voor de hele studie geldt: de centrale ethische commissie van UZ Leuven en het FAGG. Daaronder de stand bij het Clinical Trial Center van elk ziekenhuis. UZ Leuven is goedgekeurd; in Kortrijk, Brugge en Antwerpen ligt het volledige dossier bij externe diensten; Gent verwerkte een eerste feedback; AZORG heeft geen CTC en wacht op de andere centra. Geen enkel centrum includeert vóór alle goedkeuringen binnen zijn; opleiden kan wel.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Het materiaal per centrum. De Novel pedar, met laptop, router en twee zenders, is geïnstalleerd in Brugge, onderweg naar Gent en Aalst, en aanwezig maar nog niet geïnstalleerd in Kortrijk, Leuven en Antwerpen. In Leuven zijn we met de installatie van de Novel pedar en de MoveMonitors bezig. De MoveMonitors zijn bijna overal aanwezig; de Orthotimers zijn in Leuven geïnstalleerd en elders aanwezig. Alles hoort geïnstalleerd te zijn vóór uw technologiesessie in december.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 deel twee: wat er sinds 1 april vastligt.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Deel 2: Ontwikkelingen sinds 1 april 2026. Sinds de meeting van 1 april is er veel vastgelegd. Het belangrijkste gaat over de eerste twee woorden van de naam, de druk en het dragen: voor elk is er nu een norm die de zorg in Optimal Care stuurt.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Zes punten die sinds 1 april vastliggen. De drukmeting: de Novel pedar is het klinische toestel, altijd in de schoen, nooit blootsvoets; de F-Scan GO gebruikt alleen het studieteam, om beide toestellen te vergelijken. Het eindpunt: sinds 3 september één primair eindpunt, het recidief over achttien maanden; therapietrouw wordt volledig gemeten, als mediator. De kern: twee normen sturen de zorg in Optimal Care, voor de druk en voor het dragen; die volgen zo meteen. De CMFO: de opbouw hangt af van het schoentype, en zodra de druknorm gehaald is, volgt een identiek tweede paar. De data: REDCap staat klaar, u werkt op papier en wij voeren in. En de rekrutering: twaalf maanden, niet de achttien van de aanvraag; waarom, ziet u in deel 5.</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Beide armen krijgen dezelfde zool: een drukherverdelende maatzool met dezelfde opbouw, voetzorg en screening om de drie maanden, een draagsensor in de zool en één week MoveMonitor bij de start. Het verschil zit in wat er met de metingen gebeurt. In Optimal Care sturen twee normen de zorg. Eerst de druk. De pedar meet in elke sessie twee keer, zonder en mét de zool, op visite 2 en op maand 6, 12 en 18, op de doelregio's: de vorige ulcuslocatie, en per voet de twee voor- of middenvoetregio's met de hoogste piekdruk boven 200 kilopascal, zoals in de DIAFOS-studie van Bus en collega's. De norm: mét de zool onder 200 kilopascal, óf minstens 25 procent lager dan zonder zool in diezelfde sessie; één van beide volstaat. Zo niet, dan wordt de zool aangepast en opnieuw mét gemeten, tot drie keer; zodra de norm gehaald is, volgt een identiek tweede paar. In Usual Care wordt de druk alleen bij de start en op maand 6 gemeten, geblindeerd: het scherm wordt niet getoond, de waarden niet besproken, en de zool wordt er niet op aangepast.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Samen: twee normen sturen de zorg in Optimal Care, de druk en het dragen. In Usual Care is het dezelfde zool en dezelfde opvolging, maar de metingen blijven geblindeerd, en de druk wordt alleen bij de start en op maand 6 gemeten: niet getoetst, niet besproken, geen feedback, en educatie zoals vandaag met hetzelfde boekje. Omdat dezelfde podologen in beide armen werken, is dat de belangrijkste afspraak: geen SEBIA-technieken en geen gesprek over druk of draagtijd in Usual Care.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CMFO die beide armen krijgen, laag per laag, van onder naar boven, de dikte is op schaal. Onderaan vijf millimeter microkurk of EVA shore 50: die laag zit alleen in een volledig op maat gemaakte schoen. Daarop EVA, shore 35 tot 40: vijf millimeter in een maatschoen, zes millimeter zonder die onderlaag in een confectieschoen en in semi-orthopedisch schoeisel. Op de EVA, in oranje, het deel dat de druk verplaatst: de metatarsaalbalk, negen tot tien millimeter hoog, in EVA, kurk of een gelijkwaardig materiaal van ongeveer shore 55, zes tot elf millimeter proximaal van de metatarsaalkopjes; ligt maar één regio hoog, of zat daar het vorige ulcus, dan volstaat een lokale pad, en waar nodig komen er bijkomende uitsparingen bij. Daarover de deklaag, over de volledige lengte: drie millimeter open-cellig dempend schuim, bijvoorbeeld PPT, en bovenaan, in goud, drie millimeter gesloten-cellig schuim, bijvoorbeeld Plastazote LD45. Andere materialen met vergelijkbare eigenschappen mogen, als ze op eCRF 23 staan. Samen is dat zestien millimeter in een maatschoen en twaalf in confectie of semi-orthopedisch schoeisel, plus de balk van negen tot tien millimeter: dat is veel voor een schoen. De schoen moet dus adequaat zijn, met voldoende diepte. De pasvorm wordt apart beoordeeld in het binnen- én het buitenschoeisel, met foto's. Wat de zool en de balk doen, ziet u op de volgende dia.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Wat de zool en de balk doen, op één voet. Links de druk zonder zool, met schoen: een rode piek onder de metatarsaalkopjes, en onder de hallux. Met zool 1, een Total Contact Zool, draagt de middenvoet mee en wordt de piek kleiner. Zool 2 krijgt een RCTB van 6 millimeter, zool 3 een van 9: bij elke aanpassing zakt de piek onder de kopjes verder, en de druk verschuift naar de balk erachter. Zo werkt het ook in de studie: meten zonder en mét de zool, en aanpassen waar de norm niet gehaald wordt, tot drie keer. Hoe de zool gemaakt wordt, ziet u op de volgende dia.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Hoe de zool gemaakt wordt. De voetafdruk neemt de pedorthist manueel of met een 3D-scan. De zool wordt thermoplastisch gevormd of met CNC gefreesd. Welke weg ook: de opbouw laag per laag blijft dezelfde, en de pasvorm wordt beoordeeld in het binnen- én het buitenschoeisel, met foto's, op eCRF 23.</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Welke schoenen zijn toegelaten? We specifiëren het nog eens goed. Als buitenschoen: een goedgekeurde confectieschoen, een semi-orthopedische schoen of een orthopedische schoen. Hetzelfde geldt voor het binnenschoeisel. Heeft de patiënt maar één paar schoenen dat aan de criteria voldoet, dan moet dat paar ook in huis gedragen worden. De goedgekeurde buiten- en binnenschoenen worden gedocumenteerd, met foto's en een beschrijving. En in deze schoenen moet er altijd plaats zijn voor de opgelegde zooltherapie. Dan het tweede woord van de naam: het dragen.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draagnorm, met een voorbeeldpatiënt. Bij de start draagt de patiënt één week de MoveMonitor; daaruit halen we de slaaptijd en dus de waaktijd, hier 15,5 uur. De norm is tachtig procent daarvan, hier 12,4 uur per dag, alle zeven dagen; die zetten we in de Orthotimer, die meet hoeveel uur het schoeisel echt aan was en elk kwartaal wordt uitgelezen. Voor de patiënt is het één boodschap: u draagt uw schoenen altijd, van het moment dat u opstaat tot u gaat slapen. Nieuw: de meetweek op maand zes vervalt, en daarmee een contact per patiënt.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Waar komt die grens van 80% eigenlijk vandaan? Die gaat terug op de DIAFOS-studie van Bus en collega’s uit 2013. De onderzoekers kozen deze grens vooraf, omdat ze de patiënten zo in twee even grote groepen konden verdelen. Het was dus in eerste instantie een statistische keuze. Achteraf bleek die grens ook klinisch relevant: bij patiënten die hun voorgeschreven drukverlagend schoeisel minstens 80% van de tijd droegen, trad een recidief op bij 25,7%, tegenover 47,8% bij patiënten in de gebruikelijke zorg.Maar er is een belangrijke nuance. Want wat bedoelen we precies met 80% therapietrouw? Waaijman en collega’s onderzochten bij 107 patiënten het draaggedrag en berekenden de therapietrouw op twee manieren. Wanneer ze keken naar het aantal stappen, droegen patiënten hun voorgeschreven schoenen bij 71% van de stappen. Wanneer ze datzelfde gedrag uitdrukten als percentage van een veronderstelde waakdag van zestien uur, daalde dat cijfer tot 59%.Met andere woorden: 80% van de stappen is niet hetzelfde als 80% van de dag. Daarom kiest PARADISE ervoor om de draagduur uit te drukken in uren, op basis van de individueel gemeten waaktijd. Ook het onderzoek van Jarl en collega’s uit 2023, met onze meettoestellen, ondersteunt het gebruik van draaguren als maat voor therapietrouw.Zo komen we tot een duidelijke keuze voor PARADISE: we meten therapietrouw op basis van de objectief geregistreerde draagduur, uitgedrukt als percentage van de gemeten waaktijd.Referenties: Bus e.a., Diabetes Care 2013;36:4109–16. Waaijman e.a., Diabetes Care 2013;36:1613–8. Jarl e.a., Sensors 2023;23:1648.</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Deel drie: wat er in uw kliniek verandert.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Deel 3: Werkpakketten. Dan wat dat concreet betekent in uw kliniek: hoe een patiënt de studie doorloopt, het gesprek op elke visite, dat is de educatie uit de naam, en hoe uw team het leert; de procesevaluatie en de gezondheidseconomie; wie in aanmerking komt, en wat er gebeurt bij een nieuwe wonde.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vijf werkpakketten, zoals op 1 april voorgesteld. WP1 is de studie zelf: de opleiding, de piloot en de Go/No-Go, en de inclusie. WP2, de procesevaluatie onder Maaike Fobelets: opnames en observaties van PARADISE-sessies, het dagboek van de therapeut, interviews, en de fidelity van SEBIA. WP3, de gezondheidseconomie onder Koen Putman: levenskwaliteit, zorggebruik en productiviteit, met vragenlijsten en een dagboek dat wij telefonisch bevragen. WP4, project- en databeheer onder Kevin Deschamps: REDCap, ManGO en de overlegorganen. WP5: website, publicaties en communicatie; dat is vandaag niet de focus, op de volgende meeting komen we met een plan van aanpak.</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Het hele traject op één blad. De arts screent en vraagt toestemming; op visite 0 wordt de geschiktheid bevestigd en loot de PI. Visite 1 is de baseline, visite 2 de aflevering van de zool, tussen 14 dagen en een maand later, en daarna elke drie maanden tot maand 18: het ritme van de controle die deze patiënten al krijgen. De drukmeting: op visite 1 alleen zonder zool; op visite 2 en op maand 6, 12 en 18 zonder en mét, binnen dezelfde sessie vergeleken. De MoveMonitor gaat één week mee bij de start. De Orthotimer gaat op visite 2 in de zool en wordt elke visite uitgelezen. Op visite 1 en vanaf visite 3 volgt de voet- en schoeiselscreening. De vragenlijsten vult de patiënt op papier in de wachtzaal in, en uw team kijkt ze na; welke wanneer, overlopen we in de sessie datacollectie op 12 januari. Het kostendagboek vragen wij telefonisch op. Dan hetzelfde traject in Usual Care.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Hetzelfde traject in Usual Care, met in oranje wat anders is. Dezelfde visites, dezelfde screening, dezelfde vragenlijsten en hetzelfde kostendagboek; ook de MoveMonitor bij de start en de Orthotimer in de zool. Drie verschillen. De druk wordt alleen gemeten op visite 1 en op maand 6, en geblindeerd: met een drempel van 50 kilopascal en de waarden uitgezet, zonder het scherm te tonen of de waarden te bespreken, en zonder de zool erop aan te passen. De Orthotimer wordt uitgelezen, maar zonder terugkoppeling aan de patiënt. En er is geen SEBIA: voetzorg en educatie zoals vandaag. Omdat dezelfde podologen in beide armen werken, is dat de belangrijkste afspraak.</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SEBIA-interventie, in Optimal Care, zoals Fabienne Dobbels ze opbouwt, heeft twee componenten. Links de diabetesvoetzorg, via educatie en skills training: kennis van goede voetzorg, het uitvoeren van goede voetzorg, en kennis van het belang van aangepast schoeisel en zolen. Rechts de therapietrouw met het dragen van aangepast schoeisel en zolen: eerst de therapietrouw monitoren, dan ze verbeteren, door het belang en de motivatie te verhogen en de barrières voor therapietrouw aan te pakken. Wat daarvan op welke visite aan bod komt, ziet u op de volgende dia.</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inhoud van de studievisites, zoals Fabienne Dobbels ze opbouwt. Op de eerste twee visites ligt de focus op educatie. Visite 1, de baseline: mondelinge educatie over voetzorg, een demonstratie van goede voetzorg, en uitleg over de activity monitor. Visite 2, tussen dag 14 en maand 1: de kennis van de voetzorg evalueren op basis van de NAFF, met re-educatie waar nodig, educatie over het belang van zolen en gepaste schoenen dragen, en uitleg over het doel van de sensor in de zolen. Op maand 3, 9 en 15 ligt de focus op therapietrouw: feedback op de therapietrouw op basis van de sensor, en therapietrouwverhogende interventies. Op maand 6 en 12 komen beide samen: daar worden ook de vaardigheden voetzorg geëvalueerd, en de nood aan bijkomende kennis op basis van de NAFF. Op maand 18 volgt een afrondend gesprek, zonder feedback of nieuwe interventies. Hoe uw podologen dat leren, ziet u op de volgende dia.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trainingssessies van Fabienne Dobbels, van de groep naar de eigen praktijk. Sessie 1 en 2, kennis en vaardigheden, vier uur in groep in januari: de inhoud van de educatie, de principes van goede educatie, de aanpak om goede voetzorg te demonstreren, en het gebruik van de vragenlijsten bij de educatie, met oefeningen. Sessie 3 en 4, therapietrouw bevorderen, vier uur in groep begin maart: feedback op de therapietrouw op basis van de sensor, communicatieprincipes, de motivatie inschatten en bespreken, en de correcte therapietrouwinterventies kiezen, weer met oefeningen. Daarna, individueel: in sessie 5 oefent elke podoloog SEBIA in aan de hand van het script, anderhalf uur in uw centrum tussen 20 en 30 april, en sessie 6 is een intervisie van een uur, online, in het najaar van 2027. De data per centrum ziet u bij de planning.</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WP2, de procesevaluatie, onder leiding van Maaike Fobelets van de VUB. Wat ze inhoudt: een bevraging van managers en therapeuten, opnames en observaties van PARADISE-sessies, het dagboek van de therapeut in Optimal Care, en de fidelity van SEBIA: wordt het gegeven zoals bedoeld? De twee doctorandi wisselen daarbij van rol. Wie uw contactpersoon is, evalueert een ander centrum: Janou De Buyser, PhD A, evalueert Leuven, Aalst en Antwerpen; PhD B evalueert Brugge, Gent en Kortrijk. Zo blijft de evaluatie onafhankelijk van de dagelijkse begeleiding.</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WP3, de gezondheidseconomie, onder Koen Putman van de VUB: levenskwaliteit, zorggebruik en productiviteit. De levenskwaliteit, met de EQ-5D-5L, bij de start en vanaf maand 3 op elke visite; het zorggebruik en de productiviteit, met de vragenlijsten van het iMTA, vanaf maand 3 op elke visite. De patiënt vult ze op papier in de wachtzaal in, uw team kijkt ze na en wij voeren ze in. Daarnaast het kostendagboek, dat wij telefonisch bevragen: bij de start één volledig overzicht van medicatie, thuiszorg en zorgcontacten, tot maand 3 om de twee weken een kort dagboekje over de andere kosten, en daarna per studiebezoek tot maand 18 alleen wat veranderd is. Uw team hoeft daarvoor niets te doen.</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Links wie in aanmerking komt, met een ezelsbruggetje: VOETEN. Vaten stabiel: PEDIS-graad 1 of 2, naar oordeel van de arts. Onlangs een voetwonde: IWGDF-risico 3, met een genezen plantair ulcus, een teen- of halluxamputatie, of een resectie van één of meer metatarsaalkopjes, tussen twee weken en achttien maanden geleden. Eigen stappen, zonder hulpmiddel. Type 1 of 2. Echt beschermend schoeisel, of bereid om over te schakelen: alle drie de schoeiselsituaties komen in aanmerking. Nederlands en volwassen. Rechts wie niet. Drie punten worden het vaakst gemist. Een resectie van de eerste metatarsaalkop komt wél in aanmerking; alleen een amputatie proximaal van de MTP-gewrichten sluit uit. Een enkel-voetorthese sluit uit, want de druksensoren passen er niet in. En wie de draagsensor weigert, valt af: zonder sensor geen draagtijd. De arts screent en vraagt de toestemming.</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Het belangrijkste gegeven van de studie is het voetulcusrecidief, en dat stelt u vast. Wat telt: een nieuw ulcus, op dezelfde of een andere plek. Op elke visite worden beide voeten gescreend, plantair én dorsaal. Het team stelt het ulcus vast tegen vooraf vastgelegde criteria en op foto's, op dezelfde manier in beide armen, los van de toewijzing. Wat u doet. Eén: verwittig meteen de investigator. Twee: foto's, verzorgen, en klasseren met PEDIS en WIfI, eCRF 36 en 38. Drie: de investigator laadt alles geanonimiseerd op, en een aangeduide arts per centrum beoordeelt de foto's. Vier: bij elk vervolgcontact noteert u de genezing met eCRF 47, tot genezing, amputatie of overlijden. Vijf: een ernstig ongewenst voorval, zoals een opname, meldt u binnen 72 uur aan de sponsor, met eCRF 46. En het belangrijkste: het eindpunt is geen einde. De deelnemer blijft tot maand 18 in opvolging, in de arm waarin hij geloot werd; wie na een wonde uitvalt, ontbreekt in de analyse.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Deel vier: wat er nog moet gebeuren.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Deel 4: Aandachtspunten. Wat er nog moet gebeuren vóór we kunnen starten, in de volgorde waarin het klaar moet zijn.</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Zes punten die klaar moeten zijn vóór de start, in die volgorde. De eerste vier zag u in deel 1 of komen in deel 5 terug: de ethische goedkeuring, de toestellen, de opleiding, en de droogloop en de piloot. Twee punten zijn nieuw. Vijf: het voorbereidend materiaal voor SEBIA, zoals de one-pager voor de patiënt; zodra die klaar is, leggen we hem u ter goedkeuring voor. Het SEBIA-script zelf is uitgewerkt en krijgt nog een laatste lezing; daarover hoeft u niet te beslissen. Zo sluit het materiaal aan op de componenten en de visites die u daarnet zag. Zes: een aparte toestemming voor de opnames en observaties van de procesevaluatie in het toestemmingsformulier, eCRF 02.</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Deel vijf: hoe we tot de eerste patiënt geraken, eind februari.</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Deel 5: Mijlpalen en planning. Hoe we van vandaag tot de eerste patiënt eind februari geraken, en wat het tempo van de inclusie van uw team vraagt.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grote lijnen. De opleidingen lopen van november tot april. Op 23 februari beslist de Executive Board na de piloot over Go of No-Go, en meteen daarna start de inclusie. Twaalf maanden inclusie geeft 144 gerandomiseerde deelnemers eind februari 2028; met achttien maanden opvolging valt de laatste visite eind augustus 2029. De geplande laatste visite is september 2029; achttien maanden terug is eind maart 2028 de uiterste datum voor de laatste inclusie: één maand marge. Eerst zoomen we in op de opleiding, daarna op het tempo van de inclusie.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opleiding, van november tot april; een bolletje is een sessie, een balk een reeks, en de kleur zegt waar. Online en opgenomen: het info draaiboek, de theorie, op 10 en 24 november, gezondheidseconomie en procesevaluatie op 8 december, en datacollectie en vragenlijsten op 12 januari, na een zelftest waarbij elk centrum de vragenlijsten eens zelf invult. Ter plaatse in uw centrum: de technologie in december en de droogloop eind januari. SEBIA geeft Fabienne Dobbels, overdag en in drie groepen: 1 en 2 in januari, 3 en 4 begin maart, het inoefenen met het script, in uw centrum tussen 20 en 30 april, en in het najaar van 2027 een online intervisie. Zo zit alles vóór de eerste gesprekken over de draagtijd, eind mei. Artsen volgen alleen de theorie; de twee pedorthisten komen naar de theorie van de technologie. De praktijksessies worden niet opgenomen: daar is aanwezigheid nodig.</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 centrum de voorgestelde data. SEBIA in drie groepen: Kortrijk met de eerste podoloog van Brugge; groep Oost met Aalst, Leuven, Antwerpen en de tweede podoloog van Brugge; en Gent in het eigen centrum, waarvoor de droogloop van Gent naar 21 januari schuift. SEBIA 3 en 4 zijn een voorstel, op de data die mevrouw Dobbels aanbood; de eerste podoloog van Brugge gaf alleen de woensdag op en moet maandag 1 maart nog bevestigen. SEBIA 3 en 4 krijgen één inhaalmoment, maandag 8 maart. SEBIA 5 geeft mevrouw Dobbels in uw eigen centrum, tussen 20 en 30 april; ook die dag is een voorstel, op een dag dat uw podologen er zijn. de inhaalmomenten in de laatste kolom horen bij de droogloop. Lukt een datum niet, dan staat op de fiche van uw centrum een optie B. Graag uw antwoord tegen vrijdag 16 oktober; daarna ligt de kalender vast. Vragen of opmerkingen over uw data: mail naar janou.debuyser@kuleuven.be.</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Terug naar de tijdlijn. Na de opleiding de inclusie zelf: hoe snel, en wat dat van uw team vraagt.</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vragen elk centrum drie inclusies per maand. Waarom drie, als twee gemiddeld volstaat? Omdat patiënten niet op regelmatige tijdstippen binnenkomen. De curve toont de kans dat een centrum zijn 24 binnen twaalf maanden haalt. Aan twee per maand is dat een muntworp, 53 procent; aan drie per maand 99 procent: de derde patiënt is de marge. De studie is pas rond als het traagste centrum klaar is: dat alle zes het halen, is aan drie per maand 92 procent, aan twee per maand amper 2 procent. Het model rekent met een vast tempo vanaf de eerste maand; een trage start of een zomer aan halve kracht kost al snel een maand. Ook daarom drie, en niet twee. Wat dat tempo van uw team vraagt, ziet u op de volgende dia.</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Wat het tempo van uw team vraagt, per maand, in kleur per visite. Links ons voorstel, drie per maand: 14 uur per maand zolang de inclusie loopt, en de laatste visite rond juni 2029. In het midden en rechts achttien maanden inclusie, aan twee of anderhalve patiënt per maand: per maand iets minder, rond elf en tien uur, maar het duurt langer. In totaal is het overal 300 uur per centrum, want elke patiënt krijgt dezelfde visites. Het verschil zit in het einde: aan twee per maand valt de laatste visite rond november 2029, aan anderhalve rond april 2030, na de geplande laatste visite van september 2029, en dan blijft er geen tijd voor de verwerking. Dit zijn medianen uit de simulatie; volgens plan is de laatste visite eind augustus 2029. De uren: twee per visite in Optimal Care, één in Usual Care, twee bij de start.</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Deel zes: de bespreking, en wat we van u vragen.</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Deel 6: Bespreking. Wat we vandaag van u vragen, en twee punten waarover we uw mening willen.</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Het logo van PARADISE, zoals het nu in alle materiaal staat: de voet als drukbeeld, van koel naar warm, met de P die erin zit. Links het volledige logo op een lichte achtergrond, zoals op de formulieren en het patiëntenmateriaal; rechts het symbool alleen, voor klein formaat. In het midden is er ruimte voor een nieuw idee, dat we samen kunnen uitwerken. Dit is de eerste officiële meeting, dus we vragen uw akkoord: gebruiken we dit logo overal, of wilt u iets aangepast zien?</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Links wat we van elk centrum vragen. Eén: drie inclusies per maand, vanaf de start na de Go/No-Go. Twee: de fiche uit uw opleidingsdocument terug tegen vrijdag 16 oktober: de data bevestigen en, waar er twee zijn, optie A of B kiezen. Drie: wie deelneemt aan de opleidingen, podologen, verpleegkundigen en artsen. Vier: de drukmeting geïnstalleerd vóór uw technologiesessie. Vijf: mail voor alles over PARADISE naar paradise-tbm@kuleuven.be. Rechts een punt waarover we uw mening vragen: twaalf maanden inclusie in plaats van achttien. Dat kost uw team evenveel uren, alleen sneller; met achttien maanden valt de laatste visite in 2030, en dan blijft er geen tijd voor de verwerking.</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tot slot deel zeven: de tour de table, en wat nu volgt.</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Deel 7: Tour de table. Dan uw beurt: een korte ronde per centrum, en daarna wat nu volgt.</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Een ronde per centrum.</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 los van de studie zelf, iets uit WP5. Kortrijk Kerngezond loopt van 16 tot 24 oktober in K in Kortrijk: zes dagen zorginnovatie. PARADISE is er op 16 oktober, samen met AZ Groeninge en KU Leuven Campus Brugge, met een korte demonstratie van hoe je de druk onder een voet meet, een stand en een animatievideo. We zeggen er eerlijk bij dat er nog geen resultaten zijn: we tonen hoe we meten. Wilt u ook in uw stad of ziekenhuis iets tonen, laat het ons weten. Disseminatie is vandaag verder niet de focus: op de volgende meeting komen we met een plan van aanpak.</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Tot slot wat nu volgt. Tegen vrijdag 16 oktober uw fiche terug. Op dinsdag 10 november start het info draaiboek, online. In december komen we in uw centrum voor de technologie, in januari voor de droogloop. Op 23 februari beslist de Executive Board na de piloot over Go of No-Go, en dan volgt de eerste patiënt. Daarna drie inclusies per maand, in elk centrum, en de inclusie is binnen het jaar rond. Dank u.</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stand in vier punten. De ethische goedkeuring is het kritieke pad, want nergens wordt geïncludeerd vóór alle goedkeuringen binnen zijn. De drukmeetsystemen, de Novel pedar, zijn geleverd en worden centrum per centrum geïnstalleerd. De REDCap-databank staat klaar: u vult papieren formulieren in, het studieteam voert ze in, u voert zelf niets in. De opleidingsplanning ligt klaar, van 10 november tot april; elk centrum krijgt een opleidingsdocument met zijn eigen data en een fiche om te bevestigen. En in februari 2027 volgen de piloot, de Go/No-Go en dan de eerste patiënt.</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Hoe de druknorm in de praktijk werkt, met een rekenvoorbeeld voor één doelregio; de getallen zijn verzonnen. Elke meetsessie meet twee keer in de schoen: eerst zonder de CMFO, dan mét. De 25 procent wordt altijd berekend op de meting zonder zool van díe sessie; de oranje lijn ligt dus elke sessie op een andere hoogte. Links visite 2: zonder zool 340 kilopascal, de grens voor 25 procent lager is dan 255. Mét de zool 280: dat is 18 procent lager en nog boven 200, dus niet gehaald. De pedorthist past de zool aan en er wordt opnieuw mét gemeten: 245, 28 procent lager, gehaald. Er mogen tot drie aanpassingen gebeuren. Rechts maand 6: zonder zool nu 230, de grens wordt 173. Mét de zool 190: maar 17 procent lager, maar onder 200 kilopascal, en één van beide volstaat. Gehaald. Zo vergelijkt elke sessie met haar eigen meting zonder zool, en niet meer met visite 2.</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literatuur naast elkaar, per noemer: waardoor deelt elke studie de draagtijd? In de bolletjes de grens die ze gebruiken. Niemand rekent met de volle vierentwintig uur. Chantelau rekende in dagtijd, zonder sensor, en zag minder recidief bij wie de schoenen meer dan zestig procent van de dag droeg; hoe lang die dag was, staat niet in de samenvatting. Arts en Exterkate delen door een aangenomen dag van zestien uur uit bed: Arts vroeg de uren aan de patiënt, Exterkate mat ze met de Orthotimer en legde de grens voor niet therapietrouw vooraf op zestig procent, met tachtig procent als bovenste groep. Waaijman en Bus delen door de stappen, gemeten met een temperatuursensor in de schoen en een StepWatch aan de enkel; daar is geen daglengte voor nodig. DIASSIST heeft als primaire uitkomst het deel van de stappen in de voorgeschreven schoen, en noemt in het protocol minder dan acht uur per dag niet therapietrouw; die acht uur is een absoluut getal, zonder noemer. Van Netten gebruikt beide: minder dan tachtig procent van de stappen of minder dan acht uur per dag. Jarl nam als referentie het deel van de gewichtdragende tijd, staan en stappen samen, waarin de schoen aan was. Bij een referentiegrens van tachtig procent hoort volgens zijn tabel 3 een grens van 77,4 procent van de stappen, of 12,2 uur draagtijd per dag: drie noemers, dezelfde lat. DIASSIST, van Netten en Jarl gebruiken dezelfde toestellen als wij, de Orthotimer en de MoveMonitor; voor DIASSIST staat dat in het protocol, want de samenvatting van 2026 noemt geen toestellen. PARADISE staat alleen in de laatste kolom: niemand deelt door een gemeten waaktijd. Referenties: Chantelau en Haage, Diabet Med 1994;11:114–6. Arts e.a., J Rehabil Med 2014;46:357–62. Waaijman e.a., Diabetes Care 2013;36:1613–8. Bus e.a., Diabetes Care 2013;36:4109–16. Vossen e.a., Trials 2023;24:663, en Diabetes Care 2026;49:1384–94. Exterkate e.a., J Foot Ankle Res 2023;16:60. van Netten e.a., J Clin Med 2025;14:3635. Jarl e.a., Sensors 2023;23:1648.</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Wat betekent dat voor PARADISE? Links wat we overnemen. De tachtig procent als lat: ze komt uit DIAFOS, waar het drukverlagend schoeisel werkte bij wie ze haalde. Dezelfde toestellen als de recente Nederlandse en Zweedse studies: de Orthotimer en de MoveMonitor. De draaguren als maat: Jarl toonde met precies onze toestellen dat de uren per dag de referentie bijna even goed volgen als het deel van de stappen, r = 0,91 tegenover 0,96, terwijl wat de patiënt zelf opgeeft maar matig meevolgt, 0,42. Jarl schrijft er wel bij dat er geen gouden standaard bestaat. En een lat rond twaalf uur: Jarl vond 12,2 uur per dag als grens; onze lat voor iemand die 15,5 uur wakker is, ligt op 12,4 uur. Rechts wat niet voor ons geldt. Het deel van de stappen kunnen we niet berekenen, want McRoberts levert alleen dagtotalen en geen data per tijdstip; dan weet je niet of de schoen aan was tijdens het stappen. Een aangenomen dag van zestien uur is niet nodig, want wij meten de eigen waaktijd. Een MoveMonitor-week op maand 6 en 12, zoals in het DIASSIST-protocol, doen we niet: bij ons alleen bij de start. En zelfrapportage gebruiken we niet als maat.</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Wat als een centrum twee per maand haalt in plaats van drie? De grafiek toont, maand na maand, hoeveel kans er is dat de inclusie klaar is: de volle lijnen voor één centrum, de streepjeslijnen voor alle zes samen. Blauw is drie per maand, oranje twee. Aan twee per maand duurt het gemiddeld twaalf maanden per centrum, met een spreiding van tweeënhalve maand: acht op tien centra zijn klaar tussen negen en vijftien maanden. Na een jaar is gemiddeld maar de helft van de centra rond, drie van de zes. De studie is pas rond als het traagste centrum klaar is. De geplande laatste visite is september 2029; achttien maanden terug is dat eind maart 2028, de uiterste datum voor de laatste inclusie. We starten eind februari 2027, meteen na de Go/No-Go; dan zijn dat dertien maanden: de verticale lijn. Aan twee per maand halen alle zes die grens maar in 12 procent van de gevallen; aan drie per maand in 98 procent. In de helft van de gevallen is het laatste centrum pas na vijftien maanden klaar, en valt de laatste visite eind november 2029; in één op tien pas in februari 2030. En in acht procent is na achttien maanden nog altijd een centrum niet rond. Dit is gerekend met zes centra die allemaal even snel zijn. Verschillen ze onderling, dan wordt het nog later; dat toont de dia over het traagste centrum.</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 de tweede norm, het dragen. De MoveMonitor geeft bij de start de slaaptijd en dus de waaktijd; tachtig procent daarvan is de draagnorm, alle zeven dagen, en de Orthotimer meet hoeveel de zool echt gedragen wordt. Dat komt terug in SEBIA, de Structured Education and Behavioural Intervention Approach: een gesprek op elke visite. In Usual Care dragen de patiënten dezelfde MoveMonitor en Orthotimer, maar zonder draagnorm, zonder terugkoppeling en zonder SEBIA: educatie zoals vandaag.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2.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notesSlide" Target="../notesSlides/notesSlide8.xml"/><Relationship Id="rId16"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5.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notesSlide" Target="../notesSlides/notesSlide19.xml"/><Relationship Id="rId16"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8.png"/><Relationship Id="rId9" Type="http://schemas.openxmlformats.org/officeDocument/2006/relationships/image" Target="../media/image15.png"/><Relationship Id="rId1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9.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5.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1.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8.png"/><Relationship Id="rId9" Type="http://schemas.openxmlformats.org/officeDocument/2006/relationships/image" Target="../media/image17.png"/><Relationship Id="rId1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5.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1.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8.png"/><Relationship Id="rId9" Type="http://schemas.openxmlformats.org/officeDocument/2006/relationships/image" Target="../media/image17.png"/><Relationship Id="rId1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chart" Target="../charts/chart4.xml"/><Relationship Id="rId4" Type="http://schemas.openxmlformats.org/officeDocument/2006/relationships/chart" Target="../charts/chart3.xml"/></Relationships>
</file>

<file path=ppt/slides/_rels/slide42.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5.png"/><Relationship Id="rId7" Type="http://schemas.openxmlformats.org/officeDocument/2006/relationships/image" Target="../media/image15.png"/><Relationship Id="rId12"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21.png"/><Relationship Id="rId5" Type="http://schemas.openxmlformats.org/officeDocument/2006/relationships/image" Target="../media/image11.png"/><Relationship Id="rId10" Type="http://schemas.openxmlformats.org/officeDocument/2006/relationships/image" Target="../media/image20.png"/><Relationship Id="rId4" Type="http://schemas.openxmlformats.org/officeDocument/2006/relationships/image" Target="../media/image8.png"/><Relationship Id="rId9" Type="http://schemas.openxmlformats.org/officeDocument/2006/relationships/image" Target="../media/image19.png"/></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52.png"/><Relationship Id="rId4" Type="http://schemas.openxmlformats.org/officeDocument/2006/relationships/image" Target="../media/image51.png"/></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5.png"/><Relationship Id="rId7" Type="http://schemas.openxmlformats.org/officeDocument/2006/relationships/image" Target="../media/image15.png"/><Relationship Id="rId12" Type="http://schemas.openxmlformats.org/officeDocument/2006/relationships/image" Target="../media/image23.png"/><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22.png"/><Relationship Id="rId5" Type="http://schemas.openxmlformats.org/officeDocument/2006/relationships/image" Target="../media/image11.png"/><Relationship Id="rId10" Type="http://schemas.openxmlformats.org/officeDocument/2006/relationships/image" Target="../media/image21.png"/><Relationship Id="rId4" Type="http://schemas.openxmlformats.org/officeDocument/2006/relationships/image" Target="../media/image8.png"/><Relationship Id="rId9" Type="http://schemas.openxmlformats.org/officeDocument/2006/relationships/image" Target="../media/image20.png"/></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4.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8.png"/></Relationships>
</file>

<file path=ppt/slides/_rels/slide5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6.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5588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 name="Picture 2" descr="14abb052316bca6838ae130b0aff4182.png"/>
          <p:cNvPicPr>
            <a:picLocks noChangeAspect="1"/>
          </p:cNvPicPr>
          <p:nvPr/>
        </p:nvPicPr>
        <p:blipFill>
          <a:blip r:embed="rId3"/>
          <a:stretch>
            <a:fillRect/>
          </a:stretch>
        </p:blipFill>
        <p:spPr>
          <a:xfrm>
            <a:off x="611790" y="508000"/>
            <a:ext cx="2408621" cy="889000"/>
          </a:xfrm>
          <a:prstGeom prst="rect">
            <a:avLst/>
          </a:prstGeom>
        </p:spPr>
      </p:pic>
      <p:pic>
        <p:nvPicPr>
          <p:cNvPr id="4" name="Picture 3" descr="0dbcd856d0c21c2d81b496cf3b8e7586.png"/>
          <p:cNvPicPr>
            <a:picLocks noChangeAspect="1"/>
          </p:cNvPicPr>
          <p:nvPr/>
        </p:nvPicPr>
        <p:blipFill>
          <a:blip r:embed="rId4"/>
          <a:stretch>
            <a:fillRect/>
          </a:stretch>
        </p:blipFill>
        <p:spPr>
          <a:xfrm>
            <a:off x="508000" y="1627505"/>
            <a:ext cx="4572000" cy="3577590"/>
          </a:xfrm>
          <a:prstGeom prst="rect">
            <a:avLst/>
          </a:prstGeom>
        </p:spPr>
      </p:pic>
      <p:sp>
        <p:nvSpPr>
          <p:cNvPr id="5" name="TextBox 4"/>
          <p:cNvSpPr txBox="1"/>
          <p:nvPr/>
        </p:nvSpPr>
        <p:spPr>
          <a:xfrm>
            <a:off x="609600" y="5588000"/>
            <a:ext cx="4495800" cy="165100"/>
          </a:xfrm>
          <a:prstGeom prst="rect">
            <a:avLst/>
          </a:prstGeom>
          <a:noFill/>
        </p:spPr>
        <p:txBody>
          <a:bodyPr wrap="none" lIns="0" tIns="0" rIns="0" bIns="0" anchor="t">
            <a:noAutofit/>
          </a:bodyPr>
          <a:lstStyle/>
          <a:p>
            <a:pPr algn="l"/>
            <a:r>
              <a:rPr sz="1000" b="1" i="0">
                <a:solidFill>
                  <a:srgbClr val="5A6E80"/>
                </a:solidFill>
                <a:latin typeface="DM Sans"/>
              </a:rPr>
              <a:t>McRoberts · Novel pedar · Orthotimer</a:t>
            </a:r>
          </a:p>
        </p:txBody>
      </p:sp>
      <p:sp>
        <p:nvSpPr>
          <p:cNvPr id="6" name="TextBox 5"/>
          <p:cNvSpPr txBox="1"/>
          <p:nvPr/>
        </p:nvSpPr>
        <p:spPr>
          <a:xfrm>
            <a:off x="6299200" y="812800"/>
            <a:ext cx="5130800" cy="198120"/>
          </a:xfrm>
          <a:prstGeom prst="rect">
            <a:avLst/>
          </a:prstGeom>
          <a:noFill/>
        </p:spPr>
        <p:txBody>
          <a:bodyPr wrap="none" lIns="0" tIns="0" rIns="0" bIns="0" anchor="t">
            <a:noAutofit/>
          </a:bodyPr>
          <a:lstStyle/>
          <a:p>
            <a:pPr algn="l"/>
            <a:r>
              <a:rPr sz="1200" b="1" i="0">
                <a:solidFill>
                  <a:srgbClr val="52BDEC"/>
                </a:solidFill>
                <a:latin typeface="DM Sans"/>
              </a:rPr>
              <a:t>Kick-off · 12 oktober 2026</a:t>
            </a:r>
          </a:p>
        </p:txBody>
      </p:sp>
      <p:sp>
        <p:nvSpPr>
          <p:cNvPr id="7" name="TextBox 6"/>
          <p:cNvSpPr txBox="1"/>
          <p:nvPr/>
        </p:nvSpPr>
        <p:spPr>
          <a:xfrm>
            <a:off x="6299200" y="1174750"/>
            <a:ext cx="5181600" cy="1320800"/>
          </a:xfrm>
          <a:prstGeom prst="rect">
            <a:avLst/>
          </a:prstGeom>
          <a:noFill/>
        </p:spPr>
        <p:txBody>
          <a:bodyPr wrap="square" lIns="0" tIns="0" rIns="0" bIns="0" anchor="t">
            <a:noAutofit/>
          </a:bodyPr>
          <a:lstStyle/>
          <a:p>
            <a:pPr algn="l">
              <a:lnSpc>
                <a:spcPts val="5200"/>
              </a:lnSpc>
            </a:pPr>
            <a:r>
              <a:rPr sz="5000" b="0" i="0" spc="-100">
                <a:solidFill>
                  <a:srgbClr val="F2F8FC"/>
                </a:solidFill>
                <a:latin typeface="DM Serif Display"/>
              </a:rPr>
              <a:t>Eerste officiële </a:t>
            </a:r>
            <a:r>
              <a:rPr sz="5000" b="0" i="0" spc="-100">
                <a:solidFill>
                  <a:srgbClr val="52BDEC"/>
                </a:solidFill>
                <a:latin typeface="DM Serif Display"/>
              </a:rPr>
              <a:t>meeting</a:t>
            </a:r>
          </a:p>
        </p:txBody>
      </p:sp>
      <p:sp>
        <p:nvSpPr>
          <p:cNvPr id="8" name="Rectangle 7"/>
          <p:cNvSpPr/>
          <p:nvPr/>
        </p:nvSpPr>
        <p:spPr>
          <a:xfrm>
            <a:off x="6299200" y="2825750"/>
            <a:ext cx="609600" cy="254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299200" y="3016250"/>
            <a:ext cx="5181600" cy="462161"/>
          </a:xfrm>
          <a:prstGeom prst="rect">
            <a:avLst/>
          </a:prstGeom>
          <a:noFill/>
        </p:spPr>
        <p:txBody>
          <a:bodyPr wrap="square" lIns="0" tIns="0" rIns="0" bIns="0" anchor="t">
            <a:noAutofit/>
          </a:bodyPr>
          <a:lstStyle/>
          <a:p>
            <a:pPr algn="l">
              <a:lnSpc>
                <a:spcPts val="1820"/>
              </a:lnSpc>
            </a:pPr>
            <a:r>
              <a:rPr sz="1300" b="0" i="0">
                <a:solidFill>
                  <a:srgbClr val="8FB0CA"/>
                </a:solidFill>
                <a:latin typeface="DM Sans"/>
              </a:rPr>
              <a:t>Towards Pressure-Adherence &amp; Education Driven Service in Diabetic Foot Disease</a:t>
            </a:r>
          </a:p>
        </p:txBody>
      </p:sp>
      <p:sp>
        <p:nvSpPr>
          <p:cNvPr id="10" name="TextBox 9"/>
          <p:cNvSpPr txBox="1"/>
          <p:nvPr/>
        </p:nvSpPr>
        <p:spPr>
          <a:xfrm>
            <a:off x="6299200" y="4864100"/>
            <a:ext cx="5181600" cy="406400"/>
          </a:xfrm>
          <a:prstGeom prst="rect">
            <a:avLst/>
          </a:prstGeom>
          <a:noFill/>
        </p:spPr>
        <p:txBody>
          <a:bodyPr wrap="square" lIns="0" tIns="0" rIns="0" bIns="0" anchor="t">
            <a:noAutofit/>
          </a:bodyPr>
          <a:lstStyle/>
          <a:p>
            <a:pPr algn="l">
              <a:lnSpc>
                <a:spcPts val="1600"/>
              </a:lnSpc>
            </a:pPr>
            <a:r>
              <a:rPr sz="1000" b="0" i="0">
                <a:solidFill>
                  <a:srgbClr val="8FB0CA"/>
                </a:solidFill>
                <a:latin typeface="DM Sans"/>
              </a:rPr>
              <a:t>AZ Sint-Jan Brugge · AZ Groeninge Kortrijk · UZ Gent</a:t>
            </a:r>
          </a:p>
          <a:p>
            <a:pPr algn="l">
              <a:lnSpc>
                <a:spcPts val="1600"/>
              </a:lnSpc>
            </a:pPr>
            <a:r>
              <a:rPr sz="1000" b="0" i="0">
                <a:solidFill>
                  <a:srgbClr val="8FB0CA"/>
                </a:solidFill>
                <a:latin typeface="DM Sans"/>
              </a:rPr>
              <a:t>AZORG Aalst · UZ Antwerpen · UZ Leuven</a:t>
            </a:r>
          </a:p>
        </p:txBody>
      </p:sp>
      <p:sp>
        <p:nvSpPr>
          <p:cNvPr id="11" name="Rounded Rectangle 10"/>
          <p:cNvSpPr/>
          <p:nvPr/>
        </p:nvSpPr>
        <p:spPr>
          <a:xfrm>
            <a:off x="6299200" y="5435600"/>
            <a:ext cx="2794000" cy="609600"/>
          </a:xfrm>
          <a:prstGeom prst="roundRect">
            <a:avLst>
              <a:gd name="adj" fmla="val 1458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75504389baacf5fb07e89c0ba89ea558.png"/>
          <p:cNvPicPr>
            <a:picLocks noChangeAspect="1"/>
          </p:cNvPicPr>
          <p:nvPr/>
        </p:nvPicPr>
        <p:blipFill>
          <a:blip r:embed="rId5"/>
          <a:stretch>
            <a:fillRect/>
          </a:stretch>
        </p:blipFill>
        <p:spPr>
          <a:xfrm>
            <a:off x="6530975" y="5568950"/>
            <a:ext cx="1200150" cy="342900"/>
          </a:xfrm>
          <a:prstGeom prst="rect">
            <a:avLst/>
          </a:prstGeom>
        </p:spPr>
      </p:pic>
      <p:pic>
        <p:nvPicPr>
          <p:cNvPr id="13" name="Picture 12" descr="228c2b11ec878f28c18f6d8655b98aa7.png"/>
          <p:cNvPicPr>
            <a:picLocks noChangeAspect="1"/>
          </p:cNvPicPr>
          <p:nvPr/>
        </p:nvPicPr>
        <p:blipFill>
          <a:blip r:embed="rId6"/>
          <a:stretch>
            <a:fillRect/>
          </a:stretch>
        </p:blipFill>
        <p:spPr>
          <a:xfrm>
            <a:off x="7927606" y="5575300"/>
            <a:ext cx="921488" cy="330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4e287ae005ab9f8997461f000820af22.png"/>
          <p:cNvPicPr>
            <a:picLocks noChangeAspect="1"/>
          </p:cNvPicPr>
          <p:nvPr/>
        </p:nvPicPr>
        <p:blipFill>
          <a:blip r:embed="rId3"/>
          <a:stretch>
            <a:fillRect/>
          </a:stretch>
        </p:blipFill>
        <p:spPr>
          <a:xfrm>
            <a:off x="7874000" y="0"/>
            <a:ext cx="6388100" cy="7302500"/>
          </a:xfrm>
          <a:prstGeom prst="rect">
            <a:avLst/>
          </a:prstGeom>
        </p:spPr>
      </p:pic>
      <p:pic>
        <p:nvPicPr>
          <p:cNvPr id="3" name="Picture 2" descr="22aa538137679711d90552620d6baa14.png"/>
          <p:cNvPicPr>
            <a:picLocks noChangeAspect="1"/>
          </p:cNvPicPr>
          <p:nvPr/>
        </p:nvPicPr>
        <p:blipFill>
          <a:blip r:embed="rId4"/>
          <a:stretch>
            <a:fillRect/>
          </a:stretch>
        </p:blipFill>
        <p:spPr>
          <a:xfrm>
            <a:off x="990600" y="1663700"/>
            <a:ext cx="2133600" cy="1200150"/>
          </a:xfrm>
          <a:prstGeom prst="rect">
            <a:avLst/>
          </a:prstGeom>
        </p:spPr>
      </p:pic>
      <p:pic>
        <p:nvPicPr>
          <p:cNvPr id="4" name="Picture 3" descr="ca836d0b9d11957ccf0ce43f9feaf573.png"/>
          <p:cNvPicPr>
            <a:picLocks noChangeAspect="1"/>
          </p:cNvPicPr>
          <p:nvPr/>
        </p:nvPicPr>
        <p:blipFill>
          <a:blip r:embed="rId5"/>
          <a:stretch>
            <a:fillRect/>
          </a:stretch>
        </p:blipFill>
        <p:spPr>
          <a:xfrm>
            <a:off x="901700" y="1752600"/>
            <a:ext cx="2311400" cy="1301750"/>
          </a:xfrm>
          <a:prstGeom prst="rect">
            <a:avLst/>
          </a:prstGeom>
        </p:spPr>
      </p:pic>
      <p:sp>
        <p:nvSpPr>
          <p:cNvPr id="5" name="Rounded Rectangle 4"/>
          <p:cNvSpPr/>
          <p:nvPr/>
        </p:nvSpPr>
        <p:spPr>
          <a:xfrm>
            <a:off x="812800" y="1841500"/>
            <a:ext cx="2489200" cy="1397000"/>
          </a:xfrm>
          <a:prstGeom prst="roundRect">
            <a:avLst>
              <a:gd name="adj" fmla="val 1363"/>
            </a:avLst>
          </a:prstGeom>
          <a:solidFill>
            <a:srgbClr val="FFFFFF"/>
          </a:solidFill>
          <a:ln w="1905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4fe31fe826e2a686c44b2a9df6f4ec34.png"/>
          <p:cNvPicPr>
            <a:picLocks noChangeAspect="1"/>
          </p:cNvPicPr>
          <p:nvPr/>
        </p:nvPicPr>
        <p:blipFill>
          <a:blip r:embed="rId6"/>
          <a:stretch>
            <a:fillRect/>
          </a:stretch>
        </p:blipFill>
        <p:spPr>
          <a:xfrm>
            <a:off x="831850" y="1860550"/>
            <a:ext cx="2451100" cy="1378744"/>
          </a:xfrm>
          <a:prstGeom prst="rect">
            <a:avLst/>
          </a:prstGeom>
        </p:spPr>
      </p:pic>
      <p:sp>
        <p:nvSpPr>
          <p:cNvPr id="7" name="TextBox 6"/>
          <p:cNvSpPr txBox="1"/>
          <p:nvPr/>
        </p:nvSpPr>
        <p:spPr>
          <a:xfrm>
            <a:off x="812800" y="3327400"/>
            <a:ext cx="2540000" cy="213360"/>
          </a:xfrm>
          <a:prstGeom prst="rect">
            <a:avLst/>
          </a:prstGeom>
          <a:noFill/>
        </p:spPr>
        <p:txBody>
          <a:bodyPr wrap="none" lIns="0" tIns="0" rIns="0" bIns="0" anchor="t">
            <a:noAutofit/>
          </a:bodyPr>
          <a:lstStyle/>
          <a:p>
            <a:pPr algn="l">
              <a:lnSpc>
                <a:spcPts val="1680"/>
              </a:lnSpc>
            </a:pPr>
            <a:r>
              <a:rPr sz="1400" b="0" i="0">
                <a:solidFill>
                  <a:srgbClr val="A34A00"/>
                </a:solidFill>
                <a:latin typeface="DM Sans"/>
              </a:rPr>
              <a:t>1 Stand van zaken</a:t>
            </a:r>
          </a:p>
        </p:txBody>
      </p:sp>
      <p:pic>
        <p:nvPicPr>
          <p:cNvPr id="8" name="Picture 7" descr="8dccc3185da0f080a429109f0bc9358d.png"/>
          <p:cNvPicPr>
            <a:picLocks noChangeAspect="1"/>
          </p:cNvPicPr>
          <p:nvPr/>
        </p:nvPicPr>
        <p:blipFill>
          <a:blip r:embed="rId7"/>
          <a:stretch>
            <a:fillRect/>
          </a:stretch>
        </p:blipFill>
        <p:spPr>
          <a:xfrm>
            <a:off x="3683000" y="1663700"/>
            <a:ext cx="2133600" cy="1200150"/>
          </a:xfrm>
          <a:prstGeom prst="rect">
            <a:avLst/>
          </a:prstGeom>
        </p:spPr>
      </p:pic>
      <p:pic>
        <p:nvPicPr>
          <p:cNvPr id="9" name="Picture 8" descr="33ff6f98e238090dfea59b8da3d0895b.png"/>
          <p:cNvPicPr>
            <a:picLocks noChangeAspect="1"/>
          </p:cNvPicPr>
          <p:nvPr/>
        </p:nvPicPr>
        <p:blipFill>
          <a:blip r:embed="rId8"/>
          <a:stretch>
            <a:fillRect/>
          </a:stretch>
        </p:blipFill>
        <p:spPr>
          <a:xfrm>
            <a:off x="3594100" y="1752600"/>
            <a:ext cx="2311400" cy="1301750"/>
          </a:xfrm>
          <a:prstGeom prst="rect">
            <a:avLst/>
          </a:prstGeom>
        </p:spPr>
      </p:pic>
      <p:sp>
        <p:nvSpPr>
          <p:cNvPr id="10" name="Rounded Rectangle 9"/>
          <p:cNvSpPr/>
          <p:nvPr/>
        </p:nvSpPr>
        <p:spPr>
          <a:xfrm>
            <a:off x="35052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af6c315e3b6c8da4983f797f076543ae.png"/>
          <p:cNvPicPr>
            <a:picLocks noChangeAspect="1"/>
          </p:cNvPicPr>
          <p:nvPr/>
        </p:nvPicPr>
        <p:blipFill>
          <a:blip r:embed="rId9"/>
          <a:stretch>
            <a:fillRect/>
          </a:stretch>
        </p:blipFill>
        <p:spPr>
          <a:xfrm>
            <a:off x="3511550" y="1847850"/>
            <a:ext cx="2476500" cy="1393031"/>
          </a:xfrm>
          <a:prstGeom prst="rect">
            <a:avLst/>
          </a:prstGeom>
        </p:spPr>
      </p:pic>
      <p:sp>
        <p:nvSpPr>
          <p:cNvPr id="12" name="TextBox 11"/>
          <p:cNvSpPr txBox="1"/>
          <p:nvPr/>
        </p:nvSpPr>
        <p:spPr>
          <a:xfrm>
            <a:off x="3505200" y="33274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2 Ontwikkelingen sinds 1 april</a:t>
            </a:r>
          </a:p>
        </p:txBody>
      </p:sp>
      <p:pic>
        <p:nvPicPr>
          <p:cNvPr id="13" name="Picture 12" descr="78e1c08c648ea238ba766890b863e925.png"/>
          <p:cNvPicPr>
            <a:picLocks noChangeAspect="1"/>
          </p:cNvPicPr>
          <p:nvPr/>
        </p:nvPicPr>
        <p:blipFill>
          <a:blip r:embed="rId10"/>
          <a:stretch>
            <a:fillRect/>
          </a:stretch>
        </p:blipFill>
        <p:spPr>
          <a:xfrm>
            <a:off x="6375400" y="1663700"/>
            <a:ext cx="2133600" cy="1200150"/>
          </a:xfrm>
          <a:prstGeom prst="rect">
            <a:avLst/>
          </a:prstGeom>
        </p:spPr>
      </p:pic>
      <p:pic>
        <p:nvPicPr>
          <p:cNvPr id="14" name="Picture 13" descr="1936b300a323b1d5fafa4319ba1396a7.png"/>
          <p:cNvPicPr>
            <a:picLocks noChangeAspect="1"/>
          </p:cNvPicPr>
          <p:nvPr/>
        </p:nvPicPr>
        <p:blipFill>
          <a:blip r:embed="rId11"/>
          <a:stretch>
            <a:fillRect/>
          </a:stretch>
        </p:blipFill>
        <p:spPr>
          <a:xfrm>
            <a:off x="6286500" y="1752600"/>
            <a:ext cx="2311400" cy="1301750"/>
          </a:xfrm>
          <a:prstGeom prst="rect">
            <a:avLst/>
          </a:prstGeom>
        </p:spPr>
      </p:pic>
      <p:sp>
        <p:nvSpPr>
          <p:cNvPr id="15" name="Rounded Rectangle 14"/>
          <p:cNvSpPr/>
          <p:nvPr/>
        </p:nvSpPr>
        <p:spPr>
          <a:xfrm>
            <a:off x="61976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b3575449de919ba8ba77497cf770d56b.png"/>
          <p:cNvPicPr>
            <a:picLocks noChangeAspect="1"/>
          </p:cNvPicPr>
          <p:nvPr/>
        </p:nvPicPr>
        <p:blipFill>
          <a:blip r:embed="rId12"/>
          <a:stretch>
            <a:fillRect/>
          </a:stretch>
        </p:blipFill>
        <p:spPr>
          <a:xfrm>
            <a:off x="6203950" y="1847850"/>
            <a:ext cx="2476500" cy="1393031"/>
          </a:xfrm>
          <a:prstGeom prst="rect">
            <a:avLst/>
          </a:prstGeom>
        </p:spPr>
      </p:pic>
      <p:sp>
        <p:nvSpPr>
          <p:cNvPr id="17" name="TextBox 16"/>
          <p:cNvSpPr txBox="1"/>
          <p:nvPr/>
        </p:nvSpPr>
        <p:spPr>
          <a:xfrm>
            <a:off x="6197600" y="33274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3 Werkpakketten</a:t>
            </a:r>
          </a:p>
        </p:txBody>
      </p:sp>
      <p:sp>
        <p:nvSpPr>
          <p:cNvPr id="18" name="Rounded Rectangle 17"/>
          <p:cNvSpPr/>
          <p:nvPr/>
        </p:nvSpPr>
        <p:spPr>
          <a:xfrm>
            <a:off x="88900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76718c0faffa53b3e96d91bd5d17d843.png"/>
          <p:cNvPicPr>
            <a:picLocks noChangeAspect="1"/>
          </p:cNvPicPr>
          <p:nvPr/>
        </p:nvPicPr>
        <p:blipFill>
          <a:blip r:embed="rId13"/>
          <a:stretch>
            <a:fillRect/>
          </a:stretch>
        </p:blipFill>
        <p:spPr>
          <a:xfrm>
            <a:off x="8896350" y="1847850"/>
            <a:ext cx="2476500" cy="1393031"/>
          </a:xfrm>
          <a:prstGeom prst="rect">
            <a:avLst/>
          </a:prstGeom>
        </p:spPr>
      </p:pic>
      <p:sp>
        <p:nvSpPr>
          <p:cNvPr id="20" name="TextBox 19"/>
          <p:cNvSpPr txBox="1"/>
          <p:nvPr/>
        </p:nvSpPr>
        <p:spPr>
          <a:xfrm>
            <a:off x="8890000" y="33274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4 Aandachtspunten</a:t>
            </a:r>
          </a:p>
        </p:txBody>
      </p:sp>
      <p:pic>
        <p:nvPicPr>
          <p:cNvPr id="21" name="Picture 20" descr="0a62dff855207c43a1c6690d0e4c697a.png"/>
          <p:cNvPicPr>
            <a:picLocks noChangeAspect="1"/>
          </p:cNvPicPr>
          <p:nvPr/>
        </p:nvPicPr>
        <p:blipFill>
          <a:blip r:embed="rId14"/>
          <a:stretch>
            <a:fillRect/>
          </a:stretch>
        </p:blipFill>
        <p:spPr>
          <a:xfrm>
            <a:off x="2336800" y="3937000"/>
            <a:ext cx="2133600" cy="1200150"/>
          </a:xfrm>
          <a:prstGeom prst="rect">
            <a:avLst/>
          </a:prstGeom>
        </p:spPr>
      </p:pic>
      <p:pic>
        <p:nvPicPr>
          <p:cNvPr id="22" name="Picture 21" descr="993f9ef2261edfc6639be1e2fe47b272.png"/>
          <p:cNvPicPr>
            <a:picLocks noChangeAspect="1"/>
          </p:cNvPicPr>
          <p:nvPr/>
        </p:nvPicPr>
        <p:blipFill>
          <a:blip r:embed="rId15"/>
          <a:stretch>
            <a:fillRect/>
          </a:stretch>
        </p:blipFill>
        <p:spPr>
          <a:xfrm>
            <a:off x="2247900" y="4025900"/>
            <a:ext cx="2311400" cy="1301750"/>
          </a:xfrm>
          <a:prstGeom prst="rect">
            <a:avLst/>
          </a:prstGeom>
        </p:spPr>
      </p:pic>
      <p:sp>
        <p:nvSpPr>
          <p:cNvPr id="23" name="Rounded Rectangle 22"/>
          <p:cNvSpPr/>
          <p:nvPr/>
        </p:nvSpPr>
        <p:spPr>
          <a:xfrm>
            <a:off x="21590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c828e07bbef239086018a2f6a17a466c.png"/>
          <p:cNvPicPr>
            <a:picLocks noChangeAspect="1"/>
          </p:cNvPicPr>
          <p:nvPr/>
        </p:nvPicPr>
        <p:blipFill>
          <a:blip r:embed="rId16"/>
          <a:stretch>
            <a:fillRect/>
          </a:stretch>
        </p:blipFill>
        <p:spPr>
          <a:xfrm>
            <a:off x="2165350" y="4121150"/>
            <a:ext cx="2476500" cy="1393031"/>
          </a:xfrm>
          <a:prstGeom prst="rect">
            <a:avLst/>
          </a:prstGeom>
        </p:spPr>
      </p:pic>
      <p:sp>
        <p:nvSpPr>
          <p:cNvPr id="25" name="TextBox 24"/>
          <p:cNvSpPr txBox="1"/>
          <p:nvPr/>
        </p:nvSpPr>
        <p:spPr>
          <a:xfrm>
            <a:off x="21590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5 Mijlpalen en planning</a:t>
            </a:r>
          </a:p>
        </p:txBody>
      </p:sp>
      <p:pic>
        <p:nvPicPr>
          <p:cNvPr id="26" name="Picture 25" descr="dad1d5849a0f54ecab7e2a87be32dc30.png"/>
          <p:cNvPicPr>
            <a:picLocks noChangeAspect="1"/>
          </p:cNvPicPr>
          <p:nvPr/>
        </p:nvPicPr>
        <p:blipFill>
          <a:blip r:embed="rId17"/>
          <a:stretch>
            <a:fillRect/>
          </a:stretch>
        </p:blipFill>
        <p:spPr>
          <a:xfrm>
            <a:off x="4940300" y="4025900"/>
            <a:ext cx="2311400" cy="1301750"/>
          </a:xfrm>
          <a:prstGeom prst="rect">
            <a:avLst/>
          </a:prstGeom>
        </p:spPr>
      </p:pic>
      <p:sp>
        <p:nvSpPr>
          <p:cNvPr id="27" name="Rounded Rectangle 26"/>
          <p:cNvSpPr/>
          <p:nvPr/>
        </p:nvSpPr>
        <p:spPr>
          <a:xfrm>
            <a:off x="48514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a218f23a9d1aeae7790db2aa9d8f48a7.png"/>
          <p:cNvPicPr>
            <a:picLocks noChangeAspect="1"/>
          </p:cNvPicPr>
          <p:nvPr/>
        </p:nvPicPr>
        <p:blipFill>
          <a:blip r:embed="rId18"/>
          <a:stretch>
            <a:fillRect/>
          </a:stretch>
        </p:blipFill>
        <p:spPr>
          <a:xfrm>
            <a:off x="4857750" y="4121150"/>
            <a:ext cx="2476500" cy="1393031"/>
          </a:xfrm>
          <a:prstGeom prst="rect">
            <a:avLst/>
          </a:prstGeom>
        </p:spPr>
      </p:pic>
      <p:sp>
        <p:nvSpPr>
          <p:cNvPr id="29" name="TextBox 28"/>
          <p:cNvSpPr txBox="1"/>
          <p:nvPr/>
        </p:nvSpPr>
        <p:spPr>
          <a:xfrm>
            <a:off x="48514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6 Bespreking</a:t>
            </a:r>
          </a:p>
        </p:txBody>
      </p:sp>
      <p:pic>
        <p:nvPicPr>
          <p:cNvPr id="30" name="Picture 29" descr="e49a2c4874452277a94494e99280aaa0.png"/>
          <p:cNvPicPr>
            <a:picLocks noChangeAspect="1"/>
          </p:cNvPicPr>
          <p:nvPr/>
        </p:nvPicPr>
        <p:blipFill>
          <a:blip r:embed="rId19"/>
          <a:stretch>
            <a:fillRect/>
          </a:stretch>
        </p:blipFill>
        <p:spPr>
          <a:xfrm>
            <a:off x="7632700" y="4025900"/>
            <a:ext cx="2311400" cy="1301750"/>
          </a:xfrm>
          <a:prstGeom prst="rect">
            <a:avLst/>
          </a:prstGeom>
        </p:spPr>
      </p:pic>
      <p:sp>
        <p:nvSpPr>
          <p:cNvPr id="31" name="Rounded Rectangle 30"/>
          <p:cNvSpPr/>
          <p:nvPr/>
        </p:nvSpPr>
        <p:spPr>
          <a:xfrm>
            <a:off x="75438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2" name="Picture 31" descr="0b3315c9a761b9fd4dfcb184751fa8ea.png"/>
          <p:cNvPicPr>
            <a:picLocks noChangeAspect="1"/>
          </p:cNvPicPr>
          <p:nvPr/>
        </p:nvPicPr>
        <p:blipFill>
          <a:blip r:embed="rId20"/>
          <a:stretch>
            <a:fillRect/>
          </a:stretch>
        </p:blipFill>
        <p:spPr>
          <a:xfrm>
            <a:off x="7550150" y="4121150"/>
            <a:ext cx="2476500" cy="1393031"/>
          </a:xfrm>
          <a:prstGeom prst="rect">
            <a:avLst/>
          </a:prstGeom>
        </p:spPr>
      </p:pic>
      <p:sp>
        <p:nvSpPr>
          <p:cNvPr id="33" name="TextBox 32"/>
          <p:cNvSpPr txBox="1"/>
          <p:nvPr/>
        </p:nvSpPr>
        <p:spPr>
          <a:xfrm>
            <a:off x="75438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7 Tour de table</a:t>
            </a:r>
          </a:p>
        </p:txBody>
      </p:sp>
      <p:sp>
        <p:nvSpPr>
          <p:cNvPr id="34" name="TextBox 33"/>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we vandaag overlopen</a:t>
            </a:r>
          </a:p>
        </p:txBody>
      </p:sp>
      <p:pic>
        <p:nvPicPr>
          <p:cNvPr id="35" name="Picture 34" descr="ec5c93e6f83f209b4e97ddfdecd480c8.png"/>
          <p:cNvPicPr>
            <a:picLocks noChangeAspect="1"/>
          </p:cNvPicPr>
          <p:nvPr/>
        </p:nvPicPr>
        <p:blipFill>
          <a:blip r:embed="rId21"/>
          <a:stretch>
            <a:fillRect/>
          </a:stretch>
        </p:blipFill>
        <p:spPr>
          <a:xfrm>
            <a:off x="812967" y="6261100"/>
            <a:ext cx="171116" cy="203200"/>
          </a:xfrm>
          <a:prstGeom prst="rect">
            <a:avLst/>
          </a:prstGeom>
        </p:spPr>
      </p:pic>
      <p:sp>
        <p:nvSpPr>
          <p:cNvPr id="36" name="TextBox 35"/>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5A6E80"/>
                </a:solidFill>
                <a:latin typeface="DM Sans"/>
              </a:rPr>
              <a:t>PARADISE · kick-off 12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955800" cy="5029200"/>
          </a:xfrm>
          <a:prstGeom prst="rect">
            <a:avLst/>
          </a:prstGeom>
          <a:noFill/>
        </p:spPr>
        <p:txBody>
          <a:bodyPr wrap="square" lIns="0" tIns="0" rIns="0" bIns="0" anchor="t">
            <a:noAutofit/>
          </a:bodyPr>
          <a:lstStyle/>
          <a:p>
            <a:pPr algn="l">
              <a:lnSpc>
                <a:spcPts val="16200"/>
              </a:lnSpc>
            </a:pPr>
            <a:r>
              <a:rPr sz="18000" b="0" i="0">
                <a:solidFill>
                  <a:srgbClr val="FF9A3D"/>
                </a:solidFill>
                <a:latin typeface="DM Serif Display"/>
              </a:rPr>
              <a:t>1</a:t>
            </a:r>
          </a:p>
        </p:txBody>
      </p:sp>
      <p:sp>
        <p:nvSpPr>
          <p:cNvPr id="4" name="TextBox 3"/>
          <p:cNvSpPr txBox="1"/>
          <p:nvPr/>
        </p:nvSpPr>
        <p:spPr>
          <a:xfrm>
            <a:off x="3327400" y="812800"/>
            <a:ext cx="8102600" cy="215900"/>
          </a:xfrm>
          <a:prstGeom prst="rect">
            <a:avLst/>
          </a:prstGeom>
          <a:noFill/>
        </p:spPr>
        <p:txBody>
          <a:bodyPr wrap="none" lIns="0" tIns="0" rIns="0" bIns="0" anchor="t">
            <a:noAutofit/>
          </a:bodyPr>
          <a:lstStyle/>
          <a:p>
            <a:pPr algn="l"/>
            <a:r>
              <a:rPr sz="1300" b="1" i="0">
                <a:solidFill>
                  <a:srgbClr val="52BDEC"/>
                </a:solidFill>
                <a:latin typeface="DM Sans"/>
              </a:rPr>
              <a:t>Deel 1 van 7</a:t>
            </a:r>
          </a:p>
        </p:txBody>
      </p:sp>
      <p:sp>
        <p:nvSpPr>
          <p:cNvPr id="5" name="TextBox 4"/>
          <p:cNvSpPr txBox="1"/>
          <p:nvPr/>
        </p:nvSpPr>
        <p:spPr>
          <a:xfrm>
            <a:off x="3327400" y="1206500"/>
            <a:ext cx="8102600" cy="586740"/>
          </a:xfrm>
          <a:prstGeom prst="rect">
            <a:avLst/>
          </a:prstGeom>
          <a:noFill/>
        </p:spPr>
        <p:txBody>
          <a:bodyPr wrap="none" lIns="0" tIns="0" rIns="0" bIns="0" anchor="t">
            <a:noAutofit/>
          </a:bodyPr>
          <a:lstStyle/>
          <a:p>
            <a:pPr algn="l">
              <a:lnSpc>
                <a:spcPts val="4620"/>
              </a:lnSpc>
            </a:pPr>
            <a:r>
              <a:rPr sz="4400" b="0" i="0" spc="-50">
                <a:solidFill>
                  <a:srgbClr val="F2F8FC"/>
                </a:solidFill>
                <a:latin typeface="DM Serif Display"/>
              </a:rPr>
              <a:t>Stand van zaken</a:t>
            </a:r>
          </a:p>
        </p:txBody>
      </p:sp>
      <p:sp>
        <p:nvSpPr>
          <p:cNvPr id="6" name="TextBox 5"/>
          <p:cNvSpPr txBox="1"/>
          <p:nvPr/>
        </p:nvSpPr>
        <p:spPr>
          <a:xfrm>
            <a:off x="3327400" y="1970980"/>
            <a:ext cx="8102600" cy="335280"/>
          </a:xfrm>
          <a:prstGeom prst="rect">
            <a:avLst/>
          </a:prstGeom>
          <a:noFill/>
        </p:spPr>
        <p:txBody>
          <a:bodyPr wrap="none" lIns="0" tIns="0" rIns="0" bIns="0" anchor="t">
            <a:noAutofit/>
          </a:bodyPr>
          <a:lstStyle/>
          <a:p>
            <a:pPr algn="l">
              <a:lnSpc>
                <a:spcPts val="2640"/>
              </a:lnSpc>
            </a:pPr>
            <a:r>
              <a:rPr sz="2200" b="0" i="1">
                <a:solidFill>
                  <a:srgbClr val="52BDEC"/>
                </a:solidFill>
                <a:latin typeface="DM Serif Display"/>
              </a:rPr>
              <a:t>Waar staan we vandaag?</a:t>
            </a:r>
          </a:p>
        </p:txBody>
      </p:sp>
      <p:sp>
        <p:nvSpPr>
          <p:cNvPr id="7" name="Rectangle 6"/>
          <p:cNvSpPr/>
          <p:nvPr/>
        </p:nvSpPr>
        <p:spPr>
          <a:xfrm>
            <a:off x="3327400" y="449718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27400" y="459243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144 deelnemers in zes voetklinieken</a:t>
            </a:r>
          </a:p>
        </p:txBody>
      </p:sp>
      <p:sp>
        <p:nvSpPr>
          <p:cNvPr id="9" name="Rectangle 8"/>
          <p:cNvSpPr/>
          <p:nvPr/>
        </p:nvSpPr>
        <p:spPr>
          <a:xfrm>
            <a:off x="3327400" y="494545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27400" y="504070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de ethische goedkeuring per centrum</a:t>
            </a:r>
          </a:p>
        </p:txBody>
      </p:sp>
      <p:sp>
        <p:nvSpPr>
          <p:cNvPr id="11" name="Rectangle 10"/>
          <p:cNvSpPr/>
          <p:nvPr/>
        </p:nvSpPr>
        <p:spPr>
          <a:xfrm>
            <a:off x="3327400" y="5393730"/>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27400" y="5488980"/>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het materiaal in uw centrum</a:t>
            </a:r>
          </a:p>
        </p:txBody>
      </p:sp>
      <p:pic>
        <p:nvPicPr>
          <p:cNvPr id="13" name="Picture 12"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14" name="TextBox 13"/>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6F8FAA"/>
                </a:solidFill>
                <a:latin typeface="DM Sans"/>
              </a:rPr>
              <a:t>PARADISE · Stand van zaken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bca0e7442a2bdffe745679463c941007.png"/>
          <p:cNvPicPr>
            <a:picLocks noChangeAspect="1"/>
          </p:cNvPicPr>
          <p:nvPr/>
        </p:nvPicPr>
        <p:blipFill>
          <a:blip r:embed="rId3"/>
          <a:stretch>
            <a:fillRect/>
          </a:stretch>
        </p:blipFill>
        <p:spPr>
          <a:xfrm>
            <a:off x="5282605" y="1693072"/>
            <a:ext cx="6420545" cy="3611556"/>
          </a:xfrm>
          <a:prstGeom prst="rect">
            <a:avLst/>
          </a:prstGeom>
        </p:spPr>
      </p:pic>
      <p:sp>
        <p:nvSpPr>
          <p:cNvPr id="3" name="Rounded Rectangle 2"/>
          <p:cNvSpPr/>
          <p:nvPr/>
        </p:nvSpPr>
        <p:spPr>
          <a:xfrm>
            <a:off x="5797550" y="2743200"/>
            <a:ext cx="1295400" cy="1181100"/>
          </a:xfrm>
          <a:prstGeom prst="roundRect">
            <a:avLst>
              <a:gd name="adj" fmla="val 7526"/>
            </a:avLst>
          </a:prstGeom>
          <a:noFill/>
          <a:ln w="1905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797550" y="3987800"/>
            <a:ext cx="2717800" cy="182880"/>
          </a:xfrm>
          <a:prstGeom prst="rect">
            <a:avLst/>
          </a:prstGeom>
          <a:noFill/>
        </p:spPr>
        <p:txBody>
          <a:bodyPr wrap="none" lIns="0" tIns="0" rIns="0" bIns="0" anchor="t">
            <a:noAutofit/>
          </a:bodyPr>
          <a:lstStyle/>
          <a:p>
            <a:pPr algn="l">
              <a:lnSpc>
                <a:spcPts val="1440"/>
              </a:lnSpc>
            </a:pPr>
            <a:r>
              <a:rPr sz="1200" b="1" i="0">
                <a:solidFill>
                  <a:srgbClr val="0B6E8F"/>
                </a:solidFill>
                <a:latin typeface="DM Sans"/>
              </a:rPr>
              <a:t>contact: PhD A · Janou De Buyser</a:t>
            </a:r>
          </a:p>
        </p:txBody>
      </p:sp>
      <p:sp>
        <p:nvSpPr>
          <p:cNvPr id="5" name="Rounded Rectangle 4"/>
          <p:cNvSpPr/>
          <p:nvPr/>
        </p:nvSpPr>
        <p:spPr>
          <a:xfrm>
            <a:off x="10096500" y="2508250"/>
            <a:ext cx="1308100" cy="1358900"/>
          </a:xfrm>
          <a:prstGeom prst="roundRect">
            <a:avLst>
              <a:gd name="adj" fmla="val 6796"/>
            </a:avLst>
          </a:prstGeom>
          <a:noFill/>
          <a:ln w="19050">
            <a:solidFill>
              <a:srgbClr val="A34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664700" y="3930650"/>
            <a:ext cx="1739900" cy="182880"/>
          </a:xfrm>
          <a:prstGeom prst="rect">
            <a:avLst/>
          </a:prstGeom>
          <a:noFill/>
        </p:spPr>
        <p:txBody>
          <a:bodyPr wrap="none" lIns="0" tIns="0" rIns="0" bIns="0" anchor="t">
            <a:noAutofit/>
          </a:bodyPr>
          <a:lstStyle/>
          <a:p>
            <a:pPr algn="r">
              <a:lnSpc>
                <a:spcPts val="1440"/>
              </a:lnSpc>
            </a:pPr>
            <a:r>
              <a:rPr sz="1200" b="1" i="0">
                <a:solidFill>
                  <a:srgbClr val="A34A00"/>
                </a:solidFill>
                <a:latin typeface="DM Sans"/>
              </a:rPr>
              <a:t>contact: PhD B</a:t>
            </a:r>
          </a:p>
        </p:txBody>
      </p:sp>
      <p:pic>
        <p:nvPicPr>
          <p:cNvPr id="7" name="Picture 6" descr="ec5c93e6f83f209b4e97ddfdecd480c8.png"/>
          <p:cNvPicPr>
            <a:picLocks noChangeAspect="1"/>
          </p:cNvPicPr>
          <p:nvPr/>
        </p:nvPicPr>
        <p:blipFill>
          <a:blip r:embed="rId4"/>
          <a:stretch>
            <a:fillRect/>
          </a:stretch>
        </p:blipFill>
        <p:spPr>
          <a:xfrm>
            <a:off x="812967" y="6261100"/>
            <a:ext cx="171116" cy="203200"/>
          </a:xfrm>
          <a:prstGeom prst="rect">
            <a:avLst/>
          </a:prstGeom>
        </p:spPr>
      </p:pic>
      <p:sp>
        <p:nvSpPr>
          <p:cNvPr id="8" name="TextBox 7"/>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Stand van zaken</a:t>
            </a:r>
          </a:p>
        </p:txBody>
      </p:sp>
      <p:sp>
        <p:nvSpPr>
          <p:cNvPr id="9" name="TextBox 8"/>
          <p:cNvSpPr txBox="1"/>
          <p:nvPr/>
        </p:nvSpPr>
        <p:spPr>
          <a:xfrm>
            <a:off x="6502400" y="6254750"/>
            <a:ext cx="4876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S71769</a:t>
            </a:r>
          </a:p>
        </p:txBody>
      </p:sp>
      <p:sp>
        <p:nvSpPr>
          <p:cNvPr id="10" name="TextBox 9"/>
          <p:cNvSpPr txBox="1"/>
          <p:nvPr/>
        </p:nvSpPr>
        <p:spPr>
          <a:xfrm>
            <a:off x="812800" y="812800"/>
            <a:ext cx="4145280" cy="1005681"/>
          </a:xfrm>
          <a:prstGeom prst="rect">
            <a:avLst/>
          </a:prstGeom>
          <a:noFill/>
        </p:spPr>
        <p:txBody>
          <a:bodyPr wrap="square" lIns="0" tIns="0" rIns="0" bIns="0" anchor="t">
            <a:noAutofit/>
          </a:bodyPr>
          <a:lstStyle/>
          <a:p>
            <a:pPr algn="l">
              <a:lnSpc>
                <a:spcPts val="3960"/>
              </a:lnSpc>
            </a:pPr>
            <a:r>
              <a:rPr sz="3600" b="0" i="0" spc="-50">
                <a:solidFill>
                  <a:srgbClr val="0A2540"/>
                </a:solidFill>
                <a:latin typeface="DM Serif Display"/>
              </a:rPr>
              <a:t>144 deelnemers, zes voetklinieken</a:t>
            </a:r>
          </a:p>
        </p:txBody>
      </p:sp>
      <p:sp>
        <p:nvSpPr>
          <p:cNvPr id="11" name="TextBox 10"/>
          <p:cNvSpPr txBox="1"/>
          <p:nvPr/>
        </p:nvSpPr>
        <p:spPr>
          <a:xfrm>
            <a:off x="812800" y="2501900"/>
            <a:ext cx="812800" cy="508000"/>
          </a:xfrm>
          <a:prstGeom prst="rect">
            <a:avLst/>
          </a:prstGeom>
          <a:noFill/>
        </p:spPr>
        <p:txBody>
          <a:bodyPr wrap="none" lIns="0" tIns="0" rIns="0" bIns="0" anchor="t">
            <a:noAutofit/>
          </a:bodyPr>
          <a:lstStyle/>
          <a:p>
            <a:pPr algn="l">
              <a:lnSpc>
                <a:spcPts val="4000"/>
              </a:lnSpc>
            </a:pPr>
            <a:r>
              <a:rPr sz="4000" b="0" i="0">
                <a:solidFill>
                  <a:srgbClr val="0A2540"/>
                </a:solidFill>
                <a:latin typeface="DM Serif Display"/>
              </a:rPr>
              <a:t>24</a:t>
            </a:r>
          </a:p>
        </p:txBody>
      </p:sp>
      <p:sp>
        <p:nvSpPr>
          <p:cNvPr id="12" name="TextBox 11"/>
          <p:cNvSpPr txBox="1"/>
          <p:nvPr/>
        </p:nvSpPr>
        <p:spPr>
          <a:xfrm>
            <a:off x="1778000" y="2755900"/>
            <a:ext cx="3031236"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per centrum: 12 in Optimal Care, 12 in Usual Care</a:t>
            </a:r>
          </a:p>
        </p:txBody>
      </p:sp>
      <p:sp>
        <p:nvSpPr>
          <p:cNvPr id="13" name="Rectangle 12"/>
          <p:cNvSpPr/>
          <p:nvPr/>
        </p:nvSpPr>
        <p:spPr>
          <a:xfrm>
            <a:off x="812800" y="3350220"/>
            <a:ext cx="3937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2800" y="3470870"/>
            <a:ext cx="812800" cy="508000"/>
          </a:xfrm>
          <a:prstGeom prst="rect">
            <a:avLst/>
          </a:prstGeom>
          <a:noFill/>
        </p:spPr>
        <p:txBody>
          <a:bodyPr wrap="none" lIns="0" tIns="0" rIns="0" bIns="0" anchor="t">
            <a:noAutofit/>
          </a:bodyPr>
          <a:lstStyle/>
          <a:p>
            <a:pPr algn="l">
              <a:lnSpc>
                <a:spcPts val="4000"/>
              </a:lnSpc>
            </a:pPr>
            <a:r>
              <a:rPr sz="4000" b="0" i="0">
                <a:solidFill>
                  <a:srgbClr val="0A2540"/>
                </a:solidFill>
                <a:latin typeface="DM Serif Display"/>
              </a:rPr>
              <a:t>18</a:t>
            </a:r>
          </a:p>
        </p:txBody>
      </p:sp>
      <p:sp>
        <p:nvSpPr>
          <p:cNvPr id="15" name="TextBox 14"/>
          <p:cNvSpPr txBox="1"/>
          <p:nvPr/>
        </p:nvSpPr>
        <p:spPr>
          <a:xfrm>
            <a:off x="1778000" y="3724870"/>
            <a:ext cx="30226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maanden opvolging per deelnemer</a:t>
            </a:r>
          </a:p>
        </p:txBody>
      </p:sp>
      <p:sp>
        <p:nvSpPr>
          <p:cNvPr id="16" name="Rectangle 15"/>
          <p:cNvSpPr/>
          <p:nvPr/>
        </p:nvSpPr>
        <p:spPr>
          <a:xfrm>
            <a:off x="812800" y="4093170"/>
            <a:ext cx="3937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2800" y="4213820"/>
            <a:ext cx="812800" cy="508000"/>
          </a:xfrm>
          <a:prstGeom prst="rect">
            <a:avLst/>
          </a:prstGeom>
          <a:noFill/>
        </p:spPr>
        <p:txBody>
          <a:bodyPr wrap="none" lIns="0" tIns="0" rIns="0" bIns="0" anchor="t">
            <a:noAutofit/>
          </a:bodyPr>
          <a:lstStyle/>
          <a:p>
            <a:pPr algn="l">
              <a:lnSpc>
                <a:spcPts val="4000"/>
              </a:lnSpc>
            </a:pPr>
            <a:r>
              <a:rPr sz="4000" b="0" i="0">
                <a:solidFill>
                  <a:srgbClr val="0A2540"/>
                </a:solidFill>
                <a:latin typeface="DM Serif Display"/>
              </a:rPr>
              <a:t>1</a:t>
            </a:r>
          </a:p>
        </p:txBody>
      </p:sp>
      <p:sp>
        <p:nvSpPr>
          <p:cNvPr id="18" name="TextBox 17"/>
          <p:cNvSpPr txBox="1"/>
          <p:nvPr/>
        </p:nvSpPr>
        <p:spPr>
          <a:xfrm>
            <a:off x="1778000" y="4467820"/>
            <a:ext cx="3031236"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primair eindpunt: voetulcusrecidief over 18 maanden</a:t>
            </a:r>
          </a:p>
        </p:txBody>
      </p:sp>
      <p:sp>
        <p:nvSpPr>
          <p:cNvPr id="19" name="TextBox 18"/>
          <p:cNvSpPr txBox="1"/>
          <p:nvPr/>
        </p:nvSpPr>
        <p:spPr>
          <a:xfrm>
            <a:off x="812800" y="5346898"/>
            <a:ext cx="3987800" cy="222885"/>
          </a:xfrm>
          <a:prstGeom prst="rect">
            <a:avLst/>
          </a:prstGeom>
          <a:noFill/>
        </p:spPr>
        <p:txBody>
          <a:bodyPr wrap="none" lIns="0" tIns="0" rIns="0" bIns="0" anchor="t">
            <a:noAutofit/>
          </a:bodyPr>
          <a:lstStyle/>
          <a:p>
            <a:pPr algn="l">
              <a:lnSpc>
                <a:spcPts val="1755"/>
              </a:lnSpc>
            </a:pPr>
            <a:r>
              <a:rPr sz="1300" b="0" i="0">
                <a:solidFill>
                  <a:srgbClr val="5A6E80"/>
                </a:solidFill>
                <a:latin typeface="DM Sans"/>
              </a:rPr>
              <a:t>De PI randomiseert, met verzegelde enveloppen.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Nieuw in het studieteam</a:t>
            </a:r>
          </a:p>
        </p:txBody>
      </p:sp>
      <p:pic>
        <p:nvPicPr>
          <p:cNvPr id="3" name="Picture 2" descr="a6c090e5bb20bd65f24d045ad3a5b4b9.png"/>
          <p:cNvPicPr>
            <a:picLocks noChangeAspect="1"/>
          </p:cNvPicPr>
          <p:nvPr/>
        </p:nvPicPr>
        <p:blipFill>
          <a:blip r:embed="rId3"/>
          <a:stretch>
            <a:fillRect/>
          </a:stretch>
        </p:blipFill>
        <p:spPr>
          <a:xfrm>
            <a:off x="812800" y="1671241"/>
            <a:ext cx="1397000" cy="1397000"/>
          </a:xfrm>
          <a:prstGeom prst="rect">
            <a:avLst/>
          </a:prstGeom>
        </p:spPr>
      </p:pic>
      <p:sp>
        <p:nvSpPr>
          <p:cNvPr id="4" name="TextBox 3"/>
          <p:cNvSpPr txBox="1"/>
          <p:nvPr/>
        </p:nvSpPr>
        <p:spPr>
          <a:xfrm>
            <a:off x="812800" y="3233341"/>
            <a:ext cx="3268067" cy="198120"/>
          </a:xfrm>
          <a:prstGeom prst="rect">
            <a:avLst/>
          </a:prstGeom>
          <a:noFill/>
        </p:spPr>
        <p:txBody>
          <a:bodyPr wrap="none" lIns="0" tIns="0" rIns="0" bIns="0" anchor="t">
            <a:noAutofit/>
          </a:bodyPr>
          <a:lstStyle/>
          <a:p>
            <a:pPr algn="l"/>
            <a:r>
              <a:rPr sz="1200" b="1" i="0">
                <a:solidFill>
                  <a:srgbClr val="0B6E8F"/>
                </a:solidFill>
                <a:latin typeface="DM Sans"/>
              </a:rPr>
              <a:t>PhD A</a:t>
            </a:r>
          </a:p>
        </p:txBody>
      </p:sp>
      <p:sp>
        <p:nvSpPr>
          <p:cNvPr id="5" name="TextBox 4"/>
          <p:cNvSpPr txBox="1"/>
          <p:nvPr/>
        </p:nvSpPr>
        <p:spPr>
          <a:xfrm>
            <a:off x="812800" y="3506391"/>
            <a:ext cx="3268067" cy="306705"/>
          </a:xfrm>
          <a:prstGeom prst="rect">
            <a:avLst/>
          </a:prstGeom>
          <a:noFill/>
        </p:spPr>
        <p:txBody>
          <a:bodyPr wrap="none" lIns="0" tIns="0" rIns="0" bIns="0" anchor="t">
            <a:noAutofit/>
          </a:bodyPr>
          <a:lstStyle/>
          <a:p>
            <a:pPr algn="l">
              <a:lnSpc>
                <a:spcPts val="2415"/>
              </a:lnSpc>
            </a:pPr>
            <a:r>
              <a:rPr sz="2300" b="0" i="0">
                <a:solidFill>
                  <a:srgbClr val="0A2540"/>
                </a:solidFill>
                <a:latin typeface="DM Serif Display"/>
              </a:rPr>
              <a:t>Janou De Buyser</a:t>
            </a:r>
          </a:p>
        </p:txBody>
      </p:sp>
      <p:sp>
        <p:nvSpPr>
          <p:cNvPr id="6" name="Rectangle 5"/>
          <p:cNvSpPr/>
          <p:nvPr/>
        </p:nvSpPr>
        <p:spPr>
          <a:xfrm>
            <a:off x="812800" y="4176216"/>
            <a:ext cx="3217267"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2800" y="3889276"/>
            <a:ext cx="3268067" cy="198120"/>
          </a:xfrm>
          <a:prstGeom prst="rect">
            <a:avLst/>
          </a:prstGeom>
          <a:noFill/>
        </p:spPr>
        <p:txBody>
          <a:bodyPr wrap="none" lIns="0" tIns="0" rIns="0" bIns="0" anchor="t">
            <a:noAutofit/>
          </a:bodyPr>
          <a:lstStyle/>
          <a:p>
            <a:pPr algn="l">
              <a:lnSpc>
                <a:spcPts val="1560"/>
              </a:lnSpc>
            </a:pPr>
            <a:r>
              <a:rPr sz="1200" b="0" i="0">
                <a:solidFill>
                  <a:srgbClr val="5A6E80"/>
                </a:solidFill>
                <a:latin typeface="DM Sans"/>
              </a:rPr>
              <a:t>doctoraatsonderzoeker</a:t>
            </a:r>
          </a:p>
        </p:txBody>
      </p:sp>
      <p:sp>
        <p:nvSpPr>
          <p:cNvPr id="8" name="TextBox 7"/>
          <p:cNvSpPr txBox="1"/>
          <p:nvPr/>
        </p:nvSpPr>
        <p:spPr>
          <a:xfrm>
            <a:off x="812800" y="4258766"/>
            <a:ext cx="3281613" cy="445691"/>
          </a:xfrm>
          <a:prstGeom prst="rect">
            <a:avLst/>
          </a:prstGeom>
          <a:noFill/>
        </p:spPr>
        <p:txBody>
          <a:bodyPr wrap="square" lIns="0" tIns="0" rIns="0" bIns="0" anchor="t">
            <a:noAutofit/>
          </a:bodyPr>
          <a:lstStyle/>
          <a:p>
            <a:pPr algn="l">
              <a:lnSpc>
                <a:spcPts val="1755"/>
              </a:lnSpc>
            </a:pPr>
            <a:r>
              <a:rPr sz="1350" b="1" i="0">
                <a:solidFill>
                  <a:srgbClr val="0A2540"/>
                </a:solidFill>
                <a:latin typeface="DM Sans"/>
              </a:rPr>
              <a:t>Contactpersoon</a:t>
            </a:r>
            <a:r>
              <a:rPr sz="1350" b="0" i="0">
                <a:solidFill>
                  <a:srgbClr val="0A2540"/>
                </a:solidFill>
                <a:latin typeface="DM Sans"/>
              </a:rPr>
              <a:t> voor Brugge, Gent en Kortrijk</a:t>
            </a:r>
          </a:p>
        </p:txBody>
      </p:sp>
      <p:sp>
        <p:nvSpPr>
          <p:cNvPr id="9" name="TextBox 8"/>
          <p:cNvSpPr txBox="1"/>
          <p:nvPr/>
        </p:nvSpPr>
        <p:spPr>
          <a:xfrm>
            <a:off x="812800" y="4780657"/>
            <a:ext cx="3281613" cy="445691"/>
          </a:xfrm>
          <a:prstGeom prst="rect">
            <a:avLst/>
          </a:prstGeom>
          <a:noFill/>
        </p:spPr>
        <p:txBody>
          <a:bodyPr wrap="square" lIns="0" tIns="0" rIns="0" bIns="0" anchor="t">
            <a:noAutofit/>
          </a:bodyPr>
          <a:lstStyle/>
          <a:p>
            <a:pPr algn="l">
              <a:lnSpc>
                <a:spcPts val="1755"/>
              </a:lnSpc>
            </a:pPr>
            <a:r>
              <a:rPr sz="1350" b="1" i="0">
                <a:solidFill>
                  <a:srgbClr val="0A2540"/>
                </a:solidFill>
                <a:latin typeface="DM Sans"/>
              </a:rPr>
              <a:t>Procesevaluatie</a:t>
            </a:r>
            <a:r>
              <a:rPr sz="1350" b="0" i="0">
                <a:solidFill>
                  <a:srgbClr val="0A2540"/>
                </a:solidFill>
                <a:latin typeface="DM Sans"/>
              </a:rPr>
              <a:t> in Leuven, Aalst en Antwerpen</a:t>
            </a:r>
          </a:p>
        </p:txBody>
      </p:sp>
      <p:sp>
        <p:nvSpPr>
          <p:cNvPr id="10" name="TextBox 9"/>
          <p:cNvSpPr txBox="1"/>
          <p:nvPr/>
        </p:nvSpPr>
        <p:spPr>
          <a:xfrm>
            <a:off x="812800" y="5302548"/>
            <a:ext cx="3281613" cy="445691"/>
          </a:xfrm>
          <a:prstGeom prst="rect">
            <a:avLst/>
          </a:prstGeom>
          <a:noFill/>
        </p:spPr>
        <p:txBody>
          <a:bodyPr wrap="square" lIns="0" tIns="0" rIns="0" bIns="0" anchor="t">
            <a:noAutofit/>
          </a:bodyPr>
          <a:lstStyle/>
          <a:p>
            <a:pPr algn="l">
              <a:lnSpc>
                <a:spcPts val="1755"/>
              </a:lnSpc>
            </a:pPr>
            <a:r>
              <a:rPr sz="1350" b="1" i="0">
                <a:solidFill>
                  <a:srgbClr val="0A2540"/>
                </a:solidFill>
                <a:latin typeface="DM Sans"/>
              </a:rPr>
              <a:t>Opleiding</a:t>
            </a:r>
            <a:r>
              <a:rPr sz="1350" b="0" i="0">
                <a:solidFill>
                  <a:srgbClr val="0A2540"/>
                </a:solidFill>
                <a:latin typeface="DM Sans"/>
              </a:rPr>
              <a:t>: theorie, technologie, datacollectie en droogloop</a:t>
            </a:r>
          </a:p>
        </p:txBody>
      </p:sp>
      <p:sp>
        <p:nvSpPr>
          <p:cNvPr id="11" name="Rounded Rectangle 10"/>
          <p:cNvSpPr/>
          <p:nvPr/>
        </p:nvSpPr>
        <p:spPr>
          <a:xfrm>
            <a:off x="4487267" y="1671241"/>
            <a:ext cx="1397000" cy="1397000"/>
          </a:xfrm>
          <a:prstGeom prst="roundRect">
            <a:avLst>
              <a:gd name="adj" fmla="val 50000"/>
            </a:avLst>
          </a:prstGeom>
          <a:solidFill>
            <a:srgbClr val="FFFFFF"/>
          </a:solidFill>
          <a:ln w="25400">
            <a:solidFill>
              <a:srgbClr val="A34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487267" y="3233341"/>
            <a:ext cx="3268166" cy="198120"/>
          </a:xfrm>
          <a:prstGeom prst="rect">
            <a:avLst/>
          </a:prstGeom>
          <a:noFill/>
        </p:spPr>
        <p:txBody>
          <a:bodyPr wrap="none" lIns="0" tIns="0" rIns="0" bIns="0" anchor="t">
            <a:noAutofit/>
          </a:bodyPr>
          <a:lstStyle/>
          <a:p>
            <a:pPr algn="l"/>
            <a:r>
              <a:rPr sz="1200" b="1" i="0">
                <a:solidFill>
                  <a:srgbClr val="A34A00"/>
                </a:solidFill>
                <a:latin typeface="DM Sans"/>
              </a:rPr>
              <a:t>PhD B</a:t>
            </a:r>
          </a:p>
        </p:txBody>
      </p:sp>
      <p:sp>
        <p:nvSpPr>
          <p:cNvPr id="13" name="TextBox 12"/>
          <p:cNvSpPr txBox="1"/>
          <p:nvPr/>
        </p:nvSpPr>
        <p:spPr>
          <a:xfrm>
            <a:off x="4487267" y="3506391"/>
            <a:ext cx="3268166" cy="306705"/>
          </a:xfrm>
          <a:prstGeom prst="rect">
            <a:avLst/>
          </a:prstGeom>
          <a:noFill/>
        </p:spPr>
        <p:txBody>
          <a:bodyPr wrap="none" lIns="0" tIns="0" rIns="0" bIns="0" anchor="t">
            <a:noAutofit/>
          </a:bodyPr>
          <a:lstStyle/>
          <a:p>
            <a:pPr algn="l">
              <a:lnSpc>
                <a:spcPts val="2415"/>
              </a:lnSpc>
            </a:pPr>
            <a:r>
              <a:rPr sz="2300" b="0" i="0">
                <a:solidFill>
                  <a:srgbClr val="0A2540"/>
                </a:solidFill>
                <a:latin typeface="DM Serif Display"/>
              </a:rPr>
              <a:t>nog te selecteren</a:t>
            </a:r>
          </a:p>
        </p:txBody>
      </p:sp>
      <p:sp>
        <p:nvSpPr>
          <p:cNvPr id="14" name="Rectangle 13"/>
          <p:cNvSpPr/>
          <p:nvPr/>
        </p:nvSpPr>
        <p:spPr>
          <a:xfrm>
            <a:off x="4487267" y="4176216"/>
            <a:ext cx="3217366"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87267" y="3889276"/>
            <a:ext cx="3268166" cy="198120"/>
          </a:xfrm>
          <a:prstGeom prst="rect">
            <a:avLst/>
          </a:prstGeom>
          <a:noFill/>
        </p:spPr>
        <p:txBody>
          <a:bodyPr wrap="none" lIns="0" tIns="0" rIns="0" bIns="0" anchor="t">
            <a:noAutofit/>
          </a:bodyPr>
          <a:lstStyle/>
          <a:p>
            <a:pPr algn="l">
              <a:lnSpc>
                <a:spcPts val="1560"/>
              </a:lnSpc>
            </a:pPr>
            <a:r>
              <a:rPr sz="1200" b="0" i="0">
                <a:solidFill>
                  <a:srgbClr val="5A6E80"/>
                </a:solidFill>
                <a:latin typeface="DM Sans"/>
              </a:rPr>
              <a:t>doctoraatsonderzoeker</a:t>
            </a:r>
          </a:p>
        </p:txBody>
      </p:sp>
      <p:sp>
        <p:nvSpPr>
          <p:cNvPr id="16" name="TextBox 15"/>
          <p:cNvSpPr txBox="1"/>
          <p:nvPr/>
        </p:nvSpPr>
        <p:spPr>
          <a:xfrm>
            <a:off x="4487267" y="4258766"/>
            <a:ext cx="3281714" cy="445691"/>
          </a:xfrm>
          <a:prstGeom prst="rect">
            <a:avLst/>
          </a:prstGeom>
          <a:noFill/>
        </p:spPr>
        <p:txBody>
          <a:bodyPr wrap="square" lIns="0" tIns="0" rIns="0" bIns="0" anchor="t">
            <a:noAutofit/>
          </a:bodyPr>
          <a:lstStyle/>
          <a:p>
            <a:pPr algn="l">
              <a:lnSpc>
                <a:spcPts val="1755"/>
              </a:lnSpc>
            </a:pPr>
            <a:r>
              <a:rPr sz="1350" b="1" i="0">
                <a:solidFill>
                  <a:srgbClr val="0A2540"/>
                </a:solidFill>
                <a:latin typeface="DM Sans"/>
              </a:rPr>
              <a:t>Contactpersoon</a:t>
            </a:r>
            <a:r>
              <a:rPr sz="1350" b="0" i="0">
                <a:solidFill>
                  <a:srgbClr val="0A2540"/>
                </a:solidFill>
                <a:latin typeface="DM Sans"/>
              </a:rPr>
              <a:t> voor Aalst, Leuven en Antwerpen</a:t>
            </a:r>
          </a:p>
        </p:txBody>
      </p:sp>
      <p:sp>
        <p:nvSpPr>
          <p:cNvPr id="17" name="TextBox 16"/>
          <p:cNvSpPr txBox="1"/>
          <p:nvPr/>
        </p:nvSpPr>
        <p:spPr>
          <a:xfrm>
            <a:off x="4487267" y="4780657"/>
            <a:ext cx="3281714" cy="445691"/>
          </a:xfrm>
          <a:prstGeom prst="rect">
            <a:avLst/>
          </a:prstGeom>
          <a:noFill/>
        </p:spPr>
        <p:txBody>
          <a:bodyPr wrap="square" lIns="0" tIns="0" rIns="0" bIns="0" anchor="t">
            <a:noAutofit/>
          </a:bodyPr>
          <a:lstStyle/>
          <a:p>
            <a:pPr algn="l">
              <a:lnSpc>
                <a:spcPts val="1755"/>
              </a:lnSpc>
            </a:pPr>
            <a:r>
              <a:rPr sz="1350" b="1" i="0">
                <a:solidFill>
                  <a:srgbClr val="0A2540"/>
                </a:solidFill>
                <a:latin typeface="DM Sans"/>
              </a:rPr>
              <a:t>Procesevaluatie</a:t>
            </a:r>
            <a:r>
              <a:rPr sz="1350" b="0" i="0">
                <a:solidFill>
                  <a:srgbClr val="0A2540"/>
                </a:solidFill>
                <a:latin typeface="DM Sans"/>
              </a:rPr>
              <a:t> in Brugge, Gent en Kortrijk</a:t>
            </a:r>
          </a:p>
        </p:txBody>
      </p:sp>
      <p:pic>
        <p:nvPicPr>
          <p:cNvPr id="18" name="Picture 17" descr="12e6f0653de5aa4c76ee29f03afe4abc.png"/>
          <p:cNvPicPr>
            <a:picLocks noChangeAspect="1"/>
          </p:cNvPicPr>
          <p:nvPr/>
        </p:nvPicPr>
        <p:blipFill>
          <a:blip r:embed="rId4"/>
          <a:stretch>
            <a:fillRect/>
          </a:stretch>
        </p:blipFill>
        <p:spPr>
          <a:xfrm>
            <a:off x="8161834" y="1671241"/>
            <a:ext cx="1397000" cy="1397000"/>
          </a:xfrm>
          <a:prstGeom prst="rect">
            <a:avLst/>
          </a:prstGeom>
        </p:spPr>
      </p:pic>
      <p:sp>
        <p:nvSpPr>
          <p:cNvPr id="19" name="TextBox 18"/>
          <p:cNvSpPr txBox="1"/>
          <p:nvPr/>
        </p:nvSpPr>
        <p:spPr>
          <a:xfrm>
            <a:off x="8161834" y="3233341"/>
            <a:ext cx="3268166" cy="198120"/>
          </a:xfrm>
          <a:prstGeom prst="rect">
            <a:avLst/>
          </a:prstGeom>
          <a:noFill/>
        </p:spPr>
        <p:txBody>
          <a:bodyPr wrap="none" lIns="0" tIns="0" rIns="0" bIns="0" anchor="t">
            <a:noAutofit/>
          </a:bodyPr>
          <a:lstStyle/>
          <a:p>
            <a:pPr algn="l"/>
            <a:r>
              <a:rPr sz="1200" b="1" i="0">
                <a:solidFill>
                  <a:srgbClr val="00407A"/>
                </a:solidFill>
                <a:latin typeface="DM Sans"/>
              </a:rPr>
              <a:t>Labmanager</a:t>
            </a:r>
          </a:p>
        </p:txBody>
      </p:sp>
      <p:sp>
        <p:nvSpPr>
          <p:cNvPr id="20" name="TextBox 19"/>
          <p:cNvSpPr txBox="1"/>
          <p:nvPr/>
        </p:nvSpPr>
        <p:spPr>
          <a:xfrm>
            <a:off x="8161834" y="3506391"/>
            <a:ext cx="3268166" cy="306705"/>
          </a:xfrm>
          <a:prstGeom prst="rect">
            <a:avLst/>
          </a:prstGeom>
          <a:noFill/>
        </p:spPr>
        <p:txBody>
          <a:bodyPr wrap="none" lIns="0" tIns="0" rIns="0" bIns="0" anchor="t">
            <a:noAutofit/>
          </a:bodyPr>
          <a:lstStyle/>
          <a:p>
            <a:pPr algn="l">
              <a:lnSpc>
                <a:spcPts val="2415"/>
              </a:lnSpc>
            </a:pPr>
            <a:r>
              <a:rPr sz="2300" b="0" i="0">
                <a:solidFill>
                  <a:srgbClr val="0A2540"/>
                </a:solidFill>
                <a:latin typeface="DM Serif Display"/>
              </a:rPr>
              <a:t>Gillian Debra</a:t>
            </a:r>
          </a:p>
        </p:txBody>
      </p:sp>
      <p:sp>
        <p:nvSpPr>
          <p:cNvPr id="21" name="Rectangle 20"/>
          <p:cNvSpPr/>
          <p:nvPr/>
        </p:nvSpPr>
        <p:spPr>
          <a:xfrm>
            <a:off x="8161834" y="4176216"/>
            <a:ext cx="3217366"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61834" y="3889276"/>
            <a:ext cx="3268166" cy="198120"/>
          </a:xfrm>
          <a:prstGeom prst="rect">
            <a:avLst/>
          </a:prstGeom>
          <a:noFill/>
        </p:spPr>
        <p:txBody>
          <a:bodyPr wrap="none" lIns="0" tIns="0" rIns="0" bIns="0" anchor="t">
            <a:noAutofit/>
          </a:bodyPr>
          <a:lstStyle/>
          <a:p>
            <a:pPr algn="l">
              <a:lnSpc>
                <a:spcPts val="1560"/>
              </a:lnSpc>
            </a:pPr>
            <a:r>
              <a:rPr sz="1200" b="0" i="0">
                <a:solidFill>
                  <a:srgbClr val="5A6E80"/>
                </a:solidFill>
                <a:latin typeface="DM Sans"/>
              </a:rPr>
              <a:t>regelgeving en studiedossier</a:t>
            </a:r>
          </a:p>
        </p:txBody>
      </p:sp>
      <p:sp>
        <p:nvSpPr>
          <p:cNvPr id="23" name="TextBox 22"/>
          <p:cNvSpPr txBox="1"/>
          <p:nvPr/>
        </p:nvSpPr>
        <p:spPr>
          <a:xfrm>
            <a:off x="8161834" y="4258766"/>
            <a:ext cx="3268166" cy="222885"/>
          </a:xfrm>
          <a:prstGeom prst="rect">
            <a:avLst/>
          </a:prstGeom>
          <a:noFill/>
        </p:spPr>
        <p:txBody>
          <a:bodyPr wrap="none" lIns="0" tIns="0" rIns="0" bIns="0" anchor="t">
            <a:noAutofit/>
          </a:bodyPr>
          <a:lstStyle/>
          <a:p>
            <a:pPr algn="l">
              <a:lnSpc>
                <a:spcPts val="1755"/>
              </a:lnSpc>
            </a:pPr>
            <a:r>
              <a:rPr sz="1350" b="1" i="0">
                <a:solidFill>
                  <a:srgbClr val="0A2540"/>
                </a:solidFill>
                <a:latin typeface="DM Sans"/>
              </a:rPr>
              <a:t>Trial master file</a:t>
            </a:r>
            <a:r>
              <a:rPr sz="1350" b="0" i="0">
                <a:solidFill>
                  <a:srgbClr val="0A2540"/>
                </a:solidFill>
                <a:latin typeface="DM Sans"/>
              </a:rPr>
              <a:t> (TMF)</a:t>
            </a:r>
          </a:p>
        </p:txBody>
      </p:sp>
      <p:sp>
        <p:nvSpPr>
          <p:cNvPr id="24" name="TextBox 23"/>
          <p:cNvSpPr txBox="1"/>
          <p:nvPr/>
        </p:nvSpPr>
        <p:spPr>
          <a:xfrm>
            <a:off x="8161834" y="4557812"/>
            <a:ext cx="3268166" cy="222885"/>
          </a:xfrm>
          <a:prstGeom prst="rect">
            <a:avLst/>
          </a:prstGeom>
          <a:noFill/>
        </p:spPr>
        <p:txBody>
          <a:bodyPr wrap="none" lIns="0" tIns="0" rIns="0" bIns="0" anchor="t">
            <a:noAutofit/>
          </a:bodyPr>
          <a:lstStyle/>
          <a:p>
            <a:pPr algn="l">
              <a:lnSpc>
                <a:spcPts val="1755"/>
              </a:lnSpc>
            </a:pPr>
            <a:r>
              <a:rPr sz="1350" b="1" i="0">
                <a:solidFill>
                  <a:srgbClr val="0A2540"/>
                </a:solidFill>
                <a:latin typeface="DM Sans"/>
              </a:rPr>
              <a:t>Ethische comités</a:t>
            </a:r>
            <a:r>
              <a:rPr sz="1350" b="0" i="0">
                <a:solidFill>
                  <a:srgbClr val="0A2540"/>
                </a:solidFill>
                <a:latin typeface="DM Sans"/>
              </a:rPr>
              <a:t> (EC)</a:t>
            </a:r>
          </a:p>
        </p:txBody>
      </p:sp>
      <p:sp>
        <p:nvSpPr>
          <p:cNvPr id="25" name="TextBox 24"/>
          <p:cNvSpPr txBox="1"/>
          <p:nvPr/>
        </p:nvSpPr>
        <p:spPr>
          <a:xfrm>
            <a:off x="8161834" y="4856857"/>
            <a:ext cx="3268166" cy="222885"/>
          </a:xfrm>
          <a:prstGeom prst="rect">
            <a:avLst/>
          </a:prstGeom>
          <a:noFill/>
        </p:spPr>
        <p:txBody>
          <a:bodyPr wrap="none" lIns="0" tIns="0" rIns="0" bIns="0" anchor="t">
            <a:noAutofit/>
          </a:bodyPr>
          <a:lstStyle/>
          <a:p>
            <a:pPr algn="l">
              <a:lnSpc>
                <a:spcPts val="1755"/>
              </a:lnSpc>
            </a:pPr>
            <a:r>
              <a:rPr sz="1350" b="1" i="0">
                <a:solidFill>
                  <a:srgbClr val="0A2540"/>
                </a:solidFill>
                <a:latin typeface="DM Sans"/>
              </a:rPr>
              <a:t>FAGG</a:t>
            </a:r>
          </a:p>
        </p:txBody>
      </p:sp>
      <p:pic>
        <p:nvPicPr>
          <p:cNvPr id="26" name="Picture 25" descr="ec5c93e6f83f209b4e97ddfdecd480c8.png"/>
          <p:cNvPicPr>
            <a:picLocks noChangeAspect="1"/>
          </p:cNvPicPr>
          <p:nvPr/>
        </p:nvPicPr>
        <p:blipFill>
          <a:blip r:embed="rId5"/>
          <a:stretch>
            <a:fillRect/>
          </a:stretch>
        </p:blipFill>
        <p:spPr>
          <a:xfrm>
            <a:off x="812967" y="6261100"/>
            <a:ext cx="171116" cy="203200"/>
          </a:xfrm>
          <a:prstGeom prst="rect">
            <a:avLst/>
          </a:prstGeom>
        </p:spPr>
      </p:pic>
      <p:sp>
        <p:nvSpPr>
          <p:cNvPr id="27" name="TextBox 26"/>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Stand van zaken</a:t>
            </a:r>
          </a:p>
        </p:txBody>
      </p:sp>
      <p:sp>
        <p:nvSpPr>
          <p:cNvPr id="28" name="TextBox 27"/>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studieteam, 8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 name="TextBox 2"/>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Stand van zaken</a:t>
            </a:r>
          </a:p>
        </p:txBody>
      </p:sp>
      <p:sp>
        <p:nvSpPr>
          <p:cNvPr id="4" name="TextBox 3"/>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stand op 12 oktober 2026</a:t>
            </a:r>
          </a:p>
        </p:txBody>
      </p:sp>
      <p:sp>
        <p:nvSpPr>
          <p:cNvPr id="5" name="TextBox 4"/>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Goedkeuring per centrum</a:t>
            </a:r>
          </a:p>
        </p:txBody>
      </p:sp>
      <p:sp>
        <p:nvSpPr>
          <p:cNvPr id="6" name="Rectangle 5"/>
          <p:cNvSpPr/>
          <p:nvPr/>
        </p:nvSpPr>
        <p:spPr>
          <a:xfrm>
            <a:off x="812800" y="1835150"/>
            <a:ext cx="51943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2800" y="2044700"/>
            <a:ext cx="1808460" cy="198120"/>
          </a:xfrm>
          <a:prstGeom prst="rect">
            <a:avLst/>
          </a:prstGeom>
          <a:noFill/>
        </p:spPr>
        <p:txBody>
          <a:bodyPr wrap="none" lIns="0" tIns="0" rIns="0" bIns="0" anchor="t">
            <a:noAutofit/>
          </a:bodyPr>
          <a:lstStyle/>
          <a:p>
            <a:pPr algn="l"/>
            <a:r>
              <a:rPr sz="1200" b="1" i="0">
                <a:solidFill>
                  <a:srgbClr val="0B6E8F"/>
                </a:solidFill>
                <a:latin typeface="DM Sans"/>
              </a:rPr>
              <a:t>Centraal · EC UZ Leuven</a:t>
            </a:r>
          </a:p>
        </p:txBody>
      </p:sp>
      <p:sp>
        <p:nvSpPr>
          <p:cNvPr id="8" name="TextBox 7"/>
          <p:cNvSpPr txBox="1"/>
          <p:nvPr/>
        </p:nvSpPr>
        <p:spPr>
          <a:xfrm>
            <a:off x="2722860" y="2035175"/>
            <a:ext cx="3335040" cy="215900"/>
          </a:xfrm>
          <a:prstGeom prst="rect">
            <a:avLst/>
          </a:prstGeom>
          <a:noFill/>
        </p:spPr>
        <p:txBody>
          <a:bodyPr wrap="none" lIns="0" tIns="0" rIns="0" bIns="0" anchor="t">
            <a:noAutofit/>
          </a:bodyPr>
          <a:lstStyle/>
          <a:p>
            <a:pPr algn="l"/>
            <a:r>
              <a:rPr sz="1300" b="0" i="0">
                <a:solidFill>
                  <a:srgbClr val="5A6E80"/>
                </a:solidFill>
                <a:latin typeface="DM Sans"/>
              </a:rPr>
              <a:t>In afwachting lokale CTC</a:t>
            </a:r>
          </a:p>
        </p:txBody>
      </p:sp>
      <p:sp>
        <p:nvSpPr>
          <p:cNvPr id="9" name="Rectangle 8"/>
          <p:cNvSpPr/>
          <p:nvPr/>
        </p:nvSpPr>
        <p:spPr>
          <a:xfrm>
            <a:off x="6184900" y="1835150"/>
            <a:ext cx="51943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84900" y="2044700"/>
            <a:ext cx="462756" cy="198120"/>
          </a:xfrm>
          <a:prstGeom prst="rect">
            <a:avLst/>
          </a:prstGeom>
          <a:noFill/>
        </p:spPr>
        <p:txBody>
          <a:bodyPr wrap="none" lIns="0" tIns="0" rIns="0" bIns="0" anchor="t">
            <a:noAutofit/>
          </a:bodyPr>
          <a:lstStyle/>
          <a:p>
            <a:pPr algn="l"/>
            <a:r>
              <a:rPr sz="1200" b="1" i="0">
                <a:solidFill>
                  <a:srgbClr val="0B6E8F"/>
                </a:solidFill>
                <a:latin typeface="DM Sans"/>
              </a:rPr>
              <a:t>FAGG</a:t>
            </a:r>
          </a:p>
        </p:txBody>
      </p:sp>
      <p:sp>
        <p:nvSpPr>
          <p:cNvPr id="11" name="TextBox 10"/>
          <p:cNvSpPr txBox="1"/>
          <p:nvPr/>
        </p:nvSpPr>
        <p:spPr>
          <a:xfrm>
            <a:off x="6749256" y="2035175"/>
            <a:ext cx="4680744" cy="215900"/>
          </a:xfrm>
          <a:prstGeom prst="rect">
            <a:avLst/>
          </a:prstGeom>
          <a:noFill/>
        </p:spPr>
        <p:txBody>
          <a:bodyPr wrap="none" lIns="0" tIns="0" rIns="0" bIns="0" anchor="t">
            <a:noAutofit/>
          </a:bodyPr>
          <a:lstStyle/>
          <a:p>
            <a:pPr algn="l"/>
            <a:r>
              <a:rPr sz="1300" b="0" i="0">
                <a:solidFill>
                  <a:srgbClr val="5A6E80"/>
                </a:solidFill>
                <a:latin typeface="DM Sans"/>
              </a:rPr>
              <a:t>Samen met EC UZ Leuven</a:t>
            </a:r>
          </a:p>
        </p:txBody>
      </p:sp>
      <p:graphicFrame>
        <p:nvGraphicFramePr>
          <p:cNvPr id="12" name="Table 11"/>
          <p:cNvGraphicFramePr>
            <a:graphicFrameLocks noGrp="1"/>
          </p:cNvGraphicFramePr>
          <p:nvPr/>
        </p:nvGraphicFramePr>
        <p:xfrm>
          <a:off x="812800" y="2550914"/>
          <a:ext cx="10560050" cy="2168327"/>
        </p:xfrm>
        <a:graphic>
          <a:graphicData uri="http://schemas.openxmlformats.org/drawingml/2006/table">
            <a:tbl>
              <a:tblPr>
                <a:tableStyleId>{2D5ABB26-0587-4C30-8999-92F81FD0307C}</a:tableStyleId>
              </a:tblPr>
              <a:tblGrid>
                <a:gridCol w="2880023">
                  <a:extLst>
                    <a:ext uri="{9D8B030D-6E8A-4147-A177-3AD203B41FA5}">
                      <a16:colId xmlns:a16="http://schemas.microsoft.com/office/drawing/2014/main" val="20000"/>
                    </a:ext>
                  </a:extLst>
                </a:gridCol>
                <a:gridCol w="1919982">
                  <a:extLst>
                    <a:ext uri="{9D8B030D-6E8A-4147-A177-3AD203B41FA5}">
                      <a16:colId xmlns:a16="http://schemas.microsoft.com/office/drawing/2014/main" val="20001"/>
                    </a:ext>
                  </a:extLst>
                </a:gridCol>
                <a:gridCol w="1919982">
                  <a:extLst>
                    <a:ext uri="{9D8B030D-6E8A-4147-A177-3AD203B41FA5}">
                      <a16:colId xmlns:a16="http://schemas.microsoft.com/office/drawing/2014/main" val="20002"/>
                    </a:ext>
                  </a:extLst>
                </a:gridCol>
                <a:gridCol w="3840063">
                  <a:extLst>
                    <a:ext uri="{9D8B030D-6E8A-4147-A177-3AD203B41FA5}">
                      <a16:colId xmlns:a16="http://schemas.microsoft.com/office/drawing/2014/main" val="20003"/>
                    </a:ext>
                  </a:extLst>
                </a:gridCol>
              </a:tblGrid>
              <a:tr h="309761">
                <a:tc>
                  <a:txBody>
                    <a:bodyPr/>
                    <a:lstStyle/>
                    <a:p>
                      <a:pPr algn="ctr"/>
                      <a:r>
                        <a:rPr sz="1200" b="1" i="0">
                          <a:solidFill>
                            <a:srgbClr val="3A4F63"/>
                          </a:solidFill>
                          <a:latin typeface="DM Sans"/>
                        </a:rPr>
                        <a:t>Centrum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E2EBF2"/>
                    </a:solidFill>
                  </a:tcPr>
                </a:tc>
                <a:tc>
                  <a:txBody>
                    <a:bodyPr/>
                    <a:lstStyle/>
                    <a:p>
                      <a:pPr algn="ctr"/>
                      <a:r>
                        <a:rPr sz="1200" b="1" i="0">
                          <a:solidFill>
                            <a:srgbClr val="3A4F63"/>
                          </a:solidFill>
                          <a:latin typeface="DM Sans"/>
                        </a:rPr>
                        <a:t>Ingediend</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E2EBF2"/>
                    </a:solidFill>
                  </a:tcPr>
                </a:tc>
                <a:tc>
                  <a:txBody>
                    <a:bodyPr/>
                    <a:lstStyle/>
                    <a:p>
                      <a:pPr algn="ctr"/>
                      <a:r>
                        <a:rPr sz="1200" b="1" i="0">
                          <a:solidFill>
                            <a:srgbClr val="3A4F63"/>
                          </a:solidFill>
                          <a:latin typeface="DM Sans"/>
                        </a:rPr>
                        <a:t>Goedgekeurd</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E2EBF2"/>
                    </a:solidFill>
                  </a:tcPr>
                </a:tc>
                <a:tc>
                  <a:txBody>
                    <a:bodyPr/>
                    <a:lstStyle/>
                    <a:p>
                      <a:pPr algn="ctr"/>
                      <a:r>
                        <a:rPr sz="1200" b="1" i="0">
                          <a:solidFill>
                            <a:srgbClr val="3A4F63"/>
                          </a:solidFill>
                          <a:latin typeface="DM Sans"/>
                        </a:rPr>
                        <a:t>Stand</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E2EBF2"/>
                    </a:solidFill>
                  </a:tcPr>
                </a:tc>
                <a:extLst>
                  <a:ext uri="{0D108BD9-81ED-4DB2-BD59-A6C34878D82A}">
                    <a16:rowId xmlns:a16="http://schemas.microsoft.com/office/drawing/2014/main" val="10000"/>
                  </a:ext>
                </a:extLst>
              </a:tr>
              <a:tr h="309761">
                <a:tc>
                  <a:txBody>
                    <a:bodyPr/>
                    <a:lstStyle/>
                    <a:p>
                      <a:pPr algn="l"/>
                      <a:r>
                        <a:rPr sz="1200" b="0" i="0">
                          <a:solidFill>
                            <a:srgbClr val="3A4F63"/>
                          </a:solidFill>
                          <a:latin typeface="DM Sans"/>
                        </a:rPr>
                        <a:t>AZ Groeninge Kortrijk</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Ja</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Nee</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Volledig, bij externe diensten voor feedback</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1"/>
                  </a:ext>
                </a:extLst>
              </a:tr>
              <a:tr h="309761">
                <a:tc>
                  <a:txBody>
                    <a:bodyPr/>
                    <a:lstStyle/>
                    <a:p>
                      <a:pPr algn="l"/>
                      <a:r>
                        <a:rPr sz="1200" b="0" i="0">
                          <a:solidFill>
                            <a:srgbClr val="3A4F63"/>
                          </a:solidFill>
                          <a:latin typeface="DM Sans"/>
                        </a:rPr>
                        <a:t>AZ Sint-Jan Brugge</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Ja</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Nee</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Volledig, bij externe diensten voor feedback</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2"/>
                  </a:ext>
                </a:extLst>
              </a:tr>
              <a:tr h="309761">
                <a:tc>
                  <a:txBody>
                    <a:bodyPr/>
                    <a:lstStyle/>
                    <a:p>
                      <a:pPr algn="l"/>
                      <a:r>
                        <a:rPr sz="1200" b="0" i="0">
                          <a:solidFill>
                            <a:srgbClr val="3A4F63"/>
                          </a:solidFill>
                          <a:latin typeface="DM Sans"/>
                        </a:rPr>
                        <a:t>UZ Gent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Ja</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Nee</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Eerste feedback verwerkt; verloop afwachten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3"/>
                  </a:ext>
                </a:extLst>
              </a:tr>
              <a:tr h="309761">
                <a:tc>
                  <a:txBody>
                    <a:bodyPr/>
                    <a:lstStyle/>
                    <a:p>
                      <a:pPr algn="l"/>
                      <a:r>
                        <a:rPr sz="1200" b="0" i="0">
                          <a:solidFill>
                            <a:srgbClr val="3A4F63"/>
                          </a:solidFill>
                          <a:latin typeface="DM Sans"/>
                        </a:rPr>
                        <a:t>AZORG Aalst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n.v.t.¹</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n.v.t.¹</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Wacht op de goedkeuring van de andere CTC's</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4"/>
                  </a:ext>
                </a:extLst>
              </a:tr>
              <a:tr h="309761">
                <a:tc>
                  <a:txBody>
                    <a:bodyPr/>
                    <a:lstStyle/>
                    <a:p>
                      <a:pPr algn="l"/>
                      <a:r>
                        <a:rPr sz="1200" b="0" i="0">
                          <a:solidFill>
                            <a:srgbClr val="3A4F63"/>
                          </a:solidFill>
                          <a:latin typeface="DM Sans"/>
                        </a:rPr>
                        <a:t>UZ Leuven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Ja</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Ja</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Goedgekeurd; wacht op de andere CTC's</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5"/>
                  </a:ext>
                </a:extLst>
              </a:tr>
              <a:tr h="309761">
                <a:tc>
                  <a:txBody>
                    <a:bodyPr/>
                    <a:lstStyle/>
                    <a:p>
                      <a:pPr algn="l"/>
                      <a:r>
                        <a:rPr sz="1200" b="0" i="0">
                          <a:solidFill>
                            <a:srgbClr val="3A4F63"/>
                          </a:solidFill>
                          <a:latin typeface="DM Sans"/>
                        </a:rPr>
                        <a:t>UZ Antwerpen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Ja</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Nee</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Volledig, bij externe diensten voor feedback</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6"/>
                  </a:ext>
                </a:extLst>
              </a:tr>
            </a:tbl>
          </a:graphicData>
        </a:graphic>
      </p:graphicFrame>
      <p:sp>
        <p:nvSpPr>
          <p:cNvPr id="13" name="TextBox 12"/>
          <p:cNvSpPr txBox="1"/>
          <p:nvPr/>
        </p:nvSpPr>
        <p:spPr>
          <a:xfrm>
            <a:off x="812800" y="5083274"/>
            <a:ext cx="10617200" cy="213360"/>
          </a:xfrm>
          <a:prstGeom prst="rect">
            <a:avLst/>
          </a:prstGeom>
          <a:noFill/>
        </p:spPr>
        <p:txBody>
          <a:bodyPr wrap="none" lIns="0" tIns="0" rIns="0" bIns="0" anchor="t">
            <a:noAutofit/>
          </a:bodyPr>
          <a:lstStyle/>
          <a:p>
            <a:pPr algn="l">
              <a:lnSpc>
                <a:spcPts val="1680"/>
              </a:lnSpc>
            </a:pPr>
            <a:r>
              <a:rPr sz="1200" b="0" i="0">
                <a:solidFill>
                  <a:srgbClr val="5A6E80"/>
                </a:solidFill>
                <a:latin typeface="DM Sans"/>
              </a:rPr>
              <a:t>¹ AZORG heeft geen CTC</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 name="Picture 2"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4" name="TextBox 3"/>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Stand van zaken</a:t>
            </a:r>
          </a:p>
        </p:txBody>
      </p:sp>
      <p:sp>
        <p:nvSpPr>
          <p:cNvPr id="5" name="TextBox 4"/>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stand op 12 oktober 2026</a:t>
            </a:r>
          </a:p>
        </p:txBody>
      </p:sp>
      <p:sp>
        <p:nvSpPr>
          <p:cNvPr id="6" name="TextBox 5"/>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Materiaal per centrum</a:t>
            </a:r>
          </a:p>
        </p:txBody>
      </p:sp>
      <p:sp>
        <p:nvSpPr>
          <p:cNvPr id="7" name="Rectangle 6"/>
          <p:cNvSpPr/>
          <p:nvPr/>
        </p:nvSpPr>
        <p:spPr>
          <a:xfrm>
            <a:off x="812800" y="1828800"/>
            <a:ext cx="1056640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51400" y="1536700"/>
            <a:ext cx="1134467" cy="215900"/>
          </a:xfrm>
          <a:prstGeom prst="rect">
            <a:avLst/>
          </a:prstGeom>
          <a:noFill/>
        </p:spPr>
        <p:txBody>
          <a:bodyPr wrap="none" lIns="0" tIns="0" rIns="0" bIns="0" anchor="t">
            <a:noAutofit/>
          </a:bodyPr>
          <a:lstStyle/>
          <a:p>
            <a:pPr algn="ctr"/>
            <a:r>
              <a:rPr sz="1300" b="1" i="0">
                <a:solidFill>
                  <a:srgbClr val="0A2540"/>
                </a:solidFill>
                <a:latin typeface="DM Sans"/>
              </a:rPr>
              <a:t>Kortrijk</a:t>
            </a:r>
          </a:p>
        </p:txBody>
      </p:sp>
      <p:sp>
        <p:nvSpPr>
          <p:cNvPr id="9" name="TextBox 8"/>
          <p:cNvSpPr txBox="1"/>
          <p:nvPr/>
        </p:nvSpPr>
        <p:spPr>
          <a:xfrm>
            <a:off x="5935067" y="1536700"/>
            <a:ext cx="1134566" cy="215900"/>
          </a:xfrm>
          <a:prstGeom prst="rect">
            <a:avLst/>
          </a:prstGeom>
          <a:noFill/>
        </p:spPr>
        <p:txBody>
          <a:bodyPr wrap="none" lIns="0" tIns="0" rIns="0" bIns="0" anchor="t">
            <a:noAutofit/>
          </a:bodyPr>
          <a:lstStyle/>
          <a:p>
            <a:pPr algn="ctr"/>
            <a:r>
              <a:rPr sz="1300" b="1" i="0">
                <a:solidFill>
                  <a:srgbClr val="0A2540"/>
                </a:solidFill>
                <a:latin typeface="DM Sans"/>
              </a:rPr>
              <a:t>Brugge</a:t>
            </a:r>
          </a:p>
        </p:txBody>
      </p:sp>
      <p:sp>
        <p:nvSpPr>
          <p:cNvPr id="10" name="TextBox 9"/>
          <p:cNvSpPr txBox="1"/>
          <p:nvPr/>
        </p:nvSpPr>
        <p:spPr>
          <a:xfrm>
            <a:off x="7018834" y="1536700"/>
            <a:ext cx="1134566" cy="215900"/>
          </a:xfrm>
          <a:prstGeom prst="rect">
            <a:avLst/>
          </a:prstGeom>
          <a:noFill/>
        </p:spPr>
        <p:txBody>
          <a:bodyPr wrap="none" lIns="0" tIns="0" rIns="0" bIns="0" anchor="t">
            <a:noAutofit/>
          </a:bodyPr>
          <a:lstStyle/>
          <a:p>
            <a:pPr algn="ctr"/>
            <a:r>
              <a:rPr sz="1300" b="1" i="0">
                <a:solidFill>
                  <a:srgbClr val="0A2540"/>
                </a:solidFill>
                <a:latin typeface="DM Sans"/>
              </a:rPr>
              <a:t>Gent</a:t>
            </a:r>
          </a:p>
        </p:txBody>
      </p:sp>
      <p:sp>
        <p:nvSpPr>
          <p:cNvPr id="11" name="TextBox 10"/>
          <p:cNvSpPr txBox="1"/>
          <p:nvPr/>
        </p:nvSpPr>
        <p:spPr>
          <a:xfrm>
            <a:off x="8102600" y="1536700"/>
            <a:ext cx="1134467" cy="215900"/>
          </a:xfrm>
          <a:prstGeom prst="rect">
            <a:avLst/>
          </a:prstGeom>
          <a:noFill/>
        </p:spPr>
        <p:txBody>
          <a:bodyPr wrap="none" lIns="0" tIns="0" rIns="0" bIns="0" anchor="t">
            <a:noAutofit/>
          </a:bodyPr>
          <a:lstStyle/>
          <a:p>
            <a:pPr algn="ctr"/>
            <a:r>
              <a:rPr sz="1300" b="1" i="0">
                <a:solidFill>
                  <a:srgbClr val="0A2540"/>
                </a:solidFill>
                <a:latin typeface="DM Sans"/>
              </a:rPr>
              <a:t>Aalst</a:t>
            </a:r>
          </a:p>
        </p:txBody>
      </p:sp>
      <p:sp>
        <p:nvSpPr>
          <p:cNvPr id="12" name="TextBox 11"/>
          <p:cNvSpPr txBox="1"/>
          <p:nvPr/>
        </p:nvSpPr>
        <p:spPr>
          <a:xfrm>
            <a:off x="9186267" y="1536700"/>
            <a:ext cx="1134566" cy="215900"/>
          </a:xfrm>
          <a:prstGeom prst="rect">
            <a:avLst/>
          </a:prstGeom>
          <a:noFill/>
        </p:spPr>
        <p:txBody>
          <a:bodyPr wrap="none" lIns="0" tIns="0" rIns="0" bIns="0" anchor="t">
            <a:noAutofit/>
          </a:bodyPr>
          <a:lstStyle/>
          <a:p>
            <a:pPr algn="ctr"/>
            <a:r>
              <a:rPr sz="1300" b="1" i="0">
                <a:solidFill>
                  <a:srgbClr val="0A2540"/>
                </a:solidFill>
                <a:latin typeface="DM Sans"/>
              </a:rPr>
              <a:t>Leuven</a:t>
            </a:r>
          </a:p>
        </p:txBody>
      </p:sp>
      <p:sp>
        <p:nvSpPr>
          <p:cNvPr id="13" name="TextBox 12"/>
          <p:cNvSpPr txBox="1"/>
          <p:nvPr/>
        </p:nvSpPr>
        <p:spPr>
          <a:xfrm>
            <a:off x="10270034" y="1536700"/>
            <a:ext cx="1134566" cy="215900"/>
          </a:xfrm>
          <a:prstGeom prst="rect">
            <a:avLst/>
          </a:prstGeom>
          <a:noFill/>
        </p:spPr>
        <p:txBody>
          <a:bodyPr wrap="none" lIns="0" tIns="0" rIns="0" bIns="0" anchor="t">
            <a:noAutofit/>
          </a:bodyPr>
          <a:lstStyle/>
          <a:p>
            <a:pPr algn="ctr"/>
            <a:r>
              <a:rPr sz="1300" b="1" i="0">
                <a:solidFill>
                  <a:srgbClr val="0A2540"/>
                </a:solidFill>
                <a:latin typeface="DM Sans"/>
              </a:rPr>
              <a:t>Antwerpen</a:t>
            </a:r>
          </a:p>
        </p:txBody>
      </p:sp>
      <p:sp>
        <p:nvSpPr>
          <p:cNvPr id="14" name="Rectangle 13"/>
          <p:cNvSpPr/>
          <p:nvPr/>
        </p:nvSpPr>
        <p:spPr>
          <a:xfrm>
            <a:off x="812800" y="326390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7006ea103c3e8fa9006c500fec1a0272.png"/>
          <p:cNvPicPr>
            <a:picLocks noChangeAspect="1"/>
          </p:cNvPicPr>
          <p:nvPr/>
        </p:nvPicPr>
        <p:blipFill>
          <a:blip r:embed="rId4"/>
          <a:stretch>
            <a:fillRect/>
          </a:stretch>
        </p:blipFill>
        <p:spPr>
          <a:xfrm>
            <a:off x="812800" y="1930400"/>
            <a:ext cx="1714500" cy="1244600"/>
          </a:xfrm>
          <a:prstGeom prst="rect">
            <a:avLst/>
          </a:prstGeom>
        </p:spPr>
      </p:pic>
      <p:sp>
        <p:nvSpPr>
          <p:cNvPr id="16" name="TextBox 15"/>
          <p:cNvSpPr txBox="1"/>
          <p:nvPr/>
        </p:nvSpPr>
        <p:spPr>
          <a:xfrm>
            <a:off x="2705100" y="2185690"/>
            <a:ext cx="2222500" cy="266700"/>
          </a:xfrm>
          <a:prstGeom prst="rect">
            <a:avLst/>
          </a:prstGeom>
          <a:noFill/>
        </p:spPr>
        <p:txBody>
          <a:bodyPr wrap="none" lIns="0" tIns="0" rIns="0" bIns="0" anchor="t">
            <a:noAutofit/>
          </a:bodyPr>
          <a:lstStyle/>
          <a:p>
            <a:pPr algn="l"/>
            <a:r>
              <a:rPr sz="1600" b="1" i="0">
                <a:solidFill>
                  <a:srgbClr val="0A2540"/>
                </a:solidFill>
                <a:latin typeface="DM Sans"/>
              </a:rPr>
              <a:t>Novel pedar</a:t>
            </a:r>
          </a:p>
        </p:txBody>
      </p:sp>
      <p:sp>
        <p:nvSpPr>
          <p:cNvPr id="17" name="TextBox 16"/>
          <p:cNvSpPr txBox="1"/>
          <p:nvPr/>
        </p:nvSpPr>
        <p:spPr>
          <a:xfrm>
            <a:off x="2705100" y="2490490"/>
            <a:ext cx="2222500" cy="429220"/>
          </a:xfrm>
          <a:prstGeom prst="rect">
            <a:avLst/>
          </a:prstGeom>
          <a:noFill/>
        </p:spPr>
        <p:txBody>
          <a:bodyPr wrap="square" lIns="0" tIns="0" rIns="0" bIns="0" anchor="t">
            <a:noAutofit/>
          </a:bodyPr>
          <a:lstStyle/>
          <a:p>
            <a:pPr algn="l">
              <a:lnSpc>
                <a:spcPts val="1689"/>
              </a:lnSpc>
            </a:pPr>
            <a:r>
              <a:rPr sz="1300" b="0" i="0">
                <a:solidFill>
                  <a:srgbClr val="5A6E80"/>
                </a:solidFill>
                <a:latin typeface="DM Sans"/>
              </a:rPr>
              <a:t>laptop, router en twee zenders</a:t>
            </a:r>
          </a:p>
        </p:txBody>
      </p:sp>
      <p:sp>
        <p:nvSpPr>
          <p:cNvPr id="18" name="Rounded Rectangle 17"/>
          <p:cNvSpPr/>
          <p:nvPr/>
        </p:nvSpPr>
        <p:spPr>
          <a:xfrm>
            <a:off x="5304334" y="229870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069384" y="259080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20" name="Rounded Rectangle 19"/>
          <p:cNvSpPr/>
          <p:nvPr/>
        </p:nvSpPr>
        <p:spPr>
          <a:xfrm>
            <a:off x="6388001" y="2298700"/>
            <a:ext cx="228600" cy="22860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017022" y="2590800"/>
            <a:ext cx="1021457" cy="215900"/>
          </a:xfrm>
          <a:prstGeom prst="rect">
            <a:avLst/>
          </a:prstGeom>
          <a:noFill/>
        </p:spPr>
        <p:txBody>
          <a:bodyPr wrap="none" lIns="0" tIns="0" rIns="0" bIns="0" anchor="t">
            <a:noAutofit/>
          </a:bodyPr>
          <a:lstStyle/>
          <a:p>
            <a:pPr algn="l"/>
            <a:r>
              <a:rPr sz="1300" b="0" i="0">
                <a:solidFill>
                  <a:srgbClr val="0A2540"/>
                </a:solidFill>
                <a:latin typeface="DM Sans"/>
              </a:rPr>
              <a:t>geïnstalleerd</a:t>
            </a:r>
          </a:p>
        </p:txBody>
      </p:sp>
      <p:sp>
        <p:nvSpPr>
          <p:cNvPr id="22" name="Rounded Rectangle 21"/>
          <p:cNvSpPr/>
          <p:nvPr/>
        </p:nvSpPr>
        <p:spPr>
          <a:xfrm>
            <a:off x="7471767" y="2298700"/>
            <a:ext cx="228600" cy="228600"/>
          </a:xfrm>
          <a:prstGeom prst="roundRect">
            <a:avLst>
              <a:gd name="adj" fmla="val 50000"/>
            </a:avLst>
          </a:prstGeom>
          <a:solidFill>
            <a:srgbClr val="F2F6F9"/>
          </a:solidFill>
          <a:ln w="2540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206456" y="2590800"/>
            <a:ext cx="810121" cy="215900"/>
          </a:xfrm>
          <a:prstGeom prst="rect">
            <a:avLst/>
          </a:prstGeom>
          <a:noFill/>
        </p:spPr>
        <p:txBody>
          <a:bodyPr wrap="none" lIns="0" tIns="0" rIns="0" bIns="0" anchor="t">
            <a:noAutofit/>
          </a:bodyPr>
          <a:lstStyle/>
          <a:p>
            <a:pPr algn="l"/>
            <a:r>
              <a:rPr sz="1300" b="0" i="0">
                <a:solidFill>
                  <a:srgbClr val="A34A00"/>
                </a:solidFill>
                <a:latin typeface="DM Sans"/>
              </a:rPr>
              <a:t>onderweg</a:t>
            </a:r>
          </a:p>
        </p:txBody>
      </p:sp>
      <p:sp>
        <p:nvSpPr>
          <p:cNvPr id="24" name="Rounded Rectangle 23"/>
          <p:cNvSpPr/>
          <p:nvPr/>
        </p:nvSpPr>
        <p:spPr>
          <a:xfrm>
            <a:off x="8555534" y="2298700"/>
            <a:ext cx="228600" cy="228600"/>
          </a:xfrm>
          <a:prstGeom prst="roundRect">
            <a:avLst>
              <a:gd name="adj" fmla="val 50000"/>
            </a:avLst>
          </a:prstGeom>
          <a:solidFill>
            <a:srgbClr val="F2F6F9"/>
          </a:solidFill>
          <a:ln w="2540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290123" y="2590800"/>
            <a:ext cx="810121" cy="215900"/>
          </a:xfrm>
          <a:prstGeom prst="rect">
            <a:avLst/>
          </a:prstGeom>
          <a:noFill/>
        </p:spPr>
        <p:txBody>
          <a:bodyPr wrap="none" lIns="0" tIns="0" rIns="0" bIns="0" anchor="t">
            <a:noAutofit/>
          </a:bodyPr>
          <a:lstStyle/>
          <a:p>
            <a:pPr algn="l"/>
            <a:r>
              <a:rPr sz="1300" b="0" i="0">
                <a:solidFill>
                  <a:srgbClr val="A34A00"/>
                </a:solidFill>
                <a:latin typeface="DM Sans"/>
              </a:rPr>
              <a:t>onderweg</a:t>
            </a:r>
          </a:p>
        </p:txBody>
      </p:sp>
      <p:sp>
        <p:nvSpPr>
          <p:cNvPr id="26" name="Rounded Rectangle 25"/>
          <p:cNvSpPr/>
          <p:nvPr/>
        </p:nvSpPr>
        <p:spPr>
          <a:xfrm>
            <a:off x="9639201" y="229870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9404350" y="259080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28" name="Rounded Rectangle 27"/>
          <p:cNvSpPr/>
          <p:nvPr/>
        </p:nvSpPr>
        <p:spPr>
          <a:xfrm>
            <a:off x="10722967" y="229870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0488116" y="259080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30" name="Rectangle 29"/>
          <p:cNvSpPr/>
          <p:nvPr/>
        </p:nvSpPr>
        <p:spPr>
          <a:xfrm>
            <a:off x="812800" y="469265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c3433b372cfc1d99d6ab11119954a595.png"/>
          <p:cNvPicPr>
            <a:picLocks noChangeAspect="1"/>
          </p:cNvPicPr>
          <p:nvPr/>
        </p:nvPicPr>
        <p:blipFill>
          <a:blip r:embed="rId5"/>
          <a:stretch>
            <a:fillRect/>
          </a:stretch>
        </p:blipFill>
        <p:spPr>
          <a:xfrm>
            <a:off x="812800" y="3359150"/>
            <a:ext cx="1714500" cy="1244600"/>
          </a:xfrm>
          <a:prstGeom prst="rect">
            <a:avLst/>
          </a:prstGeom>
        </p:spPr>
      </p:pic>
      <p:sp>
        <p:nvSpPr>
          <p:cNvPr id="32" name="TextBox 31"/>
          <p:cNvSpPr txBox="1"/>
          <p:nvPr/>
        </p:nvSpPr>
        <p:spPr>
          <a:xfrm>
            <a:off x="2705100" y="3721695"/>
            <a:ext cx="1360190" cy="266700"/>
          </a:xfrm>
          <a:prstGeom prst="rect">
            <a:avLst/>
          </a:prstGeom>
          <a:noFill/>
        </p:spPr>
        <p:txBody>
          <a:bodyPr wrap="none" lIns="0" tIns="0" rIns="0" bIns="0" anchor="t">
            <a:noAutofit/>
          </a:bodyPr>
          <a:lstStyle/>
          <a:p>
            <a:pPr algn="l"/>
            <a:r>
              <a:rPr sz="1600" b="1" i="0">
                <a:solidFill>
                  <a:srgbClr val="0A2540"/>
                </a:solidFill>
                <a:latin typeface="DM Sans"/>
              </a:rPr>
              <a:t>MoveMonitor</a:t>
            </a:r>
          </a:p>
        </p:txBody>
      </p:sp>
      <p:sp>
        <p:nvSpPr>
          <p:cNvPr id="33" name="TextBox 32"/>
          <p:cNvSpPr txBox="1"/>
          <p:nvPr/>
        </p:nvSpPr>
        <p:spPr>
          <a:xfrm>
            <a:off x="2705100" y="4026495"/>
            <a:ext cx="1360190" cy="214630"/>
          </a:xfrm>
          <a:prstGeom prst="rect">
            <a:avLst/>
          </a:prstGeom>
          <a:noFill/>
        </p:spPr>
        <p:txBody>
          <a:bodyPr wrap="none" lIns="0" tIns="0" rIns="0" bIns="0" anchor="t">
            <a:noAutofit/>
          </a:bodyPr>
          <a:lstStyle/>
          <a:p>
            <a:pPr algn="l">
              <a:lnSpc>
                <a:spcPts val="1689"/>
              </a:lnSpc>
            </a:pPr>
            <a:r>
              <a:rPr sz="1300" b="0" i="0">
                <a:solidFill>
                  <a:srgbClr val="5A6E80"/>
                </a:solidFill>
                <a:latin typeface="DM Sans"/>
              </a:rPr>
              <a:t>vier per centrum</a:t>
            </a:r>
          </a:p>
        </p:txBody>
      </p:sp>
      <p:sp>
        <p:nvSpPr>
          <p:cNvPr id="34" name="Rounded Rectangle 33"/>
          <p:cNvSpPr/>
          <p:nvPr/>
        </p:nvSpPr>
        <p:spPr>
          <a:xfrm>
            <a:off x="5304334" y="372745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5069384" y="401955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36" name="Rounded Rectangle 35"/>
          <p:cNvSpPr/>
          <p:nvPr/>
        </p:nvSpPr>
        <p:spPr>
          <a:xfrm>
            <a:off x="6388001" y="372745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153150" y="401955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38" name="Rounded Rectangle 37"/>
          <p:cNvSpPr/>
          <p:nvPr/>
        </p:nvSpPr>
        <p:spPr>
          <a:xfrm>
            <a:off x="7471767" y="3727450"/>
            <a:ext cx="228600" cy="228600"/>
          </a:xfrm>
          <a:prstGeom prst="roundRect">
            <a:avLst>
              <a:gd name="adj" fmla="val 50000"/>
            </a:avLst>
          </a:prstGeom>
          <a:solidFill>
            <a:srgbClr val="F2F6F9"/>
          </a:solid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7060208" y="4019550"/>
            <a:ext cx="1102519" cy="215900"/>
          </a:xfrm>
          <a:prstGeom prst="rect">
            <a:avLst/>
          </a:prstGeom>
          <a:noFill/>
        </p:spPr>
        <p:txBody>
          <a:bodyPr wrap="none" lIns="0" tIns="0" rIns="0" bIns="0" anchor="t">
            <a:noAutofit/>
          </a:bodyPr>
          <a:lstStyle/>
          <a:p>
            <a:pPr algn="l"/>
            <a:r>
              <a:rPr sz="1300" b="0" i="0">
                <a:solidFill>
                  <a:srgbClr val="3A4F63"/>
                </a:solidFill>
                <a:latin typeface="DM Sans"/>
              </a:rPr>
              <a:t>Niet aanwezig</a:t>
            </a:r>
          </a:p>
        </p:txBody>
      </p:sp>
      <p:sp>
        <p:nvSpPr>
          <p:cNvPr id="40" name="Rounded Rectangle 39"/>
          <p:cNvSpPr/>
          <p:nvPr/>
        </p:nvSpPr>
        <p:spPr>
          <a:xfrm>
            <a:off x="8555534" y="372745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8320584" y="401955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42" name="Rounded Rectangle 41"/>
          <p:cNvSpPr/>
          <p:nvPr/>
        </p:nvSpPr>
        <p:spPr>
          <a:xfrm>
            <a:off x="9639201" y="372745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9404350" y="401955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44" name="Rounded Rectangle 43"/>
          <p:cNvSpPr/>
          <p:nvPr/>
        </p:nvSpPr>
        <p:spPr>
          <a:xfrm>
            <a:off x="10722967" y="372745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10488116" y="401955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46" name="Rectangle 45"/>
          <p:cNvSpPr/>
          <p:nvPr/>
        </p:nvSpPr>
        <p:spPr>
          <a:xfrm>
            <a:off x="812800" y="612140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08f3416e444e7f76df034ad715d9910f.png"/>
          <p:cNvPicPr>
            <a:picLocks noChangeAspect="1"/>
          </p:cNvPicPr>
          <p:nvPr/>
        </p:nvPicPr>
        <p:blipFill>
          <a:blip r:embed="rId6"/>
          <a:stretch>
            <a:fillRect/>
          </a:stretch>
        </p:blipFill>
        <p:spPr>
          <a:xfrm>
            <a:off x="812800" y="4787900"/>
            <a:ext cx="1714500" cy="1244600"/>
          </a:xfrm>
          <a:prstGeom prst="rect">
            <a:avLst/>
          </a:prstGeom>
        </p:spPr>
      </p:pic>
      <p:sp>
        <p:nvSpPr>
          <p:cNvPr id="48" name="TextBox 47"/>
          <p:cNvSpPr txBox="1"/>
          <p:nvPr/>
        </p:nvSpPr>
        <p:spPr>
          <a:xfrm>
            <a:off x="2705100" y="5150445"/>
            <a:ext cx="2065238" cy="266700"/>
          </a:xfrm>
          <a:prstGeom prst="rect">
            <a:avLst/>
          </a:prstGeom>
          <a:noFill/>
        </p:spPr>
        <p:txBody>
          <a:bodyPr wrap="none" lIns="0" tIns="0" rIns="0" bIns="0" anchor="t">
            <a:noAutofit/>
          </a:bodyPr>
          <a:lstStyle/>
          <a:p>
            <a:pPr algn="l"/>
            <a:r>
              <a:rPr sz="1600" b="1" i="0">
                <a:solidFill>
                  <a:srgbClr val="0A2540"/>
                </a:solidFill>
                <a:latin typeface="DM Sans"/>
              </a:rPr>
              <a:t>Orthotimer</a:t>
            </a:r>
          </a:p>
        </p:txBody>
      </p:sp>
      <p:sp>
        <p:nvSpPr>
          <p:cNvPr id="49" name="TextBox 48"/>
          <p:cNvSpPr txBox="1"/>
          <p:nvPr/>
        </p:nvSpPr>
        <p:spPr>
          <a:xfrm>
            <a:off x="2705100" y="5455245"/>
            <a:ext cx="2065238" cy="214630"/>
          </a:xfrm>
          <a:prstGeom prst="rect">
            <a:avLst/>
          </a:prstGeom>
          <a:noFill/>
        </p:spPr>
        <p:txBody>
          <a:bodyPr wrap="none" lIns="0" tIns="0" rIns="0" bIns="0" anchor="t">
            <a:noAutofit/>
          </a:bodyPr>
          <a:lstStyle/>
          <a:p>
            <a:pPr algn="l">
              <a:lnSpc>
                <a:spcPts val="1689"/>
              </a:lnSpc>
            </a:pPr>
            <a:r>
              <a:rPr sz="1300" b="0" i="0">
                <a:solidFill>
                  <a:srgbClr val="5A6E80"/>
                </a:solidFill>
                <a:latin typeface="DM Sans"/>
              </a:rPr>
              <a:t>sensoren en de uitleespen</a:t>
            </a:r>
          </a:p>
        </p:txBody>
      </p:sp>
      <p:sp>
        <p:nvSpPr>
          <p:cNvPr id="50" name="Rounded Rectangle 49"/>
          <p:cNvSpPr/>
          <p:nvPr/>
        </p:nvSpPr>
        <p:spPr>
          <a:xfrm>
            <a:off x="5304334" y="515620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5069384" y="544830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52" name="Rounded Rectangle 51"/>
          <p:cNvSpPr/>
          <p:nvPr/>
        </p:nvSpPr>
        <p:spPr>
          <a:xfrm>
            <a:off x="6388001" y="515620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6153150" y="544830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54" name="Rounded Rectangle 53"/>
          <p:cNvSpPr/>
          <p:nvPr/>
        </p:nvSpPr>
        <p:spPr>
          <a:xfrm>
            <a:off x="7471767" y="5156200"/>
            <a:ext cx="228600" cy="228600"/>
          </a:xfrm>
          <a:prstGeom prst="roundRect">
            <a:avLst>
              <a:gd name="adj" fmla="val 50000"/>
            </a:avLst>
          </a:prstGeom>
          <a:solidFill>
            <a:srgbClr val="F2F6F9"/>
          </a:solid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7060208" y="5448300"/>
            <a:ext cx="1102519" cy="215900"/>
          </a:xfrm>
          <a:prstGeom prst="rect">
            <a:avLst/>
          </a:prstGeom>
          <a:noFill/>
        </p:spPr>
        <p:txBody>
          <a:bodyPr wrap="none" lIns="0" tIns="0" rIns="0" bIns="0" anchor="t">
            <a:noAutofit/>
          </a:bodyPr>
          <a:lstStyle/>
          <a:p>
            <a:pPr algn="l"/>
            <a:r>
              <a:rPr sz="1300" b="0" i="0">
                <a:solidFill>
                  <a:srgbClr val="3A4F63"/>
                </a:solidFill>
                <a:latin typeface="DM Sans"/>
              </a:rPr>
              <a:t>Niet aanwezig</a:t>
            </a:r>
          </a:p>
        </p:txBody>
      </p:sp>
      <p:sp>
        <p:nvSpPr>
          <p:cNvPr id="56" name="Rounded Rectangle 55"/>
          <p:cNvSpPr/>
          <p:nvPr/>
        </p:nvSpPr>
        <p:spPr>
          <a:xfrm>
            <a:off x="8555534" y="515620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8320584" y="544830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58" name="Rounded Rectangle 57"/>
          <p:cNvSpPr/>
          <p:nvPr/>
        </p:nvSpPr>
        <p:spPr>
          <a:xfrm>
            <a:off x="9639201" y="5156200"/>
            <a:ext cx="228600" cy="22860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9268222" y="5448300"/>
            <a:ext cx="1021457" cy="215900"/>
          </a:xfrm>
          <a:prstGeom prst="rect">
            <a:avLst/>
          </a:prstGeom>
          <a:noFill/>
        </p:spPr>
        <p:txBody>
          <a:bodyPr wrap="none" lIns="0" tIns="0" rIns="0" bIns="0" anchor="t">
            <a:noAutofit/>
          </a:bodyPr>
          <a:lstStyle/>
          <a:p>
            <a:pPr algn="l"/>
            <a:r>
              <a:rPr sz="1300" b="0" i="0">
                <a:solidFill>
                  <a:srgbClr val="0A2540"/>
                </a:solidFill>
                <a:latin typeface="DM Sans"/>
              </a:rPr>
              <a:t>geïnstalleerd</a:t>
            </a:r>
          </a:p>
        </p:txBody>
      </p:sp>
      <p:sp>
        <p:nvSpPr>
          <p:cNvPr id="60" name="Rounded Rectangle 59"/>
          <p:cNvSpPr/>
          <p:nvPr/>
        </p:nvSpPr>
        <p:spPr>
          <a:xfrm>
            <a:off x="10722967" y="515620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10488116" y="544830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4e287ae005ab9f8997461f000820af22.png"/>
          <p:cNvPicPr>
            <a:picLocks noChangeAspect="1"/>
          </p:cNvPicPr>
          <p:nvPr/>
        </p:nvPicPr>
        <p:blipFill>
          <a:blip r:embed="rId3"/>
          <a:stretch>
            <a:fillRect/>
          </a:stretch>
        </p:blipFill>
        <p:spPr>
          <a:xfrm>
            <a:off x="7874000" y="0"/>
            <a:ext cx="6388100" cy="7302500"/>
          </a:xfrm>
          <a:prstGeom prst="rect">
            <a:avLst/>
          </a:prstGeom>
        </p:spPr>
      </p:pic>
      <p:sp>
        <p:nvSpPr>
          <p:cNvPr id="3" name="Rounded Rectangle 2"/>
          <p:cNvSpPr/>
          <p:nvPr/>
        </p:nvSpPr>
        <p:spPr>
          <a:xfrm>
            <a:off x="8128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4fe31fe826e2a686c44b2a9df6f4ec34.png"/>
          <p:cNvPicPr>
            <a:picLocks noChangeAspect="1"/>
          </p:cNvPicPr>
          <p:nvPr/>
        </p:nvPicPr>
        <p:blipFill>
          <a:blip r:embed="rId4"/>
          <a:stretch>
            <a:fillRect/>
          </a:stretch>
        </p:blipFill>
        <p:spPr>
          <a:xfrm>
            <a:off x="819150" y="1847850"/>
            <a:ext cx="2476500" cy="1393031"/>
          </a:xfrm>
          <a:prstGeom prst="rect">
            <a:avLst/>
          </a:prstGeom>
        </p:spPr>
      </p:pic>
      <p:sp>
        <p:nvSpPr>
          <p:cNvPr id="5" name="Rounded Rectangle 4"/>
          <p:cNvSpPr/>
          <p:nvPr/>
        </p:nvSpPr>
        <p:spPr>
          <a:xfrm>
            <a:off x="8128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128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1 Stand van zaken</a:t>
            </a:r>
          </a:p>
        </p:txBody>
      </p:sp>
      <p:pic>
        <p:nvPicPr>
          <p:cNvPr id="7" name="Picture 6" descr="8dccc3185da0f080a429109f0bc9358d.png"/>
          <p:cNvPicPr>
            <a:picLocks noChangeAspect="1"/>
          </p:cNvPicPr>
          <p:nvPr/>
        </p:nvPicPr>
        <p:blipFill>
          <a:blip r:embed="rId5"/>
          <a:stretch>
            <a:fillRect/>
          </a:stretch>
        </p:blipFill>
        <p:spPr>
          <a:xfrm>
            <a:off x="3683000" y="1663700"/>
            <a:ext cx="2133600" cy="1200150"/>
          </a:xfrm>
          <a:prstGeom prst="rect">
            <a:avLst/>
          </a:prstGeom>
        </p:spPr>
      </p:pic>
      <p:pic>
        <p:nvPicPr>
          <p:cNvPr id="8" name="Picture 7" descr="33ff6f98e238090dfea59b8da3d0895b.png"/>
          <p:cNvPicPr>
            <a:picLocks noChangeAspect="1"/>
          </p:cNvPicPr>
          <p:nvPr/>
        </p:nvPicPr>
        <p:blipFill>
          <a:blip r:embed="rId6"/>
          <a:stretch>
            <a:fillRect/>
          </a:stretch>
        </p:blipFill>
        <p:spPr>
          <a:xfrm>
            <a:off x="3594100" y="1752600"/>
            <a:ext cx="2311400" cy="1301750"/>
          </a:xfrm>
          <a:prstGeom prst="rect">
            <a:avLst/>
          </a:prstGeom>
        </p:spPr>
      </p:pic>
      <p:sp>
        <p:nvSpPr>
          <p:cNvPr id="9" name="Rounded Rectangle 8"/>
          <p:cNvSpPr/>
          <p:nvPr/>
        </p:nvSpPr>
        <p:spPr>
          <a:xfrm>
            <a:off x="3505200" y="1841500"/>
            <a:ext cx="2489200" cy="1397000"/>
          </a:xfrm>
          <a:prstGeom prst="roundRect">
            <a:avLst>
              <a:gd name="adj" fmla="val 1363"/>
            </a:avLst>
          </a:prstGeom>
          <a:solidFill>
            <a:srgbClr val="FFFFFF"/>
          </a:solidFill>
          <a:ln w="1905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af6c315e3b6c8da4983f797f076543ae.png"/>
          <p:cNvPicPr>
            <a:picLocks noChangeAspect="1"/>
          </p:cNvPicPr>
          <p:nvPr/>
        </p:nvPicPr>
        <p:blipFill>
          <a:blip r:embed="rId7"/>
          <a:stretch>
            <a:fillRect/>
          </a:stretch>
        </p:blipFill>
        <p:spPr>
          <a:xfrm>
            <a:off x="3524250" y="1860550"/>
            <a:ext cx="2451100" cy="1378744"/>
          </a:xfrm>
          <a:prstGeom prst="rect">
            <a:avLst/>
          </a:prstGeom>
        </p:spPr>
      </p:pic>
      <p:sp>
        <p:nvSpPr>
          <p:cNvPr id="11" name="TextBox 10"/>
          <p:cNvSpPr txBox="1"/>
          <p:nvPr/>
        </p:nvSpPr>
        <p:spPr>
          <a:xfrm>
            <a:off x="3505200" y="3327400"/>
            <a:ext cx="2540000" cy="213360"/>
          </a:xfrm>
          <a:prstGeom prst="rect">
            <a:avLst/>
          </a:prstGeom>
          <a:noFill/>
        </p:spPr>
        <p:txBody>
          <a:bodyPr wrap="none" lIns="0" tIns="0" rIns="0" bIns="0" anchor="t">
            <a:noAutofit/>
          </a:bodyPr>
          <a:lstStyle/>
          <a:p>
            <a:pPr algn="l">
              <a:lnSpc>
                <a:spcPts val="1680"/>
              </a:lnSpc>
            </a:pPr>
            <a:r>
              <a:rPr sz="1400" b="0" i="0">
                <a:solidFill>
                  <a:srgbClr val="A34A00"/>
                </a:solidFill>
                <a:latin typeface="DM Sans"/>
              </a:rPr>
              <a:t>2 Ontwikkelingen sinds 1 april</a:t>
            </a:r>
          </a:p>
        </p:txBody>
      </p:sp>
      <p:pic>
        <p:nvPicPr>
          <p:cNvPr id="12" name="Picture 11" descr="78e1c08c648ea238ba766890b863e925.png"/>
          <p:cNvPicPr>
            <a:picLocks noChangeAspect="1"/>
          </p:cNvPicPr>
          <p:nvPr/>
        </p:nvPicPr>
        <p:blipFill>
          <a:blip r:embed="rId8"/>
          <a:stretch>
            <a:fillRect/>
          </a:stretch>
        </p:blipFill>
        <p:spPr>
          <a:xfrm>
            <a:off x="6375400" y="1663700"/>
            <a:ext cx="2133600" cy="1200150"/>
          </a:xfrm>
          <a:prstGeom prst="rect">
            <a:avLst/>
          </a:prstGeom>
        </p:spPr>
      </p:pic>
      <p:pic>
        <p:nvPicPr>
          <p:cNvPr id="13" name="Picture 12" descr="1936b300a323b1d5fafa4319ba1396a7.png"/>
          <p:cNvPicPr>
            <a:picLocks noChangeAspect="1"/>
          </p:cNvPicPr>
          <p:nvPr/>
        </p:nvPicPr>
        <p:blipFill>
          <a:blip r:embed="rId9"/>
          <a:stretch>
            <a:fillRect/>
          </a:stretch>
        </p:blipFill>
        <p:spPr>
          <a:xfrm>
            <a:off x="6286500" y="1752600"/>
            <a:ext cx="2311400" cy="1301750"/>
          </a:xfrm>
          <a:prstGeom prst="rect">
            <a:avLst/>
          </a:prstGeom>
        </p:spPr>
      </p:pic>
      <p:sp>
        <p:nvSpPr>
          <p:cNvPr id="14" name="Rounded Rectangle 13"/>
          <p:cNvSpPr/>
          <p:nvPr/>
        </p:nvSpPr>
        <p:spPr>
          <a:xfrm>
            <a:off x="61976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b3575449de919ba8ba77497cf770d56b.png"/>
          <p:cNvPicPr>
            <a:picLocks noChangeAspect="1"/>
          </p:cNvPicPr>
          <p:nvPr/>
        </p:nvPicPr>
        <p:blipFill>
          <a:blip r:embed="rId10"/>
          <a:stretch>
            <a:fillRect/>
          </a:stretch>
        </p:blipFill>
        <p:spPr>
          <a:xfrm>
            <a:off x="6203950" y="1847850"/>
            <a:ext cx="2476500" cy="1393031"/>
          </a:xfrm>
          <a:prstGeom prst="rect">
            <a:avLst/>
          </a:prstGeom>
        </p:spPr>
      </p:pic>
      <p:sp>
        <p:nvSpPr>
          <p:cNvPr id="16" name="TextBox 15"/>
          <p:cNvSpPr txBox="1"/>
          <p:nvPr/>
        </p:nvSpPr>
        <p:spPr>
          <a:xfrm>
            <a:off x="6197600" y="33274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3 Werkpakketten</a:t>
            </a:r>
          </a:p>
        </p:txBody>
      </p:sp>
      <p:sp>
        <p:nvSpPr>
          <p:cNvPr id="17" name="Rounded Rectangle 16"/>
          <p:cNvSpPr/>
          <p:nvPr/>
        </p:nvSpPr>
        <p:spPr>
          <a:xfrm>
            <a:off x="88900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76718c0faffa53b3e96d91bd5d17d843.png"/>
          <p:cNvPicPr>
            <a:picLocks noChangeAspect="1"/>
          </p:cNvPicPr>
          <p:nvPr/>
        </p:nvPicPr>
        <p:blipFill>
          <a:blip r:embed="rId11"/>
          <a:stretch>
            <a:fillRect/>
          </a:stretch>
        </p:blipFill>
        <p:spPr>
          <a:xfrm>
            <a:off x="8896350" y="1847850"/>
            <a:ext cx="2476500" cy="1393031"/>
          </a:xfrm>
          <a:prstGeom prst="rect">
            <a:avLst/>
          </a:prstGeom>
        </p:spPr>
      </p:pic>
      <p:sp>
        <p:nvSpPr>
          <p:cNvPr id="19" name="TextBox 18"/>
          <p:cNvSpPr txBox="1"/>
          <p:nvPr/>
        </p:nvSpPr>
        <p:spPr>
          <a:xfrm>
            <a:off x="8890000" y="33274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4 Aandachtspunten</a:t>
            </a:r>
          </a:p>
        </p:txBody>
      </p:sp>
      <p:pic>
        <p:nvPicPr>
          <p:cNvPr id="20" name="Picture 19" descr="0a62dff855207c43a1c6690d0e4c697a.png"/>
          <p:cNvPicPr>
            <a:picLocks noChangeAspect="1"/>
          </p:cNvPicPr>
          <p:nvPr/>
        </p:nvPicPr>
        <p:blipFill>
          <a:blip r:embed="rId12"/>
          <a:stretch>
            <a:fillRect/>
          </a:stretch>
        </p:blipFill>
        <p:spPr>
          <a:xfrm>
            <a:off x="2336800" y="3937000"/>
            <a:ext cx="2133600" cy="1200150"/>
          </a:xfrm>
          <a:prstGeom prst="rect">
            <a:avLst/>
          </a:prstGeom>
        </p:spPr>
      </p:pic>
      <p:pic>
        <p:nvPicPr>
          <p:cNvPr id="21" name="Picture 20" descr="993f9ef2261edfc6639be1e2fe47b272.png"/>
          <p:cNvPicPr>
            <a:picLocks noChangeAspect="1"/>
          </p:cNvPicPr>
          <p:nvPr/>
        </p:nvPicPr>
        <p:blipFill>
          <a:blip r:embed="rId13"/>
          <a:stretch>
            <a:fillRect/>
          </a:stretch>
        </p:blipFill>
        <p:spPr>
          <a:xfrm>
            <a:off x="2247900" y="4025900"/>
            <a:ext cx="2311400" cy="1301750"/>
          </a:xfrm>
          <a:prstGeom prst="rect">
            <a:avLst/>
          </a:prstGeom>
        </p:spPr>
      </p:pic>
      <p:sp>
        <p:nvSpPr>
          <p:cNvPr id="22" name="Rounded Rectangle 21"/>
          <p:cNvSpPr/>
          <p:nvPr/>
        </p:nvSpPr>
        <p:spPr>
          <a:xfrm>
            <a:off x="21590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c828e07bbef239086018a2f6a17a466c.png"/>
          <p:cNvPicPr>
            <a:picLocks noChangeAspect="1"/>
          </p:cNvPicPr>
          <p:nvPr/>
        </p:nvPicPr>
        <p:blipFill>
          <a:blip r:embed="rId14"/>
          <a:stretch>
            <a:fillRect/>
          </a:stretch>
        </p:blipFill>
        <p:spPr>
          <a:xfrm>
            <a:off x="2165350" y="4121150"/>
            <a:ext cx="2476500" cy="1393031"/>
          </a:xfrm>
          <a:prstGeom prst="rect">
            <a:avLst/>
          </a:prstGeom>
        </p:spPr>
      </p:pic>
      <p:sp>
        <p:nvSpPr>
          <p:cNvPr id="24" name="TextBox 23"/>
          <p:cNvSpPr txBox="1"/>
          <p:nvPr/>
        </p:nvSpPr>
        <p:spPr>
          <a:xfrm>
            <a:off x="21590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5 Mijlpalen en planning</a:t>
            </a:r>
          </a:p>
        </p:txBody>
      </p:sp>
      <p:pic>
        <p:nvPicPr>
          <p:cNvPr id="25" name="Picture 24" descr="dad1d5849a0f54ecab7e2a87be32dc30.png"/>
          <p:cNvPicPr>
            <a:picLocks noChangeAspect="1"/>
          </p:cNvPicPr>
          <p:nvPr/>
        </p:nvPicPr>
        <p:blipFill>
          <a:blip r:embed="rId15"/>
          <a:stretch>
            <a:fillRect/>
          </a:stretch>
        </p:blipFill>
        <p:spPr>
          <a:xfrm>
            <a:off x="4940300" y="4025900"/>
            <a:ext cx="2311400" cy="1301750"/>
          </a:xfrm>
          <a:prstGeom prst="rect">
            <a:avLst/>
          </a:prstGeom>
        </p:spPr>
      </p:pic>
      <p:sp>
        <p:nvSpPr>
          <p:cNvPr id="26" name="Rounded Rectangle 25"/>
          <p:cNvSpPr/>
          <p:nvPr/>
        </p:nvSpPr>
        <p:spPr>
          <a:xfrm>
            <a:off x="48514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7" name="Picture 26" descr="a218f23a9d1aeae7790db2aa9d8f48a7.png"/>
          <p:cNvPicPr>
            <a:picLocks noChangeAspect="1"/>
          </p:cNvPicPr>
          <p:nvPr/>
        </p:nvPicPr>
        <p:blipFill>
          <a:blip r:embed="rId16"/>
          <a:stretch>
            <a:fillRect/>
          </a:stretch>
        </p:blipFill>
        <p:spPr>
          <a:xfrm>
            <a:off x="4857750" y="4121150"/>
            <a:ext cx="2476500" cy="1393031"/>
          </a:xfrm>
          <a:prstGeom prst="rect">
            <a:avLst/>
          </a:prstGeom>
        </p:spPr>
      </p:pic>
      <p:sp>
        <p:nvSpPr>
          <p:cNvPr id="28" name="TextBox 27"/>
          <p:cNvSpPr txBox="1"/>
          <p:nvPr/>
        </p:nvSpPr>
        <p:spPr>
          <a:xfrm>
            <a:off x="48514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6 Bespreking</a:t>
            </a:r>
          </a:p>
        </p:txBody>
      </p:sp>
      <p:pic>
        <p:nvPicPr>
          <p:cNvPr id="29" name="Picture 28" descr="e49a2c4874452277a94494e99280aaa0.png"/>
          <p:cNvPicPr>
            <a:picLocks noChangeAspect="1"/>
          </p:cNvPicPr>
          <p:nvPr/>
        </p:nvPicPr>
        <p:blipFill>
          <a:blip r:embed="rId17"/>
          <a:stretch>
            <a:fillRect/>
          </a:stretch>
        </p:blipFill>
        <p:spPr>
          <a:xfrm>
            <a:off x="7632700" y="4025900"/>
            <a:ext cx="2311400" cy="1301750"/>
          </a:xfrm>
          <a:prstGeom prst="rect">
            <a:avLst/>
          </a:prstGeom>
        </p:spPr>
      </p:pic>
      <p:sp>
        <p:nvSpPr>
          <p:cNvPr id="30" name="Rounded Rectangle 29"/>
          <p:cNvSpPr/>
          <p:nvPr/>
        </p:nvSpPr>
        <p:spPr>
          <a:xfrm>
            <a:off x="75438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1" name="Picture 30" descr="0b3315c9a761b9fd4dfcb184751fa8ea.png"/>
          <p:cNvPicPr>
            <a:picLocks noChangeAspect="1"/>
          </p:cNvPicPr>
          <p:nvPr/>
        </p:nvPicPr>
        <p:blipFill>
          <a:blip r:embed="rId18"/>
          <a:stretch>
            <a:fillRect/>
          </a:stretch>
        </p:blipFill>
        <p:spPr>
          <a:xfrm>
            <a:off x="7550150" y="4121150"/>
            <a:ext cx="2476500" cy="1393031"/>
          </a:xfrm>
          <a:prstGeom prst="rect">
            <a:avLst/>
          </a:prstGeom>
        </p:spPr>
      </p:pic>
      <p:sp>
        <p:nvSpPr>
          <p:cNvPr id="32" name="TextBox 31"/>
          <p:cNvSpPr txBox="1"/>
          <p:nvPr/>
        </p:nvSpPr>
        <p:spPr>
          <a:xfrm>
            <a:off x="75438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7 Tour de table</a:t>
            </a:r>
          </a:p>
        </p:txBody>
      </p:sp>
      <p:sp>
        <p:nvSpPr>
          <p:cNvPr id="33" name="TextBox 3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we vandaag overlopen</a:t>
            </a:r>
          </a:p>
        </p:txBody>
      </p:sp>
      <p:pic>
        <p:nvPicPr>
          <p:cNvPr id="34" name="Picture 33" descr="ec5c93e6f83f209b4e97ddfdecd480c8.png"/>
          <p:cNvPicPr>
            <a:picLocks noChangeAspect="1"/>
          </p:cNvPicPr>
          <p:nvPr/>
        </p:nvPicPr>
        <p:blipFill>
          <a:blip r:embed="rId19"/>
          <a:stretch>
            <a:fillRect/>
          </a:stretch>
        </p:blipFill>
        <p:spPr>
          <a:xfrm>
            <a:off x="812967" y="6261100"/>
            <a:ext cx="171116" cy="203200"/>
          </a:xfrm>
          <a:prstGeom prst="rect">
            <a:avLst/>
          </a:prstGeom>
        </p:spPr>
      </p:pic>
      <p:sp>
        <p:nvSpPr>
          <p:cNvPr id="35" name="TextBox 34"/>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5A6E80"/>
                </a:solidFill>
                <a:latin typeface="DM Sans"/>
              </a:rPr>
              <a:t>PARADISE · kick-off 12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955800" cy="5029200"/>
          </a:xfrm>
          <a:prstGeom prst="rect">
            <a:avLst/>
          </a:prstGeom>
          <a:noFill/>
        </p:spPr>
        <p:txBody>
          <a:bodyPr wrap="square" lIns="0" tIns="0" rIns="0" bIns="0" anchor="t">
            <a:noAutofit/>
          </a:bodyPr>
          <a:lstStyle/>
          <a:p>
            <a:pPr algn="l">
              <a:lnSpc>
                <a:spcPts val="16200"/>
              </a:lnSpc>
            </a:pPr>
            <a:r>
              <a:rPr sz="18000" b="0" i="0">
                <a:solidFill>
                  <a:srgbClr val="FF9A3D"/>
                </a:solidFill>
                <a:latin typeface="DM Serif Display"/>
              </a:rPr>
              <a:t>2</a:t>
            </a:r>
          </a:p>
        </p:txBody>
      </p:sp>
      <p:sp>
        <p:nvSpPr>
          <p:cNvPr id="4" name="TextBox 3"/>
          <p:cNvSpPr txBox="1"/>
          <p:nvPr/>
        </p:nvSpPr>
        <p:spPr>
          <a:xfrm>
            <a:off x="3327400" y="812800"/>
            <a:ext cx="8102600" cy="215900"/>
          </a:xfrm>
          <a:prstGeom prst="rect">
            <a:avLst/>
          </a:prstGeom>
          <a:noFill/>
        </p:spPr>
        <p:txBody>
          <a:bodyPr wrap="none" lIns="0" tIns="0" rIns="0" bIns="0" anchor="t">
            <a:noAutofit/>
          </a:bodyPr>
          <a:lstStyle/>
          <a:p>
            <a:pPr algn="l"/>
            <a:r>
              <a:rPr sz="1300" b="1" i="0">
                <a:solidFill>
                  <a:srgbClr val="52BDEC"/>
                </a:solidFill>
                <a:latin typeface="DM Sans"/>
              </a:rPr>
              <a:t>Deel 2 van 7</a:t>
            </a:r>
          </a:p>
        </p:txBody>
      </p:sp>
      <p:sp>
        <p:nvSpPr>
          <p:cNvPr id="5" name="TextBox 4"/>
          <p:cNvSpPr txBox="1"/>
          <p:nvPr/>
        </p:nvSpPr>
        <p:spPr>
          <a:xfrm>
            <a:off x="3327400" y="1206500"/>
            <a:ext cx="8102600" cy="586740"/>
          </a:xfrm>
          <a:prstGeom prst="rect">
            <a:avLst/>
          </a:prstGeom>
          <a:noFill/>
        </p:spPr>
        <p:txBody>
          <a:bodyPr wrap="none" lIns="0" tIns="0" rIns="0" bIns="0" anchor="t">
            <a:noAutofit/>
          </a:bodyPr>
          <a:lstStyle/>
          <a:p>
            <a:pPr algn="l">
              <a:lnSpc>
                <a:spcPts val="4620"/>
              </a:lnSpc>
            </a:pPr>
            <a:r>
              <a:rPr sz="4400" b="0" i="0" spc="-50">
                <a:solidFill>
                  <a:srgbClr val="F2F8FC"/>
                </a:solidFill>
                <a:latin typeface="DM Serif Display"/>
              </a:rPr>
              <a:t>Ontwikkelingen sinds 1 april 2026</a:t>
            </a:r>
          </a:p>
        </p:txBody>
      </p:sp>
      <p:sp>
        <p:nvSpPr>
          <p:cNvPr id="6" name="TextBox 5"/>
          <p:cNvSpPr txBox="1"/>
          <p:nvPr/>
        </p:nvSpPr>
        <p:spPr>
          <a:xfrm>
            <a:off x="3327400" y="1970980"/>
            <a:ext cx="8102600" cy="335280"/>
          </a:xfrm>
          <a:prstGeom prst="rect">
            <a:avLst/>
          </a:prstGeom>
          <a:noFill/>
        </p:spPr>
        <p:txBody>
          <a:bodyPr wrap="none" lIns="0" tIns="0" rIns="0" bIns="0" anchor="t">
            <a:noAutofit/>
          </a:bodyPr>
          <a:lstStyle/>
          <a:p>
            <a:pPr algn="l">
              <a:lnSpc>
                <a:spcPts val="2640"/>
              </a:lnSpc>
            </a:pPr>
            <a:r>
              <a:rPr sz="2200" b="0" i="1">
                <a:solidFill>
                  <a:srgbClr val="52BDEC"/>
                </a:solidFill>
                <a:latin typeface="DM Serif Display"/>
              </a:rPr>
              <a:t>Wat ligt sinds april vast?</a:t>
            </a:r>
          </a:p>
        </p:txBody>
      </p:sp>
      <p:sp>
        <p:nvSpPr>
          <p:cNvPr id="7" name="Rectangle 6"/>
          <p:cNvSpPr/>
          <p:nvPr/>
        </p:nvSpPr>
        <p:spPr>
          <a:xfrm>
            <a:off x="3327400" y="404891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27400" y="414416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wat intussen vastligt</a:t>
            </a:r>
          </a:p>
        </p:txBody>
      </p:sp>
      <p:sp>
        <p:nvSpPr>
          <p:cNvPr id="9" name="Rectangle 8"/>
          <p:cNvSpPr/>
          <p:nvPr/>
        </p:nvSpPr>
        <p:spPr>
          <a:xfrm>
            <a:off x="3327400" y="449718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27400" y="459243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twee normen sturen de zorg</a:t>
            </a:r>
          </a:p>
        </p:txBody>
      </p:sp>
      <p:sp>
        <p:nvSpPr>
          <p:cNvPr id="11" name="Rectangle 10"/>
          <p:cNvSpPr/>
          <p:nvPr/>
        </p:nvSpPr>
        <p:spPr>
          <a:xfrm>
            <a:off x="3327400" y="494545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27400" y="504070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de CMFO, laag per laag, en wat ze doet</a:t>
            </a:r>
          </a:p>
        </p:txBody>
      </p:sp>
      <p:sp>
        <p:nvSpPr>
          <p:cNvPr id="13" name="Rectangle 12"/>
          <p:cNvSpPr/>
          <p:nvPr/>
        </p:nvSpPr>
        <p:spPr>
          <a:xfrm>
            <a:off x="3327400" y="5393730"/>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27400" y="5488980"/>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een draagnorm op maat, en waarom 80%</a:t>
            </a:r>
          </a:p>
        </p:txBody>
      </p:sp>
      <p:pic>
        <p:nvPicPr>
          <p:cNvPr id="15" name="Picture 14"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16" name="TextBox 15"/>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6F8FAA"/>
                </a:solidFill>
                <a:latin typeface="DM Sans"/>
              </a:rPr>
              <a:t>PARADISE · Ontwikkelingen sinds 1 april</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7956550" y="1543050"/>
            <a:ext cx="3422650" cy="128905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intussen vastligt</a:t>
            </a:r>
          </a:p>
        </p:txBody>
      </p:sp>
      <p:sp>
        <p:nvSpPr>
          <p:cNvPr id="4" name="Rectangle 3"/>
          <p:cNvSpPr/>
          <p:nvPr/>
        </p:nvSpPr>
        <p:spPr>
          <a:xfrm>
            <a:off x="812800" y="1544241"/>
            <a:ext cx="3420467"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2800" y="1683941"/>
            <a:ext cx="3471267" cy="198120"/>
          </a:xfrm>
          <a:prstGeom prst="rect">
            <a:avLst/>
          </a:prstGeom>
          <a:noFill/>
        </p:spPr>
        <p:txBody>
          <a:bodyPr wrap="none" lIns="0" tIns="0" rIns="0" bIns="0" anchor="t">
            <a:noAutofit/>
          </a:bodyPr>
          <a:lstStyle/>
          <a:p>
            <a:pPr algn="l"/>
            <a:r>
              <a:rPr sz="1200" b="1" i="0">
                <a:solidFill>
                  <a:srgbClr val="0B6E8F"/>
                </a:solidFill>
                <a:latin typeface="DM Sans"/>
              </a:rPr>
              <a:t>Drukmeting</a:t>
            </a:r>
          </a:p>
        </p:txBody>
      </p:sp>
      <p:pic>
        <p:nvPicPr>
          <p:cNvPr id="6" name="Picture 5" descr="7006ea103c3e8fa9006c500fec1a0272.png"/>
          <p:cNvPicPr>
            <a:picLocks noChangeAspect="1"/>
          </p:cNvPicPr>
          <p:nvPr/>
        </p:nvPicPr>
        <p:blipFill>
          <a:blip r:embed="rId3"/>
          <a:stretch>
            <a:fillRect/>
          </a:stretch>
        </p:blipFill>
        <p:spPr>
          <a:xfrm>
            <a:off x="812800" y="1956991"/>
            <a:ext cx="419100" cy="304800"/>
          </a:xfrm>
          <a:prstGeom prst="rect">
            <a:avLst/>
          </a:prstGeom>
        </p:spPr>
      </p:pic>
      <p:sp>
        <p:nvSpPr>
          <p:cNvPr id="7" name="TextBox 6"/>
          <p:cNvSpPr txBox="1"/>
          <p:nvPr/>
        </p:nvSpPr>
        <p:spPr>
          <a:xfrm>
            <a:off x="1333500" y="1963341"/>
            <a:ext cx="2830413" cy="292100"/>
          </a:xfrm>
          <a:prstGeom prst="rect">
            <a:avLst/>
          </a:prstGeom>
          <a:noFill/>
        </p:spPr>
        <p:txBody>
          <a:bodyPr wrap="none" lIns="0" tIns="0" rIns="0" bIns="0" anchor="t">
            <a:noAutofit/>
          </a:bodyPr>
          <a:lstStyle/>
          <a:p>
            <a:pPr algn="l">
              <a:lnSpc>
                <a:spcPts val="2300"/>
              </a:lnSpc>
            </a:pPr>
            <a:r>
              <a:rPr sz="2000" b="0" i="0">
                <a:solidFill>
                  <a:srgbClr val="0A2540"/>
                </a:solidFill>
                <a:latin typeface="DM Serif Display"/>
              </a:rPr>
              <a:t>Novel pedar in de kliniek</a:t>
            </a:r>
          </a:p>
        </p:txBody>
      </p:sp>
      <p:sp>
        <p:nvSpPr>
          <p:cNvPr id="8" name="TextBox 7"/>
          <p:cNvSpPr txBox="1"/>
          <p:nvPr/>
        </p:nvSpPr>
        <p:spPr>
          <a:xfrm>
            <a:off x="812800" y="2337991"/>
            <a:ext cx="3488877" cy="429220"/>
          </a:xfrm>
          <a:prstGeom prst="rect">
            <a:avLst/>
          </a:prstGeom>
          <a:noFill/>
        </p:spPr>
        <p:txBody>
          <a:bodyPr wrap="square" lIns="0" tIns="0" rIns="0" bIns="0" anchor="t">
            <a:noAutofit/>
          </a:bodyPr>
          <a:lstStyle/>
          <a:p>
            <a:pPr algn="l">
              <a:lnSpc>
                <a:spcPts val="1689"/>
              </a:lnSpc>
            </a:pPr>
            <a:r>
              <a:rPr sz="1300" b="0" i="0">
                <a:solidFill>
                  <a:srgbClr val="5A6E80"/>
                </a:solidFill>
                <a:latin typeface="DM Sans"/>
              </a:rPr>
              <a:t>altijd in de schoen; de F-Scan GO alleen bij het studieteam (deelstudie)</a:t>
            </a:r>
          </a:p>
        </p:txBody>
      </p:sp>
      <p:sp>
        <p:nvSpPr>
          <p:cNvPr id="9" name="Rectangle 8"/>
          <p:cNvSpPr/>
          <p:nvPr/>
        </p:nvSpPr>
        <p:spPr>
          <a:xfrm>
            <a:off x="4385667" y="1544241"/>
            <a:ext cx="3420566"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5667" y="1683941"/>
            <a:ext cx="3471366" cy="198120"/>
          </a:xfrm>
          <a:prstGeom prst="rect">
            <a:avLst/>
          </a:prstGeom>
          <a:noFill/>
        </p:spPr>
        <p:txBody>
          <a:bodyPr wrap="none" lIns="0" tIns="0" rIns="0" bIns="0" anchor="t">
            <a:noAutofit/>
          </a:bodyPr>
          <a:lstStyle/>
          <a:p>
            <a:pPr algn="l"/>
            <a:r>
              <a:rPr sz="1200" b="1" i="0">
                <a:solidFill>
                  <a:srgbClr val="0B6E8F"/>
                </a:solidFill>
                <a:latin typeface="DM Sans"/>
              </a:rPr>
              <a:t>Eindpunt</a:t>
            </a:r>
          </a:p>
        </p:txBody>
      </p:sp>
      <p:sp>
        <p:nvSpPr>
          <p:cNvPr id="11" name="TextBox 10"/>
          <p:cNvSpPr txBox="1"/>
          <p:nvPr/>
        </p:nvSpPr>
        <p:spPr>
          <a:xfrm>
            <a:off x="4385667" y="1956991"/>
            <a:ext cx="3488978" cy="584200"/>
          </a:xfrm>
          <a:prstGeom prst="rect">
            <a:avLst/>
          </a:prstGeom>
          <a:noFill/>
        </p:spPr>
        <p:txBody>
          <a:bodyPr wrap="square" lIns="0" tIns="0" rIns="0" bIns="0" anchor="t">
            <a:noAutofit/>
          </a:bodyPr>
          <a:lstStyle/>
          <a:p>
            <a:pPr algn="l">
              <a:lnSpc>
                <a:spcPts val="2300"/>
              </a:lnSpc>
            </a:pPr>
            <a:r>
              <a:rPr sz="2000" b="0" i="0">
                <a:solidFill>
                  <a:srgbClr val="0A2540"/>
                </a:solidFill>
                <a:latin typeface="DM Serif Display"/>
              </a:rPr>
              <a:t>Eén primair: recidief over 18 maanden</a:t>
            </a:r>
          </a:p>
        </p:txBody>
      </p:sp>
      <p:sp>
        <p:nvSpPr>
          <p:cNvPr id="12" name="TextBox 11"/>
          <p:cNvSpPr txBox="1"/>
          <p:nvPr/>
        </p:nvSpPr>
        <p:spPr>
          <a:xfrm>
            <a:off x="4385667" y="2617391"/>
            <a:ext cx="3471366" cy="214630"/>
          </a:xfrm>
          <a:prstGeom prst="rect">
            <a:avLst/>
          </a:prstGeom>
          <a:noFill/>
        </p:spPr>
        <p:txBody>
          <a:bodyPr wrap="none" lIns="0" tIns="0" rIns="0" bIns="0" anchor="t">
            <a:noAutofit/>
          </a:bodyPr>
          <a:lstStyle/>
          <a:p>
            <a:pPr algn="l">
              <a:lnSpc>
                <a:spcPts val="1689"/>
              </a:lnSpc>
            </a:pPr>
            <a:r>
              <a:rPr sz="1300" b="0" i="0">
                <a:solidFill>
                  <a:srgbClr val="5A6E80"/>
                </a:solidFill>
                <a:latin typeface="DM Sans"/>
              </a:rPr>
              <a:t>therapietrouw is de mediator</a:t>
            </a:r>
          </a:p>
        </p:txBody>
      </p:sp>
      <p:sp>
        <p:nvSpPr>
          <p:cNvPr id="13" name="Rectangle 12"/>
          <p:cNvSpPr/>
          <p:nvPr/>
        </p:nvSpPr>
        <p:spPr>
          <a:xfrm>
            <a:off x="7958634" y="1544241"/>
            <a:ext cx="3420566" cy="1905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8634" y="1690291"/>
            <a:ext cx="3471366" cy="198120"/>
          </a:xfrm>
          <a:prstGeom prst="rect">
            <a:avLst/>
          </a:prstGeom>
          <a:noFill/>
        </p:spPr>
        <p:txBody>
          <a:bodyPr wrap="none" lIns="0" tIns="0" rIns="0" bIns="0" anchor="t">
            <a:noAutofit/>
          </a:bodyPr>
          <a:lstStyle/>
          <a:p>
            <a:pPr algn="l"/>
            <a:r>
              <a:rPr sz="1200" b="1" i="0">
                <a:solidFill>
                  <a:srgbClr val="A34A00"/>
                </a:solidFill>
                <a:latin typeface="DM Sans"/>
              </a:rPr>
              <a:t>Twee normen</a:t>
            </a:r>
          </a:p>
        </p:txBody>
      </p:sp>
      <p:sp>
        <p:nvSpPr>
          <p:cNvPr id="15" name="TextBox 14"/>
          <p:cNvSpPr txBox="1"/>
          <p:nvPr/>
        </p:nvSpPr>
        <p:spPr>
          <a:xfrm>
            <a:off x="7958634" y="1963341"/>
            <a:ext cx="3471366" cy="292100"/>
          </a:xfrm>
          <a:prstGeom prst="rect">
            <a:avLst/>
          </a:prstGeom>
          <a:noFill/>
        </p:spPr>
        <p:txBody>
          <a:bodyPr wrap="none" lIns="0" tIns="0" rIns="0" bIns="0" anchor="t">
            <a:noAutofit/>
          </a:bodyPr>
          <a:lstStyle/>
          <a:p>
            <a:pPr algn="l">
              <a:lnSpc>
                <a:spcPts val="2300"/>
              </a:lnSpc>
            </a:pPr>
            <a:r>
              <a:rPr sz="2000" b="0" i="0">
                <a:solidFill>
                  <a:srgbClr val="0A2540"/>
                </a:solidFill>
                <a:latin typeface="DM Serif Display"/>
              </a:rPr>
              <a:t>Druk en dragen sturen de zorg</a:t>
            </a:r>
          </a:p>
        </p:txBody>
      </p:sp>
      <p:sp>
        <p:nvSpPr>
          <p:cNvPr id="16" name="TextBox 15"/>
          <p:cNvSpPr txBox="1"/>
          <p:nvPr/>
        </p:nvSpPr>
        <p:spPr>
          <a:xfrm>
            <a:off x="7958634" y="2331641"/>
            <a:ext cx="3471366" cy="214630"/>
          </a:xfrm>
          <a:prstGeom prst="rect">
            <a:avLst/>
          </a:prstGeom>
          <a:noFill/>
        </p:spPr>
        <p:txBody>
          <a:bodyPr wrap="none" lIns="0" tIns="0" rIns="0" bIns="0" anchor="t">
            <a:noAutofit/>
          </a:bodyPr>
          <a:lstStyle/>
          <a:p>
            <a:pPr algn="l">
              <a:lnSpc>
                <a:spcPts val="1689"/>
              </a:lnSpc>
            </a:pPr>
            <a:r>
              <a:rPr sz="1300" b="0" i="0">
                <a:solidFill>
                  <a:srgbClr val="5A6E80"/>
                </a:solidFill>
                <a:latin typeface="DM Sans"/>
              </a:rPr>
              <a:t>alleen in Optimal Care</a:t>
            </a:r>
          </a:p>
        </p:txBody>
      </p:sp>
      <p:sp>
        <p:nvSpPr>
          <p:cNvPr id="17" name="Rectangle 16"/>
          <p:cNvSpPr/>
          <p:nvPr/>
        </p:nvSpPr>
        <p:spPr>
          <a:xfrm>
            <a:off x="812800" y="2984401"/>
            <a:ext cx="3420467"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2800" y="3124101"/>
            <a:ext cx="3471267" cy="198120"/>
          </a:xfrm>
          <a:prstGeom prst="rect">
            <a:avLst/>
          </a:prstGeom>
          <a:noFill/>
        </p:spPr>
        <p:txBody>
          <a:bodyPr wrap="none" lIns="0" tIns="0" rIns="0" bIns="0" anchor="t">
            <a:noAutofit/>
          </a:bodyPr>
          <a:lstStyle/>
          <a:p>
            <a:pPr algn="l"/>
            <a:r>
              <a:rPr sz="1200" b="1" i="0">
                <a:solidFill>
                  <a:srgbClr val="0B6E8F"/>
                </a:solidFill>
                <a:latin typeface="DM Sans"/>
              </a:rPr>
              <a:t>CMFO</a:t>
            </a:r>
          </a:p>
        </p:txBody>
      </p:sp>
      <p:sp>
        <p:nvSpPr>
          <p:cNvPr id="19" name="TextBox 18"/>
          <p:cNvSpPr txBox="1"/>
          <p:nvPr/>
        </p:nvSpPr>
        <p:spPr>
          <a:xfrm>
            <a:off x="812800" y="3397151"/>
            <a:ext cx="3471267" cy="292100"/>
          </a:xfrm>
          <a:prstGeom prst="rect">
            <a:avLst/>
          </a:prstGeom>
          <a:noFill/>
        </p:spPr>
        <p:txBody>
          <a:bodyPr wrap="none" lIns="0" tIns="0" rIns="0" bIns="0" anchor="t">
            <a:noAutofit/>
          </a:bodyPr>
          <a:lstStyle/>
          <a:p>
            <a:pPr algn="l">
              <a:lnSpc>
                <a:spcPts val="2300"/>
              </a:lnSpc>
            </a:pPr>
            <a:r>
              <a:rPr sz="2000" b="0" i="0">
                <a:solidFill>
                  <a:srgbClr val="0A2540"/>
                </a:solidFill>
                <a:latin typeface="DM Serif Display"/>
              </a:rPr>
              <a:t>Opbouw per schoentype</a:t>
            </a:r>
          </a:p>
        </p:txBody>
      </p:sp>
      <p:sp>
        <p:nvSpPr>
          <p:cNvPr id="20" name="TextBox 19"/>
          <p:cNvSpPr txBox="1"/>
          <p:nvPr/>
        </p:nvSpPr>
        <p:spPr>
          <a:xfrm>
            <a:off x="812800" y="3765451"/>
            <a:ext cx="3471267" cy="214630"/>
          </a:xfrm>
          <a:prstGeom prst="rect">
            <a:avLst/>
          </a:prstGeom>
          <a:noFill/>
        </p:spPr>
        <p:txBody>
          <a:bodyPr wrap="none" lIns="0" tIns="0" rIns="0" bIns="0" anchor="t">
            <a:noAutofit/>
          </a:bodyPr>
          <a:lstStyle/>
          <a:p>
            <a:pPr algn="l">
              <a:lnSpc>
                <a:spcPts val="1689"/>
              </a:lnSpc>
            </a:pPr>
            <a:r>
              <a:rPr sz="1300" b="0" i="0">
                <a:solidFill>
                  <a:srgbClr val="5A6E80"/>
                </a:solidFill>
                <a:latin typeface="DM Sans"/>
              </a:rPr>
              <a:t>plus een identiek tweede paar</a:t>
            </a:r>
          </a:p>
        </p:txBody>
      </p:sp>
      <p:sp>
        <p:nvSpPr>
          <p:cNvPr id="21" name="Rectangle 20"/>
          <p:cNvSpPr/>
          <p:nvPr/>
        </p:nvSpPr>
        <p:spPr>
          <a:xfrm>
            <a:off x="4385667" y="2984401"/>
            <a:ext cx="3420566"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85667" y="3124101"/>
            <a:ext cx="3471366" cy="198120"/>
          </a:xfrm>
          <a:prstGeom prst="rect">
            <a:avLst/>
          </a:prstGeom>
          <a:noFill/>
        </p:spPr>
        <p:txBody>
          <a:bodyPr wrap="none" lIns="0" tIns="0" rIns="0" bIns="0" anchor="t">
            <a:noAutofit/>
          </a:bodyPr>
          <a:lstStyle/>
          <a:p>
            <a:pPr algn="l"/>
            <a:r>
              <a:rPr sz="1200" b="1" i="0">
                <a:solidFill>
                  <a:srgbClr val="0B6E8F"/>
                </a:solidFill>
                <a:latin typeface="DM Sans"/>
              </a:rPr>
              <a:t>Data</a:t>
            </a:r>
          </a:p>
        </p:txBody>
      </p:sp>
      <p:sp>
        <p:nvSpPr>
          <p:cNvPr id="23" name="TextBox 22"/>
          <p:cNvSpPr txBox="1"/>
          <p:nvPr/>
        </p:nvSpPr>
        <p:spPr>
          <a:xfrm>
            <a:off x="4385667" y="3397151"/>
            <a:ext cx="3471366" cy="292100"/>
          </a:xfrm>
          <a:prstGeom prst="rect">
            <a:avLst/>
          </a:prstGeom>
          <a:noFill/>
        </p:spPr>
        <p:txBody>
          <a:bodyPr wrap="none" lIns="0" tIns="0" rIns="0" bIns="0" anchor="t">
            <a:noAutofit/>
          </a:bodyPr>
          <a:lstStyle/>
          <a:p>
            <a:pPr algn="l">
              <a:lnSpc>
                <a:spcPts val="2300"/>
              </a:lnSpc>
            </a:pPr>
            <a:r>
              <a:rPr sz="2000" b="0" i="0">
                <a:solidFill>
                  <a:srgbClr val="0A2540"/>
                </a:solidFill>
                <a:latin typeface="DM Serif Display"/>
              </a:rPr>
              <a:t>REDCap klaar</a:t>
            </a:r>
          </a:p>
        </p:txBody>
      </p:sp>
      <p:sp>
        <p:nvSpPr>
          <p:cNvPr id="24" name="TextBox 23"/>
          <p:cNvSpPr txBox="1"/>
          <p:nvPr/>
        </p:nvSpPr>
        <p:spPr>
          <a:xfrm>
            <a:off x="4385667" y="3765451"/>
            <a:ext cx="3471366" cy="214630"/>
          </a:xfrm>
          <a:prstGeom prst="rect">
            <a:avLst/>
          </a:prstGeom>
          <a:noFill/>
        </p:spPr>
        <p:txBody>
          <a:bodyPr wrap="none" lIns="0" tIns="0" rIns="0" bIns="0" anchor="t">
            <a:noAutofit/>
          </a:bodyPr>
          <a:lstStyle/>
          <a:p>
            <a:pPr algn="l">
              <a:lnSpc>
                <a:spcPts val="1689"/>
              </a:lnSpc>
            </a:pPr>
            <a:r>
              <a:rPr sz="1300" b="0" i="0">
                <a:solidFill>
                  <a:srgbClr val="5A6E80"/>
                </a:solidFill>
                <a:latin typeface="DM Sans"/>
              </a:rPr>
              <a:t>u werkt op papier, wij zetten over</a:t>
            </a:r>
          </a:p>
        </p:txBody>
      </p:sp>
      <p:sp>
        <p:nvSpPr>
          <p:cNvPr id="25" name="Rectangle 24"/>
          <p:cNvSpPr/>
          <p:nvPr/>
        </p:nvSpPr>
        <p:spPr>
          <a:xfrm>
            <a:off x="7958634" y="2984401"/>
            <a:ext cx="3420566"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958634" y="3124101"/>
            <a:ext cx="3471366" cy="198120"/>
          </a:xfrm>
          <a:prstGeom prst="rect">
            <a:avLst/>
          </a:prstGeom>
          <a:noFill/>
        </p:spPr>
        <p:txBody>
          <a:bodyPr wrap="none" lIns="0" tIns="0" rIns="0" bIns="0" anchor="t">
            <a:noAutofit/>
          </a:bodyPr>
          <a:lstStyle/>
          <a:p>
            <a:pPr algn="l"/>
            <a:r>
              <a:rPr sz="1200" b="1" i="0">
                <a:solidFill>
                  <a:srgbClr val="0B6E8F"/>
                </a:solidFill>
                <a:latin typeface="DM Sans"/>
              </a:rPr>
              <a:t>Rekrutering</a:t>
            </a:r>
          </a:p>
        </p:txBody>
      </p:sp>
      <p:sp>
        <p:nvSpPr>
          <p:cNvPr id="27" name="TextBox 26"/>
          <p:cNvSpPr txBox="1"/>
          <p:nvPr/>
        </p:nvSpPr>
        <p:spPr>
          <a:xfrm>
            <a:off x="7958634" y="3397151"/>
            <a:ext cx="3471366" cy="292100"/>
          </a:xfrm>
          <a:prstGeom prst="rect">
            <a:avLst/>
          </a:prstGeom>
          <a:noFill/>
        </p:spPr>
        <p:txBody>
          <a:bodyPr wrap="none" lIns="0" tIns="0" rIns="0" bIns="0" anchor="t">
            <a:noAutofit/>
          </a:bodyPr>
          <a:lstStyle/>
          <a:p>
            <a:pPr algn="l">
              <a:lnSpc>
                <a:spcPts val="2300"/>
              </a:lnSpc>
            </a:pPr>
            <a:r>
              <a:rPr sz="2000" b="0" i="0">
                <a:solidFill>
                  <a:srgbClr val="0A2540"/>
                </a:solidFill>
                <a:latin typeface="DM Serif Display"/>
              </a:rPr>
              <a:t>12 maanden</a:t>
            </a:r>
          </a:p>
        </p:txBody>
      </p:sp>
      <p:sp>
        <p:nvSpPr>
          <p:cNvPr id="28" name="TextBox 27"/>
          <p:cNvSpPr txBox="1"/>
          <p:nvPr/>
        </p:nvSpPr>
        <p:spPr>
          <a:xfrm>
            <a:off x="7958634" y="3765451"/>
            <a:ext cx="3471366" cy="214630"/>
          </a:xfrm>
          <a:prstGeom prst="rect">
            <a:avLst/>
          </a:prstGeom>
          <a:noFill/>
        </p:spPr>
        <p:txBody>
          <a:bodyPr wrap="none" lIns="0" tIns="0" rIns="0" bIns="0" anchor="t">
            <a:noAutofit/>
          </a:bodyPr>
          <a:lstStyle/>
          <a:p>
            <a:pPr algn="l">
              <a:lnSpc>
                <a:spcPts val="1689"/>
              </a:lnSpc>
            </a:pPr>
            <a:r>
              <a:rPr sz="1300" b="0" i="0">
                <a:solidFill>
                  <a:srgbClr val="5A6E80"/>
                </a:solidFill>
                <a:latin typeface="DM Sans"/>
              </a:rPr>
              <a:t>februari 2027 tot februari 2028</a:t>
            </a:r>
          </a:p>
        </p:txBody>
      </p:sp>
      <p:pic>
        <p:nvPicPr>
          <p:cNvPr id="29" name="Picture 28" descr="ec5c93e6f83f209b4e97ddfdecd480c8.png"/>
          <p:cNvPicPr>
            <a:picLocks noChangeAspect="1"/>
          </p:cNvPicPr>
          <p:nvPr/>
        </p:nvPicPr>
        <p:blipFill>
          <a:blip r:embed="rId4"/>
          <a:stretch>
            <a:fillRect/>
          </a:stretch>
        </p:blipFill>
        <p:spPr>
          <a:xfrm>
            <a:off x="812967" y="6261100"/>
            <a:ext cx="171116" cy="203200"/>
          </a:xfrm>
          <a:prstGeom prst="rect">
            <a:avLst/>
          </a:prstGeom>
        </p:spPr>
      </p:pic>
      <p:sp>
        <p:nvSpPr>
          <p:cNvPr id="30" name="TextBox 29"/>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31" name="TextBox 30"/>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protocol · beslissingen PI aug–sep 2026 · meeting 1 april</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 name="Picture 2"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4" name="TextBox 3"/>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5" name="TextBox 4"/>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protocol §5.4 · Bus e.a. 2011, 2013 · beslissingen 6 en 8 oktober 2026</a:t>
            </a:r>
          </a:p>
        </p:txBody>
      </p:sp>
      <p:sp>
        <p:nvSpPr>
          <p:cNvPr id="6" name="TextBox 5"/>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Zelfde zool, ander gebruik</a:t>
            </a:r>
          </a:p>
        </p:txBody>
      </p:sp>
      <p:sp>
        <p:nvSpPr>
          <p:cNvPr id="7" name="Rectangle 6"/>
          <p:cNvSpPr/>
          <p:nvPr/>
        </p:nvSpPr>
        <p:spPr>
          <a:xfrm>
            <a:off x="812800" y="177165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12800" y="217805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1879600"/>
            <a:ext cx="1574800" cy="198120"/>
          </a:xfrm>
          <a:prstGeom prst="rect">
            <a:avLst/>
          </a:prstGeom>
          <a:noFill/>
        </p:spPr>
        <p:txBody>
          <a:bodyPr wrap="none" lIns="0" tIns="0" rIns="0" bIns="0" anchor="t">
            <a:noAutofit/>
          </a:bodyPr>
          <a:lstStyle/>
          <a:p>
            <a:pPr algn="l"/>
            <a:r>
              <a:rPr sz="1200" b="1" i="0">
                <a:solidFill>
                  <a:srgbClr val="5A6E80"/>
                </a:solidFill>
                <a:latin typeface="DM Sans"/>
              </a:rPr>
              <a:t>Beide armen</a:t>
            </a:r>
          </a:p>
        </p:txBody>
      </p:sp>
      <p:sp>
        <p:nvSpPr>
          <p:cNvPr id="10" name="TextBox 9"/>
          <p:cNvSpPr txBox="1"/>
          <p:nvPr/>
        </p:nvSpPr>
        <p:spPr>
          <a:xfrm>
            <a:off x="2514600" y="1866900"/>
            <a:ext cx="89154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CMFO met dezelfde opbouw · voetzorg elke 3 maanden · MoveMonitor bij de start · Orthotimer</a:t>
            </a:r>
          </a:p>
        </p:txBody>
      </p:sp>
      <p:sp>
        <p:nvSpPr>
          <p:cNvPr id="11" name="Rounded Rectangle 10"/>
          <p:cNvSpPr/>
          <p:nvPr/>
        </p:nvSpPr>
        <p:spPr>
          <a:xfrm>
            <a:off x="812800" y="2286000"/>
            <a:ext cx="1564878" cy="3238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77900" y="2324100"/>
            <a:ext cx="1285478" cy="247650"/>
          </a:xfrm>
          <a:prstGeom prst="rect">
            <a:avLst/>
          </a:prstGeom>
          <a:noFill/>
        </p:spPr>
        <p:txBody>
          <a:bodyPr wrap="none" lIns="0" tIns="0" rIns="0" bIns="0" anchor="t">
            <a:noAutofit/>
          </a:bodyPr>
          <a:lstStyle/>
          <a:p>
            <a:pPr algn="l"/>
            <a:r>
              <a:rPr sz="1500" b="1" i="0">
                <a:solidFill>
                  <a:srgbClr val="F2F8FC"/>
                </a:solidFill>
                <a:latin typeface="DM Sans"/>
              </a:rPr>
              <a:t>Optimal Care</a:t>
            </a:r>
          </a:p>
        </p:txBody>
      </p:sp>
      <p:sp>
        <p:nvSpPr>
          <p:cNvPr id="13" name="TextBox 12"/>
          <p:cNvSpPr txBox="1"/>
          <p:nvPr/>
        </p:nvSpPr>
        <p:spPr>
          <a:xfrm>
            <a:off x="2504678" y="2324100"/>
            <a:ext cx="2528491" cy="247650"/>
          </a:xfrm>
          <a:prstGeom prst="rect">
            <a:avLst/>
          </a:prstGeom>
          <a:noFill/>
        </p:spPr>
        <p:txBody>
          <a:bodyPr wrap="none" lIns="0" tIns="0" rIns="0" bIns="0" anchor="t">
            <a:noAutofit/>
          </a:bodyPr>
          <a:lstStyle/>
          <a:p>
            <a:pPr algn="l"/>
            <a:r>
              <a:rPr sz="1500" b="0" i="0">
                <a:solidFill>
                  <a:srgbClr val="0A2540"/>
                </a:solidFill>
                <a:latin typeface="DM Sans"/>
              </a:rPr>
              <a:t>twee normen sturen de zorg</a:t>
            </a:r>
          </a:p>
        </p:txBody>
      </p:sp>
      <p:sp>
        <p:nvSpPr>
          <p:cNvPr id="14" name="Rounded Rectangle 13"/>
          <p:cNvSpPr/>
          <p:nvPr/>
        </p:nvSpPr>
        <p:spPr>
          <a:xfrm>
            <a:off x="812800" y="26670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7006ea103c3e8fa9006c500fec1a0272.png"/>
          <p:cNvPicPr>
            <a:picLocks noChangeAspect="1"/>
          </p:cNvPicPr>
          <p:nvPr/>
        </p:nvPicPr>
        <p:blipFill>
          <a:blip r:embed="rId4"/>
          <a:stretch>
            <a:fillRect/>
          </a:stretch>
        </p:blipFill>
        <p:spPr>
          <a:xfrm>
            <a:off x="946150" y="2774950"/>
            <a:ext cx="317500" cy="228600"/>
          </a:xfrm>
          <a:prstGeom prst="rect">
            <a:avLst/>
          </a:prstGeom>
        </p:spPr>
      </p:pic>
      <p:sp>
        <p:nvSpPr>
          <p:cNvPr id="16" name="TextBox 15"/>
          <p:cNvSpPr txBox="1"/>
          <p:nvPr/>
        </p:nvSpPr>
        <p:spPr>
          <a:xfrm>
            <a:off x="1339850" y="2790825"/>
            <a:ext cx="945555" cy="198120"/>
          </a:xfrm>
          <a:prstGeom prst="rect">
            <a:avLst/>
          </a:prstGeom>
          <a:noFill/>
        </p:spPr>
        <p:txBody>
          <a:bodyPr wrap="none" lIns="0" tIns="0" rIns="0" bIns="0" anchor="t">
            <a:noAutofit/>
          </a:bodyPr>
          <a:lstStyle/>
          <a:p>
            <a:pPr algn="l"/>
            <a:r>
              <a:rPr sz="1200" b="1" i="0">
                <a:solidFill>
                  <a:srgbClr val="0B6E8F"/>
                </a:solidFill>
                <a:latin typeface="DM Sans"/>
              </a:rPr>
              <a:t>Novel pedar</a:t>
            </a:r>
          </a:p>
        </p:txBody>
      </p:sp>
      <p:sp>
        <p:nvSpPr>
          <p:cNvPr id="17" name="TextBox 16"/>
          <p:cNvSpPr txBox="1"/>
          <p:nvPr/>
        </p:nvSpPr>
        <p:spPr>
          <a:xfrm>
            <a:off x="946150" y="304165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elke sessie zonder én mét de CMFO: V2, maand 6, 12, 18</a:t>
            </a:r>
          </a:p>
        </p:txBody>
      </p:sp>
      <p:cxnSp>
        <p:nvCxnSpPr>
          <p:cNvPr id="18" name="Connector 17"/>
          <p:cNvCxnSpPr/>
          <p:nvPr/>
        </p:nvCxnSpPr>
        <p:spPr>
          <a:xfrm>
            <a:off x="3317875" y="32575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508375" y="2667000"/>
            <a:ext cx="2479675" cy="1181100"/>
          </a:xfrm>
          <a:prstGeom prst="roundRect">
            <a:avLst>
              <a:gd name="adj" fmla="val 8602"/>
            </a:avLst>
          </a:prstGeom>
          <a:solidFill>
            <a:srgbClr val="FFFFFF"/>
          </a:solidFill>
          <a:ln w="1270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3648075" y="2781300"/>
            <a:ext cx="2251075" cy="198120"/>
          </a:xfrm>
          <a:prstGeom prst="rect">
            <a:avLst/>
          </a:prstGeom>
          <a:noFill/>
        </p:spPr>
        <p:txBody>
          <a:bodyPr wrap="none" lIns="0" tIns="0" rIns="0" bIns="0" anchor="t">
            <a:noAutofit/>
          </a:bodyPr>
          <a:lstStyle/>
          <a:p>
            <a:pPr algn="l"/>
            <a:r>
              <a:rPr sz="1200" b="1" i="0">
                <a:solidFill>
                  <a:srgbClr val="A34A00"/>
                </a:solidFill>
                <a:latin typeface="DM Sans"/>
              </a:rPr>
              <a:t>Druknorm</a:t>
            </a:r>
          </a:p>
        </p:txBody>
      </p:sp>
      <p:sp>
        <p:nvSpPr>
          <p:cNvPr id="21" name="TextBox 20"/>
          <p:cNvSpPr txBox="1"/>
          <p:nvPr/>
        </p:nvSpPr>
        <p:spPr>
          <a:xfrm>
            <a:off x="3648075" y="3016250"/>
            <a:ext cx="2251075" cy="643830"/>
          </a:xfrm>
          <a:prstGeom prst="rect">
            <a:avLst/>
          </a:prstGeom>
          <a:noFill/>
        </p:spPr>
        <p:txBody>
          <a:bodyPr wrap="square" lIns="0" tIns="0" rIns="0" bIns="0" anchor="t">
            <a:noAutofit/>
          </a:bodyPr>
          <a:lstStyle/>
          <a:p>
            <a:pPr algn="l">
              <a:lnSpc>
                <a:spcPts val="1689"/>
              </a:lnSpc>
            </a:pPr>
            <a:r>
              <a:rPr sz="1300" b="0" i="0">
                <a:solidFill>
                  <a:srgbClr val="0A2540"/>
                </a:solidFill>
                <a:latin typeface="DM Sans"/>
              </a:rPr>
              <a:t>&lt; 200 kPa óf ≥ 25% lager dan zonder, in dezelfde sessie</a:t>
            </a:r>
          </a:p>
        </p:txBody>
      </p:sp>
      <p:cxnSp>
        <p:nvCxnSpPr>
          <p:cNvPr id="22" name="Connector 21"/>
          <p:cNvCxnSpPr/>
          <p:nvPr/>
        </p:nvCxnSpPr>
        <p:spPr>
          <a:xfrm>
            <a:off x="6026150" y="32575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216650" y="26670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350000" y="2774950"/>
            <a:ext cx="2251075" cy="198120"/>
          </a:xfrm>
          <a:prstGeom prst="rect">
            <a:avLst/>
          </a:prstGeom>
          <a:noFill/>
        </p:spPr>
        <p:txBody>
          <a:bodyPr wrap="none" lIns="0" tIns="0" rIns="0" bIns="0" anchor="t">
            <a:noAutofit/>
          </a:bodyPr>
          <a:lstStyle/>
          <a:p>
            <a:pPr algn="l"/>
            <a:r>
              <a:rPr sz="1200" b="1" i="0">
                <a:solidFill>
                  <a:srgbClr val="0B6E8F"/>
                </a:solidFill>
                <a:latin typeface="DM Sans"/>
              </a:rPr>
              <a:t>Aanpassen</a:t>
            </a:r>
          </a:p>
        </p:txBody>
      </p:sp>
      <p:sp>
        <p:nvSpPr>
          <p:cNvPr id="25" name="TextBox 24"/>
          <p:cNvSpPr txBox="1"/>
          <p:nvPr/>
        </p:nvSpPr>
        <p:spPr>
          <a:xfrm>
            <a:off x="6350000" y="300990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niet gehaald: aanpassen en opnieuw mét, tot 3 keer</a:t>
            </a:r>
          </a:p>
        </p:txBody>
      </p:sp>
      <p:cxnSp>
        <p:nvCxnSpPr>
          <p:cNvPr id="26" name="Connector 25"/>
          <p:cNvCxnSpPr/>
          <p:nvPr/>
        </p:nvCxnSpPr>
        <p:spPr>
          <a:xfrm>
            <a:off x="8721725" y="32575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912225" y="26670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045575" y="2774950"/>
            <a:ext cx="2251075" cy="198120"/>
          </a:xfrm>
          <a:prstGeom prst="rect">
            <a:avLst/>
          </a:prstGeom>
          <a:noFill/>
        </p:spPr>
        <p:txBody>
          <a:bodyPr wrap="none" lIns="0" tIns="0" rIns="0" bIns="0" anchor="t">
            <a:noAutofit/>
          </a:bodyPr>
          <a:lstStyle/>
          <a:p>
            <a:pPr algn="l"/>
            <a:r>
              <a:rPr sz="1200" b="1" i="0">
                <a:solidFill>
                  <a:srgbClr val="0B6E8F"/>
                </a:solidFill>
                <a:latin typeface="DM Sans"/>
              </a:rPr>
              <a:t>Daarna</a:t>
            </a:r>
          </a:p>
        </p:txBody>
      </p:sp>
      <p:sp>
        <p:nvSpPr>
          <p:cNvPr id="29" name="TextBox 28"/>
          <p:cNvSpPr txBox="1"/>
          <p:nvPr/>
        </p:nvSpPr>
        <p:spPr>
          <a:xfrm>
            <a:off x="9045575" y="3009900"/>
            <a:ext cx="2251075"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een identiek tweede paar</a:t>
            </a:r>
          </a:p>
        </p:txBody>
      </p:sp>
      <p:sp>
        <p:nvSpPr>
          <p:cNvPr id="30" name="TextBox 29"/>
          <p:cNvSpPr txBox="1"/>
          <p:nvPr/>
        </p:nvSpPr>
        <p:spPr>
          <a:xfrm>
            <a:off x="812800" y="3962400"/>
            <a:ext cx="10617200" cy="240030"/>
          </a:xfrm>
          <a:prstGeom prst="rect">
            <a:avLst/>
          </a:prstGeom>
          <a:noFill/>
        </p:spPr>
        <p:txBody>
          <a:bodyPr wrap="none" lIns="0" tIns="0" rIns="0" bIns="0" anchor="t">
            <a:noAutofit/>
          </a:bodyPr>
          <a:lstStyle/>
          <a:p>
            <a:pPr algn="l">
              <a:lnSpc>
                <a:spcPts val="1889"/>
              </a:lnSpc>
            </a:pPr>
            <a:r>
              <a:rPr sz="1400" b="1" i="0">
                <a:solidFill>
                  <a:srgbClr val="3A4F63"/>
                </a:solidFill>
                <a:latin typeface="DM Sans"/>
              </a:rPr>
              <a:t>Doelregio's</a:t>
            </a:r>
            <a:r>
              <a:rPr sz="1400" b="0" i="0">
                <a:solidFill>
                  <a:srgbClr val="3A4F63"/>
                </a:solidFill>
                <a:latin typeface="DM Sans"/>
              </a:rPr>
              <a:t>: de vorige ulcuslocatie, plus per voet de twee voor- of middenvoetregio's met de hoogste piekdruk boven 200 kPa</a:t>
            </a:r>
          </a:p>
        </p:txBody>
      </p:sp>
      <p:sp>
        <p:nvSpPr>
          <p:cNvPr id="31" name="Rectangle 30"/>
          <p:cNvSpPr/>
          <p:nvPr/>
        </p:nvSpPr>
        <p:spPr>
          <a:xfrm>
            <a:off x="812800" y="5207000"/>
            <a:ext cx="105664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812800" y="5346700"/>
            <a:ext cx="1329829" cy="323850"/>
          </a:xfrm>
          <a:prstGeom prst="roundRect">
            <a:avLst>
              <a:gd name="adj" fmla="val 50000"/>
            </a:avLst>
          </a:prstGeom>
          <a:solidFill>
            <a:srgbClr val="5A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977900" y="5384800"/>
            <a:ext cx="1050429" cy="247650"/>
          </a:xfrm>
          <a:prstGeom prst="rect">
            <a:avLst/>
          </a:prstGeom>
          <a:noFill/>
        </p:spPr>
        <p:txBody>
          <a:bodyPr wrap="none" lIns="0" tIns="0" rIns="0" bIns="0" anchor="t">
            <a:noAutofit/>
          </a:bodyPr>
          <a:lstStyle/>
          <a:p>
            <a:pPr algn="l"/>
            <a:r>
              <a:rPr sz="1500" b="1" i="0">
                <a:solidFill>
                  <a:srgbClr val="F2F8FC"/>
                </a:solidFill>
                <a:latin typeface="DM Sans"/>
              </a:rPr>
              <a:t>Usual Care</a:t>
            </a:r>
          </a:p>
        </p:txBody>
      </p:sp>
      <p:sp>
        <p:nvSpPr>
          <p:cNvPr id="34" name="TextBox 33"/>
          <p:cNvSpPr txBox="1"/>
          <p:nvPr/>
        </p:nvSpPr>
        <p:spPr>
          <a:xfrm>
            <a:off x="2269629" y="5346700"/>
            <a:ext cx="9291763" cy="495300"/>
          </a:xfrm>
          <a:prstGeom prst="rect">
            <a:avLst/>
          </a:prstGeom>
          <a:noFill/>
        </p:spPr>
        <p:txBody>
          <a:bodyPr wrap="square" lIns="0" tIns="0" rIns="0" bIns="0" anchor="t">
            <a:noAutofit/>
          </a:bodyPr>
          <a:lstStyle/>
          <a:p>
            <a:pPr algn="l">
              <a:lnSpc>
                <a:spcPts val="1950"/>
              </a:lnSpc>
            </a:pPr>
            <a:r>
              <a:rPr sz="1500" b="0" i="0">
                <a:solidFill>
                  <a:srgbClr val="0A2540"/>
                </a:solidFill>
                <a:latin typeface="DM Sans"/>
              </a:rPr>
              <a:t>drukmeting alleen bij de start en op maand 6, geblindeerd: niet getoond, niet besproken, de zool wordt er niet op aangepast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812800" y="1771650"/>
            <a:ext cx="10566400" cy="41275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 name="Picture 2"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4" name="TextBox 3"/>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5" name="TextBox 4"/>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§5.4 · beslissingen 6 en 8 oktober 2026</a:t>
            </a:r>
          </a:p>
        </p:txBody>
      </p:sp>
      <p:sp>
        <p:nvSpPr>
          <p:cNvPr id="6" name="TextBox 5"/>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Zelfde zool, ander gebruik</a:t>
            </a:r>
          </a:p>
        </p:txBody>
      </p:sp>
      <p:sp>
        <p:nvSpPr>
          <p:cNvPr id="7" name="Rectangle 6"/>
          <p:cNvSpPr/>
          <p:nvPr/>
        </p:nvSpPr>
        <p:spPr>
          <a:xfrm>
            <a:off x="812800" y="177165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12800" y="217805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1879600"/>
            <a:ext cx="1574800" cy="198120"/>
          </a:xfrm>
          <a:prstGeom prst="rect">
            <a:avLst/>
          </a:prstGeom>
          <a:noFill/>
        </p:spPr>
        <p:txBody>
          <a:bodyPr wrap="none" lIns="0" tIns="0" rIns="0" bIns="0" anchor="t">
            <a:noAutofit/>
          </a:bodyPr>
          <a:lstStyle/>
          <a:p>
            <a:pPr algn="l"/>
            <a:r>
              <a:rPr sz="1200" b="1" i="0">
                <a:solidFill>
                  <a:srgbClr val="5A6E80"/>
                </a:solidFill>
                <a:latin typeface="DM Sans"/>
              </a:rPr>
              <a:t>Beide armen</a:t>
            </a:r>
          </a:p>
        </p:txBody>
      </p:sp>
      <p:sp>
        <p:nvSpPr>
          <p:cNvPr id="10" name="TextBox 9"/>
          <p:cNvSpPr txBox="1"/>
          <p:nvPr/>
        </p:nvSpPr>
        <p:spPr>
          <a:xfrm>
            <a:off x="2514600" y="1866900"/>
            <a:ext cx="89154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CMFO met dezelfde opbouw · voetzorg elke 3 maanden · MoveMonitor bij de start · Orthotimer</a:t>
            </a:r>
          </a:p>
        </p:txBody>
      </p:sp>
      <p:sp>
        <p:nvSpPr>
          <p:cNvPr id="11" name="Rounded Rectangle 10"/>
          <p:cNvSpPr/>
          <p:nvPr/>
        </p:nvSpPr>
        <p:spPr>
          <a:xfrm>
            <a:off x="812800" y="2286000"/>
            <a:ext cx="1564878" cy="3238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77900" y="2324100"/>
            <a:ext cx="1285478" cy="247650"/>
          </a:xfrm>
          <a:prstGeom prst="rect">
            <a:avLst/>
          </a:prstGeom>
          <a:noFill/>
        </p:spPr>
        <p:txBody>
          <a:bodyPr wrap="none" lIns="0" tIns="0" rIns="0" bIns="0" anchor="t">
            <a:noAutofit/>
          </a:bodyPr>
          <a:lstStyle/>
          <a:p>
            <a:pPr algn="l"/>
            <a:r>
              <a:rPr sz="1500" b="1" i="0">
                <a:solidFill>
                  <a:srgbClr val="F2F8FC"/>
                </a:solidFill>
                <a:latin typeface="DM Sans"/>
              </a:rPr>
              <a:t>Optimal Care</a:t>
            </a:r>
          </a:p>
        </p:txBody>
      </p:sp>
      <p:sp>
        <p:nvSpPr>
          <p:cNvPr id="13" name="TextBox 12"/>
          <p:cNvSpPr txBox="1"/>
          <p:nvPr/>
        </p:nvSpPr>
        <p:spPr>
          <a:xfrm>
            <a:off x="2504678" y="2324100"/>
            <a:ext cx="2528491" cy="247650"/>
          </a:xfrm>
          <a:prstGeom prst="rect">
            <a:avLst/>
          </a:prstGeom>
          <a:noFill/>
        </p:spPr>
        <p:txBody>
          <a:bodyPr wrap="none" lIns="0" tIns="0" rIns="0" bIns="0" anchor="t">
            <a:noAutofit/>
          </a:bodyPr>
          <a:lstStyle/>
          <a:p>
            <a:pPr algn="l"/>
            <a:r>
              <a:rPr sz="1500" b="0" i="0">
                <a:solidFill>
                  <a:srgbClr val="0A2540"/>
                </a:solidFill>
                <a:latin typeface="DM Sans"/>
              </a:rPr>
              <a:t>twee normen sturen de zorg</a:t>
            </a:r>
          </a:p>
        </p:txBody>
      </p:sp>
      <p:sp>
        <p:nvSpPr>
          <p:cNvPr id="14" name="Rounded Rectangle 13"/>
          <p:cNvSpPr/>
          <p:nvPr/>
        </p:nvSpPr>
        <p:spPr>
          <a:xfrm>
            <a:off x="812800" y="26670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7006ea103c3e8fa9006c500fec1a0272.png"/>
          <p:cNvPicPr>
            <a:picLocks noChangeAspect="1"/>
          </p:cNvPicPr>
          <p:nvPr/>
        </p:nvPicPr>
        <p:blipFill>
          <a:blip r:embed="rId4"/>
          <a:stretch>
            <a:fillRect/>
          </a:stretch>
        </p:blipFill>
        <p:spPr>
          <a:xfrm>
            <a:off x="946150" y="2774950"/>
            <a:ext cx="317500" cy="228600"/>
          </a:xfrm>
          <a:prstGeom prst="rect">
            <a:avLst/>
          </a:prstGeom>
        </p:spPr>
      </p:pic>
      <p:sp>
        <p:nvSpPr>
          <p:cNvPr id="16" name="TextBox 15"/>
          <p:cNvSpPr txBox="1"/>
          <p:nvPr/>
        </p:nvSpPr>
        <p:spPr>
          <a:xfrm>
            <a:off x="1339850" y="2790825"/>
            <a:ext cx="945555" cy="198120"/>
          </a:xfrm>
          <a:prstGeom prst="rect">
            <a:avLst/>
          </a:prstGeom>
          <a:noFill/>
        </p:spPr>
        <p:txBody>
          <a:bodyPr wrap="none" lIns="0" tIns="0" rIns="0" bIns="0" anchor="t">
            <a:noAutofit/>
          </a:bodyPr>
          <a:lstStyle/>
          <a:p>
            <a:pPr algn="l"/>
            <a:r>
              <a:rPr sz="1200" b="1" i="0">
                <a:solidFill>
                  <a:srgbClr val="0B6E8F"/>
                </a:solidFill>
                <a:latin typeface="DM Sans"/>
              </a:rPr>
              <a:t>Novel pedar</a:t>
            </a:r>
          </a:p>
        </p:txBody>
      </p:sp>
      <p:sp>
        <p:nvSpPr>
          <p:cNvPr id="17" name="TextBox 16"/>
          <p:cNvSpPr txBox="1"/>
          <p:nvPr/>
        </p:nvSpPr>
        <p:spPr>
          <a:xfrm>
            <a:off x="946150" y="304165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elke sessie zonder én mét de CMFO: V2, maand 6, 12, 18</a:t>
            </a:r>
          </a:p>
        </p:txBody>
      </p:sp>
      <p:cxnSp>
        <p:nvCxnSpPr>
          <p:cNvPr id="18" name="Connector 17"/>
          <p:cNvCxnSpPr/>
          <p:nvPr/>
        </p:nvCxnSpPr>
        <p:spPr>
          <a:xfrm>
            <a:off x="3317875" y="32575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508375" y="2667000"/>
            <a:ext cx="2479675" cy="1181100"/>
          </a:xfrm>
          <a:prstGeom prst="roundRect">
            <a:avLst>
              <a:gd name="adj" fmla="val 8602"/>
            </a:avLst>
          </a:prstGeom>
          <a:solidFill>
            <a:srgbClr val="FFFFFF"/>
          </a:solidFill>
          <a:ln w="1270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3648075" y="2781300"/>
            <a:ext cx="2251075" cy="198120"/>
          </a:xfrm>
          <a:prstGeom prst="rect">
            <a:avLst/>
          </a:prstGeom>
          <a:noFill/>
        </p:spPr>
        <p:txBody>
          <a:bodyPr wrap="none" lIns="0" tIns="0" rIns="0" bIns="0" anchor="t">
            <a:noAutofit/>
          </a:bodyPr>
          <a:lstStyle/>
          <a:p>
            <a:pPr algn="l"/>
            <a:r>
              <a:rPr sz="1200" b="1" i="0">
                <a:solidFill>
                  <a:srgbClr val="A34A00"/>
                </a:solidFill>
                <a:latin typeface="DM Sans"/>
              </a:rPr>
              <a:t>Druknorm</a:t>
            </a:r>
          </a:p>
        </p:txBody>
      </p:sp>
      <p:sp>
        <p:nvSpPr>
          <p:cNvPr id="21" name="TextBox 20"/>
          <p:cNvSpPr txBox="1"/>
          <p:nvPr/>
        </p:nvSpPr>
        <p:spPr>
          <a:xfrm>
            <a:off x="3648075" y="3016250"/>
            <a:ext cx="2251075" cy="643830"/>
          </a:xfrm>
          <a:prstGeom prst="rect">
            <a:avLst/>
          </a:prstGeom>
          <a:noFill/>
        </p:spPr>
        <p:txBody>
          <a:bodyPr wrap="square" lIns="0" tIns="0" rIns="0" bIns="0" anchor="t">
            <a:noAutofit/>
          </a:bodyPr>
          <a:lstStyle/>
          <a:p>
            <a:pPr algn="l">
              <a:lnSpc>
                <a:spcPts val="1689"/>
              </a:lnSpc>
            </a:pPr>
            <a:r>
              <a:rPr sz="1300" b="0" i="0">
                <a:solidFill>
                  <a:srgbClr val="0A2540"/>
                </a:solidFill>
                <a:latin typeface="DM Sans"/>
              </a:rPr>
              <a:t>&lt; 200 kPa óf ≥ 25% lager dan zonder, in dezelfde sessie</a:t>
            </a:r>
          </a:p>
        </p:txBody>
      </p:sp>
      <p:cxnSp>
        <p:nvCxnSpPr>
          <p:cNvPr id="22" name="Connector 21"/>
          <p:cNvCxnSpPr/>
          <p:nvPr/>
        </p:nvCxnSpPr>
        <p:spPr>
          <a:xfrm>
            <a:off x="6026150" y="32575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216650" y="26670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350000" y="2774950"/>
            <a:ext cx="2251075" cy="198120"/>
          </a:xfrm>
          <a:prstGeom prst="rect">
            <a:avLst/>
          </a:prstGeom>
          <a:noFill/>
        </p:spPr>
        <p:txBody>
          <a:bodyPr wrap="none" lIns="0" tIns="0" rIns="0" bIns="0" anchor="t">
            <a:noAutofit/>
          </a:bodyPr>
          <a:lstStyle/>
          <a:p>
            <a:pPr algn="l"/>
            <a:r>
              <a:rPr sz="1200" b="1" i="0">
                <a:solidFill>
                  <a:srgbClr val="0B6E8F"/>
                </a:solidFill>
                <a:latin typeface="DM Sans"/>
              </a:rPr>
              <a:t>Aanpassen</a:t>
            </a:r>
          </a:p>
        </p:txBody>
      </p:sp>
      <p:sp>
        <p:nvSpPr>
          <p:cNvPr id="25" name="TextBox 24"/>
          <p:cNvSpPr txBox="1"/>
          <p:nvPr/>
        </p:nvSpPr>
        <p:spPr>
          <a:xfrm>
            <a:off x="6350000" y="300990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niet gehaald: aanpassen en opnieuw mét, tot 3 keer</a:t>
            </a:r>
          </a:p>
        </p:txBody>
      </p:sp>
      <p:cxnSp>
        <p:nvCxnSpPr>
          <p:cNvPr id="26" name="Connector 25"/>
          <p:cNvCxnSpPr/>
          <p:nvPr/>
        </p:nvCxnSpPr>
        <p:spPr>
          <a:xfrm>
            <a:off x="8721725" y="32575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912225" y="26670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045575" y="2774950"/>
            <a:ext cx="2251075" cy="198120"/>
          </a:xfrm>
          <a:prstGeom prst="rect">
            <a:avLst/>
          </a:prstGeom>
          <a:noFill/>
        </p:spPr>
        <p:txBody>
          <a:bodyPr wrap="none" lIns="0" tIns="0" rIns="0" bIns="0" anchor="t">
            <a:noAutofit/>
          </a:bodyPr>
          <a:lstStyle/>
          <a:p>
            <a:pPr algn="l"/>
            <a:r>
              <a:rPr sz="1200" b="1" i="0">
                <a:solidFill>
                  <a:srgbClr val="0B6E8F"/>
                </a:solidFill>
                <a:latin typeface="DM Sans"/>
              </a:rPr>
              <a:t>Daarna</a:t>
            </a:r>
          </a:p>
        </p:txBody>
      </p:sp>
      <p:sp>
        <p:nvSpPr>
          <p:cNvPr id="29" name="TextBox 28"/>
          <p:cNvSpPr txBox="1"/>
          <p:nvPr/>
        </p:nvSpPr>
        <p:spPr>
          <a:xfrm>
            <a:off x="9045575" y="3009900"/>
            <a:ext cx="2251075"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een identiek tweede paar</a:t>
            </a:r>
          </a:p>
        </p:txBody>
      </p:sp>
      <p:sp>
        <p:nvSpPr>
          <p:cNvPr id="30" name="Rounded Rectangle 29"/>
          <p:cNvSpPr/>
          <p:nvPr/>
        </p:nvSpPr>
        <p:spPr>
          <a:xfrm>
            <a:off x="812800" y="39243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1" name="Picture 30" descr="c3433b372cfc1d99d6ab11119954a595.png"/>
          <p:cNvPicPr>
            <a:picLocks noChangeAspect="1"/>
          </p:cNvPicPr>
          <p:nvPr/>
        </p:nvPicPr>
        <p:blipFill>
          <a:blip r:embed="rId5"/>
          <a:stretch>
            <a:fillRect/>
          </a:stretch>
        </p:blipFill>
        <p:spPr>
          <a:xfrm>
            <a:off x="946150" y="4032250"/>
            <a:ext cx="317500" cy="228600"/>
          </a:xfrm>
          <a:prstGeom prst="rect">
            <a:avLst/>
          </a:prstGeom>
        </p:spPr>
      </p:pic>
      <p:sp>
        <p:nvSpPr>
          <p:cNvPr id="32" name="TextBox 31"/>
          <p:cNvSpPr txBox="1"/>
          <p:nvPr/>
        </p:nvSpPr>
        <p:spPr>
          <a:xfrm>
            <a:off x="1339850" y="4048125"/>
            <a:ext cx="1032867" cy="198120"/>
          </a:xfrm>
          <a:prstGeom prst="rect">
            <a:avLst/>
          </a:prstGeom>
          <a:noFill/>
        </p:spPr>
        <p:txBody>
          <a:bodyPr wrap="none" lIns="0" tIns="0" rIns="0" bIns="0" anchor="t">
            <a:noAutofit/>
          </a:bodyPr>
          <a:lstStyle/>
          <a:p>
            <a:pPr algn="l"/>
            <a:r>
              <a:rPr sz="1200" b="1" i="0">
                <a:solidFill>
                  <a:srgbClr val="0B6E8F"/>
                </a:solidFill>
                <a:latin typeface="DM Sans"/>
              </a:rPr>
              <a:t>MoveMonitor</a:t>
            </a:r>
          </a:p>
        </p:txBody>
      </p:sp>
      <p:sp>
        <p:nvSpPr>
          <p:cNvPr id="33" name="TextBox 32"/>
          <p:cNvSpPr txBox="1"/>
          <p:nvPr/>
        </p:nvSpPr>
        <p:spPr>
          <a:xfrm>
            <a:off x="946150" y="429895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één week bij de start: slaaptijd/waaktijd</a:t>
            </a:r>
          </a:p>
        </p:txBody>
      </p:sp>
      <p:cxnSp>
        <p:nvCxnSpPr>
          <p:cNvPr id="34" name="Connector 33"/>
          <p:cNvCxnSpPr/>
          <p:nvPr/>
        </p:nvCxnSpPr>
        <p:spPr>
          <a:xfrm>
            <a:off x="3317875" y="45148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3508375" y="3924300"/>
            <a:ext cx="2479675" cy="1181100"/>
          </a:xfrm>
          <a:prstGeom prst="roundRect">
            <a:avLst>
              <a:gd name="adj" fmla="val 8602"/>
            </a:avLst>
          </a:prstGeom>
          <a:solidFill>
            <a:srgbClr val="FFFFFF"/>
          </a:solidFill>
          <a:ln w="1270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3648075" y="4038600"/>
            <a:ext cx="2251075" cy="198120"/>
          </a:xfrm>
          <a:prstGeom prst="rect">
            <a:avLst/>
          </a:prstGeom>
          <a:noFill/>
        </p:spPr>
        <p:txBody>
          <a:bodyPr wrap="none" lIns="0" tIns="0" rIns="0" bIns="0" anchor="t">
            <a:noAutofit/>
          </a:bodyPr>
          <a:lstStyle/>
          <a:p>
            <a:pPr algn="l"/>
            <a:r>
              <a:rPr sz="1200" b="1" i="0">
                <a:solidFill>
                  <a:srgbClr val="A34A00"/>
                </a:solidFill>
                <a:latin typeface="DM Sans"/>
              </a:rPr>
              <a:t>Draagnorm</a:t>
            </a:r>
          </a:p>
        </p:txBody>
      </p:sp>
      <p:sp>
        <p:nvSpPr>
          <p:cNvPr id="37" name="TextBox 36"/>
          <p:cNvSpPr txBox="1"/>
          <p:nvPr/>
        </p:nvSpPr>
        <p:spPr>
          <a:xfrm>
            <a:off x="3648075" y="4273550"/>
            <a:ext cx="2251075" cy="429220"/>
          </a:xfrm>
          <a:prstGeom prst="rect">
            <a:avLst/>
          </a:prstGeom>
          <a:noFill/>
        </p:spPr>
        <p:txBody>
          <a:bodyPr wrap="square" lIns="0" tIns="0" rIns="0" bIns="0" anchor="t">
            <a:noAutofit/>
          </a:bodyPr>
          <a:lstStyle/>
          <a:p>
            <a:pPr algn="l">
              <a:lnSpc>
                <a:spcPts val="1689"/>
              </a:lnSpc>
            </a:pPr>
            <a:r>
              <a:rPr sz="1300" b="0" i="0">
                <a:solidFill>
                  <a:srgbClr val="0A2540"/>
                </a:solidFill>
                <a:latin typeface="DM Sans"/>
              </a:rPr>
              <a:t>80% van de waaktijd, 7 dagen per week</a:t>
            </a:r>
          </a:p>
        </p:txBody>
      </p:sp>
      <p:cxnSp>
        <p:nvCxnSpPr>
          <p:cNvPr id="38" name="Connector 37"/>
          <p:cNvCxnSpPr/>
          <p:nvPr/>
        </p:nvCxnSpPr>
        <p:spPr>
          <a:xfrm>
            <a:off x="6026150" y="45148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6216650" y="39243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0" name="Picture 39" descr="08f3416e444e7f76df034ad715d9910f.png"/>
          <p:cNvPicPr>
            <a:picLocks noChangeAspect="1"/>
          </p:cNvPicPr>
          <p:nvPr/>
        </p:nvPicPr>
        <p:blipFill>
          <a:blip r:embed="rId6"/>
          <a:stretch>
            <a:fillRect/>
          </a:stretch>
        </p:blipFill>
        <p:spPr>
          <a:xfrm>
            <a:off x="6350000" y="4032250"/>
            <a:ext cx="317500" cy="228600"/>
          </a:xfrm>
          <a:prstGeom prst="rect">
            <a:avLst/>
          </a:prstGeom>
        </p:spPr>
      </p:pic>
      <p:sp>
        <p:nvSpPr>
          <p:cNvPr id="41" name="TextBox 40"/>
          <p:cNvSpPr txBox="1"/>
          <p:nvPr/>
        </p:nvSpPr>
        <p:spPr>
          <a:xfrm>
            <a:off x="6743700" y="4048125"/>
            <a:ext cx="887809" cy="198120"/>
          </a:xfrm>
          <a:prstGeom prst="rect">
            <a:avLst/>
          </a:prstGeom>
          <a:noFill/>
        </p:spPr>
        <p:txBody>
          <a:bodyPr wrap="none" lIns="0" tIns="0" rIns="0" bIns="0" anchor="t">
            <a:noAutofit/>
          </a:bodyPr>
          <a:lstStyle/>
          <a:p>
            <a:pPr algn="l"/>
            <a:r>
              <a:rPr sz="1200" b="1" i="0">
                <a:solidFill>
                  <a:srgbClr val="0B6E8F"/>
                </a:solidFill>
                <a:latin typeface="DM Sans"/>
              </a:rPr>
              <a:t>Orthotimer</a:t>
            </a:r>
          </a:p>
        </p:txBody>
      </p:sp>
      <p:sp>
        <p:nvSpPr>
          <p:cNvPr id="42" name="TextBox 41"/>
          <p:cNvSpPr txBox="1"/>
          <p:nvPr/>
        </p:nvSpPr>
        <p:spPr>
          <a:xfrm>
            <a:off x="6350000" y="429895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draagtijd per dag, elke 3 maanden uitgelezen</a:t>
            </a:r>
          </a:p>
        </p:txBody>
      </p:sp>
      <p:cxnSp>
        <p:nvCxnSpPr>
          <p:cNvPr id="43" name="Connector 42"/>
          <p:cNvCxnSpPr/>
          <p:nvPr/>
        </p:nvCxnSpPr>
        <p:spPr>
          <a:xfrm>
            <a:off x="8721725" y="45148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8912225" y="39243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9045575" y="4032250"/>
            <a:ext cx="2251075" cy="198120"/>
          </a:xfrm>
          <a:prstGeom prst="rect">
            <a:avLst/>
          </a:prstGeom>
          <a:noFill/>
        </p:spPr>
        <p:txBody>
          <a:bodyPr wrap="none" lIns="0" tIns="0" rIns="0" bIns="0" anchor="t">
            <a:noAutofit/>
          </a:bodyPr>
          <a:lstStyle/>
          <a:p>
            <a:pPr algn="l"/>
            <a:r>
              <a:rPr sz="1200" b="1" i="0">
                <a:solidFill>
                  <a:srgbClr val="0B6E8F"/>
                </a:solidFill>
                <a:latin typeface="DM Sans"/>
              </a:rPr>
              <a:t>SEBIA</a:t>
            </a:r>
          </a:p>
        </p:txBody>
      </p:sp>
      <p:sp>
        <p:nvSpPr>
          <p:cNvPr id="46" name="TextBox 45"/>
          <p:cNvSpPr txBox="1"/>
          <p:nvPr/>
        </p:nvSpPr>
        <p:spPr>
          <a:xfrm>
            <a:off x="9045575" y="426720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een gesprek op elke visite: voetzorg en therapietrouw</a:t>
            </a:r>
          </a:p>
        </p:txBody>
      </p:sp>
      <p:sp>
        <p:nvSpPr>
          <p:cNvPr id="47" name="Rectangle 46"/>
          <p:cNvSpPr/>
          <p:nvPr/>
        </p:nvSpPr>
        <p:spPr>
          <a:xfrm>
            <a:off x="812800" y="5207000"/>
            <a:ext cx="105664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812800" y="5346700"/>
            <a:ext cx="1329829" cy="323850"/>
          </a:xfrm>
          <a:prstGeom prst="roundRect">
            <a:avLst>
              <a:gd name="adj" fmla="val 50000"/>
            </a:avLst>
          </a:prstGeom>
          <a:solidFill>
            <a:srgbClr val="5A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977900" y="5384800"/>
            <a:ext cx="1050429" cy="247650"/>
          </a:xfrm>
          <a:prstGeom prst="rect">
            <a:avLst/>
          </a:prstGeom>
          <a:noFill/>
        </p:spPr>
        <p:txBody>
          <a:bodyPr wrap="none" lIns="0" tIns="0" rIns="0" bIns="0" anchor="t">
            <a:noAutofit/>
          </a:bodyPr>
          <a:lstStyle/>
          <a:p>
            <a:pPr algn="l"/>
            <a:r>
              <a:rPr sz="1500" b="1" i="0">
                <a:solidFill>
                  <a:srgbClr val="F2F8FC"/>
                </a:solidFill>
                <a:latin typeface="DM Sans"/>
              </a:rPr>
              <a:t>Usual Care</a:t>
            </a:r>
          </a:p>
        </p:txBody>
      </p:sp>
      <p:sp>
        <p:nvSpPr>
          <p:cNvPr id="50" name="TextBox 49"/>
          <p:cNvSpPr txBox="1"/>
          <p:nvPr/>
        </p:nvSpPr>
        <p:spPr>
          <a:xfrm>
            <a:off x="2269629" y="5346700"/>
            <a:ext cx="9291763" cy="495300"/>
          </a:xfrm>
          <a:prstGeom prst="rect">
            <a:avLst/>
          </a:prstGeom>
          <a:noFill/>
        </p:spPr>
        <p:txBody>
          <a:bodyPr wrap="square" lIns="0" tIns="0" rIns="0" bIns="0" anchor="t">
            <a:noAutofit/>
          </a:bodyPr>
          <a:lstStyle/>
          <a:p>
            <a:pPr algn="l">
              <a:lnSpc>
                <a:spcPts val="1950"/>
              </a:lnSpc>
            </a:pPr>
            <a:r>
              <a:rPr sz="1500" b="0" i="0">
                <a:solidFill>
                  <a:srgbClr val="0A2540"/>
                </a:solidFill>
                <a:latin typeface="DM Sans"/>
              </a:rPr>
              <a:t>zelfde zool en opvolging · druk alleen bij de start en op maand 6 · alles geblindeerd, geen terugkoppeling, educatie zoals vandaag</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3_zool.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35d9458366f21742d58c68885f5e26b0.png"/>
          <p:cNvPicPr>
            <a:picLocks noChangeAspect="1"/>
          </p:cNvPicPr>
          <p:nvPr/>
        </p:nvPicPr>
        <p:blipFill>
          <a:blip r:embed="rId4"/>
          <a:stretch>
            <a:fillRect/>
          </a:stretch>
        </p:blipFill>
        <p:spPr>
          <a:xfrm>
            <a:off x="812800" y="1435654"/>
            <a:ext cx="5594350" cy="4291492"/>
          </a:xfrm>
          <a:prstGeom prst="rect">
            <a:avLst/>
          </a:prstGeom>
        </p:spPr>
      </p:pic>
      <p:pic>
        <p:nvPicPr>
          <p:cNvPr id="5" name="Picture 4" descr="263adf933d018f658a3f794787bae901.png"/>
          <p:cNvPicPr>
            <a:picLocks noChangeAspect="1"/>
          </p:cNvPicPr>
          <p:nvPr/>
        </p:nvPicPr>
        <p:blipFill>
          <a:blip r:embed="rId5"/>
          <a:stretch>
            <a:fillRect/>
          </a:stretch>
        </p:blipFill>
        <p:spPr>
          <a:xfrm>
            <a:off x="812800" y="1435654"/>
            <a:ext cx="5594350" cy="4291492"/>
          </a:xfrm>
          <a:prstGeom prst="rect">
            <a:avLst/>
          </a:prstGeom>
        </p:spPr>
      </p:pic>
      <p:pic>
        <p:nvPicPr>
          <p:cNvPr id="6" name="Picture 5" descr="ff2be040825968f74e167f3f017192d8.png"/>
          <p:cNvPicPr>
            <a:picLocks noChangeAspect="1"/>
          </p:cNvPicPr>
          <p:nvPr/>
        </p:nvPicPr>
        <p:blipFill>
          <a:blip r:embed="rId6"/>
          <a:stretch>
            <a:fillRect/>
          </a:stretch>
        </p:blipFill>
        <p:spPr>
          <a:xfrm>
            <a:off x="812800" y="1435654"/>
            <a:ext cx="5594350" cy="4291492"/>
          </a:xfrm>
          <a:prstGeom prst="rect">
            <a:avLst/>
          </a:prstGeom>
        </p:spPr>
      </p:pic>
      <p:pic>
        <p:nvPicPr>
          <p:cNvPr id="7" name="Picture 6" descr="2d13919730587cd6927f343698bc45b8.png"/>
          <p:cNvPicPr>
            <a:picLocks noChangeAspect="1"/>
          </p:cNvPicPr>
          <p:nvPr/>
        </p:nvPicPr>
        <p:blipFill>
          <a:blip r:embed="rId7"/>
          <a:stretch>
            <a:fillRect/>
          </a:stretch>
        </p:blipFill>
        <p:spPr>
          <a:xfrm>
            <a:off x="812800" y="1435654"/>
            <a:ext cx="5594350" cy="4291492"/>
          </a:xfrm>
          <a:prstGeom prst="rect">
            <a:avLst/>
          </a:prstGeom>
        </p:spPr>
      </p:pic>
      <p:pic>
        <p:nvPicPr>
          <p:cNvPr id="8" name="Picture 7" descr="f1f719f7a9890072b66877132b7c74e1.png"/>
          <p:cNvPicPr>
            <a:picLocks noChangeAspect="1"/>
          </p:cNvPicPr>
          <p:nvPr/>
        </p:nvPicPr>
        <p:blipFill>
          <a:blip r:embed="rId8"/>
          <a:stretch>
            <a:fillRect/>
          </a:stretch>
        </p:blipFill>
        <p:spPr>
          <a:xfrm>
            <a:off x="812800" y="1435654"/>
            <a:ext cx="5594350" cy="4291492"/>
          </a:xfrm>
          <a:prstGeom prst="rect">
            <a:avLst/>
          </a:prstGeom>
        </p:spPr>
      </p:pic>
      <p:sp>
        <p:nvSpPr>
          <p:cNvPr id="9" name="TextBox 8"/>
          <p:cNvSpPr txBox="1"/>
          <p:nvPr/>
        </p:nvSpPr>
        <p:spPr>
          <a:xfrm>
            <a:off x="6858000" y="2203450"/>
            <a:ext cx="4572000" cy="228600"/>
          </a:xfrm>
          <a:prstGeom prst="rect">
            <a:avLst/>
          </a:prstGeom>
          <a:noFill/>
        </p:spPr>
        <p:txBody>
          <a:bodyPr wrap="none" lIns="0" tIns="0" rIns="0" bIns="0" anchor="t">
            <a:noAutofit/>
          </a:bodyPr>
          <a:lstStyle/>
          <a:p>
            <a:pPr algn="l">
              <a:lnSpc>
                <a:spcPts val="1800"/>
              </a:lnSpc>
            </a:pPr>
            <a:r>
              <a:rPr sz="1500" b="1" i="0">
                <a:solidFill>
                  <a:srgbClr val="0A2540"/>
                </a:solidFill>
                <a:latin typeface="DM Sans"/>
              </a:rPr>
              <a:t>Gesloten-cellig · 3 mm</a:t>
            </a:r>
          </a:p>
        </p:txBody>
      </p:sp>
      <p:sp>
        <p:nvSpPr>
          <p:cNvPr id="10" name="TextBox 9"/>
          <p:cNvSpPr txBox="1"/>
          <p:nvPr/>
        </p:nvSpPr>
        <p:spPr>
          <a:xfrm>
            <a:off x="6858000" y="2444750"/>
            <a:ext cx="4572000" cy="190500"/>
          </a:xfrm>
          <a:prstGeom prst="rect">
            <a:avLst/>
          </a:prstGeom>
          <a:noFill/>
        </p:spPr>
        <p:txBody>
          <a:bodyPr wrap="none" lIns="0" tIns="0" rIns="0" bIns="0" anchor="t">
            <a:noAutofit/>
          </a:bodyPr>
          <a:lstStyle/>
          <a:p>
            <a:pPr algn="l">
              <a:lnSpc>
                <a:spcPts val="1500"/>
              </a:lnSpc>
            </a:pPr>
            <a:r>
              <a:rPr sz="1200" b="0" i="0">
                <a:solidFill>
                  <a:srgbClr val="5A6E80"/>
                </a:solidFill>
                <a:latin typeface="DM Sans"/>
              </a:rPr>
              <a:t>bv. Plastazote LD45 · volledige lengte</a:t>
            </a:r>
          </a:p>
        </p:txBody>
      </p:sp>
      <p:sp>
        <p:nvSpPr>
          <p:cNvPr id="11" name="TextBox 10"/>
          <p:cNvSpPr txBox="1"/>
          <p:nvPr/>
        </p:nvSpPr>
        <p:spPr>
          <a:xfrm>
            <a:off x="6858000" y="2838450"/>
            <a:ext cx="4572000" cy="228600"/>
          </a:xfrm>
          <a:prstGeom prst="rect">
            <a:avLst/>
          </a:prstGeom>
          <a:noFill/>
        </p:spPr>
        <p:txBody>
          <a:bodyPr wrap="none" lIns="0" tIns="0" rIns="0" bIns="0" anchor="t">
            <a:noAutofit/>
          </a:bodyPr>
          <a:lstStyle/>
          <a:p>
            <a:pPr algn="l">
              <a:lnSpc>
                <a:spcPts val="1800"/>
              </a:lnSpc>
            </a:pPr>
            <a:r>
              <a:rPr sz="1500" b="1" i="0">
                <a:solidFill>
                  <a:srgbClr val="0A2540"/>
                </a:solidFill>
                <a:latin typeface="DM Sans"/>
              </a:rPr>
              <a:t>Open-cellig, dempend · 3 mm</a:t>
            </a:r>
          </a:p>
        </p:txBody>
      </p:sp>
      <p:sp>
        <p:nvSpPr>
          <p:cNvPr id="12" name="TextBox 11"/>
          <p:cNvSpPr txBox="1"/>
          <p:nvPr/>
        </p:nvSpPr>
        <p:spPr>
          <a:xfrm>
            <a:off x="6858000" y="3079750"/>
            <a:ext cx="4572000" cy="190500"/>
          </a:xfrm>
          <a:prstGeom prst="rect">
            <a:avLst/>
          </a:prstGeom>
          <a:noFill/>
        </p:spPr>
        <p:txBody>
          <a:bodyPr wrap="none" lIns="0" tIns="0" rIns="0" bIns="0" anchor="t">
            <a:noAutofit/>
          </a:bodyPr>
          <a:lstStyle/>
          <a:p>
            <a:pPr algn="l">
              <a:lnSpc>
                <a:spcPts val="1500"/>
              </a:lnSpc>
            </a:pPr>
            <a:r>
              <a:rPr sz="1200" b="0" i="0">
                <a:solidFill>
                  <a:srgbClr val="5A6E80"/>
                </a:solidFill>
                <a:latin typeface="DM Sans"/>
              </a:rPr>
              <a:t>bv. PPT · volledige lengte</a:t>
            </a:r>
          </a:p>
        </p:txBody>
      </p:sp>
      <p:sp>
        <p:nvSpPr>
          <p:cNvPr id="13" name="TextBox 12"/>
          <p:cNvSpPr txBox="1"/>
          <p:nvPr/>
        </p:nvSpPr>
        <p:spPr>
          <a:xfrm>
            <a:off x="6858000" y="3473450"/>
            <a:ext cx="4572000" cy="228600"/>
          </a:xfrm>
          <a:prstGeom prst="rect">
            <a:avLst/>
          </a:prstGeom>
          <a:noFill/>
        </p:spPr>
        <p:txBody>
          <a:bodyPr wrap="none" lIns="0" tIns="0" rIns="0" bIns="0" anchor="t">
            <a:noAutofit/>
          </a:bodyPr>
          <a:lstStyle/>
          <a:p>
            <a:pPr algn="l">
              <a:lnSpc>
                <a:spcPts val="1800"/>
              </a:lnSpc>
            </a:pPr>
            <a:r>
              <a:rPr sz="1500" b="1" i="0">
                <a:solidFill>
                  <a:srgbClr val="A34A00"/>
                </a:solidFill>
                <a:latin typeface="DM Sans"/>
              </a:rPr>
              <a:t>Metatarsaalbalk · 9–10 mm</a:t>
            </a:r>
          </a:p>
        </p:txBody>
      </p:sp>
      <p:sp>
        <p:nvSpPr>
          <p:cNvPr id="14" name="TextBox 13"/>
          <p:cNvSpPr txBox="1"/>
          <p:nvPr/>
        </p:nvSpPr>
        <p:spPr>
          <a:xfrm>
            <a:off x="6858000" y="3714750"/>
            <a:ext cx="4572000" cy="198120"/>
          </a:xfrm>
          <a:prstGeom prst="rect">
            <a:avLst/>
          </a:prstGeom>
          <a:noFill/>
        </p:spPr>
        <p:txBody>
          <a:bodyPr wrap="none" lIns="0" tIns="0" rIns="0" bIns="0" anchor="t">
            <a:noAutofit/>
          </a:bodyPr>
          <a:lstStyle/>
          <a:p>
            <a:pPr algn="l">
              <a:lnSpc>
                <a:spcPts val="1560"/>
              </a:lnSpc>
            </a:pPr>
            <a:r>
              <a:rPr sz="1300" b="1" i="0">
                <a:solidFill>
                  <a:srgbClr val="A34A00"/>
                </a:solidFill>
                <a:latin typeface="DM Sans"/>
              </a:rPr>
              <a:t>+ bijkomende uitsparingen volgens nood</a:t>
            </a:r>
          </a:p>
        </p:txBody>
      </p:sp>
      <p:sp>
        <p:nvSpPr>
          <p:cNvPr id="15" name="TextBox 14"/>
          <p:cNvSpPr txBox="1"/>
          <p:nvPr/>
        </p:nvSpPr>
        <p:spPr>
          <a:xfrm>
            <a:off x="6858000" y="3925491"/>
            <a:ext cx="4572000" cy="190500"/>
          </a:xfrm>
          <a:prstGeom prst="rect">
            <a:avLst/>
          </a:prstGeom>
          <a:noFill/>
        </p:spPr>
        <p:txBody>
          <a:bodyPr wrap="none" lIns="0" tIns="0" rIns="0" bIns="0" anchor="t">
            <a:noAutofit/>
          </a:bodyPr>
          <a:lstStyle/>
          <a:p>
            <a:pPr algn="l">
              <a:lnSpc>
                <a:spcPts val="1500"/>
              </a:lnSpc>
            </a:pPr>
            <a:r>
              <a:rPr sz="1200" b="0" i="0">
                <a:solidFill>
                  <a:srgbClr val="5A6E80"/>
                </a:solidFill>
                <a:latin typeface="DM Sans"/>
              </a:rPr>
              <a:t>shore ~55 · 6–11 mm proximaal van de kopjes · of een lokale pad</a:t>
            </a:r>
          </a:p>
        </p:txBody>
      </p:sp>
      <p:sp>
        <p:nvSpPr>
          <p:cNvPr id="16" name="TextBox 15"/>
          <p:cNvSpPr txBox="1"/>
          <p:nvPr/>
        </p:nvSpPr>
        <p:spPr>
          <a:xfrm>
            <a:off x="6858000" y="4311650"/>
            <a:ext cx="4572000" cy="228600"/>
          </a:xfrm>
          <a:prstGeom prst="rect">
            <a:avLst/>
          </a:prstGeom>
          <a:noFill/>
        </p:spPr>
        <p:txBody>
          <a:bodyPr wrap="none" lIns="0" tIns="0" rIns="0" bIns="0" anchor="t">
            <a:noAutofit/>
          </a:bodyPr>
          <a:lstStyle/>
          <a:p>
            <a:pPr algn="l">
              <a:lnSpc>
                <a:spcPts val="1800"/>
              </a:lnSpc>
            </a:pPr>
            <a:r>
              <a:rPr sz="1500" b="1" i="0">
                <a:solidFill>
                  <a:srgbClr val="0A2540"/>
                </a:solidFill>
                <a:latin typeface="DM Sans"/>
              </a:rPr>
              <a:t>EVA · shore 35–40</a:t>
            </a:r>
          </a:p>
        </p:txBody>
      </p:sp>
      <p:sp>
        <p:nvSpPr>
          <p:cNvPr id="17" name="TextBox 16"/>
          <p:cNvSpPr txBox="1"/>
          <p:nvPr/>
        </p:nvSpPr>
        <p:spPr>
          <a:xfrm>
            <a:off x="6858000" y="4552950"/>
            <a:ext cx="4572000" cy="190500"/>
          </a:xfrm>
          <a:prstGeom prst="rect">
            <a:avLst/>
          </a:prstGeom>
          <a:noFill/>
        </p:spPr>
        <p:txBody>
          <a:bodyPr wrap="none" lIns="0" tIns="0" rIns="0" bIns="0" anchor="t">
            <a:noAutofit/>
          </a:bodyPr>
          <a:lstStyle/>
          <a:p>
            <a:pPr algn="l">
              <a:lnSpc>
                <a:spcPts val="1500"/>
              </a:lnSpc>
            </a:pPr>
            <a:r>
              <a:rPr sz="1200" b="0" i="0">
                <a:solidFill>
                  <a:srgbClr val="5A6E80"/>
                </a:solidFill>
                <a:latin typeface="DM Sans"/>
              </a:rPr>
              <a:t>5 mm; 6 mm in confectie of semi-orthopedisch</a:t>
            </a:r>
          </a:p>
        </p:txBody>
      </p:sp>
      <p:sp>
        <p:nvSpPr>
          <p:cNvPr id="18" name="TextBox 17"/>
          <p:cNvSpPr txBox="1"/>
          <p:nvPr/>
        </p:nvSpPr>
        <p:spPr>
          <a:xfrm>
            <a:off x="6858000" y="4946650"/>
            <a:ext cx="4572000" cy="228600"/>
          </a:xfrm>
          <a:prstGeom prst="rect">
            <a:avLst/>
          </a:prstGeom>
          <a:noFill/>
        </p:spPr>
        <p:txBody>
          <a:bodyPr wrap="none" lIns="0" tIns="0" rIns="0" bIns="0" anchor="t">
            <a:noAutofit/>
          </a:bodyPr>
          <a:lstStyle/>
          <a:p>
            <a:pPr algn="l">
              <a:lnSpc>
                <a:spcPts val="1800"/>
              </a:lnSpc>
            </a:pPr>
            <a:r>
              <a:rPr sz="1500" b="1" i="0">
                <a:solidFill>
                  <a:srgbClr val="0A2540"/>
                </a:solidFill>
                <a:latin typeface="DM Sans"/>
              </a:rPr>
              <a:t>Microkurk of EVA shore 50 · 5 mm</a:t>
            </a:r>
          </a:p>
        </p:txBody>
      </p:sp>
      <p:sp>
        <p:nvSpPr>
          <p:cNvPr id="19" name="TextBox 18"/>
          <p:cNvSpPr txBox="1"/>
          <p:nvPr/>
        </p:nvSpPr>
        <p:spPr>
          <a:xfrm>
            <a:off x="6858000" y="5187950"/>
            <a:ext cx="4572000" cy="190500"/>
          </a:xfrm>
          <a:prstGeom prst="rect">
            <a:avLst/>
          </a:prstGeom>
          <a:noFill/>
        </p:spPr>
        <p:txBody>
          <a:bodyPr wrap="none" lIns="0" tIns="0" rIns="0" bIns="0" anchor="t">
            <a:noAutofit/>
          </a:bodyPr>
          <a:lstStyle/>
          <a:p>
            <a:pPr algn="l">
              <a:lnSpc>
                <a:spcPts val="1500"/>
              </a:lnSpc>
            </a:pPr>
            <a:r>
              <a:rPr sz="1200" b="0" i="0">
                <a:solidFill>
                  <a:srgbClr val="5A6E80"/>
                </a:solidFill>
                <a:latin typeface="DM Sans"/>
              </a:rPr>
              <a:t>alleen in een volledig op maat gemaakte schoen</a:t>
            </a:r>
          </a:p>
        </p:txBody>
      </p:sp>
      <p:sp>
        <p:nvSpPr>
          <p:cNvPr id="20" name="Rounded Rectangle 19"/>
          <p:cNvSpPr/>
          <p:nvPr/>
        </p:nvSpPr>
        <p:spPr>
          <a:xfrm>
            <a:off x="812800" y="5588000"/>
            <a:ext cx="10566400" cy="533400"/>
          </a:xfrm>
          <a:prstGeom prst="roundRect">
            <a:avLst>
              <a:gd name="adj" fmla="val 19047"/>
            </a:avLst>
          </a:prstGeom>
          <a:solidFill>
            <a:srgbClr val="FFFFFF"/>
          </a:solidFill>
          <a:ln w="12700">
            <a:solidFill>
              <a:srgbClr val="A34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003300" y="5708650"/>
            <a:ext cx="880368" cy="292100"/>
          </a:xfrm>
          <a:prstGeom prst="rect">
            <a:avLst/>
          </a:prstGeom>
          <a:noFill/>
        </p:spPr>
        <p:txBody>
          <a:bodyPr wrap="none" lIns="0" tIns="0" rIns="0" bIns="0" anchor="t">
            <a:noAutofit/>
          </a:bodyPr>
          <a:lstStyle/>
          <a:p>
            <a:pPr algn="l">
              <a:lnSpc>
                <a:spcPts val="2300"/>
              </a:lnSpc>
            </a:pPr>
            <a:r>
              <a:rPr sz="2300" b="0" i="0">
                <a:solidFill>
                  <a:srgbClr val="0A2540"/>
                </a:solidFill>
                <a:latin typeface="DM Serif Display"/>
              </a:rPr>
              <a:t>16 mm</a:t>
            </a:r>
          </a:p>
        </p:txBody>
      </p:sp>
      <p:sp>
        <p:nvSpPr>
          <p:cNvPr id="22" name="TextBox 21"/>
          <p:cNvSpPr txBox="1"/>
          <p:nvPr/>
        </p:nvSpPr>
        <p:spPr>
          <a:xfrm>
            <a:off x="1972568" y="5763220"/>
            <a:ext cx="925810"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maatschoen</a:t>
            </a:r>
          </a:p>
        </p:txBody>
      </p:sp>
      <p:sp>
        <p:nvSpPr>
          <p:cNvPr id="23" name="TextBox 22"/>
          <p:cNvSpPr txBox="1"/>
          <p:nvPr/>
        </p:nvSpPr>
        <p:spPr>
          <a:xfrm>
            <a:off x="2987278" y="5730875"/>
            <a:ext cx="88602" cy="247650"/>
          </a:xfrm>
          <a:prstGeom prst="rect">
            <a:avLst/>
          </a:prstGeom>
          <a:noFill/>
        </p:spPr>
        <p:txBody>
          <a:bodyPr wrap="none" lIns="0" tIns="0" rIns="0" bIns="0" anchor="t">
            <a:noAutofit/>
          </a:bodyPr>
          <a:lstStyle/>
          <a:p>
            <a:pPr algn="l"/>
            <a:r>
              <a:rPr sz="1500" b="0" i="0">
                <a:solidFill>
                  <a:srgbClr val="9FB3C6"/>
                </a:solidFill>
                <a:latin typeface="DM Sans"/>
              </a:rPr>
              <a:t>·</a:t>
            </a:r>
          </a:p>
        </p:txBody>
      </p:sp>
      <p:sp>
        <p:nvSpPr>
          <p:cNvPr id="24" name="TextBox 23"/>
          <p:cNvSpPr txBox="1"/>
          <p:nvPr/>
        </p:nvSpPr>
        <p:spPr>
          <a:xfrm>
            <a:off x="3164780" y="5708650"/>
            <a:ext cx="880963" cy="292100"/>
          </a:xfrm>
          <a:prstGeom prst="rect">
            <a:avLst/>
          </a:prstGeom>
          <a:noFill/>
        </p:spPr>
        <p:txBody>
          <a:bodyPr wrap="none" lIns="0" tIns="0" rIns="0" bIns="0" anchor="t">
            <a:noAutofit/>
          </a:bodyPr>
          <a:lstStyle/>
          <a:p>
            <a:pPr algn="l">
              <a:lnSpc>
                <a:spcPts val="2300"/>
              </a:lnSpc>
            </a:pPr>
            <a:r>
              <a:rPr sz="2300" b="0" i="0">
                <a:solidFill>
                  <a:srgbClr val="0A2540"/>
                </a:solidFill>
                <a:latin typeface="DM Serif Display"/>
              </a:rPr>
              <a:t>12 mm</a:t>
            </a:r>
          </a:p>
        </p:txBody>
      </p:sp>
      <p:sp>
        <p:nvSpPr>
          <p:cNvPr id="25" name="TextBox 24"/>
          <p:cNvSpPr txBox="1"/>
          <p:nvPr/>
        </p:nvSpPr>
        <p:spPr>
          <a:xfrm>
            <a:off x="4134644" y="5763220"/>
            <a:ext cx="2310209"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confectie of semi-orthopedisch</a:t>
            </a:r>
          </a:p>
        </p:txBody>
      </p:sp>
      <p:sp>
        <p:nvSpPr>
          <p:cNvPr id="26" name="TextBox 25"/>
          <p:cNvSpPr txBox="1"/>
          <p:nvPr/>
        </p:nvSpPr>
        <p:spPr>
          <a:xfrm>
            <a:off x="6533753" y="5708650"/>
            <a:ext cx="1404739" cy="292100"/>
          </a:xfrm>
          <a:prstGeom prst="rect">
            <a:avLst/>
          </a:prstGeom>
          <a:noFill/>
        </p:spPr>
        <p:txBody>
          <a:bodyPr wrap="none" lIns="0" tIns="0" rIns="0" bIns="0" anchor="t">
            <a:noAutofit/>
          </a:bodyPr>
          <a:lstStyle/>
          <a:p>
            <a:pPr algn="l">
              <a:lnSpc>
                <a:spcPts val="2300"/>
              </a:lnSpc>
            </a:pPr>
            <a:r>
              <a:rPr sz="2300" b="0" i="0">
                <a:solidFill>
                  <a:srgbClr val="A34A00"/>
                </a:solidFill>
                <a:latin typeface="DM Serif Display"/>
              </a:rPr>
              <a:t>+ 9–10 mm</a:t>
            </a:r>
          </a:p>
        </p:txBody>
      </p:sp>
      <p:sp>
        <p:nvSpPr>
          <p:cNvPr id="27" name="TextBox 26"/>
          <p:cNvSpPr txBox="1"/>
          <p:nvPr/>
        </p:nvSpPr>
        <p:spPr>
          <a:xfrm>
            <a:off x="8027392" y="5763220"/>
            <a:ext cx="339923"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balk</a:t>
            </a:r>
          </a:p>
        </p:txBody>
      </p:sp>
      <p:sp>
        <p:nvSpPr>
          <p:cNvPr id="28" name="TextBox 27"/>
          <p:cNvSpPr txBox="1"/>
          <p:nvPr/>
        </p:nvSpPr>
        <p:spPr>
          <a:xfrm>
            <a:off x="8405416" y="5748040"/>
            <a:ext cx="2783284" cy="213360"/>
          </a:xfrm>
          <a:prstGeom prst="rect">
            <a:avLst/>
          </a:prstGeom>
          <a:noFill/>
        </p:spPr>
        <p:txBody>
          <a:bodyPr wrap="none" lIns="0" tIns="0" rIns="0" bIns="0" anchor="t">
            <a:noAutofit/>
          </a:bodyPr>
          <a:lstStyle/>
          <a:p>
            <a:pPr algn="r">
              <a:lnSpc>
                <a:spcPts val="1680"/>
              </a:lnSpc>
            </a:pPr>
            <a:r>
              <a:rPr sz="1400" b="1" i="0">
                <a:solidFill>
                  <a:srgbClr val="A34A00"/>
                </a:solidFill>
                <a:latin typeface="DM Sans"/>
              </a:rPr>
              <a:t>De schoen moet adequaat zijn</a:t>
            </a:r>
          </a:p>
        </p:txBody>
      </p:sp>
      <p:sp>
        <p:nvSpPr>
          <p:cNvPr id="29" name="TextBox 28"/>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De CMFO, laag per laag</a:t>
            </a:r>
          </a:p>
        </p:txBody>
      </p:sp>
      <p:pic>
        <p:nvPicPr>
          <p:cNvPr id="30" name="Picture 29" descr="ec5c93e6f83f209b4e97ddfdecd480c8.png"/>
          <p:cNvPicPr>
            <a:picLocks noChangeAspect="1"/>
          </p:cNvPicPr>
          <p:nvPr/>
        </p:nvPicPr>
        <p:blipFill>
          <a:blip r:embed="rId9"/>
          <a:stretch>
            <a:fillRect/>
          </a:stretch>
        </p:blipFill>
        <p:spPr>
          <a:xfrm>
            <a:off x="812967" y="6261100"/>
            <a:ext cx="171116" cy="203200"/>
          </a:xfrm>
          <a:prstGeom prst="rect">
            <a:avLst/>
          </a:prstGeom>
        </p:spPr>
      </p:pic>
      <p:sp>
        <p:nvSpPr>
          <p:cNvPr id="31" name="TextBox 30"/>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32" name="TextBox 31"/>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§5.4.1 · eCRF 23 · beslissing 6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4_druk.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Eén voet, vier zolen</a:t>
            </a:r>
          </a:p>
        </p:txBody>
      </p:sp>
      <p:sp>
        <p:nvSpPr>
          <p:cNvPr id="4" name="TextBox 3"/>
          <p:cNvSpPr txBox="1"/>
          <p:nvPr/>
        </p:nvSpPr>
        <p:spPr>
          <a:xfrm>
            <a:off x="812800" y="1549400"/>
            <a:ext cx="1828800" cy="228600"/>
          </a:xfrm>
          <a:prstGeom prst="rect">
            <a:avLst/>
          </a:prstGeom>
          <a:noFill/>
        </p:spPr>
        <p:txBody>
          <a:bodyPr wrap="none" lIns="0" tIns="0" rIns="0" bIns="0" anchor="t">
            <a:noAutofit/>
          </a:bodyPr>
          <a:lstStyle/>
          <a:p>
            <a:pPr algn="l">
              <a:lnSpc>
                <a:spcPts val="1800"/>
              </a:lnSpc>
            </a:pPr>
            <a:r>
              <a:rPr sz="1500" b="1" i="0">
                <a:solidFill>
                  <a:srgbClr val="0A2540"/>
                </a:solidFill>
                <a:latin typeface="DM Sans"/>
              </a:rPr>
              <a:t>Zonder zool</a:t>
            </a:r>
          </a:p>
        </p:txBody>
      </p:sp>
      <p:sp>
        <p:nvSpPr>
          <p:cNvPr id="5" name="TextBox 4"/>
          <p:cNvSpPr txBox="1"/>
          <p:nvPr/>
        </p:nvSpPr>
        <p:spPr>
          <a:xfrm>
            <a:off x="812800" y="1803400"/>
            <a:ext cx="1828800" cy="190500"/>
          </a:xfrm>
          <a:prstGeom prst="rect">
            <a:avLst/>
          </a:prstGeom>
          <a:noFill/>
        </p:spPr>
        <p:txBody>
          <a:bodyPr wrap="none" lIns="0" tIns="0" rIns="0" bIns="0" anchor="t">
            <a:noAutofit/>
          </a:bodyPr>
          <a:lstStyle/>
          <a:p>
            <a:pPr algn="l">
              <a:lnSpc>
                <a:spcPts val="1500"/>
              </a:lnSpc>
            </a:pPr>
            <a:r>
              <a:rPr sz="1200" b="0" i="0">
                <a:solidFill>
                  <a:srgbClr val="5A6E80"/>
                </a:solidFill>
                <a:latin typeface="DM Sans"/>
              </a:rPr>
              <a:t>met schoen</a:t>
            </a:r>
          </a:p>
        </p:txBody>
      </p:sp>
      <p:pic>
        <p:nvPicPr>
          <p:cNvPr id="6" name="Picture 5" descr="3825b6387d3c764508758626beea4ba8.png"/>
          <p:cNvPicPr>
            <a:picLocks noChangeAspect="1"/>
          </p:cNvPicPr>
          <p:nvPr/>
        </p:nvPicPr>
        <p:blipFill>
          <a:blip r:embed="rId4"/>
          <a:stretch>
            <a:fillRect/>
          </a:stretch>
        </p:blipFill>
        <p:spPr>
          <a:xfrm>
            <a:off x="812800" y="2121835"/>
            <a:ext cx="1384300" cy="3808131"/>
          </a:xfrm>
          <a:prstGeom prst="rect">
            <a:avLst/>
          </a:prstGeom>
        </p:spPr>
      </p:pic>
      <p:sp>
        <p:nvSpPr>
          <p:cNvPr id="7" name="TextBox 6"/>
          <p:cNvSpPr txBox="1"/>
          <p:nvPr/>
        </p:nvSpPr>
        <p:spPr>
          <a:xfrm>
            <a:off x="2781300" y="1549400"/>
            <a:ext cx="1828800" cy="228600"/>
          </a:xfrm>
          <a:prstGeom prst="rect">
            <a:avLst/>
          </a:prstGeom>
          <a:noFill/>
        </p:spPr>
        <p:txBody>
          <a:bodyPr wrap="none" lIns="0" tIns="0" rIns="0" bIns="0" anchor="t">
            <a:noAutofit/>
          </a:bodyPr>
          <a:lstStyle/>
          <a:p>
            <a:pPr algn="l">
              <a:lnSpc>
                <a:spcPts val="1800"/>
              </a:lnSpc>
            </a:pPr>
            <a:r>
              <a:rPr sz="1500" b="1" i="0">
                <a:solidFill>
                  <a:srgbClr val="0A2540"/>
                </a:solidFill>
                <a:latin typeface="DM Sans"/>
              </a:rPr>
              <a:t>Zool 1</a:t>
            </a:r>
          </a:p>
        </p:txBody>
      </p:sp>
      <p:sp>
        <p:nvSpPr>
          <p:cNvPr id="8" name="TextBox 7"/>
          <p:cNvSpPr txBox="1"/>
          <p:nvPr/>
        </p:nvSpPr>
        <p:spPr>
          <a:xfrm>
            <a:off x="2781300" y="1803400"/>
            <a:ext cx="1828800" cy="190500"/>
          </a:xfrm>
          <a:prstGeom prst="rect">
            <a:avLst/>
          </a:prstGeom>
          <a:noFill/>
        </p:spPr>
        <p:txBody>
          <a:bodyPr wrap="none" lIns="0" tIns="0" rIns="0" bIns="0" anchor="t">
            <a:noAutofit/>
          </a:bodyPr>
          <a:lstStyle/>
          <a:p>
            <a:pPr algn="l">
              <a:lnSpc>
                <a:spcPts val="1500"/>
              </a:lnSpc>
            </a:pPr>
            <a:r>
              <a:rPr sz="1200" b="0" i="0">
                <a:solidFill>
                  <a:srgbClr val="5A6E80"/>
                </a:solidFill>
                <a:latin typeface="DM Sans"/>
              </a:rPr>
              <a:t>Total Contact Zool</a:t>
            </a:r>
          </a:p>
        </p:txBody>
      </p:sp>
      <p:pic>
        <p:nvPicPr>
          <p:cNvPr id="9" name="Picture 8" descr="c36ccd7ce0562c1fa427d104ab1b836f.png"/>
          <p:cNvPicPr>
            <a:picLocks noChangeAspect="1"/>
          </p:cNvPicPr>
          <p:nvPr/>
        </p:nvPicPr>
        <p:blipFill>
          <a:blip r:embed="rId5"/>
          <a:stretch>
            <a:fillRect/>
          </a:stretch>
        </p:blipFill>
        <p:spPr>
          <a:xfrm>
            <a:off x="2781300" y="2121835"/>
            <a:ext cx="1384300" cy="3808131"/>
          </a:xfrm>
          <a:prstGeom prst="rect">
            <a:avLst/>
          </a:prstGeom>
        </p:spPr>
      </p:pic>
      <p:sp>
        <p:nvSpPr>
          <p:cNvPr id="10" name="TextBox 9"/>
          <p:cNvSpPr txBox="1"/>
          <p:nvPr/>
        </p:nvSpPr>
        <p:spPr>
          <a:xfrm>
            <a:off x="4749800" y="1549400"/>
            <a:ext cx="1828800" cy="228600"/>
          </a:xfrm>
          <a:prstGeom prst="rect">
            <a:avLst/>
          </a:prstGeom>
          <a:noFill/>
        </p:spPr>
        <p:txBody>
          <a:bodyPr wrap="none" lIns="0" tIns="0" rIns="0" bIns="0" anchor="t">
            <a:noAutofit/>
          </a:bodyPr>
          <a:lstStyle/>
          <a:p>
            <a:pPr algn="l">
              <a:lnSpc>
                <a:spcPts val="1800"/>
              </a:lnSpc>
            </a:pPr>
            <a:r>
              <a:rPr sz="1500" b="1" i="0">
                <a:solidFill>
                  <a:srgbClr val="0A2540"/>
                </a:solidFill>
                <a:latin typeface="DM Sans"/>
              </a:rPr>
              <a:t>Zool 2</a:t>
            </a:r>
          </a:p>
        </p:txBody>
      </p:sp>
      <p:sp>
        <p:nvSpPr>
          <p:cNvPr id="11" name="TextBox 10"/>
          <p:cNvSpPr txBox="1"/>
          <p:nvPr/>
        </p:nvSpPr>
        <p:spPr>
          <a:xfrm>
            <a:off x="4749800" y="1803400"/>
            <a:ext cx="1828800" cy="190500"/>
          </a:xfrm>
          <a:prstGeom prst="rect">
            <a:avLst/>
          </a:prstGeom>
          <a:noFill/>
        </p:spPr>
        <p:txBody>
          <a:bodyPr wrap="none" lIns="0" tIns="0" rIns="0" bIns="0" anchor="t">
            <a:noAutofit/>
          </a:bodyPr>
          <a:lstStyle/>
          <a:p>
            <a:pPr algn="l">
              <a:lnSpc>
                <a:spcPts val="1500"/>
              </a:lnSpc>
            </a:pPr>
            <a:r>
              <a:rPr sz="1200" b="1" i="0">
                <a:solidFill>
                  <a:srgbClr val="A34A00"/>
                </a:solidFill>
                <a:latin typeface="DM Sans"/>
              </a:rPr>
              <a:t>+ RCTB 6 mm</a:t>
            </a:r>
          </a:p>
        </p:txBody>
      </p:sp>
      <p:pic>
        <p:nvPicPr>
          <p:cNvPr id="12" name="Picture 11" descr="e8c34085a070149383e812b143052985.png"/>
          <p:cNvPicPr>
            <a:picLocks noChangeAspect="1"/>
          </p:cNvPicPr>
          <p:nvPr/>
        </p:nvPicPr>
        <p:blipFill>
          <a:blip r:embed="rId6"/>
          <a:stretch>
            <a:fillRect/>
          </a:stretch>
        </p:blipFill>
        <p:spPr>
          <a:xfrm>
            <a:off x="4749800" y="2121835"/>
            <a:ext cx="1384300" cy="3808131"/>
          </a:xfrm>
          <a:prstGeom prst="rect">
            <a:avLst/>
          </a:prstGeom>
        </p:spPr>
      </p:pic>
      <p:sp>
        <p:nvSpPr>
          <p:cNvPr id="13" name="TextBox 12"/>
          <p:cNvSpPr txBox="1"/>
          <p:nvPr/>
        </p:nvSpPr>
        <p:spPr>
          <a:xfrm>
            <a:off x="6718300" y="1549400"/>
            <a:ext cx="1828800" cy="228600"/>
          </a:xfrm>
          <a:prstGeom prst="rect">
            <a:avLst/>
          </a:prstGeom>
          <a:noFill/>
        </p:spPr>
        <p:txBody>
          <a:bodyPr wrap="none" lIns="0" tIns="0" rIns="0" bIns="0" anchor="t">
            <a:noAutofit/>
          </a:bodyPr>
          <a:lstStyle/>
          <a:p>
            <a:pPr algn="l">
              <a:lnSpc>
                <a:spcPts val="1800"/>
              </a:lnSpc>
            </a:pPr>
            <a:r>
              <a:rPr sz="1500" b="1" i="0">
                <a:solidFill>
                  <a:srgbClr val="0A2540"/>
                </a:solidFill>
                <a:latin typeface="DM Sans"/>
              </a:rPr>
              <a:t>Zool 3</a:t>
            </a:r>
          </a:p>
        </p:txBody>
      </p:sp>
      <p:sp>
        <p:nvSpPr>
          <p:cNvPr id="14" name="TextBox 13"/>
          <p:cNvSpPr txBox="1"/>
          <p:nvPr/>
        </p:nvSpPr>
        <p:spPr>
          <a:xfrm>
            <a:off x="6718300" y="1803400"/>
            <a:ext cx="1828800" cy="190500"/>
          </a:xfrm>
          <a:prstGeom prst="rect">
            <a:avLst/>
          </a:prstGeom>
          <a:noFill/>
        </p:spPr>
        <p:txBody>
          <a:bodyPr wrap="none" lIns="0" tIns="0" rIns="0" bIns="0" anchor="t">
            <a:noAutofit/>
          </a:bodyPr>
          <a:lstStyle/>
          <a:p>
            <a:pPr algn="l">
              <a:lnSpc>
                <a:spcPts val="1500"/>
              </a:lnSpc>
            </a:pPr>
            <a:r>
              <a:rPr sz="1200" b="1" i="0">
                <a:solidFill>
                  <a:srgbClr val="A34A00"/>
                </a:solidFill>
                <a:latin typeface="DM Sans"/>
              </a:rPr>
              <a:t>+ RCTB 9 mm</a:t>
            </a:r>
          </a:p>
        </p:txBody>
      </p:sp>
      <p:pic>
        <p:nvPicPr>
          <p:cNvPr id="15" name="Picture 14" descr="a74b22459579f436b9f1c45a3ef23fcd.png"/>
          <p:cNvPicPr>
            <a:picLocks noChangeAspect="1"/>
          </p:cNvPicPr>
          <p:nvPr/>
        </p:nvPicPr>
        <p:blipFill>
          <a:blip r:embed="rId7"/>
          <a:stretch>
            <a:fillRect/>
          </a:stretch>
        </p:blipFill>
        <p:spPr>
          <a:xfrm>
            <a:off x="6718300" y="2121835"/>
            <a:ext cx="1384300" cy="3808131"/>
          </a:xfrm>
          <a:prstGeom prst="rect">
            <a:avLst/>
          </a:prstGeom>
        </p:spPr>
      </p:pic>
      <p:sp>
        <p:nvSpPr>
          <p:cNvPr id="16" name="TextBox 15"/>
          <p:cNvSpPr txBox="1"/>
          <p:nvPr/>
        </p:nvSpPr>
        <p:spPr>
          <a:xfrm>
            <a:off x="8890000" y="2120900"/>
            <a:ext cx="2540000" cy="198120"/>
          </a:xfrm>
          <a:prstGeom prst="rect">
            <a:avLst/>
          </a:prstGeom>
          <a:noFill/>
        </p:spPr>
        <p:txBody>
          <a:bodyPr wrap="none" lIns="0" tIns="0" rIns="0" bIns="0" anchor="t">
            <a:noAutofit/>
          </a:bodyPr>
          <a:lstStyle/>
          <a:p>
            <a:pPr algn="l"/>
            <a:r>
              <a:rPr sz="1200" b="1" i="0">
                <a:solidFill>
                  <a:srgbClr val="5A6E80"/>
                </a:solidFill>
                <a:latin typeface="DM Sans"/>
              </a:rPr>
              <a:t>kPa</a:t>
            </a:r>
          </a:p>
        </p:txBody>
      </p:sp>
      <p:sp>
        <p:nvSpPr>
          <p:cNvPr id="17" name="Rectangle 16"/>
          <p:cNvSpPr/>
          <p:nvPr/>
        </p:nvSpPr>
        <p:spPr>
          <a:xfrm>
            <a:off x="8890000" y="2374900"/>
            <a:ext cx="228600" cy="1651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890000" y="2540000"/>
            <a:ext cx="228600" cy="1651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8890000" y="2705100"/>
            <a:ext cx="228600" cy="16510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890000" y="2870200"/>
            <a:ext cx="228600" cy="165100"/>
          </a:xfrm>
          <a:prstGeom prst="rect">
            <a:avLst/>
          </a:prstGeom>
          <a:solidFill>
            <a:srgbClr val="FFC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8890000" y="3035300"/>
            <a:ext cx="228600" cy="165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8890000" y="3200400"/>
            <a:ext cx="228600" cy="165100"/>
          </a:xfrm>
          <a:prstGeom prst="rect">
            <a:avLst/>
          </a:prstGeom>
          <a:solidFill>
            <a:srgbClr val="CC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8890000" y="3365500"/>
            <a:ext cx="228600" cy="165100"/>
          </a:xfrm>
          <a:prstGeom prst="rect">
            <a:avLst/>
          </a:prstGeom>
          <a:solidFill>
            <a:srgbClr val="99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8890000" y="3530600"/>
            <a:ext cx="228600" cy="165100"/>
          </a:xfrm>
          <a:prstGeom prst="rect">
            <a:avLst/>
          </a:prstGeom>
          <a:solidFill>
            <a:srgbClr val="00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8890000" y="3695700"/>
            <a:ext cx="228600" cy="165100"/>
          </a:xfrm>
          <a:prstGeom prst="rect">
            <a:avLst/>
          </a:prstGeom>
          <a:solidFill>
            <a:srgbClr val="33FF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8890000" y="3860800"/>
            <a:ext cx="228600" cy="165100"/>
          </a:xfrm>
          <a:prstGeom prst="rect">
            <a:avLst/>
          </a:prstGeom>
          <a:solidFill>
            <a:srgbClr val="00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8890000" y="4025900"/>
            <a:ext cx="228600" cy="165100"/>
          </a:xfrm>
          <a:prstGeom prst="rect">
            <a:avLst/>
          </a:prstGeom>
          <a:solidFill>
            <a:srgbClr val="00C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8890000" y="4191000"/>
            <a:ext cx="228600" cy="165100"/>
          </a:xfrm>
          <a:prstGeom prst="rect">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8890000" y="4356100"/>
            <a:ext cx="228600" cy="165100"/>
          </a:xfrm>
          <a:prstGeom prst="rect">
            <a:avLst/>
          </a:prstGeom>
          <a:solidFill>
            <a:srgbClr val="00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8890000" y="4521200"/>
            <a:ext cx="228600" cy="16510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8890000" y="4686300"/>
            <a:ext cx="228600" cy="165100"/>
          </a:xfrm>
          <a:prstGeom prst="rect">
            <a:avLst/>
          </a:prstGeom>
          <a:solidFill>
            <a:srgbClr val="00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8890000" y="4851400"/>
            <a:ext cx="228600" cy="165100"/>
          </a:xfrm>
          <a:prstGeom prst="rect">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9220200" y="2362200"/>
            <a:ext cx="1320800"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 563</a:t>
            </a:r>
          </a:p>
        </p:txBody>
      </p:sp>
      <p:sp>
        <p:nvSpPr>
          <p:cNvPr id="34" name="TextBox 33"/>
          <p:cNvSpPr txBox="1"/>
          <p:nvPr/>
        </p:nvSpPr>
        <p:spPr>
          <a:xfrm>
            <a:off x="9220200" y="2857500"/>
            <a:ext cx="1320800"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450</a:t>
            </a:r>
          </a:p>
        </p:txBody>
      </p:sp>
      <p:sp>
        <p:nvSpPr>
          <p:cNvPr id="35" name="TextBox 34"/>
          <p:cNvSpPr txBox="1"/>
          <p:nvPr/>
        </p:nvSpPr>
        <p:spPr>
          <a:xfrm>
            <a:off x="9220200" y="3517900"/>
            <a:ext cx="1320800"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300</a:t>
            </a:r>
          </a:p>
        </p:txBody>
      </p:sp>
      <p:sp>
        <p:nvSpPr>
          <p:cNvPr id="36" name="TextBox 35"/>
          <p:cNvSpPr txBox="1"/>
          <p:nvPr/>
        </p:nvSpPr>
        <p:spPr>
          <a:xfrm>
            <a:off x="9220200" y="4178300"/>
            <a:ext cx="1320800"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150</a:t>
            </a:r>
          </a:p>
        </p:txBody>
      </p:sp>
      <p:sp>
        <p:nvSpPr>
          <p:cNvPr id="37" name="TextBox 36"/>
          <p:cNvSpPr txBox="1"/>
          <p:nvPr/>
        </p:nvSpPr>
        <p:spPr>
          <a:xfrm>
            <a:off x="9220200" y="4838700"/>
            <a:ext cx="1320800"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0</a:t>
            </a:r>
          </a:p>
        </p:txBody>
      </p:sp>
      <p:sp>
        <p:nvSpPr>
          <p:cNvPr id="38" name="TextBox 37"/>
          <p:cNvSpPr txBox="1"/>
          <p:nvPr/>
        </p:nvSpPr>
        <p:spPr>
          <a:xfrm>
            <a:off x="8890000" y="5270500"/>
            <a:ext cx="2540000" cy="742950"/>
          </a:xfrm>
          <a:prstGeom prst="rect">
            <a:avLst/>
          </a:prstGeom>
          <a:noFill/>
        </p:spPr>
        <p:txBody>
          <a:bodyPr wrap="square" lIns="0" tIns="0" rIns="0" bIns="0" anchor="t">
            <a:noAutofit/>
          </a:bodyPr>
          <a:lstStyle/>
          <a:p>
            <a:pPr algn="l">
              <a:lnSpc>
                <a:spcPts val="1950"/>
              </a:lnSpc>
            </a:pPr>
            <a:r>
              <a:rPr sz="1500" b="0" i="0">
                <a:solidFill>
                  <a:srgbClr val="0A2540"/>
                </a:solidFill>
                <a:latin typeface="DM Sans"/>
              </a:rPr>
              <a:t>Elke aanpassing haalt de piek onder de voorvoet verder omlaag.</a:t>
            </a:r>
          </a:p>
        </p:txBody>
      </p:sp>
      <p:pic>
        <p:nvPicPr>
          <p:cNvPr id="39" name="Picture 38" descr="ec5c93e6f83f209b4e97ddfdecd480c8.png"/>
          <p:cNvPicPr>
            <a:picLocks noChangeAspect="1"/>
          </p:cNvPicPr>
          <p:nvPr/>
        </p:nvPicPr>
        <p:blipFill>
          <a:blip r:embed="rId8"/>
          <a:stretch>
            <a:fillRect/>
          </a:stretch>
        </p:blipFill>
        <p:spPr>
          <a:xfrm>
            <a:off x="812967" y="6261100"/>
            <a:ext cx="171116" cy="203200"/>
          </a:xfrm>
          <a:prstGeom prst="rect">
            <a:avLst/>
          </a:prstGeom>
        </p:spPr>
      </p:pic>
      <p:sp>
        <p:nvSpPr>
          <p:cNvPr id="40" name="TextBox 39"/>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41" name="TextBox 40"/>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Voorbeeld: rechtervoet, met schoen, gemiddelde van zes stappen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Van voetafdruk tot zool</a:t>
            </a:r>
          </a:p>
        </p:txBody>
      </p:sp>
      <p:sp>
        <p:nvSpPr>
          <p:cNvPr id="3" name="Rectangle 2"/>
          <p:cNvSpPr/>
          <p:nvPr/>
        </p:nvSpPr>
        <p:spPr>
          <a:xfrm>
            <a:off x="812800" y="1600200"/>
            <a:ext cx="3302000" cy="19050"/>
          </a:xfrm>
          <a:prstGeom prst="rect">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2800" y="1708150"/>
            <a:ext cx="166390" cy="330200"/>
          </a:xfrm>
          <a:prstGeom prst="rect">
            <a:avLst/>
          </a:prstGeom>
          <a:noFill/>
        </p:spPr>
        <p:txBody>
          <a:bodyPr wrap="none" lIns="0" tIns="0" rIns="0" bIns="0" anchor="t">
            <a:noAutofit/>
          </a:bodyPr>
          <a:lstStyle/>
          <a:p>
            <a:pPr algn="l">
              <a:lnSpc>
                <a:spcPts val="2600"/>
              </a:lnSpc>
            </a:pPr>
            <a:r>
              <a:rPr sz="2600" b="0" i="0">
                <a:solidFill>
                  <a:srgbClr val="0B6E8F"/>
                </a:solidFill>
                <a:latin typeface="DM Serif Display"/>
              </a:rPr>
              <a:t>1</a:t>
            </a:r>
          </a:p>
        </p:txBody>
      </p:sp>
      <p:sp>
        <p:nvSpPr>
          <p:cNvPr id="5" name="TextBox 4"/>
          <p:cNvSpPr txBox="1"/>
          <p:nvPr/>
        </p:nvSpPr>
        <p:spPr>
          <a:xfrm>
            <a:off x="1029990" y="1790700"/>
            <a:ext cx="1545034" cy="259080"/>
          </a:xfrm>
          <a:prstGeom prst="rect">
            <a:avLst/>
          </a:prstGeom>
          <a:noFill/>
        </p:spPr>
        <p:txBody>
          <a:bodyPr wrap="none" lIns="0" tIns="0" rIns="0" bIns="0" anchor="t">
            <a:noAutofit/>
          </a:bodyPr>
          <a:lstStyle/>
          <a:p>
            <a:pPr algn="l">
              <a:lnSpc>
                <a:spcPts val="2039"/>
              </a:lnSpc>
            </a:pPr>
            <a:r>
              <a:rPr sz="1700" b="1" i="0">
                <a:solidFill>
                  <a:srgbClr val="0A2540"/>
                </a:solidFill>
                <a:latin typeface="DM Sans"/>
              </a:rPr>
              <a:t>De voetafdruk</a:t>
            </a:r>
          </a:p>
        </p:txBody>
      </p:sp>
      <p:pic>
        <p:nvPicPr>
          <p:cNvPr id="6" name="Picture 5" descr="70114a0745a3181f830ce26adcca8c6c.png"/>
          <p:cNvPicPr>
            <a:picLocks noChangeAspect="1"/>
          </p:cNvPicPr>
          <p:nvPr/>
        </p:nvPicPr>
        <p:blipFill>
          <a:blip r:embed="rId3"/>
          <a:stretch>
            <a:fillRect/>
          </a:stretch>
        </p:blipFill>
        <p:spPr>
          <a:xfrm>
            <a:off x="1144305" y="2120900"/>
            <a:ext cx="2638989" cy="1435100"/>
          </a:xfrm>
          <a:prstGeom prst="rect">
            <a:avLst/>
          </a:prstGeom>
        </p:spPr>
      </p:pic>
      <p:sp>
        <p:nvSpPr>
          <p:cNvPr id="7" name="TextBox 6"/>
          <p:cNvSpPr txBox="1"/>
          <p:nvPr/>
        </p:nvSpPr>
        <p:spPr>
          <a:xfrm>
            <a:off x="787400" y="3594100"/>
            <a:ext cx="3352800" cy="205740"/>
          </a:xfrm>
          <a:prstGeom prst="rect">
            <a:avLst/>
          </a:prstGeom>
          <a:noFill/>
        </p:spPr>
        <p:txBody>
          <a:bodyPr wrap="none" lIns="0" tIns="0" rIns="0" bIns="0" anchor="t">
            <a:noAutofit/>
          </a:bodyPr>
          <a:lstStyle/>
          <a:p>
            <a:pPr algn="ctr">
              <a:lnSpc>
                <a:spcPts val="1620"/>
              </a:lnSpc>
            </a:pPr>
            <a:r>
              <a:rPr sz="1350" b="1" i="0">
                <a:solidFill>
                  <a:srgbClr val="0A2540"/>
                </a:solidFill>
                <a:latin typeface="DM Sans"/>
              </a:rPr>
              <a:t>manueel</a:t>
            </a:r>
          </a:p>
        </p:txBody>
      </p:sp>
      <p:pic>
        <p:nvPicPr>
          <p:cNvPr id="8" name="Picture 7" descr="6293f937edc0f069c46217b18b862e04.png"/>
          <p:cNvPicPr>
            <a:picLocks noChangeAspect="1"/>
          </p:cNvPicPr>
          <p:nvPr/>
        </p:nvPicPr>
        <p:blipFill>
          <a:blip r:embed="rId4"/>
          <a:stretch>
            <a:fillRect/>
          </a:stretch>
        </p:blipFill>
        <p:spPr>
          <a:xfrm>
            <a:off x="812800" y="3942752"/>
            <a:ext cx="3302000" cy="1334695"/>
          </a:xfrm>
          <a:prstGeom prst="rect">
            <a:avLst/>
          </a:prstGeom>
        </p:spPr>
      </p:pic>
      <p:sp>
        <p:nvSpPr>
          <p:cNvPr id="9" name="TextBox 8"/>
          <p:cNvSpPr txBox="1"/>
          <p:nvPr/>
        </p:nvSpPr>
        <p:spPr>
          <a:xfrm>
            <a:off x="787400" y="5397500"/>
            <a:ext cx="3352800" cy="205740"/>
          </a:xfrm>
          <a:prstGeom prst="rect">
            <a:avLst/>
          </a:prstGeom>
          <a:noFill/>
        </p:spPr>
        <p:txBody>
          <a:bodyPr wrap="none" lIns="0" tIns="0" rIns="0" bIns="0" anchor="t">
            <a:noAutofit/>
          </a:bodyPr>
          <a:lstStyle/>
          <a:p>
            <a:pPr algn="ctr">
              <a:lnSpc>
                <a:spcPts val="1620"/>
              </a:lnSpc>
            </a:pPr>
            <a:r>
              <a:rPr sz="1350" b="0" i="0">
                <a:solidFill>
                  <a:srgbClr val="0A2540"/>
                </a:solidFill>
                <a:latin typeface="DM Sans"/>
              </a:rPr>
              <a:t>of met een </a:t>
            </a:r>
            <a:r>
              <a:rPr sz="1350" b="1" i="0">
                <a:solidFill>
                  <a:srgbClr val="0A2540"/>
                </a:solidFill>
                <a:latin typeface="DM Sans"/>
              </a:rPr>
              <a:t>3D-scan</a:t>
            </a:r>
          </a:p>
        </p:txBody>
      </p:sp>
      <p:sp>
        <p:nvSpPr>
          <p:cNvPr id="10" name="Rectangle 9"/>
          <p:cNvSpPr/>
          <p:nvPr/>
        </p:nvSpPr>
        <p:spPr>
          <a:xfrm>
            <a:off x="4445000" y="1600200"/>
            <a:ext cx="3302000" cy="19050"/>
          </a:xfrm>
          <a:prstGeom prst="rect">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45000" y="1708150"/>
            <a:ext cx="226516" cy="330200"/>
          </a:xfrm>
          <a:prstGeom prst="rect">
            <a:avLst/>
          </a:prstGeom>
          <a:noFill/>
        </p:spPr>
        <p:txBody>
          <a:bodyPr wrap="none" lIns="0" tIns="0" rIns="0" bIns="0" anchor="t">
            <a:noAutofit/>
          </a:bodyPr>
          <a:lstStyle/>
          <a:p>
            <a:pPr algn="l">
              <a:lnSpc>
                <a:spcPts val="2600"/>
              </a:lnSpc>
            </a:pPr>
            <a:r>
              <a:rPr sz="2600" b="0" i="0">
                <a:solidFill>
                  <a:srgbClr val="0B6E8F"/>
                </a:solidFill>
                <a:latin typeface="DM Serif Display"/>
              </a:rPr>
              <a:t>2</a:t>
            </a:r>
          </a:p>
        </p:txBody>
      </p:sp>
      <p:sp>
        <p:nvSpPr>
          <p:cNvPr id="12" name="TextBox 11"/>
          <p:cNvSpPr txBox="1"/>
          <p:nvPr/>
        </p:nvSpPr>
        <p:spPr>
          <a:xfrm>
            <a:off x="4722316" y="1790700"/>
            <a:ext cx="1387277" cy="259080"/>
          </a:xfrm>
          <a:prstGeom prst="rect">
            <a:avLst/>
          </a:prstGeom>
          <a:noFill/>
        </p:spPr>
        <p:txBody>
          <a:bodyPr wrap="none" lIns="0" tIns="0" rIns="0" bIns="0" anchor="t">
            <a:noAutofit/>
          </a:bodyPr>
          <a:lstStyle/>
          <a:p>
            <a:pPr algn="l">
              <a:lnSpc>
                <a:spcPts val="2039"/>
              </a:lnSpc>
            </a:pPr>
            <a:r>
              <a:rPr sz="1700" b="1" i="0">
                <a:solidFill>
                  <a:srgbClr val="0A2540"/>
                </a:solidFill>
                <a:latin typeface="DM Sans"/>
              </a:rPr>
              <a:t>De fabricage</a:t>
            </a:r>
          </a:p>
        </p:txBody>
      </p:sp>
      <p:pic>
        <p:nvPicPr>
          <p:cNvPr id="13" name="Picture 12" descr="6cdd6b828553c3a9bf3c9157e6580a6c.png"/>
          <p:cNvPicPr>
            <a:picLocks noChangeAspect="1"/>
          </p:cNvPicPr>
          <p:nvPr/>
        </p:nvPicPr>
        <p:blipFill>
          <a:blip r:embed="rId5"/>
          <a:stretch>
            <a:fillRect/>
          </a:stretch>
        </p:blipFill>
        <p:spPr>
          <a:xfrm>
            <a:off x="4562143" y="2120900"/>
            <a:ext cx="3067714" cy="1435100"/>
          </a:xfrm>
          <a:prstGeom prst="rect">
            <a:avLst/>
          </a:prstGeom>
        </p:spPr>
      </p:pic>
      <p:sp>
        <p:nvSpPr>
          <p:cNvPr id="14" name="TextBox 13"/>
          <p:cNvSpPr txBox="1"/>
          <p:nvPr/>
        </p:nvSpPr>
        <p:spPr>
          <a:xfrm>
            <a:off x="4419600" y="3594100"/>
            <a:ext cx="3352800" cy="205740"/>
          </a:xfrm>
          <a:prstGeom prst="rect">
            <a:avLst/>
          </a:prstGeom>
          <a:noFill/>
        </p:spPr>
        <p:txBody>
          <a:bodyPr wrap="none" lIns="0" tIns="0" rIns="0" bIns="0" anchor="t">
            <a:noAutofit/>
          </a:bodyPr>
          <a:lstStyle/>
          <a:p>
            <a:pPr algn="ctr">
              <a:lnSpc>
                <a:spcPts val="1620"/>
              </a:lnSpc>
            </a:pPr>
            <a:r>
              <a:rPr sz="1350" b="1" i="0">
                <a:solidFill>
                  <a:srgbClr val="0A2540"/>
                </a:solidFill>
                <a:latin typeface="DM Sans"/>
              </a:rPr>
              <a:t>thermoplastisch</a:t>
            </a:r>
            <a:r>
              <a:rPr sz="1350" b="0" i="0">
                <a:solidFill>
                  <a:srgbClr val="0A2540"/>
                </a:solidFill>
                <a:latin typeface="DM Sans"/>
              </a:rPr>
              <a:t> gevormd</a:t>
            </a:r>
          </a:p>
        </p:txBody>
      </p:sp>
      <p:pic>
        <p:nvPicPr>
          <p:cNvPr id="15" name="Picture 14" descr="55716b6e2d2d658a8e4b9a60cd74dc6f.png"/>
          <p:cNvPicPr>
            <a:picLocks noChangeAspect="1"/>
          </p:cNvPicPr>
          <p:nvPr/>
        </p:nvPicPr>
        <p:blipFill>
          <a:blip r:embed="rId6"/>
          <a:stretch>
            <a:fillRect/>
          </a:stretch>
        </p:blipFill>
        <p:spPr>
          <a:xfrm>
            <a:off x="5079311" y="3860800"/>
            <a:ext cx="2033379" cy="1498600"/>
          </a:xfrm>
          <a:prstGeom prst="rect">
            <a:avLst/>
          </a:prstGeom>
        </p:spPr>
      </p:pic>
      <p:sp>
        <p:nvSpPr>
          <p:cNvPr id="16" name="TextBox 15"/>
          <p:cNvSpPr txBox="1"/>
          <p:nvPr/>
        </p:nvSpPr>
        <p:spPr>
          <a:xfrm>
            <a:off x="4419600" y="5397500"/>
            <a:ext cx="3352800" cy="205740"/>
          </a:xfrm>
          <a:prstGeom prst="rect">
            <a:avLst/>
          </a:prstGeom>
          <a:noFill/>
        </p:spPr>
        <p:txBody>
          <a:bodyPr wrap="none" lIns="0" tIns="0" rIns="0" bIns="0" anchor="t">
            <a:noAutofit/>
          </a:bodyPr>
          <a:lstStyle/>
          <a:p>
            <a:pPr algn="ctr">
              <a:lnSpc>
                <a:spcPts val="1620"/>
              </a:lnSpc>
            </a:pPr>
            <a:r>
              <a:rPr sz="1350" b="0" i="0">
                <a:solidFill>
                  <a:srgbClr val="0A2540"/>
                </a:solidFill>
                <a:latin typeface="DM Sans"/>
              </a:rPr>
              <a:t>of </a:t>
            </a:r>
            <a:r>
              <a:rPr sz="1350" b="1" i="0">
                <a:solidFill>
                  <a:srgbClr val="0A2540"/>
                </a:solidFill>
                <a:latin typeface="DM Sans"/>
              </a:rPr>
              <a:t>CNC</a:t>
            </a:r>
            <a:r>
              <a:rPr sz="1350" b="0" i="0">
                <a:solidFill>
                  <a:srgbClr val="0A2540"/>
                </a:solidFill>
                <a:latin typeface="DM Sans"/>
              </a:rPr>
              <a:t>-gefreesd</a:t>
            </a:r>
          </a:p>
        </p:txBody>
      </p:sp>
      <p:sp>
        <p:nvSpPr>
          <p:cNvPr id="17" name="Rectangle 16"/>
          <p:cNvSpPr/>
          <p:nvPr/>
        </p:nvSpPr>
        <p:spPr>
          <a:xfrm>
            <a:off x="8077200" y="1600200"/>
            <a:ext cx="3302000" cy="19050"/>
          </a:xfrm>
          <a:prstGeom prst="rect">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77200" y="1708150"/>
            <a:ext cx="226516" cy="330200"/>
          </a:xfrm>
          <a:prstGeom prst="rect">
            <a:avLst/>
          </a:prstGeom>
          <a:noFill/>
        </p:spPr>
        <p:txBody>
          <a:bodyPr wrap="none" lIns="0" tIns="0" rIns="0" bIns="0" anchor="t">
            <a:noAutofit/>
          </a:bodyPr>
          <a:lstStyle/>
          <a:p>
            <a:pPr algn="l">
              <a:lnSpc>
                <a:spcPts val="2600"/>
              </a:lnSpc>
            </a:pPr>
            <a:r>
              <a:rPr sz="2600" b="0" i="0">
                <a:solidFill>
                  <a:srgbClr val="0B6E8F"/>
                </a:solidFill>
                <a:latin typeface="DM Serif Display"/>
              </a:rPr>
              <a:t>3</a:t>
            </a:r>
          </a:p>
        </p:txBody>
      </p:sp>
      <p:sp>
        <p:nvSpPr>
          <p:cNvPr id="19" name="TextBox 18"/>
          <p:cNvSpPr txBox="1"/>
          <p:nvPr/>
        </p:nvSpPr>
        <p:spPr>
          <a:xfrm>
            <a:off x="8354516" y="1790700"/>
            <a:ext cx="1302147" cy="259080"/>
          </a:xfrm>
          <a:prstGeom prst="rect">
            <a:avLst/>
          </a:prstGeom>
          <a:noFill/>
        </p:spPr>
        <p:txBody>
          <a:bodyPr wrap="none" lIns="0" tIns="0" rIns="0" bIns="0" anchor="t">
            <a:noAutofit/>
          </a:bodyPr>
          <a:lstStyle/>
          <a:p>
            <a:pPr algn="l">
              <a:lnSpc>
                <a:spcPts val="2039"/>
              </a:lnSpc>
            </a:pPr>
            <a:r>
              <a:rPr sz="1700" b="1" i="0">
                <a:solidFill>
                  <a:srgbClr val="0A2540"/>
                </a:solidFill>
                <a:latin typeface="DM Sans"/>
              </a:rPr>
              <a:t>De pasvorm</a:t>
            </a:r>
          </a:p>
        </p:txBody>
      </p:sp>
      <p:pic>
        <p:nvPicPr>
          <p:cNvPr id="20" name="Picture 19" descr="7f9b05567c6ce43b526733a17a557638.png"/>
          <p:cNvPicPr>
            <a:picLocks noChangeAspect="1"/>
          </p:cNvPicPr>
          <p:nvPr/>
        </p:nvPicPr>
        <p:blipFill>
          <a:blip r:embed="rId7"/>
          <a:stretch>
            <a:fillRect/>
          </a:stretch>
        </p:blipFill>
        <p:spPr>
          <a:xfrm>
            <a:off x="8077200" y="2225203"/>
            <a:ext cx="3302000" cy="1378894"/>
          </a:xfrm>
          <a:prstGeom prst="rect">
            <a:avLst/>
          </a:prstGeom>
        </p:spPr>
      </p:pic>
      <p:sp>
        <p:nvSpPr>
          <p:cNvPr id="21" name="TextBox 20"/>
          <p:cNvSpPr txBox="1"/>
          <p:nvPr/>
        </p:nvSpPr>
        <p:spPr>
          <a:xfrm>
            <a:off x="8077200" y="3835400"/>
            <a:ext cx="3368040" cy="462161"/>
          </a:xfrm>
          <a:prstGeom prst="rect">
            <a:avLst/>
          </a:prstGeom>
          <a:noFill/>
        </p:spPr>
        <p:txBody>
          <a:bodyPr wrap="square" lIns="0" tIns="0" rIns="0" bIns="0" anchor="t">
            <a:noAutofit/>
          </a:bodyPr>
          <a:lstStyle/>
          <a:p>
            <a:pPr algn="l">
              <a:lnSpc>
                <a:spcPts val="1820"/>
              </a:lnSpc>
            </a:pPr>
            <a:r>
              <a:rPr sz="1400" b="0" i="0">
                <a:solidFill>
                  <a:srgbClr val="0A2540"/>
                </a:solidFill>
                <a:latin typeface="DM Sans"/>
              </a:rPr>
              <a:t>beoordeeld in </a:t>
            </a:r>
            <a:r>
              <a:rPr sz="1400" b="1" i="0">
                <a:solidFill>
                  <a:srgbClr val="0A2540"/>
                </a:solidFill>
                <a:latin typeface="DM Sans"/>
              </a:rPr>
              <a:t>binnen- én buitenschoeisel</a:t>
            </a:r>
            <a:r>
              <a:rPr sz="1400" b="0" i="0">
                <a:solidFill>
                  <a:srgbClr val="0A2540"/>
                </a:solidFill>
                <a:latin typeface="DM Sans"/>
              </a:rPr>
              <a:t>, met foto's</a:t>
            </a:r>
          </a:p>
        </p:txBody>
      </p:sp>
      <p:sp>
        <p:nvSpPr>
          <p:cNvPr id="22" name="Rectangle 21"/>
          <p:cNvSpPr/>
          <p:nvPr/>
        </p:nvSpPr>
        <p:spPr>
          <a:xfrm>
            <a:off x="8077200" y="4475361"/>
            <a:ext cx="3302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77200" y="4634111"/>
            <a:ext cx="3368040" cy="462161"/>
          </a:xfrm>
          <a:prstGeom prst="rect">
            <a:avLst/>
          </a:prstGeom>
          <a:noFill/>
        </p:spPr>
        <p:txBody>
          <a:bodyPr wrap="square" lIns="0" tIns="0" rIns="0" bIns="0" anchor="t">
            <a:noAutofit/>
          </a:bodyPr>
          <a:lstStyle/>
          <a:p>
            <a:pPr algn="l">
              <a:lnSpc>
                <a:spcPts val="1820"/>
              </a:lnSpc>
            </a:pPr>
            <a:r>
              <a:rPr sz="1400" b="0" i="0">
                <a:solidFill>
                  <a:srgbClr val="0A2540"/>
                </a:solidFill>
                <a:latin typeface="DM Sans"/>
              </a:rPr>
              <a:t>Welke weg ook: de opbouw laag per laag blijft dezelfde.</a:t>
            </a:r>
          </a:p>
        </p:txBody>
      </p:sp>
      <p:pic>
        <p:nvPicPr>
          <p:cNvPr id="24" name="Picture 23" descr="ec5c93e6f83f209b4e97ddfdecd480c8.png"/>
          <p:cNvPicPr>
            <a:picLocks noChangeAspect="1"/>
          </p:cNvPicPr>
          <p:nvPr/>
        </p:nvPicPr>
        <p:blipFill>
          <a:blip r:embed="rId8"/>
          <a:stretch>
            <a:fillRect/>
          </a:stretch>
        </p:blipFill>
        <p:spPr>
          <a:xfrm>
            <a:off x="812967" y="6261100"/>
            <a:ext cx="171116" cy="203200"/>
          </a:xfrm>
          <a:prstGeom prst="rect">
            <a:avLst/>
          </a:prstGeom>
        </p:spPr>
      </p:pic>
      <p:sp>
        <p:nvSpPr>
          <p:cNvPr id="25" name="TextBox 24"/>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26" name="TextBox 25"/>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eCRF 23 · studieteam, 8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Welke schoenen zijn toegelaten</a:t>
            </a:r>
          </a:p>
        </p:txBody>
      </p:sp>
      <p:sp>
        <p:nvSpPr>
          <p:cNvPr id="3" name="TextBox 2"/>
          <p:cNvSpPr txBox="1"/>
          <p:nvPr/>
        </p:nvSpPr>
        <p:spPr>
          <a:xfrm>
            <a:off x="812800" y="1569641"/>
            <a:ext cx="10617200" cy="231140"/>
          </a:xfrm>
          <a:prstGeom prst="rect">
            <a:avLst/>
          </a:prstGeom>
          <a:noFill/>
        </p:spPr>
        <p:txBody>
          <a:bodyPr wrap="none" lIns="0" tIns="0" rIns="0" bIns="0" anchor="t">
            <a:noAutofit/>
          </a:bodyPr>
          <a:lstStyle/>
          <a:p>
            <a:pPr algn="l">
              <a:lnSpc>
                <a:spcPts val="1820"/>
              </a:lnSpc>
            </a:pPr>
            <a:r>
              <a:rPr sz="1400" b="1" i="0">
                <a:solidFill>
                  <a:srgbClr val="0B6E8F"/>
                </a:solidFill>
                <a:latin typeface="DM Sans"/>
              </a:rPr>
              <a:t>Buitenschoen</a:t>
            </a:r>
            <a:r>
              <a:rPr sz="1400" b="0" i="0">
                <a:solidFill>
                  <a:srgbClr val="3A4F63"/>
                </a:solidFill>
                <a:latin typeface="DM Sans"/>
              </a:rPr>
              <a:t> · één van deze drie. Hetzelfde geldt voor het </a:t>
            </a:r>
            <a:r>
              <a:rPr sz="1400" b="1" i="0">
                <a:solidFill>
                  <a:srgbClr val="0B6E8F"/>
                </a:solidFill>
                <a:latin typeface="DM Sans"/>
              </a:rPr>
              <a:t>binnenschoeisel</a:t>
            </a:r>
            <a:r>
              <a:rPr sz="1400" b="0" i="0">
                <a:solidFill>
                  <a:srgbClr val="3A4F63"/>
                </a:solidFill>
                <a:latin typeface="DM Sans"/>
              </a:rPr>
              <a:t>.</a:t>
            </a:r>
          </a:p>
        </p:txBody>
      </p:sp>
      <p:sp>
        <p:nvSpPr>
          <p:cNvPr id="4" name="Rounded Rectangle 3"/>
          <p:cNvSpPr/>
          <p:nvPr/>
        </p:nvSpPr>
        <p:spPr>
          <a:xfrm>
            <a:off x="812800" y="1927721"/>
            <a:ext cx="3403600" cy="1332111"/>
          </a:xfrm>
          <a:prstGeom prst="roundRect">
            <a:avLst>
              <a:gd name="adj" fmla="val 762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12800" y="1927721"/>
            <a:ext cx="3403600" cy="25400"/>
          </a:xfrm>
          <a:prstGeom prst="rect">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10050" y="1927721"/>
            <a:ext cx="6350" cy="1332111"/>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12800" y="3253482"/>
            <a:ext cx="3403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12800" y="1927721"/>
            <a:ext cx="6350" cy="1332111"/>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22350" y="2156321"/>
            <a:ext cx="3035300" cy="215900"/>
          </a:xfrm>
          <a:prstGeom prst="rect">
            <a:avLst/>
          </a:prstGeom>
          <a:noFill/>
        </p:spPr>
        <p:txBody>
          <a:bodyPr wrap="none" lIns="0" tIns="0" rIns="0" bIns="0" anchor="t">
            <a:noAutofit/>
          </a:bodyPr>
          <a:lstStyle/>
          <a:p>
            <a:pPr algn="l"/>
            <a:r>
              <a:rPr sz="1300" b="1" i="0">
                <a:solidFill>
                  <a:srgbClr val="0B6E8F"/>
                </a:solidFill>
                <a:latin typeface="DM Sans"/>
              </a:rPr>
              <a:t>1</a:t>
            </a:r>
          </a:p>
        </p:txBody>
      </p:sp>
      <p:sp>
        <p:nvSpPr>
          <p:cNvPr id="10" name="TextBox 9"/>
          <p:cNvSpPr txBox="1"/>
          <p:nvPr/>
        </p:nvSpPr>
        <p:spPr>
          <a:xfrm>
            <a:off x="1022350" y="2435721"/>
            <a:ext cx="3044190" cy="614561"/>
          </a:xfrm>
          <a:prstGeom prst="rect">
            <a:avLst/>
          </a:prstGeom>
          <a:noFill/>
        </p:spPr>
        <p:txBody>
          <a:bodyPr wrap="square" lIns="0" tIns="0" rIns="0" bIns="0" anchor="t">
            <a:noAutofit/>
          </a:bodyPr>
          <a:lstStyle/>
          <a:p>
            <a:pPr algn="l">
              <a:lnSpc>
                <a:spcPts val="2420"/>
              </a:lnSpc>
            </a:pPr>
            <a:r>
              <a:rPr sz="2200" b="0" i="0">
                <a:solidFill>
                  <a:srgbClr val="0A2540"/>
                </a:solidFill>
                <a:latin typeface="DM Serif Display"/>
              </a:rPr>
              <a:t>Goedgekeurde confectieschoen</a:t>
            </a:r>
          </a:p>
        </p:txBody>
      </p:sp>
      <p:sp>
        <p:nvSpPr>
          <p:cNvPr id="11" name="Rounded Rectangle 10"/>
          <p:cNvSpPr/>
          <p:nvPr/>
        </p:nvSpPr>
        <p:spPr>
          <a:xfrm>
            <a:off x="4394200" y="1927721"/>
            <a:ext cx="3403600" cy="1332111"/>
          </a:xfrm>
          <a:prstGeom prst="roundRect">
            <a:avLst>
              <a:gd name="adj" fmla="val 762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4394200" y="1927721"/>
            <a:ext cx="3403600" cy="25400"/>
          </a:xfrm>
          <a:prstGeom prst="rect">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91450" y="1927721"/>
            <a:ext cx="6350" cy="1332111"/>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94200" y="3253482"/>
            <a:ext cx="3403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94200" y="1927721"/>
            <a:ext cx="6350" cy="1332111"/>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03750" y="2156321"/>
            <a:ext cx="3035300" cy="215900"/>
          </a:xfrm>
          <a:prstGeom prst="rect">
            <a:avLst/>
          </a:prstGeom>
          <a:noFill/>
        </p:spPr>
        <p:txBody>
          <a:bodyPr wrap="none" lIns="0" tIns="0" rIns="0" bIns="0" anchor="t">
            <a:noAutofit/>
          </a:bodyPr>
          <a:lstStyle/>
          <a:p>
            <a:pPr algn="l"/>
            <a:r>
              <a:rPr sz="1300" b="1" i="0">
                <a:solidFill>
                  <a:srgbClr val="0B6E8F"/>
                </a:solidFill>
                <a:latin typeface="DM Sans"/>
              </a:rPr>
              <a:t>2</a:t>
            </a:r>
          </a:p>
        </p:txBody>
      </p:sp>
      <p:sp>
        <p:nvSpPr>
          <p:cNvPr id="17" name="TextBox 16"/>
          <p:cNvSpPr txBox="1"/>
          <p:nvPr/>
        </p:nvSpPr>
        <p:spPr>
          <a:xfrm>
            <a:off x="4603750" y="2435721"/>
            <a:ext cx="3044190" cy="614561"/>
          </a:xfrm>
          <a:prstGeom prst="rect">
            <a:avLst/>
          </a:prstGeom>
          <a:noFill/>
        </p:spPr>
        <p:txBody>
          <a:bodyPr wrap="square" lIns="0" tIns="0" rIns="0" bIns="0" anchor="t">
            <a:noAutofit/>
          </a:bodyPr>
          <a:lstStyle/>
          <a:p>
            <a:pPr algn="l">
              <a:lnSpc>
                <a:spcPts val="2420"/>
              </a:lnSpc>
            </a:pPr>
            <a:r>
              <a:rPr sz="2200" b="0" i="0">
                <a:solidFill>
                  <a:srgbClr val="0A2540"/>
                </a:solidFill>
                <a:latin typeface="DM Serif Display"/>
              </a:rPr>
              <a:t>Semi-orthopedische schoen</a:t>
            </a:r>
          </a:p>
        </p:txBody>
      </p:sp>
      <p:sp>
        <p:nvSpPr>
          <p:cNvPr id="18" name="Rounded Rectangle 17"/>
          <p:cNvSpPr/>
          <p:nvPr/>
        </p:nvSpPr>
        <p:spPr>
          <a:xfrm>
            <a:off x="7975600" y="1927721"/>
            <a:ext cx="3403600" cy="1332111"/>
          </a:xfrm>
          <a:prstGeom prst="roundRect">
            <a:avLst>
              <a:gd name="adj" fmla="val 762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975600" y="1927721"/>
            <a:ext cx="3403600" cy="25400"/>
          </a:xfrm>
          <a:prstGeom prst="rect">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1372850" y="1927721"/>
            <a:ext cx="6350" cy="1332111"/>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975600" y="3253482"/>
            <a:ext cx="3403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975600" y="1927721"/>
            <a:ext cx="6350" cy="1332111"/>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85150" y="2156321"/>
            <a:ext cx="3035300" cy="215900"/>
          </a:xfrm>
          <a:prstGeom prst="rect">
            <a:avLst/>
          </a:prstGeom>
          <a:noFill/>
        </p:spPr>
        <p:txBody>
          <a:bodyPr wrap="none" lIns="0" tIns="0" rIns="0" bIns="0" anchor="t">
            <a:noAutofit/>
          </a:bodyPr>
          <a:lstStyle/>
          <a:p>
            <a:pPr algn="l"/>
            <a:r>
              <a:rPr sz="1300" b="1" i="0">
                <a:solidFill>
                  <a:srgbClr val="0B6E8F"/>
                </a:solidFill>
                <a:latin typeface="DM Sans"/>
              </a:rPr>
              <a:t>3</a:t>
            </a:r>
          </a:p>
        </p:txBody>
      </p:sp>
      <p:sp>
        <p:nvSpPr>
          <p:cNvPr id="24" name="TextBox 23"/>
          <p:cNvSpPr txBox="1"/>
          <p:nvPr/>
        </p:nvSpPr>
        <p:spPr>
          <a:xfrm>
            <a:off x="8185150" y="2435721"/>
            <a:ext cx="3035300" cy="307340"/>
          </a:xfrm>
          <a:prstGeom prst="rect">
            <a:avLst/>
          </a:prstGeom>
          <a:noFill/>
        </p:spPr>
        <p:txBody>
          <a:bodyPr wrap="none" lIns="0" tIns="0" rIns="0" bIns="0" anchor="t">
            <a:noAutofit/>
          </a:bodyPr>
          <a:lstStyle/>
          <a:p>
            <a:pPr algn="l">
              <a:lnSpc>
                <a:spcPts val="2420"/>
              </a:lnSpc>
            </a:pPr>
            <a:r>
              <a:rPr sz="2200" b="0" i="0">
                <a:solidFill>
                  <a:srgbClr val="0A2540"/>
                </a:solidFill>
                <a:latin typeface="DM Serif Display"/>
              </a:rPr>
              <a:t>Orthopedische schoen</a:t>
            </a:r>
          </a:p>
        </p:txBody>
      </p:sp>
      <p:sp>
        <p:nvSpPr>
          <p:cNvPr id="25" name="Rectangle 24"/>
          <p:cNvSpPr/>
          <p:nvPr/>
        </p:nvSpPr>
        <p:spPr>
          <a:xfrm>
            <a:off x="812800" y="3513832"/>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2800" y="3659882"/>
            <a:ext cx="2146300" cy="234950"/>
          </a:xfrm>
          <a:prstGeom prst="rect">
            <a:avLst/>
          </a:prstGeom>
          <a:noFill/>
        </p:spPr>
        <p:txBody>
          <a:bodyPr wrap="none" lIns="0" tIns="0" rIns="0" bIns="0" anchor="t">
            <a:noAutofit/>
          </a:bodyPr>
          <a:lstStyle/>
          <a:p>
            <a:pPr algn="l"/>
            <a:r>
              <a:rPr sz="1400" b="1" i="0">
                <a:solidFill>
                  <a:srgbClr val="0A2540"/>
                </a:solidFill>
                <a:latin typeface="DM Sans"/>
              </a:rPr>
              <a:t>Eén paar</a:t>
            </a:r>
          </a:p>
        </p:txBody>
      </p:sp>
      <p:sp>
        <p:nvSpPr>
          <p:cNvPr id="27" name="TextBox 26"/>
          <p:cNvSpPr txBox="1"/>
          <p:nvPr/>
        </p:nvSpPr>
        <p:spPr>
          <a:xfrm>
            <a:off x="3162300" y="3659882"/>
            <a:ext cx="8381238"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Heeft de patiënt maar één paar schoenen dat aan de criteria voldoet, dan moet dat paar ook in huis gedragen worden.</a:t>
            </a:r>
          </a:p>
        </p:txBody>
      </p:sp>
      <p:sp>
        <p:nvSpPr>
          <p:cNvPr id="28" name="Rectangle 27"/>
          <p:cNvSpPr/>
          <p:nvPr/>
        </p:nvSpPr>
        <p:spPr>
          <a:xfrm>
            <a:off x="812800" y="4279602"/>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2800" y="4425652"/>
            <a:ext cx="2146300" cy="234950"/>
          </a:xfrm>
          <a:prstGeom prst="rect">
            <a:avLst/>
          </a:prstGeom>
          <a:noFill/>
        </p:spPr>
        <p:txBody>
          <a:bodyPr wrap="none" lIns="0" tIns="0" rIns="0" bIns="0" anchor="t">
            <a:noAutofit/>
          </a:bodyPr>
          <a:lstStyle/>
          <a:p>
            <a:pPr algn="l"/>
            <a:r>
              <a:rPr sz="1400" b="1" i="0">
                <a:solidFill>
                  <a:srgbClr val="0A2540"/>
                </a:solidFill>
                <a:latin typeface="DM Sans"/>
              </a:rPr>
              <a:t>Documenteren</a:t>
            </a:r>
          </a:p>
        </p:txBody>
      </p:sp>
      <p:sp>
        <p:nvSpPr>
          <p:cNvPr id="30" name="TextBox 29"/>
          <p:cNvSpPr txBox="1"/>
          <p:nvPr/>
        </p:nvSpPr>
        <p:spPr>
          <a:xfrm>
            <a:off x="3162300" y="4425652"/>
            <a:ext cx="8381238"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Goedgekeurde buiten- en binnenschoenen worden gedocumenteerd, met foto's en een beschrijving.</a:t>
            </a:r>
          </a:p>
        </p:txBody>
      </p:sp>
      <p:sp>
        <p:nvSpPr>
          <p:cNvPr id="31" name="Rectangle 30"/>
          <p:cNvSpPr/>
          <p:nvPr/>
        </p:nvSpPr>
        <p:spPr>
          <a:xfrm>
            <a:off x="812800" y="5045373"/>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12800" y="5191423"/>
            <a:ext cx="2146300" cy="234950"/>
          </a:xfrm>
          <a:prstGeom prst="rect">
            <a:avLst/>
          </a:prstGeom>
          <a:noFill/>
        </p:spPr>
        <p:txBody>
          <a:bodyPr wrap="none" lIns="0" tIns="0" rIns="0" bIns="0" anchor="t">
            <a:noAutofit/>
          </a:bodyPr>
          <a:lstStyle/>
          <a:p>
            <a:pPr algn="l"/>
            <a:r>
              <a:rPr sz="1400" b="1" i="0">
                <a:solidFill>
                  <a:srgbClr val="A34A00"/>
                </a:solidFill>
                <a:latin typeface="DM Sans"/>
              </a:rPr>
              <a:t>Plaats voor de zool</a:t>
            </a:r>
          </a:p>
        </p:txBody>
      </p:sp>
      <p:sp>
        <p:nvSpPr>
          <p:cNvPr id="33" name="TextBox 32"/>
          <p:cNvSpPr txBox="1"/>
          <p:nvPr/>
        </p:nvSpPr>
        <p:spPr>
          <a:xfrm>
            <a:off x="3162300" y="5191423"/>
            <a:ext cx="8267700" cy="240030"/>
          </a:xfrm>
          <a:prstGeom prst="rect">
            <a:avLst/>
          </a:prstGeom>
          <a:noFill/>
        </p:spPr>
        <p:txBody>
          <a:bodyPr wrap="none" lIns="0" tIns="0" rIns="0" bIns="0" anchor="t">
            <a:noAutofit/>
          </a:bodyPr>
          <a:lstStyle/>
          <a:p>
            <a:pPr algn="l">
              <a:lnSpc>
                <a:spcPts val="1889"/>
              </a:lnSpc>
            </a:pPr>
            <a:r>
              <a:rPr sz="1400" b="0" i="0">
                <a:solidFill>
                  <a:srgbClr val="0A2540"/>
                </a:solidFill>
                <a:latin typeface="DM Sans"/>
              </a:rPr>
              <a:t>In deze schoenen moet er steeds plaats zijn voor de opgelegde zooltherapie.</a:t>
            </a:r>
          </a:p>
        </p:txBody>
      </p:sp>
      <p:pic>
        <p:nvPicPr>
          <p:cNvPr id="34" name="Picture 33"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5" name="TextBox 34"/>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36" name="TextBox 35"/>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studieteam,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 name="TextBox 2"/>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4" name="TextBox 3"/>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beslissing 30 september 2026 · eCRF 25b, 28</a:t>
            </a:r>
          </a:p>
        </p:txBody>
      </p:sp>
      <p:sp>
        <p:nvSpPr>
          <p:cNvPr id="5" name="TextBox 4"/>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Eén week MoveMonitor, een norm op maat</a:t>
            </a:r>
          </a:p>
        </p:txBody>
      </p:sp>
      <p:pic>
        <p:nvPicPr>
          <p:cNvPr id="6" name="Picture 5" descr="c3433b372cfc1d99d6ab11119954a595.png"/>
          <p:cNvPicPr>
            <a:picLocks noChangeAspect="1"/>
          </p:cNvPicPr>
          <p:nvPr/>
        </p:nvPicPr>
        <p:blipFill>
          <a:blip r:embed="rId4"/>
          <a:stretch>
            <a:fillRect/>
          </a:stretch>
        </p:blipFill>
        <p:spPr>
          <a:xfrm>
            <a:off x="812800" y="1847850"/>
            <a:ext cx="254000" cy="184150"/>
          </a:xfrm>
          <a:prstGeom prst="rect">
            <a:avLst/>
          </a:prstGeom>
        </p:spPr>
      </p:pic>
      <p:sp>
        <p:nvSpPr>
          <p:cNvPr id="7" name="TextBox 6"/>
          <p:cNvSpPr txBox="1"/>
          <p:nvPr/>
        </p:nvSpPr>
        <p:spPr>
          <a:xfrm>
            <a:off x="1130300" y="1847850"/>
            <a:ext cx="2690812" cy="184150"/>
          </a:xfrm>
          <a:prstGeom prst="rect">
            <a:avLst/>
          </a:prstGeom>
          <a:noFill/>
        </p:spPr>
        <p:txBody>
          <a:bodyPr wrap="none" lIns="0" tIns="0" rIns="0" bIns="0" anchor="t">
            <a:noAutofit/>
          </a:bodyPr>
          <a:lstStyle/>
          <a:p>
            <a:pPr algn="l"/>
            <a:r>
              <a:rPr sz="1100" b="1" i="0">
                <a:solidFill>
                  <a:srgbClr val="0B6E8F"/>
                </a:solidFill>
                <a:latin typeface="DM Sans"/>
              </a:rPr>
              <a:t>01 · Bij de start: één week MoveMonitor</a:t>
            </a:r>
          </a:p>
        </p:txBody>
      </p:sp>
      <p:sp>
        <p:nvSpPr>
          <p:cNvPr id="8" name="Rectangle 7"/>
          <p:cNvSpPr/>
          <p:nvPr/>
        </p:nvSpPr>
        <p:spPr>
          <a:xfrm>
            <a:off x="812800" y="2108200"/>
            <a:ext cx="6826250" cy="533400"/>
          </a:xfrm>
          <a:prstGeom prst="rect">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52500" y="2277070"/>
            <a:ext cx="1196777" cy="195580"/>
          </a:xfrm>
          <a:prstGeom prst="rect">
            <a:avLst/>
          </a:prstGeom>
          <a:noFill/>
        </p:spPr>
        <p:txBody>
          <a:bodyPr wrap="none" lIns="0" tIns="0" rIns="0" bIns="0" anchor="t">
            <a:noAutofit/>
          </a:bodyPr>
          <a:lstStyle/>
          <a:p>
            <a:pPr algn="l">
              <a:lnSpc>
                <a:spcPts val="1540"/>
              </a:lnSpc>
            </a:pPr>
            <a:r>
              <a:rPr sz="1400" b="1" i="0">
                <a:solidFill>
                  <a:srgbClr val="FFFFFF"/>
                </a:solidFill>
                <a:latin typeface="DM Sans"/>
              </a:rPr>
              <a:t>wakker 15,5 u</a:t>
            </a:r>
          </a:p>
        </p:txBody>
      </p:sp>
      <p:sp>
        <p:nvSpPr>
          <p:cNvPr id="10" name="Rectangle 9"/>
          <p:cNvSpPr/>
          <p:nvPr/>
        </p:nvSpPr>
        <p:spPr>
          <a:xfrm>
            <a:off x="7639050" y="2108200"/>
            <a:ext cx="3740150" cy="5334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778750" y="2277070"/>
            <a:ext cx="977404" cy="195580"/>
          </a:xfrm>
          <a:prstGeom prst="rect">
            <a:avLst/>
          </a:prstGeom>
          <a:noFill/>
        </p:spPr>
        <p:txBody>
          <a:bodyPr wrap="none" lIns="0" tIns="0" rIns="0" bIns="0" anchor="t">
            <a:noAutofit/>
          </a:bodyPr>
          <a:lstStyle/>
          <a:p>
            <a:pPr algn="l">
              <a:lnSpc>
                <a:spcPts val="1540"/>
              </a:lnSpc>
            </a:pPr>
            <a:r>
              <a:rPr sz="1400" b="1" i="0">
                <a:solidFill>
                  <a:srgbClr val="3A4F63"/>
                </a:solidFill>
                <a:latin typeface="DM Sans"/>
              </a:rPr>
              <a:t>slaap 8,5 u</a:t>
            </a:r>
          </a:p>
        </p:txBody>
      </p:sp>
      <p:sp>
        <p:nvSpPr>
          <p:cNvPr id="12" name="TextBox 11"/>
          <p:cNvSpPr txBox="1"/>
          <p:nvPr/>
        </p:nvSpPr>
        <p:spPr>
          <a:xfrm>
            <a:off x="812800" y="2717800"/>
            <a:ext cx="575171" cy="184150"/>
          </a:xfrm>
          <a:prstGeom prst="rect">
            <a:avLst/>
          </a:prstGeom>
          <a:noFill/>
        </p:spPr>
        <p:txBody>
          <a:bodyPr wrap="none" lIns="0" tIns="0" rIns="0" bIns="0" anchor="t">
            <a:noAutofit/>
          </a:bodyPr>
          <a:lstStyle/>
          <a:p>
            <a:pPr algn="l"/>
            <a:r>
              <a:rPr sz="1100" b="0" i="0">
                <a:solidFill>
                  <a:srgbClr val="5A6E80"/>
                </a:solidFill>
                <a:latin typeface="DM Sans"/>
              </a:rPr>
              <a:t>opstaan</a:t>
            </a:r>
          </a:p>
        </p:txBody>
      </p:sp>
      <p:sp>
        <p:nvSpPr>
          <p:cNvPr id="13" name="TextBox 12"/>
          <p:cNvSpPr txBox="1"/>
          <p:nvPr/>
        </p:nvSpPr>
        <p:spPr>
          <a:xfrm>
            <a:off x="6904633" y="2717800"/>
            <a:ext cx="785217" cy="184150"/>
          </a:xfrm>
          <a:prstGeom prst="rect">
            <a:avLst/>
          </a:prstGeom>
          <a:noFill/>
        </p:spPr>
        <p:txBody>
          <a:bodyPr wrap="none" lIns="0" tIns="0" rIns="0" bIns="0" anchor="t">
            <a:noAutofit/>
          </a:bodyPr>
          <a:lstStyle/>
          <a:p>
            <a:pPr algn="l"/>
            <a:r>
              <a:rPr sz="1100" b="0" i="0">
                <a:solidFill>
                  <a:srgbClr val="5A6E80"/>
                </a:solidFill>
                <a:latin typeface="DM Sans"/>
              </a:rPr>
              <a:t>slapengaan</a:t>
            </a:r>
          </a:p>
        </p:txBody>
      </p:sp>
      <p:sp>
        <p:nvSpPr>
          <p:cNvPr id="14" name="TextBox 13"/>
          <p:cNvSpPr txBox="1"/>
          <p:nvPr/>
        </p:nvSpPr>
        <p:spPr>
          <a:xfrm>
            <a:off x="812800" y="3136900"/>
            <a:ext cx="10617200" cy="184150"/>
          </a:xfrm>
          <a:prstGeom prst="rect">
            <a:avLst/>
          </a:prstGeom>
          <a:noFill/>
        </p:spPr>
        <p:txBody>
          <a:bodyPr wrap="none" lIns="0" tIns="0" rIns="0" bIns="0" anchor="t">
            <a:noAutofit/>
          </a:bodyPr>
          <a:lstStyle/>
          <a:p>
            <a:pPr algn="l"/>
            <a:r>
              <a:rPr sz="1100" b="1" i="0">
                <a:solidFill>
                  <a:srgbClr val="0B6E8F"/>
                </a:solidFill>
                <a:latin typeface="DM Sans"/>
              </a:rPr>
              <a:t>02 · De norm: 80% van die waaktijd, zeven dagen per week</a:t>
            </a:r>
          </a:p>
        </p:txBody>
      </p:sp>
      <p:sp>
        <p:nvSpPr>
          <p:cNvPr id="15" name="Rectangle 14"/>
          <p:cNvSpPr/>
          <p:nvPr/>
        </p:nvSpPr>
        <p:spPr>
          <a:xfrm>
            <a:off x="812800" y="3397250"/>
            <a:ext cx="5461000" cy="5334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52500" y="3566120"/>
            <a:ext cx="1801614" cy="195580"/>
          </a:xfrm>
          <a:prstGeom prst="rect">
            <a:avLst/>
          </a:prstGeom>
          <a:noFill/>
        </p:spPr>
        <p:txBody>
          <a:bodyPr wrap="none" lIns="0" tIns="0" rIns="0" bIns="0" anchor="t">
            <a:noAutofit/>
          </a:bodyPr>
          <a:lstStyle/>
          <a:p>
            <a:pPr algn="l">
              <a:lnSpc>
                <a:spcPts val="1540"/>
              </a:lnSpc>
            </a:pPr>
            <a:r>
              <a:rPr sz="1400" b="1" i="0">
                <a:solidFill>
                  <a:srgbClr val="FFFFFF"/>
                </a:solidFill>
                <a:latin typeface="DM Sans"/>
              </a:rPr>
              <a:t>schoeisel aan: 12,4 u</a:t>
            </a:r>
          </a:p>
        </p:txBody>
      </p:sp>
      <p:sp>
        <p:nvSpPr>
          <p:cNvPr id="17" name="Rectangle 16"/>
          <p:cNvSpPr/>
          <p:nvPr/>
        </p:nvSpPr>
        <p:spPr>
          <a:xfrm>
            <a:off x="6273800" y="3397250"/>
            <a:ext cx="1365250" cy="127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626350" y="3397250"/>
            <a:ext cx="12700" cy="5334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73800" y="3917950"/>
            <a:ext cx="1365250" cy="127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12800" y="415925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2800" y="5753100"/>
            <a:ext cx="1955800" cy="292100"/>
          </a:xfrm>
          <a:prstGeom prst="rect">
            <a:avLst/>
          </a:prstGeom>
          <a:noFill/>
        </p:spPr>
        <p:txBody>
          <a:bodyPr wrap="none" lIns="0" tIns="0" rIns="0" bIns="0" anchor="t">
            <a:noAutofit/>
          </a:bodyPr>
          <a:lstStyle/>
          <a:p>
            <a:pPr algn="l"/>
            <a:r>
              <a:rPr sz="1750" b="1" i="0">
                <a:solidFill>
                  <a:srgbClr val="A34A00"/>
                </a:solidFill>
                <a:latin typeface="DM Sans"/>
              </a:rPr>
              <a:t>Wat verandert</a:t>
            </a:r>
          </a:p>
        </p:txBody>
      </p:sp>
      <p:sp>
        <p:nvSpPr>
          <p:cNvPr id="22" name="TextBox 21"/>
          <p:cNvSpPr txBox="1"/>
          <p:nvPr/>
        </p:nvSpPr>
        <p:spPr>
          <a:xfrm>
            <a:off x="2535436" y="5734050"/>
            <a:ext cx="8534400" cy="300038"/>
          </a:xfrm>
          <a:prstGeom prst="rect">
            <a:avLst/>
          </a:prstGeom>
          <a:noFill/>
        </p:spPr>
        <p:txBody>
          <a:bodyPr wrap="none" lIns="0" tIns="0" rIns="0" bIns="0" anchor="t">
            <a:noAutofit/>
          </a:bodyPr>
          <a:lstStyle/>
          <a:p>
            <a:pPr algn="l">
              <a:lnSpc>
                <a:spcPts val="2362"/>
              </a:lnSpc>
            </a:pPr>
            <a:r>
              <a:rPr sz="1750" b="0" i="0">
                <a:solidFill>
                  <a:srgbClr val="0A2540"/>
                </a:solidFill>
                <a:latin typeface="DM Sans"/>
              </a:rPr>
              <a:t>De meetweek op maand 6 vervalt: minder werk voor uw team.</a:t>
            </a:r>
          </a:p>
        </p:txBody>
      </p:sp>
      <p:pic>
        <p:nvPicPr>
          <p:cNvPr id="23" name="Picture 22" descr="c3433b372cfc1d99d6ab11119954a595.png"/>
          <p:cNvPicPr>
            <a:picLocks noChangeAspect="1"/>
          </p:cNvPicPr>
          <p:nvPr/>
        </p:nvPicPr>
        <p:blipFill>
          <a:blip r:embed="rId4"/>
          <a:stretch>
            <a:fillRect/>
          </a:stretch>
        </p:blipFill>
        <p:spPr>
          <a:xfrm>
            <a:off x="9627592" y="391517"/>
            <a:ext cx="2205236" cy="1642467"/>
          </a:xfrm>
          <a:prstGeom prst="rect">
            <a:avLst/>
          </a:prstGeom>
        </p:spPr>
      </p:pic>
      <p:sp>
        <p:nvSpPr>
          <p:cNvPr id="24" name="Rectangle 23"/>
          <p:cNvSpPr/>
          <p:nvPr/>
        </p:nvSpPr>
        <p:spPr>
          <a:xfrm>
            <a:off x="6273800" y="3409950"/>
            <a:ext cx="1365250" cy="127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626350" y="3409950"/>
            <a:ext cx="12700" cy="5334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73800" y="3930650"/>
            <a:ext cx="1365250" cy="127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12800" y="4993084"/>
            <a:ext cx="1955800" cy="184150"/>
          </a:xfrm>
          <a:prstGeom prst="rect">
            <a:avLst/>
          </a:prstGeom>
          <a:noFill/>
        </p:spPr>
        <p:txBody>
          <a:bodyPr wrap="none" lIns="0" tIns="0" rIns="0" bIns="0" anchor="t">
            <a:noAutofit/>
          </a:bodyPr>
          <a:lstStyle/>
          <a:p>
            <a:pPr algn="l"/>
            <a:r>
              <a:rPr sz="1100" b="1" i="0">
                <a:solidFill>
                  <a:srgbClr val="0B6E8F"/>
                </a:solidFill>
                <a:latin typeface="DM Sans"/>
              </a:rPr>
              <a:t>03 · De boodschap</a:t>
            </a:r>
          </a:p>
        </p:txBody>
      </p:sp>
      <p:sp>
        <p:nvSpPr>
          <p:cNvPr id="28" name="TextBox 27"/>
          <p:cNvSpPr txBox="1"/>
          <p:nvPr/>
        </p:nvSpPr>
        <p:spPr>
          <a:xfrm>
            <a:off x="2269034" y="4894957"/>
            <a:ext cx="10617200" cy="317500"/>
          </a:xfrm>
          <a:prstGeom prst="rect">
            <a:avLst/>
          </a:prstGeom>
          <a:noFill/>
        </p:spPr>
        <p:txBody>
          <a:bodyPr wrap="none" lIns="0" tIns="0" rIns="0" bIns="0" anchor="t">
            <a:noAutofit/>
          </a:bodyPr>
          <a:lstStyle/>
          <a:p>
            <a:pPr algn="l">
              <a:lnSpc>
                <a:spcPts val="2500"/>
              </a:lnSpc>
            </a:pPr>
            <a:r>
              <a:rPr sz="2000" b="0" i="1">
                <a:solidFill>
                  <a:srgbClr val="0A2540"/>
                </a:solidFill>
                <a:latin typeface="DM Serif Display"/>
              </a:rPr>
              <a:t>“U draagt uw schoenen altijd, van het moment dat u opstaat tot u gaat slapen.”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De 80% komt uit één studie</a:t>
            </a:r>
          </a:p>
        </p:txBody>
      </p:sp>
      <p:sp>
        <p:nvSpPr>
          <p:cNvPr id="4" name="Rectangle 3"/>
          <p:cNvSpPr/>
          <p:nvPr/>
        </p:nvSpPr>
        <p:spPr>
          <a:xfrm>
            <a:off x="812800" y="1544241"/>
            <a:ext cx="5428357"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2800" y="1683941"/>
            <a:ext cx="5479157" cy="184150"/>
          </a:xfrm>
          <a:prstGeom prst="rect">
            <a:avLst/>
          </a:prstGeom>
          <a:noFill/>
        </p:spPr>
        <p:txBody>
          <a:bodyPr wrap="none" lIns="0" tIns="0" rIns="0" bIns="0" anchor="t">
            <a:noAutofit/>
          </a:bodyPr>
          <a:lstStyle/>
          <a:p>
            <a:pPr algn="l"/>
            <a:r>
              <a:rPr sz="1100" b="1" i="0">
                <a:solidFill>
                  <a:srgbClr val="0B6E8F"/>
                </a:solidFill>
                <a:latin typeface="DM Sans"/>
              </a:rPr>
              <a:t>DIAFOS · Bus e.a. 2013</a:t>
            </a:r>
          </a:p>
        </p:txBody>
      </p:sp>
      <p:sp>
        <p:nvSpPr>
          <p:cNvPr id="6" name="TextBox 5"/>
          <p:cNvSpPr txBox="1"/>
          <p:nvPr/>
        </p:nvSpPr>
        <p:spPr>
          <a:xfrm>
            <a:off x="812800" y="2007791"/>
            <a:ext cx="5479157" cy="363220"/>
          </a:xfrm>
          <a:prstGeom prst="rect">
            <a:avLst/>
          </a:prstGeom>
          <a:noFill/>
        </p:spPr>
        <p:txBody>
          <a:bodyPr wrap="none" lIns="0" tIns="0" rIns="0" bIns="0" anchor="t">
            <a:noAutofit/>
          </a:bodyPr>
          <a:lstStyle/>
          <a:p>
            <a:pPr algn="l">
              <a:lnSpc>
                <a:spcPts val="2860"/>
              </a:lnSpc>
            </a:pPr>
            <a:r>
              <a:rPr sz="2600" b="0" i="0">
                <a:solidFill>
                  <a:srgbClr val="0A2540"/>
                </a:solidFill>
                <a:latin typeface="DM Serif Display"/>
              </a:rPr>
              <a:t>80% van de stappen</a:t>
            </a:r>
          </a:p>
        </p:txBody>
      </p:sp>
      <p:sp>
        <p:nvSpPr>
          <p:cNvPr id="7" name="TextBox 6"/>
          <p:cNvSpPr txBox="1"/>
          <p:nvPr/>
        </p:nvSpPr>
        <p:spPr>
          <a:xfrm>
            <a:off x="812800" y="2510631"/>
            <a:ext cx="5479157"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vooraf gekozen om twee </a:t>
            </a:r>
            <a:r>
              <a:rPr sz="1400" b="1" i="0">
                <a:solidFill>
                  <a:srgbClr val="3A4F63"/>
                </a:solidFill>
                <a:latin typeface="DM Sans"/>
              </a:rPr>
              <a:t>even grote groepen</a:t>
            </a:r>
            <a:r>
              <a:rPr sz="1400" b="0" i="0">
                <a:solidFill>
                  <a:srgbClr val="3A4F63"/>
                </a:solidFill>
                <a:latin typeface="DM Sans"/>
              </a:rPr>
              <a:t> te maken</a:t>
            </a:r>
          </a:p>
        </p:txBody>
      </p:sp>
      <p:sp>
        <p:nvSpPr>
          <p:cNvPr id="8" name="Rectangle 7"/>
          <p:cNvSpPr/>
          <p:nvPr/>
        </p:nvSpPr>
        <p:spPr>
          <a:xfrm>
            <a:off x="812800" y="2890341"/>
            <a:ext cx="5428357"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3010991"/>
            <a:ext cx="5479157" cy="165100"/>
          </a:xfrm>
          <a:prstGeom prst="rect">
            <a:avLst/>
          </a:prstGeom>
          <a:noFill/>
        </p:spPr>
        <p:txBody>
          <a:bodyPr wrap="none" lIns="0" tIns="0" rIns="0" bIns="0" anchor="t">
            <a:noAutofit/>
          </a:bodyPr>
          <a:lstStyle/>
          <a:p>
            <a:pPr algn="l"/>
            <a:r>
              <a:rPr sz="1000" b="1" i="0">
                <a:solidFill>
                  <a:srgbClr val="5A6E80"/>
                </a:solidFill>
                <a:latin typeface="DM Sans"/>
              </a:rPr>
              <a:t>Recidief bij wie 80% haalde · n = 79</a:t>
            </a:r>
          </a:p>
        </p:txBody>
      </p:sp>
      <p:sp>
        <p:nvSpPr>
          <p:cNvPr id="10" name="TextBox 9"/>
          <p:cNvSpPr txBox="1"/>
          <p:nvPr/>
        </p:nvSpPr>
        <p:spPr>
          <a:xfrm>
            <a:off x="812800" y="3277691"/>
            <a:ext cx="5479157"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drukverlagend schoeisel</a:t>
            </a:r>
          </a:p>
        </p:txBody>
      </p:sp>
      <p:sp>
        <p:nvSpPr>
          <p:cNvPr id="11" name="Rounded Rectangle 10"/>
          <p:cNvSpPr/>
          <p:nvPr/>
        </p:nvSpPr>
        <p:spPr>
          <a:xfrm>
            <a:off x="812800" y="3524052"/>
            <a:ext cx="1416050" cy="254000"/>
          </a:xfrm>
          <a:prstGeom prst="roundRect">
            <a:avLst>
              <a:gd name="adj" fmla="val 2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330450" y="3511352"/>
            <a:ext cx="811907" cy="279400"/>
          </a:xfrm>
          <a:prstGeom prst="rect">
            <a:avLst/>
          </a:prstGeom>
          <a:noFill/>
        </p:spPr>
        <p:txBody>
          <a:bodyPr wrap="none" lIns="0" tIns="0" rIns="0" bIns="0" anchor="t">
            <a:noAutofit/>
          </a:bodyPr>
          <a:lstStyle/>
          <a:p>
            <a:pPr algn="l">
              <a:lnSpc>
                <a:spcPts val="2200"/>
              </a:lnSpc>
            </a:pPr>
            <a:r>
              <a:rPr sz="2200" b="0" i="0">
                <a:solidFill>
                  <a:srgbClr val="0A2540"/>
                </a:solidFill>
                <a:latin typeface="DM Serif Display"/>
              </a:rPr>
              <a:t>25,7%</a:t>
            </a:r>
          </a:p>
        </p:txBody>
      </p:sp>
      <p:sp>
        <p:nvSpPr>
          <p:cNvPr id="13" name="TextBox 12"/>
          <p:cNvSpPr txBox="1"/>
          <p:nvPr/>
        </p:nvSpPr>
        <p:spPr>
          <a:xfrm>
            <a:off x="812800" y="3892352"/>
            <a:ext cx="5479157"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gebruikelijke zorg</a:t>
            </a:r>
          </a:p>
        </p:txBody>
      </p:sp>
      <p:sp>
        <p:nvSpPr>
          <p:cNvPr id="14" name="Rounded Rectangle 13"/>
          <p:cNvSpPr/>
          <p:nvPr/>
        </p:nvSpPr>
        <p:spPr>
          <a:xfrm>
            <a:off x="812800" y="4138712"/>
            <a:ext cx="2628900" cy="254000"/>
          </a:xfrm>
          <a:prstGeom prst="roundRect">
            <a:avLst>
              <a:gd name="adj" fmla="val 20000"/>
            </a:avLst>
          </a:prstGeom>
          <a:solidFill>
            <a:srgbClr val="8FA3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543300" y="4126012"/>
            <a:ext cx="805259" cy="279400"/>
          </a:xfrm>
          <a:prstGeom prst="rect">
            <a:avLst/>
          </a:prstGeom>
          <a:noFill/>
        </p:spPr>
        <p:txBody>
          <a:bodyPr wrap="none" lIns="0" tIns="0" rIns="0" bIns="0" anchor="t">
            <a:noAutofit/>
          </a:bodyPr>
          <a:lstStyle/>
          <a:p>
            <a:pPr algn="l">
              <a:lnSpc>
                <a:spcPts val="2200"/>
              </a:lnSpc>
            </a:pPr>
            <a:r>
              <a:rPr sz="2200" b="0" i="0">
                <a:solidFill>
                  <a:srgbClr val="3A4F63"/>
                </a:solidFill>
                <a:latin typeface="DM Serif Display"/>
              </a:rPr>
              <a:t>47,8%</a:t>
            </a:r>
          </a:p>
        </p:txBody>
      </p:sp>
      <p:sp>
        <p:nvSpPr>
          <p:cNvPr id="16" name="Rectangle 15"/>
          <p:cNvSpPr/>
          <p:nvPr/>
        </p:nvSpPr>
        <p:spPr>
          <a:xfrm>
            <a:off x="6444357" y="1544241"/>
            <a:ext cx="4934843"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44357" y="1683941"/>
            <a:ext cx="4985643" cy="184150"/>
          </a:xfrm>
          <a:prstGeom prst="rect">
            <a:avLst/>
          </a:prstGeom>
          <a:noFill/>
        </p:spPr>
        <p:txBody>
          <a:bodyPr wrap="none" lIns="0" tIns="0" rIns="0" bIns="0" anchor="t">
            <a:noAutofit/>
          </a:bodyPr>
          <a:lstStyle/>
          <a:p>
            <a:pPr algn="l"/>
            <a:r>
              <a:rPr sz="1100" b="1" i="0">
                <a:solidFill>
                  <a:srgbClr val="0B6E8F"/>
                </a:solidFill>
                <a:latin typeface="DM Sans"/>
              </a:rPr>
              <a:t>Waaijman e.a. 2013 · 107 DIAFOS-patiënten</a:t>
            </a:r>
          </a:p>
        </p:txBody>
      </p:sp>
      <p:sp>
        <p:nvSpPr>
          <p:cNvPr id="18" name="TextBox 17"/>
          <p:cNvSpPr txBox="1"/>
          <p:nvPr/>
        </p:nvSpPr>
        <p:spPr>
          <a:xfrm>
            <a:off x="6444357" y="2007791"/>
            <a:ext cx="4985643" cy="363220"/>
          </a:xfrm>
          <a:prstGeom prst="rect">
            <a:avLst/>
          </a:prstGeom>
          <a:noFill/>
        </p:spPr>
        <p:txBody>
          <a:bodyPr wrap="none" lIns="0" tIns="0" rIns="0" bIns="0" anchor="t">
            <a:noAutofit/>
          </a:bodyPr>
          <a:lstStyle/>
          <a:p>
            <a:pPr algn="l">
              <a:lnSpc>
                <a:spcPts val="2860"/>
              </a:lnSpc>
            </a:pPr>
            <a:r>
              <a:rPr sz="2600" b="0" i="0">
                <a:solidFill>
                  <a:srgbClr val="0A2540"/>
                </a:solidFill>
                <a:latin typeface="DM Serif Display"/>
              </a:rPr>
              <a:t>Zelfde week, twee getallen</a:t>
            </a:r>
          </a:p>
        </p:txBody>
      </p:sp>
      <p:sp>
        <p:nvSpPr>
          <p:cNvPr id="19" name="TextBox 18"/>
          <p:cNvSpPr txBox="1"/>
          <p:nvPr/>
        </p:nvSpPr>
        <p:spPr>
          <a:xfrm>
            <a:off x="6444357" y="2510631"/>
            <a:ext cx="4985643"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dezelfde patiënten, dezelfde meetweek</a:t>
            </a:r>
          </a:p>
        </p:txBody>
      </p:sp>
      <p:sp>
        <p:nvSpPr>
          <p:cNvPr id="20" name="Rectangle 19"/>
          <p:cNvSpPr/>
          <p:nvPr/>
        </p:nvSpPr>
        <p:spPr>
          <a:xfrm>
            <a:off x="6444357" y="2890341"/>
            <a:ext cx="4934843"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44357" y="3010991"/>
            <a:ext cx="4985643" cy="165100"/>
          </a:xfrm>
          <a:prstGeom prst="rect">
            <a:avLst/>
          </a:prstGeom>
          <a:noFill/>
        </p:spPr>
        <p:txBody>
          <a:bodyPr wrap="none" lIns="0" tIns="0" rIns="0" bIns="0" anchor="t">
            <a:noAutofit/>
          </a:bodyPr>
          <a:lstStyle/>
          <a:p>
            <a:pPr algn="l"/>
            <a:r>
              <a:rPr sz="1000" b="1" i="0">
                <a:solidFill>
                  <a:srgbClr val="5A6E80"/>
                </a:solidFill>
                <a:latin typeface="DM Sans"/>
              </a:rPr>
              <a:t>Gemiddelde therapietrouw</a:t>
            </a:r>
          </a:p>
        </p:txBody>
      </p:sp>
      <p:sp>
        <p:nvSpPr>
          <p:cNvPr id="22" name="TextBox 21"/>
          <p:cNvSpPr txBox="1"/>
          <p:nvPr/>
        </p:nvSpPr>
        <p:spPr>
          <a:xfrm>
            <a:off x="6444357" y="3277691"/>
            <a:ext cx="4985643"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van alle stappen gezet in de schoen</a:t>
            </a:r>
          </a:p>
        </p:txBody>
      </p:sp>
      <p:sp>
        <p:nvSpPr>
          <p:cNvPr id="23" name="Rounded Rectangle 22"/>
          <p:cNvSpPr/>
          <p:nvPr/>
        </p:nvSpPr>
        <p:spPr>
          <a:xfrm>
            <a:off x="6444357" y="3524052"/>
            <a:ext cx="2120900" cy="254000"/>
          </a:xfrm>
          <a:prstGeom prst="roundRect">
            <a:avLst>
              <a:gd name="adj" fmla="val 2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666857" y="3511352"/>
            <a:ext cx="528638" cy="279400"/>
          </a:xfrm>
          <a:prstGeom prst="rect">
            <a:avLst/>
          </a:prstGeom>
          <a:noFill/>
        </p:spPr>
        <p:txBody>
          <a:bodyPr wrap="none" lIns="0" tIns="0" rIns="0" bIns="0" anchor="t">
            <a:noAutofit/>
          </a:bodyPr>
          <a:lstStyle/>
          <a:p>
            <a:pPr algn="l">
              <a:lnSpc>
                <a:spcPts val="2200"/>
              </a:lnSpc>
            </a:pPr>
            <a:r>
              <a:rPr sz="2200" b="0" i="0">
                <a:solidFill>
                  <a:srgbClr val="0A2540"/>
                </a:solidFill>
                <a:latin typeface="DM Serif Display"/>
              </a:rPr>
              <a:t>71%</a:t>
            </a:r>
          </a:p>
        </p:txBody>
      </p:sp>
      <p:sp>
        <p:nvSpPr>
          <p:cNvPr id="25" name="TextBox 24"/>
          <p:cNvSpPr txBox="1"/>
          <p:nvPr/>
        </p:nvSpPr>
        <p:spPr>
          <a:xfrm>
            <a:off x="6444357" y="3892352"/>
            <a:ext cx="4985643"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van een aangenomen dag van 16 uur (9,4 u gedragen)</a:t>
            </a:r>
          </a:p>
        </p:txBody>
      </p:sp>
      <p:sp>
        <p:nvSpPr>
          <p:cNvPr id="26" name="Rounded Rectangle 25"/>
          <p:cNvSpPr/>
          <p:nvPr/>
        </p:nvSpPr>
        <p:spPr>
          <a:xfrm>
            <a:off x="6444357" y="4138712"/>
            <a:ext cx="1758950" cy="254000"/>
          </a:xfrm>
          <a:prstGeom prst="roundRect">
            <a:avLst>
              <a:gd name="adj" fmla="val 20000"/>
            </a:avLst>
          </a:prstGeom>
          <a:solidFill>
            <a:srgbClr val="8FA3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304907" y="4126012"/>
            <a:ext cx="591443" cy="279400"/>
          </a:xfrm>
          <a:prstGeom prst="rect">
            <a:avLst/>
          </a:prstGeom>
          <a:noFill/>
        </p:spPr>
        <p:txBody>
          <a:bodyPr wrap="none" lIns="0" tIns="0" rIns="0" bIns="0" anchor="t">
            <a:noAutofit/>
          </a:bodyPr>
          <a:lstStyle/>
          <a:p>
            <a:pPr algn="l">
              <a:lnSpc>
                <a:spcPts val="2200"/>
              </a:lnSpc>
            </a:pPr>
            <a:r>
              <a:rPr sz="2200" b="0" i="0">
                <a:solidFill>
                  <a:srgbClr val="3A4F63"/>
                </a:solidFill>
                <a:latin typeface="DM Serif Display"/>
              </a:rPr>
              <a:t>59%</a:t>
            </a:r>
          </a:p>
        </p:txBody>
      </p:sp>
      <p:sp>
        <p:nvSpPr>
          <p:cNvPr id="28" name="TextBox 27"/>
          <p:cNvSpPr txBox="1"/>
          <p:nvPr/>
        </p:nvSpPr>
        <p:spPr>
          <a:xfrm>
            <a:off x="812800" y="4634012"/>
            <a:ext cx="10617200" cy="257175"/>
          </a:xfrm>
          <a:prstGeom prst="rect">
            <a:avLst/>
          </a:prstGeom>
          <a:noFill/>
        </p:spPr>
        <p:txBody>
          <a:bodyPr wrap="none" lIns="0" tIns="0" rIns="0" bIns="0" anchor="t">
            <a:noAutofit/>
          </a:bodyPr>
          <a:lstStyle/>
          <a:p>
            <a:pPr algn="l">
              <a:lnSpc>
                <a:spcPts val="2025"/>
              </a:lnSpc>
            </a:pPr>
            <a:r>
              <a:rPr sz="1500" b="0" i="0">
                <a:solidFill>
                  <a:srgbClr val="0A2540"/>
                </a:solidFill>
                <a:latin typeface="DM Sans"/>
              </a:rPr>
              <a:t>80% van de stappen is niet 80% van de dag. </a:t>
            </a:r>
            <a:r>
              <a:rPr sz="1500" b="1" i="0">
                <a:solidFill>
                  <a:srgbClr val="0A2540"/>
                </a:solidFill>
                <a:latin typeface="DM Sans"/>
              </a:rPr>
              <a:t>PARADISE rekent in uren van de gemeten waaktijd.</a:t>
            </a:r>
          </a:p>
        </p:txBody>
      </p:sp>
      <p:pic>
        <p:nvPicPr>
          <p:cNvPr id="29" name="Picture 28"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0" name="TextBox 29"/>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31" name="TextBox 30"/>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Bus e.a. 2013 (DIAFOS) · Waaijman e.a. 2013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4e287ae005ab9f8997461f000820af22.png"/>
          <p:cNvPicPr>
            <a:picLocks noChangeAspect="1"/>
          </p:cNvPicPr>
          <p:nvPr/>
        </p:nvPicPr>
        <p:blipFill>
          <a:blip r:embed="rId3"/>
          <a:stretch>
            <a:fillRect/>
          </a:stretch>
        </p:blipFill>
        <p:spPr>
          <a:xfrm>
            <a:off x="7874000" y="0"/>
            <a:ext cx="6388100" cy="7302500"/>
          </a:xfrm>
          <a:prstGeom prst="rect">
            <a:avLst/>
          </a:prstGeom>
        </p:spPr>
      </p:pic>
      <p:sp>
        <p:nvSpPr>
          <p:cNvPr id="3" name="Rounded Rectangle 2"/>
          <p:cNvSpPr/>
          <p:nvPr/>
        </p:nvSpPr>
        <p:spPr>
          <a:xfrm>
            <a:off x="8128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4fe31fe826e2a686c44b2a9df6f4ec34.png"/>
          <p:cNvPicPr>
            <a:picLocks noChangeAspect="1"/>
          </p:cNvPicPr>
          <p:nvPr/>
        </p:nvPicPr>
        <p:blipFill>
          <a:blip r:embed="rId4"/>
          <a:stretch>
            <a:fillRect/>
          </a:stretch>
        </p:blipFill>
        <p:spPr>
          <a:xfrm>
            <a:off x="819150" y="1847850"/>
            <a:ext cx="2476500" cy="1393031"/>
          </a:xfrm>
          <a:prstGeom prst="rect">
            <a:avLst/>
          </a:prstGeom>
        </p:spPr>
      </p:pic>
      <p:sp>
        <p:nvSpPr>
          <p:cNvPr id="5" name="Rounded Rectangle 4"/>
          <p:cNvSpPr/>
          <p:nvPr/>
        </p:nvSpPr>
        <p:spPr>
          <a:xfrm>
            <a:off x="8128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128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1 Stand van zaken</a:t>
            </a:r>
          </a:p>
        </p:txBody>
      </p:sp>
      <p:sp>
        <p:nvSpPr>
          <p:cNvPr id="7" name="Rounded Rectangle 6"/>
          <p:cNvSpPr/>
          <p:nvPr/>
        </p:nvSpPr>
        <p:spPr>
          <a:xfrm>
            <a:off x="35052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af6c315e3b6c8da4983f797f076543ae.png"/>
          <p:cNvPicPr>
            <a:picLocks noChangeAspect="1"/>
          </p:cNvPicPr>
          <p:nvPr/>
        </p:nvPicPr>
        <p:blipFill>
          <a:blip r:embed="rId5"/>
          <a:stretch>
            <a:fillRect/>
          </a:stretch>
        </p:blipFill>
        <p:spPr>
          <a:xfrm>
            <a:off x="3511550" y="1847850"/>
            <a:ext cx="2476500" cy="1393031"/>
          </a:xfrm>
          <a:prstGeom prst="rect">
            <a:avLst/>
          </a:prstGeom>
        </p:spPr>
      </p:pic>
      <p:sp>
        <p:nvSpPr>
          <p:cNvPr id="9" name="Rounded Rectangle 8"/>
          <p:cNvSpPr/>
          <p:nvPr/>
        </p:nvSpPr>
        <p:spPr>
          <a:xfrm>
            <a:off x="35052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5052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2 Ontwikkelingen sinds 1 april</a:t>
            </a:r>
          </a:p>
        </p:txBody>
      </p:sp>
      <p:pic>
        <p:nvPicPr>
          <p:cNvPr id="11" name="Picture 10" descr="78e1c08c648ea238ba766890b863e925.png"/>
          <p:cNvPicPr>
            <a:picLocks noChangeAspect="1"/>
          </p:cNvPicPr>
          <p:nvPr/>
        </p:nvPicPr>
        <p:blipFill>
          <a:blip r:embed="rId6"/>
          <a:stretch>
            <a:fillRect/>
          </a:stretch>
        </p:blipFill>
        <p:spPr>
          <a:xfrm>
            <a:off x="6375400" y="1663700"/>
            <a:ext cx="2133600" cy="1200150"/>
          </a:xfrm>
          <a:prstGeom prst="rect">
            <a:avLst/>
          </a:prstGeom>
        </p:spPr>
      </p:pic>
      <p:pic>
        <p:nvPicPr>
          <p:cNvPr id="12" name="Picture 11" descr="1936b300a323b1d5fafa4319ba1396a7.png"/>
          <p:cNvPicPr>
            <a:picLocks noChangeAspect="1"/>
          </p:cNvPicPr>
          <p:nvPr/>
        </p:nvPicPr>
        <p:blipFill>
          <a:blip r:embed="rId7"/>
          <a:stretch>
            <a:fillRect/>
          </a:stretch>
        </p:blipFill>
        <p:spPr>
          <a:xfrm>
            <a:off x="6286500" y="1752600"/>
            <a:ext cx="2311400" cy="1301750"/>
          </a:xfrm>
          <a:prstGeom prst="rect">
            <a:avLst/>
          </a:prstGeom>
        </p:spPr>
      </p:pic>
      <p:sp>
        <p:nvSpPr>
          <p:cNvPr id="13" name="Rounded Rectangle 12"/>
          <p:cNvSpPr/>
          <p:nvPr/>
        </p:nvSpPr>
        <p:spPr>
          <a:xfrm>
            <a:off x="6197600" y="1841500"/>
            <a:ext cx="2489200" cy="1397000"/>
          </a:xfrm>
          <a:prstGeom prst="roundRect">
            <a:avLst>
              <a:gd name="adj" fmla="val 1363"/>
            </a:avLst>
          </a:prstGeom>
          <a:solidFill>
            <a:srgbClr val="FFFFFF"/>
          </a:solidFill>
          <a:ln w="1905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b3575449de919ba8ba77497cf770d56b.png"/>
          <p:cNvPicPr>
            <a:picLocks noChangeAspect="1"/>
          </p:cNvPicPr>
          <p:nvPr/>
        </p:nvPicPr>
        <p:blipFill>
          <a:blip r:embed="rId8"/>
          <a:stretch>
            <a:fillRect/>
          </a:stretch>
        </p:blipFill>
        <p:spPr>
          <a:xfrm>
            <a:off x="6216650" y="1860550"/>
            <a:ext cx="2451100" cy="1378744"/>
          </a:xfrm>
          <a:prstGeom prst="rect">
            <a:avLst/>
          </a:prstGeom>
        </p:spPr>
      </p:pic>
      <p:sp>
        <p:nvSpPr>
          <p:cNvPr id="15" name="TextBox 14"/>
          <p:cNvSpPr txBox="1"/>
          <p:nvPr/>
        </p:nvSpPr>
        <p:spPr>
          <a:xfrm>
            <a:off x="6197600" y="3327400"/>
            <a:ext cx="2540000" cy="213360"/>
          </a:xfrm>
          <a:prstGeom prst="rect">
            <a:avLst/>
          </a:prstGeom>
          <a:noFill/>
        </p:spPr>
        <p:txBody>
          <a:bodyPr wrap="none" lIns="0" tIns="0" rIns="0" bIns="0" anchor="t">
            <a:noAutofit/>
          </a:bodyPr>
          <a:lstStyle/>
          <a:p>
            <a:pPr algn="l">
              <a:lnSpc>
                <a:spcPts val="1680"/>
              </a:lnSpc>
            </a:pPr>
            <a:r>
              <a:rPr sz="1400" b="0" i="0">
                <a:solidFill>
                  <a:srgbClr val="A34A00"/>
                </a:solidFill>
                <a:latin typeface="DM Sans"/>
              </a:rPr>
              <a:t>3 Werkpakketten</a:t>
            </a:r>
          </a:p>
        </p:txBody>
      </p:sp>
      <p:sp>
        <p:nvSpPr>
          <p:cNvPr id="16" name="Rounded Rectangle 15"/>
          <p:cNvSpPr/>
          <p:nvPr/>
        </p:nvSpPr>
        <p:spPr>
          <a:xfrm>
            <a:off x="88900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76718c0faffa53b3e96d91bd5d17d843.png"/>
          <p:cNvPicPr>
            <a:picLocks noChangeAspect="1"/>
          </p:cNvPicPr>
          <p:nvPr/>
        </p:nvPicPr>
        <p:blipFill>
          <a:blip r:embed="rId9"/>
          <a:stretch>
            <a:fillRect/>
          </a:stretch>
        </p:blipFill>
        <p:spPr>
          <a:xfrm>
            <a:off x="8896350" y="1847850"/>
            <a:ext cx="2476500" cy="1393031"/>
          </a:xfrm>
          <a:prstGeom prst="rect">
            <a:avLst/>
          </a:prstGeom>
        </p:spPr>
      </p:pic>
      <p:sp>
        <p:nvSpPr>
          <p:cNvPr id="18" name="TextBox 17"/>
          <p:cNvSpPr txBox="1"/>
          <p:nvPr/>
        </p:nvSpPr>
        <p:spPr>
          <a:xfrm>
            <a:off x="8890000" y="33274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4 Aandachtspunten</a:t>
            </a:r>
          </a:p>
        </p:txBody>
      </p:sp>
      <p:pic>
        <p:nvPicPr>
          <p:cNvPr id="19" name="Picture 18" descr="0a62dff855207c43a1c6690d0e4c697a.png"/>
          <p:cNvPicPr>
            <a:picLocks noChangeAspect="1"/>
          </p:cNvPicPr>
          <p:nvPr/>
        </p:nvPicPr>
        <p:blipFill>
          <a:blip r:embed="rId10"/>
          <a:stretch>
            <a:fillRect/>
          </a:stretch>
        </p:blipFill>
        <p:spPr>
          <a:xfrm>
            <a:off x="2336800" y="3937000"/>
            <a:ext cx="2133600" cy="1200150"/>
          </a:xfrm>
          <a:prstGeom prst="rect">
            <a:avLst/>
          </a:prstGeom>
        </p:spPr>
      </p:pic>
      <p:pic>
        <p:nvPicPr>
          <p:cNvPr id="20" name="Picture 19" descr="993f9ef2261edfc6639be1e2fe47b272.png"/>
          <p:cNvPicPr>
            <a:picLocks noChangeAspect="1"/>
          </p:cNvPicPr>
          <p:nvPr/>
        </p:nvPicPr>
        <p:blipFill>
          <a:blip r:embed="rId11"/>
          <a:stretch>
            <a:fillRect/>
          </a:stretch>
        </p:blipFill>
        <p:spPr>
          <a:xfrm>
            <a:off x="2247900" y="4025900"/>
            <a:ext cx="2311400" cy="1301750"/>
          </a:xfrm>
          <a:prstGeom prst="rect">
            <a:avLst/>
          </a:prstGeom>
        </p:spPr>
      </p:pic>
      <p:sp>
        <p:nvSpPr>
          <p:cNvPr id="21" name="Rounded Rectangle 20"/>
          <p:cNvSpPr/>
          <p:nvPr/>
        </p:nvSpPr>
        <p:spPr>
          <a:xfrm>
            <a:off x="21590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c828e07bbef239086018a2f6a17a466c.png"/>
          <p:cNvPicPr>
            <a:picLocks noChangeAspect="1"/>
          </p:cNvPicPr>
          <p:nvPr/>
        </p:nvPicPr>
        <p:blipFill>
          <a:blip r:embed="rId12"/>
          <a:stretch>
            <a:fillRect/>
          </a:stretch>
        </p:blipFill>
        <p:spPr>
          <a:xfrm>
            <a:off x="2165350" y="4121150"/>
            <a:ext cx="2476500" cy="1393031"/>
          </a:xfrm>
          <a:prstGeom prst="rect">
            <a:avLst/>
          </a:prstGeom>
        </p:spPr>
      </p:pic>
      <p:sp>
        <p:nvSpPr>
          <p:cNvPr id="23" name="TextBox 22"/>
          <p:cNvSpPr txBox="1"/>
          <p:nvPr/>
        </p:nvSpPr>
        <p:spPr>
          <a:xfrm>
            <a:off x="21590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5 Mijlpalen en planning</a:t>
            </a:r>
          </a:p>
        </p:txBody>
      </p:sp>
      <p:pic>
        <p:nvPicPr>
          <p:cNvPr id="24" name="Picture 23" descr="dad1d5849a0f54ecab7e2a87be32dc30.png"/>
          <p:cNvPicPr>
            <a:picLocks noChangeAspect="1"/>
          </p:cNvPicPr>
          <p:nvPr/>
        </p:nvPicPr>
        <p:blipFill>
          <a:blip r:embed="rId13"/>
          <a:stretch>
            <a:fillRect/>
          </a:stretch>
        </p:blipFill>
        <p:spPr>
          <a:xfrm>
            <a:off x="4940300" y="4025900"/>
            <a:ext cx="2311400" cy="1301750"/>
          </a:xfrm>
          <a:prstGeom prst="rect">
            <a:avLst/>
          </a:prstGeom>
        </p:spPr>
      </p:pic>
      <p:sp>
        <p:nvSpPr>
          <p:cNvPr id="25" name="Rounded Rectangle 24"/>
          <p:cNvSpPr/>
          <p:nvPr/>
        </p:nvSpPr>
        <p:spPr>
          <a:xfrm>
            <a:off x="48514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a218f23a9d1aeae7790db2aa9d8f48a7.png"/>
          <p:cNvPicPr>
            <a:picLocks noChangeAspect="1"/>
          </p:cNvPicPr>
          <p:nvPr/>
        </p:nvPicPr>
        <p:blipFill>
          <a:blip r:embed="rId14"/>
          <a:stretch>
            <a:fillRect/>
          </a:stretch>
        </p:blipFill>
        <p:spPr>
          <a:xfrm>
            <a:off x="4857750" y="4121150"/>
            <a:ext cx="2476500" cy="1393031"/>
          </a:xfrm>
          <a:prstGeom prst="rect">
            <a:avLst/>
          </a:prstGeom>
        </p:spPr>
      </p:pic>
      <p:sp>
        <p:nvSpPr>
          <p:cNvPr id="27" name="TextBox 26"/>
          <p:cNvSpPr txBox="1"/>
          <p:nvPr/>
        </p:nvSpPr>
        <p:spPr>
          <a:xfrm>
            <a:off x="48514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6 Bespreking</a:t>
            </a:r>
          </a:p>
        </p:txBody>
      </p:sp>
      <p:pic>
        <p:nvPicPr>
          <p:cNvPr id="28" name="Picture 27" descr="e49a2c4874452277a94494e99280aaa0.png"/>
          <p:cNvPicPr>
            <a:picLocks noChangeAspect="1"/>
          </p:cNvPicPr>
          <p:nvPr/>
        </p:nvPicPr>
        <p:blipFill>
          <a:blip r:embed="rId15"/>
          <a:stretch>
            <a:fillRect/>
          </a:stretch>
        </p:blipFill>
        <p:spPr>
          <a:xfrm>
            <a:off x="7632700" y="4025900"/>
            <a:ext cx="2311400" cy="1301750"/>
          </a:xfrm>
          <a:prstGeom prst="rect">
            <a:avLst/>
          </a:prstGeom>
        </p:spPr>
      </p:pic>
      <p:sp>
        <p:nvSpPr>
          <p:cNvPr id="29" name="Rounded Rectangle 28"/>
          <p:cNvSpPr/>
          <p:nvPr/>
        </p:nvSpPr>
        <p:spPr>
          <a:xfrm>
            <a:off x="75438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Picture 29" descr="0b3315c9a761b9fd4dfcb184751fa8ea.png"/>
          <p:cNvPicPr>
            <a:picLocks noChangeAspect="1"/>
          </p:cNvPicPr>
          <p:nvPr/>
        </p:nvPicPr>
        <p:blipFill>
          <a:blip r:embed="rId16"/>
          <a:stretch>
            <a:fillRect/>
          </a:stretch>
        </p:blipFill>
        <p:spPr>
          <a:xfrm>
            <a:off x="7550150" y="4121150"/>
            <a:ext cx="2476500" cy="1393031"/>
          </a:xfrm>
          <a:prstGeom prst="rect">
            <a:avLst/>
          </a:prstGeom>
        </p:spPr>
      </p:pic>
      <p:sp>
        <p:nvSpPr>
          <p:cNvPr id="31" name="TextBox 30"/>
          <p:cNvSpPr txBox="1"/>
          <p:nvPr/>
        </p:nvSpPr>
        <p:spPr>
          <a:xfrm>
            <a:off x="75438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7 Tour de table</a:t>
            </a:r>
          </a:p>
        </p:txBody>
      </p:sp>
      <p:sp>
        <p:nvSpPr>
          <p:cNvPr id="32" name="TextBox 3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we vandaag overlopen</a:t>
            </a:r>
          </a:p>
        </p:txBody>
      </p:sp>
      <p:pic>
        <p:nvPicPr>
          <p:cNvPr id="33" name="Picture 32" descr="ec5c93e6f83f209b4e97ddfdecd480c8.png"/>
          <p:cNvPicPr>
            <a:picLocks noChangeAspect="1"/>
          </p:cNvPicPr>
          <p:nvPr/>
        </p:nvPicPr>
        <p:blipFill>
          <a:blip r:embed="rId17"/>
          <a:stretch>
            <a:fillRect/>
          </a:stretch>
        </p:blipFill>
        <p:spPr>
          <a:xfrm>
            <a:off x="812967" y="6261100"/>
            <a:ext cx="171116" cy="203200"/>
          </a:xfrm>
          <a:prstGeom prst="rect">
            <a:avLst/>
          </a:prstGeom>
        </p:spPr>
      </p:pic>
      <p:sp>
        <p:nvSpPr>
          <p:cNvPr id="34" name="TextBox 33"/>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5A6E80"/>
                </a:solidFill>
                <a:latin typeface="DM Sans"/>
              </a:rPr>
              <a:t>PARADISE · kick-off 12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955800" cy="5029200"/>
          </a:xfrm>
          <a:prstGeom prst="rect">
            <a:avLst/>
          </a:prstGeom>
          <a:noFill/>
        </p:spPr>
        <p:txBody>
          <a:bodyPr wrap="square" lIns="0" tIns="0" rIns="0" bIns="0" anchor="t">
            <a:noAutofit/>
          </a:bodyPr>
          <a:lstStyle/>
          <a:p>
            <a:pPr algn="l">
              <a:lnSpc>
                <a:spcPts val="16200"/>
              </a:lnSpc>
            </a:pPr>
            <a:r>
              <a:rPr sz="18000" b="0" i="0">
                <a:solidFill>
                  <a:srgbClr val="FF9A3D"/>
                </a:solidFill>
                <a:latin typeface="DM Serif Display"/>
              </a:rPr>
              <a:t>3</a:t>
            </a:r>
          </a:p>
        </p:txBody>
      </p:sp>
      <p:sp>
        <p:nvSpPr>
          <p:cNvPr id="4" name="TextBox 3"/>
          <p:cNvSpPr txBox="1"/>
          <p:nvPr/>
        </p:nvSpPr>
        <p:spPr>
          <a:xfrm>
            <a:off x="3327400" y="812800"/>
            <a:ext cx="8102600" cy="215900"/>
          </a:xfrm>
          <a:prstGeom prst="rect">
            <a:avLst/>
          </a:prstGeom>
          <a:noFill/>
        </p:spPr>
        <p:txBody>
          <a:bodyPr wrap="none" lIns="0" tIns="0" rIns="0" bIns="0" anchor="t">
            <a:noAutofit/>
          </a:bodyPr>
          <a:lstStyle/>
          <a:p>
            <a:pPr algn="l"/>
            <a:r>
              <a:rPr sz="1300" b="1" i="0">
                <a:solidFill>
                  <a:srgbClr val="52BDEC"/>
                </a:solidFill>
                <a:latin typeface="DM Sans"/>
              </a:rPr>
              <a:t>Deel 3 van 7</a:t>
            </a:r>
          </a:p>
        </p:txBody>
      </p:sp>
      <p:sp>
        <p:nvSpPr>
          <p:cNvPr id="5" name="TextBox 4"/>
          <p:cNvSpPr txBox="1"/>
          <p:nvPr/>
        </p:nvSpPr>
        <p:spPr>
          <a:xfrm>
            <a:off x="3327400" y="1206500"/>
            <a:ext cx="8102600" cy="586740"/>
          </a:xfrm>
          <a:prstGeom prst="rect">
            <a:avLst/>
          </a:prstGeom>
          <a:noFill/>
        </p:spPr>
        <p:txBody>
          <a:bodyPr wrap="none" lIns="0" tIns="0" rIns="0" bIns="0" anchor="t">
            <a:noAutofit/>
          </a:bodyPr>
          <a:lstStyle/>
          <a:p>
            <a:pPr algn="l">
              <a:lnSpc>
                <a:spcPts val="4620"/>
              </a:lnSpc>
            </a:pPr>
            <a:r>
              <a:rPr sz="4400" b="0" i="0" spc="-50">
                <a:solidFill>
                  <a:srgbClr val="F2F8FC"/>
                </a:solidFill>
                <a:latin typeface="DM Serif Display"/>
              </a:rPr>
              <a:t>Werkpakketten</a:t>
            </a:r>
          </a:p>
        </p:txBody>
      </p:sp>
      <p:sp>
        <p:nvSpPr>
          <p:cNvPr id="6" name="TextBox 5"/>
          <p:cNvSpPr txBox="1"/>
          <p:nvPr/>
        </p:nvSpPr>
        <p:spPr>
          <a:xfrm>
            <a:off x="3327400" y="1970980"/>
            <a:ext cx="8102600" cy="335280"/>
          </a:xfrm>
          <a:prstGeom prst="rect">
            <a:avLst/>
          </a:prstGeom>
          <a:noFill/>
        </p:spPr>
        <p:txBody>
          <a:bodyPr wrap="none" lIns="0" tIns="0" rIns="0" bIns="0" anchor="t">
            <a:noAutofit/>
          </a:bodyPr>
          <a:lstStyle/>
          <a:p>
            <a:pPr algn="l">
              <a:lnSpc>
                <a:spcPts val="2640"/>
              </a:lnSpc>
            </a:pPr>
            <a:r>
              <a:rPr sz="2200" b="0" i="1">
                <a:solidFill>
                  <a:srgbClr val="52BDEC"/>
                </a:solidFill>
                <a:latin typeface="DM Serif Display"/>
              </a:rPr>
              <a:t>Wat verandert er in uw kliniek?</a:t>
            </a:r>
          </a:p>
        </p:txBody>
      </p:sp>
      <p:sp>
        <p:nvSpPr>
          <p:cNvPr id="7" name="Rectangle 6"/>
          <p:cNvSpPr/>
          <p:nvPr/>
        </p:nvSpPr>
        <p:spPr>
          <a:xfrm>
            <a:off x="3327400" y="3152378"/>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27400" y="3247628"/>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vijf werkpakketten, één studie</a:t>
            </a:r>
          </a:p>
        </p:txBody>
      </p:sp>
      <p:sp>
        <p:nvSpPr>
          <p:cNvPr id="9" name="Rectangle 8"/>
          <p:cNvSpPr/>
          <p:nvPr/>
        </p:nvSpPr>
        <p:spPr>
          <a:xfrm>
            <a:off x="3327400" y="3600648"/>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27400" y="3695898"/>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het traject, visite per visite</a:t>
            </a:r>
          </a:p>
        </p:txBody>
      </p:sp>
      <p:sp>
        <p:nvSpPr>
          <p:cNvPr id="11" name="Rectangle 10"/>
          <p:cNvSpPr/>
          <p:nvPr/>
        </p:nvSpPr>
        <p:spPr>
          <a:xfrm>
            <a:off x="3327400" y="404891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27400" y="414416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SEBIA, en hoe uw team het leert</a:t>
            </a:r>
          </a:p>
        </p:txBody>
      </p:sp>
      <p:sp>
        <p:nvSpPr>
          <p:cNvPr id="13" name="Rectangle 12"/>
          <p:cNvSpPr/>
          <p:nvPr/>
        </p:nvSpPr>
        <p:spPr>
          <a:xfrm>
            <a:off x="3327400" y="449718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27400" y="459243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procesevaluatie en gezondheidseconomie</a:t>
            </a:r>
          </a:p>
        </p:txBody>
      </p:sp>
      <p:sp>
        <p:nvSpPr>
          <p:cNvPr id="15" name="Rectangle 14"/>
          <p:cNvSpPr/>
          <p:nvPr/>
        </p:nvSpPr>
        <p:spPr>
          <a:xfrm>
            <a:off x="3327400" y="494545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27400" y="504070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wie in aanmerking komt</a:t>
            </a:r>
          </a:p>
        </p:txBody>
      </p:sp>
      <p:sp>
        <p:nvSpPr>
          <p:cNvPr id="17" name="Rectangle 16"/>
          <p:cNvSpPr/>
          <p:nvPr/>
        </p:nvSpPr>
        <p:spPr>
          <a:xfrm>
            <a:off x="3327400" y="5393730"/>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327400" y="5488980"/>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bij een nieuwe wonde</a:t>
            </a:r>
          </a:p>
        </p:txBody>
      </p:sp>
      <p:pic>
        <p:nvPicPr>
          <p:cNvPr id="19" name="Picture 18"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20" name="TextBox 19"/>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6F8FAA"/>
                </a:solidFill>
                <a:latin typeface="DM Sans"/>
              </a:rPr>
              <a:t>PARADISE · Werkpakketten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812800" y="1568450"/>
            <a:ext cx="1943100" cy="19558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Vijf werkpakketten, één studie</a:t>
            </a:r>
          </a:p>
        </p:txBody>
      </p:sp>
      <p:sp>
        <p:nvSpPr>
          <p:cNvPr id="4" name="Rectangle 3"/>
          <p:cNvSpPr/>
          <p:nvPr/>
        </p:nvSpPr>
        <p:spPr>
          <a:xfrm>
            <a:off x="812800" y="1569641"/>
            <a:ext cx="1941711" cy="19050"/>
          </a:xfrm>
          <a:prstGeom prst="rect">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2800" y="1715691"/>
            <a:ext cx="1992511" cy="198120"/>
          </a:xfrm>
          <a:prstGeom prst="rect">
            <a:avLst/>
          </a:prstGeom>
          <a:noFill/>
        </p:spPr>
        <p:txBody>
          <a:bodyPr wrap="none" lIns="0" tIns="0" rIns="0" bIns="0" anchor="t">
            <a:noAutofit/>
          </a:bodyPr>
          <a:lstStyle/>
          <a:p>
            <a:pPr algn="l"/>
            <a:r>
              <a:rPr sz="1200" b="0" i="0">
                <a:solidFill>
                  <a:srgbClr val="0B6E8F"/>
                </a:solidFill>
                <a:latin typeface="DM Sans"/>
              </a:rPr>
              <a:t>WP1</a:t>
            </a:r>
          </a:p>
        </p:txBody>
      </p:sp>
      <p:sp>
        <p:nvSpPr>
          <p:cNvPr id="6" name="TextBox 5"/>
          <p:cNvSpPr txBox="1"/>
          <p:nvPr/>
        </p:nvSpPr>
        <p:spPr>
          <a:xfrm>
            <a:off x="812800" y="1976041"/>
            <a:ext cx="1992511" cy="251460"/>
          </a:xfrm>
          <a:prstGeom prst="rect">
            <a:avLst/>
          </a:prstGeom>
          <a:noFill/>
        </p:spPr>
        <p:txBody>
          <a:bodyPr wrap="none" lIns="0" tIns="0" rIns="0" bIns="0" anchor="t">
            <a:noAutofit/>
          </a:bodyPr>
          <a:lstStyle/>
          <a:p>
            <a:pPr algn="l">
              <a:lnSpc>
                <a:spcPts val="1980"/>
              </a:lnSpc>
            </a:pPr>
            <a:r>
              <a:rPr sz="1800" b="0" i="0">
                <a:solidFill>
                  <a:srgbClr val="0A2540"/>
                </a:solidFill>
                <a:latin typeface="DM Serif Display"/>
              </a:rPr>
              <a:t>De klinische studie</a:t>
            </a:r>
          </a:p>
        </p:txBody>
      </p:sp>
      <p:sp>
        <p:nvSpPr>
          <p:cNvPr id="7" name="TextBox 6"/>
          <p:cNvSpPr txBox="1"/>
          <p:nvPr/>
        </p:nvSpPr>
        <p:spPr>
          <a:xfrm>
            <a:off x="812800" y="2290961"/>
            <a:ext cx="1992511" cy="198120"/>
          </a:xfrm>
          <a:prstGeom prst="rect">
            <a:avLst/>
          </a:prstGeom>
          <a:noFill/>
        </p:spPr>
        <p:txBody>
          <a:bodyPr wrap="none" lIns="0" tIns="0" rIns="0" bIns="0" anchor="t">
            <a:noAutofit/>
          </a:bodyPr>
          <a:lstStyle/>
          <a:p>
            <a:pPr algn="l">
              <a:lnSpc>
                <a:spcPts val="1560"/>
              </a:lnSpc>
            </a:pPr>
            <a:r>
              <a:rPr sz="1200" b="0" i="0">
                <a:solidFill>
                  <a:srgbClr val="5A6E80"/>
                </a:solidFill>
                <a:latin typeface="DM Sans"/>
              </a:rPr>
              <a:t>studieteam KU Leuven</a:t>
            </a:r>
          </a:p>
        </p:txBody>
      </p:sp>
      <p:sp>
        <p:nvSpPr>
          <p:cNvPr id="8" name="Rectangle 7"/>
          <p:cNvSpPr/>
          <p:nvPr/>
        </p:nvSpPr>
        <p:spPr>
          <a:xfrm>
            <a:off x="812800" y="2552502"/>
            <a:ext cx="1941711"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2635052"/>
            <a:ext cx="1992511" cy="445691"/>
          </a:xfrm>
          <a:prstGeom prst="rect">
            <a:avLst/>
          </a:prstGeom>
          <a:noFill/>
        </p:spPr>
        <p:txBody>
          <a:bodyPr wrap="square" lIns="0" tIns="0" rIns="0" bIns="0" anchor="t">
            <a:noAutofit/>
          </a:bodyPr>
          <a:lstStyle/>
          <a:p>
            <a:pPr algn="l">
              <a:lnSpc>
                <a:spcPts val="1755"/>
              </a:lnSpc>
            </a:pPr>
            <a:r>
              <a:rPr sz="1300" b="0" i="0">
                <a:solidFill>
                  <a:srgbClr val="3A4F63"/>
                </a:solidFill>
                <a:latin typeface="DM Sans"/>
              </a:rPr>
              <a:t>Protocol en eCRF's klaar; opleiding, piloot, inclusie</a:t>
            </a:r>
          </a:p>
        </p:txBody>
      </p:sp>
      <p:sp>
        <p:nvSpPr>
          <p:cNvPr id="10" name="Rectangle 9"/>
          <p:cNvSpPr/>
          <p:nvPr/>
        </p:nvSpPr>
        <p:spPr>
          <a:xfrm>
            <a:off x="2881511" y="1569641"/>
            <a:ext cx="194181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81511" y="1709341"/>
            <a:ext cx="1992610" cy="198120"/>
          </a:xfrm>
          <a:prstGeom prst="rect">
            <a:avLst/>
          </a:prstGeom>
          <a:noFill/>
        </p:spPr>
        <p:txBody>
          <a:bodyPr wrap="none" lIns="0" tIns="0" rIns="0" bIns="0" anchor="t">
            <a:noAutofit/>
          </a:bodyPr>
          <a:lstStyle/>
          <a:p>
            <a:pPr algn="l"/>
            <a:r>
              <a:rPr sz="1200" b="0" i="0">
                <a:solidFill>
                  <a:srgbClr val="0B6E8F"/>
                </a:solidFill>
                <a:latin typeface="DM Sans"/>
              </a:rPr>
              <a:t>WP2</a:t>
            </a:r>
          </a:p>
        </p:txBody>
      </p:sp>
      <p:sp>
        <p:nvSpPr>
          <p:cNvPr id="12" name="TextBox 11"/>
          <p:cNvSpPr txBox="1"/>
          <p:nvPr/>
        </p:nvSpPr>
        <p:spPr>
          <a:xfrm>
            <a:off x="2881511" y="1969691"/>
            <a:ext cx="1992610" cy="251460"/>
          </a:xfrm>
          <a:prstGeom prst="rect">
            <a:avLst/>
          </a:prstGeom>
          <a:noFill/>
        </p:spPr>
        <p:txBody>
          <a:bodyPr wrap="none" lIns="0" tIns="0" rIns="0" bIns="0" anchor="t">
            <a:noAutofit/>
          </a:bodyPr>
          <a:lstStyle/>
          <a:p>
            <a:pPr algn="l">
              <a:lnSpc>
                <a:spcPts val="1980"/>
              </a:lnSpc>
            </a:pPr>
            <a:r>
              <a:rPr sz="1800" b="0" i="0">
                <a:solidFill>
                  <a:srgbClr val="0A2540"/>
                </a:solidFill>
                <a:latin typeface="DM Serif Display"/>
              </a:rPr>
              <a:t>Procesevaluatie</a:t>
            </a:r>
          </a:p>
        </p:txBody>
      </p:sp>
      <p:sp>
        <p:nvSpPr>
          <p:cNvPr id="13" name="TextBox 12"/>
          <p:cNvSpPr txBox="1"/>
          <p:nvPr/>
        </p:nvSpPr>
        <p:spPr>
          <a:xfrm>
            <a:off x="2881511" y="2284611"/>
            <a:ext cx="1992610" cy="198120"/>
          </a:xfrm>
          <a:prstGeom prst="rect">
            <a:avLst/>
          </a:prstGeom>
          <a:noFill/>
        </p:spPr>
        <p:txBody>
          <a:bodyPr wrap="none" lIns="0" tIns="0" rIns="0" bIns="0" anchor="t">
            <a:noAutofit/>
          </a:bodyPr>
          <a:lstStyle/>
          <a:p>
            <a:pPr algn="l">
              <a:lnSpc>
                <a:spcPts val="1560"/>
              </a:lnSpc>
            </a:pPr>
            <a:r>
              <a:rPr sz="1200" b="0" i="0">
                <a:solidFill>
                  <a:srgbClr val="5A6E80"/>
                </a:solidFill>
                <a:latin typeface="DM Sans"/>
              </a:rPr>
              <a:t>Maaike Fobelets, VUB</a:t>
            </a:r>
          </a:p>
        </p:txBody>
      </p:sp>
      <p:sp>
        <p:nvSpPr>
          <p:cNvPr id="14" name="Rectangle 13"/>
          <p:cNvSpPr/>
          <p:nvPr/>
        </p:nvSpPr>
        <p:spPr>
          <a:xfrm>
            <a:off x="2881511" y="2546152"/>
            <a:ext cx="194181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881511" y="2628702"/>
            <a:ext cx="1992610" cy="445691"/>
          </a:xfrm>
          <a:prstGeom prst="rect">
            <a:avLst/>
          </a:prstGeom>
          <a:noFill/>
        </p:spPr>
        <p:txBody>
          <a:bodyPr wrap="square" lIns="0" tIns="0" rIns="0" bIns="0" anchor="t">
            <a:noAutofit/>
          </a:bodyPr>
          <a:lstStyle/>
          <a:p>
            <a:pPr algn="l">
              <a:lnSpc>
                <a:spcPts val="1755"/>
              </a:lnSpc>
            </a:pPr>
            <a:r>
              <a:rPr sz="1300" b="0" i="0">
                <a:solidFill>
                  <a:srgbClr val="3A4F63"/>
                </a:solidFill>
                <a:latin typeface="DM Sans"/>
              </a:rPr>
              <a:t>Opnames, interviews, fidelity van SEBIA</a:t>
            </a:r>
          </a:p>
        </p:txBody>
      </p:sp>
      <p:sp>
        <p:nvSpPr>
          <p:cNvPr id="16" name="Rectangle 15"/>
          <p:cNvSpPr/>
          <p:nvPr/>
        </p:nvSpPr>
        <p:spPr>
          <a:xfrm>
            <a:off x="4950321" y="1569641"/>
            <a:ext cx="2291259"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50321" y="1709341"/>
            <a:ext cx="2342059" cy="198120"/>
          </a:xfrm>
          <a:prstGeom prst="rect">
            <a:avLst/>
          </a:prstGeom>
          <a:noFill/>
        </p:spPr>
        <p:txBody>
          <a:bodyPr wrap="none" lIns="0" tIns="0" rIns="0" bIns="0" anchor="t">
            <a:noAutofit/>
          </a:bodyPr>
          <a:lstStyle/>
          <a:p>
            <a:pPr algn="l"/>
            <a:r>
              <a:rPr sz="1200" b="0" i="0">
                <a:solidFill>
                  <a:srgbClr val="0B6E8F"/>
                </a:solidFill>
                <a:latin typeface="DM Sans"/>
              </a:rPr>
              <a:t>WP3</a:t>
            </a:r>
          </a:p>
        </p:txBody>
      </p:sp>
      <p:sp>
        <p:nvSpPr>
          <p:cNvPr id="18" name="TextBox 17"/>
          <p:cNvSpPr txBox="1"/>
          <p:nvPr/>
        </p:nvSpPr>
        <p:spPr>
          <a:xfrm>
            <a:off x="4950321" y="1969691"/>
            <a:ext cx="2342059" cy="251460"/>
          </a:xfrm>
          <a:prstGeom prst="rect">
            <a:avLst/>
          </a:prstGeom>
          <a:noFill/>
        </p:spPr>
        <p:txBody>
          <a:bodyPr wrap="none" lIns="0" tIns="0" rIns="0" bIns="0" anchor="t">
            <a:noAutofit/>
          </a:bodyPr>
          <a:lstStyle/>
          <a:p>
            <a:pPr algn="l">
              <a:lnSpc>
                <a:spcPts val="1980"/>
              </a:lnSpc>
            </a:pPr>
            <a:r>
              <a:rPr sz="1800" b="0" i="0">
                <a:solidFill>
                  <a:srgbClr val="0A2540"/>
                </a:solidFill>
                <a:latin typeface="DM Serif Display"/>
              </a:rPr>
              <a:t>Gezondheidseconomie</a:t>
            </a:r>
          </a:p>
        </p:txBody>
      </p:sp>
      <p:sp>
        <p:nvSpPr>
          <p:cNvPr id="19" name="TextBox 18"/>
          <p:cNvSpPr txBox="1"/>
          <p:nvPr/>
        </p:nvSpPr>
        <p:spPr>
          <a:xfrm>
            <a:off x="4950321" y="2284611"/>
            <a:ext cx="2342059" cy="198120"/>
          </a:xfrm>
          <a:prstGeom prst="rect">
            <a:avLst/>
          </a:prstGeom>
          <a:noFill/>
        </p:spPr>
        <p:txBody>
          <a:bodyPr wrap="none" lIns="0" tIns="0" rIns="0" bIns="0" anchor="t">
            <a:noAutofit/>
          </a:bodyPr>
          <a:lstStyle/>
          <a:p>
            <a:pPr algn="l">
              <a:lnSpc>
                <a:spcPts val="1560"/>
              </a:lnSpc>
            </a:pPr>
            <a:r>
              <a:rPr sz="1200" b="0" i="0">
                <a:solidFill>
                  <a:srgbClr val="5A6E80"/>
                </a:solidFill>
                <a:latin typeface="DM Sans"/>
              </a:rPr>
              <a:t>Koen Putman, VUB</a:t>
            </a:r>
          </a:p>
        </p:txBody>
      </p:sp>
      <p:sp>
        <p:nvSpPr>
          <p:cNvPr id="20" name="Rectangle 19"/>
          <p:cNvSpPr/>
          <p:nvPr/>
        </p:nvSpPr>
        <p:spPr>
          <a:xfrm>
            <a:off x="4950321" y="2546152"/>
            <a:ext cx="2291259"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950321" y="2628702"/>
            <a:ext cx="2342059" cy="445691"/>
          </a:xfrm>
          <a:prstGeom prst="rect">
            <a:avLst/>
          </a:prstGeom>
          <a:noFill/>
        </p:spPr>
        <p:txBody>
          <a:bodyPr wrap="square" lIns="0" tIns="0" rIns="0" bIns="0" anchor="t">
            <a:noAutofit/>
          </a:bodyPr>
          <a:lstStyle/>
          <a:p>
            <a:pPr algn="l">
              <a:lnSpc>
                <a:spcPts val="1755"/>
              </a:lnSpc>
            </a:pPr>
            <a:r>
              <a:rPr sz="1300" b="0" i="0">
                <a:solidFill>
                  <a:srgbClr val="3A4F63"/>
                </a:solidFill>
                <a:latin typeface="DM Sans"/>
              </a:rPr>
              <a:t>Levenskwaliteit, zorggebruik, productiviteit</a:t>
            </a:r>
          </a:p>
        </p:txBody>
      </p:sp>
      <p:sp>
        <p:nvSpPr>
          <p:cNvPr id="22" name="Rectangle 21"/>
          <p:cNvSpPr/>
          <p:nvPr/>
        </p:nvSpPr>
        <p:spPr>
          <a:xfrm>
            <a:off x="7368580" y="1569641"/>
            <a:ext cx="194181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68580" y="1709341"/>
            <a:ext cx="1992610" cy="198120"/>
          </a:xfrm>
          <a:prstGeom prst="rect">
            <a:avLst/>
          </a:prstGeom>
          <a:noFill/>
        </p:spPr>
        <p:txBody>
          <a:bodyPr wrap="none" lIns="0" tIns="0" rIns="0" bIns="0" anchor="t">
            <a:noAutofit/>
          </a:bodyPr>
          <a:lstStyle/>
          <a:p>
            <a:pPr algn="l"/>
            <a:r>
              <a:rPr sz="1200" b="0" i="0">
                <a:solidFill>
                  <a:srgbClr val="0B6E8F"/>
                </a:solidFill>
                <a:latin typeface="DM Sans"/>
              </a:rPr>
              <a:t>WP4</a:t>
            </a:r>
          </a:p>
        </p:txBody>
      </p:sp>
      <p:sp>
        <p:nvSpPr>
          <p:cNvPr id="24" name="TextBox 23"/>
          <p:cNvSpPr txBox="1"/>
          <p:nvPr/>
        </p:nvSpPr>
        <p:spPr>
          <a:xfrm>
            <a:off x="7368580" y="1969691"/>
            <a:ext cx="1992610" cy="502841"/>
          </a:xfrm>
          <a:prstGeom prst="rect">
            <a:avLst/>
          </a:prstGeom>
          <a:noFill/>
        </p:spPr>
        <p:txBody>
          <a:bodyPr wrap="square" lIns="0" tIns="0" rIns="0" bIns="0" anchor="t">
            <a:noAutofit/>
          </a:bodyPr>
          <a:lstStyle/>
          <a:p>
            <a:pPr algn="l">
              <a:lnSpc>
                <a:spcPts val="1980"/>
              </a:lnSpc>
            </a:pPr>
            <a:r>
              <a:rPr sz="1800" b="0" i="0">
                <a:solidFill>
                  <a:srgbClr val="0A2540"/>
                </a:solidFill>
                <a:latin typeface="DM Serif Display"/>
              </a:rPr>
              <a:t>Project- en databeheer</a:t>
            </a:r>
          </a:p>
        </p:txBody>
      </p:sp>
      <p:sp>
        <p:nvSpPr>
          <p:cNvPr id="25" name="TextBox 24"/>
          <p:cNvSpPr txBox="1"/>
          <p:nvPr/>
        </p:nvSpPr>
        <p:spPr>
          <a:xfrm>
            <a:off x="7368580" y="2536031"/>
            <a:ext cx="1992610" cy="396081"/>
          </a:xfrm>
          <a:prstGeom prst="rect">
            <a:avLst/>
          </a:prstGeom>
          <a:noFill/>
        </p:spPr>
        <p:txBody>
          <a:bodyPr wrap="square" lIns="0" tIns="0" rIns="0" bIns="0" anchor="t">
            <a:noAutofit/>
          </a:bodyPr>
          <a:lstStyle/>
          <a:p>
            <a:pPr algn="l">
              <a:lnSpc>
                <a:spcPts val="1560"/>
              </a:lnSpc>
            </a:pPr>
            <a:r>
              <a:rPr sz="1200" b="0" i="0">
                <a:solidFill>
                  <a:srgbClr val="5A6E80"/>
                </a:solidFill>
                <a:latin typeface="DM Sans"/>
              </a:rPr>
              <a:t>Kevin Deschamps, KU Leuven</a:t>
            </a:r>
          </a:p>
        </p:txBody>
      </p:sp>
      <p:sp>
        <p:nvSpPr>
          <p:cNvPr id="26" name="Rectangle 25"/>
          <p:cNvSpPr/>
          <p:nvPr/>
        </p:nvSpPr>
        <p:spPr>
          <a:xfrm>
            <a:off x="7368580" y="2995612"/>
            <a:ext cx="194181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68580" y="3078162"/>
            <a:ext cx="1992610" cy="445691"/>
          </a:xfrm>
          <a:prstGeom prst="rect">
            <a:avLst/>
          </a:prstGeom>
          <a:noFill/>
        </p:spPr>
        <p:txBody>
          <a:bodyPr wrap="square" lIns="0" tIns="0" rIns="0" bIns="0" anchor="t">
            <a:noAutofit/>
          </a:bodyPr>
          <a:lstStyle/>
          <a:p>
            <a:pPr algn="l">
              <a:lnSpc>
                <a:spcPts val="1755"/>
              </a:lnSpc>
            </a:pPr>
            <a:r>
              <a:rPr sz="1300" b="0" i="0">
                <a:solidFill>
                  <a:srgbClr val="3A4F63"/>
                </a:solidFill>
                <a:latin typeface="DM Sans"/>
              </a:rPr>
              <a:t>REDCap, ManGO en de overlegorganen</a:t>
            </a:r>
          </a:p>
        </p:txBody>
      </p:sp>
      <p:sp>
        <p:nvSpPr>
          <p:cNvPr id="28" name="Rectangle 27"/>
          <p:cNvSpPr/>
          <p:nvPr/>
        </p:nvSpPr>
        <p:spPr>
          <a:xfrm>
            <a:off x="9437390" y="1569641"/>
            <a:ext cx="194181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37390" y="1709341"/>
            <a:ext cx="1992610" cy="198120"/>
          </a:xfrm>
          <a:prstGeom prst="rect">
            <a:avLst/>
          </a:prstGeom>
          <a:noFill/>
        </p:spPr>
        <p:txBody>
          <a:bodyPr wrap="none" lIns="0" tIns="0" rIns="0" bIns="0" anchor="t">
            <a:noAutofit/>
          </a:bodyPr>
          <a:lstStyle/>
          <a:p>
            <a:pPr algn="l"/>
            <a:r>
              <a:rPr sz="1200" b="0" i="0">
                <a:solidFill>
                  <a:srgbClr val="0B6E8F"/>
                </a:solidFill>
                <a:latin typeface="DM Sans"/>
              </a:rPr>
              <a:t>WP5</a:t>
            </a:r>
          </a:p>
        </p:txBody>
      </p:sp>
      <p:sp>
        <p:nvSpPr>
          <p:cNvPr id="30" name="TextBox 29"/>
          <p:cNvSpPr txBox="1"/>
          <p:nvPr/>
        </p:nvSpPr>
        <p:spPr>
          <a:xfrm>
            <a:off x="9437390" y="1969691"/>
            <a:ext cx="1992610" cy="251460"/>
          </a:xfrm>
          <a:prstGeom prst="rect">
            <a:avLst/>
          </a:prstGeom>
          <a:noFill/>
        </p:spPr>
        <p:txBody>
          <a:bodyPr wrap="none" lIns="0" tIns="0" rIns="0" bIns="0" anchor="t">
            <a:noAutofit/>
          </a:bodyPr>
          <a:lstStyle/>
          <a:p>
            <a:pPr algn="l">
              <a:lnSpc>
                <a:spcPts val="1980"/>
              </a:lnSpc>
            </a:pPr>
            <a:r>
              <a:rPr sz="1800" b="0" i="0">
                <a:solidFill>
                  <a:srgbClr val="0A2540"/>
                </a:solidFill>
                <a:latin typeface="DM Serif Display"/>
              </a:rPr>
              <a:t>Disseminatie</a:t>
            </a:r>
          </a:p>
        </p:txBody>
      </p:sp>
      <p:sp>
        <p:nvSpPr>
          <p:cNvPr id="31" name="Rectangle 30"/>
          <p:cNvSpPr/>
          <p:nvPr/>
        </p:nvSpPr>
        <p:spPr>
          <a:xfrm>
            <a:off x="9437390" y="2284611"/>
            <a:ext cx="194181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37390" y="2367161"/>
            <a:ext cx="1992610" cy="445691"/>
          </a:xfrm>
          <a:prstGeom prst="rect">
            <a:avLst/>
          </a:prstGeom>
          <a:noFill/>
        </p:spPr>
        <p:txBody>
          <a:bodyPr wrap="square" lIns="0" tIns="0" rIns="0" bIns="0" anchor="t">
            <a:noAutofit/>
          </a:bodyPr>
          <a:lstStyle/>
          <a:p>
            <a:pPr algn="l">
              <a:lnSpc>
                <a:spcPts val="1755"/>
              </a:lnSpc>
            </a:pPr>
            <a:r>
              <a:rPr sz="1300" b="0" i="0">
                <a:solidFill>
                  <a:srgbClr val="3A4F63"/>
                </a:solidFill>
                <a:latin typeface="DM Sans"/>
              </a:rPr>
              <a:t>Website, publicaties, communicatie</a:t>
            </a:r>
          </a:p>
        </p:txBody>
      </p:sp>
      <p:sp>
        <p:nvSpPr>
          <p:cNvPr id="33" name="TextBox 32"/>
          <p:cNvSpPr txBox="1"/>
          <p:nvPr/>
        </p:nvSpPr>
        <p:spPr>
          <a:xfrm>
            <a:off x="9437390" y="2876352"/>
            <a:ext cx="1992610" cy="594122"/>
          </a:xfrm>
          <a:prstGeom prst="rect">
            <a:avLst/>
          </a:prstGeom>
          <a:noFill/>
        </p:spPr>
        <p:txBody>
          <a:bodyPr wrap="square" lIns="0" tIns="0" rIns="0" bIns="0" anchor="t">
            <a:noAutofit/>
          </a:bodyPr>
          <a:lstStyle/>
          <a:p>
            <a:pPr algn="l">
              <a:lnSpc>
                <a:spcPts val="1560"/>
              </a:lnSpc>
            </a:pPr>
            <a:r>
              <a:rPr sz="1200" b="0" i="0">
                <a:solidFill>
                  <a:srgbClr val="A34A00"/>
                </a:solidFill>
                <a:latin typeface="DM Sans"/>
              </a:rPr>
              <a:t>Vandaag niet de focus: op de volgende meeting een plan van aanpak</a:t>
            </a:r>
          </a:p>
        </p:txBody>
      </p:sp>
      <p:pic>
        <p:nvPicPr>
          <p:cNvPr id="34" name="Picture 33"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5" name="TextBox 34"/>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Werkpakketten</a:t>
            </a:r>
          </a:p>
        </p:txBody>
      </p:sp>
      <p:sp>
        <p:nvSpPr>
          <p:cNvPr id="36" name="TextBox 35"/>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consortiummeeting 1 april 2026, dia 46 en 60–65 · eCRF-lijst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2635250" y="4648200"/>
            <a:ext cx="7219950" cy="57785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ounded Rectangle 2"/>
          <p:cNvSpPr/>
          <p:nvPr/>
        </p:nvSpPr>
        <p:spPr>
          <a:xfrm>
            <a:off x="9220200" y="889000"/>
            <a:ext cx="2159000" cy="4127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9194800" y="952500"/>
            <a:ext cx="2209800" cy="285750"/>
          </a:xfrm>
          <a:prstGeom prst="rect">
            <a:avLst/>
          </a:prstGeom>
          <a:noFill/>
        </p:spPr>
        <p:txBody>
          <a:bodyPr wrap="none" lIns="0" tIns="0" rIns="0" bIns="0" anchor="t">
            <a:noAutofit/>
          </a:bodyPr>
          <a:lstStyle/>
          <a:p>
            <a:pPr algn="ctr"/>
            <a:r>
              <a:rPr sz="1700" b="1" i="0">
                <a:solidFill>
                  <a:srgbClr val="F2F8FC"/>
                </a:solidFill>
                <a:latin typeface="DM Sans"/>
              </a:rPr>
              <a:t>Optimal Care</a:t>
            </a:r>
          </a:p>
        </p:txBody>
      </p:sp>
      <p:sp>
        <p:nvSpPr>
          <p:cNvPr id="5" name="TextBox 4"/>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Screening plus negen visites</a:t>
            </a:r>
          </a:p>
        </p:txBody>
      </p:sp>
      <p:sp>
        <p:nvSpPr>
          <p:cNvPr id="6" name="Rectangle 5"/>
          <p:cNvSpPr/>
          <p:nvPr/>
        </p:nvSpPr>
        <p:spPr>
          <a:xfrm>
            <a:off x="81280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2800" y="1518841"/>
            <a:ext cx="897830" cy="198120"/>
          </a:xfrm>
          <a:prstGeom prst="rect">
            <a:avLst/>
          </a:prstGeom>
          <a:noFill/>
        </p:spPr>
        <p:txBody>
          <a:bodyPr wrap="none" lIns="0" tIns="0" rIns="0" bIns="0" anchor="t">
            <a:noAutofit/>
          </a:bodyPr>
          <a:lstStyle/>
          <a:p>
            <a:pPr algn="l"/>
            <a:r>
              <a:rPr sz="1200" b="1" i="0">
                <a:solidFill>
                  <a:srgbClr val="0A2540"/>
                </a:solidFill>
                <a:latin typeface="DM Sans"/>
              </a:rPr>
              <a:t>Scr</a:t>
            </a:r>
          </a:p>
        </p:txBody>
      </p:sp>
      <p:sp>
        <p:nvSpPr>
          <p:cNvPr id="8" name="TextBox 7"/>
          <p:cNvSpPr txBox="1"/>
          <p:nvPr/>
        </p:nvSpPr>
        <p:spPr>
          <a:xfrm>
            <a:off x="812800" y="1741091"/>
            <a:ext cx="897830" cy="198120"/>
          </a:xfrm>
          <a:prstGeom prst="rect">
            <a:avLst/>
          </a:prstGeom>
          <a:noFill/>
        </p:spPr>
        <p:txBody>
          <a:bodyPr wrap="none" lIns="0" tIns="0" rIns="0" bIns="0" anchor="t">
            <a:noAutofit/>
          </a:bodyPr>
          <a:lstStyle/>
          <a:p>
            <a:pPr algn="l"/>
            <a:r>
              <a:rPr sz="1200" b="0" i="0">
                <a:solidFill>
                  <a:srgbClr val="5A6E80"/>
                </a:solidFill>
                <a:latin typeface="DM Sans"/>
              </a:rPr>
              <a:t>screening</a:t>
            </a:r>
          </a:p>
        </p:txBody>
      </p:sp>
      <p:sp>
        <p:nvSpPr>
          <p:cNvPr id="9" name="Rectangle 8"/>
          <p:cNvSpPr/>
          <p:nvPr/>
        </p:nvSpPr>
        <p:spPr>
          <a:xfrm>
            <a:off x="1723330"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723330" y="1518841"/>
            <a:ext cx="897930" cy="198120"/>
          </a:xfrm>
          <a:prstGeom prst="rect">
            <a:avLst/>
          </a:prstGeom>
          <a:noFill/>
        </p:spPr>
        <p:txBody>
          <a:bodyPr wrap="none" lIns="0" tIns="0" rIns="0" bIns="0" anchor="t">
            <a:noAutofit/>
          </a:bodyPr>
          <a:lstStyle/>
          <a:p>
            <a:pPr algn="l"/>
            <a:r>
              <a:rPr sz="1200" b="1" i="0">
                <a:solidFill>
                  <a:srgbClr val="0A2540"/>
                </a:solidFill>
                <a:latin typeface="DM Sans"/>
              </a:rPr>
              <a:t>V0</a:t>
            </a:r>
          </a:p>
        </p:txBody>
      </p:sp>
      <p:sp>
        <p:nvSpPr>
          <p:cNvPr id="11" name="TextBox 10"/>
          <p:cNvSpPr txBox="1"/>
          <p:nvPr/>
        </p:nvSpPr>
        <p:spPr>
          <a:xfrm>
            <a:off x="1723330" y="1741091"/>
            <a:ext cx="897930" cy="198120"/>
          </a:xfrm>
          <a:prstGeom prst="rect">
            <a:avLst/>
          </a:prstGeom>
          <a:noFill/>
        </p:spPr>
        <p:txBody>
          <a:bodyPr wrap="none" lIns="0" tIns="0" rIns="0" bIns="0" anchor="t">
            <a:noAutofit/>
          </a:bodyPr>
          <a:lstStyle/>
          <a:p>
            <a:pPr algn="l"/>
            <a:r>
              <a:rPr sz="1200" b="0" i="0">
                <a:solidFill>
                  <a:srgbClr val="5A6E80"/>
                </a:solidFill>
                <a:latin typeface="DM Sans"/>
              </a:rPr>
              <a:t>geschikt</a:t>
            </a:r>
          </a:p>
        </p:txBody>
      </p:sp>
      <p:sp>
        <p:nvSpPr>
          <p:cNvPr id="12" name="Rectangle 11"/>
          <p:cNvSpPr/>
          <p:nvPr/>
        </p:nvSpPr>
        <p:spPr>
          <a:xfrm>
            <a:off x="263396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33960" y="1518841"/>
            <a:ext cx="897830" cy="198120"/>
          </a:xfrm>
          <a:prstGeom prst="rect">
            <a:avLst/>
          </a:prstGeom>
          <a:noFill/>
        </p:spPr>
        <p:txBody>
          <a:bodyPr wrap="none" lIns="0" tIns="0" rIns="0" bIns="0" anchor="t">
            <a:noAutofit/>
          </a:bodyPr>
          <a:lstStyle/>
          <a:p>
            <a:pPr algn="l"/>
            <a:r>
              <a:rPr sz="1200" b="1" i="0">
                <a:solidFill>
                  <a:srgbClr val="0A2540"/>
                </a:solidFill>
                <a:latin typeface="DM Sans"/>
              </a:rPr>
              <a:t>V1</a:t>
            </a:r>
          </a:p>
        </p:txBody>
      </p:sp>
      <p:sp>
        <p:nvSpPr>
          <p:cNvPr id="14" name="TextBox 13"/>
          <p:cNvSpPr txBox="1"/>
          <p:nvPr/>
        </p:nvSpPr>
        <p:spPr>
          <a:xfrm>
            <a:off x="2633960" y="1741091"/>
            <a:ext cx="897830" cy="198120"/>
          </a:xfrm>
          <a:prstGeom prst="rect">
            <a:avLst/>
          </a:prstGeom>
          <a:noFill/>
        </p:spPr>
        <p:txBody>
          <a:bodyPr wrap="none" lIns="0" tIns="0" rIns="0" bIns="0" anchor="t">
            <a:noAutofit/>
          </a:bodyPr>
          <a:lstStyle/>
          <a:p>
            <a:pPr algn="l"/>
            <a:r>
              <a:rPr sz="1200" b="0" i="0">
                <a:solidFill>
                  <a:srgbClr val="5A6E80"/>
                </a:solidFill>
                <a:latin typeface="DM Sans"/>
              </a:rPr>
              <a:t>baseline</a:t>
            </a:r>
          </a:p>
        </p:txBody>
      </p:sp>
      <p:sp>
        <p:nvSpPr>
          <p:cNvPr id="15" name="Rectangle 14"/>
          <p:cNvSpPr/>
          <p:nvPr/>
        </p:nvSpPr>
        <p:spPr>
          <a:xfrm>
            <a:off x="3544491"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44491" y="1518841"/>
            <a:ext cx="897930" cy="198120"/>
          </a:xfrm>
          <a:prstGeom prst="rect">
            <a:avLst/>
          </a:prstGeom>
          <a:noFill/>
        </p:spPr>
        <p:txBody>
          <a:bodyPr wrap="none" lIns="0" tIns="0" rIns="0" bIns="0" anchor="t">
            <a:noAutofit/>
          </a:bodyPr>
          <a:lstStyle/>
          <a:p>
            <a:pPr algn="l"/>
            <a:r>
              <a:rPr sz="1200" b="1" i="0">
                <a:solidFill>
                  <a:srgbClr val="0A2540"/>
                </a:solidFill>
                <a:latin typeface="DM Sans"/>
              </a:rPr>
              <a:t>V2</a:t>
            </a:r>
          </a:p>
        </p:txBody>
      </p:sp>
      <p:sp>
        <p:nvSpPr>
          <p:cNvPr id="17" name="TextBox 16"/>
          <p:cNvSpPr txBox="1"/>
          <p:nvPr/>
        </p:nvSpPr>
        <p:spPr>
          <a:xfrm>
            <a:off x="3544491" y="1741091"/>
            <a:ext cx="897930" cy="198120"/>
          </a:xfrm>
          <a:prstGeom prst="rect">
            <a:avLst/>
          </a:prstGeom>
          <a:noFill/>
        </p:spPr>
        <p:txBody>
          <a:bodyPr wrap="none" lIns="0" tIns="0" rIns="0" bIns="0" anchor="t">
            <a:noAutofit/>
          </a:bodyPr>
          <a:lstStyle/>
          <a:p>
            <a:pPr algn="l"/>
            <a:r>
              <a:rPr sz="1200" b="0" i="0">
                <a:solidFill>
                  <a:srgbClr val="5A6E80"/>
                </a:solidFill>
                <a:latin typeface="DM Sans"/>
              </a:rPr>
              <a:t>14 d–1 m</a:t>
            </a:r>
          </a:p>
        </p:txBody>
      </p:sp>
      <p:sp>
        <p:nvSpPr>
          <p:cNvPr id="18" name="Rectangle 17"/>
          <p:cNvSpPr/>
          <p:nvPr/>
        </p:nvSpPr>
        <p:spPr>
          <a:xfrm>
            <a:off x="445512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55120" y="1518841"/>
            <a:ext cx="897830" cy="198120"/>
          </a:xfrm>
          <a:prstGeom prst="rect">
            <a:avLst/>
          </a:prstGeom>
          <a:noFill/>
        </p:spPr>
        <p:txBody>
          <a:bodyPr wrap="none" lIns="0" tIns="0" rIns="0" bIns="0" anchor="t">
            <a:noAutofit/>
          </a:bodyPr>
          <a:lstStyle/>
          <a:p>
            <a:pPr algn="l"/>
            <a:r>
              <a:rPr sz="1200" b="1" i="0">
                <a:solidFill>
                  <a:srgbClr val="0A2540"/>
                </a:solidFill>
                <a:latin typeface="DM Sans"/>
              </a:rPr>
              <a:t>V3</a:t>
            </a:r>
          </a:p>
        </p:txBody>
      </p:sp>
      <p:sp>
        <p:nvSpPr>
          <p:cNvPr id="20" name="TextBox 19"/>
          <p:cNvSpPr txBox="1"/>
          <p:nvPr/>
        </p:nvSpPr>
        <p:spPr>
          <a:xfrm>
            <a:off x="4455120" y="1741091"/>
            <a:ext cx="897830" cy="198120"/>
          </a:xfrm>
          <a:prstGeom prst="rect">
            <a:avLst/>
          </a:prstGeom>
          <a:noFill/>
        </p:spPr>
        <p:txBody>
          <a:bodyPr wrap="none" lIns="0" tIns="0" rIns="0" bIns="0" anchor="t">
            <a:noAutofit/>
          </a:bodyPr>
          <a:lstStyle/>
          <a:p>
            <a:pPr algn="l"/>
            <a:r>
              <a:rPr sz="1200" b="0" i="0">
                <a:solidFill>
                  <a:srgbClr val="5A6E80"/>
                </a:solidFill>
                <a:latin typeface="DM Sans"/>
              </a:rPr>
              <a:t>m 3</a:t>
            </a:r>
          </a:p>
        </p:txBody>
      </p:sp>
      <p:sp>
        <p:nvSpPr>
          <p:cNvPr id="21" name="Rectangle 20"/>
          <p:cNvSpPr/>
          <p:nvPr/>
        </p:nvSpPr>
        <p:spPr>
          <a:xfrm>
            <a:off x="5365651"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65651" y="1518841"/>
            <a:ext cx="897930" cy="198120"/>
          </a:xfrm>
          <a:prstGeom prst="rect">
            <a:avLst/>
          </a:prstGeom>
          <a:noFill/>
        </p:spPr>
        <p:txBody>
          <a:bodyPr wrap="none" lIns="0" tIns="0" rIns="0" bIns="0" anchor="t">
            <a:noAutofit/>
          </a:bodyPr>
          <a:lstStyle/>
          <a:p>
            <a:pPr algn="l"/>
            <a:r>
              <a:rPr sz="1200" b="1" i="0">
                <a:solidFill>
                  <a:srgbClr val="0A2540"/>
                </a:solidFill>
                <a:latin typeface="DM Sans"/>
              </a:rPr>
              <a:t>V4</a:t>
            </a:r>
          </a:p>
        </p:txBody>
      </p:sp>
      <p:sp>
        <p:nvSpPr>
          <p:cNvPr id="23" name="TextBox 22"/>
          <p:cNvSpPr txBox="1"/>
          <p:nvPr/>
        </p:nvSpPr>
        <p:spPr>
          <a:xfrm>
            <a:off x="5365651" y="1741091"/>
            <a:ext cx="897930" cy="198120"/>
          </a:xfrm>
          <a:prstGeom prst="rect">
            <a:avLst/>
          </a:prstGeom>
          <a:noFill/>
        </p:spPr>
        <p:txBody>
          <a:bodyPr wrap="none" lIns="0" tIns="0" rIns="0" bIns="0" anchor="t">
            <a:noAutofit/>
          </a:bodyPr>
          <a:lstStyle/>
          <a:p>
            <a:pPr algn="l"/>
            <a:r>
              <a:rPr sz="1200" b="0" i="0">
                <a:solidFill>
                  <a:srgbClr val="5A6E80"/>
                </a:solidFill>
                <a:latin typeface="DM Sans"/>
              </a:rPr>
              <a:t>m 6</a:t>
            </a:r>
          </a:p>
        </p:txBody>
      </p:sp>
      <p:sp>
        <p:nvSpPr>
          <p:cNvPr id="24" name="Rectangle 23"/>
          <p:cNvSpPr/>
          <p:nvPr/>
        </p:nvSpPr>
        <p:spPr>
          <a:xfrm>
            <a:off x="6276280"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76280" y="1518841"/>
            <a:ext cx="897930" cy="198120"/>
          </a:xfrm>
          <a:prstGeom prst="rect">
            <a:avLst/>
          </a:prstGeom>
          <a:noFill/>
        </p:spPr>
        <p:txBody>
          <a:bodyPr wrap="none" lIns="0" tIns="0" rIns="0" bIns="0" anchor="t">
            <a:noAutofit/>
          </a:bodyPr>
          <a:lstStyle/>
          <a:p>
            <a:pPr algn="l"/>
            <a:r>
              <a:rPr sz="1200" b="1" i="0">
                <a:solidFill>
                  <a:srgbClr val="0A2540"/>
                </a:solidFill>
                <a:latin typeface="DM Sans"/>
              </a:rPr>
              <a:t>V5</a:t>
            </a:r>
          </a:p>
        </p:txBody>
      </p:sp>
      <p:sp>
        <p:nvSpPr>
          <p:cNvPr id="26" name="TextBox 25"/>
          <p:cNvSpPr txBox="1"/>
          <p:nvPr/>
        </p:nvSpPr>
        <p:spPr>
          <a:xfrm>
            <a:off x="6276280" y="1741091"/>
            <a:ext cx="897930" cy="198120"/>
          </a:xfrm>
          <a:prstGeom prst="rect">
            <a:avLst/>
          </a:prstGeom>
          <a:noFill/>
        </p:spPr>
        <p:txBody>
          <a:bodyPr wrap="none" lIns="0" tIns="0" rIns="0" bIns="0" anchor="t">
            <a:noAutofit/>
          </a:bodyPr>
          <a:lstStyle/>
          <a:p>
            <a:pPr algn="l"/>
            <a:r>
              <a:rPr sz="1200" b="0" i="0">
                <a:solidFill>
                  <a:srgbClr val="5A6E80"/>
                </a:solidFill>
                <a:latin typeface="DM Sans"/>
              </a:rPr>
              <a:t>m 9</a:t>
            </a:r>
          </a:p>
        </p:txBody>
      </p:sp>
      <p:sp>
        <p:nvSpPr>
          <p:cNvPr id="27" name="Rectangle 26"/>
          <p:cNvSpPr/>
          <p:nvPr/>
        </p:nvSpPr>
        <p:spPr>
          <a:xfrm>
            <a:off x="718691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86910" y="1518841"/>
            <a:ext cx="897830" cy="198120"/>
          </a:xfrm>
          <a:prstGeom prst="rect">
            <a:avLst/>
          </a:prstGeom>
          <a:noFill/>
        </p:spPr>
        <p:txBody>
          <a:bodyPr wrap="none" lIns="0" tIns="0" rIns="0" bIns="0" anchor="t">
            <a:noAutofit/>
          </a:bodyPr>
          <a:lstStyle/>
          <a:p>
            <a:pPr algn="l"/>
            <a:r>
              <a:rPr sz="1200" b="1" i="0">
                <a:solidFill>
                  <a:srgbClr val="0A2540"/>
                </a:solidFill>
                <a:latin typeface="DM Sans"/>
              </a:rPr>
              <a:t>V6</a:t>
            </a:r>
          </a:p>
        </p:txBody>
      </p:sp>
      <p:sp>
        <p:nvSpPr>
          <p:cNvPr id="29" name="TextBox 28"/>
          <p:cNvSpPr txBox="1"/>
          <p:nvPr/>
        </p:nvSpPr>
        <p:spPr>
          <a:xfrm>
            <a:off x="7186910" y="1741091"/>
            <a:ext cx="897830" cy="198120"/>
          </a:xfrm>
          <a:prstGeom prst="rect">
            <a:avLst/>
          </a:prstGeom>
          <a:noFill/>
        </p:spPr>
        <p:txBody>
          <a:bodyPr wrap="none" lIns="0" tIns="0" rIns="0" bIns="0" anchor="t">
            <a:noAutofit/>
          </a:bodyPr>
          <a:lstStyle/>
          <a:p>
            <a:pPr algn="l"/>
            <a:r>
              <a:rPr sz="1200" b="0" i="0">
                <a:solidFill>
                  <a:srgbClr val="5A6E80"/>
                </a:solidFill>
                <a:latin typeface="DM Sans"/>
              </a:rPr>
              <a:t>m 12</a:t>
            </a:r>
          </a:p>
        </p:txBody>
      </p:sp>
      <p:sp>
        <p:nvSpPr>
          <p:cNvPr id="30" name="Rectangle 29"/>
          <p:cNvSpPr/>
          <p:nvPr/>
        </p:nvSpPr>
        <p:spPr>
          <a:xfrm>
            <a:off x="8097441"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97441" y="1518841"/>
            <a:ext cx="897930" cy="198120"/>
          </a:xfrm>
          <a:prstGeom prst="rect">
            <a:avLst/>
          </a:prstGeom>
          <a:noFill/>
        </p:spPr>
        <p:txBody>
          <a:bodyPr wrap="none" lIns="0" tIns="0" rIns="0" bIns="0" anchor="t">
            <a:noAutofit/>
          </a:bodyPr>
          <a:lstStyle/>
          <a:p>
            <a:pPr algn="l"/>
            <a:r>
              <a:rPr sz="1200" b="1" i="0">
                <a:solidFill>
                  <a:srgbClr val="0A2540"/>
                </a:solidFill>
                <a:latin typeface="DM Sans"/>
              </a:rPr>
              <a:t>V7</a:t>
            </a:r>
          </a:p>
        </p:txBody>
      </p:sp>
      <p:sp>
        <p:nvSpPr>
          <p:cNvPr id="32" name="TextBox 31"/>
          <p:cNvSpPr txBox="1"/>
          <p:nvPr/>
        </p:nvSpPr>
        <p:spPr>
          <a:xfrm>
            <a:off x="8097441" y="1741091"/>
            <a:ext cx="897930" cy="198120"/>
          </a:xfrm>
          <a:prstGeom prst="rect">
            <a:avLst/>
          </a:prstGeom>
          <a:noFill/>
        </p:spPr>
        <p:txBody>
          <a:bodyPr wrap="none" lIns="0" tIns="0" rIns="0" bIns="0" anchor="t">
            <a:noAutofit/>
          </a:bodyPr>
          <a:lstStyle/>
          <a:p>
            <a:pPr algn="l"/>
            <a:r>
              <a:rPr sz="1200" b="0" i="0">
                <a:solidFill>
                  <a:srgbClr val="5A6E80"/>
                </a:solidFill>
                <a:latin typeface="DM Sans"/>
              </a:rPr>
              <a:t>m 15</a:t>
            </a:r>
          </a:p>
        </p:txBody>
      </p:sp>
      <p:sp>
        <p:nvSpPr>
          <p:cNvPr id="33" name="Rectangle 32"/>
          <p:cNvSpPr/>
          <p:nvPr/>
        </p:nvSpPr>
        <p:spPr>
          <a:xfrm>
            <a:off x="900807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008070" y="1518841"/>
            <a:ext cx="897830" cy="198120"/>
          </a:xfrm>
          <a:prstGeom prst="rect">
            <a:avLst/>
          </a:prstGeom>
          <a:noFill/>
        </p:spPr>
        <p:txBody>
          <a:bodyPr wrap="none" lIns="0" tIns="0" rIns="0" bIns="0" anchor="t">
            <a:noAutofit/>
          </a:bodyPr>
          <a:lstStyle/>
          <a:p>
            <a:pPr algn="l"/>
            <a:r>
              <a:rPr sz="1200" b="1" i="0">
                <a:solidFill>
                  <a:srgbClr val="0A2540"/>
                </a:solidFill>
                <a:latin typeface="DM Sans"/>
              </a:rPr>
              <a:t>V8</a:t>
            </a:r>
          </a:p>
        </p:txBody>
      </p:sp>
      <p:sp>
        <p:nvSpPr>
          <p:cNvPr id="35" name="TextBox 34"/>
          <p:cNvSpPr txBox="1"/>
          <p:nvPr/>
        </p:nvSpPr>
        <p:spPr>
          <a:xfrm>
            <a:off x="9008070" y="1741091"/>
            <a:ext cx="897830" cy="198120"/>
          </a:xfrm>
          <a:prstGeom prst="rect">
            <a:avLst/>
          </a:prstGeom>
          <a:noFill/>
        </p:spPr>
        <p:txBody>
          <a:bodyPr wrap="none" lIns="0" tIns="0" rIns="0" bIns="0" anchor="t">
            <a:noAutofit/>
          </a:bodyPr>
          <a:lstStyle/>
          <a:p>
            <a:pPr algn="l"/>
            <a:r>
              <a:rPr sz="1200" b="0" i="0">
                <a:solidFill>
                  <a:srgbClr val="5A6E80"/>
                </a:solidFill>
                <a:latin typeface="DM Sans"/>
              </a:rPr>
              <a:t>m 18</a:t>
            </a:r>
          </a:p>
        </p:txBody>
      </p:sp>
      <p:sp>
        <p:nvSpPr>
          <p:cNvPr id="36" name="TextBox 35"/>
          <p:cNvSpPr txBox="1"/>
          <p:nvPr/>
        </p:nvSpPr>
        <p:spPr>
          <a:xfrm>
            <a:off x="10020201" y="1785541"/>
            <a:ext cx="1409700" cy="165100"/>
          </a:xfrm>
          <a:prstGeom prst="rect">
            <a:avLst/>
          </a:prstGeom>
          <a:noFill/>
        </p:spPr>
        <p:txBody>
          <a:bodyPr wrap="none" lIns="0" tIns="0" rIns="0" bIns="0" anchor="t">
            <a:noAutofit/>
          </a:bodyPr>
          <a:lstStyle/>
          <a:p>
            <a:pPr algn="l"/>
            <a:r>
              <a:rPr sz="1000" b="1" i="0">
                <a:solidFill>
                  <a:srgbClr val="5A6E80"/>
                </a:solidFill>
                <a:latin typeface="DM Sans"/>
              </a:rPr>
              <a:t>Wat · toestel</a:t>
            </a:r>
          </a:p>
        </p:txBody>
      </p:sp>
      <p:sp>
        <p:nvSpPr>
          <p:cNvPr id="37" name="Rectangle 36"/>
          <p:cNvSpPr/>
          <p:nvPr/>
        </p:nvSpPr>
        <p:spPr>
          <a:xfrm>
            <a:off x="81280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812800" y="2232521"/>
            <a:ext cx="847030" cy="29845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812800" y="2283321"/>
            <a:ext cx="847030" cy="198120"/>
          </a:xfrm>
          <a:prstGeom prst="rect">
            <a:avLst/>
          </a:prstGeom>
          <a:noFill/>
        </p:spPr>
        <p:txBody>
          <a:bodyPr wrap="none" lIns="0" tIns="0" rIns="0" bIns="0" anchor="t">
            <a:noAutofit/>
          </a:bodyPr>
          <a:lstStyle/>
          <a:p>
            <a:pPr algn="ctr"/>
            <a:r>
              <a:rPr sz="1200" b="0" i="0">
                <a:solidFill>
                  <a:srgbClr val="F2F8FC"/>
                </a:solidFill>
                <a:latin typeface="DM Sans"/>
              </a:rPr>
              <a:t>arts</a:t>
            </a:r>
          </a:p>
        </p:txBody>
      </p:sp>
      <p:sp>
        <p:nvSpPr>
          <p:cNvPr id="40" name="Rectangle 39"/>
          <p:cNvSpPr/>
          <p:nvPr/>
        </p:nvSpPr>
        <p:spPr>
          <a:xfrm>
            <a:off x="1723330"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1723330" y="2232521"/>
            <a:ext cx="847130" cy="29845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1723330" y="2283321"/>
            <a:ext cx="847130" cy="198120"/>
          </a:xfrm>
          <a:prstGeom prst="rect">
            <a:avLst/>
          </a:prstGeom>
          <a:noFill/>
        </p:spPr>
        <p:txBody>
          <a:bodyPr wrap="none" lIns="0" tIns="0" rIns="0" bIns="0" anchor="t">
            <a:noAutofit/>
          </a:bodyPr>
          <a:lstStyle/>
          <a:p>
            <a:pPr algn="ctr"/>
            <a:r>
              <a:rPr sz="1200" b="0" i="0">
                <a:solidFill>
                  <a:srgbClr val="F2F8FC"/>
                </a:solidFill>
                <a:latin typeface="DM Sans"/>
              </a:rPr>
              <a:t>PI</a:t>
            </a:r>
          </a:p>
        </p:txBody>
      </p:sp>
      <p:sp>
        <p:nvSpPr>
          <p:cNvPr id="43" name="Rectangle 42"/>
          <p:cNvSpPr/>
          <p:nvPr/>
        </p:nvSpPr>
        <p:spPr>
          <a:xfrm>
            <a:off x="263396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3544491"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45512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365651"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276280"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718691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8097441"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900807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9918601" y="2090341"/>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020201" y="2105620"/>
            <a:ext cx="1409700" cy="379611"/>
          </a:xfrm>
          <a:prstGeom prst="rect">
            <a:avLst/>
          </a:prstGeom>
          <a:noFill/>
        </p:spPr>
        <p:txBody>
          <a:bodyPr wrap="square" lIns="0" tIns="0" rIns="0" bIns="0" anchor="t">
            <a:noAutofit/>
          </a:bodyPr>
          <a:lstStyle/>
          <a:p>
            <a:pPr algn="l">
              <a:lnSpc>
                <a:spcPts val="1495"/>
              </a:lnSpc>
            </a:pPr>
            <a:r>
              <a:rPr sz="1300" b="1" i="0">
                <a:solidFill>
                  <a:srgbClr val="0A2540"/>
                </a:solidFill>
                <a:latin typeface="DM Sans"/>
              </a:rPr>
              <a:t>Toestemming en loting</a:t>
            </a:r>
          </a:p>
        </p:txBody>
      </p:sp>
      <p:sp>
        <p:nvSpPr>
          <p:cNvPr id="53" name="TextBox 52"/>
          <p:cNvSpPr txBox="1"/>
          <p:nvPr/>
        </p:nvSpPr>
        <p:spPr>
          <a:xfrm>
            <a:off x="10020201" y="2497931"/>
            <a:ext cx="1409700" cy="160020"/>
          </a:xfrm>
          <a:prstGeom prst="rect">
            <a:avLst/>
          </a:prstGeom>
          <a:noFill/>
        </p:spPr>
        <p:txBody>
          <a:bodyPr wrap="none" lIns="0" tIns="0" rIns="0" bIns="0" anchor="t">
            <a:noAutofit/>
          </a:bodyPr>
          <a:lstStyle/>
          <a:p>
            <a:pPr algn="l">
              <a:lnSpc>
                <a:spcPts val="1260"/>
              </a:lnSpc>
            </a:pPr>
            <a:r>
              <a:rPr sz="1050" b="0" i="0">
                <a:solidFill>
                  <a:srgbClr val="5A6E80"/>
                </a:solidFill>
                <a:latin typeface="DM Sans"/>
              </a:rPr>
              <a:t>arts, dan PI</a:t>
            </a:r>
          </a:p>
        </p:txBody>
      </p:sp>
      <p:sp>
        <p:nvSpPr>
          <p:cNvPr id="54" name="Rectangle 53"/>
          <p:cNvSpPr/>
          <p:nvPr/>
        </p:nvSpPr>
        <p:spPr>
          <a:xfrm>
            <a:off x="81280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723330"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263396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2633960" y="2872680"/>
            <a:ext cx="8470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2633960" y="2923480"/>
            <a:ext cx="847030" cy="198120"/>
          </a:xfrm>
          <a:prstGeom prst="rect">
            <a:avLst/>
          </a:prstGeom>
          <a:noFill/>
        </p:spPr>
        <p:txBody>
          <a:bodyPr wrap="none" lIns="0" tIns="0" rIns="0" bIns="0" anchor="t">
            <a:noAutofit/>
          </a:bodyPr>
          <a:lstStyle/>
          <a:p>
            <a:pPr algn="ctr"/>
            <a:r>
              <a:rPr sz="1200" b="0" i="0">
                <a:solidFill>
                  <a:srgbClr val="F2F8FC"/>
                </a:solidFill>
                <a:latin typeface="DM Sans"/>
              </a:rPr>
              <a:t>A</a:t>
            </a:r>
          </a:p>
        </p:txBody>
      </p:sp>
      <p:sp>
        <p:nvSpPr>
          <p:cNvPr id="59" name="Rectangle 58"/>
          <p:cNvSpPr/>
          <p:nvPr/>
        </p:nvSpPr>
        <p:spPr>
          <a:xfrm>
            <a:off x="3544491"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3544491" y="2872680"/>
            <a:ext cx="8471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3544491" y="2923480"/>
            <a:ext cx="847130" cy="198120"/>
          </a:xfrm>
          <a:prstGeom prst="rect">
            <a:avLst/>
          </a:prstGeom>
          <a:noFill/>
        </p:spPr>
        <p:txBody>
          <a:bodyPr wrap="none" lIns="0" tIns="0" rIns="0" bIns="0" anchor="t">
            <a:noAutofit/>
          </a:bodyPr>
          <a:lstStyle/>
          <a:p>
            <a:pPr algn="ctr"/>
            <a:r>
              <a:rPr sz="1200" b="0" i="0">
                <a:solidFill>
                  <a:srgbClr val="F2F8FC"/>
                </a:solidFill>
                <a:latin typeface="DM Sans"/>
              </a:rPr>
              <a:t>A + B</a:t>
            </a:r>
          </a:p>
        </p:txBody>
      </p:sp>
      <p:sp>
        <p:nvSpPr>
          <p:cNvPr id="62" name="Rectangle 61"/>
          <p:cNvSpPr/>
          <p:nvPr/>
        </p:nvSpPr>
        <p:spPr>
          <a:xfrm>
            <a:off x="445512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5365651"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5365651" y="2872680"/>
            <a:ext cx="8471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Box 64"/>
          <p:cNvSpPr txBox="1"/>
          <p:nvPr/>
        </p:nvSpPr>
        <p:spPr>
          <a:xfrm>
            <a:off x="5365651" y="2923480"/>
            <a:ext cx="847130" cy="198120"/>
          </a:xfrm>
          <a:prstGeom prst="rect">
            <a:avLst/>
          </a:prstGeom>
          <a:noFill/>
        </p:spPr>
        <p:txBody>
          <a:bodyPr wrap="none" lIns="0" tIns="0" rIns="0" bIns="0" anchor="t">
            <a:noAutofit/>
          </a:bodyPr>
          <a:lstStyle/>
          <a:p>
            <a:pPr algn="ctr"/>
            <a:r>
              <a:rPr sz="1200" b="0" i="0">
                <a:solidFill>
                  <a:srgbClr val="F2F8FC"/>
                </a:solidFill>
                <a:latin typeface="DM Sans"/>
              </a:rPr>
              <a:t>A + B</a:t>
            </a:r>
          </a:p>
        </p:txBody>
      </p:sp>
      <p:sp>
        <p:nvSpPr>
          <p:cNvPr id="66" name="Rectangle 65"/>
          <p:cNvSpPr/>
          <p:nvPr/>
        </p:nvSpPr>
        <p:spPr>
          <a:xfrm>
            <a:off x="6276280"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718691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p:cNvSpPr/>
          <p:nvPr/>
        </p:nvSpPr>
        <p:spPr>
          <a:xfrm>
            <a:off x="7186910" y="2872680"/>
            <a:ext cx="8470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Box 68"/>
          <p:cNvSpPr txBox="1"/>
          <p:nvPr/>
        </p:nvSpPr>
        <p:spPr>
          <a:xfrm>
            <a:off x="7186910" y="2923480"/>
            <a:ext cx="847030" cy="198120"/>
          </a:xfrm>
          <a:prstGeom prst="rect">
            <a:avLst/>
          </a:prstGeom>
          <a:noFill/>
        </p:spPr>
        <p:txBody>
          <a:bodyPr wrap="none" lIns="0" tIns="0" rIns="0" bIns="0" anchor="t">
            <a:noAutofit/>
          </a:bodyPr>
          <a:lstStyle/>
          <a:p>
            <a:pPr algn="ctr"/>
            <a:r>
              <a:rPr sz="1200" b="0" i="0">
                <a:solidFill>
                  <a:srgbClr val="F2F8FC"/>
                </a:solidFill>
                <a:latin typeface="DM Sans"/>
              </a:rPr>
              <a:t>A + B</a:t>
            </a:r>
          </a:p>
        </p:txBody>
      </p:sp>
      <p:sp>
        <p:nvSpPr>
          <p:cNvPr id="70" name="Rectangle 69"/>
          <p:cNvSpPr/>
          <p:nvPr/>
        </p:nvSpPr>
        <p:spPr>
          <a:xfrm>
            <a:off x="8097441"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900807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p:cNvSpPr/>
          <p:nvPr/>
        </p:nvSpPr>
        <p:spPr>
          <a:xfrm>
            <a:off x="9008070" y="2872680"/>
            <a:ext cx="8470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Box 72"/>
          <p:cNvSpPr txBox="1"/>
          <p:nvPr/>
        </p:nvSpPr>
        <p:spPr>
          <a:xfrm>
            <a:off x="9008070" y="2923480"/>
            <a:ext cx="847030" cy="198120"/>
          </a:xfrm>
          <a:prstGeom prst="rect">
            <a:avLst/>
          </a:prstGeom>
          <a:noFill/>
        </p:spPr>
        <p:txBody>
          <a:bodyPr wrap="none" lIns="0" tIns="0" rIns="0" bIns="0" anchor="t">
            <a:noAutofit/>
          </a:bodyPr>
          <a:lstStyle/>
          <a:p>
            <a:pPr algn="ctr"/>
            <a:r>
              <a:rPr sz="1200" b="0" i="0">
                <a:solidFill>
                  <a:srgbClr val="F2F8FC"/>
                </a:solidFill>
                <a:latin typeface="DM Sans"/>
              </a:rPr>
              <a:t>A + B</a:t>
            </a:r>
          </a:p>
        </p:txBody>
      </p:sp>
      <p:sp>
        <p:nvSpPr>
          <p:cNvPr id="74" name="Rectangle 73"/>
          <p:cNvSpPr/>
          <p:nvPr/>
        </p:nvSpPr>
        <p:spPr>
          <a:xfrm>
            <a:off x="9918601" y="2730401"/>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5" name="Picture 74" descr="7006ea103c3e8fa9006c500fec1a0272.png"/>
          <p:cNvPicPr>
            <a:picLocks noChangeAspect="1"/>
          </p:cNvPicPr>
          <p:nvPr/>
        </p:nvPicPr>
        <p:blipFill>
          <a:blip r:embed="rId3"/>
          <a:stretch>
            <a:fillRect/>
          </a:stretch>
        </p:blipFill>
        <p:spPr>
          <a:xfrm>
            <a:off x="9994801" y="2913955"/>
            <a:ext cx="292100" cy="215900"/>
          </a:xfrm>
          <a:prstGeom prst="rect">
            <a:avLst/>
          </a:prstGeom>
        </p:spPr>
      </p:pic>
      <p:sp>
        <p:nvSpPr>
          <p:cNvPr id="76" name="TextBox 75"/>
          <p:cNvSpPr txBox="1"/>
          <p:nvPr/>
        </p:nvSpPr>
        <p:spPr>
          <a:xfrm>
            <a:off x="10350401" y="2840633"/>
            <a:ext cx="1002804"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Drukmeting</a:t>
            </a:r>
          </a:p>
        </p:txBody>
      </p:sp>
      <p:sp>
        <p:nvSpPr>
          <p:cNvPr id="77" name="TextBox 76"/>
          <p:cNvSpPr txBox="1"/>
          <p:nvPr/>
        </p:nvSpPr>
        <p:spPr>
          <a:xfrm>
            <a:off x="10350401" y="3043138"/>
            <a:ext cx="1002804" cy="160020"/>
          </a:xfrm>
          <a:prstGeom prst="rect">
            <a:avLst/>
          </a:prstGeom>
          <a:noFill/>
        </p:spPr>
        <p:txBody>
          <a:bodyPr wrap="none" lIns="0" tIns="0" rIns="0" bIns="0" anchor="t">
            <a:noAutofit/>
          </a:bodyPr>
          <a:lstStyle/>
          <a:p>
            <a:pPr algn="l">
              <a:lnSpc>
                <a:spcPts val="1260"/>
              </a:lnSpc>
            </a:pPr>
            <a:r>
              <a:rPr sz="1050" b="0" i="0">
                <a:solidFill>
                  <a:srgbClr val="5A6E80"/>
                </a:solidFill>
                <a:latin typeface="DM Sans"/>
              </a:rPr>
              <a:t>Novel pedar</a:t>
            </a:r>
          </a:p>
        </p:txBody>
      </p:sp>
      <p:sp>
        <p:nvSpPr>
          <p:cNvPr id="78" name="Rectangle 77"/>
          <p:cNvSpPr/>
          <p:nvPr/>
        </p:nvSpPr>
        <p:spPr>
          <a:xfrm>
            <a:off x="81280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1723330"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263396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2633960" y="3512741"/>
            <a:ext cx="847030" cy="29845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TextBox 81"/>
          <p:cNvSpPr txBox="1"/>
          <p:nvPr/>
        </p:nvSpPr>
        <p:spPr>
          <a:xfrm>
            <a:off x="2633960" y="3563541"/>
            <a:ext cx="847030" cy="198120"/>
          </a:xfrm>
          <a:prstGeom prst="rect">
            <a:avLst/>
          </a:prstGeom>
          <a:noFill/>
        </p:spPr>
        <p:txBody>
          <a:bodyPr wrap="none" lIns="0" tIns="0" rIns="0" bIns="0" anchor="t">
            <a:noAutofit/>
          </a:bodyPr>
          <a:lstStyle/>
          <a:p>
            <a:pPr algn="ctr"/>
            <a:r>
              <a:rPr sz="1200" b="0" i="0">
                <a:solidFill>
                  <a:srgbClr val="F2F8FC"/>
                </a:solidFill>
                <a:latin typeface="DM Sans"/>
              </a:rPr>
              <a:t>1 week</a:t>
            </a:r>
          </a:p>
        </p:txBody>
      </p:sp>
      <p:sp>
        <p:nvSpPr>
          <p:cNvPr id="83" name="Rectangle 82"/>
          <p:cNvSpPr/>
          <p:nvPr/>
        </p:nvSpPr>
        <p:spPr>
          <a:xfrm>
            <a:off x="3544491"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445512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5365651"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6276280"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718691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8097441"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900807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9918601" y="3370560"/>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1" name="Picture 90" descr="c3433b372cfc1d99d6ab11119954a595.png"/>
          <p:cNvPicPr>
            <a:picLocks noChangeAspect="1"/>
          </p:cNvPicPr>
          <p:nvPr/>
        </p:nvPicPr>
        <p:blipFill>
          <a:blip r:embed="rId4"/>
          <a:stretch>
            <a:fillRect/>
          </a:stretch>
        </p:blipFill>
        <p:spPr>
          <a:xfrm>
            <a:off x="9994801" y="3554016"/>
            <a:ext cx="292100" cy="215900"/>
          </a:xfrm>
          <a:prstGeom prst="rect">
            <a:avLst/>
          </a:prstGeom>
        </p:spPr>
      </p:pic>
      <p:sp>
        <p:nvSpPr>
          <p:cNvPr id="92" name="TextBox 91"/>
          <p:cNvSpPr txBox="1"/>
          <p:nvPr/>
        </p:nvSpPr>
        <p:spPr>
          <a:xfrm>
            <a:off x="10350401" y="3480792"/>
            <a:ext cx="860028"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Waaktijd</a:t>
            </a:r>
          </a:p>
        </p:txBody>
      </p:sp>
      <p:sp>
        <p:nvSpPr>
          <p:cNvPr id="93" name="TextBox 92"/>
          <p:cNvSpPr txBox="1"/>
          <p:nvPr/>
        </p:nvSpPr>
        <p:spPr>
          <a:xfrm>
            <a:off x="10350401" y="3683298"/>
            <a:ext cx="860028" cy="160020"/>
          </a:xfrm>
          <a:prstGeom prst="rect">
            <a:avLst/>
          </a:prstGeom>
          <a:noFill/>
        </p:spPr>
        <p:txBody>
          <a:bodyPr wrap="none" lIns="0" tIns="0" rIns="0" bIns="0" anchor="t">
            <a:noAutofit/>
          </a:bodyPr>
          <a:lstStyle/>
          <a:p>
            <a:pPr algn="l">
              <a:lnSpc>
                <a:spcPts val="1260"/>
              </a:lnSpc>
            </a:pPr>
            <a:r>
              <a:rPr sz="1050" b="0" i="0">
                <a:solidFill>
                  <a:srgbClr val="5A6E80"/>
                </a:solidFill>
                <a:latin typeface="DM Sans"/>
              </a:rPr>
              <a:t>MoveMonitor</a:t>
            </a:r>
          </a:p>
        </p:txBody>
      </p:sp>
      <p:sp>
        <p:nvSpPr>
          <p:cNvPr id="94" name="Rectangle 93"/>
          <p:cNvSpPr/>
          <p:nvPr/>
        </p:nvSpPr>
        <p:spPr>
          <a:xfrm>
            <a:off x="81280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1723330"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ectangle 95"/>
          <p:cNvSpPr/>
          <p:nvPr/>
        </p:nvSpPr>
        <p:spPr>
          <a:xfrm>
            <a:off x="263396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3544491"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ounded Rectangle 97"/>
          <p:cNvSpPr/>
          <p:nvPr/>
        </p:nvSpPr>
        <p:spPr>
          <a:xfrm>
            <a:off x="3544491" y="4152900"/>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TextBox 98"/>
          <p:cNvSpPr txBox="1"/>
          <p:nvPr/>
        </p:nvSpPr>
        <p:spPr>
          <a:xfrm>
            <a:off x="3544491" y="4203700"/>
            <a:ext cx="847130" cy="198120"/>
          </a:xfrm>
          <a:prstGeom prst="rect">
            <a:avLst/>
          </a:prstGeom>
          <a:noFill/>
        </p:spPr>
        <p:txBody>
          <a:bodyPr wrap="none" lIns="0" tIns="0" rIns="0" bIns="0" anchor="t">
            <a:noAutofit/>
          </a:bodyPr>
          <a:lstStyle/>
          <a:p>
            <a:pPr algn="ctr"/>
            <a:r>
              <a:rPr sz="1200" b="0" i="0">
                <a:solidFill>
                  <a:srgbClr val="F2F8FC"/>
                </a:solidFill>
                <a:latin typeface="DM Sans"/>
              </a:rPr>
              <a:t>start</a:t>
            </a:r>
          </a:p>
        </p:txBody>
      </p:sp>
      <p:sp>
        <p:nvSpPr>
          <p:cNvPr id="100" name="Rectangle 99"/>
          <p:cNvSpPr/>
          <p:nvPr/>
        </p:nvSpPr>
        <p:spPr>
          <a:xfrm>
            <a:off x="445512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ounded Rectangle 100"/>
          <p:cNvSpPr/>
          <p:nvPr/>
        </p:nvSpPr>
        <p:spPr>
          <a:xfrm>
            <a:off x="4455120" y="4152900"/>
            <a:ext cx="8470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TextBox 101"/>
          <p:cNvSpPr txBox="1"/>
          <p:nvPr/>
        </p:nvSpPr>
        <p:spPr>
          <a:xfrm>
            <a:off x="4455120" y="4203700"/>
            <a:ext cx="8470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03" name="Rectangle 102"/>
          <p:cNvSpPr/>
          <p:nvPr/>
        </p:nvSpPr>
        <p:spPr>
          <a:xfrm>
            <a:off x="5365651"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ounded Rectangle 103"/>
          <p:cNvSpPr/>
          <p:nvPr/>
        </p:nvSpPr>
        <p:spPr>
          <a:xfrm>
            <a:off x="5365651" y="4152900"/>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TextBox 104"/>
          <p:cNvSpPr txBox="1"/>
          <p:nvPr/>
        </p:nvSpPr>
        <p:spPr>
          <a:xfrm>
            <a:off x="5365651" y="4203700"/>
            <a:ext cx="8471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06" name="Rectangle 105"/>
          <p:cNvSpPr/>
          <p:nvPr/>
        </p:nvSpPr>
        <p:spPr>
          <a:xfrm>
            <a:off x="6276280"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ounded Rectangle 106"/>
          <p:cNvSpPr/>
          <p:nvPr/>
        </p:nvSpPr>
        <p:spPr>
          <a:xfrm>
            <a:off x="6276280" y="4152900"/>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8" name="TextBox 107"/>
          <p:cNvSpPr txBox="1"/>
          <p:nvPr/>
        </p:nvSpPr>
        <p:spPr>
          <a:xfrm>
            <a:off x="6276280" y="4203700"/>
            <a:ext cx="8471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09" name="Rectangle 108"/>
          <p:cNvSpPr/>
          <p:nvPr/>
        </p:nvSpPr>
        <p:spPr>
          <a:xfrm>
            <a:off x="718691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ounded Rectangle 109"/>
          <p:cNvSpPr/>
          <p:nvPr/>
        </p:nvSpPr>
        <p:spPr>
          <a:xfrm>
            <a:off x="7186910" y="4152900"/>
            <a:ext cx="8470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TextBox 110"/>
          <p:cNvSpPr txBox="1"/>
          <p:nvPr/>
        </p:nvSpPr>
        <p:spPr>
          <a:xfrm>
            <a:off x="7186910" y="4203700"/>
            <a:ext cx="8470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12" name="Rectangle 111"/>
          <p:cNvSpPr/>
          <p:nvPr/>
        </p:nvSpPr>
        <p:spPr>
          <a:xfrm>
            <a:off x="8097441"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ounded Rectangle 112"/>
          <p:cNvSpPr/>
          <p:nvPr/>
        </p:nvSpPr>
        <p:spPr>
          <a:xfrm>
            <a:off x="8097441" y="4152900"/>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TextBox 113"/>
          <p:cNvSpPr txBox="1"/>
          <p:nvPr/>
        </p:nvSpPr>
        <p:spPr>
          <a:xfrm>
            <a:off x="8097441" y="4203700"/>
            <a:ext cx="8471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15" name="Rectangle 114"/>
          <p:cNvSpPr/>
          <p:nvPr/>
        </p:nvSpPr>
        <p:spPr>
          <a:xfrm>
            <a:off x="900807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ounded Rectangle 115"/>
          <p:cNvSpPr/>
          <p:nvPr/>
        </p:nvSpPr>
        <p:spPr>
          <a:xfrm>
            <a:off x="9008070" y="4152900"/>
            <a:ext cx="8470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TextBox 116"/>
          <p:cNvSpPr txBox="1"/>
          <p:nvPr/>
        </p:nvSpPr>
        <p:spPr>
          <a:xfrm>
            <a:off x="9008070" y="4203700"/>
            <a:ext cx="8470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18" name="Rectangle 117"/>
          <p:cNvSpPr/>
          <p:nvPr/>
        </p:nvSpPr>
        <p:spPr>
          <a:xfrm>
            <a:off x="9918601" y="4010620"/>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9" name="Picture 118" descr="08f3416e444e7f76df034ad715d9910f.png"/>
          <p:cNvPicPr>
            <a:picLocks noChangeAspect="1"/>
          </p:cNvPicPr>
          <p:nvPr/>
        </p:nvPicPr>
        <p:blipFill>
          <a:blip r:embed="rId5"/>
          <a:stretch>
            <a:fillRect/>
          </a:stretch>
        </p:blipFill>
        <p:spPr>
          <a:xfrm>
            <a:off x="9994801" y="4194175"/>
            <a:ext cx="292100" cy="215900"/>
          </a:xfrm>
          <a:prstGeom prst="rect">
            <a:avLst/>
          </a:prstGeom>
        </p:spPr>
      </p:pic>
      <p:sp>
        <p:nvSpPr>
          <p:cNvPr id="120" name="TextBox 119"/>
          <p:cNvSpPr txBox="1"/>
          <p:nvPr/>
        </p:nvSpPr>
        <p:spPr>
          <a:xfrm>
            <a:off x="10350401" y="4120852"/>
            <a:ext cx="797223"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Draagtijd</a:t>
            </a:r>
          </a:p>
        </p:txBody>
      </p:sp>
      <p:sp>
        <p:nvSpPr>
          <p:cNvPr id="121" name="TextBox 120"/>
          <p:cNvSpPr txBox="1"/>
          <p:nvPr/>
        </p:nvSpPr>
        <p:spPr>
          <a:xfrm>
            <a:off x="10350401" y="4323358"/>
            <a:ext cx="797223" cy="160020"/>
          </a:xfrm>
          <a:prstGeom prst="rect">
            <a:avLst/>
          </a:prstGeom>
          <a:noFill/>
        </p:spPr>
        <p:txBody>
          <a:bodyPr wrap="none" lIns="0" tIns="0" rIns="0" bIns="0" anchor="t">
            <a:noAutofit/>
          </a:bodyPr>
          <a:lstStyle/>
          <a:p>
            <a:pPr algn="l">
              <a:lnSpc>
                <a:spcPts val="1260"/>
              </a:lnSpc>
            </a:pPr>
            <a:r>
              <a:rPr sz="1050" b="0" i="0">
                <a:solidFill>
                  <a:srgbClr val="5A6E80"/>
                </a:solidFill>
                <a:latin typeface="DM Sans"/>
              </a:rPr>
              <a:t>Orthotimer</a:t>
            </a:r>
          </a:p>
        </p:txBody>
      </p:sp>
      <p:sp>
        <p:nvSpPr>
          <p:cNvPr id="122" name="Rectangle 121"/>
          <p:cNvSpPr/>
          <p:nvPr/>
        </p:nvSpPr>
        <p:spPr>
          <a:xfrm>
            <a:off x="812800" y="465078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1723330" y="465078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ectangle 123"/>
          <p:cNvSpPr/>
          <p:nvPr/>
        </p:nvSpPr>
        <p:spPr>
          <a:xfrm>
            <a:off x="2633960" y="4650780"/>
            <a:ext cx="7221141"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ounded Rectangle 124"/>
          <p:cNvSpPr/>
          <p:nvPr/>
        </p:nvSpPr>
        <p:spPr>
          <a:xfrm>
            <a:off x="2633960" y="4793059"/>
            <a:ext cx="7221141"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6" name="TextBox 125"/>
          <p:cNvSpPr txBox="1"/>
          <p:nvPr/>
        </p:nvSpPr>
        <p:spPr>
          <a:xfrm>
            <a:off x="2633960" y="4843859"/>
            <a:ext cx="7221141" cy="198120"/>
          </a:xfrm>
          <a:prstGeom prst="rect">
            <a:avLst/>
          </a:prstGeom>
          <a:noFill/>
        </p:spPr>
        <p:txBody>
          <a:bodyPr wrap="none" lIns="0" tIns="0" rIns="0" bIns="0" anchor="t">
            <a:noAutofit/>
          </a:bodyPr>
          <a:lstStyle/>
          <a:p>
            <a:pPr algn="ctr"/>
            <a:r>
              <a:rPr sz="1200" b="0" i="0">
                <a:solidFill>
                  <a:srgbClr val="F2F8FC"/>
                </a:solidFill>
                <a:latin typeface="DM Sans"/>
              </a:rPr>
              <a:t>een gesprek op elke visite, telkens met een eigen doel</a:t>
            </a:r>
          </a:p>
        </p:txBody>
      </p:sp>
      <p:sp>
        <p:nvSpPr>
          <p:cNvPr id="127" name="Rectangle 126"/>
          <p:cNvSpPr/>
          <p:nvPr/>
        </p:nvSpPr>
        <p:spPr>
          <a:xfrm>
            <a:off x="9918601" y="4650780"/>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10020201" y="4761012"/>
            <a:ext cx="1409700"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SEBIA-gesprek</a:t>
            </a:r>
          </a:p>
        </p:txBody>
      </p:sp>
      <p:sp>
        <p:nvSpPr>
          <p:cNvPr id="129" name="TextBox 128"/>
          <p:cNvSpPr txBox="1"/>
          <p:nvPr/>
        </p:nvSpPr>
        <p:spPr>
          <a:xfrm>
            <a:off x="10020201" y="4963517"/>
            <a:ext cx="1409700" cy="160020"/>
          </a:xfrm>
          <a:prstGeom prst="rect">
            <a:avLst/>
          </a:prstGeom>
          <a:noFill/>
        </p:spPr>
        <p:txBody>
          <a:bodyPr wrap="none" lIns="0" tIns="0" rIns="0" bIns="0" anchor="t">
            <a:noAutofit/>
          </a:bodyPr>
          <a:lstStyle/>
          <a:p>
            <a:pPr algn="l">
              <a:lnSpc>
                <a:spcPts val="1260"/>
              </a:lnSpc>
            </a:pPr>
            <a:r>
              <a:rPr sz="1050" b="0" i="0">
                <a:solidFill>
                  <a:srgbClr val="5A6E80"/>
                </a:solidFill>
                <a:latin typeface="DM Sans"/>
              </a:rPr>
              <a:t>alleen Optimal Care</a:t>
            </a:r>
          </a:p>
        </p:txBody>
      </p:sp>
      <p:sp>
        <p:nvSpPr>
          <p:cNvPr id="130" name="TextBox 129"/>
          <p:cNvSpPr txBox="1"/>
          <p:nvPr/>
        </p:nvSpPr>
        <p:spPr>
          <a:xfrm>
            <a:off x="812800" y="5430639"/>
            <a:ext cx="10777728" cy="411361"/>
          </a:xfrm>
          <a:prstGeom prst="rect">
            <a:avLst/>
          </a:prstGeom>
          <a:noFill/>
        </p:spPr>
        <p:txBody>
          <a:bodyPr wrap="square" lIns="0" tIns="0" rIns="0" bIns="0" anchor="t">
            <a:noAutofit/>
          </a:bodyPr>
          <a:lstStyle/>
          <a:p>
            <a:pPr algn="l">
              <a:lnSpc>
                <a:spcPts val="1620"/>
              </a:lnSpc>
            </a:pPr>
            <a:r>
              <a:rPr sz="1200" b="0" i="0">
                <a:solidFill>
                  <a:srgbClr val="5A6E80"/>
                </a:solidFill>
                <a:latin typeface="DM Sans"/>
              </a:rPr>
              <a:t>A = in de schoen, zónder de CMFO · B = mét de CMFO, telkens vergeleken met A van dezelfde sessie</a:t>
            </a:r>
          </a:p>
          <a:p>
            <a:pPr algn="l">
              <a:lnSpc>
                <a:spcPts val="1620"/>
              </a:lnSpc>
            </a:pPr>
            <a:r>
              <a:rPr sz="1200" b="0" i="0">
                <a:solidFill>
                  <a:srgbClr val="5A6E80"/>
                </a:solidFill>
                <a:latin typeface="DM Sans"/>
              </a:rPr>
              <a:t>Voet- en schoeiselscreening op V1 en vanaf V3 · vragenlijsten op papier in de wachtzaal · kostendagboek telefonisch</a:t>
            </a:r>
          </a:p>
        </p:txBody>
      </p:sp>
      <p:pic>
        <p:nvPicPr>
          <p:cNvPr id="131" name="Picture 130" descr="ec5c93e6f83f209b4e97ddfdecd480c8.png"/>
          <p:cNvPicPr>
            <a:picLocks noChangeAspect="1"/>
          </p:cNvPicPr>
          <p:nvPr/>
        </p:nvPicPr>
        <p:blipFill>
          <a:blip r:embed="rId6"/>
          <a:stretch>
            <a:fillRect/>
          </a:stretch>
        </p:blipFill>
        <p:spPr>
          <a:xfrm>
            <a:off x="812967" y="6261100"/>
            <a:ext cx="171116" cy="203200"/>
          </a:xfrm>
          <a:prstGeom prst="rect">
            <a:avLst/>
          </a:prstGeom>
        </p:spPr>
      </p:pic>
      <p:sp>
        <p:nvSpPr>
          <p:cNvPr id="132" name="TextBox 131"/>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Werkpakketten</a:t>
            </a:r>
          </a:p>
        </p:txBody>
      </p:sp>
      <p:sp>
        <p:nvSpPr>
          <p:cNvPr id="133" name="TextBox 132"/>
          <p:cNvSpPr txBox="1"/>
          <p:nvPr/>
        </p:nvSpPr>
        <p:spPr>
          <a:xfrm>
            <a:off x="6502400" y="6254750"/>
            <a:ext cx="4876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§5.5 · SEBIA-script (eCRF 17)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3_traject-uc.png"/>
          <p:cNvPicPr>
            <a:picLocks noChangeAspect="1"/>
          </p:cNvPicPr>
          <p:nvPr/>
        </p:nvPicPr>
        <p:blipFill>
          <a:blip r:embed="rId3"/>
          <a:stretch>
            <a:fillRect/>
          </a:stretch>
        </p:blipFill>
        <p:spPr>
          <a:xfrm>
            <a:off x="0" y="0"/>
            <a:ext cx="12192000" cy="6858000"/>
          </a:xfrm>
          <a:prstGeom prst="rect">
            <a:avLst/>
          </a:prstGeom>
        </p:spPr>
      </p:pic>
      <p:sp>
        <p:nvSpPr>
          <p:cNvPr id="3" name="Rounded Rectangle 2"/>
          <p:cNvSpPr/>
          <p:nvPr/>
        </p:nvSpPr>
        <p:spPr>
          <a:xfrm>
            <a:off x="9220200" y="889000"/>
            <a:ext cx="2159000" cy="412750"/>
          </a:xfrm>
          <a:prstGeom prst="roundRect">
            <a:avLst>
              <a:gd name="adj" fmla="val 50000"/>
            </a:avLst>
          </a:prstGeom>
          <a:solidFill>
            <a:srgbClr val="5A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9194800" y="952500"/>
            <a:ext cx="2209800" cy="285750"/>
          </a:xfrm>
          <a:prstGeom prst="rect">
            <a:avLst/>
          </a:prstGeom>
          <a:noFill/>
        </p:spPr>
        <p:txBody>
          <a:bodyPr wrap="none" lIns="0" tIns="0" rIns="0" bIns="0" anchor="t">
            <a:noAutofit/>
          </a:bodyPr>
          <a:lstStyle/>
          <a:p>
            <a:pPr algn="ctr"/>
            <a:r>
              <a:rPr sz="1700" b="1" i="0">
                <a:solidFill>
                  <a:srgbClr val="F2F8FC"/>
                </a:solidFill>
                <a:latin typeface="DM Sans"/>
              </a:rPr>
              <a:t>Usual Care</a:t>
            </a:r>
          </a:p>
        </p:txBody>
      </p:sp>
      <p:sp>
        <p:nvSpPr>
          <p:cNvPr id="5" name="TextBox 4"/>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Screening plus negen visites</a:t>
            </a:r>
          </a:p>
        </p:txBody>
      </p:sp>
      <p:sp>
        <p:nvSpPr>
          <p:cNvPr id="6" name="Rectangle 5"/>
          <p:cNvSpPr/>
          <p:nvPr/>
        </p:nvSpPr>
        <p:spPr>
          <a:xfrm>
            <a:off x="81280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2800" y="1518841"/>
            <a:ext cx="897830" cy="198120"/>
          </a:xfrm>
          <a:prstGeom prst="rect">
            <a:avLst/>
          </a:prstGeom>
          <a:noFill/>
        </p:spPr>
        <p:txBody>
          <a:bodyPr wrap="none" lIns="0" tIns="0" rIns="0" bIns="0" anchor="t">
            <a:noAutofit/>
          </a:bodyPr>
          <a:lstStyle/>
          <a:p>
            <a:pPr algn="l"/>
            <a:r>
              <a:rPr sz="1200" b="1" i="0">
                <a:solidFill>
                  <a:srgbClr val="0A2540"/>
                </a:solidFill>
                <a:latin typeface="DM Sans"/>
              </a:rPr>
              <a:t>Scr</a:t>
            </a:r>
          </a:p>
        </p:txBody>
      </p:sp>
      <p:sp>
        <p:nvSpPr>
          <p:cNvPr id="8" name="TextBox 7"/>
          <p:cNvSpPr txBox="1"/>
          <p:nvPr/>
        </p:nvSpPr>
        <p:spPr>
          <a:xfrm>
            <a:off x="812800" y="1741091"/>
            <a:ext cx="897830" cy="198120"/>
          </a:xfrm>
          <a:prstGeom prst="rect">
            <a:avLst/>
          </a:prstGeom>
          <a:noFill/>
        </p:spPr>
        <p:txBody>
          <a:bodyPr wrap="none" lIns="0" tIns="0" rIns="0" bIns="0" anchor="t">
            <a:noAutofit/>
          </a:bodyPr>
          <a:lstStyle/>
          <a:p>
            <a:pPr algn="l"/>
            <a:r>
              <a:rPr sz="1200" b="0" i="0">
                <a:solidFill>
                  <a:srgbClr val="5A6E80"/>
                </a:solidFill>
                <a:latin typeface="DM Sans"/>
              </a:rPr>
              <a:t>screening</a:t>
            </a:r>
          </a:p>
        </p:txBody>
      </p:sp>
      <p:sp>
        <p:nvSpPr>
          <p:cNvPr id="9" name="Rectangle 8"/>
          <p:cNvSpPr/>
          <p:nvPr/>
        </p:nvSpPr>
        <p:spPr>
          <a:xfrm>
            <a:off x="1723330"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723330" y="1518841"/>
            <a:ext cx="897930" cy="198120"/>
          </a:xfrm>
          <a:prstGeom prst="rect">
            <a:avLst/>
          </a:prstGeom>
          <a:noFill/>
        </p:spPr>
        <p:txBody>
          <a:bodyPr wrap="none" lIns="0" tIns="0" rIns="0" bIns="0" anchor="t">
            <a:noAutofit/>
          </a:bodyPr>
          <a:lstStyle/>
          <a:p>
            <a:pPr algn="l"/>
            <a:r>
              <a:rPr sz="1200" b="1" i="0">
                <a:solidFill>
                  <a:srgbClr val="0A2540"/>
                </a:solidFill>
                <a:latin typeface="DM Sans"/>
              </a:rPr>
              <a:t>V0</a:t>
            </a:r>
          </a:p>
        </p:txBody>
      </p:sp>
      <p:sp>
        <p:nvSpPr>
          <p:cNvPr id="11" name="TextBox 10"/>
          <p:cNvSpPr txBox="1"/>
          <p:nvPr/>
        </p:nvSpPr>
        <p:spPr>
          <a:xfrm>
            <a:off x="1723330" y="1741091"/>
            <a:ext cx="897930" cy="198120"/>
          </a:xfrm>
          <a:prstGeom prst="rect">
            <a:avLst/>
          </a:prstGeom>
          <a:noFill/>
        </p:spPr>
        <p:txBody>
          <a:bodyPr wrap="none" lIns="0" tIns="0" rIns="0" bIns="0" anchor="t">
            <a:noAutofit/>
          </a:bodyPr>
          <a:lstStyle/>
          <a:p>
            <a:pPr algn="l"/>
            <a:r>
              <a:rPr sz="1200" b="0" i="0">
                <a:solidFill>
                  <a:srgbClr val="5A6E80"/>
                </a:solidFill>
                <a:latin typeface="DM Sans"/>
              </a:rPr>
              <a:t>geschikt</a:t>
            </a:r>
          </a:p>
        </p:txBody>
      </p:sp>
      <p:sp>
        <p:nvSpPr>
          <p:cNvPr id="12" name="Rectangle 11"/>
          <p:cNvSpPr/>
          <p:nvPr/>
        </p:nvSpPr>
        <p:spPr>
          <a:xfrm>
            <a:off x="263396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33960" y="1518841"/>
            <a:ext cx="897830" cy="198120"/>
          </a:xfrm>
          <a:prstGeom prst="rect">
            <a:avLst/>
          </a:prstGeom>
          <a:noFill/>
        </p:spPr>
        <p:txBody>
          <a:bodyPr wrap="none" lIns="0" tIns="0" rIns="0" bIns="0" anchor="t">
            <a:noAutofit/>
          </a:bodyPr>
          <a:lstStyle/>
          <a:p>
            <a:pPr algn="l"/>
            <a:r>
              <a:rPr sz="1200" b="1" i="0">
                <a:solidFill>
                  <a:srgbClr val="0A2540"/>
                </a:solidFill>
                <a:latin typeface="DM Sans"/>
              </a:rPr>
              <a:t>V1</a:t>
            </a:r>
          </a:p>
        </p:txBody>
      </p:sp>
      <p:sp>
        <p:nvSpPr>
          <p:cNvPr id="14" name="TextBox 13"/>
          <p:cNvSpPr txBox="1"/>
          <p:nvPr/>
        </p:nvSpPr>
        <p:spPr>
          <a:xfrm>
            <a:off x="2633960" y="1741091"/>
            <a:ext cx="897830" cy="198120"/>
          </a:xfrm>
          <a:prstGeom prst="rect">
            <a:avLst/>
          </a:prstGeom>
          <a:noFill/>
        </p:spPr>
        <p:txBody>
          <a:bodyPr wrap="none" lIns="0" tIns="0" rIns="0" bIns="0" anchor="t">
            <a:noAutofit/>
          </a:bodyPr>
          <a:lstStyle/>
          <a:p>
            <a:pPr algn="l"/>
            <a:r>
              <a:rPr sz="1200" b="0" i="0">
                <a:solidFill>
                  <a:srgbClr val="5A6E80"/>
                </a:solidFill>
                <a:latin typeface="DM Sans"/>
              </a:rPr>
              <a:t>baseline</a:t>
            </a:r>
          </a:p>
        </p:txBody>
      </p:sp>
      <p:sp>
        <p:nvSpPr>
          <p:cNvPr id="15" name="Rectangle 14"/>
          <p:cNvSpPr/>
          <p:nvPr/>
        </p:nvSpPr>
        <p:spPr>
          <a:xfrm>
            <a:off x="3544491"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44491" y="1518841"/>
            <a:ext cx="897930" cy="198120"/>
          </a:xfrm>
          <a:prstGeom prst="rect">
            <a:avLst/>
          </a:prstGeom>
          <a:noFill/>
        </p:spPr>
        <p:txBody>
          <a:bodyPr wrap="none" lIns="0" tIns="0" rIns="0" bIns="0" anchor="t">
            <a:noAutofit/>
          </a:bodyPr>
          <a:lstStyle/>
          <a:p>
            <a:pPr algn="l"/>
            <a:r>
              <a:rPr sz="1200" b="1" i="0">
                <a:solidFill>
                  <a:srgbClr val="0A2540"/>
                </a:solidFill>
                <a:latin typeface="DM Sans"/>
              </a:rPr>
              <a:t>V2</a:t>
            </a:r>
          </a:p>
        </p:txBody>
      </p:sp>
      <p:sp>
        <p:nvSpPr>
          <p:cNvPr id="17" name="TextBox 16"/>
          <p:cNvSpPr txBox="1"/>
          <p:nvPr/>
        </p:nvSpPr>
        <p:spPr>
          <a:xfrm>
            <a:off x="3544491" y="1741091"/>
            <a:ext cx="897930" cy="198120"/>
          </a:xfrm>
          <a:prstGeom prst="rect">
            <a:avLst/>
          </a:prstGeom>
          <a:noFill/>
        </p:spPr>
        <p:txBody>
          <a:bodyPr wrap="none" lIns="0" tIns="0" rIns="0" bIns="0" anchor="t">
            <a:noAutofit/>
          </a:bodyPr>
          <a:lstStyle/>
          <a:p>
            <a:pPr algn="l"/>
            <a:r>
              <a:rPr sz="1200" b="0" i="0">
                <a:solidFill>
                  <a:srgbClr val="5A6E80"/>
                </a:solidFill>
                <a:latin typeface="DM Sans"/>
              </a:rPr>
              <a:t>14 d–1 m</a:t>
            </a:r>
          </a:p>
        </p:txBody>
      </p:sp>
      <p:sp>
        <p:nvSpPr>
          <p:cNvPr id="18" name="Rectangle 17"/>
          <p:cNvSpPr/>
          <p:nvPr/>
        </p:nvSpPr>
        <p:spPr>
          <a:xfrm>
            <a:off x="445512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55120" y="1518841"/>
            <a:ext cx="897830" cy="198120"/>
          </a:xfrm>
          <a:prstGeom prst="rect">
            <a:avLst/>
          </a:prstGeom>
          <a:noFill/>
        </p:spPr>
        <p:txBody>
          <a:bodyPr wrap="none" lIns="0" tIns="0" rIns="0" bIns="0" anchor="t">
            <a:noAutofit/>
          </a:bodyPr>
          <a:lstStyle/>
          <a:p>
            <a:pPr algn="l"/>
            <a:r>
              <a:rPr sz="1200" b="1" i="0">
                <a:solidFill>
                  <a:srgbClr val="0A2540"/>
                </a:solidFill>
                <a:latin typeface="DM Sans"/>
              </a:rPr>
              <a:t>V3</a:t>
            </a:r>
          </a:p>
        </p:txBody>
      </p:sp>
      <p:sp>
        <p:nvSpPr>
          <p:cNvPr id="20" name="TextBox 19"/>
          <p:cNvSpPr txBox="1"/>
          <p:nvPr/>
        </p:nvSpPr>
        <p:spPr>
          <a:xfrm>
            <a:off x="4455120" y="1741091"/>
            <a:ext cx="897830" cy="198120"/>
          </a:xfrm>
          <a:prstGeom prst="rect">
            <a:avLst/>
          </a:prstGeom>
          <a:noFill/>
        </p:spPr>
        <p:txBody>
          <a:bodyPr wrap="none" lIns="0" tIns="0" rIns="0" bIns="0" anchor="t">
            <a:noAutofit/>
          </a:bodyPr>
          <a:lstStyle/>
          <a:p>
            <a:pPr algn="l"/>
            <a:r>
              <a:rPr sz="1200" b="0" i="0">
                <a:solidFill>
                  <a:srgbClr val="5A6E80"/>
                </a:solidFill>
                <a:latin typeface="DM Sans"/>
              </a:rPr>
              <a:t>m 3</a:t>
            </a:r>
          </a:p>
        </p:txBody>
      </p:sp>
      <p:sp>
        <p:nvSpPr>
          <p:cNvPr id="21" name="Rectangle 20"/>
          <p:cNvSpPr/>
          <p:nvPr/>
        </p:nvSpPr>
        <p:spPr>
          <a:xfrm>
            <a:off x="5365651"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65651" y="1518841"/>
            <a:ext cx="897930" cy="198120"/>
          </a:xfrm>
          <a:prstGeom prst="rect">
            <a:avLst/>
          </a:prstGeom>
          <a:noFill/>
        </p:spPr>
        <p:txBody>
          <a:bodyPr wrap="none" lIns="0" tIns="0" rIns="0" bIns="0" anchor="t">
            <a:noAutofit/>
          </a:bodyPr>
          <a:lstStyle/>
          <a:p>
            <a:pPr algn="l"/>
            <a:r>
              <a:rPr sz="1200" b="1" i="0">
                <a:solidFill>
                  <a:srgbClr val="0A2540"/>
                </a:solidFill>
                <a:latin typeface="DM Sans"/>
              </a:rPr>
              <a:t>V4</a:t>
            </a:r>
          </a:p>
        </p:txBody>
      </p:sp>
      <p:sp>
        <p:nvSpPr>
          <p:cNvPr id="23" name="TextBox 22"/>
          <p:cNvSpPr txBox="1"/>
          <p:nvPr/>
        </p:nvSpPr>
        <p:spPr>
          <a:xfrm>
            <a:off x="5365651" y="1741091"/>
            <a:ext cx="897930" cy="198120"/>
          </a:xfrm>
          <a:prstGeom prst="rect">
            <a:avLst/>
          </a:prstGeom>
          <a:noFill/>
        </p:spPr>
        <p:txBody>
          <a:bodyPr wrap="none" lIns="0" tIns="0" rIns="0" bIns="0" anchor="t">
            <a:noAutofit/>
          </a:bodyPr>
          <a:lstStyle/>
          <a:p>
            <a:pPr algn="l"/>
            <a:r>
              <a:rPr sz="1200" b="0" i="0">
                <a:solidFill>
                  <a:srgbClr val="5A6E80"/>
                </a:solidFill>
                <a:latin typeface="DM Sans"/>
              </a:rPr>
              <a:t>m 6</a:t>
            </a:r>
          </a:p>
        </p:txBody>
      </p:sp>
      <p:sp>
        <p:nvSpPr>
          <p:cNvPr id="24" name="Rectangle 23"/>
          <p:cNvSpPr/>
          <p:nvPr/>
        </p:nvSpPr>
        <p:spPr>
          <a:xfrm>
            <a:off x="6276280"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76280" y="1518841"/>
            <a:ext cx="897930" cy="198120"/>
          </a:xfrm>
          <a:prstGeom prst="rect">
            <a:avLst/>
          </a:prstGeom>
          <a:noFill/>
        </p:spPr>
        <p:txBody>
          <a:bodyPr wrap="none" lIns="0" tIns="0" rIns="0" bIns="0" anchor="t">
            <a:noAutofit/>
          </a:bodyPr>
          <a:lstStyle/>
          <a:p>
            <a:pPr algn="l"/>
            <a:r>
              <a:rPr sz="1200" b="1" i="0">
                <a:solidFill>
                  <a:srgbClr val="0A2540"/>
                </a:solidFill>
                <a:latin typeface="DM Sans"/>
              </a:rPr>
              <a:t>V5</a:t>
            </a:r>
          </a:p>
        </p:txBody>
      </p:sp>
      <p:sp>
        <p:nvSpPr>
          <p:cNvPr id="26" name="TextBox 25"/>
          <p:cNvSpPr txBox="1"/>
          <p:nvPr/>
        </p:nvSpPr>
        <p:spPr>
          <a:xfrm>
            <a:off x="6276280" y="1741091"/>
            <a:ext cx="897930" cy="198120"/>
          </a:xfrm>
          <a:prstGeom prst="rect">
            <a:avLst/>
          </a:prstGeom>
          <a:noFill/>
        </p:spPr>
        <p:txBody>
          <a:bodyPr wrap="none" lIns="0" tIns="0" rIns="0" bIns="0" anchor="t">
            <a:noAutofit/>
          </a:bodyPr>
          <a:lstStyle/>
          <a:p>
            <a:pPr algn="l"/>
            <a:r>
              <a:rPr sz="1200" b="0" i="0">
                <a:solidFill>
                  <a:srgbClr val="5A6E80"/>
                </a:solidFill>
                <a:latin typeface="DM Sans"/>
              </a:rPr>
              <a:t>m 9</a:t>
            </a:r>
          </a:p>
        </p:txBody>
      </p:sp>
      <p:sp>
        <p:nvSpPr>
          <p:cNvPr id="27" name="Rectangle 26"/>
          <p:cNvSpPr/>
          <p:nvPr/>
        </p:nvSpPr>
        <p:spPr>
          <a:xfrm>
            <a:off x="718691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86910" y="1518841"/>
            <a:ext cx="897830" cy="198120"/>
          </a:xfrm>
          <a:prstGeom prst="rect">
            <a:avLst/>
          </a:prstGeom>
          <a:noFill/>
        </p:spPr>
        <p:txBody>
          <a:bodyPr wrap="none" lIns="0" tIns="0" rIns="0" bIns="0" anchor="t">
            <a:noAutofit/>
          </a:bodyPr>
          <a:lstStyle/>
          <a:p>
            <a:pPr algn="l"/>
            <a:r>
              <a:rPr sz="1200" b="1" i="0">
                <a:solidFill>
                  <a:srgbClr val="0A2540"/>
                </a:solidFill>
                <a:latin typeface="DM Sans"/>
              </a:rPr>
              <a:t>V6</a:t>
            </a:r>
          </a:p>
        </p:txBody>
      </p:sp>
      <p:sp>
        <p:nvSpPr>
          <p:cNvPr id="29" name="TextBox 28"/>
          <p:cNvSpPr txBox="1"/>
          <p:nvPr/>
        </p:nvSpPr>
        <p:spPr>
          <a:xfrm>
            <a:off x="7186910" y="1741091"/>
            <a:ext cx="897830" cy="198120"/>
          </a:xfrm>
          <a:prstGeom prst="rect">
            <a:avLst/>
          </a:prstGeom>
          <a:noFill/>
        </p:spPr>
        <p:txBody>
          <a:bodyPr wrap="none" lIns="0" tIns="0" rIns="0" bIns="0" anchor="t">
            <a:noAutofit/>
          </a:bodyPr>
          <a:lstStyle/>
          <a:p>
            <a:pPr algn="l"/>
            <a:r>
              <a:rPr sz="1200" b="0" i="0">
                <a:solidFill>
                  <a:srgbClr val="5A6E80"/>
                </a:solidFill>
                <a:latin typeface="DM Sans"/>
              </a:rPr>
              <a:t>m 12</a:t>
            </a:r>
          </a:p>
        </p:txBody>
      </p:sp>
      <p:sp>
        <p:nvSpPr>
          <p:cNvPr id="30" name="Rectangle 29"/>
          <p:cNvSpPr/>
          <p:nvPr/>
        </p:nvSpPr>
        <p:spPr>
          <a:xfrm>
            <a:off x="8097441"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97441" y="1518841"/>
            <a:ext cx="897930" cy="198120"/>
          </a:xfrm>
          <a:prstGeom prst="rect">
            <a:avLst/>
          </a:prstGeom>
          <a:noFill/>
        </p:spPr>
        <p:txBody>
          <a:bodyPr wrap="none" lIns="0" tIns="0" rIns="0" bIns="0" anchor="t">
            <a:noAutofit/>
          </a:bodyPr>
          <a:lstStyle/>
          <a:p>
            <a:pPr algn="l"/>
            <a:r>
              <a:rPr sz="1200" b="1" i="0">
                <a:solidFill>
                  <a:srgbClr val="0A2540"/>
                </a:solidFill>
                <a:latin typeface="DM Sans"/>
              </a:rPr>
              <a:t>V7</a:t>
            </a:r>
          </a:p>
        </p:txBody>
      </p:sp>
      <p:sp>
        <p:nvSpPr>
          <p:cNvPr id="32" name="TextBox 31"/>
          <p:cNvSpPr txBox="1"/>
          <p:nvPr/>
        </p:nvSpPr>
        <p:spPr>
          <a:xfrm>
            <a:off x="8097441" y="1741091"/>
            <a:ext cx="897930" cy="198120"/>
          </a:xfrm>
          <a:prstGeom prst="rect">
            <a:avLst/>
          </a:prstGeom>
          <a:noFill/>
        </p:spPr>
        <p:txBody>
          <a:bodyPr wrap="none" lIns="0" tIns="0" rIns="0" bIns="0" anchor="t">
            <a:noAutofit/>
          </a:bodyPr>
          <a:lstStyle/>
          <a:p>
            <a:pPr algn="l"/>
            <a:r>
              <a:rPr sz="1200" b="0" i="0">
                <a:solidFill>
                  <a:srgbClr val="5A6E80"/>
                </a:solidFill>
                <a:latin typeface="DM Sans"/>
              </a:rPr>
              <a:t>m 15</a:t>
            </a:r>
          </a:p>
        </p:txBody>
      </p:sp>
      <p:sp>
        <p:nvSpPr>
          <p:cNvPr id="33" name="Rectangle 32"/>
          <p:cNvSpPr/>
          <p:nvPr/>
        </p:nvSpPr>
        <p:spPr>
          <a:xfrm>
            <a:off x="900807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008070" y="1518841"/>
            <a:ext cx="897830" cy="198120"/>
          </a:xfrm>
          <a:prstGeom prst="rect">
            <a:avLst/>
          </a:prstGeom>
          <a:noFill/>
        </p:spPr>
        <p:txBody>
          <a:bodyPr wrap="none" lIns="0" tIns="0" rIns="0" bIns="0" anchor="t">
            <a:noAutofit/>
          </a:bodyPr>
          <a:lstStyle/>
          <a:p>
            <a:pPr algn="l"/>
            <a:r>
              <a:rPr sz="1200" b="1" i="0">
                <a:solidFill>
                  <a:srgbClr val="0A2540"/>
                </a:solidFill>
                <a:latin typeface="DM Sans"/>
              </a:rPr>
              <a:t>V8</a:t>
            </a:r>
          </a:p>
        </p:txBody>
      </p:sp>
      <p:sp>
        <p:nvSpPr>
          <p:cNvPr id="35" name="TextBox 34"/>
          <p:cNvSpPr txBox="1"/>
          <p:nvPr/>
        </p:nvSpPr>
        <p:spPr>
          <a:xfrm>
            <a:off x="9008070" y="1741091"/>
            <a:ext cx="897830" cy="198120"/>
          </a:xfrm>
          <a:prstGeom prst="rect">
            <a:avLst/>
          </a:prstGeom>
          <a:noFill/>
        </p:spPr>
        <p:txBody>
          <a:bodyPr wrap="none" lIns="0" tIns="0" rIns="0" bIns="0" anchor="t">
            <a:noAutofit/>
          </a:bodyPr>
          <a:lstStyle/>
          <a:p>
            <a:pPr algn="l"/>
            <a:r>
              <a:rPr sz="1200" b="0" i="0">
                <a:solidFill>
                  <a:srgbClr val="5A6E80"/>
                </a:solidFill>
                <a:latin typeface="DM Sans"/>
              </a:rPr>
              <a:t>m 18</a:t>
            </a:r>
          </a:p>
        </p:txBody>
      </p:sp>
      <p:sp>
        <p:nvSpPr>
          <p:cNvPr id="36" name="TextBox 35"/>
          <p:cNvSpPr txBox="1"/>
          <p:nvPr/>
        </p:nvSpPr>
        <p:spPr>
          <a:xfrm>
            <a:off x="10020201" y="1785541"/>
            <a:ext cx="1409700" cy="165100"/>
          </a:xfrm>
          <a:prstGeom prst="rect">
            <a:avLst/>
          </a:prstGeom>
          <a:noFill/>
        </p:spPr>
        <p:txBody>
          <a:bodyPr wrap="none" lIns="0" tIns="0" rIns="0" bIns="0" anchor="t">
            <a:noAutofit/>
          </a:bodyPr>
          <a:lstStyle/>
          <a:p>
            <a:pPr algn="l"/>
            <a:r>
              <a:rPr sz="1000" b="1" i="0">
                <a:solidFill>
                  <a:srgbClr val="5A6E80"/>
                </a:solidFill>
                <a:latin typeface="DM Sans"/>
              </a:rPr>
              <a:t>Wat · toestel</a:t>
            </a:r>
          </a:p>
        </p:txBody>
      </p:sp>
      <p:sp>
        <p:nvSpPr>
          <p:cNvPr id="37" name="Rectangle 36"/>
          <p:cNvSpPr/>
          <p:nvPr/>
        </p:nvSpPr>
        <p:spPr>
          <a:xfrm>
            <a:off x="81280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812800" y="2232521"/>
            <a:ext cx="847030" cy="29845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812800" y="2283321"/>
            <a:ext cx="847030" cy="198120"/>
          </a:xfrm>
          <a:prstGeom prst="rect">
            <a:avLst/>
          </a:prstGeom>
          <a:noFill/>
        </p:spPr>
        <p:txBody>
          <a:bodyPr wrap="none" lIns="0" tIns="0" rIns="0" bIns="0" anchor="t">
            <a:noAutofit/>
          </a:bodyPr>
          <a:lstStyle/>
          <a:p>
            <a:pPr algn="ctr"/>
            <a:r>
              <a:rPr sz="1200" b="0" i="0">
                <a:solidFill>
                  <a:srgbClr val="F2F8FC"/>
                </a:solidFill>
                <a:latin typeface="DM Sans"/>
              </a:rPr>
              <a:t>arts</a:t>
            </a:r>
          </a:p>
        </p:txBody>
      </p:sp>
      <p:sp>
        <p:nvSpPr>
          <p:cNvPr id="40" name="Rectangle 39"/>
          <p:cNvSpPr/>
          <p:nvPr/>
        </p:nvSpPr>
        <p:spPr>
          <a:xfrm>
            <a:off x="1723330"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1723330" y="2232521"/>
            <a:ext cx="847130" cy="29845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1723330" y="2283321"/>
            <a:ext cx="847130" cy="198120"/>
          </a:xfrm>
          <a:prstGeom prst="rect">
            <a:avLst/>
          </a:prstGeom>
          <a:noFill/>
        </p:spPr>
        <p:txBody>
          <a:bodyPr wrap="none" lIns="0" tIns="0" rIns="0" bIns="0" anchor="t">
            <a:noAutofit/>
          </a:bodyPr>
          <a:lstStyle/>
          <a:p>
            <a:pPr algn="ctr"/>
            <a:r>
              <a:rPr sz="1200" b="0" i="0">
                <a:solidFill>
                  <a:srgbClr val="F2F8FC"/>
                </a:solidFill>
                <a:latin typeface="DM Sans"/>
              </a:rPr>
              <a:t>PI</a:t>
            </a:r>
          </a:p>
        </p:txBody>
      </p:sp>
      <p:sp>
        <p:nvSpPr>
          <p:cNvPr id="43" name="Rectangle 42"/>
          <p:cNvSpPr/>
          <p:nvPr/>
        </p:nvSpPr>
        <p:spPr>
          <a:xfrm>
            <a:off x="263396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3544491"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45512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365651"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276280"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718691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8097441"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900807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9918601" y="2090341"/>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020201" y="2105620"/>
            <a:ext cx="1409700" cy="379611"/>
          </a:xfrm>
          <a:prstGeom prst="rect">
            <a:avLst/>
          </a:prstGeom>
          <a:noFill/>
        </p:spPr>
        <p:txBody>
          <a:bodyPr wrap="square" lIns="0" tIns="0" rIns="0" bIns="0" anchor="t">
            <a:noAutofit/>
          </a:bodyPr>
          <a:lstStyle/>
          <a:p>
            <a:pPr algn="l">
              <a:lnSpc>
                <a:spcPts val="1495"/>
              </a:lnSpc>
            </a:pPr>
            <a:r>
              <a:rPr sz="1300" b="1" i="0">
                <a:solidFill>
                  <a:srgbClr val="0A2540"/>
                </a:solidFill>
                <a:latin typeface="DM Sans"/>
              </a:rPr>
              <a:t>Toestemming en loting</a:t>
            </a:r>
          </a:p>
        </p:txBody>
      </p:sp>
      <p:sp>
        <p:nvSpPr>
          <p:cNvPr id="53" name="TextBox 52"/>
          <p:cNvSpPr txBox="1"/>
          <p:nvPr/>
        </p:nvSpPr>
        <p:spPr>
          <a:xfrm>
            <a:off x="10020201" y="2497931"/>
            <a:ext cx="1409700" cy="160020"/>
          </a:xfrm>
          <a:prstGeom prst="rect">
            <a:avLst/>
          </a:prstGeom>
          <a:noFill/>
        </p:spPr>
        <p:txBody>
          <a:bodyPr wrap="none" lIns="0" tIns="0" rIns="0" bIns="0" anchor="t">
            <a:noAutofit/>
          </a:bodyPr>
          <a:lstStyle/>
          <a:p>
            <a:pPr algn="l">
              <a:lnSpc>
                <a:spcPts val="1260"/>
              </a:lnSpc>
            </a:pPr>
            <a:r>
              <a:rPr sz="1050" b="0" i="0">
                <a:solidFill>
                  <a:srgbClr val="5A6E80"/>
                </a:solidFill>
                <a:latin typeface="DM Sans"/>
              </a:rPr>
              <a:t>arts, dan PI</a:t>
            </a:r>
          </a:p>
        </p:txBody>
      </p:sp>
      <p:sp>
        <p:nvSpPr>
          <p:cNvPr id="54" name="Rectangle 53"/>
          <p:cNvSpPr/>
          <p:nvPr/>
        </p:nvSpPr>
        <p:spPr>
          <a:xfrm>
            <a:off x="81280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723330"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263396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2633960" y="2891730"/>
            <a:ext cx="847030" cy="26035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3121124" y="2923480"/>
            <a:ext cx="152003" cy="198120"/>
          </a:xfrm>
          <a:prstGeom prst="rect">
            <a:avLst/>
          </a:prstGeom>
          <a:noFill/>
        </p:spPr>
        <p:txBody>
          <a:bodyPr wrap="none" lIns="0" tIns="0" rIns="0" bIns="0" anchor="t">
            <a:noAutofit/>
          </a:bodyPr>
          <a:lstStyle/>
          <a:p>
            <a:pPr algn="l"/>
            <a:r>
              <a:rPr sz="1200" b="0" i="0">
                <a:solidFill>
                  <a:srgbClr val="0A2540"/>
                </a:solidFill>
                <a:latin typeface="DM Sans"/>
              </a:rPr>
              <a:t>A</a:t>
            </a:r>
          </a:p>
        </p:txBody>
      </p:sp>
      <p:sp>
        <p:nvSpPr>
          <p:cNvPr id="59" name="Rectangle 58"/>
          <p:cNvSpPr/>
          <p:nvPr/>
        </p:nvSpPr>
        <p:spPr>
          <a:xfrm>
            <a:off x="3544491"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445512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5365651"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5365651" y="2891730"/>
            <a:ext cx="847130" cy="26035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5724426" y="2923480"/>
            <a:ext cx="408880" cy="198120"/>
          </a:xfrm>
          <a:prstGeom prst="rect">
            <a:avLst/>
          </a:prstGeom>
          <a:noFill/>
        </p:spPr>
        <p:txBody>
          <a:bodyPr wrap="none" lIns="0" tIns="0" rIns="0" bIns="0" anchor="t">
            <a:noAutofit/>
          </a:bodyPr>
          <a:lstStyle/>
          <a:p>
            <a:pPr algn="l"/>
            <a:r>
              <a:rPr sz="1200" b="0" i="0">
                <a:solidFill>
                  <a:srgbClr val="0A2540"/>
                </a:solidFill>
                <a:latin typeface="DM Sans"/>
              </a:rPr>
              <a:t>A + B</a:t>
            </a:r>
          </a:p>
        </p:txBody>
      </p:sp>
      <p:sp>
        <p:nvSpPr>
          <p:cNvPr id="64" name="Rectangle 63"/>
          <p:cNvSpPr/>
          <p:nvPr/>
        </p:nvSpPr>
        <p:spPr>
          <a:xfrm>
            <a:off x="6276280"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718691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8097441"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900807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9918601" y="2730401"/>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9" name="Picture 68" descr="7006ea103c3e8fa9006c500fec1a0272.png"/>
          <p:cNvPicPr>
            <a:picLocks noChangeAspect="1"/>
          </p:cNvPicPr>
          <p:nvPr/>
        </p:nvPicPr>
        <p:blipFill>
          <a:blip r:embed="rId4"/>
          <a:stretch>
            <a:fillRect/>
          </a:stretch>
        </p:blipFill>
        <p:spPr>
          <a:xfrm>
            <a:off x="9994801" y="2913955"/>
            <a:ext cx="292100" cy="215900"/>
          </a:xfrm>
          <a:prstGeom prst="rect">
            <a:avLst/>
          </a:prstGeom>
        </p:spPr>
      </p:pic>
      <p:sp>
        <p:nvSpPr>
          <p:cNvPr id="70" name="TextBox 69"/>
          <p:cNvSpPr txBox="1"/>
          <p:nvPr/>
        </p:nvSpPr>
        <p:spPr>
          <a:xfrm>
            <a:off x="10350401" y="2840633"/>
            <a:ext cx="1002804"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Drukmeting</a:t>
            </a:r>
          </a:p>
        </p:txBody>
      </p:sp>
      <p:sp>
        <p:nvSpPr>
          <p:cNvPr id="71" name="TextBox 70"/>
          <p:cNvSpPr txBox="1"/>
          <p:nvPr/>
        </p:nvSpPr>
        <p:spPr>
          <a:xfrm>
            <a:off x="10350401" y="3043138"/>
            <a:ext cx="1002804" cy="160020"/>
          </a:xfrm>
          <a:prstGeom prst="rect">
            <a:avLst/>
          </a:prstGeom>
          <a:noFill/>
        </p:spPr>
        <p:txBody>
          <a:bodyPr wrap="none" lIns="0" tIns="0" rIns="0" bIns="0" anchor="t">
            <a:noAutofit/>
          </a:bodyPr>
          <a:lstStyle/>
          <a:p>
            <a:pPr algn="l">
              <a:lnSpc>
                <a:spcPts val="1260"/>
              </a:lnSpc>
            </a:pPr>
            <a:r>
              <a:rPr sz="1050" b="1" i="0">
                <a:solidFill>
                  <a:srgbClr val="A34A00"/>
                </a:solidFill>
                <a:latin typeface="DM Sans"/>
              </a:rPr>
              <a:t>geblindeerd</a:t>
            </a:r>
          </a:p>
        </p:txBody>
      </p:sp>
      <p:sp>
        <p:nvSpPr>
          <p:cNvPr id="72" name="Rectangle 71"/>
          <p:cNvSpPr/>
          <p:nvPr/>
        </p:nvSpPr>
        <p:spPr>
          <a:xfrm>
            <a:off x="81280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723330"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263396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p:cNvSpPr/>
          <p:nvPr/>
        </p:nvSpPr>
        <p:spPr>
          <a:xfrm>
            <a:off x="2633960" y="3512741"/>
            <a:ext cx="847030" cy="29845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Box 75"/>
          <p:cNvSpPr txBox="1"/>
          <p:nvPr/>
        </p:nvSpPr>
        <p:spPr>
          <a:xfrm>
            <a:off x="2633960" y="3563541"/>
            <a:ext cx="847030" cy="198120"/>
          </a:xfrm>
          <a:prstGeom prst="rect">
            <a:avLst/>
          </a:prstGeom>
          <a:noFill/>
        </p:spPr>
        <p:txBody>
          <a:bodyPr wrap="none" lIns="0" tIns="0" rIns="0" bIns="0" anchor="t">
            <a:noAutofit/>
          </a:bodyPr>
          <a:lstStyle/>
          <a:p>
            <a:pPr algn="ctr"/>
            <a:r>
              <a:rPr sz="1200" b="0" i="0">
                <a:solidFill>
                  <a:srgbClr val="F2F8FC"/>
                </a:solidFill>
                <a:latin typeface="DM Sans"/>
              </a:rPr>
              <a:t>1 week</a:t>
            </a:r>
          </a:p>
        </p:txBody>
      </p:sp>
      <p:sp>
        <p:nvSpPr>
          <p:cNvPr id="77" name="Rectangle 76"/>
          <p:cNvSpPr/>
          <p:nvPr/>
        </p:nvSpPr>
        <p:spPr>
          <a:xfrm>
            <a:off x="3544491"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445512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5365651"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6276280"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718691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8097441"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900807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9918601" y="3370560"/>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5" name="Picture 84" descr="c3433b372cfc1d99d6ab11119954a595.png"/>
          <p:cNvPicPr>
            <a:picLocks noChangeAspect="1"/>
          </p:cNvPicPr>
          <p:nvPr/>
        </p:nvPicPr>
        <p:blipFill>
          <a:blip r:embed="rId5"/>
          <a:stretch>
            <a:fillRect/>
          </a:stretch>
        </p:blipFill>
        <p:spPr>
          <a:xfrm>
            <a:off x="9994801" y="3554016"/>
            <a:ext cx="292100" cy="215900"/>
          </a:xfrm>
          <a:prstGeom prst="rect">
            <a:avLst/>
          </a:prstGeom>
        </p:spPr>
      </p:pic>
      <p:sp>
        <p:nvSpPr>
          <p:cNvPr id="86" name="TextBox 85"/>
          <p:cNvSpPr txBox="1"/>
          <p:nvPr/>
        </p:nvSpPr>
        <p:spPr>
          <a:xfrm>
            <a:off x="10350401" y="3480792"/>
            <a:ext cx="860028"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Waaktijd</a:t>
            </a:r>
          </a:p>
        </p:txBody>
      </p:sp>
      <p:sp>
        <p:nvSpPr>
          <p:cNvPr id="87" name="TextBox 86"/>
          <p:cNvSpPr txBox="1"/>
          <p:nvPr/>
        </p:nvSpPr>
        <p:spPr>
          <a:xfrm>
            <a:off x="10350401" y="3683298"/>
            <a:ext cx="860028" cy="160020"/>
          </a:xfrm>
          <a:prstGeom prst="rect">
            <a:avLst/>
          </a:prstGeom>
          <a:noFill/>
        </p:spPr>
        <p:txBody>
          <a:bodyPr wrap="none" lIns="0" tIns="0" rIns="0" bIns="0" anchor="t">
            <a:noAutofit/>
          </a:bodyPr>
          <a:lstStyle/>
          <a:p>
            <a:pPr algn="l">
              <a:lnSpc>
                <a:spcPts val="1260"/>
              </a:lnSpc>
            </a:pPr>
            <a:r>
              <a:rPr sz="1050" b="0" i="0">
                <a:solidFill>
                  <a:srgbClr val="5A6E80"/>
                </a:solidFill>
                <a:latin typeface="DM Sans"/>
              </a:rPr>
              <a:t>MoveMonitor</a:t>
            </a:r>
          </a:p>
        </p:txBody>
      </p:sp>
      <p:sp>
        <p:nvSpPr>
          <p:cNvPr id="88" name="Rectangle 87"/>
          <p:cNvSpPr/>
          <p:nvPr/>
        </p:nvSpPr>
        <p:spPr>
          <a:xfrm>
            <a:off x="81280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1723330"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263396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3544491"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ounded Rectangle 91"/>
          <p:cNvSpPr/>
          <p:nvPr/>
        </p:nvSpPr>
        <p:spPr>
          <a:xfrm>
            <a:off x="3544491" y="4152900"/>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TextBox 92"/>
          <p:cNvSpPr txBox="1"/>
          <p:nvPr/>
        </p:nvSpPr>
        <p:spPr>
          <a:xfrm>
            <a:off x="3544491" y="4203700"/>
            <a:ext cx="847130" cy="198120"/>
          </a:xfrm>
          <a:prstGeom prst="rect">
            <a:avLst/>
          </a:prstGeom>
          <a:noFill/>
        </p:spPr>
        <p:txBody>
          <a:bodyPr wrap="none" lIns="0" tIns="0" rIns="0" bIns="0" anchor="t">
            <a:noAutofit/>
          </a:bodyPr>
          <a:lstStyle/>
          <a:p>
            <a:pPr algn="ctr"/>
            <a:r>
              <a:rPr sz="1200" b="0" i="0">
                <a:solidFill>
                  <a:srgbClr val="F2F8FC"/>
                </a:solidFill>
                <a:latin typeface="DM Sans"/>
              </a:rPr>
              <a:t>start</a:t>
            </a:r>
          </a:p>
        </p:txBody>
      </p:sp>
      <p:sp>
        <p:nvSpPr>
          <p:cNvPr id="94" name="Rectangle 93"/>
          <p:cNvSpPr/>
          <p:nvPr/>
        </p:nvSpPr>
        <p:spPr>
          <a:xfrm>
            <a:off x="445512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ounded Rectangle 94"/>
          <p:cNvSpPr/>
          <p:nvPr/>
        </p:nvSpPr>
        <p:spPr>
          <a:xfrm>
            <a:off x="4455120" y="4152900"/>
            <a:ext cx="8470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TextBox 95"/>
          <p:cNvSpPr txBox="1"/>
          <p:nvPr/>
        </p:nvSpPr>
        <p:spPr>
          <a:xfrm>
            <a:off x="4455120" y="4203700"/>
            <a:ext cx="8470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97" name="Rectangle 96"/>
          <p:cNvSpPr/>
          <p:nvPr/>
        </p:nvSpPr>
        <p:spPr>
          <a:xfrm>
            <a:off x="5365651"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ounded Rectangle 97"/>
          <p:cNvSpPr/>
          <p:nvPr/>
        </p:nvSpPr>
        <p:spPr>
          <a:xfrm>
            <a:off x="5365651" y="4152900"/>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TextBox 98"/>
          <p:cNvSpPr txBox="1"/>
          <p:nvPr/>
        </p:nvSpPr>
        <p:spPr>
          <a:xfrm>
            <a:off x="5365651" y="4203700"/>
            <a:ext cx="8471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00" name="Rectangle 99"/>
          <p:cNvSpPr/>
          <p:nvPr/>
        </p:nvSpPr>
        <p:spPr>
          <a:xfrm>
            <a:off x="6276280"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ounded Rectangle 100"/>
          <p:cNvSpPr/>
          <p:nvPr/>
        </p:nvSpPr>
        <p:spPr>
          <a:xfrm>
            <a:off x="6276280" y="4152900"/>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TextBox 101"/>
          <p:cNvSpPr txBox="1"/>
          <p:nvPr/>
        </p:nvSpPr>
        <p:spPr>
          <a:xfrm>
            <a:off x="6276280" y="4203700"/>
            <a:ext cx="8471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03" name="Rectangle 102"/>
          <p:cNvSpPr/>
          <p:nvPr/>
        </p:nvSpPr>
        <p:spPr>
          <a:xfrm>
            <a:off x="718691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ounded Rectangle 103"/>
          <p:cNvSpPr/>
          <p:nvPr/>
        </p:nvSpPr>
        <p:spPr>
          <a:xfrm>
            <a:off x="7186910" y="4152900"/>
            <a:ext cx="8470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TextBox 104"/>
          <p:cNvSpPr txBox="1"/>
          <p:nvPr/>
        </p:nvSpPr>
        <p:spPr>
          <a:xfrm>
            <a:off x="7186910" y="4203700"/>
            <a:ext cx="8470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06" name="Rectangle 105"/>
          <p:cNvSpPr/>
          <p:nvPr/>
        </p:nvSpPr>
        <p:spPr>
          <a:xfrm>
            <a:off x="8097441"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ounded Rectangle 106"/>
          <p:cNvSpPr/>
          <p:nvPr/>
        </p:nvSpPr>
        <p:spPr>
          <a:xfrm>
            <a:off x="8097441" y="4152900"/>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8" name="TextBox 107"/>
          <p:cNvSpPr txBox="1"/>
          <p:nvPr/>
        </p:nvSpPr>
        <p:spPr>
          <a:xfrm>
            <a:off x="8097441" y="4203700"/>
            <a:ext cx="8471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09" name="Rectangle 108"/>
          <p:cNvSpPr/>
          <p:nvPr/>
        </p:nvSpPr>
        <p:spPr>
          <a:xfrm>
            <a:off x="900807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ounded Rectangle 109"/>
          <p:cNvSpPr/>
          <p:nvPr/>
        </p:nvSpPr>
        <p:spPr>
          <a:xfrm>
            <a:off x="9008070" y="4152900"/>
            <a:ext cx="8470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TextBox 110"/>
          <p:cNvSpPr txBox="1"/>
          <p:nvPr/>
        </p:nvSpPr>
        <p:spPr>
          <a:xfrm>
            <a:off x="9008070" y="4203700"/>
            <a:ext cx="8470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12" name="Rectangle 111"/>
          <p:cNvSpPr/>
          <p:nvPr/>
        </p:nvSpPr>
        <p:spPr>
          <a:xfrm>
            <a:off x="9918601" y="4010620"/>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3" name="Picture 112" descr="08f3416e444e7f76df034ad715d9910f.png"/>
          <p:cNvPicPr>
            <a:picLocks noChangeAspect="1"/>
          </p:cNvPicPr>
          <p:nvPr/>
        </p:nvPicPr>
        <p:blipFill>
          <a:blip r:embed="rId6"/>
          <a:stretch>
            <a:fillRect/>
          </a:stretch>
        </p:blipFill>
        <p:spPr>
          <a:xfrm>
            <a:off x="9994801" y="4194175"/>
            <a:ext cx="292100" cy="215900"/>
          </a:xfrm>
          <a:prstGeom prst="rect">
            <a:avLst/>
          </a:prstGeom>
        </p:spPr>
      </p:pic>
      <p:sp>
        <p:nvSpPr>
          <p:cNvPr id="114" name="TextBox 113"/>
          <p:cNvSpPr txBox="1"/>
          <p:nvPr/>
        </p:nvSpPr>
        <p:spPr>
          <a:xfrm>
            <a:off x="10350401" y="4040882"/>
            <a:ext cx="1079500"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Draagtijd</a:t>
            </a:r>
          </a:p>
        </p:txBody>
      </p:sp>
      <p:sp>
        <p:nvSpPr>
          <p:cNvPr id="115" name="TextBox 114"/>
          <p:cNvSpPr txBox="1"/>
          <p:nvPr/>
        </p:nvSpPr>
        <p:spPr>
          <a:xfrm>
            <a:off x="10350401" y="4243388"/>
            <a:ext cx="1079500" cy="319881"/>
          </a:xfrm>
          <a:prstGeom prst="rect">
            <a:avLst/>
          </a:prstGeom>
          <a:noFill/>
        </p:spPr>
        <p:txBody>
          <a:bodyPr wrap="square" lIns="0" tIns="0" rIns="0" bIns="0" anchor="t">
            <a:noAutofit/>
          </a:bodyPr>
          <a:lstStyle/>
          <a:p>
            <a:pPr algn="l">
              <a:lnSpc>
                <a:spcPts val="1260"/>
              </a:lnSpc>
            </a:pPr>
            <a:r>
              <a:rPr sz="1050" b="1" i="0">
                <a:solidFill>
                  <a:srgbClr val="A34A00"/>
                </a:solidFill>
                <a:latin typeface="DM Sans"/>
              </a:rPr>
              <a:t>zonder feedback</a:t>
            </a:r>
          </a:p>
        </p:txBody>
      </p:sp>
      <p:sp>
        <p:nvSpPr>
          <p:cNvPr id="116" name="Rectangle 115"/>
          <p:cNvSpPr/>
          <p:nvPr/>
        </p:nvSpPr>
        <p:spPr>
          <a:xfrm>
            <a:off x="812800" y="465078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1723330" y="465078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p:cNvSpPr/>
          <p:nvPr/>
        </p:nvSpPr>
        <p:spPr>
          <a:xfrm>
            <a:off x="2633960" y="4650780"/>
            <a:ext cx="7221141"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ounded Rectangle 118"/>
          <p:cNvSpPr/>
          <p:nvPr/>
        </p:nvSpPr>
        <p:spPr>
          <a:xfrm>
            <a:off x="2633960" y="4793059"/>
            <a:ext cx="7221141" cy="29845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TextBox 119"/>
          <p:cNvSpPr txBox="1"/>
          <p:nvPr/>
        </p:nvSpPr>
        <p:spPr>
          <a:xfrm>
            <a:off x="2633960" y="4843859"/>
            <a:ext cx="7221141" cy="198120"/>
          </a:xfrm>
          <a:prstGeom prst="rect">
            <a:avLst/>
          </a:prstGeom>
          <a:noFill/>
        </p:spPr>
        <p:txBody>
          <a:bodyPr wrap="none" lIns="0" tIns="0" rIns="0" bIns="0" anchor="t">
            <a:noAutofit/>
          </a:bodyPr>
          <a:lstStyle/>
          <a:p>
            <a:pPr algn="ctr"/>
            <a:r>
              <a:rPr sz="1200" b="0" i="0">
                <a:solidFill>
                  <a:srgbClr val="0A2540"/>
                </a:solidFill>
                <a:latin typeface="DM Sans"/>
              </a:rPr>
              <a:t>geen SEBIA: voetzorg en educatie zoals vandaag</a:t>
            </a:r>
          </a:p>
        </p:txBody>
      </p:sp>
      <p:sp>
        <p:nvSpPr>
          <p:cNvPr id="121" name="Rectangle 120"/>
          <p:cNvSpPr/>
          <p:nvPr/>
        </p:nvSpPr>
        <p:spPr>
          <a:xfrm>
            <a:off x="9918601" y="4650780"/>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10020201" y="4761012"/>
            <a:ext cx="1409700"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Educatie</a:t>
            </a:r>
          </a:p>
        </p:txBody>
      </p:sp>
      <p:sp>
        <p:nvSpPr>
          <p:cNvPr id="123" name="TextBox 122"/>
          <p:cNvSpPr txBox="1"/>
          <p:nvPr/>
        </p:nvSpPr>
        <p:spPr>
          <a:xfrm>
            <a:off x="10020201" y="4963517"/>
            <a:ext cx="1409700" cy="160020"/>
          </a:xfrm>
          <a:prstGeom prst="rect">
            <a:avLst/>
          </a:prstGeom>
          <a:noFill/>
        </p:spPr>
        <p:txBody>
          <a:bodyPr wrap="none" lIns="0" tIns="0" rIns="0" bIns="0" anchor="t">
            <a:noAutofit/>
          </a:bodyPr>
          <a:lstStyle/>
          <a:p>
            <a:pPr algn="l">
              <a:lnSpc>
                <a:spcPts val="1260"/>
              </a:lnSpc>
            </a:pPr>
            <a:r>
              <a:rPr sz="1050" b="1" i="0">
                <a:solidFill>
                  <a:srgbClr val="A34A00"/>
                </a:solidFill>
                <a:latin typeface="DM Sans"/>
              </a:rPr>
              <a:t>zoals vandaag</a:t>
            </a:r>
          </a:p>
        </p:txBody>
      </p:sp>
      <p:sp>
        <p:nvSpPr>
          <p:cNvPr id="124" name="TextBox 123"/>
          <p:cNvSpPr txBox="1"/>
          <p:nvPr/>
        </p:nvSpPr>
        <p:spPr>
          <a:xfrm>
            <a:off x="812800" y="5430639"/>
            <a:ext cx="10777728" cy="411361"/>
          </a:xfrm>
          <a:prstGeom prst="rect">
            <a:avLst/>
          </a:prstGeom>
          <a:noFill/>
        </p:spPr>
        <p:txBody>
          <a:bodyPr wrap="square" lIns="0" tIns="0" rIns="0" bIns="0" anchor="t">
            <a:noAutofit/>
          </a:bodyPr>
          <a:lstStyle/>
          <a:p>
            <a:pPr algn="l">
              <a:lnSpc>
                <a:spcPts val="1620"/>
              </a:lnSpc>
            </a:pPr>
            <a:r>
              <a:rPr sz="1200" b="0" i="0">
                <a:solidFill>
                  <a:srgbClr val="5A6E80"/>
                </a:solidFill>
                <a:latin typeface="DM Sans"/>
              </a:rPr>
              <a:t>In oranje wat anders is dan in Optimal Care · de drukmeting met het slot is geblindeerd: drempel 50 kPa, waarden uit, niet getoond of besproken</a:t>
            </a:r>
          </a:p>
          <a:p>
            <a:pPr algn="l">
              <a:lnSpc>
                <a:spcPts val="1620"/>
              </a:lnSpc>
            </a:pPr>
            <a:r>
              <a:rPr sz="1200" b="0" i="0">
                <a:solidFill>
                  <a:srgbClr val="5A6E80"/>
                </a:solidFill>
                <a:latin typeface="DM Sans"/>
              </a:rPr>
              <a:t>Voet- en schoeiselscreening op V1 en vanaf V3 · vragenlijsten op papier in de wachtzaal · kostendagboek telefonisch</a:t>
            </a:r>
          </a:p>
        </p:txBody>
      </p:sp>
      <p:pic>
        <p:nvPicPr>
          <p:cNvPr id="125" name="Picture 124" descr="ec5c93e6f83f209b4e97ddfdecd480c8.png"/>
          <p:cNvPicPr>
            <a:picLocks noChangeAspect="1"/>
          </p:cNvPicPr>
          <p:nvPr/>
        </p:nvPicPr>
        <p:blipFill>
          <a:blip r:embed="rId7"/>
          <a:stretch>
            <a:fillRect/>
          </a:stretch>
        </p:blipFill>
        <p:spPr>
          <a:xfrm>
            <a:off x="812967" y="6261100"/>
            <a:ext cx="171116" cy="203200"/>
          </a:xfrm>
          <a:prstGeom prst="rect">
            <a:avLst/>
          </a:prstGeom>
        </p:spPr>
      </p:pic>
      <p:sp>
        <p:nvSpPr>
          <p:cNvPr id="126" name="TextBox 125"/>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Werkpakketten</a:t>
            </a:r>
          </a:p>
        </p:txBody>
      </p:sp>
      <p:sp>
        <p:nvSpPr>
          <p:cNvPr id="127" name="TextBox 126"/>
          <p:cNvSpPr txBox="1"/>
          <p:nvPr/>
        </p:nvSpPr>
        <p:spPr>
          <a:xfrm>
            <a:off x="6502400" y="6254750"/>
            <a:ext cx="4876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§5.5 · SEBIA-script (eCRF 17)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ounded Rectangle 1"/>
          <p:cNvSpPr/>
          <p:nvPr/>
        </p:nvSpPr>
        <p:spPr>
          <a:xfrm>
            <a:off x="9220200" y="889000"/>
            <a:ext cx="2159000" cy="4127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9194800" y="952500"/>
            <a:ext cx="2209800" cy="285750"/>
          </a:xfrm>
          <a:prstGeom prst="rect">
            <a:avLst/>
          </a:prstGeom>
          <a:noFill/>
        </p:spPr>
        <p:txBody>
          <a:bodyPr wrap="none" lIns="0" tIns="0" rIns="0" bIns="0" anchor="t">
            <a:noAutofit/>
          </a:bodyPr>
          <a:lstStyle/>
          <a:p>
            <a:pPr algn="ctr"/>
            <a:r>
              <a:rPr sz="1700" b="1" i="0">
                <a:solidFill>
                  <a:srgbClr val="F2F8FC"/>
                </a:solidFill>
                <a:latin typeface="DM Sans"/>
              </a:rPr>
              <a:t>Optimal Care</a:t>
            </a:r>
          </a:p>
        </p:txBody>
      </p:sp>
      <p:sp>
        <p:nvSpPr>
          <p:cNvPr id="4" name="TextBox 3"/>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SEBIA-interventie: componenten</a:t>
            </a:r>
          </a:p>
        </p:txBody>
      </p:sp>
      <p:sp>
        <p:nvSpPr>
          <p:cNvPr id="5" name="TextBox 4"/>
          <p:cNvSpPr txBox="1"/>
          <p:nvPr/>
        </p:nvSpPr>
        <p:spPr>
          <a:xfrm>
            <a:off x="812800" y="1391841"/>
            <a:ext cx="10617200" cy="234950"/>
          </a:xfrm>
          <a:prstGeom prst="rect">
            <a:avLst/>
          </a:prstGeom>
          <a:noFill/>
        </p:spPr>
        <p:txBody>
          <a:bodyPr wrap="none" lIns="0" tIns="0" rIns="0" bIns="0" anchor="t">
            <a:noAutofit/>
          </a:bodyPr>
          <a:lstStyle/>
          <a:p>
            <a:pPr algn="l"/>
            <a:r>
              <a:rPr sz="1400" b="0" i="0">
                <a:solidFill>
                  <a:srgbClr val="5A6E80"/>
                </a:solidFill>
                <a:latin typeface="DM Sans"/>
              </a:rPr>
              <a:t>Structured Education and Behavioural Intervention Approach</a:t>
            </a:r>
          </a:p>
        </p:txBody>
      </p:sp>
      <p:pic>
        <p:nvPicPr>
          <p:cNvPr id="6" name="Picture 5" descr="6de44dba357a7686ab4958f527799b90.png"/>
          <p:cNvPicPr>
            <a:picLocks noChangeAspect="1"/>
          </p:cNvPicPr>
          <p:nvPr/>
        </p:nvPicPr>
        <p:blipFill>
          <a:blip r:embed="rId3"/>
          <a:stretch>
            <a:fillRect/>
          </a:stretch>
        </p:blipFill>
        <p:spPr>
          <a:xfrm>
            <a:off x="812800" y="1879600"/>
            <a:ext cx="5130800" cy="1905000"/>
          </a:xfrm>
          <a:prstGeom prst="rect">
            <a:avLst/>
          </a:prstGeom>
        </p:spPr>
      </p:pic>
      <p:pic>
        <p:nvPicPr>
          <p:cNvPr id="7" name="Picture 6" descr="fd222c2b5b39e2cb237c513a9738b5ab.png"/>
          <p:cNvPicPr>
            <a:picLocks noChangeAspect="1"/>
          </p:cNvPicPr>
          <p:nvPr/>
        </p:nvPicPr>
        <p:blipFill>
          <a:blip r:embed="rId4"/>
          <a:stretch>
            <a:fillRect/>
          </a:stretch>
        </p:blipFill>
        <p:spPr>
          <a:xfrm>
            <a:off x="6248400" y="1879600"/>
            <a:ext cx="5130800" cy="1905000"/>
          </a:xfrm>
          <a:prstGeom prst="rect">
            <a:avLst/>
          </a:prstGeom>
        </p:spPr>
      </p:pic>
      <p:sp>
        <p:nvSpPr>
          <p:cNvPr id="8" name="TextBox 7"/>
          <p:cNvSpPr txBox="1"/>
          <p:nvPr/>
        </p:nvSpPr>
        <p:spPr>
          <a:xfrm>
            <a:off x="812800" y="3937000"/>
            <a:ext cx="5181600" cy="330200"/>
          </a:xfrm>
          <a:prstGeom prst="rect">
            <a:avLst/>
          </a:prstGeom>
          <a:noFill/>
        </p:spPr>
        <p:txBody>
          <a:bodyPr wrap="none" lIns="0" tIns="0" rIns="0" bIns="0" anchor="t">
            <a:noAutofit/>
          </a:bodyPr>
          <a:lstStyle/>
          <a:p>
            <a:pPr algn="l">
              <a:lnSpc>
                <a:spcPts val="2600"/>
              </a:lnSpc>
            </a:pPr>
            <a:r>
              <a:rPr sz="2600" b="0" i="0">
                <a:solidFill>
                  <a:srgbClr val="00407A"/>
                </a:solidFill>
                <a:latin typeface="DM Serif Display"/>
              </a:rPr>
              <a:t>Diabetesvoetzorg</a:t>
            </a:r>
          </a:p>
        </p:txBody>
      </p:sp>
      <p:sp>
        <p:nvSpPr>
          <p:cNvPr id="9" name="TextBox 8"/>
          <p:cNvSpPr txBox="1"/>
          <p:nvPr/>
        </p:nvSpPr>
        <p:spPr>
          <a:xfrm>
            <a:off x="812800" y="4381500"/>
            <a:ext cx="5181600" cy="234950"/>
          </a:xfrm>
          <a:prstGeom prst="rect">
            <a:avLst/>
          </a:prstGeom>
          <a:noFill/>
        </p:spPr>
        <p:txBody>
          <a:bodyPr wrap="none" lIns="0" tIns="0" rIns="0" bIns="0" anchor="t">
            <a:noAutofit/>
          </a:bodyPr>
          <a:lstStyle/>
          <a:p>
            <a:pPr algn="l"/>
            <a:r>
              <a:rPr sz="1400" b="1" i="0">
                <a:solidFill>
                  <a:srgbClr val="00407A"/>
                </a:solidFill>
                <a:latin typeface="DM Sans"/>
              </a:rPr>
              <a:t>Educatie en skills training</a:t>
            </a:r>
          </a:p>
        </p:txBody>
      </p:sp>
      <p:sp>
        <p:nvSpPr>
          <p:cNvPr id="10" name="TextBox 9"/>
          <p:cNvSpPr txBox="1"/>
          <p:nvPr/>
        </p:nvSpPr>
        <p:spPr>
          <a:xfrm>
            <a:off x="812800" y="4679950"/>
            <a:ext cx="5181600" cy="231140"/>
          </a:xfrm>
          <a:prstGeom prst="rect">
            <a:avLst/>
          </a:prstGeom>
          <a:noFill/>
        </p:spPr>
        <p:txBody>
          <a:bodyPr wrap="none" lIns="0" tIns="0" rIns="0" bIns="0" anchor="t">
            <a:noAutofit/>
          </a:bodyPr>
          <a:lstStyle/>
          <a:p>
            <a:pPr algn="l">
              <a:lnSpc>
                <a:spcPts val="1820"/>
              </a:lnSpc>
            </a:pPr>
            <a:r>
              <a:rPr sz="1400" b="0" i="0">
                <a:solidFill>
                  <a:srgbClr val="3A4F63"/>
                </a:solidFill>
                <a:latin typeface="DM Sans"/>
              </a:rPr>
              <a:t>kennis goede voetzorg</a:t>
            </a:r>
          </a:p>
        </p:txBody>
      </p:sp>
      <p:sp>
        <p:nvSpPr>
          <p:cNvPr id="11" name="TextBox 10"/>
          <p:cNvSpPr txBox="1"/>
          <p:nvPr/>
        </p:nvSpPr>
        <p:spPr>
          <a:xfrm>
            <a:off x="812800" y="4974530"/>
            <a:ext cx="5181600" cy="231140"/>
          </a:xfrm>
          <a:prstGeom prst="rect">
            <a:avLst/>
          </a:prstGeom>
          <a:noFill/>
        </p:spPr>
        <p:txBody>
          <a:bodyPr wrap="none" lIns="0" tIns="0" rIns="0" bIns="0" anchor="t">
            <a:noAutofit/>
          </a:bodyPr>
          <a:lstStyle/>
          <a:p>
            <a:pPr algn="l">
              <a:lnSpc>
                <a:spcPts val="1820"/>
              </a:lnSpc>
            </a:pPr>
            <a:r>
              <a:rPr sz="1400" b="0" i="0">
                <a:solidFill>
                  <a:srgbClr val="3A4F63"/>
                </a:solidFill>
                <a:latin typeface="DM Sans"/>
              </a:rPr>
              <a:t>uitvoeren van goede voetzorg</a:t>
            </a:r>
          </a:p>
        </p:txBody>
      </p:sp>
      <p:sp>
        <p:nvSpPr>
          <p:cNvPr id="12" name="TextBox 11"/>
          <p:cNvSpPr txBox="1"/>
          <p:nvPr/>
        </p:nvSpPr>
        <p:spPr>
          <a:xfrm>
            <a:off x="812800" y="5269111"/>
            <a:ext cx="5181600" cy="231140"/>
          </a:xfrm>
          <a:prstGeom prst="rect">
            <a:avLst/>
          </a:prstGeom>
          <a:noFill/>
        </p:spPr>
        <p:txBody>
          <a:bodyPr wrap="none" lIns="0" tIns="0" rIns="0" bIns="0" anchor="t">
            <a:noAutofit/>
          </a:bodyPr>
          <a:lstStyle/>
          <a:p>
            <a:pPr algn="l">
              <a:lnSpc>
                <a:spcPts val="1820"/>
              </a:lnSpc>
            </a:pPr>
            <a:r>
              <a:rPr sz="1400" b="0" i="0">
                <a:solidFill>
                  <a:srgbClr val="3A4F63"/>
                </a:solidFill>
                <a:latin typeface="DM Sans"/>
              </a:rPr>
              <a:t>kennis belang aangepast schoeisel en zolen</a:t>
            </a:r>
          </a:p>
        </p:txBody>
      </p:sp>
      <p:sp>
        <p:nvSpPr>
          <p:cNvPr id="13" name="TextBox 12"/>
          <p:cNvSpPr txBox="1"/>
          <p:nvPr/>
        </p:nvSpPr>
        <p:spPr>
          <a:xfrm>
            <a:off x="6248400" y="3937000"/>
            <a:ext cx="5181600" cy="330200"/>
          </a:xfrm>
          <a:prstGeom prst="rect">
            <a:avLst/>
          </a:prstGeom>
          <a:noFill/>
        </p:spPr>
        <p:txBody>
          <a:bodyPr wrap="none" lIns="0" tIns="0" rIns="0" bIns="0" anchor="t">
            <a:noAutofit/>
          </a:bodyPr>
          <a:lstStyle/>
          <a:p>
            <a:pPr algn="l">
              <a:lnSpc>
                <a:spcPts val="2600"/>
              </a:lnSpc>
            </a:pPr>
            <a:r>
              <a:rPr sz="2600" b="0" i="0">
                <a:solidFill>
                  <a:srgbClr val="0B6E8F"/>
                </a:solidFill>
                <a:latin typeface="DM Serif Display"/>
              </a:rPr>
              <a:t>Therapietrouw</a:t>
            </a:r>
          </a:p>
        </p:txBody>
      </p:sp>
      <p:sp>
        <p:nvSpPr>
          <p:cNvPr id="14" name="TextBox 13"/>
          <p:cNvSpPr txBox="1"/>
          <p:nvPr/>
        </p:nvSpPr>
        <p:spPr>
          <a:xfrm>
            <a:off x="6248400" y="4330700"/>
            <a:ext cx="5181600" cy="214630"/>
          </a:xfrm>
          <a:prstGeom prst="rect">
            <a:avLst/>
          </a:prstGeom>
          <a:noFill/>
        </p:spPr>
        <p:txBody>
          <a:bodyPr wrap="none" lIns="0" tIns="0" rIns="0" bIns="0" anchor="t">
            <a:noAutofit/>
          </a:bodyPr>
          <a:lstStyle/>
          <a:p>
            <a:pPr algn="l">
              <a:lnSpc>
                <a:spcPts val="1689"/>
              </a:lnSpc>
            </a:pPr>
            <a:r>
              <a:rPr sz="1300" b="0" i="0">
                <a:solidFill>
                  <a:srgbClr val="5A6E80"/>
                </a:solidFill>
                <a:latin typeface="DM Sans"/>
              </a:rPr>
              <a:t>met het dragen van aangepast schoeisel en zolen</a:t>
            </a:r>
          </a:p>
        </p:txBody>
      </p:sp>
      <p:sp>
        <p:nvSpPr>
          <p:cNvPr id="15" name="TextBox 14"/>
          <p:cNvSpPr txBox="1"/>
          <p:nvPr/>
        </p:nvSpPr>
        <p:spPr>
          <a:xfrm>
            <a:off x="6248400" y="4608810"/>
            <a:ext cx="5181600" cy="234950"/>
          </a:xfrm>
          <a:prstGeom prst="rect">
            <a:avLst/>
          </a:prstGeom>
          <a:noFill/>
        </p:spPr>
        <p:txBody>
          <a:bodyPr wrap="none" lIns="0" tIns="0" rIns="0" bIns="0" anchor="t">
            <a:noAutofit/>
          </a:bodyPr>
          <a:lstStyle/>
          <a:p>
            <a:pPr algn="l"/>
            <a:r>
              <a:rPr sz="1400" b="1" i="0">
                <a:solidFill>
                  <a:srgbClr val="0B6E8F"/>
                </a:solidFill>
                <a:latin typeface="DM Sans"/>
              </a:rPr>
              <a:t>Monitoring therapietrouw </a:t>
            </a:r>
            <a:r>
              <a:rPr sz="1400" b="1" i="0">
                <a:solidFill>
                  <a:srgbClr val="9FB3C6"/>
                </a:solidFill>
                <a:latin typeface="DM Sans"/>
              </a:rPr>
              <a:t>→</a:t>
            </a:r>
            <a:r>
              <a:rPr sz="1400" b="1" i="0">
                <a:solidFill>
                  <a:srgbClr val="0B6E8F"/>
                </a:solidFill>
                <a:latin typeface="DM Sans"/>
              </a:rPr>
              <a:t> Verbeteren therapietrouw</a:t>
            </a:r>
          </a:p>
        </p:txBody>
      </p:sp>
      <p:sp>
        <p:nvSpPr>
          <p:cNvPr id="16" name="TextBox 15"/>
          <p:cNvSpPr txBox="1"/>
          <p:nvPr/>
        </p:nvSpPr>
        <p:spPr>
          <a:xfrm>
            <a:off x="6248400" y="4907260"/>
            <a:ext cx="5181600" cy="231140"/>
          </a:xfrm>
          <a:prstGeom prst="rect">
            <a:avLst/>
          </a:prstGeom>
          <a:noFill/>
        </p:spPr>
        <p:txBody>
          <a:bodyPr wrap="none" lIns="0" tIns="0" rIns="0" bIns="0" anchor="t">
            <a:noAutofit/>
          </a:bodyPr>
          <a:lstStyle/>
          <a:p>
            <a:pPr algn="l">
              <a:lnSpc>
                <a:spcPts val="1820"/>
              </a:lnSpc>
            </a:pPr>
            <a:r>
              <a:rPr sz="1400" b="0" i="0">
                <a:solidFill>
                  <a:srgbClr val="3A4F63"/>
                </a:solidFill>
                <a:latin typeface="DM Sans"/>
              </a:rPr>
              <a:t>verhogen belang/motivatie therapietrouw</a:t>
            </a:r>
          </a:p>
        </p:txBody>
      </p:sp>
      <p:sp>
        <p:nvSpPr>
          <p:cNvPr id="17" name="TextBox 16"/>
          <p:cNvSpPr txBox="1"/>
          <p:nvPr/>
        </p:nvSpPr>
        <p:spPr>
          <a:xfrm>
            <a:off x="6248400" y="5201841"/>
            <a:ext cx="5181600" cy="231140"/>
          </a:xfrm>
          <a:prstGeom prst="rect">
            <a:avLst/>
          </a:prstGeom>
          <a:noFill/>
        </p:spPr>
        <p:txBody>
          <a:bodyPr wrap="none" lIns="0" tIns="0" rIns="0" bIns="0" anchor="t">
            <a:noAutofit/>
          </a:bodyPr>
          <a:lstStyle/>
          <a:p>
            <a:pPr algn="l">
              <a:lnSpc>
                <a:spcPts val="1820"/>
              </a:lnSpc>
            </a:pPr>
            <a:r>
              <a:rPr sz="1400" b="0" i="0">
                <a:solidFill>
                  <a:srgbClr val="3A4F63"/>
                </a:solidFill>
                <a:latin typeface="DM Sans"/>
              </a:rPr>
              <a:t>aanpakken barrières voor therapietrouw</a:t>
            </a:r>
          </a:p>
        </p:txBody>
      </p:sp>
      <p:pic>
        <p:nvPicPr>
          <p:cNvPr id="18" name="Picture 17" descr="ec5c93e6f83f209b4e97ddfdecd480c8.png"/>
          <p:cNvPicPr>
            <a:picLocks noChangeAspect="1"/>
          </p:cNvPicPr>
          <p:nvPr/>
        </p:nvPicPr>
        <p:blipFill>
          <a:blip r:embed="rId5"/>
          <a:stretch>
            <a:fillRect/>
          </a:stretch>
        </p:blipFill>
        <p:spPr>
          <a:xfrm>
            <a:off x="812967" y="6261100"/>
            <a:ext cx="171116" cy="203200"/>
          </a:xfrm>
          <a:prstGeom prst="rect">
            <a:avLst/>
          </a:prstGeom>
        </p:spPr>
      </p:pic>
      <p:sp>
        <p:nvSpPr>
          <p:cNvPr id="19" name="TextBox 18"/>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Werkpakketten</a:t>
            </a:r>
          </a:p>
        </p:txBody>
      </p:sp>
      <p:sp>
        <p:nvSpPr>
          <p:cNvPr id="20" name="TextBox 19"/>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SEBIA-overzicht voor de voetklinieken, F. Dobbels, 12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Overzicht inhoud studievisites</a:t>
            </a:r>
          </a:p>
        </p:txBody>
      </p:sp>
      <p:sp>
        <p:nvSpPr>
          <p:cNvPr id="4" name="TextBox 3"/>
          <p:cNvSpPr txBox="1"/>
          <p:nvPr/>
        </p:nvSpPr>
        <p:spPr>
          <a:xfrm>
            <a:off x="812800" y="1569641"/>
            <a:ext cx="1304925" cy="198120"/>
          </a:xfrm>
          <a:prstGeom prst="rect">
            <a:avLst/>
          </a:prstGeom>
          <a:noFill/>
        </p:spPr>
        <p:txBody>
          <a:bodyPr wrap="none" lIns="0" tIns="0" rIns="0" bIns="0" anchor="t">
            <a:noAutofit/>
          </a:bodyPr>
          <a:lstStyle/>
          <a:p>
            <a:pPr algn="l"/>
            <a:r>
              <a:rPr sz="1200" b="1" i="0">
                <a:solidFill>
                  <a:srgbClr val="0A2540"/>
                </a:solidFill>
                <a:latin typeface="DM Sans"/>
              </a:rPr>
              <a:t>V1</a:t>
            </a:r>
            <a:r>
              <a:rPr sz="1200" b="0" i="0">
                <a:solidFill>
                  <a:srgbClr val="0A2540"/>
                </a:solidFill>
                <a:latin typeface="DM Sans"/>
              </a:rPr>
              <a:t> </a:t>
            </a:r>
            <a:r>
              <a:rPr sz="1200" b="0" i="0">
                <a:solidFill>
                  <a:srgbClr val="5A6E80"/>
                </a:solidFill>
                <a:latin typeface="DM Sans"/>
              </a:rPr>
              <a:t>baseline</a:t>
            </a:r>
          </a:p>
        </p:txBody>
      </p:sp>
      <p:sp>
        <p:nvSpPr>
          <p:cNvPr id="5" name="Rounded Rectangle 4"/>
          <p:cNvSpPr/>
          <p:nvPr/>
        </p:nvSpPr>
        <p:spPr>
          <a:xfrm>
            <a:off x="812800" y="1829991"/>
            <a:ext cx="1254125" cy="889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2143125" y="1569641"/>
            <a:ext cx="1304925" cy="198120"/>
          </a:xfrm>
          <a:prstGeom prst="rect">
            <a:avLst/>
          </a:prstGeom>
          <a:noFill/>
        </p:spPr>
        <p:txBody>
          <a:bodyPr wrap="none" lIns="0" tIns="0" rIns="0" bIns="0" anchor="t">
            <a:noAutofit/>
          </a:bodyPr>
          <a:lstStyle/>
          <a:p>
            <a:pPr algn="l"/>
            <a:r>
              <a:rPr sz="1200" b="1" i="0">
                <a:solidFill>
                  <a:srgbClr val="0A2540"/>
                </a:solidFill>
                <a:latin typeface="DM Sans"/>
              </a:rPr>
              <a:t>V2</a:t>
            </a:r>
            <a:r>
              <a:rPr sz="1200" b="0" i="0">
                <a:solidFill>
                  <a:srgbClr val="0A2540"/>
                </a:solidFill>
                <a:latin typeface="DM Sans"/>
              </a:rPr>
              <a:t> </a:t>
            </a:r>
            <a:r>
              <a:rPr sz="1200" b="0" i="0">
                <a:solidFill>
                  <a:srgbClr val="5A6E80"/>
                </a:solidFill>
                <a:latin typeface="DM Sans"/>
              </a:rPr>
              <a:t>d14–m1</a:t>
            </a:r>
          </a:p>
        </p:txBody>
      </p:sp>
      <p:sp>
        <p:nvSpPr>
          <p:cNvPr id="7" name="Rounded Rectangle 6"/>
          <p:cNvSpPr/>
          <p:nvPr/>
        </p:nvSpPr>
        <p:spPr>
          <a:xfrm>
            <a:off x="2143125" y="1829991"/>
            <a:ext cx="1254125" cy="889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473450" y="1569641"/>
            <a:ext cx="1304925" cy="198120"/>
          </a:xfrm>
          <a:prstGeom prst="rect">
            <a:avLst/>
          </a:prstGeom>
          <a:noFill/>
        </p:spPr>
        <p:txBody>
          <a:bodyPr wrap="none" lIns="0" tIns="0" rIns="0" bIns="0" anchor="t">
            <a:noAutofit/>
          </a:bodyPr>
          <a:lstStyle/>
          <a:p>
            <a:pPr algn="l"/>
            <a:r>
              <a:rPr sz="1200" b="1" i="0">
                <a:solidFill>
                  <a:srgbClr val="0A2540"/>
                </a:solidFill>
                <a:latin typeface="DM Sans"/>
              </a:rPr>
              <a:t>V3</a:t>
            </a:r>
            <a:r>
              <a:rPr sz="1200" b="0" i="0">
                <a:solidFill>
                  <a:srgbClr val="0A2540"/>
                </a:solidFill>
                <a:latin typeface="DM Sans"/>
              </a:rPr>
              <a:t> </a:t>
            </a:r>
            <a:r>
              <a:rPr sz="1200" b="0" i="0">
                <a:solidFill>
                  <a:srgbClr val="5A6E80"/>
                </a:solidFill>
                <a:latin typeface="DM Sans"/>
              </a:rPr>
              <a:t>m 3</a:t>
            </a:r>
          </a:p>
        </p:txBody>
      </p:sp>
      <p:sp>
        <p:nvSpPr>
          <p:cNvPr id="9" name="Rounded Rectangle 8"/>
          <p:cNvSpPr/>
          <p:nvPr/>
        </p:nvSpPr>
        <p:spPr>
          <a:xfrm>
            <a:off x="3473450" y="1829991"/>
            <a:ext cx="1254125" cy="889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803775" y="1569641"/>
            <a:ext cx="1304925" cy="198120"/>
          </a:xfrm>
          <a:prstGeom prst="rect">
            <a:avLst/>
          </a:prstGeom>
          <a:noFill/>
        </p:spPr>
        <p:txBody>
          <a:bodyPr wrap="none" lIns="0" tIns="0" rIns="0" bIns="0" anchor="t">
            <a:noAutofit/>
          </a:bodyPr>
          <a:lstStyle/>
          <a:p>
            <a:pPr algn="l"/>
            <a:r>
              <a:rPr sz="1200" b="1" i="0">
                <a:solidFill>
                  <a:srgbClr val="0A2540"/>
                </a:solidFill>
                <a:latin typeface="DM Sans"/>
              </a:rPr>
              <a:t>V4</a:t>
            </a:r>
            <a:r>
              <a:rPr sz="1200" b="0" i="0">
                <a:solidFill>
                  <a:srgbClr val="0A2540"/>
                </a:solidFill>
                <a:latin typeface="DM Sans"/>
              </a:rPr>
              <a:t> </a:t>
            </a:r>
            <a:r>
              <a:rPr sz="1200" b="0" i="0">
                <a:solidFill>
                  <a:srgbClr val="5A6E80"/>
                </a:solidFill>
                <a:latin typeface="DM Sans"/>
              </a:rPr>
              <a:t>m 6</a:t>
            </a:r>
          </a:p>
        </p:txBody>
      </p:sp>
      <p:sp>
        <p:nvSpPr>
          <p:cNvPr id="11" name="Rounded Rectangle 10"/>
          <p:cNvSpPr/>
          <p:nvPr/>
        </p:nvSpPr>
        <p:spPr>
          <a:xfrm>
            <a:off x="4803775" y="1829991"/>
            <a:ext cx="1254125" cy="889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34100" y="1569641"/>
            <a:ext cx="1304925" cy="198120"/>
          </a:xfrm>
          <a:prstGeom prst="rect">
            <a:avLst/>
          </a:prstGeom>
          <a:noFill/>
        </p:spPr>
        <p:txBody>
          <a:bodyPr wrap="none" lIns="0" tIns="0" rIns="0" bIns="0" anchor="t">
            <a:noAutofit/>
          </a:bodyPr>
          <a:lstStyle/>
          <a:p>
            <a:pPr algn="l"/>
            <a:r>
              <a:rPr sz="1200" b="1" i="0">
                <a:solidFill>
                  <a:srgbClr val="0A2540"/>
                </a:solidFill>
                <a:latin typeface="DM Sans"/>
              </a:rPr>
              <a:t>V5</a:t>
            </a:r>
            <a:r>
              <a:rPr sz="1200" b="0" i="0">
                <a:solidFill>
                  <a:srgbClr val="0A2540"/>
                </a:solidFill>
                <a:latin typeface="DM Sans"/>
              </a:rPr>
              <a:t> </a:t>
            </a:r>
            <a:r>
              <a:rPr sz="1200" b="0" i="0">
                <a:solidFill>
                  <a:srgbClr val="5A6E80"/>
                </a:solidFill>
                <a:latin typeface="DM Sans"/>
              </a:rPr>
              <a:t>m 9</a:t>
            </a:r>
          </a:p>
        </p:txBody>
      </p:sp>
      <p:sp>
        <p:nvSpPr>
          <p:cNvPr id="13" name="Rounded Rectangle 12"/>
          <p:cNvSpPr/>
          <p:nvPr/>
        </p:nvSpPr>
        <p:spPr>
          <a:xfrm>
            <a:off x="6134100" y="1829991"/>
            <a:ext cx="1254125" cy="889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464425" y="1569641"/>
            <a:ext cx="1304925" cy="198120"/>
          </a:xfrm>
          <a:prstGeom prst="rect">
            <a:avLst/>
          </a:prstGeom>
          <a:noFill/>
        </p:spPr>
        <p:txBody>
          <a:bodyPr wrap="none" lIns="0" tIns="0" rIns="0" bIns="0" anchor="t">
            <a:noAutofit/>
          </a:bodyPr>
          <a:lstStyle/>
          <a:p>
            <a:pPr algn="l"/>
            <a:r>
              <a:rPr sz="1200" b="1" i="0">
                <a:solidFill>
                  <a:srgbClr val="0A2540"/>
                </a:solidFill>
                <a:latin typeface="DM Sans"/>
              </a:rPr>
              <a:t>V6</a:t>
            </a:r>
            <a:r>
              <a:rPr sz="1200" b="0" i="0">
                <a:solidFill>
                  <a:srgbClr val="0A2540"/>
                </a:solidFill>
                <a:latin typeface="DM Sans"/>
              </a:rPr>
              <a:t> </a:t>
            </a:r>
            <a:r>
              <a:rPr sz="1200" b="0" i="0">
                <a:solidFill>
                  <a:srgbClr val="5A6E80"/>
                </a:solidFill>
                <a:latin typeface="DM Sans"/>
              </a:rPr>
              <a:t>m 12</a:t>
            </a:r>
          </a:p>
        </p:txBody>
      </p:sp>
      <p:sp>
        <p:nvSpPr>
          <p:cNvPr id="15" name="Rounded Rectangle 14"/>
          <p:cNvSpPr/>
          <p:nvPr/>
        </p:nvSpPr>
        <p:spPr>
          <a:xfrm>
            <a:off x="7464425" y="1829991"/>
            <a:ext cx="1254125" cy="889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794750" y="1569641"/>
            <a:ext cx="1304925" cy="198120"/>
          </a:xfrm>
          <a:prstGeom prst="rect">
            <a:avLst/>
          </a:prstGeom>
          <a:noFill/>
        </p:spPr>
        <p:txBody>
          <a:bodyPr wrap="none" lIns="0" tIns="0" rIns="0" bIns="0" anchor="t">
            <a:noAutofit/>
          </a:bodyPr>
          <a:lstStyle/>
          <a:p>
            <a:pPr algn="l"/>
            <a:r>
              <a:rPr sz="1200" b="1" i="0">
                <a:solidFill>
                  <a:srgbClr val="0A2540"/>
                </a:solidFill>
                <a:latin typeface="DM Sans"/>
              </a:rPr>
              <a:t>V7</a:t>
            </a:r>
            <a:r>
              <a:rPr sz="1200" b="0" i="0">
                <a:solidFill>
                  <a:srgbClr val="0A2540"/>
                </a:solidFill>
                <a:latin typeface="DM Sans"/>
              </a:rPr>
              <a:t> </a:t>
            </a:r>
            <a:r>
              <a:rPr sz="1200" b="0" i="0">
                <a:solidFill>
                  <a:srgbClr val="5A6E80"/>
                </a:solidFill>
                <a:latin typeface="DM Sans"/>
              </a:rPr>
              <a:t>m 15</a:t>
            </a:r>
          </a:p>
        </p:txBody>
      </p:sp>
      <p:sp>
        <p:nvSpPr>
          <p:cNvPr id="17" name="Rounded Rectangle 16"/>
          <p:cNvSpPr/>
          <p:nvPr/>
        </p:nvSpPr>
        <p:spPr>
          <a:xfrm>
            <a:off x="8794750" y="1829991"/>
            <a:ext cx="1254125" cy="889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0125075" y="1569641"/>
            <a:ext cx="1304925" cy="198120"/>
          </a:xfrm>
          <a:prstGeom prst="rect">
            <a:avLst/>
          </a:prstGeom>
          <a:noFill/>
        </p:spPr>
        <p:txBody>
          <a:bodyPr wrap="none" lIns="0" tIns="0" rIns="0" bIns="0" anchor="t">
            <a:noAutofit/>
          </a:bodyPr>
          <a:lstStyle/>
          <a:p>
            <a:pPr algn="l"/>
            <a:r>
              <a:rPr sz="1200" b="1" i="0">
                <a:solidFill>
                  <a:srgbClr val="0A2540"/>
                </a:solidFill>
                <a:latin typeface="DM Sans"/>
              </a:rPr>
              <a:t>V8</a:t>
            </a:r>
            <a:r>
              <a:rPr sz="1200" b="0" i="0">
                <a:solidFill>
                  <a:srgbClr val="0A2540"/>
                </a:solidFill>
                <a:latin typeface="DM Sans"/>
              </a:rPr>
              <a:t> </a:t>
            </a:r>
            <a:r>
              <a:rPr sz="1200" b="0" i="0">
                <a:solidFill>
                  <a:srgbClr val="5A6E80"/>
                </a:solidFill>
                <a:latin typeface="DM Sans"/>
              </a:rPr>
              <a:t>m 18</a:t>
            </a:r>
          </a:p>
        </p:txBody>
      </p:sp>
      <p:sp>
        <p:nvSpPr>
          <p:cNvPr id="19" name="Rounded Rectangle 18"/>
          <p:cNvSpPr/>
          <p:nvPr/>
        </p:nvSpPr>
        <p:spPr>
          <a:xfrm>
            <a:off x="10125075" y="1829991"/>
            <a:ext cx="1254125" cy="88900"/>
          </a:xfrm>
          <a:prstGeom prst="roundRect">
            <a:avLst>
              <a:gd name="adj" fmla="val 50000"/>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812800" y="2087166"/>
            <a:ext cx="177800" cy="889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054100" y="2033191"/>
            <a:ext cx="1328142" cy="198120"/>
          </a:xfrm>
          <a:prstGeom prst="rect">
            <a:avLst/>
          </a:prstGeom>
          <a:noFill/>
        </p:spPr>
        <p:txBody>
          <a:bodyPr wrap="none" lIns="0" tIns="0" rIns="0" bIns="0" anchor="t">
            <a:noAutofit/>
          </a:bodyPr>
          <a:lstStyle/>
          <a:p>
            <a:pPr algn="l"/>
            <a:r>
              <a:rPr sz="1200" b="0" i="0">
                <a:solidFill>
                  <a:srgbClr val="3A4F63"/>
                </a:solidFill>
                <a:latin typeface="DM Sans"/>
              </a:rPr>
              <a:t>focus op educatie</a:t>
            </a:r>
          </a:p>
        </p:txBody>
      </p:sp>
      <p:sp>
        <p:nvSpPr>
          <p:cNvPr id="22" name="Rounded Rectangle 21"/>
          <p:cNvSpPr/>
          <p:nvPr/>
        </p:nvSpPr>
        <p:spPr>
          <a:xfrm>
            <a:off x="2585442" y="2087166"/>
            <a:ext cx="177800" cy="889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2826742" y="2033191"/>
            <a:ext cx="1704280" cy="198120"/>
          </a:xfrm>
          <a:prstGeom prst="rect">
            <a:avLst/>
          </a:prstGeom>
          <a:noFill/>
        </p:spPr>
        <p:txBody>
          <a:bodyPr wrap="none" lIns="0" tIns="0" rIns="0" bIns="0" anchor="t">
            <a:noAutofit/>
          </a:bodyPr>
          <a:lstStyle/>
          <a:p>
            <a:pPr algn="l"/>
            <a:r>
              <a:rPr sz="1200" b="0" i="0">
                <a:solidFill>
                  <a:srgbClr val="3A4F63"/>
                </a:solidFill>
                <a:latin typeface="DM Sans"/>
              </a:rPr>
              <a:t>focus op therapietrouw</a:t>
            </a:r>
          </a:p>
        </p:txBody>
      </p:sp>
      <p:sp>
        <p:nvSpPr>
          <p:cNvPr id="24" name="Rounded Rectangle 23"/>
          <p:cNvSpPr/>
          <p:nvPr/>
        </p:nvSpPr>
        <p:spPr>
          <a:xfrm>
            <a:off x="4734223" y="2087166"/>
            <a:ext cx="177800" cy="889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975523" y="2033191"/>
            <a:ext cx="2489398" cy="198120"/>
          </a:xfrm>
          <a:prstGeom prst="rect">
            <a:avLst/>
          </a:prstGeom>
          <a:noFill/>
        </p:spPr>
        <p:txBody>
          <a:bodyPr wrap="none" lIns="0" tIns="0" rIns="0" bIns="0" anchor="t">
            <a:noAutofit/>
          </a:bodyPr>
          <a:lstStyle/>
          <a:p>
            <a:pPr algn="l"/>
            <a:r>
              <a:rPr sz="1200" b="0" i="0">
                <a:solidFill>
                  <a:srgbClr val="3A4F63"/>
                </a:solidFill>
                <a:latin typeface="DM Sans"/>
              </a:rPr>
              <a:t>focus op educatie + therapietrouw</a:t>
            </a:r>
          </a:p>
        </p:txBody>
      </p:sp>
      <p:sp>
        <p:nvSpPr>
          <p:cNvPr id="26" name="Rectangle 25"/>
          <p:cNvSpPr/>
          <p:nvPr/>
        </p:nvSpPr>
        <p:spPr>
          <a:xfrm>
            <a:off x="812800" y="2484041"/>
            <a:ext cx="1910060" cy="12700"/>
          </a:xfrm>
          <a:prstGeom prst="rect">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12800" y="2611041"/>
            <a:ext cx="1960860" cy="215900"/>
          </a:xfrm>
          <a:prstGeom prst="rect">
            <a:avLst/>
          </a:prstGeom>
          <a:noFill/>
        </p:spPr>
        <p:txBody>
          <a:bodyPr wrap="none" lIns="0" tIns="0" rIns="0" bIns="0" anchor="t">
            <a:noAutofit/>
          </a:bodyPr>
          <a:lstStyle/>
          <a:p>
            <a:pPr algn="l"/>
            <a:r>
              <a:rPr sz="1300" b="1" i="0">
                <a:solidFill>
                  <a:srgbClr val="00407A"/>
                </a:solidFill>
                <a:latin typeface="DM Sans"/>
              </a:rPr>
              <a:t>V1 · baseline</a:t>
            </a:r>
          </a:p>
        </p:txBody>
      </p:sp>
      <p:sp>
        <p:nvSpPr>
          <p:cNvPr id="28" name="TextBox 27"/>
          <p:cNvSpPr txBox="1"/>
          <p:nvPr/>
        </p:nvSpPr>
        <p:spPr>
          <a:xfrm>
            <a:off x="812800" y="2890441"/>
            <a:ext cx="1960860" cy="396081"/>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Mondelinge educatie voetzorg</a:t>
            </a:r>
          </a:p>
        </p:txBody>
      </p:sp>
      <p:sp>
        <p:nvSpPr>
          <p:cNvPr id="29" name="TextBox 28"/>
          <p:cNvSpPr txBox="1"/>
          <p:nvPr/>
        </p:nvSpPr>
        <p:spPr>
          <a:xfrm>
            <a:off x="812800" y="3350022"/>
            <a:ext cx="1960860" cy="396081"/>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Demonstratie goede voetzorg</a:t>
            </a:r>
          </a:p>
        </p:txBody>
      </p:sp>
      <p:sp>
        <p:nvSpPr>
          <p:cNvPr id="30" name="TextBox 29"/>
          <p:cNvSpPr txBox="1"/>
          <p:nvPr/>
        </p:nvSpPr>
        <p:spPr>
          <a:xfrm>
            <a:off x="812800" y="3809603"/>
            <a:ext cx="1960860" cy="198120"/>
          </a:xfrm>
          <a:prstGeom prst="rect">
            <a:avLst/>
          </a:prstGeom>
          <a:noFill/>
        </p:spPr>
        <p:txBody>
          <a:bodyPr wrap="none" lIns="0" tIns="0" rIns="0" bIns="0" anchor="t">
            <a:noAutofit/>
          </a:bodyPr>
          <a:lstStyle/>
          <a:p>
            <a:pPr algn="l">
              <a:lnSpc>
                <a:spcPts val="1560"/>
              </a:lnSpc>
            </a:pPr>
            <a:r>
              <a:rPr sz="1200" b="0" i="0">
                <a:solidFill>
                  <a:srgbClr val="0A2540"/>
                </a:solidFill>
                <a:latin typeface="DM Sans"/>
              </a:rPr>
              <a:t>Uitleg over activity monitor</a:t>
            </a:r>
          </a:p>
        </p:txBody>
      </p:sp>
      <p:sp>
        <p:nvSpPr>
          <p:cNvPr id="31" name="Rectangle 30"/>
          <p:cNvSpPr/>
          <p:nvPr/>
        </p:nvSpPr>
        <p:spPr>
          <a:xfrm>
            <a:off x="2976860" y="2484041"/>
            <a:ext cx="1910060" cy="12700"/>
          </a:xfrm>
          <a:prstGeom prst="rect">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976860" y="2611041"/>
            <a:ext cx="1960860" cy="215900"/>
          </a:xfrm>
          <a:prstGeom prst="rect">
            <a:avLst/>
          </a:prstGeom>
          <a:noFill/>
        </p:spPr>
        <p:txBody>
          <a:bodyPr wrap="none" lIns="0" tIns="0" rIns="0" bIns="0" anchor="t">
            <a:noAutofit/>
          </a:bodyPr>
          <a:lstStyle/>
          <a:p>
            <a:pPr algn="l"/>
            <a:r>
              <a:rPr sz="1300" b="1" i="0">
                <a:solidFill>
                  <a:srgbClr val="00407A"/>
                </a:solidFill>
                <a:latin typeface="DM Sans"/>
              </a:rPr>
              <a:t>V2 · dag 14 tot maand 1</a:t>
            </a:r>
          </a:p>
        </p:txBody>
      </p:sp>
      <p:sp>
        <p:nvSpPr>
          <p:cNvPr id="33" name="TextBox 32"/>
          <p:cNvSpPr txBox="1"/>
          <p:nvPr/>
        </p:nvSpPr>
        <p:spPr>
          <a:xfrm>
            <a:off x="2976860" y="2890441"/>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Evaluatie kennis voetzorg (op basis van NAFF) + re-educatie</a:t>
            </a:r>
          </a:p>
        </p:txBody>
      </p:sp>
      <p:sp>
        <p:nvSpPr>
          <p:cNvPr id="34" name="TextBox 33"/>
          <p:cNvSpPr txBox="1"/>
          <p:nvPr/>
        </p:nvSpPr>
        <p:spPr>
          <a:xfrm>
            <a:off x="2976860" y="3548062"/>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Educatie belang dragen zolen en gepaste schoenen</a:t>
            </a:r>
          </a:p>
        </p:txBody>
      </p:sp>
      <p:sp>
        <p:nvSpPr>
          <p:cNvPr id="35" name="TextBox 34"/>
          <p:cNvSpPr txBox="1"/>
          <p:nvPr/>
        </p:nvSpPr>
        <p:spPr>
          <a:xfrm>
            <a:off x="2976860" y="4205684"/>
            <a:ext cx="1960860" cy="396081"/>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Uitleg over doel van de sensor in de zolen</a:t>
            </a:r>
          </a:p>
        </p:txBody>
      </p:sp>
      <p:sp>
        <p:nvSpPr>
          <p:cNvPr id="36" name="Rectangle 35"/>
          <p:cNvSpPr/>
          <p:nvPr/>
        </p:nvSpPr>
        <p:spPr>
          <a:xfrm>
            <a:off x="5140920" y="2484041"/>
            <a:ext cx="1910060" cy="12700"/>
          </a:xfrm>
          <a:prstGeom prst="rect">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140920" y="2611041"/>
            <a:ext cx="1960860" cy="215900"/>
          </a:xfrm>
          <a:prstGeom prst="rect">
            <a:avLst/>
          </a:prstGeom>
          <a:noFill/>
        </p:spPr>
        <p:txBody>
          <a:bodyPr wrap="none" lIns="0" tIns="0" rIns="0" bIns="0" anchor="t">
            <a:noAutofit/>
          </a:bodyPr>
          <a:lstStyle/>
          <a:p>
            <a:pPr algn="l"/>
            <a:r>
              <a:rPr sz="1300" b="1" i="0">
                <a:solidFill>
                  <a:srgbClr val="0B6E8F"/>
                </a:solidFill>
                <a:latin typeface="DM Sans"/>
              </a:rPr>
              <a:t>V3 · V5 · V7</a:t>
            </a:r>
          </a:p>
        </p:txBody>
      </p:sp>
      <p:sp>
        <p:nvSpPr>
          <p:cNvPr id="38" name="TextBox 37"/>
          <p:cNvSpPr txBox="1"/>
          <p:nvPr/>
        </p:nvSpPr>
        <p:spPr>
          <a:xfrm>
            <a:off x="5140920" y="2890441"/>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Feedback therapietrouw op basis van sensor-output</a:t>
            </a:r>
          </a:p>
        </p:txBody>
      </p:sp>
      <p:sp>
        <p:nvSpPr>
          <p:cNvPr id="39" name="TextBox 38"/>
          <p:cNvSpPr txBox="1"/>
          <p:nvPr/>
        </p:nvSpPr>
        <p:spPr>
          <a:xfrm>
            <a:off x="5140920" y="3548062"/>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Toepassen therapietrouwverhogende interventies</a:t>
            </a:r>
          </a:p>
        </p:txBody>
      </p:sp>
      <p:sp>
        <p:nvSpPr>
          <p:cNvPr id="40" name="Rectangle 39"/>
          <p:cNvSpPr/>
          <p:nvPr/>
        </p:nvSpPr>
        <p:spPr>
          <a:xfrm>
            <a:off x="7304980" y="2484041"/>
            <a:ext cx="1910060" cy="12700"/>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04980" y="2611041"/>
            <a:ext cx="1960860" cy="215900"/>
          </a:xfrm>
          <a:prstGeom prst="rect">
            <a:avLst/>
          </a:prstGeom>
          <a:noFill/>
        </p:spPr>
        <p:txBody>
          <a:bodyPr wrap="none" lIns="0" tIns="0" rIns="0" bIns="0" anchor="t">
            <a:noAutofit/>
          </a:bodyPr>
          <a:lstStyle/>
          <a:p>
            <a:pPr algn="l"/>
            <a:r>
              <a:rPr sz="1300" b="1" i="0">
                <a:solidFill>
                  <a:srgbClr val="0B6E8F"/>
                </a:solidFill>
                <a:latin typeface="DM Sans"/>
              </a:rPr>
              <a:t>V4 · V6</a:t>
            </a:r>
          </a:p>
        </p:txBody>
      </p:sp>
      <p:sp>
        <p:nvSpPr>
          <p:cNvPr id="42" name="TextBox 41"/>
          <p:cNvSpPr txBox="1"/>
          <p:nvPr/>
        </p:nvSpPr>
        <p:spPr>
          <a:xfrm>
            <a:off x="7304980" y="2890441"/>
            <a:ext cx="1960860" cy="396081"/>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Evaluatie vaardigheden goede voetzorg</a:t>
            </a:r>
          </a:p>
        </p:txBody>
      </p:sp>
      <p:sp>
        <p:nvSpPr>
          <p:cNvPr id="43" name="TextBox 42"/>
          <p:cNvSpPr txBox="1"/>
          <p:nvPr/>
        </p:nvSpPr>
        <p:spPr>
          <a:xfrm>
            <a:off x="7304980" y="3350022"/>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Evaluatie nood aan bijkomende kennis voetzorg (obv NAFF)</a:t>
            </a:r>
          </a:p>
        </p:txBody>
      </p:sp>
      <p:sp>
        <p:nvSpPr>
          <p:cNvPr id="44" name="TextBox 43"/>
          <p:cNvSpPr txBox="1"/>
          <p:nvPr/>
        </p:nvSpPr>
        <p:spPr>
          <a:xfrm>
            <a:off x="7304980" y="4007644"/>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Feedback therapietrouw op basis van sensor-output</a:t>
            </a:r>
          </a:p>
        </p:txBody>
      </p:sp>
      <p:sp>
        <p:nvSpPr>
          <p:cNvPr id="45" name="TextBox 44"/>
          <p:cNvSpPr txBox="1"/>
          <p:nvPr/>
        </p:nvSpPr>
        <p:spPr>
          <a:xfrm>
            <a:off x="7304980" y="4665266"/>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Toepassen therapietrouwverhogende interventies</a:t>
            </a:r>
          </a:p>
        </p:txBody>
      </p:sp>
      <p:sp>
        <p:nvSpPr>
          <p:cNvPr id="46" name="Rectangle 45"/>
          <p:cNvSpPr/>
          <p:nvPr/>
        </p:nvSpPr>
        <p:spPr>
          <a:xfrm>
            <a:off x="9469041" y="2484041"/>
            <a:ext cx="191006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469041" y="2611041"/>
            <a:ext cx="1960860" cy="215900"/>
          </a:xfrm>
          <a:prstGeom prst="rect">
            <a:avLst/>
          </a:prstGeom>
          <a:noFill/>
        </p:spPr>
        <p:txBody>
          <a:bodyPr wrap="none" lIns="0" tIns="0" rIns="0" bIns="0" anchor="t">
            <a:noAutofit/>
          </a:bodyPr>
          <a:lstStyle/>
          <a:p>
            <a:pPr algn="l"/>
            <a:r>
              <a:rPr sz="1300" b="1" i="0">
                <a:solidFill>
                  <a:srgbClr val="5A6E80"/>
                </a:solidFill>
                <a:latin typeface="DM Sans"/>
              </a:rPr>
              <a:t>V8 · maand 18</a:t>
            </a:r>
          </a:p>
        </p:txBody>
      </p:sp>
      <p:sp>
        <p:nvSpPr>
          <p:cNvPr id="48" name="TextBox 47"/>
          <p:cNvSpPr txBox="1"/>
          <p:nvPr/>
        </p:nvSpPr>
        <p:spPr>
          <a:xfrm>
            <a:off x="9469041" y="2890441"/>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Afrondend gesprek (geen feedback of nieuwe interventies)</a:t>
            </a:r>
          </a:p>
        </p:txBody>
      </p:sp>
      <p:pic>
        <p:nvPicPr>
          <p:cNvPr id="49" name="Picture 48"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50" name="TextBox 49"/>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Werkpakketten</a:t>
            </a:r>
          </a:p>
        </p:txBody>
      </p:sp>
      <p:sp>
        <p:nvSpPr>
          <p:cNvPr id="51" name="TextBox 50"/>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SEBIA-overzicht voor de voetklinieken, F. Dobbels, 12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Overzicht trainingssessies</a:t>
            </a:r>
          </a:p>
        </p:txBody>
      </p:sp>
      <p:sp>
        <p:nvSpPr>
          <p:cNvPr id="3" name="TextBox 2"/>
          <p:cNvSpPr txBox="1"/>
          <p:nvPr/>
        </p:nvSpPr>
        <p:spPr>
          <a:xfrm>
            <a:off x="812800" y="1663700"/>
            <a:ext cx="6146800" cy="198120"/>
          </a:xfrm>
          <a:prstGeom prst="rect">
            <a:avLst/>
          </a:prstGeom>
          <a:noFill/>
        </p:spPr>
        <p:txBody>
          <a:bodyPr wrap="none" lIns="0" tIns="0" rIns="0" bIns="0" anchor="t">
            <a:noAutofit/>
          </a:bodyPr>
          <a:lstStyle/>
          <a:p>
            <a:pPr algn="l"/>
            <a:r>
              <a:rPr sz="1200" b="1" i="0">
                <a:solidFill>
                  <a:srgbClr val="5A6E80"/>
                </a:solidFill>
                <a:latin typeface="DM Sans"/>
              </a:rPr>
              <a:t>in groep · 4 uur per blok</a:t>
            </a:r>
          </a:p>
        </p:txBody>
      </p:sp>
      <p:sp>
        <p:nvSpPr>
          <p:cNvPr id="4" name="Rectangle 3"/>
          <p:cNvSpPr/>
          <p:nvPr/>
        </p:nvSpPr>
        <p:spPr>
          <a:xfrm>
            <a:off x="812800" y="1917700"/>
            <a:ext cx="60960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315200" y="1663700"/>
            <a:ext cx="4114800" cy="198120"/>
          </a:xfrm>
          <a:prstGeom prst="rect">
            <a:avLst/>
          </a:prstGeom>
          <a:noFill/>
        </p:spPr>
        <p:txBody>
          <a:bodyPr wrap="none" lIns="0" tIns="0" rIns="0" bIns="0" anchor="t">
            <a:noAutofit/>
          </a:bodyPr>
          <a:lstStyle/>
          <a:p>
            <a:pPr algn="l"/>
            <a:r>
              <a:rPr sz="1200" b="1" i="0">
                <a:solidFill>
                  <a:srgbClr val="5A6E80"/>
                </a:solidFill>
                <a:latin typeface="DM Sans"/>
              </a:rPr>
              <a:t>individueel</a:t>
            </a:r>
          </a:p>
        </p:txBody>
      </p:sp>
      <p:sp>
        <p:nvSpPr>
          <p:cNvPr id="6" name="Rectangle 5"/>
          <p:cNvSpPr/>
          <p:nvPr/>
        </p:nvSpPr>
        <p:spPr>
          <a:xfrm>
            <a:off x="7315200" y="1917700"/>
            <a:ext cx="40640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12800" y="2070100"/>
            <a:ext cx="2844800" cy="533400"/>
          </a:xfrm>
          <a:prstGeom prst="rect">
            <a:avLst/>
          </a:prstGeom>
          <a:noFill/>
        </p:spPr>
        <p:txBody>
          <a:bodyPr wrap="none" lIns="0" tIns="0" rIns="0" bIns="0" anchor="t">
            <a:noAutofit/>
          </a:bodyPr>
          <a:lstStyle/>
          <a:p>
            <a:pPr algn="l">
              <a:lnSpc>
                <a:spcPts val="4200"/>
              </a:lnSpc>
            </a:pPr>
            <a:r>
              <a:rPr sz="4200" b="0" i="0">
                <a:solidFill>
                  <a:srgbClr val="00407A"/>
                </a:solidFill>
                <a:latin typeface="DM Serif Display"/>
              </a:rPr>
              <a:t>1–2</a:t>
            </a:r>
          </a:p>
        </p:txBody>
      </p:sp>
      <p:sp>
        <p:nvSpPr>
          <p:cNvPr id="8" name="TextBox 7"/>
          <p:cNvSpPr txBox="1"/>
          <p:nvPr/>
        </p:nvSpPr>
        <p:spPr>
          <a:xfrm>
            <a:off x="4064000" y="2070100"/>
            <a:ext cx="2844800" cy="533400"/>
          </a:xfrm>
          <a:prstGeom prst="rect">
            <a:avLst/>
          </a:prstGeom>
          <a:noFill/>
        </p:spPr>
        <p:txBody>
          <a:bodyPr wrap="none" lIns="0" tIns="0" rIns="0" bIns="0" anchor="t">
            <a:noAutofit/>
          </a:bodyPr>
          <a:lstStyle/>
          <a:p>
            <a:pPr algn="l">
              <a:lnSpc>
                <a:spcPts val="4200"/>
              </a:lnSpc>
            </a:pPr>
            <a:r>
              <a:rPr sz="4200" b="0" i="0">
                <a:solidFill>
                  <a:srgbClr val="0B6E8F"/>
                </a:solidFill>
                <a:latin typeface="DM Serif Display"/>
              </a:rPr>
              <a:t>3–4</a:t>
            </a:r>
          </a:p>
        </p:txBody>
      </p:sp>
      <p:sp>
        <p:nvSpPr>
          <p:cNvPr id="9" name="TextBox 8"/>
          <p:cNvSpPr txBox="1"/>
          <p:nvPr/>
        </p:nvSpPr>
        <p:spPr>
          <a:xfrm>
            <a:off x="7315200" y="2070100"/>
            <a:ext cx="1955800" cy="533400"/>
          </a:xfrm>
          <a:prstGeom prst="rect">
            <a:avLst/>
          </a:prstGeom>
          <a:noFill/>
        </p:spPr>
        <p:txBody>
          <a:bodyPr wrap="none" lIns="0" tIns="0" rIns="0" bIns="0" anchor="t">
            <a:noAutofit/>
          </a:bodyPr>
          <a:lstStyle/>
          <a:p>
            <a:pPr algn="l">
              <a:lnSpc>
                <a:spcPts val="4200"/>
              </a:lnSpc>
            </a:pPr>
            <a:r>
              <a:rPr sz="4200" b="0" i="0">
                <a:solidFill>
                  <a:srgbClr val="1D8DB0"/>
                </a:solidFill>
                <a:latin typeface="DM Serif Display"/>
              </a:rPr>
              <a:t>5</a:t>
            </a:r>
          </a:p>
        </p:txBody>
      </p:sp>
      <p:sp>
        <p:nvSpPr>
          <p:cNvPr id="10" name="TextBox 9"/>
          <p:cNvSpPr txBox="1"/>
          <p:nvPr/>
        </p:nvSpPr>
        <p:spPr>
          <a:xfrm>
            <a:off x="9448800" y="2070100"/>
            <a:ext cx="1955800" cy="533400"/>
          </a:xfrm>
          <a:prstGeom prst="rect">
            <a:avLst/>
          </a:prstGeom>
          <a:noFill/>
        </p:spPr>
        <p:txBody>
          <a:bodyPr wrap="none" lIns="0" tIns="0" rIns="0" bIns="0" anchor="t">
            <a:noAutofit/>
          </a:bodyPr>
          <a:lstStyle/>
          <a:p>
            <a:pPr algn="l">
              <a:lnSpc>
                <a:spcPts val="4200"/>
              </a:lnSpc>
            </a:pPr>
            <a:r>
              <a:rPr sz="4200" b="0" i="0">
                <a:solidFill>
                  <a:srgbClr val="1D8DB0"/>
                </a:solidFill>
                <a:latin typeface="DM Serif Display"/>
              </a:rPr>
              <a:t>6</a:t>
            </a:r>
          </a:p>
        </p:txBody>
      </p:sp>
      <p:sp>
        <p:nvSpPr>
          <p:cNvPr id="11" name="Rectangle 10"/>
          <p:cNvSpPr/>
          <p:nvPr/>
        </p:nvSpPr>
        <p:spPr>
          <a:xfrm>
            <a:off x="812800" y="2863850"/>
            <a:ext cx="105664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812800" y="2794000"/>
            <a:ext cx="152400" cy="1524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4064000" y="2794000"/>
            <a:ext cx="152400" cy="15240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7315200" y="2794000"/>
            <a:ext cx="152400" cy="1524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9448800" y="2794000"/>
            <a:ext cx="152400" cy="1524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12800" y="3098800"/>
            <a:ext cx="3035300" cy="198120"/>
          </a:xfrm>
          <a:prstGeom prst="rect">
            <a:avLst/>
          </a:prstGeom>
          <a:noFill/>
        </p:spPr>
        <p:txBody>
          <a:bodyPr wrap="none" lIns="0" tIns="0" rIns="0" bIns="0" anchor="t">
            <a:noAutofit/>
          </a:bodyPr>
          <a:lstStyle/>
          <a:p>
            <a:pPr algn="l"/>
            <a:r>
              <a:rPr sz="1200" b="1" i="0">
                <a:solidFill>
                  <a:srgbClr val="00407A"/>
                </a:solidFill>
                <a:latin typeface="DM Sans"/>
              </a:rPr>
              <a:t>januari</a:t>
            </a:r>
          </a:p>
        </p:txBody>
      </p:sp>
      <p:sp>
        <p:nvSpPr>
          <p:cNvPr id="17" name="TextBox 16"/>
          <p:cNvSpPr txBox="1"/>
          <p:nvPr/>
        </p:nvSpPr>
        <p:spPr>
          <a:xfrm>
            <a:off x="812800" y="3346450"/>
            <a:ext cx="3035300" cy="243840"/>
          </a:xfrm>
          <a:prstGeom prst="rect">
            <a:avLst/>
          </a:prstGeom>
          <a:noFill/>
        </p:spPr>
        <p:txBody>
          <a:bodyPr wrap="none" lIns="0" tIns="0" rIns="0" bIns="0" anchor="t">
            <a:noAutofit/>
          </a:bodyPr>
          <a:lstStyle/>
          <a:p>
            <a:pPr algn="l">
              <a:lnSpc>
                <a:spcPts val="1920"/>
              </a:lnSpc>
            </a:pPr>
            <a:r>
              <a:rPr sz="1600" b="1" i="0">
                <a:solidFill>
                  <a:srgbClr val="0A2540"/>
                </a:solidFill>
                <a:latin typeface="DM Sans"/>
              </a:rPr>
              <a:t>Kennis en vaardigheden</a:t>
            </a:r>
          </a:p>
        </p:txBody>
      </p:sp>
      <p:sp>
        <p:nvSpPr>
          <p:cNvPr id="18" name="TextBox 17"/>
          <p:cNvSpPr txBox="1"/>
          <p:nvPr/>
        </p:nvSpPr>
        <p:spPr>
          <a:xfrm>
            <a:off x="812800" y="3679130"/>
            <a:ext cx="3035300"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Inhoud educatie</a:t>
            </a:r>
          </a:p>
        </p:txBody>
      </p:sp>
      <p:sp>
        <p:nvSpPr>
          <p:cNvPr id="19" name="TextBox 18"/>
          <p:cNvSpPr txBox="1"/>
          <p:nvPr/>
        </p:nvSpPr>
        <p:spPr>
          <a:xfrm>
            <a:off x="812800" y="3944541"/>
            <a:ext cx="3035300"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Principes van goede educatie</a:t>
            </a:r>
          </a:p>
        </p:txBody>
      </p:sp>
      <p:sp>
        <p:nvSpPr>
          <p:cNvPr id="20" name="TextBox 19"/>
          <p:cNvSpPr txBox="1"/>
          <p:nvPr/>
        </p:nvSpPr>
        <p:spPr>
          <a:xfrm>
            <a:off x="812800" y="4209951"/>
            <a:ext cx="3035300"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Aanpak demonstratie goede voetzorg</a:t>
            </a:r>
          </a:p>
        </p:txBody>
      </p:sp>
      <p:sp>
        <p:nvSpPr>
          <p:cNvPr id="21" name="TextBox 20"/>
          <p:cNvSpPr txBox="1"/>
          <p:nvPr/>
        </p:nvSpPr>
        <p:spPr>
          <a:xfrm>
            <a:off x="812800" y="4475361"/>
            <a:ext cx="3044190"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Het gebruik van de vragenlijsten bij educatie</a:t>
            </a:r>
          </a:p>
        </p:txBody>
      </p:sp>
      <p:sp>
        <p:nvSpPr>
          <p:cNvPr id="22" name="TextBox 21"/>
          <p:cNvSpPr txBox="1"/>
          <p:nvPr/>
        </p:nvSpPr>
        <p:spPr>
          <a:xfrm>
            <a:off x="812800" y="4955381"/>
            <a:ext cx="3035300"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Oefeningen</a:t>
            </a:r>
          </a:p>
        </p:txBody>
      </p:sp>
      <p:sp>
        <p:nvSpPr>
          <p:cNvPr id="23" name="TextBox 22"/>
          <p:cNvSpPr txBox="1"/>
          <p:nvPr/>
        </p:nvSpPr>
        <p:spPr>
          <a:xfrm>
            <a:off x="4064000" y="3098800"/>
            <a:ext cx="3035300" cy="198120"/>
          </a:xfrm>
          <a:prstGeom prst="rect">
            <a:avLst/>
          </a:prstGeom>
          <a:noFill/>
        </p:spPr>
        <p:txBody>
          <a:bodyPr wrap="none" lIns="0" tIns="0" rIns="0" bIns="0" anchor="t">
            <a:noAutofit/>
          </a:bodyPr>
          <a:lstStyle/>
          <a:p>
            <a:pPr algn="l"/>
            <a:r>
              <a:rPr sz="1200" b="1" i="0">
                <a:solidFill>
                  <a:srgbClr val="0B6E8F"/>
                </a:solidFill>
                <a:latin typeface="DM Sans"/>
              </a:rPr>
              <a:t>maart</a:t>
            </a:r>
          </a:p>
        </p:txBody>
      </p:sp>
      <p:sp>
        <p:nvSpPr>
          <p:cNvPr id="24" name="TextBox 23"/>
          <p:cNvSpPr txBox="1"/>
          <p:nvPr/>
        </p:nvSpPr>
        <p:spPr>
          <a:xfrm>
            <a:off x="4064000" y="3346450"/>
            <a:ext cx="3035300" cy="243840"/>
          </a:xfrm>
          <a:prstGeom prst="rect">
            <a:avLst/>
          </a:prstGeom>
          <a:noFill/>
        </p:spPr>
        <p:txBody>
          <a:bodyPr wrap="none" lIns="0" tIns="0" rIns="0" bIns="0" anchor="t">
            <a:noAutofit/>
          </a:bodyPr>
          <a:lstStyle/>
          <a:p>
            <a:pPr algn="l">
              <a:lnSpc>
                <a:spcPts val="1920"/>
              </a:lnSpc>
            </a:pPr>
            <a:r>
              <a:rPr sz="1600" b="1" i="0">
                <a:solidFill>
                  <a:srgbClr val="0A2540"/>
                </a:solidFill>
                <a:latin typeface="DM Sans"/>
              </a:rPr>
              <a:t>Bevorderen therapietrouw</a:t>
            </a:r>
          </a:p>
        </p:txBody>
      </p:sp>
      <p:sp>
        <p:nvSpPr>
          <p:cNvPr id="25" name="TextBox 24"/>
          <p:cNvSpPr txBox="1"/>
          <p:nvPr/>
        </p:nvSpPr>
        <p:spPr>
          <a:xfrm>
            <a:off x="4064000" y="3679130"/>
            <a:ext cx="3035300"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Feedback therapietrouw obv sensor</a:t>
            </a:r>
          </a:p>
        </p:txBody>
      </p:sp>
      <p:sp>
        <p:nvSpPr>
          <p:cNvPr id="26" name="TextBox 25"/>
          <p:cNvSpPr txBox="1"/>
          <p:nvPr/>
        </p:nvSpPr>
        <p:spPr>
          <a:xfrm>
            <a:off x="4064000" y="3944541"/>
            <a:ext cx="3035300"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Communicatieprincipes</a:t>
            </a:r>
          </a:p>
        </p:txBody>
      </p:sp>
      <p:sp>
        <p:nvSpPr>
          <p:cNvPr id="27" name="TextBox 26"/>
          <p:cNvSpPr txBox="1"/>
          <p:nvPr/>
        </p:nvSpPr>
        <p:spPr>
          <a:xfrm>
            <a:off x="4064000" y="4209951"/>
            <a:ext cx="3035300"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Inschatten en bespreken van motivatie</a:t>
            </a:r>
          </a:p>
        </p:txBody>
      </p:sp>
      <p:sp>
        <p:nvSpPr>
          <p:cNvPr id="28" name="TextBox 27"/>
          <p:cNvSpPr txBox="1"/>
          <p:nvPr/>
        </p:nvSpPr>
        <p:spPr>
          <a:xfrm>
            <a:off x="4064000" y="4475361"/>
            <a:ext cx="3044190"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Kiezen van de correcte therapietrouwinterventies</a:t>
            </a:r>
          </a:p>
        </p:txBody>
      </p:sp>
      <p:sp>
        <p:nvSpPr>
          <p:cNvPr id="29" name="TextBox 28"/>
          <p:cNvSpPr txBox="1"/>
          <p:nvPr/>
        </p:nvSpPr>
        <p:spPr>
          <a:xfrm>
            <a:off x="4064000" y="4955381"/>
            <a:ext cx="3035300"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Oefeningen</a:t>
            </a:r>
          </a:p>
        </p:txBody>
      </p:sp>
      <p:sp>
        <p:nvSpPr>
          <p:cNvPr id="30" name="TextBox 29"/>
          <p:cNvSpPr txBox="1"/>
          <p:nvPr/>
        </p:nvSpPr>
        <p:spPr>
          <a:xfrm>
            <a:off x="7315200" y="3098800"/>
            <a:ext cx="1955800" cy="198120"/>
          </a:xfrm>
          <a:prstGeom prst="rect">
            <a:avLst/>
          </a:prstGeom>
          <a:noFill/>
        </p:spPr>
        <p:txBody>
          <a:bodyPr wrap="none" lIns="0" tIns="0" rIns="0" bIns="0" anchor="t">
            <a:noAutofit/>
          </a:bodyPr>
          <a:lstStyle/>
          <a:p>
            <a:pPr algn="l"/>
            <a:r>
              <a:rPr sz="1200" b="1" i="0">
                <a:solidFill>
                  <a:srgbClr val="1D8DB0"/>
                </a:solidFill>
                <a:latin typeface="DM Sans"/>
              </a:rPr>
              <a:t>april</a:t>
            </a:r>
          </a:p>
        </p:txBody>
      </p:sp>
      <p:sp>
        <p:nvSpPr>
          <p:cNvPr id="31" name="TextBox 30"/>
          <p:cNvSpPr txBox="1"/>
          <p:nvPr/>
        </p:nvSpPr>
        <p:spPr>
          <a:xfrm>
            <a:off x="7315200" y="3346450"/>
            <a:ext cx="1955800" cy="487561"/>
          </a:xfrm>
          <a:prstGeom prst="rect">
            <a:avLst/>
          </a:prstGeom>
          <a:noFill/>
        </p:spPr>
        <p:txBody>
          <a:bodyPr wrap="square" lIns="0" tIns="0" rIns="0" bIns="0" anchor="t">
            <a:noAutofit/>
          </a:bodyPr>
          <a:lstStyle/>
          <a:p>
            <a:pPr algn="l">
              <a:lnSpc>
                <a:spcPts val="1920"/>
              </a:lnSpc>
            </a:pPr>
            <a:r>
              <a:rPr sz="1600" b="1" i="0">
                <a:solidFill>
                  <a:srgbClr val="0A2540"/>
                </a:solidFill>
                <a:latin typeface="DM Sans"/>
              </a:rPr>
              <a:t>Inoefenen SEBIA a.h.v. script</a:t>
            </a:r>
          </a:p>
        </p:txBody>
      </p:sp>
      <p:sp>
        <p:nvSpPr>
          <p:cNvPr id="32" name="TextBox 31"/>
          <p:cNvSpPr txBox="1"/>
          <p:nvPr/>
        </p:nvSpPr>
        <p:spPr>
          <a:xfrm>
            <a:off x="7315200" y="3922911"/>
            <a:ext cx="1955800"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in uw centrum, 1,5 u</a:t>
            </a:r>
          </a:p>
        </p:txBody>
      </p:sp>
      <p:sp>
        <p:nvSpPr>
          <p:cNvPr id="33" name="TextBox 32"/>
          <p:cNvSpPr txBox="1"/>
          <p:nvPr/>
        </p:nvSpPr>
        <p:spPr>
          <a:xfrm>
            <a:off x="9448800" y="3098800"/>
            <a:ext cx="1955800" cy="198120"/>
          </a:xfrm>
          <a:prstGeom prst="rect">
            <a:avLst/>
          </a:prstGeom>
          <a:noFill/>
        </p:spPr>
        <p:txBody>
          <a:bodyPr wrap="none" lIns="0" tIns="0" rIns="0" bIns="0" anchor="t">
            <a:noAutofit/>
          </a:bodyPr>
          <a:lstStyle/>
          <a:p>
            <a:pPr algn="l"/>
            <a:r>
              <a:rPr sz="1200" b="1" i="0">
                <a:solidFill>
                  <a:srgbClr val="1D8DB0"/>
                </a:solidFill>
                <a:latin typeface="DM Sans"/>
              </a:rPr>
              <a:t>najaar 2027</a:t>
            </a:r>
          </a:p>
        </p:txBody>
      </p:sp>
      <p:sp>
        <p:nvSpPr>
          <p:cNvPr id="34" name="TextBox 33"/>
          <p:cNvSpPr txBox="1"/>
          <p:nvPr/>
        </p:nvSpPr>
        <p:spPr>
          <a:xfrm>
            <a:off x="9448800" y="3346450"/>
            <a:ext cx="1955800" cy="243840"/>
          </a:xfrm>
          <a:prstGeom prst="rect">
            <a:avLst/>
          </a:prstGeom>
          <a:noFill/>
        </p:spPr>
        <p:txBody>
          <a:bodyPr wrap="none" lIns="0" tIns="0" rIns="0" bIns="0" anchor="t">
            <a:noAutofit/>
          </a:bodyPr>
          <a:lstStyle/>
          <a:p>
            <a:pPr algn="l">
              <a:lnSpc>
                <a:spcPts val="1920"/>
              </a:lnSpc>
            </a:pPr>
            <a:r>
              <a:rPr sz="1600" b="1" i="0">
                <a:solidFill>
                  <a:srgbClr val="0A2540"/>
                </a:solidFill>
                <a:latin typeface="DM Sans"/>
              </a:rPr>
              <a:t>Intervisie</a:t>
            </a:r>
          </a:p>
        </p:txBody>
      </p:sp>
      <p:sp>
        <p:nvSpPr>
          <p:cNvPr id="35" name="TextBox 34"/>
          <p:cNvSpPr txBox="1"/>
          <p:nvPr/>
        </p:nvSpPr>
        <p:spPr>
          <a:xfrm>
            <a:off x="9448800" y="3679130"/>
            <a:ext cx="1955800"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online, 1 u</a:t>
            </a:r>
          </a:p>
        </p:txBody>
      </p:sp>
      <p:pic>
        <p:nvPicPr>
          <p:cNvPr id="36" name="Picture 35"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7" name="TextBox 36"/>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Werkpakketten</a:t>
            </a:r>
          </a:p>
        </p:txBody>
      </p:sp>
      <p:sp>
        <p:nvSpPr>
          <p:cNvPr id="38" name="TextBox 37"/>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SEBIA-overzicht voor de voetklinieken, F. Dobbels, 12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7_procesevaluatie.png"/>
          <p:cNvPicPr>
            <a:picLocks noChangeAspect="1"/>
          </p:cNvPicPr>
          <p:nvPr/>
        </p:nvPicPr>
        <p:blipFill>
          <a:blip r:embed="rId3"/>
          <a:stretch>
            <a:fillRect/>
          </a:stretch>
        </p:blipFill>
        <p:spPr>
          <a:xfrm>
            <a:off x="0" y="0"/>
            <a:ext cx="12192000" cy="6858000"/>
          </a:xfrm>
          <a:prstGeom prst="rect">
            <a:avLst/>
          </a:prstGeom>
        </p:spPr>
      </p:pic>
      <p:pic>
        <p:nvPicPr>
          <p:cNvPr id="3" name="Picture 2" descr="bca0e7442a2bdffe745679463c941007.png"/>
          <p:cNvPicPr>
            <a:picLocks noChangeAspect="1"/>
          </p:cNvPicPr>
          <p:nvPr/>
        </p:nvPicPr>
        <p:blipFill>
          <a:blip r:embed="rId4"/>
          <a:stretch>
            <a:fillRect/>
          </a:stretch>
        </p:blipFill>
        <p:spPr>
          <a:xfrm>
            <a:off x="5282605" y="1693072"/>
            <a:ext cx="6420545" cy="3611556"/>
          </a:xfrm>
          <a:prstGeom prst="rect">
            <a:avLst/>
          </a:prstGeom>
        </p:spPr>
      </p:pic>
      <p:sp>
        <p:nvSpPr>
          <p:cNvPr id="4" name="Rounded Rectangle 3"/>
          <p:cNvSpPr/>
          <p:nvPr/>
        </p:nvSpPr>
        <p:spPr>
          <a:xfrm>
            <a:off x="5797550" y="2743200"/>
            <a:ext cx="1295400" cy="1181100"/>
          </a:xfrm>
          <a:prstGeom prst="roundRect">
            <a:avLst>
              <a:gd name="adj" fmla="val 7526"/>
            </a:avLst>
          </a:prstGeom>
          <a:noFill/>
          <a:ln w="19050">
            <a:solidFill>
              <a:srgbClr val="A34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ounded Rectangle 4"/>
          <p:cNvSpPr/>
          <p:nvPr/>
        </p:nvSpPr>
        <p:spPr>
          <a:xfrm>
            <a:off x="5499100" y="5410200"/>
            <a:ext cx="355600" cy="355600"/>
          </a:xfrm>
          <a:prstGeom prst="roundRect">
            <a:avLst>
              <a:gd name="adj" fmla="val 50000"/>
            </a:avLst>
          </a:prstGeom>
          <a:solidFill>
            <a:srgbClr val="FFFFFF"/>
          </a:solidFill>
          <a:ln w="19050">
            <a:solidFill>
              <a:srgbClr val="A34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943600" y="5492750"/>
            <a:ext cx="2146300" cy="182880"/>
          </a:xfrm>
          <a:prstGeom prst="rect">
            <a:avLst/>
          </a:prstGeom>
          <a:noFill/>
        </p:spPr>
        <p:txBody>
          <a:bodyPr wrap="none" lIns="0" tIns="0" rIns="0" bIns="0" anchor="t">
            <a:noAutofit/>
          </a:bodyPr>
          <a:lstStyle/>
          <a:p>
            <a:pPr algn="l">
              <a:lnSpc>
                <a:spcPts val="1440"/>
              </a:lnSpc>
            </a:pPr>
            <a:r>
              <a:rPr sz="1200" b="1" i="0">
                <a:solidFill>
                  <a:srgbClr val="A34A00"/>
                </a:solidFill>
                <a:latin typeface="DM Sans"/>
              </a:rPr>
              <a:t>evalueert: PhD B</a:t>
            </a:r>
          </a:p>
        </p:txBody>
      </p:sp>
      <p:sp>
        <p:nvSpPr>
          <p:cNvPr id="7" name="Rounded Rectangle 6"/>
          <p:cNvSpPr/>
          <p:nvPr/>
        </p:nvSpPr>
        <p:spPr>
          <a:xfrm>
            <a:off x="10096500" y="2508250"/>
            <a:ext cx="1308100" cy="1358900"/>
          </a:xfrm>
          <a:prstGeom prst="roundRect">
            <a:avLst>
              <a:gd name="adj" fmla="val 6796"/>
            </a:avLst>
          </a:prstGeom>
          <a:noFill/>
          <a:ln w="1905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a6c090e5bb20bd65f24d045ad3a5b4b9.png"/>
          <p:cNvPicPr>
            <a:picLocks noChangeAspect="1"/>
          </p:cNvPicPr>
          <p:nvPr/>
        </p:nvPicPr>
        <p:blipFill>
          <a:blip r:embed="rId5"/>
          <a:stretch>
            <a:fillRect/>
          </a:stretch>
        </p:blipFill>
        <p:spPr>
          <a:xfrm>
            <a:off x="8191500" y="5410200"/>
            <a:ext cx="355600" cy="355600"/>
          </a:xfrm>
          <a:prstGeom prst="rect">
            <a:avLst/>
          </a:prstGeom>
        </p:spPr>
      </p:pic>
      <p:sp>
        <p:nvSpPr>
          <p:cNvPr id="9" name="TextBox 8"/>
          <p:cNvSpPr txBox="1"/>
          <p:nvPr/>
        </p:nvSpPr>
        <p:spPr>
          <a:xfrm>
            <a:off x="8636000" y="5492750"/>
            <a:ext cx="2908300" cy="182880"/>
          </a:xfrm>
          <a:prstGeom prst="rect">
            <a:avLst/>
          </a:prstGeom>
          <a:noFill/>
        </p:spPr>
        <p:txBody>
          <a:bodyPr wrap="none" lIns="0" tIns="0" rIns="0" bIns="0" anchor="t">
            <a:noAutofit/>
          </a:bodyPr>
          <a:lstStyle/>
          <a:p>
            <a:pPr algn="l">
              <a:lnSpc>
                <a:spcPts val="1440"/>
              </a:lnSpc>
            </a:pPr>
            <a:r>
              <a:rPr sz="1200" b="1" i="0">
                <a:solidFill>
                  <a:srgbClr val="0B6E8F"/>
                </a:solidFill>
                <a:latin typeface="DM Sans"/>
              </a:rPr>
              <a:t>evalueert: PhD A</a:t>
            </a:r>
            <a:r>
              <a:rPr sz="1200" b="0" i="0">
                <a:solidFill>
                  <a:srgbClr val="0B6E8F"/>
                </a:solidFill>
                <a:latin typeface="DM Sans"/>
              </a:rPr>
              <a:t> · Janou De Buyser</a:t>
            </a:r>
          </a:p>
        </p:txBody>
      </p:sp>
      <p:sp>
        <p:nvSpPr>
          <p:cNvPr id="10" name="TextBox 9"/>
          <p:cNvSpPr txBox="1"/>
          <p:nvPr/>
        </p:nvSpPr>
        <p:spPr>
          <a:xfrm>
            <a:off x="812800" y="812800"/>
            <a:ext cx="4274820" cy="1005681"/>
          </a:xfrm>
          <a:prstGeom prst="rect">
            <a:avLst/>
          </a:prstGeom>
          <a:noFill/>
        </p:spPr>
        <p:txBody>
          <a:bodyPr wrap="square" lIns="0" tIns="0" rIns="0" bIns="0" anchor="t">
            <a:noAutofit/>
          </a:bodyPr>
          <a:lstStyle/>
          <a:p>
            <a:pPr algn="l">
              <a:lnSpc>
                <a:spcPts val="3960"/>
              </a:lnSpc>
            </a:pPr>
            <a:r>
              <a:rPr sz="3600" b="0" i="0" spc="-50">
                <a:solidFill>
                  <a:srgbClr val="0A2540"/>
                </a:solidFill>
                <a:latin typeface="DM Serif Display"/>
              </a:rPr>
              <a:t>Procesevaluatie: de rollen wisselen</a:t>
            </a:r>
          </a:p>
        </p:txBody>
      </p:sp>
      <p:sp>
        <p:nvSpPr>
          <p:cNvPr id="11" name="TextBox 10"/>
          <p:cNvSpPr txBox="1"/>
          <p:nvPr/>
        </p:nvSpPr>
        <p:spPr>
          <a:xfrm>
            <a:off x="812800" y="2540000"/>
            <a:ext cx="4114800" cy="215900"/>
          </a:xfrm>
          <a:prstGeom prst="rect">
            <a:avLst/>
          </a:prstGeom>
          <a:noFill/>
        </p:spPr>
        <p:txBody>
          <a:bodyPr wrap="none" lIns="0" tIns="0" rIns="0" bIns="0" anchor="t">
            <a:noAutofit/>
          </a:bodyPr>
          <a:lstStyle/>
          <a:p>
            <a:pPr algn="l"/>
            <a:r>
              <a:rPr sz="1300" b="1" i="0">
                <a:solidFill>
                  <a:srgbClr val="0B6E8F"/>
                </a:solidFill>
                <a:latin typeface="DM Sans"/>
              </a:rPr>
              <a:t>WP2 · Maaike Fobelets, VUB</a:t>
            </a:r>
          </a:p>
        </p:txBody>
      </p:sp>
      <p:sp>
        <p:nvSpPr>
          <p:cNvPr id="12" name="Rectangle 11"/>
          <p:cNvSpPr/>
          <p:nvPr/>
        </p:nvSpPr>
        <p:spPr>
          <a:xfrm>
            <a:off x="812800" y="2819400"/>
            <a:ext cx="4064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93800" y="2926060"/>
            <a:ext cx="37338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Bevraging van managers en therapeuten</a:t>
            </a:r>
          </a:p>
        </p:txBody>
      </p:sp>
      <p:sp>
        <p:nvSpPr>
          <p:cNvPr id="14" name="Rectangle 13"/>
          <p:cNvSpPr/>
          <p:nvPr/>
        </p:nvSpPr>
        <p:spPr>
          <a:xfrm>
            <a:off x="812800" y="3257550"/>
            <a:ext cx="4064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93800" y="3352800"/>
            <a:ext cx="3756660" cy="462161"/>
          </a:xfrm>
          <a:prstGeom prst="rect">
            <a:avLst/>
          </a:prstGeom>
          <a:noFill/>
        </p:spPr>
        <p:txBody>
          <a:bodyPr wrap="square" lIns="0" tIns="0" rIns="0" bIns="0" anchor="t">
            <a:noAutofit/>
          </a:bodyPr>
          <a:lstStyle/>
          <a:p>
            <a:pPr algn="l">
              <a:lnSpc>
                <a:spcPts val="1820"/>
              </a:lnSpc>
            </a:pPr>
            <a:r>
              <a:rPr sz="1400" b="0" i="0">
                <a:solidFill>
                  <a:srgbClr val="0A2540"/>
                </a:solidFill>
                <a:latin typeface="DM Sans"/>
              </a:rPr>
              <a:t>Opnames en observaties van PARADISE-sessies</a:t>
            </a:r>
          </a:p>
        </p:txBody>
      </p:sp>
      <p:sp>
        <p:nvSpPr>
          <p:cNvPr id="16" name="Rectangle 15"/>
          <p:cNvSpPr/>
          <p:nvPr/>
        </p:nvSpPr>
        <p:spPr>
          <a:xfrm>
            <a:off x="812800" y="3903861"/>
            <a:ext cx="4064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93800" y="3999111"/>
            <a:ext cx="3756660" cy="462161"/>
          </a:xfrm>
          <a:prstGeom prst="rect">
            <a:avLst/>
          </a:prstGeom>
          <a:noFill/>
        </p:spPr>
        <p:txBody>
          <a:bodyPr wrap="square" lIns="0" tIns="0" rIns="0" bIns="0" anchor="t">
            <a:noAutofit/>
          </a:bodyPr>
          <a:lstStyle/>
          <a:p>
            <a:pPr algn="l">
              <a:lnSpc>
                <a:spcPts val="1820"/>
              </a:lnSpc>
            </a:pPr>
            <a:r>
              <a:rPr sz="1400" b="0" i="0">
                <a:solidFill>
                  <a:srgbClr val="0A2540"/>
                </a:solidFill>
                <a:latin typeface="DM Sans"/>
              </a:rPr>
              <a:t>Het dagboek van de therapeut, alleen in Optimal Care (eCRF 40)</a:t>
            </a:r>
          </a:p>
        </p:txBody>
      </p:sp>
      <p:sp>
        <p:nvSpPr>
          <p:cNvPr id="18" name="Rectangle 17"/>
          <p:cNvSpPr/>
          <p:nvPr/>
        </p:nvSpPr>
        <p:spPr>
          <a:xfrm>
            <a:off x="812800" y="4550172"/>
            <a:ext cx="4064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93800" y="4656832"/>
            <a:ext cx="37338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De fidelity van SEBIA</a:t>
            </a:r>
          </a:p>
        </p:txBody>
      </p:sp>
      <p:pic>
        <p:nvPicPr>
          <p:cNvPr id="20" name="Picture 19" descr="ec5c93e6f83f209b4e97ddfdecd480c8.png"/>
          <p:cNvPicPr>
            <a:picLocks noChangeAspect="1"/>
          </p:cNvPicPr>
          <p:nvPr/>
        </p:nvPicPr>
        <p:blipFill>
          <a:blip r:embed="rId6"/>
          <a:stretch>
            <a:fillRect/>
          </a:stretch>
        </p:blipFill>
        <p:spPr>
          <a:xfrm>
            <a:off x="812967" y="6261100"/>
            <a:ext cx="171116" cy="203200"/>
          </a:xfrm>
          <a:prstGeom prst="rect">
            <a:avLst/>
          </a:prstGeom>
        </p:spPr>
      </p:pic>
      <p:sp>
        <p:nvSpPr>
          <p:cNvPr id="21" name="TextBox 20"/>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Werkpakketten</a:t>
            </a:r>
          </a:p>
        </p:txBody>
      </p:sp>
      <p:sp>
        <p:nvSpPr>
          <p:cNvPr id="22" name="TextBox 21"/>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consortiummeeting 1 april 2026 · eCRF 40 · studieteam, 8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8_gezondheidseconomi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Gezondheidseconomie en de dagboeken</a:t>
            </a:r>
          </a:p>
        </p:txBody>
      </p:sp>
      <p:sp>
        <p:nvSpPr>
          <p:cNvPr id="4" name="Rectangle 3"/>
          <p:cNvSpPr/>
          <p:nvPr/>
        </p:nvSpPr>
        <p:spPr>
          <a:xfrm>
            <a:off x="812800" y="1950641"/>
            <a:ext cx="1056640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2800" y="1544241"/>
            <a:ext cx="2082800" cy="198120"/>
          </a:xfrm>
          <a:prstGeom prst="rect">
            <a:avLst/>
          </a:prstGeom>
          <a:noFill/>
        </p:spPr>
        <p:txBody>
          <a:bodyPr wrap="none" lIns="0" tIns="0" rIns="0" bIns="0" anchor="t">
            <a:noAutofit/>
          </a:bodyPr>
          <a:lstStyle/>
          <a:p>
            <a:pPr algn="l"/>
            <a:r>
              <a:rPr sz="1200" b="0" i="0">
                <a:solidFill>
                  <a:srgbClr val="5A6E80"/>
                </a:solidFill>
                <a:latin typeface="DM Sans"/>
              </a:rPr>
              <a:t>WP3 · Koen Putman, VUB</a:t>
            </a:r>
          </a:p>
        </p:txBody>
      </p:sp>
      <p:sp>
        <p:nvSpPr>
          <p:cNvPr id="6" name="TextBox 5"/>
          <p:cNvSpPr txBox="1"/>
          <p:nvPr/>
        </p:nvSpPr>
        <p:spPr>
          <a:xfrm>
            <a:off x="3296543" y="1544241"/>
            <a:ext cx="214114" cy="198120"/>
          </a:xfrm>
          <a:prstGeom prst="rect">
            <a:avLst/>
          </a:prstGeom>
          <a:noFill/>
        </p:spPr>
        <p:txBody>
          <a:bodyPr wrap="none" lIns="0" tIns="0" rIns="0" bIns="0" anchor="t">
            <a:noAutofit/>
          </a:bodyPr>
          <a:lstStyle/>
          <a:p>
            <a:pPr algn="l"/>
            <a:r>
              <a:rPr sz="1200" b="1" i="0">
                <a:solidFill>
                  <a:srgbClr val="0A2540"/>
                </a:solidFill>
                <a:latin typeface="DM Sans"/>
              </a:rPr>
              <a:t>V1</a:t>
            </a:r>
          </a:p>
        </p:txBody>
      </p:sp>
      <p:sp>
        <p:nvSpPr>
          <p:cNvPr id="7" name="TextBox 6"/>
          <p:cNvSpPr txBox="1"/>
          <p:nvPr/>
        </p:nvSpPr>
        <p:spPr>
          <a:xfrm>
            <a:off x="3085207" y="1753791"/>
            <a:ext cx="636786" cy="198120"/>
          </a:xfrm>
          <a:prstGeom prst="rect">
            <a:avLst/>
          </a:prstGeom>
          <a:noFill/>
        </p:spPr>
        <p:txBody>
          <a:bodyPr wrap="none" lIns="0" tIns="0" rIns="0" bIns="0" anchor="t">
            <a:noAutofit/>
          </a:bodyPr>
          <a:lstStyle/>
          <a:p>
            <a:pPr algn="l"/>
            <a:r>
              <a:rPr sz="1200" b="0" i="0">
                <a:solidFill>
                  <a:srgbClr val="5A6E80"/>
                </a:solidFill>
                <a:latin typeface="DM Sans"/>
              </a:rPr>
              <a:t>baseline</a:t>
            </a:r>
          </a:p>
        </p:txBody>
      </p:sp>
      <p:sp>
        <p:nvSpPr>
          <p:cNvPr id="8" name="TextBox 7"/>
          <p:cNvSpPr txBox="1"/>
          <p:nvPr/>
        </p:nvSpPr>
        <p:spPr>
          <a:xfrm>
            <a:off x="4347964" y="1544241"/>
            <a:ext cx="244872" cy="198120"/>
          </a:xfrm>
          <a:prstGeom prst="rect">
            <a:avLst/>
          </a:prstGeom>
          <a:noFill/>
        </p:spPr>
        <p:txBody>
          <a:bodyPr wrap="none" lIns="0" tIns="0" rIns="0" bIns="0" anchor="t">
            <a:noAutofit/>
          </a:bodyPr>
          <a:lstStyle/>
          <a:p>
            <a:pPr algn="l"/>
            <a:r>
              <a:rPr sz="1200" b="1" i="0">
                <a:solidFill>
                  <a:srgbClr val="0A2540"/>
                </a:solidFill>
                <a:latin typeface="DM Sans"/>
              </a:rPr>
              <a:t>V2</a:t>
            </a:r>
          </a:p>
        </p:txBody>
      </p:sp>
      <p:sp>
        <p:nvSpPr>
          <p:cNvPr id="9" name="TextBox 8"/>
          <p:cNvSpPr txBox="1"/>
          <p:nvPr/>
        </p:nvSpPr>
        <p:spPr>
          <a:xfrm>
            <a:off x="4143970" y="1753791"/>
            <a:ext cx="652859" cy="198120"/>
          </a:xfrm>
          <a:prstGeom prst="rect">
            <a:avLst/>
          </a:prstGeom>
          <a:noFill/>
        </p:spPr>
        <p:txBody>
          <a:bodyPr wrap="none" lIns="0" tIns="0" rIns="0" bIns="0" anchor="t">
            <a:noAutofit/>
          </a:bodyPr>
          <a:lstStyle/>
          <a:p>
            <a:pPr algn="l"/>
            <a:r>
              <a:rPr sz="1200" b="0" i="0">
                <a:solidFill>
                  <a:srgbClr val="5A6E80"/>
                </a:solidFill>
                <a:latin typeface="DM Sans"/>
              </a:rPr>
              <a:t>14 d–1 m</a:t>
            </a:r>
          </a:p>
        </p:txBody>
      </p:sp>
      <p:sp>
        <p:nvSpPr>
          <p:cNvPr id="10" name="TextBox 9"/>
          <p:cNvSpPr txBox="1"/>
          <p:nvPr/>
        </p:nvSpPr>
        <p:spPr>
          <a:xfrm>
            <a:off x="5412482" y="1544241"/>
            <a:ext cx="249436" cy="198120"/>
          </a:xfrm>
          <a:prstGeom prst="rect">
            <a:avLst/>
          </a:prstGeom>
          <a:noFill/>
        </p:spPr>
        <p:txBody>
          <a:bodyPr wrap="none" lIns="0" tIns="0" rIns="0" bIns="0" anchor="t">
            <a:noAutofit/>
          </a:bodyPr>
          <a:lstStyle/>
          <a:p>
            <a:pPr algn="l"/>
            <a:r>
              <a:rPr sz="1200" b="1" i="0">
                <a:solidFill>
                  <a:srgbClr val="0A2540"/>
                </a:solidFill>
                <a:latin typeface="DM Sans"/>
              </a:rPr>
              <a:t>V3</a:t>
            </a:r>
          </a:p>
        </p:txBody>
      </p:sp>
      <p:sp>
        <p:nvSpPr>
          <p:cNvPr id="11" name="TextBox 10"/>
          <p:cNvSpPr txBox="1"/>
          <p:nvPr/>
        </p:nvSpPr>
        <p:spPr>
          <a:xfrm>
            <a:off x="5378549" y="1753791"/>
            <a:ext cx="317202" cy="198120"/>
          </a:xfrm>
          <a:prstGeom prst="rect">
            <a:avLst/>
          </a:prstGeom>
          <a:noFill/>
        </p:spPr>
        <p:txBody>
          <a:bodyPr wrap="none" lIns="0" tIns="0" rIns="0" bIns="0" anchor="t">
            <a:noAutofit/>
          </a:bodyPr>
          <a:lstStyle/>
          <a:p>
            <a:pPr algn="l"/>
            <a:r>
              <a:rPr sz="1200" b="0" i="0">
                <a:solidFill>
                  <a:srgbClr val="5A6E80"/>
                </a:solidFill>
                <a:latin typeface="DM Sans"/>
              </a:rPr>
              <a:t>m 3</a:t>
            </a:r>
          </a:p>
        </p:txBody>
      </p:sp>
      <p:sp>
        <p:nvSpPr>
          <p:cNvPr id="12" name="TextBox 11"/>
          <p:cNvSpPr txBox="1"/>
          <p:nvPr/>
        </p:nvSpPr>
        <p:spPr>
          <a:xfrm>
            <a:off x="6480572" y="1544241"/>
            <a:ext cx="246856" cy="198120"/>
          </a:xfrm>
          <a:prstGeom prst="rect">
            <a:avLst/>
          </a:prstGeom>
          <a:noFill/>
        </p:spPr>
        <p:txBody>
          <a:bodyPr wrap="none" lIns="0" tIns="0" rIns="0" bIns="0" anchor="t">
            <a:noAutofit/>
          </a:bodyPr>
          <a:lstStyle/>
          <a:p>
            <a:pPr algn="l"/>
            <a:r>
              <a:rPr sz="1200" b="1" i="0">
                <a:solidFill>
                  <a:srgbClr val="0A2540"/>
                </a:solidFill>
                <a:latin typeface="DM Sans"/>
              </a:rPr>
              <a:t>V4</a:t>
            </a:r>
          </a:p>
        </p:txBody>
      </p:sp>
      <p:sp>
        <p:nvSpPr>
          <p:cNvPr id="13" name="TextBox 12"/>
          <p:cNvSpPr txBox="1"/>
          <p:nvPr/>
        </p:nvSpPr>
        <p:spPr>
          <a:xfrm>
            <a:off x="6442571" y="1753791"/>
            <a:ext cx="322858" cy="198120"/>
          </a:xfrm>
          <a:prstGeom prst="rect">
            <a:avLst/>
          </a:prstGeom>
          <a:noFill/>
        </p:spPr>
        <p:txBody>
          <a:bodyPr wrap="none" lIns="0" tIns="0" rIns="0" bIns="0" anchor="t">
            <a:noAutofit/>
          </a:bodyPr>
          <a:lstStyle/>
          <a:p>
            <a:pPr algn="l"/>
            <a:r>
              <a:rPr sz="1200" b="0" i="0">
                <a:solidFill>
                  <a:srgbClr val="5A6E80"/>
                </a:solidFill>
                <a:latin typeface="DM Sans"/>
              </a:rPr>
              <a:t>m 6</a:t>
            </a:r>
          </a:p>
        </p:txBody>
      </p:sp>
      <p:sp>
        <p:nvSpPr>
          <p:cNvPr id="14" name="TextBox 13"/>
          <p:cNvSpPr txBox="1"/>
          <p:nvPr/>
        </p:nvSpPr>
        <p:spPr>
          <a:xfrm>
            <a:off x="7544991" y="1544241"/>
            <a:ext cx="251619" cy="198120"/>
          </a:xfrm>
          <a:prstGeom prst="rect">
            <a:avLst/>
          </a:prstGeom>
          <a:noFill/>
        </p:spPr>
        <p:txBody>
          <a:bodyPr wrap="none" lIns="0" tIns="0" rIns="0" bIns="0" anchor="t">
            <a:noAutofit/>
          </a:bodyPr>
          <a:lstStyle/>
          <a:p>
            <a:pPr algn="l"/>
            <a:r>
              <a:rPr sz="1200" b="1" i="0">
                <a:solidFill>
                  <a:srgbClr val="0A2540"/>
                </a:solidFill>
                <a:latin typeface="DM Sans"/>
              </a:rPr>
              <a:t>V5</a:t>
            </a:r>
          </a:p>
        </p:txBody>
      </p:sp>
      <p:sp>
        <p:nvSpPr>
          <p:cNvPr id="15" name="TextBox 14"/>
          <p:cNvSpPr txBox="1"/>
          <p:nvPr/>
        </p:nvSpPr>
        <p:spPr>
          <a:xfrm>
            <a:off x="7509371" y="1753791"/>
            <a:ext cx="322858" cy="198120"/>
          </a:xfrm>
          <a:prstGeom prst="rect">
            <a:avLst/>
          </a:prstGeom>
          <a:noFill/>
        </p:spPr>
        <p:txBody>
          <a:bodyPr wrap="none" lIns="0" tIns="0" rIns="0" bIns="0" anchor="t">
            <a:noAutofit/>
          </a:bodyPr>
          <a:lstStyle/>
          <a:p>
            <a:pPr algn="l"/>
            <a:r>
              <a:rPr sz="1200" b="0" i="0">
                <a:solidFill>
                  <a:srgbClr val="5A6E80"/>
                </a:solidFill>
                <a:latin typeface="DM Sans"/>
              </a:rPr>
              <a:t>m 9</a:t>
            </a:r>
          </a:p>
        </p:txBody>
      </p:sp>
      <p:sp>
        <p:nvSpPr>
          <p:cNvPr id="16" name="TextBox 15"/>
          <p:cNvSpPr txBox="1"/>
          <p:nvPr/>
        </p:nvSpPr>
        <p:spPr>
          <a:xfrm>
            <a:off x="8610997" y="1544241"/>
            <a:ext cx="253107" cy="198120"/>
          </a:xfrm>
          <a:prstGeom prst="rect">
            <a:avLst/>
          </a:prstGeom>
          <a:noFill/>
        </p:spPr>
        <p:txBody>
          <a:bodyPr wrap="none" lIns="0" tIns="0" rIns="0" bIns="0" anchor="t">
            <a:noAutofit/>
          </a:bodyPr>
          <a:lstStyle/>
          <a:p>
            <a:pPr algn="l"/>
            <a:r>
              <a:rPr sz="1200" b="1" i="0">
                <a:solidFill>
                  <a:srgbClr val="0A2540"/>
                </a:solidFill>
                <a:latin typeface="DM Sans"/>
              </a:rPr>
              <a:t>V6</a:t>
            </a:r>
          </a:p>
        </p:txBody>
      </p:sp>
      <p:sp>
        <p:nvSpPr>
          <p:cNvPr id="17" name="TextBox 16"/>
          <p:cNvSpPr txBox="1"/>
          <p:nvPr/>
        </p:nvSpPr>
        <p:spPr>
          <a:xfrm>
            <a:off x="8556327" y="1753791"/>
            <a:ext cx="362545" cy="198120"/>
          </a:xfrm>
          <a:prstGeom prst="rect">
            <a:avLst/>
          </a:prstGeom>
          <a:noFill/>
        </p:spPr>
        <p:txBody>
          <a:bodyPr wrap="none" lIns="0" tIns="0" rIns="0" bIns="0" anchor="t">
            <a:noAutofit/>
          </a:bodyPr>
          <a:lstStyle/>
          <a:p>
            <a:pPr algn="l"/>
            <a:r>
              <a:rPr sz="1200" b="0" i="0">
                <a:solidFill>
                  <a:srgbClr val="5A6E80"/>
                </a:solidFill>
                <a:latin typeface="DM Sans"/>
              </a:rPr>
              <a:t>m 12</a:t>
            </a:r>
          </a:p>
        </p:txBody>
      </p:sp>
      <p:sp>
        <p:nvSpPr>
          <p:cNvPr id="18" name="TextBox 17"/>
          <p:cNvSpPr txBox="1"/>
          <p:nvPr/>
        </p:nvSpPr>
        <p:spPr>
          <a:xfrm>
            <a:off x="9682758" y="1544241"/>
            <a:ext cx="243284" cy="198120"/>
          </a:xfrm>
          <a:prstGeom prst="rect">
            <a:avLst/>
          </a:prstGeom>
          <a:noFill/>
        </p:spPr>
        <p:txBody>
          <a:bodyPr wrap="none" lIns="0" tIns="0" rIns="0" bIns="0" anchor="t">
            <a:noAutofit/>
          </a:bodyPr>
          <a:lstStyle/>
          <a:p>
            <a:pPr algn="l"/>
            <a:r>
              <a:rPr sz="1200" b="1" i="0">
                <a:solidFill>
                  <a:srgbClr val="0A2540"/>
                </a:solidFill>
                <a:latin typeface="DM Sans"/>
              </a:rPr>
              <a:t>V7</a:t>
            </a:r>
          </a:p>
        </p:txBody>
      </p:sp>
      <p:sp>
        <p:nvSpPr>
          <p:cNvPr id="19" name="TextBox 18"/>
          <p:cNvSpPr txBox="1"/>
          <p:nvPr/>
        </p:nvSpPr>
        <p:spPr>
          <a:xfrm>
            <a:off x="9620548" y="1753791"/>
            <a:ext cx="367705" cy="198120"/>
          </a:xfrm>
          <a:prstGeom prst="rect">
            <a:avLst/>
          </a:prstGeom>
          <a:noFill/>
        </p:spPr>
        <p:txBody>
          <a:bodyPr wrap="none" lIns="0" tIns="0" rIns="0" bIns="0" anchor="t">
            <a:noAutofit/>
          </a:bodyPr>
          <a:lstStyle/>
          <a:p>
            <a:pPr algn="l"/>
            <a:r>
              <a:rPr sz="1200" b="0" i="0">
                <a:solidFill>
                  <a:srgbClr val="5A6E80"/>
                </a:solidFill>
                <a:latin typeface="DM Sans"/>
              </a:rPr>
              <a:t>m 15</a:t>
            </a:r>
          </a:p>
        </p:txBody>
      </p:sp>
      <p:sp>
        <p:nvSpPr>
          <p:cNvPr id="20" name="TextBox 19"/>
          <p:cNvSpPr txBox="1"/>
          <p:nvPr/>
        </p:nvSpPr>
        <p:spPr>
          <a:xfrm>
            <a:off x="10746184" y="1544241"/>
            <a:ext cx="250031" cy="198120"/>
          </a:xfrm>
          <a:prstGeom prst="rect">
            <a:avLst/>
          </a:prstGeom>
          <a:noFill/>
        </p:spPr>
        <p:txBody>
          <a:bodyPr wrap="none" lIns="0" tIns="0" rIns="0" bIns="0" anchor="t">
            <a:noAutofit/>
          </a:bodyPr>
          <a:lstStyle/>
          <a:p>
            <a:pPr algn="l"/>
            <a:r>
              <a:rPr sz="1200" b="1" i="0">
                <a:solidFill>
                  <a:srgbClr val="0A2540"/>
                </a:solidFill>
                <a:latin typeface="DM Sans"/>
              </a:rPr>
              <a:t>V8</a:t>
            </a:r>
          </a:p>
        </p:txBody>
      </p:sp>
      <p:sp>
        <p:nvSpPr>
          <p:cNvPr id="21" name="TextBox 20"/>
          <p:cNvSpPr txBox="1"/>
          <p:nvPr/>
        </p:nvSpPr>
        <p:spPr>
          <a:xfrm>
            <a:off x="10687447" y="1753791"/>
            <a:ext cx="367407" cy="198120"/>
          </a:xfrm>
          <a:prstGeom prst="rect">
            <a:avLst/>
          </a:prstGeom>
          <a:noFill/>
        </p:spPr>
        <p:txBody>
          <a:bodyPr wrap="none" lIns="0" tIns="0" rIns="0" bIns="0" anchor="t">
            <a:noAutofit/>
          </a:bodyPr>
          <a:lstStyle/>
          <a:p>
            <a:pPr algn="l"/>
            <a:r>
              <a:rPr sz="1200" b="0" i="0">
                <a:solidFill>
                  <a:srgbClr val="5A6E80"/>
                </a:solidFill>
                <a:latin typeface="DM Sans"/>
              </a:rPr>
              <a:t>m 18</a:t>
            </a:r>
          </a:p>
        </p:txBody>
      </p:sp>
      <p:sp>
        <p:nvSpPr>
          <p:cNvPr id="22" name="Rectangle 21"/>
          <p:cNvSpPr/>
          <p:nvPr/>
        </p:nvSpPr>
        <p:spPr>
          <a:xfrm>
            <a:off x="812800" y="1963341"/>
            <a:ext cx="88519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2800" y="2071291"/>
            <a:ext cx="2082800" cy="204470"/>
          </a:xfrm>
          <a:prstGeom prst="rect">
            <a:avLst/>
          </a:prstGeom>
          <a:noFill/>
        </p:spPr>
        <p:txBody>
          <a:bodyPr wrap="none" lIns="0" tIns="0" rIns="0" bIns="0" anchor="t">
            <a:noAutofit/>
          </a:bodyPr>
          <a:lstStyle/>
          <a:p>
            <a:pPr algn="l">
              <a:lnSpc>
                <a:spcPts val="1610"/>
              </a:lnSpc>
            </a:pPr>
            <a:r>
              <a:rPr sz="1400" b="1" i="0">
                <a:solidFill>
                  <a:srgbClr val="0A2540"/>
                </a:solidFill>
                <a:latin typeface="DM Sans"/>
              </a:rPr>
              <a:t>Levenskwaliteit</a:t>
            </a:r>
          </a:p>
        </p:txBody>
      </p:sp>
      <p:sp>
        <p:nvSpPr>
          <p:cNvPr id="24" name="TextBox 23"/>
          <p:cNvSpPr txBox="1"/>
          <p:nvPr/>
        </p:nvSpPr>
        <p:spPr>
          <a:xfrm>
            <a:off x="812800" y="2288381"/>
            <a:ext cx="2082800" cy="182880"/>
          </a:xfrm>
          <a:prstGeom prst="rect">
            <a:avLst/>
          </a:prstGeom>
          <a:noFill/>
        </p:spPr>
        <p:txBody>
          <a:bodyPr wrap="none" lIns="0" tIns="0" rIns="0" bIns="0" anchor="t">
            <a:noAutofit/>
          </a:bodyPr>
          <a:lstStyle/>
          <a:p>
            <a:pPr algn="l">
              <a:lnSpc>
                <a:spcPts val="1440"/>
              </a:lnSpc>
            </a:pPr>
            <a:r>
              <a:rPr sz="1200" b="0" i="0">
                <a:solidFill>
                  <a:srgbClr val="5A6E80"/>
                </a:solidFill>
                <a:latin typeface="DM Sans"/>
              </a:rPr>
              <a:t>EQ-5D-5L</a:t>
            </a:r>
          </a:p>
        </p:txBody>
      </p:sp>
      <p:sp>
        <p:nvSpPr>
          <p:cNvPr id="25" name="Rectangle 24"/>
          <p:cNvSpPr/>
          <p:nvPr/>
        </p:nvSpPr>
        <p:spPr>
          <a:xfrm>
            <a:off x="812800" y="2572841"/>
            <a:ext cx="88519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2800" y="2680791"/>
            <a:ext cx="2082800" cy="204470"/>
          </a:xfrm>
          <a:prstGeom prst="rect">
            <a:avLst/>
          </a:prstGeom>
          <a:noFill/>
        </p:spPr>
        <p:txBody>
          <a:bodyPr wrap="none" lIns="0" tIns="0" rIns="0" bIns="0" anchor="t">
            <a:noAutofit/>
          </a:bodyPr>
          <a:lstStyle/>
          <a:p>
            <a:pPr algn="l">
              <a:lnSpc>
                <a:spcPts val="1610"/>
              </a:lnSpc>
            </a:pPr>
            <a:r>
              <a:rPr sz="1400" b="1" i="0">
                <a:solidFill>
                  <a:srgbClr val="0A2540"/>
                </a:solidFill>
                <a:latin typeface="DM Sans"/>
              </a:rPr>
              <a:t>Zorggebruik</a:t>
            </a:r>
          </a:p>
        </p:txBody>
      </p:sp>
      <p:sp>
        <p:nvSpPr>
          <p:cNvPr id="27" name="TextBox 26"/>
          <p:cNvSpPr txBox="1"/>
          <p:nvPr/>
        </p:nvSpPr>
        <p:spPr>
          <a:xfrm>
            <a:off x="812800" y="2897882"/>
            <a:ext cx="2082800" cy="182880"/>
          </a:xfrm>
          <a:prstGeom prst="rect">
            <a:avLst/>
          </a:prstGeom>
          <a:noFill/>
        </p:spPr>
        <p:txBody>
          <a:bodyPr wrap="none" lIns="0" tIns="0" rIns="0" bIns="0" anchor="t">
            <a:noAutofit/>
          </a:bodyPr>
          <a:lstStyle/>
          <a:p>
            <a:pPr algn="l">
              <a:lnSpc>
                <a:spcPts val="1440"/>
              </a:lnSpc>
            </a:pPr>
            <a:r>
              <a:rPr sz="1200" b="0" i="0">
                <a:solidFill>
                  <a:srgbClr val="5A6E80"/>
                </a:solidFill>
                <a:latin typeface="DM Sans"/>
              </a:rPr>
              <a:t>iMTA iMCQ</a:t>
            </a:r>
          </a:p>
        </p:txBody>
      </p:sp>
      <p:sp>
        <p:nvSpPr>
          <p:cNvPr id="28" name="Rectangle 27"/>
          <p:cNvSpPr/>
          <p:nvPr/>
        </p:nvSpPr>
        <p:spPr>
          <a:xfrm>
            <a:off x="812800" y="3182342"/>
            <a:ext cx="88519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2800" y="3290292"/>
            <a:ext cx="2082800" cy="204470"/>
          </a:xfrm>
          <a:prstGeom prst="rect">
            <a:avLst/>
          </a:prstGeom>
          <a:noFill/>
        </p:spPr>
        <p:txBody>
          <a:bodyPr wrap="none" lIns="0" tIns="0" rIns="0" bIns="0" anchor="t">
            <a:noAutofit/>
          </a:bodyPr>
          <a:lstStyle/>
          <a:p>
            <a:pPr algn="l">
              <a:lnSpc>
                <a:spcPts val="1610"/>
              </a:lnSpc>
            </a:pPr>
            <a:r>
              <a:rPr sz="1400" b="1" i="0">
                <a:solidFill>
                  <a:srgbClr val="0A2540"/>
                </a:solidFill>
                <a:latin typeface="DM Sans"/>
              </a:rPr>
              <a:t>Productiviteit</a:t>
            </a:r>
          </a:p>
        </p:txBody>
      </p:sp>
      <p:sp>
        <p:nvSpPr>
          <p:cNvPr id="30" name="TextBox 29"/>
          <p:cNvSpPr txBox="1"/>
          <p:nvPr/>
        </p:nvSpPr>
        <p:spPr>
          <a:xfrm>
            <a:off x="812800" y="3507383"/>
            <a:ext cx="2082800" cy="182880"/>
          </a:xfrm>
          <a:prstGeom prst="rect">
            <a:avLst/>
          </a:prstGeom>
          <a:noFill/>
        </p:spPr>
        <p:txBody>
          <a:bodyPr wrap="none" lIns="0" tIns="0" rIns="0" bIns="0" anchor="t">
            <a:noAutofit/>
          </a:bodyPr>
          <a:lstStyle/>
          <a:p>
            <a:pPr algn="l">
              <a:lnSpc>
                <a:spcPts val="1440"/>
              </a:lnSpc>
            </a:pPr>
            <a:r>
              <a:rPr sz="1200" b="0" i="0">
                <a:solidFill>
                  <a:srgbClr val="5A6E80"/>
                </a:solidFill>
                <a:latin typeface="DM Sans"/>
              </a:rPr>
              <a:t>iMTA iPCQ</a:t>
            </a:r>
          </a:p>
        </p:txBody>
      </p:sp>
      <p:sp>
        <p:nvSpPr>
          <p:cNvPr id="31" name="Rectangle 30"/>
          <p:cNvSpPr/>
          <p:nvPr/>
        </p:nvSpPr>
        <p:spPr>
          <a:xfrm>
            <a:off x="812800" y="3791843"/>
            <a:ext cx="88519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12800" y="3937298"/>
            <a:ext cx="2082800" cy="204470"/>
          </a:xfrm>
          <a:prstGeom prst="rect">
            <a:avLst/>
          </a:prstGeom>
          <a:noFill/>
        </p:spPr>
        <p:txBody>
          <a:bodyPr wrap="none" lIns="0" tIns="0" rIns="0" bIns="0" anchor="t">
            <a:noAutofit/>
          </a:bodyPr>
          <a:lstStyle/>
          <a:p>
            <a:pPr algn="l">
              <a:lnSpc>
                <a:spcPts val="1610"/>
              </a:lnSpc>
            </a:pPr>
            <a:r>
              <a:rPr sz="1400" b="1" i="0">
                <a:solidFill>
                  <a:srgbClr val="0A2540"/>
                </a:solidFill>
                <a:latin typeface="DM Sans"/>
              </a:rPr>
              <a:t>Kostendagboek</a:t>
            </a:r>
          </a:p>
        </p:txBody>
      </p:sp>
      <p:sp>
        <p:nvSpPr>
          <p:cNvPr id="33" name="TextBox 32"/>
          <p:cNvSpPr txBox="1"/>
          <p:nvPr/>
        </p:nvSpPr>
        <p:spPr>
          <a:xfrm>
            <a:off x="812800" y="4154388"/>
            <a:ext cx="2082800" cy="182880"/>
          </a:xfrm>
          <a:prstGeom prst="rect">
            <a:avLst/>
          </a:prstGeom>
          <a:noFill/>
        </p:spPr>
        <p:txBody>
          <a:bodyPr wrap="none" lIns="0" tIns="0" rIns="0" bIns="0" anchor="t">
            <a:noAutofit/>
          </a:bodyPr>
          <a:lstStyle/>
          <a:p>
            <a:pPr algn="l">
              <a:lnSpc>
                <a:spcPts val="1440"/>
              </a:lnSpc>
            </a:pPr>
            <a:r>
              <a:rPr sz="1200" b="0" i="0">
                <a:solidFill>
                  <a:srgbClr val="5A6E80"/>
                </a:solidFill>
                <a:latin typeface="DM Sans"/>
              </a:rPr>
              <a:t>eCRF 45, 45a, 45b</a:t>
            </a:r>
          </a:p>
        </p:txBody>
      </p:sp>
      <p:sp>
        <p:nvSpPr>
          <p:cNvPr id="34" name="TextBox 33"/>
          <p:cNvSpPr txBox="1"/>
          <p:nvPr/>
        </p:nvSpPr>
        <p:spPr>
          <a:xfrm>
            <a:off x="2819400" y="4191893"/>
            <a:ext cx="1755775" cy="182880"/>
          </a:xfrm>
          <a:prstGeom prst="rect">
            <a:avLst/>
          </a:prstGeom>
          <a:noFill/>
        </p:spPr>
        <p:txBody>
          <a:bodyPr wrap="none" lIns="0" tIns="0" rIns="0" bIns="0" anchor="t">
            <a:noAutofit/>
          </a:bodyPr>
          <a:lstStyle/>
          <a:p>
            <a:pPr algn="ctr">
              <a:lnSpc>
                <a:spcPts val="1440"/>
              </a:lnSpc>
            </a:pPr>
            <a:r>
              <a:rPr sz="1200" b="0" i="0">
                <a:solidFill>
                  <a:srgbClr val="A34A00"/>
                </a:solidFill>
                <a:latin typeface="DM Sans"/>
              </a:rPr>
              <a:t>start · elke 2 weken</a:t>
            </a:r>
          </a:p>
        </p:txBody>
      </p:sp>
      <p:sp>
        <p:nvSpPr>
          <p:cNvPr id="35" name="TextBox 34"/>
          <p:cNvSpPr txBox="1"/>
          <p:nvPr/>
        </p:nvSpPr>
        <p:spPr>
          <a:xfrm>
            <a:off x="4524375" y="4191893"/>
            <a:ext cx="5165725" cy="182880"/>
          </a:xfrm>
          <a:prstGeom prst="rect">
            <a:avLst/>
          </a:prstGeom>
          <a:noFill/>
        </p:spPr>
        <p:txBody>
          <a:bodyPr wrap="none" lIns="0" tIns="0" rIns="0" bIns="0" anchor="t">
            <a:noAutofit/>
          </a:bodyPr>
          <a:lstStyle/>
          <a:p>
            <a:pPr algn="ctr">
              <a:lnSpc>
                <a:spcPts val="1440"/>
              </a:lnSpc>
            </a:pPr>
            <a:r>
              <a:rPr sz="1200" b="0" i="0">
                <a:solidFill>
                  <a:srgbClr val="A34A00"/>
                </a:solidFill>
                <a:latin typeface="DM Sans"/>
              </a:rPr>
              <a:t>per visite: wat veranderde</a:t>
            </a:r>
          </a:p>
        </p:txBody>
      </p:sp>
      <p:sp>
        <p:nvSpPr>
          <p:cNvPr id="36" name="Rectangle 35"/>
          <p:cNvSpPr/>
          <p:nvPr/>
        </p:nvSpPr>
        <p:spPr>
          <a:xfrm>
            <a:off x="9817100" y="1963341"/>
            <a:ext cx="1143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918700" y="1963341"/>
            <a:ext cx="12700" cy="2513012"/>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817100" y="4463653"/>
            <a:ext cx="1143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045700" y="3015456"/>
            <a:ext cx="1384300" cy="408781"/>
          </a:xfrm>
          <a:prstGeom prst="rect">
            <a:avLst/>
          </a:prstGeom>
          <a:noFill/>
        </p:spPr>
        <p:txBody>
          <a:bodyPr wrap="square" lIns="0" tIns="0" rIns="0" bIns="0" anchor="t">
            <a:noAutofit/>
          </a:bodyPr>
          <a:lstStyle/>
          <a:p>
            <a:pPr algn="l">
              <a:lnSpc>
                <a:spcPts val="1610"/>
              </a:lnSpc>
            </a:pPr>
            <a:r>
              <a:rPr sz="1400" b="1" i="0">
                <a:solidFill>
                  <a:srgbClr val="0A2540"/>
                </a:solidFill>
                <a:latin typeface="DM Sans"/>
              </a:rPr>
              <a:t>kosten-</a:t>
            </a:r>
          </a:p>
          <a:p>
            <a:pPr algn="l">
              <a:lnSpc>
                <a:spcPts val="1610"/>
              </a:lnSpc>
            </a:pPr>
            <a:r>
              <a:rPr sz="1400" b="1" i="0">
                <a:solidFill>
                  <a:srgbClr val="0A2540"/>
                </a:solidFill>
                <a:latin typeface="DM Sans"/>
              </a:rPr>
              <a:t>effectiviteit</a:t>
            </a:r>
          </a:p>
        </p:txBody>
      </p:sp>
      <p:sp>
        <p:nvSpPr>
          <p:cNvPr id="40" name="TextBox 39"/>
          <p:cNvSpPr txBox="1"/>
          <p:nvPr/>
        </p:nvSpPr>
        <p:spPr>
          <a:xfrm>
            <a:off x="1104900" y="4704953"/>
            <a:ext cx="4350544"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op papier in de wachtzaal: uw team kijkt na, wij voeren in</a:t>
            </a:r>
          </a:p>
        </p:txBody>
      </p:sp>
      <p:sp>
        <p:nvSpPr>
          <p:cNvPr id="41" name="TextBox 40"/>
          <p:cNvSpPr txBox="1"/>
          <p:nvPr/>
        </p:nvSpPr>
        <p:spPr>
          <a:xfrm>
            <a:off x="1104900" y="4995763"/>
            <a:ext cx="3886002"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telefonisch, door ons: uw team hoeft niets te doen</a:t>
            </a:r>
          </a:p>
        </p:txBody>
      </p:sp>
      <p:pic>
        <p:nvPicPr>
          <p:cNvPr id="42" name="Picture 41" descr="ec5c93e6f83f209b4e97ddfdecd480c8.png"/>
          <p:cNvPicPr>
            <a:picLocks noChangeAspect="1"/>
          </p:cNvPicPr>
          <p:nvPr/>
        </p:nvPicPr>
        <p:blipFill>
          <a:blip r:embed="rId4"/>
          <a:stretch>
            <a:fillRect/>
          </a:stretch>
        </p:blipFill>
        <p:spPr>
          <a:xfrm>
            <a:off x="812967" y="6261100"/>
            <a:ext cx="171116" cy="203200"/>
          </a:xfrm>
          <a:prstGeom prst="rect">
            <a:avLst/>
          </a:prstGeom>
        </p:spPr>
      </p:pic>
      <p:sp>
        <p:nvSpPr>
          <p:cNvPr id="43" name="TextBox 42"/>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Werkpakketten</a:t>
            </a:r>
          </a:p>
        </p:txBody>
      </p:sp>
      <p:sp>
        <p:nvSpPr>
          <p:cNvPr id="44" name="TextBox 43"/>
          <p:cNvSpPr txBox="1"/>
          <p:nvPr/>
        </p:nvSpPr>
        <p:spPr>
          <a:xfrm>
            <a:off x="3073400" y="6254750"/>
            <a:ext cx="8305800" cy="198120"/>
          </a:xfrm>
          <a:prstGeom prst="rect">
            <a:avLst/>
          </a:prstGeom>
          <a:noFill/>
        </p:spPr>
        <p:txBody>
          <a:bodyPr wrap="none" lIns="0" tIns="0" rIns="0" bIns="0" anchor="t">
            <a:noAutofit/>
          </a:bodyPr>
          <a:lstStyle/>
          <a:p>
            <a:pPr algn="r"/>
            <a:r>
              <a:rPr sz="1200" b="0" i="0">
                <a:solidFill>
                  <a:srgbClr val="5A6E80"/>
                </a:solidFill>
                <a:latin typeface="DM Sans"/>
              </a:rPr>
              <a:t>Bron: REDCap-mapping · eCRF 21, 34, 35, 45, 45a en 45b · studieprotocol (secundaire uitkomsten)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Wie komt in aanmerking</a:t>
            </a:r>
          </a:p>
        </p:txBody>
      </p:sp>
      <p:sp>
        <p:nvSpPr>
          <p:cNvPr id="4" name="TextBox 3"/>
          <p:cNvSpPr txBox="1"/>
          <p:nvPr/>
        </p:nvSpPr>
        <p:spPr>
          <a:xfrm>
            <a:off x="812800" y="1544241"/>
            <a:ext cx="5130800" cy="228600"/>
          </a:xfrm>
          <a:prstGeom prst="rect">
            <a:avLst/>
          </a:prstGeom>
          <a:noFill/>
        </p:spPr>
        <p:txBody>
          <a:bodyPr wrap="none" lIns="0" tIns="0" rIns="0" bIns="0" anchor="t">
            <a:noAutofit/>
          </a:bodyPr>
          <a:lstStyle/>
          <a:p>
            <a:pPr algn="l">
              <a:lnSpc>
                <a:spcPts val="1800"/>
              </a:lnSpc>
            </a:pPr>
            <a:r>
              <a:rPr sz="1500" b="1" i="0">
                <a:solidFill>
                  <a:srgbClr val="0B6E8F"/>
                </a:solidFill>
                <a:latin typeface="DM Sans"/>
              </a:rPr>
              <a:t>Wel</a:t>
            </a:r>
            <a:r>
              <a:rPr sz="1200" b="0" i="0">
                <a:solidFill>
                  <a:srgbClr val="5A6E80"/>
                </a:solidFill>
                <a:latin typeface="DM Sans"/>
              </a:rPr>
              <a:t> · onthoud VOETEN</a:t>
            </a:r>
          </a:p>
        </p:txBody>
      </p:sp>
      <p:sp>
        <p:nvSpPr>
          <p:cNvPr id="5" name="Rounded Rectangle 4"/>
          <p:cNvSpPr/>
          <p:nvPr/>
        </p:nvSpPr>
        <p:spPr>
          <a:xfrm>
            <a:off x="812800" y="1874441"/>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17674" y="1944291"/>
            <a:ext cx="171252" cy="190500"/>
          </a:xfrm>
          <a:prstGeom prst="rect">
            <a:avLst/>
          </a:prstGeom>
          <a:noFill/>
        </p:spPr>
        <p:txBody>
          <a:bodyPr wrap="none" lIns="0" tIns="0" rIns="0" bIns="0" anchor="t">
            <a:noAutofit/>
          </a:bodyPr>
          <a:lstStyle/>
          <a:p>
            <a:pPr algn="l">
              <a:lnSpc>
                <a:spcPts val="1500"/>
              </a:lnSpc>
            </a:pPr>
            <a:r>
              <a:rPr sz="1500" b="0" i="0">
                <a:solidFill>
                  <a:srgbClr val="0A2540"/>
                </a:solidFill>
                <a:latin typeface="DM Serif Display"/>
              </a:rPr>
              <a:t>V</a:t>
            </a:r>
          </a:p>
        </p:txBody>
      </p:sp>
      <p:sp>
        <p:nvSpPr>
          <p:cNvPr id="7" name="TextBox 6"/>
          <p:cNvSpPr txBox="1"/>
          <p:nvPr/>
        </p:nvSpPr>
        <p:spPr>
          <a:xfrm>
            <a:off x="1282700" y="1874441"/>
            <a:ext cx="2876054" cy="214312"/>
          </a:xfrm>
          <a:prstGeom prst="rect">
            <a:avLst/>
          </a:prstGeom>
          <a:noFill/>
        </p:spPr>
        <p:txBody>
          <a:bodyPr wrap="none" lIns="0" tIns="0" rIns="0" bIns="0" anchor="t">
            <a:noAutofit/>
          </a:bodyPr>
          <a:lstStyle/>
          <a:p>
            <a:pPr algn="l">
              <a:lnSpc>
                <a:spcPts val="1687"/>
              </a:lnSpc>
            </a:pPr>
            <a:r>
              <a:rPr sz="1350" b="1" i="0">
                <a:solidFill>
                  <a:srgbClr val="0B6E8F"/>
                </a:solidFill>
                <a:latin typeface="DM Sans"/>
              </a:rPr>
              <a:t>V</a:t>
            </a:r>
            <a:r>
              <a:rPr sz="1350" b="1" i="0">
                <a:solidFill>
                  <a:srgbClr val="0A2540"/>
                </a:solidFill>
                <a:latin typeface="DM Sans"/>
              </a:rPr>
              <a:t>aten stabiel</a:t>
            </a:r>
          </a:p>
        </p:txBody>
      </p:sp>
      <p:sp>
        <p:nvSpPr>
          <p:cNvPr id="8" name="TextBox 7"/>
          <p:cNvSpPr txBox="1"/>
          <p:nvPr/>
        </p:nvSpPr>
        <p:spPr>
          <a:xfrm>
            <a:off x="1282700" y="2101453"/>
            <a:ext cx="2876054" cy="189865"/>
          </a:xfrm>
          <a:prstGeom prst="rect">
            <a:avLst/>
          </a:prstGeom>
          <a:noFill/>
        </p:spPr>
        <p:txBody>
          <a:bodyPr wrap="none" lIns="0" tIns="0" rIns="0" bIns="0" anchor="t">
            <a:noAutofit/>
          </a:bodyPr>
          <a:lstStyle/>
          <a:p>
            <a:pPr algn="l">
              <a:lnSpc>
                <a:spcPts val="1495"/>
              </a:lnSpc>
            </a:pPr>
            <a:r>
              <a:rPr sz="1150" b="0" i="0">
                <a:solidFill>
                  <a:srgbClr val="3A4F63"/>
                </a:solidFill>
                <a:latin typeface="DM Sans"/>
              </a:rPr>
              <a:t>PEDIS-graad 1–2, naar oordeel van de arts</a:t>
            </a:r>
          </a:p>
        </p:txBody>
      </p:sp>
      <p:sp>
        <p:nvSpPr>
          <p:cNvPr id="9" name="Rounded Rectangle 8"/>
          <p:cNvSpPr/>
          <p:nvPr/>
        </p:nvSpPr>
        <p:spPr>
          <a:xfrm>
            <a:off x="812800" y="2392859"/>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14003" y="2462709"/>
            <a:ext cx="178495" cy="190500"/>
          </a:xfrm>
          <a:prstGeom prst="rect">
            <a:avLst/>
          </a:prstGeom>
          <a:noFill/>
        </p:spPr>
        <p:txBody>
          <a:bodyPr wrap="none" lIns="0" tIns="0" rIns="0" bIns="0" anchor="t">
            <a:noAutofit/>
          </a:bodyPr>
          <a:lstStyle/>
          <a:p>
            <a:pPr algn="l">
              <a:lnSpc>
                <a:spcPts val="1500"/>
              </a:lnSpc>
            </a:pPr>
            <a:r>
              <a:rPr sz="1500" b="0" i="0">
                <a:solidFill>
                  <a:srgbClr val="0A2540"/>
                </a:solidFill>
                <a:latin typeface="DM Serif Display"/>
              </a:rPr>
              <a:t>O</a:t>
            </a:r>
          </a:p>
        </p:txBody>
      </p:sp>
      <p:sp>
        <p:nvSpPr>
          <p:cNvPr id="11" name="TextBox 10"/>
          <p:cNvSpPr txBox="1"/>
          <p:nvPr/>
        </p:nvSpPr>
        <p:spPr>
          <a:xfrm>
            <a:off x="1282700" y="2392859"/>
            <a:ext cx="4660900" cy="214312"/>
          </a:xfrm>
          <a:prstGeom prst="rect">
            <a:avLst/>
          </a:prstGeom>
          <a:noFill/>
        </p:spPr>
        <p:txBody>
          <a:bodyPr wrap="none" lIns="0" tIns="0" rIns="0" bIns="0" anchor="t">
            <a:noAutofit/>
          </a:bodyPr>
          <a:lstStyle/>
          <a:p>
            <a:pPr algn="l">
              <a:lnSpc>
                <a:spcPts val="1687"/>
              </a:lnSpc>
            </a:pPr>
            <a:r>
              <a:rPr sz="1350" b="1" i="0">
                <a:solidFill>
                  <a:srgbClr val="0B6E8F"/>
                </a:solidFill>
                <a:latin typeface="DM Sans"/>
              </a:rPr>
              <a:t>O</a:t>
            </a:r>
            <a:r>
              <a:rPr sz="1350" b="1" i="0">
                <a:solidFill>
                  <a:srgbClr val="0A2540"/>
                </a:solidFill>
                <a:latin typeface="DM Sans"/>
              </a:rPr>
              <a:t>nlangs een voetwonde</a:t>
            </a:r>
          </a:p>
        </p:txBody>
      </p:sp>
      <p:sp>
        <p:nvSpPr>
          <p:cNvPr id="12" name="TextBox 11"/>
          <p:cNvSpPr txBox="1"/>
          <p:nvPr/>
        </p:nvSpPr>
        <p:spPr>
          <a:xfrm>
            <a:off x="1282700" y="2619871"/>
            <a:ext cx="4702302" cy="569416"/>
          </a:xfrm>
          <a:prstGeom prst="rect">
            <a:avLst/>
          </a:prstGeom>
          <a:noFill/>
        </p:spPr>
        <p:txBody>
          <a:bodyPr wrap="square" lIns="0" tIns="0" rIns="0" bIns="0" anchor="t">
            <a:noAutofit/>
          </a:bodyPr>
          <a:lstStyle/>
          <a:p>
            <a:pPr algn="l">
              <a:lnSpc>
                <a:spcPts val="1495"/>
              </a:lnSpc>
            </a:pPr>
            <a:r>
              <a:rPr sz="1150" b="0" i="0">
                <a:solidFill>
                  <a:srgbClr val="3A4F63"/>
                </a:solidFill>
                <a:latin typeface="DM Sans"/>
              </a:rPr>
              <a:t>IWGDF-risico 3: genezen plantair ulcus, teen- of halluxamputatie, of resectie van één of meer metatarsaalkopjes (ook de eerste), 2 weken tot 18 maanden geleden</a:t>
            </a:r>
          </a:p>
        </p:txBody>
      </p:sp>
      <p:sp>
        <p:nvSpPr>
          <p:cNvPr id="13" name="Rounded Rectangle 12"/>
          <p:cNvSpPr/>
          <p:nvPr/>
        </p:nvSpPr>
        <p:spPr>
          <a:xfrm>
            <a:off x="812800" y="3290888"/>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925016" y="3360738"/>
            <a:ext cx="156567" cy="190500"/>
          </a:xfrm>
          <a:prstGeom prst="rect">
            <a:avLst/>
          </a:prstGeom>
          <a:noFill/>
        </p:spPr>
        <p:txBody>
          <a:bodyPr wrap="none" lIns="0" tIns="0" rIns="0" bIns="0" anchor="t">
            <a:noAutofit/>
          </a:bodyPr>
          <a:lstStyle/>
          <a:p>
            <a:pPr algn="l">
              <a:lnSpc>
                <a:spcPts val="1500"/>
              </a:lnSpc>
            </a:pPr>
            <a:r>
              <a:rPr sz="1500" b="0" i="0">
                <a:solidFill>
                  <a:srgbClr val="0A2540"/>
                </a:solidFill>
                <a:latin typeface="DM Serif Display"/>
              </a:rPr>
              <a:t>E</a:t>
            </a:r>
          </a:p>
        </p:txBody>
      </p:sp>
      <p:sp>
        <p:nvSpPr>
          <p:cNvPr id="15" name="TextBox 14"/>
          <p:cNvSpPr txBox="1"/>
          <p:nvPr/>
        </p:nvSpPr>
        <p:spPr>
          <a:xfrm>
            <a:off x="1282700" y="3290888"/>
            <a:ext cx="3341390" cy="214312"/>
          </a:xfrm>
          <a:prstGeom prst="rect">
            <a:avLst/>
          </a:prstGeom>
          <a:noFill/>
        </p:spPr>
        <p:txBody>
          <a:bodyPr wrap="none" lIns="0" tIns="0" rIns="0" bIns="0" anchor="t">
            <a:noAutofit/>
          </a:bodyPr>
          <a:lstStyle/>
          <a:p>
            <a:pPr algn="l">
              <a:lnSpc>
                <a:spcPts val="1687"/>
              </a:lnSpc>
            </a:pPr>
            <a:r>
              <a:rPr sz="1350" b="1" i="0">
                <a:solidFill>
                  <a:srgbClr val="0B6E8F"/>
                </a:solidFill>
                <a:latin typeface="DM Sans"/>
              </a:rPr>
              <a:t>E</a:t>
            </a:r>
            <a:r>
              <a:rPr sz="1350" b="1" i="0">
                <a:solidFill>
                  <a:srgbClr val="0A2540"/>
                </a:solidFill>
                <a:latin typeface="DM Sans"/>
              </a:rPr>
              <a:t>igen stappen</a:t>
            </a:r>
          </a:p>
        </p:txBody>
      </p:sp>
      <p:sp>
        <p:nvSpPr>
          <p:cNvPr id="16" name="TextBox 15"/>
          <p:cNvSpPr txBox="1"/>
          <p:nvPr/>
        </p:nvSpPr>
        <p:spPr>
          <a:xfrm>
            <a:off x="1282700" y="3517900"/>
            <a:ext cx="3341390" cy="189865"/>
          </a:xfrm>
          <a:prstGeom prst="rect">
            <a:avLst/>
          </a:prstGeom>
          <a:noFill/>
        </p:spPr>
        <p:txBody>
          <a:bodyPr wrap="none" lIns="0" tIns="0" rIns="0" bIns="0" anchor="t">
            <a:noAutofit/>
          </a:bodyPr>
          <a:lstStyle/>
          <a:p>
            <a:pPr algn="l">
              <a:lnSpc>
                <a:spcPts val="1495"/>
              </a:lnSpc>
            </a:pPr>
            <a:r>
              <a:rPr sz="1150" b="0" i="0">
                <a:solidFill>
                  <a:srgbClr val="3A4F63"/>
                </a:solidFill>
                <a:latin typeface="DM Sans"/>
              </a:rPr>
              <a:t>Stapt zelfstandig blootsvoets, zonder hulpmiddel</a:t>
            </a:r>
          </a:p>
        </p:txBody>
      </p:sp>
      <p:sp>
        <p:nvSpPr>
          <p:cNvPr id="17" name="Rounded Rectangle 16"/>
          <p:cNvSpPr/>
          <p:nvPr/>
        </p:nvSpPr>
        <p:spPr>
          <a:xfrm>
            <a:off x="812800" y="3809305"/>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18170" y="3879155"/>
            <a:ext cx="170259" cy="190500"/>
          </a:xfrm>
          <a:prstGeom prst="rect">
            <a:avLst/>
          </a:prstGeom>
          <a:noFill/>
        </p:spPr>
        <p:txBody>
          <a:bodyPr wrap="none" lIns="0" tIns="0" rIns="0" bIns="0" anchor="t">
            <a:noAutofit/>
          </a:bodyPr>
          <a:lstStyle/>
          <a:p>
            <a:pPr algn="l">
              <a:lnSpc>
                <a:spcPts val="1500"/>
              </a:lnSpc>
            </a:pPr>
            <a:r>
              <a:rPr sz="1500" b="0" i="0">
                <a:solidFill>
                  <a:srgbClr val="0A2540"/>
                </a:solidFill>
                <a:latin typeface="DM Serif Display"/>
              </a:rPr>
              <a:t>T</a:t>
            </a:r>
          </a:p>
        </p:txBody>
      </p:sp>
      <p:sp>
        <p:nvSpPr>
          <p:cNvPr id="19" name="TextBox 18"/>
          <p:cNvSpPr txBox="1"/>
          <p:nvPr/>
        </p:nvSpPr>
        <p:spPr>
          <a:xfrm>
            <a:off x="1282700" y="3809305"/>
            <a:ext cx="914499" cy="214312"/>
          </a:xfrm>
          <a:prstGeom prst="rect">
            <a:avLst/>
          </a:prstGeom>
          <a:noFill/>
        </p:spPr>
        <p:txBody>
          <a:bodyPr wrap="none" lIns="0" tIns="0" rIns="0" bIns="0" anchor="t">
            <a:noAutofit/>
          </a:bodyPr>
          <a:lstStyle/>
          <a:p>
            <a:pPr algn="l">
              <a:lnSpc>
                <a:spcPts val="1687"/>
              </a:lnSpc>
            </a:pPr>
            <a:r>
              <a:rPr sz="1350" b="1" i="0">
                <a:solidFill>
                  <a:srgbClr val="0B6E8F"/>
                </a:solidFill>
                <a:latin typeface="DM Sans"/>
              </a:rPr>
              <a:t>T</a:t>
            </a:r>
            <a:r>
              <a:rPr sz="1350" b="1" i="0">
                <a:solidFill>
                  <a:srgbClr val="0A2540"/>
                </a:solidFill>
                <a:latin typeface="DM Sans"/>
              </a:rPr>
              <a:t>ype 1 of 2</a:t>
            </a:r>
          </a:p>
        </p:txBody>
      </p:sp>
      <p:sp>
        <p:nvSpPr>
          <p:cNvPr id="20" name="Rounded Rectangle 19"/>
          <p:cNvSpPr/>
          <p:nvPr/>
        </p:nvSpPr>
        <p:spPr>
          <a:xfrm>
            <a:off x="812800" y="4241105"/>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925016" y="4310955"/>
            <a:ext cx="156567" cy="190500"/>
          </a:xfrm>
          <a:prstGeom prst="rect">
            <a:avLst/>
          </a:prstGeom>
          <a:noFill/>
        </p:spPr>
        <p:txBody>
          <a:bodyPr wrap="none" lIns="0" tIns="0" rIns="0" bIns="0" anchor="t">
            <a:noAutofit/>
          </a:bodyPr>
          <a:lstStyle/>
          <a:p>
            <a:pPr algn="l">
              <a:lnSpc>
                <a:spcPts val="1500"/>
              </a:lnSpc>
            </a:pPr>
            <a:r>
              <a:rPr sz="1500" b="0" i="0">
                <a:solidFill>
                  <a:srgbClr val="0A2540"/>
                </a:solidFill>
                <a:latin typeface="DM Serif Display"/>
              </a:rPr>
              <a:t>E</a:t>
            </a:r>
          </a:p>
        </p:txBody>
      </p:sp>
      <p:sp>
        <p:nvSpPr>
          <p:cNvPr id="22" name="TextBox 21"/>
          <p:cNvSpPr txBox="1"/>
          <p:nvPr/>
        </p:nvSpPr>
        <p:spPr>
          <a:xfrm>
            <a:off x="1282700" y="4241105"/>
            <a:ext cx="2484338" cy="214312"/>
          </a:xfrm>
          <a:prstGeom prst="rect">
            <a:avLst/>
          </a:prstGeom>
          <a:noFill/>
        </p:spPr>
        <p:txBody>
          <a:bodyPr wrap="none" lIns="0" tIns="0" rIns="0" bIns="0" anchor="t">
            <a:noAutofit/>
          </a:bodyPr>
          <a:lstStyle/>
          <a:p>
            <a:pPr algn="l">
              <a:lnSpc>
                <a:spcPts val="1687"/>
              </a:lnSpc>
            </a:pPr>
            <a:r>
              <a:rPr sz="1350" b="1" i="0">
                <a:solidFill>
                  <a:srgbClr val="0B6E8F"/>
                </a:solidFill>
                <a:latin typeface="DM Sans"/>
              </a:rPr>
              <a:t>E</a:t>
            </a:r>
            <a:r>
              <a:rPr sz="1350" b="1" i="0">
                <a:solidFill>
                  <a:srgbClr val="0A2540"/>
                </a:solidFill>
                <a:latin typeface="DM Sans"/>
              </a:rPr>
              <a:t>cht beschermend schoeisel</a:t>
            </a:r>
          </a:p>
        </p:txBody>
      </p:sp>
      <p:sp>
        <p:nvSpPr>
          <p:cNvPr id="23" name="TextBox 22"/>
          <p:cNvSpPr txBox="1"/>
          <p:nvPr/>
        </p:nvSpPr>
        <p:spPr>
          <a:xfrm>
            <a:off x="1282700" y="4468118"/>
            <a:ext cx="2484338" cy="189865"/>
          </a:xfrm>
          <a:prstGeom prst="rect">
            <a:avLst/>
          </a:prstGeom>
          <a:noFill/>
        </p:spPr>
        <p:txBody>
          <a:bodyPr wrap="none" lIns="0" tIns="0" rIns="0" bIns="0" anchor="t">
            <a:noAutofit/>
          </a:bodyPr>
          <a:lstStyle/>
          <a:p>
            <a:pPr algn="l">
              <a:lnSpc>
                <a:spcPts val="1495"/>
              </a:lnSpc>
            </a:pPr>
            <a:r>
              <a:rPr sz="1150" b="0" i="0">
                <a:solidFill>
                  <a:srgbClr val="3A4F63"/>
                </a:solidFill>
                <a:latin typeface="DM Sans"/>
              </a:rPr>
              <a:t>of bereid om over te schakelen</a:t>
            </a:r>
          </a:p>
        </p:txBody>
      </p:sp>
      <p:sp>
        <p:nvSpPr>
          <p:cNvPr id="24" name="Rounded Rectangle 23"/>
          <p:cNvSpPr/>
          <p:nvPr/>
        </p:nvSpPr>
        <p:spPr>
          <a:xfrm>
            <a:off x="812800" y="4759523"/>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915690" y="4829373"/>
            <a:ext cx="175220" cy="190500"/>
          </a:xfrm>
          <a:prstGeom prst="rect">
            <a:avLst/>
          </a:prstGeom>
          <a:noFill/>
        </p:spPr>
        <p:txBody>
          <a:bodyPr wrap="none" lIns="0" tIns="0" rIns="0" bIns="0" anchor="t">
            <a:noAutofit/>
          </a:bodyPr>
          <a:lstStyle/>
          <a:p>
            <a:pPr algn="l">
              <a:lnSpc>
                <a:spcPts val="1500"/>
              </a:lnSpc>
            </a:pPr>
            <a:r>
              <a:rPr sz="1500" b="0" i="0">
                <a:solidFill>
                  <a:srgbClr val="0A2540"/>
                </a:solidFill>
                <a:latin typeface="DM Serif Display"/>
              </a:rPr>
              <a:t>N</a:t>
            </a:r>
          </a:p>
        </p:txBody>
      </p:sp>
      <p:sp>
        <p:nvSpPr>
          <p:cNvPr id="26" name="TextBox 25"/>
          <p:cNvSpPr txBox="1"/>
          <p:nvPr/>
        </p:nvSpPr>
        <p:spPr>
          <a:xfrm>
            <a:off x="1282700" y="4759523"/>
            <a:ext cx="2484041" cy="214312"/>
          </a:xfrm>
          <a:prstGeom prst="rect">
            <a:avLst/>
          </a:prstGeom>
          <a:noFill/>
        </p:spPr>
        <p:txBody>
          <a:bodyPr wrap="none" lIns="0" tIns="0" rIns="0" bIns="0" anchor="t">
            <a:noAutofit/>
          </a:bodyPr>
          <a:lstStyle/>
          <a:p>
            <a:pPr algn="l">
              <a:lnSpc>
                <a:spcPts val="1687"/>
              </a:lnSpc>
            </a:pPr>
            <a:r>
              <a:rPr sz="1350" b="1" i="0">
                <a:solidFill>
                  <a:srgbClr val="0B6E8F"/>
                </a:solidFill>
                <a:latin typeface="DM Sans"/>
              </a:rPr>
              <a:t>N</a:t>
            </a:r>
            <a:r>
              <a:rPr sz="1350" b="1" i="0">
                <a:solidFill>
                  <a:srgbClr val="0A2540"/>
                </a:solidFill>
                <a:latin typeface="DM Sans"/>
              </a:rPr>
              <a:t>ederlands en volwassen</a:t>
            </a:r>
          </a:p>
        </p:txBody>
      </p:sp>
      <p:sp>
        <p:nvSpPr>
          <p:cNvPr id="27" name="TextBox 26"/>
          <p:cNvSpPr txBox="1"/>
          <p:nvPr/>
        </p:nvSpPr>
        <p:spPr>
          <a:xfrm>
            <a:off x="1282700" y="4986536"/>
            <a:ext cx="2484041" cy="189865"/>
          </a:xfrm>
          <a:prstGeom prst="rect">
            <a:avLst/>
          </a:prstGeom>
          <a:noFill/>
        </p:spPr>
        <p:txBody>
          <a:bodyPr wrap="none" lIns="0" tIns="0" rIns="0" bIns="0" anchor="t">
            <a:noAutofit/>
          </a:bodyPr>
          <a:lstStyle/>
          <a:p>
            <a:pPr algn="l">
              <a:lnSpc>
                <a:spcPts val="1495"/>
              </a:lnSpc>
            </a:pPr>
            <a:r>
              <a:rPr sz="1150" b="0" i="0">
                <a:solidFill>
                  <a:srgbClr val="3A4F63"/>
                </a:solidFill>
                <a:latin typeface="DM Sans"/>
              </a:rPr>
              <a:t>18 jaar of ouder, begrijpt Nederlands</a:t>
            </a:r>
          </a:p>
        </p:txBody>
      </p:sp>
      <p:sp>
        <p:nvSpPr>
          <p:cNvPr id="28" name="TextBox 27"/>
          <p:cNvSpPr txBox="1"/>
          <p:nvPr/>
        </p:nvSpPr>
        <p:spPr>
          <a:xfrm>
            <a:off x="6299200" y="1544241"/>
            <a:ext cx="5130800" cy="228600"/>
          </a:xfrm>
          <a:prstGeom prst="rect">
            <a:avLst/>
          </a:prstGeom>
          <a:noFill/>
        </p:spPr>
        <p:txBody>
          <a:bodyPr wrap="none" lIns="0" tIns="0" rIns="0" bIns="0" anchor="t">
            <a:noAutofit/>
          </a:bodyPr>
          <a:lstStyle/>
          <a:p>
            <a:pPr algn="l">
              <a:lnSpc>
                <a:spcPts val="1800"/>
              </a:lnSpc>
            </a:pPr>
            <a:r>
              <a:rPr sz="1500" b="1" i="0">
                <a:solidFill>
                  <a:srgbClr val="A34A00"/>
                </a:solidFill>
                <a:latin typeface="DM Sans"/>
              </a:rPr>
              <a:t>Niet</a:t>
            </a:r>
          </a:p>
        </p:txBody>
      </p:sp>
      <p:sp>
        <p:nvSpPr>
          <p:cNvPr id="29" name="TextBox 28"/>
          <p:cNvSpPr txBox="1"/>
          <p:nvPr/>
        </p:nvSpPr>
        <p:spPr>
          <a:xfrm>
            <a:off x="6299200" y="1849041"/>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30" name="TextBox 29"/>
          <p:cNvSpPr txBox="1"/>
          <p:nvPr/>
        </p:nvSpPr>
        <p:spPr>
          <a:xfrm>
            <a:off x="6483747" y="1849041"/>
            <a:ext cx="3499941"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Amputatie proximaal van de MTP-gewrichten</a:t>
            </a:r>
          </a:p>
        </p:txBody>
      </p:sp>
      <p:sp>
        <p:nvSpPr>
          <p:cNvPr id="31" name="TextBox 30"/>
          <p:cNvSpPr txBox="1"/>
          <p:nvPr/>
        </p:nvSpPr>
        <p:spPr>
          <a:xfrm>
            <a:off x="6299200" y="2139851"/>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32" name="TextBox 31"/>
          <p:cNvSpPr txBox="1"/>
          <p:nvPr/>
        </p:nvSpPr>
        <p:spPr>
          <a:xfrm>
            <a:off x="6483747" y="2139851"/>
            <a:ext cx="3088481"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Actief voetulcus of Charcot-deformiteit</a:t>
            </a:r>
          </a:p>
        </p:txBody>
      </p:sp>
      <p:sp>
        <p:nvSpPr>
          <p:cNvPr id="33" name="TextBox 32"/>
          <p:cNvSpPr txBox="1"/>
          <p:nvPr/>
        </p:nvSpPr>
        <p:spPr>
          <a:xfrm>
            <a:off x="6299200" y="2430661"/>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34" name="TextBox 33"/>
          <p:cNvSpPr txBox="1"/>
          <p:nvPr/>
        </p:nvSpPr>
        <p:spPr>
          <a:xfrm>
            <a:off x="6483747" y="2430661"/>
            <a:ext cx="4993362"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Kritische ischemie (PEDIS 3: enkeldruk &lt; 50, teendruk &lt; 30 of TcpO₂ &lt; 30 mmHg)</a:t>
            </a:r>
          </a:p>
        </p:txBody>
      </p:sp>
      <p:sp>
        <p:nvSpPr>
          <p:cNvPr id="35" name="TextBox 34"/>
          <p:cNvSpPr txBox="1"/>
          <p:nvPr/>
        </p:nvSpPr>
        <p:spPr>
          <a:xfrm>
            <a:off x="6299200" y="2936081"/>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36" name="TextBox 35"/>
          <p:cNvSpPr txBox="1"/>
          <p:nvPr/>
        </p:nvSpPr>
        <p:spPr>
          <a:xfrm>
            <a:off x="6483747" y="2936081"/>
            <a:ext cx="4428133"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Nierfunctievervangende of immunosuppressieve therapie</a:t>
            </a:r>
          </a:p>
        </p:txBody>
      </p:sp>
      <p:sp>
        <p:nvSpPr>
          <p:cNvPr id="37" name="TextBox 36"/>
          <p:cNvSpPr txBox="1"/>
          <p:nvPr/>
        </p:nvSpPr>
        <p:spPr>
          <a:xfrm>
            <a:off x="6299200" y="3226891"/>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38" name="TextBox 37"/>
          <p:cNvSpPr txBox="1"/>
          <p:nvPr/>
        </p:nvSpPr>
        <p:spPr>
          <a:xfrm>
            <a:off x="6483747" y="3226891"/>
            <a:ext cx="2768104"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Verwachte overleving &lt; 18 maanden</a:t>
            </a:r>
          </a:p>
        </p:txBody>
      </p:sp>
      <p:sp>
        <p:nvSpPr>
          <p:cNvPr id="39" name="TextBox 38"/>
          <p:cNvSpPr txBox="1"/>
          <p:nvPr/>
        </p:nvSpPr>
        <p:spPr>
          <a:xfrm>
            <a:off x="6299200" y="3517702"/>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40" name="TextBox 39"/>
          <p:cNvSpPr txBox="1"/>
          <p:nvPr/>
        </p:nvSpPr>
        <p:spPr>
          <a:xfrm>
            <a:off x="6483747" y="3517702"/>
            <a:ext cx="3841552"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Kan niet toestemmen of de instructies niet volgen</a:t>
            </a:r>
          </a:p>
        </p:txBody>
      </p:sp>
      <p:sp>
        <p:nvSpPr>
          <p:cNvPr id="41" name="TextBox 40"/>
          <p:cNvSpPr txBox="1"/>
          <p:nvPr/>
        </p:nvSpPr>
        <p:spPr>
          <a:xfrm>
            <a:off x="6299200" y="3808512"/>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42" name="TextBox 41"/>
          <p:cNvSpPr txBox="1"/>
          <p:nvPr/>
        </p:nvSpPr>
        <p:spPr>
          <a:xfrm>
            <a:off x="6483747" y="3808512"/>
            <a:ext cx="4993362"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Enkel-voetorthese of ander hulpmiddel dat de sensoren belemmert</a:t>
            </a:r>
          </a:p>
        </p:txBody>
      </p:sp>
      <p:sp>
        <p:nvSpPr>
          <p:cNvPr id="43" name="TextBox 42"/>
          <p:cNvSpPr txBox="1"/>
          <p:nvPr/>
        </p:nvSpPr>
        <p:spPr>
          <a:xfrm>
            <a:off x="6299200" y="4313932"/>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44" name="TextBox 43"/>
          <p:cNvSpPr txBox="1"/>
          <p:nvPr/>
        </p:nvSpPr>
        <p:spPr>
          <a:xfrm>
            <a:off x="6483747" y="4313932"/>
            <a:ext cx="3132237"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Weigert het schoeisel of de draagsensor</a:t>
            </a:r>
          </a:p>
        </p:txBody>
      </p:sp>
      <p:pic>
        <p:nvPicPr>
          <p:cNvPr id="45" name="Picture 44"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46" name="TextBox 45"/>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Werkpakketten</a:t>
            </a:r>
          </a:p>
        </p:txBody>
      </p:sp>
      <p:sp>
        <p:nvSpPr>
          <p:cNvPr id="47" name="TextBox 46"/>
          <p:cNvSpPr txBox="1"/>
          <p:nvPr/>
        </p:nvSpPr>
        <p:spPr>
          <a:xfrm>
            <a:off x="6502400" y="6254750"/>
            <a:ext cx="4876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§4.1 · IWGDF 2023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Bij een nieuwe wonde</a:t>
            </a:r>
          </a:p>
        </p:txBody>
      </p:sp>
      <p:sp>
        <p:nvSpPr>
          <p:cNvPr id="4" name="Rectangle 3"/>
          <p:cNvSpPr/>
          <p:nvPr/>
        </p:nvSpPr>
        <p:spPr>
          <a:xfrm>
            <a:off x="812800" y="1493441"/>
            <a:ext cx="3302000"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2800" y="1633141"/>
            <a:ext cx="3352800" cy="198120"/>
          </a:xfrm>
          <a:prstGeom prst="rect">
            <a:avLst/>
          </a:prstGeom>
          <a:noFill/>
        </p:spPr>
        <p:txBody>
          <a:bodyPr wrap="none" lIns="0" tIns="0" rIns="0" bIns="0" anchor="t">
            <a:noAutofit/>
          </a:bodyPr>
          <a:lstStyle/>
          <a:p>
            <a:pPr algn="l"/>
            <a:r>
              <a:rPr sz="1200" b="1" i="0">
                <a:solidFill>
                  <a:srgbClr val="0B6E8F"/>
                </a:solidFill>
                <a:latin typeface="DM Sans"/>
              </a:rPr>
              <a:t>Wat telt</a:t>
            </a:r>
          </a:p>
        </p:txBody>
      </p:sp>
      <p:sp>
        <p:nvSpPr>
          <p:cNvPr id="6" name="TextBox 5"/>
          <p:cNvSpPr txBox="1"/>
          <p:nvPr/>
        </p:nvSpPr>
        <p:spPr>
          <a:xfrm>
            <a:off x="812800" y="1931591"/>
            <a:ext cx="3368040" cy="584200"/>
          </a:xfrm>
          <a:prstGeom prst="rect">
            <a:avLst/>
          </a:prstGeom>
          <a:noFill/>
        </p:spPr>
        <p:txBody>
          <a:bodyPr wrap="square" lIns="0" tIns="0" rIns="0" bIns="0" anchor="t">
            <a:noAutofit/>
          </a:bodyPr>
          <a:lstStyle/>
          <a:p>
            <a:pPr algn="l">
              <a:lnSpc>
                <a:spcPts val="2300"/>
              </a:lnSpc>
            </a:pPr>
            <a:r>
              <a:rPr sz="2000" b="0" i="0">
                <a:solidFill>
                  <a:srgbClr val="0A2540"/>
                </a:solidFill>
                <a:latin typeface="DM Serif Display"/>
              </a:rPr>
              <a:t>Een nieuw ulcus, op dezelfde of een andere plek</a:t>
            </a:r>
          </a:p>
        </p:txBody>
      </p:sp>
      <p:sp>
        <p:nvSpPr>
          <p:cNvPr id="7" name="Rectangle 6"/>
          <p:cNvSpPr/>
          <p:nvPr/>
        </p:nvSpPr>
        <p:spPr>
          <a:xfrm>
            <a:off x="812800" y="2617391"/>
            <a:ext cx="3302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2800" y="2725341"/>
            <a:ext cx="3368040" cy="445691"/>
          </a:xfrm>
          <a:prstGeom prst="rect">
            <a:avLst/>
          </a:prstGeom>
          <a:noFill/>
        </p:spPr>
        <p:txBody>
          <a:bodyPr wrap="square" lIns="0" tIns="0" rIns="0" bIns="0" anchor="t">
            <a:noAutofit/>
          </a:bodyPr>
          <a:lstStyle/>
          <a:p>
            <a:pPr algn="l">
              <a:lnSpc>
                <a:spcPts val="1755"/>
              </a:lnSpc>
            </a:pPr>
            <a:r>
              <a:rPr sz="1300" b="0" i="0">
                <a:solidFill>
                  <a:srgbClr val="3A4F63"/>
                </a:solidFill>
                <a:latin typeface="DM Sans"/>
              </a:rPr>
              <a:t>Beide voeten, plantair én dorsaal, op elke visite gescreend</a:t>
            </a:r>
          </a:p>
        </p:txBody>
      </p:sp>
      <p:sp>
        <p:nvSpPr>
          <p:cNvPr id="9" name="Rectangle 8"/>
          <p:cNvSpPr/>
          <p:nvPr/>
        </p:nvSpPr>
        <p:spPr>
          <a:xfrm>
            <a:off x="812800" y="3272631"/>
            <a:ext cx="3302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800" y="3380581"/>
            <a:ext cx="3368040" cy="445691"/>
          </a:xfrm>
          <a:prstGeom prst="rect">
            <a:avLst/>
          </a:prstGeom>
          <a:noFill/>
        </p:spPr>
        <p:txBody>
          <a:bodyPr wrap="square" lIns="0" tIns="0" rIns="0" bIns="0" anchor="t">
            <a:noAutofit/>
          </a:bodyPr>
          <a:lstStyle/>
          <a:p>
            <a:pPr algn="l">
              <a:lnSpc>
                <a:spcPts val="1755"/>
              </a:lnSpc>
            </a:pPr>
            <a:r>
              <a:rPr sz="1300" b="0" i="0">
                <a:solidFill>
                  <a:srgbClr val="3A4F63"/>
                </a:solidFill>
                <a:latin typeface="DM Sans"/>
              </a:rPr>
              <a:t>Vastgesteld door het team, met foto's, op dezelfde manier in beide armen</a:t>
            </a:r>
          </a:p>
        </p:txBody>
      </p:sp>
      <p:sp>
        <p:nvSpPr>
          <p:cNvPr id="11" name="TextBox 10"/>
          <p:cNvSpPr txBox="1"/>
          <p:nvPr/>
        </p:nvSpPr>
        <p:spPr>
          <a:xfrm>
            <a:off x="4470400" y="1493441"/>
            <a:ext cx="6959600" cy="198120"/>
          </a:xfrm>
          <a:prstGeom prst="rect">
            <a:avLst/>
          </a:prstGeom>
          <a:noFill/>
        </p:spPr>
        <p:txBody>
          <a:bodyPr wrap="none" lIns="0" tIns="0" rIns="0" bIns="0" anchor="t">
            <a:noAutofit/>
          </a:bodyPr>
          <a:lstStyle/>
          <a:p>
            <a:pPr algn="l"/>
            <a:r>
              <a:rPr sz="1200" b="1" i="0">
                <a:solidFill>
                  <a:srgbClr val="0B6E8F"/>
                </a:solidFill>
                <a:latin typeface="DM Sans"/>
              </a:rPr>
              <a:t>Wat u doet</a:t>
            </a:r>
          </a:p>
        </p:txBody>
      </p:sp>
      <p:sp>
        <p:nvSpPr>
          <p:cNvPr id="12" name="TextBox 11"/>
          <p:cNvSpPr txBox="1"/>
          <p:nvPr/>
        </p:nvSpPr>
        <p:spPr>
          <a:xfrm>
            <a:off x="4470400" y="1836341"/>
            <a:ext cx="330200" cy="215900"/>
          </a:xfrm>
          <a:prstGeom prst="rect">
            <a:avLst/>
          </a:prstGeom>
          <a:noFill/>
        </p:spPr>
        <p:txBody>
          <a:bodyPr wrap="none" lIns="0" tIns="0" rIns="0" bIns="0" anchor="t">
            <a:noAutofit/>
          </a:bodyPr>
          <a:lstStyle/>
          <a:p>
            <a:pPr algn="l"/>
            <a:r>
              <a:rPr sz="1300" b="0" i="0">
                <a:solidFill>
                  <a:srgbClr val="0B6E8F"/>
                </a:solidFill>
                <a:latin typeface="DM Sans"/>
              </a:rPr>
              <a:t>01</a:t>
            </a:r>
          </a:p>
        </p:txBody>
      </p:sp>
      <p:sp>
        <p:nvSpPr>
          <p:cNvPr id="13" name="TextBox 12"/>
          <p:cNvSpPr txBox="1"/>
          <p:nvPr/>
        </p:nvSpPr>
        <p:spPr>
          <a:xfrm>
            <a:off x="4902200" y="1829991"/>
            <a:ext cx="46609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De investigator meteen verwittigen</a:t>
            </a:r>
          </a:p>
        </p:txBody>
      </p:sp>
      <p:sp>
        <p:nvSpPr>
          <p:cNvPr id="14" name="TextBox 13"/>
          <p:cNvSpPr txBox="1"/>
          <p:nvPr/>
        </p:nvSpPr>
        <p:spPr>
          <a:xfrm>
            <a:off x="9613900" y="1849041"/>
            <a:ext cx="1765300" cy="198120"/>
          </a:xfrm>
          <a:prstGeom prst="rect">
            <a:avLst/>
          </a:prstGeom>
          <a:noFill/>
        </p:spPr>
        <p:txBody>
          <a:bodyPr wrap="none" lIns="0" tIns="0" rIns="0" bIns="0" anchor="t">
            <a:noAutofit/>
          </a:bodyPr>
          <a:lstStyle/>
          <a:p>
            <a:pPr algn="r"/>
            <a:r>
              <a:rPr sz="1200" b="0" i="0">
                <a:solidFill>
                  <a:srgbClr val="A34A00"/>
                </a:solidFill>
                <a:latin typeface="DM Sans"/>
              </a:rPr>
              <a:t>onmiddellijk</a:t>
            </a:r>
          </a:p>
        </p:txBody>
      </p:sp>
      <p:sp>
        <p:nvSpPr>
          <p:cNvPr id="15" name="Rectangle 14"/>
          <p:cNvSpPr/>
          <p:nvPr/>
        </p:nvSpPr>
        <p:spPr>
          <a:xfrm>
            <a:off x="4470400" y="2149971"/>
            <a:ext cx="69088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70400" y="2251571"/>
            <a:ext cx="330200" cy="215900"/>
          </a:xfrm>
          <a:prstGeom prst="rect">
            <a:avLst/>
          </a:prstGeom>
          <a:noFill/>
        </p:spPr>
        <p:txBody>
          <a:bodyPr wrap="none" lIns="0" tIns="0" rIns="0" bIns="0" anchor="t">
            <a:noAutofit/>
          </a:bodyPr>
          <a:lstStyle/>
          <a:p>
            <a:pPr algn="l"/>
            <a:r>
              <a:rPr sz="1300" b="0" i="0">
                <a:solidFill>
                  <a:srgbClr val="0B6E8F"/>
                </a:solidFill>
                <a:latin typeface="DM Sans"/>
              </a:rPr>
              <a:t>02</a:t>
            </a:r>
          </a:p>
        </p:txBody>
      </p:sp>
      <p:sp>
        <p:nvSpPr>
          <p:cNvPr id="17" name="TextBox 16"/>
          <p:cNvSpPr txBox="1"/>
          <p:nvPr/>
        </p:nvSpPr>
        <p:spPr>
          <a:xfrm>
            <a:off x="4902200" y="2245221"/>
            <a:ext cx="46609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Foto's, klasseren met PEDIS en WIfI, verzorgen</a:t>
            </a:r>
          </a:p>
        </p:txBody>
      </p:sp>
      <p:sp>
        <p:nvSpPr>
          <p:cNvPr id="18" name="TextBox 17"/>
          <p:cNvSpPr txBox="1"/>
          <p:nvPr/>
        </p:nvSpPr>
        <p:spPr>
          <a:xfrm>
            <a:off x="9613900" y="2264271"/>
            <a:ext cx="1765300" cy="198120"/>
          </a:xfrm>
          <a:prstGeom prst="rect">
            <a:avLst/>
          </a:prstGeom>
          <a:noFill/>
        </p:spPr>
        <p:txBody>
          <a:bodyPr wrap="none" lIns="0" tIns="0" rIns="0" bIns="0" anchor="t">
            <a:noAutofit/>
          </a:bodyPr>
          <a:lstStyle/>
          <a:p>
            <a:pPr algn="r"/>
            <a:r>
              <a:rPr sz="1200" b="0" i="0">
                <a:solidFill>
                  <a:srgbClr val="A34A00"/>
                </a:solidFill>
                <a:latin typeface="DM Sans"/>
              </a:rPr>
              <a:t>eCRF 36 · 38</a:t>
            </a:r>
          </a:p>
        </p:txBody>
      </p:sp>
      <p:sp>
        <p:nvSpPr>
          <p:cNvPr id="19" name="Rectangle 18"/>
          <p:cNvSpPr/>
          <p:nvPr/>
        </p:nvSpPr>
        <p:spPr>
          <a:xfrm>
            <a:off x="4470400" y="2565202"/>
            <a:ext cx="69088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70400" y="2666802"/>
            <a:ext cx="330200" cy="215900"/>
          </a:xfrm>
          <a:prstGeom prst="rect">
            <a:avLst/>
          </a:prstGeom>
          <a:noFill/>
        </p:spPr>
        <p:txBody>
          <a:bodyPr wrap="none" lIns="0" tIns="0" rIns="0" bIns="0" anchor="t">
            <a:noAutofit/>
          </a:bodyPr>
          <a:lstStyle/>
          <a:p>
            <a:pPr algn="l"/>
            <a:r>
              <a:rPr sz="1300" b="0" i="0">
                <a:solidFill>
                  <a:srgbClr val="0B6E8F"/>
                </a:solidFill>
                <a:latin typeface="DM Sans"/>
              </a:rPr>
              <a:t>03</a:t>
            </a:r>
          </a:p>
        </p:txBody>
      </p:sp>
      <p:sp>
        <p:nvSpPr>
          <p:cNvPr id="21" name="TextBox 20"/>
          <p:cNvSpPr txBox="1"/>
          <p:nvPr/>
        </p:nvSpPr>
        <p:spPr>
          <a:xfrm>
            <a:off x="4902200" y="2660452"/>
            <a:ext cx="46609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Foto's geanonimiseerd opladen.</a:t>
            </a:r>
          </a:p>
        </p:txBody>
      </p:sp>
      <p:sp>
        <p:nvSpPr>
          <p:cNvPr id="22" name="TextBox 21"/>
          <p:cNvSpPr txBox="1"/>
          <p:nvPr/>
        </p:nvSpPr>
        <p:spPr>
          <a:xfrm>
            <a:off x="9613900" y="2679502"/>
            <a:ext cx="1765300" cy="198120"/>
          </a:xfrm>
          <a:prstGeom prst="rect">
            <a:avLst/>
          </a:prstGeom>
          <a:noFill/>
        </p:spPr>
        <p:txBody>
          <a:bodyPr wrap="none" lIns="0" tIns="0" rIns="0" bIns="0" anchor="t">
            <a:noAutofit/>
          </a:bodyPr>
          <a:lstStyle/>
          <a:p>
            <a:pPr algn="r"/>
            <a:r>
              <a:rPr sz="1200" b="0" i="0">
                <a:solidFill>
                  <a:srgbClr val="A34A00"/>
                </a:solidFill>
                <a:latin typeface="DM Sans"/>
              </a:rPr>
              <a:t>ManGO</a:t>
            </a:r>
          </a:p>
        </p:txBody>
      </p:sp>
      <p:sp>
        <p:nvSpPr>
          <p:cNvPr id="23" name="Rectangle 22"/>
          <p:cNvSpPr/>
          <p:nvPr/>
        </p:nvSpPr>
        <p:spPr>
          <a:xfrm>
            <a:off x="4470400" y="2980432"/>
            <a:ext cx="69088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70400" y="3082032"/>
            <a:ext cx="330200" cy="215900"/>
          </a:xfrm>
          <a:prstGeom prst="rect">
            <a:avLst/>
          </a:prstGeom>
          <a:noFill/>
        </p:spPr>
        <p:txBody>
          <a:bodyPr wrap="none" lIns="0" tIns="0" rIns="0" bIns="0" anchor="t">
            <a:noAutofit/>
          </a:bodyPr>
          <a:lstStyle/>
          <a:p>
            <a:pPr algn="l"/>
            <a:r>
              <a:rPr sz="1300" b="0" i="0">
                <a:solidFill>
                  <a:srgbClr val="0B6E8F"/>
                </a:solidFill>
                <a:latin typeface="DM Sans"/>
              </a:rPr>
              <a:t>04</a:t>
            </a:r>
          </a:p>
        </p:txBody>
      </p:sp>
      <p:sp>
        <p:nvSpPr>
          <p:cNvPr id="25" name="TextBox 24"/>
          <p:cNvSpPr txBox="1"/>
          <p:nvPr/>
        </p:nvSpPr>
        <p:spPr>
          <a:xfrm>
            <a:off x="4902200" y="3075682"/>
            <a:ext cx="4702302" cy="462161"/>
          </a:xfrm>
          <a:prstGeom prst="rect">
            <a:avLst/>
          </a:prstGeom>
          <a:noFill/>
        </p:spPr>
        <p:txBody>
          <a:bodyPr wrap="square" lIns="0" tIns="0" rIns="0" bIns="0" anchor="t">
            <a:noAutofit/>
          </a:bodyPr>
          <a:lstStyle/>
          <a:p>
            <a:pPr algn="l">
              <a:lnSpc>
                <a:spcPts val="1820"/>
              </a:lnSpc>
            </a:pPr>
            <a:r>
              <a:rPr sz="1400" b="0" i="0">
                <a:solidFill>
                  <a:srgbClr val="0A2540"/>
                </a:solidFill>
                <a:latin typeface="DM Sans"/>
              </a:rPr>
              <a:t>Bij elk vervolgcontact de genezing noteren, tot genezing, amputatie of overlijden</a:t>
            </a:r>
          </a:p>
        </p:txBody>
      </p:sp>
      <p:sp>
        <p:nvSpPr>
          <p:cNvPr id="26" name="TextBox 25"/>
          <p:cNvSpPr txBox="1"/>
          <p:nvPr/>
        </p:nvSpPr>
        <p:spPr>
          <a:xfrm>
            <a:off x="9613900" y="3094732"/>
            <a:ext cx="1765300" cy="198120"/>
          </a:xfrm>
          <a:prstGeom prst="rect">
            <a:avLst/>
          </a:prstGeom>
          <a:noFill/>
        </p:spPr>
        <p:txBody>
          <a:bodyPr wrap="none" lIns="0" tIns="0" rIns="0" bIns="0" anchor="t">
            <a:noAutofit/>
          </a:bodyPr>
          <a:lstStyle/>
          <a:p>
            <a:pPr algn="r"/>
            <a:r>
              <a:rPr sz="1200" b="0" i="0">
                <a:solidFill>
                  <a:srgbClr val="A34A00"/>
                </a:solidFill>
                <a:latin typeface="DM Sans"/>
              </a:rPr>
              <a:t>eCRF 47</a:t>
            </a:r>
          </a:p>
        </p:txBody>
      </p:sp>
      <p:sp>
        <p:nvSpPr>
          <p:cNvPr id="27" name="Rectangle 26"/>
          <p:cNvSpPr/>
          <p:nvPr/>
        </p:nvSpPr>
        <p:spPr>
          <a:xfrm>
            <a:off x="4470400" y="3626743"/>
            <a:ext cx="69088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70400" y="3728343"/>
            <a:ext cx="330200" cy="215900"/>
          </a:xfrm>
          <a:prstGeom prst="rect">
            <a:avLst/>
          </a:prstGeom>
          <a:noFill/>
        </p:spPr>
        <p:txBody>
          <a:bodyPr wrap="none" lIns="0" tIns="0" rIns="0" bIns="0" anchor="t">
            <a:noAutofit/>
          </a:bodyPr>
          <a:lstStyle/>
          <a:p>
            <a:pPr algn="l"/>
            <a:r>
              <a:rPr sz="1300" b="0" i="0">
                <a:solidFill>
                  <a:srgbClr val="0B6E8F"/>
                </a:solidFill>
                <a:latin typeface="DM Sans"/>
              </a:rPr>
              <a:t>05</a:t>
            </a:r>
          </a:p>
        </p:txBody>
      </p:sp>
      <p:sp>
        <p:nvSpPr>
          <p:cNvPr id="29" name="TextBox 28"/>
          <p:cNvSpPr txBox="1"/>
          <p:nvPr/>
        </p:nvSpPr>
        <p:spPr>
          <a:xfrm>
            <a:off x="4902200" y="3721993"/>
            <a:ext cx="4702302" cy="462161"/>
          </a:xfrm>
          <a:prstGeom prst="rect">
            <a:avLst/>
          </a:prstGeom>
          <a:noFill/>
        </p:spPr>
        <p:txBody>
          <a:bodyPr wrap="square" lIns="0" tIns="0" rIns="0" bIns="0" anchor="t">
            <a:noAutofit/>
          </a:bodyPr>
          <a:lstStyle/>
          <a:p>
            <a:pPr algn="l">
              <a:lnSpc>
                <a:spcPts val="1820"/>
              </a:lnSpc>
            </a:pPr>
            <a:r>
              <a:rPr sz="1400" b="0" i="0">
                <a:solidFill>
                  <a:srgbClr val="0A2540"/>
                </a:solidFill>
                <a:latin typeface="DM Sans"/>
              </a:rPr>
              <a:t>Ernstig voorval, zoals een opname: melden aan de studieverantwoordelijke</a:t>
            </a:r>
          </a:p>
        </p:txBody>
      </p:sp>
      <p:sp>
        <p:nvSpPr>
          <p:cNvPr id="30" name="TextBox 29"/>
          <p:cNvSpPr txBox="1"/>
          <p:nvPr/>
        </p:nvSpPr>
        <p:spPr>
          <a:xfrm>
            <a:off x="9613900" y="3741043"/>
            <a:ext cx="1765300" cy="198120"/>
          </a:xfrm>
          <a:prstGeom prst="rect">
            <a:avLst/>
          </a:prstGeom>
          <a:noFill/>
        </p:spPr>
        <p:txBody>
          <a:bodyPr wrap="none" lIns="0" tIns="0" rIns="0" bIns="0" anchor="t">
            <a:noAutofit/>
          </a:bodyPr>
          <a:lstStyle/>
          <a:p>
            <a:pPr algn="r"/>
            <a:r>
              <a:rPr sz="1200" b="0" i="0">
                <a:solidFill>
                  <a:srgbClr val="A34A00"/>
                </a:solidFill>
                <a:latin typeface="DM Sans"/>
              </a:rPr>
              <a:t>72 uur · eCRF 46</a:t>
            </a:r>
          </a:p>
        </p:txBody>
      </p:sp>
      <p:sp>
        <p:nvSpPr>
          <p:cNvPr id="31" name="Rectangle 30"/>
          <p:cNvSpPr/>
          <p:nvPr/>
        </p:nvSpPr>
        <p:spPr>
          <a:xfrm>
            <a:off x="812800" y="4450854"/>
            <a:ext cx="10566400" cy="127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12800" y="4590554"/>
            <a:ext cx="10617200" cy="257175"/>
          </a:xfrm>
          <a:prstGeom prst="rect">
            <a:avLst/>
          </a:prstGeom>
          <a:noFill/>
        </p:spPr>
        <p:txBody>
          <a:bodyPr wrap="none" lIns="0" tIns="0" rIns="0" bIns="0" anchor="t">
            <a:noAutofit/>
          </a:bodyPr>
          <a:lstStyle/>
          <a:p>
            <a:pPr algn="l">
              <a:lnSpc>
                <a:spcPts val="2025"/>
              </a:lnSpc>
            </a:pPr>
            <a:r>
              <a:rPr sz="1500" b="1" i="0">
                <a:solidFill>
                  <a:srgbClr val="0A2540"/>
                </a:solidFill>
                <a:latin typeface="DM Sans"/>
              </a:rPr>
              <a:t>Het eindpunt is geen einde:</a:t>
            </a:r>
            <a:r>
              <a:rPr sz="1500" b="0" i="0">
                <a:solidFill>
                  <a:srgbClr val="0A2540"/>
                </a:solidFill>
                <a:latin typeface="DM Sans"/>
              </a:rPr>
              <a:t> de deelnemer blijft tot maand 18 in opvolging.</a:t>
            </a:r>
          </a:p>
        </p:txBody>
      </p:sp>
      <p:pic>
        <p:nvPicPr>
          <p:cNvPr id="33" name="Picture 32"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4" name="TextBox 33"/>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Werkpakketten</a:t>
            </a:r>
          </a:p>
        </p:txBody>
      </p:sp>
      <p:sp>
        <p:nvSpPr>
          <p:cNvPr id="35" name="TextBox 34"/>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§5.5 (ongepland bezoek), §6 · eCRF 36, 38, 46, 47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4e287ae005ab9f8997461f000820af22.png"/>
          <p:cNvPicPr>
            <a:picLocks noChangeAspect="1"/>
          </p:cNvPicPr>
          <p:nvPr/>
        </p:nvPicPr>
        <p:blipFill>
          <a:blip r:embed="rId3"/>
          <a:stretch>
            <a:fillRect/>
          </a:stretch>
        </p:blipFill>
        <p:spPr>
          <a:xfrm>
            <a:off x="7874000" y="0"/>
            <a:ext cx="6388100" cy="7302500"/>
          </a:xfrm>
          <a:prstGeom prst="rect">
            <a:avLst/>
          </a:prstGeom>
        </p:spPr>
      </p:pic>
      <p:sp>
        <p:nvSpPr>
          <p:cNvPr id="3" name="Rounded Rectangle 2"/>
          <p:cNvSpPr/>
          <p:nvPr/>
        </p:nvSpPr>
        <p:spPr>
          <a:xfrm>
            <a:off x="8128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4fe31fe826e2a686c44b2a9df6f4ec34.png"/>
          <p:cNvPicPr>
            <a:picLocks noChangeAspect="1"/>
          </p:cNvPicPr>
          <p:nvPr/>
        </p:nvPicPr>
        <p:blipFill>
          <a:blip r:embed="rId4"/>
          <a:stretch>
            <a:fillRect/>
          </a:stretch>
        </p:blipFill>
        <p:spPr>
          <a:xfrm>
            <a:off x="819150" y="1847850"/>
            <a:ext cx="2476500" cy="1393031"/>
          </a:xfrm>
          <a:prstGeom prst="rect">
            <a:avLst/>
          </a:prstGeom>
        </p:spPr>
      </p:pic>
      <p:sp>
        <p:nvSpPr>
          <p:cNvPr id="5" name="Rounded Rectangle 4"/>
          <p:cNvSpPr/>
          <p:nvPr/>
        </p:nvSpPr>
        <p:spPr>
          <a:xfrm>
            <a:off x="8128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128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1 Stand van zaken</a:t>
            </a:r>
          </a:p>
        </p:txBody>
      </p:sp>
      <p:sp>
        <p:nvSpPr>
          <p:cNvPr id="7" name="Rounded Rectangle 6"/>
          <p:cNvSpPr/>
          <p:nvPr/>
        </p:nvSpPr>
        <p:spPr>
          <a:xfrm>
            <a:off x="35052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af6c315e3b6c8da4983f797f076543ae.png"/>
          <p:cNvPicPr>
            <a:picLocks noChangeAspect="1"/>
          </p:cNvPicPr>
          <p:nvPr/>
        </p:nvPicPr>
        <p:blipFill>
          <a:blip r:embed="rId5"/>
          <a:stretch>
            <a:fillRect/>
          </a:stretch>
        </p:blipFill>
        <p:spPr>
          <a:xfrm>
            <a:off x="3511550" y="1847850"/>
            <a:ext cx="2476500" cy="1393031"/>
          </a:xfrm>
          <a:prstGeom prst="rect">
            <a:avLst/>
          </a:prstGeom>
        </p:spPr>
      </p:pic>
      <p:sp>
        <p:nvSpPr>
          <p:cNvPr id="9" name="Rounded Rectangle 8"/>
          <p:cNvSpPr/>
          <p:nvPr/>
        </p:nvSpPr>
        <p:spPr>
          <a:xfrm>
            <a:off x="35052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5052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2 Ontwikkelingen sinds 1 april</a:t>
            </a:r>
          </a:p>
        </p:txBody>
      </p:sp>
      <p:sp>
        <p:nvSpPr>
          <p:cNvPr id="11" name="Rounded Rectangle 10"/>
          <p:cNvSpPr/>
          <p:nvPr/>
        </p:nvSpPr>
        <p:spPr>
          <a:xfrm>
            <a:off x="61976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b3575449de919ba8ba77497cf770d56b.png"/>
          <p:cNvPicPr>
            <a:picLocks noChangeAspect="1"/>
          </p:cNvPicPr>
          <p:nvPr/>
        </p:nvPicPr>
        <p:blipFill>
          <a:blip r:embed="rId6"/>
          <a:stretch>
            <a:fillRect/>
          </a:stretch>
        </p:blipFill>
        <p:spPr>
          <a:xfrm>
            <a:off x="6203950" y="1847850"/>
            <a:ext cx="2476500" cy="1393031"/>
          </a:xfrm>
          <a:prstGeom prst="rect">
            <a:avLst/>
          </a:prstGeom>
        </p:spPr>
      </p:pic>
      <p:sp>
        <p:nvSpPr>
          <p:cNvPr id="13" name="Rounded Rectangle 12"/>
          <p:cNvSpPr/>
          <p:nvPr/>
        </p:nvSpPr>
        <p:spPr>
          <a:xfrm>
            <a:off x="61976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1976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3 Werkpakketten</a:t>
            </a:r>
          </a:p>
        </p:txBody>
      </p:sp>
      <p:sp>
        <p:nvSpPr>
          <p:cNvPr id="15" name="Rounded Rectangle 14"/>
          <p:cNvSpPr/>
          <p:nvPr/>
        </p:nvSpPr>
        <p:spPr>
          <a:xfrm>
            <a:off x="8890000" y="1841500"/>
            <a:ext cx="2489200" cy="1397000"/>
          </a:xfrm>
          <a:prstGeom prst="roundRect">
            <a:avLst>
              <a:gd name="adj" fmla="val 1363"/>
            </a:avLst>
          </a:prstGeom>
          <a:solidFill>
            <a:srgbClr val="FFFFFF"/>
          </a:solidFill>
          <a:ln w="1905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76718c0faffa53b3e96d91bd5d17d843.png"/>
          <p:cNvPicPr>
            <a:picLocks noChangeAspect="1"/>
          </p:cNvPicPr>
          <p:nvPr/>
        </p:nvPicPr>
        <p:blipFill>
          <a:blip r:embed="rId7"/>
          <a:stretch>
            <a:fillRect/>
          </a:stretch>
        </p:blipFill>
        <p:spPr>
          <a:xfrm>
            <a:off x="8909050" y="1860550"/>
            <a:ext cx="2451100" cy="1378744"/>
          </a:xfrm>
          <a:prstGeom prst="rect">
            <a:avLst/>
          </a:prstGeom>
        </p:spPr>
      </p:pic>
      <p:sp>
        <p:nvSpPr>
          <p:cNvPr id="17" name="TextBox 16"/>
          <p:cNvSpPr txBox="1"/>
          <p:nvPr/>
        </p:nvSpPr>
        <p:spPr>
          <a:xfrm>
            <a:off x="8890000" y="3327400"/>
            <a:ext cx="2540000" cy="213360"/>
          </a:xfrm>
          <a:prstGeom prst="rect">
            <a:avLst/>
          </a:prstGeom>
          <a:noFill/>
        </p:spPr>
        <p:txBody>
          <a:bodyPr wrap="none" lIns="0" tIns="0" rIns="0" bIns="0" anchor="t">
            <a:noAutofit/>
          </a:bodyPr>
          <a:lstStyle/>
          <a:p>
            <a:pPr algn="l">
              <a:lnSpc>
                <a:spcPts val="1680"/>
              </a:lnSpc>
            </a:pPr>
            <a:r>
              <a:rPr sz="1400" b="0" i="0">
                <a:solidFill>
                  <a:srgbClr val="A34A00"/>
                </a:solidFill>
                <a:latin typeface="DM Sans"/>
              </a:rPr>
              <a:t>4 Aandachtspunten</a:t>
            </a:r>
          </a:p>
        </p:txBody>
      </p:sp>
      <p:pic>
        <p:nvPicPr>
          <p:cNvPr id="18" name="Picture 17" descr="0a62dff855207c43a1c6690d0e4c697a.png"/>
          <p:cNvPicPr>
            <a:picLocks noChangeAspect="1"/>
          </p:cNvPicPr>
          <p:nvPr/>
        </p:nvPicPr>
        <p:blipFill>
          <a:blip r:embed="rId8"/>
          <a:stretch>
            <a:fillRect/>
          </a:stretch>
        </p:blipFill>
        <p:spPr>
          <a:xfrm>
            <a:off x="2336800" y="3937000"/>
            <a:ext cx="2133600" cy="1200150"/>
          </a:xfrm>
          <a:prstGeom prst="rect">
            <a:avLst/>
          </a:prstGeom>
        </p:spPr>
      </p:pic>
      <p:pic>
        <p:nvPicPr>
          <p:cNvPr id="19" name="Picture 18" descr="993f9ef2261edfc6639be1e2fe47b272.png"/>
          <p:cNvPicPr>
            <a:picLocks noChangeAspect="1"/>
          </p:cNvPicPr>
          <p:nvPr/>
        </p:nvPicPr>
        <p:blipFill>
          <a:blip r:embed="rId9"/>
          <a:stretch>
            <a:fillRect/>
          </a:stretch>
        </p:blipFill>
        <p:spPr>
          <a:xfrm>
            <a:off x="2247900" y="4025900"/>
            <a:ext cx="2311400" cy="1301750"/>
          </a:xfrm>
          <a:prstGeom prst="rect">
            <a:avLst/>
          </a:prstGeom>
        </p:spPr>
      </p:pic>
      <p:sp>
        <p:nvSpPr>
          <p:cNvPr id="20" name="Rounded Rectangle 19"/>
          <p:cNvSpPr/>
          <p:nvPr/>
        </p:nvSpPr>
        <p:spPr>
          <a:xfrm>
            <a:off x="21590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1" name="Picture 20" descr="c828e07bbef239086018a2f6a17a466c.png"/>
          <p:cNvPicPr>
            <a:picLocks noChangeAspect="1"/>
          </p:cNvPicPr>
          <p:nvPr/>
        </p:nvPicPr>
        <p:blipFill>
          <a:blip r:embed="rId10"/>
          <a:stretch>
            <a:fillRect/>
          </a:stretch>
        </p:blipFill>
        <p:spPr>
          <a:xfrm>
            <a:off x="2165350" y="4121150"/>
            <a:ext cx="2476500" cy="1393031"/>
          </a:xfrm>
          <a:prstGeom prst="rect">
            <a:avLst/>
          </a:prstGeom>
        </p:spPr>
      </p:pic>
      <p:sp>
        <p:nvSpPr>
          <p:cNvPr id="22" name="TextBox 21"/>
          <p:cNvSpPr txBox="1"/>
          <p:nvPr/>
        </p:nvSpPr>
        <p:spPr>
          <a:xfrm>
            <a:off x="21590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5 Mijlpalen en planning</a:t>
            </a:r>
          </a:p>
        </p:txBody>
      </p:sp>
      <p:pic>
        <p:nvPicPr>
          <p:cNvPr id="23" name="Picture 22" descr="dad1d5849a0f54ecab7e2a87be32dc30.png"/>
          <p:cNvPicPr>
            <a:picLocks noChangeAspect="1"/>
          </p:cNvPicPr>
          <p:nvPr/>
        </p:nvPicPr>
        <p:blipFill>
          <a:blip r:embed="rId11"/>
          <a:stretch>
            <a:fillRect/>
          </a:stretch>
        </p:blipFill>
        <p:spPr>
          <a:xfrm>
            <a:off x="4940300" y="4025900"/>
            <a:ext cx="2311400" cy="1301750"/>
          </a:xfrm>
          <a:prstGeom prst="rect">
            <a:avLst/>
          </a:prstGeom>
        </p:spPr>
      </p:pic>
      <p:sp>
        <p:nvSpPr>
          <p:cNvPr id="24" name="Rounded Rectangle 23"/>
          <p:cNvSpPr/>
          <p:nvPr/>
        </p:nvSpPr>
        <p:spPr>
          <a:xfrm>
            <a:off x="48514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Picture 24" descr="a218f23a9d1aeae7790db2aa9d8f48a7.png"/>
          <p:cNvPicPr>
            <a:picLocks noChangeAspect="1"/>
          </p:cNvPicPr>
          <p:nvPr/>
        </p:nvPicPr>
        <p:blipFill>
          <a:blip r:embed="rId12"/>
          <a:stretch>
            <a:fillRect/>
          </a:stretch>
        </p:blipFill>
        <p:spPr>
          <a:xfrm>
            <a:off x="4857750" y="4121150"/>
            <a:ext cx="2476500" cy="1393031"/>
          </a:xfrm>
          <a:prstGeom prst="rect">
            <a:avLst/>
          </a:prstGeom>
        </p:spPr>
      </p:pic>
      <p:sp>
        <p:nvSpPr>
          <p:cNvPr id="26" name="TextBox 25"/>
          <p:cNvSpPr txBox="1"/>
          <p:nvPr/>
        </p:nvSpPr>
        <p:spPr>
          <a:xfrm>
            <a:off x="48514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6 Bespreking</a:t>
            </a:r>
          </a:p>
        </p:txBody>
      </p:sp>
      <p:pic>
        <p:nvPicPr>
          <p:cNvPr id="27" name="Picture 26" descr="e49a2c4874452277a94494e99280aaa0.png"/>
          <p:cNvPicPr>
            <a:picLocks noChangeAspect="1"/>
          </p:cNvPicPr>
          <p:nvPr/>
        </p:nvPicPr>
        <p:blipFill>
          <a:blip r:embed="rId13"/>
          <a:stretch>
            <a:fillRect/>
          </a:stretch>
        </p:blipFill>
        <p:spPr>
          <a:xfrm>
            <a:off x="7632700" y="4025900"/>
            <a:ext cx="2311400" cy="1301750"/>
          </a:xfrm>
          <a:prstGeom prst="rect">
            <a:avLst/>
          </a:prstGeom>
        </p:spPr>
      </p:pic>
      <p:sp>
        <p:nvSpPr>
          <p:cNvPr id="28" name="Rounded Rectangle 27"/>
          <p:cNvSpPr/>
          <p:nvPr/>
        </p:nvSpPr>
        <p:spPr>
          <a:xfrm>
            <a:off x="75438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Picture 28" descr="0b3315c9a761b9fd4dfcb184751fa8ea.png"/>
          <p:cNvPicPr>
            <a:picLocks noChangeAspect="1"/>
          </p:cNvPicPr>
          <p:nvPr/>
        </p:nvPicPr>
        <p:blipFill>
          <a:blip r:embed="rId14"/>
          <a:stretch>
            <a:fillRect/>
          </a:stretch>
        </p:blipFill>
        <p:spPr>
          <a:xfrm>
            <a:off x="7550150" y="4121150"/>
            <a:ext cx="2476500" cy="1393031"/>
          </a:xfrm>
          <a:prstGeom prst="rect">
            <a:avLst/>
          </a:prstGeom>
        </p:spPr>
      </p:pic>
      <p:sp>
        <p:nvSpPr>
          <p:cNvPr id="30" name="TextBox 29"/>
          <p:cNvSpPr txBox="1"/>
          <p:nvPr/>
        </p:nvSpPr>
        <p:spPr>
          <a:xfrm>
            <a:off x="75438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7 Tour de table</a:t>
            </a:r>
          </a:p>
        </p:txBody>
      </p:sp>
      <p:sp>
        <p:nvSpPr>
          <p:cNvPr id="31" name="TextBox 30"/>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we vandaag overlopen</a:t>
            </a:r>
          </a:p>
        </p:txBody>
      </p:sp>
      <p:pic>
        <p:nvPicPr>
          <p:cNvPr id="32" name="Picture 31" descr="ec5c93e6f83f209b4e97ddfdecd480c8.png"/>
          <p:cNvPicPr>
            <a:picLocks noChangeAspect="1"/>
          </p:cNvPicPr>
          <p:nvPr/>
        </p:nvPicPr>
        <p:blipFill>
          <a:blip r:embed="rId15"/>
          <a:stretch>
            <a:fillRect/>
          </a:stretch>
        </p:blipFill>
        <p:spPr>
          <a:xfrm>
            <a:off x="812967" y="6261100"/>
            <a:ext cx="171116" cy="203200"/>
          </a:xfrm>
          <a:prstGeom prst="rect">
            <a:avLst/>
          </a:prstGeom>
        </p:spPr>
      </p:pic>
      <p:sp>
        <p:nvSpPr>
          <p:cNvPr id="33" name="TextBox 32"/>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5A6E80"/>
                </a:solidFill>
                <a:latin typeface="DM Sans"/>
              </a:rPr>
              <a:t>PARADISE · kick-off 12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955800" cy="5029200"/>
          </a:xfrm>
          <a:prstGeom prst="rect">
            <a:avLst/>
          </a:prstGeom>
          <a:noFill/>
        </p:spPr>
        <p:txBody>
          <a:bodyPr wrap="square" lIns="0" tIns="0" rIns="0" bIns="0" anchor="t">
            <a:noAutofit/>
          </a:bodyPr>
          <a:lstStyle/>
          <a:p>
            <a:pPr algn="l">
              <a:lnSpc>
                <a:spcPts val="16200"/>
              </a:lnSpc>
            </a:pPr>
            <a:r>
              <a:rPr sz="18000" b="0" i="0">
                <a:solidFill>
                  <a:srgbClr val="FF9A3D"/>
                </a:solidFill>
                <a:latin typeface="DM Serif Display"/>
              </a:rPr>
              <a:t>4</a:t>
            </a:r>
          </a:p>
        </p:txBody>
      </p:sp>
      <p:sp>
        <p:nvSpPr>
          <p:cNvPr id="4" name="TextBox 3"/>
          <p:cNvSpPr txBox="1"/>
          <p:nvPr/>
        </p:nvSpPr>
        <p:spPr>
          <a:xfrm>
            <a:off x="3327400" y="812800"/>
            <a:ext cx="8102600" cy="215900"/>
          </a:xfrm>
          <a:prstGeom prst="rect">
            <a:avLst/>
          </a:prstGeom>
          <a:noFill/>
        </p:spPr>
        <p:txBody>
          <a:bodyPr wrap="none" lIns="0" tIns="0" rIns="0" bIns="0" anchor="t">
            <a:noAutofit/>
          </a:bodyPr>
          <a:lstStyle/>
          <a:p>
            <a:pPr algn="l"/>
            <a:r>
              <a:rPr sz="1300" b="1" i="0">
                <a:solidFill>
                  <a:srgbClr val="52BDEC"/>
                </a:solidFill>
                <a:latin typeface="DM Sans"/>
              </a:rPr>
              <a:t>Deel 4 van 7</a:t>
            </a:r>
          </a:p>
        </p:txBody>
      </p:sp>
      <p:sp>
        <p:nvSpPr>
          <p:cNvPr id="5" name="TextBox 4"/>
          <p:cNvSpPr txBox="1"/>
          <p:nvPr/>
        </p:nvSpPr>
        <p:spPr>
          <a:xfrm>
            <a:off x="3327400" y="1206500"/>
            <a:ext cx="8102600" cy="586740"/>
          </a:xfrm>
          <a:prstGeom prst="rect">
            <a:avLst/>
          </a:prstGeom>
          <a:noFill/>
        </p:spPr>
        <p:txBody>
          <a:bodyPr wrap="none" lIns="0" tIns="0" rIns="0" bIns="0" anchor="t">
            <a:noAutofit/>
          </a:bodyPr>
          <a:lstStyle/>
          <a:p>
            <a:pPr algn="l">
              <a:lnSpc>
                <a:spcPts val="4620"/>
              </a:lnSpc>
            </a:pPr>
            <a:r>
              <a:rPr sz="4400" b="0" i="0" spc="-50">
                <a:solidFill>
                  <a:srgbClr val="F2F8FC"/>
                </a:solidFill>
                <a:latin typeface="DM Serif Display"/>
              </a:rPr>
              <a:t>Aandachtspunten</a:t>
            </a:r>
          </a:p>
        </p:txBody>
      </p:sp>
      <p:sp>
        <p:nvSpPr>
          <p:cNvPr id="6" name="TextBox 5"/>
          <p:cNvSpPr txBox="1"/>
          <p:nvPr/>
        </p:nvSpPr>
        <p:spPr>
          <a:xfrm>
            <a:off x="3327400" y="1970980"/>
            <a:ext cx="8102600" cy="335280"/>
          </a:xfrm>
          <a:prstGeom prst="rect">
            <a:avLst/>
          </a:prstGeom>
          <a:noFill/>
        </p:spPr>
        <p:txBody>
          <a:bodyPr wrap="none" lIns="0" tIns="0" rIns="0" bIns="0" anchor="t">
            <a:noAutofit/>
          </a:bodyPr>
          <a:lstStyle/>
          <a:p>
            <a:pPr algn="l">
              <a:lnSpc>
                <a:spcPts val="2640"/>
              </a:lnSpc>
            </a:pPr>
            <a:r>
              <a:rPr sz="2200" b="0" i="1">
                <a:solidFill>
                  <a:srgbClr val="52BDEC"/>
                </a:solidFill>
                <a:latin typeface="DM Serif Display"/>
              </a:rPr>
              <a:t>Wat moet er nog gebeuren?</a:t>
            </a:r>
          </a:p>
        </p:txBody>
      </p:sp>
      <p:sp>
        <p:nvSpPr>
          <p:cNvPr id="7" name="Rectangle 6"/>
          <p:cNvSpPr/>
          <p:nvPr/>
        </p:nvSpPr>
        <p:spPr>
          <a:xfrm>
            <a:off x="3327400" y="5393730"/>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27400" y="5488980"/>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zes openstaande punten, in de volgorde waarin ze klaar moeten zijn</a:t>
            </a:r>
          </a:p>
        </p:txBody>
      </p:sp>
      <p:pic>
        <p:nvPicPr>
          <p:cNvPr id="9" name="Picture 8"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10" name="TextBox 9"/>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6F8FAA"/>
                </a:solidFill>
                <a:latin typeface="DM Sans"/>
              </a:rPr>
              <a:t>PARADISE · Aandachtspunten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 name="Picture 2"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4" name="TextBox 3"/>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Aandachtspunten</a:t>
            </a:r>
          </a:p>
        </p:txBody>
      </p:sp>
      <p:sp>
        <p:nvSpPr>
          <p:cNvPr id="5" name="TextBox 4"/>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opleidingsplanning §4, §7 · protocol · simulatie</a:t>
            </a:r>
          </a:p>
        </p:txBody>
      </p:sp>
      <p:sp>
        <p:nvSpPr>
          <p:cNvPr id="6" name="TextBox 5"/>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nog moet gebeuren</a:t>
            </a:r>
          </a:p>
        </p:txBody>
      </p:sp>
      <p:sp>
        <p:nvSpPr>
          <p:cNvPr id="7" name="TextBox 6"/>
          <p:cNvSpPr txBox="1"/>
          <p:nvPr/>
        </p:nvSpPr>
        <p:spPr>
          <a:xfrm>
            <a:off x="812800" y="1733550"/>
            <a:ext cx="660400" cy="215900"/>
          </a:xfrm>
          <a:prstGeom prst="rect">
            <a:avLst/>
          </a:prstGeom>
          <a:noFill/>
        </p:spPr>
        <p:txBody>
          <a:bodyPr wrap="none" lIns="0" tIns="0" rIns="0" bIns="0" anchor="t">
            <a:noAutofit/>
          </a:bodyPr>
          <a:lstStyle/>
          <a:p>
            <a:pPr algn="l"/>
            <a:r>
              <a:rPr sz="1300" b="0" i="0">
                <a:solidFill>
                  <a:srgbClr val="9FB3C6"/>
                </a:solidFill>
                <a:latin typeface="DM Sans"/>
              </a:rPr>
              <a:t>01–04</a:t>
            </a:r>
          </a:p>
        </p:txBody>
      </p:sp>
      <p:sp>
        <p:nvSpPr>
          <p:cNvPr id="8" name="TextBox 7"/>
          <p:cNvSpPr txBox="1"/>
          <p:nvPr/>
        </p:nvSpPr>
        <p:spPr>
          <a:xfrm>
            <a:off x="1625600" y="1695450"/>
            <a:ext cx="6680200" cy="269875"/>
          </a:xfrm>
          <a:prstGeom prst="rect">
            <a:avLst/>
          </a:prstGeom>
          <a:noFill/>
        </p:spPr>
        <p:txBody>
          <a:bodyPr wrap="none" lIns="0" tIns="0" rIns="0" bIns="0" anchor="t">
            <a:noAutofit/>
          </a:bodyPr>
          <a:lstStyle/>
          <a:p>
            <a:pPr algn="l">
              <a:lnSpc>
                <a:spcPts val="2125"/>
              </a:lnSpc>
            </a:pPr>
            <a:r>
              <a:rPr sz="1700" b="0" i="0">
                <a:solidFill>
                  <a:srgbClr val="5A6E80"/>
                </a:solidFill>
                <a:latin typeface="DM Sans"/>
              </a:rPr>
              <a:t>Goedkeuring, toestellen, opleiding, droogloop en piloot</a:t>
            </a:r>
          </a:p>
        </p:txBody>
      </p:sp>
      <p:sp>
        <p:nvSpPr>
          <p:cNvPr id="9" name="TextBox 8"/>
          <p:cNvSpPr txBox="1"/>
          <p:nvPr/>
        </p:nvSpPr>
        <p:spPr>
          <a:xfrm>
            <a:off x="8407400" y="1733550"/>
            <a:ext cx="2971800" cy="215900"/>
          </a:xfrm>
          <a:prstGeom prst="rect">
            <a:avLst/>
          </a:prstGeom>
          <a:noFill/>
        </p:spPr>
        <p:txBody>
          <a:bodyPr wrap="none" lIns="0" tIns="0" rIns="0" bIns="0" anchor="t">
            <a:noAutofit/>
          </a:bodyPr>
          <a:lstStyle/>
          <a:p>
            <a:pPr algn="r"/>
            <a:r>
              <a:rPr sz="1300" b="0" i="0">
                <a:solidFill>
                  <a:srgbClr val="5A6E80"/>
                </a:solidFill>
                <a:latin typeface="DM Sans"/>
              </a:rPr>
              <a:t>zie deel 1 en 5</a:t>
            </a:r>
          </a:p>
        </p:txBody>
      </p:sp>
      <p:sp>
        <p:nvSpPr>
          <p:cNvPr id="10" name="Rectangle 9"/>
          <p:cNvSpPr/>
          <p:nvPr/>
        </p:nvSpPr>
        <p:spPr>
          <a:xfrm>
            <a:off x="812800" y="2117725"/>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2800" y="2314575"/>
            <a:ext cx="660400" cy="215900"/>
          </a:xfrm>
          <a:prstGeom prst="rect">
            <a:avLst/>
          </a:prstGeom>
          <a:noFill/>
        </p:spPr>
        <p:txBody>
          <a:bodyPr wrap="none" lIns="0" tIns="0" rIns="0" bIns="0" anchor="t">
            <a:noAutofit/>
          </a:bodyPr>
          <a:lstStyle/>
          <a:p>
            <a:pPr algn="l"/>
            <a:r>
              <a:rPr sz="1300" b="0" i="0">
                <a:solidFill>
                  <a:srgbClr val="0B6E8F"/>
                </a:solidFill>
                <a:latin typeface="DM Sans"/>
              </a:rPr>
              <a:t>05</a:t>
            </a:r>
          </a:p>
        </p:txBody>
      </p:sp>
      <p:sp>
        <p:nvSpPr>
          <p:cNvPr id="12" name="TextBox 11"/>
          <p:cNvSpPr txBox="1"/>
          <p:nvPr/>
        </p:nvSpPr>
        <p:spPr>
          <a:xfrm>
            <a:off x="1625600" y="2276475"/>
            <a:ext cx="6680200" cy="269875"/>
          </a:xfrm>
          <a:prstGeom prst="rect">
            <a:avLst/>
          </a:prstGeom>
          <a:noFill/>
        </p:spPr>
        <p:txBody>
          <a:bodyPr wrap="none" lIns="0" tIns="0" rIns="0" bIns="0" anchor="t">
            <a:noAutofit/>
          </a:bodyPr>
          <a:lstStyle/>
          <a:p>
            <a:pPr algn="l">
              <a:lnSpc>
                <a:spcPts val="2125"/>
              </a:lnSpc>
            </a:pPr>
            <a:r>
              <a:rPr sz="1700" b="0" i="0">
                <a:solidFill>
                  <a:srgbClr val="0A2540"/>
                </a:solidFill>
                <a:latin typeface="DM Sans"/>
              </a:rPr>
              <a:t>SEBIA: voorbereidend materiaal</a:t>
            </a:r>
          </a:p>
        </p:txBody>
      </p:sp>
      <p:sp>
        <p:nvSpPr>
          <p:cNvPr id="13" name="TextBox 12"/>
          <p:cNvSpPr txBox="1"/>
          <p:nvPr/>
        </p:nvSpPr>
        <p:spPr>
          <a:xfrm>
            <a:off x="8407400" y="2314575"/>
            <a:ext cx="2971800" cy="215900"/>
          </a:xfrm>
          <a:prstGeom prst="rect">
            <a:avLst/>
          </a:prstGeom>
          <a:noFill/>
        </p:spPr>
        <p:txBody>
          <a:bodyPr wrap="none" lIns="0" tIns="0" rIns="0" bIns="0" anchor="t">
            <a:noAutofit/>
          </a:bodyPr>
          <a:lstStyle/>
          <a:p>
            <a:pPr algn="r"/>
            <a:r>
              <a:rPr sz="1300" b="0" i="0">
                <a:solidFill>
                  <a:srgbClr val="0B6E8F"/>
                </a:solidFill>
                <a:latin typeface="DM Sans"/>
              </a:rPr>
              <a:t>het script is uitgewerkt</a:t>
            </a:r>
          </a:p>
        </p:txBody>
      </p:sp>
      <p:sp>
        <p:nvSpPr>
          <p:cNvPr id="14" name="Rectangle 13"/>
          <p:cNvSpPr/>
          <p:nvPr/>
        </p:nvSpPr>
        <p:spPr>
          <a:xfrm>
            <a:off x="812800" y="269875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2800" y="2895600"/>
            <a:ext cx="660400" cy="215900"/>
          </a:xfrm>
          <a:prstGeom prst="rect">
            <a:avLst/>
          </a:prstGeom>
          <a:noFill/>
        </p:spPr>
        <p:txBody>
          <a:bodyPr wrap="none" lIns="0" tIns="0" rIns="0" bIns="0" anchor="t">
            <a:noAutofit/>
          </a:bodyPr>
          <a:lstStyle/>
          <a:p>
            <a:pPr algn="l"/>
            <a:r>
              <a:rPr sz="1300" b="0" i="0">
                <a:solidFill>
                  <a:srgbClr val="0B6E8F"/>
                </a:solidFill>
                <a:latin typeface="DM Sans"/>
              </a:rPr>
              <a:t>06</a:t>
            </a:r>
          </a:p>
        </p:txBody>
      </p:sp>
      <p:sp>
        <p:nvSpPr>
          <p:cNvPr id="16" name="TextBox 15"/>
          <p:cNvSpPr txBox="1"/>
          <p:nvPr/>
        </p:nvSpPr>
        <p:spPr>
          <a:xfrm>
            <a:off x="1625600" y="2857500"/>
            <a:ext cx="6680200" cy="269875"/>
          </a:xfrm>
          <a:prstGeom prst="rect">
            <a:avLst/>
          </a:prstGeom>
          <a:noFill/>
        </p:spPr>
        <p:txBody>
          <a:bodyPr wrap="none" lIns="0" tIns="0" rIns="0" bIns="0" anchor="t">
            <a:noAutofit/>
          </a:bodyPr>
          <a:lstStyle/>
          <a:p>
            <a:pPr algn="l">
              <a:lnSpc>
                <a:spcPts val="2125"/>
              </a:lnSpc>
            </a:pPr>
            <a:r>
              <a:rPr sz="1700" b="0" i="0">
                <a:solidFill>
                  <a:srgbClr val="0A2540"/>
                </a:solidFill>
                <a:latin typeface="DM Sans"/>
              </a:rPr>
              <a:t>Aparte toestemming voor opnames (eCRF 02)</a:t>
            </a:r>
          </a:p>
        </p:txBody>
      </p:sp>
      <p:sp>
        <p:nvSpPr>
          <p:cNvPr id="17" name="TextBox 16"/>
          <p:cNvSpPr txBox="1"/>
          <p:nvPr/>
        </p:nvSpPr>
        <p:spPr>
          <a:xfrm>
            <a:off x="8407400" y="2895600"/>
            <a:ext cx="2971800" cy="215900"/>
          </a:xfrm>
          <a:prstGeom prst="rect">
            <a:avLst/>
          </a:prstGeom>
          <a:noFill/>
        </p:spPr>
        <p:txBody>
          <a:bodyPr wrap="none" lIns="0" tIns="0" rIns="0" bIns="0" anchor="t">
            <a:noAutofit/>
          </a:bodyPr>
          <a:lstStyle/>
          <a:p>
            <a:pPr algn="r"/>
            <a:r>
              <a:rPr sz="1300" b="0" i="0">
                <a:solidFill>
                  <a:srgbClr val="A34A00"/>
                </a:solidFill>
                <a:latin typeface="DM Sans"/>
              </a:rPr>
              <a:t>vóór de EC-indiening</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4e287ae005ab9f8997461f000820af22.png"/>
          <p:cNvPicPr>
            <a:picLocks noChangeAspect="1"/>
          </p:cNvPicPr>
          <p:nvPr/>
        </p:nvPicPr>
        <p:blipFill>
          <a:blip r:embed="rId3"/>
          <a:stretch>
            <a:fillRect/>
          </a:stretch>
        </p:blipFill>
        <p:spPr>
          <a:xfrm>
            <a:off x="7874000" y="0"/>
            <a:ext cx="6388100" cy="7302500"/>
          </a:xfrm>
          <a:prstGeom prst="rect">
            <a:avLst/>
          </a:prstGeom>
        </p:spPr>
      </p:pic>
      <p:sp>
        <p:nvSpPr>
          <p:cNvPr id="3" name="Rounded Rectangle 2"/>
          <p:cNvSpPr/>
          <p:nvPr/>
        </p:nvSpPr>
        <p:spPr>
          <a:xfrm>
            <a:off x="8128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4fe31fe826e2a686c44b2a9df6f4ec34.png"/>
          <p:cNvPicPr>
            <a:picLocks noChangeAspect="1"/>
          </p:cNvPicPr>
          <p:nvPr/>
        </p:nvPicPr>
        <p:blipFill>
          <a:blip r:embed="rId4"/>
          <a:stretch>
            <a:fillRect/>
          </a:stretch>
        </p:blipFill>
        <p:spPr>
          <a:xfrm>
            <a:off x="819150" y="1847850"/>
            <a:ext cx="2476500" cy="1393031"/>
          </a:xfrm>
          <a:prstGeom prst="rect">
            <a:avLst/>
          </a:prstGeom>
        </p:spPr>
      </p:pic>
      <p:sp>
        <p:nvSpPr>
          <p:cNvPr id="5" name="Rounded Rectangle 4"/>
          <p:cNvSpPr/>
          <p:nvPr/>
        </p:nvSpPr>
        <p:spPr>
          <a:xfrm>
            <a:off x="8128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128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1 Stand van zaken</a:t>
            </a:r>
          </a:p>
        </p:txBody>
      </p:sp>
      <p:sp>
        <p:nvSpPr>
          <p:cNvPr id="7" name="Rounded Rectangle 6"/>
          <p:cNvSpPr/>
          <p:nvPr/>
        </p:nvSpPr>
        <p:spPr>
          <a:xfrm>
            <a:off x="35052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af6c315e3b6c8da4983f797f076543ae.png"/>
          <p:cNvPicPr>
            <a:picLocks noChangeAspect="1"/>
          </p:cNvPicPr>
          <p:nvPr/>
        </p:nvPicPr>
        <p:blipFill>
          <a:blip r:embed="rId5"/>
          <a:stretch>
            <a:fillRect/>
          </a:stretch>
        </p:blipFill>
        <p:spPr>
          <a:xfrm>
            <a:off x="3511550" y="1847850"/>
            <a:ext cx="2476500" cy="1393031"/>
          </a:xfrm>
          <a:prstGeom prst="rect">
            <a:avLst/>
          </a:prstGeom>
        </p:spPr>
      </p:pic>
      <p:sp>
        <p:nvSpPr>
          <p:cNvPr id="9" name="Rounded Rectangle 8"/>
          <p:cNvSpPr/>
          <p:nvPr/>
        </p:nvSpPr>
        <p:spPr>
          <a:xfrm>
            <a:off x="35052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5052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2 Ontwikkelingen sinds 1 april</a:t>
            </a:r>
          </a:p>
        </p:txBody>
      </p:sp>
      <p:sp>
        <p:nvSpPr>
          <p:cNvPr id="11" name="Rounded Rectangle 10"/>
          <p:cNvSpPr/>
          <p:nvPr/>
        </p:nvSpPr>
        <p:spPr>
          <a:xfrm>
            <a:off x="61976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b3575449de919ba8ba77497cf770d56b.png"/>
          <p:cNvPicPr>
            <a:picLocks noChangeAspect="1"/>
          </p:cNvPicPr>
          <p:nvPr/>
        </p:nvPicPr>
        <p:blipFill>
          <a:blip r:embed="rId6"/>
          <a:stretch>
            <a:fillRect/>
          </a:stretch>
        </p:blipFill>
        <p:spPr>
          <a:xfrm>
            <a:off x="6203950" y="1847850"/>
            <a:ext cx="2476500" cy="1393031"/>
          </a:xfrm>
          <a:prstGeom prst="rect">
            <a:avLst/>
          </a:prstGeom>
        </p:spPr>
      </p:pic>
      <p:sp>
        <p:nvSpPr>
          <p:cNvPr id="13" name="Rounded Rectangle 12"/>
          <p:cNvSpPr/>
          <p:nvPr/>
        </p:nvSpPr>
        <p:spPr>
          <a:xfrm>
            <a:off x="61976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1976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3 Werkpakketten</a:t>
            </a:r>
          </a:p>
        </p:txBody>
      </p:sp>
      <p:sp>
        <p:nvSpPr>
          <p:cNvPr id="15" name="Rounded Rectangle 14"/>
          <p:cNvSpPr/>
          <p:nvPr/>
        </p:nvSpPr>
        <p:spPr>
          <a:xfrm>
            <a:off x="88900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76718c0faffa53b3e96d91bd5d17d843.png"/>
          <p:cNvPicPr>
            <a:picLocks noChangeAspect="1"/>
          </p:cNvPicPr>
          <p:nvPr/>
        </p:nvPicPr>
        <p:blipFill>
          <a:blip r:embed="rId7"/>
          <a:stretch>
            <a:fillRect/>
          </a:stretch>
        </p:blipFill>
        <p:spPr>
          <a:xfrm>
            <a:off x="8896350" y="1847850"/>
            <a:ext cx="2476500" cy="1393031"/>
          </a:xfrm>
          <a:prstGeom prst="rect">
            <a:avLst/>
          </a:prstGeom>
        </p:spPr>
      </p:pic>
      <p:sp>
        <p:nvSpPr>
          <p:cNvPr id="17" name="Rounded Rectangle 16"/>
          <p:cNvSpPr/>
          <p:nvPr/>
        </p:nvSpPr>
        <p:spPr>
          <a:xfrm>
            <a:off x="88900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8900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4 Aandachtspunten</a:t>
            </a:r>
          </a:p>
        </p:txBody>
      </p:sp>
      <p:pic>
        <p:nvPicPr>
          <p:cNvPr id="19" name="Picture 18" descr="0a62dff855207c43a1c6690d0e4c697a.png"/>
          <p:cNvPicPr>
            <a:picLocks noChangeAspect="1"/>
          </p:cNvPicPr>
          <p:nvPr/>
        </p:nvPicPr>
        <p:blipFill>
          <a:blip r:embed="rId8"/>
          <a:stretch>
            <a:fillRect/>
          </a:stretch>
        </p:blipFill>
        <p:spPr>
          <a:xfrm>
            <a:off x="2336800" y="3937000"/>
            <a:ext cx="2133600" cy="1200150"/>
          </a:xfrm>
          <a:prstGeom prst="rect">
            <a:avLst/>
          </a:prstGeom>
        </p:spPr>
      </p:pic>
      <p:pic>
        <p:nvPicPr>
          <p:cNvPr id="20" name="Picture 19" descr="993f9ef2261edfc6639be1e2fe47b272.png"/>
          <p:cNvPicPr>
            <a:picLocks noChangeAspect="1"/>
          </p:cNvPicPr>
          <p:nvPr/>
        </p:nvPicPr>
        <p:blipFill>
          <a:blip r:embed="rId9"/>
          <a:stretch>
            <a:fillRect/>
          </a:stretch>
        </p:blipFill>
        <p:spPr>
          <a:xfrm>
            <a:off x="2247900" y="4025900"/>
            <a:ext cx="2311400" cy="1301750"/>
          </a:xfrm>
          <a:prstGeom prst="rect">
            <a:avLst/>
          </a:prstGeom>
        </p:spPr>
      </p:pic>
      <p:sp>
        <p:nvSpPr>
          <p:cNvPr id="21" name="Rounded Rectangle 20"/>
          <p:cNvSpPr/>
          <p:nvPr/>
        </p:nvSpPr>
        <p:spPr>
          <a:xfrm>
            <a:off x="2159000" y="4114800"/>
            <a:ext cx="2489200" cy="1397000"/>
          </a:xfrm>
          <a:prstGeom prst="roundRect">
            <a:avLst>
              <a:gd name="adj" fmla="val 1363"/>
            </a:avLst>
          </a:prstGeom>
          <a:solidFill>
            <a:srgbClr val="FFFFFF"/>
          </a:solidFill>
          <a:ln w="1905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c828e07bbef239086018a2f6a17a466c.png"/>
          <p:cNvPicPr>
            <a:picLocks noChangeAspect="1"/>
          </p:cNvPicPr>
          <p:nvPr/>
        </p:nvPicPr>
        <p:blipFill>
          <a:blip r:embed="rId10"/>
          <a:stretch>
            <a:fillRect/>
          </a:stretch>
        </p:blipFill>
        <p:spPr>
          <a:xfrm>
            <a:off x="2178050" y="4133850"/>
            <a:ext cx="2451100" cy="1378744"/>
          </a:xfrm>
          <a:prstGeom prst="rect">
            <a:avLst/>
          </a:prstGeom>
        </p:spPr>
      </p:pic>
      <p:sp>
        <p:nvSpPr>
          <p:cNvPr id="23" name="TextBox 22"/>
          <p:cNvSpPr txBox="1"/>
          <p:nvPr/>
        </p:nvSpPr>
        <p:spPr>
          <a:xfrm>
            <a:off x="2159000" y="5600700"/>
            <a:ext cx="2540000" cy="213360"/>
          </a:xfrm>
          <a:prstGeom prst="rect">
            <a:avLst/>
          </a:prstGeom>
          <a:noFill/>
        </p:spPr>
        <p:txBody>
          <a:bodyPr wrap="none" lIns="0" tIns="0" rIns="0" bIns="0" anchor="t">
            <a:noAutofit/>
          </a:bodyPr>
          <a:lstStyle/>
          <a:p>
            <a:pPr algn="l">
              <a:lnSpc>
                <a:spcPts val="1680"/>
              </a:lnSpc>
            </a:pPr>
            <a:r>
              <a:rPr sz="1400" b="0" i="0">
                <a:solidFill>
                  <a:srgbClr val="A34A00"/>
                </a:solidFill>
                <a:latin typeface="DM Sans"/>
              </a:rPr>
              <a:t>5 Mijlpalen en planning</a:t>
            </a:r>
          </a:p>
        </p:txBody>
      </p:sp>
      <p:pic>
        <p:nvPicPr>
          <p:cNvPr id="24" name="Picture 23" descr="dad1d5849a0f54ecab7e2a87be32dc30.png"/>
          <p:cNvPicPr>
            <a:picLocks noChangeAspect="1"/>
          </p:cNvPicPr>
          <p:nvPr/>
        </p:nvPicPr>
        <p:blipFill>
          <a:blip r:embed="rId11"/>
          <a:stretch>
            <a:fillRect/>
          </a:stretch>
        </p:blipFill>
        <p:spPr>
          <a:xfrm>
            <a:off x="4940300" y="4025900"/>
            <a:ext cx="2311400" cy="1301750"/>
          </a:xfrm>
          <a:prstGeom prst="rect">
            <a:avLst/>
          </a:prstGeom>
        </p:spPr>
      </p:pic>
      <p:sp>
        <p:nvSpPr>
          <p:cNvPr id="25" name="Rounded Rectangle 24"/>
          <p:cNvSpPr/>
          <p:nvPr/>
        </p:nvSpPr>
        <p:spPr>
          <a:xfrm>
            <a:off x="48514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a218f23a9d1aeae7790db2aa9d8f48a7.png"/>
          <p:cNvPicPr>
            <a:picLocks noChangeAspect="1"/>
          </p:cNvPicPr>
          <p:nvPr/>
        </p:nvPicPr>
        <p:blipFill>
          <a:blip r:embed="rId12"/>
          <a:stretch>
            <a:fillRect/>
          </a:stretch>
        </p:blipFill>
        <p:spPr>
          <a:xfrm>
            <a:off x="4857750" y="4121150"/>
            <a:ext cx="2476500" cy="1393031"/>
          </a:xfrm>
          <a:prstGeom prst="rect">
            <a:avLst/>
          </a:prstGeom>
        </p:spPr>
      </p:pic>
      <p:sp>
        <p:nvSpPr>
          <p:cNvPr id="27" name="TextBox 26"/>
          <p:cNvSpPr txBox="1"/>
          <p:nvPr/>
        </p:nvSpPr>
        <p:spPr>
          <a:xfrm>
            <a:off x="48514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6 Bespreking</a:t>
            </a:r>
          </a:p>
        </p:txBody>
      </p:sp>
      <p:pic>
        <p:nvPicPr>
          <p:cNvPr id="28" name="Picture 27" descr="e49a2c4874452277a94494e99280aaa0.png"/>
          <p:cNvPicPr>
            <a:picLocks noChangeAspect="1"/>
          </p:cNvPicPr>
          <p:nvPr/>
        </p:nvPicPr>
        <p:blipFill>
          <a:blip r:embed="rId13"/>
          <a:stretch>
            <a:fillRect/>
          </a:stretch>
        </p:blipFill>
        <p:spPr>
          <a:xfrm>
            <a:off x="7632700" y="4025900"/>
            <a:ext cx="2311400" cy="1301750"/>
          </a:xfrm>
          <a:prstGeom prst="rect">
            <a:avLst/>
          </a:prstGeom>
        </p:spPr>
      </p:pic>
      <p:sp>
        <p:nvSpPr>
          <p:cNvPr id="29" name="Rounded Rectangle 28"/>
          <p:cNvSpPr/>
          <p:nvPr/>
        </p:nvSpPr>
        <p:spPr>
          <a:xfrm>
            <a:off x="75438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Picture 29" descr="0b3315c9a761b9fd4dfcb184751fa8ea.png"/>
          <p:cNvPicPr>
            <a:picLocks noChangeAspect="1"/>
          </p:cNvPicPr>
          <p:nvPr/>
        </p:nvPicPr>
        <p:blipFill>
          <a:blip r:embed="rId14"/>
          <a:stretch>
            <a:fillRect/>
          </a:stretch>
        </p:blipFill>
        <p:spPr>
          <a:xfrm>
            <a:off x="7550150" y="4121150"/>
            <a:ext cx="2476500" cy="1393031"/>
          </a:xfrm>
          <a:prstGeom prst="rect">
            <a:avLst/>
          </a:prstGeom>
        </p:spPr>
      </p:pic>
      <p:sp>
        <p:nvSpPr>
          <p:cNvPr id="31" name="TextBox 30"/>
          <p:cNvSpPr txBox="1"/>
          <p:nvPr/>
        </p:nvSpPr>
        <p:spPr>
          <a:xfrm>
            <a:off x="75438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7 Tour de table</a:t>
            </a:r>
          </a:p>
        </p:txBody>
      </p:sp>
      <p:sp>
        <p:nvSpPr>
          <p:cNvPr id="32" name="TextBox 3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we vandaag overlopen</a:t>
            </a:r>
          </a:p>
        </p:txBody>
      </p:sp>
      <p:pic>
        <p:nvPicPr>
          <p:cNvPr id="33" name="Picture 32" descr="ec5c93e6f83f209b4e97ddfdecd480c8.png"/>
          <p:cNvPicPr>
            <a:picLocks noChangeAspect="1"/>
          </p:cNvPicPr>
          <p:nvPr/>
        </p:nvPicPr>
        <p:blipFill>
          <a:blip r:embed="rId15"/>
          <a:stretch>
            <a:fillRect/>
          </a:stretch>
        </p:blipFill>
        <p:spPr>
          <a:xfrm>
            <a:off x="812967" y="6261100"/>
            <a:ext cx="171116" cy="203200"/>
          </a:xfrm>
          <a:prstGeom prst="rect">
            <a:avLst/>
          </a:prstGeom>
        </p:spPr>
      </p:pic>
      <p:sp>
        <p:nvSpPr>
          <p:cNvPr id="34" name="TextBox 33"/>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5A6E80"/>
                </a:solidFill>
                <a:latin typeface="DM Sans"/>
              </a:rPr>
              <a:t>PARADISE · kick-off 12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955800" cy="5029200"/>
          </a:xfrm>
          <a:prstGeom prst="rect">
            <a:avLst/>
          </a:prstGeom>
          <a:noFill/>
        </p:spPr>
        <p:txBody>
          <a:bodyPr wrap="square" lIns="0" tIns="0" rIns="0" bIns="0" anchor="t">
            <a:noAutofit/>
          </a:bodyPr>
          <a:lstStyle/>
          <a:p>
            <a:pPr algn="l">
              <a:lnSpc>
                <a:spcPts val="16200"/>
              </a:lnSpc>
            </a:pPr>
            <a:r>
              <a:rPr sz="18000" b="0" i="0">
                <a:solidFill>
                  <a:srgbClr val="FF9A3D"/>
                </a:solidFill>
                <a:latin typeface="DM Serif Display"/>
              </a:rPr>
              <a:t>5</a:t>
            </a:r>
          </a:p>
        </p:txBody>
      </p:sp>
      <p:sp>
        <p:nvSpPr>
          <p:cNvPr id="4" name="TextBox 3"/>
          <p:cNvSpPr txBox="1"/>
          <p:nvPr/>
        </p:nvSpPr>
        <p:spPr>
          <a:xfrm>
            <a:off x="3327400" y="812800"/>
            <a:ext cx="8102600" cy="215900"/>
          </a:xfrm>
          <a:prstGeom prst="rect">
            <a:avLst/>
          </a:prstGeom>
          <a:noFill/>
        </p:spPr>
        <p:txBody>
          <a:bodyPr wrap="none" lIns="0" tIns="0" rIns="0" bIns="0" anchor="t">
            <a:noAutofit/>
          </a:bodyPr>
          <a:lstStyle/>
          <a:p>
            <a:pPr algn="l"/>
            <a:r>
              <a:rPr sz="1300" b="1" i="0">
                <a:solidFill>
                  <a:srgbClr val="52BDEC"/>
                </a:solidFill>
                <a:latin typeface="DM Sans"/>
              </a:rPr>
              <a:t>Deel 5 van 7</a:t>
            </a:r>
          </a:p>
        </p:txBody>
      </p:sp>
      <p:sp>
        <p:nvSpPr>
          <p:cNvPr id="5" name="TextBox 4"/>
          <p:cNvSpPr txBox="1"/>
          <p:nvPr/>
        </p:nvSpPr>
        <p:spPr>
          <a:xfrm>
            <a:off x="3327400" y="1206500"/>
            <a:ext cx="8102600" cy="586740"/>
          </a:xfrm>
          <a:prstGeom prst="rect">
            <a:avLst/>
          </a:prstGeom>
          <a:noFill/>
        </p:spPr>
        <p:txBody>
          <a:bodyPr wrap="none" lIns="0" tIns="0" rIns="0" bIns="0" anchor="t">
            <a:noAutofit/>
          </a:bodyPr>
          <a:lstStyle/>
          <a:p>
            <a:pPr algn="l">
              <a:lnSpc>
                <a:spcPts val="4620"/>
              </a:lnSpc>
            </a:pPr>
            <a:r>
              <a:rPr sz="4400" b="0" i="0" spc="-50">
                <a:solidFill>
                  <a:srgbClr val="F2F8FC"/>
                </a:solidFill>
                <a:latin typeface="DM Serif Display"/>
              </a:rPr>
              <a:t>Mijlpalen en planning</a:t>
            </a:r>
          </a:p>
        </p:txBody>
      </p:sp>
      <p:sp>
        <p:nvSpPr>
          <p:cNvPr id="6" name="TextBox 5"/>
          <p:cNvSpPr txBox="1"/>
          <p:nvPr/>
        </p:nvSpPr>
        <p:spPr>
          <a:xfrm>
            <a:off x="3327400" y="1970980"/>
            <a:ext cx="8102600" cy="335280"/>
          </a:xfrm>
          <a:prstGeom prst="rect">
            <a:avLst/>
          </a:prstGeom>
          <a:noFill/>
        </p:spPr>
        <p:txBody>
          <a:bodyPr wrap="none" lIns="0" tIns="0" rIns="0" bIns="0" anchor="t">
            <a:noAutofit/>
          </a:bodyPr>
          <a:lstStyle/>
          <a:p>
            <a:pPr algn="l">
              <a:lnSpc>
                <a:spcPts val="2640"/>
              </a:lnSpc>
            </a:pPr>
            <a:r>
              <a:rPr sz="2200" b="0" i="1">
                <a:solidFill>
                  <a:srgbClr val="52BDEC"/>
                </a:solidFill>
                <a:latin typeface="DM Serif Display"/>
              </a:rPr>
              <a:t>Hoe geraken we tot de eerste patiënt?</a:t>
            </a:r>
          </a:p>
        </p:txBody>
      </p:sp>
      <p:sp>
        <p:nvSpPr>
          <p:cNvPr id="7" name="Rectangle 6"/>
          <p:cNvSpPr/>
          <p:nvPr/>
        </p:nvSpPr>
        <p:spPr>
          <a:xfrm>
            <a:off x="3327400" y="404891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27400" y="414416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van opleiding tot de laatste visite</a:t>
            </a:r>
          </a:p>
        </p:txBody>
      </p:sp>
      <p:sp>
        <p:nvSpPr>
          <p:cNvPr id="9" name="Rectangle 8"/>
          <p:cNvSpPr/>
          <p:nvPr/>
        </p:nvSpPr>
        <p:spPr>
          <a:xfrm>
            <a:off x="3327400" y="449718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27400" y="459243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de opleiding, van november tot april</a:t>
            </a:r>
          </a:p>
        </p:txBody>
      </p:sp>
      <p:sp>
        <p:nvSpPr>
          <p:cNvPr id="11" name="Rectangle 10"/>
          <p:cNvSpPr/>
          <p:nvPr/>
        </p:nvSpPr>
        <p:spPr>
          <a:xfrm>
            <a:off x="3327400" y="494545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27400" y="504070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uw data</a:t>
            </a:r>
          </a:p>
        </p:txBody>
      </p:sp>
      <p:sp>
        <p:nvSpPr>
          <p:cNvPr id="13" name="Rectangle 12"/>
          <p:cNvSpPr/>
          <p:nvPr/>
        </p:nvSpPr>
        <p:spPr>
          <a:xfrm>
            <a:off x="3327400" y="5393730"/>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27400" y="5488980"/>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het tempo van de inclusie</a:t>
            </a:r>
          </a:p>
        </p:txBody>
      </p:sp>
      <p:pic>
        <p:nvPicPr>
          <p:cNvPr id="15" name="Picture 14"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16" name="TextBox 15"/>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6F8FAA"/>
                </a:solidFill>
                <a:latin typeface="DM Sans"/>
              </a:rPr>
              <a:t>PARADISE · Mijlpalen en planning</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Van opleiding tot de laatste visite</a:t>
            </a:r>
          </a:p>
        </p:txBody>
      </p:sp>
      <p:sp>
        <p:nvSpPr>
          <p:cNvPr id="3" name="Rectangle 2"/>
          <p:cNvSpPr/>
          <p:nvPr/>
        </p:nvSpPr>
        <p:spPr>
          <a:xfrm>
            <a:off x="1676400" y="2019300"/>
            <a:ext cx="6350" cy="1663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739900" y="2019300"/>
            <a:ext cx="812800" cy="198120"/>
          </a:xfrm>
          <a:prstGeom prst="rect">
            <a:avLst/>
          </a:prstGeom>
          <a:noFill/>
        </p:spPr>
        <p:txBody>
          <a:bodyPr wrap="none" lIns="0" tIns="0" rIns="0" bIns="0" anchor="t">
            <a:noAutofit/>
          </a:bodyPr>
          <a:lstStyle/>
          <a:p>
            <a:pPr algn="l"/>
            <a:r>
              <a:rPr sz="1200" b="0" i="0">
                <a:solidFill>
                  <a:srgbClr val="5A6E80"/>
                </a:solidFill>
                <a:latin typeface="DM Sans"/>
              </a:rPr>
              <a:t>2027</a:t>
            </a:r>
          </a:p>
        </p:txBody>
      </p:sp>
      <p:sp>
        <p:nvSpPr>
          <p:cNvPr id="5" name="Rectangle 4"/>
          <p:cNvSpPr/>
          <p:nvPr/>
        </p:nvSpPr>
        <p:spPr>
          <a:xfrm>
            <a:off x="5099050" y="2019300"/>
            <a:ext cx="6350" cy="1663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162550" y="2019300"/>
            <a:ext cx="812800" cy="198120"/>
          </a:xfrm>
          <a:prstGeom prst="rect">
            <a:avLst/>
          </a:prstGeom>
          <a:noFill/>
        </p:spPr>
        <p:txBody>
          <a:bodyPr wrap="none" lIns="0" tIns="0" rIns="0" bIns="0" anchor="t">
            <a:noAutofit/>
          </a:bodyPr>
          <a:lstStyle/>
          <a:p>
            <a:pPr algn="l"/>
            <a:r>
              <a:rPr sz="1200" b="0" i="0">
                <a:solidFill>
                  <a:srgbClr val="5A6E80"/>
                </a:solidFill>
                <a:latin typeface="DM Sans"/>
              </a:rPr>
              <a:t>2028</a:t>
            </a:r>
          </a:p>
        </p:txBody>
      </p:sp>
      <p:sp>
        <p:nvSpPr>
          <p:cNvPr id="7" name="Rectangle 6"/>
          <p:cNvSpPr/>
          <p:nvPr/>
        </p:nvSpPr>
        <p:spPr>
          <a:xfrm>
            <a:off x="8528050" y="2019300"/>
            <a:ext cx="6350" cy="1663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591550" y="2019300"/>
            <a:ext cx="812800" cy="198120"/>
          </a:xfrm>
          <a:prstGeom prst="rect">
            <a:avLst/>
          </a:prstGeom>
          <a:noFill/>
        </p:spPr>
        <p:txBody>
          <a:bodyPr wrap="none" lIns="0" tIns="0" rIns="0" bIns="0" anchor="t">
            <a:noAutofit/>
          </a:bodyPr>
          <a:lstStyle/>
          <a:p>
            <a:pPr algn="l"/>
            <a:r>
              <a:rPr sz="1200" b="0" i="0">
                <a:solidFill>
                  <a:srgbClr val="5A6E80"/>
                </a:solidFill>
                <a:latin typeface="DM Sans"/>
              </a:rPr>
              <a:t>2029</a:t>
            </a:r>
          </a:p>
        </p:txBody>
      </p:sp>
      <p:sp>
        <p:nvSpPr>
          <p:cNvPr id="9" name="Rounded Rectangle 8"/>
          <p:cNvSpPr/>
          <p:nvPr/>
        </p:nvSpPr>
        <p:spPr>
          <a:xfrm>
            <a:off x="1187450" y="2349500"/>
            <a:ext cx="1631950" cy="27940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301750" y="2387600"/>
            <a:ext cx="5765800" cy="198120"/>
          </a:xfrm>
          <a:prstGeom prst="rect">
            <a:avLst/>
          </a:prstGeom>
          <a:noFill/>
        </p:spPr>
        <p:txBody>
          <a:bodyPr wrap="none" lIns="0" tIns="0" rIns="0" bIns="0" anchor="t">
            <a:noAutofit/>
          </a:bodyPr>
          <a:lstStyle/>
          <a:p>
            <a:pPr algn="l"/>
            <a:r>
              <a:rPr sz="1200" b="1" i="0">
                <a:solidFill>
                  <a:srgbClr val="F2F8FC"/>
                </a:solidFill>
                <a:latin typeface="DM Sans"/>
              </a:rPr>
              <a:t>Opleidingen</a:t>
            </a:r>
          </a:p>
        </p:txBody>
      </p:sp>
      <p:sp>
        <p:nvSpPr>
          <p:cNvPr id="11" name="Rounded Rectangle 10"/>
          <p:cNvSpPr/>
          <p:nvPr/>
        </p:nvSpPr>
        <p:spPr>
          <a:xfrm>
            <a:off x="2184400" y="2768600"/>
            <a:ext cx="3422650" cy="2794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298700" y="2806700"/>
            <a:ext cx="5765800" cy="198120"/>
          </a:xfrm>
          <a:prstGeom prst="rect">
            <a:avLst/>
          </a:prstGeom>
          <a:noFill/>
        </p:spPr>
        <p:txBody>
          <a:bodyPr wrap="none" lIns="0" tIns="0" rIns="0" bIns="0" anchor="t">
            <a:noAutofit/>
          </a:bodyPr>
          <a:lstStyle/>
          <a:p>
            <a:pPr algn="l"/>
            <a:r>
              <a:rPr sz="1200" b="1" i="0">
                <a:solidFill>
                  <a:srgbClr val="F2F8FC"/>
                </a:solidFill>
                <a:latin typeface="DM Sans"/>
              </a:rPr>
              <a:t>Inclusie, 144 in 12 maanden</a:t>
            </a:r>
          </a:p>
        </p:txBody>
      </p:sp>
      <p:sp>
        <p:nvSpPr>
          <p:cNvPr id="13" name="Rounded Rectangle 12"/>
          <p:cNvSpPr/>
          <p:nvPr/>
        </p:nvSpPr>
        <p:spPr>
          <a:xfrm>
            <a:off x="2184400" y="3187700"/>
            <a:ext cx="8553450" cy="2794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2298700" y="3225800"/>
            <a:ext cx="5765800" cy="198120"/>
          </a:xfrm>
          <a:prstGeom prst="rect">
            <a:avLst/>
          </a:prstGeom>
          <a:noFill/>
        </p:spPr>
        <p:txBody>
          <a:bodyPr wrap="none" lIns="0" tIns="0" rIns="0" bIns="0" anchor="t">
            <a:noAutofit/>
          </a:bodyPr>
          <a:lstStyle/>
          <a:p>
            <a:pPr algn="l"/>
            <a:r>
              <a:rPr sz="1200" b="1" i="0">
                <a:solidFill>
                  <a:srgbClr val="F2F8FC"/>
                </a:solidFill>
                <a:latin typeface="DM Sans"/>
              </a:rPr>
              <a:t>Opvolging, 18 maanden per deelnemer</a:t>
            </a:r>
          </a:p>
        </p:txBody>
      </p:sp>
      <p:sp>
        <p:nvSpPr>
          <p:cNvPr id="15" name="Rectangle 14"/>
          <p:cNvSpPr/>
          <p:nvPr/>
        </p:nvSpPr>
        <p:spPr>
          <a:xfrm rot="2700000">
            <a:off x="175260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rot="2700000">
            <a:off x="21145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rot="2700000">
            <a:off x="55435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rot="2700000">
            <a:off x="58864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rot="2700000">
            <a:off x="106743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12800" y="3689350"/>
            <a:ext cx="1056640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12800" y="4083050"/>
            <a:ext cx="1447800" cy="198120"/>
          </a:xfrm>
          <a:prstGeom prst="rect">
            <a:avLst/>
          </a:prstGeom>
          <a:noFill/>
        </p:spPr>
        <p:txBody>
          <a:bodyPr wrap="none" lIns="0" tIns="0" rIns="0" bIns="0" anchor="t">
            <a:noAutofit/>
          </a:bodyPr>
          <a:lstStyle/>
          <a:p>
            <a:pPr algn="l"/>
            <a:r>
              <a:rPr sz="1200" b="0" i="0">
                <a:solidFill>
                  <a:srgbClr val="A34A00"/>
                </a:solidFill>
                <a:latin typeface="DM Sans"/>
              </a:rPr>
              <a:t>januari 2027</a:t>
            </a:r>
          </a:p>
        </p:txBody>
      </p:sp>
      <p:sp>
        <p:nvSpPr>
          <p:cNvPr id="22" name="TextBox 21"/>
          <p:cNvSpPr txBox="1"/>
          <p:nvPr/>
        </p:nvSpPr>
        <p:spPr>
          <a:xfrm>
            <a:off x="2362200" y="4064000"/>
            <a:ext cx="35814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Lokale ethische goedkeuringen</a:t>
            </a:r>
          </a:p>
        </p:txBody>
      </p:sp>
      <p:sp>
        <p:nvSpPr>
          <p:cNvPr id="23" name="Rectangle 22"/>
          <p:cNvSpPr/>
          <p:nvPr/>
        </p:nvSpPr>
        <p:spPr>
          <a:xfrm>
            <a:off x="812800" y="4358580"/>
            <a:ext cx="5080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2800" y="4447480"/>
            <a:ext cx="1447800" cy="198120"/>
          </a:xfrm>
          <a:prstGeom prst="rect">
            <a:avLst/>
          </a:prstGeom>
          <a:noFill/>
        </p:spPr>
        <p:txBody>
          <a:bodyPr wrap="none" lIns="0" tIns="0" rIns="0" bIns="0" anchor="t">
            <a:noAutofit/>
          </a:bodyPr>
          <a:lstStyle/>
          <a:p>
            <a:pPr algn="l"/>
            <a:r>
              <a:rPr sz="1200" b="0" i="0">
                <a:solidFill>
                  <a:srgbClr val="A34A00"/>
                </a:solidFill>
                <a:latin typeface="DM Sans"/>
              </a:rPr>
              <a:t>23 feb 2027</a:t>
            </a:r>
          </a:p>
        </p:txBody>
      </p:sp>
      <p:sp>
        <p:nvSpPr>
          <p:cNvPr id="25" name="TextBox 24"/>
          <p:cNvSpPr txBox="1"/>
          <p:nvPr/>
        </p:nvSpPr>
        <p:spPr>
          <a:xfrm>
            <a:off x="2362200" y="4428430"/>
            <a:ext cx="35814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Go/No-Go; start inclusie</a:t>
            </a:r>
          </a:p>
        </p:txBody>
      </p:sp>
      <p:sp>
        <p:nvSpPr>
          <p:cNvPr id="26" name="Rectangle 25"/>
          <p:cNvSpPr/>
          <p:nvPr/>
        </p:nvSpPr>
        <p:spPr>
          <a:xfrm>
            <a:off x="812800" y="4723011"/>
            <a:ext cx="5080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12800" y="4811911"/>
            <a:ext cx="1447800" cy="198120"/>
          </a:xfrm>
          <a:prstGeom prst="rect">
            <a:avLst/>
          </a:prstGeom>
          <a:noFill/>
        </p:spPr>
        <p:txBody>
          <a:bodyPr wrap="none" lIns="0" tIns="0" rIns="0" bIns="0" anchor="t">
            <a:noAutofit/>
          </a:bodyPr>
          <a:lstStyle/>
          <a:p>
            <a:pPr algn="l"/>
            <a:r>
              <a:rPr sz="1200" b="0" i="0">
                <a:solidFill>
                  <a:srgbClr val="A34A00"/>
                </a:solidFill>
                <a:latin typeface="DM Sans"/>
              </a:rPr>
              <a:t>eind feb 2028</a:t>
            </a:r>
          </a:p>
        </p:txBody>
      </p:sp>
      <p:sp>
        <p:nvSpPr>
          <p:cNvPr id="28" name="TextBox 27"/>
          <p:cNvSpPr txBox="1"/>
          <p:nvPr/>
        </p:nvSpPr>
        <p:spPr>
          <a:xfrm>
            <a:off x="2362200" y="4792861"/>
            <a:ext cx="35814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144 gerandomiseerd</a:t>
            </a:r>
          </a:p>
        </p:txBody>
      </p:sp>
      <p:sp>
        <p:nvSpPr>
          <p:cNvPr id="29" name="TextBox 28"/>
          <p:cNvSpPr txBox="1"/>
          <p:nvPr/>
        </p:nvSpPr>
        <p:spPr>
          <a:xfrm>
            <a:off x="6299200" y="4083050"/>
            <a:ext cx="1447800" cy="198120"/>
          </a:xfrm>
          <a:prstGeom prst="rect">
            <a:avLst/>
          </a:prstGeom>
          <a:noFill/>
        </p:spPr>
        <p:txBody>
          <a:bodyPr wrap="none" lIns="0" tIns="0" rIns="0" bIns="0" anchor="t">
            <a:noAutofit/>
          </a:bodyPr>
          <a:lstStyle/>
          <a:p>
            <a:pPr algn="l"/>
            <a:r>
              <a:rPr sz="1200" b="0" i="0">
                <a:solidFill>
                  <a:srgbClr val="A34A00"/>
                </a:solidFill>
                <a:latin typeface="DM Sans"/>
              </a:rPr>
              <a:t>eind mrt 2028</a:t>
            </a:r>
          </a:p>
        </p:txBody>
      </p:sp>
      <p:sp>
        <p:nvSpPr>
          <p:cNvPr id="30" name="TextBox 29"/>
          <p:cNvSpPr txBox="1"/>
          <p:nvPr/>
        </p:nvSpPr>
        <p:spPr>
          <a:xfrm>
            <a:off x="7848600" y="4064000"/>
            <a:ext cx="35814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Uiterste laatste inclusie</a:t>
            </a:r>
          </a:p>
        </p:txBody>
      </p:sp>
      <p:sp>
        <p:nvSpPr>
          <p:cNvPr id="31" name="Rectangle 30"/>
          <p:cNvSpPr/>
          <p:nvPr/>
        </p:nvSpPr>
        <p:spPr>
          <a:xfrm>
            <a:off x="6299200" y="4358580"/>
            <a:ext cx="5080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99200" y="4447480"/>
            <a:ext cx="1447800" cy="198120"/>
          </a:xfrm>
          <a:prstGeom prst="rect">
            <a:avLst/>
          </a:prstGeom>
          <a:noFill/>
        </p:spPr>
        <p:txBody>
          <a:bodyPr wrap="none" lIns="0" tIns="0" rIns="0" bIns="0" anchor="t">
            <a:noAutofit/>
          </a:bodyPr>
          <a:lstStyle/>
          <a:p>
            <a:pPr algn="l"/>
            <a:r>
              <a:rPr sz="1200" b="0" i="0">
                <a:solidFill>
                  <a:srgbClr val="A34A00"/>
                </a:solidFill>
                <a:latin typeface="DM Sans"/>
              </a:rPr>
              <a:t>eind aug 2029</a:t>
            </a:r>
          </a:p>
        </p:txBody>
      </p:sp>
      <p:sp>
        <p:nvSpPr>
          <p:cNvPr id="33" name="TextBox 32"/>
          <p:cNvSpPr txBox="1"/>
          <p:nvPr/>
        </p:nvSpPr>
        <p:spPr>
          <a:xfrm>
            <a:off x="7848600" y="4428430"/>
            <a:ext cx="35814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Laatste visite</a:t>
            </a:r>
          </a:p>
        </p:txBody>
      </p:sp>
      <p:pic>
        <p:nvPicPr>
          <p:cNvPr id="34" name="Picture 33"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5" name="TextBox 34"/>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Mijlpalen en planning</a:t>
            </a:r>
          </a:p>
        </p:txBody>
      </p:sp>
      <p:sp>
        <p:nvSpPr>
          <p:cNvPr id="36" name="TextBox 35"/>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protocol · opleidingsplanning, 8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812800" y="4686300"/>
            <a:ext cx="10566400" cy="65405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Van november tot april</a:t>
            </a:r>
          </a:p>
        </p:txBody>
      </p:sp>
      <p:sp>
        <p:nvSpPr>
          <p:cNvPr id="5" name="Rounded Rectangle 4"/>
          <p:cNvSpPr/>
          <p:nvPr/>
        </p:nvSpPr>
        <p:spPr>
          <a:xfrm>
            <a:off x="6704012" y="1533525"/>
            <a:ext cx="127000" cy="1270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894512" y="1498600"/>
            <a:ext cx="1380430" cy="198120"/>
          </a:xfrm>
          <a:prstGeom prst="rect">
            <a:avLst/>
          </a:prstGeom>
          <a:noFill/>
        </p:spPr>
        <p:txBody>
          <a:bodyPr wrap="none" lIns="0" tIns="0" rIns="0" bIns="0" anchor="t">
            <a:noAutofit/>
          </a:bodyPr>
          <a:lstStyle/>
          <a:p>
            <a:pPr algn="l"/>
            <a:r>
              <a:rPr sz="1200" b="0" i="0">
                <a:solidFill>
                  <a:srgbClr val="3A4F63"/>
                </a:solidFill>
                <a:latin typeface="DM Sans"/>
              </a:rPr>
              <a:t>online, opgenomen</a:t>
            </a:r>
          </a:p>
        </p:txBody>
      </p:sp>
      <p:sp>
        <p:nvSpPr>
          <p:cNvPr id="7" name="Rounded Rectangle 6"/>
          <p:cNvSpPr/>
          <p:nvPr/>
        </p:nvSpPr>
        <p:spPr>
          <a:xfrm>
            <a:off x="8427343" y="1533525"/>
            <a:ext cx="127000" cy="12700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617843" y="1498600"/>
            <a:ext cx="807839" cy="198120"/>
          </a:xfrm>
          <a:prstGeom prst="rect">
            <a:avLst/>
          </a:prstGeom>
          <a:noFill/>
        </p:spPr>
        <p:txBody>
          <a:bodyPr wrap="none" lIns="0" tIns="0" rIns="0" bIns="0" anchor="t">
            <a:noAutofit/>
          </a:bodyPr>
          <a:lstStyle/>
          <a:p>
            <a:pPr algn="l"/>
            <a:r>
              <a:rPr sz="1200" b="0" i="0">
                <a:solidFill>
                  <a:srgbClr val="3A4F63"/>
                </a:solidFill>
                <a:latin typeface="DM Sans"/>
              </a:rPr>
              <a:t>ter plaatse</a:t>
            </a:r>
          </a:p>
        </p:txBody>
      </p:sp>
      <p:sp>
        <p:nvSpPr>
          <p:cNvPr id="9" name="Rounded Rectangle 8"/>
          <p:cNvSpPr/>
          <p:nvPr/>
        </p:nvSpPr>
        <p:spPr>
          <a:xfrm>
            <a:off x="9578082" y="1533525"/>
            <a:ext cx="127000" cy="127000"/>
          </a:xfrm>
          <a:prstGeom prst="roundRect">
            <a:avLst>
              <a:gd name="adj" fmla="val 50000"/>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768582" y="1498600"/>
            <a:ext cx="627955" cy="198120"/>
          </a:xfrm>
          <a:prstGeom prst="rect">
            <a:avLst/>
          </a:prstGeom>
          <a:noFill/>
        </p:spPr>
        <p:txBody>
          <a:bodyPr wrap="none" lIns="0" tIns="0" rIns="0" bIns="0" anchor="t">
            <a:noAutofit/>
          </a:bodyPr>
          <a:lstStyle/>
          <a:p>
            <a:pPr algn="l"/>
            <a:r>
              <a:rPr sz="1200" b="0" i="0">
                <a:solidFill>
                  <a:srgbClr val="3A4F63"/>
                </a:solidFill>
                <a:latin typeface="DM Sans"/>
              </a:rPr>
              <a:t>centraal</a:t>
            </a:r>
          </a:p>
        </p:txBody>
      </p:sp>
      <p:sp>
        <p:nvSpPr>
          <p:cNvPr id="11" name="Rectangle 10"/>
          <p:cNvSpPr/>
          <p:nvPr/>
        </p:nvSpPr>
        <p:spPr>
          <a:xfrm>
            <a:off x="10548938" y="1508125"/>
            <a:ext cx="177800" cy="177800"/>
          </a:xfrm>
          <a:prstGeom prst="rect">
            <a:avLst/>
          </a:prstGeom>
          <a:solidFill>
            <a:srgbClr val="E2EBF2"/>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790238" y="1498600"/>
            <a:ext cx="639762" cy="198120"/>
          </a:xfrm>
          <a:prstGeom prst="rect">
            <a:avLst/>
          </a:prstGeom>
          <a:noFill/>
        </p:spPr>
        <p:txBody>
          <a:bodyPr wrap="none" lIns="0" tIns="0" rIns="0" bIns="0" anchor="t">
            <a:noAutofit/>
          </a:bodyPr>
          <a:lstStyle/>
          <a:p>
            <a:pPr algn="l"/>
            <a:r>
              <a:rPr sz="1200" b="0" i="0">
                <a:solidFill>
                  <a:srgbClr val="3A4F63"/>
                </a:solidFill>
                <a:latin typeface="DM Sans"/>
              </a:rPr>
              <a:t>vakantie</a:t>
            </a:r>
          </a:p>
        </p:txBody>
      </p:sp>
      <p:sp>
        <p:nvSpPr>
          <p:cNvPr id="13" name="Rectangle 12"/>
          <p:cNvSpPr/>
          <p:nvPr/>
        </p:nvSpPr>
        <p:spPr>
          <a:xfrm>
            <a:off x="4279900" y="2374900"/>
            <a:ext cx="273050" cy="297180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6210300" y="2374900"/>
            <a:ext cx="552450" cy="297180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8147050" y="2374900"/>
            <a:ext cx="273050" cy="297180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10077450" y="2374900"/>
            <a:ext cx="552450" cy="297180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4241800" y="2095500"/>
            <a:ext cx="6350" cy="32512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305300" y="2120900"/>
            <a:ext cx="1193800" cy="198120"/>
          </a:xfrm>
          <a:prstGeom prst="rect">
            <a:avLst/>
          </a:prstGeom>
          <a:noFill/>
        </p:spPr>
        <p:txBody>
          <a:bodyPr wrap="none" lIns="0" tIns="0" rIns="0" bIns="0" anchor="t">
            <a:noAutofit/>
          </a:bodyPr>
          <a:lstStyle/>
          <a:p>
            <a:pPr algn="l"/>
            <a:r>
              <a:rPr sz="1200" b="0" i="0">
                <a:solidFill>
                  <a:srgbClr val="5A6E80"/>
                </a:solidFill>
                <a:latin typeface="DM Sans"/>
              </a:rPr>
              <a:t>november</a:t>
            </a:r>
          </a:p>
        </p:txBody>
      </p:sp>
      <p:sp>
        <p:nvSpPr>
          <p:cNvPr id="19" name="Rectangle 18"/>
          <p:cNvSpPr/>
          <p:nvPr/>
        </p:nvSpPr>
        <p:spPr>
          <a:xfrm>
            <a:off x="5422900" y="2095500"/>
            <a:ext cx="6350" cy="32512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86400" y="2120900"/>
            <a:ext cx="1193800" cy="198120"/>
          </a:xfrm>
          <a:prstGeom prst="rect">
            <a:avLst/>
          </a:prstGeom>
          <a:noFill/>
        </p:spPr>
        <p:txBody>
          <a:bodyPr wrap="none" lIns="0" tIns="0" rIns="0" bIns="0" anchor="t">
            <a:noAutofit/>
          </a:bodyPr>
          <a:lstStyle/>
          <a:p>
            <a:pPr algn="l"/>
            <a:r>
              <a:rPr sz="1200" b="0" i="0">
                <a:solidFill>
                  <a:srgbClr val="5A6E80"/>
                </a:solidFill>
                <a:latin typeface="DM Sans"/>
              </a:rPr>
              <a:t>december</a:t>
            </a:r>
          </a:p>
        </p:txBody>
      </p:sp>
      <p:sp>
        <p:nvSpPr>
          <p:cNvPr id="21" name="Rectangle 20"/>
          <p:cNvSpPr/>
          <p:nvPr/>
        </p:nvSpPr>
        <p:spPr>
          <a:xfrm>
            <a:off x="6648450" y="2095500"/>
            <a:ext cx="6350" cy="32512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11950" y="2120900"/>
            <a:ext cx="1193800" cy="198120"/>
          </a:xfrm>
          <a:prstGeom prst="rect">
            <a:avLst/>
          </a:prstGeom>
          <a:noFill/>
        </p:spPr>
        <p:txBody>
          <a:bodyPr wrap="none" lIns="0" tIns="0" rIns="0" bIns="0" anchor="t">
            <a:noAutofit/>
          </a:bodyPr>
          <a:lstStyle/>
          <a:p>
            <a:pPr algn="l"/>
            <a:r>
              <a:rPr sz="1200" b="0" i="0">
                <a:solidFill>
                  <a:srgbClr val="5A6E80"/>
                </a:solidFill>
                <a:latin typeface="DM Sans"/>
              </a:rPr>
              <a:t>januari</a:t>
            </a:r>
          </a:p>
        </p:txBody>
      </p:sp>
      <p:sp>
        <p:nvSpPr>
          <p:cNvPr id="23" name="Rectangle 22"/>
          <p:cNvSpPr/>
          <p:nvPr/>
        </p:nvSpPr>
        <p:spPr>
          <a:xfrm>
            <a:off x="7867650" y="2095500"/>
            <a:ext cx="6350" cy="32512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931150" y="2120900"/>
            <a:ext cx="1193800" cy="198120"/>
          </a:xfrm>
          <a:prstGeom prst="rect">
            <a:avLst/>
          </a:prstGeom>
          <a:noFill/>
        </p:spPr>
        <p:txBody>
          <a:bodyPr wrap="none" lIns="0" tIns="0" rIns="0" bIns="0" anchor="t">
            <a:noAutofit/>
          </a:bodyPr>
          <a:lstStyle/>
          <a:p>
            <a:pPr algn="l"/>
            <a:r>
              <a:rPr sz="1200" b="0" i="0">
                <a:solidFill>
                  <a:srgbClr val="5A6E80"/>
                </a:solidFill>
                <a:latin typeface="DM Sans"/>
              </a:rPr>
              <a:t>februari</a:t>
            </a:r>
          </a:p>
        </p:txBody>
      </p:sp>
      <p:sp>
        <p:nvSpPr>
          <p:cNvPr id="25" name="Rectangle 24"/>
          <p:cNvSpPr/>
          <p:nvPr/>
        </p:nvSpPr>
        <p:spPr>
          <a:xfrm>
            <a:off x="8972550" y="2095500"/>
            <a:ext cx="6350" cy="32512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9036050" y="2120900"/>
            <a:ext cx="1193800" cy="198120"/>
          </a:xfrm>
          <a:prstGeom prst="rect">
            <a:avLst/>
          </a:prstGeom>
          <a:noFill/>
        </p:spPr>
        <p:txBody>
          <a:bodyPr wrap="none" lIns="0" tIns="0" rIns="0" bIns="0" anchor="t">
            <a:noAutofit/>
          </a:bodyPr>
          <a:lstStyle/>
          <a:p>
            <a:pPr algn="l"/>
            <a:r>
              <a:rPr sz="1200" b="0" i="0">
                <a:solidFill>
                  <a:srgbClr val="5A6E80"/>
                </a:solidFill>
                <a:latin typeface="DM Sans"/>
              </a:rPr>
              <a:t>maart</a:t>
            </a:r>
          </a:p>
        </p:txBody>
      </p:sp>
      <p:sp>
        <p:nvSpPr>
          <p:cNvPr id="27" name="Rectangle 26"/>
          <p:cNvSpPr/>
          <p:nvPr/>
        </p:nvSpPr>
        <p:spPr>
          <a:xfrm>
            <a:off x="10198100" y="2095500"/>
            <a:ext cx="6350" cy="32512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0261600" y="2120900"/>
            <a:ext cx="1193800" cy="198120"/>
          </a:xfrm>
          <a:prstGeom prst="rect">
            <a:avLst/>
          </a:prstGeom>
          <a:noFill/>
        </p:spPr>
        <p:txBody>
          <a:bodyPr wrap="none" lIns="0" tIns="0" rIns="0" bIns="0" anchor="t">
            <a:noAutofit/>
          </a:bodyPr>
          <a:lstStyle/>
          <a:p>
            <a:pPr algn="l"/>
            <a:r>
              <a:rPr sz="1200" b="0" i="0">
                <a:solidFill>
                  <a:srgbClr val="5A6E80"/>
                </a:solidFill>
                <a:latin typeface="DM Sans"/>
              </a:rPr>
              <a:t>april</a:t>
            </a:r>
          </a:p>
        </p:txBody>
      </p:sp>
      <p:sp>
        <p:nvSpPr>
          <p:cNvPr id="29" name="Rectangle 28"/>
          <p:cNvSpPr/>
          <p:nvPr/>
        </p:nvSpPr>
        <p:spPr>
          <a:xfrm>
            <a:off x="812800" y="236855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812800" y="2425700"/>
            <a:ext cx="33401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Info draaiboek</a:t>
            </a:r>
          </a:p>
        </p:txBody>
      </p:sp>
      <p:sp>
        <p:nvSpPr>
          <p:cNvPr id="31" name="Rounded Rectangle 30"/>
          <p:cNvSpPr/>
          <p:nvPr/>
        </p:nvSpPr>
        <p:spPr>
          <a:xfrm>
            <a:off x="4552950" y="2476500"/>
            <a:ext cx="127000" cy="1270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ounded Rectangle 31"/>
          <p:cNvSpPr/>
          <p:nvPr/>
        </p:nvSpPr>
        <p:spPr>
          <a:xfrm>
            <a:off x="5105400" y="2476500"/>
            <a:ext cx="127000" cy="1270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5359400" y="2432050"/>
            <a:ext cx="2336800" cy="198120"/>
          </a:xfrm>
          <a:prstGeom prst="rect">
            <a:avLst/>
          </a:prstGeom>
          <a:noFill/>
        </p:spPr>
        <p:txBody>
          <a:bodyPr wrap="none" lIns="0" tIns="0" rIns="0" bIns="0" anchor="t">
            <a:noAutofit/>
          </a:bodyPr>
          <a:lstStyle/>
          <a:p>
            <a:pPr algn="l"/>
            <a:r>
              <a:rPr sz="1200" b="0" i="0">
                <a:solidFill>
                  <a:srgbClr val="3A4F63"/>
                </a:solidFill>
                <a:latin typeface="DM Sans"/>
              </a:rPr>
              <a:t>10 en 24 nov · Janou</a:t>
            </a:r>
          </a:p>
        </p:txBody>
      </p:sp>
      <p:sp>
        <p:nvSpPr>
          <p:cNvPr id="34" name="Rectangle 33"/>
          <p:cNvSpPr/>
          <p:nvPr/>
        </p:nvSpPr>
        <p:spPr>
          <a:xfrm>
            <a:off x="812800" y="2705100"/>
            <a:ext cx="3302000" cy="635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12800" y="2755900"/>
            <a:ext cx="33401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Gezondheidseconomie en procesevaluatie</a:t>
            </a:r>
          </a:p>
        </p:txBody>
      </p:sp>
      <p:sp>
        <p:nvSpPr>
          <p:cNvPr id="36" name="Rounded Rectangle 35"/>
          <p:cNvSpPr/>
          <p:nvPr/>
        </p:nvSpPr>
        <p:spPr>
          <a:xfrm>
            <a:off x="5657850" y="2806700"/>
            <a:ext cx="127000" cy="1270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5911850" y="2762250"/>
            <a:ext cx="2336800" cy="198120"/>
          </a:xfrm>
          <a:prstGeom prst="rect">
            <a:avLst/>
          </a:prstGeom>
          <a:noFill/>
        </p:spPr>
        <p:txBody>
          <a:bodyPr wrap="none" lIns="0" tIns="0" rIns="0" bIns="0" anchor="t">
            <a:noAutofit/>
          </a:bodyPr>
          <a:lstStyle/>
          <a:p>
            <a:pPr algn="l"/>
            <a:r>
              <a:rPr sz="1200" b="0" i="0">
                <a:solidFill>
                  <a:srgbClr val="3A4F63"/>
                </a:solidFill>
                <a:latin typeface="DM Sans"/>
              </a:rPr>
              <a:t>8 dec · doctorandi WP2 en WP3</a:t>
            </a:r>
          </a:p>
        </p:txBody>
      </p:sp>
      <p:sp>
        <p:nvSpPr>
          <p:cNvPr id="38" name="Rectangle 37"/>
          <p:cNvSpPr/>
          <p:nvPr/>
        </p:nvSpPr>
        <p:spPr>
          <a:xfrm>
            <a:off x="812800" y="3035300"/>
            <a:ext cx="3302000" cy="635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812800" y="3086100"/>
            <a:ext cx="33401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Technologie</a:t>
            </a:r>
          </a:p>
        </p:txBody>
      </p:sp>
      <p:sp>
        <p:nvSpPr>
          <p:cNvPr id="40" name="Rounded Rectangle 39"/>
          <p:cNvSpPr/>
          <p:nvPr/>
        </p:nvSpPr>
        <p:spPr>
          <a:xfrm>
            <a:off x="5467350" y="3143250"/>
            <a:ext cx="552450" cy="11430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146800" y="3092450"/>
            <a:ext cx="2336800" cy="198120"/>
          </a:xfrm>
          <a:prstGeom prst="rect">
            <a:avLst/>
          </a:prstGeom>
          <a:noFill/>
        </p:spPr>
        <p:txBody>
          <a:bodyPr wrap="none" lIns="0" tIns="0" rIns="0" bIns="0" anchor="t">
            <a:noAutofit/>
          </a:bodyPr>
          <a:lstStyle/>
          <a:p>
            <a:pPr algn="l"/>
            <a:r>
              <a:rPr sz="1200" b="0" i="0">
                <a:solidFill>
                  <a:srgbClr val="3A4F63"/>
                </a:solidFill>
                <a:latin typeface="DM Sans"/>
              </a:rPr>
              <a:t>2 tot 15 dec · Janou</a:t>
            </a:r>
          </a:p>
        </p:txBody>
      </p:sp>
      <p:sp>
        <p:nvSpPr>
          <p:cNvPr id="42" name="Rectangle 41"/>
          <p:cNvSpPr/>
          <p:nvPr/>
        </p:nvSpPr>
        <p:spPr>
          <a:xfrm>
            <a:off x="812800" y="3365500"/>
            <a:ext cx="3302000" cy="635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812800" y="3416300"/>
            <a:ext cx="33401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Datacollectie en vragenlijsten</a:t>
            </a:r>
          </a:p>
        </p:txBody>
      </p:sp>
      <p:sp>
        <p:nvSpPr>
          <p:cNvPr id="44" name="Rounded Rectangle 43"/>
          <p:cNvSpPr/>
          <p:nvPr/>
        </p:nvSpPr>
        <p:spPr>
          <a:xfrm>
            <a:off x="7035800" y="3467100"/>
            <a:ext cx="127000" cy="1270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7289800" y="3422650"/>
            <a:ext cx="2336800" cy="198120"/>
          </a:xfrm>
          <a:prstGeom prst="rect">
            <a:avLst/>
          </a:prstGeom>
          <a:noFill/>
        </p:spPr>
        <p:txBody>
          <a:bodyPr wrap="none" lIns="0" tIns="0" rIns="0" bIns="0" anchor="t">
            <a:noAutofit/>
          </a:bodyPr>
          <a:lstStyle/>
          <a:p>
            <a:pPr algn="l"/>
            <a:r>
              <a:rPr sz="1200" b="0" i="0">
                <a:solidFill>
                  <a:srgbClr val="3A4F63"/>
                </a:solidFill>
                <a:latin typeface="DM Sans"/>
              </a:rPr>
              <a:t>12 jan · Janou</a:t>
            </a:r>
          </a:p>
        </p:txBody>
      </p:sp>
      <p:sp>
        <p:nvSpPr>
          <p:cNvPr id="46" name="Rectangle 45"/>
          <p:cNvSpPr/>
          <p:nvPr/>
        </p:nvSpPr>
        <p:spPr>
          <a:xfrm>
            <a:off x="812800" y="3695700"/>
            <a:ext cx="3302000" cy="635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12800" y="3746500"/>
            <a:ext cx="33401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SEBIA 1–2: kennis en vaardigheden</a:t>
            </a:r>
          </a:p>
        </p:txBody>
      </p:sp>
      <p:sp>
        <p:nvSpPr>
          <p:cNvPr id="48" name="Rounded Rectangle 47"/>
          <p:cNvSpPr/>
          <p:nvPr/>
        </p:nvSpPr>
        <p:spPr>
          <a:xfrm>
            <a:off x="6800850" y="3797300"/>
            <a:ext cx="127000" cy="127000"/>
          </a:xfrm>
          <a:prstGeom prst="roundRect">
            <a:avLst>
              <a:gd name="adj" fmla="val 50000"/>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Rounded Rectangle 48"/>
          <p:cNvSpPr/>
          <p:nvPr/>
        </p:nvSpPr>
        <p:spPr>
          <a:xfrm>
            <a:off x="7035800" y="3797300"/>
            <a:ext cx="127000" cy="127000"/>
          </a:xfrm>
          <a:prstGeom prst="roundRect">
            <a:avLst>
              <a:gd name="adj" fmla="val 50000"/>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Rounded Rectangle 49"/>
          <p:cNvSpPr/>
          <p:nvPr/>
        </p:nvSpPr>
        <p:spPr>
          <a:xfrm>
            <a:off x="7156450" y="3797300"/>
            <a:ext cx="127000" cy="127000"/>
          </a:xfrm>
          <a:prstGeom prst="roundRect">
            <a:avLst>
              <a:gd name="adj" fmla="val 50000"/>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7410450" y="3752850"/>
            <a:ext cx="2336800" cy="198120"/>
          </a:xfrm>
          <a:prstGeom prst="rect">
            <a:avLst/>
          </a:prstGeom>
          <a:noFill/>
        </p:spPr>
        <p:txBody>
          <a:bodyPr wrap="none" lIns="0" tIns="0" rIns="0" bIns="0" anchor="t">
            <a:noAutofit/>
          </a:bodyPr>
          <a:lstStyle/>
          <a:p>
            <a:pPr algn="l"/>
            <a:r>
              <a:rPr sz="1200" b="0" i="0">
                <a:solidFill>
                  <a:srgbClr val="3A4F63"/>
                </a:solidFill>
                <a:latin typeface="DM Sans"/>
              </a:rPr>
              <a:t>6, 12 en 15 jan · Dobbels</a:t>
            </a:r>
          </a:p>
        </p:txBody>
      </p:sp>
      <p:sp>
        <p:nvSpPr>
          <p:cNvPr id="52" name="Rectangle 51"/>
          <p:cNvSpPr/>
          <p:nvPr/>
        </p:nvSpPr>
        <p:spPr>
          <a:xfrm>
            <a:off x="812800" y="4025900"/>
            <a:ext cx="3302000" cy="635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812800" y="4076700"/>
            <a:ext cx="33401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Droogloop, vier visites</a:t>
            </a:r>
          </a:p>
        </p:txBody>
      </p:sp>
      <p:sp>
        <p:nvSpPr>
          <p:cNvPr id="54" name="Rounded Rectangle 53"/>
          <p:cNvSpPr/>
          <p:nvPr/>
        </p:nvSpPr>
        <p:spPr>
          <a:xfrm>
            <a:off x="7118350" y="4133850"/>
            <a:ext cx="590550" cy="11430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7835900" y="4083050"/>
            <a:ext cx="2336800" cy="198120"/>
          </a:xfrm>
          <a:prstGeom prst="rect">
            <a:avLst/>
          </a:prstGeom>
          <a:noFill/>
        </p:spPr>
        <p:txBody>
          <a:bodyPr wrap="none" lIns="0" tIns="0" rIns="0" bIns="0" anchor="t">
            <a:noAutofit/>
          </a:bodyPr>
          <a:lstStyle/>
          <a:p>
            <a:pPr algn="l"/>
            <a:r>
              <a:rPr sz="1200" b="0" i="0">
                <a:solidFill>
                  <a:srgbClr val="3A4F63"/>
                </a:solidFill>
                <a:latin typeface="DM Sans"/>
              </a:rPr>
              <a:t>13 tot 27 jan · Janou</a:t>
            </a:r>
          </a:p>
        </p:txBody>
      </p:sp>
      <p:sp>
        <p:nvSpPr>
          <p:cNvPr id="56" name="Rectangle 55"/>
          <p:cNvSpPr/>
          <p:nvPr/>
        </p:nvSpPr>
        <p:spPr>
          <a:xfrm>
            <a:off x="812800" y="4356100"/>
            <a:ext cx="3302000" cy="635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812800" y="4406900"/>
            <a:ext cx="33401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Piloot en Go/No-Go</a:t>
            </a:r>
          </a:p>
        </p:txBody>
      </p:sp>
      <p:sp>
        <p:nvSpPr>
          <p:cNvPr id="58" name="Rounded Rectangle 57"/>
          <p:cNvSpPr/>
          <p:nvPr/>
        </p:nvSpPr>
        <p:spPr>
          <a:xfrm>
            <a:off x="7867650" y="4464050"/>
            <a:ext cx="196850" cy="114300"/>
          </a:xfrm>
          <a:prstGeom prst="roundRect">
            <a:avLst>
              <a:gd name="adj" fmla="val 50000"/>
            </a:avLst>
          </a:prstGeom>
          <a:solidFill>
            <a:srgbClr val="8FB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Rounded Rectangle 58"/>
          <p:cNvSpPr/>
          <p:nvPr/>
        </p:nvSpPr>
        <p:spPr>
          <a:xfrm>
            <a:off x="8420100" y="4464050"/>
            <a:ext cx="196850" cy="114300"/>
          </a:xfrm>
          <a:prstGeom prst="roundRect">
            <a:avLst>
              <a:gd name="adj" fmla="val 50000"/>
            </a:avLst>
          </a:prstGeom>
          <a:solidFill>
            <a:srgbClr val="8FB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Rounded Rectangle 59"/>
          <p:cNvSpPr/>
          <p:nvPr/>
        </p:nvSpPr>
        <p:spPr>
          <a:xfrm>
            <a:off x="8693150" y="4457700"/>
            <a:ext cx="127000" cy="127000"/>
          </a:xfrm>
          <a:prstGeom prst="roundRect">
            <a:avLst>
              <a:gd name="adj" fmla="val 50000"/>
            </a:avLst>
          </a:prstGeom>
          <a:solidFill>
            <a:srgbClr val="8FB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8947150" y="4413250"/>
            <a:ext cx="2336800" cy="198120"/>
          </a:xfrm>
          <a:prstGeom prst="rect">
            <a:avLst/>
          </a:prstGeom>
          <a:noFill/>
        </p:spPr>
        <p:txBody>
          <a:bodyPr wrap="none" lIns="0" tIns="0" rIns="0" bIns="0" anchor="t">
            <a:noAutofit/>
          </a:bodyPr>
          <a:lstStyle/>
          <a:p>
            <a:pPr algn="l"/>
            <a:r>
              <a:rPr sz="1200" b="0" i="0">
                <a:solidFill>
                  <a:srgbClr val="3A4F63"/>
                </a:solidFill>
                <a:latin typeface="DM Sans"/>
              </a:rPr>
              <a:t>Go/No-Go 23 feb</a:t>
            </a:r>
          </a:p>
        </p:txBody>
      </p:sp>
      <p:sp>
        <p:nvSpPr>
          <p:cNvPr id="62" name="Rectangle 61"/>
          <p:cNvSpPr/>
          <p:nvPr/>
        </p:nvSpPr>
        <p:spPr>
          <a:xfrm>
            <a:off x="812800" y="4686300"/>
            <a:ext cx="3302000" cy="635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812800" y="4737100"/>
            <a:ext cx="33401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SEBIA 3–4: therapietrouw bevorderen</a:t>
            </a:r>
          </a:p>
        </p:txBody>
      </p:sp>
      <p:sp>
        <p:nvSpPr>
          <p:cNvPr id="64" name="Rounded Rectangle 63"/>
          <p:cNvSpPr/>
          <p:nvPr/>
        </p:nvSpPr>
        <p:spPr>
          <a:xfrm>
            <a:off x="8972550" y="4794250"/>
            <a:ext cx="196850" cy="114300"/>
          </a:xfrm>
          <a:prstGeom prst="roundRect">
            <a:avLst>
              <a:gd name="adj" fmla="val 50000"/>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Rounded Rectangle 64"/>
          <p:cNvSpPr/>
          <p:nvPr/>
        </p:nvSpPr>
        <p:spPr>
          <a:xfrm>
            <a:off x="9207500" y="4787900"/>
            <a:ext cx="101600" cy="101600"/>
          </a:xfrm>
          <a:prstGeom prst="roundRect">
            <a:avLst>
              <a:gd name="adj" fmla="val 50000"/>
            </a:avLst>
          </a:prstGeom>
          <a:solidFill>
            <a:srgbClr val="F2F6F9"/>
          </a:solidFill>
          <a:ln w="12700">
            <a:solidFill>
              <a:srgbClr val="F2F8F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p:cNvSpPr txBox="1"/>
          <p:nvPr/>
        </p:nvSpPr>
        <p:spPr>
          <a:xfrm>
            <a:off x="4984750" y="4743450"/>
            <a:ext cx="3860800" cy="198120"/>
          </a:xfrm>
          <a:prstGeom prst="rect">
            <a:avLst/>
          </a:prstGeom>
          <a:noFill/>
        </p:spPr>
        <p:txBody>
          <a:bodyPr wrap="none" lIns="0" tIns="0" rIns="0" bIns="0" anchor="t">
            <a:noAutofit/>
          </a:bodyPr>
          <a:lstStyle/>
          <a:p>
            <a:pPr algn="r"/>
            <a:r>
              <a:rPr sz="1200" b="0" i="0">
                <a:solidFill>
                  <a:srgbClr val="3A4F63"/>
                </a:solidFill>
                <a:latin typeface="DM Sans"/>
              </a:rPr>
              <a:t>1, 2 en 5 mrt, inhaal 8 mrt · Dobbels</a:t>
            </a:r>
          </a:p>
        </p:txBody>
      </p:sp>
      <p:sp>
        <p:nvSpPr>
          <p:cNvPr id="67" name="Rectangle 66"/>
          <p:cNvSpPr/>
          <p:nvPr/>
        </p:nvSpPr>
        <p:spPr>
          <a:xfrm>
            <a:off x="812800" y="5016500"/>
            <a:ext cx="3302000" cy="635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TextBox 67"/>
          <p:cNvSpPr txBox="1"/>
          <p:nvPr/>
        </p:nvSpPr>
        <p:spPr>
          <a:xfrm>
            <a:off x="812800" y="5067300"/>
            <a:ext cx="33401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SEBIA 5: inoefenen in uw centrum</a:t>
            </a:r>
          </a:p>
        </p:txBody>
      </p:sp>
      <p:sp>
        <p:nvSpPr>
          <p:cNvPr id="69" name="Rounded Rectangle 68"/>
          <p:cNvSpPr/>
          <p:nvPr/>
        </p:nvSpPr>
        <p:spPr>
          <a:xfrm>
            <a:off x="10947400" y="5124450"/>
            <a:ext cx="431800" cy="11430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p:cNvSpPr txBox="1"/>
          <p:nvPr/>
        </p:nvSpPr>
        <p:spPr>
          <a:xfrm>
            <a:off x="6959600" y="5073650"/>
            <a:ext cx="3860800" cy="198120"/>
          </a:xfrm>
          <a:prstGeom prst="rect">
            <a:avLst/>
          </a:prstGeom>
          <a:noFill/>
        </p:spPr>
        <p:txBody>
          <a:bodyPr wrap="none" lIns="0" tIns="0" rIns="0" bIns="0" anchor="t">
            <a:noAutofit/>
          </a:bodyPr>
          <a:lstStyle/>
          <a:p>
            <a:pPr algn="r"/>
            <a:r>
              <a:rPr sz="1200" b="0" i="0">
                <a:solidFill>
                  <a:srgbClr val="3A4F63"/>
                </a:solidFill>
                <a:latin typeface="DM Sans"/>
              </a:rPr>
              <a:t>20 tot 30 apr, per centrum · Dobbels</a:t>
            </a:r>
          </a:p>
        </p:txBody>
      </p:sp>
      <p:sp>
        <p:nvSpPr>
          <p:cNvPr id="71" name="TextBox 70"/>
          <p:cNvSpPr txBox="1"/>
          <p:nvPr/>
        </p:nvSpPr>
        <p:spPr>
          <a:xfrm>
            <a:off x="812800" y="5524500"/>
            <a:ext cx="106172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Artsen: alleen de theorie · online sessies worden opgenomen · SEBIA 6: online intervisie, sep–nov 2027</a:t>
            </a:r>
          </a:p>
        </p:txBody>
      </p:sp>
      <p:pic>
        <p:nvPicPr>
          <p:cNvPr id="72" name="Picture 71"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73" name="TextBox 72"/>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Mijlpalen en planning</a:t>
            </a:r>
          </a:p>
        </p:txBody>
      </p:sp>
      <p:sp>
        <p:nvSpPr>
          <p:cNvPr id="74" name="TextBox 73"/>
          <p:cNvSpPr txBox="1"/>
          <p:nvPr/>
        </p:nvSpPr>
        <p:spPr>
          <a:xfrm>
            <a:off x="6502400" y="6254750"/>
            <a:ext cx="4876800" cy="198120"/>
          </a:xfrm>
          <a:prstGeom prst="rect">
            <a:avLst/>
          </a:prstGeom>
          <a:noFill/>
        </p:spPr>
        <p:txBody>
          <a:bodyPr wrap="none" lIns="0" tIns="0" rIns="0" bIns="0" anchor="t">
            <a:noAutofit/>
          </a:bodyPr>
          <a:lstStyle/>
          <a:p>
            <a:pPr algn="r"/>
            <a:r>
              <a:rPr sz="1200" b="0" i="0">
                <a:solidFill>
                  <a:srgbClr val="5A6E80"/>
                </a:solidFill>
                <a:latin typeface="DM Sans"/>
              </a:rPr>
              <a:t>Bron: opleidingsplanning, 8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Uw data, zoals voorgesteld</a:t>
            </a:r>
          </a:p>
        </p:txBody>
      </p:sp>
      <p:graphicFrame>
        <p:nvGraphicFramePr>
          <p:cNvPr id="4" name="Table 3"/>
          <p:cNvGraphicFramePr>
            <a:graphicFrameLocks noGrp="1"/>
          </p:cNvGraphicFramePr>
          <p:nvPr/>
        </p:nvGraphicFramePr>
        <p:xfrm>
          <a:off x="812800" y="1569641"/>
          <a:ext cx="10560051" cy="2758877"/>
        </p:xfrm>
        <a:graphic>
          <a:graphicData uri="http://schemas.openxmlformats.org/drawingml/2006/table">
            <a:tbl>
              <a:tblPr>
                <a:tableStyleId>{2D5ABB26-0587-4C30-8999-92F81FD0307C}</a:tableStyleId>
              </a:tblPr>
              <a:tblGrid>
                <a:gridCol w="1795165">
                  <a:extLst>
                    <a:ext uri="{9D8B030D-6E8A-4147-A177-3AD203B41FA5}">
                      <a16:colId xmlns:a16="http://schemas.microsoft.com/office/drawing/2014/main" val="20000"/>
                    </a:ext>
                  </a:extLst>
                </a:gridCol>
                <a:gridCol w="1267123">
                  <a:extLst>
                    <a:ext uri="{9D8B030D-6E8A-4147-A177-3AD203B41FA5}">
                      <a16:colId xmlns:a16="http://schemas.microsoft.com/office/drawing/2014/main" val="20001"/>
                    </a:ext>
                  </a:extLst>
                </a:gridCol>
                <a:gridCol w="1795165">
                  <a:extLst>
                    <a:ext uri="{9D8B030D-6E8A-4147-A177-3AD203B41FA5}">
                      <a16:colId xmlns:a16="http://schemas.microsoft.com/office/drawing/2014/main" val="20002"/>
                    </a:ext>
                  </a:extLst>
                </a:gridCol>
                <a:gridCol w="1689596">
                  <a:extLst>
                    <a:ext uri="{9D8B030D-6E8A-4147-A177-3AD203B41FA5}">
                      <a16:colId xmlns:a16="http://schemas.microsoft.com/office/drawing/2014/main" val="20003"/>
                    </a:ext>
                  </a:extLst>
                </a:gridCol>
                <a:gridCol w="1267123">
                  <a:extLst>
                    <a:ext uri="{9D8B030D-6E8A-4147-A177-3AD203B41FA5}">
                      <a16:colId xmlns:a16="http://schemas.microsoft.com/office/drawing/2014/main" val="20004"/>
                    </a:ext>
                  </a:extLst>
                </a:gridCol>
                <a:gridCol w="2745879">
                  <a:extLst>
                    <a:ext uri="{9D8B030D-6E8A-4147-A177-3AD203B41FA5}">
                      <a16:colId xmlns:a16="http://schemas.microsoft.com/office/drawing/2014/main" val="20005"/>
                    </a:ext>
                  </a:extLst>
                </a:gridCol>
              </a:tblGrid>
              <a:tr h="506611">
                <a:tc>
                  <a:txBody>
                    <a:bodyPr/>
                    <a:lstStyle/>
                    <a:p>
                      <a:pPr algn="ctr"/>
                      <a:r>
                        <a:rPr sz="1200" b="1" i="0">
                          <a:solidFill>
                            <a:srgbClr val="3A4F63"/>
                          </a:solidFill>
                          <a:latin typeface="DM Sans"/>
                        </a:rPr>
                        <a:t>Centrum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FFFFFF"/>
                    </a:solidFill>
                  </a:tcPr>
                </a:tc>
                <a:tc>
                  <a:txBody>
                    <a:bodyPr/>
                    <a:lstStyle/>
                    <a:p>
                      <a:pPr algn="ctr"/>
                      <a:r>
                        <a:rPr sz="1200" b="1" i="0">
                          <a:solidFill>
                            <a:srgbClr val="3A4F63"/>
                          </a:solidFill>
                          <a:latin typeface="DM Sans"/>
                        </a:rPr>
                        <a:t>Technologie</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FFFFFF"/>
                    </a:solidFill>
                  </a:tcPr>
                </a:tc>
                <a:tc>
                  <a:txBody>
                    <a:bodyPr/>
                    <a:lstStyle/>
                    <a:p>
                      <a:pPr algn="ctr"/>
                      <a:r>
                        <a:rPr sz="1200" b="1" i="0">
                          <a:solidFill>
                            <a:srgbClr val="3A4F63"/>
                          </a:solidFill>
                          <a:latin typeface="DM Sans"/>
                        </a:rPr>
                        <a:t>SEBIA 1–2 · 13–17u</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FFFFFF"/>
                    </a:solidFill>
                  </a:tcPr>
                </a:tc>
                <a:tc>
                  <a:txBody>
                    <a:bodyPr/>
                    <a:lstStyle/>
                    <a:p>
                      <a:pPr algn="ctr"/>
                      <a:r>
                        <a:rPr sz="1200" b="1" i="0">
                          <a:solidFill>
                            <a:srgbClr val="3A4F63"/>
                          </a:solidFill>
                          <a:latin typeface="DM Sans"/>
                        </a:rPr>
                        <a:t>SEBIA 3–4 · NM, voorstel</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FFFFFF"/>
                    </a:solidFill>
                  </a:tcPr>
                </a:tc>
                <a:tc>
                  <a:txBody>
                    <a:bodyPr/>
                    <a:lstStyle/>
                    <a:p>
                      <a:pPr algn="ctr"/>
                      <a:r>
                        <a:rPr sz="1200" b="1" i="0">
                          <a:solidFill>
                            <a:srgbClr val="3A4F63"/>
                          </a:solidFill>
                          <a:latin typeface="DM Sans"/>
                        </a:rPr>
                        <a:t>SEBIA 5</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FFFFFF"/>
                    </a:solidFill>
                  </a:tcPr>
                </a:tc>
                <a:tc>
                  <a:txBody>
                    <a:bodyPr/>
                    <a:lstStyle/>
                    <a:p>
                      <a:pPr algn="ctr"/>
                      <a:r>
                        <a:rPr sz="1200" b="1" i="0">
                          <a:solidFill>
                            <a:srgbClr val="3A4F63"/>
                          </a:solidFill>
                          <a:latin typeface="DM Sans"/>
                        </a:rPr>
                        <a:t>Droogloop · inhaal</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FFFFFF"/>
                    </a:solidFill>
                  </a:tcPr>
                </a:tc>
                <a:extLst>
                  <a:ext uri="{0D108BD9-81ED-4DB2-BD59-A6C34878D82A}">
                    <a16:rowId xmlns:a16="http://schemas.microsoft.com/office/drawing/2014/main" val="10000"/>
                  </a:ext>
                </a:extLst>
              </a:tr>
              <a:tr h="309761">
                <a:tc>
                  <a:txBody>
                    <a:bodyPr/>
                    <a:lstStyle/>
                    <a:p>
                      <a:pPr algn="l"/>
                      <a:r>
                        <a:rPr sz="1200" b="0" i="0">
                          <a:solidFill>
                            <a:srgbClr val="3A4F63"/>
                          </a:solidFill>
                          <a:latin typeface="DM Sans"/>
                        </a:rPr>
                        <a:t>AZ Groeninge Kortrijk</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wo 2 dec,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wo 6 jan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ma 1 mrt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di 20 apr,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wo 20 jan · inhaal ma 25 jan, NM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1"/>
                  </a:ext>
                </a:extLst>
              </a:tr>
              <a:tr h="506611">
                <a:tc>
                  <a:txBody>
                    <a:bodyPr/>
                    <a:lstStyle/>
                    <a:p>
                      <a:pPr algn="l"/>
                      <a:r>
                        <a:rPr sz="1200" b="0" i="0">
                          <a:solidFill>
                            <a:srgbClr val="3A4F63"/>
                          </a:solidFill>
                          <a:latin typeface="DM Sans"/>
                        </a:rPr>
                        <a:t>AZ Sint-Jan Brugge</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wo 2 dec, NM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1e wo 6 jan · 2e di 12 jan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1e ma 1 mrt · 2e di 2 mrt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ma 26 apr,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wo 13 jan, NM · inhaal ma 18 jan,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2"/>
                  </a:ext>
                </a:extLst>
              </a:tr>
              <a:tr h="506611">
                <a:tc>
                  <a:txBody>
                    <a:bodyPr/>
                    <a:lstStyle/>
                    <a:p>
                      <a:pPr algn="l"/>
                      <a:r>
                        <a:rPr sz="1200" b="0" i="0">
                          <a:solidFill>
                            <a:srgbClr val="3A4F63"/>
                          </a:solidFill>
                          <a:latin typeface="DM Sans"/>
                        </a:rPr>
                        <a:t>UZ Gent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do 10 dec,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vr 15 jan, in UZ Gent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vr 5 mrt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vr 23 apr, NM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do 21 jan, 8u–12u30 · inhaal vr 22 of do 28 jan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3"/>
                  </a:ext>
                </a:extLst>
              </a:tr>
              <a:tr h="309761">
                <a:tc>
                  <a:txBody>
                    <a:bodyPr/>
                    <a:lstStyle/>
                    <a:p>
                      <a:pPr algn="l"/>
                      <a:r>
                        <a:rPr sz="1200" b="0" i="0">
                          <a:solidFill>
                            <a:srgbClr val="3A4F63"/>
                          </a:solidFill>
                          <a:latin typeface="DM Sans"/>
                        </a:rPr>
                        <a:t>AZORG Aalst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do 10 dec, NM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Oost · di 12 jan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Oost · di 2 mrt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di 20 apr, NM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di 19 jan · inhaal do 21 jan, NM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4"/>
                  </a:ext>
                </a:extLst>
              </a:tr>
              <a:tr h="309761">
                <a:tc>
                  <a:txBody>
                    <a:bodyPr/>
                    <a:lstStyle/>
                    <a:p>
                      <a:pPr algn="l"/>
                      <a:r>
                        <a:rPr sz="1200" b="0" i="0">
                          <a:solidFill>
                            <a:srgbClr val="3A4F63"/>
                          </a:solidFill>
                          <a:latin typeface="DM Sans"/>
                        </a:rPr>
                        <a:t>UZ Leuven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di 15 dec,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Oost · di 12 jan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Oost · di 2 mrt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vr 30 apr,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di 26 jan · inhaal vr 22 jan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5"/>
                  </a:ext>
                </a:extLst>
              </a:tr>
              <a:tr h="309761">
                <a:tc>
                  <a:txBody>
                    <a:bodyPr/>
                    <a:lstStyle/>
                    <a:p>
                      <a:pPr algn="l"/>
                      <a:r>
                        <a:rPr sz="1200" b="0" i="0">
                          <a:solidFill>
                            <a:srgbClr val="3A4F63"/>
                          </a:solidFill>
                          <a:latin typeface="DM Sans"/>
                        </a:rPr>
                        <a:t>UZ Antwerpen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wo 9 dec,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Oost · di 12 jan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Oost · di 2 mrt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di 27 apr,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wo 27 jan, VM · inhaal do 28 jan,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6"/>
                  </a:ext>
                </a:extLst>
              </a:tr>
            </a:tbl>
          </a:graphicData>
        </a:graphic>
      </p:graphicFrame>
      <p:sp>
        <p:nvSpPr>
          <p:cNvPr id="5" name="TextBox 4"/>
          <p:cNvSpPr txBox="1"/>
          <p:nvPr/>
        </p:nvSpPr>
        <p:spPr>
          <a:xfrm>
            <a:off x="812800" y="4588867"/>
            <a:ext cx="10777728" cy="960041"/>
          </a:xfrm>
          <a:prstGeom prst="rect">
            <a:avLst/>
          </a:prstGeom>
          <a:noFill/>
        </p:spPr>
        <p:txBody>
          <a:bodyPr wrap="square" lIns="0" tIns="0" rIns="0" bIns="0" anchor="t">
            <a:noAutofit/>
          </a:bodyPr>
          <a:lstStyle/>
          <a:p>
            <a:pPr algn="l">
              <a:lnSpc>
                <a:spcPts val="1889"/>
              </a:lnSpc>
            </a:pPr>
            <a:r>
              <a:rPr sz="1400" b="0" i="0">
                <a:solidFill>
                  <a:srgbClr val="0A2540"/>
                </a:solidFill>
                <a:latin typeface="DM Sans"/>
              </a:rPr>
              <a:t>SEBIA 3–4 krijgt één inhaalmoment: ma 8 maart.</a:t>
            </a:r>
          </a:p>
          <a:p>
            <a:pPr algn="l">
              <a:lnSpc>
                <a:spcPts val="1889"/>
              </a:lnSpc>
            </a:pPr>
            <a:r>
              <a:rPr sz="1400" b="0" i="0">
                <a:solidFill>
                  <a:srgbClr val="0A2540"/>
                </a:solidFill>
                <a:latin typeface="DM Sans"/>
              </a:rPr>
              <a:t>Optie B staat op de fiche van uw centrum; antwoord graag tegen vrijdag 16 oktober.</a:t>
            </a:r>
          </a:p>
          <a:p>
            <a:pPr algn="l">
              <a:lnSpc>
                <a:spcPts val="1889"/>
              </a:lnSpc>
            </a:pPr>
            <a:r>
              <a:rPr sz="1400" b="0" i="0">
                <a:solidFill>
                  <a:srgbClr val="0A2540"/>
                </a:solidFill>
                <a:latin typeface="DM Sans"/>
              </a:rPr>
              <a:t>Vragen of opmerkingen over uw data: janou.debuyser@kuleuven.be</a:t>
            </a:r>
          </a:p>
        </p:txBody>
      </p:sp>
      <p:pic>
        <p:nvPicPr>
          <p:cNvPr id="6" name="Picture 5"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7" name="TextBox 6"/>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Mijlpalen en planning</a:t>
            </a:r>
          </a:p>
        </p:txBody>
      </p:sp>
      <p:sp>
        <p:nvSpPr>
          <p:cNvPr id="8" name="TextBox 7"/>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opleidingsplanning, 8 oktober 2026 · data F. Dobbels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Van opleiding tot de laatste visite</a:t>
            </a:r>
          </a:p>
        </p:txBody>
      </p:sp>
      <p:sp>
        <p:nvSpPr>
          <p:cNvPr id="3" name="Rectangle 2"/>
          <p:cNvSpPr/>
          <p:nvPr/>
        </p:nvSpPr>
        <p:spPr>
          <a:xfrm>
            <a:off x="1676400" y="2019300"/>
            <a:ext cx="6350" cy="1663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739900" y="2019300"/>
            <a:ext cx="812800" cy="198120"/>
          </a:xfrm>
          <a:prstGeom prst="rect">
            <a:avLst/>
          </a:prstGeom>
          <a:noFill/>
        </p:spPr>
        <p:txBody>
          <a:bodyPr wrap="none" lIns="0" tIns="0" rIns="0" bIns="0" anchor="t">
            <a:noAutofit/>
          </a:bodyPr>
          <a:lstStyle/>
          <a:p>
            <a:pPr algn="l"/>
            <a:r>
              <a:rPr sz="1200" b="0" i="0">
                <a:solidFill>
                  <a:srgbClr val="5A6E80"/>
                </a:solidFill>
                <a:latin typeface="DM Sans"/>
              </a:rPr>
              <a:t>2027</a:t>
            </a:r>
          </a:p>
        </p:txBody>
      </p:sp>
      <p:sp>
        <p:nvSpPr>
          <p:cNvPr id="5" name="Rectangle 4"/>
          <p:cNvSpPr/>
          <p:nvPr/>
        </p:nvSpPr>
        <p:spPr>
          <a:xfrm>
            <a:off x="5099050" y="2019300"/>
            <a:ext cx="6350" cy="1663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162550" y="2019300"/>
            <a:ext cx="812800" cy="198120"/>
          </a:xfrm>
          <a:prstGeom prst="rect">
            <a:avLst/>
          </a:prstGeom>
          <a:noFill/>
        </p:spPr>
        <p:txBody>
          <a:bodyPr wrap="none" lIns="0" tIns="0" rIns="0" bIns="0" anchor="t">
            <a:noAutofit/>
          </a:bodyPr>
          <a:lstStyle/>
          <a:p>
            <a:pPr algn="l"/>
            <a:r>
              <a:rPr sz="1200" b="0" i="0">
                <a:solidFill>
                  <a:srgbClr val="5A6E80"/>
                </a:solidFill>
                <a:latin typeface="DM Sans"/>
              </a:rPr>
              <a:t>2028</a:t>
            </a:r>
          </a:p>
        </p:txBody>
      </p:sp>
      <p:sp>
        <p:nvSpPr>
          <p:cNvPr id="7" name="Rectangle 6"/>
          <p:cNvSpPr/>
          <p:nvPr/>
        </p:nvSpPr>
        <p:spPr>
          <a:xfrm>
            <a:off x="8528050" y="2019300"/>
            <a:ext cx="6350" cy="1663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591550" y="2019300"/>
            <a:ext cx="812800" cy="198120"/>
          </a:xfrm>
          <a:prstGeom prst="rect">
            <a:avLst/>
          </a:prstGeom>
          <a:noFill/>
        </p:spPr>
        <p:txBody>
          <a:bodyPr wrap="none" lIns="0" tIns="0" rIns="0" bIns="0" anchor="t">
            <a:noAutofit/>
          </a:bodyPr>
          <a:lstStyle/>
          <a:p>
            <a:pPr algn="l"/>
            <a:r>
              <a:rPr sz="1200" b="0" i="0">
                <a:solidFill>
                  <a:srgbClr val="5A6E80"/>
                </a:solidFill>
                <a:latin typeface="DM Sans"/>
              </a:rPr>
              <a:t>2029</a:t>
            </a:r>
          </a:p>
        </p:txBody>
      </p:sp>
      <p:sp>
        <p:nvSpPr>
          <p:cNvPr id="9" name="Rounded Rectangle 8"/>
          <p:cNvSpPr/>
          <p:nvPr/>
        </p:nvSpPr>
        <p:spPr>
          <a:xfrm>
            <a:off x="1187450" y="2349500"/>
            <a:ext cx="1631950" cy="279400"/>
          </a:xfrm>
          <a:prstGeom prst="roundRect">
            <a:avLst>
              <a:gd name="adj" fmla="val 50000"/>
            </a:avLst>
          </a:prstGeom>
          <a:solidFill>
            <a:srgbClr val="0B6E8F">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301750" y="2387600"/>
            <a:ext cx="5765800" cy="198120"/>
          </a:xfrm>
          <a:prstGeom prst="rect">
            <a:avLst/>
          </a:prstGeom>
          <a:noFill/>
        </p:spPr>
        <p:txBody>
          <a:bodyPr wrap="none" lIns="0" tIns="0" rIns="0" bIns="0" anchor="t">
            <a:noAutofit/>
          </a:bodyPr>
          <a:lstStyle/>
          <a:p>
            <a:pPr algn="l"/>
            <a:r>
              <a:rPr sz="1200" b="1" i="0">
                <a:solidFill>
                  <a:srgbClr val="F2F8FC"/>
                </a:solidFill>
                <a:latin typeface="DM Sans"/>
              </a:rPr>
              <a:t>Opleidingen</a:t>
            </a:r>
          </a:p>
        </p:txBody>
      </p:sp>
      <p:sp>
        <p:nvSpPr>
          <p:cNvPr id="11" name="Rounded Rectangle 10"/>
          <p:cNvSpPr/>
          <p:nvPr/>
        </p:nvSpPr>
        <p:spPr>
          <a:xfrm>
            <a:off x="2184400" y="2768600"/>
            <a:ext cx="3422650" cy="2794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298700" y="2806700"/>
            <a:ext cx="5765800" cy="198120"/>
          </a:xfrm>
          <a:prstGeom prst="rect">
            <a:avLst/>
          </a:prstGeom>
          <a:noFill/>
        </p:spPr>
        <p:txBody>
          <a:bodyPr wrap="none" lIns="0" tIns="0" rIns="0" bIns="0" anchor="t">
            <a:noAutofit/>
          </a:bodyPr>
          <a:lstStyle/>
          <a:p>
            <a:pPr algn="l"/>
            <a:r>
              <a:rPr sz="1200" b="1" i="0">
                <a:solidFill>
                  <a:srgbClr val="F2F8FC"/>
                </a:solidFill>
                <a:latin typeface="DM Sans"/>
              </a:rPr>
              <a:t>Inclusie, 144 in 12 maanden</a:t>
            </a:r>
          </a:p>
        </p:txBody>
      </p:sp>
      <p:sp>
        <p:nvSpPr>
          <p:cNvPr id="13" name="Rounded Rectangle 12"/>
          <p:cNvSpPr/>
          <p:nvPr/>
        </p:nvSpPr>
        <p:spPr>
          <a:xfrm>
            <a:off x="2184400" y="3187700"/>
            <a:ext cx="8553450" cy="2794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2298700" y="3225800"/>
            <a:ext cx="5765800" cy="198120"/>
          </a:xfrm>
          <a:prstGeom prst="rect">
            <a:avLst/>
          </a:prstGeom>
          <a:noFill/>
        </p:spPr>
        <p:txBody>
          <a:bodyPr wrap="none" lIns="0" tIns="0" rIns="0" bIns="0" anchor="t">
            <a:noAutofit/>
          </a:bodyPr>
          <a:lstStyle/>
          <a:p>
            <a:pPr algn="l"/>
            <a:r>
              <a:rPr sz="1200" b="1" i="0">
                <a:solidFill>
                  <a:srgbClr val="F2F8FC"/>
                </a:solidFill>
                <a:latin typeface="DM Sans"/>
              </a:rPr>
              <a:t>Opvolging, 18 maanden per deelnemer</a:t>
            </a:r>
          </a:p>
        </p:txBody>
      </p:sp>
      <p:sp>
        <p:nvSpPr>
          <p:cNvPr id="15" name="Rectangle 14"/>
          <p:cNvSpPr/>
          <p:nvPr/>
        </p:nvSpPr>
        <p:spPr>
          <a:xfrm rot="2700000">
            <a:off x="175260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rot="2700000">
            <a:off x="21145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rot="2700000">
            <a:off x="55435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rot="2700000">
            <a:off x="58864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rot="2700000">
            <a:off x="106743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12800" y="3689350"/>
            <a:ext cx="1056640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12800" y="4083050"/>
            <a:ext cx="1447800" cy="198120"/>
          </a:xfrm>
          <a:prstGeom prst="rect">
            <a:avLst/>
          </a:prstGeom>
          <a:noFill/>
        </p:spPr>
        <p:txBody>
          <a:bodyPr wrap="none" lIns="0" tIns="0" rIns="0" bIns="0" anchor="t">
            <a:noAutofit/>
          </a:bodyPr>
          <a:lstStyle/>
          <a:p>
            <a:pPr algn="l"/>
            <a:r>
              <a:rPr sz="1200" b="0" i="0">
                <a:solidFill>
                  <a:srgbClr val="A34A00"/>
                </a:solidFill>
                <a:latin typeface="DM Sans"/>
              </a:rPr>
              <a:t>januari 2027</a:t>
            </a:r>
          </a:p>
        </p:txBody>
      </p:sp>
      <p:sp>
        <p:nvSpPr>
          <p:cNvPr id="22" name="TextBox 21"/>
          <p:cNvSpPr txBox="1"/>
          <p:nvPr/>
        </p:nvSpPr>
        <p:spPr>
          <a:xfrm>
            <a:off x="2362200" y="4064000"/>
            <a:ext cx="35814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Lokale ethische goedkeuringen</a:t>
            </a:r>
          </a:p>
        </p:txBody>
      </p:sp>
      <p:sp>
        <p:nvSpPr>
          <p:cNvPr id="23" name="Rectangle 22"/>
          <p:cNvSpPr/>
          <p:nvPr/>
        </p:nvSpPr>
        <p:spPr>
          <a:xfrm>
            <a:off x="812800" y="4358580"/>
            <a:ext cx="5080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2800" y="4447480"/>
            <a:ext cx="1447800" cy="198120"/>
          </a:xfrm>
          <a:prstGeom prst="rect">
            <a:avLst/>
          </a:prstGeom>
          <a:noFill/>
        </p:spPr>
        <p:txBody>
          <a:bodyPr wrap="none" lIns="0" tIns="0" rIns="0" bIns="0" anchor="t">
            <a:noAutofit/>
          </a:bodyPr>
          <a:lstStyle/>
          <a:p>
            <a:pPr algn="l"/>
            <a:r>
              <a:rPr sz="1200" b="0" i="0">
                <a:solidFill>
                  <a:srgbClr val="A34A00"/>
                </a:solidFill>
                <a:latin typeface="DM Sans"/>
              </a:rPr>
              <a:t>23 feb 2027</a:t>
            </a:r>
          </a:p>
        </p:txBody>
      </p:sp>
      <p:sp>
        <p:nvSpPr>
          <p:cNvPr id="25" name="TextBox 24"/>
          <p:cNvSpPr txBox="1"/>
          <p:nvPr/>
        </p:nvSpPr>
        <p:spPr>
          <a:xfrm>
            <a:off x="2362200" y="4428430"/>
            <a:ext cx="35814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Go/No-Go; start inclusie</a:t>
            </a:r>
          </a:p>
        </p:txBody>
      </p:sp>
      <p:sp>
        <p:nvSpPr>
          <p:cNvPr id="26" name="Rectangle 25"/>
          <p:cNvSpPr/>
          <p:nvPr/>
        </p:nvSpPr>
        <p:spPr>
          <a:xfrm>
            <a:off x="812800" y="4723011"/>
            <a:ext cx="5080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12800" y="4811911"/>
            <a:ext cx="1447800" cy="198120"/>
          </a:xfrm>
          <a:prstGeom prst="rect">
            <a:avLst/>
          </a:prstGeom>
          <a:noFill/>
        </p:spPr>
        <p:txBody>
          <a:bodyPr wrap="none" lIns="0" tIns="0" rIns="0" bIns="0" anchor="t">
            <a:noAutofit/>
          </a:bodyPr>
          <a:lstStyle/>
          <a:p>
            <a:pPr algn="l"/>
            <a:r>
              <a:rPr sz="1200" b="0" i="0">
                <a:solidFill>
                  <a:srgbClr val="A34A00"/>
                </a:solidFill>
                <a:latin typeface="DM Sans"/>
              </a:rPr>
              <a:t>eind feb 2028</a:t>
            </a:r>
          </a:p>
        </p:txBody>
      </p:sp>
      <p:sp>
        <p:nvSpPr>
          <p:cNvPr id="28" name="TextBox 27"/>
          <p:cNvSpPr txBox="1"/>
          <p:nvPr/>
        </p:nvSpPr>
        <p:spPr>
          <a:xfrm>
            <a:off x="2362200" y="4792861"/>
            <a:ext cx="35814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144 gerandomiseerd</a:t>
            </a:r>
          </a:p>
        </p:txBody>
      </p:sp>
      <p:sp>
        <p:nvSpPr>
          <p:cNvPr id="29" name="TextBox 28"/>
          <p:cNvSpPr txBox="1"/>
          <p:nvPr/>
        </p:nvSpPr>
        <p:spPr>
          <a:xfrm>
            <a:off x="6299200" y="4083050"/>
            <a:ext cx="1447800" cy="198120"/>
          </a:xfrm>
          <a:prstGeom prst="rect">
            <a:avLst/>
          </a:prstGeom>
          <a:noFill/>
        </p:spPr>
        <p:txBody>
          <a:bodyPr wrap="none" lIns="0" tIns="0" rIns="0" bIns="0" anchor="t">
            <a:noAutofit/>
          </a:bodyPr>
          <a:lstStyle/>
          <a:p>
            <a:pPr algn="l"/>
            <a:r>
              <a:rPr sz="1200" b="0" i="0">
                <a:solidFill>
                  <a:srgbClr val="A34A00"/>
                </a:solidFill>
                <a:latin typeface="DM Sans"/>
              </a:rPr>
              <a:t>eind mrt 2028</a:t>
            </a:r>
          </a:p>
        </p:txBody>
      </p:sp>
      <p:sp>
        <p:nvSpPr>
          <p:cNvPr id="30" name="TextBox 29"/>
          <p:cNvSpPr txBox="1"/>
          <p:nvPr/>
        </p:nvSpPr>
        <p:spPr>
          <a:xfrm>
            <a:off x="7848600" y="4064000"/>
            <a:ext cx="35814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Uiterste laatste inclusie</a:t>
            </a:r>
          </a:p>
        </p:txBody>
      </p:sp>
      <p:sp>
        <p:nvSpPr>
          <p:cNvPr id="31" name="Rectangle 30"/>
          <p:cNvSpPr/>
          <p:nvPr/>
        </p:nvSpPr>
        <p:spPr>
          <a:xfrm>
            <a:off x="6299200" y="4358580"/>
            <a:ext cx="5080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99200" y="4447480"/>
            <a:ext cx="1447800" cy="198120"/>
          </a:xfrm>
          <a:prstGeom prst="rect">
            <a:avLst/>
          </a:prstGeom>
          <a:noFill/>
        </p:spPr>
        <p:txBody>
          <a:bodyPr wrap="none" lIns="0" tIns="0" rIns="0" bIns="0" anchor="t">
            <a:noAutofit/>
          </a:bodyPr>
          <a:lstStyle/>
          <a:p>
            <a:pPr algn="l"/>
            <a:r>
              <a:rPr sz="1200" b="0" i="0">
                <a:solidFill>
                  <a:srgbClr val="A34A00"/>
                </a:solidFill>
                <a:latin typeface="DM Sans"/>
              </a:rPr>
              <a:t>eind aug 2029</a:t>
            </a:r>
          </a:p>
        </p:txBody>
      </p:sp>
      <p:sp>
        <p:nvSpPr>
          <p:cNvPr id="33" name="TextBox 32"/>
          <p:cNvSpPr txBox="1"/>
          <p:nvPr/>
        </p:nvSpPr>
        <p:spPr>
          <a:xfrm>
            <a:off x="7848600" y="4428430"/>
            <a:ext cx="35814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Laatste visite</a:t>
            </a:r>
          </a:p>
        </p:txBody>
      </p:sp>
      <p:pic>
        <p:nvPicPr>
          <p:cNvPr id="34" name="Picture 33"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5" name="TextBox 34"/>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Mijlpalen en planning</a:t>
            </a:r>
          </a:p>
        </p:txBody>
      </p:sp>
      <p:sp>
        <p:nvSpPr>
          <p:cNvPr id="36" name="TextBox 35"/>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protocol · opleidingsplanning, 8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Twee per maand is een muntworp</a:t>
            </a:r>
          </a:p>
        </p:txBody>
      </p:sp>
      <p:graphicFrame>
        <p:nvGraphicFramePr>
          <p:cNvPr id="4" name="Chart 3"/>
          <p:cNvGraphicFramePr>
            <a:graphicFrameLocks noGrp="1"/>
          </p:cNvGraphicFramePr>
          <p:nvPr/>
        </p:nvGraphicFramePr>
        <p:xfrm>
          <a:off x="812800" y="2095500"/>
          <a:ext cx="5461000" cy="37465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2463800" y="3543642"/>
            <a:ext cx="2286000" cy="248920"/>
          </a:xfrm>
          <a:prstGeom prst="rect">
            <a:avLst/>
          </a:prstGeom>
          <a:noFill/>
        </p:spPr>
        <p:txBody>
          <a:bodyPr wrap="none" lIns="0" tIns="0" rIns="0" bIns="0">
            <a:spAutoFit/>
          </a:bodyPr>
          <a:lstStyle/>
          <a:p>
            <a:pPr algn="l"/>
            <a:r>
              <a:rPr sz="1400" b="1">
                <a:solidFill>
                  <a:srgbClr val="0A2540"/>
                </a:solidFill>
                <a:latin typeface="Segoe UI"/>
              </a:rPr>
              <a:t>2 per maand → 53%</a:t>
            </a:r>
          </a:p>
        </p:txBody>
      </p:sp>
      <p:sp>
        <p:nvSpPr>
          <p:cNvPr id="6" name="TextBox 5"/>
          <p:cNvSpPr txBox="1"/>
          <p:nvPr/>
        </p:nvSpPr>
        <p:spPr>
          <a:xfrm>
            <a:off x="4343400" y="2490362"/>
            <a:ext cx="2286000" cy="248920"/>
          </a:xfrm>
          <a:prstGeom prst="rect">
            <a:avLst/>
          </a:prstGeom>
          <a:noFill/>
        </p:spPr>
        <p:txBody>
          <a:bodyPr wrap="none" lIns="0" tIns="0" rIns="0" bIns="0">
            <a:spAutoFit/>
          </a:bodyPr>
          <a:lstStyle/>
          <a:p>
            <a:pPr algn="l"/>
            <a:r>
              <a:rPr sz="1400" b="1">
                <a:solidFill>
                  <a:srgbClr val="0A2540"/>
                </a:solidFill>
                <a:latin typeface="Segoe UI"/>
              </a:rPr>
              <a:t>3 per maand → 99%</a:t>
            </a:r>
          </a:p>
        </p:txBody>
      </p:sp>
      <p:sp>
        <p:nvSpPr>
          <p:cNvPr id="7" name="TextBox 6"/>
          <p:cNvSpPr txBox="1"/>
          <p:nvPr/>
        </p:nvSpPr>
        <p:spPr>
          <a:xfrm>
            <a:off x="1384300" y="2108200"/>
            <a:ext cx="4826000" cy="213360"/>
          </a:xfrm>
          <a:prstGeom prst="rect">
            <a:avLst/>
          </a:prstGeom>
          <a:noFill/>
        </p:spPr>
        <p:txBody>
          <a:bodyPr wrap="none" lIns="0" tIns="0" rIns="0" bIns="0">
            <a:spAutoFit/>
          </a:bodyPr>
          <a:lstStyle/>
          <a:p>
            <a:pPr algn="l"/>
            <a:r>
              <a:rPr sz="1200" b="0">
                <a:solidFill>
                  <a:srgbClr val="5A6E80"/>
                </a:solidFill>
                <a:latin typeface="Segoe UI"/>
              </a:rPr>
              <a:t>kans dat een centrum 24 haalt binnen 12 maanden</a:t>
            </a:r>
          </a:p>
        </p:txBody>
      </p:sp>
      <p:sp>
        <p:nvSpPr>
          <p:cNvPr id="8" name="TextBox 7"/>
          <p:cNvSpPr txBox="1"/>
          <p:nvPr/>
        </p:nvSpPr>
        <p:spPr>
          <a:xfrm>
            <a:off x="1384300" y="5461000"/>
            <a:ext cx="4699000" cy="213360"/>
          </a:xfrm>
          <a:prstGeom prst="rect">
            <a:avLst/>
          </a:prstGeom>
          <a:noFill/>
        </p:spPr>
        <p:txBody>
          <a:bodyPr wrap="none" lIns="0" tIns="0" rIns="0" bIns="0">
            <a:spAutoFit/>
          </a:bodyPr>
          <a:lstStyle/>
          <a:p>
            <a:pPr algn="ctr"/>
            <a:r>
              <a:rPr sz="1200" b="0">
                <a:solidFill>
                  <a:srgbClr val="5A6E80"/>
                </a:solidFill>
                <a:latin typeface="Segoe UI"/>
              </a:rPr>
              <a:t>gemiddeld aantal inclusies per maand, per centrum</a:t>
            </a:r>
          </a:p>
        </p:txBody>
      </p:sp>
      <p:sp>
        <p:nvSpPr>
          <p:cNvPr id="9" name="TextBox 8"/>
          <p:cNvSpPr txBox="1"/>
          <p:nvPr/>
        </p:nvSpPr>
        <p:spPr>
          <a:xfrm>
            <a:off x="6731000" y="2095500"/>
            <a:ext cx="4699000" cy="198120"/>
          </a:xfrm>
          <a:prstGeom prst="rect">
            <a:avLst/>
          </a:prstGeom>
          <a:noFill/>
        </p:spPr>
        <p:txBody>
          <a:bodyPr wrap="none" lIns="0" tIns="0" rIns="0" bIns="0" anchor="t">
            <a:noAutofit/>
          </a:bodyPr>
          <a:lstStyle/>
          <a:p>
            <a:pPr algn="l"/>
            <a:r>
              <a:rPr sz="1200" b="1" i="0">
                <a:solidFill>
                  <a:srgbClr val="0B6E8F"/>
                </a:solidFill>
                <a:latin typeface="DM Sans"/>
              </a:rPr>
              <a:t>Aan drie per maand</a:t>
            </a:r>
          </a:p>
        </p:txBody>
      </p:sp>
      <p:sp>
        <p:nvSpPr>
          <p:cNvPr id="10" name="TextBox 9"/>
          <p:cNvSpPr txBox="1"/>
          <p:nvPr/>
        </p:nvSpPr>
        <p:spPr>
          <a:xfrm>
            <a:off x="6731000" y="2406650"/>
            <a:ext cx="1257300" cy="457200"/>
          </a:xfrm>
          <a:prstGeom prst="rect">
            <a:avLst/>
          </a:prstGeom>
          <a:noFill/>
        </p:spPr>
        <p:txBody>
          <a:bodyPr wrap="none" lIns="0" tIns="0" rIns="0" bIns="0" anchor="t">
            <a:noAutofit/>
          </a:bodyPr>
          <a:lstStyle/>
          <a:p>
            <a:pPr algn="l">
              <a:lnSpc>
                <a:spcPts val="3600"/>
              </a:lnSpc>
            </a:pPr>
            <a:r>
              <a:rPr sz="3600" b="0" i="0">
                <a:solidFill>
                  <a:srgbClr val="0B6E8F"/>
                </a:solidFill>
                <a:latin typeface="DM Serif Display"/>
              </a:rPr>
              <a:t>99%</a:t>
            </a:r>
          </a:p>
        </p:txBody>
      </p:sp>
      <p:sp>
        <p:nvSpPr>
          <p:cNvPr id="11" name="TextBox 10"/>
          <p:cNvSpPr txBox="1"/>
          <p:nvPr/>
        </p:nvSpPr>
        <p:spPr>
          <a:xfrm>
            <a:off x="8115300" y="2616200"/>
            <a:ext cx="3329178"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kans dat een centrum zijn 24 haalt binnen 12 maanden</a:t>
            </a:r>
          </a:p>
        </p:txBody>
      </p:sp>
      <p:sp>
        <p:nvSpPr>
          <p:cNvPr id="12" name="Rectangle 11"/>
          <p:cNvSpPr/>
          <p:nvPr/>
        </p:nvSpPr>
        <p:spPr>
          <a:xfrm>
            <a:off x="6731000" y="3235920"/>
            <a:ext cx="46482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31000" y="3381970"/>
            <a:ext cx="1257300" cy="457200"/>
          </a:xfrm>
          <a:prstGeom prst="rect">
            <a:avLst/>
          </a:prstGeom>
          <a:noFill/>
        </p:spPr>
        <p:txBody>
          <a:bodyPr wrap="none" lIns="0" tIns="0" rIns="0" bIns="0" anchor="t">
            <a:noAutofit/>
          </a:bodyPr>
          <a:lstStyle/>
          <a:p>
            <a:pPr algn="l">
              <a:lnSpc>
                <a:spcPts val="3600"/>
              </a:lnSpc>
            </a:pPr>
            <a:r>
              <a:rPr sz="3600" b="0" i="0">
                <a:solidFill>
                  <a:srgbClr val="0B6E8F"/>
                </a:solidFill>
                <a:latin typeface="DM Serif Display"/>
              </a:rPr>
              <a:t>92%</a:t>
            </a:r>
          </a:p>
        </p:txBody>
      </p:sp>
      <p:sp>
        <p:nvSpPr>
          <p:cNvPr id="14" name="TextBox 13"/>
          <p:cNvSpPr txBox="1"/>
          <p:nvPr/>
        </p:nvSpPr>
        <p:spPr>
          <a:xfrm>
            <a:off x="8115300" y="3591520"/>
            <a:ext cx="3329178"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kans dat alle zes het halen binnen 12 maanden</a:t>
            </a:r>
          </a:p>
        </p:txBody>
      </p:sp>
      <p:sp>
        <p:nvSpPr>
          <p:cNvPr id="15" name="Rectangle 14"/>
          <p:cNvSpPr/>
          <p:nvPr/>
        </p:nvSpPr>
        <p:spPr>
          <a:xfrm>
            <a:off x="6731000" y="4211241"/>
            <a:ext cx="46482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31000" y="4357291"/>
            <a:ext cx="1257300" cy="457200"/>
          </a:xfrm>
          <a:prstGeom prst="rect">
            <a:avLst/>
          </a:prstGeom>
          <a:noFill/>
        </p:spPr>
        <p:txBody>
          <a:bodyPr wrap="none" lIns="0" tIns="0" rIns="0" bIns="0" anchor="t">
            <a:noAutofit/>
          </a:bodyPr>
          <a:lstStyle/>
          <a:p>
            <a:pPr algn="l">
              <a:lnSpc>
                <a:spcPts val="3600"/>
              </a:lnSpc>
            </a:pPr>
            <a:r>
              <a:rPr sz="3600" b="0" i="0">
                <a:solidFill>
                  <a:srgbClr val="0A2540"/>
                </a:solidFill>
                <a:latin typeface="DM Serif Display"/>
              </a:rPr>
              <a:t>7,9</a:t>
            </a:r>
          </a:p>
        </p:txBody>
      </p:sp>
      <p:sp>
        <p:nvSpPr>
          <p:cNvPr id="17" name="TextBox 16"/>
          <p:cNvSpPr txBox="1"/>
          <p:nvPr/>
        </p:nvSpPr>
        <p:spPr>
          <a:xfrm>
            <a:off x="8115300" y="4566841"/>
            <a:ext cx="3329178"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maanden tot 24 inclusies, mediaan per centrum</a:t>
            </a:r>
          </a:p>
        </p:txBody>
      </p:sp>
      <p:sp>
        <p:nvSpPr>
          <p:cNvPr id="18" name="TextBox 17"/>
          <p:cNvSpPr txBox="1"/>
          <p:nvPr/>
        </p:nvSpPr>
        <p:spPr>
          <a:xfrm>
            <a:off x="6731000" y="5029200"/>
            <a:ext cx="4741164" cy="480020"/>
          </a:xfrm>
          <a:prstGeom prst="rect">
            <a:avLst/>
          </a:prstGeom>
          <a:noFill/>
        </p:spPr>
        <p:txBody>
          <a:bodyPr wrap="square" lIns="0" tIns="0" rIns="0" bIns="0" anchor="t">
            <a:noAutofit/>
          </a:bodyPr>
          <a:lstStyle/>
          <a:p>
            <a:pPr algn="l">
              <a:lnSpc>
                <a:spcPts val="1889"/>
              </a:lnSpc>
            </a:pPr>
            <a:r>
              <a:rPr sz="1400" b="0" i="0">
                <a:solidFill>
                  <a:srgbClr val="0A2540"/>
                </a:solidFill>
                <a:latin typeface="DM Sans"/>
              </a:rPr>
              <a:t>Gerekend met een vast tempo vanaf de eerste maand. Een trage start of een zomerdip vraagt die marge.</a:t>
            </a:r>
          </a:p>
        </p:txBody>
      </p:sp>
      <p:pic>
        <p:nvPicPr>
          <p:cNvPr id="19" name="Picture 18" descr="ec5c93e6f83f209b4e97ddfdecd480c8.png"/>
          <p:cNvPicPr>
            <a:picLocks noChangeAspect="1"/>
          </p:cNvPicPr>
          <p:nvPr/>
        </p:nvPicPr>
        <p:blipFill>
          <a:blip r:embed="rId4"/>
          <a:stretch>
            <a:fillRect/>
          </a:stretch>
        </p:blipFill>
        <p:spPr>
          <a:xfrm>
            <a:off x="812967" y="6261100"/>
            <a:ext cx="171116" cy="203200"/>
          </a:xfrm>
          <a:prstGeom prst="rect">
            <a:avLst/>
          </a:prstGeom>
        </p:spPr>
      </p:pic>
      <p:sp>
        <p:nvSpPr>
          <p:cNvPr id="20" name="TextBox 19"/>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Mijlpalen en planning</a:t>
            </a:r>
          </a:p>
        </p:txBody>
      </p:sp>
      <p:sp>
        <p:nvSpPr>
          <p:cNvPr id="21" name="TextBox 20"/>
          <p:cNvSpPr txBox="1"/>
          <p:nvPr/>
        </p:nvSpPr>
        <p:spPr>
          <a:xfrm>
            <a:off x="5613400" y="6254750"/>
            <a:ext cx="5765800" cy="198120"/>
          </a:xfrm>
          <a:prstGeom prst="rect">
            <a:avLst/>
          </a:prstGeom>
          <a:noFill/>
        </p:spPr>
        <p:txBody>
          <a:bodyPr wrap="none" lIns="0" tIns="0" rIns="0" bIns="0" anchor="t">
            <a:noAutofit/>
          </a:bodyPr>
          <a:lstStyle/>
          <a:p>
            <a:pPr algn="r"/>
            <a:r>
              <a:rPr sz="1200" b="0" i="0">
                <a:solidFill>
                  <a:srgbClr val="5A6E80"/>
                </a:solidFill>
                <a:latin typeface="DM Sans"/>
              </a:rPr>
              <a:t>Bron: Poisson-instroom, exact en in 200.000 runs · protocol</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1400"/>
                                        <p:tgtEl>
                                          <p:spTgt spid="4"/>
                                        </p:tgtEl>
                                      </p:cBhvr>
                                    </p:animEffect>
                                  </p:childTnLst>
                                </p:cTn>
                              </p:par>
                            </p:childTnLst>
                          </p:cTn>
                        </p:par>
                        <p:par>
                          <p:cTn id="8" fill="hold">
                            <p:stCondLst>
                              <p:cond delay="0"/>
                            </p:stCondLst>
                            <p:childTnLst>
                              <p:par>
                                <p:cTn id="9" presetID="10" presetClass="entr" presetSubtype="0" fill="hold" grpId="0" nodeType="afterEffect">
                                  <p:stCondLst>
                                    <p:cond delay="20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0"/>
                            </p:stCondLst>
                            <p:childTnLst>
                              <p:par>
                                <p:cTn id="13" presetID="10" presetClass="entr" presetSubtype="0" fill="hold" grpId="0" nodeType="afterEffect">
                                  <p:stCondLst>
                                    <p:cond delay="2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animBg="1"/>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Evenveel uren, sneller klaar</a:t>
            </a:r>
          </a:p>
        </p:txBody>
      </p:sp>
      <p:sp>
        <p:nvSpPr>
          <p:cNvPr id="4" name="TextBox 3"/>
          <p:cNvSpPr txBox="1"/>
          <p:nvPr/>
        </p:nvSpPr>
        <p:spPr>
          <a:xfrm>
            <a:off x="1003300" y="1930400"/>
            <a:ext cx="1905000" cy="266700"/>
          </a:xfrm>
          <a:prstGeom prst="rect">
            <a:avLst/>
          </a:prstGeom>
          <a:noFill/>
        </p:spPr>
        <p:txBody>
          <a:bodyPr wrap="none" lIns="0" tIns="0" rIns="0" bIns="0">
            <a:spAutoFit/>
          </a:bodyPr>
          <a:lstStyle/>
          <a:p>
            <a:pPr algn="l"/>
            <a:r>
              <a:rPr sz="1500" b="1">
                <a:solidFill>
                  <a:srgbClr val="0A2540"/>
                </a:solidFill>
                <a:latin typeface="Segoe UI"/>
              </a:rPr>
              <a:t>3 per maand</a:t>
            </a:r>
          </a:p>
        </p:txBody>
      </p:sp>
      <p:sp>
        <p:nvSpPr>
          <p:cNvPr id="5" name="TextBox 4"/>
          <p:cNvSpPr txBox="1"/>
          <p:nvPr/>
        </p:nvSpPr>
        <p:spPr>
          <a:xfrm>
            <a:off x="2222500" y="1968500"/>
            <a:ext cx="2032000" cy="213360"/>
          </a:xfrm>
          <a:prstGeom prst="rect">
            <a:avLst/>
          </a:prstGeom>
          <a:noFill/>
        </p:spPr>
        <p:txBody>
          <a:bodyPr wrap="none" lIns="0" tIns="0" rIns="0" bIns="0">
            <a:spAutoFit/>
          </a:bodyPr>
          <a:lstStyle/>
          <a:p>
            <a:pPr algn="l"/>
            <a:r>
              <a:rPr sz="1200" b="0">
                <a:solidFill>
                  <a:srgbClr val="5A6E80"/>
                </a:solidFill>
                <a:latin typeface="Segoe UI"/>
              </a:rPr>
              <a:t>12 maanden inclusie</a:t>
            </a:r>
          </a:p>
        </p:txBody>
      </p:sp>
      <p:sp>
        <p:nvSpPr>
          <p:cNvPr id="6" name="TextBox 5"/>
          <p:cNvSpPr txBox="1"/>
          <p:nvPr/>
        </p:nvSpPr>
        <p:spPr>
          <a:xfrm>
            <a:off x="1003300" y="2222500"/>
            <a:ext cx="3302000" cy="213360"/>
          </a:xfrm>
          <a:prstGeom prst="rect">
            <a:avLst/>
          </a:prstGeom>
          <a:noFill/>
        </p:spPr>
        <p:txBody>
          <a:bodyPr wrap="none" lIns="0" tIns="0" rIns="0" bIns="0">
            <a:spAutoFit/>
          </a:bodyPr>
          <a:lstStyle/>
          <a:p>
            <a:pPr algn="l"/>
            <a:r>
              <a:rPr sz="1200" b="0">
                <a:solidFill>
                  <a:srgbClr val="3A4F63"/>
                </a:solidFill>
                <a:latin typeface="Segoe UI"/>
              </a:rPr>
              <a:t>14,0 u/maand tijdens de inclusie</a:t>
            </a:r>
          </a:p>
        </p:txBody>
      </p:sp>
      <p:sp>
        <p:nvSpPr>
          <p:cNvPr id="7" name="TextBox 6"/>
          <p:cNvSpPr txBox="1"/>
          <p:nvPr/>
        </p:nvSpPr>
        <p:spPr>
          <a:xfrm>
            <a:off x="1003300" y="2425700"/>
            <a:ext cx="3302000" cy="213360"/>
          </a:xfrm>
          <a:prstGeom prst="rect">
            <a:avLst/>
          </a:prstGeom>
          <a:noFill/>
        </p:spPr>
        <p:txBody>
          <a:bodyPr wrap="none" lIns="0" tIns="0" rIns="0" bIns="0">
            <a:spAutoFit/>
          </a:bodyPr>
          <a:lstStyle/>
          <a:p>
            <a:pPr algn="l"/>
            <a:r>
              <a:rPr sz="1200" b="0">
                <a:solidFill>
                  <a:srgbClr val="3A4F63"/>
                </a:solidFill>
                <a:latin typeface="Segoe UI"/>
              </a:rPr>
              <a:t>laatste visite jun 2029 (mediaan)</a:t>
            </a:r>
          </a:p>
        </p:txBody>
      </p:sp>
      <p:graphicFrame>
        <p:nvGraphicFramePr>
          <p:cNvPr id="8" name="Chart 7"/>
          <p:cNvGraphicFramePr>
            <a:graphicFrameLocks noGrp="1"/>
          </p:cNvGraphicFramePr>
          <p:nvPr/>
        </p:nvGraphicFramePr>
        <p:xfrm>
          <a:off x="812800" y="2616200"/>
          <a:ext cx="3581400" cy="24130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4724400" y="1930400"/>
            <a:ext cx="1905000" cy="266700"/>
          </a:xfrm>
          <a:prstGeom prst="rect">
            <a:avLst/>
          </a:prstGeom>
          <a:noFill/>
        </p:spPr>
        <p:txBody>
          <a:bodyPr wrap="none" lIns="0" tIns="0" rIns="0" bIns="0">
            <a:spAutoFit/>
          </a:bodyPr>
          <a:lstStyle/>
          <a:p>
            <a:pPr algn="l"/>
            <a:r>
              <a:rPr sz="1500" b="1">
                <a:solidFill>
                  <a:srgbClr val="0A2540"/>
                </a:solidFill>
                <a:latin typeface="Segoe UI"/>
              </a:rPr>
              <a:t>2 per maand</a:t>
            </a:r>
          </a:p>
        </p:txBody>
      </p:sp>
      <p:sp>
        <p:nvSpPr>
          <p:cNvPr id="10" name="TextBox 9"/>
          <p:cNvSpPr txBox="1"/>
          <p:nvPr/>
        </p:nvSpPr>
        <p:spPr>
          <a:xfrm>
            <a:off x="5943600" y="1968500"/>
            <a:ext cx="2032000" cy="213360"/>
          </a:xfrm>
          <a:prstGeom prst="rect">
            <a:avLst/>
          </a:prstGeom>
          <a:noFill/>
        </p:spPr>
        <p:txBody>
          <a:bodyPr wrap="none" lIns="0" tIns="0" rIns="0" bIns="0">
            <a:spAutoFit/>
          </a:bodyPr>
          <a:lstStyle/>
          <a:p>
            <a:pPr algn="l"/>
            <a:r>
              <a:rPr sz="1200" b="0">
                <a:solidFill>
                  <a:srgbClr val="5A6E80"/>
                </a:solidFill>
                <a:latin typeface="Segoe UI"/>
              </a:rPr>
              <a:t>18 maanden inclusie</a:t>
            </a:r>
          </a:p>
        </p:txBody>
      </p:sp>
      <p:sp>
        <p:nvSpPr>
          <p:cNvPr id="11" name="TextBox 10"/>
          <p:cNvSpPr txBox="1"/>
          <p:nvPr/>
        </p:nvSpPr>
        <p:spPr>
          <a:xfrm>
            <a:off x="4724400" y="2222500"/>
            <a:ext cx="3302000" cy="213360"/>
          </a:xfrm>
          <a:prstGeom prst="rect">
            <a:avLst/>
          </a:prstGeom>
          <a:noFill/>
        </p:spPr>
        <p:txBody>
          <a:bodyPr wrap="none" lIns="0" tIns="0" rIns="0" bIns="0">
            <a:spAutoFit/>
          </a:bodyPr>
          <a:lstStyle/>
          <a:p>
            <a:pPr algn="l"/>
            <a:r>
              <a:rPr sz="1200" b="0">
                <a:solidFill>
                  <a:srgbClr val="3A4F63"/>
                </a:solidFill>
                <a:latin typeface="Segoe UI"/>
              </a:rPr>
              <a:t>11,4 u/maand tijdens de inclusie</a:t>
            </a:r>
          </a:p>
        </p:txBody>
      </p:sp>
      <p:sp>
        <p:nvSpPr>
          <p:cNvPr id="12" name="TextBox 11"/>
          <p:cNvSpPr txBox="1"/>
          <p:nvPr/>
        </p:nvSpPr>
        <p:spPr>
          <a:xfrm>
            <a:off x="4724400" y="2425700"/>
            <a:ext cx="3302000" cy="213360"/>
          </a:xfrm>
          <a:prstGeom prst="rect">
            <a:avLst/>
          </a:prstGeom>
          <a:noFill/>
        </p:spPr>
        <p:txBody>
          <a:bodyPr wrap="none" lIns="0" tIns="0" rIns="0" bIns="0">
            <a:spAutoFit/>
          </a:bodyPr>
          <a:lstStyle/>
          <a:p>
            <a:pPr algn="l"/>
            <a:r>
              <a:rPr sz="1200" b="0">
                <a:solidFill>
                  <a:srgbClr val="3A4F63"/>
                </a:solidFill>
                <a:latin typeface="Segoe UI"/>
              </a:rPr>
              <a:t>laatste visite nov 2029 (mediaan)</a:t>
            </a:r>
          </a:p>
        </p:txBody>
      </p:sp>
      <p:graphicFrame>
        <p:nvGraphicFramePr>
          <p:cNvPr id="13" name="Chart 12"/>
          <p:cNvGraphicFramePr>
            <a:graphicFrameLocks noGrp="1"/>
          </p:cNvGraphicFramePr>
          <p:nvPr/>
        </p:nvGraphicFramePr>
        <p:xfrm>
          <a:off x="4533900" y="2616200"/>
          <a:ext cx="3492500" cy="2413000"/>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p:cNvSpPr txBox="1"/>
          <p:nvPr/>
        </p:nvSpPr>
        <p:spPr>
          <a:xfrm>
            <a:off x="8356600" y="1930400"/>
            <a:ext cx="1905000" cy="266700"/>
          </a:xfrm>
          <a:prstGeom prst="rect">
            <a:avLst/>
          </a:prstGeom>
          <a:noFill/>
        </p:spPr>
        <p:txBody>
          <a:bodyPr wrap="none" lIns="0" tIns="0" rIns="0" bIns="0">
            <a:spAutoFit/>
          </a:bodyPr>
          <a:lstStyle/>
          <a:p>
            <a:pPr algn="l"/>
            <a:r>
              <a:rPr sz="1500" b="1">
                <a:solidFill>
                  <a:srgbClr val="0A2540"/>
                </a:solidFill>
                <a:latin typeface="Segoe UI"/>
              </a:rPr>
              <a:t>1,5 per maand</a:t>
            </a:r>
          </a:p>
        </p:txBody>
      </p:sp>
      <p:sp>
        <p:nvSpPr>
          <p:cNvPr id="15" name="TextBox 14"/>
          <p:cNvSpPr txBox="1"/>
          <p:nvPr/>
        </p:nvSpPr>
        <p:spPr>
          <a:xfrm>
            <a:off x="9734550" y="1968500"/>
            <a:ext cx="2032000" cy="213360"/>
          </a:xfrm>
          <a:prstGeom prst="rect">
            <a:avLst/>
          </a:prstGeom>
          <a:noFill/>
        </p:spPr>
        <p:txBody>
          <a:bodyPr wrap="none" lIns="0" tIns="0" rIns="0" bIns="0">
            <a:spAutoFit/>
          </a:bodyPr>
          <a:lstStyle/>
          <a:p>
            <a:pPr algn="l"/>
            <a:r>
              <a:rPr sz="1200" b="0">
                <a:solidFill>
                  <a:srgbClr val="5A6E80"/>
                </a:solidFill>
                <a:latin typeface="Segoe UI"/>
              </a:rPr>
              <a:t>18 maanden inclusie</a:t>
            </a:r>
          </a:p>
        </p:txBody>
      </p:sp>
      <p:sp>
        <p:nvSpPr>
          <p:cNvPr id="16" name="TextBox 15"/>
          <p:cNvSpPr txBox="1"/>
          <p:nvPr/>
        </p:nvSpPr>
        <p:spPr>
          <a:xfrm>
            <a:off x="8356600" y="2222500"/>
            <a:ext cx="3302000" cy="213360"/>
          </a:xfrm>
          <a:prstGeom prst="rect">
            <a:avLst/>
          </a:prstGeom>
          <a:noFill/>
        </p:spPr>
        <p:txBody>
          <a:bodyPr wrap="none" lIns="0" tIns="0" rIns="0" bIns="0">
            <a:spAutoFit/>
          </a:bodyPr>
          <a:lstStyle/>
          <a:p>
            <a:pPr algn="l"/>
            <a:r>
              <a:rPr sz="1200" b="0">
                <a:solidFill>
                  <a:srgbClr val="3A4F63"/>
                </a:solidFill>
                <a:latin typeface="Segoe UI"/>
              </a:rPr>
              <a:t>10,0 u/maand tijdens de inclusie</a:t>
            </a:r>
          </a:p>
        </p:txBody>
      </p:sp>
      <p:sp>
        <p:nvSpPr>
          <p:cNvPr id="17" name="TextBox 16"/>
          <p:cNvSpPr txBox="1"/>
          <p:nvPr/>
        </p:nvSpPr>
        <p:spPr>
          <a:xfrm>
            <a:off x="8356600" y="2425700"/>
            <a:ext cx="3302000" cy="213360"/>
          </a:xfrm>
          <a:prstGeom prst="rect">
            <a:avLst/>
          </a:prstGeom>
          <a:noFill/>
        </p:spPr>
        <p:txBody>
          <a:bodyPr wrap="none" lIns="0" tIns="0" rIns="0" bIns="0">
            <a:spAutoFit/>
          </a:bodyPr>
          <a:lstStyle/>
          <a:p>
            <a:pPr algn="l"/>
            <a:r>
              <a:rPr sz="1200" b="0">
                <a:solidFill>
                  <a:srgbClr val="3A4F63"/>
                </a:solidFill>
                <a:latin typeface="Segoe UI"/>
              </a:rPr>
              <a:t>laatste visite apr 2030 (mediaan)</a:t>
            </a:r>
          </a:p>
        </p:txBody>
      </p:sp>
      <p:graphicFrame>
        <p:nvGraphicFramePr>
          <p:cNvPr id="18" name="Chart 17"/>
          <p:cNvGraphicFramePr>
            <a:graphicFrameLocks noGrp="1"/>
          </p:cNvGraphicFramePr>
          <p:nvPr/>
        </p:nvGraphicFramePr>
        <p:xfrm>
          <a:off x="8166100" y="2616200"/>
          <a:ext cx="3492500" cy="2413000"/>
        </p:xfrm>
        <a:graphic>
          <a:graphicData uri="http://schemas.openxmlformats.org/drawingml/2006/chart">
            <c:chart xmlns:c="http://schemas.openxmlformats.org/drawingml/2006/chart" xmlns:r="http://schemas.openxmlformats.org/officeDocument/2006/relationships" r:id="rId5"/>
          </a:graphicData>
        </a:graphic>
      </p:graphicFrame>
      <p:sp>
        <p:nvSpPr>
          <p:cNvPr id="19" name="Rectangle 18"/>
          <p:cNvSpPr/>
          <p:nvPr/>
        </p:nvSpPr>
        <p:spPr>
          <a:xfrm>
            <a:off x="1092200" y="5245100"/>
            <a:ext cx="139700" cy="139700"/>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82700" y="5207000"/>
            <a:ext cx="1270000" cy="213360"/>
          </a:xfrm>
          <a:prstGeom prst="rect">
            <a:avLst/>
          </a:prstGeom>
          <a:noFill/>
        </p:spPr>
        <p:txBody>
          <a:bodyPr wrap="none" lIns="0" tIns="0" rIns="0" bIns="0">
            <a:spAutoFit/>
          </a:bodyPr>
          <a:lstStyle/>
          <a:p>
            <a:pPr algn="l"/>
            <a:r>
              <a:rPr sz="1200" b="0">
                <a:solidFill>
                  <a:srgbClr val="3A4F63"/>
                </a:solidFill>
                <a:latin typeface="Segoe UI"/>
              </a:rPr>
              <a:t>Visite 1</a:t>
            </a:r>
          </a:p>
        </p:txBody>
      </p:sp>
      <p:sp>
        <p:nvSpPr>
          <p:cNvPr id="21" name="Rectangle 20"/>
          <p:cNvSpPr/>
          <p:nvPr/>
        </p:nvSpPr>
        <p:spPr>
          <a:xfrm>
            <a:off x="1993900" y="5245100"/>
            <a:ext cx="139700" cy="139700"/>
          </a:xfrm>
          <a:prstGeom prst="rect">
            <a:avLst/>
          </a:prstGeom>
          <a:solidFill>
            <a:srgbClr val="FFB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184400" y="5207000"/>
            <a:ext cx="1270000" cy="213360"/>
          </a:xfrm>
          <a:prstGeom prst="rect">
            <a:avLst/>
          </a:prstGeom>
          <a:noFill/>
        </p:spPr>
        <p:txBody>
          <a:bodyPr wrap="none" lIns="0" tIns="0" rIns="0" bIns="0">
            <a:spAutoFit/>
          </a:bodyPr>
          <a:lstStyle/>
          <a:p>
            <a:pPr algn="l"/>
            <a:r>
              <a:rPr sz="1200" b="0">
                <a:solidFill>
                  <a:srgbClr val="3A4F63"/>
                </a:solidFill>
                <a:latin typeface="Segoe UI"/>
              </a:rPr>
              <a:t>Visite 2</a:t>
            </a:r>
          </a:p>
        </p:txBody>
      </p:sp>
      <p:sp>
        <p:nvSpPr>
          <p:cNvPr id="23" name="Rectangle 22"/>
          <p:cNvSpPr/>
          <p:nvPr/>
        </p:nvSpPr>
        <p:spPr>
          <a:xfrm>
            <a:off x="2895600" y="5245100"/>
            <a:ext cx="139700" cy="139700"/>
          </a:xfrm>
          <a:prstGeom prst="rect">
            <a:avLst/>
          </a:prstGeom>
          <a:solidFill>
            <a:srgbClr val="1F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086100" y="5207000"/>
            <a:ext cx="1270000" cy="213360"/>
          </a:xfrm>
          <a:prstGeom prst="rect">
            <a:avLst/>
          </a:prstGeom>
          <a:noFill/>
        </p:spPr>
        <p:txBody>
          <a:bodyPr wrap="none" lIns="0" tIns="0" rIns="0" bIns="0">
            <a:spAutoFit/>
          </a:bodyPr>
          <a:lstStyle/>
          <a:p>
            <a:pPr algn="l"/>
            <a:r>
              <a:rPr sz="1200" b="0">
                <a:solidFill>
                  <a:srgbClr val="3A4F63"/>
                </a:solidFill>
                <a:latin typeface="Segoe UI"/>
              </a:rPr>
              <a:t>Maand 3</a:t>
            </a:r>
          </a:p>
        </p:txBody>
      </p:sp>
      <p:sp>
        <p:nvSpPr>
          <p:cNvPr id="25" name="Rectangle 24"/>
          <p:cNvSpPr/>
          <p:nvPr/>
        </p:nvSpPr>
        <p:spPr>
          <a:xfrm>
            <a:off x="3898900" y="5245100"/>
            <a:ext cx="139700" cy="139700"/>
          </a:xfrm>
          <a:prstGeom prst="rect">
            <a:avLst/>
          </a:prstGeom>
          <a:solidFill>
            <a:srgbClr val="2A8C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089400" y="5207000"/>
            <a:ext cx="1270000" cy="213360"/>
          </a:xfrm>
          <a:prstGeom prst="rect">
            <a:avLst/>
          </a:prstGeom>
          <a:noFill/>
        </p:spPr>
        <p:txBody>
          <a:bodyPr wrap="none" lIns="0" tIns="0" rIns="0" bIns="0">
            <a:spAutoFit/>
          </a:bodyPr>
          <a:lstStyle/>
          <a:p>
            <a:pPr algn="l"/>
            <a:r>
              <a:rPr sz="1200" b="0">
                <a:solidFill>
                  <a:srgbClr val="3A4F63"/>
                </a:solidFill>
                <a:latin typeface="Segoe UI"/>
              </a:rPr>
              <a:t>Maand 6</a:t>
            </a:r>
          </a:p>
        </p:txBody>
      </p:sp>
      <p:sp>
        <p:nvSpPr>
          <p:cNvPr id="27" name="Rectangle 26"/>
          <p:cNvSpPr/>
          <p:nvPr/>
        </p:nvSpPr>
        <p:spPr>
          <a:xfrm>
            <a:off x="4902200" y="5245100"/>
            <a:ext cx="139700" cy="139700"/>
          </a:xfrm>
          <a:prstGeom prst="rect">
            <a:avLst/>
          </a:prstGeom>
          <a:solidFill>
            <a:srgbClr val="45A9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92700" y="5207000"/>
            <a:ext cx="1270000" cy="213360"/>
          </a:xfrm>
          <a:prstGeom prst="rect">
            <a:avLst/>
          </a:prstGeom>
          <a:noFill/>
        </p:spPr>
        <p:txBody>
          <a:bodyPr wrap="none" lIns="0" tIns="0" rIns="0" bIns="0">
            <a:spAutoFit/>
          </a:bodyPr>
          <a:lstStyle/>
          <a:p>
            <a:pPr algn="l"/>
            <a:r>
              <a:rPr sz="1200" b="0">
                <a:solidFill>
                  <a:srgbClr val="3A4F63"/>
                </a:solidFill>
                <a:latin typeface="Segoe UI"/>
              </a:rPr>
              <a:t>Maand 9</a:t>
            </a:r>
          </a:p>
        </p:txBody>
      </p:sp>
      <p:sp>
        <p:nvSpPr>
          <p:cNvPr id="29" name="Rectangle 28"/>
          <p:cNvSpPr/>
          <p:nvPr/>
        </p:nvSpPr>
        <p:spPr>
          <a:xfrm>
            <a:off x="5905500" y="5245100"/>
            <a:ext cx="139700" cy="139700"/>
          </a:xfrm>
          <a:prstGeom prst="rect">
            <a:avLst/>
          </a:prstGeom>
          <a:solidFill>
            <a:srgbClr val="6CC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096000" y="5207000"/>
            <a:ext cx="1270000" cy="213360"/>
          </a:xfrm>
          <a:prstGeom prst="rect">
            <a:avLst/>
          </a:prstGeom>
          <a:noFill/>
        </p:spPr>
        <p:txBody>
          <a:bodyPr wrap="none" lIns="0" tIns="0" rIns="0" bIns="0">
            <a:spAutoFit/>
          </a:bodyPr>
          <a:lstStyle/>
          <a:p>
            <a:pPr algn="l"/>
            <a:r>
              <a:rPr sz="1200" b="0">
                <a:solidFill>
                  <a:srgbClr val="3A4F63"/>
                </a:solidFill>
                <a:latin typeface="Segoe UI"/>
              </a:rPr>
              <a:t>Maand 12</a:t>
            </a:r>
          </a:p>
        </p:txBody>
      </p:sp>
      <p:sp>
        <p:nvSpPr>
          <p:cNvPr id="31" name="Rectangle 30"/>
          <p:cNvSpPr/>
          <p:nvPr/>
        </p:nvSpPr>
        <p:spPr>
          <a:xfrm>
            <a:off x="6991350" y="5245100"/>
            <a:ext cx="139700" cy="139700"/>
          </a:xfrm>
          <a:prstGeom prst="rect">
            <a:avLst/>
          </a:prstGeom>
          <a:solidFill>
            <a:srgbClr val="97D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181850" y="5207000"/>
            <a:ext cx="1270000" cy="213360"/>
          </a:xfrm>
          <a:prstGeom prst="rect">
            <a:avLst/>
          </a:prstGeom>
          <a:noFill/>
        </p:spPr>
        <p:txBody>
          <a:bodyPr wrap="none" lIns="0" tIns="0" rIns="0" bIns="0">
            <a:spAutoFit/>
          </a:bodyPr>
          <a:lstStyle/>
          <a:p>
            <a:pPr algn="l"/>
            <a:r>
              <a:rPr sz="1200" b="0">
                <a:solidFill>
                  <a:srgbClr val="3A4F63"/>
                </a:solidFill>
                <a:latin typeface="Segoe UI"/>
              </a:rPr>
              <a:t>Maand 15</a:t>
            </a:r>
          </a:p>
        </p:txBody>
      </p:sp>
      <p:sp>
        <p:nvSpPr>
          <p:cNvPr id="33" name="Rectangle 32"/>
          <p:cNvSpPr/>
          <p:nvPr/>
        </p:nvSpPr>
        <p:spPr>
          <a:xfrm>
            <a:off x="8077200" y="5245100"/>
            <a:ext cx="139700" cy="139700"/>
          </a:xfrm>
          <a:prstGeom prst="rect">
            <a:avLst/>
          </a:prstGeom>
          <a:solidFill>
            <a:srgbClr val="C4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67700" y="5207000"/>
            <a:ext cx="1270000" cy="213360"/>
          </a:xfrm>
          <a:prstGeom prst="rect">
            <a:avLst/>
          </a:prstGeom>
          <a:noFill/>
        </p:spPr>
        <p:txBody>
          <a:bodyPr wrap="none" lIns="0" tIns="0" rIns="0" bIns="0">
            <a:spAutoFit/>
          </a:bodyPr>
          <a:lstStyle/>
          <a:p>
            <a:pPr algn="l"/>
            <a:r>
              <a:rPr sz="1200" b="0">
                <a:solidFill>
                  <a:srgbClr val="3A4F63"/>
                </a:solidFill>
                <a:latin typeface="Segoe UI"/>
              </a:rPr>
              <a:t>Maand 18</a:t>
            </a:r>
          </a:p>
        </p:txBody>
      </p:sp>
      <p:sp>
        <p:nvSpPr>
          <p:cNvPr id="35" name="TextBox 34"/>
          <p:cNvSpPr txBox="1"/>
          <p:nvPr/>
        </p:nvSpPr>
        <p:spPr>
          <a:xfrm>
            <a:off x="8839200" y="5207000"/>
            <a:ext cx="2540000" cy="213360"/>
          </a:xfrm>
          <a:prstGeom prst="rect">
            <a:avLst/>
          </a:prstGeom>
          <a:noFill/>
        </p:spPr>
        <p:txBody>
          <a:bodyPr wrap="none" lIns="0" tIns="0" rIns="0" bIns="0">
            <a:spAutoFit/>
          </a:bodyPr>
          <a:lstStyle/>
          <a:p>
            <a:pPr algn="r"/>
            <a:r>
              <a:rPr sz="1200" b="0">
                <a:solidFill>
                  <a:srgbClr val="5A6E80"/>
                </a:solidFill>
                <a:latin typeface="Segoe UI"/>
              </a:rPr>
              <a:t>maand na de start</a:t>
            </a:r>
          </a:p>
        </p:txBody>
      </p:sp>
      <p:sp>
        <p:nvSpPr>
          <p:cNvPr id="36" name="TextBox 35"/>
          <p:cNvSpPr txBox="1"/>
          <p:nvPr/>
        </p:nvSpPr>
        <p:spPr>
          <a:xfrm>
            <a:off x="812800" y="5613400"/>
            <a:ext cx="10617200" cy="240030"/>
          </a:xfrm>
          <a:prstGeom prst="rect">
            <a:avLst/>
          </a:prstGeom>
          <a:noFill/>
        </p:spPr>
        <p:txBody>
          <a:bodyPr wrap="none" lIns="0" tIns="0" rIns="0" bIns="0" anchor="t">
            <a:noAutofit/>
          </a:bodyPr>
          <a:lstStyle/>
          <a:p>
            <a:pPr algn="l">
              <a:lnSpc>
                <a:spcPts val="1889"/>
              </a:lnSpc>
            </a:pPr>
            <a:r>
              <a:rPr sz="1400" b="0" i="0">
                <a:solidFill>
                  <a:srgbClr val="0A2540"/>
                </a:solidFill>
                <a:latin typeface="DM Sans"/>
              </a:rPr>
              <a:t>Elk tempo vraagt 300 uur per centrum. Trager includeren spreidt ze, maar schuift de laatste visite naar 2030.</a:t>
            </a:r>
          </a:p>
        </p:txBody>
      </p:sp>
      <p:pic>
        <p:nvPicPr>
          <p:cNvPr id="37" name="Picture 36" descr="ec5c93e6f83f209b4e97ddfdecd480c8.png"/>
          <p:cNvPicPr>
            <a:picLocks noChangeAspect="1"/>
          </p:cNvPicPr>
          <p:nvPr/>
        </p:nvPicPr>
        <p:blipFill>
          <a:blip r:embed="rId6"/>
          <a:stretch>
            <a:fillRect/>
          </a:stretch>
        </p:blipFill>
        <p:spPr>
          <a:xfrm>
            <a:off x="812967" y="6261100"/>
            <a:ext cx="171116" cy="203200"/>
          </a:xfrm>
          <a:prstGeom prst="rect">
            <a:avLst/>
          </a:prstGeom>
        </p:spPr>
      </p:pic>
      <p:sp>
        <p:nvSpPr>
          <p:cNvPr id="38" name="TextBox 37"/>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Mijlpalen en planning</a:t>
            </a:r>
          </a:p>
        </p:txBody>
      </p:sp>
      <p:sp>
        <p:nvSpPr>
          <p:cNvPr id="39" name="TextBox 38"/>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simulatie, 4.000 runs · 16 u OC, 9 u UC · start 24 feb 2027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1400"/>
                                        <p:tgtEl>
                                          <p:spTgt spid="8"/>
                                        </p:tgtEl>
                                      </p:cBhvr>
                                    </p:animEffect>
                                  </p:childTnLst>
                                </p:cTn>
                              </p:par>
                            </p:childTnLst>
                          </p:cTn>
                        </p:par>
                        <p:par>
                          <p:cTn id="8" fill="hold">
                            <p:stCondLst>
                              <p:cond delay="0"/>
                            </p:stCondLst>
                            <p:childTnLst>
                              <p:par>
                                <p:cTn id="9" presetID="22" presetClass="entr" presetSubtype="4" fill="hold" grpId="0" nodeType="afterEffect">
                                  <p:stCondLst>
                                    <p:cond delay="20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1400"/>
                                        <p:tgtEl>
                                          <p:spTgt spid="13"/>
                                        </p:tgtEl>
                                      </p:cBhvr>
                                    </p:animEffect>
                                  </p:childTnLst>
                                </p:cTn>
                              </p:par>
                            </p:childTnLst>
                          </p:cTn>
                        </p:par>
                        <p:par>
                          <p:cTn id="12" fill="hold">
                            <p:stCondLst>
                              <p:cond delay="0"/>
                            </p:stCondLst>
                            <p:childTnLst>
                              <p:par>
                                <p:cTn id="13" presetID="22" presetClass="entr" presetSubtype="4" fill="hold" grpId="0" nodeType="afterEffect">
                                  <p:stCondLst>
                                    <p:cond delay="200"/>
                                  </p:stCondLst>
                                  <p:childTnLst>
                                    <p:set>
                                      <p:cBhvr>
                                        <p:cTn id="14" dur="1" fill="hold">
                                          <p:stCondLst>
                                            <p:cond delay="0"/>
                                          </p:stCondLst>
                                        </p:cTn>
                                        <p:tgtEl>
                                          <p:spTgt spid="18"/>
                                        </p:tgtEl>
                                        <p:attrNameLst>
                                          <p:attrName>style.visibility</p:attrName>
                                        </p:attrNameLst>
                                      </p:cBhvr>
                                      <p:to>
                                        <p:strVal val="visible"/>
                                      </p:to>
                                    </p:set>
                                    <p:animEffect transition="in" filter="wipe(up)">
                                      <p:cBhvr>
                                        <p:cTn id="15" dur="1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Graphic spid="13" grpId="0">
        <p:bldAsOne/>
      </p:bldGraphic>
      <p:bldGraphic spid="18" grpId="0">
        <p:bldAsOne/>
      </p:bldGraphic>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4e287ae005ab9f8997461f000820af22.png"/>
          <p:cNvPicPr>
            <a:picLocks noChangeAspect="1"/>
          </p:cNvPicPr>
          <p:nvPr/>
        </p:nvPicPr>
        <p:blipFill>
          <a:blip r:embed="rId3"/>
          <a:stretch>
            <a:fillRect/>
          </a:stretch>
        </p:blipFill>
        <p:spPr>
          <a:xfrm>
            <a:off x="7874000" y="0"/>
            <a:ext cx="6388100" cy="7302500"/>
          </a:xfrm>
          <a:prstGeom prst="rect">
            <a:avLst/>
          </a:prstGeom>
        </p:spPr>
      </p:pic>
      <p:sp>
        <p:nvSpPr>
          <p:cNvPr id="3" name="Rounded Rectangle 2"/>
          <p:cNvSpPr/>
          <p:nvPr/>
        </p:nvSpPr>
        <p:spPr>
          <a:xfrm>
            <a:off x="8128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4fe31fe826e2a686c44b2a9df6f4ec34.png"/>
          <p:cNvPicPr>
            <a:picLocks noChangeAspect="1"/>
          </p:cNvPicPr>
          <p:nvPr/>
        </p:nvPicPr>
        <p:blipFill>
          <a:blip r:embed="rId4"/>
          <a:stretch>
            <a:fillRect/>
          </a:stretch>
        </p:blipFill>
        <p:spPr>
          <a:xfrm>
            <a:off x="819150" y="1847850"/>
            <a:ext cx="2476500" cy="1393031"/>
          </a:xfrm>
          <a:prstGeom prst="rect">
            <a:avLst/>
          </a:prstGeom>
        </p:spPr>
      </p:pic>
      <p:sp>
        <p:nvSpPr>
          <p:cNvPr id="5" name="Rounded Rectangle 4"/>
          <p:cNvSpPr/>
          <p:nvPr/>
        </p:nvSpPr>
        <p:spPr>
          <a:xfrm>
            <a:off x="8128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128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1 Stand van zaken</a:t>
            </a:r>
          </a:p>
        </p:txBody>
      </p:sp>
      <p:sp>
        <p:nvSpPr>
          <p:cNvPr id="7" name="Rounded Rectangle 6"/>
          <p:cNvSpPr/>
          <p:nvPr/>
        </p:nvSpPr>
        <p:spPr>
          <a:xfrm>
            <a:off x="35052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af6c315e3b6c8da4983f797f076543ae.png"/>
          <p:cNvPicPr>
            <a:picLocks noChangeAspect="1"/>
          </p:cNvPicPr>
          <p:nvPr/>
        </p:nvPicPr>
        <p:blipFill>
          <a:blip r:embed="rId5"/>
          <a:stretch>
            <a:fillRect/>
          </a:stretch>
        </p:blipFill>
        <p:spPr>
          <a:xfrm>
            <a:off x="3511550" y="1847850"/>
            <a:ext cx="2476500" cy="1393031"/>
          </a:xfrm>
          <a:prstGeom prst="rect">
            <a:avLst/>
          </a:prstGeom>
        </p:spPr>
      </p:pic>
      <p:sp>
        <p:nvSpPr>
          <p:cNvPr id="9" name="Rounded Rectangle 8"/>
          <p:cNvSpPr/>
          <p:nvPr/>
        </p:nvSpPr>
        <p:spPr>
          <a:xfrm>
            <a:off x="35052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5052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2 Ontwikkelingen sinds 1 april</a:t>
            </a:r>
          </a:p>
        </p:txBody>
      </p:sp>
      <p:sp>
        <p:nvSpPr>
          <p:cNvPr id="11" name="Rounded Rectangle 10"/>
          <p:cNvSpPr/>
          <p:nvPr/>
        </p:nvSpPr>
        <p:spPr>
          <a:xfrm>
            <a:off x="61976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b3575449de919ba8ba77497cf770d56b.png"/>
          <p:cNvPicPr>
            <a:picLocks noChangeAspect="1"/>
          </p:cNvPicPr>
          <p:nvPr/>
        </p:nvPicPr>
        <p:blipFill>
          <a:blip r:embed="rId6"/>
          <a:stretch>
            <a:fillRect/>
          </a:stretch>
        </p:blipFill>
        <p:spPr>
          <a:xfrm>
            <a:off x="6203950" y="1847850"/>
            <a:ext cx="2476500" cy="1393031"/>
          </a:xfrm>
          <a:prstGeom prst="rect">
            <a:avLst/>
          </a:prstGeom>
        </p:spPr>
      </p:pic>
      <p:sp>
        <p:nvSpPr>
          <p:cNvPr id="13" name="Rounded Rectangle 12"/>
          <p:cNvSpPr/>
          <p:nvPr/>
        </p:nvSpPr>
        <p:spPr>
          <a:xfrm>
            <a:off x="61976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1976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3 Werkpakketten</a:t>
            </a:r>
          </a:p>
        </p:txBody>
      </p:sp>
      <p:sp>
        <p:nvSpPr>
          <p:cNvPr id="15" name="Rounded Rectangle 14"/>
          <p:cNvSpPr/>
          <p:nvPr/>
        </p:nvSpPr>
        <p:spPr>
          <a:xfrm>
            <a:off x="88900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76718c0faffa53b3e96d91bd5d17d843.png"/>
          <p:cNvPicPr>
            <a:picLocks noChangeAspect="1"/>
          </p:cNvPicPr>
          <p:nvPr/>
        </p:nvPicPr>
        <p:blipFill>
          <a:blip r:embed="rId7"/>
          <a:stretch>
            <a:fillRect/>
          </a:stretch>
        </p:blipFill>
        <p:spPr>
          <a:xfrm>
            <a:off x="8896350" y="1847850"/>
            <a:ext cx="2476500" cy="1393031"/>
          </a:xfrm>
          <a:prstGeom prst="rect">
            <a:avLst/>
          </a:prstGeom>
        </p:spPr>
      </p:pic>
      <p:sp>
        <p:nvSpPr>
          <p:cNvPr id="17" name="Rounded Rectangle 16"/>
          <p:cNvSpPr/>
          <p:nvPr/>
        </p:nvSpPr>
        <p:spPr>
          <a:xfrm>
            <a:off x="88900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8900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4 Aandachtspunten</a:t>
            </a:r>
          </a:p>
        </p:txBody>
      </p:sp>
      <p:sp>
        <p:nvSpPr>
          <p:cNvPr id="19" name="Rounded Rectangle 18"/>
          <p:cNvSpPr/>
          <p:nvPr/>
        </p:nvSpPr>
        <p:spPr>
          <a:xfrm>
            <a:off x="21590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c828e07bbef239086018a2f6a17a466c.png"/>
          <p:cNvPicPr>
            <a:picLocks noChangeAspect="1"/>
          </p:cNvPicPr>
          <p:nvPr/>
        </p:nvPicPr>
        <p:blipFill>
          <a:blip r:embed="rId8"/>
          <a:stretch>
            <a:fillRect/>
          </a:stretch>
        </p:blipFill>
        <p:spPr>
          <a:xfrm>
            <a:off x="2165350" y="4121150"/>
            <a:ext cx="2476500" cy="1393031"/>
          </a:xfrm>
          <a:prstGeom prst="rect">
            <a:avLst/>
          </a:prstGeom>
        </p:spPr>
      </p:pic>
      <p:sp>
        <p:nvSpPr>
          <p:cNvPr id="21" name="Rounded Rectangle 20"/>
          <p:cNvSpPr/>
          <p:nvPr/>
        </p:nvSpPr>
        <p:spPr>
          <a:xfrm>
            <a:off x="2159000" y="41148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2159000" y="56007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5 Mijlpalen en planning</a:t>
            </a:r>
          </a:p>
        </p:txBody>
      </p:sp>
      <p:pic>
        <p:nvPicPr>
          <p:cNvPr id="23" name="Picture 22" descr="dad1d5849a0f54ecab7e2a87be32dc30.png"/>
          <p:cNvPicPr>
            <a:picLocks noChangeAspect="1"/>
          </p:cNvPicPr>
          <p:nvPr/>
        </p:nvPicPr>
        <p:blipFill>
          <a:blip r:embed="rId9"/>
          <a:stretch>
            <a:fillRect/>
          </a:stretch>
        </p:blipFill>
        <p:spPr>
          <a:xfrm>
            <a:off x="4940300" y="4025900"/>
            <a:ext cx="2311400" cy="1301750"/>
          </a:xfrm>
          <a:prstGeom prst="rect">
            <a:avLst/>
          </a:prstGeom>
        </p:spPr>
      </p:pic>
      <p:sp>
        <p:nvSpPr>
          <p:cNvPr id="24" name="Rounded Rectangle 23"/>
          <p:cNvSpPr/>
          <p:nvPr/>
        </p:nvSpPr>
        <p:spPr>
          <a:xfrm>
            <a:off x="4851400" y="4114800"/>
            <a:ext cx="2489200" cy="1397000"/>
          </a:xfrm>
          <a:prstGeom prst="roundRect">
            <a:avLst>
              <a:gd name="adj" fmla="val 1363"/>
            </a:avLst>
          </a:prstGeom>
          <a:solidFill>
            <a:srgbClr val="FFFFFF"/>
          </a:solidFill>
          <a:ln w="1905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Picture 24" descr="a218f23a9d1aeae7790db2aa9d8f48a7.png"/>
          <p:cNvPicPr>
            <a:picLocks noChangeAspect="1"/>
          </p:cNvPicPr>
          <p:nvPr/>
        </p:nvPicPr>
        <p:blipFill>
          <a:blip r:embed="rId10"/>
          <a:stretch>
            <a:fillRect/>
          </a:stretch>
        </p:blipFill>
        <p:spPr>
          <a:xfrm>
            <a:off x="4870450" y="4133850"/>
            <a:ext cx="2451100" cy="1378744"/>
          </a:xfrm>
          <a:prstGeom prst="rect">
            <a:avLst/>
          </a:prstGeom>
        </p:spPr>
      </p:pic>
      <p:sp>
        <p:nvSpPr>
          <p:cNvPr id="26" name="TextBox 25"/>
          <p:cNvSpPr txBox="1"/>
          <p:nvPr/>
        </p:nvSpPr>
        <p:spPr>
          <a:xfrm>
            <a:off x="4851400" y="5600700"/>
            <a:ext cx="2540000" cy="213360"/>
          </a:xfrm>
          <a:prstGeom prst="rect">
            <a:avLst/>
          </a:prstGeom>
          <a:noFill/>
        </p:spPr>
        <p:txBody>
          <a:bodyPr wrap="none" lIns="0" tIns="0" rIns="0" bIns="0" anchor="t">
            <a:noAutofit/>
          </a:bodyPr>
          <a:lstStyle/>
          <a:p>
            <a:pPr algn="l">
              <a:lnSpc>
                <a:spcPts val="1680"/>
              </a:lnSpc>
            </a:pPr>
            <a:r>
              <a:rPr sz="1400" b="0" i="0">
                <a:solidFill>
                  <a:srgbClr val="A34A00"/>
                </a:solidFill>
                <a:latin typeface="DM Sans"/>
              </a:rPr>
              <a:t>6 Bespreking</a:t>
            </a:r>
          </a:p>
        </p:txBody>
      </p:sp>
      <p:pic>
        <p:nvPicPr>
          <p:cNvPr id="27" name="Picture 26" descr="e49a2c4874452277a94494e99280aaa0.png"/>
          <p:cNvPicPr>
            <a:picLocks noChangeAspect="1"/>
          </p:cNvPicPr>
          <p:nvPr/>
        </p:nvPicPr>
        <p:blipFill>
          <a:blip r:embed="rId11"/>
          <a:stretch>
            <a:fillRect/>
          </a:stretch>
        </p:blipFill>
        <p:spPr>
          <a:xfrm>
            <a:off x="7632700" y="4025900"/>
            <a:ext cx="2311400" cy="1301750"/>
          </a:xfrm>
          <a:prstGeom prst="rect">
            <a:avLst/>
          </a:prstGeom>
        </p:spPr>
      </p:pic>
      <p:sp>
        <p:nvSpPr>
          <p:cNvPr id="28" name="Rounded Rectangle 27"/>
          <p:cNvSpPr/>
          <p:nvPr/>
        </p:nvSpPr>
        <p:spPr>
          <a:xfrm>
            <a:off x="75438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Picture 28" descr="0b3315c9a761b9fd4dfcb184751fa8ea.png"/>
          <p:cNvPicPr>
            <a:picLocks noChangeAspect="1"/>
          </p:cNvPicPr>
          <p:nvPr/>
        </p:nvPicPr>
        <p:blipFill>
          <a:blip r:embed="rId12"/>
          <a:stretch>
            <a:fillRect/>
          </a:stretch>
        </p:blipFill>
        <p:spPr>
          <a:xfrm>
            <a:off x="7550150" y="4121150"/>
            <a:ext cx="2476500" cy="1393031"/>
          </a:xfrm>
          <a:prstGeom prst="rect">
            <a:avLst/>
          </a:prstGeom>
        </p:spPr>
      </p:pic>
      <p:sp>
        <p:nvSpPr>
          <p:cNvPr id="30" name="TextBox 29"/>
          <p:cNvSpPr txBox="1"/>
          <p:nvPr/>
        </p:nvSpPr>
        <p:spPr>
          <a:xfrm>
            <a:off x="75438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7 Tour de table</a:t>
            </a:r>
          </a:p>
        </p:txBody>
      </p:sp>
      <p:sp>
        <p:nvSpPr>
          <p:cNvPr id="31" name="TextBox 30"/>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we vandaag overlopen</a:t>
            </a:r>
          </a:p>
        </p:txBody>
      </p:sp>
      <p:pic>
        <p:nvPicPr>
          <p:cNvPr id="32" name="Picture 31" descr="ec5c93e6f83f209b4e97ddfdecd480c8.png"/>
          <p:cNvPicPr>
            <a:picLocks noChangeAspect="1"/>
          </p:cNvPicPr>
          <p:nvPr/>
        </p:nvPicPr>
        <p:blipFill>
          <a:blip r:embed="rId13"/>
          <a:stretch>
            <a:fillRect/>
          </a:stretch>
        </p:blipFill>
        <p:spPr>
          <a:xfrm>
            <a:off x="812967" y="6261100"/>
            <a:ext cx="171116" cy="203200"/>
          </a:xfrm>
          <a:prstGeom prst="rect">
            <a:avLst/>
          </a:prstGeom>
        </p:spPr>
      </p:pic>
      <p:sp>
        <p:nvSpPr>
          <p:cNvPr id="33" name="TextBox 32"/>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5A6E80"/>
                </a:solidFill>
                <a:latin typeface="DM Sans"/>
              </a:rPr>
              <a:t>PARADISE · kick-off 12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955800" cy="5029200"/>
          </a:xfrm>
          <a:prstGeom prst="rect">
            <a:avLst/>
          </a:prstGeom>
          <a:noFill/>
        </p:spPr>
        <p:txBody>
          <a:bodyPr wrap="square" lIns="0" tIns="0" rIns="0" bIns="0" anchor="t">
            <a:noAutofit/>
          </a:bodyPr>
          <a:lstStyle/>
          <a:p>
            <a:pPr algn="l">
              <a:lnSpc>
                <a:spcPts val="16200"/>
              </a:lnSpc>
            </a:pPr>
            <a:r>
              <a:rPr sz="18000" b="0" i="0">
                <a:solidFill>
                  <a:srgbClr val="FF9A3D"/>
                </a:solidFill>
                <a:latin typeface="DM Serif Display"/>
              </a:rPr>
              <a:t>6</a:t>
            </a:r>
          </a:p>
        </p:txBody>
      </p:sp>
      <p:sp>
        <p:nvSpPr>
          <p:cNvPr id="4" name="TextBox 3"/>
          <p:cNvSpPr txBox="1"/>
          <p:nvPr/>
        </p:nvSpPr>
        <p:spPr>
          <a:xfrm>
            <a:off x="3327400" y="812800"/>
            <a:ext cx="8102600" cy="215900"/>
          </a:xfrm>
          <a:prstGeom prst="rect">
            <a:avLst/>
          </a:prstGeom>
          <a:noFill/>
        </p:spPr>
        <p:txBody>
          <a:bodyPr wrap="none" lIns="0" tIns="0" rIns="0" bIns="0" anchor="t">
            <a:noAutofit/>
          </a:bodyPr>
          <a:lstStyle/>
          <a:p>
            <a:pPr algn="l"/>
            <a:r>
              <a:rPr sz="1300" b="1" i="0">
                <a:solidFill>
                  <a:srgbClr val="52BDEC"/>
                </a:solidFill>
                <a:latin typeface="DM Sans"/>
              </a:rPr>
              <a:t>Deel 6 van 7</a:t>
            </a:r>
          </a:p>
        </p:txBody>
      </p:sp>
      <p:sp>
        <p:nvSpPr>
          <p:cNvPr id="5" name="TextBox 4"/>
          <p:cNvSpPr txBox="1"/>
          <p:nvPr/>
        </p:nvSpPr>
        <p:spPr>
          <a:xfrm>
            <a:off x="3327400" y="1206500"/>
            <a:ext cx="8102600" cy="586740"/>
          </a:xfrm>
          <a:prstGeom prst="rect">
            <a:avLst/>
          </a:prstGeom>
          <a:noFill/>
        </p:spPr>
        <p:txBody>
          <a:bodyPr wrap="none" lIns="0" tIns="0" rIns="0" bIns="0" anchor="t">
            <a:noAutofit/>
          </a:bodyPr>
          <a:lstStyle/>
          <a:p>
            <a:pPr algn="l">
              <a:lnSpc>
                <a:spcPts val="4620"/>
              </a:lnSpc>
            </a:pPr>
            <a:r>
              <a:rPr sz="4400" b="0" i="0" spc="-50">
                <a:solidFill>
                  <a:srgbClr val="F2F8FC"/>
                </a:solidFill>
                <a:latin typeface="DM Serif Display"/>
              </a:rPr>
              <a:t>Bespreking</a:t>
            </a:r>
          </a:p>
        </p:txBody>
      </p:sp>
      <p:sp>
        <p:nvSpPr>
          <p:cNvPr id="6" name="TextBox 5"/>
          <p:cNvSpPr txBox="1"/>
          <p:nvPr/>
        </p:nvSpPr>
        <p:spPr>
          <a:xfrm>
            <a:off x="3327400" y="1970980"/>
            <a:ext cx="8102600" cy="335280"/>
          </a:xfrm>
          <a:prstGeom prst="rect">
            <a:avLst/>
          </a:prstGeom>
          <a:noFill/>
        </p:spPr>
        <p:txBody>
          <a:bodyPr wrap="none" lIns="0" tIns="0" rIns="0" bIns="0" anchor="t">
            <a:noAutofit/>
          </a:bodyPr>
          <a:lstStyle/>
          <a:p>
            <a:pPr algn="l">
              <a:lnSpc>
                <a:spcPts val="2640"/>
              </a:lnSpc>
            </a:pPr>
            <a:r>
              <a:rPr sz="2200" b="0" i="1">
                <a:solidFill>
                  <a:srgbClr val="52BDEC"/>
                </a:solidFill>
                <a:latin typeface="DM Serif Display"/>
              </a:rPr>
              <a:t>Wat vragen we van u?</a:t>
            </a:r>
          </a:p>
        </p:txBody>
      </p:sp>
      <p:sp>
        <p:nvSpPr>
          <p:cNvPr id="7" name="Rectangle 6"/>
          <p:cNvSpPr/>
          <p:nvPr/>
        </p:nvSpPr>
        <p:spPr>
          <a:xfrm>
            <a:off x="3327400" y="494545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27400" y="504070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wat we vragen, en wat we voorleggen</a:t>
            </a:r>
          </a:p>
        </p:txBody>
      </p:sp>
      <p:sp>
        <p:nvSpPr>
          <p:cNvPr id="9" name="Rectangle 8"/>
          <p:cNvSpPr/>
          <p:nvPr/>
        </p:nvSpPr>
        <p:spPr>
          <a:xfrm>
            <a:off x="3327400" y="5393730"/>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27400" y="5488980"/>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het logo, ter goedkeuring</a:t>
            </a:r>
          </a:p>
        </p:txBody>
      </p:sp>
      <p:pic>
        <p:nvPicPr>
          <p:cNvPr id="11" name="Picture 10"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12" name="TextBox 11"/>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6F8FAA"/>
                </a:solidFill>
                <a:latin typeface="DM Sans"/>
              </a:rPr>
              <a:t>PARADISE · Bespreking</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Het logo, ter goedkeuring</a:t>
            </a:r>
          </a:p>
        </p:txBody>
      </p:sp>
      <p:sp>
        <p:nvSpPr>
          <p:cNvPr id="4" name="Rounded Rectangle 3"/>
          <p:cNvSpPr/>
          <p:nvPr/>
        </p:nvSpPr>
        <p:spPr>
          <a:xfrm>
            <a:off x="812800" y="1544241"/>
            <a:ext cx="3403600" cy="2286000"/>
          </a:xfrm>
          <a:prstGeom prst="roundRect">
            <a:avLst>
              <a:gd name="adj" fmla="val 5555"/>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14abb052316bca6838ae130b0aff4182.png"/>
          <p:cNvPicPr>
            <a:picLocks noChangeAspect="1"/>
          </p:cNvPicPr>
          <p:nvPr/>
        </p:nvPicPr>
        <p:blipFill>
          <a:blip r:embed="rId3"/>
          <a:stretch>
            <a:fillRect/>
          </a:stretch>
        </p:blipFill>
        <p:spPr>
          <a:xfrm>
            <a:off x="1054100" y="2148183"/>
            <a:ext cx="2921000" cy="1078115"/>
          </a:xfrm>
          <a:prstGeom prst="rect">
            <a:avLst/>
          </a:prstGeom>
        </p:spPr>
      </p:pic>
      <p:sp>
        <p:nvSpPr>
          <p:cNvPr id="6" name="TextBox 5"/>
          <p:cNvSpPr txBox="1"/>
          <p:nvPr/>
        </p:nvSpPr>
        <p:spPr>
          <a:xfrm>
            <a:off x="812800" y="3931841"/>
            <a:ext cx="3454400" cy="222885"/>
          </a:xfrm>
          <a:prstGeom prst="rect">
            <a:avLst/>
          </a:prstGeom>
          <a:noFill/>
        </p:spPr>
        <p:txBody>
          <a:bodyPr wrap="none" lIns="0" tIns="0" rIns="0" bIns="0" anchor="t">
            <a:noAutofit/>
          </a:bodyPr>
          <a:lstStyle/>
          <a:p>
            <a:pPr algn="l">
              <a:lnSpc>
                <a:spcPts val="1755"/>
              </a:lnSpc>
            </a:pPr>
            <a:r>
              <a:rPr sz="1300" b="0" i="0">
                <a:solidFill>
                  <a:srgbClr val="3A4F63"/>
                </a:solidFill>
                <a:latin typeface="DM Sans"/>
              </a:rPr>
              <a:t>Licht: formulieren en patiëntenmateriaal</a:t>
            </a:r>
          </a:p>
        </p:txBody>
      </p:sp>
      <p:sp>
        <p:nvSpPr>
          <p:cNvPr id="7" name="Rounded Rectangle 6"/>
          <p:cNvSpPr/>
          <p:nvPr/>
        </p:nvSpPr>
        <p:spPr>
          <a:xfrm>
            <a:off x="4394200" y="1544241"/>
            <a:ext cx="3403600" cy="2286000"/>
          </a:xfrm>
          <a:prstGeom prst="roundRect">
            <a:avLst>
              <a:gd name="adj" fmla="val 5555"/>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26a7dee763c7c6bdb630f5266dca120c.png"/>
          <p:cNvPicPr>
            <a:picLocks noChangeAspect="1"/>
          </p:cNvPicPr>
          <p:nvPr/>
        </p:nvPicPr>
        <p:blipFill>
          <a:blip r:embed="rId4"/>
          <a:stretch>
            <a:fillRect/>
          </a:stretch>
        </p:blipFill>
        <p:spPr>
          <a:xfrm>
            <a:off x="5270500" y="1956991"/>
            <a:ext cx="1651000" cy="1460500"/>
          </a:xfrm>
          <a:prstGeom prst="rect">
            <a:avLst/>
          </a:prstGeom>
        </p:spPr>
      </p:pic>
      <p:sp>
        <p:nvSpPr>
          <p:cNvPr id="9" name="TextBox 8"/>
          <p:cNvSpPr txBox="1"/>
          <p:nvPr/>
        </p:nvSpPr>
        <p:spPr>
          <a:xfrm>
            <a:off x="4368800" y="3931841"/>
            <a:ext cx="3454400" cy="222885"/>
          </a:xfrm>
          <a:prstGeom prst="rect">
            <a:avLst/>
          </a:prstGeom>
          <a:noFill/>
        </p:spPr>
        <p:txBody>
          <a:bodyPr wrap="none" lIns="0" tIns="0" rIns="0" bIns="0" anchor="t">
            <a:noAutofit/>
          </a:bodyPr>
          <a:lstStyle/>
          <a:p>
            <a:pPr algn="ctr">
              <a:lnSpc>
                <a:spcPts val="1755"/>
              </a:lnSpc>
            </a:pPr>
            <a:r>
              <a:rPr sz="1300" b="0" i="0">
                <a:solidFill>
                  <a:srgbClr val="3A4F63"/>
                </a:solidFill>
                <a:latin typeface="DM Sans"/>
              </a:rPr>
              <a:t>Nieuw idee uitwerken</a:t>
            </a:r>
          </a:p>
        </p:txBody>
      </p:sp>
      <p:sp>
        <p:nvSpPr>
          <p:cNvPr id="10" name="Rounded Rectangle 9"/>
          <p:cNvSpPr/>
          <p:nvPr/>
        </p:nvSpPr>
        <p:spPr>
          <a:xfrm>
            <a:off x="7975600" y="1544241"/>
            <a:ext cx="3403600" cy="2286000"/>
          </a:xfrm>
          <a:prstGeom prst="roundRect">
            <a:avLst>
              <a:gd name="adj" fmla="val 5555"/>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27f39b7b096b67629011c49f0e7b794e.png"/>
          <p:cNvPicPr>
            <a:picLocks noChangeAspect="1"/>
          </p:cNvPicPr>
          <p:nvPr/>
        </p:nvPicPr>
        <p:blipFill>
          <a:blip r:embed="rId5"/>
          <a:stretch>
            <a:fillRect/>
          </a:stretch>
        </p:blipFill>
        <p:spPr>
          <a:xfrm>
            <a:off x="8978900" y="1888955"/>
            <a:ext cx="1397000" cy="1596571"/>
          </a:xfrm>
          <a:prstGeom prst="rect">
            <a:avLst/>
          </a:prstGeom>
        </p:spPr>
      </p:pic>
      <p:sp>
        <p:nvSpPr>
          <p:cNvPr id="12" name="TextBox 11"/>
          <p:cNvSpPr txBox="1"/>
          <p:nvPr/>
        </p:nvSpPr>
        <p:spPr>
          <a:xfrm>
            <a:off x="7975600" y="3931841"/>
            <a:ext cx="3454400" cy="222885"/>
          </a:xfrm>
          <a:prstGeom prst="rect">
            <a:avLst/>
          </a:prstGeom>
          <a:noFill/>
        </p:spPr>
        <p:txBody>
          <a:bodyPr wrap="none" lIns="0" tIns="0" rIns="0" bIns="0" anchor="t">
            <a:noAutofit/>
          </a:bodyPr>
          <a:lstStyle/>
          <a:p>
            <a:pPr algn="l">
              <a:lnSpc>
                <a:spcPts val="1755"/>
              </a:lnSpc>
            </a:pPr>
            <a:r>
              <a:rPr sz="1300" b="0" i="0">
                <a:solidFill>
                  <a:srgbClr val="3A4F63"/>
                </a:solidFill>
                <a:latin typeface="DM Sans"/>
              </a:rPr>
              <a:t>Symbool: klein formaat</a:t>
            </a:r>
          </a:p>
        </p:txBody>
      </p:sp>
      <p:sp>
        <p:nvSpPr>
          <p:cNvPr id="13" name="TextBox 12"/>
          <p:cNvSpPr txBox="1"/>
          <p:nvPr/>
        </p:nvSpPr>
        <p:spPr>
          <a:xfrm>
            <a:off x="812800" y="4383286"/>
            <a:ext cx="10617200" cy="257175"/>
          </a:xfrm>
          <a:prstGeom prst="rect">
            <a:avLst/>
          </a:prstGeom>
          <a:noFill/>
        </p:spPr>
        <p:txBody>
          <a:bodyPr wrap="none" lIns="0" tIns="0" rIns="0" bIns="0" anchor="t">
            <a:noAutofit/>
          </a:bodyPr>
          <a:lstStyle/>
          <a:p>
            <a:pPr algn="l">
              <a:lnSpc>
                <a:spcPts val="2025"/>
              </a:lnSpc>
            </a:pPr>
            <a:r>
              <a:rPr sz="1500" b="0" i="0">
                <a:solidFill>
                  <a:srgbClr val="0A2540"/>
                </a:solidFill>
                <a:latin typeface="DM Sans"/>
              </a:rPr>
              <a:t>Akkoord om dit logo overal te gebruiken, of zijn er aanpassingen?</a:t>
            </a:r>
          </a:p>
        </p:txBody>
      </p:sp>
      <p:pic>
        <p:nvPicPr>
          <p:cNvPr id="14" name="Picture 13" descr="ec5c93e6f83f209b4e97ddfdecd480c8.png"/>
          <p:cNvPicPr>
            <a:picLocks noChangeAspect="1"/>
          </p:cNvPicPr>
          <p:nvPr/>
        </p:nvPicPr>
        <p:blipFill>
          <a:blip r:embed="rId6"/>
          <a:stretch>
            <a:fillRect/>
          </a:stretch>
        </p:blipFill>
        <p:spPr>
          <a:xfrm>
            <a:off x="812967" y="6261100"/>
            <a:ext cx="171116" cy="203200"/>
          </a:xfrm>
          <a:prstGeom prst="rect">
            <a:avLst/>
          </a:prstGeom>
        </p:spPr>
      </p:pic>
      <p:sp>
        <p:nvSpPr>
          <p:cNvPr id="15" name="TextBox 14"/>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Bespreking</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we vragen, en wat we voorleggen</a:t>
            </a:r>
          </a:p>
        </p:txBody>
      </p:sp>
      <p:sp>
        <p:nvSpPr>
          <p:cNvPr id="3" name="TextBox 2"/>
          <p:cNvSpPr txBox="1"/>
          <p:nvPr/>
        </p:nvSpPr>
        <p:spPr>
          <a:xfrm>
            <a:off x="812800" y="1544241"/>
            <a:ext cx="5887442" cy="198120"/>
          </a:xfrm>
          <a:prstGeom prst="rect">
            <a:avLst/>
          </a:prstGeom>
          <a:noFill/>
        </p:spPr>
        <p:txBody>
          <a:bodyPr wrap="none" lIns="0" tIns="0" rIns="0" bIns="0" anchor="t">
            <a:noAutofit/>
          </a:bodyPr>
          <a:lstStyle/>
          <a:p>
            <a:pPr algn="l"/>
            <a:r>
              <a:rPr sz="1200" b="1" i="0">
                <a:solidFill>
                  <a:srgbClr val="0B6E8F"/>
                </a:solidFill>
                <a:latin typeface="DM Sans"/>
              </a:rPr>
              <a:t>Wat we vragen</a:t>
            </a:r>
          </a:p>
        </p:txBody>
      </p:sp>
      <p:sp>
        <p:nvSpPr>
          <p:cNvPr id="4" name="TextBox 3"/>
          <p:cNvSpPr txBox="1"/>
          <p:nvPr/>
        </p:nvSpPr>
        <p:spPr>
          <a:xfrm>
            <a:off x="812800" y="1937941"/>
            <a:ext cx="202605" cy="198120"/>
          </a:xfrm>
          <a:prstGeom prst="rect">
            <a:avLst/>
          </a:prstGeom>
          <a:noFill/>
        </p:spPr>
        <p:txBody>
          <a:bodyPr wrap="none" lIns="0" tIns="0" rIns="0" bIns="0" anchor="t">
            <a:noAutofit/>
          </a:bodyPr>
          <a:lstStyle/>
          <a:p>
            <a:pPr algn="l"/>
            <a:r>
              <a:rPr sz="1200" b="0" i="0">
                <a:solidFill>
                  <a:srgbClr val="0B6E8F"/>
                </a:solidFill>
                <a:latin typeface="DM Sans"/>
              </a:rPr>
              <a:t>01</a:t>
            </a:r>
          </a:p>
        </p:txBody>
      </p:sp>
      <p:sp>
        <p:nvSpPr>
          <p:cNvPr id="5" name="TextBox 4"/>
          <p:cNvSpPr txBox="1"/>
          <p:nvPr/>
        </p:nvSpPr>
        <p:spPr>
          <a:xfrm>
            <a:off x="1117005" y="1893491"/>
            <a:ext cx="2503289" cy="264160"/>
          </a:xfrm>
          <a:prstGeom prst="rect">
            <a:avLst/>
          </a:prstGeom>
          <a:noFill/>
        </p:spPr>
        <p:txBody>
          <a:bodyPr wrap="none" lIns="0" tIns="0" rIns="0" bIns="0" anchor="t">
            <a:noAutofit/>
          </a:bodyPr>
          <a:lstStyle/>
          <a:p>
            <a:pPr algn="l">
              <a:lnSpc>
                <a:spcPts val="2080"/>
              </a:lnSpc>
            </a:pPr>
            <a:r>
              <a:rPr sz="1600" b="1" i="0">
                <a:solidFill>
                  <a:srgbClr val="0A2540"/>
                </a:solidFill>
                <a:latin typeface="DM Sans"/>
              </a:rPr>
              <a:t>Drie inclusies per maand</a:t>
            </a:r>
          </a:p>
        </p:txBody>
      </p:sp>
      <p:sp>
        <p:nvSpPr>
          <p:cNvPr id="6" name="Rectangle 5"/>
          <p:cNvSpPr/>
          <p:nvPr/>
        </p:nvSpPr>
        <p:spPr>
          <a:xfrm>
            <a:off x="812800" y="2259211"/>
            <a:ext cx="5836642"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2800" y="2411611"/>
            <a:ext cx="241300" cy="198120"/>
          </a:xfrm>
          <a:prstGeom prst="rect">
            <a:avLst/>
          </a:prstGeom>
          <a:noFill/>
        </p:spPr>
        <p:txBody>
          <a:bodyPr wrap="none" lIns="0" tIns="0" rIns="0" bIns="0" anchor="t">
            <a:noAutofit/>
          </a:bodyPr>
          <a:lstStyle/>
          <a:p>
            <a:pPr algn="l"/>
            <a:r>
              <a:rPr sz="1200" b="0" i="0">
                <a:solidFill>
                  <a:srgbClr val="0B6E8F"/>
                </a:solidFill>
                <a:latin typeface="DM Sans"/>
              </a:rPr>
              <a:t>02</a:t>
            </a:r>
          </a:p>
        </p:txBody>
      </p:sp>
      <p:sp>
        <p:nvSpPr>
          <p:cNvPr id="8" name="TextBox 7"/>
          <p:cNvSpPr txBox="1"/>
          <p:nvPr/>
        </p:nvSpPr>
        <p:spPr>
          <a:xfrm>
            <a:off x="1155700" y="2367161"/>
            <a:ext cx="3755033" cy="264160"/>
          </a:xfrm>
          <a:prstGeom prst="rect">
            <a:avLst/>
          </a:prstGeom>
          <a:noFill/>
        </p:spPr>
        <p:txBody>
          <a:bodyPr wrap="none" lIns="0" tIns="0" rIns="0" bIns="0" anchor="t">
            <a:noAutofit/>
          </a:bodyPr>
          <a:lstStyle/>
          <a:p>
            <a:pPr algn="l">
              <a:lnSpc>
                <a:spcPts val="2080"/>
              </a:lnSpc>
            </a:pPr>
            <a:r>
              <a:rPr sz="1600" b="1" i="0">
                <a:solidFill>
                  <a:srgbClr val="0A2540"/>
                </a:solidFill>
                <a:latin typeface="DM Sans"/>
              </a:rPr>
              <a:t>De fiche terug</a:t>
            </a:r>
            <a:r>
              <a:rPr sz="1600" b="0" i="0">
                <a:solidFill>
                  <a:srgbClr val="0A2540"/>
                </a:solidFill>
                <a:latin typeface="DM Sans"/>
              </a:rPr>
              <a:t> </a:t>
            </a:r>
            <a:r>
              <a:rPr sz="1600" b="0" i="0">
                <a:solidFill>
                  <a:srgbClr val="5A6E80"/>
                </a:solidFill>
                <a:latin typeface="DM Sans"/>
              </a:rPr>
              <a:t>tegen vrijdag 16 oktober</a:t>
            </a:r>
          </a:p>
        </p:txBody>
      </p:sp>
      <p:sp>
        <p:nvSpPr>
          <p:cNvPr id="9" name="Rectangle 8"/>
          <p:cNvSpPr/>
          <p:nvPr/>
        </p:nvSpPr>
        <p:spPr>
          <a:xfrm>
            <a:off x="812800" y="2732881"/>
            <a:ext cx="5836642"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800" y="2885281"/>
            <a:ext cx="245170" cy="198120"/>
          </a:xfrm>
          <a:prstGeom prst="rect">
            <a:avLst/>
          </a:prstGeom>
          <a:noFill/>
        </p:spPr>
        <p:txBody>
          <a:bodyPr wrap="none" lIns="0" tIns="0" rIns="0" bIns="0" anchor="t">
            <a:noAutofit/>
          </a:bodyPr>
          <a:lstStyle/>
          <a:p>
            <a:pPr algn="l"/>
            <a:r>
              <a:rPr sz="1200" b="0" i="0">
                <a:solidFill>
                  <a:srgbClr val="0B6E8F"/>
                </a:solidFill>
                <a:latin typeface="DM Sans"/>
              </a:rPr>
              <a:t>03</a:t>
            </a:r>
          </a:p>
        </p:txBody>
      </p:sp>
      <p:sp>
        <p:nvSpPr>
          <p:cNvPr id="11" name="TextBox 10"/>
          <p:cNvSpPr txBox="1"/>
          <p:nvPr/>
        </p:nvSpPr>
        <p:spPr>
          <a:xfrm>
            <a:off x="1159570" y="2840831"/>
            <a:ext cx="5309890" cy="264160"/>
          </a:xfrm>
          <a:prstGeom prst="rect">
            <a:avLst/>
          </a:prstGeom>
          <a:noFill/>
        </p:spPr>
        <p:txBody>
          <a:bodyPr wrap="none" lIns="0" tIns="0" rIns="0" bIns="0" anchor="t">
            <a:noAutofit/>
          </a:bodyPr>
          <a:lstStyle/>
          <a:p>
            <a:pPr algn="l">
              <a:lnSpc>
                <a:spcPts val="2080"/>
              </a:lnSpc>
            </a:pPr>
            <a:r>
              <a:rPr sz="1600" b="1" i="0">
                <a:solidFill>
                  <a:srgbClr val="0A2540"/>
                </a:solidFill>
                <a:latin typeface="DM Sans"/>
              </a:rPr>
              <a:t>Wie deelneemt</a:t>
            </a:r>
            <a:r>
              <a:rPr sz="1600" b="0" i="0">
                <a:solidFill>
                  <a:srgbClr val="0A2540"/>
                </a:solidFill>
                <a:latin typeface="DM Sans"/>
              </a:rPr>
              <a:t> </a:t>
            </a:r>
            <a:r>
              <a:rPr sz="1600" b="0" i="0">
                <a:solidFill>
                  <a:srgbClr val="5A6E80"/>
                </a:solidFill>
                <a:latin typeface="DM Sans"/>
              </a:rPr>
              <a:t>podologen, verpleegkundigen en artsen</a:t>
            </a:r>
          </a:p>
        </p:txBody>
      </p:sp>
      <p:sp>
        <p:nvSpPr>
          <p:cNvPr id="12" name="Rectangle 11"/>
          <p:cNvSpPr/>
          <p:nvPr/>
        </p:nvSpPr>
        <p:spPr>
          <a:xfrm>
            <a:off x="812800" y="3206552"/>
            <a:ext cx="5836642"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2800" y="3358952"/>
            <a:ext cx="247551" cy="198120"/>
          </a:xfrm>
          <a:prstGeom prst="rect">
            <a:avLst/>
          </a:prstGeom>
          <a:noFill/>
        </p:spPr>
        <p:txBody>
          <a:bodyPr wrap="none" lIns="0" tIns="0" rIns="0" bIns="0" anchor="t">
            <a:noAutofit/>
          </a:bodyPr>
          <a:lstStyle/>
          <a:p>
            <a:pPr algn="l"/>
            <a:r>
              <a:rPr sz="1200" b="0" i="0">
                <a:solidFill>
                  <a:srgbClr val="0B6E8F"/>
                </a:solidFill>
                <a:latin typeface="DM Sans"/>
              </a:rPr>
              <a:t>04</a:t>
            </a:r>
          </a:p>
        </p:txBody>
      </p:sp>
      <p:sp>
        <p:nvSpPr>
          <p:cNvPr id="14" name="TextBox 13"/>
          <p:cNvSpPr txBox="1"/>
          <p:nvPr/>
        </p:nvSpPr>
        <p:spPr>
          <a:xfrm>
            <a:off x="1161951" y="3314502"/>
            <a:ext cx="5411490" cy="264160"/>
          </a:xfrm>
          <a:prstGeom prst="rect">
            <a:avLst/>
          </a:prstGeom>
          <a:noFill/>
        </p:spPr>
        <p:txBody>
          <a:bodyPr wrap="none" lIns="0" tIns="0" rIns="0" bIns="0" anchor="t">
            <a:noAutofit/>
          </a:bodyPr>
          <a:lstStyle/>
          <a:p>
            <a:pPr algn="l">
              <a:lnSpc>
                <a:spcPts val="2080"/>
              </a:lnSpc>
            </a:pPr>
            <a:r>
              <a:rPr sz="1600" b="1" i="0">
                <a:solidFill>
                  <a:srgbClr val="0A2540"/>
                </a:solidFill>
                <a:latin typeface="DM Sans"/>
              </a:rPr>
              <a:t>De drukmeting geïnstalleerd</a:t>
            </a:r>
            <a:r>
              <a:rPr sz="1600" b="0" i="0">
                <a:solidFill>
                  <a:srgbClr val="0A2540"/>
                </a:solidFill>
                <a:latin typeface="DM Sans"/>
              </a:rPr>
              <a:t> </a:t>
            </a:r>
            <a:r>
              <a:rPr sz="1600" b="0" i="0">
                <a:solidFill>
                  <a:srgbClr val="5A6E80"/>
                </a:solidFill>
                <a:latin typeface="DM Sans"/>
              </a:rPr>
              <a:t>vóór uw technologiesessie</a:t>
            </a:r>
          </a:p>
        </p:txBody>
      </p:sp>
      <p:sp>
        <p:nvSpPr>
          <p:cNvPr id="15" name="Rectangle 14"/>
          <p:cNvSpPr/>
          <p:nvPr/>
        </p:nvSpPr>
        <p:spPr>
          <a:xfrm>
            <a:off x="812800" y="3680222"/>
            <a:ext cx="5836642"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2800" y="3832622"/>
            <a:ext cx="248047" cy="198120"/>
          </a:xfrm>
          <a:prstGeom prst="rect">
            <a:avLst/>
          </a:prstGeom>
          <a:noFill/>
        </p:spPr>
        <p:txBody>
          <a:bodyPr wrap="none" lIns="0" tIns="0" rIns="0" bIns="0" anchor="t">
            <a:noAutofit/>
          </a:bodyPr>
          <a:lstStyle/>
          <a:p>
            <a:pPr algn="l"/>
            <a:r>
              <a:rPr sz="1200" b="0" i="0">
                <a:solidFill>
                  <a:srgbClr val="0B6E8F"/>
                </a:solidFill>
                <a:latin typeface="DM Sans"/>
              </a:rPr>
              <a:t>05</a:t>
            </a:r>
          </a:p>
        </p:txBody>
      </p:sp>
      <p:sp>
        <p:nvSpPr>
          <p:cNvPr id="17" name="TextBox 16"/>
          <p:cNvSpPr txBox="1"/>
          <p:nvPr/>
        </p:nvSpPr>
        <p:spPr>
          <a:xfrm>
            <a:off x="1162447" y="3788172"/>
            <a:ext cx="5596735" cy="528241"/>
          </a:xfrm>
          <a:prstGeom prst="rect">
            <a:avLst/>
          </a:prstGeom>
          <a:noFill/>
        </p:spPr>
        <p:txBody>
          <a:bodyPr wrap="square" lIns="0" tIns="0" rIns="0" bIns="0" anchor="t">
            <a:noAutofit/>
          </a:bodyPr>
          <a:lstStyle/>
          <a:p>
            <a:pPr algn="l">
              <a:lnSpc>
                <a:spcPts val="2080"/>
              </a:lnSpc>
            </a:pPr>
            <a:r>
              <a:rPr sz="1600" b="1" i="0">
                <a:solidFill>
                  <a:srgbClr val="0A2540"/>
                </a:solidFill>
                <a:latin typeface="DM Sans"/>
              </a:rPr>
              <a:t>paradise-tbm@kuleuven.be</a:t>
            </a:r>
            <a:r>
              <a:rPr sz="1600" b="0" i="0">
                <a:solidFill>
                  <a:srgbClr val="0A2540"/>
                </a:solidFill>
                <a:latin typeface="DM Sans"/>
              </a:rPr>
              <a:t> </a:t>
            </a:r>
            <a:r>
              <a:rPr sz="1600" b="0" i="0">
                <a:solidFill>
                  <a:srgbClr val="5A6E80"/>
                </a:solidFill>
                <a:latin typeface="DM Sans"/>
              </a:rPr>
              <a:t>voor alle mails over PARADISE</a:t>
            </a:r>
          </a:p>
        </p:txBody>
      </p:sp>
      <p:sp>
        <p:nvSpPr>
          <p:cNvPr id="18" name="TextBox 17"/>
          <p:cNvSpPr txBox="1"/>
          <p:nvPr/>
        </p:nvSpPr>
        <p:spPr>
          <a:xfrm>
            <a:off x="7055842" y="1544241"/>
            <a:ext cx="4374158" cy="198120"/>
          </a:xfrm>
          <a:prstGeom prst="rect">
            <a:avLst/>
          </a:prstGeom>
          <a:noFill/>
        </p:spPr>
        <p:txBody>
          <a:bodyPr wrap="none" lIns="0" tIns="0" rIns="0" bIns="0" anchor="t">
            <a:noAutofit/>
          </a:bodyPr>
          <a:lstStyle/>
          <a:p>
            <a:pPr algn="l"/>
            <a:r>
              <a:rPr sz="1200" b="1" i="0">
                <a:solidFill>
                  <a:srgbClr val="A34A00"/>
                </a:solidFill>
                <a:latin typeface="DM Sans"/>
              </a:rPr>
              <a:t>Ter bespreking</a:t>
            </a:r>
          </a:p>
        </p:txBody>
      </p:sp>
      <p:sp>
        <p:nvSpPr>
          <p:cNvPr id="19" name="Rectangle 18"/>
          <p:cNvSpPr/>
          <p:nvPr/>
        </p:nvSpPr>
        <p:spPr>
          <a:xfrm>
            <a:off x="7055842" y="1868091"/>
            <a:ext cx="4323358"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55842" y="2007791"/>
            <a:ext cx="4374158" cy="238125"/>
          </a:xfrm>
          <a:prstGeom prst="rect">
            <a:avLst/>
          </a:prstGeom>
          <a:noFill/>
        </p:spPr>
        <p:txBody>
          <a:bodyPr wrap="none" lIns="0" tIns="0" rIns="0" bIns="0" anchor="t">
            <a:noAutofit/>
          </a:bodyPr>
          <a:lstStyle/>
          <a:p>
            <a:pPr algn="l">
              <a:lnSpc>
                <a:spcPts val="1875"/>
              </a:lnSpc>
            </a:pPr>
            <a:r>
              <a:rPr sz="1500" b="1" i="0">
                <a:solidFill>
                  <a:srgbClr val="0A2540"/>
                </a:solidFill>
                <a:latin typeface="DM Sans"/>
              </a:rPr>
              <a:t>Twaalf maanden inclusie, geen achttien</a:t>
            </a:r>
          </a:p>
        </p:txBody>
      </p:sp>
      <p:sp>
        <p:nvSpPr>
          <p:cNvPr id="21" name="TextBox 20"/>
          <p:cNvSpPr txBox="1"/>
          <p:nvPr/>
        </p:nvSpPr>
        <p:spPr>
          <a:xfrm>
            <a:off x="7055842" y="2309416"/>
            <a:ext cx="4374158"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Evenveel uren, meer tijd voor de verwerking.</a:t>
            </a:r>
          </a:p>
        </p:txBody>
      </p:sp>
      <p:pic>
        <p:nvPicPr>
          <p:cNvPr id="22" name="Picture 21"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23" name="TextBox 22"/>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Bespreking</a:t>
            </a:r>
          </a:p>
        </p:txBody>
      </p:sp>
      <p:sp>
        <p:nvSpPr>
          <p:cNvPr id="24" name="TextBox 23"/>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paradise-tbm@kuleuven.be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4e287ae005ab9f8997461f000820af22.png"/>
          <p:cNvPicPr>
            <a:picLocks noChangeAspect="1"/>
          </p:cNvPicPr>
          <p:nvPr/>
        </p:nvPicPr>
        <p:blipFill>
          <a:blip r:embed="rId3"/>
          <a:stretch>
            <a:fillRect/>
          </a:stretch>
        </p:blipFill>
        <p:spPr>
          <a:xfrm>
            <a:off x="7874000" y="0"/>
            <a:ext cx="6388100" cy="7302500"/>
          </a:xfrm>
          <a:prstGeom prst="rect">
            <a:avLst/>
          </a:prstGeom>
        </p:spPr>
      </p:pic>
      <p:sp>
        <p:nvSpPr>
          <p:cNvPr id="3" name="Rounded Rectangle 2"/>
          <p:cNvSpPr/>
          <p:nvPr/>
        </p:nvSpPr>
        <p:spPr>
          <a:xfrm>
            <a:off x="8128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4fe31fe826e2a686c44b2a9df6f4ec34.png"/>
          <p:cNvPicPr>
            <a:picLocks noChangeAspect="1"/>
          </p:cNvPicPr>
          <p:nvPr/>
        </p:nvPicPr>
        <p:blipFill>
          <a:blip r:embed="rId4"/>
          <a:stretch>
            <a:fillRect/>
          </a:stretch>
        </p:blipFill>
        <p:spPr>
          <a:xfrm>
            <a:off x="819150" y="1847850"/>
            <a:ext cx="2476500" cy="1393031"/>
          </a:xfrm>
          <a:prstGeom prst="rect">
            <a:avLst/>
          </a:prstGeom>
        </p:spPr>
      </p:pic>
      <p:sp>
        <p:nvSpPr>
          <p:cNvPr id="5" name="Rounded Rectangle 4"/>
          <p:cNvSpPr/>
          <p:nvPr/>
        </p:nvSpPr>
        <p:spPr>
          <a:xfrm>
            <a:off x="8128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128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1 Stand van zaken</a:t>
            </a:r>
          </a:p>
        </p:txBody>
      </p:sp>
      <p:sp>
        <p:nvSpPr>
          <p:cNvPr id="7" name="Rounded Rectangle 6"/>
          <p:cNvSpPr/>
          <p:nvPr/>
        </p:nvSpPr>
        <p:spPr>
          <a:xfrm>
            <a:off x="35052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af6c315e3b6c8da4983f797f076543ae.png"/>
          <p:cNvPicPr>
            <a:picLocks noChangeAspect="1"/>
          </p:cNvPicPr>
          <p:nvPr/>
        </p:nvPicPr>
        <p:blipFill>
          <a:blip r:embed="rId5"/>
          <a:stretch>
            <a:fillRect/>
          </a:stretch>
        </p:blipFill>
        <p:spPr>
          <a:xfrm>
            <a:off x="3511550" y="1847850"/>
            <a:ext cx="2476500" cy="1393031"/>
          </a:xfrm>
          <a:prstGeom prst="rect">
            <a:avLst/>
          </a:prstGeom>
        </p:spPr>
      </p:pic>
      <p:sp>
        <p:nvSpPr>
          <p:cNvPr id="9" name="Rounded Rectangle 8"/>
          <p:cNvSpPr/>
          <p:nvPr/>
        </p:nvSpPr>
        <p:spPr>
          <a:xfrm>
            <a:off x="35052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5052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2 Ontwikkelingen sinds 1 april</a:t>
            </a:r>
          </a:p>
        </p:txBody>
      </p:sp>
      <p:sp>
        <p:nvSpPr>
          <p:cNvPr id="11" name="Rounded Rectangle 10"/>
          <p:cNvSpPr/>
          <p:nvPr/>
        </p:nvSpPr>
        <p:spPr>
          <a:xfrm>
            <a:off x="61976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b3575449de919ba8ba77497cf770d56b.png"/>
          <p:cNvPicPr>
            <a:picLocks noChangeAspect="1"/>
          </p:cNvPicPr>
          <p:nvPr/>
        </p:nvPicPr>
        <p:blipFill>
          <a:blip r:embed="rId6"/>
          <a:stretch>
            <a:fillRect/>
          </a:stretch>
        </p:blipFill>
        <p:spPr>
          <a:xfrm>
            <a:off x="6203950" y="1847850"/>
            <a:ext cx="2476500" cy="1393031"/>
          </a:xfrm>
          <a:prstGeom prst="rect">
            <a:avLst/>
          </a:prstGeom>
        </p:spPr>
      </p:pic>
      <p:sp>
        <p:nvSpPr>
          <p:cNvPr id="13" name="Rounded Rectangle 12"/>
          <p:cNvSpPr/>
          <p:nvPr/>
        </p:nvSpPr>
        <p:spPr>
          <a:xfrm>
            <a:off x="61976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1976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3 Werkpakketten</a:t>
            </a:r>
          </a:p>
        </p:txBody>
      </p:sp>
      <p:sp>
        <p:nvSpPr>
          <p:cNvPr id="15" name="Rounded Rectangle 14"/>
          <p:cNvSpPr/>
          <p:nvPr/>
        </p:nvSpPr>
        <p:spPr>
          <a:xfrm>
            <a:off x="88900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76718c0faffa53b3e96d91bd5d17d843.png"/>
          <p:cNvPicPr>
            <a:picLocks noChangeAspect="1"/>
          </p:cNvPicPr>
          <p:nvPr/>
        </p:nvPicPr>
        <p:blipFill>
          <a:blip r:embed="rId7"/>
          <a:stretch>
            <a:fillRect/>
          </a:stretch>
        </p:blipFill>
        <p:spPr>
          <a:xfrm>
            <a:off x="8896350" y="1847850"/>
            <a:ext cx="2476500" cy="1393031"/>
          </a:xfrm>
          <a:prstGeom prst="rect">
            <a:avLst/>
          </a:prstGeom>
        </p:spPr>
      </p:pic>
      <p:sp>
        <p:nvSpPr>
          <p:cNvPr id="17" name="Rounded Rectangle 16"/>
          <p:cNvSpPr/>
          <p:nvPr/>
        </p:nvSpPr>
        <p:spPr>
          <a:xfrm>
            <a:off x="88900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8900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4 Aandachtspunten</a:t>
            </a:r>
          </a:p>
        </p:txBody>
      </p:sp>
      <p:sp>
        <p:nvSpPr>
          <p:cNvPr id="19" name="Rounded Rectangle 18"/>
          <p:cNvSpPr/>
          <p:nvPr/>
        </p:nvSpPr>
        <p:spPr>
          <a:xfrm>
            <a:off x="21590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c828e07bbef239086018a2f6a17a466c.png"/>
          <p:cNvPicPr>
            <a:picLocks noChangeAspect="1"/>
          </p:cNvPicPr>
          <p:nvPr/>
        </p:nvPicPr>
        <p:blipFill>
          <a:blip r:embed="rId8"/>
          <a:stretch>
            <a:fillRect/>
          </a:stretch>
        </p:blipFill>
        <p:spPr>
          <a:xfrm>
            <a:off x="2165350" y="4121150"/>
            <a:ext cx="2476500" cy="1393031"/>
          </a:xfrm>
          <a:prstGeom prst="rect">
            <a:avLst/>
          </a:prstGeom>
        </p:spPr>
      </p:pic>
      <p:sp>
        <p:nvSpPr>
          <p:cNvPr id="21" name="Rounded Rectangle 20"/>
          <p:cNvSpPr/>
          <p:nvPr/>
        </p:nvSpPr>
        <p:spPr>
          <a:xfrm>
            <a:off x="2159000" y="41148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2159000" y="56007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5 Mijlpalen en planning</a:t>
            </a:r>
          </a:p>
        </p:txBody>
      </p:sp>
      <p:sp>
        <p:nvSpPr>
          <p:cNvPr id="23" name="Rounded Rectangle 22"/>
          <p:cNvSpPr/>
          <p:nvPr/>
        </p:nvSpPr>
        <p:spPr>
          <a:xfrm>
            <a:off x="48514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a218f23a9d1aeae7790db2aa9d8f48a7.png"/>
          <p:cNvPicPr>
            <a:picLocks noChangeAspect="1"/>
          </p:cNvPicPr>
          <p:nvPr/>
        </p:nvPicPr>
        <p:blipFill>
          <a:blip r:embed="rId9"/>
          <a:stretch>
            <a:fillRect/>
          </a:stretch>
        </p:blipFill>
        <p:spPr>
          <a:xfrm>
            <a:off x="4857750" y="4121150"/>
            <a:ext cx="2476500" cy="1393031"/>
          </a:xfrm>
          <a:prstGeom prst="rect">
            <a:avLst/>
          </a:prstGeom>
        </p:spPr>
      </p:pic>
      <p:sp>
        <p:nvSpPr>
          <p:cNvPr id="25" name="Rounded Rectangle 24"/>
          <p:cNvSpPr/>
          <p:nvPr/>
        </p:nvSpPr>
        <p:spPr>
          <a:xfrm>
            <a:off x="4851400" y="41148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4851400" y="56007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6 Bespreking</a:t>
            </a:r>
          </a:p>
        </p:txBody>
      </p:sp>
      <p:pic>
        <p:nvPicPr>
          <p:cNvPr id="27" name="Picture 26" descr="e49a2c4874452277a94494e99280aaa0.png"/>
          <p:cNvPicPr>
            <a:picLocks noChangeAspect="1"/>
          </p:cNvPicPr>
          <p:nvPr/>
        </p:nvPicPr>
        <p:blipFill>
          <a:blip r:embed="rId10"/>
          <a:stretch>
            <a:fillRect/>
          </a:stretch>
        </p:blipFill>
        <p:spPr>
          <a:xfrm>
            <a:off x="7632700" y="4025900"/>
            <a:ext cx="2311400" cy="1301750"/>
          </a:xfrm>
          <a:prstGeom prst="rect">
            <a:avLst/>
          </a:prstGeom>
        </p:spPr>
      </p:pic>
      <p:sp>
        <p:nvSpPr>
          <p:cNvPr id="28" name="Rounded Rectangle 27"/>
          <p:cNvSpPr/>
          <p:nvPr/>
        </p:nvSpPr>
        <p:spPr>
          <a:xfrm>
            <a:off x="7543800" y="4114800"/>
            <a:ext cx="2489200" cy="1397000"/>
          </a:xfrm>
          <a:prstGeom prst="roundRect">
            <a:avLst>
              <a:gd name="adj" fmla="val 1363"/>
            </a:avLst>
          </a:prstGeom>
          <a:solidFill>
            <a:srgbClr val="FFFFFF"/>
          </a:solidFill>
          <a:ln w="1905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Picture 28" descr="0b3315c9a761b9fd4dfcb184751fa8ea.png"/>
          <p:cNvPicPr>
            <a:picLocks noChangeAspect="1"/>
          </p:cNvPicPr>
          <p:nvPr/>
        </p:nvPicPr>
        <p:blipFill>
          <a:blip r:embed="rId11"/>
          <a:stretch>
            <a:fillRect/>
          </a:stretch>
        </p:blipFill>
        <p:spPr>
          <a:xfrm>
            <a:off x="7562850" y="4133850"/>
            <a:ext cx="2451100" cy="1378744"/>
          </a:xfrm>
          <a:prstGeom prst="rect">
            <a:avLst/>
          </a:prstGeom>
        </p:spPr>
      </p:pic>
      <p:sp>
        <p:nvSpPr>
          <p:cNvPr id="30" name="TextBox 29"/>
          <p:cNvSpPr txBox="1"/>
          <p:nvPr/>
        </p:nvSpPr>
        <p:spPr>
          <a:xfrm>
            <a:off x="7543800" y="5600700"/>
            <a:ext cx="2540000" cy="213360"/>
          </a:xfrm>
          <a:prstGeom prst="rect">
            <a:avLst/>
          </a:prstGeom>
          <a:noFill/>
        </p:spPr>
        <p:txBody>
          <a:bodyPr wrap="none" lIns="0" tIns="0" rIns="0" bIns="0" anchor="t">
            <a:noAutofit/>
          </a:bodyPr>
          <a:lstStyle/>
          <a:p>
            <a:pPr algn="l">
              <a:lnSpc>
                <a:spcPts val="1680"/>
              </a:lnSpc>
            </a:pPr>
            <a:r>
              <a:rPr sz="1400" b="0" i="0">
                <a:solidFill>
                  <a:srgbClr val="A34A00"/>
                </a:solidFill>
                <a:latin typeface="DM Sans"/>
              </a:rPr>
              <a:t>7 Tour de table</a:t>
            </a:r>
          </a:p>
        </p:txBody>
      </p:sp>
      <p:sp>
        <p:nvSpPr>
          <p:cNvPr id="31" name="TextBox 30"/>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we vandaag overlopen</a:t>
            </a:r>
          </a:p>
        </p:txBody>
      </p:sp>
      <p:pic>
        <p:nvPicPr>
          <p:cNvPr id="32" name="Picture 31" descr="ec5c93e6f83f209b4e97ddfdecd480c8.png"/>
          <p:cNvPicPr>
            <a:picLocks noChangeAspect="1"/>
          </p:cNvPicPr>
          <p:nvPr/>
        </p:nvPicPr>
        <p:blipFill>
          <a:blip r:embed="rId12"/>
          <a:stretch>
            <a:fillRect/>
          </a:stretch>
        </p:blipFill>
        <p:spPr>
          <a:xfrm>
            <a:off x="812967" y="6261100"/>
            <a:ext cx="171116" cy="203200"/>
          </a:xfrm>
          <a:prstGeom prst="rect">
            <a:avLst/>
          </a:prstGeom>
        </p:spPr>
      </p:pic>
      <p:sp>
        <p:nvSpPr>
          <p:cNvPr id="33" name="TextBox 32"/>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5A6E80"/>
                </a:solidFill>
                <a:latin typeface="DM Sans"/>
              </a:rPr>
              <a:t>PARADISE · kick-off 12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955800" cy="5029200"/>
          </a:xfrm>
          <a:prstGeom prst="rect">
            <a:avLst/>
          </a:prstGeom>
          <a:noFill/>
        </p:spPr>
        <p:txBody>
          <a:bodyPr wrap="square" lIns="0" tIns="0" rIns="0" bIns="0" anchor="t">
            <a:noAutofit/>
          </a:bodyPr>
          <a:lstStyle/>
          <a:p>
            <a:pPr algn="l">
              <a:lnSpc>
                <a:spcPts val="16200"/>
              </a:lnSpc>
            </a:pPr>
            <a:r>
              <a:rPr sz="18000" b="0" i="0">
                <a:solidFill>
                  <a:srgbClr val="FF9A3D"/>
                </a:solidFill>
                <a:latin typeface="DM Serif Display"/>
              </a:rPr>
              <a:t>7</a:t>
            </a:r>
          </a:p>
        </p:txBody>
      </p:sp>
      <p:sp>
        <p:nvSpPr>
          <p:cNvPr id="4" name="TextBox 3"/>
          <p:cNvSpPr txBox="1"/>
          <p:nvPr/>
        </p:nvSpPr>
        <p:spPr>
          <a:xfrm>
            <a:off x="3327400" y="812800"/>
            <a:ext cx="8102600" cy="215900"/>
          </a:xfrm>
          <a:prstGeom prst="rect">
            <a:avLst/>
          </a:prstGeom>
          <a:noFill/>
        </p:spPr>
        <p:txBody>
          <a:bodyPr wrap="none" lIns="0" tIns="0" rIns="0" bIns="0" anchor="t">
            <a:noAutofit/>
          </a:bodyPr>
          <a:lstStyle/>
          <a:p>
            <a:pPr algn="l"/>
            <a:r>
              <a:rPr sz="1300" b="1" i="0">
                <a:solidFill>
                  <a:srgbClr val="52BDEC"/>
                </a:solidFill>
                <a:latin typeface="DM Sans"/>
              </a:rPr>
              <a:t>Deel 7 van 7</a:t>
            </a:r>
          </a:p>
        </p:txBody>
      </p:sp>
      <p:sp>
        <p:nvSpPr>
          <p:cNvPr id="5" name="TextBox 4"/>
          <p:cNvSpPr txBox="1"/>
          <p:nvPr/>
        </p:nvSpPr>
        <p:spPr>
          <a:xfrm>
            <a:off x="3327400" y="1206500"/>
            <a:ext cx="8102600" cy="586740"/>
          </a:xfrm>
          <a:prstGeom prst="rect">
            <a:avLst/>
          </a:prstGeom>
          <a:noFill/>
        </p:spPr>
        <p:txBody>
          <a:bodyPr wrap="none" lIns="0" tIns="0" rIns="0" bIns="0" anchor="t">
            <a:noAutofit/>
          </a:bodyPr>
          <a:lstStyle/>
          <a:p>
            <a:pPr algn="l">
              <a:lnSpc>
                <a:spcPts val="4620"/>
              </a:lnSpc>
            </a:pPr>
            <a:r>
              <a:rPr sz="4400" b="0" i="0" spc="-50">
                <a:solidFill>
                  <a:srgbClr val="F2F8FC"/>
                </a:solidFill>
                <a:latin typeface="DM Serif Display"/>
              </a:rPr>
              <a:t>Tour de table</a:t>
            </a:r>
          </a:p>
        </p:txBody>
      </p:sp>
      <p:sp>
        <p:nvSpPr>
          <p:cNvPr id="6" name="TextBox 5"/>
          <p:cNvSpPr txBox="1"/>
          <p:nvPr/>
        </p:nvSpPr>
        <p:spPr>
          <a:xfrm>
            <a:off x="3327400" y="1970980"/>
            <a:ext cx="8102600" cy="335280"/>
          </a:xfrm>
          <a:prstGeom prst="rect">
            <a:avLst/>
          </a:prstGeom>
          <a:noFill/>
        </p:spPr>
        <p:txBody>
          <a:bodyPr wrap="none" lIns="0" tIns="0" rIns="0" bIns="0" anchor="t">
            <a:noAutofit/>
          </a:bodyPr>
          <a:lstStyle/>
          <a:p>
            <a:pPr algn="l">
              <a:lnSpc>
                <a:spcPts val="2640"/>
              </a:lnSpc>
            </a:pPr>
            <a:r>
              <a:rPr sz="2200" b="0" i="1">
                <a:solidFill>
                  <a:srgbClr val="52BDEC"/>
                </a:solidFill>
                <a:latin typeface="DM Serif Display"/>
              </a:rPr>
              <a:t>Wat leeft er in uw centrum?</a:t>
            </a:r>
          </a:p>
        </p:txBody>
      </p:sp>
      <p:sp>
        <p:nvSpPr>
          <p:cNvPr id="7" name="Rectangle 6"/>
          <p:cNvSpPr/>
          <p:nvPr/>
        </p:nvSpPr>
        <p:spPr>
          <a:xfrm>
            <a:off x="3327400" y="449718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27400" y="459243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vijf vragen aan elk centrum</a:t>
            </a:r>
          </a:p>
        </p:txBody>
      </p:sp>
      <p:sp>
        <p:nvSpPr>
          <p:cNvPr id="9" name="Rectangle 8"/>
          <p:cNvSpPr/>
          <p:nvPr/>
        </p:nvSpPr>
        <p:spPr>
          <a:xfrm>
            <a:off x="3327400" y="494545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27400" y="504070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Kortrijk Kerngezond, 16 oktober</a:t>
            </a:r>
          </a:p>
        </p:txBody>
      </p:sp>
      <p:sp>
        <p:nvSpPr>
          <p:cNvPr id="11" name="Rectangle 10"/>
          <p:cNvSpPr/>
          <p:nvPr/>
        </p:nvSpPr>
        <p:spPr>
          <a:xfrm>
            <a:off x="3327400" y="5393730"/>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27400" y="5488980"/>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wat nu volgt</a:t>
            </a:r>
          </a:p>
        </p:txBody>
      </p:sp>
      <p:pic>
        <p:nvPicPr>
          <p:cNvPr id="13" name="Picture 12"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14" name="TextBox 13"/>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6F8FAA"/>
                </a:solidFill>
                <a:latin typeface="DM Sans"/>
              </a:rPr>
              <a:t>PARADISE · Tour de table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Per centrum, kort</a:t>
            </a:r>
          </a:p>
        </p:txBody>
      </p:sp>
      <p:sp>
        <p:nvSpPr>
          <p:cNvPr id="3" name="Rectangle 2"/>
          <p:cNvSpPr/>
          <p:nvPr/>
        </p:nvSpPr>
        <p:spPr>
          <a:xfrm>
            <a:off x="812800" y="1518841"/>
            <a:ext cx="34036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2800" y="1783358"/>
            <a:ext cx="3454400" cy="184150"/>
          </a:xfrm>
          <a:prstGeom prst="rect">
            <a:avLst/>
          </a:prstGeom>
          <a:noFill/>
        </p:spPr>
        <p:txBody>
          <a:bodyPr wrap="none" lIns="0" tIns="0" rIns="0" bIns="0" anchor="t">
            <a:noAutofit/>
          </a:bodyPr>
          <a:lstStyle/>
          <a:p>
            <a:pPr algn="l"/>
            <a:r>
              <a:rPr sz="1100" b="0" i="0">
                <a:solidFill>
                  <a:srgbClr val="0B6E8F"/>
                </a:solidFill>
                <a:latin typeface="DM Sans"/>
              </a:rPr>
              <a:t>01</a:t>
            </a:r>
          </a:p>
        </p:txBody>
      </p:sp>
      <p:sp>
        <p:nvSpPr>
          <p:cNvPr id="5" name="TextBox 4"/>
          <p:cNvSpPr txBox="1"/>
          <p:nvPr/>
        </p:nvSpPr>
        <p:spPr>
          <a:xfrm>
            <a:off x="812800" y="2018308"/>
            <a:ext cx="3454400" cy="360045"/>
          </a:xfrm>
          <a:prstGeom prst="rect">
            <a:avLst/>
          </a:prstGeom>
          <a:noFill/>
        </p:spPr>
        <p:txBody>
          <a:bodyPr wrap="none" lIns="0" tIns="0" rIns="0" bIns="0" anchor="t">
            <a:noAutofit/>
          </a:bodyPr>
          <a:lstStyle/>
          <a:p>
            <a:pPr algn="l">
              <a:lnSpc>
                <a:spcPts val="2835"/>
              </a:lnSpc>
            </a:pPr>
            <a:r>
              <a:rPr sz="2700" b="0" i="0">
                <a:solidFill>
                  <a:srgbClr val="0A2540"/>
                </a:solidFill>
                <a:latin typeface="DM Serif Display"/>
              </a:rPr>
              <a:t>AZ Groeninge</a:t>
            </a:r>
          </a:p>
        </p:txBody>
      </p:sp>
      <p:sp>
        <p:nvSpPr>
          <p:cNvPr id="6" name="TextBox 5"/>
          <p:cNvSpPr txBox="1"/>
          <p:nvPr/>
        </p:nvSpPr>
        <p:spPr>
          <a:xfrm>
            <a:off x="812800" y="2429073"/>
            <a:ext cx="3454400" cy="234950"/>
          </a:xfrm>
          <a:prstGeom prst="rect">
            <a:avLst/>
          </a:prstGeom>
          <a:noFill/>
        </p:spPr>
        <p:txBody>
          <a:bodyPr wrap="none" lIns="0" tIns="0" rIns="0" bIns="0" anchor="t">
            <a:noAutofit/>
          </a:bodyPr>
          <a:lstStyle/>
          <a:p>
            <a:pPr algn="l"/>
            <a:r>
              <a:rPr sz="1400" b="0" i="0">
                <a:solidFill>
                  <a:srgbClr val="5A6E80"/>
                </a:solidFill>
                <a:latin typeface="DM Sans"/>
              </a:rPr>
              <a:t>Kortrijk</a:t>
            </a:r>
          </a:p>
        </p:txBody>
      </p:sp>
      <p:sp>
        <p:nvSpPr>
          <p:cNvPr id="7" name="Rectangle 6"/>
          <p:cNvSpPr/>
          <p:nvPr/>
        </p:nvSpPr>
        <p:spPr>
          <a:xfrm>
            <a:off x="4394200" y="1518841"/>
            <a:ext cx="34036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94200" y="1783358"/>
            <a:ext cx="3454400" cy="184150"/>
          </a:xfrm>
          <a:prstGeom prst="rect">
            <a:avLst/>
          </a:prstGeom>
          <a:noFill/>
        </p:spPr>
        <p:txBody>
          <a:bodyPr wrap="none" lIns="0" tIns="0" rIns="0" bIns="0" anchor="t">
            <a:noAutofit/>
          </a:bodyPr>
          <a:lstStyle/>
          <a:p>
            <a:pPr algn="l"/>
            <a:r>
              <a:rPr sz="1100" b="0" i="0">
                <a:solidFill>
                  <a:srgbClr val="0B6E8F"/>
                </a:solidFill>
                <a:latin typeface="DM Sans"/>
              </a:rPr>
              <a:t>02</a:t>
            </a:r>
          </a:p>
        </p:txBody>
      </p:sp>
      <p:sp>
        <p:nvSpPr>
          <p:cNvPr id="9" name="TextBox 8"/>
          <p:cNvSpPr txBox="1"/>
          <p:nvPr/>
        </p:nvSpPr>
        <p:spPr>
          <a:xfrm>
            <a:off x="4394200" y="2018308"/>
            <a:ext cx="3454400" cy="360045"/>
          </a:xfrm>
          <a:prstGeom prst="rect">
            <a:avLst/>
          </a:prstGeom>
          <a:noFill/>
        </p:spPr>
        <p:txBody>
          <a:bodyPr wrap="none" lIns="0" tIns="0" rIns="0" bIns="0" anchor="t">
            <a:noAutofit/>
          </a:bodyPr>
          <a:lstStyle/>
          <a:p>
            <a:pPr algn="l">
              <a:lnSpc>
                <a:spcPts val="2835"/>
              </a:lnSpc>
            </a:pPr>
            <a:r>
              <a:rPr sz="2700" b="0" i="0">
                <a:solidFill>
                  <a:srgbClr val="0A2540"/>
                </a:solidFill>
                <a:latin typeface="DM Serif Display"/>
              </a:rPr>
              <a:t>AZ Sint-Jan</a:t>
            </a:r>
          </a:p>
        </p:txBody>
      </p:sp>
      <p:sp>
        <p:nvSpPr>
          <p:cNvPr id="10" name="TextBox 9"/>
          <p:cNvSpPr txBox="1"/>
          <p:nvPr/>
        </p:nvSpPr>
        <p:spPr>
          <a:xfrm>
            <a:off x="4394200" y="2429073"/>
            <a:ext cx="3454400" cy="234950"/>
          </a:xfrm>
          <a:prstGeom prst="rect">
            <a:avLst/>
          </a:prstGeom>
          <a:noFill/>
        </p:spPr>
        <p:txBody>
          <a:bodyPr wrap="none" lIns="0" tIns="0" rIns="0" bIns="0" anchor="t">
            <a:noAutofit/>
          </a:bodyPr>
          <a:lstStyle/>
          <a:p>
            <a:pPr algn="l"/>
            <a:r>
              <a:rPr sz="1400" b="0" i="0">
                <a:solidFill>
                  <a:srgbClr val="5A6E80"/>
                </a:solidFill>
                <a:latin typeface="DM Sans"/>
              </a:rPr>
              <a:t>Brugge</a:t>
            </a:r>
          </a:p>
        </p:txBody>
      </p:sp>
      <p:sp>
        <p:nvSpPr>
          <p:cNvPr id="11" name="Rectangle 10"/>
          <p:cNvSpPr/>
          <p:nvPr/>
        </p:nvSpPr>
        <p:spPr>
          <a:xfrm>
            <a:off x="7975600" y="1518841"/>
            <a:ext cx="34036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75600" y="1783358"/>
            <a:ext cx="3454400" cy="184150"/>
          </a:xfrm>
          <a:prstGeom prst="rect">
            <a:avLst/>
          </a:prstGeom>
          <a:noFill/>
        </p:spPr>
        <p:txBody>
          <a:bodyPr wrap="none" lIns="0" tIns="0" rIns="0" bIns="0" anchor="t">
            <a:noAutofit/>
          </a:bodyPr>
          <a:lstStyle/>
          <a:p>
            <a:pPr algn="l"/>
            <a:r>
              <a:rPr sz="1100" b="0" i="0">
                <a:solidFill>
                  <a:srgbClr val="0B6E8F"/>
                </a:solidFill>
                <a:latin typeface="DM Sans"/>
              </a:rPr>
              <a:t>03</a:t>
            </a:r>
          </a:p>
        </p:txBody>
      </p:sp>
      <p:sp>
        <p:nvSpPr>
          <p:cNvPr id="13" name="TextBox 12"/>
          <p:cNvSpPr txBox="1"/>
          <p:nvPr/>
        </p:nvSpPr>
        <p:spPr>
          <a:xfrm>
            <a:off x="7975600" y="2018308"/>
            <a:ext cx="3454400" cy="360045"/>
          </a:xfrm>
          <a:prstGeom prst="rect">
            <a:avLst/>
          </a:prstGeom>
          <a:noFill/>
        </p:spPr>
        <p:txBody>
          <a:bodyPr wrap="none" lIns="0" tIns="0" rIns="0" bIns="0" anchor="t">
            <a:noAutofit/>
          </a:bodyPr>
          <a:lstStyle/>
          <a:p>
            <a:pPr algn="l">
              <a:lnSpc>
                <a:spcPts val="2835"/>
              </a:lnSpc>
            </a:pPr>
            <a:r>
              <a:rPr sz="2700" b="0" i="0">
                <a:solidFill>
                  <a:srgbClr val="0A2540"/>
                </a:solidFill>
                <a:latin typeface="DM Serif Display"/>
              </a:rPr>
              <a:t>UZ Gent</a:t>
            </a:r>
          </a:p>
        </p:txBody>
      </p:sp>
      <p:sp>
        <p:nvSpPr>
          <p:cNvPr id="14" name="TextBox 13"/>
          <p:cNvSpPr txBox="1"/>
          <p:nvPr/>
        </p:nvSpPr>
        <p:spPr>
          <a:xfrm>
            <a:off x="7975600" y="2429073"/>
            <a:ext cx="3454400" cy="234950"/>
          </a:xfrm>
          <a:prstGeom prst="rect">
            <a:avLst/>
          </a:prstGeom>
          <a:noFill/>
        </p:spPr>
        <p:txBody>
          <a:bodyPr wrap="none" lIns="0" tIns="0" rIns="0" bIns="0" anchor="t">
            <a:noAutofit/>
          </a:bodyPr>
          <a:lstStyle/>
          <a:p>
            <a:pPr algn="l"/>
            <a:r>
              <a:rPr sz="1400" b="0" i="0">
                <a:solidFill>
                  <a:srgbClr val="5A6E80"/>
                </a:solidFill>
                <a:latin typeface="DM Sans"/>
              </a:rPr>
              <a:t>Gent</a:t>
            </a:r>
          </a:p>
        </p:txBody>
      </p:sp>
      <p:sp>
        <p:nvSpPr>
          <p:cNvPr id="15" name="Rectangle 14"/>
          <p:cNvSpPr/>
          <p:nvPr/>
        </p:nvSpPr>
        <p:spPr>
          <a:xfrm>
            <a:off x="812800" y="2966641"/>
            <a:ext cx="34036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2800" y="3231158"/>
            <a:ext cx="3454400" cy="184150"/>
          </a:xfrm>
          <a:prstGeom prst="rect">
            <a:avLst/>
          </a:prstGeom>
          <a:noFill/>
        </p:spPr>
        <p:txBody>
          <a:bodyPr wrap="none" lIns="0" tIns="0" rIns="0" bIns="0" anchor="t">
            <a:noAutofit/>
          </a:bodyPr>
          <a:lstStyle/>
          <a:p>
            <a:pPr algn="l"/>
            <a:r>
              <a:rPr sz="1100" b="0" i="0">
                <a:solidFill>
                  <a:srgbClr val="0B6E8F"/>
                </a:solidFill>
                <a:latin typeface="DM Sans"/>
              </a:rPr>
              <a:t>04</a:t>
            </a:r>
          </a:p>
        </p:txBody>
      </p:sp>
      <p:sp>
        <p:nvSpPr>
          <p:cNvPr id="17" name="TextBox 16"/>
          <p:cNvSpPr txBox="1"/>
          <p:nvPr/>
        </p:nvSpPr>
        <p:spPr>
          <a:xfrm>
            <a:off x="812800" y="3466108"/>
            <a:ext cx="3454400" cy="360045"/>
          </a:xfrm>
          <a:prstGeom prst="rect">
            <a:avLst/>
          </a:prstGeom>
          <a:noFill/>
        </p:spPr>
        <p:txBody>
          <a:bodyPr wrap="none" lIns="0" tIns="0" rIns="0" bIns="0" anchor="t">
            <a:noAutofit/>
          </a:bodyPr>
          <a:lstStyle/>
          <a:p>
            <a:pPr algn="l">
              <a:lnSpc>
                <a:spcPts val="2835"/>
              </a:lnSpc>
            </a:pPr>
            <a:r>
              <a:rPr sz="2700" b="0" i="0">
                <a:solidFill>
                  <a:srgbClr val="0A2540"/>
                </a:solidFill>
                <a:latin typeface="DM Serif Display"/>
              </a:rPr>
              <a:t>AZORG</a:t>
            </a:r>
          </a:p>
        </p:txBody>
      </p:sp>
      <p:sp>
        <p:nvSpPr>
          <p:cNvPr id="18" name="TextBox 17"/>
          <p:cNvSpPr txBox="1"/>
          <p:nvPr/>
        </p:nvSpPr>
        <p:spPr>
          <a:xfrm>
            <a:off x="812800" y="3876873"/>
            <a:ext cx="3454400" cy="234950"/>
          </a:xfrm>
          <a:prstGeom prst="rect">
            <a:avLst/>
          </a:prstGeom>
          <a:noFill/>
        </p:spPr>
        <p:txBody>
          <a:bodyPr wrap="none" lIns="0" tIns="0" rIns="0" bIns="0" anchor="t">
            <a:noAutofit/>
          </a:bodyPr>
          <a:lstStyle/>
          <a:p>
            <a:pPr algn="l"/>
            <a:r>
              <a:rPr sz="1400" b="0" i="0">
                <a:solidFill>
                  <a:srgbClr val="5A6E80"/>
                </a:solidFill>
                <a:latin typeface="DM Sans"/>
              </a:rPr>
              <a:t>Aalst</a:t>
            </a:r>
          </a:p>
        </p:txBody>
      </p:sp>
      <p:sp>
        <p:nvSpPr>
          <p:cNvPr id="19" name="Rectangle 18"/>
          <p:cNvSpPr/>
          <p:nvPr/>
        </p:nvSpPr>
        <p:spPr>
          <a:xfrm>
            <a:off x="4394200" y="2966641"/>
            <a:ext cx="34036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94200" y="3231158"/>
            <a:ext cx="3454400" cy="184150"/>
          </a:xfrm>
          <a:prstGeom prst="rect">
            <a:avLst/>
          </a:prstGeom>
          <a:noFill/>
        </p:spPr>
        <p:txBody>
          <a:bodyPr wrap="none" lIns="0" tIns="0" rIns="0" bIns="0" anchor="t">
            <a:noAutofit/>
          </a:bodyPr>
          <a:lstStyle/>
          <a:p>
            <a:pPr algn="l"/>
            <a:r>
              <a:rPr sz="1100" b="0" i="0">
                <a:solidFill>
                  <a:srgbClr val="0B6E8F"/>
                </a:solidFill>
                <a:latin typeface="DM Sans"/>
              </a:rPr>
              <a:t>05</a:t>
            </a:r>
          </a:p>
        </p:txBody>
      </p:sp>
      <p:sp>
        <p:nvSpPr>
          <p:cNvPr id="21" name="TextBox 20"/>
          <p:cNvSpPr txBox="1"/>
          <p:nvPr/>
        </p:nvSpPr>
        <p:spPr>
          <a:xfrm>
            <a:off x="4394200" y="3466108"/>
            <a:ext cx="3454400" cy="360045"/>
          </a:xfrm>
          <a:prstGeom prst="rect">
            <a:avLst/>
          </a:prstGeom>
          <a:noFill/>
        </p:spPr>
        <p:txBody>
          <a:bodyPr wrap="none" lIns="0" tIns="0" rIns="0" bIns="0" anchor="t">
            <a:noAutofit/>
          </a:bodyPr>
          <a:lstStyle/>
          <a:p>
            <a:pPr algn="l">
              <a:lnSpc>
                <a:spcPts val="2835"/>
              </a:lnSpc>
            </a:pPr>
            <a:r>
              <a:rPr sz="2700" b="0" i="0">
                <a:solidFill>
                  <a:srgbClr val="0A2540"/>
                </a:solidFill>
                <a:latin typeface="DM Serif Display"/>
              </a:rPr>
              <a:t>UZ Leuven</a:t>
            </a:r>
          </a:p>
        </p:txBody>
      </p:sp>
      <p:sp>
        <p:nvSpPr>
          <p:cNvPr id="22" name="TextBox 21"/>
          <p:cNvSpPr txBox="1"/>
          <p:nvPr/>
        </p:nvSpPr>
        <p:spPr>
          <a:xfrm>
            <a:off x="4394200" y="3876873"/>
            <a:ext cx="3454400" cy="234950"/>
          </a:xfrm>
          <a:prstGeom prst="rect">
            <a:avLst/>
          </a:prstGeom>
          <a:noFill/>
        </p:spPr>
        <p:txBody>
          <a:bodyPr wrap="none" lIns="0" tIns="0" rIns="0" bIns="0" anchor="t">
            <a:noAutofit/>
          </a:bodyPr>
          <a:lstStyle/>
          <a:p>
            <a:pPr algn="l"/>
            <a:r>
              <a:rPr sz="1400" b="0" i="0">
                <a:solidFill>
                  <a:srgbClr val="5A6E80"/>
                </a:solidFill>
                <a:latin typeface="DM Sans"/>
              </a:rPr>
              <a:t>Leuven</a:t>
            </a:r>
          </a:p>
        </p:txBody>
      </p:sp>
      <p:sp>
        <p:nvSpPr>
          <p:cNvPr id="23" name="Rectangle 22"/>
          <p:cNvSpPr/>
          <p:nvPr/>
        </p:nvSpPr>
        <p:spPr>
          <a:xfrm>
            <a:off x="7975600" y="2966641"/>
            <a:ext cx="34036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975600" y="3231158"/>
            <a:ext cx="3454400" cy="184150"/>
          </a:xfrm>
          <a:prstGeom prst="rect">
            <a:avLst/>
          </a:prstGeom>
          <a:noFill/>
        </p:spPr>
        <p:txBody>
          <a:bodyPr wrap="none" lIns="0" tIns="0" rIns="0" bIns="0" anchor="t">
            <a:noAutofit/>
          </a:bodyPr>
          <a:lstStyle/>
          <a:p>
            <a:pPr algn="l"/>
            <a:r>
              <a:rPr sz="1100" b="0" i="0">
                <a:solidFill>
                  <a:srgbClr val="0B6E8F"/>
                </a:solidFill>
                <a:latin typeface="DM Sans"/>
              </a:rPr>
              <a:t>06</a:t>
            </a:r>
          </a:p>
        </p:txBody>
      </p:sp>
      <p:sp>
        <p:nvSpPr>
          <p:cNvPr id="25" name="TextBox 24"/>
          <p:cNvSpPr txBox="1"/>
          <p:nvPr/>
        </p:nvSpPr>
        <p:spPr>
          <a:xfrm>
            <a:off x="7975600" y="3466108"/>
            <a:ext cx="3454400" cy="360045"/>
          </a:xfrm>
          <a:prstGeom prst="rect">
            <a:avLst/>
          </a:prstGeom>
          <a:noFill/>
        </p:spPr>
        <p:txBody>
          <a:bodyPr wrap="none" lIns="0" tIns="0" rIns="0" bIns="0" anchor="t">
            <a:noAutofit/>
          </a:bodyPr>
          <a:lstStyle/>
          <a:p>
            <a:pPr algn="l">
              <a:lnSpc>
                <a:spcPts val="2835"/>
              </a:lnSpc>
            </a:pPr>
            <a:r>
              <a:rPr sz="2700" b="0" i="0">
                <a:solidFill>
                  <a:srgbClr val="0A2540"/>
                </a:solidFill>
                <a:latin typeface="DM Serif Display"/>
              </a:rPr>
              <a:t>UZ Antwerpen</a:t>
            </a:r>
          </a:p>
        </p:txBody>
      </p:sp>
      <p:sp>
        <p:nvSpPr>
          <p:cNvPr id="26" name="TextBox 25"/>
          <p:cNvSpPr txBox="1"/>
          <p:nvPr/>
        </p:nvSpPr>
        <p:spPr>
          <a:xfrm>
            <a:off x="7975600" y="3876873"/>
            <a:ext cx="3454400" cy="234950"/>
          </a:xfrm>
          <a:prstGeom prst="rect">
            <a:avLst/>
          </a:prstGeom>
          <a:noFill/>
        </p:spPr>
        <p:txBody>
          <a:bodyPr wrap="none" lIns="0" tIns="0" rIns="0" bIns="0" anchor="t">
            <a:noAutofit/>
          </a:bodyPr>
          <a:lstStyle/>
          <a:p>
            <a:pPr algn="l"/>
            <a:r>
              <a:rPr sz="1400" b="0" i="0">
                <a:solidFill>
                  <a:srgbClr val="5A6E80"/>
                </a:solidFill>
                <a:latin typeface="DM Sans"/>
              </a:rPr>
              <a:t>Edegem</a:t>
            </a:r>
          </a:p>
        </p:txBody>
      </p:sp>
      <p:pic>
        <p:nvPicPr>
          <p:cNvPr id="27" name="Picture 26"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28" name="TextBox 27"/>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Tour de table</a:t>
            </a:r>
          </a:p>
        </p:txBody>
      </p:sp>
      <p:sp>
        <p:nvSpPr>
          <p:cNvPr id="29" name="TextBox 28"/>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consortiummeeting 1 april 2026, actiepunten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PARADISE op Kortrijk Kerngezond</a:t>
            </a:r>
          </a:p>
        </p:txBody>
      </p:sp>
      <p:pic>
        <p:nvPicPr>
          <p:cNvPr id="3" name="Picture 2" descr="d924adc31ae5aabfd58ad4bd4b0201cb.png"/>
          <p:cNvPicPr>
            <a:picLocks noChangeAspect="1"/>
          </p:cNvPicPr>
          <p:nvPr/>
        </p:nvPicPr>
        <p:blipFill>
          <a:blip r:embed="rId3"/>
          <a:stretch>
            <a:fillRect/>
          </a:stretch>
        </p:blipFill>
        <p:spPr>
          <a:xfrm>
            <a:off x="812800" y="1544241"/>
            <a:ext cx="2774950" cy="3937000"/>
          </a:xfrm>
          <a:prstGeom prst="rect">
            <a:avLst/>
          </a:prstGeom>
        </p:spPr>
      </p:pic>
      <p:sp>
        <p:nvSpPr>
          <p:cNvPr id="4" name="TextBox 3"/>
          <p:cNvSpPr txBox="1"/>
          <p:nvPr/>
        </p:nvSpPr>
        <p:spPr>
          <a:xfrm>
            <a:off x="3994150" y="1544241"/>
            <a:ext cx="7435850" cy="257175"/>
          </a:xfrm>
          <a:prstGeom prst="rect">
            <a:avLst/>
          </a:prstGeom>
          <a:noFill/>
        </p:spPr>
        <p:txBody>
          <a:bodyPr wrap="none" lIns="0" tIns="0" rIns="0" bIns="0" anchor="t">
            <a:noAutofit/>
          </a:bodyPr>
          <a:lstStyle/>
          <a:p>
            <a:pPr algn="l">
              <a:lnSpc>
                <a:spcPts val="2025"/>
              </a:lnSpc>
            </a:pPr>
            <a:r>
              <a:rPr sz="1500" b="0" i="0">
                <a:solidFill>
                  <a:srgbClr val="3A4F63"/>
                </a:solidFill>
                <a:latin typeface="DM Sans"/>
              </a:rPr>
              <a:t>Zes dagen zorginnovatie in Kortrijk. PARADISE toont er hoe we meten.</a:t>
            </a:r>
          </a:p>
        </p:txBody>
      </p:sp>
      <p:sp>
        <p:nvSpPr>
          <p:cNvPr id="5" name="Rectangle 4"/>
          <p:cNvSpPr/>
          <p:nvPr/>
        </p:nvSpPr>
        <p:spPr>
          <a:xfrm>
            <a:off x="3994150" y="1915716"/>
            <a:ext cx="738505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994150" y="2049066"/>
            <a:ext cx="215305" cy="215900"/>
          </a:xfrm>
          <a:prstGeom prst="rect">
            <a:avLst/>
          </a:prstGeom>
          <a:noFill/>
        </p:spPr>
        <p:txBody>
          <a:bodyPr wrap="none" lIns="0" tIns="0" rIns="0" bIns="0" anchor="t">
            <a:noAutofit/>
          </a:bodyPr>
          <a:lstStyle/>
          <a:p>
            <a:pPr algn="l"/>
            <a:r>
              <a:rPr sz="1300" b="0" i="0">
                <a:solidFill>
                  <a:srgbClr val="0B6E8F"/>
                </a:solidFill>
                <a:latin typeface="DM Sans"/>
              </a:rPr>
              <a:t>01</a:t>
            </a:r>
          </a:p>
        </p:txBody>
      </p:sp>
      <p:sp>
        <p:nvSpPr>
          <p:cNvPr id="7" name="TextBox 6"/>
          <p:cNvSpPr txBox="1"/>
          <p:nvPr/>
        </p:nvSpPr>
        <p:spPr>
          <a:xfrm>
            <a:off x="4323755" y="2049066"/>
            <a:ext cx="2888952" cy="243840"/>
          </a:xfrm>
          <a:prstGeom prst="rect">
            <a:avLst/>
          </a:prstGeom>
          <a:noFill/>
        </p:spPr>
        <p:txBody>
          <a:bodyPr wrap="none" lIns="0" tIns="0" rIns="0" bIns="0" anchor="t">
            <a:noAutofit/>
          </a:bodyPr>
          <a:lstStyle/>
          <a:p>
            <a:pPr algn="l">
              <a:lnSpc>
                <a:spcPts val="1920"/>
              </a:lnSpc>
            </a:pPr>
            <a:r>
              <a:rPr sz="1600" b="1" i="0">
                <a:solidFill>
                  <a:srgbClr val="0A2540"/>
                </a:solidFill>
                <a:latin typeface="DM Sans"/>
              </a:rPr>
              <a:t>Een korte demonstratie</a:t>
            </a:r>
          </a:p>
        </p:txBody>
      </p:sp>
      <p:sp>
        <p:nvSpPr>
          <p:cNvPr id="8" name="TextBox 7"/>
          <p:cNvSpPr txBox="1"/>
          <p:nvPr/>
        </p:nvSpPr>
        <p:spPr>
          <a:xfrm>
            <a:off x="4323755" y="2330946"/>
            <a:ext cx="2888952" cy="222885"/>
          </a:xfrm>
          <a:prstGeom prst="rect">
            <a:avLst/>
          </a:prstGeom>
          <a:noFill/>
        </p:spPr>
        <p:txBody>
          <a:bodyPr wrap="none" lIns="0" tIns="0" rIns="0" bIns="0" anchor="t">
            <a:noAutofit/>
          </a:bodyPr>
          <a:lstStyle/>
          <a:p>
            <a:pPr algn="l">
              <a:lnSpc>
                <a:spcPts val="1755"/>
              </a:lnSpc>
            </a:pPr>
            <a:r>
              <a:rPr sz="1300" b="0" i="0">
                <a:solidFill>
                  <a:srgbClr val="3A4F63"/>
                </a:solidFill>
                <a:latin typeface="DM Sans"/>
              </a:rPr>
              <a:t>Hoe meet je de druk onder een voet?</a:t>
            </a:r>
          </a:p>
        </p:txBody>
      </p:sp>
      <p:sp>
        <p:nvSpPr>
          <p:cNvPr id="9" name="Rectangle 8"/>
          <p:cNvSpPr/>
          <p:nvPr/>
        </p:nvSpPr>
        <p:spPr>
          <a:xfrm>
            <a:off x="3994150" y="2680791"/>
            <a:ext cx="738505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94150" y="2814141"/>
            <a:ext cx="257175" cy="215900"/>
          </a:xfrm>
          <a:prstGeom prst="rect">
            <a:avLst/>
          </a:prstGeom>
          <a:noFill/>
        </p:spPr>
        <p:txBody>
          <a:bodyPr wrap="none" lIns="0" tIns="0" rIns="0" bIns="0" anchor="t">
            <a:noAutofit/>
          </a:bodyPr>
          <a:lstStyle/>
          <a:p>
            <a:pPr algn="l"/>
            <a:r>
              <a:rPr sz="1300" b="0" i="0">
                <a:solidFill>
                  <a:srgbClr val="0B6E8F"/>
                </a:solidFill>
                <a:latin typeface="DM Sans"/>
              </a:rPr>
              <a:t>02</a:t>
            </a:r>
          </a:p>
        </p:txBody>
      </p:sp>
      <p:sp>
        <p:nvSpPr>
          <p:cNvPr id="11" name="TextBox 10"/>
          <p:cNvSpPr txBox="1"/>
          <p:nvPr/>
        </p:nvSpPr>
        <p:spPr>
          <a:xfrm>
            <a:off x="4365625" y="2814141"/>
            <a:ext cx="1464766" cy="243840"/>
          </a:xfrm>
          <a:prstGeom prst="rect">
            <a:avLst/>
          </a:prstGeom>
          <a:noFill/>
        </p:spPr>
        <p:txBody>
          <a:bodyPr wrap="none" lIns="0" tIns="0" rIns="0" bIns="0" anchor="t">
            <a:noAutofit/>
          </a:bodyPr>
          <a:lstStyle/>
          <a:p>
            <a:pPr algn="l">
              <a:lnSpc>
                <a:spcPts val="1920"/>
              </a:lnSpc>
            </a:pPr>
            <a:r>
              <a:rPr sz="1600" b="1" i="0">
                <a:solidFill>
                  <a:srgbClr val="0A2540"/>
                </a:solidFill>
                <a:latin typeface="DM Sans"/>
              </a:rPr>
              <a:t>Een stand</a:t>
            </a:r>
          </a:p>
        </p:txBody>
      </p:sp>
      <p:sp>
        <p:nvSpPr>
          <p:cNvPr id="12" name="TextBox 11"/>
          <p:cNvSpPr txBox="1"/>
          <p:nvPr/>
        </p:nvSpPr>
        <p:spPr>
          <a:xfrm>
            <a:off x="4365625" y="3096022"/>
            <a:ext cx="1464766" cy="222885"/>
          </a:xfrm>
          <a:prstGeom prst="rect">
            <a:avLst/>
          </a:prstGeom>
          <a:noFill/>
        </p:spPr>
        <p:txBody>
          <a:bodyPr wrap="none" lIns="0" tIns="0" rIns="0" bIns="0" anchor="t">
            <a:noAutofit/>
          </a:bodyPr>
          <a:lstStyle/>
          <a:p>
            <a:pPr algn="l">
              <a:lnSpc>
                <a:spcPts val="1755"/>
              </a:lnSpc>
            </a:pPr>
            <a:r>
              <a:rPr sz="1300" b="0" i="0">
                <a:solidFill>
                  <a:srgbClr val="3A4F63"/>
                </a:solidFill>
                <a:latin typeface="DM Sans"/>
              </a:rPr>
              <a:t>Met animatievideo</a:t>
            </a:r>
          </a:p>
        </p:txBody>
      </p:sp>
      <p:sp>
        <p:nvSpPr>
          <p:cNvPr id="13" name="Rectangle 12"/>
          <p:cNvSpPr/>
          <p:nvPr/>
        </p:nvSpPr>
        <p:spPr>
          <a:xfrm>
            <a:off x="3994150" y="3445867"/>
            <a:ext cx="738505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994150" y="3579217"/>
            <a:ext cx="261342" cy="215900"/>
          </a:xfrm>
          <a:prstGeom prst="rect">
            <a:avLst/>
          </a:prstGeom>
          <a:noFill/>
        </p:spPr>
        <p:txBody>
          <a:bodyPr wrap="none" lIns="0" tIns="0" rIns="0" bIns="0" anchor="t">
            <a:noAutofit/>
          </a:bodyPr>
          <a:lstStyle/>
          <a:p>
            <a:pPr algn="l"/>
            <a:r>
              <a:rPr sz="1300" b="0" i="0">
                <a:solidFill>
                  <a:srgbClr val="0B6E8F"/>
                </a:solidFill>
                <a:latin typeface="DM Sans"/>
              </a:rPr>
              <a:t>03</a:t>
            </a:r>
          </a:p>
        </p:txBody>
      </p:sp>
      <p:sp>
        <p:nvSpPr>
          <p:cNvPr id="15" name="TextBox 14"/>
          <p:cNvSpPr txBox="1"/>
          <p:nvPr/>
        </p:nvSpPr>
        <p:spPr>
          <a:xfrm>
            <a:off x="4369792" y="3579217"/>
            <a:ext cx="2568476" cy="243840"/>
          </a:xfrm>
          <a:prstGeom prst="rect">
            <a:avLst/>
          </a:prstGeom>
          <a:noFill/>
        </p:spPr>
        <p:txBody>
          <a:bodyPr wrap="none" lIns="0" tIns="0" rIns="0" bIns="0" anchor="t">
            <a:noAutofit/>
          </a:bodyPr>
          <a:lstStyle/>
          <a:p>
            <a:pPr algn="l">
              <a:lnSpc>
                <a:spcPts val="1920"/>
              </a:lnSpc>
            </a:pPr>
            <a:r>
              <a:rPr sz="1600" b="1" i="0">
                <a:solidFill>
                  <a:srgbClr val="0A2540"/>
                </a:solidFill>
                <a:latin typeface="DM Sans"/>
              </a:rPr>
              <a:t>Samen met AZ Groeninge</a:t>
            </a:r>
          </a:p>
        </p:txBody>
      </p:sp>
      <p:sp>
        <p:nvSpPr>
          <p:cNvPr id="16" name="TextBox 15"/>
          <p:cNvSpPr txBox="1"/>
          <p:nvPr/>
        </p:nvSpPr>
        <p:spPr>
          <a:xfrm>
            <a:off x="4369792" y="3861098"/>
            <a:ext cx="2568476" cy="222885"/>
          </a:xfrm>
          <a:prstGeom prst="rect">
            <a:avLst/>
          </a:prstGeom>
          <a:noFill/>
        </p:spPr>
        <p:txBody>
          <a:bodyPr wrap="none" lIns="0" tIns="0" rIns="0" bIns="0" anchor="t">
            <a:noAutofit/>
          </a:bodyPr>
          <a:lstStyle/>
          <a:p>
            <a:pPr algn="l">
              <a:lnSpc>
                <a:spcPts val="1755"/>
              </a:lnSpc>
            </a:pPr>
            <a:r>
              <a:rPr sz="1300" b="0" i="0">
                <a:solidFill>
                  <a:srgbClr val="3A4F63"/>
                </a:solidFill>
                <a:latin typeface="DM Sans"/>
              </a:rPr>
              <a:t>KU Leuven Campus Brugge</a:t>
            </a:r>
          </a:p>
        </p:txBody>
      </p:sp>
      <p:sp>
        <p:nvSpPr>
          <p:cNvPr id="17" name="Rectangle 16"/>
          <p:cNvSpPr/>
          <p:nvPr/>
        </p:nvSpPr>
        <p:spPr>
          <a:xfrm>
            <a:off x="3994150" y="4210943"/>
            <a:ext cx="738505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994150" y="4388743"/>
            <a:ext cx="1257300" cy="184150"/>
          </a:xfrm>
          <a:prstGeom prst="rect">
            <a:avLst/>
          </a:prstGeom>
          <a:noFill/>
        </p:spPr>
        <p:txBody>
          <a:bodyPr wrap="none" lIns="0" tIns="0" rIns="0" bIns="0" anchor="t">
            <a:noAutofit/>
          </a:bodyPr>
          <a:lstStyle/>
          <a:p>
            <a:pPr algn="l"/>
            <a:r>
              <a:rPr sz="1100" b="1" i="0">
                <a:solidFill>
                  <a:srgbClr val="0B6E8F"/>
                </a:solidFill>
                <a:latin typeface="DM Sans"/>
              </a:rPr>
              <a:t>Kerngezond</a:t>
            </a:r>
          </a:p>
        </p:txBody>
      </p:sp>
      <p:sp>
        <p:nvSpPr>
          <p:cNvPr id="19" name="TextBox 18"/>
          <p:cNvSpPr txBox="1"/>
          <p:nvPr/>
        </p:nvSpPr>
        <p:spPr>
          <a:xfrm>
            <a:off x="5327650" y="4356993"/>
            <a:ext cx="512316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16 tot 24 oktober 2026 · K in Kortrijk, tegenover het Rode Kruis</a:t>
            </a:r>
          </a:p>
        </p:txBody>
      </p:sp>
      <p:sp>
        <p:nvSpPr>
          <p:cNvPr id="20" name="TextBox 19"/>
          <p:cNvSpPr txBox="1"/>
          <p:nvPr/>
        </p:nvSpPr>
        <p:spPr>
          <a:xfrm>
            <a:off x="3994150" y="4696023"/>
            <a:ext cx="1257300" cy="184150"/>
          </a:xfrm>
          <a:prstGeom prst="rect">
            <a:avLst/>
          </a:prstGeom>
          <a:noFill/>
        </p:spPr>
        <p:txBody>
          <a:bodyPr wrap="none" lIns="0" tIns="0" rIns="0" bIns="0" anchor="t">
            <a:noAutofit/>
          </a:bodyPr>
          <a:lstStyle/>
          <a:p>
            <a:pPr algn="l"/>
            <a:r>
              <a:rPr sz="1100" b="1" i="0">
                <a:solidFill>
                  <a:srgbClr val="A34A00"/>
                </a:solidFill>
                <a:latin typeface="DM Sans"/>
              </a:rPr>
              <a:t>PARADISE</a:t>
            </a:r>
          </a:p>
        </p:txBody>
      </p:sp>
      <p:sp>
        <p:nvSpPr>
          <p:cNvPr id="21" name="TextBox 20"/>
          <p:cNvSpPr txBox="1"/>
          <p:nvPr/>
        </p:nvSpPr>
        <p:spPr>
          <a:xfrm>
            <a:off x="5327650" y="4664273"/>
            <a:ext cx="911027"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16 oktober</a:t>
            </a:r>
          </a:p>
        </p:txBody>
      </p:sp>
      <p:pic>
        <p:nvPicPr>
          <p:cNvPr id="22" name="Picture 21" descr="ec5c93e6f83f209b4e97ddfdecd480c8.png"/>
          <p:cNvPicPr>
            <a:picLocks noChangeAspect="1"/>
          </p:cNvPicPr>
          <p:nvPr/>
        </p:nvPicPr>
        <p:blipFill>
          <a:blip r:embed="rId4"/>
          <a:stretch>
            <a:fillRect/>
          </a:stretch>
        </p:blipFill>
        <p:spPr>
          <a:xfrm>
            <a:off x="812967" y="6261100"/>
            <a:ext cx="171116" cy="203200"/>
          </a:xfrm>
          <a:prstGeom prst="rect">
            <a:avLst/>
          </a:prstGeom>
        </p:spPr>
      </p:pic>
      <p:sp>
        <p:nvSpPr>
          <p:cNvPr id="23" name="TextBox 22"/>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Tour de table</a:t>
            </a:r>
          </a:p>
        </p:txBody>
      </p:sp>
      <p:sp>
        <p:nvSpPr>
          <p:cNvPr id="24" name="TextBox 23"/>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affiche Kortrijk Kerngezond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812800" y="2978150"/>
            <a:ext cx="10566400" cy="1270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ounded Rectangle 2"/>
          <p:cNvSpPr/>
          <p:nvPr/>
        </p:nvSpPr>
        <p:spPr>
          <a:xfrm>
            <a:off x="812800" y="2914650"/>
            <a:ext cx="139700" cy="1397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12800" y="2463800"/>
            <a:ext cx="2012950" cy="234950"/>
          </a:xfrm>
          <a:prstGeom prst="rect">
            <a:avLst/>
          </a:prstGeom>
          <a:noFill/>
        </p:spPr>
        <p:txBody>
          <a:bodyPr wrap="none" lIns="0" tIns="0" rIns="0" bIns="0" anchor="t">
            <a:noAutofit/>
          </a:bodyPr>
          <a:lstStyle/>
          <a:p>
            <a:pPr algn="l"/>
            <a:r>
              <a:rPr sz="1400" b="1" i="0">
                <a:solidFill>
                  <a:srgbClr val="52BDEC"/>
                </a:solidFill>
                <a:latin typeface="DM Sans"/>
              </a:rPr>
              <a:t>vr 16 oktober</a:t>
            </a:r>
          </a:p>
        </p:txBody>
      </p:sp>
      <p:sp>
        <p:nvSpPr>
          <p:cNvPr id="5" name="TextBox 4"/>
          <p:cNvSpPr txBox="1"/>
          <p:nvPr/>
        </p:nvSpPr>
        <p:spPr>
          <a:xfrm>
            <a:off x="812800" y="3263900"/>
            <a:ext cx="1962150" cy="247650"/>
          </a:xfrm>
          <a:prstGeom prst="rect">
            <a:avLst/>
          </a:prstGeom>
          <a:noFill/>
        </p:spPr>
        <p:txBody>
          <a:bodyPr wrap="none" lIns="0" tIns="0" rIns="0" bIns="0" anchor="t">
            <a:noAutofit/>
          </a:bodyPr>
          <a:lstStyle/>
          <a:p>
            <a:pPr algn="l">
              <a:lnSpc>
                <a:spcPts val="1950"/>
              </a:lnSpc>
            </a:pPr>
            <a:r>
              <a:rPr sz="1500" b="0" i="0">
                <a:solidFill>
                  <a:srgbClr val="F2F8FC"/>
                </a:solidFill>
                <a:latin typeface="DM Sans"/>
              </a:rPr>
              <a:t>Uw fiche terug</a:t>
            </a:r>
          </a:p>
        </p:txBody>
      </p:sp>
      <p:sp>
        <p:nvSpPr>
          <p:cNvPr id="6" name="Rounded Rectangle 5"/>
          <p:cNvSpPr/>
          <p:nvPr/>
        </p:nvSpPr>
        <p:spPr>
          <a:xfrm>
            <a:off x="2927350" y="2914650"/>
            <a:ext cx="139700" cy="1397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2927350" y="2463800"/>
            <a:ext cx="2012950" cy="234950"/>
          </a:xfrm>
          <a:prstGeom prst="rect">
            <a:avLst/>
          </a:prstGeom>
          <a:noFill/>
        </p:spPr>
        <p:txBody>
          <a:bodyPr wrap="none" lIns="0" tIns="0" rIns="0" bIns="0" anchor="t">
            <a:noAutofit/>
          </a:bodyPr>
          <a:lstStyle/>
          <a:p>
            <a:pPr algn="l"/>
            <a:r>
              <a:rPr sz="1400" b="1" i="0">
                <a:solidFill>
                  <a:srgbClr val="52BDEC"/>
                </a:solidFill>
                <a:latin typeface="DM Sans"/>
              </a:rPr>
              <a:t>di 10 november</a:t>
            </a:r>
          </a:p>
        </p:txBody>
      </p:sp>
      <p:sp>
        <p:nvSpPr>
          <p:cNvPr id="8" name="TextBox 7"/>
          <p:cNvSpPr txBox="1"/>
          <p:nvPr/>
        </p:nvSpPr>
        <p:spPr>
          <a:xfrm>
            <a:off x="2927350" y="3263900"/>
            <a:ext cx="1962150" cy="247650"/>
          </a:xfrm>
          <a:prstGeom prst="rect">
            <a:avLst/>
          </a:prstGeom>
          <a:noFill/>
        </p:spPr>
        <p:txBody>
          <a:bodyPr wrap="none" lIns="0" tIns="0" rIns="0" bIns="0" anchor="t">
            <a:noAutofit/>
          </a:bodyPr>
          <a:lstStyle/>
          <a:p>
            <a:pPr algn="l">
              <a:lnSpc>
                <a:spcPts val="1950"/>
              </a:lnSpc>
            </a:pPr>
            <a:r>
              <a:rPr sz="1500" b="0" i="0">
                <a:solidFill>
                  <a:srgbClr val="F2F8FC"/>
                </a:solidFill>
                <a:latin typeface="DM Sans"/>
              </a:rPr>
              <a:t>Info draaiboek, online</a:t>
            </a:r>
          </a:p>
        </p:txBody>
      </p:sp>
      <p:sp>
        <p:nvSpPr>
          <p:cNvPr id="9" name="Rounded Rectangle 8"/>
          <p:cNvSpPr/>
          <p:nvPr/>
        </p:nvSpPr>
        <p:spPr>
          <a:xfrm>
            <a:off x="5041900" y="2914650"/>
            <a:ext cx="139700" cy="1397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041900" y="2463800"/>
            <a:ext cx="2012950" cy="234950"/>
          </a:xfrm>
          <a:prstGeom prst="rect">
            <a:avLst/>
          </a:prstGeom>
          <a:noFill/>
        </p:spPr>
        <p:txBody>
          <a:bodyPr wrap="none" lIns="0" tIns="0" rIns="0" bIns="0" anchor="t">
            <a:noAutofit/>
          </a:bodyPr>
          <a:lstStyle/>
          <a:p>
            <a:pPr algn="l"/>
            <a:r>
              <a:rPr sz="1400" b="1" i="0">
                <a:solidFill>
                  <a:srgbClr val="52BDEC"/>
                </a:solidFill>
                <a:latin typeface="DM Sans"/>
              </a:rPr>
              <a:t>2 tot 15 december</a:t>
            </a:r>
          </a:p>
        </p:txBody>
      </p:sp>
      <p:sp>
        <p:nvSpPr>
          <p:cNvPr id="11" name="TextBox 10"/>
          <p:cNvSpPr txBox="1"/>
          <p:nvPr/>
        </p:nvSpPr>
        <p:spPr>
          <a:xfrm>
            <a:off x="5041900" y="3263900"/>
            <a:ext cx="1962150" cy="495300"/>
          </a:xfrm>
          <a:prstGeom prst="rect">
            <a:avLst/>
          </a:prstGeom>
          <a:noFill/>
        </p:spPr>
        <p:txBody>
          <a:bodyPr wrap="square" lIns="0" tIns="0" rIns="0" bIns="0" anchor="t">
            <a:noAutofit/>
          </a:bodyPr>
          <a:lstStyle/>
          <a:p>
            <a:pPr algn="l">
              <a:lnSpc>
                <a:spcPts val="1950"/>
              </a:lnSpc>
            </a:pPr>
            <a:r>
              <a:rPr sz="1500" b="0" i="0">
                <a:solidFill>
                  <a:srgbClr val="F2F8FC"/>
                </a:solidFill>
                <a:latin typeface="DM Sans"/>
              </a:rPr>
              <a:t>Technologie, in uw centrum</a:t>
            </a:r>
          </a:p>
        </p:txBody>
      </p:sp>
      <p:sp>
        <p:nvSpPr>
          <p:cNvPr id="12" name="Rounded Rectangle 11"/>
          <p:cNvSpPr/>
          <p:nvPr/>
        </p:nvSpPr>
        <p:spPr>
          <a:xfrm>
            <a:off x="7150100" y="2914650"/>
            <a:ext cx="139700" cy="1397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150100" y="2463800"/>
            <a:ext cx="2012950" cy="234950"/>
          </a:xfrm>
          <a:prstGeom prst="rect">
            <a:avLst/>
          </a:prstGeom>
          <a:noFill/>
        </p:spPr>
        <p:txBody>
          <a:bodyPr wrap="none" lIns="0" tIns="0" rIns="0" bIns="0" anchor="t">
            <a:noAutofit/>
          </a:bodyPr>
          <a:lstStyle/>
          <a:p>
            <a:pPr algn="l"/>
            <a:r>
              <a:rPr sz="1400" b="1" i="0">
                <a:solidFill>
                  <a:srgbClr val="52BDEC"/>
                </a:solidFill>
                <a:latin typeface="DM Sans"/>
              </a:rPr>
              <a:t>13 tot 27 januari</a:t>
            </a:r>
          </a:p>
        </p:txBody>
      </p:sp>
      <p:sp>
        <p:nvSpPr>
          <p:cNvPr id="14" name="TextBox 13"/>
          <p:cNvSpPr txBox="1"/>
          <p:nvPr/>
        </p:nvSpPr>
        <p:spPr>
          <a:xfrm>
            <a:off x="7150100" y="3263900"/>
            <a:ext cx="1962150" cy="495300"/>
          </a:xfrm>
          <a:prstGeom prst="rect">
            <a:avLst/>
          </a:prstGeom>
          <a:noFill/>
        </p:spPr>
        <p:txBody>
          <a:bodyPr wrap="square" lIns="0" tIns="0" rIns="0" bIns="0" anchor="t">
            <a:noAutofit/>
          </a:bodyPr>
          <a:lstStyle/>
          <a:p>
            <a:pPr algn="l">
              <a:lnSpc>
                <a:spcPts val="1950"/>
              </a:lnSpc>
            </a:pPr>
            <a:r>
              <a:rPr sz="1500" b="0" i="0">
                <a:solidFill>
                  <a:srgbClr val="F2F8FC"/>
                </a:solidFill>
                <a:latin typeface="DM Sans"/>
              </a:rPr>
              <a:t>Droogloop, vier visites</a:t>
            </a:r>
          </a:p>
        </p:txBody>
      </p:sp>
      <p:sp>
        <p:nvSpPr>
          <p:cNvPr id="15" name="Rounded Rectangle 14"/>
          <p:cNvSpPr/>
          <p:nvPr/>
        </p:nvSpPr>
        <p:spPr>
          <a:xfrm>
            <a:off x="9264650" y="2882900"/>
            <a:ext cx="203200" cy="20320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264650" y="2463800"/>
            <a:ext cx="2012950" cy="234950"/>
          </a:xfrm>
          <a:prstGeom prst="rect">
            <a:avLst/>
          </a:prstGeom>
          <a:noFill/>
        </p:spPr>
        <p:txBody>
          <a:bodyPr wrap="none" lIns="0" tIns="0" rIns="0" bIns="0" anchor="t">
            <a:noAutofit/>
          </a:bodyPr>
          <a:lstStyle/>
          <a:p>
            <a:pPr algn="l"/>
            <a:r>
              <a:rPr sz="1400" b="1" i="0">
                <a:solidFill>
                  <a:srgbClr val="FF9A3D"/>
                </a:solidFill>
                <a:latin typeface="DM Sans"/>
              </a:rPr>
              <a:t>23 februari 2027</a:t>
            </a:r>
          </a:p>
        </p:txBody>
      </p:sp>
      <p:sp>
        <p:nvSpPr>
          <p:cNvPr id="17" name="TextBox 16"/>
          <p:cNvSpPr txBox="1"/>
          <p:nvPr/>
        </p:nvSpPr>
        <p:spPr>
          <a:xfrm>
            <a:off x="9264650" y="3263900"/>
            <a:ext cx="1962150" cy="495300"/>
          </a:xfrm>
          <a:prstGeom prst="rect">
            <a:avLst/>
          </a:prstGeom>
          <a:noFill/>
        </p:spPr>
        <p:txBody>
          <a:bodyPr wrap="square" lIns="0" tIns="0" rIns="0" bIns="0" anchor="t">
            <a:noAutofit/>
          </a:bodyPr>
          <a:lstStyle/>
          <a:p>
            <a:pPr algn="l">
              <a:lnSpc>
                <a:spcPts val="1950"/>
              </a:lnSpc>
            </a:pPr>
            <a:r>
              <a:rPr sz="1500" b="0" i="0">
                <a:solidFill>
                  <a:srgbClr val="F2F8FC"/>
                </a:solidFill>
                <a:latin typeface="DM Sans"/>
              </a:rPr>
              <a:t>Go/No-Go, dan de eerste patiënt</a:t>
            </a:r>
          </a:p>
        </p:txBody>
      </p:sp>
      <p:sp>
        <p:nvSpPr>
          <p:cNvPr id="18" name="Rectangle 17"/>
          <p:cNvSpPr/>
          <p:nvPr/>
        </p:nvSpPr>
        <p:spPr>
          <a:xfrm>
            <a:off x="812800" y="4927600"/>
            <a:ext cx="105664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2800" y="5137150"/>
            <a:ext cx="10617200" cy="333375"/>
          </a:xfrm>
          <a:prstGeom prst="rect">
            <a:avLst/>
          </a:prstGeom>
          <a:noFill/>
        </p:spPr>
        <p:txBody>
          <a:bodyPr wrap="none" lIns="0" tIns="0" rIns="0" bIns="0" anchor="t">
            <a:noAutofit/>
          </a:bodyPr>
          <a:lstStyle/>
          <a:p>
            <a:pPr algn="l">
              <a:lnSpc>
                <a:spcPts val="2625"/>
              </a:lnSpc>
            </a:pPr>
            <a:r>
              <a:rPr sz="2100" b="0" i="1">
                <a:solidFill>
                  <a:srgbClr val="F2F8FC"/>
                </a:solidFill>
                <a:latin typeface="DM Serif Display"/>
              </a:rPr>
              <a:t>Daarna drie inclusies per maand, in elk centrum: dan is de inclusie binnen het jaar rond.</a:t>
            </a:r>
          </a:p>
        </p:txBody>
      </p:sp>
      <p:sp>
        <p:nvSpPr>
          <p:cNvPr id="20" name="TextBox 19"/>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F2F8FC"/>
                </a:solidFill>
                <a:latin typeface="DM Serif Display"/>
              </a:rPr>
              <a:t>Wat nu volgt</a:t>
            </a:r>
          </a:p>
        </p:txBody>
      </p:sp>
      <p:pic>
        <p:nvPicPr>
          <p:cNvPr id="21" name="Picture 20"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22" name="TextBox 21"/>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6F8FAA"/>
                </a:solidFill>
                <a:latin typeface="DM Sans"/>
              </a:rPr>
              <a:t>PARADISE · kick-off 12 oktober 2026</a:t>
            </a:r>
          </a:p>
        </p:txBody>
      </p:sp>
      <p:sp>
        <p:nvSpPr>
          <p:cNvPr id="23" name="TextBox 22"/>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6F8FAA"/>
                </a:solidFill>
                <a:latin typeface="DM Sans"/>
              </a:rPr>
              <a:t>Bron: opleidingsplanning, 8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Waar we vandaag staan</a:t>
            </a:r>
          </a:p>
        </p:txBody>
      </p:sp>
      <p:sp>
        <p:nvSpPr>
          <p:cNvPr id="3" name="Rectangle 2"/>
          <p:cNvSpPr/>
          <p:nvPr/>
        </p:nvSpPr>
        <p:spPr>
          <a:xfrm>
            <a:off x="812800" y="1620441"/>
            <a:ext cx="5194300"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2800" y="1760141"/>
            <a:ext cx="5245100" cy="243840"/>
          </a:xfrm>
          <a:prstGeom prst="rect">
            <a:avLst/>
          </a:prstGeom>
          <a:noFill/>
        </p:spPr>
        <p:txBody>
          <a:bodyPr wrap="none" lIns="0" tIns="0" rIns="0" bIns="0" anchor="t">
            <a:noAutofit/>
          </a:bodyPr>
          <a:lstStyle/>
          <a:p>
            <a:pPr algn="l">
              <a:lnSpc>
                <a:spcPts val="1920"/>
              </a:lnSpc>
            </a:pPr>
            <a:r>
              <a:rPr sz="1600" b="1" i="0">
                <a:solidFill>
                  <a:srgbClr val="0A2540"/>
                </a:solidFill>
                <a:latin typeface="DM Sans"/>
              </a:rPr>
              <a:t>Drukmeting</a:t>
            </a:r>
          </a:p>
        </p:txBody>
      </p:sp>
      <p:pic>
        <p:nvPicPr>
          <p:cNvPr id="5" name="Picture 4" descr="7006ea103c3e8fa9006c500fec1a0272.png"/>
          <p:cNvPicPr>
            <a:picLocks noChangeAspect="1"/>
          </p:cNvPicPr>
          <p:nvPr/>
        </p:nvPicPr>
        <p:blipFill>
          <a:blip r:embed="rId3"/>
          <a:stretch>
            <a:fillRect/>
          </a:stretch>
        </p:blipFill>
        <p:spPr>
          <a:xfrm>
            <a:off x="812800" y="2087066"/>
            <a:ext cx="355600" cy="260350"/>
          </a:xfrm>
          <a:prstGeom prst="rect">
            <a:avLst/>
          </a:prstGeom>
        </p:spPr>
      </p:pic>
      <p:sp>
        <p:nvSpPr>
          <p:cNvPr id="6" name="TextBox 5"/>
          <p:cNvSpPr txBox="1"/>
          <p:nvPr/>
        </p:nvSpPr>
        <p:spPr>
          <a:xfrm>
            <a:off x="1257300" y="2080121"/>
            <a:ext cx="3569494" cy="274320"/>
          </a:xfrm>
          <a:prstGeom prst="rect">
            <a:avLst/>
          </a:prstGeom>
          <a:noFill/>
        </p:spPr>
        <p:txBody>
          <a:bodyPr wrap="none" lIns="0" tIns="0" rIns="0" bIns="0" anchor="t">
            <a:noAutofit/>
          </a:bodyPr>
          <a:lstStyle/>
          <a:p>
            <a:pPr algn="l">
              <a:lnSpc>
                <a:spcPts val="2160"/>
              </a:lnSpc>
            </a:pPr>
            <a:r>
              <a:rPr sz="1600" b="0" i="0">
                <a:solidFill>
                  <a:srgbClr val="3A4F63"/>
                </a:solidFill>
                <a:latin typeface="DM Sans"/>
              </a:rPr>
              <a:t>Novel pedar geleverd; installatie loopt</a:t>
            </a:r>
          </a:p>
        </p:txBody>
      </p:sp>
      <p:sp>
        <p:nvSpPr>
          <p:cNvPr id="7" name="Rectangle 6"/>
          <p:cNvSpPr/>
          <p:nvPr/>
        </p:nvSpPr>
        <p:spPr>
          <a:xfrm>
            <a:off x="6184900" y="1620441"/>
            <a:ext cx="5194300"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84900" y="1760141"/>
            <a:ext cx="5245100" cy="243840"/>
          </a:xfrm>
          <a:prstGeom prst="rect">
            <a:avLst/>
          </a:prstGeom>
          <a:noFill/>
        </p:spPr>
        <p:txBody>
          <a:bodyPr wrap="none" lIns="0" tIns="0" rIns="0" bIns="0" anchor="t">
            <a:noAutofit/>
          </a:bodyPr>
          <a:lstStyle/>
          <a:p>
            <a:pPr algn="l">
              <a:lnSpc>
                <a:spcPts val="1920"/>
              </a:lnSpc>
            </a:pPr>
            <a:r>
              <a:rPr sz="1600" b="1" i="0">
                <a:solidFill>
                  <a:srgbClr val="0A2540"/>
                </a:solidFill>
                <a:latin typeface="DM Sans"/>
              </a:rPr>
              <a:t>Databank</a:t>
            </a:r>
          </a:p>
        </p:txBody>
      </p:sp>
      <p:sp>
        <p:nvSpPr>
          <p:cNvPr id="9" name="TextBox 8"/>
          <p:cNvSpPr txBox="1"/>
          <p:nvPr/>
        </p:nvSpPr>
        <p:spPr>
          <a:xfrm>
            <a:off x="6184900" y="2080121"/>
            <a:ext cx="5245100" cy="274320"/>
          </a:xfrm>
          <a:prstGeom prst="rect">
            <a:avLst/>
          </a:prstGeom>
          <a:noFill/>
        </p:spPr>
        <p:txBody>
          <a:bodyPr wrap="none" lIns="0" tIns="0" rIns="0" bIns="0" anchor="t">
            <a:noAutofit/>
          </a:bodyPr>
          <a:lstStyle/>
          <a:p>
            <a:pPr algn="l">
              <a:lnSpc>
                <a:spcPts val="2160"/>
              </a:lnSpc>
            </a:pPr>
            <a:r>
              <a:rPr sz="1600" b="0" i="0">
                <a:solidFill>
                  <a:srgbClr val="3A4F63"/>
                </a:solidFill>
                <a:latin typeface="DM Sans"/>
              </a:rPr>
              <a:t>REDCap klaar; u werkt op papier</a:t>
            </a:r>
          </a:p>
        </p:txBody>
      </p:sp>
      <p:sp>
        <p:nvSpPr>
          <p:cNvPr id="10" name="Rectangle 9"/>
          <p:cNvSpPr/>
          <p:nvPr/>
        </p:nvSpPr>
        <p:spPr>
          <a:xfrm>
            <a:off x="812800" y="2532162"/>
            <a:ext cx="5194300"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2800" y="2671862"/>
            <a:ext cx="5245100" cy="243840"/>
          </a:xfrm>
          <a:prstGeom prst="rect">
            <a:avLst/>
          </a:prstGeom>
          <a:noFill/>
        </p:spPr>
        <p:txBody>
          <a:bodyPr wrap="none" lIns="0" tIns="0" rIns="0" bIns="0" anchor="t">
            <a:noAutofit/>
          </a:bodyPr>
          <a:lstStyle/>
          <a:p>
            <a:pPr algn="l">
              <a:lnSpc>
                <a:spcPts val="1920"/>
              </a:lnSpc>
            </a:pPr>
            <a:r>
              <a:rPr sz="1600" b="1" i="0">
                <a:solidFill>
                  <a:srgbClr val="0A2540"/>
                </a:solidFill>
                <a:latin typeface="DM Sans"/>
              </a:rPr>
              <a:t>Opleidingen</a:t>
            </a:r>
          </a:p>
        </p:txBody>
      </p:sp>
      <p:sp>
        <p:nvSpPr>
          <p:cNvPr id="12" name="TextBox 11"/>
          <p:cNvSpPr txBox="1"/>
          <p:nvPr/>
        </p:nvSpPr>
        <p:spPr>
          <a:xfrm>
            <a:off x="812800" y="2991842"/>
            <a:ext cx="5245100" cy="274320"/>
          </a:xfrm>
          <a:prstGeom prst="rect">
            <a:avLst/>
          </a:prstGeom>
          <a:noFill/>
        </p:spPr>
        <p:txBody>
          <a:bodyPr wrap="none" lIns="0" tIns="0" rIns="0" bIns="0" anchor="t">
            <a:noAutofit/>
          </a:bodyPr>
          <a:lstStyle/>
          <a:p>
            <a:pPr algn="l">
              <a:lnSpc>
                <a:spcPts val="2160"/>
              </a:lnSpc>
            </a:pPr>
            <a:r>
              <a:rPr sz="1600" b="0" i="0">
                <a:solidFill>
                  <a:srgbClr val="3A4F63"/>
                </a:solidFill>
                <a:latin typeface="DM Sans"/>
              </a:rPr>
              <a:t>10 november tot april</a:t>
            </a:r>
          </a:p>
        </p:txBody>
      </p:sp>
      <p:sp>
        <p:nvSpPr>
          <p:cNvPr id="13" name="Rectangle 12"/>
          <p:cNvSpPr/>
          <p:nvPr/>
        </p:nvSpPr>
        <p:spPr>
          <a:xfrm>
            <a:off x="6184900" y="2532162"/>
            <a:ext cx="5194300"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84900" y="2671862"/>
            <a:ext cx="5245100" cy="243840"/>
          </a:xfrm>
          <a:prstGeom prst="rect">
            <a:avLst/>
          </a:prstGeom>
          <a:noFill/>
        </p:spPr>
        <p:txBody>
          <a:bodyPr wrap="none" lIns="0" tIns="0" rIns="0" bIns="0" anchor="t">
            <a:noAutofit/>
          </a:bodyPr>
          <a:lstStyle/>
          <a:p>
            <a:pPr algn="l">
              <a:lnSpc>
                <a:spcPts val="1920"/>
              </a:lnSpc>
            </a:pPr>
            <a:r>
              <a:rPr sz="1600" b="1" i="0">
                <a:solidFill>
                  <a:srgbClr val="0A2540"/>
                </a:solidFill>
                <a:latin typeface="DM Sans"/>
              </a:rPr>
              <a:t>Start</a:t>
            </a:r>
          </a:p>
        </p:txBody>
      </p:sp>
      <p:sp>
        <p:nvSpPr>
          <p:cNvPr id="15" name="TextBox 14"/>
          <p:cNvSpPr txBox="1"/>
          <p:nvPr/>
        </p:nvSpPr>
        <p:spPr>
          <a:xfrm>
            <a:off x="6184900" y="2991842"/>
            <a:ext cx="5245100" cy="274320"/>
          </a:xfrm>
          <a:prstGeom prst="rect">
            <a:avLst/>
          </a:prstGeom>
          <a:noFill/>
        </p:spPr>
        <p:txBody>
          <a:bodyPr wrap="none" lIns="0" tIns="0" rIns="0" bIns="0" anchor="t">
            <a:noAutofit/>
          </a:bodyPr>
          <a:lstStyle/>
          <a:p>
            <a:pPr algn="l">
              <a:lnSpc>
                <a:spcPts val="2160"/>
              </a:lnSpc>
            </a:pPr>
            <a:r>
              <a:rPr sz="1600" b="0" i="0">
                <a:solidFill>
                  <a:srgbClr val="3A4F63"/>
                </a:solidFill>
                <a:latin typeface="DM Sans"/>
              </a:rPr>
              <a:t>Februari 2027: piloot, Go/No-Go, eerste patiënt</a:t>
            </a:r>
          </a:p>
        </p:txBody>
      </p:sp>
      <p:pic>
        <p:nvPicPr>
          <p:cNvPr id="16" name="Picture 15" descr="ec5c93e6f83f209b4e97ddfdecd480c8.png"/>
          <p:cNvPicPr>
            <a:picLocks noChangeAspect="1"/>
          </p:cNvPicPr>
          <p:nvPr/>
        </p:nvPicPr>
        <p:blipFill>
          <a:blip r:embed="rId4"/>
          <a:stretch>
            <a:fillRect/>
          </a:stretch>
        </p:blipFill>
        <p:spPr>
          <a:xfrm>
            <a:off x="812967" y="6261100"/>
            <a:ext cx="171116" cy="203200"/>
          </a:xfrm>
          <a:prstGeom prst="rect">
            <a:avLst/>
          </a:prstGeom>
        </p:spPr>
      </p:pic>
      <p:sp>
        <p:nvSpPr>
          <p:cNvPr id="17" name="TextBox 16"/>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Achtergrond</a:t>
            </a:r>
          </a:p>
        </p:txBody>
      </p:sp>
      <p:sp>
        <p:nvSpPr>
          <p:cNvPr id="18" name="TextBox 17"/>
          <p:cNvSpPr txBox="1"/>
          <p:nvPr/>
        </p:nvSpPr>
        <p:spPr>
          <a:xfrm>
            <a:off x="5613400" y="6254750"/>
            <a:ext cx="5765800" cy="198120"/>
          </a:xfrm>
          <a:prstGeom prst="rect">
            <a:avLst/>
          </a:prstGeom>
          <a:noFill/>
        </p:spPr>
        <p:txBody>
          <a:bodyPr wrap="none" lIns="0" tIns="0" rIns="0" bIns="0" anchor="t">
            <a:noAutofit/>
          </a:bodyPr>
          <a:lstStyle/>
          <a:p>
            <a:pPr algn="r"/>
            <a:r>
              <a:rPr sz="1200" b="0" i="0">
                <a:solidFill>
                  <a:srgbClr val="5A6E80"/>
                </a:solidFill>
                <a:latin typeface="DM Sans"/>
              </a:rPr>
              <a:t>Bron: opleidingsplanning, 8 oktober 2026 · REDCap-opzet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1663700"/>
            <a:ext cx="3860800" cy="254000"/>
          </a:xfrm>
          <a:prstGeom prst="rect">
            <a:avLst/>
          </a:prstGeom>
          <a:noFill/>
        </p:spPr>
        <p:txBody>
          <a:bodyPr wrap="none" lIns="0" tIns="0" rIns="0" bIns="0" anchor="t">
            <a:noAutofit/>
          </a:bodyPr>
          <a:lstStyle/>
          <a:p>
            <a:pPr algn="l">
              <a:lnSpc>
                <a:spcPts val="2000"/>
              </a:lnSpc>
            </a:pPr>
            <a:r>
              <a:rPr sz="1600" b="1" i="0">
                <a:solidFill>
                  <a:srgbClr val="0A2540"/>
                </a:solidFill>
                <a:latin typeface="DM Sans"/>
              </a:rPr>
              <a:t>Visite 2</a:t>
            </a:r>
          </a:p>
        </p:txBody>
      </p:sp>
      <p:sp>
        <p:nvSpPr>
          <p:cNvPr id="4" name="Rectangle 3"/>
          <p:cNvSpPr/>
          <p:nvPr/>
        </p:nvSpPr>
        <p:spPr>
          <a:xfrm>
            <a:off x="812800" y="3619500"/>
            <a:ext cx="40640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53000" y="3517900"/>
            <a:ext cx="1511300" cy="190500"/>
          </a:xfrm>
          <a:prstGeom prst="rect">
            <a:avLst/>
          </a:prstGeom>
          <a:noFill/>
        </p:spPr>
        <p:txBody>
          <a:bodyPr wrap="none" lIns="0" tIns="0" rIns="0" bIns="0" anchor="t">
            <a:noAutofit/>
          </a:bodyPr>
          <a:lstStyle/>
          <a:p>
            <a:pPr algn="l">
              <a:lnSpc>
                <a:spcPts val="1500"/>
              </a:lnSpc>
            </a:pPr>
            <a:r>
              <a:rPr sz="1200" b="0" i="0">
                <a:solidFill>
                  <a:srgbClr val="5A6E80"/>
                </a:solidFill>
                <a:latin typeface="DM Sans"/>
              </a:rPr>
              <a:t>200 kPa</a:t>
            </a:r>
          </a:p>
        </p:txBody>
      </p:sp>
      <p:sp>
        <p:nvSpPr>
          <p:cNvPr id="6" name="Rectangle 5"/>
          <p:cNvSpPr/>
          <p:nvPr/>
        </p:nvSpPr>
        <p:spPr>
          <a:xfrm>
            <a:off x="812800" y="3113088"/>
            <a:ext cx="4064000" cy="127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953000" y="3011488"/>
            <a:ext cx="1511300" cy="190500"/>
          </a:xfrm>
          <a:prstGeom prst="rect">
            <a:avLst/>
          </a:prstGeom>
          <a:noFill/>
        </p:spPr>
        <p:txBody>
          <a:bodyPr wrap="none" lIns="0" tIns="0" rIns="0" bIns="0" anchor="t">
            <a:noAutofit/>
          </a:bodyPr>
          <a:lstStyle/>
          <a:p>
            <a:pPr algn="l">
              <a:lnSpc>
                <a:spcPts val="1500"/>
              </a:lnSpc>
            </a:pPr>
            <a:r>
              <a:rPr sz="1200" b="0" i="0">
                <a:solidFill>
                  <a:srgbClr val="A34A00"/>
                </a:solidFill>
                <a:latin typeface="DM Sans"/>
              </a:rPr>
              <a:t>25% lager: 255</a:t>
            </a:r>
          </a:p>
        </p:txBody>
      </p:sp>
      <p:sp>
        <p:nvSpPr>
          <p:cNvPr id="8" name="Rectangle 7"/>
          <p:cNvSpPr/>
          <p:nvPr/>
        </p:nvSpPr>
        <p:spPr>
          <a:xfrm>
            <a:off x="939800" y="2330450"/>
            <a:ext cx="952500" cy="3130550"/>
          </a:xfrm>
          <a:prstGeom prst="rect">
            <a:avLst/>
          </a:prstGeom>
          <a:solidFill>
            <a:srgbClr val="8FA3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4550" y="2101850"/>
            <a:ext cx="1143000" cy="1905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19150" y="2101850"/>
            <a:ext cx="1193800" cy="190500"/>
          </a:xfrm>
          <a:prstGeom prst="rect">
            <a:avLst/>
          </a:prstGeom>
          <a:noFill/>
        </p:spPr>
        <p:txBody>
          <a:bodyPr wrap="none" lIns="0" tIns="0" rIns="0" bIns="0" anchor="t">
            <a:noAutofit/>
          </a:bodyPr>
          <a:lstStyle/>
          <a:p>
            <a:pPr algn="ctr">
              <a:lnSpc>
                <a:spcPts val="1500"/>
              </a:lnSpc>
            </a:pPr>
            <a:r>
              <a:rPr sz="1200" b="1" i="0">
                <a:solidFill>
                  <a:srgbClr val="0A2540"/>
                </a:solidFill>
                <a:latin typeface="DM Sans"/>
              </a:rPr>
              <a:t>340</a:t>
            </a:r>
          </a:p>
        </p:txBody>
      </p:sp>
      <p:sp>
        <p:nvSpPr>
          <p:cNvPr id="11" name="TextBox 10"/>
          <p:cNvSpPr txBox="1"/>
          <p:nvPr/>
        </p:nvSpPr>
        <p:spPr>
          <a:xfrm>
            <a:off x="819150" y="5524500"/>
            <a:ext cx="1193800" cy="190500"/>
          </a:xfrm>
          <a:prstGeom prst="rect">
            <a:avLst/>
          </a:prstGeom>
          <a:noFill/>
        </p:spPr>
        <p:txBody>
          <a:bodyPr wrap="none" lIns="0" tIns="0" rIns="0" bIns="0" anchor="t">
            <a:noAutofit/>
          </a:bodyPr>
          <a:lstStyle/>
          <a:p>
            <a:pPr algn="ctr">
              <a:lnSpc>
                <a:spcPts val="1500"/>
              </a:lnSpc>
            </a:pPr>
            <a:r>
              <a:rPr sz="1200" b="0" i="0">
                <a:solidFill>
                  <a:srgbClr val="3A4F63"/>
                </a:solidFill>
                <a:latin typeface="DM Sans"/>
              </a:rPr>
              <a:t>zonder</a:t>
            </a:r>
          </a:p>
        </p:txBody>
      </p:sp>
      <p:sp>
        <p:nvSpPr>
          <p:cNvPr id="12" name="Rectangle 11"/>
          <p:cNvSpPr/>
          <p:nvPr/>
        </p:nvSpPr>
        <p:spPr>
          <a:xfrm>
            <a:off x="2336800" y="2882900"/>
            <a:ext cx="952500" cy="2578100"/>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2241550" y="2654300"/>
            <a:ext cx="1143000" cy="1905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2216150" y="2654300"/>
            <a:ext cx="1193800" cy="190500"/>
          </a:xfrm>
          <a:prstGeom prst="rect">
            <a:avLst/>
          </a:prstGeom>
          <a:noFill/>
        </p:spPr>
        <p:txBody>
          <a:bodyPr wrap="none" lIns="0" tIns="0" rIns="0" bIns="0" anchor="t">
            <a:noAutofit/>
          </a:bodyPr>
          <a:lstStyle/>
          <a:p>
            <a:pPr algn="ctr">
              <a:lnSpc>
                <a:spcPts val="1500"/>
              </a:lnSpc>
            </a:pPr>
            <a:r>
              <a:rPr sz="1200" b="1" i="0">
                <a:solidFill>
                  <a:srgbClr val="0A2540"/>
                </a:solidFill>
                <a:latin typeface="DM Sans"/>
              </a:rPr>
              <a:t>280</a:t>
            </a:r>
            <a:r>
              <a:rPr sz="1200" b="0" i="0">
                <a:solidFill>
                  <a:srgbClr val="0A2540"/>
                </a:solidFill>
                <a:latin typeface="DM Sans"/>
              </a:rPr>
              <a:t> · −18%</a:t>
            </a:r>
          </a:p>
        </p:txBody>
      </p:sp>
      <p:sp>
        <p:nvSpPr>
          <p:cNvPr id="15" name="TextBox 14"/>
          <p:cNvSpPr txBox="1"/>
          <p:nvPr/>
        </p:nvSpPr>
        <p:spPr>
          <a:xfrm>
            <a:off x="2216150" y="5524500"/>
            <a:ext cx="1193800" cy="190500"/>
          </a:xfrm>
          <a:prstGeom prst="rect">
            <a:avLst/>
          </a:prstGeom>
          <a:noFill/>
        </p:spPr>
        <p:txBody>
          <a:bodyPr wrap="none" lIns="0" tIns="0" rIns="0" bIns="0" anchor="t">
            <a:noAutofit/>
          </a:bodyPr>
          <a:lstStyle/>
          <a:p>
            <a:pPr algn="ctr">
              <a:lnSpc>
                <a:spcPts val="1500"/>
              </a:lnSpc>
            </a:pPr>
            <a:r>
              <a:rPr sz="1200" b="0" i="0">
                <a:solidFill>
                  <a:srgbClr val="3A4F63"/>
                </a:solidFill>
                <a:latin typeface="DM Sans"/>
              </a:rPr>
              <a:t>mét</a:t>
            </a:r>
          </a:p>
        </p:txBody>
      </p:sp>
      <p:sp>
        <p:nvSpPr>
          <p:cNvPr id="16" name="TextBox 15"/>
          <p:cNvSpPr txBox="1"/>
          <p:nvPr/>
        </p:nvSpPr>
        <p:spPr>
          <a:xfrm>
            <a:off x="2216150" y="5740400"/>
            <a:ext cx="1193800" cy="190500"/>
          </a:xfrm>
          <a:prstGeom prst="rect">
            <a:avLst/>
          </a:prstGeom>
          <a:noFill/>
        </p:spPr>
        <p:txBody>
          <a:bodyPr wrap="none" lIns="0" tIns="0" rIns="0" bIns="0" anchor="t">
            <a:noAutofit/>
          </a:bodyPr>
          <a:lstStyle/>
          <a:p>
            <a:pPr algn="ctr">
              <a:lnSpc>
                <a:spcPts val="1500"/>
              </a:lnSpc>
            </a:pPr>
            <a:r>
              <a:rPr sz="1200" b="1" i="0">
                <a:solidFill>
                  <a:srgbClr val="A34A00"/>
                </a:solidFill>
                <a:latin typeface="DM Sans"/>
              </a:rPr>
              <a:t>niet gehaald</a:t>
            </a:r>
          </a:p>
        </p:txBody>
      </p:sp>
      <p:sp>
        <p:nvSpPr>
          <p:cNvPr id="17" name="Rectangle 16"/>
          <p:cNvSpPr/>
          <p:nvPr/>
        </p:nvSpPr>
        <p:spPr>
          <a:xfrm>
            <a:off x="3733800" y="3205162"/>
            <a:ext cx="952500" cy="2255838"/>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3638550" y="2976562"/>
            <a:ext cx="1143000" cy="1905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613150" y="2976562"/>
            <a:ext cx="1193800" cy="190500"/>
          </a:xfrm>
          <a:prstGeom prst="rect">
            <a:avLst/>
          </a:prstGeom>
          <a:noFill/>
        </p:spPr>
        <p:txBody>
          <a:bodyPr wrap="none" lIns="0" tIns="0" rIns="0" bIns="0" anchor="t">
            <a:noAutofit/>
          </a:bodyPr>
          <a:lstStyle/>
          <a:p>
            <a:pPr algn="ctr">
              <a:lnSpc>
                <a:spcPts val="1500"/>
              </a:lnSpc>
            </a:pPr>
            <a:r>
              <a:rPr sz="1200" b="1" i="0">
                <a:solidFill>
                  <a:srgbClr val="0A2540"/>
                </a:solidFill>
                <a:latin typeface="DM Sans"/>
              </a:rPr>
              <a:t>245</a:t>
            </a:r>
            <a:r>
              <a:rPr sz="1200" b="0" i="0">
                <a:solidFill>
                  <a:srgbClr val="0A2540"/>
                </a:solidFill>
                <a:latin typeface="DM Sans"/>
              </a:rPr>
              <a:t> · −28%</a:t>
            </a:r>
          </a:p>
        </p:txBody>
      </p:sp>
      <p:sp>
        <p:nvSpPr>
          <p:cNvPr id="20" name="TextBox 19"/>
          <p:cNvSpPr txBox="1"/>
          <p:nvPr/>
        </p:nvSpPr>
        <p:spPr>
          <a:xfrm>
            <a:off x="3613150" y="5524500"/>
            <a:ext cx="1193800" cy="190500"/>
          </a:xfrm>
          <a:prstGeom prst="rect">
            <a:avLst/>
          </a:prstGeom>
          <a:noFill/>
        </p:spPr>
        <p:txBody>
          <a:bodyPr wrap="none" lIns="0" tIns="0" rIns="0" bIns="0" anchor="t">
            <a:noAutofit/>
          </a:bodyPr>
          <a:lstStyle/>
          <a:p>
            <a:pPr algn="ctr">
              <a:lnSpc>
                <a:spcPts val="1500"/>
              </a:lnSpc>
            </a:pPr>
            <a:r>
              <a:rPr sz="1200" b="0" i="0">
                <a:solidFill>
                  <a:srgbClr val="3A4F63"/>
                </a:solidFill>
                <a:latin typeface="DM Sans"/>
              </a:rPr>
              <a:t>na aanpassing 1</a:t>
            </a:r>
          </a:p>
        </p:txBody>
      </p:sp>
      <p:sp>
        <p:nvSpPr>
          <p:cNvPr id="21" name="TextBox 20"/>
          <p:cNvSpPr txBox="1"/>
          <p:nvPr/>
        </p:nvSpPr>
        <p:spPr>
          <a:xfrm>
            <a:off x="3613150" y="5740400"/>
            <a:ext cx="1193800" cy="190500"/>
          </a:xfrm>
          <a:prstGeom prst="rect">
            <a:avLst/>
          </a:prstGeom>
          <a:noFill/>
        </p:spPr>
        <p:txBody>
          <a:bodyPr wrap="none" lIns="0" tIns="0" rIns="0" bIns="0" anchor="t">
            <a:noAutofit/>
          </a:bodyPr>
          <a:lstStyle/>
          <a:p>
            <a:pPr algn="ctr">
              <a:lnSpc>
                <a:spcPts val="1500"/>
              </a:lnSpc>
            </a:pPr>
            <a:r>
              <a:rPr sz="1200" b="1" i="0">
                <a:solidFill>
                  <a:srgbClr val="0A2540"/>
                </a:solidFill>
                <a:latin typeface="DM Sans"/>
              </a:rPr>
              <a:t>gehaald</a:t>
            </a:r>
          </a:p>
        </p:txBody>
      </p:sp>
      <p:sp>
        <p:nvSpPr>
          <p:cNvPr id="22" name="Rectangle 21"/>
          <p:cNvSpPr/>
          <p:nvPr/>
        </p:nvSpPr>
        <p:spPr>
          <a:xfrm>
            <a:off x="812800" y="5461000"/>
            <a:ext cx="4064000" cy="12700"/>
          </a:xfrm>
          <a:prstGeom prst="rect">
            <a:avLst/>
          </a:prstGeom>
          <a:solidFill>
            <a:srgbClr val="C5D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31000" y="1663700"/>
            <a:ext cx="3860800" cy="254000"/>
          </a:xfrm>
          <a:prstGeom prst="rect">
            <a:avLst/>
          </a:prstGeom>
          <a:noFill/>
        </p:spPr>
        <p:txBody>
          <a:bodyPr wrap="none" lIns="0" tIns="0" rIns="0" bIns="0" anchor="t">
            <a:noAutofit/>
          </a:bodyPr>
          <a:lstStyle/>
          <a:p>
            <a:pPr algn="l">
              <a:lnSpc>
                <a:spcPts val="2000"/>
              </a:lnSpc>
            </a:pPr>
            <a:r>
              <a:rPr sz="1600" b="1" i="0">
                <a:solidFill>
                  <a:srgbClr val="0A2540"/>
                </a:solidFill>
                <a:latin typeface="DM Sans"/>
              </a:rPr>
              <a:t>Maand 6</a:t>
            </a:r>
          </a:p>
        </p:txBody>
      </p:sp>
      <p:sp>
        <p:nvSpPr>
          <p:cNvPr id="24" name="Rectangle 23"/>
          <p:cNvSpPr/>
          <p:nvPr/>
        </p:nvSpPr>
        <p:spPr>
          <a:xfrm>
            <a:off x="6731000" y="3619500"/>
            <a:ext cx="26670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74200" y="3517900"/>
            <a:ext cx="1511300" cy="190500"/>
          </a:xfrm>
          <a:prstGeom prst="rect">
            <a:avLst/>
          </a:prstGeom>
          <a:noFill/>
        </p:spPr>
        <p:txBody>
          <a:bodyPr wrap="none" lIns="0" tIns="0" rIns="0" bIns="0" anchor="t">
            <a:noAutofit/>
          </a:bodyPr>
          <a:lstStyle/>
          <a:p>
            <a:pPr algn="l">
              <a:lnSpc>
                <a:spcPts val="1500"/>
              </a:lnSpc>
            </a:pPr>
            <a:r>
              <a:rPr sz="1200" b="0" i="0">
                <a:solidFill>
                  <a:srgbClr val="5A6E80"/>
                </a:solidFill>
                <a:latin typeface="DM Sans"/>
              </a:rPr>
              <a:t>200 kPa</a:t>
            </a:r>
          </a:p>
        </p:txBody>
      </p:sp>
      <p:sp>
        <p:nvSpPr>
          <p:cNvPr id="26" name="Rectangle 25"/>
          <p:cNvSpPr/>
          <p:nvPr/>
        </p:nvSpPr>
        <p:spPr>
          <a:xfrm>
            <a:off x="6731000" y="3868043"/>
            <a:ext cx="2667000" cy="127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474200" y="3766443"/>
            <a:ext cx="1511300" cy="190500"/>
          </a:xfrm>
          <a:prstGeom prst="rect">
            <a:avLst/>
          </a:prstGeom>
          <a:noFill/>
        </p:spPr>
        <p:txBody>
          <a:bodyPr wrap="none" lIns="0" tIns="0" rIns="0" bIns="0" anchor="t">
            <a:noAutofit/>
          </a:bodyPr>
          <a:lstStyle/>
          <a:p>
            <a:pPr algn="l">
              <a:lnSpc>
                <a:spcPts val="1500"/>
              </a:lnSpc>
            </a:pPr>
            <a:r>
              <a:rPr sz="1200" b="0" i="0">
                <a:solidFill>
                  <a:srgbClr val="A34A00"/>
                </a:solidFill>
                <a:latin typeface="DM Sans"/>
              </a:rPr>
              <a:t>25% lager: 173</a:t>
            </a:r>
          </a:p>
        </p:txBody>
      </p:sp>
      <p:sp>
        <p:nvSpPr>
          <p:cNvPr id="28" name="Rectangle 27"/>
          <p:cNvSpPr/>
          <p:nvPr/>
        </p:nvSpPr>
        <p:spPr>
          <a:xfrm>
            <a:off x="6858000" y="3343275"/>
            <a:ext cx="952500" cy="2117725"/>
          </a:xfrm>
          <a:prstGeom prst="rect">
            <a:avLst/>
          </a:prstGeom>
          <a:solidFill>
            <a:srgbClr val="8FA3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6762750" y="3114675"/>
            <a:ext cx="1143000" cy="1905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737350" y="3114675"/>
            <a:ext cx="1193800" cy="190500"/>
          </a:xfrm>
          <a:prstGeom prst="rect">
            <a:avLst/>
          </a:prstGeom>
          <a:noFill/>
        </p:spPr>
        <p:txBody>
          <a:bodyPr wrap="none" lIns="0" tIns="0" rIns="0" bIns="0" anchor="t">
            <a:noAutofit/>
          </a:bodyPr>
          <a:lstStyle/>
          <a:p>
            <a:pPr algn="ctr">
              <a:lnSpc>
                <a:spcPts val="1500"/>
              </a:lnSpc>
            </a:pPr>
            <a:r>
              <a:rPr sz="1200" b="1" i="0">
                <a:solidFill>
                  <a:srgbClr val="0A2540"/>
                </a:solidFill>
                <a:latin typeface="DM Sans"/>
              </a:rPr>
              <a:t>230</a:t>
            </a:r>
          </a:p>
        </p:txBody>
      </p:sp>
      <p:sp>
        <p:nvSpPr>
          <p:cNvPr id="31" name="TextBox 30"/>
          <p:cNvSpPr txBox="1"/>
          <p:nvPr/>
        </p:nvSpPr>
        <p:spPr>
          <a:xfrm>
            <a:off x="6737350" y="5524500"/>
            <a:ext cx="1193800" cy="190500"/>
          </a:xfrm>
          <a:prstGeom prst="rect">
            <a:avLst/>
          </a:prstGeom>
          <a:noFill/>
        </p:spPr>
        <p:txBody>
          <a:bodyPr wrap="none" lIns="0" tIns="0" rIns="0" bIns="0" anchor="t">
            <a:noAutofit/>
          </a:bodyPr>
          <a:lstStyle/>
          <a:p>
            <a:pPr algn="ctr">
              <a:lnSpc>
                <a:spcPts val="1500"/>
              </a:lnSpc>
            </a:pPr>
            <a:r>
              <a:rPr sz="1200" b="0" i="0">
                <a:solidFill>
                  <a:srgbClr val="3A4F63"/>
                </a:solidFill>
                <a:latin typeface="DM Sans"/>
              </a:rPr>
              <a:t>zonder</a:t>
            </a:r>
          </a:p>
        </p:txBody>
      </p:sp>
      <p:sp>
        <p:nvSpPr>
          <p:cNvPr id="32" name="Rectangle 31"/>
          <p:cNvSpPr/>
          <p:nvPr/>
        </p:nvSpPr>
        <p:spPr>
          <a:xfrm>
            <a:off x="8255000" y="3711575"/>
            <a:ext cx="952500" cy="1749425"/>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8159750" y="3482975"/>
            <a:ext cx="1143000" cy="1905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8134350" y="3482975"/>
            <a:ext cx="1193800" cy="190500"/>
          </a:xfrm>
          <a:prstGeom prst="rect">
            <a:avLst/>
          </a:prstGeom>
          <a:noFill/>
        </p:spPr>
        <p:txBody>
          <a:bodyPr wrap="none" lIns="0" tIns="0" rIns="0" bIns="0" anchor="t">
            <a:noAutofit/>
          </a:bodyPr>
          <a:lstStyle/>
          <a:p>
            <a:pPr algn="ctr">
              <a:lnSpc>
                <a:spcPts val="1500"/>
              </a:lnSpc>
            </a:pPr>
            <a:r>
              <a:rPr sz="1200" b="1" i="0">
                <a:solidFill>
                  <a:srgbClr val="0A2540"/>
                </a:solidFill>
                <a:latin typeface="DM Sans"/>
              </a:rPr>
              <a:t>190</a:t>
            </a:r>
            <a:r>
              <a:rPr sz="1200" b="0" i="0">
                <a:solidFill>
                  <a:srgbClr val="0A2540"/>
                </a:solidFill>
                <a:latin typeface="DM Sans"/>
              </a:rPr>
              <a:t> · −17%</a:t>
            </a:r>
          </a:p>
        </p:txBody>
      </p:sp>
      <p:sp>
        <p:nvSpPr>
          <p:cNvPr id="35" name="TextBox 34"/>
          <p:cNvSpPr txBox="1"/>
          <p:nvPr/>
        </p:nvSpPr>
        <p:spPr>
          <a:xfrm>
            <a:off x="8134350" y="5524500"/>
            <a:ext cx="1193800" cy="190500"/>
          </a:xfrm>
          <a:prstGeom prst="rect">
            <a:avLst/>
          </a:prstGeom>
          <a:noFill/>
        </p:spPr>
        <p:txBody>
          <a:bodyPr wrap="none" lIns="0" tIns="0" rIns="0" bIns="0" anchor="t">
            <a:noAutofit/>
          </a:bodyPr>
          <a:lstStyle/>
          <a:p>
            <a:pPr algn="ctr">
              <a:lnSpc>
                <a:spcPts val="1500"/>
              </a:lnSpc>
            </a:pPr>
            <a:r>
              <a:rPr sz="1200" b="0" i="0">
                <a:solidFill>
                  <a:srgbClr val="3A4F63"/>
                </a:solidFill>
                <a:latin typeface="DM Sans"/>
              </a:rPr>
              <a:t>mét</a:t>
            </a:r>
          </a:p>
        </p:txBody>
      </p:sp>
      <p:sp>
        <p:nvSpPr>
          <p:cNvPr id="36" name="TextBox 35"/>
          <p:cNvSpPr txBox="1"/>
          <p:nvPr/>
        </p:nvSpPr>
        <p:spPr>
          <a:xfrm>
            <a:off x="8134350" y="5740400"/>
            <a:ext cx="1193800" cy="190500"/>
          </a:xfrm>
          <a:prstGeom prst="rect">
            <a:avLst/>
          </a:prstGeom>
          <a:noFill/>
        </p:spPr>
        <p:txBody>
          <a:bodyPr wrap="none" lIns="0" tIns="0" rIns="0" bIns="0" anchor="t">
            <a:noAutofit/>
          </a:bodyPr>
          <a:lstStyle/>
          <a:p>
            <a:pPr algn="ctr">
              <a:lnSpc>
                <a:spcPts val="1500"/>
              </a:lnSpc>
            </a:pPr>
            <a:r>
              <a:rPr sz="1200" b="1" i="0">
                <a:solidFill>
                  <a:srgbClr val="0A2540"/>
                </a:solidFill>
                <a:latin typeface="DM Sans"/>
              </a:rPr>
              <a:t>gehaald</a:t>
            </a:r>
          </a:p>
        </p:txBody>
      </p:sp>
      <p:sp>
        <p:nvSpPr>
          <p:cNvPr id="37" name="Rectangle 36"/>
          <p:cNvSpPr/>
          <p:nvPr/>
        </p:nvSpPr>
        <p:spPr>
          <a:xfrm>
            <a:off x="6731000" y="5461000"/>
            <a:ext cx="2667000" cy="12700"/>
          </a:xfrm>
          <a:prstGeom prst="rect">
            <a:avLst/>
          </a:prstGeom>
          <a:solidFill>
            <a:srgbClr val="C5D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12800" y="1409700"/>
            <a:ext cx="10617200" cy="190500"/>
          </a:xfrm>
          <a:prstGeom prst="rect">
            <a:avLst/>
          </a:prstGeom>
          <a:noFill/>
        </p:spPr>
        <p:txBody>
          <a:bodyPr wrap="none" lIns="0" tIns="0" rIns="0" bIns="0" anchor="t">
            <a:noAutofit/>
          </a:bodyPr>
          <a:lstStyle/>
          <a:p>
            <a:pPr algn="l">
              <a:lnSpc>
                <a:spcPts val="1500"/>
              </a:lnSpc>
            </a:pPr>
            <a:r>
              <a:rPr sz="1200" b="0" i="0">
                <a:solidFill>
                  <a:srgbClr val="5A6E80"/>
                </a:solidFill>
                <a:latin typeface="DM Sans"/>
              </a:rPr>
              <a:t>Rekenvoorbeeld, één doelregio · piekdruk in kPa, in de schoen</a:t>
            </a:r>
          </a:p>
        </p:txBody>
      </p:sp>
      <p:sp>
        <p:nvSpPr>
          <p:cNvPr id="39" name="TextBox 38"/>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Elke sessie is haar eigen referentie</a:t>
            </a:r>
          </a:p>
        </p:txBody>
      </p:sp>
      <p:pic>
        <p:nvPicPr>
          <p:cNvPr id="40" name="Picture 39"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41" name="TextBox 40"/>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42" name="TextBox 41"/>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beslissing 6 oktober 2026 · eCRF 24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Iedereen koos een andere noemer</a:t>
            </a:r>
          </a:p>
        </p:txBody>
      </p:sp>
      <p:sp>
        <p:nvSpPr>
          <p:cNvPr id="3" name="TextBox 2"/>
          <p:cNvSpPr txBox="1"/>
          <p:nvPr/>
        </p:nvSpPr>
        <p:spPr>
          <a:xfrm>
            <a:off x="812800" y="1660723"/>
            <a:ext cx="2463800" cy="158750"/>
          </a:xfrm>
          <a:prstGeom prst="rect">
            <a:avLst/>
          </a:prstGeom>
          <a:noFill/>
        </p:spPr>
        <p:txBody>
          <a:bodyPr wrap="none" lIns="0" tIns="0" rIns="0" bIns="0" anchor="t">
            <a:noAutofit/>
          </a:bodyPr>
          <a:lstStyle/>
          <a:p>
            <a:pPr algn="l"/>
            <a:r>
              <a:rPr sz="950" b="1" i="0">
                <a:solidFill>
                  <a:srgbClr val="5A6E80"/>
                </a:solidFill>
                <a:latin typeface="DM Sans"/>
              </a:rPr>
              <a:t>Gedeeld door</a:t>
            </a:r>
          </a:p>
        </p:txBody>
      </p:sp>
      <p:sp>
        <p:nvSpPr>
          <p:cNvPr id="4" name="TextBox 3"/>
          <p:cNvSpPr txBox="1"/>
          <p:nvPr/>
        </p:nvSpPr>
        <p:spPr>
          <a:xfrm>
            <a:off x="3238500" y="1506141"/>
            <a:ext cx="1605260" cy="150812"/>
          </a:xfrm>
          <a:prstGeom prst="rect">
            <a:avLst/>
          </a:prstGeom>
          <a:noFill/>
        </p:spPr>
        <p:txBody>
          <a:bodyPr wrap="none" lIns="0" tIns="0" rIns="0" bIns="0" anchor="t">
            <a:noAutofit/>
          </a:bodyPr>
          <a:lstStyle/>
          <a:p>
            <a:pPr algn="ctr">
              <a:lnSpc>
                <a:spcPts val="1187"/>
              </a:lnSpc>
            </a:pPr>
            <a:r>
              <a:rPr sz="950" b="1" i="0">
                <a:solidFill>
                  <a:srgbClr val="0B6E8F"/>
                </a:solidFill>
                <a:latin typeface="DM Sans"/>
              </a:rPr>
              <a:t>Dag</a:t>
            </a:r>
          </a:p>
        </p:txBody>
      </p:sp>
      <p:sp>
        <p:nvSpPr>
          <p:cNvPr id="5" name="TextBox 4"/>
          <p:cNvSpPr txBox="1"/>
          <p:nvPr/>
        </p:nvSpPr>
        <p:spPr>
          <a:xfrm>
            <a:off x="3238500" y="1682353"/>
            <a:ext cx="1605260" cy="137160"/>
          </a:xfrm>
          <a:prstGeom prst="rect">
            <a:avLst/>
          </a:prstGeom>
          <a:noFill/>
        </p:spPr>
        <p:txBody>
          <a:bodyPr wrap="none" lIns="0" tIns="0" rIns="0" bIns="0" anchor="t">
            <a:noAutofit/>
          </a:bodyPr>
          <a:lstStyle/>
          <a:p>
            <a:pPr algn="ctr">
              <a:lnSpc>
                <a:spcPts val="1080"/>
              </a:lnSpc>
            </a:pPr>
            <a:r>
              <a:rPr sz="900" b="0" i="0">
                <a:solidFill>
                  <a:srgbClr val="5A6E80"/>
                </a:solidFill>
                <a:latin typeface="DM Sans"/>
              </a:rPr>
              <a:t>niet gemeten, meestal 16 u</a:t>
            </a:r>
          </a:p>
        </p:txBody>
      </p:sp>
      <p:sp>
        <p:nvSpPr>
          <p:cNvPr id="6" name="TextBox 5"/>
          <p:cNvSpPr txBox="1"/>
          <p:nvPr/>
        </p:nvSpPr>
        <p:spPr>
          <a:xfrm>
            <a:off x="4869160" y="1506141"/>
            <a:ext cx="1605260" cy="150812"/>
          </a:xfrm>
          <a:prstGeom prst="rect">
            <a:avLst/>
          </a:prstGeom>
          <a:noFill/>
        </p:spPr>
        <p:txBody>
          <a:bodyPr wrap="none" lIns="0" tIns="0" rIns="0" bIns="0" anchor="t">
            <a:noAutofit/>
          </a:bodyPr>
          <a:lstStyle/>
          <a:p>
            <a:pPr algn="ctr">
              <a:lnSpc>
                <a:spcPts val="1187"/>
              </a:lnSpc>
            </a:pPr>
            <a:r>
              <a:rPr sz="950" b="1" i="0">
                <a:solidFill>
                  <a:srgbClr val="0B6E8F"/>
                </a:solidFill>
                <a:latin typeface="DM Sans"/>
              </a:rPr>
              <a:t>Stappen</a:t>
            </a:r>
          </a:p>
        </p:txBody>
      </p:sp>
      <p:sp>
        <p:nvSpPr>
          <p:cNvPr id="7" name="TextBox 6"/>
          <p:cNvSpPr txBox="1"/>
          <p:nvPr/>
        </p:nvSpPr>
        <p:spPr>
          <a:xfrm>
            <a:off x="4869160" y="1682353"/>
            <a:ext cx="1605260" cy="137160"/>
          </a:xfrm>
          <a:prstGeom prst="rect">
            <a:avLst/>
          </a:prstGeom>
          <a:noFill/>
        </p:spPr>
        <p:txBody>
          <a:bodyPr wrap="none" lIns="0" tIns="0" rIns="0" bIns="0" anchor="t">
            <a:noAutofit/>
          </a:bodyPr>
          <a:lstStyle/>
          <a:p>
            <a:pPr algn="ctr">
              <a:lnSpc>
                <a:spcPts val="1080"/>
              </a:lnSpc>
            </a:pPr>
            <a:r>
              <a:rPr sz="900" b="0" i="0">
                <a:solidFill>
                  <a:srgbClr val="5A6E80"/>
                </a:solidFill>
                <a:latin typeface="DM Sans"/>
              </a:rPr>
              <a:t>geen daglengte nodig</a:t>
            </a:r>
          </a:p>
        </p:txBody>
      </p:sp>
      <p:sp>
        <p:nvSpPr>
          <p:cNvPr id="8" name="TextBox 7"/>
          <p:cNvSpPr txBox="1"/>
          <p:nvPr/>
        </p:nvSpPr>
        <p:spPr>
          <a:xfrm>
            <a:off x="6499820" y="1506141"/>
            <a:ext cx="1605260" cy="150812"/>
          </a:xfrm>
          <a:prstGeom prst="rect">
            <a:avLst/>
          </a:prstGeom>
          <a:noFill/>
        </p:spPr>
        <p:txBody>
          <a:bodyPr wrap="none" lIns="0" tIns="0" rIns="0" bIns="0" anchor="t">
            <a:noAutofit/>
          </a:bodyPr>
          <a:lstStyle/>
          <a:p>
            <a:pPr algn="ctr">
              <a:lnSpc>
                <a:spcPts val="1187"/>
              </a:lnSpc>
            </a:pPr>
            <a:r>
              <a:rPr sz="950" b="1" i="0">
                <a:solidFill>
                  <a:srgbClr val="0B6E8F"/>
                </a:solidFill>
                <a:latin typeface="DM Sans"/>
              </a:rPr>
              <a:t>Uren per dag</a:t>
            </a:r>
          </a:p>
        </p:txBody>
      </p:sp>
      <p:sp>
        <p:nvSpPr>
          <p:cNvPr id="9" name="TextBox 8"/>
          <p:cNvSpPr txBox="1"/>
          <p:nvPr/>
        </p:nvSpPr>
        <p:spPr>
          <a:xfrm>
            <a:off x="6499820" y="1682353"/>
            <a:ext cx="1605260" cy="137160"/>
          </a:xfrm>
          <a:prstGeom prst="rect">
            <a:avLst/>
          </a:prstGeom>
          <a:noFill/>
        </p:spPr>
        <p:txBody>
          <a:bodyPr wrap="none" lIns="0" tIns="0" rIns="0" bIns="0" anchor="t">
            <a:noAutofit/>
          </a:bodyPr>
          <a:lstStyle/>
          <a:p>
            <a:pPr algn="ctr">
              <a:lnSpc>
                <a:spcPts val="1080"/>
              </a:lnSpc>
            </a:pPr>
            <a:r>
              <a:rPr sz="900" b="0" i="0">
                <a:solidFill>
                  <a:srgbClr val="5A6E80"/>
                </a:solidFill>
                <a:latin typeface="DM Sans"/>
              </a:rPr>
              <a:t>zonder noemer</a:t>
            </a:r>
          </a:p>
        </p:txBody>
      </p:sp>
      <p:sp>
        <p:nvSpPr>
          <p:cNvPr id="10" name="TextBox 9"/>
          <p:cNvSpPr txBox="1"/>
          <p:nvPr/>
        </p:nvSpPr>
        <p:spPr>
          <a:xfrm>
            <a:off x="8130480" y="1506141"/>
            <a:ext cx="1605260" cy="150812"/>
          </a:xfrm>
          <a:prstGeom prst="rect">
            <a:avLst/>
          </a:prstGeom>
          <a:noFill/>
        </p:spPr>
        <p:txBody>
          <a:bodyPr wrap="none" lIns="0" tIns="0" rIns="0" bIns="0" anchor="t">
            <a:noAutofit/>
          </a:bodyPr>
          <a:lstStyle/>
          <a:p>
            <a:pPr algn="ctr">
              <a:lnSpc>
                <a:spcPts val="1187"/>
              </a:lnSpc>
            </a:pPr>
            <a:r>
              <a:rPr sz="950" b="1" i="0">
                <a:solidFill>
                  <a:srgbClr val="0B6E8F"/>
                </a:solidFill>
                <a:latin typeface="DM Sans"/>
              </a:rPr>
              <a:t>Gewichtdragende tijd</a:t>
            </a:r>
          </a:p>
        </p:txBody>
      </p:sp>
      <p:sp>
        <p:nvSpPr>
          <p:cNvPr id="11" name="TextBox 10"/>
          <p:cNvSpPr txBox="1"/>
          <p:nvPr/>
        </p:nvSpPr>
        <p:spPr>
          <a:xfrm>
            <a:off x="8130480" y="1682353"/>
            <a:ext cx="1605260" cy="137160"/>
          </a:xfrm>
          <a:prstGeom prst="rect">
            <a:avLst/>
          </a:prstGeom>
          <a:noFill/>
        </p:spPr>
        <p:txBody>
          <a:bodyPr wrap="none" lIns="0" tIns="0" rIns="0" bIns="0" anchor="t">
            <a:noAutofit/>
          </a:bodyPr>
          <a:lstStyle/>
          <a:p>
            <a:pPr algn="ctr">
              <a:lnSpc>
                <a:spcPts val="1080"/>
              </a:lnSpc>
            </a:pPr>
            <a:r>
              <a:rPr sz="900" b="0" i="0">
                <a:solidFill>
                  <a:srgbClr val="5A6E80"/>
                </a:solidFill>
                <a:latin typeface="DM Sans"/>
              </a:rPr>
              <a:t>staan en stappen, gemeten</a:t>
            </a:r>
          </a:p>
        </p:txBody>
      </p:sp>
      <p:sp>
        <p:nvSpPr>
          <p:cNvPr id="12" name="TextBox 11"/>
          <p:cNvSpPr txBox="1"/>
          <p:nvPr/>
        </p:nvSpPr>
        <p:spPr>
          <a:xfrm>
            <a:off x="9761141" y="1506141"/>
            <a:ext cx="1605260" cy="150812"/>
          </a:xfrm>
          <a:prstGeom prst="rect">
            <a:avLst/>
          </a:prstGeom>
          <a:noFill/>
        </p:spPr>
        <p:txBody>
          <a:bodyPr wrap="none" lIns="0" tIns="0" rIns="0" bIns="0" anchor="t">
            <a:noAutofit/>
          </a:bodyPr>
          <a:lstStyle/>
          <a:p>
            <a:pPr algn="ctr">
              <a:lnSpc>
                <a:spcPts val="1187"/>
              </a:lnSpc>
            </a:pPr>
            <a:r>
              <a:rPr sz="950" b="1" i="0">
                <a:solidFill>
                  <a:srgbClr val="A34A00"/>
                </a:solidFill>
                <a:latin typeface="DM Sans"/>
              </a:rPr>
              <a:t>Gemeten waaktijd</a:t>
            </a:r>
          </a:p>
        </p:txBody>
      </p:sp>
      <p:sp>
        <p:nvSpPr>
          <p:cNvPr id="13" name="TextBox 12"/>
          <p:cNvSpPr txBox="1"/>
          <p:nvPr/>
        </p:nvSpPr>
        <p:spPr>
          <a:xfrm>
            <a:off x="9761141" y="1682353"/>
            <a:ext cx="1605260" cy="137160"/>
          </a:xfrm>
          <a:prstGeom prst="rect">
            <a:avLst/>
          </a:prstGeom>
          <a:noFill/>
        </p:spPr>
        <p:txBody>
          <a:bodyPr wrap="none" lIns="0" tIns="0" rIns="0" bIns="0" anchor="t">
            <a:noAutofit/>
          </a:bodyPr>
          <a:lstStyle/>
          <a:p>
            <a:pPr algn="ctr">
              <a:lnSpc>
                <a:spcPts val="1080"/>
              </a:lnSpc>
            </a:pPr>
            <a:r>
              <a:rPr sz="900" b="0" i="0">
                <a:solidFill>
                  <a:srgbClr val="5A6E80"/>
                </a:solidFill>
                <a:latin typeface="DM Sans"/>
              </a:rPr>
              <a:t>per patiënt</a:t>
            </a:r>
          </a:p>
        </p:txBody>
      </p:sp>
      <p:sp>
        <p:nvSpPr>
          <p:cNvPr id="14" name="TextBox 13"/>
          <p:cNvSpPr txBox="1"/>
          <p:nvPr/>
        </p:nvSpPr>
        <p:spPr>
          <a:xfrm>
            <a:off x="812800" y="1918891"/>
            <a:ext cx="2463800"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Chantelau 1994</a:t>
            </a:r>
          </a:p>
        </p:txBody>
      </p:sp>
      <p:sp>
        <p:nvSpPr>
          <p:cNvPr id="15" name="TextBox 14"/>
          <p:cNvSpPr txBox="1"/>
          <p:nvPr/>
        </p:nvSpPr>
        <p:spPr>
          <a:xfrm>
            <a:off x="812800" y="2121396"/>
            <a:ext cx="2463800" cy="144780"/>
          </a:xfrm>
          <a:prstGeom prst="rect">
            <a:avLst/>
          </a:prstGeom>
          <a:noFill/>
        </p:spPr>
        <p:txBody>
          <a:bodyPr wrap="none" lIns="0" tIns="0" rIns="0" bIns="0" anchor="t">
            <a:noAutofit/>
          </a:bodyPr>
          <a:lstStyle/>
          <a:p>
            <a:pPr algn="l">
              <a:lnSpc>
                <a:spcPts val="1140"/>
              </a:lnSpc>
            </a:pPr>
            <a:r>
              <a:rPr sz="950" b="0" i="0">
                <a:solidFill>
                  <a:srgbClr val="5A6E80"/>
                </a:solidFill>
                <a:latin typeface="DM Sans"/>
              </a:rPr>
              <a:t>geen sensor</a:t>
            </a:r>
          </a:p>
        </p:txBody>
      </p:sp>
      <p:sp>
        <p:nvSpPr>
          <p:cNvPr id="16" name="Rounded Rectangle 15"/>
          <p:cNvSpPr/>
          <p:nvPr/>
        </p:nvSpPr>
        <p:spPr>
          <a:xfrm>
            <a:off x="3713361" y="1970584"/>
            <a:ext cx="655439"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3827661" y="2008684"/>
            <a:ext cx="477639"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&gt; 60%</a:t>
            </a:r>
          </a:p>
        </p:txBody>
      </p:sp>
      <p:sp>
        <p:nvSpPr>
          <p:cNvPr id="18" name="TextBox 17"/>
          <p:cNvSpPr txBox="1"/>
          <p:nvPr/>
        </p:nvSpPr>
        <p:spPr>
          <a:xfrm>
            <a:off x="5625009" y="2000448"/>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19" name="TextBox 18"/>
          <p:cNvSpPr txBox="1"/>
          <p:nvPr/>
        </p:nvSpPr>
        <p:spPr>
          <a:xfrm>
            <a:off x="7255669" y="2000448"/>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20" name="TextBox 19"/>
          <p:cNvSpPr txBox="1"/>
          <p:nvPr/>
        </p:nvSpPr>
        <p:spPr>
          <a:xfrm>
            <a:off x="8886329" y="2000448"/>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21" name="Rectangle 20"/>
          <p:cNvSpPr/>
          <p:nvPr/>
        </p:nvSpPr>
        <p:spPr>
          <a:xfrm>
            <a:off x="9748441" y="1895673"/>
            <a:ext cx="1630660" cy="39370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0516989" y="2000448"/>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23" name="Rectangle 22"/>
          <p:cNvSpPr/>
          <p:nvPr/>
        </p:nvSpPr>
        <p:spPr>
          <a:xfrm>
            <a:off x="812800" y="2289373"/>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2800" y="2315766"/>
            <a:ext cx="2463800"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Arts 2014</a:t>
            </a:r>
          </a:p>
        </p:txBody>
      </p:sp>
      <p:sp>
        <p:nvSpPr>
          <p:cNvPr id="25" name="TextBox 24"/>
          <p:cNvSpPr txBox="1"/>
          <p:nvPr/>
        </p:nvSpPr>
        <p:spPr>
          <a:xfrm>
            <a:off x="812800" y="2518271"/>
            <a:ext cx="2463800" cy="144780"/>
          </a:xfrm>
          <a:prstGeom prst="rect">
            <a:avLst/>
          </a:prstGeom>
          <a:noFill/>
        </p:spPr>
        <p:txBody>
          <a:bodyPr wrap="none" lIns="0" tIns="0" rIns="0" bIns="0" anchor="t">
            <a:noAutofit/>
          </a:bodyPr>
          <a:lstStyle/>
          <a:p>
            <a:pPr algn="l">
              <a:lnSpc>
                <a:spcPts val="1140"/>
              </a:lnSpc>
            </a:pPr>
            <a:r>
              <a:rPr sz="950" b="0" i="0">
                <a:solidFill>
                  <a:srgbClr val="5A6E80"/>
                </a:solidFill>
                <a:latin typeface="DM Sans"/>
              </a:rPr>
              <a:t>zelfrapportage</a:t>
            </a:r>
          </a:p>
        </p:txBody>
      </p:sp>
      <p:sp>
        <p:nvSpPr>
          <p:cNvPr id="26" name="Rounded Rectangle 25"/>
          <p:cNvSpPr/>
          <p:nvPr/>
        </p:nvSpPr>
        <p:spPr>
          <a:xfrm>
            <a:off x="3770312" y="2367459"/>
            <a:ext cx="541536"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3884612" y="2405559"/>
            <a:ext cx="363736"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60%</a:t>
            </a:r>
          </a:p>
        </p:txBody>
      </p:sp>
      <p:sp>
        <p:nvSpPr>
          <p:cNvPr id="28" name="TextBox 27"/>
          <p:cNvSpPr txBox="1"/>
          <p:nvPr/>
        </p:nvSpPr>
        <p:spPr>
          <a:xfrm>
            <a:off x="5625009" y="23973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29" name="TextBox 28"/>
          <p:cNvSpPr txBox="1"/>
          <p:nvPr/>
        </p:nvSpPr>
        <p:spPr>
          <a:xfrm>
            <a:off x="7255669" y="23973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30" name="TextBox 29"/>
          <p:cNvSpPr txBox="1"/>
          <p:nvPr/>
        </p:nvSpPr>
        <p:spPr>
          <a:xfrm>
            <a:off x="8886329" y="23973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31" name="Rectangle 30"/>
          <p:cNvSpPr/>
          <p:nvPr/>
        </p:nvSpPr>
        <p:spPr>
          <a:xfrm>
            <a:off x="9748441" y="2295723"/>
            <a:ext cx="1630660" cy="3873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10516989" y="23973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33" name="Rectangle 32"/>
          <p:cNvSpPr/>
          <p:nvPr/>
        </p:nvSpPr>
        <p:spPr>
          <a:xfrm>
            <a:off x="812800" y="2683073"/>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12800" y="2709466"/>
            <a:ext cx="2463800"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Waaijman · Bus 2013</a:t>
            </a:r>
          </a:p>
        </p:txBody>
      </p:sp>
      <p:sp>
        <p:nvSpPr>
          <p:cNvPr id="35" name="TextBox 34"/>
          <p:cNvSpPr txBox="1"/>
          <p:nvPr/>
        </p:nvSpPr>
        <p:spPr>
          <a:xfrm>
            <a:off x="812800" y="2911971"/>
            <a:ext cx="2463800" cy="144780"/>
          </a:xfrm>
          <a:prstGeom prst="rect">
            <a:avLst/>
          </a:prstGeom>
          <a:noFill/>
        </p:spPr>
        <p:txBody>
          <a:bodyPr wrap="none" lIns="0" tIns="0" rIns="0" bIns="0" anchor="t">
            <a:noAutofit/>
          </a:bodyPr>
          <a:lstStyle/>
          <a:p>
            <a:pPr algn="l">
              <a:lnSpc>
                <a:spcPts val="1140"/>
              </a:lnSpc>
            </a:pPr>
            <a:r>
              <a:rPr sz="950" b="0" i="0">
                <a:solidFill>
                  <a:srgbClr val="5A6E80"/>
                </a:solidFill>
                <a:latin typeface="DM Sans"/>
              </a:rPr>
              <a:t>@monitor + StepWatch</a:t>
            </a:r>
          </a:p>
        </p:txBody>
      </p:sp>
      <p:sp>
        <p:nvSpPr>
          <p:cNvPr id="36" name="TextBox 35"/>
          <p:cNvSpPr txBox="1"/>
          <p:nvPr/>
        </p:nvSpPr>
        <p:spPr>
          <a:xfrm>
            <a:off x="3994348" y="27910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37" name="Rounded Rectangle 36"/>
          <p:cNvSpPr/>
          <p:nvPr/>
        </p:nvSpPr>
        <p:spPr>
          <a:xfrm>
            <a:off x="5401072" y="2761159"/>
            <a:ext cx="541338"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5515372" y="2799259"/>
            <a:ext cx="363538"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80%</a:t>
            </a:r>
          </a:p>
        </p:txBody>
      </p:sp>
      <p:sp>
        <p:nvSpPr>
          <p:cNvPr id="39" name="TextBox 38"/>
          <p:cNvSpPr txBox="1"/>
          <p:nvPr/>
        </p:nvSpPr>
        <p:spPr>
          <a:xfrm>
            <a:off x="7255669" y="27910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40" name="TextBox 39"/>
          <p:cNvSpPr txBox="1"/>
          <p:nvPr/>
        </p:nvSpPr>
        <p:spPr>
          <a:xfrm>
            <a:off x="8886329" y="27910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41" name="Rectangle 40"/>
          <p:cNvSpPr/>
          <p:nvPr/>
        </p:nvSpPr>
        <p:spPr>
          <a:xfrm>
            <a:off x="9748441" y="2689423"/>
            <a:ext cx="1630660" cy="3873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10516989" y="27910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43" name="Rectangle 42"/>
          <p:cNvSpPr/>
          <p:nvPr/>
        </p:nvSpPr>
        <p:spPr>
          <a:xfrm>
            <a:off x="812800" y="3076773"/>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12800" y="3103166"/>
            <a:ext cx="2463800"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DIASSIST 2023 · 2026</a:t>
            </a:r>
          </a:p>
        </p:txBody>
      </p:sp>
      <p:sp>
        <p:nvSpPr>
          <p:cNvPr id="45" name="TextBox 44"/>
          <p:cNvSpPr txBox="1"/>
          <p:nvPr/>
        </p:nvSpPr>
        <p:spPr>
          <a:xfrm>
            <a:off x="812800" y="3305671"/>
            <a:ext cx="2463800" cy="144780"/>
          </a:xfrm>
          <a:prstGeom prst="rect">
            <a:avLst/>
          </a:prstGeom>
          <a:noFill/>
        </p:spPr>
        <p:txBody>
          <a:bodyPr wrap="none" lIns="0" tIns="0" rIns="0" bIns="0" anchor="t">
            <a:noAutofit/>
          </a:bodyPr>
          <a:lstStyle/>
          <a:p>
            <a:pPr algn="l">
              <a:lnSpc>
                <a:spcPts val="1140"/>
              </a:lnSpc>
            </a:pPr>
            <a:r>
              <a:rPr sz="950" b="0" i="0">
                <a:solidFill>
                  <a:srgbClr val="5A6E80"/>
                </a:solidFill>
                <a:latin typeface="DM Sans"/>
              </a:rPr>
              <a:t>Orthotimer + MoveMonitor</a:t>
            </a:r>
          </a:p>
        </p:txBody>
      </p:sp>
      <p:sp>
        <p:nvSpPr>
          <p:cNvPr id="46" name="TextBox 45"/>
          <p:cNvSpPr txBox="1"/>
          <p:nvPr/>
        </p:nvSpPr>
        <p:spPr>
          <a:xfrm>
            <a:off x="3994348" y="31847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47" name="Rounded Rectangle 46"/>
          <p:cNvSpPr/>
          <p:nvPr/>
        </p:nvSpPr>
        <p:spPr>
          <a:xfrm>
            <a:off x="5252938" y="3154859"/>
            <a:ext cx="837605"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5367238" y="3192959"/>
            <a:ext cx="659805"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uitkomst</a:t>
            </a:r>
          </a:p>
        </p:txBody>
      </p:sp>
      <p:sp>
        <p:nvSpPr>
          <p:cNvPr id="49" name="Rounded Rectangle 48"/>
          <p:cNvSpPr/>
          <p:nvPr/>
        </p:nvSpPr>
        <p:spPr>
          <a:xfrm>
            <a:off x="7027565" y="3154859"/>
            <a:ext cx="549771"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7141865" y="3192959"/>
            <a:ext cx="371971"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&lt; 8 u</a:t>
            </a:r>
          </a:p>
        </p:txBody>
      </p:sp>
      <p:sp>
        <p:nvSpPr>
          <p:cNvPr id="51" name="TextBox 50"/>
          <p:cNvSpPr txBox="1"/>
          <p:nvPr/>
        </p:nvSpPr>
        <p:spPr>
          <a:xfrm>
            <a:off x="8886329" y="31847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52" name="Rectangle 51"/>
          <p:cNvSpPr/>
          <p:nvPr/>
        </p:nvSpPr>
        <p:spPr>
          <a:xfrm>
            <a:off x="9748441" y="3083123"/>
            <a:ext cx="1630660" cy="3873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10516989" y="31847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54" name="Rectangle 53"/>
          <p:cNvSpPr/>
          <p:nvPr/>
        </p:nvSpPr>
        <p:spPr>
          <a:xfrm>
            <a:off x="812800" y="3470473"/>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12800" y="3496866"/>
            <a:ext cx="2463800"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Exterkate 2023</a:t>
            </a:r>
          </a:p>
        </p:txBody>
      </p:sp>
      <p:sp>
        <p:nvSpPr>
          <p:cNvPr id="56" name="TextBox 55"/>
          <p:cNvSpPr txBox="1"/>
          <p:nvPr/>
        </p:nvSpPr>
        <p:spPr>
          <a:xfrm>
            <a:off x="812800" y="3699371"/>
            <a:ext cx="2463800" cy="144780"/>
          </a:xfrm>
          <a:prstGeom prst="rect">
            <a:avLst/>
          </a:prstGeom>
          <a:noFill/>
        </p:spPr>
        <p:txBody>
          <a:bodyPr wrap="none" lIns="0" tIns="0" rIns="0" bIns="0" anchor="t">
            <a:noAutofit/>
          </a:bodyPr>
          <a:lstStyle/>
          <a:p>
            <a:pPr algn="l">
              <a:lnSpc>
                <a:spcPts val="1140"/>
              </a:lnSpc>
            </a:pPr>
            <a:r>
              <a:rPr sz="950" b="0" i="0">
                <a:solidFill>
                  <a:srgbClr val="5A6E80"/>
                </a:solidFill>
                <a:latin typeface="DM Sans"/>
              </a:rPr>
              <a:t>Orthotimer</a:t>
            </a:r>
          </a:p>
        </p:txBody>
      </p:sp>
      <p:sp>
        <p:nvSpPr>
          <p:cNvPr id="57" name="Rounded Rectangle 56"/>
          <p:cNvSpPr/>
          <p:nvPr/>
        </p:nvSpPr>
        <p:spPr>
          <a:xfrm>
            <a:off x="3495873" y="3548559"/>
            <a:ext cx="1090414"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3610173" y="3586659"/>
            <a:ext cx="912614"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60% en 80%</a:t>
            </a:r>
          </a:p>
        </p:txBody>
      </p:sp>
      <p:sp>
        <p:nvSpPr>
          <p:cNvPr id="59" name="TextBox 58"/>
          <p:cNvSpPr txBox="1"/>
          <p:nvPr/>
        </p:nvSpPr>
        <p:spPr>
          <a:xfrm>
            <a:off x="5625009" y="35784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60" name="TextBox 59"/>
          <p:cNvSpPr txBox="1"/>
          <p:nvPr/>
        </p:nvSpPr>
        <p:spPr>
          <a:xfrm>
            <a:off x="7255669" y="35784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61" name="TextBox 60"/>
          <p:cNvSpPr txBox="1"/>
          <p:nvPr/>
        </p:nvSpPr>
        <p:spPr>
          <a:xfrm>
            <a:off x="8886329" y="35784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62" name="Rectangle 61"/>
          <p:cNvSpPr/>
          <p:nvPr/>
        </p:nvSpPr>
        <p:spPr>
          <a:xfrm>
            <a:off x="9748441" y="3476823"/>
            <a:ext cx="1630660" cy="3873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10516989" y="35784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64" name="Rectangle 63"/>
          <p:cNvSpPr/>
          <p:nvPr/>
        </p:nvSpPr>
        <p:spPr>
          <a:xfrm>
            <a:off x="812800" y="3864173"/>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12800" y="3890566"/>
            <a:ext cx="2463800"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van Netten 2025</a:t>
            </a:r>
          </a:p>
        </p:txBody>
      </p:sp>
      <p:sp>
        <p:nvSpPr>
          <p:cNvPr id="66" name="TextBox 65"/>
          <p:cNvSpPr txBox="1"/>
          <p:nvPr/>
        </p:nvSpPr>
        <p:spPr>
          <a:xfrm>
            <a:off x="812800" y="4093071"/>
            <a:ext cx="2463800" cy="144780"/>
          </a:xfrm>
          <a:prstGeom prst="rect">
            <a:avLst/>
          </a:prstGeom>
          <a:noFill/>
        </p:spPr>
        <p:txBody>
          <a:bodyPr wrap="none" lIns="0" tIns="0" rIns="0" bIns="0" anchor="t">
            <a:noAutofit/>
          </a:bodyPr>
          <a:lstStyle/>
          <a:p>
            <a:pPr algn="l">
              <a:lnSpc>
                <a:spcPts val="1140"/>
              </a:lnSpc>
            </a:pPr>
            <a:r>
              <a:rPr sz="950" b="0" i="0">
                <a:solidFill>
                  <a:srgbClr val="5A6E80"/>
                </a:solidFill>
                <a:latin typeface="DM Sans"/>
              </a:rPr>
              <a:t>Orthotimer + MoveMonitor</a:t>
            </a:r>
          </a:p>
        </p:txBody>
      </p:sp>
      <p:sp>
        <p:nvSpPr>
          <p:cNvPr id="67" name="TextBox 66"/>
          <p:cNvSpPr txBox="1"/>
          <p:nvPr/>
        </p:nvSpPr>
        <p:spPr>
          <a:xfrm>
            <a:off x="3994348" y="39721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68" name="Rounded Rectangle 67"/>
          <p:cNvSpPr/>
          <p:nvPr/>
        </p:nvSpPr>
        <p:spPr>
          <a:xfrm>
            <a:off x="5344220" y="3942259"/>
            <a:ext cx="655141"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Box 68"/>
          <p:cNvSpPr txBox="1"/>
          <p:nvPr/>
        </p:nvSpPr>
        <p:spPr>
          <a:xfrm>
            <a:off x="5458520" y="3980359"/>
            <a:ext cx="477341"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&lt; 80%</a:t>
            </a:r>
          </a:p>
        </p:txBody>
      </p:sp>
      <p:sp>
        <p:nvSpPr>
          <p:cNvPr id="70" name="Rounded Rectangle 69"/>
          <p:cNvSpPr/>
          <p:nvPr/>
        </p:nvSpPr>
        <p:spPr>
          <a:xfrm>
            <a:off x="7027565" y="3942259"/>
            <a:ext cx="549771"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TextBox 70"/>
          <p:cNvSpPr txBox="1"/>
          <p:nvPr/>
        </p:nvSpPr>
        <p:spPr>
          <a:xfrm>
            <a:off x="7141865" y="3980359"/>
            <a:ext cx="371971"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&lt; 8 u</a:t>
            </a:r>
          </a:p>
        </p:txBody>
      </p:sp>
      <p:sp>
        <p:nvSpPr>
          <p:cNvPr id="72" name="TextBox 71"/>
          <p:cNvSpPr txBox="1"/>
          <p:nvPr/>
        </p:nvSpPr>
        <p:spPr>
          <a:xfrm>
            <a:off x="8886329" y="39721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73" name="Rectangle 72"/>
          <p:cNvSpPr/>
          <p:nvPr/>
        </p:nvSpPr>
        <p:spPr>
          <a:xfrm>
            <a:off x="9748441" y="3870523"/>
            <a:ext cx="1630660" cy="3873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TextBox 73"/>
          <p:cNvSpPr txBox="1"/>
          <p:nvPr/>
        </p:nvSpPr>
        <p:spPr>
          <a:xfrm>
            <a:off x="10516989" y="39721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75" name="Rectangle 74"/>
          <p:cNvSpPr/>
          <p:nvPr/>
        </p:nvSpPr>
        <p:spPr>
          <a:xfrm>
            <a:off x="812800" y="4257873"/>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12800" y="4284266"/>
            <a:ext cx="2463800"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Jarl 2023</a:t>
            </a:r>
          </a:p>
        </p:txBody>
      </p:sp>
      <p:sp>
        <p:nvSpPr>
          <p:cNvPr id="77" name="TextBox 76"/>
          <p:cNvSpPr txBox="1"/>
          <p:nvPr/>
        </p:nvSpPr>
        <p:spPr>
          <a:xfrm>
            <a:off x="812800" y="4486771"/>
            <a:ext cx="2463800" cy="144780"/>
          </a:xfrm>
          <a:prstGeom prst="rect">
            <a:avLst/>
          </a:prstGeom>
          <a:noFill/>
        </p:spPr>
        <p:txBody>
          <a:bodyPr wrap="none" lIns="0" tIns="0" rIns="0" bIns="0" anchor="t">
            <a:noAutofit/>
          </a:bodyPr>
          <a:lstStyle/>
          <a:p>
            <a:pPr algn="l">
              <a:lnSpc>
                <a:spcPts val="1140"/>
              </a:lnSpc>
            </a:pPr>
            <a:r>
              <a:rPr sz="950" b="0" i="0">
                <a:solidFill>
                  <a:srgbClr val="5A6E80"/>
                </a:solidFill>
                <a:latin typeface="DM Sans"/>
              </a:rPr>
              <a:t>Orthotimer + MoveMonitor</a:t>
            </a:r>
          </a:p>
        </p:txBody>
      </p:sp>
      <p:sp>
        <p:nvSpPr>
          <p:cNvPr id="78" name="TextBox 77"/>
          <p:cNvSpPr txBox="1"/>
          <p:nvPr/>
        </p:nvSpPr>
        <p:spPr>
          <a:xfrm>
            <a:off x="3994348" y="43658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79" name="Rounded Rectangle 78"/>
          <p:cNvSpPr/>
          <p:nvPr/>
        </p:nvSpPr>
        <p:spPr>
          <a:xfrm>
            <a:off x="5361781" y="4335959"/>
            <a:ext cx="619919"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TextBox 79"/>
          <p:cNvSpPr txBox="1"/>
          <p:nvPr/>
        </p:nvSpPr>
        <p:spPr>
          <a:xfrm>
            <a:off x="5476081" y="4374059"/>
            <a:ext cx="442119"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77,4%</a:t>
            </a:r>
          </a:p>
        </p:txBody>
      </p:sp>
      <p:sp>
        <p:nvSpPr>
          <p:cNvPr id="81" name="Rounded Rectangle 80"/>
          <p:cNvSpPr/>
          <p:nvPr/>
        </p:nvSpPr>
        <p:spPr>
          <a:xfrm>
            <a:off x="7005340" y="4335959"/>
            <a:ext cx="594122"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TextBox 81"/>
          <p:cNvSpPr txBox="1"/>
          <p:nvPr/>
        </p:nvSpPr>
        <p:spPr>
          <a:xfrm>
            <a:off x="7119640" y="4374059"/>
            <a:ext cx="416322"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12,2 u</a:t>
            </a:r>
          </a:p>
        </p:txBody>
      </p:sp>
      <p:sp>
        <p:nvSpPr>
          <p:cNvPr id="83" name="Rounded Rectangle 82"/>
          <p:cNvSpPr/>
          <p:nvPr/>
        </p:nvSpPr>
        <p:spPr>
          <a:xfrm>
            <a:off x="8500368" y="4335959"/>
            <a:ext cx="865386"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TextBox 83"/>
          <p:cNvSpPr txBox="1"/>
          <p:nvPr/>
        </p:nvSpPr>
        <p:spPr>
          <a:xfrm>
            <a:off x="8614668" y="4374059"/>
            <a:ext cx="687586"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80% · ref.</a:t>
            </a:r>
          </a:p>
        </p:txBody>
      </p:sp>
      <p:sp>
        <p:nvSpPr>
          <p:cNvPr id="85" name="Rectangle 84"/>
          <p:cNvSpPr/>
          <p:nvPr/>
        </p:nvSpPr>
        <p:spPr>
          <a:xfrm>
            <a:off x="9748441" y="4264223"/>
            <a:ext cx="1630660" cy="3873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TextBox 85"/>
          <p:cNvSpPr txBox="1"/>
          <p:nvPr/>
        </p:nvSpPr>
        <p:spPr>
          <a:xfrm>
            <a:off x="10516989" y="43658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87" name="Rectangle 86"/>
          <p:cNvSpPr/>
          <p:nvPr/>
        </p:nvSpPr>
        <p:spPr>
          <a:xfrm>
            <a:off x="812800" y="4651573"/>
            <a:ext cx="10566400" cy="635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812800" y="4677966"/>
            <a:ext cx="2463800" cy="189865"/>
          </a:xfrm>
          <a:prstGeom prst="rect">
            <a:avLst/>
          </a:prstGeom>
          <a:noFill/>
        </p:spPr>
        <p:txBody>
          <a:bodyPr wrap="none" lIns="0" tIns="0" rIns="0" bIns="0" anchor="t">
            <a:noAutofit/>
          </a:bodyPr>
          <a:lstStyle/>
          <a:p>
            <a:pPr algn="l">
              <a:lnSpc>
                <a:spcPts val="1495"/>
              </a:lnSpc>
            </a:pPr>
            <a:r>
              <a:rPr sz="1300" b="1" i="0">
                <a:solidFill>
                  <a:srgbClr val="A34A00"/>
                </a:solidFill>
                <a:latin typeface="DM Sans"/>
              </a:rPr>
              <a:t>PARADISE</a:t>
            </a:r>
          </a:p>
        </p:txBody>
      </p:sp>
      <p:sp>
        <p:nvSpPr>
          <p:cNvPr id="89" name="TextBox 88"/>
          <p:cNvSpPr txBox="1"/>
          <p:nvPr/>
        </p:nvSpPr>
        <p:spPr>
          <a:xfrm>
            <a:off x="812800" y="4880471"/>
            <a:ext cx="2463800" cy="144780"/>
          </a:xfrm>
          <a:prstGeom prst="rect">
            <a:avLst/>
          </a:prstGeom>
          <a:noFill/>
        </p:spPr>
        <p:txBody>
          <a:bodyPr wrap="none" lIns="0" tIns="0" rIns="0" bIns="0" anchor="t">
            <a:noAutofit/>
          </a:bodyPr>
          <a:lstStyle/>
          <a:p>
            <a:pPr algn="l">
              <a:lnSpc>
                <a:spcPts val="1140"/>
              </a:lnSpc>
            </a:pPr>
            <a:r>
              <a:rPr sz="950" b="0" i="0">
                <a:solidFill>
                  <a:srgbClr val="5A6E80"/>
                </a:solidFill>
                <a:latin typeface="DM Sans"/>
              </a:rPr>
              <a:t>Orthotimer + MoveMonitor bij de start</a:t>
            </a:r>
          </a:p>
        </p:txBody>
      </p:sp>
      <p:sp>
        <p:nvSpPr>
          <p:cNvPr id="90" name="TextBox 89"/>
          <p:cNvSpPr txBox="1"/>
          <p:nvPr/>
        </p:nvSpPr>
        <p:spPr>
          <a:xfrm>
            <a:off x="3994348" y="47595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91" name="TextBox 90"/>
          <p:cNvSpPr txBox="1"/>
          <p:nvPr/>
        </p:nvSpPr>
        <p:spPr>
          <a:xfrm>
            <a:off x="5625009" y="47595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92" name="TextBox 91"/>
          <p:cNvSpPr txBox="1"/>
          <p:nvPr/>
        </p:nvSpPr>
        <p:spPr>
          <a:xfrm>
            <a:off x="7255669" y="47595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93" name="TextBox 92"/>
          <p:cNvSpPr txBox="1"/>
          <p:nvPr/>
        </p:nvSpPr>
        <p:spPr>
          <a:xfrm>
            <a:off x="8886329" y="47595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94" name="Rectangle 93"/>
          <p:cNvSpPr/>
          <p:nvPr/>
        </p:nvSpPr>
        <p:spPr>
          <a:xfrm>
            <a:off x="9748441" y="4657923"/>
            <a:ext cx="1630660" cy="3873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Rounded Rectangle 94"/>
          <p:cNvSpPr/>
          <p:nvPr/>
        </p:nvSpPr>
        <p:spPr>
          <a:xfrm>
            <a:off x="10293052" y="4729659"/>
            <a:ext cx="541338" cy="24378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TextBox 95"/>
          <p:cNvSpPr txBox="1"/>
          <p:nvPr/>
        </p:nvSpPr>
        <p:spPr>
          <a:xfrm>
            <a:off x="10407352" y="4767759"/>
            <a:ext cx="363538"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80%</a:t>
            </a:r>
          </a:p>
        </p:txBody>
      </p:sp>
      <p:sp>
        <p:nvSpPr>
          <p:cNvPr id="97" name="TextBox 96"/>
          <p:cNvSpPr txBox="1"/>
          <p:nvPr/>
        </p:nvSpPr>
        <p:spPr>
          <a:xfrm>
            <a:off x="812800" y="5235773"/>
            <a:ext cx="10617200" cy="240030"/>
          </a:xfrm>
          <a:prstGeom prst="rect">
            <a:avLst/>
          </a:prstGeom>
          <a:noFill/>
        </p:spPr>
        <p:txBody>
          <a:bodyPr wrap="none" lIns="0" tIns="0" rIns="0" bIns="0" anchor="t">
            <a:noAutofit/>
          </a:bodyPr>
          <a:lstStyle/>
          <a:p>
            <a:pPr algn="l">
              <a:lnSpc>
                <a:spcPts val="1889"/>
              </a:lnSpc>
            </a:pPr>
            <a:r>
              <a:rPr sz="1400" b="0" i="0">
                <a:solidFill>
                  <a:srgbClr val="0A2540"/>
                </a:solidFill>
                <a:latin typeface="DM Sans"/>
              </a:rPr>
              <a:t>Drie studies gebruiken dezelfde toestellen als PARADISE; geen enkele deelt door een gemeten waaktijd.</a:t>
            </a:r>
          </a:p>
        </p:txBody>
      </p:sp>
      <p:pic>
        <p:nvPicPr>
          <p:cNvPr id="98" name="Picture 97"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99" name="TextBox 98"/>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Achtergrond</a:t>
            </a:r>
          </a:p>
        </p:txBody>
      </p:sp>
      <p:sp>
        <p:nvSpPr>
          <p:cNvPr id="100" name="TextBox 99"/>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referenties in de notities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0">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we overnemen, en wat niet</a:t>
            </a:r>
          </a:p>
        </p:txBody>
      </p:sp>
      <p:sp>
        <p:nvSpPr>
          <p:cNvPr id="3" name="Rounded Rectangle 2"/>
          <p:cNvSpPr/>
          <p:nvPr/>
        </p:nvSpPr>
        <p:spPr>
          <a:xfrm>
            <a:off x="812800" y="1518841"/>
            <a:ext cx="1052512" cy="2857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939800" y="1569641"/>
            <a:ext cx="849312" cy="184150"/>
          </a:xfrm>
          <a:prstGeom prst="rect">
            <a:avLst/>
          </a:prstGeom>
          <a:noFill/>
        </p:spPr>
        <p:txBody>
          <a:bodyPr wrap="none" lIns="0" tIns="0" rIns="0" bIns="0" anchor="t">
            <a:noAutofit/>
          </a:bodyPr>
          <a:lstStyle/>
          <a:p>
            <a:pPr algn="l"/>
            <a:r>
              <a:rPr sz="1100" b="1" i="0">
                <a:solidFill>
                  <a:srgbClr val="FFFFFF"/>
                </a:solidFill>
                <a:latin typeface="DM Sans"/>
              </a:rPr>
              <a:t>Overnemen</a:t>
            </a:r>
          </a:p>
        </p:txBody>
      </p:sp>
      <p:sp>
        <p:nvSpPr>
          <p:cNvPr id="5" name="Rectangle 4"/>
          <p:cNvSpPr/>
          <p:nvPr/>
        </p:nvSpPr>
        <p:spPr>
          <a:xfrm>
            <a:off x="812800" y="1880791"/>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2800" y="1988741"/>
            <a:ext cx="5105400" cy="222250"/>
          </a:xfrm>
          <a:prstGeom prst="rect">
            <a:avLst/>
          </a:prstGeom>
          <a:noFill/>
        </p:spPr>
        <p:txBody>
          <a:bodyPr wrap="none" lIns="0" tIns="0" rIns="0" bIns="0" anchor="t">
            <a:noAutofit/>
          </a:bodyPr>
          <a:lstStyle/>
          <a:p>
            <a:pPr algn="l">
              <a:lnSpc>
                <a:spcPts val="1750"/>
              </a:lnSpc>
            </a:pPr>
            <a:r>
              <a:rPr sz="1400" b="1" i="0">
                <a:solidFill>
                  <a:srgbClr val="0A2540"/>
                </a:solidFill>
                <a:latin typeface="DM Sans"/>
              </a:rPr>
              <a:t>De 80% als lat</a:t>
            </a:r>
          </a:p>
        </p:txBody>
      </p:sp>
      <p:sp>
        <p:nvSpPr>
          <p:cNvPr id="7" name="TextBox 6"/>
          <p:cNvSpPr txBox="1"/>
          <p:nvPr/>
        </p:nvSpPr>
        <p:spPr>
          <a:xfrm>
            <a:off x="812800" y="2249091"/>
            <a:ext cx="5105400" cy="197168"/>
          </a:xfrm>
          <a:prstGeom prst="rect">
            <a:avLst/>
          </a:prstGeom>
          <a:noFill/>
        </p:spPr>
        <p:txBody>
          <a:bodyPr wrap="none" lIns="0" tIns="0" rIns="0" bIns="0" anchor="t">
            <a:noAutofit/>
          </a:bodyPr>
          <a:lstStyle/>
          <a:p>
            <a:pPr algn="l">
              <a:lnSpc>
                <a:spcPts val="1552"/>
              </a:lnSpc>
            </a:pPr>
            <a:r>
              <a:rPr sz="1150" b="0" i="0">
                <a:solidFill>
                  <a:srgbClr val="5A6E80"/>
                </a:solidFill>
                <a:latin typeface="DM Sans"/>
              </a:rPr>
              <a:t>uit DIAFOS: bij wie ze haalde, werkte het drukverlagend schoeisel</a:t>
            </a:r>
          </a:p>
        </p:txBody>
      </p:sp>
      <p:sp>
        <p:nvSpPr>
          <p:cNvPr id="8" name="Rectangle 7"/>
          <p:cNvSpPr/>
          <p:nvPr/>
        </p:nvSpPr>
        <p:spPr>
          <a:xfrm>
            <a:off x="812800" y="2547838"/>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2655788"/>
            <a:ext cx="5105400" cy="222250"/>
          </a:xfrm>
          <a:prstGeom prst="rect">
            <a:avLst/>
          </a:prstGeom>
          <a:noFill/>
        </p:spPr>
        <p:txBody>
          <a:bodyPr wrap="none" lIns="0" tIns="0" rIns="0" bIns="0" anchor="t">
            <a:noAutofit/>
          </a:bodyPr>
          <a:lstStyle/>
          <a:p>
            <a:pPr algn="l">
              <a:lnSpc>
                <a:spcPts val="1750"/>
              </a:lnSpc>
            </a:pPr>
            <a:r>
              <a:rPr sz="1400" b="1" i="0">
                <a:solidFill>
                  <a:srgbClr val="0A2540"/>
                </a:solidFill>
                <a:latin typeface="DM Sans"/>
              </a:rPr>
              <a:t>Dezelfde toestellen</a:t>
            </a:r>
          </a:p>
        </p:txBody>
      </p:sp>
      <p:pic>
        <p:nvPicPr>
          <p:cNvPr id="10" name="Picture 9" descr="08f3416e444e7f76df034ad715d9910f.png"/>
          <p:cNvPicPr>
            <a:picLocks noChangeAspect="1"/>
          </p:cNvPicPr>
          <p:nvPr/>
        </p:nvPicPr>
        <p:blipFill>
          <a:blip r:embed="rId3"/>
          <a:stretch>
            <a:fillRect/>
          </a:stretch>
        </p:blipFill>
        <p:spPr>
          <a:xfrm>
            <a:off x="812800" y="2932112"/>
            <a:ext cx="228600" cy="165100"/>
          </a:xfrm>
          <a:prstGeom prst="rect">
            <a:avLst/>
          </a:prstGeom>
        </p:spPr>
      </p:pic>
      <p:pic>
        <p:nvPicPr>
          <p:cNvPr id="11" name="Picture 10" descr="c3433b372cfc1d99d6ab11119954a595.png"/>
          <p:cNvPicPr>
            <a:picLocks noChangeAspect="1"/>
          </p:cNvPicPr>
          <p:nvPr/>
        </p:nvPicPr>
        <p:blipFill>
          <a:blip r:embed="rId4"/>
          <a:stretch>
            <a:fillRect/>
          </a:stretch>
        </p:blipFill>
        <p:spPr>
          <a:xfrm>
            <a:off x="1092200" y="2932112"/>
            <a:ext cx="228600" cy="165100"/>
          </a:xfrm>
          <a:prstGeom prst="rect">
            <a:avLst/>
          </a:prstGeom>
        </p:spPr>
      </p:pic>
      <p:sp>
        <p:nvSpPr>
          <p:cNvPr id="12" name="TextBox 11"/>
          <p:cNvSpPr txBox="1"/>
          <p:nvPr/>
        </p:nvSpPr>
        <p:spPr>
          <a:xfrm>
            <a:off x="1371600" y="2916138"/>
            <a:ext cx="4244479" cy="197168"/>
          </a:xfrm>
          <a:prstGeom prst="rect">
            <a:avLst/>
          </a:prstGeom>
          <a:noFill/>
        </p:spPr>
        <p:txBody>
          <a:bodyPr wrap="none" lIns="0" tIns="0" rIns="0" bIns="0" anchor="t">
            <a:noAutofit/>
          </a:bodyPr>
          <a:lstStyle/>
          <a:p>
            <a:pPr algn="l">
              <a:lnSpc>
                <a:spcPts val="1552"/>
              </a:lnSpc>
            </a:pPr>
            <a:r>
              <a:rPr sz="1150" b="0" i="0">
                <a:solidFill>
                  <a:srgbClr val="5A6E80"/>
                </a:solidFill>
                <a:latin typeface="DM Sans"/>
              </a:rPr>
              <a:t>Orthotimer en MoveMonitor, zoals DIASSIST, van Netten en Jarl</a:t>
            </a:r>
          </a:p>
        </p:txBody>
      </p:sp>
      <p:sp>
        <p:nvSpPr>
          <p:cNvPr id="13" name="Rectangle 12"/>
          <p:cNvSpPr/>
          <p:nvPr/>
        </p:nvSpPr>
        <p:spPr>
          <a:xfrm>
            <a:off x="812800" y="3214886"/>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2800" y="3322836"/>
            <a:ext cx="5105400" cy="222250"/>
          </a:xfrm>
          <a:prstGeom prst="rect">
            <a:avLst/>
          </a:prstGeom>
          <a:noFill/>
        </p:spPr>
        <p:txBody>
          <a:bodyPr wrap="none" lIns="0" tIns="0" rIns="0" bIns="0" anchor="t">
            <a:noAutofit/>
          </a:bodyPr>
          <a:lstStyle/>
          <a:p>
            <a:pPr algn="l">
              <a:lnSpc>
                <a:spcPts val="1750"/>
              </a:lnSpc>
            </a:pPr>
            <a:r>
              <a:rPr sz="1400" b="1" i="0">
                <a:solidFill>
                  <a:srgbClr val="0A2540"/>
                </a:solidFill>
                <a:latin typeface="DM Sans"/>
              </a:rPr>
              <a:t>Draaguren als maat</a:t>
            </a:r>
          </a:p>
        </p:txBody>
      </p:sp>
      <p:sp>
        <p:nvSpPr>
          <p:cNvPr id="15" name="TextBox 14"/>
          <p:cNvSpPr txBox="1"/>
          <p:nvPr/>
        </p:nvSpPr>
        <p:spPr>
          <a:xfrm>
            <a:off x="812800" y="3583186"/>
            <a:ext cx="5105400" cy="197168"/>
          </a:xfrm>
          <a:prstGeom prst="rect">
            <a:avLst/>
          </a:prstGeom>
          <a:noFill/>
        </p:spPr>
        <p:txBody>
          <a:bodyPr wrap="none" lIns="0" tIns="0" rIns="0" bIns="0" anchor="t">
            <a:noAutofit/>
          </a:bodyPr>
          <a:lstStyle/>
          <a:p>
            <a:pPr algn="l">
              <a:lnSpc>
                <a:spcPts val="1552"/>
              </a:lnSpc>
            </a:pPr>
            <a:r>
              <a:rPr sz="1150" b="0" i="0">
                <a:solidFill>
                  <a:srgbClr val="5A6E80"/>
                </a:solidFill>
                <a:latin typeface="DM Sans"/>
              </a:rPr>
              <a:t>volgen de referentie bijna even goed als de stappen (Jarl)</a:t>
            </a:r>
          </a:p>
        </p:txBody>
      </p:sp>
      <p:sp>
        <p:nvSpPr>
          <p:cNvPr id="16" name="TextBox 15"/>
          <p:cNvSpPr txBox="1"/>
          <p:nvPr/>
        </p:nvSpPr>
        <p:spPr>
          <a:xfrm>
            <a:off x="812800" y="3856534"/>
            <a:ext cx="1257300" cy="177800"/>
          </a:xfrm>
          <a:prstGeom prst="rect">
            <a:avLst/>
          </a:prstGeom>
          <a:noFill/>
        </p:spPr>
        <p:txBody>
          <a:bodyPr wrap="none" lIns="0" tIns="0" rIns="0" bIns="0" anchor="t">
            <a:noAutofit/>
          </a:bodyPr>
          <a:lstStyle/>
          <a:p>
            <a:pPr algn="l"/>
            <a:r>
              <a:rPr sz="1050" b="0" i="0">
                <a:solidFill>
                  <a:srgbClr val="3A4F63"/>
                </a:solidFill>
                <a:latin typeface="DM Sans"/>
              </a:rPr>
              <a:t>% van de stappen</a:t>
            </a:r>
          </a:p>
        </p:txBody>
      </p:sp>
      <p:sp>
        <p:nvSpPr>
          <p:cNvPr id="17" name="Rounded Rectangle 16"/>
          <p:cNvSpPr/>
          <p:nvPr/>
        </p:nvSpPr>
        <p:spPr>
          <a:xfrm>
            <a:off x="2095500" y="3894634"/>
            <a:ext cx="1587500" cy="101600"/>
          </a:xfrm>
          <a:prstGeom prst="roundRect">
            <a:avLst>
              <a:gd name="adj" fmla="val 375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3759200" y="3856534"/>
            <a:ext cx="523478" cy="177800"/>
          </a:xfrm>
          <a:prstGeom prst="rect">
            <a:avLst/>
          </a:prstGeom>
          <a:noFill/>
        </p:spPr>
        <p:txBody>
          <a:bodyPr wrap="none" lIns="0" tIns="0" rIns="0" bIns="0" anchor="t">
            <a:noAutofit/>
          </a:bodyPr>
          <a:lstStyle/>
          <a:p>
            <a:pPr algn="l"/>
            <a:r>
              <a:rPr sz="1050" b="0" i="0">
                <a:solidFill>
                  <a:srgbClr val="0A2540"/>
                </a:solidFill>
                <a:latin typeface="DM Sans"/>
              </a:rPr>
              <a:t>r = 0,96</a:t>
            </a:r>
          </a:p>
        </p:txBody>
      </p:sp>
      <p:sp>
        <p:nvSpPr>
          <p:cNvPr id="19" name="TextBox 18"/>
          <p:cNvSpPr txBox="1"/>
          <p:nvPr/>
        </p:nvSpPr>
        <p:spPr>
          <a:xfrm>
            <a:off x="812800" y="4072434"/>
            <a:ext cx="1257300" cy="177800"/>
          </a:xfrm>
          <a:prstGeom prst="rect">
            <a:avLst/>
          </a:prstGeom>
          <a:noFill/>
        </p:spPr>
        <p:txBody>
          <a:bodyPr wrap="none" lIns="0" tIns="0" rIns="0" bIns="0" anchor="t">
            <a:noAutofit/>
          </a:bodyPr>
          <a:lstStyle/>
          <a:p>
            <a:pPr algn="l"/>
            <a:r>
              <a:rPr sz="1050" b="0" i="0">
                <a:solidFill>
                  <a:srgbClr val="3A4F63"/>
                </a:solidFill>
                <a:latin typeface="DM Sans"/>
              </a:rPr>
              <a:t>uren per dag</a:t>
            </a:r>
          </a:p>
        </p:txBody>
      </p:sp>
      <p:sp>
        <p:nvSpPr>
          <p:cNvPr id="20" name="Rounded Rectangle 19"/>
          <p:cNvSpPr/>
          <p:nvPr/>
        </p:nvSpPr>
        <p:spPr>
          <a:xfrm>
            <a:off x="2095500" y="4110534"/>
            <a:ext cx="1504950" cy="101600"/>
          </a:xfrm>
          <a:prstGeom prst="roundRect">
            <a:avLst>
              <a:gd name="adj" fmla="val 375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3676650" y="4072434"/>
            <a:ext cx="479028" cy="177800"/>
          </a:xfrm>
          <a:prstGeom prst="rect">
            <a:avLst/>
          </a:prstGeom>
          <a:noFill/>
        </p:spPr>
        <p:txBody>
          <a:bodyPr wrap="none" lIns="0" tIns="0" rIns="0" bIns="0" anchor="t">
            <a:noAutofit/>
          </a:bodyPr>
          <a:lstStyle/>
          <a:p>
            <a:pPr algn="l"/>
            <a:r>
              <a:rPr sz="1050" b="0" i="0">
                <a:solidFill>
                  <a:srgbClr val="0A2540"/>
                </a:solidFill>
                <a:latin typeface="DM Sans"/>
              </a:rPr>
              <a:t>r = 0,91</a:t>
            </a:r>
          </a:p>
        </p:txBody>
      </p:sp>
      <p:sp>
        <p:nvSpPr>
          <p:cNvPr id="22" name="TextBox 21"/>
          <p:cNvSpPr txBox="1"/>
          <p:nvPr/>
        </p:nvSpPr>
        <p:spPr>
          <a:xfrm>
            <a:off x="812800" y="4288334"/>
            <a:ext cx="1257300" cy="177800"/>
          </a:xfrm>
          <a:prstGeom prst="rect">
            <a:avLst/>
          </a:prstGeom>
          <a:noFill/>
        </p:spPr>
        <p:txBody>
          <a:bodyPr wrap="none" lIns="0" tIns="0" rIns="0" bIns="0" anchor="t">
            <a:noAutofit/>
          </a:bodyPr>
          <a:lstStyle/>
          <a:p>
            <a:pPr algn="l"/>
            <a:r>
              <a:rPr sz="1050" b="0" i="0">
                <a:solidFill>
                  <a:srgbClr val="3A4F63"/>
                </a:solidFill>
                <a:latin typeface="DM Sans"/>
              </a:rPr>
              <a:t>zelfrapportage</a:t>
            </a:r>
          </a:p>
        </p:txBody>
      </p:sp>
      <p:sp>
        <p:nvSpPr>
          <p:cNvPr id="23" name="Rounded Rectangle 22"/>
          <p:cNvSpPr/>
          <p:nvPr/>
        </p:nvSpPr>
        <p:spPr>
          <a:xfrm>
            <a:off x="2095500" y="4326434"/>
            <a:ext cx="692150" cy="101600"/>
          </a:xfrm>
          <a:prstGeom prst="roundRect">
            <a:avLst>
              <a:gd name="adj" fmla="val 37500"/>
            </a:avLst>
          </a:prstGeom>
          <a:solidFill>
            <a:srgbClr val="8FA3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2863850" y="4288334"/>
            <a:ext cx="513755" cy="177800"/>
          </a:xfrm>
          <a:prstGeom prst="rect">
            <a:avLst/>
          </a:prstGeom>
          <a:noFill/>
        </p:spPr>
        <p:txBody>
          <a:bodyPr wrap="none" lIns="0" tIns="0" rIns="0" bIns="0" anchor="t">
            <a:noAutofit/>
          </a:bodyPr>
          <a:lstStyle/>
          <a:p>
            <a:pPr algn="l"/>
            <a:r>
              <a:rPr sz="1050" b="0" i="0">
                <a:solidFill>
                  <a:srgbClr val="0A2540"/>
                </a:solidFill>
                <a:latin typeface="DM Sans"/>
              </a:rPr>
              <a:t>r = 0,42</a:t>
            </a:r>
          </a:p>
        </p:txBody>
      </p:sp>
      <p:sp>
        <p:nvSpPr>
          <p:cNvPr id="25" name="Rectangle 24"/>
          <p:cNvSpPr/>
          <p:nvPr/>
        </p:nvSpPr>
        <p:spPr>
          <a:xfrm>
            <a:off x="812800" y="4567734"/>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2800" y="4675684"/>
            <a:ext cx="5105400" cy="222250"/>
          </a:xfrm>
          <a:prstGeom prst="rect">
            <a:avLst/>
          </a:prstGeom>
          <a:noFill/>
        </p:spPr>
        <p:txBody>
          <a:bodyPr wrap="none" lIns="0" tIns="0" rIns="0" bIns="0" anchor="t">
            <a:noAutofit/>
          </a:bodyPr>
          <a:lstStyle/>
          <a:p>
            <a:pPr algn="l">
              <a:lnSpc>
                <a:spcPts val="1750"/>
              </a:lnSpc>
            </a:pPr>
            <a:r>
              <a:rPr sz="1400" b="1" i="0">
                <a:solidFill>
                  <a:srgbClr val="0A2540"/>
                </a:solidFill>
                <a:latin typeface="DM Sans"/>
              </a:rPr>
              <a:t>Een lat rond 12 uur</a:t>
            </a:r>
          </a:p>
        </p:txBody>
      </p:sp>
      <p:sp>
        <p:nvSpPr>
          <p:cNvPr id="27" name="TextBox 26"/>
          <p:cNvSpPr txBox="1"/>
          <p:nvPr/>
        </p:nvSpPr>
        <p:spPr>
          <a:xfrm>
            <a:off x="812800" y="4936034"/>
            <a:ext cx="5105400" cy="197168"/>
          </a:xfrm>
          <a:prstGeom prst="rect">
            <a:avLst/>
          </a:prstGeom>
          <a:noFill/>
        </p:spPr>
        <p:txBody>
          <a:bodyPr wrap="none" lIns="0" tIns="0" rIns="0" bIns="0" anchor="t">
            <a:noAutofit/>
          </a:bodyPr>
          <a:lstStyle/>
          <a:p>
            <a:pPr algn="l">
              <a:lnSpc>
                <a:spcPts val="1552"/>
              </a:lnSpc>
            </a:pPr>
            <a:r>
              <a:rPr sz="1150" b="0" i="0">
                <a:solidFill>
                  <a:srgbClr val="5A6E80"/>
                </a:solidFill>
                <a:latin typeface="DM Sans"/>
              </a:rPr>
              <a:t>Jarl: 12,2 u per dag; onze lat bij 15,5 u wakker: 12,4 u</a:t>
            </a:r>
          </a:p>
        </p:txBody>
      </p:sp>
      <p:sp>
        <p:nvSpPr>
          <p:cNvPr id="28" name="Rounded Rectangle 27"/>
          <p:cNvSpPr/>
          <p:nvPr/>
        </p:nvSpPr>
        <p:spPr>
          <a:xfrm>
            <a:off x="6324600" y="1518841"/>
            <a:ext cx="1571724" cy="285750"/>
          </a:xfrm>
          <a:prstGeom prst="roundRect">
            <a:avLst>
              <a:gd name="adj" fmla="val 50000"/>
            </a:avLst>
          </a:prstGeom>
          <a:solidFill>
            <a:srgbClr val="B85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451600" y="1569641"/>
            <a:ext cx="1368524" cy="184150"/>
          </a:xfrm>
          <a:prstGeom prst="rect">
            <a:avLst/>
          </a:prstGeom>
          <a:noFill/>
        </p:spPr>
        <p:txBody>
          <a:bodyPr wrap="none" lIns="0" tIns="0" rIns="0" bIns="0" anchor="t">
            <a:noAutofit/>
          </a:bodyPr>
          <a:lstStyle/>
          <a:p>
            <a:pPr algn="l"/>
            <a:r>
              <a:rPr sz="1100" b="1" i="0">
                <a:solidFill>
                  <a:srgbClr val="FFFFFF"/>
                </a:solidFill>
                <a:latin typeface="DM Sans"/>
              </a:rPr>
              <a:t>Niet voor PARADISE</a:t>
            </a:r>
          </a:p>
        </p:txBody>
      </p:sp>
      <p:sp>
        <p:nvSpPr>
          <p:cNvPr id="30" name="Rectangle 29"/>
          <p:cNvSpPr/>
          <p:nvPr/>
        </p:nvSpPr>
        <p:spPr>
          <a:xfrm>
            <a:off x="6324600" y="1880791"/>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24600" y="1988741"/>
            <a:ext cx="5105400" cy="222250"/>
          </a:xfrm>
          <a:prstGeom prst="rect">
            <a:avLst/>
          </a:prstGeom>
          <a:noFill/>
        </p:spPr>
        <p:txBody>
          <a:bodyPr wrap="none" lIns="0" tIns="0" rIns="0" bIns="0" anchor="t">
            <a:noAutofit/>
          </a:bodyPr>
          <a:lstStyle/>
          <a:p>
            <a:pPr algn="l">
              <a:lnSpc>
                <a:spcPts val="1750"/>
              </a:lnSpc>
            </a:pPr>
            <a:r>
              <a:rPr sz="1400" b="1" i="0">
                <a:solidFill>
                  <a:srgbClr val="0A2540"/>
                </a:solidFill>
                <a:latin typeface="DM Sans"/>
              </a:rPr>
              <a:t>% van de stappen</a:t>
            </a:r>
          </a:p>
        </p:txBody>
      </p:sp>
      <p:sp>
        <p:nvSpPr>
          <p:cNvPr id="32" name="TextBox 31"/>
          <p:cNvSpPr txBox="1"/>
          <p:nvPr/>
        </p:nvSpPr>
        <p:spPr>
          <a:xfrm>
            <a:off x="6324600" y="2249091"/>
            <a:ext cx="5105400" cy="197168"/>
          </a:xfrm>
          <a:prstGeom prst="rect">
            <a:avLst/>
          </a:prstGeom>
          <a:noFill/>
        </p:spPr>
        <p:txBody>
          <a:bodyPr wrap="none" lIns="0" tIns="0" rIns="0" bIns="0" anchor="t">
            <a:noAutofit/>
          </a:bodyPr>
          <a:lstStyle/>
          <a:p>
            <a:pPr algn="l">
              <a:lnSpc>
                <a:spcPts val="1552"/>
              </a:lnSpc>
            </a:pPr>
            <a:r>
              <a:rPr sz="1150" b="0" i="0">
                <a:solidFill>
                  <a:srgbClr val="5A6E80"/>
                </a:solidFill>
                <a:latin typeface="DM Sans"/>
              </a:rPr>
              <a:t>McRoberts levert alleen dagtotalen, geen data per tijdstip</a:t>
            </a:r>
          </a:p>
        </p:txBody>
      </p:sp>
      <p:sp>
        <p:nvSpPr>
          <p:cNvPr id="33" name="Rectangle 32"/>
          <p:cNvSpPr/>
          <p:nvPr/>
        </p:nvSpPr>
        <p:spPr>
          <a:xfrm>
            <a:off x="6324600" y="2547838"/>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24600" y="2655788"/>
            <a:ext cx="5105400" cy="222250"/>
          </a:xfrm>
          <a:prstGeom prst="rect">
            <a:avLst/>
          </a:prstGeom>
          <a:noFill/>
        </p:spPr>
        <p:txBody>
          <a:bodyPr wrap="none" lIns="0" tIns="0" rIns="0" bIns="0" anchor="t">
            <a:noAutofit/>
          </a:bodyPr>
          <a:lstStyle/>
          <a:p>
            <a:pPr algn="l">
              <a:lnSpc>
                <a:spcPts val="1750"/>
              </a:lnSpc>
            </a:pPr>
            <a:r>
              <a:rPr sz="1400" b="1" i="0">
                <a:solidFill>
                  <a:srgbClr val="0A2540"/>
                </a:solidFill>
                <a:latin typeface="DM Sans"/>
              </a:rPr>
              <a:t>Een aangenomen dag van 16 uur</a:t>
            </a:r>
          </a:p>
        </p:txBody>
      </p:sp>
      <p:sp>
        <p:nvSpPr>
          <p:cNvPr id="35" name="TextBox 34"/>
          <p:cNvSpPr txBox="1"/>
          <p:nvPr/>
        </p:nvSpPr>
        <p:spPr>
          <a:xfrm>
            <a:off x="6324600" y="2916138"/>
            <a:ext cx="5105400" cy="197168"/>
          </a:xfrm>
          <a:prstGeom prst="rect">
            <a:avLst/>
          </a:prstGeom>
          <a:noFill/>
        </p:spPr>
        <p:txBody>
          <a:bodyPr wrap="none" lIns="0" tIns="0" rIns="0" bIns="0" anchor="t">
            <a:noAutofit/>
          </a:bodyPr>
          <a:lstStyle/>
          <a:p>
            <a:pPr algn="l">
              <a:lnSpc>
                <a:spcPts val="1552"/>
              </a:lnSpc>
            </a:pPr>
            <a:r>
              <a:rPr sz="1150" b="0" i="0">
                <a:solidFill>
                  <a:srgbClr val="5A6E80"/>
                </a:solidFill>
                <a:latin typeface="DM Sans"/>
              </a:rPr>
              <a:t>wij meten de eigen waaktijd</a:t>
            </a:r>
          </a:p>
        </p:txBody>
      </p:sp>
      <p:sp>
        <p:nvSpPr>
          <p:cNvPr id="36" name="Rectangle 35"/>
          <p:cNvSpPr/>
          <p:nvPr/>
        </p:nvSpPr>
        <p:spPr>
          <a:xfrm>
            <a:off x="6324600" y="3214886"/>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24600" y="3322836"/>
            <a:ext cx="5105400" cy="222250"/>
          </a:xfrm>
          <a:prstGeom prst="rect">
            <a:avLst/>
          </a:prstGeom>
          <a:noFill/>
        </p:spPr>
        <p:txBody>
          <a:bodyPr wrap="none" lIns="0" tIns="0" rIns="0" bIns="0" anchor="t">
            <a:noAutofit/>
          </a:bodyPr>
          <a:lstStyle/>
          <a:p>
            <a:pPr algn="l">
              <a:lnSpc>
                <a:spcPts val="1750"/>
              </a:lnSpc>
            </a:pPr>
            <a:r>
              <a:rPr sz="1400" b="1" i="0">
                <a:solidFill>
                  <a:srgbClr val="0A2540"/>
                </a:solidFill>
                <a:latin typeface="DM Sans"/>
              </a:rPr>
              <a:t>MoveMonitor op 6 en 12 maanden</a:t>
            </a:r>
          </a:p>
        </p:txBody>
      </p:sp>
      <p:sp>
        <p:nvSpPr>
          <p:cNvPr id="38" name="TextBox 37"/>
          <p:cNvSpPr txBox="1"/>
          <p:nvPr/>
        </p:nvSpPr>
        <p:spPr>
          <a:xfrm>
            <a:off x="6324600" y="3583186"/>
            <a:ext cx="5105400" cy="197168"/>
          </a:xfrm>
          <a:prstGeom prst="rect">
            <a:avLst/>
          </a:prstGeom>
          <a:noFill/>
        </p:spPr>
        <p:txBody>
          <a:bodyPr wrap="none" lIns="0" tIns="0" rIns="0" bIns="0" anchor="t">
            <a:noAutofit/>
          </a:bodyPr>
          <a:lstStyle/>
          <a:p>
            <a:pPr algn="l">
              <a:lnSpc>
                <a:spcPts val="1552"/>
              </a:lnSpc>
            </a:pPr>
            <a:r>
              <a:rPr sz="1150" b="0" i="0">
                <a:solidFill>
                  <a:srgbClr val="5A6E80"/>
                </a:solidFill>
                <a:latin typeface="DM Sans"/>
              </a:rPr>
              <a:t>zoals in het DIASSIST-protocol; bij ons alleen bij de start</a:t>
            </a:r>
          </a:p>
        </p:txBody>
      </p:sp>
      <p:sp>
        <p:nvSpPr>
          <p:cNvPr id="39" name="Rectangle 38"/>
          <p:cNvSpPr/>
          <p:nvPr/>
        </p:nvSpPr>
        <p:spPr>
          <a:xfrm>
            <a:off x="6324600" y="3881934"/>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24600" y="3989884"/>
            <a:ext cx="5105400" cy="222250"/>
          </a:xfrm>
          <a:prstGeom prst="rect">
            <a:avLst/>
          </a:prstGeom>
          <a:noFill/>
        </p:spPr>
        <p:txBody>
          <a:bodyPr wrap="none" lIns="0" tIns="0" rIns="0" bIns="0" anchor="t">
            <a:noAutofit/>
          </a:bodyPr>
          <a:lstStyle/>
          <a:p>
            <a:pPr algn="l">
              <a:lnSpc>
                <a:spcPts val="1750"/>
              </a:lnSpc>
            </a:pPr>
            <a:r>
              <a:rPr sz="1400" b="1" i="0">
                <a:solidFill>
                  <a:srgbClr val="0A2540"/>
                </a:solidFill>
                <a:latin typeface="DM Sans"/>
              </a:rPr>
              <a:t>Zelfrapportage</a:t>
            </a:r>
          </a:p>
        </p:txBody>
      </p:sp>
      <p:sp>
        <p:nvSpPr>
          <p:cNvPr id="41" name="TextBox 40"/>
          <p:cNvSpPr txBox="1"/>
          <p:nvPr/>
        </p:nvSpPr>
        <p:spPr>
          <a:xfrm>
            <a:off x="6324600" y="4250234"/>
            <a:ext cx="5105400" cy="197168"/>
          </a:xfrm>
          <a:prstGeom prst="rect">
            <a:avLst/>
          </a:prstGeom>
          <a:noFill/>
        </p:spPr>
        <p:txBody>
          <a:bodyPr wrap="none" lIns="0" tIns="0" rIns="0" bIns="0" anchor="t">
            <a:noAutofit/>
          </a:bodyPr>
          <a:lstStyle/>
          <a:p>
            <a:pPr algn="l">
              <a:lnSpc>
                <a:spcPts val="1552"/>
              </a:lnSpc>
            </a:pPr>
            <a:r>
              <a:rPr sz="1150" b="0" i="0">
                <a:solidFill>
                  <a:srgbClr val="5A6E80"/>
                </a:solidFill>
                <a:latin typeface="DM Sans"/>
              </a:rPr>
              <a:t>volgt de referentie maar matig (r = 0,42)</a:t>
            </a:r>
          </a:p>
        </p:txBody>
      </p:sp>
      <p:pic>
        <p:nvPicPr>
          <p:cNvPr id="42" name="Picture 41" descr="ec5c93e6f83f209b4e97ddfdecd480c8.png"/>
          <p:cNvPicPr>
            <a:picLocks noChangeAspect="1"/>
          </p:cNvPicPr>
          <p:nvPr/>
        </p:nvPicPr>
        <p:blipFill>
          <a:blip r:embed="rId5"/>
          <a:stretch>
            <a:fillRect/>
          </a:stretch>
        </p:blipFill>
        <p:spPr>
          <a:xfrm>
            <a:off x="812967" y="6261100"/>
            <a:ext cx="171116" cy="203200"/>
          </a:xfrm>
          <a:prstGeom prst="rect">
            <a:avLst/>
          </a:prstGeom>
        </p:spPr>
      </p:pic>
      <p:sp>
        <p:nvSpPr>
          <p:cNvPr id="43" name="TextBox 42"/>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Achtergrond</a:t>
            </a:r>
          </a:p>
        </p:txBody>
      </p:sp>
      <p:sp>
        <p:nvSpPr>
          <p:cNvPr id="44" name="TextBox 43"/>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Bus 2013 · Jarl 2023 · DIASSIST-protocol 2023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0">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Dan valt de laatste visite na september 2029</a:t>
            </a:r>
          </a:p>
        </p:txBody>
      </p:sp>
      <p:graphicFrame>
        <p:nvGraphicFramePr>
          <p:cNvPr id="3" name="Chart 2"/>
          <p:cNvGraphicFramePr>
            <a:graphicFrameLocks noGrp="1"/>
          </p:cNvGraphicFramePr>
          <p:nvPr/>
        </p:nvGraphicFramePr>
        <p:xfrm>
          <a:off x="812800" y="2095500"/>
          <a:ext cx="5715000" cy="37465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4729480" y="4692650"/>
            <a:ext cx="1905000" cy="213360"/>
          </a:xfrm>
          <a:prstGeom prst="rect">
            <a:avLst/>
          </a:prstGeom>
          <a:noFill/>
        </p:spPr>
        <p:txBody>
          <a:bodyPr wrap="none" lIns="0" tIns="0" rIns="0" bIns="0">
            <a:spAutoFit/>
          </a:bodyPr>
          <a:lstStyle/>
          <a:p>
            <a:pPr algn="l"/>
            <a:r>
              <a:rPr sz="1200" b="0">
                <a:solidFill>
                  <a:srgbClr val="0A2540"/>
                </a:solidFill>
                <a:latin typeface="Segoe UI"/>
              </a:rPr>
              <a:t>13: uiterste grens</a:t>
            </a:r>
          </a:p>
        </p:txBody>
      </p:sp>
      <p:sp>
        <p:nvSpPr>
          <p:cNvPr id="5" name="TextBox 4"/>
          <p:cNvSpPr txBox="1"/>
          <p:nvPr/>
        </p:nvSpPr>
        <p:spPr>
          <a:xfrm>
            <a:off x="4157980" y="2106757"/>
            <a:ext cx="1016000" cy="231140"/>
          </a:xfrm>
          <a:prstGeom prst="rect">
            <a:avLst/>
          </a:prstGeom>
          <a:noFill/>
        </p:spPr>
        <p:txBody>
          <a:bodyPr wrap="none" lIns="0" tIns="0" rIns="0" bIns="0">
            <a:spAutoFit/>
          </a:bodyPr>
          <a:lstStyle/>
          <a:p>
            <a:pPr algn="ctr"/>
            <a:r>
              <a:rPr sz="1300" b="1">
                <a:solidFill>
                  <a:srgbClr val="0A2540"/>
                </a:solidFill>
                <a:latin typeface="Segoe UI"/>
              </a:rPr>
              <a:t>98%</a:t>
            </a:r>
          </a:p>
        </p:txBody>
      </p:sp>
      <p:sp>
        <p:nvSpPr>
          <p:cNvPr id="6" name="TextBox 5"/>
          <p:cNvSpPr txBox="1"/>
          <p:nvPr/>
        </p:nvSpPr>
        <p:spPr>
          <a:xfrm>
            <a:off x="3548380" y="4520424"/>
            <a:ext cx="1016000" cy="231140"/>
          </a:xfrm>
          <a:prstGeom prst="rect">
            <a:avLst/>
          </a:prstGeom>
          <a:noFill/>
        </p:spPr>
        <p:txBody>
          <a:bodyPr wrap="none" lIns="0" tIns="0" rIns="0" bIns="0">
            <a:spAutoFit/>
          </a:bodyPr>
          <a:lstStyle/>
          <a:p>
            <a:pPr algn="r"/>
            <a:r>
              <a:rPr sz="1300" b="1">
                <a:solidFill>
                  <a:srgbClr val="0A2540"/>
                </a:solidFill>
                <a:latin typeface="Segoe UI"/>
              </a:rPr>
              <a:t>12%</a:t>
            </a:r>
          </a:p>
        </p:txBody>
      </p:sp>
      <p:sp>
        <p:nvSpPr>
          <p:cNvPr id="7" name="TextBox 6"/>
          <p:cNvSpPr txBox="1"/>
          <p:nvPr/>
        </p:nvSpPr>
        <p:spPr>
          <a:xfrm>
            <a:off x="1320800" y="5232400"/>
            <a:ext cx="5080000" cy="213360"/>
          </a:xfrm>
          <a:prstGeom prst="rect">
            <a:avLst/>
          </a:prstGeom>
          <a:noFill/>
        </p:spPr>
        <p:txBody>
          <a:bodyPr wrap="none" lIns="0" tIns="0" rIns="0" bIns="0">
            <a:spAutoFit/>
          </a:bodyPr>
          <a:lstStyle/>
          <a:p>
            <a:pPr algn="ctr"/>
            <a:r>
              <a:rPr sz="1200" b="0">
                <a:solidFill>
                  <a:srgbClr val="5A6E80"/>
                </a:solidFill>
                <a:latin typeface="Segoe UI"/>
              </a:rPr>
              <a:t>maanden na de start van de inclusie</a:t>
            </a:r>
          </a:p>
        </p:txBody>
      </p:sp>
      <p:sp>
        <p:nvSpPr>
          <p:cNvPr id="8" name="Rectangle 7"/>
          <p:cNvSpPr/>
          <p:nvPr/>
        </p:nvSpPr>
        <p:spPr>
          <a:xfrm>
            <a:off x="1320800" y="5613400"/>
            <a:ext cx="139700" cy="139700"/>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24000" y="5588000"/>
            <a:ext cx="984250" cy="213360"/>
          </a:xfrm>
          <a:prstGeom prst="rect">
            <a:avLst/>
          </a:prstGeom>
          <a:noFill/>
        </p:spPr>
        <p:txBody>
          <a:bodyPr wrap="none" lIns="0" tIns="0" rIns="0" bIns="0">
            <a:spAutoFit/>
          </a:bodyPr>
          <a:lstStyle/>
          <a:p>
            <a:pPr algn="l"/>
            <a:r>
              <a:rPr sz="1200" b="0">
                <a:solidFill>
                  <a:srgbClr val="3A4F63"/>
                </a:solidFill>
                <a:latin typeface="Segoe UI"/>
              </a:rPr>
              <a:t>3 per maand</a:t>
            </a:r>
          </a:p>
        </p:txBody>
      </p:sp>
      <p:sp>
        <p:nvSpPr>
          <p:cNvPr id="10" name="Rectangle 9"/>
          <p:cNvSpPr/>
          <p:nvPr/>
        </p:nvSpPr>
        <p:spPr>
          <a:xfrm>
            <a:off x="2635250" y="5613400"/>
            <a:ext cx="139700" cy="139700"/>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38450" y="5588000"/>
            <a:ext cx="984250" cy="213360"/>
          </a:xfrm>
          <a:prstGeom prst="rect">
            <a:avLst/>
          </a:prstGeom>
          <a:noFill/>
        </p:spPr>
        <p:txBody>
          <a:bodyPr wrap="none" lIns="0" tIns="0" rIns="0" bIns="0">
            <a:spAutoFit/>
          </a:bodyPr>
          <a:lstStyle/>
          <a:p>
            <a:pPr algn="l"/>
            <a:r>
              <a:rPr sz="1200" b="0">
                <a:solidFill>
                  <a:srgbClr val="3A4F63"/>
                </a:solidFill>
                <a:latin typeface="Segoe UI"/>
              </a:rPr>
              <a:t>2 per maand</a:t>
            </a:r>
          </a:p>
        </p:txBody>
      </p:sp>
      <p:cxnSp>
        <p:nvCxnSpPr>
          <p:cNvPr id="12" name="Connector 11"/>
          <p:cNvCxnSpPr/>
          <p:nvPr/>
        </p:nvCxnSpPr>
        <p:spPr>
          <a:xfrm>
            <a:off x="3949700" y="5683250"/>
            <a:ext cx="254000" cy="0"/>
          </a:xfrm>
          <a:prstGeom prst="line">
            <a:avLst/>
          </a:prstGeom>
          <a:ln w="19050">
            <a:solidFill>
              <a:srgbClr val="3A4F6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267200" y="5588000"/>
            <a:ext cx="990600" cy="213360"/>
          </a:xfrm>
          <a:prstGeom prst="rect">
            <a:avLst/>
          </a:prstGeom>
          <a:noFill/>
        </p:spPr>
        <p:txBody>
          <a:bodyPr wrap="none" lIns="0" tIns="0" rIns="0" bIns="0">
            <a:spAutoFit/>
          </a:bodyPr>
          <a:lstStyle/>
          <a:p>
            <a:pPr algn="l"/>
            <a:r>
              <a:rPr sz="1200" b="0">
                <a:solidFill>
                  <a:srgbClr val="3A4F63"/>
                </a:solidFill>
                <a:latin typeface="Segoe UI"/>
              </a:rPr>
              <a:t>één centrum</a:t>
            </a:r>
          </a:p>
        </p:txBody>
      </p:sp>
      <p:cxnSp>
        <p:nvCxnSpPr>
          <p:cNvPr id="14" name="Connector 13"/>
          <p:cNvCxnSpPr/>
          <p:nvPr/>
        </p:nvCxnSpPr>
        <p:spPr>
          <a:xfrm>
            <a:off x="5384800" y="5683250"/>
            <a:ext cx="254000" cy="0"/>
          </a:xfrm>
          <a:prstGeom prst="line">
            <a:avLst/>
          </a:prstGeom>
          <a:ln w="19050">
            <a:solidFill>
              <a:srgbClr val="3A4F63"/>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702300" y="5588000"/>
            <a:ext cx="622300" cy="213360"/>
          </a:xfrm>
          <a:prstGeom prst="rect">
            <a:avLst/>
          </a:prstGeom>
          <a:noFill/>
        </p:spPr>
        <p:txBody>
          <a:bodyPr wrap="none" lIns="0" tIns="0" rIns="0" bIns="0">
            <a:spAutoFit/>
          </a:bodyPr>
          <a:lstStyle/>
          <a:p>
            <a:pPr algn="l"/>
            <a:r>
              <a:rPr sz="1200" b="0">
                <a:solidFill>
                  <a:srgbClr val="3A4F63"/>
                </a:solidFill>
                <a:latin typeface="Segoe UI"/>
              </a:rPr>
              <a:t>alle zes</a:t>
            </a:r>
          </a:p>
        </p:txBody>
      </p:sp>
      <p:sp>
        <p:nvSpPr>
          <p:cNvPr id="16" name="TextBox 15"/>
          <p:cNvSpPr txBox="1"/>
          <p:nvPr/>
        </p:nvSpPr>
        <p:spPr>
          <a:xfrm>
            <a:off x="6934200" y="2095500"/>
            <a:ext cx="4495800" cy="198120"/>
          </a:xfrm>
          <a:prstGeom prst="rect">
            <a:avLst/>
          </a:prstGeom>
          <a:noFill/>
        </p:spPr>
        <p:txBody>
          <a:bodyPr wrap="none" lIns="0" tIns="0" rIns="0" bIns="0" anchor="t">
            <a:noAutofit/>
          </a:bodyPr>
          <a:lstStyle/>
          <a:p>
            <a:pPr algn="l"/>
            <a:r>
              <a:rPr sz="1200" b="1" i="0">
                <a:solidFill>
                  <a:srgbClr val="A34A00"/>
                </a:solidFill>
                <a:latin typeface="DM Sans"/>
              </a:rPr>
              <a:t>Twee per maand</a:t>
            </a:r>
          </a:p>
        </p:txBody>
      </p:sp>
      <p:sp>
        <p:nvSpPr>
          <p:cNvPr id="17" name="Rectangle 16"/>
          <p:cNvSpPr/>
          <p:nvPr/>
        </p:nvSpPr>
        <p:spPr>
          <a:xfrm>
            <a:off x="6934200" y="2368550"/>
            <a:ext cx="4445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34200" y="2476500"/>
            <a:ext cx="1320800" cy="355600"/>
          </a:xfrm>
          <a:prstGeom prst="rect">
            <a:avLst/>
          </a:prstGeom>
          <a:noFill/>
        </p:spPr>
        <p:txBody>
          <a:bodyPr wrap="none" lIns="0" tIns="0" rIns="0" bIns="0" anchor="t">
            <a:noAutofit/>
          </a:bodyPr>
          <a:lstStyle/>
          <a:p>
            <a:pPr algn="l">
              <a:lnSpc>
                <a:spcPts val="2800"/>
              </a:lnSpc>
            </a:pPr>
            <a:r>
              <a:rPr sz="2800" b="0" i="0">
                <a:solidFill>
                  <a:srgbClr val="0A2540"/>
                </a:solidFill>
                <a:latin typeface="DM Serif Display"/>
              </a:rPr>
              <a:t>12 ± 2,5</a:t>
            </a:r>
          </a:p>
        </p:txBody>
      </p:sp>
      <p:sp>
        <p:nvSpPr>
          <p:cNvPr id="19" name="TextBox 18"/>
          <p:cNvSpPr txBox="1"/>
          <p:nvPr/>
        </p:nvSpPr>
        <p:spPr>
          <a:xfrm>
            <a:off x="8356600" y="2609850"/>
            <a:ext cx="3073400" cy="222885"/>
          </a:xfrm>
          <a:prstGeom prst="rect">
            <a:avLst/>
          </a:prstGeom>
          <a:noFill/>
        </p:spPr>
        <p:txBody>
          <a:bodyPr wrap="none" lIns="0" tIns="0" rIns="0" bIns="0" anchor="t">
            <a:noAutofit/>
          </a:bodyPr>
          <a:lstStyle/>
          <a:p>
            <a:pPr algn="l">
              <a:lnSpc>
                <a:spcPts val="1755"/>
              </a:lnSpc>
            </a:pPr>
            <a:r>
              <a:rPr sz="1300" b="0" i="0">
                <a:solidFill>
                  <a:srgbClr val="3A4F63"/>
                </a:solidFill>
                <a:latin typeface="DM Sans"/>
              </a:rPr>
              <a:t>maanden per centrum</a:t>
            </a:r>
          </a:p>
        </p:txBody>
      </p:sp>
      <p:sp>
        <p:nvSpPr>
          <p:cNvPr id="20" name="Rectangle 19"/>
          <p:cNvSpPr/>
          <p:nvPr/>
        </p:nvSpPr>
        <p:spPr>
          <a:xfrm>
            <a:off x="6934200" y="2934295"/>
            <a:ext cx="4445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34200" y="3042245"/>
            <a:ext cx="1320800" cy="355600"/>
          </a:xfrm>
          <a:prstGeom prst="rect">
            <a:avLst/>
          </a:prstGeom>
          <a:noFill/>
        </p:spPr>
        <p:txBody>
          <a:bodyPr wrap="none" lIns="0" tIns="0" rIns="0" bIns="0" anchor="t">
            <a:noAutofit/>
          </a:bodyPr>
          <a:lstStyle/>
          <a:p>
            <a:pPr algn="l">
              <a:lnSpc>
                <a:spcPts val="2800"/>
              </a:lnSpc>
            </a:pPr>
            <a:r>
              <a:rPr sz="2800" b="0" i="0">
                <a:solidFill>
                  <a:srgbClr val="0A2540"/>
                </a:solidFill>
                <a:latin typeface="DM Serif Display"/>
              </a:rPr>
              <a:t>3 van 6</a:t>
            </a:r>
          </a:p>
        </p:txBody>
      </p:sp>
      <p:sp>
        <p:nvSpPr>
          <p:cNvPr id="22" name="TextBox 21"/>
          <p:cNvSpPr txBox="1"/>
          <p:nvPr/>
        </p:nvSpPr>
        <p:spPr>
          <a:xfrm>
            <a:off x="8356600" y="3175595"/>
            <a:ext cx="3073400" cy="222885"/>
          </a:xfrm>
          <a:prstGeom prst="rect">
            <a:avLst/>
          </a:prstGeom>
          <a:noFill/>
        </p:spPr>
        <p:txBody>
          <a:bodyPr wrap="none" lIns="0" tIns="0" rIns="0" bIns="0" anchor="t">
            <a:noAutofit/>
          </a:bodyPr>
          <a:lstStyle/>
          <a:p>
            <a:pPr algn="l">
              <a:lnSpc>
                <a:spcPts val="1755"/>
              </a:lnSpc>
            </a:pPr>
            <a:r>
              <a:rPr sz="1300" b="0" i="0">
                <a:solidFill>
                  <a:srgbClr val="3A4F63"/>
                </a:solidFill>
                <a:latin typeface="DM Sans"/>
              </a:rPr>
              <a:t>centra klaar na een jaar</a:t>
            </a:r>
          </a:p>
        </p:txBody>
      </p:sp>
      <p:sp>
        <p:nvSpPr>
          <p:cNvPr id="23" name="Rectangle 22"/>
          <p:cNvSpPr/>
          <p:nvPr/>
        </p:nvSpPr>
        <p:spPr>
          <a:xfrm>
            <a:off x="6934200" y="3500041"/>
            <a:ext cx="4445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34200" y="3607991"/>
            <a:ext cx="1320800" cy="355600"/>
          </a:xfrm>
          <a:prstGeom prst="rect">
            <a:avLst/>
          </a:prstGeom>
          <a:noFill/>
        </p:spPr>
        <p:txBody>
          <a:bodyPr wrap="none" lIns="0" tIns="0" rIns="0" bIns="0" anchor="t">
            <a:noAutofit/>
          </a:bodyPr>
          <a:lstStyle/>
          <a:p>
            <a:pPr algn="l">
              <a:lnSpc>
                <a:spcPts val="2800"/>
              </a:lnSpc>
            </a:pPr>
            <a:r>
              <a:rPr sz="2800" b="0" i="0">
                <a:solidFill>
                  <a:srgbClr val="A34A00"/>
                </a:solidFill>
                <a:latin typeface="DM Serif Display"/>
              </a:rPr>
              <a:t>12%</a:t>
            </a:r>
          </a:p>
        </p:txBody>
      </p:sp>
      <p:sp>
        <p:nvSpPr>
          <p:cNvPr id="25" name="TextBox 24"/>
          <p:cNvSpPr txBox="1"/>
          <p:nvPr/>
        </p:nvSpPr>
        <p:spPr>
          <a:xfrm>
            <a:off x="8356600" y="3741341"/>
            <a:ext cx="3083052" cy="445691"/>
          </a:xfrm>
          <a:prstGeom prst="rect">
            <a:avLst/>
          </a:prstGeom>
          <a:noFill/>
        </p:spPr>
        <p:txBody>
          <a:bodyPr wrap="square" lIns="0" tIns="0" rIns="0" bIns="0" anchor="t">
            <a:noAutofit/>
          </a:bodyPr>
          <a:lstStyle/>
          <a:p>
            <a:pPr algn="l">
              <a:lnSpc>
                <a:spcPts val="1755"/>
              </a:lnSpc>
            </a:pPr>
            <a:r>
              <a:rPr sz="1300" b="0" i="0">
                <a:solidFill>
                  <a:srgbClr val="3A4F63"/>
                </a:solidFill>
                <a:latin typeface="DM Sans"/>
              </a:rPr>
              <a:t>kans dat alle zes klaar zijn vóór eind maart 2028</a:t>
            </a:r>
          </a:p>
        </p:txBody>
      </p:sp>
      <p:sp>
        <p:nvSpPr>
          <p:cNvPr id="26" name="Rectangle 25"/>
          <p:cNvSpPr/>
          <p:nvPr/>
        </p:nvSpPr>
        <p:spPr>
          <a:xfrm>
            <a:off x="6934200" y="4288631"/>
            <a:ext cx="4445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34200" y="4396581"/>
            <a:ext cx="1320800" cy="355600"/>
          </a:xfrm>
          <a:prstGeom prst="rect">
            <a:avLst/>
          </a:prstGeom>
          <a:noFill/>
        </p:spPr>
        <p:txBody>
          <a:bodyPr wrap="none" lIns="0" tIns="0" rIns="0" bIns="0" anchor="t">
            <a:noAutofit/>
          </a:bodyPr>
          <a:lstStyle/>
          <a:p>
            <a:pPr algn="l">
              <a:lnSpc>
                <a:spcPts val="2800"/>
              </a:lnSpc>
            </a:pPr>
            <a:r>
              <a:rPr sz="2800" b="0" i="0">
                <a:solidFill>
                  <a:srgbClr val="A34A00"/>
                </a:solidFill>
                <a:latin typeface="DM Serif Display"/>
              </a:rPr>
              <a:t>8%</a:t>
            </a:r>
          </a:p>
        </p:txBody>
      </p:sp>
      <p:sp>
        <p:nvSpPr>
          <p:cNvPr id="28" name="TextBox 27"/>
          <p:cNvSpPr txBox="1"/>
          <p:nvPr/>
        </p:nvSpPr>
        <p:spPr>
          <a:xfrm>
            <a:off x="8356600" y="4529931"/>
            <a:ext cx="3083052" cy="445691"/>
          </a:xfrm>
          <a:prstGeom prst="rect">
            <a:avLst/>
          </a:prstGeom>
          <a:noFill/>
        </p:spPr>
        <p:txBody>
          <a:bodyPr wrap="square" lIns="0" tIns="0" rIns="0" bIns="0" anchor="t">
            <a:noAutofit/>
          </a:bodyPr>
          <a:lstStyle/>
          <a:p>
            <a:pPr algn="l">
              <a:lnSpc>
                <a:spcPts val="1755"/>
              </a:lnSpc>
            </a:pPr>
            <a:r>
              <a:rPr sz="1300" b="0" i="0">
                <a:solidFill>
                  <a:srgbClr val="3A4F63"/>
                </a:solidFill>
                <a:latin typeface="DM Sans"/>
              </a:rPr>
              <a:t>kans dat na 18 maanden nog een centrum niet rond is</a:t>
            </a:r>
          </a:p>
        </p:txBody>
      </p:sp>
      <p:sp>
        <p:nvSpPr>
          <p:cNvPr id="29" name="TextBox 28"/>
          <p:cNvSpPr txBox="1"/>
          <p:nvPr/>
        </p:nvSpPr>
        <p:spPr>
          <a:xfrm>
            <a:off x="6934200" y="5372100"/>
            <a:ext cx="4495800" cy="240030"/>
          </a:xfrm>
          <a:prstGeom prst="rect">
            <a:avLst/>
          </a:prstGeom>
          <a:noFill/>
        </p:spPr>
        <p:txBody>
          <a:bodyPr wrap="none" lIns="0" tIns="0" rIns="0" bIns="0" anchor="t">
            <a:noAutofit/>
          </a:bodyPr>
          <a:lstStyle/>
          <a:p>
            <a:pPr algn="l">
              <a:lnSpc>
                <a:spcPts val="1889"/>
              </a:lnSpc>
            </a:pPr>
            <a:r>
              <a:rPr sz="1400" b="0" i="0">
                <a:solidFill>
                  <a:srgbClr val="0A2540"/>
                </a:solidFill>
                <a:latin typeface="DM Sans"/>
              </a:rPr>
              <a:t>Mediaan: laatste visite eind november 2029</a:t>
            </a:r>
          </a:p>
        </p:txBody>
      </p:sp>
      <p:pic>
        <p:nvPicPr>
          <p:cNvPr id="30" name="Picture 29" descr="ec5c93e6f83f209b4e97ddfdecd480c8.png"/>
          <p:cNvPicPr>
            <a:picLocks noChangeAspect="1"/>
          </p:cNvPicPr>
          <p:nvPr/>
        </p:nvPicPr>
        <p:blipFill>
          <a:blip r:embed="rId4"/>
          <a:stretch>
            <a:fillRect/>
          </a:stretch>
        </p:blipFill>
        <p:spPr>
          <a:xfrm>
            <a:off x="812967" y="6261100"/>
            <a:ext cx="171116" cy="203200"/>
          </a:xfrm>
          <a:prstGeom prst="rect">
            <a:avLst/>
          </a:prstGeom>
        </p:spPr>
      </p:pic>
      <p:sp>
        <p:nvSpPr>
          <p:cNvPr id="31" name="TextBox 30"/>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Achtergrond</a:t>
            </a:r>
          </a:p>
        </p:txBody>
      </p:sp>
      <p:sp>
        <p:nvSpPr>
          <p:cNvPr id="32" name="TextBox 31"/>
          <p:cNvSpPr txBox="1"/>
          <p:nvPr/>
        </p:nvSpPr>
        <p:spPr>
          <a:xfrm>
            <a:off x="5613400" y="6254750"/>
            <a:ext cx="5765800" cy="198120"/>
          </a:xfrm>
          <a:prstGeom prst="rect">
            <a:avLst/>
          </a:prstGeom>
          <a:noFill/>
        </p:spPr>
        <p:txBody>
          <a:bodyPr wrap="none" lIns="0" tIns="0" rIns="0" bIns="0" anchor="t">
            <a:noAutofit/>
          </a:bodyPr>
          <a:lstStyle/>
          <a:p>
            <a:pPr algn="r"/>
            <a:r>
              <a:rPr sz="1200" b="0" i="0">
                <a:solidFill>
                  <a:srgbClr val="5A6E80"/>
                </a:solidFill>
                <a:latin typeface="DM Sans"/>
              </a:rPr>
              <a:t>Bron: Poisson-instroom, start 24 feb 2027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1400"/>
                                        <p:tgtEl>
                                          <p:spTgt spid="3"/>
                                        </p:tgtEl>
                                      </p:cBhvr>
                                    </p:animEffect>
                                  </p:childTnLst>
                                </p:cTn>
                              </p:par>
                            </p:childTnLst>
                          </p:cTn>
                        </p:par>
                        <p:par>
                          <p:cTn id="8" fill="hold">
                            <p:stCondLst>
                              <p:cond delay="0"/>
                            </p:stCondLst>
                            <p:childTnLst>
                              <p:par>
                                <p:cTn id="9" presetID="10" presetClass="entr" presetSubtype="0" fill="hold" grpId="0" nodeType="afterEffect">
                                  <p:stCondLst>
                                    <p:cond delay="2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0"/>
                            </p:stCondLst>
                            <p:childTnLst>
                              <p:par>
                                <p:cTn id="13" presetID="10" presetClass="entr" presetSubtype="0"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0"/>
                            </p:stCondLst>
                            <p:childTnLst>
                              <p:par>
                                <p:cTn id="17" presetID="10" presetClass="entr" presetSubtype="0" fill="hold" grpId="0" nodeType="afterEffect">
                                  <p:stCondLst>
                                    <p:cond delay="2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4" grpId="0" animBg="1"/>
      <p:bldP spid="5" grpId="0" animBg="1"/>
      <p:bldP spid="6" grpId="0" animBg="1"/>
    </p:bldLst>
  </p:timing>
</p:sld>
</file>

<file path=ppt/slides/slide56.xml><?xml version="1.0" encoding="utf-8"?>
<p:sld xmlns:a="http://schemas.openxmlformats.org/drawingml/2006/main" xmlns:r="http://schemas.openxmlformats.org/officeDocument/2006/relationships" xmlns:p="http://schemas.openxmlformats.org/presentationml/2006/main" show="0">
  <p:cSld>
    <p:bg>
      <p:bgPr>
        <a:solidFill>
          <a:srgbClr val="F2F6F9"/>
        </a:solidFill>
        <a:effectLst/>
      </p:bgPr>
    </p:bg>
    <p:spTree>
      <p:nvGrpSpPr>
        <p:cNvPr id="1" name=""/>
        <p:cNvGrpSpPr/>
        <p:nvPr/>
      </p:nvGrpSpPr>
      <p:grpSpPr>
        <a:xfrm>
          <a:off x="0" y="0"/>
          <a:ext cx="0" cy="0"/>
          <a:chOff x="0" y="0"/>
          <a:chExt cx="0" cy="0"/>
        </a:xfrm>
      </p:grpSpPr>
      <p:pic>
        <p:nvPicPr>
          <p:cNvPr id="2" name="Picture 1"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 name="TextBox 2"/>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4" name="TextBox 3"/>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§5.4 · beslissingen 6 en 8 oktober 2026</a:t>
            </a:r>
          </a:p>
        </p:txBody>
      </p:sp>
      <p:sp>
        <p:nvSpPr>
          <p:cNvPr id="5" name="TextBox 4"/>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Zelfde zool, ander gebruik</a:t>
            </a:r>
          </a:p>
        </p:txBody>
      </p:sp>
      <p:sp>
        <p:nvSpPr>
          <p:cNvPr id="6" name="Rectangle 5"/>
          <p:cNvSpPr/>
          <p:nvPr/>
        </p:nvSpPr>
        <p:spPr>
          <a:xfrm>
            <a:off x="812800" y="177165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12800" y="217805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2800" y="1879600"/>
            <a:ext cx="1574800" cy="198120"/>
          </a:xfrm>
          <a:prstGeom prst="rect">
            <a:avLst/>
          </a:prstGeom>
          <a:noFill/>
        </p:spPr>
        <p:txBody>
          <a:bodyPr wrap="none" lIns="0" tIns="0" rIns="0" bIns="0" anchor="t">
            <a:noAutofit/>
          </a:bodyPr>
          <a:lstStyle/>
          <a:p>
            <a:pPr algn="l"/>
            <a:r>
              <a:rPr sz="1200" b="1" i="0">
                <a:solidFill>
                  <a:srgbClr val="5A6E80"/>
                </a:solidFill>
                <a:latin typeface="DM Sans"/>
              </a:rPr>
              <a:t>Beide armen</a:t>
            </a:r>
          </a:p>
        </p:txBody>
      </p:sp>
      <p:sp>
        <p:nvSpPr>
          <p:cNvPr id="9" name="TextBox 8"/>
          <p:cNvSpPr txBox="1"/>
          <p:nvPr/>
        </p:nvSpPr>
        <p:spPr>
          <a:xfrm>
            <a:off x="2514600" y="1866900"/>
            <a:ext cx="89154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CMFO met dezelfde opbouw · voetzorg elke 3 maanden · MoveMonitor bij de start · Orthotimer</a:t>
            </a:r>
          </a:p>
        </p:txBody>
      </p:sp>
      <p:sp>
        <p:nvSpPr>
          <p:cNvPr id="10" name="Rounded Rectangle 9"/>
          <p:cNvSpPr/>
          <p:nvPr/>
        </p:nvSpPr>
        <p:spPr>
          <a:xfrm>
            <a:off x="812800" y="2286000"/>
            <a:ext cx="1564878" cy="3238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77900" y="2324100"/>
            <a:ext cx="1285478" cy="247650"/>
          </a:xfrm>
          <a:prstGeom prst="rect">
            <a:avLst/>
          </a:prstGeom>
          <a:noFill/>
        </p:spPr>
        <p:txBody>
          <a:bodyPr wrap="none" lIns="0" tIns="0" rIns="0" bIns="0" anchor="t">
            <a:noAutofit/>
          </a:bodyPr>
          <a:lstStyle/>
          <a:p>
            <a:pPr algn="l"/>
            <a:r>
              <a:rPr sz="1500" b="1" i="0">
                <a:solidFill>
                  <a:srgbClr val="F2F8FC"/>
                </a:solidFill>
                <a:latin typeface="DM Sans"/>
              </a:rPr>
              <a:t>Optimal Care</a:t>
            </a:r>
          </a:p>
        </p:txBody>
      </p:sp>
      <p:sp>
        <p:nvSpPr>
          <p:cNvPr id="12" name="TextBox 11"/>
          <p:cNvSpPr txBox="1"/>
          <p:nvPr/>
        </p:nvSpPr>
        <p:spPr>
          <a:xfrm>
            <a:off x="2504678" y="2324100"/>
            <a:ext cx="2528491" cy="247650"/>
          </a:xfrm>
          <a:prstGeom prst="rect">
            <a:avLst/>
          </a:prstGeom>
          <a:noFill/>
        </p:spPr>
        <p:txBody>
          <a:bodyPr wrap="none" lIns="0" tIns="0" rIns="0" bIns="0" anchor="t">
            <a:noAutofit/>
          </a:bodyPr>
          <a:lstStyle/>
          <a:p>
            <a:pPr algn="l"/>
            <a:r>
              <a:rPr sz="1500" b="0" i="0">
                <a:solidFill>
                  <a:srgbClr val="0A2540"/>
                </a:solidFill>
                <a:latin typeface="DM Sans"/>
              </a:rPr>
              <a:t>twee normen sturen de zorg</a:t>
            </a:r>
          </a:p>
        </p:txBody>
      </p:sp>
      <p:sp>
        <p:nvSpPr>
          <p:cNvPr id="13" name="Rounded Rectangle 12"/>
          <p:cNvSpPr/>
          <p:nvPr/>
        </p:nvSpPr>
        <p:spPr>
          <a:xfrm>
            <a:off x="812800" y="26670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c3433b372cfc1d99d6ab11119954a595.png"/>
          <p:cNvPicPr>
            <a:picLocks noChangeAspect="1"/>
          </p:cNvPicPr>
          <p:nvPr/>
        </p:nvPicPr>
        <p:blipFill>
          <a:blip r:embed="rId4"/>
          <a:stretch>
            <a:fillRect/>
          </a:stretch>
        </p:blipFill>
        <p:spPr>
          <a:xfrm>
            <a:off x="946150" y="2774950"/>
            <a:ext cx="317500" cy="228600"/>
          </a:xfrm>
          <a:prstGeom prst="rect">
            <a:avLst/>
          </a:prstGeom>
        </p:spPr>
      </p:pic>
      <p:sp>
        <p:nvSpPr>
          <p:cNvPr id="15" name="TextBox 14"/>
          <p:cNvSpPr txBox="1"/>
          <p:nvPr/>
        </p:nvSpPr>
        <p:spPr>
          <a:xfrm>
            <a:off x="1339850" y="2790825"/>
            <a:ext cx="1032867" cy="198120"/>
          </a:xfrm>
          <a:prstGeom prst="rect">
            <a:avLst/>
          </a:prstGeom>
          <a:noFill/>
        </p:spPr>
        <p:txBody>
          <a:bodyPr wrap="none" lIns="0" tIns="0" rIns="0" bIns="0" anchor="t">
            <a:noAutofit/>
          </a:bodyPr>
          <a:lstStyle/>
          <a:p>
            <a:pPr algn="l"/>
            <a:r>
              <a:rPr sz="1200" b="1" i="0">
                <a:solidFill>
                  <a:srgbClr val="0B6E8F"/>
                </a:solidFill>
                <a:latin typeface="DM Sans"/>
              </a:rPr>
              <a:t>MoveMonitor</a:t>
            </a:r>
          </a:p>
        </p:txBody>
      </p:sp>
      <p:sp>
        <p:nvSpPr>
          <p:cNvPr id="16" name="TextBox 15"/>
          <p:cNvSpPr txBox="1"/>
          <p:nvPr/>
        </p:nvSpPr>
        <p:spPr>
          <a:xfrm>
            <a:off x="946150" y="304165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één week bij de start: slaaptijd/waaktijd</a:t>
            </a:r>
          </a:p>
        </p:txBody>
      </p:sp>
      <p:cxnSp>
        <p:nvCxnSpPr>
          <p:cNvPr id="17" name="Connector 16"/>
          <p:cNvCxnSpPr/>
          <p:nvPr/>
        </p:nvCxnSpPr>
        <p:spPr>
          <a:xfrm>
            <a:off x="3317875" y="32575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508375" y="2667000"/>
            <a:ext cx="2479675" cy="1181100"/>
          </a:xfrm>
          <a:prstGeom prst="roundRect">
            <a:avLst>
              <a:gd name="adj" fmla="val 8602"/>
            </a:avLst>
          </a:prstGeom>
          <a:solidFill>
            <a:srgbClr val="FFFFFF"/>
          </a:solidFill>
          <a:ln w="1270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648075" y="2781300"/>
            <a:ext cx="2251075" cy="198120"/>
          </a:xfrm>
          <a:prstGeom prst="rect">
            <a:avLst/>
          </a:prstGeom>
          <a:noFill/>
        </p:spPr>
        <p:txBody>
          <a:bodyPr wrap="none" lIns="0" tIns="0" rIns="0" bIns="0" anchor="t">
            <a:noAutofit/>
          </a:bodyPr>
          <a:lstStyle/>
          <a:p>
            <a:pPr algn="l"/>
            <a:r>
              <a:rPr sz="1200" b="1" i="0">
                <a:solidFill>
                  <a:srgbClr val="A34A00"/>
                </a:solidFill>
                <a:latin typeface="DM Sans"/>
              </a:rPr>
              <a:t>Draagnorm</a:t>
            </a:r>
          </a:p>
        </p:txBody>
      </p:sp>
      <p:sp>
        <p:nvSpPr>
          <p:cNvPr id="20" name="TextBox 19"/>
          <p:cNvSpPr txBox="1"/>
          <p:nvPr/>
        </p:nvSpPr>
        <p:spPr>
          <a:xfrm>
            <a:off x="3648075" y="3016250"/>
            <a:ext cx="2251075" cy="429220"/>
          </a:xfrm>
          <a:prstGeom prst="rect">
            <a:avLst/>
          </a:prstGeom>
          <a:noFill/>
        </p:spPr>
        <p:txBody>
          <a:bodyPr wrap="square" lIns="0" tIns="0" rIns="0" bIns="0" anchor="t">
            <a:noAutofit/>
          </a:bodyPr>
          <a:lstStyle/>
          <a:p>
            <a:pPr algn="l">
              <a:lnSpc>
                <a:spcPts val="1689"/>
              </a:lnSpc>
            </a:pPr>
            <a:r>
              <a:rPr sz="1300" b="0" i="0">
                <a:solidFill>
                  <a:srgbClr val="0A2540"/>
                </a:solidFill>
                <a:latin typeface="DM Sans"/>
              </a:rPr>
              <a:t>80% van de waaktijd, 7 dagen per week</a:t>
            </a:r>
          </a:p>
        </p:txBody>
      </p:sp>
      <p:cxnSp>
        <p:nvCxnSpPr>
          <p:cNvPr id="21" name="Connector 20"/>
          <p:cNvCxnSpPr/>
          <p:nvPr/>
        </p:nvCxnSpPr>
        <p:spPr>
          <a:xfrm>
            <a:off x="6026150" y="32575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16650" y="26670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08f3416e444e7f76df034ad715d9910f.png"/>
          <p:cNvPicPr>
            <a:picLocks noChangeAspect="1"/>
          </p:cNvPicPr>
          <p:nvPr/>
        </p:nvPicPr>
        <p:blipFill>
          <a:blip r:embed="rId5"/>
          <a:stretch>
            <a:fillRect/>
          </a:stretch>
        </p:blipFill>
        <p:spPr>
          <a:xfrm>
            <a:off x="6350000" y="2774950"/>
            <a:ext cx="317500" cy="228600"/>
          </a:xfrm>
          <a:prstGeom prst="rect">
            <a:avLst/>
          </a:prstGeom>
        </p:spPr>
      </p:pic>
      <p:sp>
        <p:nvSpPr>
          <p:cNvPr id="24" name="TextBox 23"/>
          <p:cNvSpPr txBox="1"/>
          <p:nvPr/>
        </p:nvSpPr>
        <p:spPr>
          <a:xfrm>
            <a:off x="6743700" y="2790825"/>
            <a:ext cx="887809" cy="198120"/>
          </a:xfrm>
          <a:prstGeom prst="rect">
            <a:avLst/>
          </a:prstGeom>
          <a:noFill/>
        </p:spPr>
        <p:txBody>
          <a:bodyPr wrap="none" lIns="0" tIns="0" rIns="0" bIns="0" anchor="t">
            <a:noAutofit/>
          </a:bodyPr>
          <a:lstStyle/>
          <a:p>
            <a:pPr algn="l"/>
            <a:r>
              <a:rPr sz="1200" b="1" i="0">
                <a:solidFill>
                  <a:srgbClr val="0B6E8F"/>
                </a:solidFill>
                <a:latin typeface="DM Sans"/>
              </a:rPr>
              <a:t>Orthotimer</a:t>
            </a:r>
          </a:p>
        </p:txBody>
      </p:sp>
      <p:sp>
        <p:nvSpPr>
          <p:cNvPr id="25" name="TextBox 24"/>
          <p:cNvSpPr txBox="1"/>
          <p:nvPr/>
        </p:nvSpPr>
        <p:spPr>
          <a:xfrm>
            <a:off x="6350000" y="304165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draagtijd per dag, elke 3 maanden uitgelezen</a:t>
            </a:r>
          </a:p>
        </p:txBody>
      </p:sp>
      <p:cxnSp>
        <p:nvCxnSpPr>
          <p:cNvPr id="26" name="Connector 25"/>
          <p:cNvCxnSpPr/>
          <p:nvPr/>
        </p:nvCxnSpPr>
        <p:spPr>
          <a:xfrm>
            <a:off x="8721725" y="32575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912225" y="26670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045575" y="2774950"/>
            <a:ext cx="2251075" cy="198120"/>
          </a:xfrm>
          <a:prstGeom prst="rect">
            <a:avLst/>
          </a:prstGeom>
          <a:noFill/>
        </p:spPr>
        <p:txBody>
          <a:bodyPr wrap="none" lIns="0" tIns="0" rIns="0" bIns="0" anchor="t">
            <a:noAutofit/>
          </a:bodyPr>
          <a:lstStyle/>
          <a:p>
            <a:pPr algn="l"/>
            <a:r>
              <a:rPr sz="1200" b="1" i="0">
                <a:solidFill>
                  <a:srgbClr val="0B6E8F"/>
                </a:solidFill>
                <a:latin typeface="DM Sans"/>
              </a:rPr>
              <a:t>SEBIA</a:t>
            </a:r>
          </a:p>
        </p:txBody>
      </p:sp>
      <p:sp>
        <p:nvSpPr>
          <p:cNvPr id="29" name="TextBox 28"/>
          <p:cNvSpPr txBox="1"/>
          <p:nvPr/>
        </p:nvSpPr>
        <p:spPr>
          <a:xfrm>
            <a:off x="9045575" y="300990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een gesprek op elke visite: voetzorg en therapietrouw</a:t>
            </a:r>
          </a:p>
        </p:txBody>
      </p:sp>
      <p:sp>
        <p:nvSpPr>
          <p:cNvPr id="30" name="Rectangle 29"/>
          <p:cNvSpPr/>
          <p:nvPr/>
        </p:nvSpPr>
        <p:spPr>
          <a:xfrm>
            <a:off x="812800" y="5207000"/>
            <a:ext cx="105664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12800" y="5346700"/>
            <a:ext cx="1329829" cy="323850"/>
          </a:xfrm>
          <a:prstGeom prst="roundRect">
            <a:avLst>
              <a:gd name="adj" fmla="val 50000"/>
            </a:avLst>
          </a:prstGeom>
          <a:solidFill>
            <a:srgbClr val="5A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977900" y="5384800"/>
            <a:ext cx="1050429" cy="247650"/>
          </a:xfrm>
          <a:prstGeom prst="rect">
            <a:avLst/>
          </a:prstGeom>
          <a:noFill/>
        </p:spPr>
        <p:txBody>
          <a:bodyPr wrap="none" lIns="0" tIns="0" rIns="0" bIns="0" anchor="t">
            <a:noAutofit/>
          </a:bodyPr>
          <a:lstStyle/>
          <a:p>
            <a:pPr algn="l"/>
            <a:r>
              <a:rPr sz="1500" b="1" i="0">
                <a:solidFill>
                  <a:srgbClr val="F2F8FC"/>
                </a:solidFill>
                <a:latin typeface="DM Sans"/>
              </a:rPr>
              <a:t>Usual Care</a:t>
            </a:r>
          </a:p>
        </p:txBody>
      </p:sp>
      <p:sp>
        <p:nvSpPr>
          <p:cNvPr id="33" name="TextBox 32"/>
          <p:cNvSpPr txBox="1"/>
          <p:nvPr/>
        </p:nvSpPr>
        <p:spPr>
          <a:xfrm>
            <a:off x="2269629" y="5346700"/>
            <a:ext cx="9291763" cy="495300"/>
          </a:xfrm>
          <a:prstGeom prst="rect">
            <a:avLst/>
          </a:prstGeom>
          <a:noFill/>
        </p:spPr>
        <p:txBody>
          <a:bodyPr wrap="square" lIns="0" tIns="0" rIns="0" bIns="0" anchor="t">
            <a:noAutofit/>
          </a:bodyPr>
          <a:lstStyle/>
          <a:p>
            <a:pPr algn="l">
              <a:lnSpc>
                <a:spcPts val="1950"/>
              </a:lnSpc>
            </a:pPr>
            <a:r>
              <a:rPr sz="1500" b="0" i="0">
                <a:solidFill>
                  <a:srgbClr val="0A2540"/>
                </a:solidFill>
                <a:latin typeface="DM Sans"/>
              </a:rPr>
              <a:t>zelfde MoveMonitor en Orthotimer, maar geen draagnorm, geen terugkoppeling en geen SEBIA: educatie zoals vandaag</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11256</Words>
  <Application>Microsoft Office PowerPoint</Application>
  <PresentationFormat>Breedbeeld</PresentationFormat>
  <Paragraphs>1176</Paragraphs>
  <Slides>56</Slides>
  <Notes>56</Notes>
  <HiddenSlides>6</HiddenSlides>
  <MMClips>0</MMClips>
  <ScaleCrop>false</ScaleCrop>
  <HeadingPairs>
    <vt:vector size="6" baseType="variant">
      <vt:variant>
        <vt:lpstr>Gebruikte lettertypen</vt:lpstr>
      </vt:variant>
      <vt:variant>
        <vt:i4>5</vt:i4>
      </vt:variant>
      <vt:variant>
        <vt:lpstr>Thema</vt:lpstr>
      </vt:variant>
      <vt:variant>
        <vt:i4>1</vt:i4>
      </vt:variant>
      <vt:variant>
        <vt:lpstr>Diatitels</vt:lpstr>
      </vt:variant>
      <vt:variant>
        <vt:i4>56</vt:i4>
      </vt:variant>
    </vt:vector>
  </HeadingPairs>
  <TitlesOfParts>
    <vt:vector size="62" baseType="lpstr">
      <vt:lpstr>Arial</vt:lpstr>
      <vt:lpstr>Calibri</vt:lpstr>
      <vt:lpstr>DM Sans</vt:lpstr>
      <vt:lpstr>DM Serif Display</vt:lpstr>
      <vt:lpstr>Segoe UI</vt:lpstr>
      <vt:lpstr>Office Theme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PARADISE — Eerste officiële meeting met de voetklinieken</dc:title>
  <dc:subject/>
  <dc:creator/>
  <cp:keywords/>
  <dc:description>generated using python-pptx</dc:description>
  <cp:lastModifiedBy>Janou De Buyser</cp:lastModifiedBy>
  <cp:revision>2</cp:revision>
  <dcterms:created xsi:type="dcterms:W3CDTF">2013-01-27T09:14:16Z</dcterms:created>
  <dcterms:modified xsi:type="dcterms:W3CDTF">2026-10-12T07:40:28Z</dcterms:modified>
  <cp:category/>
</cp:coreProperties>
</file>