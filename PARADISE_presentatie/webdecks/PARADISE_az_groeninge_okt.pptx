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9334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Goeiedag. In een kwartier vertel ik wat PARADISE is, wat het voor AZ Groeninge betekent, en waar we vandaag staan. PARADISE staat voor drie woorden: de druk, het dragen en de educatie.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Honderdvierenveertig patiënten in zes voetklinieken: vierentwintig per centrum, twaalf in Optimal Care en twaalf in Usual Care. Usual Care krijgt dezelfde zool, maar zonder drukdoel, zonder feedback en zonder SEBIA. Er is één primair eindpunt: het recidief over achttien maanden. Blijft één centrum achter, dan haalt de studie het niet.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 studie loopt in zes voetklinieken in Vlaanderen, en AZ Groeninge is er één van. Elk centrum neemt vierentwintig deelnemers op, twaalf in elke arm. Samen maakt dat honderdvierenveertig.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Vier fasen. Van november tot april loopt de opleiding, in februari de piloot, en op 23 februari beslist de Executive Board over Go of No-Go. Daarna twaalf maanden includeren, drie per maand, en elke deelnemer achttien maanden opvolgen. De laatste visite valt eind augustus 2029. Alleen de inclusie verschuift de einddatum.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Blok één: waarom. Ik geef u vier cijfers. Na het vierde weet u waarom deze studie twee normen heeft in plaats van één.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Veertig procent krijgt binnen één jaar een nieuw ulcus, na vijf jaar is dat vijfenzestig procent. De sterfte ligt tweeënhalf keer hoger, en na een majeure amputatie zelfs boven de zeventig procent. Dit is geen wondprobleem, dit is een overlevingsprobleem.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dan het cijfer dat het moeilijk maakt. Driekwart van deze ulcera is in principe te voorkomen, en toch komt veertig procent binnen het jaar terug. Over dat gat tussen wat kan en wat gebeurt, gaat deze studie.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Dit is de beste poging die er ligt: drukgeoptimaliseerd maatschoeisel, multicentrisch en gerandomiseerd, de DIAFOS-studie. Over iedereen samen: geen verschil. Bij wie de schoen droeg, minstens tachtig procent van de stappen: het recidief bijna gehalveerd. Het verschil zat dus niet alleen in de schoen, maar in het dragen.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Daar zit het. Eenenzeventig procent draagtijd, gemeten met een sensor en niet gevraagd. Thuis zakt het naar eenenzestig procent, en juist thuis worden veel stappen gezet. De schoen staat in de gang, terwijl de patiënt door het huis loopt.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Daarom doet PARADISE het anders: één dienst met twee normen. De zool moet de druk halen: onder tweehonderd kilopascal, of minstens vijfentwintig procent lager dan zonder zool, in dezelfde sessie. En de zool moet gedragen worden: tachtig procent van de eigen waaktijd, gemeten met een sensor in de zool. Daarbij hoort een SEBIA-gesprek op elke visite. Dat is nog nooit samen getoetst.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Wat krijgt elke arm? Beide armen krijgen dezelfde zool, voetzorg om de drie maanden, de MoveMonitor bij de start en de sensor in de zool. Het verschil zit in wat er met de metingen gebeurt. In Optimal Care sturen de twee normen de zorg: de druk wordt per sessie getoetst en de zool zo nodig aangepast, de draagtijd wordt uitgelezen en samen besproken, en op elke visite volgt een SEBIA-gesprek. In Usual Care wordt de druk alleen bij de start en op maand 6 gemeten, geblindeerd; de sensor wordt uitgelezen zonder terugkoppeling, en voetzorg en educatie blijven zoals vandaag.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Blok twee: de meting. Wat u meet, hoe u het meet, en wanneer het goed genoeg is.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Elke sensor geeft een cijfer. Dit is een meting in de schoen, zonder de zool: driehonderdtwaalf kilopascal onder metatarsaal twee-drie. De pedar meet links en rechts tegelijk; uit drie metingen komt één gemiddeld piekdrukbeeld per voet.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Zelfde voet, met de zool. Honderdzesentachtig kilopascal: veertig procent lager én onder de tweehonderd. De norm geldt per doelregio, en één van beide volstaat. Haalt een regio de norm niet, dan past de pedorthist de zool aan en meet u opnieuw, tot drie keer. Dat doen we op visite 2 en op maand 6, 12 en 18.</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Even stilstaan. Het doel is niet minder belasting. Het doel is belasting op een plek die het aankan. Dat is de hele interventie.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Blok drie: het traject. Wie in aanmerking komt, en wat er op elke visite gebeurt.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Wie komt in aanmerking? Onthoud VOETEN: vaten stabiel, onlangs een voetwonde, eigen stappen, type 1 of 2, echt beschermend schoeisel, Nederlands en volwassen. Alle zes moeten kloppen; één van de negen exclusiecriteria volstaat om uit te sluiten. Let op: een resectie van de eerste metatarsaalkop mag wél, een enkel-voetorthese niet, en wie de draagsensor weigert, valt af. De arts screent en vraagt de toestemming. U krijgt de zakkaart mee.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Screening en negen visites over achttien maanden. De eerste drie liggen dicht bij elkaar: toestemming, baseline, en de zool binnen de maand. Daarna is het ritme elke drie maanden, hetzelfde ritme als de controle die deze patiënten al krijgen.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Wat is SEBIA? De interventie in Optimal Care, zoals professor Fabienne Dobbels ze opbouwt, heeft twee componenten. Eén: diabetesvoetzorg, via educatie en skills training: kennis van goede voetzorg, goede voetzorg uitvoeren, en kennis van het belang van aangepast schoeisel en zolen. Twee: therapietrouw met het dragen van aangepast schoeisel en zolen: eerst de therapietrouw monitoren, dan verbeteren, door het belang en de motivatie te verhogen en barrières aan te pakken.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 elke visite een gesprek, met een eigen focus. Op visite 1 en 2 ligt de focus op educatie: mondelinge educatie en een demonstratie van goede voetzorg, en uitleg over de activity monitor; op visite 2 de kennis evalueren met de NAFF, met re-educatie, het belang van zolen en gepaste schoenen, en het doel van de sensor in de zolen. Op maand 3, 9 en 15 ligt de focus op therapietrouw: feedback op basis van de sensor, en therapietrouwverhogende interventies. Op maand 6 en 12 komen beide samen. Op maand 18 volgt een afrondend gesprek, zonder feedback of nieuwe interventies.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Drie toestellen, drie taken. De Novel pedar meet de druk, in de schoen. De Orthotimer zit in de zool en registreert elk kwartier of de zool gedragen wordt; die leest u elke drie maanden uit. De MoveMonitor draagt de patiënt één week bij de start, om de waaktijd te kennen, en daarmee de draagnorm.</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Dit is de enige regel die u echt moet onthouden. In Usual Care meet u de druk alleen bij de start en op maand 6, geblindeerd: met een drempel van vijftig kilopascal en de waarden uit, zonder iets te tonen of te bespreken. De sensor wordt uitgelezen, maar zonder terugkoppeling. Bespreekt u de waarden toch, dan levert u de interventie. Klinische bevindingen zijn geen meetwaarden: een laesie meldt en behandelt u meteen, in beide groepen.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Wat gebeurt er bij een nieuwe wonde? Dat is ons eindpunt: een nieuw ulcus, op dezelfde of een andere plek. Beide voeten worden op elke visite gescreend, en het ulcus wordt op dezelfde manier vastgesteld in beide armen. Verwittig meteen de investigator. Neem foto's, klasseer met PEDIS en WIfI en verzorg de wonde; de foto's worden geanonimiseerd opgeladen. Bij elk vervolgcontact noteert u de genezing, tot genezing, amputatie of overlijden. Een ernstig voorval, zoals een opname, meldt u binnen 72 uur. En het eindpunt is geen einde: de deelnemer blijft tot maand 18 in opvolging.</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Vier rollen. De podoloog meet, leest de sensoren uit en voert het SEBIA-gesprek. De pedorthist maakt de zool en past aan tot de norm. De arts screent, vraagt de toestemming, beoordeelt laesies en meldt voorvallen. Het management maakt tijd vrij en bewaakt de vierentwintig inclusies.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Dit krijgt u van ons. De SEBIA-opleiding, in zes sessies door professor Fabienne Dobbels, voor alle podologen. SOP's en draaiboeken per handeling. Gegevensinvoer doet het onderzoeksteam: u vult de formulieren in, verder niets. En één contactpunt: paradise-tbm@kuleuven.be. Nul sancties: wijkt u af van het protocol, dan meldt u dat, en het wordt geregistreerd, niet afgestraft.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Waar staan we vandaag? Protocol en formulieren liggen klaar. Uw dossier voor de ethische goedkeuring is volledig ingediend en ligt bij de externe diensten voor feedback; centraal wachten de ethische commissie van UZ Leuven en het FAGG op de lokale goedkeuringen. De pedar, de MoveMonitors en de Orthotimers staan bij u; de pedar installeren we vóór uw technologiesessie op 2 december. En er is één centrale databank: u vult papier in, wij voeren in.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 uw data. In november het info draaiboek, online, op dinsdag 10 en 24 november over de middag. Op woensdagvoormiddag 2 december de technologie bij u, en op dinsdag 8 december online de gezondheidseconomie en de procesevaluatie. In januari SEBIA 1 en 2 op woensdag 6 januari, de datacollectie op dinsdag 12 januari, en de droogloop bij u op woensdag 20 januari. In februari de piloot, en na de Go/No-Go van 23 februari starten we. In maart en april volgen SEBIA 3 en 4 op maandag 1 maart, en het inoefenen bij u op dinsdag 20 april.</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Wat vraagt het van uw team? Per patiënt in Optimal Care ongeveer zestien uur over achttien maanden: twee uur bij de start en twee uur per visite. In Usual Care negen uur: twee bij de start en één per visite. Betaald wordt zeventien en tien uur per patiënt. Voor alle vierentwintig samen is dat zo'n driehonderd uur, en aan drie inclusies per maand ongeveer veertien uur per maand, zolang de inclusie loopt.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Vier dingen hebben we van u nodig, en geen daarvan is gegevensinvoer. Twee zorgverleners die de opleiding volgen. Drie inclusies per maand: zo heeft u er vierentwintig binnen het jaar, met marge. Een looppad. En een back-up, iemand die kan invallen en die de droogloop meedoet.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Tot slot: wie u aanspreekt. Praktische vragen, over inclusies, metingen, formulieren of sensoren, komen bij mij, via paradise-tbm@kuleuven.be. Wetenschappelijke vragen en afspraken op het niveau van uw centrum bij professor Deschamps. Dank u wel.</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 informatie: de bronnen bij de cijfers, genummerd zoals in het protocolmanuscript.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pic>
        <p:nvPicPr>
          <p:cNvPr id="2" name="Picture 1" descr="e8e2656814709162297561ce36aaa87c.png"/>
          <p:cNvPicPr>
            <a:picLocks noChangeAspect="1"/>
          </p:cNvPicPr>
          <p:nvPr/>
        </p:nvPicPr>
        <p:blipFill>
          <a:blip r:embed="rId3"/>
          <a:stretch>
            <a:fillRect/>
          </a:stretch>
        </p:blipFill>
        <p:spPr>
          <a:xfrm>
            <a:off x="0" y="0"/>
            <a:ext cx="5588000" cy="6858000"/>
          </a:xfrm>
          <a:prstGeom prst="rect">
            <a:avLst/>
          </a:prstGeom>
        </p:spPr>
      </p:pic>
      <p:sp>
        <p:nvSpPr>
          <p:cNvPr id="3" name="TextBox 2"/>
          <p:cNvSpPr txBox="1"/>
          <p:nvPr/>
        </p:nvSpPr>
        <p:spPr>
          <a:xfrm>
            <a:off x="6299200" y="812800"/>
            <a:ext cx="5130800" cy="222885"/>
          </a:xfrm>
          <a:prstGeom prst="rect">
            <a:avLst/>
          </a:prstGeom>
          <a:noFill/>
        </p:spPr>
        <p:txBody>
          <a:bodyPr wrap="none" lIns="0" tIns="0" rIns="0" bIns="0" anchor="t">
            <a:noAutofit/>
          </a:bodyPr>
          <a:lstStyle/>
          <a:p>
            <a:pPr algn="l">
              <a:lnSpc>
                <a:spcPts val="1755"/>
              </a:lnSpc>
            </a:pPr>
            <a:r>
              <a:rPr sz="1300" b="1" i="0">
                <a:solidFill>
                  <a:srgbClr val="52BDEC"/>
                </a:solidFill>
                <a:latin typeface="DM Sans"/>
              </a:rPr>
              <a:t>AZ Groeninge · toelichting en stand van zaken</a:t>
            </a:r>
          </a:p>
        </p:txBody>
      </p:sp>
      <p:sp>
        <p:nvSpPr>
          <p:cNvPr id="4" name="TextBox 3"/>
          <p:cNvSpPr txBox="1"/>
          <p:nvPr/>
        </p:nvSpPr>
        <p:spPr>
          <a:xfrm>
            <a:off x="6299200" y="1200745"/>
            <a:ext cx="5130800" cy="952500"/>
          </a:xfrm>
          <a:prstGeom prst="rect">
            <a:avLst/>
          </a:prstGeom>
          <a:noFill/>
        </p:spPr>
        <p:txBody>
          <a:bodyPr wrap="none" lIns="0" tIns="0" rIns="0" bIns="0" anchor="t">
            <a:noAutofit/>
          </a:bodyPr>
          <a:lstStyle/>
          <a:p>
            <a:pPr algn="l">
              <a:lnSpc>
                <a:spcPts val="7500"/>
              </a:lnSpc>
            </a:pPr>
            <a:r>
              <a:rPr sz="7500" b="0" i="0" spc="-150">
                <a:solidFill>
                  <a:srgbClr val="F2F8FC"/>
                </a:solidFill>
                <a:latin typeface="DM Serif Display"/>
              </a:rPr>
              <a:t>PARADISE</a:t>
            </a:r>
          </a:p>
        </p:txBody>
      </p:sp>
      <p:sp>
        <p:nvSpPr>
          <p:cNvPr id="5" name="Rectangle 4"/>
          <p:cNvSpPr/>
          <p:nvPr/>
        </p:nvSpPr>
        <p:spPr>
          <a:xfrm>
            <a:off x="6299200" y="2318345"/>
            <a:ext cx="609600" cy="254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299200" y="2508845"/>
            <a:ext cx="5181600" cy="497681"/>
          </a:xfrm>
          <a:prstGeom prst="rect">
            <a:avLst/>
          </a:prstGeom>
          <a:noFill/>
        </p:spPr>
        <p:txBody>
          <a:bodyPr wrap="square" lIns="0" tIns="0" rIns="0" bIns="0" anchor="t">
            <a:noAutofit/>
          </a:bodyPr>
          <a:lstStyle/>
          <a:p>
            <a:pPr algn="l">
              <a:lnSpc>
                <a:spcPts val="1960"/>
              </a:lnSpc>
            </a:pPr>
            <a:r>
              <a:rPr sz="1400" b="0" i="0">
                <a:solidFill>
                  <a:srgbClr val="8FB0CA"/>
                </a:solidFill>
                <a:latin typeface="DM Sans"/>
              </a:rPr>
              <a:t>Towards Pressure-Adherence &amp; Education Driven Service in Diabetic Foot Disease</a:t>
            </a:r>
          </a:p>
        </p:txBody>
      </p:sp>
      <p:sp>
        <p:nvSpPr>
          <p:cNvPr id="7" name="TextBox 6"/>
          <p:cNvSpPr txBox="1"/>
          <p:nvPr/>
        </p:nvSpPr>
        <p:spPr>
          <a:xfrm>
            <a:off x="6299200" y="4694039"/>
            <a:ext cx="5130800" cy="205740"/>
          </a:xfrm>
          <a:prstGeom prst="rect">
            <a:avLst/>
          </a:prstGeom>
          <a:noFill/>
        </p:spPr>
        <p:txBody>
          <a:bodyPr wrap="none" lIns="0" tIns="0" rIns="0" bIns="0" anchor="t">
            <a:noAutofit/>
          </a:bodyPr>
          <a:lstStyle/>
          <a:p>
            <a:pPr algn="l">
              <a:lnSpc>
                <a:spcPts val="1620"/>
              </a:lnSpc>
            </a:pPr>
            <a:r>
              <a:rPr sz="1200" b="1" i="0">
                <a:solidFill>
                  <a:srgbClr val="C5D8E8"/>
                </a:solidFill>
                <a:latin typeface="DM Sans"/>
              </a:rPr>
              <a:t>FWO · TBM T000226N</a:t>
            </a:r>
          </a:p>
        </p:txBody>
      </p:sp>
      <p:sp>
        <p:nvSpPr>
          <p:cNvPr id="8" name="TextBox 7"/>
          <p:cNvSpPr txBox="1"/>
          <p:nvPr/>
        </p:nvSpPr>
        <p:spPr>
          <a:xfrm>
            <a:off x="6299200" y="5064820"/>
            <a:ext cx="5130800" cy="205740"/>
          </a:xfrm>
          <a:prstGeom prst="rect">
            <a:avLst/>
          </a:prstGeom>
          <a:noFill/>
        </p:spPr>
        <p:txBody>
          <a:bodyPr wrap="none" lIns="0" tIns="0" rIns="0" bIns="0" anchor="t">
            <a:noAutofit/>
          </a:bodyPr>
          <a:lstStyle/>
          <a:p>
            <a:pPr algn="l">
              <a:lnSpc>
                <a:spcPts val="1620"/>
              </a:lnSpc>
            </a:pPr>
            <a:r>
              <a:rPr sz="1200" b="0" i="0">
                <a:solidFill>
                  <a:srgbClr val="8FB0CA"/>
                </a:solidFill>
                <a:latin typeface="DM Sans"/>
              </a:rPr>
              <a:t>Protocolversie 1.0 · 17 mei 2026 · S71769</a:t>
            </a:r>
          </a:p>
        </p:txBody>
      </p:sp>
      <p:sp>
        <p:nvSpPr>
          <p:cNvPr id="9" name="Rounded Rectangle 8"/>
          <p:cNvSpPr/>
          <p:nvPr/>
        </p:nvSpPr>
        <p:spPr>
          <a:xfrm>
            <a:off x="6299200" y="5435600"/>
            <a:ext cx="2794000" cy="609600"/>
          </a:xfrm>
          <a:prstGeom prst="roundRect">
            <a:avLst>
              <a:gd name="adj" fmla="val 1458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aa9e3b75dd1a37652131c2dad91e3bdd.png"/>
          <p:cNvPicPr>
            <a:picLocks noChangeAspect="1"/>
          </p:cNvPicPr>
          <p:nvPr/>
        </p:nvPicPr>
        <p:blipFill>
          <a:blip r:embed="rId4"/>
          <a:stretch>
            <a:fillRect/>
          </a:stretch>
        </p:blipFill>
        <p:spPr>
          <a:xfrm>
            <a:off x="6530975" y="5568950"/>
            <a:ext cx="1200150" cy="342900"/>
          </a:xfrm>
          <a:prstGeom prst="rect">
            <a:avLst/>
          </a:prstGeom>
        </p:spPr>
      </p:pic>
      <p:pic>
        <p:nvPicPr>
          <p:cNvPr id="11" name="Picture 10" descr="7efde04c2a49b4811b8405a9e75d6fc7.png"/>
          <p:cNvPicPr>
            <a:picLocks noChangeAspect="1"/>
          </p:cNvPicPr>
          <p:nvPr/>
        </p:nvPicPr>
        <p:blipFill>
          <a:blip r:embed="rId5"/>
          <a:stretch>
            <a:fillRect/>
          </a:stretch>
        </p:blipFill>
        <p:spPr>
          <a:xfrm>
            <a:off x="7927606" y="5575300"/>
            <a:ext cx="921488" cy="330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_studi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144 patiënten, 24 per centrum</a:t>
            </a:r>
          </a:p>
        </p:txBody>
      </p:sp>
      <p:sp>
        <p:nvSpPr>
          <p:cNvPr id="4" name="Rectangle 3"/>
          <p:cNvSpPr/>
          <p:nvPr/>
        </p:nvSpPr>
        <p:spPr>
          <a:xfrm>
            <a:off x="7442200" y="1620441"/>
            <a:ext cx="3937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442200" y="1741091"/>
            <a:ext cx="3987800" cy="205740"/>
          </a:xfrm>
          <a:prstGeom prst="rect">
            <a:avLst/>
          </a:prstGeom>
          <a:noFill/>
        </p:spPr>
        <p:txBody>
          <a:bodyPr wrap="none" lIns="0" tIns="0" rIns="0" bIns="0" anchor="t">
            <a:noAutofit/>
          </a:bodyPr>
          <a:lstStyle/>
          <a:p>
            <a:pPr algn="l">
              <a:lnSpc>
                <a:spcPts val="1620"/>
              </a:lnSpc>
            </a:pPr>
            <a:r>
              <a:rPr sz="1200" b="1" i="0">
                <a:solidFill>
                  <a:srgbClr val="0B6E8F"/>
                </a:solidFill>
                <a:latin typeface="DM Sans"/>
              </a:rPr>
              <a:t>Per centrum</a:t>
            </a:r>
          </a:p>
        </p:txBody>
      </p:sp>
      <p:sp>
        <p:nvSpPr>
          <p:cNvPr id="6" name="TextBox 5"/>
          <p:cNvSpPr txBox="1"/>
          <p:nvPr/>
        </p:nvSpPr>
        <p:spPr>
          <a:xfrm>
            <a:off x="7442200" y="1984871"/>
            <a:ext cx="4015740" cy="480020"/>
          </a:xfrm>
          <a:prstGeom prst="rect">
            <a:avLst/>
          </a:prstGeom>
          <a:noFill/>
        </p:spPr>
        <p:txBody>
          <a:bodyPr wrap="square" lIns="0" tIns="0" rIns="0" bIns="0" anchor="t">
            <a:noAutofit/>
          </a:bodyPr>
          <a:lstStyle/>
          <a:p>
            <a:pPr algn="l">
              <a:lnSpc>
                <a:spcPts val="1889"/>
              </a:lnSpc>
            </a:pPr>
            <a:r>
              <a:rPr sz="1400" b="0" i="0">
                <a:solidFill>
                  <a:srgbClr val="0A2540"/>
                </a:solidFill>
                <a:latin typeface="DM Sans"/>
              </a:rPr>
              <a:t>24 deelnemers — 12 Optimal Care en 12 Usual Care</a:t>
            </a:r>
          </a:p>
        </p:txBody>
      </p:sp>
      <p:sp>
        <p:nvSpPr>
          <p:cNvPr id="7" name="Rectangle 6"/>
          <p:cNvSpPr/>
          <p:nvPr/>
        </p:nvSpPr>
        <p:spPr>
          <a:xfrm>
            <a:off x="7442200" y="2579191"/>
            <a:ext cx="3937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42200" y="2699841"/>
            <a:ext cx="3987800" cy="205740"/>
          </a:xfrm>
          <a:prstGeom prst="rect">
            <a:avLst/>
          </a:prstGeom>
          <a:noFill/>
        </p:spPr>
        <p:txBody>
          <a:bodyPr wrap="none" lIns="0" tIns="0" rIns="0" bIns="0" anchor="t">
            <a:noAutofit/>
          </a:bodyPr>
          <a:lstStyle/>
          <a:p>
            <a:pPr algn="l">
              <a:lnSpc>
                <a:spcPts val="1620"/>
              </a:lnSpc>
            </a:pPr>
            <a:r>
              <a:rPr sz="1200" b="1" i="0">
                <a:solidFill>
                  <a:srgbClr val="0B6E8F"/>
                </a:solidFill>
                <a:latin typeface="DM Sans"/>
              </a:rPr>
              <a:t>Usual Care</a:t>
            </a:r>
          </a:p>
        </p:txBody>
      </p:sp>
      <p:sp>
        <p:nvSpPr>
          <p:cNvPr id="9" name="TextBox 8"/>
          <p:cNvSpPr txBox="1"/>
          <p:nvPr/>
        </p:nvSpPr>
        <p:spPr>
          <a:xfrm>
            <a:off x="7442200" y="2943622"/>
            <a:ext cx="4015740" cy="480020"/>
          </a:xfrm>
          <a:prstGeom prst="rect">
            <a:avLst/>
          </a:prstGeom>
          <a:noFill/>
        </p:spPr>
        <p:txBody>
          <a:bodyPr wrap="square" lIns="0" tIns="0" rIns="0" bIns="0" anchor="t">
            <a:noAutofit/>
          </a:bodyPr>
          <a:lstStyle/>
          <a:p>
            <a:pPr algn="l">
              <a:lnSpc>
                <a:spcPts val="1889"/>
              </a:lnSpc>
            </a:pPr>
            <a:r>
              <a:rPr sz="1400" b="0" i="0">
                <a:solidFill>
                  <a:srgbClr val="0A2540"/>
                </a:solidFill>
                <a:latin typeface="DM Sans"/>
              </a:rPr>
              <a:t>Dezelfde zool, zonder drukdoel, feedback of SEBIA</a:t>
            </a:r>
          </a:p>
        </p:txBody>
      </p:sp>
      <p:sp>
        <p:nvSpPr>
          <p:cNvPr id="10" name="Rectangle 9"/>
          <p:cNvSpPr/>
          <p:nvPr/>
        </p:nvSpPr>
        <p:spPr>
          <a:xfrm>
            <a:off x="7442200" y="3537942"/>
            <a:ext cx="3937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42200" y="3658592"/>
            <a:ext cx="3987800" cy="205740"/>
          </a:xfrm>
          <a:prstGeom prst="rect">
            <a:avLst/>
          </a:prstGeom>
          <a:noFill/>
        </p:spPr>
        <p:txBody>
          <a:bodyPr wrap="none" lIns="0" tIns="0" rIns="0" bIns="0" anchor="t">
            <a:noAutofit/>
          </a:bodyPr>
          <a:lstStyle/>
          <a:p>
            <a:pPr algn="l">
              <a:lnSpc>
                <a:spcPts val="1620"/>
              </a:lnSpc>
            </a:pPr>
            <a:r>
              <a:rPr sz="1200" b="1" i="0">
                <a:solidFill>
                  <a:srgbClr val="0B6E8F"/>
                </a:solidFill>
                <a:latin typeface="DM Sans"/>
              </a:rPr>
              <a:t>Primair</a:t>
            </a:r>
          </a:p>
        </p:txBody>
      </p:sp>
      <p:sp>
        <p:nvSpPr>
          <p:cNvPr id="12" name="TextBox 11"/>
          <p:cNvSpPr txBox="1"/>
          <p:nvPr/>
        </p:nvSpPr>
        <p:spPr>
          <a:xfrm>
            <a:off x="7442200" y="3902373"/>
            <a:ext cx="3987800" cy="240030"/>
          </a:xfrm>
          <a:prstGeom prst="rect">
            <a:avLst/>
          </a:prstGeom>
          <a:noFill/>
        </p:spPr>
        <p:txBody>
          <a:bodyPr wrap="none" lIns="0" tIns="0" rIns="0" bIns="0" anchor="t">
            <a:noAutofit/>
          </a:bodyPr>
          <a:lstStyle/>
          <a:p>
            <a:pPr algn="l">
              <a:lnSpc>
                <a:spcPts val="1889"/>
              </a:lnSpc>
            </a:pPr>
            <a:r>
              <a:rPr sz="1400" b="0" i="0">
                <a:solidFill>
                  <a:srgbClr val="0A2540"/>
                </a:solidFill>
                <a:latin typeface="DM Sans"/>
              </a:rPr>
              <a:t>Recidief op 18 maanden</a:t>
            </a:r>
          </a:p>
        </p:txBody>
      </p:sp>
      <p:sp>
        <p:nvSpPr>
          <p:cNvPr id="13" name="Rectangle 12"/>
          <p:cNvSpPr/>
          <p:nvPr/>
        </p:nvSpPr>
        <p:spPr>
          <a:xfrm>
            <a:off x="7442200" y="4256683"/>
            <a:ext cx="3937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42200" y="4377333"/>
            <a:ext cx="3987800" cy="205740"/>
          </a:xfrm>
          <a:prstGeom prst="rect">
            <a:avLst/>
          </a:prstGeom>
          <a:noFill/>
        </p:spPr>
        <p:txBody>
          <a:bodyPr wrap="none" lIns="0" tIns="0" rIns="0" bIns="0" anchor="t">
            <a:noAutofit/>
          </a:bodyPr>
          <a:lstStyle/>
          <a:p>
            <a:pPr algn="l">
              <a:lnSpc>
                <a:spcPts val="1620"/>
              </a:lnSpc>
            </a:pPr>
            <a:r>
              <a:rPr sz="1200" b="1" i="0">
                <a:solidFill>
                  <a:srgbClr val="0B6E8F"/>
                </a:solidFill>
                <a:latin typeface="DM Sans"/>
              </a:rPr>
              <a:t>Positief</a:t>
            </a:r>
          </a:p>
        </p:txBody>
      </p:sp>
      <p:sp>
        <p:nvSpPr>
          <p:cNvPr id="15" name="TextBox 14"/>
          <p:cNvSpPr txBox="1"/>
          <p:nvPr/>
        </p:nvSpPr>
        <p:spPr>
          <a:xfrm>
            <a:off x="7442200" y="4621113"/>
            <a:ext cx="3987800" cy="240030"/>
          </a:xfrm>
          <a:prstGeom prst="rect">
            <a:avLst/>
          </a:prstGeom>
          <a:noFill/>
        </p:spPr>
        <p:txBody>
          <a:bodyPr wrap="none" lIns="0" tIns="0" rIns="0" bIns="0" anchor="t">
            <a:noAutofit/>
          </a:bodyPr>
          <a:lstStyle/>
          <a:p>
            <a:pPr algn="l">
              <a:lnSpc>
                <a:spcPts val="1889"/>
              </a:lnSpc>
            </a:pPr>
            <a:r>
              <a:rPr sz="1400" b="0" i="0">
                <a:solidFill>
                  <a:srgbClr val="0A2540"/>
                </a:solidFill>
                <a:latin typeface="DM Sans"/>
              </a:rPr>
              <a:t>Alleen als het eindpunt behaald is</a:t>
            </a:r>
          </a:p>
        </p:txBody>
      </p:sp>
      <p:pic>
        <p:nvPicPr>
          <p:cNvPr id="16" name="Picture 15" descr="5d72d4b34cb4ecc0be35953d18b4aaa2.png"/>
          <p:cNvPicPr>
            <a:picLocks noChangeAspect="1"/>
          </p:cNvPicPr>
          <p:nvPr/>
        </p:nvPicPr>
        <p:blipFill>
          <a:blip r:embed="rId4"/>
          <a:stretch>
            <a:fillRect/>
          </a:stretch>
        </p:blipFill>
        <p:spPr>
          <a:xfrm>
            <a:off x="812967" y="6261100"/>
            <a:ext cx="171116" cy="203200"/>
          </a:xfrm>
          <a:prstGeom prst="rect">
            <a:avLst/>
          </a:prstGeom>
        </p:spPr>
      </p:pic>
      <p:sp>
        <p:nvSpPr>
          <p:cNvPr id="17" name="TextBox 16"/>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Waar we staan</a:t>
            </a:r>
          </a:p>
        </p:txBody>
      </p:sp>
      <p:sp>
        <p:nvSpPr>
          <p:cNvPr id="18" name="TextBox 17"/>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S71769</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Waar de studie loopt</a:t>
            </a:r>
          </a:p>
        </p:txBody>
      </p:sp>
      <p:sp>
        <p:nvSpPr>
          <p:cNvPr id="3" name="TextBox 2"/>
          <p:cNvSpPr txBox="1"/>
          <p:nvPr/>
        </p:nvSpPr>
        <p:spPr>
          <a:xfrm>
            <a:off x="812800" y="1752600"/>
            <a:ext cx="2717800" cy="205740"/>
          </a:xfrm>
          <a:prstGeom prst="rect">
            <a:avLst/>
          </a:prstGeom>
          <a:noFill/>
        </p:spPr>
        <p:txBody>
          <a:bodyPr wrap="none" lIns="0" tIns="0" rIns="0" bIns="0" anchor="t">
            <a:noAutofit/>
          </a:bodyPr>
          <a:lstStyle/>
          <a:p>
            <a:pPr algn="l">
              <a:lnSpc>
                <a:spcPts val="1620"/>
              </a:lnSpc>
            </a:pPr>
            <a:r>
              <a:rPr sz="1200" b="1" i="0">
                <a:solidFill>
                  <a:srgbClr val="0B6E8F"/>
                </a:solidFill>
                <a:latin typeface="DM Sans"/>
              </a:rPr>
              <a:t>Centra</a:t>
            </a:r>
          </a:p>
        </p:txBody>
      </p:sp>
      <p:sp>
        <p:nvSpPr>
          <p:cNvPr id="4" name="TextBox 3"/>
          <p:cNvSpPr txBox="1"/>
          <p:nvPr/>
        </p:nvSpPr>
        <p:spPr>
          <a:xfrm>
            <a:off x="812800" y="2009080"/>
            <a:ext cx="2717800" cy="1016000"/>
          </a:xfrm>
          <a:prstGeom prst="rect">
            <a:avLst/>
          </a:prstGeom>
          <a:noFill/>
        </p:spPr>
        <p:txBody>
          <a:bodyPr wrap="none" lIns="0" tIns="0" rIns="0" bIns="0" anchor="t">
            <a:noAutofit/>
          </a:bodyPr>
          <a:lstStyle/>
          <a:p>
            <a:pPr algn="l">
              <a:lnSpc>
                <a:spcPts val="8000"/>
              </a:lnSpc>
            </a:pPr>
            <a:r>
              <a:rPr sz="8000" b="0" i="0">
                <a:solidFill>
                  <a:srgbClr val="0A2540"/>
                </a:solidFill>
                <a:latin typeface="DM Serif Display"/>
              </a:rPr>
              <a:t>6</a:t>
            </a:r>
          </a:p>
        </p:txBody>
      </p:sp>
      <p:sp>
        <p:nvSpPr>
          <p:cNvPr id="5" name="TextBox 4"/>
          <p:cNvSpPr txBox="1"/>
          <p:nvPr/>
        </p:nvSpPr>
        <p:spPr>
          <a:xfrm>
            <a:off x="812800" y="3253680"/>
            <a:ext cx="2717800" cy="205740"/>
          </a:xfrm>
          <a:prstGeom prst="rect">
            <a:avLst/>
          </a:prstGeom>
          <a:noFill/>
        </p:spPr>
        <p:txBody>
          <a:bodyPr wrap="none" lIns="0" tIns="0" rIns="0" bIns="0" anchor="t">
            <a:noAutofit/>
          </a:bodyPr>
          <a:lstStyle/>
          <a:p>
            <a:pPr algn="l">
              <a:lnSpc>
                <a:spcPts val="1620"/>
              </a:lnSpc>
            </a:pPr>
            <a:r>
              <a:rPr sz="1200" b="1" i="0">
                <a:solidFill>
                  <a:srgbClr val="0B6E8F"/>
                </a:solidFill>
                <a:latin typeface="DM Sans"/>
              </a:rPr>
              <a:t>Per centrum</a:t>
            </a:r>
          </a:p>
        </p:txBody>
      </p:sp>
      <p:sp>
        <p:nvSpPr>
          <p:cNvPr id="6" name="TextBox 5"/>
          <p:cNvSpPr txBox="1"/>
          <p:nvPr/>
        </p:nvSpPr>
        <p:spPr>
          <a:xfrm>
            <a:off x="812800" y="3510161"/>
            <a:ext cx="2717800" cy="1016000"/>
          </a:xfrm>
          <a:prstGeom prst="rect">
            <a:avLst/>
          </a:prstGeom>
          <a:noFill/>
        </p:spPr>
        <p:txBody>
          <a:bodyPr wrap="none" lIns="0" tIns="0" rIns="0" bIns="0" anchor="t">
            <a:noAutofit/>
          </a:bodyPr>
          <a:lstStyle/>
          <a:p>
            <a:pPr algn="l">
              <a:lnSpc>
                <a:spcPts val="8000"/>
              </a:lnSpc>
            </a:pPr>
            <a:r>
              <a:rPr sz="8000" b="0" i="0">
                <a:solidFill>
                  <a:srgbClr val="0A2540"/>
                </a:solidFill>
                <a:latin typeface="DM Serif Display"/>
              </a:rPr>
              <a:t>24</a:t>
            </a:r>
          </a:p>
        </p:txBody>
      </p:sp>
      <p:sp>
        <p:nvSpPr>
          <p:cNvPr id="7" name="Rectangle 6"/>
          <p:cNvSpPr/>
          <p:nvPr/>
        </p:nvSpPr>
        <p:spPr>
          <a:xfrm>
            <a:off x="812800" y="4576961"/>
            <a:ext cx="2667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2800" y="4761111"/>
            <a:ext cx="27178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AZ Groeninge is één van de zes</a:t>
            </a:r>
          </a:p>
        </p:txBody>
      </p:sp>
      <p:pic>
        <p:nvPicPr>
          <p:cNvPr id="9" name="Picture 8" descr="7349292eb6987da49d6a7b659c10e231.png"/>
          <p:cNvPicPr>
            <a:picLocks noChangeAspect="1"/>
          </p:cNvPicPr>
          <p:nvPr/>
        </p:nvPicPr>
        <p:blipFill>
          <a:blip r:embed="rId3"/>
          <a:stretch>
            <a:fillRect/>
          </a:stretch>
        </p:blipFill>
        <p:spPr>
          <a:xfrm>
            <a:off x="3937000" y="1564481"/>
            <a:ext cx="7442200" cy="4186238"/>
          </a:xfrm>
          <a:prstGeom prst="rect">
            <a:avLst/>
          </a:prstGeom>
        </p:spPr>
      </p:pic>
      <p:pic>
        <p:nvPicPr>
          <p:cNvPr id="10" name="Picture 9" descr="5d72d4b34cb4ecc0be35953d18b4aaa2.png"/>
          <p:cNvPicPr>
            <a:picLocks noChangeAspect="1"/>
          </p:cNvPicPr>
          <p:nvPr/>
        </p:nvPicPr>
        <p:blipFill>
          <a:blip r:embed="rId4"/>
          <a:stretch>
            <a:fillRect/>
          </a:stretch>
        </p:blipFill>
        <p:spPr>
          <a:xfrm>
            <a:off x="812967" y="6261100"/>
            <a:ext cx="171116" cy="203200"/>
          </a:xfrm>
          <a:prstGeom prst="rect">
            <a:avLst/>
          </a:prstGeom>
        </p:spPr>
      </p:pic>
      <p:sp>
        <p:nvSpPr>
          <p:cNvPr id="11" name="TextBox 10"/>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De zes voetklinieken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Van opleiding tot laatste patiënt</a:t>
            </a:r>
          </a:p>
        </p:txBody>
      </p:sp>
      <p:sp>
        <p:nvSpPr>
          <p:cNvPr id="3" name="TextBox 2"/>
          <p:cNvSpPr txBox="1"/>
          <p:nvPr/>
        </p:nvSpPr>
        <p:spPr>
          <a:xfrm>
            <a:off x="812800" y="2143522"/>
            <a:ext cx="2482850" cy="222885"/>
          </a:xfrm>
          <a:prstGeom prst="rect">
            <a:avLst/>
          </a:prstGeom>
          <a:noFill/>
        </p:spPr>
        <p:txBody>
          <a:bodyPr wrap="none" lIns="0" tIns="0" rIns="0" bIns="0" anchor="t">
            <a:noAutofit/>
          </a:bodyPr>
          <a:lstStyle/>
          <a:p>
            <a:pPr algn="l">
              <a:lnSpc>
                <a:spcPts val="1755"/>
              </a:lnSpc>
            </a:pPr>
            <a:r>
              <a:rPr sz="1300" b="1" i="0">
                <a:solidFill>
                  <a:srgbClr val="5A6E80"/>
                </a:solidFill>
                <a:latin typeface="DM Sans"/>
              </a:rPr>
              <a:t>nov 2026 – feb 2027</a:t>
            </a:r>
          </a:p>
        </p:txBody>
      </p:sp>
      <p:sp>
        <p:nvSpPr>
          <p:cNvPr id="4" name="Rounded Rectangle 3"/>
          <p:cNvSpPr/>
          <p:nvPr/>
        </p:nvSpPr>
        <p:spPr>
          <a:xfrm>
            <a:off x="812800" y="2480667"/>
            <a:ext cx="2432050" cy="1016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12800" y="2696567"/>
            <a:ext cx="2482850" cy="426720"/>
          </a:xfrm>
          <a:prstGeom prst="rect">
            <a:avLst/>
          </a:prstGeom>
          <a:noFill/>
        </p:spPr>
        <p:txBody>
          <a:bodyPr wrap="none" lIns="0" tIns="0" rIns="0" bIns="0" anchor="t">
            <a:noAutofit/>
          </a:bodyPr>
          <a:lstStyle/>
          <a:p>
            <a:pPr algn="l">
              <a:lnSpc>
                <a:spcPts val="3360"/>
              </a:lnSpc>
            </a:pPr>
            <a:r>
              <a:rPr sz="3200" b="0" i="0">
                <a:solidFill>
                  <a:srgbClr val="0A2540"/>
                </a:solidFill>
                <a:latin typeface="DM Serif Display"/>
              </a:rPr>
              <a:t>Opleiding</a:t>
            </a:r>
          </a:p>
        </p:txBody>
      </p:sp>
      <p:sp>
        <p:nvSpPr>
          <p:cNvPr id="6" name="TextBox 5"/>
          <p:cNvSpPr txBox="1"/>
          <p:nvPr/>
        </p:nvSpPr>
        <p:spPr>
          <a:xfrm>
            <a:off x="812800" y="3237508"/>
            <a:ext cx="2482850" cy="1028700"/>
          </a:xfrm>
          <a:prstGeom prst="rect">
            <a:avLst/>
          </a:prstGeom>
          <a:noFill/>
        </p:spPr>
        <p:txBody>
          <a:bodyPr wrap="square" lIns="0" tIns="0" rIns="0" bIns="0" anchor="t">
            <a:noAutofit/>
          </a:bodyPr>
          <a:lstStyle/>
          <a:p>
            <a:pPr algn="l">
              <a:lnSpc>
                <a:spcPts val="2025"/>
              </a:lnSpc>
            </a:pPr>
            <a:r>
              <a:rPr sz="1500" b="0" i="0">
                <a:solidFill>
                  <a:srgbClr val="3A4F63"/>
                </a:solidFill>
                <a:latin typeface="DM Sans"/>
              </a:rPr>
              <a:t>Opleiding van november tot april. Piloot van 1 tot 19 februari, Go/No-Go op 23 februari.</a:t>
            </a:r>
          </a:p>
        </p:txBody>
      </p:sp>
      <p:sp>
        <p:nvSpPr>
          <p:cNvPr id="7" name="TextBox 6"/>
          <p:cNvSpPr txBox="1"/>
          <p:nvPr/>
        </p:nvSpPr>
        <p:spPr>
          <a:xfrm>
            <a:off x="3524250" y="2143522"/>
            <a:ext cx="2482850" cy="222885"/>
          </a:xfrm>
          <a:prstGeom prst="rect">
            <a:avLst/>
          </a:prstGeom>
          <a:noFill/>
        </p:spPr>
        <p:txBody>
          <a:bodyPr wrap="none" lIns="0" tIns="0" rIns="0" bIns="0" anchor="t">
            <a:noAutofit/>
          </a:bodyPr>
          <a:lstStyle/>
          <a:p>
            <a:pPr algn="l">
              <a:lnSpc>
                <a:spcPts val="1755"/>
              </a:lnSpc>
            </a:pPr>
            <a:r>
              <a:rPr sz="1300" b="1" i="0">
                <a:solidFill>
                  <a:srgbClr val="5A6E80"/>
                </a:solidFill>
                <a:latin typeface="DM Sans"/>
              </a:rPr>
              <a:t>feb 2027 – feb 2028</a:t>
            </a:r>
          </a:p>
        </p:txBody>
      </p:sp>
      <p:sp>
        <p:nvSpPr>
          <p:cNvPr id="8" name="Rounded Rectangle 7"/>
          <p:cNvSpPr/>
          <p:nvPr/>
        </p:nvSpPr>
        <p:spPr>
          <a:xfrm>
            <a:off x="3524250" y="2480667"/>
            <a:ext cx="2432050" cy="10160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524250" y="2696567"/>
            <a:ext cx="2482850" cy="426720"/>
          </a:xfrm>
          <a:prstGeom prst="rect">
            <a:avLst/>
          </a:prstGeom>
          <a:noFill/>
        </p:spPr>
        <p:txBody>
          <a:bodyPr wrap="none" lIns="0" tIns="0" rIns="0" bIns="0" anchor="t">
            <a:noAutofit/>
          </a:bodyPr>
          <a:lstStyle/>
          <a:p>
            <a:pPr algn="l">
              <a:lnSpc>
                <a:spcPts val="3360"/>
              </a:lnSpc>
            </a:pPr>
            <a:r>
              <a:rPr sz="3200" b="0" i="0">
                <a:solidFill>
                  <a:srgbClr val="0A2540"/>
                </a:solidFill>
                <a:latin typeface="DM Serif Display"/>
              </a:rPr>
              <a:t>Inclusie</a:t>
            </a:r>
          </a:p>
        </p:txBody>
      </p:sp>
      <p:sp>
        <p:nvSpPr>
          <p:cNvPr id="10" name="TextBox 9"/>
          <p:cNvSpPr txBox="1"/>
          <p:nvPr/>
        </p:nvSpPr>
        <p:spPr>
          <a:xfrm>
            <a:off x="3524250" y="3237508"/>
            <a:ext cx="2482850" cy="1028700"/>
          </a:xfrm>
          <a:prstGeom prst="rect">
            <a:avLst/>
          </a:prstGeom>
          <a:noFill/>
        </p:spPr>
        <p:txBody>
          <a:bodyPr wrap="square" lIns="0" tIns="0" rIns="0" bIns="0" anchor="t">
            <a:noAutofit/>
          </a:bodyPr>
          <a:lstStyle/>
          <a:p>
            <a:pPr algn="l">
              <a:lnSpc>
                <a:spcPts val="2025"/>
              </a:lnSpc>
            </a:pPr>
            <a:r>
              <a:rPr sz="1500" b="0" i="0">
                <a:solidFill>
                  <a:srgbClr val="3A4F63"/>
                </a:solidFill>
                <a:latin typeface="DM Sans"/>
              </a:rPr>
              <a:t>Twaalf maanden rekruteren. 24 deelnemers per centrum: drie per maand, met marge.</a:t>
            </a:r>
          </a:p>
        </p:txBody>
      </p:sp>
      <p:sp>
        <p:nvSpPr>
          <p:cNvPr id="11" name="TextBox 10"/>
          <p:cNvSpPr txBox="1"/>
          <p:nvPr/>
        </p:nvSpPr>
        <p:spPr>
          <a:xfrm>
            <a:off x="6235700" y="2143522"/>
            <a:ext cx="2482850" cy="222885"/>
          </a:xfrm>
          <a:prstGeom prst="rect">
            <a:avLst/>
          </a:prstGeom>
          <a:noFill/>
        </p:spPr>
        <p:txBody>
          <a:bodyPr wrap="none" lIns="0" tIns="0" rIns="0" bIns="0" anchor="t">
            <a:noAutofit/>
          </a:bodyPr>
          <a:lstStyle/>
          <a:p>
            <a:pPr algn="l">
              <a:lnSpc>
                <a:spcPts val="1755"/>
              </a:lnSpc>
            </a:pPr>
            <a:r>
              <a:rPr sz="1300" b="1" i="0">
                <a:solidFill>
                  <a:srgbClr val="5A6E80"/>
                </a:solidFill>
                <a:latin typeface="DM Sans"/>
              </a:rPr>
              <a:t>tot aug 2029</a:t>
            </a:r>
          </a:p>
        </p:txBody>
      </p:sp>
      <p:sp>
        <p:nvSpPr>
          <p:cNvPr id="12" name="Rounded Rectangle 11"/>
          <p:cNvSpPr/>
          <p:nvPr/>
        </p:nvSpPr>
        <p:spPr>
          <a:xfrm>
            <a:off x="6235700" y="2480667"/>
            <a:ext cx="2432050" cy="10160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235700" y="2696567"/>
            <a:ext cx="2482850" cy="426720"/>
          </a:xfrm>
          <a:prstGeom prst="rect">
            <a:avLst/>
          </a:prstGeom>
          <a:noFill/>
        </p:spPr>
        <p:txBody>
          <a:bodyPr wrap="none" lIns="0" tIns="0" rIns="0" bIns="0" anchor="t">
            <a:noAutofit/>
          </a:bodyPr>
          <a:lstStyle/>
          <a:p>
            <a:pPr algn="l">
              <a:lnSpc>
                <a:spcPts val="3360"/>
              </a:lnSpc>
            </a:pPr>
            <a:r>
              <a:rPr sz="3200" b="0" i="0">
                <a:solidFill>
                  <a:srgbClr val="0A2540"/>
                </a:solidFill>
                <a:latin typeface="DM Serif Display"/>
              </a:rPr>
              <a:t>Opvolging</a:t>
            </a:r>
          </a:p>
        </p:txBody>
      </p:sp>
      <p:sp>
        <p:nvSpPr>
          <p:cNvPr id="14" name="TextBox 13"/>
          <p:cNvSpPr txBox="1"/>
          <p:nvPr/>
        </p:nvSpPr>
        <p:spPr>
          <a:xfrm>
            <a:off x="6235700" y="3237508"/>
            <a:ext cx="2482850" cy="1028700"/>
          </a:xfrm>
          <a:prstGeom prst="rect">
            <a:avLst/>
          </a:prstGeom>
          <a:noFill/>
        </p:spPr>
        <p:txBody>
          <a:bodyPr wrap="square" lIns="0" tIns="0" rIns="0" bIns="0" anchor="t">
            <a:noAutofit/>
          </a:bodyPr>
          <a:lstStyle/>
          <a:p>
            <a:pPr algn="l">
              <a:lnSpc>
                <a:spcPts val="2025"/>
              </a:lnSpc>
            </a:pPr>
            <a:r>
              <a:rPr sz="1500" b="0" i="0">
                <a:solidFill>
                  <a:srgbClr val="3A4F63"/>
                </a:solidFill>
                <a:latin typeface="DM Sans"/>
              </a:rPr>
              <a:t>Elke deelnemer achttien maanden. De laatste inclusie bepaalt de einddatum.</a:t>
            </a:r>
          </a:p>
        </p:txBody>
      </p:sp>
      <p:sp>
        <p:nvSpPr>
          <p:cNvPr id="15" name="TextBox 14"/>
          <p:cNvSpPr txBox="1"/>
          <p:nvPr/>
        </p:nvSpPr>
        <p:spPr>
          <a:xfrm>
            <a:off x="8947150" y="2143522"/>
            <a:ext cx="2482850" cy="222885"/>
          </a:xfrm>
          <a:prstGeom prst="rect">
            <a:avLst/>
          </a:prstGeom>
          <a:noFill/>
        </p:spPr>
        <p:txBody>
          <a:bodyPr wrap="none" lIns="0" tIns="0" rIns="0" bIns="0" anchor="t">
            <a:noAutofit/>
          </a:bodyPr>
          <a:lstStyle/>
          <a:p>
            <a:pPr algn="l">
              <a:lnSpc>
                <a:spcPts val="1755"/>
              </a:lnSpc>
            </a:pPr>
            <a:r>
              <a:rPr sz="1300" b="1" i="0">
                <a:solidFill>
                  <a:srgbClr val="5A6E80"/>
                </a:solidFill>
                <a:latin typeface="DM Sans"/>
              </a:rPr>
              <a:t>2029 – 2030</a:t>
            </a:r>
          </a:p>
        </p:txBody>
      </p:sp>
      <p:sp>
        <p:nvSpPr>
          <p:cNvPr id="16" name="Rounded Rectangle 15"/>
          <p:cNvSpPr/>
          <p:nvPr/>
        </p:nvSpPr>
        <p:spPr>
          <a:xfrm>
            <a:off x="8947150" y="2480667"/>
            <a:ext cx="2432050" cy="101600"/>
          </a:xfrm>
          <a:prstGeom prst="roundRect">
            <a:avLst>
              <a:gd name="adj" fmla="val 50000"/>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947150" y="2696567"/>
            <a:ext cx="2482850" cy="426720"/>
          </a:xfrm>
          <a:prstGeom prst="rect">
            <a:avLst/>
          </a:prstGeom>
          <a:noFill/>
        </p:spPr>
        <p:txBody>
          <a:bodyPr wrap="none" lIns="0" tIns="0" rIns="0" bIns="0" anchor="t">
            <a:noAutofit/>
          </a:bodyPr>
          <a:lstStyle/>
          <a:p>
            <a:pPr algn="l">
              <a:lnSpc>
                <a:spcPts val="3360"/>
              </a:lnSpc>
            </a:pPr>
            <a:r>
              <a:rPr sz="3200" b="0" i="0">
                <a:solidFill>
                  <a:srgbClr val="0A2540"/>
                </a:solidFill>
                <a:latin typeface="DM Serif Display"/>
              </a:rPr>
              <a:t>Analyse</a:t>
            </a:r>
          </a:p>
        </p:txBody>
      </p:sp>
      <p:sp>
        <p:nvSpPr>
          <p:cNvPr id="18" name="TextBox 17"/>
          <p:cNvSpPr txBox="1"/>
          <p:nvPr/>
        </p:nvSpPr>
        <p:spPr>
          <a:xfrm>
            <a:off x="8947150" y="3237508"/>
            <a:ext cx="2482850" cy="771525"/>
          </a:xfrm>
          <a:prstGeom prst="rect">
            <a:avLst/>
          </a:prstGeom>
          <a:noFill/>
        </p:spPr>
        <p:txBody>
          <a:bodyPr wrap="square" lIns="0" tIns="0" rIns="0" bIns="0" anchor="t">
            <a:noAutofit/>
          </a:bodyPr>
          <a:lstStyle/>
          <a:p>
            <a:pPr algn="l">
              <a:lnSpc>
                <a:spcPts val="2025"/>
              </a:lnSpc>
            </a:pPr>
            <a:r>
              <a:rPr sz="1500" b="0" i="0">
                <a:solidFill>
                  <a:srgbClr val="3A4F63"/>
                </a:solidFill>
                <a:latin typeface="DM Sans"/>
              </a:rPr>
              <a:t>Uitkomsten, gezondheidseconomie en procesevaluatie.</a:t>
            </a:r>
          </a:p>
        </p:txBody>
      </p:sp>
      <p:sp>
        <p:nvSpPr>
          <p:cNvPr id="19" name="Rectangle 18"/>
          <p:cNvSpPr/>
          <p:nvPr/>
        </p:nvSpPr>
        <p:spPr>
          <a:xfrm>
            <a:off x="812800" y="5094089"/>
            <a:ext cx="10566400" cy="127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2800" y="5259189"/>
            <a:ext cx="10777728" cy="582811"/>
          </a:xfrm>
          <a:prstGeom prst="rect">
            <a:avLst/>
          </a:prstGeom>
          <a:noFill/>
        </p:spPr>
        <p:txBody>
          <a:bodyPr wrap="square" lIns="0" tIns="0" rIns="0" bIns="0" anchor="t">
            <a:noAutofit/>
          </a:bodyPr>
          <a:lstStyle/>
          <a:p>
            <a:pPr algn="l">
              <a:lnSpc>
                <a:spcPts val="2295"/>
              </a:lnSpc>
            </a:pPr>
            <a:r>
              <a:rPr sz="1700" b="0" i="0">
                <a:solidFill>
                  <a:srgbClr val="0A2540"/>
                </a:solidFill>
                <a:latin typeface="DM Sans"/>
              </a:rPr>
              <a:t>De inclusieperiode is het enige wat de einddatum verschuift. Elke maand vertraging in de rekrutering is een maand later klaar.</a:t>
            </a:r>
          </a:p>
        </p:txBody>
      </p:sp>
      <p:pic>
        <p:nvPicPr>
          <p:cNvPr id="21" name="Picture 20"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22" name="TextBox 21"/>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Waar we staan</a:t>
            </a:r>
          </a:p>
        </p:txBody>
      </p:sp>
      <p:sp>
        <p:nvSpPr>
          <p:cNvPr id="23" name="TextBox 22"/>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S71769 · opleidingsplanning, 8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812800" y="2298700"/>
            <a:ext cx="1955800" cy="2057400"/>
          </a:xfrm>
          <a:prstGeom prst="rect">
            <a:avLst/>
          </a:prstGeom>
          <a:noFill/>
        </p:spPr>
        <p:txBody>
          <a:bodyPr wrap="none" lIns="0" tIns="0" rIns="0" bIns="0" anchor="t">
            <a:noAutofit/>
          </a:bodyPr>
          <a:lstStyle/>
          <a:p>
            <a:pPr algn="l">
              <a:lnSpc>
                <a:spcPts val="16200"/>
              </a:lnSpc>
            </a:pPr>
            <a:r>
              <a:rPr sz="18000" b="0" i="0">
                <a:solidFill>
                  <a:srgbClr val="FF9A3D"/>
                </a:solidFill>
                <a:latin typeface="DM Serif Display"/>
              </a:rPr>
              <a:t>1</a:t>
            </a:r>
          </a:p>
        </p:txBody>
      </p:sp>
      <p:sp>
        <p:nvSpPr>
          <p:cNvPr id="3" name="TextBox 2"/>
          <p:cNvSpPr txBox="1"/>
          <p:nvPr/>
        </p:nvSpPr>
        <p:spPr>
          <a:xfrm>
            <a:off x="3327400" y="2447627"/>
            <a:ext cx="8102600" cy="222885"/>
          </a:xfrm>
          <a:prstGeom prst="rect">
            <a:avLst/>
          </a:prstGeom>
          <a:noFill/>
        </p:spPr>
        <p:txBody>
          <a:bodyPr wrap="none" lIns="0" tIns="0" rIns="0" bIns="0" anchor="t">
            <a:noAutofit/>
          </a:bodyPr>
          <a:lstStyle/>
          <a:p>
            <a:pPr algn="l">
              <a:lnSpc>
                <a:spcPts val="1755"/>
              </a:lnSpc>
            </a:pPr>
            <a:r>
              <a:rPr sz="1300" b="1" i="0">
                <a:solidFill>
                  <a:srgbClr val="52BDEC"/>
                </a:solidFill>
                <a:latin typeface="DM Sans"/>
              </a:rPr>
              <a:t>Blok 1 van 3</a:t>
            </a:r>
          </a:p>
        </p:txBody>
      </p:sp>
      <p:sp>
        <p:nvSpPr>
          <p:cNvPr id="4" name="TextBox 3"/>
          <p:cNvSpPr txBox="1"/>
          <p:nvPr/>
        </p:nvSpPr>
        <p:spPr>
          <a:xfrm>
            <a:off x="3327400" y="2848273"/>
            <a:ext cx="8102600" cy="800100"/>
          </a:xfrm>
          <a:prstGeom prst="rect">
            <a:avLst/>
          </a:prstGeom>
          <a:noFill/>
        </p:spPr>
        <p:txBody>
          <a:bodyPr wrap="none" lIns="0" tIns="0" rIns="0" bIns="0" anchor="t">
            <a:noAutofit/>
          </a:bodyPr>
          <a:lstStyle/>
          <a:p>
            <a:pPr algn="l">
              <a:lnSpc>
                <a:spcPts val="6300"/>
              </a:lnSpc>
            </a:pPr>
            <a:r>
              <a:rPr sz="6000" b="0" i="0" spc="-100">
                <a:solidFill>
                  <a:srgbClr val="F2F8FC"/>
                </a:solidFill>
                <a:latin typeface="DM Serif Display"/>
              </a:rPr>
              <a:t>Waarom</a:t>
            </a:r>
          </a:p>
        </p:txBody>
      </p:sp>
      <p:sp>
        <p:nvSpPr>
          <p:cNvPr id="5" name="TextBox 4"/>
          <p:cNvSpPr txBox="1"/>
          <p:nvPr/>
        </p:nvSpPr>
        <p:spPr>
          <a:xfrm>
            <a:off x="3327400" y="3826173"/>
            <a:ext cx="8102600" cy="381000"/>
          </a:xfrm>
          <a:prstGeom prst="rect">
            <a:avLst/>
          </a:prstGeom>
          <a:noFill/>
        </p:spPr>
        <p:txBody>
          <a:bodyPr wrap="none" lIns="0" tIns="0" rIns="0" bIns="0" anchor="t">
            <a:noAutofit/>
          </a:bodyPr>
          <a:lstStyle/>
          <a:p>
            <a:pPr algn="l">
              <a:lnSpc>
                <a:spcPts val="3000"/>
              </a:lnSpc>
            </a:pPr>
            <a:r>
              <a:rPr sz="2400" b="0" i="1">
                <a:solidFill>
                  <a:srgbClr val="52BDEC"/>
                </a:solidFill>
                <a:latin typeface="DM Serif Display"/>
              </a:rPr>
              <a:t>Vier cijfers verklaren waarom er twee normen zijn.</a:t>
            </a:r>
          </a:p>
        </p:txBody>
      </p:sp>
      <p:pic>
        <p:nvPicPr>
          <p:cNvPr id="6" name="Picture 5"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7" name="TextBox 6"/>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6F8FAA"/>
                </a:solidFill>
                <a:latin typeface="DM Sans"/>
              </a:rPr>
              <a:t>PARADISE · Waarom</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1593850"/>
            <a:ext cx="6451600" cy="2514600"/>
          </a:xfrm>
          <a:prstGeom prst="rect">
            <a:avLst/>
          </a:prstGeom>
          <a:noFill/>
        </p:spPr>
        <p:txBody>
          <a:bodyPr wrap="none" lIns="0" tIns="0" rIns="0" bIns="0" anchor="t">
            <a:noAutofit/>
          </a:bodyPr>
          <a:lstStyle/>
          <a:p>
            <a:pPr algn="l">
              <a:lnSpc>
                <a:spcPts val="19800"/>
              </a:lnSpc>
            </a:pPr>
            <a:r>
              <a:rPr sz="22000" b="0" i="0" spc="-600">
                <a:solidFill>
                  <a:srgbClr val="E06A00"/>
                </a:solidFill>
                <a:latin typeface="DM Serif Display"/>
              </a:rPr>
              <a:t>40</a:t>
            </a:r>
            <a:r>
              <a:rPr sz="10000" b="0" i="0">
                <a:solidFill>
                  <a:srgbClr val="E06A00"/>
                </a:solidFill>
                <a:latin typeface="DM Serif Display"/>
              </a:rPr>
              <a:t>%</a:t>
            </a:r>
          </a:p>
        </p:txBody>
      </p:sp>
      <p:sp>
        <p:nvSpPr>
          <p:cNvPr id="3" name="TextBox 2"/>
          <p:cNvSpPr txBox="1"/>
          <p:nvPr/>
        </p:nvSpPr>
        <p:spPr>
          <a:xfrm>
            <a:off x="812800" y="4184650"/>
            <a:ext cx="6528816" cy="876300"/>
          </a:xfrm>
          <a:prstGeom prst="rect">
            <a:avLst/>
          </a:prstGeom>
          <a:noFill/>
        </p:spPr>
        <p:txBody>
          <a:bodyPr wrap="square" lIns="0" tIns="0" rIns="0" bIns="0" anchor="t">
            <a:noAutofit/>
          </a:bodyPr>
          <a:lstStyle/>
          <a:p>
            <a:pPr algn="l">
              <a:lnSpc>
                <a:spcPts val="3450"/>
              </a:lnSpc>
            </a:pPr>
            <a:r>
              <a:rPr sz="3000" b="0" i="0">
                <a:solidFill>
                  <a:srgbClr val="0A2540"/>
                </a:solidFill>
                <a:latin typeface="DM Serif Display"/>
              </a:rPr>
              <a:t>krijgt binnen een jaar</a:t>
            </a:r>
          </a:p>
          <a:p>
            <a:pPr algn="l">
              <a:lnSpc>
                <a:spcPts val="3450"/>
              </a:lnSpc>
            </a:pPr>
            <a:r>
              <a:rPr sz="3000" b="0" i="0">
                <a:solidFill>
                  <a:srgbClr val="0A2540"/>
                </a:solidFill>
                <a:latin typeface="DM Serif Display"/>
              </a:rPr>
              <a:t>een nieuw ulcus</a:t>
            </a:r>
          </a:p>
        </p:txBody>
      </p:sp>
      <p:sp>
        <p:nvSpPr>
          <p:cNvPr id="4" name="Rectangle 3"/>
          <p:cNvSpPr/>
          <p:nvPr/>
        </p:nvSpPr>
        <p:spPr>
          <a:xfrm>
            <a:off x="7823200" y="1688207"/>
            <a:ext cx="3556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23200" y="1834257"/>
            <a:ext cx="3606800" cy="558800"/>
          </a:xfrm>
          <a:prstGeom prst="rect">
            <a:avLst/>
          </a:prstGeom>
          <a:noFill/>
        </p:spPr>
        <p:txBody>
          <a:bodyPr wrap="none" lIns="0" tIns="0" rIns="0" bIns="0" anchor="t">
            <a:noAutofit/>
          </a:bodyPr>
          <a:lstStyle/>
          <a:p>
            <a:pPr algn="l">
              <a:lnSpc>
                <a:spcPts val="4400"/>
              </a:lnSpc>
            </a:pPr>
            <a:r>
              <a:rPr sz="4400" b="0" i="0">
                <a:solidFill>
                  <a:srgbClr val="0A2540"/>
                </a:solidFill>
                <a:latin typeface="DM Serif Display"/>
              </a:rPr>
              <a:t>65%</a:t>
            </a:r>
          </a:p>
        </p:txBody>
      </p:sp>
      <p:sp>
        <p:nvSpPr>
          <p:cNvPr id="6" name="TextBox 5"/>
          <p:cNvSpPr txBox="1"/>
          <p:nvPr/>
        </p:nvSpPr>
        <p:spPr>
          <a:xfrm>
            <a:off x="7823200" y="2418457"/>
            <a:ext cx="3606800" cy="222885"/>
          </a:xfrm>
          <a:prstGeom prst="rect">
            <a:avLst/>
          </a:prstGeom>
          <a:noFill/>
        </p:spPr>
        <p:txBody>
          <a:bodyPr wrap="none" lIns="0" tIns="0" rIns="0" bIns="0" anchor="t">
            <a:noAutofit/>
          </a:bodyPr>
          <a:lstStyle/>
          <a:p>
            <a:pPr algn="l">
              <a:lnSpc>
                <a:spcPts val="1755"/>
              </a:lnSpc>
            </a:pPr>
            <a:r>
              <a:rPr sz="1300" b="0" i="0">
                <a:solidFill>
                  <a:srgbClr val="5A6E80"/>
                </a:solidFill>
                <a:latin typeface="DM Sans"/>
              </a:rPr>
              <a:t>na vijf jaar</a:t>
            </a:r>
          </a:p>
        </p:txBody>
      </p:sp>
      <p:sp>
        <p:nvSpPr>
          <p:cNvPr id="7" name="Rectangle 6"/>
          <p:cNvSpPr/>
          <p:nvPr/>
        </p:nvSpPr>
        <p:spPr>
          <a:xfrm>
            <a:off x="7823200" y="2781002"/>
            <a:ext cx="3556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23200" y="2927052"/>
            <a:ext cx="3606800" cy="558800"/>
          </a:xfrm>
          <a:prstGeom prst="rect">
            <a:avLst/>
          </a:prstGeom>
          <a:noFill/>
        </p:spPr>
        <p:txBody>
          <a:bodyPr wrap="none" lIns="0" tIns="0" rIns="0" bIns="0" anchor="t">
            <a:noAutofit/>
          </a:bodyPr>
          <a:lstStyle/>
          <a:p>
            <a:pPr algn="l">
              <a:lnSpc>
                <a:spcPts val="4400"/>
              </a:lnSpc>
            </a:pPr>
            <a:r>
              <a:rPr sz="4400" b="0" i="0">
                <a:solidFill>
                  <a:srgbClr val="0A2540"/>
                </a:solidFill>
                <a:latin typeface="DM Serif Display"/>
              </a:rPr>
              <a:t>2,5×</a:t>
            </a:r>
          </a:p>
        </p:txBody>
      </p:sp>
      <p:sp>
        <p:nvSpPr>
          <p:cNvPr id="9" name="TextBox 8"/>
          <p:cNvSpPr txBox="1"/>
          <p:nvPr/>
        </p:nvSpPr>
        <p:spPr>
          <a:xfrm>
            <a:off x="7823200" y="3511252"/>
            <a:ext cx="3606800" cy="222885"/>
          </a:xfrm>
          <a:prstGeom prst="rect">
            <a:avLst/>
          </a:prstGeom>
          <a:noFill/>
        </p:spPr>
        <p:txBody>
          <a:bodyPr wrap="none" lIns="0" tIns="0" rIns="0" bIns="0" anchor="t">
            <a:noAutofit/>
          </a:bodyPr>
          <a:lstStyle/>
          <a:p>
            <a:pPr algn="l">
              <a:lnSpc>
                <a:spcPts val="1755"/>
              </a:lnSpc>
            </a:pPr>
            <a:r>
              <a:rPr sz="1300" b="0" i="0">
                <a:solidFill>
                  <a:srgbClr val="5A6E80"/>
                </a:solidFill>
                <a:latin typeface="DM Sans"/>
              </a:rPr>
              <a:t>hogere sterfte</a:t>
            </a:r>
          </a:p>
        </p:txBody>
      </p:sp>
      <p:sp>
        <p:nvSpPr>
          <p:cNvPr id="10" name="Rectangle 9"/>
          <p:cNvSpPr/>
          <p:nvPr/>
        </p:nvSpPr>
        <p:spPr>
          <a:xfrm>
            <a:off x="7823200" y="3873798"/>
            <a:ext cx="3556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23200" y="4019848"/>
            <a:ext cx="3606800" cy="558800"/>
          </a:xfrm>
          <a:prstGeom prst="rect">
            <a:avLst/>
          </a:prstGeom>
          <a:noFill/>
        </p:spPr>
        <p:txBody>
          <a:bodyPr wrap="none" lIns="0" tIns="0" rIns="0" bIns="0" anchor="t">
            <a:noAutofit/>
          </a:bodyPr>
          <a:lstStyle/>
          <a:p>
            <a:pPr algn="l">
              <a:lnSpc>
                <a:spcPts val="4400"/>
              </a:lnSpc>
            </a:pPr>
            <a:r>
              <a:rPr sz="4400" b="0" i="0">
                <a:solidFill>
                  <a:srgbClr val="0A2540"/>
                </a:solidFill>
                <a:latin typeface="DM Serif Display"/>
              </a:rPr>
              <a:t>&gt; 70%</a:t>
            </a:r>
          </a:p>
        </p:txBody>
      </p:sp>
      <p:sp>
        <p:nvSpPr>
          <p:cNvPr id="12" name="TextBox 11"/>
          <p:cNvSpPr txBox="1"/>
          <p:nvPr/>
        </p:nvSpPr>
        <p:spPr>
          <a:xfrm>
            <a:off x="7823200" y="4604048"/>
            <a:ext cx="3606800" cy="222885"/>
          </a:xfrm>
          <a:prstGeom prst="rect">
            <a:avLst/>
          </a:prstGeom>
          <a:noFill/>
        </p:spPr>
        <p:txBody>
          <a:bodyPr wrap="none" lIns="0" tIns="0" rIns="0" bIns="0" anchor="t">
            <a:noAutofit/>
          </a:bodyPr>
          <a:lstStyle/>
          <a:p>
            <a:pPr algn="l">
              <a:lnSpc>
                <a:spcPts val="1755"/>
              </a:lnSpc>
            </a:pPr>
            <a:r>
              <a:rPr sz="1300" b="0" i="0">
                <a:solidFill>
                  <a:srgbClr val="5A6E80"/>
                </a:solidFill>
                <a:latin typeface="DM Sans"/>
              </a:rPr>
              <a:t>sterfte na majeure amputatie</a:t>
            </a:r>
          </a:p>
        </p:txBody>
      </p:sp>
      <p:pic>
        <p:nvPicPr>
          <p:cNvPr id="13" name="Picture 12"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14" name="TextBox 13"/>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Waarom</a:t>
            </a:r>
          </a:p>
        </p:txBody>
      </p:sp>
      <p:sp>
        <p:nvSpPr>
          <p:cNvPr id="15" name="TextBox 14"/>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1 · Armstrong, Boulton &amp; Bus · N Engl J Med 2017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eef52398e7bdc65d84ff8e56570afc6e.png"/>
          <p:cNvPicPr>
            <a:picLocks noChangeAspect="1"/>
          </p:cNvPicPr>
          <p:nvPr/>
        </p:nvPicPr>
        <p:blipFill>
          <a:blip r:embed="rId3"/>
          <a:stretch>
            <a:fillRect/>
          </a:stretch>
        </p:blipFill>
        <p:spPr>
          <a:xfrm>
            <a:off x="6350000" y="0"/>
            <a:ext cx="5842000" cy="6858000"/>
          </a:xfrm>
          <a:prstGeom prst="rect">
            <a:avLst/>
          </a:prstGeom>
        </p:spPr>
      </p:pic>
      <p:sp>
        <p:nvSpPr>
          <p:cNvPr id="3" name="Rectangle 2"/>
          <p:cNvSpPr/>
          <p:nvPr/>
        </p:nvSpPr>
        <p:spPr>
          <a:xfrm>
            <a:off x="812800" y="1820267"/>
            <a:ext cx="609600" cy="254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12800" y="2023467"/>
            <a:ext cx="5181600" cy="1316633"/>
          </a:xfrm>
          <a:prstGeom prst="rect">
            <a:avLst/>
          </a:prstGeom>
          <a:noFill/>
        </p:spPr>
        <p:txBody>
          <a:bodyPr wrap="square" lIns="0" tIns="0" rIns="0" bIns="0" anchor="t">
            <a:noAutofit/>
          </a:bodyPr>
          <a:lstStyle/>
          <a:p>
            <a:pPr algn="l">
              <a:lnSpc>
                <a:spcPts val="5184"/>
              </a:lnSpc>
            </a:pPr>
            <a:r>
              <a:rPr sz="4800" b="0" i="0" spc="-50">
                <a:solidFill>
                  <a:srgbClr val="0A2540"/>
                </a:solidFill>
                <a:latin typeface="DM Serif Display"/>
              </a:rPr>
              <a:t>Driekwart is te voorkomen.</a:t>
            </a:r>
          </a:p>
        </p:txBody>
      </p:sp>
      <p:sp>
        <p:nvSpPr>
          <p:cNvPr id="5" name="TextBox 4"/>
          <p:cNvSpPr txBox="1"/>
          <p:nvPr/>
        </p:nvSpPr>
        <p:spPr>
          <a:xfrm>
            <a:off x="812800" y="3517900"/>
            <a:ext cx="5181600" cy="1316633"/>
          </a:xfrm>
          <a:prstGeom prst="rect">
            <a:avLst/>
          </a:prstGeom>
          <a:noFill/>
        </p:spPr>
        <p:txBody>
          <a:bodyPr wrap="square" lIns="0" tIns="0" rIns="0" bIns="0" anchor="t">
            <a:noAutofit/>
          </a:bodyPr>
          <a:lstStyle/>
          <a:p>
            <a:pPr algn="l">
              <a:lnSpc>
                <a:spcPts val="5184"/>
              </a:lnSpc>
            </a:pPr>
            <a:r>
              <a:rPr sz="4800" b="0" i="0" spc="-50">
                <a:solidFill>
                  <a:srgbClr val="A34A00"/>
                </a:solidFill>
                <a:latin typeface="DM Serif Display"/>
              </a:rPr>
              <a:t>Veertig procent komt terug.</a:t>
            </a:r>
          </a:p>
        </p:txBody>
      </p:sp>
      <p:pic>
        <p:nvPicPr>
          <p:cNvPr id="6" name="Picture 5" descr="5d72d4b34cb4ecc0be35953d18b4aaa2.png"/>
          <p:cNvPicPr>
            <a:picLocks noChangeAspect="1"/>
          </p:cNvPicPr>
          <p:nvPr/>
        </p:nvPicPr>
        <p:blipFill>
          <a:blip r:embed="rId4"/>
          <a:stretch>
            <a:fillRect/>
          </a:stretch>
        </p:blipFill>
        <p:spPr>
          <a:xfrm>
            <a:off x="812967" y="6261100"/>
            <a:ext cx="171116" cy="203200"/>
          </a:xfrm>
          <a:prstGeom prst="rect">
            <a:avLst/>
          </a:prstGeom>
        </p:spPr>
      </p:pic>
      <p:sp>
        <p:nvSpPr>
          <p:cNvPr id="7" name="TextBox 6"/>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Waarom</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Waarom druk alléén niet volstaat</a:t>
            </a:r>
          </a:p>
        </p:txBody>
      </p:sp>
      <p:sp>
        <p:nvSpPr>
          <p:cNvPr id="3" name="Rectangle 2"/>
          <p:cNvSpPr/>
          <p:nvPr/>
        </p:nvSpPr>
        <p:spPr>
          <a:xfrm>
            <a:off x="812800" y="154424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2800" y="1690291"/>
            <a:ext cx="1134963" cy="307340"/>
          </a:xfrm>
          <a:prstGeom prst="rect">
            <a:avLst/>
          </a:prstGeom>
          <a:noFill/>
        </p:spPr>
        <p:txBody>
          <a:bodyPr wrap="none" lIns="0" tIns="0" rIns="0" bIns="0" anchor="t">
            <a:noAutofit/>
          </a:bodyPr>
          <a:lstStyle/>
          <a:p>
            <a:pPr algn="l">
              <a:lnSpc>
                <a:spcPts val="2420"/>
              </a:lnSpc>
            </a:pPr>
            <a:r>
              <a:rPr sz="2200" b="0" i="0">
                <a:solidFill>
                  <a:srgbClr val="0A2540"/>
                </a:solidFill>
                <a:latin typeface="DM Serif Display"/>
              </a:rPr>
              <a:t>Iedereen</a:t>
            </a:r>
          </a:p>
        </p:txBody>
      </p:sp>
      <p:sp>
        <p:nvSpPr>
          <p:cNvPr id="5" name="TextBox 4"/>
          <p:cNvSpPr txBox="1"/>
          <p:nvPr/>
        </p:nvSpPr>
        <p:spPr>
          <a:xfrm>
            <a:off x="2023963" y="1785541"/>
            <a:ext cx="1333897" cy="205740"/>
          </a:xfrm>
          <a:prstGeom prst="rect">
            <a:avLst/>
          </a:prstGeom>
          <a:noFill/>
        </p:spPr>
        <p:txBody>
          <a:bodyPr wrap="none" lIns="0" tIns="0" rIns="0" bIns="0" anchor="t">
            <a:noAutofit/>
          </a:bodyPr>
          <a:lstStyle/>
          <a:p>
            <a:pPr algn="l">
              <a:lnSpc>
                <a:spcPts val="1620"/>
              </a:lnSpc>
            </a:pPr>
            <a:r>
              <a:rPr sz="1200" b="0" i="0">
                <a:solidFill>
                  <a:srgbClr val="5A6E80"/>
                </a:solidFill>
                <a:latin typeface="DM Sans"/>
              </a:rPr>
              <a:t>intention-to-treat</a:t>
            </a:r>
          </a:p>
        </p:txBody>
      </p:sp>
      <p:sp>
        <p:nvSpPr>
          <p:cNvPr id="6" name="TextBox 5"/>
          <p:cNvSpPr txBox="1"/>
          <p:nvPr/>
        </p:nvSpPr>
        <p:spPr>
          <a:xfrm>
            <a:off x="812800" y="2108696"/>
            <a:ext cx="2146300" cy="234950"/>
          </a:xfrm>
          <a:prstGeom prst="rect">
            <a:avLst/>
          </a:prstGeom>
          <a:noFill/>
        </p:spPr>
        <p:txBody>
          <a:bodyPr wrap="none" lIns="0" tIns="0" rIns="0" bIns="0" anchor="t">
            <a:noAutofit/>
          </a:bodyPr>
          <a:lstStyle/>
          <a:p>
            <a:pPr algn="l"/>
            <a:r>
              <a:rPr sz="1400" b="0" i="0">
                <a:solidFill>
                  <a:srgbClr val="3A4F63"/>
                </a:solidFill>
                <a:latin typeface="DM Sans"/>
              </a:rPr>
              <a:t>Gewone maatzool</a:t>
            </a:r>
          </a:p>
        </p:txBody>
      </p:sp>
      <p:sp>
        <p:nvSpPr>
          <p:cNvPr id="7" name="Rounded Rectangle 6"/>
          <p:cNvSpPr/>
          <p:nvPr/>
        </p:nvSpPr>
        <p:spPr>
          <a:xfrm>
            <a:off x="3060700" y="2086471"/>
            <a:ext cx="5054600" cy="279400"/>
          </a:xfrm>
          <a:prstGeom prst="roundRect">
            <a:avLst>
              <a:gd name="adj" fmla="val 18181"/>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267700" y="2092821"/>
            <a:ext cx="665559" cy="266700"/>
          </a:xfrm>
          <a:prstGeom prst="rect">
            <a:avLst/>
          </a:prstGeom>
          <a:noFill/>
        </p:spPr>
        <p:txBody>
          <a:bodyPr wrap="none" lIns="0" tIns="0" rIns="0" bIns="0" anchor="t">
            <a:noAutofit/>
          </a:bodyPr>
          <a:lstStyle/>
          <a:p>
            <a:pPr algn="l"/>
            <a:r>
              <a:rPr sz="1600" b="1" i="0">
                <a:solidFill>
                  <a:srgbClr val="0A2540"/>
                </a:solidFill>
                <a:latin typeface="DM Sans"/>
              </a:rPr>
              <a:t>44,2%</a:t>
            </a:r>
          </a:p>
        </p:txBody>
      </p:sp>
      <p:sp>
        <p:nvSpPr>
          <p:cNvPr id="9" name="TextBox 8"/>
          <p:cNvSpPr txBox="1"/>
          <p:nvPr/>
        </p:nvSpPr>
        <p:spPr>
          <a:xfrm>
            <a:off x="812800" y="2476996"/>
            <a:ext cx="2146300" cy="234950"/>
          </a:xfrm>
          <a:prstGeom prst="rect">
            <a:avLst/>
          </a:prstGeom>
          <a:noFill/>
        </p:spPr>
        <p:txBody>
          <a:bodyPr wrap="none" lIns="0" tIns="0" rIns="0" bIns="0" anchor="t">
            <a:noAutofit/>
          </a:bodyPr>
          <a:lstStyle/>
          <a:p>
            <a:pPr algn="l"/>
            <a:r>
              <a:rPr sz="1400" b="0" i="0">
                <a:solidFill>
                  <a:srgbClr val="3A4F63"/>
                </a:solidFill>
                <a:latin typeface="DM Sans"/>
              </a:rPr>
              <a:t>Drukgeoptimaliseerd</a:t>
            </a:r>
          </a:p>
        </p:txBody>
      </p:sp>
      <p:sp>
        <p:nvSpPr>
          <p:cNvPr id="10" name="Rounded Rectangle 9"/>
          <p:cNvSpPr/>
          <p:nvPr/>
        </p:nvSpPr>
        <p:spPr>
          <a:xfrm>
            <a:off x="3060700" y="2454771"/>
            <a:ext cx="4432300" cy="279400"/>
          </a:xfrm>
          <a:prstGeom prst="roundRect">
            <a:avLst>
              <a:gd name="adj" fmla="val 18181"/>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645400" y="2461121"/>
            <a:ext cx="663476" cy="266700"/>
          </a:xfrm>
          <a:prstGeom prst="rect">
            <a:avLst/>
          </a:prstGeom>
          <a:noFill/>
        </p:spPr>
        <p:txBody>
          <a:bodyPr wrap="none" lIns="0" tIns="0" rIns="0" bIns="0" anchor="t">
            <a:noAutofit/>
          </a:bodyPr>
          <a:lstStyle/>
          <a:p>
            <a:pPr algn="l"/>
            <a:r>
              <a:rPr sz="1600" b="1" i="0">
                <a:solidFill>
                  <a:srgbClr val="0A2540"/>
                </a:solidFill>
                <a:latin typeface="DM Sans"/>
              </a:rPr>
              <a:t>38,8%</a:t>
            </a:r>
          </a:p>
        </p:txBody>
      </p:sp>
      <p:sp>
        <p:nvSpPr>
          <p:cNvPr id="12" name="TextBox 11"/>
          <p:cNvSpPr txBox="1"/>
          <p:nvPr/>
        </p:nvSpPr>
        <p:spPr>
          <a:xfrm>
            <a:off x="812800" y="2823071"/>
            <a:ext cx="10617200" cy="240030"/>
          </a:xfrm>
          <a:prstGeom prst="rect">
            <a:avLst/>
          </a:prstGeom>
          <a:noFill/>
        </p:spPr>
        <p:txBody>
          <a:bodyPr wrap="none" lIns="0" tIns="0" rIns="0" bIns="0" anchor="t">
            <a:noAutofit/>
          </a:bodyPr>
          <a:lstStyle/>
          <a:p>
            <a:pPr algn="l">
              <a:lnSpc>
                <a:spcPts val="1889"/>
              </a:lnSpc>
            </a:pPr>
            <a:r>
              <a:rPr sz="1400" b="1" i="0">
                <a:solidFill>
                  <a:srgbClr val="5A6E80"/>
                </a:solidFill>
                <a:latin typeface="DM Sans"/>
              </a:rPr>
              <a:t>Geen verschil — p = 0,48</a:t>
            </a:r>
          </a:p>
        </p:txBody>
      </p:sp>
      <p:sp>
        <p:nvSpPr>
          <p:cNvPr id="13" name="Rectangle 12"/>
          <p:cNvSpPr/>
          <p:nvPr/>
        </p:nvSpPr>
        <p:spPr>
          <a:xfrm>
            <a:off x="812800" y="329168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2800" y="3437731"/>
            <a:ext cx="1911350" cy="307340"/>
          </a:xfrm>
          <a:prstGeom prst="rect">
            <a:avLst/>
          </a:prstGeom>
          <a:noFill/>
        </p:spPr>
        <p:txBody>
          <a:bodyPr wrap="none" lIns="0" tIns="0" rIns="0" bIns="0" anchor="t">
            <a:noAutofit/>
          </a:bodyPr>
          <a:lstStyle/>
          <a:p>
            <a:pPr algn="l">
              <a:lnSpc>
                <a:spcPts val="2420"/>
              </a:lnSpc>
            </a:pPr>
            <a:r>
              <a:rPr sz="2200" b="0" i="0">
                <a:solidFill>
                  <a:srgbClr val="0A2540"/>
                </a:solidFill>
                <a:latin typeface="DM Serif Display"/>
              </a:rPr>
              <a:t>Wie hem droeg</a:t>
            </a:r>
          </a:p>
        </p:txBody>
      </p:sp>
      <p:sp>
        <p:nvSpPr>
          <p:cNvPr id="15" name="TextBox 14"/>
          <p:cNvSpPr txBox="1"/>
          <p:nvPr/>
        </p:nvSpPr>
        <p:spPr>
          <a:xfrm>
            <a:off x="2800350" y="3532981"/>
            <a:ext cx="1623020" cy="205740"/>
          </a:xfrm>
          <a:prstGeom prst="rect">
            <a:avLst/>
          </a:prstGeom>
          <a:noFill/>
        </p:spPr>
        <p:txBody>
          <a:bodyPr wrap="none" lIns="0" tIns="0" rIns="0" bIns="0" anchor="t">
            <a:noAutofit/>
          </a:bodyPr>
          <a:lstStyle/>
          <a:p>
            <a:pPr algn="l">
              <a:lnSpc>
                <a:spcPts val="1620"/>
              </a:lnSpc>
            </a:pPr>
            <a:r>
              <a:rPr sz="1200" b="0" i="0">
                <a:solidFill>
                  <a:srgbClr val="5A6E80"/>
                </a:solidFill>
                <a:latin typeface="DM Sans"/>
              </a:rPr>
              <a:t>≥ 80% van de stappen</a:t>
            </a:r>
          </a:p>
        </p:txBody>
      </p:sp>
      <p:sp>
        <p:nvSpPr>
          <p:cNvPr id="16" name="TextBox 15"/>
          <p:cNvSpPr txBox="1"/>
          <p:nvPr/>
        </p:nvSpPr>
        <p:spPr>
          <a:xfrm>
            <a:off x="812800" y="3856137"/>
            <a:ext cx="2146300" cy="234950"/>
          </a:xfrm>
          <a:prstGeom prst="rect">
            <a:avLst/>
          </a:prstGeom>
          <a:noFill/>
        </p:spPr>
        <p:txBody>
          <a:bodyPr wrap="none" lIns="0" tIns="0" rIns="0" bIns="0" anchor="t">
            <a:noAutofit/>
          </a:bodyPr>
          <a:lstStyle/>
          <a:p>
            <a:pPr algn="l"/>
            <a:r>
              <a:rPr sz="1400" b="0" i="0">
                <a:solidFill>
                  <a:srgbClr val="3A4F63"/>
                </a:solidFill>
                <a:latin typeface="DM Sans"/>
              </a:rPr>
              <a:t>Gewone maatzool</a:t>
            </a:r>
          </a:p>
        </p:txBody>
      </p:sp>
      <p:sp>
        <p:nvSpPr>
          <p:cNvPr id="17" name="Rounded Rectangle 16"/>
          <p:cNvSpPr/>
          <p:nvPr/>
        </p:nvSpPr>
        <p:spPr>
          <a:xfrm>
            <a:off x="3060700" y="3833912"/>
            <a:ext cx="5461000" cy="279400"/>
          </a:xfrm>
          <a:prstGeom prst="roundRect">
            <a:avLst>
              <a:gd name="adj" fmla="val 18181"/>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674100" y="3840262"/>
            <a:ext cx="643334" cy="266700"/>
          </a:xfrm>
          <a:prstGeom prst="rect">
            <a:avLst/>
          </a:prstGeom>
          <a:noFill/>
        </p:spPr>
        <p:txBody>
          <a:bodyPr wrap="none" lIns="0" tIns="0" rIns="0" bIns="0" anchor="t">
            <a:noAutofit/>
          </a:bodyPr>
          <a:lstStyle/>
          <a:p>
            <a:pPr algn="l"/>
            <a:r>
              <a:rPr sz="1600" b="1" i="0">
                <a:solidFill>
                  <a:srgbClr val="0A2540"/>
                </a:solidFill>
                <a:latin typeface="DM Sans"/>
              </a:rPr>
              <a:t>47,8%</a:t>
            </a:r>
          </a:p>
        </p:txBody>
      </p:sp>
      <p:sp>
        <p:nvSpPr>
          <p:cNvPr id="19" name="TextBox 18"/>
          <p:cNvSpPr txBox="1"/>
          <p:nvPr/>
        </p:nvSpPr>
        <p:spPr>
          <a:xfrm>
            <a:off x="812800" y="4224437"/>
            <a:ext cx="2146300" cy="234950"/>
          </a:xfrm>
          <a:prstGeom prst="rect">
            <a:avLst/>
          </a:prstGeom>
          <a:noFill/>
        </p:spPr>
        <p:txBody>
          <a:bodyPr wrap="none" lIns="0" tIns="0" rIns="0" bIns="0" anchor="t">
            <a:noAutofit/>
          </a:bodyPr>
          <a:lstStyle/>
          <a:p>
            <a:pPr algn="l"/>
            <a:r>
              <a:rPr sz="1400" b="0" i="0">
                <a:solidFill>
                  <a:srgbClr val="3A4F63"/>
                </a:solidFill>
                <a:latin typeface="DM Sans"/>
              </a:rPr>
              <a:t>Drukgeoptimaliseerd</a:t>
            </a:r>
          </a:p>
        </p:txBody>
      </p:sp>
      <p:sp>
        <p:nvSpPr>
          <p:cNvPr id="20" name="Rounded Rectangle 19"/>
          <p:cNvSpPr/>
          <p:nvPr/>
        </p:nvSpPr>
        <p:spPr>
          <a:xfrm>
            <a:off x="3060700" y="4202212"/>
            <a:ext cx="2940050" cy="279400"/>
          </a:xfrm>
          <a:prstGeom prst="roundRect">
            <a:avLst>
              <a:gd name="adj" fmla="val 18181"/>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153150" y="4208562"/>
            <a:ext cx="636488" cy="266700"/>
          </a:xfrm>
          <a:prstGeom prst="rect">
            <a:avLst/>
          </a:prstGeom>
          <a:noFill/>
        </p:spPr>
        <p:txBody>
          <a:bodyPr wrap="none" lIns="0" tIns="0" rIns="0" bIns="0" anchor="t">
            <a:noAutofit/>
          </a:bodyPr>
          <a:lstStyle/>
          <a:p>
            <a:pPr algn="l"/>
            <a:r>
              <a:rPr sz="1600" b="1" i="0">
                <a:solidFill>
                  <a:srgbClr val="0A2540"/>
                </a:solidFill>
                <a:latin typeface="DM Sans"/>
              </a:rPr>
              <a:t>25,7%</a:t>
            </a:r>
          </a:p>
        </p:txBody>
      </p:sp>
      <p:sp>
        <p:nvSpPr>
          <p:cNvPr id="22" name="TextBox 21"/>
          <p:cNvSpPr txBox="1"/>
          <p:nvPr/>
        </p:nvSpPr>
        <p:spPr>
          <a:xfrm>
            <a:off x="812800" y="4570512"/>
            <a:ext cx="10617200" cy="240030"/>
          </a:xfrm>
          <a:prstGeom prst="rect">
            <a:avLst/>
          </a:prstGeom>
          <a:noFill/>
        </p:spPr>
        <p:txBody>
          <a:bodyPr wrap="none" lIns="0" tIns="0" rIns="0" bIns="0" anchor="t">
            <a:noAutofit/>
          </a:bodyPr>
          <a:lstStyle/>
          <a:p>
            <a:pPr algn="l">
              <a:lnSpc>
                <a:spcPts val="1889"/>
              </a:lnSpc>
            </a:pPr>
            <a:r>
              <a:rPr sz="1400" b="1" i="0">
                <a:solidFill>
                  <a:srgbClr val="A34A00"/>
                </a:solidFill>
                <a:latin typeface="DM Sans"/>
              </a:rPr>
              <a:t>Bijna gehalveerd — p = 0,045</a:t>
            </a:r>
          </a:p>
        </p:txBody>
      </p:sp>
      <p:pic>
        <p:nvPicPr>
          <p:cNvPr id="23" name="Picture 22"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24" name="TextBox 23"/>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Dezelfde schoen, twee uitkomsten</a:t>
            </a:r>
          </a:p>
        </p:txBody>
      </p:sp>
      <p:sp>
        <p:nvSpPr>
          <p:cNvPr id="25" name="TextBox 24"/>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9 · Bus et al. · Diabetes Care 2013 · DIAFOS, 171 deelnemers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1593850"/>
            <a:ext cx="5257800" cy="2514600"/>
          </a:xfrm>
          <a:prstGeom prst="rect">
            <a:avLst/>
          </a:prstGeom>
          <a:noFill/>
        </p:spPr>
        <p:txBody>
          <a:bodyPr wrap="none" lIns="0" tIns="0" rIns="0" bIns="0" anchor="t">
            <a:noAutofit/>
          </a:bodyPr>
          <a:lstStyle/>
          <a:p>
            <a:pPr algn="l">
              <a:lnSpc>
                <a:spcPts val="19800"/>
              </a:lnSpc>
            </a:pPr>
            <a:r>
              <a:rPr sz="22000" b="0" i="0" spc="-600">
                <a:solidFill>
                  <a:srgbClr val="0B6E8F"/>
                </a:solidFill>
                <a:latin typeface="DM Serif Display"/>
              </a:rPr>
              <a:t>71</a:t>
            </a:r>
            <a:r>
              <a:rPr sz="10000" b="0" i="0">
                <a:solidFill>
                  <a:srgbClr val="0B6E8F"/>
                </a:solidFill>
                <a:latin typeface="DM Serif Display"/>
              </a:rPr>
              <a:t>%</a:t>
            </a:r>
          </a:p>
        </p:txBody>
      </p:sp>
      <p:sp>
        <p:nvSpPr>
          <p:cNvPr id="3" name="TextBox 2"/>
          <p:cNvSpPr txBox="1"/>
          <p:nvPr/>
        </p:nvSpPr>
        <p:spPr>
          <a:xfrm>
            <a:off x="812800" y="4184650"/>
            <a:ext cx="5311140" cy="876300"/>
          </a:xfrm>
          <a:prstGeom prst="rect">
            <a:avLst/>
          </a:prstGeom>
          <a:noFill/>
        </p:spPr>
        <p:txBody>
          <a:bodyPr wrap="square" lIns="0" tIns="0" rIns="0" bIns="0" anchor="t">
            <a:noAutofit/>
          </a:bodyPr>
          <a:lstStyle/>
          <a:p>
            <a:pPr algn="l">
              <a:lnSpc>
                <a:spcPts val="3450"/>
              </a:lnSpc>
            </a:pPr>
            <a:r>
              <a:rPr sz="3000" b="0" i="0">
                <a:solidFill>
                  <a:srgbClr val="0A2540"/>
                </a:solidFill>
                <a:latin typeface="DM Serif Display"/>
              </a:rPr>
              <a:t>draagtijd — gemeten,</a:t>
            </a:r>
          </a:p>
          <a:p>
            <a:pPr algn="l">
              <a:lnSpc>
                <a:spcPts val="3450"/>
              </a:lnSpc>
            </a:pPr>
            <a:r>
              <a:rPr sz="3000" b="0" i="0">
                <a:solidFill>
                  <a:srgbClr val="0A2540"/>
                </a:solidFill>
                <a:latin typeface="DM Serif Display"/>
              </a:rPr>
              <a:t>niet gevraagd</a:t>
            </a:r>
          </a:p>
        </p:txBody>
      </p:sp>
      <p:sp>
        <p:nvSpPr>
          <p:cNvPr id="4" name="TextBox 3"/>
          <p:cNvSpPr txBox="1"/>
          <p:nvPr/>
        </p:nvSpPr>
        <p:spPr>
          <a:xfrm>
            <a:off x="6350000" y="2095500"/>
            <a:ext cx="5080000" cy="198120"/>
          </a:xfrm>
          <a:prstGeom prst="rect">
            <a:avLst/>
          </a:prstGeom>
          <a:noFill/>
        </p:spPr>
        <p:txBody>
          <a:bodyPr wrap="none" lIns="0" tIns="0" rIns="0" bIns="0" anchor="t">
            <a:noAutofit/>
          </a:bodyPr>
          <a:lstStyle/>
          <a:p>
            <a:pPr algn="l"/>
            <a:r>
              <a:rPr sz="1200" b="1" i="0">
                <a:solidFill>
                  <a:srgbClr val="5A6E80"/>
                </a:solidFill>
                <a:latin typeface="DM Sans"/>
              </a:rPr>
              <a:t>Draagtijd tegenover de norm van 80%</a:t>
            </a:r>
          </a:p>
        </p:txBody>
      </p:sp>
      <p:sp>
        <p:nvSpPr>
          <p:cNvPr id="5" name="TextBox 4"/>
          <p:cNvSpPr txBox="1"/>
          <p:nvPr/>
        </p:nvSpPr>
        <p:spPr>
          <a:xfrm>
            <a:off x="6350000" y="2654300"/>
            <a:ext cx="1447800" cy="234950"/>
          </a:xfrm>
          <a:prstGeom prst="rect">
            <a:avLst/>
          </a:prstGeom>
          <a:noFill/>
        </p:spPr>
        <p:txBody>
          <a:bodyPr wrap="none" lIns="0" tIns="0" rIns="0" bIns="0" anchor="t">
            <a:noAutofit/>
          </a:bodyPr>
          <a:lstStyle/>
          <a:p>
            <a:pPr algn="l"/>
            <a:r>
              <a:rPr sz="1400" b="0" i="0">
                <a:solidFill>
                  <a:srgbClr val="3A4F63"/>
                </a:solidFill>
                <a:latin typeface="DM Sans"/>
              </a:rPr>
              <a:t>Gemiddeld</a:t>
            </a:r>
          </a:p>
        </p:txBody>
      </p:sp>
      <p:sp>
        <p:nvSpPr>
          <p:cNvPr id="6" name="TextBox 5"/>
          <p:cNvSpPr txBox="1"/>
          <p:nvPr/>
        </p:nvSpPr>
        <p:spPr>
          <a:xfrm>
            <a:off x="7696200" y="2641600"/>
            <a:ext cx="685800" cy="266700"/>
          </a:xfrm>
          <a:prstGeom prst="rect">
            <a:avLst/>
          </a:prstGeom>
          <a:noFill/>
        </p:spPr>
        <p:txBody>
          <a:bodyPr wrap="none" lIns="0" tIns="0" rIns="0" bIns="0" anchor="t">
            <a:noAutofit/>
          </a:bodyPr>
          <a:lstStyle/>
          <a:p>
            <a:pPr algn="r"/>
            <a:r>
              <a:rPr sz="1600" b="1" i="0">
                <a:solidFill>
                  <a:srgbClr val="0A2540"/>
                </a:solidFill>
                <a:latin typeface="DM Sans"/>
              </a:rPr>
              <a:t>71%</a:t>
            </a:r>
          </a:p>
        </p:txBody>
      </p:sp>
      <p:sp>
        <p:nvSpPr>
          <p:cNvPr id="7" name="Rounded Rectangle 6"/>
          <p:cNvSpPr/>
          <p:nvPr/>
        </p:nvSpPr>
        <p:spPr>
          <a:xfrm>
            <a:off x="8509000" y="2667000"/>
            <a:ext cx="2857500" cy="254000"/>
          </a:xfrm>
          <a:prstGeom prst="roundRect">
            <a:avLst>
              <a:gd name="adj" fmla="val 20000"/>
            </a:avLst>
          </a:prstGeom>
          <a:solidFill>
            <a:srgbClr val="E3E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8509000" y="2667000"/>
            <a:ext cx="2032000" cy="254000"/>
          </a:xfrm>
          <a:prstGeom prst="roundRect">
            <a:avLst>
              <a:gd name="adj" fmla="val 2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350000" y="3416300"/>
            <a:ext cx="1447800" cy="234950"/>
          </a:xfrm>
          <a:prstGeom prst="rect">
            <a:avLst/>
          </a:prstGeom>
          <a:noFill/>
        </p:spPr>
        <p:txBody>
          <a:bodyPr wrap="none" lIns="0" tIns="0" rIns="0" bIns="0" anchor="t">
            <a:noAutofit/>
          </a:bodyPr>
          <a:lstStyle/>
          <a:p>
            <a:pPr algn="l"/>
            <a:r>
              <a:rPr sz="1400" b="0" i="0">
                <a:solidFill>
                  <a:srgbClr val="3A4F63"/>
                </a:solidFill>
                <a:latin typeface="DM Sans"/>
              </a:rPr>
              <a:t>Thuis</a:t>
            </a:r>
          </a:p>
        </p:txBody>
      </p:sp>
      <p:sp>
        <p:nvSpPr>
          <p:cNvPr id="10" name="TextBox 9"/>
          <p:cNvSpPr txBox="1"/>
          <p:nvPr/>
        </p:nvSpPr>
        <p:spPr>
          <a:xfrm>
            <a:off x="7696200" y="3403600"/>
            <a:ext cx="685800" cy="266700"/>
          </a:xfrm>
          <a:prstGeom prst="rect">
            <a:avLst/>
          </a:prstGeom>
          <a:noFill/>
        </p:spPr>
        <p:txBody>
          <a:bodyPr wrap="none" lIns="0" tIns="0" rIns="0" bIns="0" anchor="t">
            <a:noAutofit/>
          </a:bodyPr>
          <a:lstStyle/>
          <a:p>
            <a:pPr algn="r"/>
            <a:r>
              <a:rPr sz="1600" b="1" i="0">
                <a:solidFill>
                  <a:srgbClr val="0A2540"/>
                </a:solidFill>
                <a:latin typeface="DM Sans"/>
              </a:rPr>
              <a:t>61%</a:t>
            </a:r>
          </a:p>
        </p:txBody>
      </p:sp>
      <p:sp>
        <p:nvSpPr>
          <p:cNvPr id="11" name="Rounded Rectangle 10"/>
          <p:cNvSpPr/>
          <p:nvPr/>
        </p:nvSpPr>
        <p:spPr>
          <a:xfrm>
            <a:off x="8509000" y="3429000"/>
            <a:ext cx="2857500" cy="254000"/>
          </a:xfrm>
          <a:prstGeom prst="roundRect">
            <a:avLst>
              <a:gd name="adj" fmla="val 20000"/>
            </a:avLst>
          </a:prstGeom>
          <a:solidFill>
            <a:srgbClr val="E3E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8509000" y="3429000"/>
            <a:ext cx="1739900" cy="254000"/>
          </a:xfrm>
          <a:prstGeom prst="roundRect">
            <a:avLst>
              <a:gd name="adj" fmla="val 2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350000" y="4178300"/>
            <a:ext cx="1447800" cy="234950"/>
          </a:xfrm>
          <a:prstGeom prst="rect">
            <a:avLst/>
          </a:prstGeom>
          <a:noFill/>
        </p:spPr>
        <p:txBody>
          <a:bodyPr wrap="none" lIns="0" tIns="0" rIns="0" bIns="0" anchor="t">
            <a:noAutofit/>
          </a:bodyPr>
          <a:lstStyle/>
          <a:p>
            <a:pPr algn="l"/>
            <a:r>
              <a:rPr sz="1400" b="0" i="0">
                <a:solidFill>
                  <a:srgbClr val="3A4F63"/>
                </a:solidFill>
                <a:latin typeface="DM Sans"/>
              </a:rPr>
              <a:t>Buitenshuis</a:t>
            </a:r>
          </a:p>
        </p:txBody>
      </p:sp>
      <p:sp>
        <p:nvSpPr>
          <p:cNvPr id="14" name="TextBox 13"/>
          <p:cNvSpPr txBox="1"/>
          <p:nvPr/>
        </p:nvSpPr>
        <p:spPr>
          <a:xfrm>
            <a:off x="7696200" y="4165600"/>
            <a:ext cx="685800" cy="266700"/>
          </a:xfrm>
          <a:prstGeom prst="rect">
            <a:avLst/>
          </a:prstGeom>
          <a:noFill/>
        </p:spPr>
        <p:txBody>
          <a:bodyPr wrap="none" lIns="0" tIns="0" rIns="0" bIns="0" anchor="t">
            <a:noAutofit/>
          </a:bodyPr>
          <a:lstStyle/>
          <a:p>
            <a:pPr algn="r"/>
            <a:r>
              <a:rPr sz="1600" b="1" i="0">
                <a:solidFill>
                  <a:srgbClr val="0A2540"/>
                </a:solidFill>
                <a:latin typeface="DM Sans"/>
              </a:rPr>
              <a:t>87%</a:t>
            </a:r>
          </a:p>
        </p:txBody>
      </p:sp>
      <p:sp>
        <p:nvSpPr>
          <p:cNvPr id="15" name="Rounded Rectangle 14"/>
          <p:cNvSpPr/>
          <p:nvPr/>
        </p:nvSpPr>
        <p:spPr>
          <a:xfrm>
            <a:off x="8509000" y="4191000"/>
            <a:ext cx="2857500" cy="254000"/>
          </a:xfrm>
          <a:prstGeom prst="roundRect">
            <a:avLst>
              <a:gd name="adj" fmla="val 20000"/>
            </a:avLst>
          </a:prstGeom>
          <a:solidFill>
            <a:srgbClr val="E3E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8509000" y="4191000"/>
            <a:ext cx="2489200" cy="254000"/>
          </a:xfrm>
          <a:prstGeom prst="roundRect">
            <a:avLst>
              <a:gd name="adj" fmla="val 2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10788650" y="2514600"/>
            <a:ext cx="19050" cy="21082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0261600" y="4699000"/>
            <a:ext cx="1066800" cy="198120"/>
          </a:xfrm>
          <a:prstGeom prst="rect">
            <a:avLst/>
          </a:prstGeom>
          <a:noFill/>
        </p:spPr>
        <p:txBody>
          <a:bodyPr wrap="none" lIns="0" tIns="0" rIns="0" bIns="0" anchor="t">
            <a:noAutofit/>
          </a:bodyPr>
          <a:lstStyle/>
          <a:p>
            <a:pPr algn="ctr"/>
            <a:r>
              <a:rPr sz="1200" b="1" i="0">
                <a:solidFill>
                  <a:srgbClr val="A34A00"/>
                </a:solidFill>
                <a:latin typeface="DM Sans"/>
              </a:rPr>
              <a:t>norm 80%</a:t>
            </a:r>
          </a:p>
        </p:txBody>
      </p:sp>
      <p:pic>
        <p:nvPicPr>
          <p:cNvPr id="19" name="Picture 18"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20" name="TextBox 19"/>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Waarom</a:t>
            </a:r>
          </a:p>
        </p:txBody>
      </p:sp>
      <p:sp>
        <p:nvSpPr>
          <p:cNvPr id="21" name="TextBox 20"/>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13 · Waaijman et al. · Diabetes Care 2013 · 107 patiënten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Eén dienst, geen losse maatregelen</a:t>
            </a:r>
          </a:p>
        </p:txBody>
      </p:sp>
      <p:sp>
        <p:nvSpPr>
          <p:cNvPr id="3" name="Rounded Rectangle 2"/>
          <p:cNvSpPr/>
          <p:nvPr/>
        </p:nvSpPr>
        <p:spPr>
          <a:xfrm>
            <a:off x="812800" y="1620441"/>
            <a:ext cx="5181600" cy="3753941"/>
          </a:xfrm>
          <a:prstGeom prst="roundRect">
            <a:avLst>
              <a:gd name="adj" fmla="val 2706"/>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098550" y="1906191"/>
            <a:ext cx="4660900" cy="240030"/>
          </a:xfrm>
          <a:prstGeom prst="rect">
            <a:avLst/>
          </a:prstGeom>
          <a:noFill/>
        </p:spPr>
        <p:txBody>
          <a:bodyPr wrap="none" lIns="0" tIns="0" rIns="0" bIns="0" anchor="t">
            <a:noAutofit/>
          </a:bodyPr>
          <a:lstStyle/>
          <a:p>
            <a:pPr algn="l">
              <a:lnSpc>
                <a:spcPts val="1889"/>
              </a:lnSpc>
            </a:pPr>
            <a:r>
              <a:rPr sz="1400" b="1" i="0">
                <a:solidFill>
                  <a:srgbClr val="0B6E8F"/>
                </a:solidFill>
                <a:latin typeface="DM Sans"/>
              </a:rPr>
              <a:t>01</a:t>
            </a:r>
          </a:p>
        </p:txBody>
      </p:sp>
      <p:sp>
        <p:nvSpPr>
          <p:cNvPr id="5" name="TextBox 4"/>
          <p:cNvSpPr txBox="1"/>
          <p:nvPr/>
        </p:nvSpPr>
        <p:spPr>
          <a:xfrm>
            <a:off x="1098550" y="2260501"/>
            <a:ext cx="4660900" cy="363220"/>
          </a:xfrm>
          <a:prstGeom prst="rect">
            <a:avLst/>
          </a:prstGeom>
          <a:noFill/>
        </p:spPr>
        <p:txBody>
          <a:bodyPr wrap="none" lIns="0" tIns="0" rIns="0" bIns="0" anchor="t">
            <a:noAutofit/>
          </a:bodyPr>
          <a:lstStyle/>
          <a:p>
            <a:pPr algn="l">
              <a:lnSpc>
                <a:spcPts val="2860"/>
              </a:lnSpc>
            </a:pPr>
            <a:r>
              <a:rPr sz="2600" b="0" i="0">
                <a:solidFill>
                  <a:srgbClr val="0A2540"/>
                </a:solidFill>
                <a:latin typeface="DM Serif Display"/>
              </a:rPr>
              <a:t>De zool háált de norm</a:t>
            </a:r>
          </a:p>
        </p:txBody>
      </p:sp>
      <p:sp>
        <p:nvSpPr>
          <p:cNvPr id="6" name="Rectangle 5"/>
          <p:cNvSpPr/>
          <p:nvPr/>
        </p:nvSpPr>
        <p:spPr>
          <a:xfrm>
            <a:off x="1098550" y="2931616"/>
            <a:ext cx="2375098" cy="374650"/>
          </a:xfrm>
          <a:prstGeom prst="rect">
            <a:avLst/>
          </a:prstGeom>
          <a:solidFill>
            <a:srgbClr val="E6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098550" y="2931616"/>
            <a:ext cx="25400" cy="37465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50950" y="2995116"/>
            <a:ext cx="2146498" cy="247650"/>
          </a:xfrm>
          <a:prstGeom prst="rect">
            <a:avLst/>
          </a:prstGeom>
          <a:noFill/>
        </p:spPr>
        <p:txBody>
          <a:bodyPr wrap="none" lIns="0" tIns="0" rIns="0" bIns="0" anchor="t">
            <a:noAutofit/>
          </a:bodyPr>
          <a:lstStyle/>
          <a:p>
            <a:pPr algn="l"/>
            <a:r>
              <a:rPr sz="1500" b="1" i="0">
                <a:solidFill>
                  <a:srgbClr val="00407A"/>
                </a:solidFill>
                <a:latin typeface="DM Sans"/>
              </a:rPr>
              <a:t>&lt; 200 kPa óf 25% lager</a:t>
            </a:r>
          </a:p>
        </p:txBody>
      </p:sp>
      <p:pic>
        <p:nvPicPr>
          <p:cNvPr id="9" name="Picture 8" descr="7602e683c737557e7869dd9d4ca4b33b.png"/>
          <p:cNvPicPr>
            <a:picLocks noChangeAspect="1"/>
          </p:cNvPicPr>
          <p:nvPr/>
        </p:nvPicPr>
        <p:blipFill>
          <a:blip r:embed="rId3"/>
          <a:stretch>
            <a:fillRect/>
          </a:stretch>
        </p:blipFill>
        <p:spPr>
          <a:xfrm>
            <a:off x="4523249" y="2737941"/>
            <a:ext cx="973802" cy="762000"/>
          </a:xfrm>
          <a:prstGeom prst="rect">
            <a:avLst/>
          </a:prstGeom>
        </p:spPr>
      </p:pic>
      <p:sp>
        <p:nvSpPr>
          <p:cNvPr id="10" name="Rectangle 9"/>
          <p:cNvSpPr/>
          <p:nvPr/>
        </p:nvSpPr>
        <p:spPr>
          <a:xfrm>
            <a:off x="1098550" y="3614241"/>
            <a:ext cx="46101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8550" y="3709491"/>
            <a:ext cx="46609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Gemeten zonder en mét de zool, in dezelfde sessie.</a:t>
            </a:r>
          </a:p>
        </p:txBody>
      </p:sp>
      <p:sp>
        <p:nvSpPr>
          <p:cNvPr id="12" name="Rectangle 11"/>
          <p:cNvSpPr/>
          <p:nvPr/>
        </p:nvSpPr>
        <p:spPr>
          <a:xfrm>
            <a:off x="1098550" y="4063802"/>
            <a:ext cx="46101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8550" y="4159052"/>
            <a:ext cx="4702302"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Aangepast per doelregio tot de norm gehaald is, tot drie keer.</a:t>
            </a:r>
          </a:p>
        </p:txBody>
      </p:sp>
      <p:sp>
        <p:nvSpPr>
          <p:cNvPr id="14" name="Rectangle 13"/>
          <p:cNvSpPr/>
          <p:nvPr/>
        </p:nvSpPr>
        <p:spPr>
          <a:xfrm>
            <a:off x="1098550" y="4753372"/>
            <a:ext cx="46101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8550" y="4848622"/>
            <a:ext cx="46609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Op visite 2 en op maand 6, 12 en 18.</a:t>
            </a:r>
          </a:p>
        </p:txBody>
      </p:sp>
      <p:sp>
        <p:nvSpPr>
          <p:cNvPr id="16" name="Rounded Rectangle 15"/>
          <p:cNvSpPr/>
          <p:nvPr/>
        </p:nvSpPr>
        <p:spPr>
          <a:xfrm>
            <a:off x="6197600" y="1620441"/>
            <a:ext cx="5181600" cy="3753941"/>
          </a:xfrm>
          <a:prstGeom prst="roundRect">
            <a:avLst>
              <a:gd name="adj" fmla="val 2706"/>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483350" y="1906191"/>
            <a:ext cx="4660900" cy="240030"/>
          </a:xfrm>
          <a:prstGeom prst="rect">
            <a:avLst/>
          </a:prstGeom>
          <a:noFill/>
        </p:spPr>
        <p:txBody>
          <a:bodyPr wrap="none" lIns="0" tIns="0" rIns="0" bIns="0" anchor="t">
            <a:noAutofit/>
          </a:bodyPr>
          <a:lstStyle/>
          <a:p>
            <a:pPr algn="l">
              <a:lnSpc>
                <a:spcPts val="1889"/>
              </a:lnSpc>
            </a:pPr>
            <a:r>
              <a:rPr sz="1400" b="1" i="0">
                <a:solidFill>
                  <a:srgbClr val="0B6E8F"/>
                </a:solidFill>
                <a:latin typeface="DM Sans"/>
              </a:rPr>
              <a:t>02</a:t>
            </a:r>
          </a:p>
        </p:txBody>
      </p:sp>
      <p:sp>
        <p:nvSpPr>
          <p:cNvPr id="18" name="TextBox 17"/>
          <p:cNvSpPr txBox="1"/>
          <p:nvPr/>
        </p:nvSpPr>
        <p:spPr>
          <a:xfrm>
            <a:off x="6483350" y="2260501"/>
            <a:ext cx="4660900" cy="363220"/>
          </a:xfrm>
          <a:prstGeom prst="rect">
            <a:avLst/>
          </a:prstGeom>
          <a:noFill/>
        </p:spPr>
        <p:txBody>
          <a:bodyPr wrap="none" lIns="0" tIns="0" rIns="0" bIns="0" anchor="t">
            <a:noAutofit/>
          </a:bodyPr>
          <a:lstStyle/>
          <a:p>
            <a:pPr algn="l">
              <a:lnSpc>
                <a:spcPts val="2860"/>
              </a:lnSpc>
            </a:pPr>
            <a:r>
              <a:rPr sz="2600" b="0" i="0">
                <a:solidFill>
                  <a:srgbClr val="0A2540"/>
                </a:solidFill>
                <a:latin typeface="DM Serif Display"/>
              </a:rPr>
              <a:t>En hij wórdt gedragen</a:t>
            </a:r>
          </a:p>
        </p:txBody>
      </p:sp>
      <p:sp>
        <p:nvSpPr>
          <p:cNvPr id="19" name="Rectangle 18"/>
          <p:cNvSpPr/>
          <p:nvPr/>
        </p:nvSpPr>
        <p:spPr>
          <a:xfrm>
            <a:off x="6483350" y="2931616"/>
            <a:ext cx="2760861" cy="374650"/>
          </a:xfrm>
          <a:prstGeom prst="rect">
            <a:avLst/>
          </a:prstGeom>
          <a:solidFill>
            <a:srgbClr val="E6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6483350" y="2931616"/>
            <a:ext cx="25400" cy="37465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35750" y="2995116"/>
            <a:ext cx="2532261" cy="247650"/>
          </a:xfrm>
          <a:prstGeom prst="rect">
            <a:avLst/>
          </a:prstGeom>
          <a:noFill/>
        </p:spPr>
        <p:txBody>
          <a:bodyPr wrap="none" lIns="0" tIns="0" rIns="0" bIns="0" anchor="t">
            <a:noAutofit/>
          </a:bodyPr>
          <a:lstStyle/>
          <a:p>
            <a:pPr algn="l"/>
            <a:r>
              <a:rPr sz="1500" b="1" i="0">
                <a:solidFill>
                  <a:srgbClr val="00407A"/>
                </a:solidFill>
                <a:latin typeface="DM Sans"/>
              </a:rPr>
              <a:t>80% van de eigen waaktijd</a:t>
            </a:r>
          </a:p>
        </p:txBody>
      </p:sp>
      <p:pic>
        <p:nvPicPr>
          <p:cNvPr id="22" name="Picture 21" descr="641553d6586f5f4ed2ec6a41356b9475.png"/>
          <p:cNvPicPr>
            <a:picLocks noChangeAspect="1"/>
          </p:cNvPicPr>
          <p:nvPr/>
        </p:nvPicPr>
        <p:blipFill>
          <a:blip r:embed="rId4"/>
          <a:stretch>
            <a:fillRect/>
          </a:stretch>
        </p:blipFill>
        <p:spPr>
          <a:xfrm>
            <a:off x="9740174" y="2737941"/>
            <a:ext cx="1309551" cy="762000"/>
          </a:xfrm>
          <a:prstGeom prst="rect">
            <a:avLst/>
          </a:prstGeom>
        </p:spPr>
      </p:pic>
      <p:sp>
        <p:nvSpPr>
          <p:cNvPr id="23" name="Rectangle 22"/>
          <p:cNvSpPr/>
          <p:nvPr/>
        </p:nvSpPr>
        <p:spPr>
          <a:xfrm>
            <a:off x="6483350" y="3614241"/>
            <a:ext cx="46101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83350" y="3709491"/>
            <a:ext cx="46609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Een sensor in de zool meet de draagtijd, continu.</a:t>
            </a:r>
          </a:p>
        </p:txBody>
      </p:sp>
      <p:sp>
        <p:nvSpPr>
          <p:cNvPr id="25" name="Rectangle 24"/>
          <p:cNvSpPr/>
          <p:nvPr/>
        </p:nvSpPr>
        <p:spPr>
          <a:xfrm>
            <a:off x="6483350" y="4063802"/>
            <a:ext cx="46101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83350" y="4159052"/>
            <a:ext cx="46609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Elke drie maanden uitgelezen en samen bekeken.</a:t>
            </a:r>
          </a:p>
        </p:txBody>
      </p:sp>
      <p:sp>
        <p:nvSpPr>
          <p:cNvPr id="27" name="Rectangle 26"/>
          <p:cNvSpPr/>
          <p:nvPr/>
        </p:nvSpPr>
        <p:spPr>
          <a:xfrm>
            <a:off x="6483350" y="4513362"/>
            <a:ext cx="46101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83350" y="4608612"/>
            <a:ext cx="46609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Een SEBIA-gesprek op elke visite.</a:t>
            </a:r>
          </a:p>
        </p:txBody>
      </p:sp>
      <p:pic>
        <p:nvPicPr>
          <p:cNvPr id="29" name="Picture 28" descr="5d72d4b34cb4ecc0be35953d18b4aaa2.png"/>
          <p:cNvPicPr>
            <a:picLocks noChangeAspect="1"/>
          </p:cNvPicPr>
          <p:nvPr/>
        </p:nvPicPr>
        <p:blipFill>
          <a:blip r:embed="rId5"/>
          <a:stretch>
            <a:fillRect/>
          </a:stretch>
        </p:blipFill>
        <p:spPr>
          <a:xfrm>
            <a:off x="812967" y="6261100"/>
            <a:ext cx="171116" cy="203200"/>
          </a:xfrm>
          <a:prstGeom prst="rect">
            <a:avLst/>
          </a:prstGeom>
        </p:spPr>
      </p:pic>
      <p:sp>
        <p:nvSpPr>
          <p:cNvPr id="30" name="TextBox 29"/>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Wat PARADISE anders doet</a:t>
            </a:r>
          </a:p>
        </p:txBody>
      </p:sp>
      <p:sp>
        <p:nvSpPr>
          <p:cNvPr id="31" name="TextBox 30"/>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6 · Bus 2011 · 7 · Bus 2020 · 17 · Waaijman 2014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elke arm krijgt</a:t>
            </a:r>
          </a:p>
        </p:txBody>
      </p:sp>
      <p:sp>
        <p:nvSpPr>
          <p:cNvPr id="3" name="Rectangle 2"/>
          <p:cNvSpPr/>
          <p:nvPr/>
        </p:nvSpPr>
        <p:spPr>
          <a:xfrm>
            <a:off x="812800" y="162044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800" y="207000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1741091"/>
            <a:ext cx="1574800" cy="215900"/>
          </a:xfrm>
          <a:prstGeom prst="rect">
            <a:avLst/>
          </a:prstGeom>
          <a:noFill/>
        </p:spPr>
        <p:txBody>
          <a:bodyPr wrap="none" lIns="0" tIns="0" rIns="0" bIns="0" anchor="t">
            <a:noAutofit/>
          </a:bodyPr>
          <a:lstStyle/>
          <a:p>
            <a:pPr algn="l"/>
            <a:r>
              <a:rPr sz="1300" b="1" i="0">
                <a:solidFill>
                  <a:srgbClr val="5A6E80"/>
                </a:solidFill>
                <a:latin typeface="DM Sans"/>
              </a:rPr>
              <a:t>Beide armen</a:t>
            </a:r>
          </a:p>
        </p:txBody>
      </p:sp>
      <p:sp>
        <p:nvSpPr>
          <p:cNvPr id="6" name="TextBox 5"/>
          <p:cNvSpPr txBox="1"/>
          <p:nvPr/>
        </p:nvSpPr>
        <p:spPr>
          <a:xfrm>
            <a:off x="2514600" y="1728391"/>
            <a:ext cx="8915400" cy="240030"/>
          </a:xfrm>
          <a:prstGeom prst="rect">
            <a:avLst/>
          </a:prstGeom>
          <a:noFill/>
        </p:spPr>
        <p:txBody>
          <a:bodyPr wrap="none" lIns="0" tIns="0" rIns="0" bIns="0" anchor="t">
            <a:noAutofit/>
          </a:bodyPr>
          <a:lstStyle/>
          <a:p>
            <a:pPr algn="l">
              <a:lnSpc>
                <a:spcPts val="1889"/>
              </a:lnSpc>
            </a:pPr>
            <a:r>
              <a:rPr sz="1400" b="0" i="0">
                <a:solidFill>
                  <a:srgbClr val="0A2540"/>
                </a:solidFill>
                <a:latin typeface="DM Sans"/>
              </a:rPr>
              <a:t>dezelfde zool · voetzorg om de drie maanden · MoveMonitor bij de start · sensor in de zool</a:t>
            </a:r>
          </a:p>
        </p:txBody>
      </p:sp>
      <p:sp>
        <p:nvSpPr>
          <p:cNvPr id="7" name="Rounded Rectangle 6"/>
          <p:cNvSpPr/>
          <p:nvPr/>
        </p:nvSpPr>
        <p:spPr>
          <a:xfrm>
            <a:off x="812800" y="2381151"/>
            <a:ext cx="5181600" cy="2732980"/>
          </a:xfrm>
          <a:prstGeom prst="roundRect">
            <a:avLst>
              <a:gd name="adj" fmla="val 3717"/>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1098550" y="2666901"/>
            <a:ext cx="1564878" cy="3238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63650" y="2705001"/>
            <a:ext cx="1285478" cy="247650"/>
          </a:xfrm>
          <a:prstGeom prst="rect">
            <a:avLst/>
          </a:prstGeom>
          <a:noFill/>
        </p:spPr>
        <p:txBody>
          <a:bodyPr wrap="none" lIns="0" tIns="0" rIns="0" bIns="0" anchor="t">
            <a:noAutofit/>
          </a:bodyPr>
          <a:lstStyle/>
          <a:p>
            <a:pPr algn="l"/>
            <a:r>
              <a:rPr sz="1500" b="1" i="0">
                <a:solidFill>
                  <a:srgbClr val="F2F8FC"/>
                </a:solidFill>
                <a:latin typeface="DM Sans"/>
              </a:rPr>
              <a:t>Optimal Care</a:t>
            </a:r>
          </a:p>
        </p:txBody>
      </p:sp>
      <p:sp>
        <p:nvSpPr>
          <p:cNvPr id="10" name="Rectangle 9"/>
          <p:cNvSpPr/>
          <p:nvPr/>
        </p:nvSpPr>
        <p:spPr>
          <a:xfrm>
            <a:off x="1098550" y="3105051"/>
            <a:ext cx="2369145" cy="374650"/>
          </a:xfrm>
          <a:prstGeom prst="rect">
            <a:avLst/>
          </a:prstGeom>
          <a:solidFill>
            <a:srgbClr val="E6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1098550" y="3105051"/>
            <a:ext cx="25400" cy="37465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50950" y="3168551"/>
            <a:ext cx="2140545" cy="247650"/>
          </a:xfrm>
          <a:prstGeom prst="rect">
            <a:avLst/>
          </a:prstGeom>
          <a:noFill/>
        </p:spPr>
        <p:txBody>
          <a:bodyPr wrap="none" lIns="0" tIns="0" rIns="0" bIns="0" anchor="t">
            <a:noAutofit/>
          </a:bodyPr>
          <a:lstStyle/>
          <a:p>
            <a:pPr algn="l"/>
            <a:r>
              <a:rPr sz="1500" b="1" i="0">
                <a:solidFill>
                  <a:srgbClr val="00407A"/>
                </a:solidFill>
                <a:latin typeface="DM Sans"/>
              </a:rPr>
              <a:t>twee normen en SEBIA</a:t>
            </a:r>
          </a:p>
        </p:txBody>
      </p:sp>
      <p:sp>
        <p:nvSpPr>
          <p:cNvPr id="13" name="Rectangle 12"/>
          <p:cNvSpPr/>
          <p:nvPr/>
        </p:nvSpPr>
        <p:spPr>
          <a:xfrm>
            <a:off x="1098550" y="3594001"/>
            <a:ext cx="46101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8550" y="3689251"/>
            <a:ext cx="46609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Druk per sessie getoetst, de zool zo nodig aangepast.</a:t>
            </a:r>
          </a:p>
        </p:txBody>
      </p:sp>
      <p:sp>
        <p:nvSpPr>
          <p:cNvPr id="15" name="Rectangle 14"/>
          <p:cNvSpPr/>
          <p:nvPr/>
        </p:nvSpPr>
        <p:spPr>
          <a:xfrm>
            <a:off x="1098550" y="4043561"/>
            <a:ext cx="46101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8550" y="4138811"/>
            <a:ext cx="46609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De draagtijd uitgelezen en samen besproken.</a:t>
            </a:r>
          </a:p>
        </p:txBody>
      </p:sp>
      <p:sp>
        <p:nvSpPr>
          <p:cNvPr id="17" name="Rectangle 16"/>
          <p:cNvSpPr/>
          <p:nvPr/>
        </p:nvSpPr>
        <p:spPr>
          <a:xfrm>
            <a:off x="1098550" y="4493121"/>
            <a:ext cx="46101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98550" y="4588371"/>
            <a:ext cx="46609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Een SEBIA-gesprek op elke visite.</a:t>
            </a:r>
          </a:p>
        </p:txBody>
      </p:sp>
      <p:sp>
        <p:nvSpPr>
          <p:cNvPr id="19" name="Rounded Rectangle 18"/>
          <p:cNvSpPr/>
          <p:nvPr/>
        </p:nvSpPr>
        <p:spPr>
          <a:xfrm>
            <a:off x="6197600" y="2381151"/>
            <a:ext cx="5181600" cy="2732980"/>
          </a:xfrm>
          <a:prstGeom prst="roundRect">
            <a:avLst>
              <a:gd name="adj" fmla="val 3717"/>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6483350" y="2666901"/>
            <a:ext cx="1329829" cy="323850"/>
          </a:xfrm>
          <a:prstGeom prst="roundRect">
            <a:avLst>
              <a:gd name="adj" fmla="val 50000"/>
            </a:avLst>
          </a:prstGeom>
          <a:solidFill>
            <a:srgbClr val="5A6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648450" y="2705001"/>
            <a:ext cx="1050429" cy="247650"/>
          </a:xfrm>
          <a:prstGeom prst="rect">
            <a:avLst/>
          </a:prstGeom>
          <a:noFill/>
        </p:spPr>
        <p:txBody>
          <a:bodyPr wrap="none" lIns="0" tIns="0" rIns="0" bIns="0" anchor="t">
            <a:noAutofit/>
          </a:bodyPr>
          <a:lstStyle/>
          <a:p>
            <a:pPr algn="l"/>
            <a:r>
              <a:rPr sz="1500" b="1" i="0">
                <a:solidFill>
                  <a:srgbClr val="F2F8FC"/>
                </a:solidFill>
                <a:latin typeface="DM Sans"/>
              </a:rPr>
              <a:t>Usual Care</a:t>
            </a:r>
          </a:p>
        </p:txBody>
      </p:sp>
      <p:sp>
        <p:nvSpPr>
          <p:cNvPr id="22" name="Rectangle 21"/>
          <p:cNvSpPr/>
          <p:nvPr/>
        </p:nvSpPr>
        <p:spPr>
          <a:xfrm>
            <a:off x="6483350" y="3105051"/>
            <a:ext cx="2482949" cy="374650"/>
          </a:xfrm>
          <a:prstGeom prst="rect">
            <a:avLst/>
          </a:prstGeom>
          <a:solidFill>
            <a:srgbClr val="E6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6483350" y="3105051"/>
            <a:ext cx="25400" cy="37465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35750" y="3168551"/>
            <a:ext cx="2254349" cy="247650"/>
          </a:xfrm>
          <a:prstGeom prst="rect">
            <a:avLst/>
          </a:prstGeom>
          <a:noFill/>
        </p:spPr>
        <p:txBody>
          <a:bodyPr wrap="none" lIns="0" tIns="0" rIns="0" bIns="0" anchor="t">
            <a:noAutofit/>
          </a:bodyPr>
          <a:lstStyle/>
          <a:p>
            <a:pPr algn="l"/>
            <a:r>
              <a:rPr sz="1500" b="1" i="0">
                <a:solidFill>
                  <a:srgbClr val="00407A"/>
                </a:solidFill>
                <a:latin typeface="DM Sans"/>
              </a:rPr>
              <a:t>zelfde zool, geblindeerd</a:t>
            </a:r>
          </a:p>
        </p:txBody>
      </p:sp>
      <p:sp>
        <p:nvSpPr>
          <p:cNvPr id="25" name="Rectangle 24"/>
          <p:cNvSpPr/>
          <p:nvPr/>
        </p:nvSpPr>
        <p:spPr>
          <a:xfrm>
            <a:off x="6483350" y="3594001"/>
            <a:ext cx="46101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83350" y="3689251"/>
            <a:ext cx="46609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Druk alleen bij de start en op maand 6, geblindeerd.</a:t>
            </a:r>
          </a:p>
        </p:txBody>
      </p:sp>
      <p:sp>
        <p:nvSpPr>
          <p:cNvPr id="27" name="Rectangle 26"/>
          <p:cNvSpPr/>
          <p:nvPr/>
        </p:nvSpPr>
        <p:spPr>
          <a:xfrm>
            <a:off x="6483350" y="4043561"/>
            <a:ext cx="46101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83350" y="4138811"/>
            <a:ext cx="46609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De sensor uitgelezen, zonder terugkoppeling.</a:t>
            </a:r>
          </a:p>
        </p:txBody>
      </p:sp>
      <p:sp>
        <p:nvSpPr>
          <p:cNvPr id="29" name="Rectangle 28"/>
          <p:cNvSpPr/>
          <p:nvPr/>
        </p:nvSpPr>
        <p:spPr>
          <a:xfrm>
            <a:off x="6483350" y="4493121"/>
            <a:ext cx="46101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83350" y="4588371"/>
            <a:ext cx="46609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Voetzorg en educatie zoals vandaag.</a:t>
            </a:r>
          </a:p>
        </p:txBody>
      </p:sp>
      <p:pic>
        <p:nvPicPr>
          <p:cNvPr id="31" name="Picture 30"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32" name="TextBox 31"/>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Twee armen, zelfde zool</a:t>
            </a:r>
          </a:p>
        </p:txBody>
      </p:sp>
      <p:sp>
        <p:nvSpPr>
          <p:cNvPr id="33" name="TextBox 32"/>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§5.4 · beslissingen 6 en 8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812800" y="2298700"/>
            <a:ext cx="1955800" cy="2057400"/>
          </a:xfrm>
          <a:prstGeom prst="rect">
            <a:avLst/>
          </a:prstGeom>
          <a:noFill/>
        </p:spPr>
        <p:txBody>
          <a:bodyPr wrap="none" lIns="0" tIns="0" rIns="0" bIns="0" anchor="t">
            <a:noAutofit/>
          </a:bodyPr>
          <a:lstStyle/>
          <a:p>
            <a:pPr algn="l">
              <a:lnSpc>
                <a:spcPts val="16200"/>
              </a:lnSpc>
            </a:pPr>
            <a:r>
              <a:rPr sz="18000" b="0" i="0">
                <a:solidFill>
                  <a:srgbClr val="FF9A3D"/>
                </a:solidFill>
                <a:latin typeface="DM Serif Display"/>
              </a:rPr>
              <a:t>2</a:t>
            </a:r>
          </a:p>
        </p:txBody>
      </p:sp>
      <p:sp>
        <p:nvSpPr>
          <p:cNvPr id="3" name="TextBox 2"/>
          <p:cNvSpPr txBox="1"/>
          <p:nvPr/>
        </p:nvSpPr>
        <p:spPr>
          <a:xfrm>
            <a:off x="3327400" y="2447627"/>
            <a:ext cx="8102600" cy="222885"/>
          </a:xfrm>
          <a:prstGeom prst="rect">
            <a:avLst/>
          </a:prstGeom>
          <a:noFill/>
        </p:spPr>
        <p:txBody>
          <a:bodyPr wrap="none" lIns="0" tIns="0" rIns="0" bIns="0" anchor="t">
            <a:noAutofit/>
          </a:bodyPr>
          <a:lstStyle/>
          <a:p>
            <a:pPr algn="l">
              <a:lnSpc>
                <a:spcPts val="1755"/>
              </a:lnSpc>
            </a:pPr>
            <a:r>
              <a:rPr sz="1300" b="1" i="0">
                <a:solidFill>
                  <a:srgbClr val="52BDEC"/>
                </a:solidFill>
                <a:latin typeface="DM Sans"/>
              </a:rPr>
              <a:t>Blok 2 van 3</a:t>
            </a:r>
          </a:p>
        </p:txBody>
      </p:sp>
      <p:sp>
        <p:nvSpPr>
          <p:cNvPr id="4" name="TextBox 3"/>
          <p:cNvSpPr txBox="1"/>
          <p:nvPr/>
        </p:nvSpPr>
        <p:spPr>
          <a:xfrm>
            <a:off x="3327400" y="2848273"/>
            <a:ext cx="8102600" cy="800100"/>
          </a:xfrm>
          <a:prstGeom prst="rect">
            <a:avLst/>
          </a:prstGeom>
          <a:noFill/>
        </p:spPr>
        <p:txBody>
          <a:bodyPr wrap="none" lIns="0" tIns="0" rIns="0" bIns="0" anchor="t">
            <a:noAutofit/>
          </a:bodyPr>
          <a:lstStyle/>
          <a:p>
            <a:pPr algn="l">
              <a:lnSpc>
                <a:spcPts val="6300"/>
              </a:lnSpc>
            </a:pPr>
            <a:r>
              <a:rPr sz="6000" b="0" i="0" spc="-100">
                <a:solidFill>
                  <a:srgbClr val="F2F8FC"/>
                </a:solidFill>
                <a:latin typeface="DM Serif Display"/>
              </a:rPr>
              <a:t>De meting</a:t>
            </a:r>
          </a:p>
        </p:txBody>
      </p:sp>
      <p:sp>
        <p:nvSpPr>
          <p:cNvPr id="5" name="TextBox 4"/>
          <p:cNvSpPr txBox="1"/>
          <p:nvPr/>
        </p:nvSpPr>
        <p:spPr>
          <a:xfrm>
            <a:off x="3327400" y="3826173"/>
            <a:ext cx="8102600" cy="381000"/>
          </a:xfrm>
          <a:prstGeom prst="rect">
            <a:avLst/>
          </a:prstGeom>
          <a:noFill/>
        </p:spPr>
        <p:txBody>
          <a:bodyPr wrap="none" lIns="0" tIns="0" rIns="0" bIns="0" anchor="t">
            <a:noAutofit/>
          </a:bodyPr>
          <a:lstStyle/>
          <a:p>
            <a:pPr algn="l">
              <a:lnSpc>
                <a:spcPts val="3000"/>
              </a:lnSpc>
            </a:pPr>
            <a:r>
              <a:rPr sz="2400" b="0" i="1">
                <a:solidFill>
                  <a:srgbClr val="52BDEC"/>
                </a:solidFill>
                <a:latin typeface="DM Serif Display"/>
              </a:rPr>
              <a:t>Wat u meet, hoe u het meet, en wanneer het goed genoeg is.</a:t>
            </a:r>
          </a:p>
        </p:txBody>
      </p:sp>
      <p:pic>
        <p:nvPicPr>
          <p:cNvPr id="6" name="Picture 5"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7" name="TextBox 6"/>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6F8FAA"/>
                </a:solidFill>
                <a:latin typeface="DM Sans"/>
              </a:rPr>
              <a:t>PARADISE · De meting</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Elke sensor een cijfer</a:t>
            </a:r>
          </a:p>
        </p:txBody>
      </p:sp>
      <p:pic>
        <p:nvPicPr>
          <p:cNvPr id="3" name="Picture 2" descr="1fcaec0e1b2195894b49bdbbfc6725ab.png"/>
          <p:cNvPicPr>
            <a:picLocks noChangeAspect="1"/>
          </p:cNvPicPr>
          <p:nvPr/>
        </p:nvPicPr>
        <p:blipFill>
          <a:blip r:embed="rId3"/>
          <a:stretch>
            <a:fillRect/>
          </a:stretch>
        </p:blipFill>
        <p:spPr>
          <a:xfrm>
            <a:off x="813644" y="1498600"/>
            <a:ext cx="2474811" cy="4349750"/>
          </a:xfrm>
          <a:prstGeom prst="rect">
            <a:avLst/>
          </a:prstGeom>
        </p:spPr>
      </p:pic>
      <p:sp>
        <p:nvSpPr>
          <p:cNvPr id="4" name="TextBox 3"/>
          <p:cNvSpPr txBox="1"/>
          <p:nvPr/>
        </p:nvSpPr>
        <p:spPr>
          <a:xfrm>
            <a:off x="3810000" y="1498600"/>
            <a:ext cx="7620000" cy="1327150"/>
          </a:xfrm>
          <a:prstGeom prst="rect">
            <a:avLst/>
          </a:prstGeom>
          <a:noFill/>
        </p:spPr>
        <p:txBody>
          <a:bodyPr wrap="none" lIns="0" tIns="0" rIns="0" bIns="0" anchor="t">
            <a:noAutofit/>
          </a:bodyPr>
          <a:lstStyle/>
          <a:p>
            <a:pPr algn="l">
              <a:lnSpc>
                <a:spcPts val="10450"/>
              </a:lnSpc>
            </a:pPr>
            <a:r>
              <a:rPr sz="11000" b="0" i="0" spc="-300">
                <a:solidFill>
                  <a:srgbClr val="E06A00"/>
                </a:solidFill>
                <a:latin typeface="DM Serif Display"/>
              </a:rPr>
              <a:t>312</a:t>
            </a:r>
            <a:r>
              <a:rPr sz="3600" b="0" i="0">
                <a:solidFill>
                  <a:srgbClr val="E06A00"/>
                </a:solidFill>
                <a:latin typeface="DM Serif Display"/>
              </a:rPr>
              <a:t> kPa</a:t>
            </a:r>
          </a:p>
        </p:txBody>
      </p:sp>
      <p:sp>
        <p:nvSpPr>
          <p:cNvPr id="5" name="TextBox 4"/>
          <p:cNvSpPr txBox="1"/>
          <p:nvPr/>
        </p:nvSpPr>
        <p:spPr>
          <a:xfrm>
            <a:off x="3810000" y="2965450"/>
            <a:ext cx="7620000" cy="304800"/>
          </a:xfrm>
          <a:prstGeom prst="rect">
            <a:avLst/>
          </a:prstGeom>
          <a:noFill/>
        </p:spPr>
        <p:txBody>
          <a:bodyPr wrap="none" lIns="0" tIns="0" rIns="0" bIns="0" anchor="t">
            <a:noAutofit/>
          </a:bodyPr>
          <a:lstStyle/>
          <a:p>
            <a:pPr algn="l">
              <a:lnSpc>
                <a:spcPts val="2400"/>
              </a:lnSpc>
            </a:pPr>
            <a:r>
              <a:rPr sz="2000" b="1" i="0">
                <a:solidFill>
                  <a:srgbClr val="0A2540"/>
                </a:solidFill>
                <a:latin typeface="DM Sans"/>
              </a:rPr>
              <a:t>piekdruk op metatarsaal 2-3</a:t>
            </a:r>
          </a:p>
        </p:txBody>
      </p:sp>
      <p:sp>
        <p:nvSpPr>
          <p:cNvPr id="6" name="Rounded Rectangle 5"/>
          <p:cNvSpPr/>
          <p:nvPr/>
        </p:nvSpPr>
        <p:spPr>
          <a:xfrm>
            <a:off x="3810000" y="3409950"/>
            <a:ext cx="3182342" cy="425450"/>
          </a:xfrm>
          <a:prstGeom prst="roundRect">
            <a:avLst>
              <a:gd name="adj" fmla="val 14925"/>
            </a:avLst>
          </a:prstGeom>
          <a:noFill/>
          <a:ln w="12700">
            <a:solidFill>
              <a:srgbClr val="A34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975100" y="3498850"/>
            <a:ext cx="2902942" cy="247650"/>
          </a:xfrm>
          <a:prstGeom prst="rect">
            <a:avLst/>
          </a:prstGeom>
          <a:noFill/>
        </p:spPr>
        <p:txBody>
          <a:bodyPr wrap="none" lIns="0" tIns="0" rIns="0" bIns="0" anchor="t">
            <a:noAutofit/>
          </a:bodyPr>
          <a:lstStyle/>
          <a:p>
            <a:pPr algn="l"/>
            <a:r>
              <a:rPr sz="1500" b="1" i="0">
                <a:solidFill>
                  <a:srgbClr val="A34A00"/>
                </a:solidFill>
                <a:latin typeface="DM Sans"/>
              </a:rPr>
              <a:t>Norm: &lt; 200 kPa óf ≥ 25% lager</a:t>
            </a:r>
          </a:p>
        </p:txBody>
      </p:sp>
      <p:sp>
        <p:nvSpPr>
          <p:cNvPr id="8" name="TextBox 7"/>
          <p:cNvSpPr txBox="1"/>
          <p:nvPr/>
        </p:nvSpPr>
        <p:spPr>
          <a:xfrm>
            <a:off x="3810000" y="3975100"/>
            <a:ext cx="76200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pedar®-sensorzool in de schoen, zonder de CMFO: drie metingen.</a:t>
            </a:r>
          </a:p>
        </p:txBody>
      </p:sp>
      <p:sp>
        <p:nvSpPr>
          <p:cNvPr id="9" name="TextBox 8"/>
          <p:cNvSpPr txBox="1"/>
          <p:nvPr/>
        </p:nvSpPr>
        <p:spPr>
          <a:xfrm>
            <a:off x="3810000" y="4354810"/>
            <a:ext cx="76200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Links en rechts tegelijk; uit de drie metingen één gemiddeld piekdrukbeeld per voet.</a:t>
            </a:r>
          </a:p>
        </p:txBody>
      </p:sp>
      <p:sp>
        <p:nvSpPr>
          <p:cNvPr id="10" name="Rectangle 9"/>
          <p:cNvSpPr/>
          <p:nvPr/>
        </p:nvSpPr>
        <p:spPr>
          <a:xfrm>
            <a:off x="3810000" y="4734520"/>
            <a:ext cx="75692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10000" y="4829770"/>
            <a:ext cx="7620000" cy="205740"/>
          </a:xfrm>
          <a:prstGeom prst="rect">
            <a:avLst/>
          </a:prstGeom>
          <a:noFill/>
        </p:spPr>
        <p:txBody>
          <a:bodyPr wrap="none" lIns="0" tIns="0" rIns="0" bIns="0" anchor="t">
            <a:noAutofit/>
          </a:bodyPr>
          <a:lstStyle/>
          <a:p>
            <a:pPr algn="l">
              <a:lnSpc>
                <a:spcPts val="1620"/>
              </a:lnSpc>
            </a:pPr>
            <a:r>
              <a:rPr sz="1200" b="0" i="0">
                <a:solidFill>
                  <a:srgbClr val="5A6E80"/>
                </a:solidFill>
                <a:latin typeface="DM Sans"/>
              </a:rPr>
              <a:t>eCRF-document 09 · Meting plantaire druk, baseline</a:t>
            </a:r>
          </a:p>
        </p:txBody>
      </p:sp>
      <p:pic>
        <p:nvPicPr>
          <p:cNvPr id="12" name="Picture 11" descr="5d72d4b34cb4ecc0be35953d18b4aaa2.png"/>
          <p:cNvPicPr>
            <a:picLocks noChangeAspect="1"/>
          </p:cNvPicPr>
          <p:nvPr/>
        </p:nvPicPr>
        <p:blipFill>
          <a:blip r:embed="rId4"/>
          <a:stretch>
            <a:fillRect/>
          </a:stretch>
        </p:blipFill>
        <p:spPr>
          <a:xfrm>
            <a:off x="812967" y="6261100"/>
            <a:ext cx="171116" cy="203200"/>
          </a:xfrm>
          <a:prstGeom prst="rect">
            <a:avLst/>
          </a:prstGeom>
        </p:spPr>
      </p:pic>
      <p:sp>
        <p:nvSpPr>
          <p:cNvPr id="13" name="TextBox 12"/>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Baseline · in de schoen</a:t>
            </a:r>
          </a:p>
        </p:txBody>
      </p:sp>
      <p:sp>
        <p:nvSpPr>
          <p:cNvPr id="14" name="TextBox 13"/>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7 · Bus 2020 · 27 · Zwaferink 2024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Wanneer is het goed genoeg</a:t>
            </a:r>
          </a:p>
        </p:txBody>
      </p:sp>
      <p:pic>
        <p:nvPicPr>
          <p:cNvPr id="3" name="Picture 2" descr="374534418b9df1a495ceea1d49fd91e0.png"/>
          <p:cNvPicPr>
            <a:picLocks noChangeAspect="1"/>
          </p:cNvPicPr>
          <p:nvPr/>
        </p:nvPicPr>
        <p:blipFill>
          <a:blip r:embed="rId3"/>
          <a:stretch>
            <a:fillRect/>
          </a:stretch>
        </p:blipFill>
        <p:spPr>
          <a:xfrm>
            <a:off x="813644" y="1498600"/>
            <a:ext cx="2474811" cy="4349750"/>
          </a:xfrm>
          <a:prstGeom prst="rect">
            <a:avLst/>
          </a:prstGeom>
        </p:spPr>
      </p:pic>
      <p:sp>
        <p:nvSpPr>
          <p:cNvPr id="4" name="TextBox 3"/>
          <p:cNvSpPr txBox="1"/>
          <p:nvPr/>
        </p:nvSpPr>
        <p:spPr>
          <a:xfrm>
            <a:off x="3810000" y="1498600"/>
            <a:ext cx="7620000" cy="1327150"/>
          </a:xfrm>
          <a:prstGeom prst="rect">
            <a:avLst/>
          </a:prstGeom>
          <a:noFill/>
        </p:spPr>
        <p:txBody>
          <a:bodyPr wrap="none" lIns="0" tIns="0" rIns="0" bIns="0" anchor="t">
            <a:noAutofit/>
          </a:bodyPr>
          <a:lstStyle/>
          <a:p>
            <a:pPr algn="l">
              <a:lnSpc>
                <a:spcPts val="10450"/>
              </a:lnSpc>
            </a:pPr>
            <a:r>
              <a:rPr sz="11000" b="0" i="0" spc="-300">
                <a:solidFill>
                  <a:srgbClr val="0B6E8F"/>
                </a:solidFill>
                <a:latin typeface="DM Serif Display"/>
              </a:rPr>
              <a:t>186</a:t>
            </a:r>
            <a:r>
              <a:rPr sz="3600" b="0" i="0">
                <a:solidFill>
                  <a:srgbClr val="0B6E8F"/>
                </a:solidFill>
                <a:latin typeface="DM Serif Display"/>
              </a:rPr>
              <a:t> kPa</a:t>
            </a:r>
          </a:p>
        </p:txBody>
      </p:sp>
      <p:sp>
        <p:nvSpPr>
          <p:cNvPr id="5" name="TextBox 4"/>
          <p:cNvSpPr txBox="1"/>
          <p:nvPr/>
        </p:nvSpPr>
        <p:spPr>
          <a:xfrm>
            <a:off x="3810000" y="2965450"/>
            <a:ext cx="7620000" cy="304800"/>
          </a:xfrm>
          <a:prstGeom prst="rect">
            <a:avLst/>
          </a:prstGeom>
          <a:noFill/>
        </p:spPr>
        <p:txBody>
          <a:bodyPr wrap="none" lIns="0" tIns="0" rIns="0" bIns="0" anchor="t">
            <a:noAutofit/>
          </a:bodyPr>
          <a:lstStyle/>
          <a:p>
            <a:pPr algn="l">
              <a:lnSpc>
                <a:spcPts val="2400"/>
              </a:lnSpc>
            </a:pPr>
            <a:r>
              <a:rPr sz="2000" b="1" i="0">
                <a:solidFill>
                  <a:srgbClr val="0A2540"/>
                </a:solidFill>
                <a:latin typeface="DM Sans"/>
              </a:rPr>
              <a:t>piekdruk in de doelregio na aanpassing</a:t>
            </a:r>
          </a:p>
        </p:txBody>
      </p:sp>
      <p:sp>
        <p:nvSpPr>
          <p:cNvPr id="6" name="Rounded Rectangle 5"/>
          <p:cNvSpPr/>
          <p:nvPr/>
        </p:nvSpPr>
        <p:spPr>
          <a:xfrm>
            <a:off x="3810000" y="3409950"/>
            <a:ext cx="4154587" cy="425450"/>
          </a:xfrm>
          <a:prstGeom prst="roundRect">
            <a:avLst>
              <a:gd name="adj" fmla="val 14925"/>
            </a:avLst>
          </a:prstGeom>
          <a:noFill/>
          <a:ln w="127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975100" y="3498850"/>
            <a:ext cx="3875187" cy="247650"/>
          </a:xfrm>
          <a:prstGeom prst="rect">
            <a:avLst/>
          </a:prstGeom>
          <a:noFill/>
        </p:spPr>
        <p:txBody>
          <a:bodyPr wrap="none" lIns="0" tIns="0" rIns="0" bIns="0" anchor="t">
            <a:noAutofit/>
          </a:bodyPr>
          <a:lstStyle/>
          <a:p>
            <a:pPr algn="l"/>
            <a:r>
              <a:rPr sz="1500" b="1" i="0">
                <a:solidFill>
                  <a:srgbClr val="0B6E8F"/>
                </a:solidFill>
                <a:latin typeface="DM Sans"/>
              </a:rPr>
              <a:t>40% lager · onder 200 kPa · beide criteria</a:t>
            </a:r>
          </a:p>
        </p:txBody>
      </p:sp>
      <p:sp>
        <p:nvSpPr>
          <p:cNvPr id="8" name="TextBox 7"/>
          <p:cNvSpPr txBox="1"/>
          <p:nvPr/>
        </p:nvSpPr>
        <p:spPr>
          <a:xfrm>
            <a:off x="3810000" y="3975100"/>
            <a:ext cx="7720584"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De norm geldt per doelregio: piekdruk onder 200 kPa óf minstens 25% lager dan zónder zool, in dezelfde sessie: op visite 2 en op maand 6, 12 en 18.</a:t>
            </a:r>
          </a:p>
        </p:txBody>
      </p:sp>
      <p:sp>
        <p:nvSpPr>
          <p:cNvPr id="9" name="TextBox 8"/>
          <p:cNvSpPr txBox="1"/>
          <p:nvPr/>
        </p:nvSpPr>
        <p:spPr>
          <a:xfrm>
            <a:off x="3810000" y="4594820"/>
            <a:ext cx="7720584"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Haalt u de norm niet, dan past de pedorthist de zool aan en meet u opnieuw mét, tot drie keer.</a:t>
            </a:r>
          </a:p>
        </p:txBody>
      </p:sp>
      <p:sp>
        <p:nvSpPr>
          <p:cNvPr id="10" name="Rectangle 9"/>
          <p:cNvSpPr/>
          <p:nvPr/>
        </p:nvSpPr>
        <p:spPr>
          <a:xfrm>
            <a:off x="3810000" y="5214541"/>
            <a:ext cx="75692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10000" y="5309791"/>
            <a:ext cx="7620000" cy="205740"/>
          </a:xfrm>
          <a:prstGeom prst="rect">
            <a:avLst/>
          </a:prstGeom>
          <a:noFill/>
        </p:spPr>
        <p:txBody>
          <a:bodyPr wrap="none" lIns="0" tIns="0" rIns="0" bIns="0" anchor="t">
            <a:noAutofit/>
          </a:bodyPr>
          <a:lstStyle/>
          <a:p>
            <a:pPr algn="l">
              <a:lnSpc>
                <a:spcPts val="1620"/>
              </a:lnSpc>
            </a:pPr>
            <a:r>
              <a:rPr sz="1200" b="0" i="0">
                <a:solidFill>
                  <a:srgbClr val="5A6E80"/>
                </a:solidFill>
                <a:latin typeface="DM Sans"/>
              </a:rPr>
              <a:t>eCRF-document 24 · Meting drukherverdeling voetorthese</a:t>
            </a:r>
          </a:p>
        </p:txBody>
      </p:sp>
      <p:pic>
        <p:nvPicPr>
          <p:cNvPr id="12" name="Picture 11" descr="5d72d4b34cb4ecc0be35953d18b4aaa2.png"/>
          <p:cNvPicPr>
            <a:picLocks noChangeAspect="1"/>
          </p:cNvPicPr>
          <p:nvPr/>
        </p:nvPicPr>
        <p:blipFill>
          <a:blip r:embed="rId4"/>
          <a:stretch>
            <a:fillRect/>
          </a:stretch>
        </p:blipFill>
        <p:spPr>
          <a:xfrm>
            <a:off x="812967" y="6261100"/>
            <a:ext cx="171116" cy="203200"/>
          </a:xfrm>
          <a:prstGeom prst="rect">
            <a:avLst/>
          </a:prstGeom>
        </p:spPr>
      </p:pic>
      <p:sp>
        <p:nvSpPr>
          <p:cNvPr id="13" name="TextBox 12"/>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Na optimalisatie</a:t>
            </a:r>
          </a:p>
        </p:txBody>
      </p:sp>
      <p:sp>
        <p:nvSpPr>
          <p:cNvPr id="14" name="TextBox 13"/>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6 · Bus 2011 · 7 · Bus 2020</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pic>
        <p:nvPicPr>
          <p:cNvPr id="2" name="Picture 1" descr="dec30a966bcbdd6c2d1a0d849e317611.png"/>
          <p:cNvPicPr>
            <a:picLocks noChangeAspect="1"/>
          </p:cNvPicPr>
          <p:nvPr/>
        </p:nvPicPr>
        <p:blipFill>
          <a:blip r:embed="rId3"/>
          <a:stretch>
            <a:fillRect/>
          </a:stretch>
        </p:blipFill>
        <p:spPr>
          <a:xfrm>
            <a:off x="6350000" y="0"/>
            <a:ext cx="5842000" cy="6858000"/>
          </a:xfrm>
          <a:prstGeom prst="rect">
            <a:avLst/>
          </a:prstGeom>
        </p:spPr>
      </p:pic>
      <p:sp>
        <p:nvSpPr>
          <p:cNvPr id="3" name="Rectangle 2"/>
          <p:cNvSpPr/>
          <p:nvPr/>
        </p:nvSpPr>
        <p:spPr>
          <a:xfrm>
            <a:off x="812800" y="1491059"/>
            <a:ext cx="609600" cy="254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12800" y="1694259"/>
            <a:ext cx="5181600" cy="1316633"/>
          </a:xfrm>
          <a:prstGeom prst="rect">
            <a:avLst/>
          </a:prstGeom>
          <a:noFill/>
        </p:spPr>
        <p:txBody>
          <a:bodyPr wrap="square" lIns="0" tIns="0" rIns="0" bIns="0" anchor="t">
            <a:noAutofit/>
          </a:bodyPr>
          <a:lstStyle/>
          <a:p>
            <a:pPr algn="l">
              <a:lnSpc>
                <a:spcPts val="5184"/>
              </a:lnSpc>
            </a:pPr>
            <a:r>
              <a:rPr sz="4800" b="0" i="0" spc="-50">
                <a:solidFill>
                  <a:srgbClr val="0A2540"/>
                </a:solidFill>
                <a:latin typeface="DM Serif Display"/>
              </a:rPr>
              <a:t>Niet minder belasting.</a:t>
            </a:r>
          </a:p>
        </p:txBody>
      </p:sp>
      <p:sp>
        <p:nvSpPr>
          <p:cNvPr id="5" name="TextBox 4"/>
          <p:cNvSpPr txBox="1"/>
          <p:nvPr/>
        </p:nvSpPr>
        <p:spPr>
          <a:xfrm>
            <a:off x="812800" y="3188692"/>
            <a:ext cx="5181600" cy="1974949"/>
          </a:xfrm>
          <a:prstGeom prst="rect">
            <a:avLst/>
          </a:prstGeom>
          <a:noFill/>
        </p:spPr>
        <p:txBody>
          <a:bodyPr wrap="square" lIns="0" tIns="0" rIns="0" bIns="0" anchor="t">
            <a:noAutofit/>
          </a:bodyPr>
          <a:lstStyle/>
          <a:p>
            <a:pPr algn="l">
              <a:lnSpc>
                <a:spcPts val="5184"/>
              </a:lnSpc>
            </a:pPr>
            <a:r>
              <a:rPr sz="4800" b="0" i="0" spc="-50">
                <a:solidFill>
                  <a:srgbClr val="A34A00"/>
                </a:solidFill>
                <a:latin typeface="DM Serif Display"/>
              </a:rPr>
              <a:t>Belasting op een plek die het aankan.</a:t>
            </a:r>
          </a:p>
        </p:txBody>
      </p:sp>
      <p:pic>
        <p:nvPicPr>
          <p:cNvPr id="6" name="Picture 5" descr="5d72d4b34cb4ecc0be35953d18b4aaa2.png"/>
          <p:cNvPicPr>
            <a:picLocks noChangeAspect="1"/>
          </p:cNvPicPr>
          <p:nvPr/>
        </p:nvPicPr>
        <p:blipFill>
          <a:blip r:embed="rId4"/>
          <a:stretch>
            <a:fillRect/>
          </a:stretch>
        </p:blipFill>
        <p:spPr>
          <a:xfrm>
            <a:off x="812967" y="6261100"/>
            <a:ext cx="171116" cy="203200"/>
          </a:xfrm>
          <a:prstGeom prst="rect">
            <a:avLst/>
          </a:prstGeom>
        </p:spPr>
      </p:pic>
      <p:sp>
        <p:nvSpPr>
          <p:cNvPr id="7" name="TextBox 6"/>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De meting</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812800" y="2298700"/>
            <a:ext cx="1955800" cy="2057400"/>
          </a:xfrm>
          <a:prstGeom prst="rect">
            <a:avLst/>
          </a:prstGeom>
          <a:noFill/>
        </p:spPr>
        <p:txBody>
          <a:bodyPr wrap="none" lIns="0" tIns="0" rIns="0" bIns="0" anchor="t">
            <a:noAutofit/>
          </a:bodyPr>
          <a:lstStyle/>
          <a:p>
            <a:pPr algn="l">
              <a:lnSpc>
                <a:spcPts val="16200"/>
              </a:lnSpc>
            </a:pPr>
            <a:r>
              <a:rPr sz="18000" b="0" i="0">
                <a:solidFill>
                  <a:srgbClr val="FF9A3D"/>
                </a:solidFill>
                <a:latin typeface="DM Serif Display"/>
              </a:rPr>
              <a:t>3</a:t>
            </a:r>
          </a:p>
        </p:txBody>
      </p:sp>
      <p:sp>
        <p:nvSpPr>
          <p:cNvPr id="3" name="TextBox 2"/>
          <p:cNvSpPr txBox="1"/>
          <p:nvPr/>
        </p:nvSpPr>
        <p:spPr>
          <a:xfrm>
            <a:off x="3327400" y="2257127"/>
            <a:ext cx="8102600" cy="222885"/>
          </a:xfrm>
          <a:prstGeom prst="rect">
            <a:avLst/>
          </a:prstGeom>
          <a:noFill/>
        </p:spPr>
        <p:txBody>
          <a:bodyPr wrap="none" lIns="0" tIns="0" rIns="0" bIns="0" anchor="t">
            <a:noAutofit/>
          </a:bodyPr>
          <a:lstStyle/>
          <a:p>
            <a:pPr algn="l">
              <a:lnSpc>
                <a:spcPts val="1755"/>
              </a:lnSpc>
            </a:pPr>
            <a:r>
              <a:rPr sz="1300" b="1" i="0">
                <a:solidFill>
                  <a:srgbClr val="52BDEC"/>
                </a:solidFill>
                <a:latin typeface="DM Sans"/>
              </a:rPr>
              <a:t>Blok 3 van 3</a:t>
            </a:r>
          </a:p>
        </p:txBody>
      </p:sp>
      <p:sp>
        <p:nvSpPr>
          <p:cNvPr id="4" name="TextBox 3"/>
          <p:cNvSpPr txBox="1"/>
          <p:nvPr/>
        </p:nvSpPr>
        <p:spPr>
          <a:xfrm>
            <a:off x="3327400" y="2657773"/>
            <a:ext cx="8102600" cy="800100"/>
          </a:xfrm>
          <a:prstGeom prst="rect">
            <a:avLst/>
          </a:prstGeom>
          <a:noFill/>
        </p:spPr>
        <p:txBody>
          <a:bodyPr wrap="none" lIns="0" tIns="0" rIns="0" bIns="0" anchor="t">
            <a:noAutofit/>
          </a:bodyPr>
          <a:lstStyle/>
          <a:p>
            <a:pPr algn="l">
              <a:lnSpc>
                <a:spcPts val="6300"/>
              </a:lnSpc>
            </a:pPr>
            <a:r>
              <a:rPr sz="6000" b="0" i="0" spc="-100">
                <a:solidFill>
                  <a:srgbClr val="F2F8FC"/>
                </a:solidFill>
                <a:latin typeface="DM Serif Display"/>
              </a:rPr>
              <a:t>Het traject</a:t>
            </a:r>
          </a:p>
        </p:txBody>
      </p:sp>
      <p:sp>
        <p:nvSpPr>
          <p:cNvPr id="5" name="TextBox 4"/>
          <p:cNvSpPr txBox="1"/>
          <p:nvPr/>
        </p:nvSpPr>
        <p:spPr>
          <a:xfrm>
            <a:off x="3327400" y="3635673"/>
            <a:ext cx="8212836" cy="762000"/>
          </a:xfrm>
          <a:prstGeom prst="rect">
            <a:avLst/>
          </a:prstGeom>
          <a:noFill/>
        </p:spPr>
        <p:txBody>
          <a:bodyPr wrap="square" lIns="0" tIns="0" rIns="0" bIns="0" anchor="t">
            <a:noAutofit/>
          </a:bodyPr>
          <a:lstStyle/>
          <a:p>
            <a:pPr algn="l">
              <a:lnSpc>
                <a:spcPts val="3000"/>
              </a:lnSpc>
            </a:pPr>
            <a:r>
              <a:rPr sz="2400" b="0" i="1">
                <a:solidFill>
                  <a:srgbClr val="52BDEC"/>
                </a:solidFill>
                <a:latin typeface="DM Serif Display"/>
              </a:rPr>
              <a:t>Negen contactmomenten. Per moment: wat u doet en wat u invult.</a:t>
            </a:r>
          </a:p>
        </p:txBody>
      </p:sp>
      <p:pic>
        <p:nvPicPr>
          <p:cNvPr id="6" name="Picture 5"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7" name="TextBox 6"/>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6F8FAA"/>
                </a:solidFill>
                <a:latin typeface="DM Sans"/>
              </a:rPr>
              <a:t>PARADISE · Het traject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Wie komt in aanmerking</a:t>
            </a:r>
          </a:p>
        </p:txBody>
      </p:sp>
      <p:sp>
        <p:nvSpPr>
          <p:cNvPr id="3" name="TextBox 2"/>
          <p:cNvSpPr txBox="1"/>
          <p:nvPr/>
        </p:nvSpPr>
        <p:spPr>
          <a:xfrm>
            <a:off x="812800" y="1544241"/>
            <a:ext cx="5130800" cy="228600"/>
          </a:xfrm>
          <a:prstGeom prst="rect">
            <a:avLst/>
          </a:prstGeom>
          <a:noFill/>
        </p:spPr>
        <p:txBody>
          <a:bodyPr wrap="none" lIns="0" tIns="0" rIns="0" bIns="0" anchor="t">
            <a:noAutofit/>
          </a:bodyPr>
          <a:lstStyle/>
          <a:p>
            <a:pPr algn="l">
              <a:lnSpc>
                <a:spcPts val="1800"/>
              </a:lnSpc>
            </a:pPr>
            <a:r>
              <a:rPr sz="1500" b="1" i="0">
                <a:solidFill>
                  <a:srgbClr val="0B6E8F"/>
                </a:solidFill>
                <a:latin typeface="DM Sans"/>
              </a:rPr>
              <a:t>Wel</a:t>
            </a:r>
            <a:r>
              <a:rPr sz="1200" b="0" i="0">
                <a:solidFill>
                  <a:srgbClr val="5A6E80"/>
                </a:solidFill>
                <a:latin typeface="DM Sans"/>
              </a:rPr>
              <a:t> · alle zes moeten kloppen · onthoud VOETEN</a:t>
            </a:r>
          </a:p>
        </p:txBody>
      </p:sp>
      <p:sp>
        <p:nvSpPr>
          <p:cNvPr id="4" name="Rounded Rectangle 3"/>
          <p:cNvSpPr/>
          <p:nvPr/>
        </p:nvSpPr>
        <p:spPr>
          <a:xfrm>
            <a:off x="812800" y="1874441"/>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917674" y="1944291"/>
            <a:ext cx="171252" cy="190500"/>
          </a:xfrm>
          <a:prstGeom prst="rect">
            <a:avLst/>
          </a:prstGeom>
          <a:noFill/>
        </p:spPr>
        <p:txBody>
          <a:bodyPr wrap="none" lIns="0" tIns="0" rIns="0" bIns="0" anchor="t">
            <a:noAutofit/>
          </a:bodyPr>
          <a:lstStyle/>
          <a:p>
            <a:pPr algn="l">
              <a:lnSpc>
                <a:spcPts val="1500"/>
              </a:lnSpc>
            </a:pPr>
            <a:r>
              <a:rPr sz="1500" b="0" i="0">
                <a:solidFill>
                  <a:srgbClr val="0A2540"/>
                </a:solidFill>
                <a:latin typeface="DM Serif Display"/>
              </a:rPr>
              <a:t>V</a:t>
            </a:r>
          </a:p>
        </p:txBody>
      </p:sp>
      <p:sp>
        <p:nvSpPr>
          <p:cNvPr id="6" name="TextBox 5"/>
          <p:cNvSpPr txBox="1"/>
          <p:nvPr/>
        </p:nvSpPr>
        <p:spPr>
          <a:xfrm>
            <a:off x="1282700" y="1874441"/>
            <a:ext cx="2876054" cy="214312"/>
          </a:xfrm>
          <a:prstGeom prst="rect">
            <a:avLst/>
          </a:prstGeom>
          <a:noFill/>
        </p:spPr>
        <p:txBody>
          <a:bodyPr wrap="none" lIns="0" tIns="0" rIns="0" bIns="0" anchor="t">
            <a:noAutofit/>
          </a:bodyPr>
          <a:lstStyle/>
          <a:p>
            <a:pPr algn="l">
              <a:lnSpc>
                <a:spcPts val="1687"/>
              </a:lnSpc>
            </a:pPr>
            <a:r>
              <a:rPr sz="1350" b="1" i="0">
                <a:solidFill>
                  <a:srgbClr val="0B6E8F"/>
                </a:solidFill>
                <a:latin typeface="DM Sans"/>
              </a:rPr>
              <a:t>V</a:t>
            </a:r>
            <a:r>
              <a:rPr sz="1350" b="1" i="0">
                <a:solidFill>
                  <a:srgbClr val="0A2540"/>
                </a:solidFill>
                <a:latin typeface="DM Sans"/>
              </a:rPr>
              <a:t>aten stabiel</a:t>
            </a:r>
          </a:p>
        </p:txBody>
      </p:sp>
      <p:sp>
        <p:nvSpPr>
          <p:cNvPr id="7" name="TextBox 6"/>
          <p:cNvSpPr txBox="1"/>
          <p:nvPr/>
        </p:nvSpPr>
        <p:spPr>
          <a:xfrm>
            <a:off x="1282700" y="2101453"/>
            <a:ext cx="2876054" cy="189865"/>
          </a:xfrm>
          <a:prstGeom prst="rect">
            <a:avLst/>
          </a:prstGeom>
          <a:noFill/>
        </p:spPr>
        <p:txBody>
          <a:bodyPr wrap="none" lIns="0" tIns="0" rIns="0" bIns="0" anchor="t">
            <a:noAutofit/>
          </a:bodyPr>
          <a:lstStyle/>
          <a:p>
            <a:pPr algn="l">
              <a:lnSpc>
                <a:spcPts val="1495"/>
              </a:lnSpc>
            </a:pPr>
            <a:r>
              <a:rPr sz="1150" b="0" i="0">
                <a:solidFill>
                  <a:srgbClr val="3A4F63"/>
                </a:solidFill>
                <a:latin typeface="DM Sans"/>
              </a:rPr>
              <a:t>PEDIS-graad 1–2, naar oordeel van de arts</a:t>
            </a:r>
          </a:p>
        </p:txBody>
      </p:sp>
      <p:sp>
        <p:nvSpPr>
          <p:cNvPr id="8" name="Rounded Rectangle 7"/>
          <p:cNvSpPr/>
          <p:nvPr/>
        </p:nvSpPr>
        <p:spPr>
          <a:xfrm>
            <a:off x="812800" y="2392859"/>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14003" y="2462709"/>
            <a:ext cx="178495" cy="190500"/>
          </a:xfrm>
          <a:prstGeom prst="rect">
            <a:avLst/>
          </a:prstGeom>
          <a:noFill/>
        </p:spPr>
        <p:txBody>
          <a:bodyPr wrap="none" lIns="0" tIns="0" rIns="0" bIns="0" anchor="t">
            <a:noAutofit/>
          </a:bodyPr>
          <a:lstStyle/>
          <a:p>
            <a:pPr algn="l">
              <a:lnSpc>
                <a:spcPts val="1500"/>
              </a:lnSpc>
            </a:pPr>
            <a:r>
              <a:rPr sz="1500" b="0" i="0">
                <a:solidFill>
                  <a:srgbClr val="0A2540"/>
                </a:solidFill>
                <a:latin typeface="DM Serif Display"/>
              </a:rPr>
              <a:t>O</a:t>
            </a:r>
          </a:p>
        </p:txBody>
      </p:sp>
      <p:sp>
        <p:nvSpPr>
          <p:cNvPr id="10" name="TextBox 9"/>
          <p:cNvSpPr txBox="1"/>
          <p:nvPr/>
        </p:nvSpPr>
        <p:spPr>
          <a:xfrm>
            <a:off x="1282700" y="2392859"/>
            <a:ext cx="4660900" cy="214312"/>
          </a:xfrm>
          <a:prstGeom prst="rect">
            <a:avLst/>
          </a:prstGeom>
          <a:noFill/>
        </p:spPr>
        <p:txBody>
          <a:bodyPr wrap="none" lIns="0" tIns="0" rIns="0" bIns="0" anchor="t">
            <a:noAutofit/>
          </a:bodyPr>
          <a:lstStyle/>
          <a:p>
            <a:pPr algn="l">
              <a:lnSpc>
                <a:spcPts val="1687"/>
              </a:lnSpc>
            </a:pPr>
            <a:r>
              <a:rPr sz="1350" b="1" i="0">
                <a:solidFill>
                  <a:srgbClr val="0B6E8F"/>
                </a:solidFill>
                <a:latin typeface="DM Sans"/>
              </a:rPr>
              <a:t>O</a:t>
            </a:r>
            <a:r>
              <a:rPr sz="1350" b="1" i="0">
                <a:solidFill>
                  <a:srgbClr val="0A2540"/>
                </a:solidFill>
                <a:latin typeface="DM Sans"/>
              </a:rPr>
              <a:t>nlangs een voetwonde</a:t>
            </a:r>
          </a:p>
        </p:txBody>
      </p:sp>
      <p:sp>
        <p:nvSpPr>
          <p:cNvPr id="11" name="TextBox 10"/>
          <p:cNvSpPr txBox="1"/>
          <p:nvPr/>
        </p:nvSpPr>
        <p:spPr>
          <a:xfrm>
            <a:off x="1282700" y="2619871"/>
            <a:ext cx="4702302" cy="569416"/>
          </a:xfrm>
          <a:prstGeom prst="rect">
            <a:avLst/>
          </a:prstGeom>
          <a:noFill/>
        </p:spPr>
        <p:txBody>
          <a:bodyPr wrap="square" lIns="0" tIns="0" rIns="0" bIns="0" anchor="t">
            <a:noAutofit/>
          </a:bodyPr>
          <a:lstStyle/>
          <a:p>
            <a:pPr algn="l">
              <a:lnSpc>
                <a:spcPts val="1495"/>
              </a:lnSpc>
            </a:pPr>
            <a:r>
              <a:rPr sz="1150" b="0" i="0">
                <a:solidFill>
                  <a:srgbClr val="3A4F63"/>
                </a:solidFill>
                <a:latin typeface="DM Sans"/>
              </a:rPr>
              <a:t>IWGDF-risico 3: genezen plantair ulcus, teen- of halluxamputatie, of resectie van één of meer metatarsaalkopjes (ook de eerste), 2 weken tot 18 maanden geleden</a:t>
            </a:r>
          </a:p>
        </p:txBody>
      </p:sp>
      <p:sp>
        <p:nvSpPr>
          <p:cNvPr id="12" name="Rounded Rectangle 11"/>
          <p:cNvSpPr/>
          <p:nvPr/>
        </p:nvSpPr>
        <p:spPr>
          <a:xfrm>
            <a:off x="812800" y="3290888"/>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25016" y="3360738"/>
            <a:ext cx="156567" cy="190500"/>
          </a:xfrm>
          <a:prstGeom prst="rect">
            <a:avLst/>
          </a:prstGeom>
          <a:noFill/>
        </p:spPr>
        <p:txBody>
          <a:bodyPr wrap="none" lIns="0" tIns="0" rIns="0" bIns="0" anchor="t">
            <a:noAutofit/>
          </a:bodyPr>
          <a:lstStyle/>
          <a:p>
            <a:pPr algn="l">
              <a:lnSpc>
                <a:spcPts val="1500"/>
              </a:lnSpc>
            </a:pPr>
            <a:r>
              <a:rPr sz="1500" b="0" i="0">
                <a:solidFill>
                  <a:srgbClr val="0A2540"/>
                </a:solidFill>
                <a:latin typeface="DM Serif Display"/>
              </a:rPr>
              <a:t>E</a:t>
            </a:r>
          </a:p>
        </p:txBody>
      </p:sp>
      <p:sp>
        <p:nvSpPr>
          <p:cNvPr id="14" name="TextBox 13"/>
          <p:cNvSpPr txBox="1"/>
          <p:nvPr/>
        </p:nvSpPr>
        <p:spPr>
          <a:xfrm>
            <a:off x="1282700" y="3290888"/>
            <a:ext cx="3326705" cy="214312"/>
          </a:xfrm>
          <a:prstGeom prst="rect">
            <a:avLst/>
          </a:prstGeom>
          <a:noFill/>
        </p:spPr>
        <p:txBody>
          <a:bodyPr wrap="none" lIns="0" tIns="0" rIns="0" bIns="0" anchor="t">
            <a:noAutofit/>
          </a:bodyPr>
          <a:lstStyle/>
          <a:p>
            <a:pPr algn="l">
              <a:lnSpc>
                <a:spcPts val="1687"/>
              </a:lnSpc>
            </a:pPr>
            <a:r>
              <a:rPr sz="1350" b="1" i="0">
                <a:solidFill>
                  <a:srgbClr val="0B6E8F"/>
                </a:solidFill>
                <a:latin typeface="DM Sans"/>
              </a:rPr>
              <a:t>E</a:t>
            </a:r>
            <a:r>
              <a:rPr sz="1350" b="1" i="0">
                <a:solidFill>
                  <a:srgbClr val="0A2540"/>
                </a:solidFill>
                <a:latin typeface="DM Sans"/>
              </a:rPr>
              <a:t>igen stappen</a:t>
            </a:r>
          </a:p>
        </p:txBody>
      </p:sp>
      <p:sp>
        <p:nvSpPr>
          <p:cNvPr id="15" name="TextBox 14"/>
          <p:cNvSpPr txBox="1"/>
          <p:nvPr/>
        </p:nvSpPr>
        <p:spPr>
          <a:xfrm>
            <a:off x="1282700" y="3517900"/>
            <a:ext cx="3326705" cy="189865"/>
          </a:xfrm>
          <a:prstGeom prst="rect">
            <a:avLst/>
          </a:prstGeom>
          <a:noFill/>
        </p:spPr>
        <p:txBody>
          <a:bodyPr wrap="none" lIns="0" tIns="0" rIns="0" bIns="0" anchor="t">
            <a:noAutofit/>
          </a:bodyPr>
          <a:lstStyle/>
          <a:p>
            <a:pPr algn="l">
              <a:lnSpc>
                <a:spcPts val="1495"/>
              </a:lnSpc>
            </a:pPr>
            <a:r>
              <a:rPr sz="1150" b="0" i="0">
                <a:solidFill>
                  <a:srgbClr val="3A4F63"/>
                </a:solidFill>
                <a:latin typeface="DM Sans"/>
              </a:rPr>
              <a:t>stapt zelfstandig blootsvoets, zonder hulpmiddel</a:t>
            </a:r>
          </a:p>
        </p:txBody>
      </p:sp>
      <p:sp>
        <p:nvSpPr>
          <p:cNvPr id="16" name="Rounded Rectangle 15"/>
          <p:cNvSpPr/>
          <p:nvPr/>
        </p:nvSpPr>
        <p:spPr>
          <a:xfrm>
            <a:off x="812800" y="3809305"/>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18170" y="3879155"/>
            <a:ext cx="170259" cy="190500"/>
          </a:xfrm>
          <a:prstGeom prst="rect">
            <a:avLst/>
          </a:prstGeom>
          <a:noFill/>
        </p:spPr>
        <p:txBody>
          <a:bodyPr wrap="none" lIns="0" tIns="0" rIns="0" bIns="0" anchor="t">
            <a:noAutofit/>
          </a:bodyPr>
          <a:lstStyle/>
          <a:p>
            <a:pPr algn="l">
              <a:lnSpc>
                <a:spcPts val="1500"/>
              </a:lnSpc>
            </a:pPr>
            <a:r>
              <a:rPr sz="1500" b="0" i="0">
                <a:solidFill>
                  <a:srgbClr val="0A2540"/>
                </a:solidFill>
                <a:latin typeface="DM Serif Display"/>
              </a:rPr>
              <a:t>T</a:t>
            </a:r>
          </a:p>
        </p:txBody>
      </p:sp>
      <p:sp>
        <p:nvSpPr>
          <p:cNvPr id="18" name="TextBox 17"/>
          <p:cNvSpPr txBox="1"/>
          <p:nvPr/>
        </p:nvSpPr>
        <p:spPr>
          <a:xfrm>
            <a:off x="1282700" y="3809305"/>
            <a:ext cx="914499" cy="214312"/>
          </a:xfrm>
          <a:prstGeom prst="rect">
            <a:avLst/>
          </a:prstGeom>
          <a:noFill/>
        </p:spPr>
        <p:txBody>
          <a:bodyPr wrap="none" lIns="0" tIns="0" rIns="0" bIns="0" anchor="t">
            <a:noAutofit/>
          </a:bodyPr>
          <a:lstStyle/>
          <a:p>
            <a:pPr algn="l">
              <a:lnSpc>
                <a:spcPts val="1687"/>
              </a:lnSpc>
            </a:pPr>
            <a:r>
              <a:rPr sz="1350" b="1" i="0">
                <a:solidFill>
                  <a:srgbClr val="0B6E8F"/>
                </a:solidFill>
                <a:latin typeface="DM Sans"/>
              </a:rPr>
              <a:t>T</a:t>
            </a:r>
            <a:r>
              <a:rPr sz="1350" b="1" i="0">
                <a:solidFill>
                  <a:srgbClr val="0A2540"/>
                </a:solidFill>
                <a:latin typeface="DM Sans"/>
              </a:rPr>
              <a:t>ype 1 of 2</a:t>
            </a:r>
          </a:p>
        </p:txBody>
      </p:sp>
      <p:sp>
        <p:nvSpPr>
          <p:cNvPr id="19" name="Rounded Rectangle 18"/>
          <p:cNvSpPr/>
          <p:nvPr/>
        </p:nvSpPr>
        <p:spPr>
          <a:xfrm>
            <a:off x="812800" y="4241105"/>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25016" y="4310955"/>
            <a:ext cx="156567" cy="190500"/>
          </a:xfrm>
          <a:prstGeom prst="rect">
            <a:avLst/>
          </a:prstGeom>
          <a:noFill/>
        </p:spPr>
        <p:txBody>
          <a:bodyPr wrap="none" lIns="0" tIns="0" rIns="0" bIns="0" anchor="t">
            <a:noAutofit/>
          </a:bodyPr>
          <a:lstStyle/>
          <a:p>
            <a:pPr algn="l">
              <a:lnSpc>
                <a:spcPts val="1500"/>
              </a:lnSpc>
            </a:pPr>
            <a:r>
              <a:rPr sz="1500" b="0" i="0">
                <a:solidFill>
                  <a:srgbClr val="0A2540"/>
                </a:solidFill>
                <a:latin typeface="DM Serif Display"/>
              </a:rPr>
              <a:t>E</a:t>
            </a:r>
          </a:p>
        </p:txBody>
      </p:sp>
      <p:sp>
        <p:nvSpPr>
          <p:cNvPr id="21" name="TextBox 20"/>
          <p:cNvSpPr txBox="1"/>
          <p:nvPr/>
        </p:nvSpPr>
        <p:spPr>
          <a:xfrm>
            <a:off x="1282700" y="4241105"/>
            <a:ext cx="2484338" cy="214312"/>
          </a:xfrm>
          <a:prstGeom prst="rect">
            <a:avLst/>
          </a:prstGeom>
          <a:noFill/>
        </p:spPr>
        <p:txBody>
          <a:bodyPr wrap="none" lIns="0" tIns="0" rIns="0" bIns="0" anchor="t">
            <a:noAutofit/>
          </a:bodyPr>
          <a:lstStyle/>
          <a:p>
            <a:pPr algn="l">
              <a:lnSpc>
                <a:spcPts val="1687"/>
              </a:lnSpc>
            </a:pPr>
            <a:r>
              <a:rPr sz="1350" b="1" i="0">
                <a:solidFill>
                  <a:srgbClr val="0B6E8F"/>
                </a:solidFill>
                <a:latin typeface="DM Sans"/>
              </a:rPr>
              <a:t>E</a:t>
            </a:r>
            <a:r>
              <a:rPr sz="1350" b="1" i="0">
                <a:solidFill>
                  <a:srgbClr val="0A2540"/>
                </a:solidFill>
                <a:latin typeface="DM Sans"/>
              </a:rPr>
              <a:t>cht beschermend schoeisel</a:t>
            </a:r>
          </a:p>
        </p:txBody>
      </p:sp>
      <p:sp>
        <p:nvSpPr>
          <p:cNvPr id="22" name="TextBox 21"/>
          <p:cNvSpPr txBox="1"/>
          <p:nvPr/>
        </p:nvSpPr>
        <p:spPr>
          <a:xfrm>
            <a:off x="1282700" y="4468118"/>
            <a:ext cx="2484338" cy="189865"/>
          </a:xfrm>
          <a:prstGeom prst="rect">
            <a:avLst/>
          </a:prstGeom>
          <a:noFill/>
        </p:spPr>
        <p:txBody>
          <a:bodyPr wrap="none" lIns="0" tIns="0" rIns="0" bIns="0" anchor="t">
            <a:noAutofit/>
          </a:bodyPr>
          <a:lstStyle/>
          <a:p>
            <a:pPr algn="l">
              <a:lnSpc>
                <a:spcPts val="1495"/>
              </a:lnSpc>
            </a:pPr>
            <a:r>
              <a:rPr sz="1150" b="0" i="0">
                <a:solidFill>
                  <a:srgbClr val="3A4F63"/>
                </a:solidFill>
                <a:latin typeface="DM Sans"/>
              </a:rPr>
              <a:t>of bereid om over te schakelen</a:t>
            </a:r>
          </a:p>
        </p:txBody>
      </p:sp>
      <p:sp>
        <p:nvSpPr>
          <p:cNvPr id="23" name="Rounded Rectangle 22"/>
          <p:cNvSpPr/>
          <p:nvPr/>
        </p:nvSpPr>
        <p:spPr>
          <a:xfrm>
            <a:off x="812800" y="4759523"/>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15690" y="4829373"/>
            <a:ext cx="175220" cy="190500"/>
          </a:xfrm>
          <a:prstGeom prst="rect">
            <a:avLst/>
          </a:prstGeom>
          <a:noFill/>
        </p:spPr>
        <p:txBody>
          <a:bodyPr wrap="none" lIns="0" tIns="0" rIns="0" bIns="0" anchor="t">
            <a:noAutofit/>
          </a:bodyPr>
          <a:lstStyle/>
          <a:p>
            <a:pPr algn="l">
              <a:lnSpc>
                <a:spcPts val="1500"/>
              </a:lnSpc>
            </a:pPr>
            <a:r>
              <a:rPr sz="1500" b="0" i="0">
                <a:solidFill>
                  <a:srgbClr val="0A2540"/>
                </a:solidFill>
                <a:latin typeface="DM Serif Display"/>
              </a:rPr>
              <a:t>N</a:t>
            </a:r>
          </a:p>
        </p:txBody>
      </p:sp>
      <p:sp>
        <p:nvSpPr>
          <p:cNvPr id="25" name="TextBox 24"/>
          <p:cNvSpPr txBox="1"/>
          <p:nvPr/>
        </p:nvSpPr>
        <p:spPr>
          <a:xfrm>
            <a:off x="1282700" y="4759523"/>
            <a:ext cx="2484041" cy="214312"/>
          </a:xfrm>
          <a:prstGeom prst="rect">
            <a:avLst/>
          </a:prstGeom>
          <a:noFill/>
        </p:spPr>
        <p:txBody>
          <a:bodyPr wrap="none" lIns="0" tIns="0" rIns="0" bIns="0" anchor="t">
            <a:noAutofit/>
          </a:bodyPr>
          <a:lstStyle/>
          <a:p>
            <a:pPr algn="l">
              <a:lnSpc>
                <a:spcPts val="1687"/>
              </a:lnSpc>
            </a:pPr>
            <a:r>
              <a:rPr sz="1350" b="1" i="0">
                <a:solidFill>
                  <a:srgbClr val="0B6E8F"/>
                </a:solidFill>
                <a:latin typeface="DM Sans"/>
              </a:rPr>
              <a:t>N</a:t>
            </a:r>
            <a:r>
              <a:rPr sz="1350" b="1" i="0">
                <a:solidFill>
                  <a:srgbClr val="0A2540"/>
                </a:solidFill>
                <a:latin typeface="DM Sans"/>
              </a:rPr>
              <a:t>ederlands en volwassen</a:t>
            </a:r>
          </a:p>
        </p:txBody>
      </p:sp>
      <p:sp>
        <p:nvSpPr>
          <p:cNvPr id="26" name="TextBox 25"/>
          <p:cNvSpPr txBox="1"/>
          <p:nvPr/>
        </p:nvSpPr>
        <p:spPr>
          <a:xfrm>
            <a:off x="1282700" y="4986536"/>
            <a:ext cx="2484041" cy="189865"/>
          </a:xfrm>
          <a:prstGeom prst="rect">
            <a:avLst/>
          </a:prstGeom>
          <a:noFill/>
        </p:spPr>
        <p:txBody>
          <a:bodyPr wrap="none" lIns="0" tIns="0" rIns="0" bIns="0" anchor="t">
            <a:noAutofit/>
          </a:bodyPr>
          <a:lstStyle/>
          <a:p>
            <a:pPr algn="l">
              <a:lnSpc>
                <a:spcPts val="1495"/>
              </a:lnSpc>
            </a:pPr>
            <a:r>
              <a:rPr sz="1150" b="0" i="0">
                <a:solidFill>
                  <a:srgbClr val="3A4F63"/>
                </a:solidFill>
                <a:latin typeface="DM Sans"/>
              </a:rPr>
              <a:t>18 jaar of ouder, begrijpt Nederlands</a:t>
            </a:r>
          </a:p>
        </p:txBody>
      </p:sp>
      <p:sp>
        <p:nvSpPr>
          <p:cNvPr id="27" name="TextBox 26"/>
          <p:cNvSpPr txBox="1"/>
          <p:nvPr/>
        </p:nvSpPr>
        <p:spPr>
          <a:xfrm>
            <a:off x="6299200" y="1544241"/>
            <a:ext cx="5130800" cy="228600"/>
          </a:xfrm>
          <a:prstGeom prst="rect">
            <a:avLst/>
          </a:prstGeom>
          <a:noFill/>
        </p:spPr>
        <p:txBody>
          <a:bodyPr wrap="none" lIns="0" tIns="0" rIns="0" bIns="0" anchor="t">
            <a:noAutofit/>
          </a:bodyPr>
          <a:lstStyle/>
          <a:p>
            <a:pPr algn="l">
              <a:lnSpc>
                <a:spcPts val="1800"/>
              </a:lnSpc>
            </a:pPr>
            <a:r>
              <a:rPr sz="1500" b="1" i="0">
                <a:solidFill>
                  <a:srgbClr val="A34A00"/>
                </a:solidFill>
                <a:latin typeface="DM Sans"/>
              </a:rPr>
              <a:t>Niet</a:t>
            </a:r>
            <a:r>
              <a:rPr sz="1200" b="0" i="0">
                <a:solidFill>
                  <a:srgbClr val="5A6E80"/>
                </a:solidFill>
                <a:latin typeface="DM Sans"/>
              </a:rPr>
              <a:t> · één criterium volstaat om uit te sluiten</a:t>
            </a:r>
          </a:p>
        </p:txBody>
      </p:sp>
      <p:sp>
        <p:nvSpPr>
          <p:cNvPr id="28" name="TextBox 27"/>
          <p:cNvSpPr txBox="1"/>
          <p:nvPr/>
        </p:nvSpPr>
        <p:spPr>
          <a:xfrm>
            <a:off x="6299200" y="1849041"/>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29" name="TextBox 28"/>
          <p:cNvSpPr txBox="1"/>
          <p:nvPr/>
        </p:nvSpPr>
        <p:spPr>
          <a:xfrm>
            <a:off x="6483747" y="1849041"/>
            <a:ext cx="3499941"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Amputatie proximaal van de MTP-gewrichten</a:t>
            </a:r>
          </a:p>
        </p:txBody>
      </p:sp>
      <p:sp>
        <p:nvSpPr>
          <p:cNvPr id="30" name="TextBox 29"/>
          <p:cNvSpPr txBox="1"/>
          <p:nvPr/>
        </p:nvSpPr>
        <p:spPr>
          <a:xfrm>
            <a:off x="6299200" y="2139851"/>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31" name="TextBox 30"/>
          <p:cNvSpPr txBox="1"/>
          <p:nvPr/>
        </p:nvSpPr>
        <p:spPr>
          <a:xfrm>
            <a:off x="6483747" y="2139851"/>
            <a:ext cx="3088481"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Actief voetulcus of Charcot-deformiteit</a:t>
            </a:r>
          </a:p>
        </p:txBody>
      </p:sp>
      <p:sp>
        <p:nvSpPr>
          <p:cNvPr id="32" name="TextBox 31"/>
          <p:cNvSpPr txBox="1"/>
          <p:nvPr/>
        </p:nvSpPr>
        <p:spPr>
          <a:xfrm>
            <a:off x="6299200" y="2430661"/>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33" name="TextBox 32"/>
          <p:cNvSpPr txBox="1"/>
          <p:nvPr/>
        </p:nvSpPr>
        <p:spPr>
          <a:xfrm>
            <a:off x="6483747" y="2430661"/>
            <a:ext cx="4993362"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Kritische ischemie, PEDIS 3: enkeldruk &lt; 50, teendruk &lt; 30 of TcpO₂ &lt; 30 mmHg</a:t>
            </a:r>
          </a:p>
        </p:txBody>
      </p:sp>
      <p:sp>
        <p:nvSpPr>
          <p:cNvPr id="34" name="TextBox 33"/>
          <p:cNvSpPr txBox="1"/>
          <p:nvPr/>
        </p:nvSpPr>
        <p:spPr>
          <a:xfrm>
            <a:off x="6299200" y="2936081"/>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35" name="TextBox 34"/>
          <p:cNvSpPr txBox="1"/>
          <p:nvPr/>
        </p:nvSpPr>
        <p:spPr>
          <a:xfrm>
            <a:off x="6483747" y="2936081"/>
            <a:ext cx="2556768"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Nierfunctievervangende therapie</a:t>
            </a:r>
          </a:p>
        </p:txBody>
      </p:sp>
      <p:sp>
        <p:nvSpPr>
          <p:cNvPr id="36" name="TextBox 35"/>
          <p:cNvSpPr txBox="1"/>
          <p:nvPr/>
        </p:nvSpPr>
        <p:spPr>
          <a:xfrm>
            <a:off x="6299200" y="3226891"/>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37" name="TextBox 36"/>
          <p:cNvSpPr txBox="1"/>
          <p:nvPr/>
        </p:nvSpPr>
        <p:spPr>
          <a:xfrm>
            <a:off x="6483747" y="3226891"/>
            <a:ext cx="2364383"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Immunosuppressieve therapie</a:t>
            </a:r>
          </a:p>
        </p:txBody>
      </p:sp>
      <p:sp>
        <p:nvSpPr>
          <p:cNvPr id="38" name="TextBox 37"/>
          <p:cNvSpPr txBox="1"/>
          <p:nvPr/>
        </p:nvSpPr>
        <p:spPr>
          <a:xfrm>
            <a:off x="6299200" y="3517702"/>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39" name="TextBox 38"/>
          <p:cNvSpPr txBox="1"/>
          <p:nvPr/>
        </p:nvSpPr>
        <p:spPr>
          <a:xfrm>
            <a:off x="6483747" y="3517702"/>
            <a:ext cx="4698107"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Verwachte overleving &lt; 18 maanden, naar oordeel van de arts</a:t>
            </a:r>
          </a:p>
        </p:txBody>
      </p:sp>
      <p:sp>
        <p:nvSpPr>
          <p:cNvPr id="40" name="TextBox 39"/>
          <p:cNvSpPr txBox="1"/>
          <p:nvPr/>
        </p:nvSpPr>
        <p:spPr>
          <a:xfrm>
            <a:off x="6299200" y="3808512"/>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41" name="TextBox 40"/>
          <p:cNvSpPr txBox="1"/>
          <p:nvPr/>
        </p:nvSpPr>
        <p:spPr>
          <a:xfrm>
            <a:off x="6483747" y="3808512"/>
            <a:ext cx="4455220"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Kan geen toestemming geven of de instructies niet volgen</a:t>
            </a:r>
          </a:p>
        </p:txBody>
      </p:sp>
      <p:sp>
        <p:nvSpPr>
          <p:cNvPr id="42" name="TextBox 41"/>
          <p:cNvSpPr txBox="1"/>
          <p:nvPr/>
        </p:nvSpPr>
        <p:spPr>
          <a:xfrm>
            <a:off x="6299200" y="4099322"/>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43" name="TextBox 42"/>
          <p:cNvSpPr txBox="1"/>
          <p:nvPr/>
        </p:nvSpPr>
        <p:spPr>
          <a:xfrm>
            <a:off x="6483747" y="4099322"/>
            <a:ext cx="4993362"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Hulpmiddel dat de druksensoren belemmert, zoals een enkel-voetorthese</a:t>
            </a:r>
          </a:p>
        </p:txBody>
      </p:sp>
      <p:sp>
        <p:nvSpPr>
          <p:cNvPr id="44" name="TextBox 43"/>
          <p:cNvSpPr txBox="1"/>
          <p:nvPr/>
        </p:nvSpPr>
        <p:spPr>
          <a:xfrm>
            <a:off x="6299200" y="4604742"/>
            <a:ext cx="146447" cy="214630"/>
          </a:xfrm>
          <a:prstGeom prst="rect">
            <a:avLst/>
          </a:prstGeom>
          <a:noFill/>
        </p:spPr>
        <p:txBody>
          <a:bodyPr wrap="none" lIns="0" tIns="0" rIns="0" bIns="0" anchor="t">
            <a:noAutofit/>
          </a:bodyPr>
          <a:lstStyle/>
          <a:p>
            <a:pPr algn="l">
              <a:lnSpc>
                <a:spcPts val="1689"/>
              </a:lnSpc>
            </a:pPr>
            <a:r>
              <a:rPr sz="1300" b="1" i="0">
                <a:solidFill>
                  <a:srgbClr val="A34A00"/>
                </a:solidFill>
                <a:latin typeface="DM Sans"/>
              </a:rPr>
              <a:t>×</a:t>
            </a:r>
          </a:p>
        </p:txBody>
      </p:sp>
      <p:sp>
        <p:nvSpPr>
          <p:cNvPr id="45" name="TextBox 44"/>
          <p:cNvSpPr txBox="1"/>
          <p:nvPr/>
        </p:nvSpPr>
        <p:spPr>
          <a:xfrm>
            <a:off x="6483747" y="4604742"/>
            <a:ext cx="4993362" cy="429220"/>
          </a:xfrm>
          <a:prstGeom prst="rect">
            <a:avLst/>
          </a:prstGeom>
          <a:noFill/>
        </p:spPr>
        <p:txBody>
          <a:bodyPr wrap="square" lIns="0" tIns="0" rIns="0" bIns="0" anchor="t">
            <a:noAutofit/>
          </a:bodyPr>
          <a:lstStyle/>
          <a:p>
            <a:pPr algn="l">
              <a:lnSpc>
                <a:spcPts val="1689"/>
              </a:lnSpc>
            </a:pPr>
            <a:r>
              <a:rPr sz="1300" b="0" i="0">
                <a:solidFill>
                  <a:srgbClr val="3A4F63"/>
                </a:solidFill>
                <a:latin typeface="DM Sans"/>
              </a:rPr>
              <a:t>Weigert het beschermend schoeisel of de draagsensor in de zool</a:t>
            </a:r>
          </a:p>
        </p:txBody>
      </p:sp>
      <p:pic>
        <p:nvPicPr>
          <p:cNvPr id="46" name="Picture 45"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47" name="TextBox 46"/>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Geschiktheid</a:t>
            </a:r>
          </a:p>
        </p:txBody>
      </p:sp>
      <p:sp>
        <p:nvSpPr>
          <p:cNvPr id="48" name="TextBox 47"/>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§4.1 · IWGDF 2023 · de arts screent en vraagt de toestemming</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Screening plus negen visites</a:t>
            </a:r>
          </a:p>
        </p:txBody>
      </p:sp>
      <p:sp>
        <p:nvSpPr>
          <p:cNvPr id="3" name="Rectangle 2"/>
          <p:cNvSpPr/>
          <p:nvPr/>
        </p:nvSpPr>
        <p:spPr>
          <a:xfrm>
            <a:off x="1333500" y="2508250"/>
            <a:ext cx="9525000" cy="1905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4700" y="1879600"/>
            <a:ext cx="1117600" cy="307340"/>
          </a:xfrm>
          <a:prstGeom prst="rect">
            <a:avLst/>
          </a:prstGeom>
          <a:noFill/>
        </p:spPr>
        <p:txBody>
          <a:bodyPr wrap="none" lIns="0" tIns="0" rIns="0" bIns="0" anchor="t">
            <a:noAutofit/>
          </a:bodyPr>
          <a:lstStyle/>
          <a:p>
            <a:pPr algn="ctr">
              <a:lnSpc>
                <a:spcPts val="2420"/>
              </a:lnSpc>
            </a:pPr>
            <a:r>
              <a:rPr sz="2200" b="0" i="0">
                <a:solidFill>
                  <a:srgbClr val="0A2540"/>
                </a:solidFill>
                <a:latin typeface="DM Serif Display"/>
              </a:rPr>
              <a:t>Screen</a:t>
            </a:r>
          </a:p>
        </p:txBody>
      </p:sp>
      <p:sp>
        <p:nvSpPr>
          <p:cNvPr id="5" name="Rounded Rectangle 4"/>
          <p:cNvSpPr/>
          <p:nvPr/>
        </p:nvSpPr>
        <p:spPr>
          <a:xfrm>
            <a:off x="1244600" y="2425700"/>
            <a:ext cx="177800" cy="17780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4700" y="2730500"/>
            <a:ext cx="1117600" cy="190500"/>
          </a:xfrm>
          <a:prstGeom prst="rect">
            <a:avLst/>
          </a:prstGeom>
          <a:noFill/>
        </p:spPr>
        <p:txBody>
          <a:bodyPr wrap="none" lIns="0" tIns="0" rIns="0" bIns="0" anchor="t">
            <a:noAutofit/>
          </a:bodyPr>
          <a:lstStyle/>
          <a:p>
            <a:pPr algn="ctr">
              <a:lnSpc>
                <a:spcPts val="1500"/>
              </a:lnSpc>
            </a:pPr>
            <a:r>
              <a:rPr sz="1200" b="0" i="0">
                <a:solidFill>
                  <a:srgbClr val="5A6E80"/>
                </a:solidFill>
                <a:latin typeface="DM Sans"/>
              </a:rPr>
              <a:t>geschiktheid</a:t>
            </a:r>
          </a:p>
        </p:txBody>
      </p:sp>
      <p:sp>
        <p:nvSpPr>
          <p:cNvPr id="7" name="TextBox 6"/>
          <p:cNvSpPr txBox="1"/>
          <p:nvPr/>
        </p:nvSpPr>
        <p:spPr>
          <a:xfrm>
            <a:off x="1835150" y="1879600"/>
            <a:ext cx="1117600" cy="307340"/>
          </a:xfrm>
          <a:prstGeom prst="rect">
            <a:avLst/>
          </a:prstGeom>
          <a:noFill/>
        </p:spPr>
        <p:txBody>
          <a:bodyPr wrap="none" lIns="0" tIns="0" rIns="0" bIns="0" anchor="t">
            <a:noAutofit/>
          </a:bodyPr>
          <a:lstStyle/>
          <a:p>
            <a:pPr algn="ctr">
              <a:lnSpc>
                <a:spcPts val="2420"/>
              </a:lnSpc>
            </a:pPr>
            <a:r>
              <a:rPr sz="2200" b="0" i="0">
                <a:solidFill>
                  <a:srgbClr val="0A2540"/>
                </a:solidFill>
                <a:latin typeface="DM Serif Display"/>
              </a:rPr>
              <a:t>V0</a:t>
            </a:r>
          </a:p>
        </p:txBody>
      </p:sp>
      <p:sp>
        <p:nvSpPr>
          <p:cNvPr id="8" name="Rounded Rectangle 7"/>
          <p:cNvSpPr/>
          <p:nvPr/>
        </p:nvSpPr>
        <p:spPr>
          <a:xfrm>
            <a:off x="2305050" y="2425700"/>
            <a:ext cx="177800" cy="17780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835150" y="2730500"/>
            <a:ext cx="1117600" cy="190500"/>
          </a:xfrm>
          <a:prstGeom prst="rect">
            <a:avLst/>
          </a:prstGeom>
          <a:noFill/>
        </p:spPr>
        <p:txBody>
          <a:bodyPr wrap="none" lIns="0" tIns="0" rIns="0" bIns="0" anchor="t">
            <a:noAutofit/>
          </a:bodyPr>
          <a:lstStyle/>
          <a:p>
            <a:pPr algn="ctr">
              <a:lnSpc>
                <a:spcPts val="1500"/>
              </a:lnSpc>
            </a:pPr>
            <a:r>
              <a:rPr sz="1200" b="0" i="0">
                <a:solidFill>
                  <a:srgbClr val="5A6E80"/>
                </a:solidFill>
                <a:latin typeface="DM Sans"/>
              </a:rPr>
              <a:t>loting</a:t>
            </a:r>
          </a:p>
        </p:txBody>
      </p:sp>
      <p:sp>
        <p:nvSpPr>
          <p:cNvPr id="10" name="TextBox 9"/>
          <p:cNvSpPr txBox="1"/>
          <p:nvPr/>
        </p:nvSpPr>
        <p:spPr>
          <a:xfrm>
            <a:off x="2889250" y="1879600"/>
            <a:ext cx="1117600" cy="307340"/>
          </a:xfrm>
          <a:prstGeom prst="rect">
            <a:avLst/>
          </a:prstGeom>
          <a:noFill/>
        </p:spPr>
        <p:txBody>
          <a:bodyPr wrap="none" lIns="0" tIns="0" rIns="0" bIns="0" anchor="t">
            <a:noAutofit/>
          </a:bodyPr>
          <a:lstStyle/>
          <a:p>
            <a:pPr algn="ctr">
              <a:lnSpc>
                <a:spcPts val="2420"/>
              </a:lnSpc>
            </a:pPr>
            <a:r>
              <a:rPr sz="2200" b="0" i="0">
                <a:solidFill>
                  <a:srgbClr val="0A2540"/>
                </a:solidFill>
                <a:latin typeface="DM Serif Display"/>
              </a:rPr>
              <a:t>V1</a:t>
            </a:r>
          </a:p>
        </p:txBody>
      </p:sp>
      <p:sp>
        <p:nvSpPr>
          <p:cNvPr id="11" name="Rounded Rectangle 10"/>
          <p:cNvSpPr/>
          <p:nvPr/>
        </p:nvSpPr>
        <p:spPr>
          <a:xfrm>
            <a:off x="3359150" y="2425700"/>
            <a:ext cx="177800" cy="1778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889250" y="2730500"/>
            <a:ext cx="1117600" cy="190500"/>
          </a:xfrm>
          <a:prstGeom prst="rect">
            <a:avLst/>
          </a:prstGeom>
          <a:noFill/>
        </p:spPr>
        <p:txBody>
          <a:bodyPr wrap="none" lIns="0" tIns="0" rIns="0" bIns="0" anchor="t">
            <a:noAutofit/>
          </a:bodyPr>
          <a:lstStyle/>
          <a:p>
            <a:pPr algn="ctr">
              <a:lnSpc>
                <a:spcPts val="1500"/>
              </a:lnSpc>
            </a:pPr>
            <a:r>
              <a:rPr sz="1200" b="0" i="0">
                <a:solidFill>
                  <a:srgbClr val="5A6E80"/>
                </a:solidFill>
                <a:latin typeface="DM Sans"/>
              </a:rPr>
              <a:t>baseline</a:t>
            </a:r>
          </a:p>
        </p:txBody>
      </p:sp>
      <p:sp>
        <p:nvSpPr>
          <p:cNvPr id="13" name="TextBox 12"/>
          <p:cNvSpPr txBox="1"/>
          <p:nvPr/>
        </p:nvSpPr>
        <p:spPr>
          <a:xfrm>
            <a:off x="3949700" y="1879600"/>
            <a:ext cx="1117600" cy="307340"/>
          </a:xfrm>
          <a:prstGeom prst="rect">
            <a:avLst/>
          </a:prstGeom>
          <a:noFill/>
        </p:spPr>
        <p:txBody>
          <a:bodyPr wrap="none" lIns="0" tIns="0" rIns="0" bIns="0" anchor="t">
            <a:noAutofit/>
          </a:bodyPr>
          <a:lstStyle/>
          <a:p>
            <a:pPr algn="ctr">
              <a:lnSpc>
                <a:spcPts val="2420"/>
              </a:lnSpc>
            </a:pPr>
            <a:r>
              <a:rPr sz="2200" b="0" i="0">
                <a:solidFill>
                  <a:srgbClr val="0A2540"/>
                </a:solidFill>
                <a:latin typeface="DM Serif Display"/>
              </a:rPr>
              <a:t>V2</a:t>
            </a:r>
          </a:p>
        </p:txBody>
      </p:sp>
      <p:sp>
        <p:nvSpPr>
          <p:cNvPr id="14" name="Rounded Rectangle 13"/>
          <p:cNvSpPr/>
          <p:nvPr/>
        </p:nvSpPr>
        <p:spPr>
          <a:xfrm>
            <a:off x="4419600" y="2425700"/>
            <a:ext cx="177800" cy="1778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949700" y="2730500"/>
            <a:ext cx="1117600" cy="190500"/>
          </a:xfrm>
          <a:prstGeom prst="rect">
            <a:avLst/>
          </a:prstGeom>
          <a:noFill/>
        </p:spPr>
        <p:txBody>
          <a:bodyPr wrap="none" lIns="0" tIns="0" rIns="0" bIns="0" anchor="t">
            <a:noAutofit/>
          </a:bodyPr>
          <a:lstStyle/>
          <a:p>
            <a:pPr algn="ctr">
              <a:lnSpc>
                <a:spcPts val="1500"/>
              </a:lnSpc>
            </a:pPr>
            <a:r>
              <a:rPr sz="1200" b="0" i="0">
                <a:solidFill>
                  <a:srgbClr val="5A6E80"/>
                </a:solidFill>
                <a:latin typeface="DM Sans"/>
              </a:rPr>
              <a:t>zool + sensor</a:t>
            </a:r>
          </a:p>
        </p:txBody>
      </p:sp>
      <p:sp>
        <p:nvSpPr>
          <p:cNvPr id="16" name="TextBox 15"/>
          <p:cNvSpPr txBox="1"/>
          <p:nvPr/>
        </p:nvSpPr>
        <p:spPr>
          <a:xfrm>
            <a:off x="5010150" y="1879600"/>
            <a:ext cx="1117600" cy="307340"/>
          </a:xfrm>
          <a:prstGeom prst="rect">
            <a:avLst/>
          </a:prstGeom>
          <a:noFill/>
        </p:spPr>
        <p:txBody>
          <a:bodyPr wrap="none" lIns="0" tIns="0" rIns="0" bIns="0" anchor="t">
            <a:noAutofit/>
          </a:bodyPr>
          <a:lstStyle/>
          <a:p>
            <a:pPr algn="ctr">
              <a:lnSpc>
                <a:spcPts val="2420"/>
              </a:lnSpc>
            </a:pPr>
            <a:r>
              <a:rPr sz="2200" b="0" i="0">
                <a:solidFill>
                  <a:srgbClr val="0A2540"/>
                </a:solidFill>
                <a:latin typeface="DM Serif Display"/>
              </a:rPr>
              <a:t>M3</a:t>
            </a:r>
          </a:p>
        </p:txBody>
      </p:sp>
      <p:sp>
        <p:nvSpPr>
          <p:cNvPr id="17" name="Rounded Rectangle 16"/>
          <p:cNvSpPr/>
          <p:nvPr/>
        </p:nvSpPr>
        <p:spPr>
          <a:xfrm>
            <a:off x="5480050" y="2425700"/>
            <a:ext cx="177800" cy="1778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010150" y="2730500"/>
            <a:ext cx="1117600" cy="190500"/>
          </a:xfrm>
          <a:prstGeom prst="rect">
            <a:avLst/>
          </a:prstGeom>
          <a:noFill/>
        </p:spPr>
        <p:txBody>
          <a:bodyPr wrap="none" lIns="0" tIns="0" rIns="0" bIns="0" anchor="t">
            <a:noAutofit/>
          </a:bodyPr>
          <a:lstStyle/>
          <a:p>
            <a:pPr algn="ctr">
              <a:lnSpc>
                <a:spcPts val="1500"/>
              </a:lnSpc>
            </a:pPr>
            <a:r>
              <a:rPr sz="1200" b="0" i="0">
                <a:solidFill>
                  <a:srgbClr val="5A6E80"/>
                </a:solidFill>
                <a:latin typeface="DM Sans"/>
              </a:rPr>
              <a:t>opvolging</a:t>
            </a:r>
          </a:p>
        </p:txBody>
      </p:sp>
      <p:sp>
        <p:nvSpPr>
          <p:cNvPr id="19" name="TextBox 18"/>
          <p:cNvSpPr txBox="1"/>
          <p:nvPr/>
        </p:nvSpPr>
        <p:spPr>
          <a:xfrm>
            <a:off x="6064250" y="1879600"/>
            <a:ext cx="1117600" cy="307340"/>
          </a:xfrm>
          <a:prstGeom prst="rect">
            <a:avLst/>
          </a:prstGeom>
          <a:noFill/>
        </p:spPr>
        <p:txBody>
          <a:bodyPr wrap="none" lIns="0" tIns="0" rIns="0" bIns="0" anchor="t">
            <a:noAutofit/>
          </a:bodyPr>
          <a:lstStyle/>
          <a:p>
            <a:pPr algn="ctr">
              <a:lnSpc>
                <a:spcPts val="2420"/>
              </a:lnSpc>
            </a:pPr>
            <a:r>
              <a:rPr sz="2200" b="0" i="0">
                <a:solidFill>
                  <a:srgbClr val="0A2540"/>
                </a:solidFill>
                <a:latin typeface="DM Serif Display"/>
              </a:rPr>
              <a:t>M6</a:t>
            </a:r>
          </a:p>
        </p:txBody>
      </p:sp>
      <p:sp>
        <p:nvSpPr>
          <p:cNvPr id="20" name="Rounded Rectangle 19"/>
          <p:cNvSpPr/>
          <p:nvPr/>
        </p:nvSpPr>
        <p:spPr>
          <a:xfrm>
            <a:off x="6534150" y="2425700"/>
            <a:ext cx="177800" cy="1778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064250" y="2730500"/>
            <a:ext cx="1117600" cy="190500"/>
          </a:xfrm>
          <a:prstGeom prst="rect">
            <a:avLst/>
          </a:prstGeom>
          <a:noFill/>
        </p:spPr>
        <p:txBody>
          <a:bodyPr wrap="none" lIns="0" tIns="0" rIns="0" bIns="0" anchor="t">
            <a:noAutofit/>
          </a:bodyPr>
          <a:lstStyle/>
          <a:p>
            <a:pPr algn="ctr">
              <a:lnSpc>
                <a:spcPts val="1500"/>
              </a:lnSpc>
            </a:pPr>
            <a:r>
              <a:rPr sz="1200" b="0" i="0">
                <a:solidFill>
                  <a:srgbClr val="5A6E80"/>
                </a:solidFill>
                <a:latin typeface="DM Sans"/>
              </a:rPr>
              <a:t>meting</a:t>
            </a:r>
          </a:p>
        </p:txBody>
      </p:sp>
      <p:sp>
        <p:nvSpPr>
          <p:cNvPr id="22" name="TextBox 21"/>
          <p:cNvSpPr txBox="1"/>
          <p:nvPr/>
        </p:nvSpPr>
        <p:spPr>
          <a:xfrm>
            <a:off x="7124700" y="1879600"/>
            <a:ext cx="1117600" cy="307340"/>
          </a:xfrm>
          <a:prstGeom prst="rect">
            <a:avLst/>
          </a:prstGeom>
          <a:noFill/>
        </p:spPr>
        <p:txBody>
          <a:bodyPr wrap="none" lIns="0" tIns="0" rIns="0" bIns="0" anchor="t">
            <a:noAutofit/>
          </a:bodyPr>
          <a:lstStyle/>
          <a:p>
            <a:pPr algn="ctr">
              <a:lnSpc>
                <a:spcPts val="2420"/>
              </a:lnSpc>
            </a:pPr>
            <a:r>
              <a:rPr sz="2200" b="0" i="0">
                <a:solidFill>
                  <a:srgbClr val="0A2540"/>
                </a:solidFill>
                <a:latin typeface="DM Serif Display"/>
              </a:rPr>
              <a:t>M9</a:t>
            </a:r>
          </a:p>
        </p:txBody>
      </p:sp>
      <p:sp>
        <p:nvSpPr>
          <p:cNvPr id="23" name="Rounded Rectangle 22"/>
          <p:cNvSpPr/>
          <p:nvPr/>
        </p:nvSpPr>
        <p:spPr>
          <a:xfrm>
            <a:off x="7594600" y="2425700"/>
            <a:ext cx="177800" cy="1778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124700" y="2730500"/>
            <a:ext cx="1117600" cy="190500"/>
          </a:xfrm>
          <a:prstGeom prst="rect">
            <a:avLst/>
          </a:prstGeom>
          <a:noFill/>
        </p:spPr>
        <p:txBody>
          <a:bodyPr wrap="none" lIns="0" tIns="0" rIns="0" bIns="0" anchor="t">
            <a:noAutofit/>
          </a:bodyPr>
          <a:lstStyle/>
          <a:p>
            <a:pPr algn="ctr">
              <a:lnSpc>
                <a:spcPts val="1500"/>
              </a:lnSpc>
            </a:pPr>
            <a:r>
              <a:rPr sz="1200" b="0" i="0">
                <a:solidFill>
                  <a:srgbClr val="5A6E80"/>
                </a:solidFill>
                <a:latin typeface="DM Sans"/>
              </a:rPr>
              <a:t>opvolging</a:t>
            </a:r>
          </a:p>
        </p:txBody>
      </p:sp>
      <p:sp>
        <p:nvSpPr>
          <p:cNvPr id="25" name="TextBox 24"/>
          <p:cNvSpPr txBox="1"/>
          <p:nvPr/>
        </p:nvSpPr>
        <p:spPr>
          <a:xfrm>
            <a:off x="8185150" y="1879600"/>
            <a:ext cx="1117600" cy="307340"/>
          </a:xfrm>
          <a:prstGeom prst="rect">
            <a:avLst/>
          </a:prstGeom>
          <a:noFill/>
        </p:spPr>
        <p:txBody>
          <a:bodyPr wrap="none" lIns="0" tIns="0" rIns="0" bIns="0" anchor="t">
            <a:noAutofit/>
          </a:bodyPr>
          <a:lstStyle/>
          <a:p>
            <a:pPr algn="ctr">
              <a:lnSpc>
                <a:spcPts val="2420"/>
              </a:lnSpc>
            </a:pPr>
            <a:r>
              <a:rPr sz="2200" b="0" i="0">
                <a:solidFill>
                  <a:srgbClr val="0A2540"/>
                </a:solidFill>
                <a:latin typeface="DM Serif Display"/>
              </a:rPr>
              <a:t>M12</a:t>
            </a:r>
          </a:p>
        </p:txBody>
      </p:sp>
      <p:sp>
        <p:nvSpPr>
          <p:cNvPr id="26" name="Rounded Rectangle 25"/>
          <p:cNvSpPr/>
          <p:nvPr/>
        </p:nvSpPr>
        <p:spPr>
          <a:xfrm>
            <a:off x="8655050" y="2425700"/>
            <a:ext cx="177800" cy="1778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185150" y="2730500"/>
            <a:ext cx="1117600" cy="190500"/>
          </a:xfrm>
          <a:prstGeom prst="rect">
            <a:avLst/>
          </a:prstGeom>
          <a:noFill/>
        </p:spPr>
        <p:txBody>
          <a:bodyPr wrap="none" lIns="0" tIns="0" rIns="0" bIns="0" anchor="t">
            <a:noAutofit/>
          </a:bodyPr>
          <a:lstStyle/>
          <a:p>
            <a:pPr algn="ctr">
              <a:lnSpc>
                <a:spcPts val="1500"/>
              </a:lnSpc>
            </a:pPr>
            <a:r>
              <a:rPr sz="1200" b="0" i="0">
                <a:solidFill>
                  <a:srgbClr val="5A6E80"/>
                </a:solidFill>
                <a:latin typeface="DM Sans"/>
              </a:rPr>
              <a:t>meting</a:t>
            </a:r>
          </a:p>
        </p:txBody>
      </p:sp>
      <p:sp>
        <p:nvSpPr>
          <p:cNvPr id="28" name="TextBox 27"/>
          <p:cNvSpPr txBox="1"/>
          <p:nvPr/>
        </p:nvSpPr>
        <p:spPr>
          <a:xfrm>
            <a:off x="9239250" y="1879600"/>
            <a:ext cx="1117600" cy="307340"/>
          </a:xfrm>
          <a:prstGeom prst="rect">
            <a:avLst/>
          </a:prstGeom>
          <a:noFill/>
        </p:spPr>
        <p:txBody>
          <a:bodyPr wrap="none" lIns="0" tIns="0" rIns="0" bIns="0" anchor="t">
            <a:noAutofit/>
          </a:bodyPr>
          <a:lstStyle/>
          <a:p>
            <a:pPr algn="ctr">
              <a:lnSpc>
                <a:spcPts val="2420"/>
              </a:lnSpc>
            </a:pPr>
            <a:r>
              <a:rPr sz="2200" b="0" i="0">
                <a:solidFill>
                  <a:srgbClr val="0A2540"/>
                </a:solidFill>
                <a:latin typeface="DM Serif Display"/>
              </a:rPr>
              <a:t>M15</a:t>
            </a:r>
          </a:p>
        </p:txBody>
      </p:sp>
      <p:sp>
        <p:nvSpPr>
          <p:cNvPr id="29" name="Rounded Rectangle 28"/>
          <p:cNvSpPr/>
          <p:nvPr/>
        </p:nvSpPr>
        <p:spPr>
          <a:xfrm>
            <a:off x="9709150" y="2425700"/>
            <a:ext cx="177800" cy="1778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9239250" y="2730500"/>
            <a:ext cx="1117600" cy="190500"/>
          </a:xfrm>
          <a:prstGeom prst="rect">
            <a:avLst/>
          </a:prstGeom>
          <a:noFill/>
        </p:spPr>
        <p:txBody>
          <a:bodyPr wrap="none" lIns="0" tIns="0" rIns="0" bIns="0" anchor="t">
            <a:noAutofit/>
          </a:bodyPr>
          <a:lstStyle/>
          <a:p>
            <a:pPr algn="ctr">
              <a:lnSpc>
                <a:spcPts val="1500"/>
              </a:lnSpc>
            </a:pPr>
            <a:r>
              <a:rPr sz="1200" b="0" i="0">
                <a:solidFill>
                  <a:srgbClr val="5A6E80"/>
                </a:solidFill>
                <a:latin typeface="DM Sans"/>
              </a:rPr>
              <a:t>opvolging</a:t>
            </a:r>
          </a:p>
        </p:txBody>
      </p:sp>
      <p:sp>
        <p:nvSpPr>
          <p:cNvPr id="31" name="TextBox 30"/>
          <p:cNvSpPr txBox="1"/>
          <p:nvPr/>
        </p:nvSpPr>
        <p:spPr>
          <a:xfrm>
            <a:off x="10299700" y="1879600"/>
            <a:ext cx="1117600" cy="307340"/>
          </a:xfrm>
          <a:prstGeom prst="rect">
            <a:avLst/>
          </a:prstGeom>
          <a:noFill/>
        </p:spPr>
        <p:txBody>
          <a:bodyPr wrap="none" lIns="0" tIns="0" rIns="0" bIns="0" anchor="t">
            <a:noAutofit/>
          </a:bodyPr>
          <a:lstStyle/>
          <a:p>
            <a:pPr algn="ctr">
              <a:lnSpc>
                <a:spcPts val="2420"/>
              </a:lnSpc>
            </a:pPr>
            <a:r>
              <a:rPr sz="2200" b="0" i="0">
                <a:solidFill>
                  <a:srgbClr val="0A2540"/>
                </a:solidFill>
                <a:latin typeface="DM Serif Display"/>
              </a:rPr>
              <a:t>M18</a:t>
            </a:r>
          </a:p>
        </p:txBody>
      </p:sp>
      <p:sp>
        <p:nvSpPr>
          <p:cNvPr id="32" name="Rounded Rectangle 31"/>
          <p:cNvSpPr/>
          <p:nvPr/>
        </p:nvSpPr>
        <p:spPr>
          <a:xfrm>
            <a:off x="10769600" y="2425700"/>
            <a:ext cx="177800" cy="17780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10299700" y="2730500"/>
            <a:ext cx="1117600" cy="190500"/>
          </a:xfrm>
          <a:prstGeom prst="rect">
            <a:avLst/>
          </a:prstGeom>
          <a:noFill/>
        </p:spPr>
        <p:txBody>
          <a:bodyPr wrap="none" lIns="0" tIns="0" rIns="0" bIns="0" anchor="t">
            <a:noAutofit/>
          </a:bodyPr>
          <a:lstStyle/>
          <a:p>
            <a:pPr algn="ctr">
              <a:lnSpc>
                <a:spcPts val="1500"/>
              </a:lnSpc>
            </a:pPr>
            <a:r>
              <a:rPr sz="1200" b="0" i="0">
                <a:solidFill>
                  <a:srgbClr val="5A6E80"/>
                </a:solidFill>
                <a:latin typeface="DM Sans"/>
              </a:rPr>
              <a:t>meting + einde</a:t>
            </a:r>
          </a:p>
        </p:txBody>
      </p:sp>
      <p:sp>
        <p:nvSpPr>
          <p:cNvPr id="34" name="Rounded Rectangle 33"/>
          <p:cNvSpPr/>
          <p:nvPr/>
        </p:nvSpPr>
        <p:spPr>
          <a:xfrm>
            <a:off x="812800" y="3461941"/>
            <a:ext cx="139700" cy="1397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1028700" y="3429000"/>
            <a:ext cx="1012627" cy="205740"/>
          </a:xfrm>
          <a:prstGeom prst="rect">
            <a:avLst/>
          </a:prstGeom>
          <a:noFill/>
        </p:spPr>
        <p:txBody>
          <a:bodyPr wrap="none" lIns="0" tIns="0" rIns="0" bIns="0" anchor="t">
            <a:noAutofit/>
          </a:bodyPr>
          <a:lstStyle/>
          <a:p>
            <a:pPr algn="l">
              <a:lnSpc>
                <a:spcPts val="1620"/>
              </a:lnSpc>
            </a:pPr>
            <a:r>
              <a:rPr sz="1200" b="0" i="0">
                <a:solidFill>
                  <a:srgbClr val="3A4F63"/>
                </a:solidFill>
                <a:latin typeface="DM Sans"/>
              </a:rPr>
              <a:t>meetmoment</a:t>
            </a:r>
          </a:p>
        </p:txBody>
      </p:sp>
      <p:sp>
        <p:nvSpPr>
          <p:cNvPr id="36" name="Rounded Rectangle 35"/>
          <p:cNvSpPr/>
          <p:nvPr/>
        </p:nvSpPr>
        <p:spPr>
          <a:xfrm>
            <a:off x="2295327" y="3461941"/>
            <a:ext cx="139700" cy="1397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2511227" y="3429000"/>
            <a:ext cx="862707" cy="205740"/>
          </a:xfrm>
          <a:prstGeom prst="rect">
            <a:avLst/>
          </a:prstGeom>
          <a:noFill/>
        </p:spPr>
        <p:txBody>
          <a:bodyPr wrap="none" lIns="0" tIns="0" rIns="0" bIns="0" anchor="t">
            <a:noAutofit/>
          </a:bodyPr>
          <a:lstStyle/>
          <a:p>
            <a:pPr algn="l">
              <a:lnSpc>
                <a:spcPts val="1620"/>
              </a:lnSpc>
            </a:pPr>
            <a:r>
              <a:rPr sz="1200" b="0" i="0">
                <a:solidFill>
                  <a:srgbClr val="3A4F63"/>
                </a:solidFill>
                <a:latin typeface="DM Sans"/>
              </a:rPr>
              <a:t>begeleiding</a:t>
            </a:r>
          </a:p>
        </p:txBody>
      </p:sp>
      <p:sp>
        <p:nvSpPr>
          <p:cNvPr id="38" name="Rounded Rectangle 37"/>
          <p:cNvSpPr/>
          <p:nvPr/>
        </p:nvSpPr>
        <p:spPr>
          <a:xfrm>
            <a:off x="3627934" y="3461941"/>
            <a:ext cx="139700" cy="13970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3843834" y="3429000"/>
            <a:ext cx="1308596" cy="205740"/>
          </a:xfrm>
          <a:prstGeom prst="rect">
            <a:avLst/>
          </a:prstGeom>
          <a:noFill/>
        </p:spPr>
        <p:txBody>
          <a:bodyPr wrap="none" lIns="0" tIns="0" rIns="0" bIns="0" anchor="t">
            <a:noAutofit/>
          </a:bodyPr>
          <a:lstStyle/>
          <a:p>
            <a:pPr algn="l">
              <a:lnSpc>
                <a:spcPts val="1620"/>
              </a:lnSpc>
            </a:pPr>
            <a:r>
              <a:rPr sz="1200" b="0" i="0">
                <a:solidFill>
                  <a:srgbClr val="3A4F63"/>
                </a:solidFill>
                <a:latin typeface="DM Sans"/>
              </a:rPr>
              <a:t>start en afronding</a:t>
            </a:r>
          </a:p>
        </p:txBody>
      </p:sp>
      <p:sp>
        <p:nvSpPr>
          <p:cNvPr id="40" name="Rectangle 39"/>
          <p:cNvSpPr/>
          <p:nvPr/>
        </p:nvSpPr>
        <p:spPr>
          <a:xfrm>
            <a:off x="812800" y="4064000"/>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12800" y="4273550"/>
            <a:ext cx="1701800" cy="1079500"/>
          </a:xfrm>
          <a:prstGeom prst="rect">
            <a:avLst/>
          </a:prstGeom>
          <a:noFill/>
        </p:spPr>
        <p:txBody>
          <a:bodyPr wrap="none" lIns="0" tIns="0" rIns="0" bIns="0" anchor="t">
            <a:noAutofit/>
          </a:bodyPr>
          <a:lstStyle/>
          <a:p>
            <a:pPr algn="l">
              <a:lnSpc>
                <a:spcPts val="8500"/>
              </a:lnSpc>
            </a:pPr>
            <a:r>
              <a:rPr sz="10000" b="0" i="0">
                <a:solidFill>
                  <a:srgbClr val="0B6E8F"/>
                </a:solidFill>
                <a:latin typeface="DM Serif Display"/>
              </a:rPr>
              <a:t>18</a:t>
            </a:r>
          </a:p>
        </p:txBody>
      </p:sp>
      <p:sp>
        <p:nvSpPr>
          <p:cNvPr id="42" name="TextBox 41"/>
          <p:cNvSpPr txBox="1"/>
          <p:nvPr/>
        </p:nvSpPr>
        <p:spPr>
          <a:xfrm>
            <a:off x="2768600" y="4273550"/>
            <a:ext cx="8661400" cy="335280"/>
          </a:xfrm>
          <a:prstGeom prst="rect">
            <a:avLst/>
          </a:prstGeom>
          <a:noFill/>
        </p:spPr>
        <p:txBody>
          <a:bodyPr wrap="none" lIns="0" tIns="0" rIns="0" bIns="0" anchor="t">
            <a:noAutofit/>
          </a:bodyPr>
          <a:lstStyle/>
          <a:p>
            <a:pPr algn="l">
              <a:lnSpc>
                <a:spcPts val="2640"/>
              </a:lnSpc>
            </a:pPr>
            <a:r>
              <a:rPr sz="2400" b="0" i="0">
                <a:solidFill>
                  <a:srgbClr val="0A2540"/>
                </a:solidFill>
                <a:latin typeface="DM Serif Display"/>
              </a:rPr>
              <a:t>maanden, van screening tot afronding</a:t>
            </a:r>
          </a:p>
        </p:txBody>
      </p:sp>
      <p:sp>
        <p:nvSpPr>
          <p:cNvPr id="43" name="TextBox 42"/>
          <p:cNvSpPr txBox="1"/>
          <p:nvPr/>
        </p:nvSpPr>
        <p:spPr>
          <a:xfrm>
            <a:off x="2768600" y="4697710"/>
            <a:ext cx="8782812"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Visite 0 tot 2 liggen dicht op elkaar: toestemming, baseline, en de zool binnen de maand. Daarna is het ritme elke drie maanden, hetzelfde ritme als de controle die deze patiënten al krijgen.</a:t>
            </a:r>
          </a:p>
        </p:txBody>
      </p:sp>
      <p:pic>
        <p:nvPicPr>
          <p:cNvPr id="44" name="Picture 43"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45" name="TextBox 44"/>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Het traject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ounded Rectangle 1"/>
          <p:cNvSpPr/>
          <p:nvPr/>
        </p:nvSpPr>
        <p:spPr>
          <a:xfrm>
            <a:off x="9220200" y="889000"/>
            <a:ext cx="2159000" cy="4127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9194800" y="952500"/>
            <a:ext cx="2209800" cy="285750"/>
          </a:xfrm>
          <a:prstGeom prst="rect">
            <a:avLst/>
          </a:prstGeom>
          <a:noFill/>
        </p:spPr>
        <p:txBody>
          <a:bodyPr wrap="none" lIns="0" tIns="0" rIns="0" bIns="0" anchor="t">
            <a:noAutofit/>
          </a:bodyPr>
          <a:lstStyle/>
          <a:p>
            <a:pPr algn="ctr"/>
            <a:r>
              <a:rPr sz="1700" b="1" i="0">
                <a:solidFill>
                  <a:srgbClr val="F2F8FC"/>
                </a:solidFill>
                <a:latin typeface="DM Sans"/>
              </a:rPr>
              <a:t>Optimal Care</a:t>
            </a:r>
          </a:p>
        </p:txBody>
      </p:sp>
      <p:sp>
        <p:nvSpPr>
          <p:cNvPr id="4" name="TextBox 3"/>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SEBIA-interventie: componenten</a:t>
            </a:r>
          </a:p>
        </p:txBody>
      </p:sp>
      <p:sp>
        <p:nvSpPr>
          <p:cNvPr id="5" name="TextBox 4"/>
          <p:cNvSpPr txBox="1"/>
          <p:nvPr/>
        </p:nvSpPr>
        <p:spPr>
          <a:xfrm>
            <a:off x="812800" y="1391841"/>
            <a:ext cx="10617200" cy="240030"/>
          </a:xfrm>
          <a:prstGeom prst="rect">
            <a:avLst/>
          </a:prstGeom>
          <a:noFill/>
        </p:spPr>
        <p:txBody>
          <a:bodyPr wrap="none" lIns="0" tIns="0" rIns="0" bIns="0" anchor="t">
            <a:noAutofit/>
          </a:bodyPr>
          <a:lstStyle/>
          <a:p>
            <a:pPr algn="l">
              <a:lnSpc>
                <a:spcPts val="1889"/>
              </a:lnSpc>
            </a:pPr>
            <a:r>
              <a:rPr sz="1400" b="0" i="0">
                <a:solidFill>
                  <a:srgbClr val="5A6E80"/>
                </a:solidFill>
                <a:latin typeface="DM Sans"/>
              </a:rPr>
              <a:t>Structured Education and Behavioural Intervention Approach</a:t>
            </a:r>
          </a:p>
        </p:txBody>
      </p:sp>
      <p:pic>
        <p:nvPicPr>
          <p:cNvPr id="6" name="Picture 5" descr="c3b0794b4b8e9f72993b1736210076da.png"/>
          <p:cNvPicPr>
            <a:picLocks noChangeAspect="1"/>
          </p:cNvPicPr>
          <p:nvPr/>
        </p:nvPicPr>
        <p:blipFill>
          <a:blip r:embed="rId3"/>
          <a:stretch>
            <a:fillRect/>
          </a:stretch>
        </p:blipFill>
        <p:spPr>
          <a:xfrm>
            <a:off x="812800" y="1879600"/>
            <a:ext cx="5130800" cy="1905000"/>
          </a:xfrm>
          <a:prstGeom prst="rect">
            <a:avLst/>
          </a:prstGeom>
        </p:spPr>
      </p:pic>
      <p:pic>
        <p:nvPicPr>
          <p:cNvPr id="7" name="Picture 6" descr="641553d6586f5f4ed2ec6a41356b9475.png"/>
          <p:cNvPicPr>
            <a:picLocks noChangeAspect="1"/>
          </p:cNvPicPr>
          <p:nvPr/>
        </p:nvPicPr>
        <p:blipFill>
          <a:blip r:embed="rId4"/>
          <a:stretch>
            <a:fillRect/>
          </a:stretch>
        </p:blipFill>
        <p:spPr>
          <a:xfrm>
            <a:off x="6248400" y="1879600"/>
            <a:ext cx="5130800" cy="1905000"/>
          </a:xfrm>
          <a:prstGeom prst="rect">
            <a:avLst/>
          </a:prstGeom>
        </p:spPr>
      </p:pic>
      <p:sp>
        <p:nvSpPr>
          <p:cNvPr id="8" name="TextBox 7"/>
          <p:cNvSpPr txBox="1"/>
          <p:nvPr/>
        </p:nvSpPr>
        <p:spPr>
          <a:xfrm>
            <a:off x="812800" y="3937000"/>
            <a:ext cx="5181600" cy="222885"/>
          </a:xfrm>
          <a:prstGeom prst="rect">
            <a:avLst/>
          </a:prstGeom>
          <a:noFill/>
        </p:spPr>
        <p:txBody>
          <a:bodyPr wrap="none" lIns="0" tIns="0" rIns="0" bIns="0" anchor="t">
            <a:noAutofit/>
          </a:bodyPr>
          <a:lstStyle/>
          <a:p>
            <a:pPr algn="l">
              <a:lnSpc>
                <a:spcPts val="1755"/>
              </a:lnSpc>
            </a:pPr>
            <a:r>
              <a:rPr sz="1300" b="1" i="0">
                <a:solidFill>
                  <a:srgbClr val="00407A"/>
                </a:solidFill>
                <a:latin typeface="DM Sans"/>
              </a:rPr>
              <a:t>01</a:t>
            </a:r>
          </a:p>
        </p:txBody>
      </p:sp>
      <p:sp>
        <p:nvSpPr>
          <p:cNvPr id="9" name="TextBox 8"/>
          <p:cNvSpPr txBox="1"/>
          <p:nvPr/>
        </p:nvSpPr>
        <p:spPr>
          <a:xfrm>
            <a:off x="812800" y="4223345"/>
            <a:ext cx="5181600" cy="330200"/>
          </a:xfrm>
          <a:prstGeom prst="rect">
            <a:avLst/>
          </a:prstGeom>
          <a:noFill/>
        </p:spPr>
        <p:txBody>
          <a:bodyPr wrap="none" lIns="0" tIns="0" rIns="0" bIns="0" anchor="t">
            <a:noAutofit/>
          </a:bodyPr>
          <a:lstStyle/>
          <a:p>
            <a:pPr algn="l">
              <a:lnSpc>
                <a:spcPts val="2600"/>
              </a:lnSpc>
            </a:pPr>
            <a:r>
              <a:rPr sz="2600" b="0" i="0">
                <a:solidFill>
                  <a:srgbClr val="00407A"/>
                </a:solidFill>
                <a:latin typeface="DM Serif Display"/>
              </a:rPr>
              <a:t>Diabetesvoetzorg</a:t>
            </a:r>
          </a:p>
        </p:txBody>
      </p:sp>
      <p:sp>
        <p:nvSpPr>
          <p:cNvPr id="10" name="TextBox 9"/>
          <p:cNvSpPr txBox="1"/>
          <p:nvPr/>
        </p:nvSpPr>
        <p:spPr>
          <a:xfrm>
            <a:off x="812800" y="4667845"/>
            <a:ext cx="5181600" cy="240030"/>
          </a:xfrm>
          <a:prstGeom prst="rect">
            <a:avLst/>
          </a:prstGeom>
          <a:noFill/>
        </p:spPr>
        <p:txBody>
          <a:bodyPr wrap="none" lIns="0" tIns="0" rIns="0" bIns="0" anchor="t">
            <a:noAutofit/>
          </a:bodyPr>
          <a:lstStyle/>
          <a:p>
            <a:pPr algn="l">
              <a:lnSpc>
                <a:spcPts val="1889"/>
              </a:lnSpc>
            </a:pPr>
            <a:r>
              <a:rPr sz="1400" b="1" i="0">
                <a:solidFill>
                  <a:srgbClr val="00407A"/>
                </a:solidFill>
                <a:latin typeface="DM Sans"/>
              </a:rPr>
              <a:t>Educatie en skills training</a:t>
            </a:r>
          </a:p>
        </p:txBody>
      </p:sp>
      <p:sp>
        <p:nvSpPr>
          <p:cNvPr id="11" name="TextBox 10"/>
          <p:cNvSpPr txBox="1"/>
          <p:nvPr/>
        </p:nvSpPr>
        <p:spPr>
          <a:xfrm>
            <a:off x="812800" y="4971355"/>
            <a:ext cx="5181600" cy="231140"/>
          </a:xfrm>
          <a:prstGeom prst="rect">
            <a:avLst/>
          </a:prstGeom>
          <a:noFill/>
        </p:spPr>
        <p:txBody>
          <a:bodyPr wrap="none" lIns="0" tIns="0" rIns="0" bIns="0" anchor="t">
            <a:noAutofit/>
          </a:bodyPr>
          <a:lstStyle/>
          <a:p>
            <a:pPr algn="l">
              <a:lnSpc>
                <a:spcPts val="1820"/>
              </a:lnSpc>
            </a:pPr>
            <a:r>
              <a:rPr sz="1400" b="0" i="0">
                <a:solidFill>
                  <a:srgbClr val="3A4F63"/>
                </a:solidFill>
                <a:latin typeface="DM Sans"/>
              </a:rPr>
              <a:t>Kennis goede voetzorg</a:t>
            </a:r>
          </a:p>
        </p:txBody>
      </p:sp>
      <p:sp>
        <p:nvSpPr>
          <p:cNvPr id="12" name="TextBox 11"/>
          <p:cNvSpPr txBox="1"/>
          <p:nvPr/>
        </p:nvSpPr>
        <p:spPr>
          <a:xfrm>
            <a:off x="812800" y="5265936"/>
            <a:ext cx="5181600" cy="231140"/>
          </a:xfrm>
          <a:prstGeom prst="rect">
            <a:avLst/>
          </a:prstGeom>
          <a:noFill/>
        </p:spPr>
        <p:txBody>
          <a:bodyPr wrap="none" lIns="0" tIns="0" rIns="0" bIns="0" anchor="t">
            <a:noAutofit/>
          </a:bodyPr>
          <a:lstStyle/>
          <a:p>
            <a:pPr algn="l">
              <a:lnSpc>
                <a:spcPts val="1820"/>
              </a:lnSpc>
            </a:pPr>
            <a:r>
              <a:rPr sz="1400" b="0" i="0">
                <a:solidFill>
                  <a:srgbClr val="3A4F63"/>
                </a:solidFill>
                <a:latin typeface="DM Sans"/>
              </a:rPr>
              <a:t>Uitvoeren van goede voetzorg</a:t>
            </a:r>
          </a:p>
        </p:txBody>
      </p:sp>
      <p:sp>
        <p:nvSpPr>
          <p:cNvPr id="13" name="TextBox 12"/>
          <p:cNvSpPr txBox="1"/>
          <p:nvPr/>
        </p:nvSpPr>
        <p:spPr>
          <a:xfrm>
            <a:off x="812800" y="5560516"/>
            <a:ext cx="5181600" cy="231140"/>
          </a:xfrm>
          <a:prstGeom prst="rect">
            <a:avLst/>
          </a:prstGeom>
          <a:noFill/>
        </p:spPr>
        <p:txBody>
          <a:bodyPr wrap="none" lIns="0" tIns="0" rIns="0" bIns="0" anchor="t">
            <a:noAutofit/>
          </a:bodyPr>
          <a:lstStyle/>
          <a:p>
            <a:pPr algn="l">
              <a:lnSpc>
                <a:spcPts val="1820"/>
              </a:lnSpc>
            </a:pPr>
            <a:r>
              <a:rPr sz="1400" b="0" i="0">
                <a:solidFill>
                  <a:srgbClr val="3A4F63"/>
                </a:solidFill>
                <a:latin typeface="DM Sans"/>
              </a:rPr>
              <a:t>Kennis belang aangepast schoeisel en zolen</a:t>
            </a:r>
          </a:p>
        </p:txBody>
      </p:sp>
      <p:sp>
        <p:nvSpPr>
          <p:cNvPr id="14" name="TextBox 13"/>
          <p:cNvSpPr txBox="1"/>
          <p:nvPr/>
        </p:nvSpPr>
        <p:spPr>
          <a:xfrm>
            <a:off x="6248400" y="3937000"/>
            <a:ext cx="5181600" cy="222885"/>
          </a:xfrm>
          <a:prstGeom prst="rect">
            <a:avLst/>
          </a:prstGeom>
          <a:noFill/>
        </p:spPr>
        <p:txBody>
          <a:bodyPr wrap="none" lIns="0" tIns="0" rIns="0" bIns="0" anchor="t">
            <a:noAutofit/>
          </a:bodyPr>
          <a:lstStyle/>
          <a:p>
            <a:pPr algn="l">
              <a:lnSpc>
                <a:spcPts val="1755"/>
              </a:lnSpc>
            </a:pPr>
            <a:r>
              <a:rPr sz="1300" b="1" i="0">
                <a:solidFill>
                  <a:srgbClr val="0B6E8F"/>
                </a:solidFill>
                <a:latin typeface="DM Sans"/>
              </a:rPr>
              <a:t>02</a:t>
            </a:r>
          </a:p>
        </p:txBody>
      </p:sp>
      <p:sp>
        <p:nvSpPr>
          <p:cNvPr id="15" name="TextBox 14"/>
          <p:cNvSpPr txBox="1"/>
          <p:nvPr/>
        </p:nvSpPr>
        <p:spPr>
          <a:xfrm>
            <a:off x="6248400" y="4223345"/>
            <a:ext cx="5181600" cy="330200"/>
          </a:xfrm>
          <a:prstGeom prst="rect">
            <a:avLst/>
          </a:prstGeom>
          <a:noFill/>
        </p:spPr>
        <p:txBody>
          <a:bodyPr wrap="none" lIns="0" tIns="0" rIns="0" bIns="0" anchor="t">
            <a:noAutofit/>
          </a:bodyPr>
          <a:lstStyle/>
          <a:p>
            <a:pPr algn="l">
              <a:lnSpc>
                <a:spcPts val="2600"/>
              </a:lnSpc>
            </a:pPr>
            <a:r>
              <a:rPr sz="2600" b="0" i="0">
                <a:solidFill>
                  <a:srgbClr val="0B6E8F"/>
                </a:solidFill>
                <a:latin typeface="DM Serif Display"/>
              </a:rPr>
              <a:t>Therapietrouw</a:t>
            </a:r>
          </a:p>
        </p:txBody>
      </p:sp>
      <p:sp>
        <p:nvSpPr>
          <p:cNvPr id="16" name="TextBox 15"/>
          <p:cNvSpPr txBox="1"/>
          <p:nvPr/>
        </p:nvSpPr>
        <p:spPr>
          <a:xfrm>
            <a:off x="6248400" y="4617045"/>
            <a:ext cx="5181600" cy="214630"/>
          </a:xfrm>
          <a:prstGeom prst="rect">
            <a:avLst/>
          </a:prstGeom>
          <a:noFill/>
        </p:spPr>
        <p:txBody>
          <a:bodyPr wrap="none" lIns="0" tIns="0" rIns="0" bIns="0" anchor="t">
            <a:noAutofit/>
          </a:bodyPr>
          <a:lstStyle/>
          <a:p>
            <a:pPr algn="l">
              <a:lnSpc>
                <a:spcPts val="1689"/>
              </a:lnSpc>
            </a:pPr>
            <a:r>
              <a:rPr sz="1300" b="0" i="0">
                <a:solidFill>
                  <a:srgbClr val="5A6E80"/>
                </a:solidFill>
                <a:latin typeface="DM Sans"/>
              </a:rPr>
              <a:t>met het dragen van aangepast schoeisel en zolen</a:t>
            </a:r>
          </a:p>
        </p:txBody>
      </p:sp>
      <p:sp>
        <p:nvSpPr>
          <p:cNvPr id="17" name="TextBox 16"/>
          <p:cNvSpPr txBox="1"/>
          <p:nvPr/>
        </p:nvSpPr>
        <p:spPr>
          <a:xfrm>
            <a:off x="6248400" y="4895155"/>
            <a:ext cx="5181600" cy="234950"/>
          </a:xfrm>
          <a:prstGeom prst="rect">
            <a:avLst/>
          </a:prstGeom>
          <a:noFill/>
        </p:spPr>
        <p:txBody>
          <a:bodyPr wrap="none" lIns="0" tIns="0" rIns="0" bIns="0" anchor="t">
            <a:noAutofit/>
          </a:bodyPr>
          <a:lstStyle/>
          <a:p>
            <a:pPr algn="l"/>
            <a:r>
              <a:rPr sz="1400" b="1" i="0">
                <a:solidFill>
                  <a:srgbClr val="0B6E8F"/>
                </a:solidFill>
                <a:latin typeface="DM Sans"/>
              </a:rPr>
              <a:t>Monitoring therapietrouw </a:t>
            </a:r>
            <a:r>
              <a:rPr sz="1400" b="1" i="0">
                <a:solidFill>
                  <a:srgbClr val="9FB3C6"/>
                </a:solidFill>
                <a:latin typeface="DM Sans"/>
              </a:rPr>
              <a:t>→</a:t>
            </a:r>
            <a:r>
              <a:rPr sz="1400" b="1" i="0">
                <a:solidFill>
                  <a:srgbClr val="0B6E8F"/>
                </a:solidFill>
                <a:latin typeface="DM Sans"/>
              </a:rPr>
              <a:t> Verbeteren therapietrouw</a:t>
            </a:r>
          </a:p>
        </p:txBody>
      </p:sp>
      <p:sp>
        <p:nvSpPr>
          <p:cNvPr id="18" name="TextBox 17"/>
          <p:cNvSpPr txBox="1"/>
          <p:nvPr/>
        </p:nvSpPr>
        <p:spPr>
          <a:xfrm>
            <a:off x="6248400" y="5193605"/>
            <a:ext cx="5181600" cy="231140"/>
          </a:xfrm>
          <a:prstGeom prst="rect">
            <a:avLst/>
          </a:prstGeom>
          <a:noFill/>
        </p:spPr>
        <p:txBody>
          <a:bodyPr wrap="none" lIns="0" tIns="0" rIns="0" bIns="0" anchor="t">
            <a:noAutofit/>
          </a:bodyPr>
          <a:lstStyle/>
          <a:p>
            <a:pPr algn="l">
              <a:lnSpc>
                <a:spcPts val="1820"/>
              </a:lnSpc>
            </a:pPr>
            <a:r>
              <a:rPr sz="1400" b="0" i="0">
                <a:solidFill>
                  <a:srgbClr val="3A4F63"/>
                </a:solidFill>
                <a:latin typeface="DM Sans"/>
              </a:rPr>
              <a:t>Verhogen belang/motivatie therapietrouw</a:t>
            </a:r>
          </a:p>
        </p:txBody>
      </p:sp>
      <p:sp>
        <p:nvSpPr>
          <p:cNvPr id="19" name="TextBox 18"/>
          <p:cNvSpPr txBox="1"/>
          <p:nvPr/>
        </p:nvSpPr>
        <p:spPr>
          <a:xfrm>
            <a:off x="6248400" y="5488186"/>
            <a:ext cx="5181600" cy="231140"/>
          </a:xfrm>
          <a:prstGeom prst="rect">
            <a:avLst/>
          </a:prstGeom>
          <a:noFill/>
        </p:spPr>
        <p:txBody>
          <a:bodyPr wrap="none" lIns="0" tIns="0" rIns="0" bIns="0" anchor="t">
            <a:noAutofit/>
          </a:bodyPr>
          <a:lstStyle/>
          <a:p>
            <a:pPr algn="l">
              <a:lnSpc>
                <a:spcPts val="1820"/>
              </a:lnSpc>
            </a:pPr>
            <a:r>
              <a:rPr sz="1400" b="0" i="0">
                <a:solidFill>
                  <a:srgbClr val="3A4F63"/>
                </a:solidFill>
                <a:latin typeface="DM Sans"/>
              </a:rPr>
              <a:t>Aanpakken barrières voor therapietrouw</a:t>
            </a:r>
          </a:p>
        </p:txBody>
      </p:sp>
      <p:pic>
        <p:nvPicPr>
          <p:cNvPr id="20" name="Picture 19" descr="5d72d4b34cb4ecc0be35953d18b4aaa2.png"/>
          <p:cNvPicPr>
            <a:picLocks noChangeAspect="1"/>
          </p:cNvPicPr>
          <p:nvPr/>
        </p:nvPicPr>
        <p:blipFill>
          <a:blip r:embed="rId5"/>
          <a:stretch>
            <a:fillRect/>
          </a:stretch>
        </p:blipFill>
        <p:spPr>
          <a:xfrm>
            <a:off x="812967" y="6261100"/>
            <a:ext cx="171116" cy="203200"/>
          </a:xfrm>
          <a:prstGeom prst="rect">
            <a:avLst/>
          </a:prstGeom>
        </p:spPr>
      </p:pic>
      <p:sp>
        <p:nvSpPr>
          <p:cNvPr id="21" name="TextBox 20"/>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SEBIA · alleen in Optimal Care</a:t>
            </a:r>
          </a:p>
        </p:txBody>
      </p:sp>
      <p:sp>
        <p:nvSpPr>
          <p:cNvPr id="22" name="TextBox 21"/>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SEBIA-overzicht voor de voetklinieken, F. Dobbels, 12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Overzicht inhoud studievisites</a:t>
            </a:r>
          </a:p>
        </p:txBody>
      </p:sp>
      <p:sp>
        <p:nvSpPr>
          <p:cNvPr id="4" name="TextBox 3"/>
          <p:cNvSpPr txBox="1"/>
          <p:nvPr/>
        </p:nvSpPr>
        <p:spPr>
          <a:xfrm>
            <a:off x="812800" y="1569641"/>
            <a:ext cx="1304925" cy="198120"/>
          </a:xfrm>
          <a:prstGeom prst="rect">
            <a:avLst/>
          </a:prstGeom>
          <a:noFill/>
        </p:spPr>
        <p:txBody>
          <a:bodyPr wrap="none" lIns="0" tIns="0" rIns="0" bIns="0" anchor="t">
            <a:noAutofit/>
          </a:bodyPr>
          <a:lstStyle/>
          <a:p>
            <a:pPr algn="l"/>
            <a:r>
              <a:rPr sz="1200" b="1" i="0">
                <a:solidFill>
                  <a:srgbClr val="0A2540"/>
                </a:solidFill>
                <a:latin typeface="DM Sans"/>
              </a:rPr>
              <a:t>V1</a:t>
            </a:r>
            <a:r>
              <a:rPr sz="1200" b="0" i="0">
                <a:solidFill>
                  <a:srgbClr val="0A2540"/>
                </a:solidFill>
                <a:latin typeface="DM Sans"/>
              </a:rPr>
              <a:t> </a:t>
            </a:r>
            <a:r>
              <a:rPr sz="1200" b="0" i="0">
                <a:solidFill>
                  <a:srgbClr val="5A6E80"/>
                </a:solidFill>
                <a:latin typeface="DM Sans"/>
              </a:rPr>
              <a:t>baseline</a:t>
            </a:r>
          </a:p>
        </p:txBody>
      </p:sp>
      <p:sp>
        <p:nvSpPr>
          <p:cNvPr id="5" name="Rounded Rectangle 4"/>
          <p:cNvSpPr/>
          <p:nvPr/>
        </p:nvSpPr>
        <p:spPr>
          <a:xfrm>
            <a:off x="812800" y="1829991"/>
            <a:ext cx="1254125" cy="889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2143125" y="1569641"/>
            <a:ext cx="1304925" cy="198120"/>
          </a:xfrm>
          <a:prstGeom prst="rect">
            <a:avLst/>
          </a:prstGeom>
          <a:noFill/>
        </p:spPr>
        <p:txBody>
          <a:bodyPr wrap="none" lIns="0" tIns="0" rIns="0" bIns="0" anchor="t">
            <a:noAutofit/>
          </a:bodyPr>
          <a:lstStyle/>
          <a:p>
            <a:pPr algn="l"/>
            <a:r>
              <a:rPr sz="1200" b="1" i="0">
                <a:solidFill>
                  <a:srgbClr val="0A2540"/>
                </a:solidFill>
                <a:latin typeface="DM Sans"/>
              </a:rPr>
              <a:t>V2</a:t>
            </a:r>
            <a:r>
              <a:rPr sz="1200" b="0" i="0">
                <a:solidFill>
                  <a:srgbClr val="0A2540"/>
                </a:solidFill>
                <a:latin typeface="DM Sans"/>
              </a:rPr>
              <a:t> </a:t>
            </a:r>
            <a:r>
              <a:rPr sz="1200" b="0" i="0">
                <a:solidFill>
                  <a:srgbClr val="5A6E80"/>
                </a:solidFill>
                <a:latin typeface="DM Sans"/>
              </a:rPr>
              <a:t>d14–m1</a:t>
            </a:r>
          </a:p>
        </p:txBody>
      </p:sp>
      <p:sp>
        <p:nvSpPr>
          <p:cNvPr id="7" name="Rounded Rectangle 6"/>
          <p:cNvSpPr/>
          <p:nvPr/>
        </p:nvSpPr>
        <p:spPr>
          <a:xfrm>
            <a:off x="2143125" y="1829991"/>
            <a:ext cx="1254125" cy="889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473450" y="1569641"/>
            <a:ext cx="1304925" cy="198120"/>
          </a:xfrm>
          <a:prstGeom prst="rect">
            <a:avLst/>
          </a:prstGeom>
          <a:noFill/>
        </p:spPr>
        <p:txBody>
          <a:bodyPr wrap="none" lIns="0" tIns="0" rIns="0" bIns="0" anchor="t">
            <a:noAutofit/>
          </a:bodyPr>
          <a:lstStyle/>
          <a:p>
            <a:pPr algn="l"/>
            <a:r>
              <a:rPr sz="1200" b="1" i="0">
                <a:solidFill>
                  <a:srgbClr val="0A2540"/>
                </a:solidFill>
                <a:latin typeface="DM Sans"/>
              </a:rPr>
              <a:t>V3</a:t>
            </a:r>
            <a:r>
              <a:rPr sz="1200" b="0" i="0">
                <a:solidFill>
                  <a:srgbClr val="0A2540"/>
                </a:solidFill>
                <a:latin typeface="DM Sans"/>
              </a:rPr>
              <a:t> </a:t>
            </a:r>
            <a:r>
              <a:rPr sz="1200" b="0" i="0">
                <a:solidFill>
                  <a:srgbClr val="5A6E80"/>
                </a:solidFill>
                <a:latin typeface="DM Sans"/>
              </a:rPr>
              <a:t>m 3</a:t>
            </a:r>
          </a:p>
        </p:txBody>
      </p:sp>
      <p:sp>
        <p:nvSpPr>
          <p:cNvPr id="9" name="Rounded Rectangle 8"/>
          <p:cNvSpPr/>
          <p:nvPr/>
        </p:nvSpPr>
        <p:spPr>
          <a:xfrm>
            <a:off x="3473450" y="1829991"/>
            <a:ext cx="1254125" cy="889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803775" y="1569641"/>
            <a:ext cx="1304925" cy="198120"/>
          </a:xfrm>
          <a:prstGeom prst="rect">
            <a:avLst/>
          </a:prstGeom>
          <a:noFill/>
        </p:spPr>
        <p:txBody>
          <a:bodyPr wrap="none" lIns="0" tIns="0" rIns="0" bIns="0" anchor="t">
            <a:noAutofit/>
          </a:bodyPr>
          <a:lstStyle/>
          <a:p>
            <a:pPr algn="l"/>
            <a:r>
              <a:rPr sz="1200" b="1" i="0">
                <a:solidFill>
                  <a:srgbClr val="0A2540"/>
                </a:solidFill>
                <a:latin typeface="DM Sans"/>
              </a:rPr>
              <a:t>V4</a:t>
            </a:r>
            <a:r>
              <a:rPr sz="1200" b="0" i="0">
                <a:solidFill>
                  <a:srgbClr val="0A2540"/>
                </a:solidFill>
                <a:latin typeface="DM Sans"/>
              </a:rPr>
              <a:t> </a:t>
            </a:r>
            <a:r>
              <a:rPr sz="1200" b="0" i="0">
                <a:solidFill>
                  <a:srgbClr val="5A6E80"/>
                </a:solidFill>
                <a:latin typeface="DM Sans"/>
              </a:rPr>
              <a:t>m 6</a:t>
            </a:r>
          </a:p>
        </p:txBody>
      </p:sp>
      <p:sp>
        <p:nvSpPr>
          <p:cNvPr id="11" name="Rounded Rectangle 10"/>
          <p:cNvSpPr/>
          <p:nvPr/>
        </p:nvSpPr>
        <p:spPr>
          <a:xfrm>
            <a:off x="4803775" y="1829991"/>
            <a:ext cx="1254125" cy="889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34100" y="1569641"/>
            <a:ext cx="1304925" cy="198120"/>
          </a:xfrm>
          <a:prstGeom prst="rect">
            <a:avLst/>
          </a:prstGeom>
          <a:noFill/>
        </p:spPr>
        <p:txBody>
          <a:bodyPr wrap="none" lIns="0" tIns="0" rIns="0" bIns="0" anchor="t">
            <a:noAutofit/>
          </a:bodyPr>
          <a:lstStyle/>
          <a:p>
            <a:pPr algn="l"/>
            <a:r>
              <a:rPr sz="1200" b="1" i="0">
                <a:solidFill>
                  <a:srgbClr val="0A2540"/>
                </a:solidFill>
                <a:latin typeface="DM Sans"/>
              </a:rPr>
              <a:t>V5</a:t>
            </a:r>
            <a:r>
              <a:rPr sz="1200" b="0" i="0">
                <a:solidFill>
                  <a:srgbClr val="0A2540"/>
                </a:solidFill>
                <a:latin typeface="DM Sans"/>
              </a:rPr>
              <a:t> </a:t>
            </a:r>
            <a:r>
              <a:rPr sz="1200" b="0" i="0">
                <a:solidFill>
                  <a:srgbClr val="5A6E80"/>
                </a:solidFill>
                <a:latin typeface="DM Sans"/>
              </a:rPr>
              <a:t>m 9</a:t>
            </a:r>
          </a:p>
        </p:txBody>
      </p:sp>
      <p:sp>
        <p:nvSpPr>
          <p:cNvPr id="13" name="Rounded Rectangle 12"/>
          <p:cNvSpPr/>
          <p:nvPr/>
        </p:nvSpPr>
        <p:spPr>
          <a:xfrm>
            <a:off x="6134100" y="1829991"/>
            <a:ext cx="1254125" cy="889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464425" y="1569641"/>
            <a:ext cx="1304925" cy="198120"/>
          </a:xfrm>
          <a:prstGeom prst="rect">
            <a:avLst/>
          </a:prstGeom>
          <a:noFill/>
        </p:spPr>
        <p:txBody>
          <a:bodyPr wrap="none" lIns="0" tIns="0" rIns="0" bIns="0" anchor="t">
            <a:noAutofit/>
          </a:bodyPr>
          <a:lstStyle/>
          <a:p>
            <a:pPr algn="l"/>
            <a:r>
              <a:rPr sz="1200" b="1" i="0">
                <a:solidFill>
                  <a:srgbClr val="0A2540"/>
                </a:solidFill>
                <a:latin typeface="DM Sans"/>
              </a:rPr>
              <a:t>V6</a:t>
            </a:r>
            <a:r>
              <a:rPr sz="1200" b="0" i="0">
                <a:solidFill>
                  <a:srgbClr val="0A2540"/>
                </a:solidFill>
                <a:latin typeface="DM Sans"/>
              </a:rPr>
              <a:t> </a:t>
            </a:r>
            <a:r>
              <a:rPr sz="1200" b="0" i="0">
                <a:solidFill>
                  <a:srgbClr val="5A6E80"/>
                </a:solidFill>
                <a:latin typeface="DM Sans"/>
              </a:rPr>
              <a:t>m 12</a:t>
            </a:r>
          </a:p>
        </p:txBody>
      </p:sp>
      <p:sp>
        <p:nvSpPr>
          <p:cNvPr id="15" name="Rounded Rectangle 14"/>
          <p:cNvSpPr/>
          <p:nvPr/>
        </p:nvSpPr>
        <p:spPr>
          <a:xfrm>
            <a:off x="7464425" y="1829991"/>
            <a:ext cx="1254125" cy="889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4750" y="1569641"/>
            <a:ext cx="1304925" cy="198120"/>
          </a:xfrm>
          <a:prstGeom prst="rect">
            <a:avLst/>
          </a:prstGeom>
          <a:noFill/>
        </p:spPr>
        <p:txBody>
          <a:bodyPr wrap="none" lIns="0" tIns="0" rIns="0" bIns="0" anchor="t">
            <a:noAutofit/>
          </a:bodyPr>
          <a:lstStyle/>
          <a:p>
            <a:pPr algn="l"/>
            <a:r>
              <a:rPr sz="1200" b="1" i="0">
                <a:solidFill>
                  <a:srgbClr val="0A2540"/>
                </a:solidFill>
                <a:latin typeface="DM Sans"/>
              </a:rPr>
              <a:t>V7</a:t>
            </a:r>
            <a:r>
              <a:rPr sz="1200" b="0" i="0">
                <a:solidFill>
                  <a:srgbClr val="0A2540"/>
                </a:solidFill>
                <a:latin typeface="DM Sans"/>
              </a:rPr>
              <a:t> </a:t>
            </a:r>
            <a:r>
              <a:rPr sz="1200" b="0" i="0">
                <a:solidFill>
                  <a:srgbClr val="5A6E80"/>
                </a:solidFill>
                <a:latin typeface="DM Sans"/>
              </a:rPr>
              <a:t>m 15</a:t>
            </a:r>
          </a:p>
        </p:txBody>
      </p:sp>
      <p:sp>
        <p:nvSpPr>
          <p:cNvPr id="17" name="Rounded Rectangle 16"/>
          <p:cNvSpPr/>
          <p:nvPr/>
        </p:nvSpPr>
        <p:spPr>
          <a:xfrm>
            <a:off x="8794750" y="1829991"/>
            <a:ext cx="1254125" cy="889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0125075" y="1569641"/>
            <a:ext cx="1304925" cy="198120"/>
          </a:xfrm>
          <a:prstGeom prst="rect">
            <a:avLst/>
          </a:prstGeom>
          <a:noFill/>
        </p:spPr>
        <p:txBody>
          <a:bodyPr wrap="none" lIns="0" tIns="0" rIns="0" bIns="0" anchor="t">
            <a:noAutofit/>
          </a:bodyPr>
          <a:lstStyle/>
          <a:p>
            <a:pPr algn="l"/>
            <a:r>
              <a:rPr sz="1200" b="1" i="0">
                <a:solidFill>
                  <a:srgbClr val="0A2540"/>
                </a:solidFill>
                <a:latin typeface="DM Sans"/>
              </a:rPr>
              <a:t>V8</a:t>
            </a:r>
            <a:r>
              <a:rPr sz="1200" b="0" i="0">
                <a:solidFill>
                  <a:srgbClr val="0A2540"/>
                </a:solidFill>
                <a:latin typeface="DM Sans"/>
              </a:rPr>
              <a:t> </a:t>
            </a:r>
            <a:r>
              <a:rPr sz="1200" b="0" i="0">
                <a:solidFill>
                  <a:srgbClr val="5A6E80"/>
                </a:solidFill>
                <a:latin typeface="DM Sans"/>
              </a:rPr>
              <a:t>m 18</a:t>
            </a:r>
          </a:p>
        </p:txBody>
      </p:sp>
      <p:sp>
        <p:nvSpPr>
          <p:cNvPr id="19" name="Rounded Rectangle 18"/>
          <p:cNvSpPr/>
          <p:nvPr/>
        </p:nvSpPr>
        <p:spPr>
          <a:xfrm>
            <a:off x="10125075" y="1829991"/>
            <a:ext cx="1254125" cy="88900"/>
          </a:xfrm>
          <a:prstGeom prst="roundRect">
            <a:avLst>
              <a:gd name="adj" fmla="val 50000"/>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812800" y="2087166"/>
            <a:ext cx="177800" cy="889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054100" y="2033191"/>
            <a:ext cx="1328142" cy="198120"/>
          </a:xfrm>
          <a:prstGeom prst="rect">
            <a:avLst/>
          </a:prstGeom>
          <a:noFill/>
        </p:spPr>
        <p:txBody>
          <a:bodyPr wrap="none" lIns="0" tIns="0" rIns="0" bIns="0" anchor="t">
            <a:noAutofit/>
          </a:bodyPr>
          <a:lstStyle/>
          <a:p>
            <a:pPr algn="l"/>
            <a:r>
              <a:rPr sz="1200" b="0" i="0">
                <a:solidFill>
                  <a:srgbClr val="3A4F63"/>
                </a:solidFill>
                <a:latin typeface="DM Sans"/>
              </a:rPr>
              <a:t>focus op educatie</a:t>
            </a:r>
          </a:p>
        </p:txBody>
      </p:sp>
      <p:sp>
        <p:nvSpPr>
          <p:cNvPr id="22" name="Rounded Rectangle 21"/>
          <p:cNvSpPr/>
          <p:nvPr/>
        </p:nvSpPr>
        <p:spPr>
          <a:xfrm>
            <a:off x="2585442" y="2087166"/>
            <a:ext cx="177800" cy="8890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2826742" y="2033191"/>
            <a:ext cx="1704280" cy="198120"/>
          </a:xfrm>
          <a:prstGeom prst="rect">
            <a:avLst/>
          </a:prstGeom>
          <a:noFill/>
        </p:spPr>
        <p:txBody>
          <a:bodyPr wrap="none" lIns="0" tIns="0" rIns="0" bIns="0" anchor="t">
            <a:noAutofit/>
          </a:bodyPr>
          <a:lstStyle/>
          <a:p>
            <a:pPr algn="l"/>
            <a:r>
              <a:rPr sz="1200" b="0" i="0">
                <a:solidFill>
                  <a:srgbClr val="3A4F63"/>
                </a:solidFill>
                <a:latin typeface="DM Sans"/>
              </a:rPr>
              <a:t>focus op therapietrouw</a:t>
            </a:r>
          </a:p>
        </p:txBody>
      </p:sp>
      <p:sp>
        <p:nvSpPr>
          <p:cNvPr id="24" name="Rounded Rectangle 23"/>
          <p:cNvSpPr/>
          <p:nvPr/>
        </p:nvSpPr>
        <p:spPr>
          <a:xfrm>
            <a:off x="4734223" y="2087166"/>
            <a:ext cx="177800" cy="889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975523" y="2033191"/>
            <a:ext cx="2489398" cy="198120"/>
          </a:xfrm>
          <a:prstGeom prst="rect">
            <a:avLst/>
          </a:prstGeom>
          <a:noFill/>
        </p:spPr>
        <p:txBody>
          <a:bodyPr wrap="none" lIns="0" tIns="0" rIns="0" bIns="0" anchor="t">
            <a:noAutofit/>
          </a:bodyPr>
          <a:lstStyle/>
          <a:p>
            <a:pPr algn="l"/>
            <a:r>
              <a:rPr sz="1200" b="0" i="0">
                <a:solidFill>
                  <a:srgbClr val="3A4F63"/>
                </a:solidFill>
                <a:latin typeface="DM Sans"/>
              </a:rPr>
              <a:t>focus op educatie + therapietrouw</a:t>
            </a:r>
          </a:p>
        </p:txBody>
      </p:sp>
      <p:sp>
        <p:nvSpPr>
          <p:cNvPr id="26" name="Rectangle 25"/>
          <p:cNvSpPr/>
          <p:nvPr/>
        </p:nvSpPr>
        <p:spPr>
          <a:xfrm>
            <a:off x="812800" y="2484041"/>
            <a:ext cx="1910060" cy="12700"/>
          </a:xfrm>
          <a:prstGeom prst="rect">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12800" y="2611041"/>
            <a:ext cx="1960860" cy="215900"/>
          </a:xfrm>
          <a:prstGeom prst="rect">
            <a:avLst/>
          </a:prstGeom>
          <a:noFill/>
        </p:spPr>
        <p:txBody>
          <a:bodyPr wrap="none" lIns="0" tIns="0" rIns="0" bIns="0" anchor="t">
            <a:noAutofit/>
          </a:bodyPr>
          <a:lstStyle/>
          <a:p>
            <a:pPr algn="l"/>
            <a:r>
              <a:rPr sz="1300" b="1" i="0">
                <a:solidFill>
                  <a:srgbClr val="00407A"/>
                </a:solidFill>
                <a:latin typeface="DM Sans"/>
              </a:rPr>
              <a:t>V1 · baseline</a:t>
            </a:r>
          </a:p>
        </p:txBody>
      </p:sp>
      <p:sp>
        <p:nvSpPr>
          <p:cNvPr id="28" name="TextBox 27"/>
          <p:cNvSpPr txBox="1"/>
          <p:nvPr/>
        </p:nvSpPr>
        <p:spPr>
          <a:xfrm>
            <a:off x="812800" y="2890441"/>
            <a:ext cx="1960860" cy="396081"/>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Mondelinge educatie voetzorg</a:t>
            </a:r>
          </a:p>
        </p:txBody>
      </p:sp>
      <p:sp>
        <p:nvSpPr>
          <p:cNvPr id="29" name="TextBox 28"/>
          <p:cNvSpPr txBox="1"/>
          <p:nvPr/>
        </p:nvSpPr>
        <p:spPr>
          <a:xfrm>
            <a:off x="812800" y="3350022"/>
            <a:ext cx="1960860" cy="396081"/>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Demonstratie goede voetzorg</a:t>
            </a:r>
          </a:p>
        </p:txBody>
      </p:sp>
      <p:sp>
        <p:nvSpPr>
          <p:cNvPr id="30" name="TextBox 29"/>
          <p:cNvSpPr txBox="1"/>
          <p:nvPr/>
        </p:nvSpPr>
        <p:spPr>
          <a:xfrm>
            <a:off x="812800" y="3809603"/>
            <a:ext cx="1960860" cy="198120"/>
          </a:xfrm>
          <a:prstGeom prst="rect">
            <a:avLst/>
          </a:prstGeom>
          <a:noFill/>
        </p:spPr>
        <p:txBody>
          <a:bodyPr wrap="none" lIns="0" tIns="0" rIns="0" bIns="0" anchor="t">
            <a:noAutofit/>
          </a:bodyPr>
          <a:lstStyle/>
          <a:p>
            <a:pPr algn="l">
              <a:lnSpc>
                <a:spcPts val="1560"/>
              </a:lnSpc>
            </a:pPr>
            <a:r>
              <a:rPr sz="1200" b="0" i="0">
                <a:solidFill>
                  <a:srgbClr val="0A2540"/>
                </a:solidFill>
                <a:latin typeface="DM Sans"/>
              </a:rPr>
              <a:t>Uitleg over activity monitor</a:t>
            </a:r>
          </a:p>
        </p:txBody>
      </p:sp>
      <p:sp>
        <p:nvSpPr>
          <p:cNvPr id="31" name="Rectangle 30"/>
          <p:cNvSpPr/>
          <p:nvPr/>
        </p:nvSpPr>
        <p:spPr>
          <a:xfrm>
            <a:off x="2976860" y="2484041"/>
            <a:ext cx="1910060" cy="12700"/>
          </a:xfrm>
          <a:prstGeom prst="rect">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76860" y="2611041"/>
            <a:ext cx="1960860" cy="215900"/>
          </a:xfrm>
          <a:prstGeom prst="rect">
            <a:avLst/>
          </a:prstGeom>
          <a:noFill/>
        </p:spPr>
        <p:txBody>
          <a:bodyPr wrap="none" lIns="0" tIns="0" rIns="0" bIns="0" anchor="t">
            <a:noAutofit/>
          </a:bodyPr>
          <a:lstStyle/>
          <a:p>
            <a:pPr algn="l"/>
            <a:r>
              <a:rPr sz="1300" b="1" i="0">
                <a:solidFill>
                  <a:srgbClr val="00407A"/>
                </a:solidFill>
                <a:latin typeface="DM Sans"/>
              </a:rPr>
              <a:t>V2 · D14–M1</a:t>
            </a:r>
          </a:p>
        </p:txBody>
      </p:sp>
      <p:sp>
        <p:nvSpPr>
          <p:cNvPr id="33" name="TextBox 32"/>
          <p:cNvSpPr txBox="1"/>
          <p:nvPr/>
        </p:nvSpPr>
        <p:spPr>
          <a:xfrm>
            <a:off x="2976860" y="2890441"/>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Evaluatie kennis voetzorg (op basis van NAFF) + re-educatie</a:t>
            </a:r>
          </a:p>
        </p:txBody>
      </p:sp>
      <p:sp>
        <p:nvSpPr>
          <p:cNvPr id="34" name="TextBox 33"/>
          <p:cNvSpPr txBox="1"/>
          <p:nvPr/>
        </p:nvSpPr>
        <p:spPr>
          <a:xfrm>
            <a:off x="2976860" y="3548062"/>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Educatie belang dragen zolen en gepaste schoenen</a:t>
            </a:r>
          </a:p>
        </p:txBody>
      </p:sp>
      <p:sp>
        <p:nvSpPr>
          <p:cNvPr id="35" name="TextBox 34"/>
          <p:cNvSpPr txBox="1"/>
          <p:nvPr/>
        </p:nvSpPr>
        <p:spPr>
          <a:xfrm>
            <a:off x="2976860" y="4205684"/>
            <a:ext cx="1960860" cy="396081"/>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Uitleg over doel van de sensor in de zolen</a:t>
            </a:r>
          </a:p>
        </p:txBody>
      </p:sp>
      <p:sp>
        <p:nvSpPr>
          <p:cNvPr id="36" name="Rectangle 35"/>
          <p:cNvSpPr/>
          <p:nvPr/>
        </p:nvSpPr>
        <p:spPr>
          <a:xfrm>
            <a:off x="5140920" y="2484041"/>
            <a:ext cx="1910060" cy="12700"/>
          </a:xfrm>
          <a:prstGeom prst="rect">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140920" y="2611041"/>
            <a:ext cx="1960860" cy="215900"/>
          </a:xfrm>
          <a:prstGeom prst="rect">
            <a:avLst/>
          </a:prstGeom>
          <a:noFill/>
        </p:spPr>
        <p:txBody>
          <a:bodyPr wrap="none" lIns="0" tIns="0" rIns="0" bIns="0" anchor="t">
            <a:noAutofit/>
          </a:bodyPr>
          <a:lstStyle/>
          <a:p>
            <a:pPr algn="l"/>
            <a:r>
              <a:rPr sz="1300" b="1" i="0">
                <a:solidFill>
                  <a:srgbClr val="0B6E8F"/>
                </a:solidFill>
                <a:latin typeface="DM Sans"/>
              </a:rPr>
              <a:t>V3 · V5 · V7</a:t>
            </a:r>
          </a:p>
        </p:txBody>
      </p:sp>
      <p:sp>
        <p:nvSpPr>
          <p:cNvPr id="38" name="TextBox 37"/>
          <p:cNvSpPr txBox="1"/>
          <p:nvPr/>
        </p:nvSpPr>
        <p:spPr>
          <a:xfrm>
            <a:off x="5140920" y="2890441"/>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Feedback therapietrouw op basis van sensor-output</a:t>
            </a:r>
          </a:p>
        </p:txBody>
      </p:sp>
      <p:sp>
        <p:nvSpPr>
          <p:cNvPr id="39" name="TextBox 38"/>
          <p:cNvSpPr txBox="1"/>
          <p:nvPr/>
        </p:nvSpPr>
        <p:spPr>
          <a:xfrm>
            <a:off x="5140920" y="3548062"/>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Toepassen therapietrouwverhogende interventies</a:t>
            </a:r>
          </a:p>
        </p:txBody>
      </p:sp>
      <p:sp>
        <p:nvSpPr>
          <p:cNvPr id="40" name="Rectangle 39"/>
          <p:cNvSpPr/>
          <p:nvPr/>
        </p:nvSpPr>
        <p:spPr>
          <a:xfrm>
            <a:off x="7304980" y="2484041"/>
            <a:ext cx="1910060" cy="12700"/>
          </a:xfrm>
          <a:prstGeom prst="rect">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04980" y="2611041"/>
            <a:ext cx="1960860" cy="215900"/>
          </a:xfrm>
          <a:prstGeom prst="rect">
            <a:avLst/>
          </a:prstGeom>
          <a:noFill/>
        </p:spPr>
        <p:txBody>
          <a:bodyPr wrap="none" lIns="0" tIns="0" rIns="0" bIns="0" anchor="t">
            <a:noAutofit/>
          </a:bodyPr>
          <a:lstStyle/>
          <a:p>
            <a:pPr algn="l"/>
            <a:r>
              <a:rPr sz="1300" b="1" i="0">
                <a:solidFill>
                  <a:srgbClr val="0B6E8F"/>
                </a:solidFill>
                <a:latin typeface="DM Sans"/>
              </a:rPr>
              <a:t>V4 · V6</a:t>
            </a:r>
          </a:p>
        </p:txBody>
      </p:sp>
      <p:sp>
        <p:nvSpPr>
          <p:cNvPr id="42" name="TextBox 41"/>
          <p:cNvSpPr txBox="1"/>
          <p:nvPr/>
        </p:nvSpPr>
        <p:spPr>
          <a:xfrm>
            <a:off x="7304980" y="2890441"/>
            <a:ext cx="1960860" cy="396081"/>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Evaluatie vaardigheden goede voetzorg</a:t>
            </a:r>
          </a:p>
        </p:txBody>
      </p:sp>
      <p:sp>
        <p:nvSpPr>
          <p:cNvPr id="43" name="TextBox 42"/>
          <p:cNvSpPr txBox="1"/>
          <p:nvPr/>
        </p:nvSpPr>
        <p:spPr>
          <a:xfrm>
            <a:off x="7304980" y="3350022"/>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Evaluatie nood aan bijkomende kennis voetzorg (obv NAFF)</a:t>
            </a:r>
          </a:p>
        </p:txBody>
      </p:sp>
      <p:sp>
        <p:nvSpPr>
          <p:cNvPr id="44" name="TextBox 43"/>
          <p:cNvSpPr txBox="1"/>
          <p:nvPr/>
        </p:nvSpPr>
        <p:spPr>
          <a:xfrm>
            <a:off x="7304980" y="4007644"/>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Feedback therapietrouw op basis van sensor-output</a:t>
            </a:r>
          </a:p>
        </p:txBody>
      </p:sp>
      <p:sp>
        <p:nvSpPr>
          <p:cNvPr id="45" name="TextBox 44"/>
          <p:cNvSpPr txBox="1"/>
          <p:nvPr/>
        </p:nvSpPr>
        <p:spPr>
          <a:xfrm>
            <a:off x="7304980" y="4665266"/>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Toepassen therapietrouwverhogende interventies</a:t>
            </a:r>
          </a:p>
        </p:txBody>
      </p:sp>
      <p:sp>
        <p:nvSpPr>
          <p:cNvPr id="46" name="Rectangle 45"/>
          <p:cNvSpPr/>
          <p:nvPr/>
        </p:nvSpPr>
        <p:spPr>
          <a:xfrm>
            <a:off x="9469041" y="2484041"/>
            <a:ext cx="1910060" cy="12700"/>
          </a:xfrm>
          <a:prstGeom prst="rect">
            <a:avLst/>
          </a:prstGeom>
          <a:solidFill>
            <a:srgbClr val="9FB3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469041" y="2611041"/>
            <a:ext cx="1960860" cy="215900"/>
          </a:xfrm>
          <a:prstGeom prst="rect">
            <a:avLst/>
          </a:prstGeom>
          <a:noFill/>
        </p:spPr>
        <p:txBody>
          <a:bodyPr wrap="none" lIns="0" tIns="0" rIns="0" bIns="0" anchor="t">
            <a:noAutofit/>
          </a:bodyPr>
          <a:lstStyle/>
          <a:p>
            <a:pPr algn="l"/>
            <a:r>
              <a:rPr sz="1300" b="1" i="0">
                <a:solidFill>
                  <a:srgbClr val="5A6E80"/>
                </a:solidFill>
                <a:latin typeface="DM Sans"/>
              </a:rPr>
              <a:t>V8 · maand 18</a:t>
            </a:r>
          </a:p>
        </p:txBody>
      </p:sp>
      <p:sp>
        <p:nvSpPr>
          <p:cNvPr id="48" name="TextBox 47"/>
          <p:cNvSpPr txBox="1"/>
          <p:nvPr/>
        </p:nvSpPr>
        <p:spPr>
          <a:xfrm>
            <a:off x="9469041" y="2890441"/>
            <a:ext cx="1960860" cy="594122"/>
          </a:xfrm>
          <a:prstGeom prst="rect">
            <a:avLst/>
          </a:prstGeom>
          <a:noFill/>
        </p:spPr>
        <p:txBody>
          <a:bodyPr wrap="square" lIns="0" tIns="0" rIns="0" bIns="0" anchor="t">
            <a:noAutofit/>
          </a:bodyPr>
          <a:lstStyle/>
          <a:p>
            <a:pPr algn="l">
              <a:lnSpc>
                <a:spcPts val="1560"/>
              </a:lnSpc>
            </a:pPr>
            <a:r>
              <a:rPr sz="1200" b="0" i="0">
                <a:solidFill>
                  <a:srgbClr val="0A2540"/>
                </a:solidFill>
                <a:latin typeface="DM Sans"/>
              </a:rPr>
              <a:t>Afrondend gesprek (geen feedback of nieuwe interventies)</a:t>
            </a:r>
          </a:p>
        </p:txBody>
      </p:sp>
      <p:pic>
        <p:nvPicPr>
          <p:cNvPr id="49" name="Picture 48"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50" name="TextBox 49"/>
          <p:cNvSpPr txBox="1"/>
          <p:nvPr/>
        </p:nvSpPr>
        <p:spPr>
          <a:xfrm>
            <a:off x="1066800" y="6254750"/>
            <a:ext cx="4495800" cy="198120"/>
          </a:xfrm>
          <a:prstGeom prst="rect">
            <a:avLst/>
          </a:prstGeom>
          <a:noFill/>
        </p:spPr>
        <p:txBody>
          <a:bodyPr wrap="none" lIns="0" tIns="0" rIns="0" bIns="0" anchor="t">
            <a:noAutofit/>
          </a:bodyPr>
          <a:lstStyle/>
          <a:p>
            <a:pPr algn="l"/>
            <a:r>
              <a:rPr sz="1200" b="0" i="0">
                <a:solidFill>
                  <a:srgbClr val="5A6E80"/>
                </a:solidFill>
                <a:latin typeface="DM Sans"/>
              </a:rPr>
              <a:t>PARADISE · SEBIA · op elke visite een gesprek</a:t>
            </a:r>
          </a:p>
        </p:txBody>
      </p:sp>
      <p:sp>
        <p:nvSpPr>
          <p:cNvPr id="51" name="TextBox 50"/>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SEBIA-overzicht voor de voetklinieken, F. Dobbels, 12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Drie toestellen</a:t>
            </a:r>
          </a:p>
        </p:txBody>
      </p:sp>
      <p:sp>
        <p:nvSpPr>
          <p:cNvPr id="3" name="Rounded Rectangle 2"/>
          <p:cNvSpPr/>
          <p:nvPr/>
        </p:nvSpPr>
        <p:spPr>
          <a:xfrm>
            <a:off x="812800" y="1569641"/>
            <a:ext cx="3386634" cy="4297561"/>
          </a:xfrm>
          <a:prstGeom prst="roundRect">
            <a:avLst>
              <a:gd name="adj" fmla="val 3000"/>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7602e683c737557e7869dd9d4ca4b33b.png"/>
          <p:cNvPicPr>
            <a:picLocks noChangeAspect="1"/>
          </p:cNvPicPr>
          <p:nvPr/>
        </p:nvPicPr>
        <p:blipFill>
          <a:blip r:embed="rId3"/>
          <a:stretch>
            <a:fillRect/>
          </a:stretch>
        </p:blipFill>
        <p:spPr>
          <a:xfrm>
            <a:off x="1491740" y="1779191"/>
            <a:ext cx="2028754" cy="1587500"/>
          </a:xfrm>
          <a:prstGeom prst="rect">
            <a:avLst/>
          </a:prstGeom>
        </p:spPr>
      </p:pic>
      <p:sp>
        <p:nvSpPr>
          <p:cNvPr id="5" name="TextBox 4"/>
          <p:cNvSpPr txBox="1"/>
          <p:nvPr/>
        </p:nvSpPr>
        <p:spPr>
          <a:xfrm>
            <a:off x="1022350" y="3519091"/>
            <a:ext cx="3018334" cy="205740"/>
          </a:xfrm>
          <a:prstGeom prst="rect">
            <a:avLst/>
          </a:prstGeom>
          <a:noFill/>
        </p:spPr>
        <p:txBody>
          <a:bodyPr wrap="none" lIns="0" tIns="0" rIns="0" bIns="0" anchor="t">
            <a:noAutofit/>
          </a:bodyPr>
          <a:lstStyle/>
          <a:p>
            <a:pPr algn="l">
              <a:lnSpc>
                <a:spcPts val="1620"/>
              </a:lnSpc>
            </a:pPr>
            <a:r>
              <a:rPr sz="1200" b="1" i="0" spc="100">
                <a:solidFill>
                  <a:srgbClr val="0B6E8F"/>
                </a:solidFill>
                <a:latin typeface="DM Sans"/>
              </a:rPr>
              <a:t>DRUK</a:t>
            </a:r>
          </a:p>
        </p:txBody>
      </p:sp>
      <p:sp>
        <p:nvSpPr>
          <p:cNvPr id="6" name="TextBox 5"/>
          <p:cNvSpPr txBox="1"/>
          <p:nvPr/>
        </p:nvSpPr>
        <p:spPr>
          <a:xfrm>
            <a:off x="1022350" y="3800971"/>
            <a:ext cx="3018334" cy="335280"/>
          </a:xfrm>
          <a:prstGeom prst="rect">
            <a:avLst/>
          </a:prstGeom>
          <a:noFill/>
        </p:spPr>
        <p:txBody>
          <a:bodyPr wrap="none" lIns="0" tIns="0" rIns="0" bIns="0" anchor="t">
            <a:noAutofit/>
          </a:bodyPr>
          <a:lstStyle/>
          <a:p>
            <a:pPr algn="l">
              <a:lnSpc>
                <a:spcPts val="2640"/>
              </a:lnSpc>
            </a:pPr>
            <a:r>
              <a:rPr sz="2400" b="0" i="0">
                <a:solidFill>
                  <a:srgbClr val="0A2540"/>
                </a:solidFill>
                <a:latin typeface="DM Serif Display"/>
              </a:rPr>
              <a:t>Novel pedar</a:t>
            </a:r>
          </a:p>
        </p:txBody>
      </p:sp>
      <p:sp>
        <p:nvSpPr>
          <p:cNvPr id="7" name="TextBox 6"/>
          <p:cNvSpPr txBox="1"/>
          <p:nvPr/>
        </p:nvSpPr>
        <p:spPr>
          <a:xfrm>
            <a:off x="1022350" y="4212431"/>
            <a:ext cx="3018334" cy="406400"/>
          </a:xfrm>
          <a:prstGeom prst="rect">
            <a:avLst/>
          </a:prstGeom>
          <a:noFill/>
        </p:spPr>
        <p:txBody>
          <a:bodyPr wrap="none" lIns="0" tIns="0" rIns="0" bIns="0" anchor="t">
            <a:noAutofit/>
          </a:bodyPr>
          <a:lstStyle/>
          <a:p>
            <a:pPr algn="l">
              <a:lnSpc>
                <a:spcPts val="3200"/>
              </a:lnSpc>
            </a:pPr>
            <a:r>
              <a:rPr sz="3200" b="0" i="0">
                <a:solidFill>
                  <a:srgbClr val="0A2540"/>
                </a:solidFill>
                <a:latin typeface="DM Serif Display"/>
              </a:rPr>
              <a:t>8</a:t>
            </a:r>
            <a:r>
              <a:rPr sz="1500" b="0" i="0">
                <a:solidFill>
                  <a:srgbClr val="5A6E80"/>
                </a:solidFill>
                <a:latin typeface="DM Sans"/>
              </a:rPr>
              <a:t> voetregio’s</a:t>
            </a:r>
          </a:p>
        </p:txBody>
      </p:sp>
      <p:sp>
        <p:nvSpPr>
          <p:cNvPr id="8" name="Rectangle 7"/>
          <p:cNvSpPr/>
          <p:nvPr/>
        </p:nvSpPr>
        <p:spPr>
          <a:xfrm>
            <a:off x="1022350" y="4695031"/>
            <a:ext cx="2967534"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22350" y="4777581"/>
            <a:ext cx="3018334"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In de schoen, met de zool</a:t>
            </a:r>
          </a:p>
        </p:txBody>
      </p:sp>
      <p:sp>
        <p:nvSpPr>
          <p:cNvPr id="10" name="TextBox 9"/>
          <p:cNvSpPr txBox="1"/>
          <p:nvPr/>
        </p:nvSpPr>
        <p:spPr>
          <a:xfrm>
            <a:off x="1022350" y="5017591"/>
            <a:ext cx="3018334"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Nulstellen: één keer per sessie</a:t>
            </a:r>
          </a:p>
        </p:txBody>
      </p:sp>
      <p:sp>
        <p:nvSpPr>
          <p:cNvPr id="11" name="Rounded Rectangle 10"/>
          <p:cNvSpPr/>
          <p:nvPr/>
        </p:nvSpPr>
        <p:spPr>
          <a:xfrm>
            <a:off x="1022350" y="5384602"/>
            <a:ext cx="1310084" cy="273050"/>
          </a:xfrm>
          <a:prstGeom prst="roundRect">
            <a:avLst>
              <a:gd name="adj" fmla="val 46511"/>
            </a:avLst>
          </a:prstGeom>
          <a:noFill/>
          <a:ln w="127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136650" y="5422702"/>
            <a:ext cx="1132284" cy="198120"/>
          </a:xfrm>
          <a:prstGeom prst="rect">
            <a:avLst/>
          </a:prstGeom>
          <a:noFill/>
        </p:spPr>
        <p:txBody>
          <a:bodyPr wrap="none" lIns="0" tIns="0" rIns="0" bIns="0" anchor="t">
            <a:noAutofit/>
          </a:bodyPr>
          <a:lstStyle/>
          <a:p>
            <a:pPr algn="l"/>
            <a:r>
              <a:rPr sz="1200" b="1" i="0">
                <a:solidFill>
                  <a:srgbClr val="0B6E8F"/>
                </a:solidFill>
                <a:latin typeface="DM Sans"/>
              </a:rPr>
              <a:t>Uw team meet</a:t>
            </a:r>
          </a:p>
        </p:txBody>
      </p:sp>
      <p:sp>
        <p:nvSpPr>
          <p:cNvPr id="13" name="Rounded Rectangle 12"/>
          <p:cNvSpPr/>
          <p:nvPr/>
        </p:nvSpPr>
        <p:spPr>
          <a:xfrm>
            <a:off x="4402634" y="1569641"/>
            <a:ext cx="3386733" cy="4297561"/>
          </a:xfrm>
          <a:prstGeom prst="roundRect">
            <a:avLst>
              <a:gd name="adj" fmla="val 2999"/>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e580abacf569b31068d6eadf3f79d362.png"/>
          <p:cNvPicPr>
            <a:picLocks noChangeAspect="1"/>
          </p:cNvPicPr>
          <p:nvPr/>
        </p:nvPicPr>
        <p:blipFill>
          <a:blip r:embed="rId4"/>
          <a:stretch>
            <a:fillRect/>
          </a:stretch>
        </p:blipFill>
        <p:spPr>
          <a:xfrm>
            <a:off x="5004594" y="1779191"/>
            <a:ext cx="2182812" cy="1587500"/>
          </a:xfrm>
          <a:prstGeom prst="rect">
            <a:avLst/>
          </a:prstGeom>
        </p:spPr>
      </p:pic>
      <p:sp>
        <p:nvSpPr>
          <p:cNvPr id="15" name="TextBox 14"/>
          <p:cNvSpPr txBox="1"/>
          <p:nvPr/>
        </p:nvSpPr>
        <p:spPr>
          <a:xfrm>
            <a:off x="4612184" y="3519091"/>
            <a:ext cx="3018433" cy="205740"/>
          </a:xfrm>
          <a:prstGeom prst="rect">
            <a:avLst/>
          </a:prstGeom>
          <a:noFill/>
        </p:spPr>
        <p:txBody>
          <a:bodyPr wrap="none" lIns="0" tIns="0" rIns="0" bIns="0" anchor="t">
            <a:noAutofit/>
          </a:bodyPr>
          <a:lstStyle/>
          <a:p>
            <a:pPr algn="l">
              <a:lnSpc>
                <a:spcPts val="1620"/>
              </a:lnSpc>
            </a:pPr>
            <a:r>
              <a:rPr sz="1200" b="1" i="0" spc="100">
                <a:solidFill>
                  <a:srgbClr val="0B6E8F"/>
                </a:solidFill>
                <a:latin typeface="DM Sans"/>
              </a:rPr>
              <a:t>DRAAGTIJD</a:t>
            </a:r>
          </a:p>
        </p:txBody>
      </p:sp>
      <p:sp>
        <p:nvSpPr>
          <p:cNvPr id="16" name="TextBox 15"/>
          <p:cNvSpPr txBox="1"/>
          <p:nvPr/>
        </p:nvSpPr>
        <p:spPr>
          <a:xfrm>
            <a:off x="4612184" y="3800971"/>
            <a:ext cx="3018433" cy="335280"/>
          </a:xfrm>
          <a:prstGeom prst="rect">
            <a:avLst/>
          </a:prstGeom>
          <a:noFill/>
        </p:spPr>
        <p:txBody>
          <a:bodyPr wrap="none" lIns="0" tIns="0" rIns="0" bIns="0" anchor="t">
            <a:noAutofit/>
          </a:bodyPr>
          <a:lstStyle/>
          <a:p>
            <a:pPr algn="l">
              <a:lnSpc>
                <a:spcPts val="2640"/>
              </a:lnSpc>
            </a:pPr>
            <a:r>
              <a:rPr sz="2400" b="0" i="0">
                <a:solidFill>
                  <a:srgbClr val="0A2540"/>
                </a:solidFill>
                <a:latin typeface="DM Serif Display"/>
              </a:rPr>
              <a:t>Orthotimer</a:t>
            </a:r>
          </a:p>
        </p:txBody>
      </p:sp>
      <p:sp>
        <p:nvSpPr>
          <p:cNvPr id="17" name="TextBox 16"/>
          <p:cNvSpPr txBox="1"/>
          <p:nvPr/>
        </p:nvSpPr>
        <p:spPr>
          <a:xfrm>
            <a:off x="4612184" y="4212431"/>
            <a:ext cx="3018433" cy="406400"/>
          </a:xfrm>
          <a:prstGeom prst="rect">
            <a:avLst/>
          </a:prstGeom>
          <a:noFill/>
        </p:spPr>
        <p:txBody>
          <a:bodyPr wrap="none" lIns="0" tIns="0" rIns="0" bIns="0" anchor="t">
            <a:noAutofit/>
          </a:bodyPr>
          <a:lstStyle/>
          <a:p>
            <a:pPr algn="l">
              <a:lnSpc>
                <a:spcPts val="3200"/>
              </a:lnSpc>
            </a:pPr>
            <a:r>
              <a:rPr sz="3200" b="0" i="0">
                <a:solidFill>
                  <a:srgbClr val="0A2540"/>
                </a:solidFill>
                <a:latin typeface="DM Serif Display"/>
              </a:rPr>
              <a:t>15</a:t>
            </a:r>
            <a:r>
              <a:rPr sz="1500" b="0" i="0">
                <a:solidFill>
                  <a:srgbClr val="5A6E80"/>
                </a:solidFill>
                <a:latin typeface="DM Sans"/>
              </a:rPr>
              <a:t> minuten</a:t>
            </a:r>
          </a:p>
        </p:txBody>
      </p:sp>
      <p:sp>
        <p:nvSpPr>
          <p:cNvPr id="18" name="Rectangle 17"/>
          <p:cNvSpPr/>
          <p:nvPr/>
        </p:nvSpPr>
        <p:spPr>
          <a:xfrm>
            <a:off x="4612184" y="4695031"/>
            <a:ext cx="2967633"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12184" y="4777581"/>
            <a:ext cx="3018433"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In de zool, 9 × 13 × 4,5 mm</a:t>
            </a:r>
          </a:p>
        </p:txBody>
      </p:sp>
      <p:sp>
        <p:nvSpPr>
          <p:cNvPr id="20" name="TextBox 19"/>
          <p:cNvSpPr txBox="1"/>
          <p:nvPr/>
        </p:nvSpPr>
        <p:spPr>
          <a:xfrm>
            <a:off x="4612184" y="5017591"/>
            <a:ext cx="3018433"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Geheugen 100 dagen</a:t>
            </a:r>
          </a:p>
        </p:txBody>
      </p:sp>
      <p:sp>
        <p:nvSpPr>
          <p:cNvPr id="21" name="Rounded Rectangle 20"/>
          <p:cNvSpPr/>
          <p:nvPr/>
        </p:nvSpPr>
        <p:spPr>
          <a:xfrm>
            <a:off x="4612184" y="5384602"/>
            <a:ext cx="1310084" cy="273050"/>
          </a:xfrm>
          <a:prstGeom prst="roundRect">
            <a:avLst>
              <a:gd name="adj" fmla="val 46511"/>
            </a:avLst>
          </a:prstGeom>
          <a:noFill/>
          <a:ln w="127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726484" y="5422702"/>
            <a:ext cx="1132284" cy="198120"/>
          </a:xfrm>
          <a:prstGeom prst="rect">
            <a:avLst/>
          </a:prstGeom>
          <a:noFill/>
        </p:spPr>
        <p:txBody>
          <a:bodyPr wrap="none" lIns="0" tIns="0" rIns="0" bIns="0" anchor="t">
            <a:noAutofit/>
          </a:bodyPr>
          <a:lstStyle/>
          <a:p>
            <a:pPr algn="l"/>
            <a:r>
              <a:rPr sz="1200" b="1" i="0">
                <a:solidFill>
                  <a:srgbClr val="0B6E8F"/>
                </a:solidFill>
                <a:latin typeface="DM Sans"/>
              </a:rPr>
              <a:t>Uw team meet</a:t>
            </a:r>
          </a:p>
        </p:txBody>
      </p:sp>
      <p:sp>
        <p:nvSpPr>
          <p:cNvPr id="23" name="Rounded Rectangle 22"/>
          <p:cNvSpPr/>
          <p:nvPr/>
        </p:nvSpPr>
        <p:spPr>
          <a:xfrm>
            <a:off x="7992566" y="1569641"/>
            <a:ext cx="3386634" cy="4297561"/>
          </a:xfrm>
          <a:prstGeom prst="roundRect">
            <a:avLst>
              <a:gd name="adj" fmla="val 3000"/>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e8b2093c175ff8a3b4009a480e73937a.png"/>
          <p:cNvPicPr>
            <a:picLocks noChangeAspect="1"/>
          </p:cNvPicPr>
          <p:nvPr/>
        </p:nvPicPr>
        <p:blipFill>
          <a:blip r:embed="rId5"/>
          <a:stretch>
            <a:fillRect/>
          </a:stretch>
        </p:blipFill>
        <p:spPr>
          <a:xfrm>
            <a:off x="8594477" y="1779191"/>
            <a:ext cx="2182812" cy="1587500"/>
          </a:xfrm>
          <a:prstGeom prst="rect">
            <a:avLst/>
          </a:prstGeom>
        </p:spPr>
      </p:pic>
      <p:sp>
        <p:nvSpPr>
          <p:cNvPr id="25" name="TextBox 24"/>
          <p:cNvSpPr txBox="1"/>
          <p:nvPr/>
        </p:nvSpPr>
        <p:spPr>
          <a:xfrm>
            <a:off x="8202116" y="3519091"/>
            <a:ext cx="3018334" cy="205740"/>
          </a:xfrm>
          <a:prstGeom prst="rect">
            <a:avLst/>
          </a:prstGeom>
          <a:noFill/>
        </p:spPr>
        <p:txBody>
          <a:bodyPr wrap="none" lIns="0" tIns="0" rIns="0" bIns="0" anchor="t">
            <a:noAutofit/>
          </a:bodyPr>
          <a:lstStyle/>
          <a:p>
            <a:pPr algn="l">
              <a:lnSpc>
                <a:spcPts val="1620"/>
              </a:lnSpc>
            </a:pPr>
            <a:r>
              <a:rPr sz="1200" b="1" i="0" spc="100">
                <a:solidFill>
                  <a:srgbClr val="0B6E8F"/>
                </a:solidFill>
                <a:latin typeface="DM Sans"/>
              </a:rPr>
              <a:t>ACTIVITEIT</a:t>
            </a:r>
          </a:p>
        </p:txBody>
      </p:sp>
      <p:sp>
        <p:nvSpPr>
          <p:cNvPr id="26" name="TextBox 25"/>
          <p:cNvSpPr txBox="1"/>
          <p:nvPr/>
        </p:nvSpPr>
        <p:spPr>
          <a:xfrm>
            <a:off x="8202116" y="3800971"/>
            <a:ext cx="3018334" cy="335280"/>
          </a:xfrm>
          <a:prstGeom prst="rect">
            <a:avLst/>
          </a:prstGeom>
          <a:noFill/>
        </p:spPr>
        <p:txBody>
          <a:bodyPr wrap="none" lIns="0" tIns="0" rIns="0" bIns="0" anchor="t">
            <a:noAutofit/>
          </a:bodyPr>
          <a:lstStyle/>
          <a:p>
            <a:pPr algn="l">
              <a:lnSpc>
                <a:spcPts val="2640"/>
              </a:lnSpc>
            </a:pPr>
            <a:r>
              <a:rPr sz="2400" b="0" i="0">
                <a:solidFill>
                  <a:srgbClr val="0A2540"/>
                </a:solidFill>
                <a:latin typeface="DM Serif Display"/>
              </a:rPr>
              <a:t>MoveMonitor</a:t>
            </a:r>
          </a:p>
        </p:txBody>
      </p:sp>
      <p:sp>
        <p:nvSpPr>
          <p:cNvPr id="27" name="TextBox 26"/>
          <p:cNvSpPr txBox="1"/>
          <p:nvPr/>
        </p:nvSpPr>
        <p:spPr>
          <a:xfrm>
            <a:off x="8202116" y="4212431"/>
            <a:ext cx="3018334" cy="406400"/>
          </a:xfrm>
          <a:prstGeom prst="rect">
            <a:avLst/>
          </a:prstGeom>
          <a:noFill/>
        </p:spPr>
        <p:txBody>
          <a:bodyPr wrap="none" lIns="0" tIns="0" rIns="0" bIns="0" anchor="t">
            <a:noAutofit/>
          </a:bodyPr>
          <a:lstStyle/>
          <a:p>
            <a:pPr algn="l">
              <a:lnSpc>
                <a:spcPts val="3200"/>
              </a:lnSpc>
            </a:pPr>
            <a:r>
              <a:rPr sz="3200" b="0" i="0">
                <a:solidFill>
                  <a:srgbClr val="0A2540"/>
                </a:solidFill>
                <a:latin typeface="DM Serif Display"/>
              </a:rPr>
              <a:t>7</a:t>
            </a:r>
            <a:r>
              <a:rPr sz="1500" b="0" i="0">
                <a:solidFill>
                  <a:srgbClr val="5A6E80"/>
                </a:solidFill>
                <a:latin typeface="DM Sans"/>
              </a:rPr>
              <a:t> dagen</a:t>
            </a:r>
          </a:p>
        </p:txBody>
      </p:sp>
      <p:sp>
        <p:nvSpPr>
          <p:cNvPr id="28" name="Rectangle 27"/>
          <p:cNvSpPr/>
          <p:nvPr/>
        </p:nvSpPr>
        <p:spPr>
          <a:xfrm>
            <a:off x="8202116" y="4695031"/>
            <a:ext cx="2967534"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02116" y="4777581"/>
            <a:ext cx="3018334"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Om het middel, op de onderrug</a:t>
            </a:r>
          </a:p>
        </p:txBody>
      </p:sp>
      <p:sp>
        <p:nvSpPr>
          <p:cNvPr id="30" name="TextBox 29"/>
          <p:cNvSpPr txBox="1"/>
          <p:nvPr/>
        </p:nvSpPr>
        <p:spPr>
          <a:xfrm>
            <a:off x="8202116" y="5017591"/>
            <a:ext cx="3018334" cy="214630"/>
          </a:xfrm>
          <a:prstGeom prst="rect">
            <a:avLst/>
          </a:prstGeom>
          <a:noFill/>
        </p:spPr>
        <p:txBody>
          <a:bodyPr wrap="none" lIns="0" tIns="0" rIns="0" bIns="0" anchor="t">
            <a:noAutofit/>
          </a:bodyPr>
          <a:lstStyle/>
          <a:p>
            <a:pPr algn="l">
              <a:lnSpc>
                <a:spcPts val="1689"/>
              </a:lnSpc>
            </a:pPr>
            <a:r>
              <a:rPr sz="1300" b="0" i="0">
                <a:solidFill>
                  <a:srgbClr val="3A4F63"/>
                </a:solidFill>
                <a:latin typeface="DM Sans"/>
              </a:rPr>
              <a:t>Eén week, alleen bij de start</a:t>
            </a:r>
          </a:p>
        </p:txBody>
      </p:sp>
      <p:sp>
        <p:nvSpPr>
          <p:cNvPr id="31" name="Rounded Rectangle 30"/>
          <p:cNvSpPr/>
          <p:nvPr/>
        </p:nvSpPr>
        <p:spPr>
          <a:xfrm>
            <a:off x="8202116" y="5384602"/>
            <a:ext cx="1310084" cy="273050"/>
          </a:xfrm>
          <a:prstGeom prst="roundRect">
            <a:avLst>
              <a:gd name="adj" fmla="val 46511"/>
            </a:avLst>
          </a:prstGeom>
          <a:noFill/>
          <a:ln w="127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8316416" y="5422702"/>
            <a:ext cx="1132284" cy="198120"/>
          </a:xfrm>
          <a:prstGeom prst="rect">
            <a:avLst/>
          </a:prstGeom>
          <a:noFill/>
        </p:spPr>
        <p:txBody>
          <a:bodyPr wrap="none" lIns="0" tIns="0" rIns="0" bIns="0" anchor="t">
            <a:noAutofit/>
          </a:bodyPr>
          <a:lstStyle/>
          <a:p>
            <a:pPr algn="l"/>
            <a:r>
              <a:rPr sz="1200" b="1" i="0">
                <a:solidFill>
                  <a:srgbClr val="0B6E8F"/>
                </a:solidFill>
                <a:latin typeface="DM Sans"/>
              </a:rPr>
              <a:t>Uw team meet</a:t>
            </a:r>
          </a:p>
        </p:txBody>
      </p:sp>
      <p:pic>
        <p:nvPicPr>
          <p:cNvPr id="33" name="Picture 32" descr="5d72d4b34cb4ecc0be35953d18b4aaa2.png"/>
          <p:cNvPicPr>
            <a:picLocks noChangeAspect="1"/>
          </p:cNvPicPr>
          <p:nvPr/>
        </p:nvPicPr>
        <p:blipFill>
          <a:blip r:embed="rId6"/>
          <a:stretch>
            <a:fillRect/>
          </a:stretch>
        </p:blipFill>
        <p:spPr>
          <a:xfrm>
            <a:off x="812967" y="6261100"/>
            <a:ext cx="171116" cy="203200"/>
          </a:xfrm>
          <a:prstGeom prst="rect">
            <a:avLst/>
          </a:prstGeom>
        </p:spPr>
      </p:pic>
      <p:sp>
        <p:nvSpPr>
          <p:cNvPr id="34" name="TextBox 33"/>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De techniek</a:t>
            </a:r>
          </a:p>
        </p:txBody>
      </p:sp>
      <p:sp>
        <p:nvSpPr>
          <p:cNvPr id="35" name="TextBox 34"/>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18 · Lutjeboer 2018</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1986359"/>
            <a:ext cx="6943344" cy="1386681"/>
          </a:xfrm>
          <a:prstGeom prst="rect">
            <a:avLst/>
          </a:prstGeom>
          <a:noFill/>
        </p:spPr>
        <p:txBody>
          <a:bodyPr wrap="square" lIns="0" tIns="0" rIns="0" bIns="0" anchor="t">
            <a:noAutofit/>
          </a:bodyPr>
          <a:lstStyle/>
          <a:p>
            <a:pPr algn="l">
              <a:lnSpc>
                <a:spcPts val="5460"/>
              </a:lnSpc>
            </a:pPr>
            <a:r>
              <a:rPr sz="5200" b="0" i="0" spc="-100">
                <a:solidFill>
                  <a:srgbClr val="0A2540"/>
                </a:solidFill>
                <a:latin typeface="DM Serif Display"/>
              </a:rPr>
              <a:t>Meetwaarden gaan niet naar de controlegroep</a:t>
            </a:r>
          </a:p>
        </p:txBody>
      </p:sp>
      <p:sp>
        <p:nvSpPr>
          <p:cNvPr id="3" name="TextBox 2"/>
          <p:cNvSpPr txBox="1"/>
          <p:nvPr/>
        </p:nvSpPr>
        <p:spPr>
          <a:xfrm>
            <a:off x="812800" y="3601641"/>
            <a:ext cx="6943344" cy="1066800"/>
          </a:xfrm>
          <a:prstGeom prst="rect">
            <a:avLst/>
          </a:prstGeom>
          <a:noFill/>
        </p:spPr>
        <p:txBody>
          <a:bodyPr wrap="square" lIns="0" tIns="0" rIns="0" bIns="0" anchor="t">
            <a:noAutofit/>
          </a:bodyPr>
          <a:lstStyle/>
          <a:p>
            <a:pPr algn="l">
              <a:lnSpc>
                <a:spcPts val="2100"/>
              </a:lnSpc>
            </a:pPr>
            <a:r>
              <a:rPr sz="1500" b="0" i="0">
                <a:solidFill>
                  <a:srgbClr val="3A4F63"/>
                </a:solidFill>
                <a:latin typeface="DM Sans"/>
              </a:rPr>
              <a:t>In Usual Care meet u de druk alleen bij de start en op maand 6, geblindeerd: drempel 50 kPa, waarden uit. De sensor wordt uitgelezen, zonder terugkoppeling. Bespreekt u de waarden, dan lévert u de interventie en is die patiënt geen controle meer.</a:t>
            </a:r>
          </a:p>
        </p:txBody>
      </p:sp>
      <p:sp>
        <p:nvSpPr>
          <p:cNvPr id="4" name="Rounded Rectangle 3"/>
          <p:cNvSpPr/>
          <p:nvPr/>
        </p:nvSpPr>
        <p:spPr>
          <a:xfrm>
            <a:off x="8077200" y="2219226"/>
            <a:ext cx="3302000" cy="2216348"/>
          </a:xfrm>
          <a:prstGeom prst="roundRect">
            <a:avLst>
              <a:gd name="adj" fmla="val 343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077200" y="2219226"/>
            <a:ext cx="3302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1372850" y="2219226"/>
            <a:ext cx="6350" cy="2216348"/>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077200" y="4429224"/>
            <a:ext cx="3302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077200" y="2219226"/>
            <a:ext cx="38100" cy="221634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69300" y="2479576"/>
            <a:ext cx="2800350" cy="222885"/>
          </a:xfrm>
          <a:prstGeom prst="rect">
            <a:avLst/>
          </a:prstGeom>
          <a:noFill/>
        </p:spPr>
        <p:txBody>
          <a:bodyPr wrap="none" lIns="0" tIns="0" rIns="0" bIns="0" anchor="t">
            <a:noAutofit/>
          </a:bodyPr>
          <a:lstStyle/>
          <a:p>
            <a:pPr algn="l">
              <a:lnSpc>
                <a:spcPts val="1755"/>
              </a:lnSpc>
            </a:pPr>
            <a:r>
              <a:rPr sz="1300" b="1" i="0">
                <a:solidFill>
                  <a:srgbClr val="A34A00"/>
                </a:solidFill>
                <a:latin typeface="DM Sans"/>
              </a:rPr>
              <a:t>Uitzondering</a:t>
            </a:r>
          </a:p>
        </p:txBody>
      </p:sp>
      <p:sp>
        <p:nvSpPr>
          <p:cNvPr id="10" name="TextBox 9"/>
          <p:cNvSpPr txBox="1"/>
          <p:nvPr/>
        </p:nvSpPr>
        <p:spPr>
          <a:xfrm>
            <a:off x="8369300" y="2804021"/>
            <a:ext cx="2804541" cy="1371203"/>
          </a:xfrm>
          <a:prstGeom prst="rect">
            <a:avLst/>
          </a:prstGeom>
          <a:noFill/>
        </p:spPr>
        <p:txBody>
          <a:bodyPr wrap="square" lIns="0" tIns="0" rIns="0" bIns="0" anchor="t">
            <a:noAutofit/>
          </a:bodyPr>
          <a:lstStyle/>
          <a:p>
            <a:pPr algn="l">
              <a:lnSpc>
                <a:spcPts val="2160"/>
              </a:lnSpc>
            </a:pPr>
            <a:r>
              <a:rPr sz="1600" b="0" i="0">
                <a:solidFill>
                  <a:srgbClr val="0A2540"/>
                </a:solidFill>
                <a:latin typeface="DM Sans"/>
              </a:rPr>
              <a:t>Klinische bevindingen zijn géén meetwaarden. Elke laesie of huiddefect meldt en behandelt u meteen. In beide groepen.</a:t>
            </a:r>
          </a:p>
        </p:txBody>
      </p:sp>
      <p:pic>
        <p:nvPicPr>
          <p:cNvPr id="11" name="Picture 10"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12" name="TextBox 11"/>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De enige regel die u écht moet onthouden</a:t>
            </a:r>
          </a:p>
        </p:txBody>
      </p:sp>
      <p:sp>
        <p:nvSpPr>
          <p:cNvPr id="13" name="TextBox 12"/>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§5.4 · beslissing 8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Bij een nieuwe wonde</a:t>
            </a:r>
          </a:p>
        </p:txBody>
      </p:sp>
      <p:sp>
        <p:nvSpPr>
          <p:cNvPr id="3" name="Rectangle 2"/>
          <p:cNvSpPr/>
          <p:nvPr/>
        </p:nvSpPr>
        <p:spPr>
          <a:xfrm>
            <a:off x="812800" y="1493441"/>
            <a:ext cx="2921000" cy="12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2800" y="1633141"/>
            <a:ext cx="2971800" cy="205740"/>
          </a:xfrm>
          <a:prstGeom prst="rect">
            <a:avLst/>
          </a:prstGeom>
          <a:noFill/>
        </p:spPr>
        <p:txBody>
          <a:bodyPr wrap="none" lIns="0" tIns="0" rIns="0" bIns="0" anchor="t">
            <a:noAutofit/>
          </a:bodyPr>
          <a:lstStyle/>
          <a:p>
            <a:pPr algn="l">
              <a:lnSpc>
                <a:spcPts val="1620"/>
              </a:lnSpc>
            </a:pPr>
            <a:r>
              <a:rPr sz="1200" b="1" i="0">
                <a:solidFill>
                  <a:srgbClr val="0B6E8F"/>
                </a:solidFill>
                <a:latin typeface="DM Sans"/>
              </a:rPr>
              <a:t>Wat telt</a:t>
            </a:r>
          </a:p>
        </p:txBody>
      </p:sp>
      <p:sp>
        <p:nvSpPr>
          <p:cNvPr id="5" name="TextBox 4"/>
          <p:cNvSpPr txBox="1"/>
          <p:nvPr/>
        </p:nvSpPr>
        <p:spPr>
          <a:xfrm>
            <a:off x="812800" y="1940421"/>
            <a:ext cx="2979420" cy="876300"/>
          </a:xfrm>
          <a:prstGeom prst="rect">
            <a:avLst/>
          </a:prstGeom>
          <a:noFill/>
        </p:spPr>
        <p:txBody>
          <a:bodyPr wrap="square" lIns="0" tIns="0" rIns="0" bIns="0" anchor="t">
            <a:noAutofit/>
          </a:bodyPr>
          <a:lstStyle/>
          <a:p>
            <a:pPr algn="l">
              <a:lnSpc>
                <a:spcPts val="2300"/>
              </a:lnSpc>
            </a:pPr>
            <a:r>
              <a:rPr sz="2000" b="0" i="0">
                <a:solidFill>
                  <a:srgbClr val="0A2540"/>
                </a:solidFill>
                <a:latin typeface="DM Serif Display"/>
              </a:rPr>
              <a:t>Een nieuw ulcus, op dezelfde of een andere plek</a:t>
            </a:r>
          </a:p>
        </p:txBody>
      </p:sp>
      <p:sp>
        <p:nvSpPr>
          <p:cNvPr id="6" name="Rectangle 5"/>
          <p:cNvSpPr/>
          <p:nvPr/>
        </p:nvSpPr>
        <p:spPr>
          <a:xfrm>
            <a:off x="812800" y="2918321"/>
            <a:ext cx="2921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800" y="3026271"/>
            <a:ext cx="2979420" cy="445691"/>
          </a:xfrm>
          <a:prstGeom prst="rect">
            <a:avLst/>
          </a:prstGeom>
          <a:noFill/>
        </p:spPr>
        <p:txBody>
          <a:bodyPr wrap="square" lIns="0" tIns="0" rIns="0" bIns="0" anchor="t">
            <a:noAutofit/>
          </a:bodyPr>
          <a:lstStyle/>
          <a:p>
            <a:pPr algn="l">
              <a:lnSpc>
                <a:spcPts val="1755"/>
              </a:lnSpc>
            </a:pPr>
            <a:r>
              <a:rPr sz="1300" b="0" i="0">
                <a:solidFill>
                  <a:srgbClr val="3A4F63"/>
                </a:solidFill>
                <a:latin typeface="DM Sans"/>
              </a:rPr>
              <a:t>Beide voeten, plantair én dorsaal, op elke visite gescreend</a:t>
            </a:r>
          </a:p>
        </p:txBody>
      </p:sp>
      <p:sp>
        <p:nvSpPr>
          <p:cNvPr id="8" name="Rectangle 7"/>
          <p:cNvSpPr/>
          <p:nvPr/>
        </p:nvSpPr>
        <p:spPr>
          <a:xfrm>
            <a:off x="812800" y="3573562"/>
            <a:ext cx="2921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2800" y="3681512"/>
            <a:ext cx="2979420" cy="445691"/>
          </a:xfrm>
          <a:prstGeom prst="rect">
            <a:avLst/>
          </a:prstGeom>
          <a:noFill/>
        </p:spPr>
        <p:txBody>
          <a:bodyPr wrap="square" lIns="0" tIns="0" rIns="0" bIns="0" anchor="t">
            <a:noAutofit/>
          </a:bodyPr>
          <a:lstStyle/>
          <a:p>
            <a:pPr algn="l">
              <a:lnSpc>
                <a:spcPts val="1755"/>
              </a:lnSpc>
            </a:pPr>
            <a:r>
              <a:rPr sz="1300" b="0" i="0">
                <a:solidFill>
                  <a:srgbClr val="3A4F63"/>
                </a:solidFill>
                <a:latin typeface="DM Sans"/>
              </a:rPr>
              <a:t>Vastgesteld door het team, met foto’s, op dezelfde manier in beide armen</a:t>
            </a:r>
          </a:p>
        </p:txBody>
      </p:sp>
      <p:sp>
        <p:nvSpPr>
          <p:cNvPr id="10" name="TextBox 9"/>
          <p:cNvSpPr txBox="1"/>
          <p:nvPr/>
        </p:nvSpPr>
        <p:spPr>
          <a:xfrm>
            <a:off x="4089400" y="1493441"/>
            <a:ext cx="7340600" cy="205740"/>
          </a:xfrm>
          <a:prstGeom prst="rect">
            <a:avLst/>
          </a:prstGeom>
          <a:noFill/>
        </p:spPr>
        <p:txBody>
          <a:bodyPr wrap="none" lIns="0" tIns="0" rIns="0" bIns="0" anchor="t">
            <a:noAutofit/>
          </a:bodyPr>
          <a:lstStyle/>
          <a:p>
            <a:pPr algn="l">
              <a:lnSpc>
                <a:spcPts val="1620"/>
              </a:lnSpc>
            </a:pPr>
            <a:r>
              <a:rPr sz="1200" b="1" i="0">
                <a:solidFill>
                  <a:srgbClr val="0B6E8F"/>
                </a:solidFill>
                <a:latin typeface="DM Sans"/>
              </a:rPr>
              <a:t>Wat u doet</a:t>
            </a:r>
          </a:p>
        </p:txBody>
      </p:sp>
      <p:sp>
        <p:nvSpPr>
          <p:cNvPr id="11" name="TextBox 10"/>
          <p:cNvSpPr txBox="1"/>
          <p:nvPr/>
        </p:nvSpPr>
        <p:spPr>
          <a:xfrm>
            <a:off x="4089400" y="1838821"/>
            <a:ext cx="1511300" cy="234950"/>
          </a:xfrm>
          <a:prstGeom prst="rect">
            <a:avLst/>
          </a:prstGeom>
          <a:noFill/>
        </p:spPr>
        <p:txBody>
          <a:bodyPr wrap="none" lIns="0" tIns="0" rIns="0" bIns="0" anchor="t">
            <a:noAutofit/>
          </a:bodyPr>
          <a:lstStyle/>
          <a:p>
            <a:pPr algn="l"/>
            <a:r>
              <a:rPr sz="1400" b="1" i="0">
                <a:solidFill>
                  <a:srgbClr val="0A2540"/>
                </a:solidFill>
                <a:latin typeface="DM Sans"/>
              </a:rPr>
              <a:t>Verwittigen</a:t>
            </a:r>
          </a:p>
        </p:txBody>
      </p:sp>
      <p:sp>
        <p:nvSpPr>
          <p:cNvPr id="12" name="TextBox 11"/>
          <p:cNvSpPr txBox="1"/>
          <p:nvPr/>
        </p:nvSpPr>
        <p:spPr>
          <a:xfrm>
            <a:off x="5803900" y="1845171"/>
            <a:ext cx="3911600" cy="231140"/>
          </a:xfrm>
          <a:prstGeom prst="rect">
            <a:avLst/>
          </a:prstGeom>
          <a:noFill/>
        </p:spPr>
        <p:txBody>
          <a:bodyPr wrap="none" lIns="0" tIns="0" rIns="0" bIns="0" anchor="t">
            <a:noAutofit/>
          </a:bodyPr>
          <a:lstStyle/>
          <a:p>
            <a:pPr algn="l">
              <a:lnSpc>
                <a:spcPts val="1820"/>
              </a:lnSpc>
            </a:pPr>
            <a:r>
              <a:rPr sz="1400" b="0" i="0">
                <a:solidFill>
                  <a:srgbClr val="3A4F63"/>
                </a:solidFill>
                <a:latin typeface="DM Sans"/>
              </a:rPr>
              <a:t>De investigator meteen verwittigen</a:t>
            </a:r>
          </a:p>
        </p:txBody>
      </p:sp>
      <p:sp>
        <p:nvSpPr>
          <p:cNvPr id="13" name="TextBox 12"/>
          <p:cNvSpPr txBox="1"/>
          <p:nvPr/>
        </p:nvSpPr>
        <p:spPr>
          <a:xfrm>
            <a:off x="9867900" y="1864221"/>
            <a:ext cx="1511300" cy="198120"/>
          </a:xfrm>
          <a:prstGeom prst="rect">
            <a:avLst/>
          </a:prstGeom>
          <a:noFill/>
        </p:spPr>
        <p:txBody>
          <a:bodyPr wrap="none" lIns="0" tIns="0" rIns="0" bIns="0" anchor="t">
            <a:noAutofit/>
          </a:bodyPr>
          <a:lstStyle/>
          <a:p>
            <a:pPr algn="r"/>
            <a:r>
              <a:rPr sz="1200" b="1" i="0">
                <a:solidFill>
                  <a:srgbClr val="A34A00"/>
                </a:solidFill>
                <a:latin typeface="DM Sans"/>
              </a:rPr>
              <a:t>onmiddellijk</a:t>
            </a:r>
          </a:p>
        </p:txBody>
      </p:sp>
      <p:sp>
        <p:nvSpPr>
          <p:cNvPr id="14" name="Rectangle 13"/>
          <p:cNvSpPr/>
          <p:nvPr/>
        </p:nvSpPr>
        <p:spPr>
          <a:xfrm>
            <a:off x="4089400" y="2165152"/>
            <a:ext cx="72898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89400" y="2260402"/>
            <a:ext cx="1511300" cy="234950"/>
          </a:xfrm>
          <a:prstGeom prst="rect">
            <a:avLst/>
          </a:prstGeom>
          <a:noFill/>
        </p:spPr>
        <p:txBody>
          <a:bodyPr wrap="none" lIns="0" tIns="0" rIns="0" bIns="0" anchor="t">
            <a:noAutofit/>
          </a:bodyPr>
          <a:lstStyle/>
          <a:p>
            <a:pPr algn="l"/>
            <a:r>
              <a:rPr sz="1400" b="1" i="0">
                <a:solidFill>
                  <a:srgbClr val="0A2540"/>
                </a:solidFill>
                <a:latin typeface="DM Sans"/>
              </a:rPr>
              <a:t>Vastleggen</a:t>
            </a:r>
          </a:p>
        </p:txBody>
      </p:sp>
      <p:sp>
        <p:nvSpPr>
          <p:cNvPr id="16" name="TextBox 15"/>
          <p:cNvSpPr txBox="1"/>
          <p:nvPr/>
        </p:nvSpPr>
        <p:spPr>
          <a:xfrm>
            <a:off x="5803900" y="2266752"/>
            <a:ext cx="3911600" cy="231140"/>
          </a:xfrm>
          <a:prstGeom prst="rect">
            <a:avLst/>
          </a:prstGeom>
          <a:noFill/>
        </p:spPr>
        <p:txBody>
          <a:bodyPr wrap="none" lIns="0" tIns="0" rIns="0" bIns="0" anchor="t">
            <a:noAutofit/>
          </a:bodyPr>
          <a:lstStyle/>
          <a:p>
            <a:pPr algn="l">
              <a:lnSpc>
                <a:spcPts val="1820"/>
              </a:lnSpc>
            </a:pPr>
            <a:r>
              <a:rPr sz="1400" b="0" i="0">
                <a:solidFill>
                  <a:srgbClr val="3A4F63"/>
                </a:solidFill>
                <a:latin typeface="DM Sans"/>
              </a:rPr>
              <a:t>Foto’s, klasseren met PEDIS en WIfI, verzorgen</a:t>
            </a:r>
          </a:p>
        </p:txBody>
      </p:sp>
      <p:sp>
        <p:nvSpPr>
          <p:cNvPr id="17" name="TextBox 16"/>
          <p:cNvSpPr txBox="1"/>
          <p:nvPr/>
        </p:nvSpPr>
        <p:spPr>
          <a:xfrm>
            <a:off x="9867900" y="2285802"/>
            <a:ext cx="1511300" cy="198120"/>
          </a:xfrm>
          <a:prstGeom prst="rect">
            <a:avLst/>
          </a:prstGeom>
          <a:noFill/>
        </p:spPr>
        <p:txBody>
          <a:bodyPr wrap="none" lIns="0" tIns="0" rIns="0" bIns="0" anchor="t">
            <a:noAutofit/>
          </a:bodyPr>
          <a:lstStyle/>
          <a:p>
            <a:pPr algn="r"/>
            <a:r>
              <a:rPr sz="1200" b="1" i="0">
                <a:solidFill>
                  <a:srgbClr val="A34A00"/>
                </a:solidFill>
                <a:latin typeface="DM Sans"/>
              </a:rPr>
              <a:t>eCRF 36 · 38</a:t>
            </a:r>
          </a:p>
        </p:txBody>
      </p:sp>
      <p:sp>
        <p:nvSpPr>
          <p:cNvPr id="18" name="Rectangle 17"/>
          <p:cNvSpPr/>
          <p:nvPr/>
        </p:nvSpPr>
        <p:spPr>
          <a:xfrm>
            <a:off x="4089400" y="2586732"/>
            <a:ext cx="72898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089400" y="2681982"/>
            <a:ext cx="1511300" cy="234950"/>
          </a:xfrm>
          <a:prstGeom prst="rect">
            <a:avLst/>
          </a:prstGeom>
          <a:noFill/>
        </p:spPr>
        <p:txBody>
          <a:bodyPr wrap="none" lIns="0" tIns="0" rIns="0" bIns="0" anchor="t">
            <a:noAutofit/>
          </a:bodyPr>
          <a:lstStyle/>
          <a:p>
            <a:pPr algn="l"/>
            <a:r>
              <a:rPr sz="1400" b="1" i="0">
                <a:solidFill>
                  <a:srgbClr val="0A2540"/>
                </a:solidFill>
                <a:latin typeface="DM Sans"/>
              </a:rPr>
              <a:t>Opladen</a:t>
            </a:r>
          </a:p>
        </p:txBody>
      </p:sp>
      <p:sp>
        <p:nvSpPr>
          <p:cNvPr id="20" name="TextBox 19"/>
          <p:cNvSpPr txBox="1"/>
          <p:nvPr/>
        </p:nvSpPr>
        <p:spPr>
          <a:xfrm>
            <a:off x="5803900" y="2688332"/>
            <a:ext cx="3911600" cy="231140"/>
          </a:xfrm>
          <a:prstGeom prst="rect">
            <a:avLst/>
          </a:prstGeom>
          <a:noFill/>
        </p:spPr>
        <p:txBody>
          <a:bodyPr wrap="none" lIns="0" tIns="0" rIns="0" bIns="0" anchor="t">
            <a:noAutofit/>
          </a:bodyPr>
          <a:lstStyle/>
          <a:p>
            <a:pPr algn="l">
              <a:lnSpc>
                <a:spcPts val="1820"/>
              </a:lnSpc>
            </a:pPr>
            <a:r>
              <a:rPr sz="1400" b="0" i="0">
                <a:solidFill>
                  <a:srgbClr val="3A4F63"/>
                </a:solidFill>
                <a:latin typeface="DM Sans"/>
              </a:rPr>
              <a:t>Foto’s geanonimiseerd opladen</a:t>
            </a:r>
          </a:p>
        </p:txBody>
      </p:sp>
      <p:sp>
        <p:nvSpPr>
          <p:cNvPr id="21" name="TextBox 20"/>
          <p:cNvSpPr txBox="1"/>
          <p:nvPr/>
        </p:nvSpPr>
        <p:spPr>
          <a:xfrm>
            <a:off x="9867900" y="2707382"/>
            <a:ext cx="1511300" cy="198120"/>
          </a:xfrm>
          <a:prstGeom prst="rect">
            <a:avLst/>
          </a:prstGeom>
          <a:noFill/>
        </p:spPr>
        <p:txBody>
          <a:bodyPr wrap="none" lIns="0" tIns="0" rIns="0" bIns="0" anchor="t">
            <a:noAutofit/>
          </a:bodyPr>
          <a:lstStyle/>
          <a:p>
            <a:pPr algn="r"/>
            <a:r>
              <a:rPr sz="1200" b="1" i="0">
                <a:solidFill>
                  <a:srgbClr val="A34A00"/>
                </a:solidFill>
                <a:latin typeface="DM Sans"/>
              </a:rPr>
              <a:t>ManGO</a:t>
            </a:r>
          </a:p>
        </p:txBody>
      </p:sp>
      <p:sp>
        <p:nvSpPr>
          <p:cNvPr id="22" name="Rectangle 21"/>
          <p:cNvSpPr/>
          <p:nvPr/>
        </p:nvSpPr>
        <p:spPr>
          <a:xfrm>
            <a:off x="4089400" y="3008312"/>
            <a:ext cx="72898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089400" y="3103562"/>
            <a:ext cx="1511300" cy="234950"/>
          </a:xfrm>
          <a:prstGeom prst="rect">
            <a:avLst/>
          </a:prstGeom>
          <a:noFill/>
        </p:spPr>
        <p:txBody>
          <a:bodyPr wrap="none" lIns="0" tIns="0" rIns="0" bIns="0" anchor="t">
            <a:noAutofit/>
          </a:bodyPr>
          <a:lstStyle/>
          <a:p>
            <a:pPr algn="l"/>
            <a:r>
              <a:rPr sz="1400" b="1" i="0">
                <a:solidFill>
                  <a:srgbClr val="0A2540"/>
                </a:solidFill>
                <a:latin typeface="DM Sans"/>
              </a:rPr>
              <a:t>Opvolgen</a:t>
            </a:r>
          </a:p>
        </p:txBody>
      </p:sp>
      <p:sp>
        <p:nvSpPr>
          <p:cNvPr id="24" name="TextBox 23"/>
          <p:cNvSpPr txBox="1"/>
          <p:nvPr/>
        </p:nvSpPr>
        <p:spPr>
          <a:xfrm>
            <a:off x="5803900" y="3109912"/>
            <a:ext cx="3938016" cy="462161"/>
          </a:xfrm>
          <a:prstGeom prst="rect">
            <a:avLst/>
          </a:prstGeom>
          <a:noFill/>
        </p:spPr>
        <p:txBody>
          <a:bodyPr wrap="square" lIns="0" tIns="0" rIns="0" bIns="0" anchor="t">
            <a:noAutofit/>
          </a:bodyPr>
          <a:lstStyle/>
          <a:p>
            <a:pPr algn="l">
              <a:lnSpc>
                <a:spcPts val="1820"/>
              </a:lnSpc>
            </a:pPr>
            <a:r>
              <a:rPr sz="1400" b="0" i="0">
                <a:solidFill>
                  <a:srgbClr val="3A4F63"/>
                </a:solidFill>
                <a:latin typeface="DM Sans"/>
              </a:rPr>
              <a:t>Bij elk vervolgcontact de genezing noteren, tot genezing, amputatie of overlijden</a:t>
            </a:r>
          </a:p>
        </p:txBody>
      </p:sp>
      <p:sp>
        <p:nvSpPr>
          <p:cNvPr id="25" name="TextBox 24"/>
          <p:cNvSpPr txBox="1"/>
          <p:nvPr/>
        </p:nvSpPr>
        <p:spPr>
          <a:xfrm>
            <a:off x="9867900" y="3128962"/>
            <a:ext cx="1511300" cy="198120"/>
          </a:xfrm>
          <a:prstGeom prst="rect">
            <a:avLst/>
          </a:prstGeom>
          <a:noFill/>
        </p:spPr>
        <p:txBody>
          <a:bodyPr wrap="none" lIns="0" tIns="0" rIns="0" bIns="0" anchor="t">
            <a:noAutofit/>
          </a:bodyPr>
          <a:lstStyle/>
          <a:p>
            <a:pPr algn="r"/>
            <a:r>
              <a:rPr sz="1200" b="1" i="0">
                <a:solidFill>
                  <a:srgbClr val="A34A00"/>
                </a:solidFill>
                <a:latin typeface="DM Sans"/>
              </a:rPr>
              <a:t>eCRF 47</a:t>
            </a:r>
          </a:p>
        </p:txBody>
      </p:sp>
      <p:sp>
        <p:nvSpPr>
          <p:cNvPr id="26" name="Rectangle 25"/>
          <p:cNvSpPr/>
          <p:nvPr/>
        </p:nvSpPr>
        <p:spPr>
          <a:xfrm>
            <a:off x="4089400" y="3660973"/>
            <a:ext cx="72898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089400" y="3756223"/>
            <a:ext cx="1511300" cy="234950"/>
          </a:xfrm>
          <a:prstGeom prst="rect">
            <a:avLst/>
          </a:prstGeom>
          <a:noFill/>
        </p:spPr>
        <p:txBody>
          <a:bodyPr wrap="none" lIns="0" tIns="0" rIns="0" bIns="0" anchor="t">
            <a:noAutofit/>
          </a:bodyPr>
          <a:lstStyle/>
          <a:p>
            <a:pPr algn="l"/>
            <a:r>
              <a:rPr sz="1400" b="1" i="0">
                <a:solidFill>
                  <a:srgbClr val="0A2540"/>
                </a:solidFill>
                <a:latin typeface="DM Sans"/>
              </a:rPr>
              <a:t>Ernstig voorval</a:t>
            </a:r>
          </a:p>
        </p:txBody>
      </p:sp>
      <p:sp>
        <p:nvSpPr>
          <p:cNvPr id="28" name="TextBox 27"/>
          <p:cNvSpPr txBox="1"/>
          <p:nvPr/>
        </p:nvSpPr>
        <p:spPr>
          <a:xfrm>
            <a:off x="5803900" y="3762573"/>
            <a:ext cx="3938016" cy="462161"/>
          </a:xfrm>
          <a:prstGeom prst="rect">
            <a:avLst/>
          </a:prstGeom>
          <a:noFill/>
        </p:spPr>
        <p:txBody>
          <a:bodyPr wrap="square" lIns="0" tIns="0" rIns="0" bIns="0" anchor="t">
            <a:noAutofit/>
          </a:bodyPr>
          <a:lstStyle/>
          <a:p>
            <a:pPr algn="l">
              <a:lnSpc>
                <a:spcPts val="1820"/>
              </a:lnSpc>
            </a:pPr>
            <a:r>
              <a:rPr sz="1400" b="0" i="0">
                <a:solidFill>
                  <a:srgbClr val="3A4F63"/>
                </a:solidFill>
                <a:latin typeface="DM Sans"/>
              </a:rPr>
              <a:t>Zoals een opname: melden aan de studieverantwoordelijke</a:t>
            </a:r>
          </a:p>
        </p:txBody>
      </p:sp>
      <p:sp>
        <p:nvSpPr>
          <p:cNvPr id="29" name="TextBox 28"/>
          <p:cNvSpPr txBox="1"/>
          <p:nvPr/>
        </p:nvSpPr>
        <p:spPr>
          <a:xfrm>
            <a:off x="9867900" y="3781623"/>
            <a:ext cx="1511300" cy="198120"/>
          </a:xfrm>
          <a:prstGeom prst="rect">
            <a:avLst/>
          </a:prstGeom>
          <a:noFill/>
        </p:spPr>
        <p:txBody>
          <a:bodyPr wrap="none" lIns="0" tIns="0" rIns="0" bIns="0" anchor="t">
            <a:noAutofit/>
          </a:bodyPr>
          <a:lstStyle/>
          <a:p>
            <a:pPr algn="r"/>
            <a:r>
              <a:rPr sz="1200" b="1" i="0">
                <a:solidFill>
                  <a:srgbClr val="A34A00"/>
                </a:solidFill>
                <a:latin typeface="DM Sans"/>
              </a:rPr>
              <a:t>72 uur · eCRF 46</a:t>
            </a:r>
          </a:p>
        </p:txBody>
      </p:sp>
      <p:sp>
        <p:nvSpPr>
          <p:cNvPr id="30" name="Rectangle 29"/>
          <p:cNvSpPr/>
          <p:nvPr/>
        </p:nvSpPr>
        <p:spPr>
          <a:xfrm>
            <a:off x="812800" y="4491434"/>
            <a:ext cx="10566400" cy="127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12800" y="4631134"/>
            <a:ext cx="10617200" cy="257175"/>
          </a:xfrm>
          <a:prstGeom prst="rect">
            <a:avLst/>
          </a:prstGeom>
          <a:noFill/>
        </p:spPr>
        <p:txBody>
          <a:bodyPr wrap="none" lIns="0" tIns="0" rIns="0" bIns="0" anchor="t">
            <a:noAutofit/>
          </a:bodyPr>
          <a:lstStyle/>
          <a:p>
            <a:pPr algn="l">
              <a:lnSpc>
                <a:spcPts val="2025"/>
              </a:lnSpc>
            </a:pPr>
            <a:r>
              <a:rPr sz="1500" b="1" i="0">
                <a:solidFill>
                  <a:srgbClr val="0A2540"/>
                </a:solidFill>
                <a:latin typeface="DM Sans"/>
              </a:rPr>
              <a:t>Het eindpunt is geen einde:</a:t>
            </a:r>
            <a:r>
              <a:rPr sz="1500" b="0" i="0">
                <a:solidFill>
                  <a:srgbClr val="0A2540"/>
                </a:solidFill>
                <a:latin typeface="DM Sans"/>
              </a:rPr>
              <a:t> opvolging tot maand 18.</a:t>
            </a:r>
          </a:p>
        </p:txBody>
      </p:sp>
      <p:pic>
        <p:nvPicPr>
          <p:cNvPr id="32" name="Picture 31"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33" name="TextBox 32"/>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Het traject</a:t>
            </a:r>
          </a:p>
        </p:txBody>
      </p:sp>
      <p:sp>
        <p:nvSpPr>
          <p:cNvPr id="34" name="TextBox 33"/>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studieprotocol §5.5, §6 · eCRF 36, 38, 46, 47</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Wie doet wat</a:t>
            </a:r>
          </a:p>
        </p:txBody>
      </p:sp>
      <p:sp>
        <p:nvSpPr>
          <p:cNvPr id="3" name="TextBox 2"/>
          <p:cNvSpPr txBox="1"/>
          <p:nvPr/>
        </p:nvSpPr>
        <p:spPr>
          <a:xfrm>
            <a:off x="812800" y="1887141"/>
            <a:ext cx="2336800" cy="363220"/>
          </a:xfrm>
          <a:prstGeom prst="rect">
            <a:avLst/>
          </a:prstGeom>
          <a:noFill/>
        </p:spPr>
        <p:txBody>
          <a:bodyPr wrap="none" lIns="0" tIns="0" rIns="0" bIns="0" anchor="t">
            <a:noAutofit/>
          </a:bodyPr>
          <a:lstStyle/>
          <a:p>
            <a:pPr algn="l">
              <a:lnSpc>
                <a:spcPts val="2860"/>
              </a:lnSpc>
            </a:pPr>
            <a:r>
              <a:rPr sz="2600" b="0" i="0">
                <a:solidFill>
                  <a:srgbClr val="0A2540"/>
                </a:solidFill>
                <a:latin typeface="DM Serif Display"/>
              </a:rPr>
              <a:t>Podoloog</a:t>
            </a:r>
          </a:p>
        </p:txBody>
      </p:sp>
      <p:sp>
        <p:nvSpPr>
          <p:cNvPr id="4" name="Rounded Rectangle 3"/>
          <p:cNvSpPr/>
          <p:nvPr/>
        </p:nvSpPr>
        <p:spPr>
          <a:xfrm>
            <a:off x="3352800" y="2109391"/>
            <a:ext cx="76200" cy="76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3517900" y="2007791"/>
            <a:ext cx="2207022"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Voert de drukmetingen uit</a:t>
            </a:r>
          </a:p>
        </p:txBody>
      </p:sp>
      <p:sp>
        <p:nvSpPr>
          <p:cNvPr id="6" name="Rounded Rectangle 5"/>
          <p:cNvSpPr/>
          <p:nvPr/>
        </p:nvSpPr>
        <p:spPr>
          <a:xfrm>
            <a:off x="6112867" y="2109391"/>
            <a:ext cx="76200" cy="76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277967" y="2007791"/>
            <a:ext cx="1081782"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Levert SEBIA</a:t>
            </a:r>
          </a:p>
        </p:txBody>
      </p:sp>
      <p:sp>
        <p:nvSpPr>
          <p:cNvPr id="8" name="Rounded Rectangle 7"/>
          <p:cNvSpPr/>
          <p:nvPr/>
        </p:nvSpPr>
        <p:spPr>
          <a:xfrm>
            <a:off x="8873034" y="2109391"/>
            <a:ext cx="76200" cy="76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038134" y="2007791"/>
            <a:ext cx="1818878"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Leest de sensoren uit</a:t>
            </a:r>
          </a:p>
        </p:txBody>
      </p:sp>
      <p:sp>
        <p:nvSpPr>
          <p:cNvPr id="10" name="Rectangle 9"/>
          <p:cNvSpPr/>
          <p:nvPr/>
        </p:nvSpPr>
        <p:spPr>
          <a:xfrm>
            <a:off x="812800" y="251698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2800" y="2790031"/>
            <a:ext cx="2336800" cy="363220"/>
          </a:xfrm>
          <a:prstGeom prst="rect">
            <a:avLst/>
          </a:prstGeom>
          <a:noFill/>
        </p:spPr>
        <p:txBody>
          <a:bodyPr wrap="none" lIns="0" tIns="0" rIns="0" bIns="0" anchor="t">
            <a:noAutofit/>
          </a:bodyPr>
          <a:lstStyle/>
          <a:p>
            <a:pPr algn="l">
              <a:lnSpc>
                <a:spcPts val="2860"/>
              </a:lnSpc>
            </a:pPr>
            <a:r>
              <a:rPr sz="2600" b="0" i="0">
                <a:solidFill>
                  <a:srgbClr val="0A2540"/>
                </a:solidFill>
                <a:latin typeface="DM Serif Display"/>
              </a:rPr>
              <a:t>Pedorthist</a:t>
            </a:r>
          </a:p>
        </p:txBody>
      </p:sp>
      <p:sp>
        <p:nvSpPr>
          <p:cNvPr id="12" name="Rounded Rectangle 11"/>
          <p:cNvSpPr/>
          <p:nvPr/>
        </p:nvSpPr>
        <p:spPr>
          <a:xfrm>
            <a:off x="3352800" y="3012281"/>
            <a:ext cx="76200" cy="76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517900" y="2910681"/>
            <a:ext cx="1192113"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Maakt de zool</a:t>
            </a:r>
          </a:p>
        </p:txBody>
      </p:sp>
      <p:sp>
        <p:nvSpPr>
          <p:cNvPr id="14" name="Rounded Rectangle 13"/>
          <p:cNvSpPr/>
          <p:nvPr/>
        </p:nvSpPr>
        <p:spPr>
          <a:xfrm>
            <a:off x="6112867" y="3012281"/>
            <a:ext cx="76200" cy="76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277967" y="2910681"/>
            <a:ext cx="1769269"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Past aan tot de norm</a:t>
            </a:r>
          </a:p>
        </p:txBody>
      </p:sp>
      <p:sp>
        <p:nvSpPr>
          <p:cNvPr id="16" name="Rectangle 15"/>
          <p:cNvSpPr/>
          <p:nvPr/>
        </p:nvSpPr>
        <p:spPr>
          <a:xfrm>
            <a:off x="812800" y="3419872"/>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2800" y="3692922"/>
            <a:ext cx="2336800" cy="363220"/>
          </a:xfrm>
          <a:prstGeom prst="rect">
            <a:avLst/>
          </a:prstGeom>
          <a:noFill/>
        </p:spPr>
        <p:txBody>
          <a:bodyPr wrap="none" lIns="0" tIns="0" rIns="0" bIns="0" anchor="t">
            <a:noAutofit/>
          </a:bodyPr>
          <a:lstStyle/>
          <a:p>
            <a:pPr algn="l">
              <a:lnSpc>
                <a:spcPts val="2860"/>
              </a:lnSpc>
            </a:pPr>
            <a:r>
              <a:rPr sz="2600" b="0" i="0">
                <a:solidFill>
                  <a:srgbClr val="0A2540"/>
                </a:solidFill>
                <a:latin typeface="DM Serif Display"/>
              </a:rPr>
              <a:t>Arts</a:t>
            </a:r>
          </a:p>
        </p:txBody>
      </p:sp>
      <p:sp>
        <p:nvSpPr>
          <p:cNvPr id="18" name="Rounded Rectangle 17"/>
          <p:cNvSpPr/>
          <p:nvPr/>
        </p:nvSpPr>
        <p:spPr>
          <a:xfrm>
            <a:off x="3352800" y="3915172"/>
            <a:ext cx="76200" cy="76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517900" y="3813572"/>
            <a:ext cx="2391767"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Screent, vraagt toestemming</a:t>
            </a:r>
          </a:p>
        </p:txBody>
      </p:sp>
      <p:sp>
        <p:nvSpPr>
          <p:cNvPr id="20" name="Rounded Rectangle 19"/>
          <p:cNvSpPr/>
          <p:nvPr/>
        </p:nvSpPr>
        <p:spPr>
          <a:xfrm>
            <a:off x="6112867" y="3915172"/>
            <a:ext cx="76200" cy="76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277967" y="3813572"/>
            <a:ext cx="1562001"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Beoordeelt laesies</a:t>
            </a:r>
          </a:p>
        </p:txBody>
      </p:sp>
      <p:sp>
        <p:nvSpPr>
          <p:cNvPr id="22" name="Rounded Rectangle 21"/>
          <p:cNvSpPr/>
          <p:nvPr/>
        </p:nvSpPr>
        <p:spPr>
          <a:xfrm>
            <a:off x="8873034" y="3915172"/>
            <a:ext cx="76200" cy="76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038134" y="3813572"/>
            <a:ext cx="1403747"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Meldt voorvallen</a:t>
            </a:r>
          </a:p>
        </p:txBody>
      </p:sp>
      <p:sp>
        <p:nvSpPr>
          <p:cNvPr id="24" name="Rectangle 23"/>
          <p:cNvSpPr/>
          <p:nvPr/>
        </p:nvSpPr>
        <p:spPr>
          <a:xfrm>
            <a:off x="812800" y="4560292"/>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2800" y="4833342"/>
            <a:ext cx="2336800" cy="363220"/>
          </a:xfrm>
          <a:prstGeom prst="rect">
            <a:avLst/>
          </a:prstGeom>
          <a:noFill/>
        </p:spPr>
        <p:txBody>
          <a:bodyPr wrap="none" lIns="0" tIns="0" rIns="0" bIns="0" anchor="t">
            <a:noAutofit/>
          </a:bodyPr>
          <a:lstStyle/>
          <a:p>
            <a:pPr algn="l">
              <a:lnSpc>
                <a:spcPts val="2860"/>
              </a:lnSpc>
            </a:pPr>
            <a:r>
              <a:rPr sz="2600" b="0" i="0">
                <a:solidFill>
                  <a:srgbClr val="0A2540"/>
                </a:solidFill>
                <a:latin typeface="DM Serif Display"/>
              </a:rPr>
              <a:t>Management</a:t>
            </a:r>
          </a:p>
        </p:txBody>
      </p:sp>
      <p:sp>
        <p:nvSpPr>
          <p:cNvPr id="26" name="Rounded Rectangle 25"/>
          <p:cNvSpPr/>
          <p:nvPr/>
        </p:nvSpPr>
        <p:spPr>
          <a:xfrm>
            <a:off x="3352800" y="5055592"/>
            <a:ext cx="76200" cy="76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3517900" y="4953992"/>
            <a:ext cx="1160165"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Maakt tijd vrij</a:t>
            </a:r>
          </a:p>
        </p:txBody>
      </p:sp>
      <p:sp>
        <p:nvSpPr>
          <p:cNvPr id="28" name="Rounded Rectangle 27"/>
          <p:cNvSpPr/>
          <p:nvPr/>
        </p:nvSpPr>
        <p:spPr>
          <a:xfrm>
            <a:off x="6112867" y="5055592"/>
            <a:ext cx="76200" cy="76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277967" y="4953992"/>
            <a:ext cx="1752798"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Bewaakt 24 inclusies</a:t>
            </a:r>
          </a:p>
        </p:txBody>
      </p:sp>
      <p:sp>
        <p:nvSpPr>
          <p:cNvPr id="30" name="Rounded Rectangle 29"/>
          <p:cNvSpPr/>
          <p:nvPr/>
        </p:nvSpPr>
        <p:spPr>
          <a:xfrm>
            <a:off x="8873034" y="5055592"/>
            <a:ext cx="76200" cy="76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9038134" y="4953992"/>
            <a:ext cx="2391866"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Houdt het opleidingsregister bij</a:t>
            </a:r>
          </a:p>
        </p:txBody>
      </p:sp>
      <p:pic>
        <p:nvPicPr>
          <p:cNvPr id="32" name="Picture 31"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33" name="TextBox 32"/>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Verdeling</a:t>
            </a:r>
          </a:p>
        </p:txBody>
      </p:sp>
      <p:sp>
        <p:nvSpPr>
          <p:cNvPr id="34" name="TextBox 33"/>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8 · IWGDF 2023, preventie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u van ons krijgt</a:t>
            </a:r>
          </a:p>
        </p:txBody>
      </p:sp>
      <p:sp>
        <p:nvSpPr>
          <p:cNvPr id="3" name="Rectangle 2"/>
          <p:cNvSpPr/>
          <p:nvPr/>
        </p:nvSpPr>
        <p:spPr>
          <a:xfrm>
            <a:off x="812800" y="1620441"/>
            <a:ext cx="66802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2800" y="1766491"/>
            <a:ext cx="6731000" cy="243840"/>
          </a:xfrm>
          <a:prstGeom prst="rect">
            <a:avLst/>
          </a:prstGeom>
          <a:noFill/>
        </p:spPr>
        <p:txBody>
          <a:bodyPr wrap="none" lIns="0" tIns="0" rIns="0" bIns="0" anchor="t">
            <a:noAutofit/>
          </a:bodyPr>
          <a:lstStyle/>
          <a:p>
            <a:pPr algn="l">
              <a:lnSpc>
                <a:spcPts val="1920"/>
              </a:lnSpc>
            </a:pPr>
            <a:r>
              <a:rPr sz="1600" b="1" i="0">
                <a:solidFill>
                  <a:srgbClr val="0A2540"/>
                </a:solidFill>
                <a:latin typeface="DM Sans"/>
              </a:rPr>
              <a:t>SEBIA-opleiding</a:t>
            </a:r>
          </a:p>
        </p:txBody>
      </p:sp>
      <p:sp>
        <p:nvSpPr>
          <p:cNvPr id="5" name="TextBox 4"/>
          <p:cNvSpPr txBox="1"/>
          <p:nvPr/>
        </p:nvSpPr>
        <p:spPr>
          <a:xfrm>
            <a:off x="812800" y="2048371"/>
            <a:ext cx="67310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Zes sessies door prof. Fabienne Dobbels, voor alle podologen</a:t>
            </a:r>
          </a:p>
        </p:txBody>
      </p:sp>
      <p:sp>
        <p:nvSpPr>
          <p:cNvPr id="6" name="Rectangle 5"/>
          <p:cNvSpPr/>
          <p:nvPr/>
        </p:nvSpPr>
        <p:spPr>
          <a:xfrm>
            <a:off x="812800" y="2428081"/>
            <a:ext cx="66802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800" y="2574131"/>
            <a:ext cx="6731000" cy="243840"/>
          </a:xfrm>
          <a:prstGeom prst="rect">
            <a:avLst/>
          </a:prstGeom>
          <a:noFill/>
        </p:spPr>
        <p:txBody>
          <a:bodyPr wrap="none" lIns="0" tIns="0" rIns="0" bIns="0" anchor="t">
            <a:noAutofit/>
          </a:bodyPr>
          <a:lstStyle/>
          <a:p>
            <a:pPr algn="l">
              <a:lnSpc>
                <a:spcPts val="1920"/>
              </a:lnSpc>
            </a:pPr>
            <a:r>
              <a:rPr sz="1600" b="1" i="0">
                <a:solidFill>
                  <a:srgbClr val="0A2540"/>
                </a:solidFill>
                <a:latin typeface="DM Sans"/>
              </a:rPr>
              <a:t>SOP’s en draaiboeken</a:t>
            </a:r>
          </a:p>
        </p:txBody>
      </p:sp>
      <p:sp>
        <p:nvSpPr>
          <p:cNvPr id="8" name="TextBox 7"/>
          <p:cNvSpPr txBox="1"/>
          <p:nvPr/>
        </p:nvSpPr>
        <p:spPr>
          <a:xfrm>
            <a:off x="812800" y="2856012"/>
            <a:ext cx="67310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Per handeling, met de eCRF-nummers erbij</a:t>
            </a:r>
          </a:p>
        </p:txBody>
      </p:sp>
      <p:sp>
        <p:nvSpPr>
          <p:cNvPr id="9" name="Rectangle 8"/>
          <p:cNvSpPr/>
          <p:nvPr/>
        </p:nvSpPr>
        <p:spPr>
          <a:xfrm>
            <a:off x="812800" y="3235722"/>
            <a:ext cx="66802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800" y="3381772"/>
            <a:ext cx="6731000" cy="243840"/>
          </a:xfrm>
          <a:prstGeom prst="rect">
            <a:avLst/>
          </a:prstGeom>
          <a:noFill/>
        </p:spPr>
        <p:txBody>
          <a:bodyPr wrap="none" lIns="0" tIns="0" rIns="0" bIns="0" anchor="t">
            <a:noAutofit/>
          </a:bodyPr>
          <a:lstStyle/>
          <a:p>
            <a:pPr algn="l">
              <a:lnSpc>
                <a:spcPts val="1920"/>
              </a:lnSpc>
            </a:pPr>
            <a:r>
              <a:rPr sz="1600" b="1" i="0">
                <a:solidFill>
                  <a:srgbClr val="0A2540"/>
                </a:solidFill>
                <a:latin typeface="DM Sans"/>
              </a:rPr>
              <a:t>Gegevensinvoer</a:t>
            </a:r>
          </a:p>
        </p:txBody>
      </p:sp>
      <p:sp>
        <p:nvSpPr>
          <p:cNvPr id="11" name="TextBox 10"/>
          <p:cNvSpPr txBox="1"/>
          <p:nvPr/>
        </p:nvSpPr>
        <p:spPr>
          <a:xfrm>
            <a:off x="812800" y="3663652"/>
            <a:ext cx="67310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Doet het onderzoeksteam. U vult de formulieren in, verder niets</a:t>
            </a:r>
          </a:p>
        </p:txBody>
      </p:sp>
      <p:sp>
        <p:nvSpPr>
          <p:cNvPr id="12" name="Rectangle 11"/>
          <p:cNvSpPr/>
          <p:nvPr/>
        </p:nvSpPr>
        <p:spPr>
          <a:xfrm>
            <a:off x="812800" y="4043362"/>
            <a:ext cx="66802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2800" y="4189412"/>
            <a:ext cx="6731000" cy="243840"/>
          </a:xfrm>
          <a:prstGeom prst="rect">
            <a:avLst/>
          </a:prstGeom>
          <a:noFill/>
        </p:spPr>
        <p:txBody>
          <a:bodyPr wrap="none" lIns="0" tIns="0" rIns="0" bIns="0" anchor="t">
            <a:noAutofit/>
          </a:bodyPr>
          <a:lstStyle/>
          <a:p>
            <a:pPr algn="l">
              <a:lnSpc>
                <a:spcPts val="1920"/>
              </a:lnSpc>
            </a:pPr>
            <a:r>
              <a:rPr sz="1600" b="1" i="0">
                <a:solidFill>
                  <a:srgbClr val="0A2540"/>
                </a:solidFill>
                <a:latin typeface="DM Sans"/>
              </a:rPr>
              <a:t>Eén contactpunt</a:t>
            </a:r>
          </a:p>
        </p:txBody>
      </p:sp>
      <p:sp>
        <p:nvSpPr>
          <p:cNvPr id="14" name="TextBox 13"/>
          <p:cNvSpPr txBox="1"/>
          <p:nvPr/>
        </p:nvSpPr>
        <p:spPr>
          <a:xfrm>
            <a:off x="812800" y="4471293"/>
            <a:ext cx="67310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paradise-tbm@kuleuven.be, voor alles over PARADISE</a:t>
            </a:r>
          </a:p>
        </p:txBody>
      </p:sp>
      <p:sp>
        <p:nvSpPr>
          <p:cNvPr id="15" name="Rounded Rectangle 14"/>
          <p:cNvSpPr/>
          <p:nvPr/>
        </p:nvSpPr>
        <p:spPr>
          <a:xfrm>
            <a:off x="7950200" y="1620441"/>
            <a:ext cx="3429000" cy="3651151"/>
          </a:xfrm>
          <a:prstGeom prst="roundRect">
            <a:avLst>
              <a:gd name="adj" fmla="val 2962"/>
            </a:avLst>
          </a:prstGeom>
          <a:solidFill>
            <a:srgbClr val="FFFFFF"/>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186466" y="1931591"/>
            <a:ext cx="1007170" cy="1714500"/>
          </a:xfrm>
          <a:prstGeom prst="rect">
            <a:avLst/>
          </a:prstGeom>
          <a:noFill/>
        </p:spPr>
        <p:txBody>
          <a:bodyPr wrap="none" lIns="0" tIns="0" rIns="0" bIns="0" anchor="t">
            <a:noAutofit/>
          </a:bodyPr>
          <a:lstStyle/>
          <a:p>
            <a:pPr algn="l">
              <a:lnSpc>
                <a:spcPts val="13500"/>
              </a:lnSpc>
            </a:pPr>
            <a:r>
              <a:rPr sz="15000" b="0" i="0">
                <a:solidFill>
                  <a:srgbClr val="0B6E8F"/>
                </a:solidFill>
                <a:latin typeface="DM Serif Display"/>
              </a:rPr>
              <a:t>0</a:t>
            </a:r>
          </a:p>
        </p:txBody>
      </p:sp>
      <p:sp>
        <p:nvSpPr>
          <p:cNvPr id="17" name="TextBox 16"/>
          <p:cNvSpPr txBox="1"/>
          <p:nvPr/>
        </p:nvSpPr>
        <p:spPr>
          <a:xfrm>
            <a:off x="9025235" y="3696891"/>
            <a:ext cx="1329630" cy="391160"/>
          </a:xfrm>
          <a:prstGeom prst="rect">
            <a:avLst/>
          </a:prstGeom>
          <a:noFill/>
        </p:spPr>
        <p:txBody>
          <a:bodyPr wrap="none" lIns="0" tIns="0" rIns="0" bIns="0" anchor="t">
            <a:noAutofit/>
          </a:bodyPr>
          <a:lstStyle/>
          <a:p>
            <a:pPr algn="l">
              <a:lnSpc>
                <a:spcPts val="3080"/>
              </a:lnSpc>
            </a:pPr>
            <a:r>
              <a:rPr sz="2800" b="0" i="0">
                <a:solidFill>
                  <a:srgbClr val="0A2540"/>
                </a:solidFill>
                <a:latin typeface="DM Serif Display"/>
              </a:rPr>
              <a:t>sancties</a:t>
            </a:r>
          </a:p>
        </p:txBody>
      </p:sp>
      <p:sp>
        <p:nvSpPr>
          <p:cNvPr id="18" name="TextBox 17"/>
          <p:cNvSpPr txBox="1"/>
          <p:nvPr/>
        </p:nvSpPr>
        <p:spPr>
          <a:xfrm>
            <a:off x="8233283" y="4240411"/>
            <a:ext cx="2862834" cy="720030"/>
          </a:xfrm>
          <a:prstGeom prst="rect">
            <a:avLst/>
          </a:prstGeom>
          <a:noFill/>
        </p:spPr>
        <p:txBody>
          <a:bodyPr wrap="square" lIns="0" tIns="0" rIns="0" bIns="0" anchor="t">
            <a:noAutofit/>
          </a:bodyPr>
          <a:lstStyle/>
          <a:p>
            <a:pPr algn="ctr">
              <a:lnSpc>
                <a:spcPts val="1889"/>
              </a:lnSpc>
            </a:pPr>
            <a:r>
              <a:rPr sz="1400" b="0" i="0">
                <a:solidFill>
                  <a:srgbClr val="3A4F63"/>
                </a:solidFill>
                <a:latin typeface="DM Sans"/>
              </a:rPr>
              <a:t>Wijkt u af van het protocol, dan meldt u dat. Het wordt geregistreerd, niet afgestraft.</a:t>
            </a:r>
          </a:p>
        </p:txBody>
      </p:sp>
      <p:pic>
        <p:nvPicPr>
          <p:cNvPr id="19" name="Picture 18"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20" name="TextBox 19"/>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Ondersteuning</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af is, en waar het op wacht</a:t>
            </a:r>
          </a:p>
        </p:txBody>
      </p:sp>
      <p:sp>
        <p:nvSpPr>
          <p:cNvPr id="3" name="TextBox 2"/>
          <p:cNvSpPr txBox="1"/>
          <p:nvPr/>
        </p:nvSpPr>
        <p:spPr>
          <a:xfrm>
            <a:off x="812800" y="1849041"/>
            <a:ext cx="2336800" cy="558800"/>
          </a:xfrm>
          <a:prstGeom prst="rect">
            <a:avLst/>
          </a:prstGeom>
          <a:noFill/>
        </p:spPr>
        <p:txBody>
          <a:bodyPr wrap="square" lIns="0" tIns="0" rIns="0" bIns="0" anchor="t">
            <a:noAutofit/>
          </a:bodyPr>
          <a:lstStyle/>
          <a:p>
            <a:pPr algn="l">
              <a:lnSpc>
                <a:spcPts val="2200"/>
              </a:lnSpc>
            </a:pPr>
            <a:r>
              <a:rPr sz="2000" b="0" i="0">
                <a:solidFill>
                  <a:srgbClr val="0A2540"/>
                </a:solidFill>
                <a:latin typeface="DM Serif Display"/>
              </a:rPr>
              <a:t>Protocol en formulieren</a:t>
            </a:r>
          </a:p>
        </p:txBody>
      </p:sp>
      <p:sp>
        <p:nvSpPr>
          <p:cNvPr id="4" name="TextBox 3"/>
          <p:cNvSpPr txBox="1"/>
          <p:nvPr/>
        </p:nvSpPr>
        <p:spPr>
          <a:xfrm>
            <a:off x="3352800" y="1871266"/>
            <a:ext cx="6632448" cy="514350"/>
          </a:xfrm>
          <a:prstGeom prst="rect">
            <a:avLst/>
          </a:prstGeom>
          <a:noFill/>
        </p:spPr>
        <p:txBody>
          <a:bodyPr wrap="square" lIns="0" tIns="0" rIns="0" bIns="0" anchor="t">
            <a:noAutofit/>
          </a:bodyPr>
          <a:lstStyle/>
          <a:p>
            <a:pPr algn="l">
              <a:lnSpc>
                <a:spcPts val="2025"/>
              </a:lnSpc>
            </a:pPr>
            <a:r>
              <a:rPr sz="1500" b="0" i="0">
                <a:solidFill>
                  <a:srgbClr val="3A4F63"/>
                </a:solidFill>
                <a:latin typeface="DM Sans"/>
              </a:rPr>
              <a:t>Protocolversie 1.0 en zevenenveertig eCRF-documenten liggen er. De drukmeting is omgezet naar in-shoe, met acht regio’s per voet.</a:t>
            </a:r>
          </a:p>
        </p:txBody>
      </p:sp>
      <p:sp>
        <p:nvSpPr>
          <p:cNvPr id="5" name="Rounded Rectangle 4"/>
          <p:cNvSpPr/>
          <p:nvPr/>
        </p:nvSpPr>
        <p:spPr>
          <a:xfrm>
            <a:off x="10109200" y="1979216"/>
            <a:ext cx="1270000" cy="298450"/>
          </a:xfrm>
          <a:prstGeom prst="roundRect">
            <a:avLst>
              <a:gd name="adj" fmla="val 50000"/>
            </a:avLst>
          </a:prstGeom>
          <a:solidFill>
            <a:srgbClr val="0B6E8F"/>
          </a:solidFill>
          <a:ln w="127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0096500" y="2030016"/>
            <a:ext cx="1295400" cy="198120"/>
          </a:xfrm>
          <a:prstGeom prst="rect">
            <a:avLst/>
          </a:prstGeom>
          <a:noFill/>
        </p:spPr>
        <p:txBody>
          <a:bodyPr wrap="none" lIns="0" tIns="0" rIns="0" bIns="0" anchor="t">
            <a:noAutofit/>
          </a:bodyPr>
          <a:lstStyle/>
          <a:p>
            <a:pPr algn="ctr"/>
            <a:r>
              <a:rPr sz="1200" b="1" i="0">
                <a:solidFill>
                  <a:srgbClr val="F2F8FC"/>
                </a:solidFill>
                <a:latin typeface="DM Sans"/>
              </a:rPr>
              <a:t>klaar</a:t>
            </a:r>
          </a:p>
        </p:txBody>
      </p:sp>
      <p:sp>
        <p:nvSpPr>
          <p:cNvPr id="7" name="Rectangle 6"/>
          <p:cNvSpPr/>
          <p:nvPr/>
        </p:nvSpPr>
        <p:spPr>
          <a:xfrm>
            <a:off x="812800" y="263644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2800" y="2988866"/>
            <a:ext cx="2336800" cy="279400"/>
          </a:xfrm>
          <a:prstGeom prst="rect">
            <a:avLst/>
          </a:prstGeom>
          <a:noFill/>
        </p:spPr>
        <p:txBody>
          <a:bodyPr wrap="none" lIns="0" tIns="0" rIns="0" bIns="0" anchor="t">
            <a:noAutofit/>
          </a:bodyPr>
          <a:lstStyle/>
          <a:p>
            <a:pPr algn="l">
              <a:lnSpc>
                <a:spcPts val="2200"/>
              </a:lnSpc>
            </a:pPr>
            <a:r>
              <a:rPr sz="2000" b="0" i="0">
                <a:solidFill>
                  <a:srgbClr val="0A2540"/>
                </a:solidFill>
                <a:latin typeface="DM Serif Display"/>
              </a:rPr>
              <a:t>Ethiek</a:t>
            </a:r>
          </a:p>
        </p:txBody>
      </p:sp>
      <p:sp>
        <p:nvSpPr>
          <p:cNvPr id="9" name="TextBox 8"/>
          <p:cNvSpPr txBox="1"/>
          <p:nvPr/>
        </p:nvSpPr>
        <p:spPr>
          <a:xfrm>
            <a:off x="3352800" y="2871391"/>
            <a:ext cx="6632448" cy="514350"/>
          </a:xfrm>
          <a:prstGeom prst="rect">
            <a:avLst/>
          </a:prstGeom>
          <a:noFill/>
        </p:spPr>
        <p:txBody>
          <a:bodyPr wrap="square" lIns="0" tIns="0" rIns="0" bIns="0" anchor="t">
            <a:noAutofit/>
          </a:bodyPr>
          <a:lstStyle/>
          <a:p>
            <a:pPr algn="l">
              <a:lnSpc>
                <a:spcPts val="2025"/>
              </a:lnSpc>
            </a:pPr>
            <a:r>
              <a:rPr sz="1500" b="0" i="0">
                <a:solidFill>
                  <a:srgbClr val="3A4F63"/>
                </a:solidFill>
                <a:latin typeface="DM Sans"/>
              </a:rPr>
              <a:t>Centraal bij de commissie van UZ Leuven en het FAGG. Uw dossier is volledig ingediend en ligt bij externe diensten voor feedback.</a:t>
            </a:r>
          </a:p>
        </p:txBody>
      </p:sp>
      <p:sp>
        <p:nvSpPr>
          <p:cNvPr id="10" name="Rounded Rectangle 9"/>
          <p:cNvSpPr/>
          <p:nvPr/>
        </p:nvSpPr>
        <p:spPr>
          <a:xfrm>
            <a:off x="10109200" y="2979341"/>
            <a:ext cx="1270000" cy="298450"/>
          </a:xfrm>
          <a:prstGeom prst="roundRect">
            <a:avLst>
              <a:gd name="adj" fmla="val 50000"/>
            </a:avLst>
          </a:prstGeom>
          <a:noFill/>
          <a:ln w="12700">
            <a:solidFill>
              <a:srgbClr val="A34A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096500" y="3030141"/>
            <a:ext cx="1295400" cy="198120"/>
          </a:xfrm>
          <a:prstGeom prst="rect">
            <a:avLst/>
          </a:prstGeom>
          <a:noFill/>
        </p:spPr>
        <p:txBody>
          <a:bodyPr wrap="none" lIns="0" tIns="0" rIns="0" bIns="0" anchor="t">
            <a:noAutofit/>
          </a:bodyPr>
          <a:lstStyle/>
          <a:p>
            <a:pPr algn="ctr"/>
            <a:r>
              <a:rPr sz="1200" b="1" i="0">
                <a:solidFill>
                  <a:srgbClr val="A34A00"/>
                </a:solidFill>
                <a:latin typeface="DM Sans"/>
              </a:rPr>
              <a:t>loopt</a:t>
            </a:r>
          </a:p>
        </p:txBody>
      </p:sp>
      <p:sp>
        <p:nvSpPr>
          <p:cNvPr id="12" name="Rectangle 11"/>
          <p:cNvSpPr/>
          <p:nvPr/>
        </p:nvSpPr>
        <p:spPr>
          <a:xfrm>
            <a:off x="812800" y="361434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12800" y="3966766"/>
            <a:ext cx="2336800" cy="279400"/>
          </a:xfrm>
          <a:prstGeom prst="rect">
            <a:avLst/>
          </a:prstGeom>
          <a:noFill/>
        </p:spPr>
        <p:txBody>
          <a:bodyPr wrap="none" lIns="0" tIns="0" rIns="0" bIns="0" anchor="t">
            <a:noAutofit/>
          </a:bodyPr>
          <a:lstStyle/>
          <a:p>
            <a:pPr algn="l">
              <a:lnSpc>
                <a:spcPts val="2200"/>
              </a:lnSpc>
            </a:pPr>
            <a:r>
              <a:rPr sz="2000" b="0" i="0">
                <a:solidFill>
                  <a:srgbClr val="0A2540"/>
                </a:solidFill>
                <a:latin typeface="DM Serif Display"/>
              </a:rPr>
              <a:t>Toestellen</a:t>
            </a:r>
          </a:p>
        </p:txBody>
      </p:sp>
      <p:sp>
        <p:nvSpPr>
          <p:cNvPr id="14" name="TextBox 13"/>
          <p:cNvSpPr txBox="1"/>
          <p:nvPr/>
        </p:nvSpPr>
        <p:spPr>
          <a:xfrm>
            <a:off x="3352800" y="3849291"/>
            <a:ext cx="6632448" cy="514350"/>
          </a:xfrm>
          <a:prstGeom prst="rect">
            <a:avLst/>
          </a:prstGeom>
          <a:noFill/>
        </p:spPr>
        <p:txBody>
          <a:bodyPr wrap="square" lIns="0" tIns="0" rIns="0" bIns="0" anchor="t">
            <a:noAutofit/>
          </a:bodyPr>
          <a:lstStyle/>
          <a:p>
            <a:pPr algn="l">
              <a:lnSpc>
                <a:spcPts val="2025"/>
              </a:lnSpc>
            </a:pPr>
            <a:r>
              <a:rPr sz="1500" b="0" i="0">
                <a:solidFill>
                  <a:srgbClr val="3A4F63"/>
                </a:solidFill>
                <a:latin typeface="DM Sans"/>
              </a:rPr>
              <a:t>Novel pedar, MoveMonitors en Orthotimers staan bij u. De pedar installeren we vóór uw technologiesessie op 2 december.</a:t>
            </a:r>
          </a:p>
        </p:txBody>
      </p:sp>
      <p:sp>
        <p:nvSpPr>
          <p:cNvPr id="15" name="Rounded Rectangle 14"/>
          <p:cNvSpPr/>
          <p:nvPr/>
        </p:nvSpPr>
        <p:spPr>
          <a:xfrm>
            <a:off x="10109200" y="3957241"/>
            <a:ext cx="1270000" cy="298450"/>
          </a:xfrm>
          <a:prstGeom prst="roundRect">
            <a:avLst>
              <a:gd name="adj" fmla="val 50000"/>
            </a:avLst>
          </a:prstGeom>
          <a:noFill/>
          <a:ln w="12700">
            <a:solidFill>
              <a:srgbClr val="00407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096500" y="4008041"/>
            <a:ext cx="1295400" cy="198120"/>
          </a:xfrm>
          <a:prstGeom prst="rect">
            <a:avLst/>
          </a:prstGeom>
          <a:noFill/>
        </p:spPr>
        <p:txBody>
          <a:bodyPr wrap="none" lIns="0" tIns="0" rIns="0" bIns="0" anchor="t">
            <a:noAutofit/>
          </a:bodyPr>
          <a:lstStyle/>
          <a:p>
            <a:pPr algn="ctr"/>
            <a:r>
              <a:rPr sz="1200" b="1" i="0">
                <a:solidFill>
                  <a:srgbClr val="00407A"/>
                </a:solidFill>
                <a:latin typeface="DM Sans"/>
              </a:rPr>
              <a:t>vóór 2 dec</a:t>
            </a:r>
          </a:p>
        </p:txBody>
      </p:sp>
      <p:sp>
        <p:nvSpPr>
          <p:cNvPr id="17" name="Rectangle 16"/>
          <p:cNvSpPr/>
          <p:nvPr/>
        </p:nvSpPr>
        <p:spPr>
          <a:xfrm>
            <a:off x="812800" y="459224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2800" y="4836716"/>
            <a:ext cx="2336800" cy="279400"/>
          </a:xfrm>
          <a:prstGeom prst="rect">
            <a:avLst/>
          </a:prstGeom>
          <a:noFill/>
        </p:spPr>
        <p:txBody>
          <a:bodyPr wrap="none" lIns="0" tIns="0" rIns="0" bIns="0" anchor="t">
            <a:noAutofit/>
          </a:bodyPr>
          <a:lstStyle/>
          <a:p>
            <a:pPr algn="l">
              <a:lnSpc>
                <a:spcPts val="2200"/>
              </a:lnSpc>
            </a:pPr>
            <a:r>
              <a:rPr sz="2000" b="0" i="0">
                <a:solidFill>
                  <a:srgbClr val="0A2540"/>
                </a:solidFill>
                <a:latin typeface="DM Serif Display"/>
              </a:rPr>
              <a:t>Databank</a:t>
            </a:r>
          </a:p>
        </p:txBody>
      </p:sp>
      <p:sp>
        <p:nvSpPr>
          <p:cNvPr id="19" name="TextBox 18"/>
          <p:cNvSpPr txBox="1"/>
          <p:nvPr/>
        </p:nvSpPr>
        <p:spPr>
          <a:xfrm>
            <a:off x="3352800" y="4847828"/>
            <a:ext cx="6553200" cy="257175"/>
          </a:xfrm>
          <a:prstGeom prst="rect">
            <a:avLst/>
          </a:prstGeom>
          <a:noFill/>
        </p:spPr>
        <p:txBody>
          <a:bodyPr wrap="none" lIns="0" tIns="0" rIns="0" bIns="0" anchor="t">
            <a:noAutofit/>
          </a:bodyPr>
          <a:lstStyle/>
          <a:p>
            <a:pPr algn="l">
              <a:lnSpc>
                <a:spcPts val="2025"/>
              </a:lnSpc>
            </a:pPr>
            <a:r>
              <a:rPr sz="1500" b="0" i="0">
                <a:solidFill>
                  <a:srgbClr val="3A4F63"/>
                </a:solidFill>
                <a:latin typeface="DM Sans"/>
              </a:rPr>
              <a:t>Eén centrale databank. U vult papier in, het studieteam voert in.</a:t>
            </a:r>
          </a:p>
        </p:txBody>
      </p:sp>
      <p:sp>
        <p:nvSpPr>
          <p:cNvPr id="20" name="Rounded Rectangle 19"/>
          <p:cNvSpPr/>
          <p:nvPr/>
        </p:nvSpPr>
        <p:spPr>
          <a:xfrm>
            <a:off x="10109200" y="4827191"/>
            <a:ext cx="1270000" cy="298450"/>
          </a:xfrm>
          <a:prstGeom prst="roundRect">
            <a:avLst>
              <a:gd name="adj" fmla="val 50000"/>
            </a:avLst>
          </a:prstGeom>
          <a:noFill/>
          <a:ln w="12700">
            <a:solidFill>
              <a:srgbClr val="5A6E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0096500" y="4877991"/>
            <a:ext cx="1295400" cy="198120"/>
          </a:xfrm>
          <a:prstGeom prst="rect">
            <a:avLst/>
          </a:prstGeom>
          <a:noFill/>
        </p:spPr>
        <p:txBody>
          <a:bodyPr wrap="none" lIns="0" tIns="0" rIns="0" bIns="0" anchor="t">
            <a:noAutofit/>
          </a:bodyPr>
          <a:lstStyle/>
          <a:p>
            <a:pPr algn="ctr"/>
            <a:r>
              <a:rPr sz="1200" b="1" i="0">
                <a:solidFill>
                  <a:srgbClr val="5A6E80"/>
                </a:solidFill>
                <a:latin typeface="DM Sans"/>
              </a:rPr>
              <a:t>centraal</a:t>
            </a:r>
          </a:p>
        </p:txBody>
      </p:sp>
      <p:pic>
        <p:nvPicPr>
          <p:cNvPr id="22" name="Picture 21"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23" name="TextBox 22"/>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Stand van zaken ·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Uw data, van november tot april</a:t>
            </a:r>
          </a:p>
        </p:txBody>
      </p:sp>
      <p:sp>
        <p:nvSpPr>
          <p:cNvPr id="3" name="TextBox 2"/>
          <p:cNvSpPr txBox="1"/>
          <p:nvPr/>
        </p:nvSpPr>
        <p:spPr>
          <a:xfrm>
            <a:off x="812800" y="1620441"/>
            <a:ext cx="1981200" cy="222885"/>
          </a:xfrm>
          <a:prstGeom prst="rect">
            <a:avLst/>
          </a:prstGeom>
          <a:noFill/>
        </p:spPr>
        <p:txBody>
          <a:bodyPr wrap="none" lIns="0" tIns="0" rIns="0" bIns="0" anchor="t">
            <a:noAutofit/>
          </a:bodyPr>
          <a:lstStyle/>
          <a:p>
            <a:pPr algn="l">
              <a:lnSpc>
                <a:spcPts val="1755"/>
              </a:lnSpc>
            </a:pPr>
            <a:r>
              <a:rPr sz="1300" b="1" i="0">
                <a:solidFill>
                  <a:srgbClr val="0B6E8F"/>
                </a:solidFill>
                <a:latin typeface="DM Sans"/>
              </a:rPr>
              <a:t>01</a:t>
            </a:r>
          </a:p>
        </p:txBody>
      </p:sp>
      <p:sp>
        <p:nvSpPr>
          <p:cNvPr id="4" name="Rounded Rectangle 3"/>
          <p:cNvSpPr/>
          <p:nvPr/>
        </p:nvSpPr>
        <p:spPr>
          <a:xfrm>
            <a:off x="812800" y="1957586"/>
            <a:ext cx="1930400" cy="1016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12800" y="2173486"/>
            <a:ext cx="1981200" cy="391160"/>
          </a:xfrm>
          <a:prstGeom prst="rect">
            <a:avLst/>
          </a:prstGeom>
          <a:noFill/>
        </p:spPr>
        <p:txBody>
          <a:bodyPr wrap="none" lIns="0" tIns="0" rIns="0" bIns="0" anchor="t">
            <a:noAutofit/>
          </a:bodyPr>
          <a:lstStyle/>
          <a:p>
            <a:pPr algn="l">
              <a:lnSpc>
                <a:spcPts val="3080"/>
              </a:lnSpc>
            </a:pPr>
            <a:r>
              <a:rPr sz="2800" b="0" i="0">
                <a:solidFill>
                  <a:srgbClr val="0A2540"/>
                </a:solidFill>
                <a:latin typeface="DM Serif Display"/>
              </a:rPr>
              <a:t>november</a:t>
            </a:r>
          </a:p>
        </p:txBody>
      </p:sp>
      <p:sp>
        <p:nvSpPr>
          <p:cNvPr id="6" name="TextBox 5"/>
          <p:cNvSpPr txBox="1"/>
          <p:nvPr/>
        </p:nvSpPr>
        <p:spPr>
          <a:xfrm>
            <a:off x="812800" y="2678906"/>
            <a:ext cx="1981200" cy="800100"/>
          </a:xfrm>
          <a:prstGeom prst="rect">
            <a:avLst/>
          </a:prstGeom>
          <a:noFill/>
        </p:spPr>
        <p:txBody>
          <a:bodyPr wrap="square" lIns="0" tIns="0" rIns="0" bIns="0" anchor="t">
            <a:noAutofit/>
          </a:bodyPr>
          <a:lstStyle/>
          <a:p>
            <a:pPr algn="l">
              <a:lnSpc>
                <a:spcPts val="2100"/>
              </a:lnSpc>
            </a:pPr>
            <a:r>
              <a:rPr sz="1500" b="0" i="0">
                <a:solidFill>
                  <a:srgbClr val="3A4F63"/>
                </a:solidFill>
                <a:latin typeface="DM Sans"/>
              </a:rPr>
              <a:t>Info draaiboek, online: di 10 en 24 nov, 12u30–14u.</a:t>
            </a:r>
          </a:p>
        </p:txBody>
      </p:sp>
      <p:sp>
        <p:nvSpPr>
          <p:cNvPr id="7" name="TextBox 6"/>
          <p:cNvSpPr txBox="1"/>
          <p:nvPr/>
        </p:nvSpPr>
        <p:spPr>
          <a:xfrm>
            <a:off x="2971800" y="1620441"/>
            <a:ext cx="1981200" cy="222885"/>
          </a:xfrm>
          <a:prstGeom prst="rect">
            <a:avLst/>
          </a:prstGeom>
          <a:noFill/>
        </p:spPr>
        <p:txBody>
          <a:bodyPr wrap="none" lIns="0" tIns="0" rIns="0" bIns="0" anchor="t">
            <a:noAutofit/>
          </a:bodyPr>
          <a:lstStyle/>
          <a:p>
            <a:pPr algn="l">
              <a:lnSpc>
                <a:spcPts val="1755"/>
              </a:lnSpc>
            </a:pPr>
            <a:r>
              <a:rPr sz="1300" b="1" i="0">
                <a:solidFill>
                  <a:srgbClr val="0B6E8F"/>
                </a:solidFill>
                <a:latin typeface="DM Sans"/>
              </a:rPr>
              <a:t>02</a:t>
            </a:r>
          </a:p>
        </p:txBody>
      </p:sp>
      <p:sp>
        <p:nvSpPr>
          <p:cNvPr id="8" name="Rounded Rectangle 7"/>
          <p:cNvSpPr/>
          <p:nvPr/>
        </p:nvSpPr>
        <p:spPr>
          <a:xfrm>
            <a:off x="2971800" y="1957586"/>
            <a:ext cx="1930400" cy="1016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2971800" y="2173486"/>
            <a:ext cx="1981200" cy="391160"/>
          </a:xfrm>
          <a:prstGeom prst="rect">
            <a:avLst/>
          </a:prstGeom>
          <a:noFill/>
        </p:spPr>
        <p:txBody>
          <a:bodyPr wrap="none" lIns="0" tIns="0" rIns="0" bIns="0" anchor="t">
            <a:noAutofit/>
          </a:bodyPr>
          <a:lstStyle/>
          <a:p>
            <a:pPr algn="l">
              <a:lnSpc>
                <a:spcPts val="3080"/>
              </a:lnSpc>
            </a:pPr>
            <a:r>
              <a:rPr sz="2800" b="0" i="0">
                <a:solidFill>
                  <a:srgbClr val="0A2540"/>
                </a:solidFill>
                <a:latin typeface="DM Serif Display"/>
              </a:rPr>
              <a:t>december</a:t>
            </a:r>
          </a:p>
        </p:txBody>
      </p:sp>
      <p:sp>
        <p:nvSpPr>
          <p:cNvPr id="10" name="TextBox 9"/>
          <p:cNvSpPr txBox="1"/>
          <p:nvPr/>
        </p:nvSpPr>
        <p:spPr>
          <a:xfrm>
            <a:off x="2971800" y="2678906"/>
            <a:ext cx="1981200" cy="533400"/>
          </a:xfrm>
          <a:prstGeom prst="rect">
            <a:avLst/>
          </a:prstGeom>
          <a:noFill/>
        </p:spPr>
        <p:txBody>
          <a:bodyPr wrap="square" lIns="0" tIns="0" rIns="0" bIns="0" anchor="t">
            <a:noAutofit/>
          </a:bodyPr>
          <a:lstStyle/>
          <a:p>
            <a:pPr algn="l">
              <a:lnSpc>
                <a:spcPts val="2100"/>
              </a:lnSpc>
            </a:pPr>
            <a:r>
              <a:rPr sz="1500" b="0" i="0">
                <a:solidFill>
                  <a:srgbClr val="3A4F63"/>
                </a:solidFill>
                <a:latin typeface="DM Sans"/>
              </a:rPr>
              <a:t>Technologie bij u: wo 2 dec, voormiddag.</a:t>
            </a:r>
          </a:p>
        </p:txBody>
      </p:sp>
      <p:sp>
        <p:nvSpPr>
          <p:cNvPr id="11" name="TextBox 10"/>
          <p:cNvSpPr txBox="1"/>
          <p:nvPr/>
        </p:nvSpPr>
        <p:spPr>
          <a:xfrm>
            <a:off x="5130800" y="1620441"/>
            <a:ext cx="1981200" cy="222885"/>
          </a:xfrm>
          <a:prstGeom prst="rect">
            <a:avLst/>
          </a:prstGeom>
          <a:noFill/>
        </p:spPr>
        <p:txBody>
          <a:bodyPr wrap="none" lIns="0" tIns="0" rIns="0" bIns="0" anchor="t">
            <a:noAutofit/>
          </a:bodyPr>
          <a:lstStyle/>
          <a:p>
            <a:pPr algn="l">
              <a:lnSpc>
                <a:spcPts val="1755"/>
              </a:lnSpc>
            </a:pPr>
            <a:r>
              <a:rPr sz="1300" b="1" i="0">
                <a:solidFill>
                  <a:srgbClr val="0B6E8F"/>
                </a:solidFill>
                <a:latin typeface="DM Sans"/>
              </a:rPr>
              <a:t>03</a:t>
            </a:r>
          </a:p>
        </p:txBody>
      </p:sp>
      <p:sp>
        <p:nvSpPr>
          <p:cNvPr id="12" name="Rounded Rectangle 11"/>
          <p:cNvSpPr/>
          <p:nvPr/>
        </p:nvSpPr>
        <p:spPr>
          <a:xfrm>
            <a:off x="5130800" y="1957586"/>
            <a:ext cx="1930400" cy="1016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130800" y="2173486"/>
            <a:ext cx="1981200" cy="391160"/>
          </a:xfrm>
          <a:prstGeom prst="rect">
            <a:avLst/>
          </a:prstGeom>
          <a:noFill/>
        </p:spPr>
        <p:txBody>
          <a:bodyPr wrap="none" lIns="0" tIns="0" rIns="0" bIns="0" anchor="t">
            <a:noAutofit/>
          </a:bodyPr>
          <a:lstStyle/>
          <a:p>
            <a:pPr algn="l">
              <a:lnSpc>
                <a:spcPts val="3080"/>
              </a:lnSpc>
            </a:pPr>
            <a:r>
              <a:rPr sz="2800" b="0" i="0">
                <a:solidFill>
                  <a:srgbClr val="0A2540"/>
                </a:solidFill>
                <a:latin typeface="DM Serif Display"/>
              </a:rPr>
              <a:t>januari</a:t>
            </a:r>
          </a:p>
        </p:txBody>
      </p:sp>
      <p:sp>
        <p:nvSpPr>
          <p:cNvPr id="14" name="TextBox 13"/>
          <p:cNvSpPr txBox="1"/>
          <p:nvPr/>
        </p:nvSpPr>
        <p:spPr>
          <a:xfrm>
            <a:off x="5130800" y="2678906"/>
            <a:ext cx="1981200" cy="1066800"/>
          </a:xfrm>
          <a:prstGeom prst="rect">
            <a:avLst/>
          </a:prstGeom>
          <a:noFill/>
        </p:spPr>
        <p:txBody>
          <a:bodyPr wrap="square" lIns="0" tIns="0" rIns="0" bIns="0" anchor="t">
            <a:noAutofit/>
          </a:bodyPr>
          <a:lstStyle/>
          <a:p>
            <a:pPr algn="l">
              <a:lnSpc>
                <a:spcPts val="2100"/>
              </a:lnSpc>
            </a:pPr>
            <a:r>
              <a:rPr sz="1500" b="0" i="0">
                <a:solidFill>
                  <a:srgbClr val="3A4F63"/>
                </a:solidFill>
                <a:latin typeface="DM Sans"/>
              </a:rPr>
              <a:t>SEBIA 1–2: wo 6 jan. Datacollectie: di 12 jan. Droogloop bij u: wo 20 jan.</a:t>
            </a:r>
          </a:p>
        </p:txBody>
      </p:sp>
      <p:sp>
        <p:nvSpPr>
          <p:cNvPr id="15" name="TextBox 14"/>
          <p:cNvSpPr txBox="1"/>
          <p:nvPr/>
        </p:nvSpPr>
        <p:spPr>
          <a:xfrm>
            <a:off x="7289800" y="1620441"/>
            <a:ext cx="1981200" cy="222885"/>
          </a:xfrm>
          <a:prstGeom prst="rect">
            <a:avLst/>
          </a:prstGeom>
          <a:noFill/>
        </p:spPr>
        <p:txBody>
          <a:bodyPr wrap="none" lIns="0" tIns="0" rIns="0" bIns="0" anchor="t">
            <a:noAutofit/>
          </a:bodyPr>
          <a:lstStyle/>
          <a:p>
            <a:pPr algn="l">
              <a:lnSpc>
                <a:spcPts val="1755"/>
              </a:lnSpc>
            </a:pPr>
            <a:r>
              <a:rPr sz="1300" b="1" i="0">
                <a:solidFill>
                  <a:srgbClr val="0B6E8F"/>
                </a:solidFill>
                <a:latin typeface="DM Sans"/>
              </a:rPr>
              <a:t>04</a:t>
            </a:r>
          </a:p>
        </p:txBody>
      </p:sp>
      <p:sp>
        <p:nvSpPr>
          <p:cNvPr id="16" name="Rounded Rectangle 15"/>
          <p:cNvSpPr/>
          <p:nvPr/>
        </p:nvSpPr>
        <p:spPr>
          <a:xfrm>
            <a:off x="7289800" y="1957586"/>
            <a:ext cx="1930400" cy="10160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289800" y="2173486"/>
            <a:ext cx="1981200" cy="391160"/>
          </a:xfrm>
          <a:prstGeom prst="rect">
            <a:avLst/>
          </a:prstGeom>
          <a:noFill/>
        </p:spPr>
        <p:txBody>
          <a:bodyPr wrap="none" lIns="0" tIns="0" rIns="0" bIns="0" anchor="t">
            <a:noAutofit/>
          </a:bodyPr>
          <a:lstStyle/>
          <a:p>
            <a:pPr algn="l">
              <a:lnSpc>
                <a:spcPts val="3080"/>
              </a:lnSpc>
            </a:pPr>
            <a:r>
              <a:rPr sz="2800" b="0" i="0">
                <a:solidFill>
                  <a:srgbClr val="0A2540"/>
                </a:solidFill>
                <a:latin typeface="DM Serif Display"/>
              </a:rPr>
              <a:t>februari</a:t>
            </a:r>
          </a:p>
        </p:txBody>
      </p:sp>
      <p:sp>
        <p:nvSpPr>
          <p:cNvPr id="18" name="TextBox 17"/>
          <p:cNvSpPr txBox="1"/>
          <p:nvPr/>
        </p:nvSpPr>
        <p:spPr>
          <a:xfrm>
            <a:off x="7289800" y="2678906"/>
            <a:ext cx="1981200" cy="1066800"/>
          </a:xfrm>
          <a:prstGeom prst="rect">
            <a:avLst/>
          </a:prstGeom>
          <a:noFill/>
        </p:spPr>
        <p:txBody>
          <a:bodyPr wrap="square" lIns="0" tIns="0" rIns="0" bIns="0" anchor="t">
            <a:noAutofit/>
          </a:bodyPr>
          <a:lstStyle/>
          <a:p>
            <a:pPr algn="l">
              <a:lnSpc>
                <a:spcPts val="2100"/>
              </a:lnSpc>
            </a:pPr>
            <a:r>
              <a:rPr sz="1500" b="0" i="0">
                <a:solidFill>
                  <a:srgbClr val="3A4F63"/>
                </a:solidFill>
                <a:latin typeface="DM Sans"/>
              </a:rPr>
              <a:t>Piloot van 1 tot 19 feb, Go/No-Go op 23 feb. Daarna start de inclusie.</a:t>
            </a:r>
          </a:p>
        </p:txBody>
      </p:sp>
      <p:sp>
        <p:nvSpPr>
          <p:cNvPr id="19" name="TextBox 18"/>
          <p:cNvSpPr txBox="1"/>
          <p:nvPr/>
        </p:nvSpPr>
        <p:spPr>
          <a:xfrm>
            <a:off x="9448800" y="1620441"/>
            <a:ext cx="1981200" cy="222885"/>
          </a:xfrm>
          <a:prstGeom prst="rect">
            <a:avLst/>
          </a:prstGeom>
          <a:noFill/>
        </p:spPr>
        <p:txBody>
          <a:bodyPr wrap="none" lIns="0" tIns="0" rIns="0" bIns="0" anchor="t">
            <a:noAutofit/>
          </a:bodyPr>
          <a:lstStyle/>
          <a:p>
            <a:pPr algn="l">
              <a:lnSpc>
                <a:spcPts val="1755"/>
              </a:lnSpc>
            </a:pPr>
            <a:r>
              <a:rPr sz="1300" b="1" i="0">
                <a:solidFill>
                  <a:srgbClr val="0B6E8F"/>
                </a:solidFill>
                <a:latin typeface="DM Sans"/>
              </a:rPr>
              <a:t>05</a:t>
            </a:r>
          </a:p>
        </p:txBody>
      </p:sp>
      <p:sp>
        <p:nvSpPr>
          <p:cNvPr id="20" name="Rounded Rectangle 19"/>
          <p:cNvSpPr/>
          <p:nvPr/>
        </p:nvSpPr>
        <p:spPr>
          <a:xfrm>
            <a:off x="9448800" y="1957586"/>
            <a:ext cx="1930400" cy="10160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9448800" y="2173486"/>
            <a:ext cx="1981200" cy="782241"/>
          </a:xfrm>
          <a:prstGeom prst="rect">
            <a:avLst/>
          </a:prstGeom>
          <a:noFill/>
        </p:spPr>
        <p:txBody>
          <a:bodyPr wrap="square" lIns="0" tIns="0" rIns="0" bIns="0" anchor="t">
            <a:noAutofit/>
          </a:bodyPr>
          <a:lstStyle/>
          <a:p>
            <a:pPr algn="l">
              <a:lnSpc>
                <a:spcPts val="3080"/>
              </a:lnSpc>
            </a:pPr>
            <a:r>
              <a:rPr sz="2800" b="0" i="0">
                <a:solidFill>
                  <a:srgbClr val="0A2540"/>
                </a:solidFill>
                <a:latin typeface="DM Serif Display"/>
              </a:rPr>
              <a:t>maart – april</a:t>
            </a:r>
          </a:p>
        </p:txBody>
      </p:sp>
      <p:sp>
        <p:nvSpPr>
          <p:cNvPr id="22" name="TextBox 21"/>
          <p:cNvSpPr txBox="1"/>
          <p:nvPr/>
        </p:nvSpPr>
        <p:spPr>
          <a:xfrm>
            <a:off x="9448800" y="3070027"/>
            <a:ext cx="1981200" cy="1066800"/>
          </a:xfrm>
          <a:prstGeom prst="rect">
            <a:avLst/>
          </a:prstGeom>
          <a:noFill/>
        </p:spPr>
        <p:txBody>
          <a:bodyPr wrap="square" lIns="0" tIns="0" rIns="0" bIns="0" anchor="t">
            <a:noAutofit/>
          </a:bodyPr>
          <a:lstStyle/>
          <a:p>
            <a:pPr algn="l">
              <a:lnSpc>
                <a:spcPts val="2100"/>
              </a:lnSpc>
            </a:pPr>
            <a:r>
              <a:rPr sz="1500" b="0" i="0">
                <a:solidFill>
                  <a:srgbClr val="3A4F63"/>
                </a:solidFill>
                <a:latin typeface="DM Sans"/>
              </a:rPr>
              <a:t>SEBIA 3–4: ma 1 mrt, namiddag. SEBIA 5 bij u: di 20 apr, voormiddag.</a:t>
            </a:r>
          </a:p>
        </p:txBody>
      </p:sp>
      <p:pic>
        <p:nvPicPr>
          <p:cNvPr id="23" name="Picture 22"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24" name="TextBox 23"/>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Van hier tot uw eerste patiënt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Wat het van uw team vraagt</a:t>
            </a:r>
          </a:p>
        </p:txBody>
      </p:sp>
      <p:sp>
        <p:nvSpPr>
          <p:cNvPr id="3" name="TextBox 2"/>
          <p:cNvSpPr txBox="1"/>
          <p:nvPr/>
        </p:nvSpPr>
        <p:spPr>
          <a:xfrm>
            <a:off x="812800" y="1960761"/>
            <a:ext cx="2209800" cy="307340"/>
          </a:xfrm>
          <a:prstGeom prst="rect">
            <a:avLst/>
          </a:prstGeom>
          <a:noFill/>
        </p:spPr>
        <p:txBody>
          <a:bodyPr wrap="none" lIns="0" tIns="0" rIns="0" bIns="0" anchor="t">
            <a:noAutofit/>
          </a:bodyPr>
          <a:lstStyle/>
          <a:p>
            <a:pPr algn="l">
              <a:lnSpc>
                <a:spcPts val="2420"/>
              </a:lnSpc>
            </a:pPr>
            <a:r>
              <a:rPr sz="2200" b="0" i="0">
                <a:solidFill>
                  <a:srgbClr val="0A2540"/>
                </a:solidFill>
                <a:latin typeface="DM Serif Display"/>
              </a:rPr>
              <a:t>Optimal Care</a:t>
            </a:r>
          </a:p>
        </p:txBody>
      </p:sp>
      <p:sp>
        <p:nvSpPr>
          <p:cNvPr id="4" name="TextBox 3"/>
          <p:cNvSpPr txBox="1"/>
          <p:nvPr/>
        </p:nvSpPr>
        <p:spPr>
          <a:xfrm>
            <a:off x="3225800" y="1874441"/>
            <a:ext cx="6502908" cy="480020"/>
          </a:xfrm>
          <a:prstGeom prst="rect">
            <a:avLst/>
          </a:prstGeom>
          <a:noFill/>
        </p:spPr>
        <p:txBody>
          <a:bodyPr wrap="square" lIns="0" tIns="0" rIns="0" bIns="0" anchor="t">
            <a:noAutofit/>
          </a:bodyPr>
          <a:lstStyle/>
          <a:p>
            <a:pPr algn="l">
              <a:lnSpc>
                <a:spcPts val="1889"/>
              </a:lnSpc>
            </a:pPr>
            <a:r>
              <a:rPr sz="1400" b="0" i="0">
                <a:solidFill>
                  <a:srgbClr val="3A4F63"/>
                </a:solidFill>
                <a:latin typeface="DM Sans"/>
              </a:rPr>
              <a:t>Per patiënt: twee uur bij de start, daarna twee uur per visite, over achttien maanden. Betaald: 17 uur.</a:t>
            </a:r>
          </a:p>
        </p:txBody>
      </p:sp>
      <p:sp>
        <p:nvSpPr>
          <p:cNvPr id="5" name="TextBox 4"/>
          <p:cNvSpPr txBox="1"/>
          <p:nvPr/>
        </p:nvSpPr>
        <p:spPr>
          <a:xfrm>
            <a:off x="9804400" y="1885851"/>
            <a:ext cx="1574800" cy="457200"/>
          </a:xfrm>
          <a:prstGeom prst="rect">
            <a:avLst/>
          </a:prstGeom>
          <a:noFill/>
        </p:spPr>
        <p:txBody>
          <a:bodyPr wrap="none" lIns="0" tIns="0" rIns="0" bIns="0" anchor="t">
            <a:noAutofit/>
          </a:bodyPr>
          <a:lstStyle/>
          <a:p>
            <a:pPr algn="r">
              <a:lnSpc>
                <a:spcPts val="3600"/>
              </a:lnSpc>
            </a:pPr>
            <a:r>
              <a:rPr sz="3600" b="0" i="0">
                <a:solidFill>
                  <a:srgbClr val="0B6E8F"/>
                </a:solidFill>
                <a:latin typeface="DM Serif Display"/>
              </a:rPr>
              <a:t>16 u</a:t>
            </a:r>
          </a:p>
        </p:txBody>
      </p:sp>
      <p:sp>
        <p:nvSpPr>
          <p:cNvPr id="6" name="Rectangle 5"/>
          <p:cNvSpPr/>
          <p:nvPr/>
        </p:nvSpPr>
        <p:spPr>
          <a:xfrm>
            <a:off x="812800" y="260846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800" y="2943721"/>
            <a:ext cx="2209800" cy="307340"/>
          </a:xfrm>
          <a:prstGeom prst="rect">
            <a:avLst/>
          </a:prstGeom>
          <a:noFill/>
        </p:spPr>
        <p:txBody>
          <a:bodyPr wrap="none" lIns="0" tIns="0" rIns="0" bIns="0" anchor="t">
            <a:noAutofit/>
          </a:bodyPr>
          <a:lstStyle/>
          <a:p>
            <a:pPr algn="l">
              <a:lnSpc>
                <a:spcPts val="2420"/>
              </a:lnSpc>
            </a:pPr>
            <a:r>
              <a:rPr sz="2200" b="0" i="0">
                <a:solidFill>
                  <a:srgbClr val="0A2540"/>
                </a:solidFill>
                <a:latin typeface="DM Serif Display"/>
              </a:rPr>
              <a:t>Usual Care</a:t>
            </a:r>
          </a:p>
        </p:txBody>
      </p:sp>
      <p:sp>
        <p:nvSpPr>
          <p:cNvPr id="8" name="TextBox 7"/>
          <p:cNvSpPr txBox="1"/>
          <p:nvPr/>
        </p:nvSpPr>
        <p:spPr>
          <a:xfrm>
            <a:off x="3225800" y="2977356"/>
            <a:ext cx="64262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Per patiënt: twee uur bij de start, daarna één uur per visite. Betaald: 10 uur.</a:t>
            </a:r>
          </a:p>
        </p:txBody>
      </p:sp>
      <p:sp>
        <p:nvSpPr>
          <p:cNvPr id="9" name="TextBox 8"/>
          <p:cNvSpPr txBox="1"/>
          <p:nvPr/>
        </p:nvSpPr>
        <p:spPr>
          <a:xfrm>
            <a:off x="9804400" y="2868811"/>
            <a:ext cx="1574800" cy="457200"/>
          </a:xfrm>
          <a:prstGeom prst="rect">
            <a:avLst/>
          </a:prstGeom>
          <a:noFill/>
        </p:spPr>
        <p:txBody>
          <a:bodyPr wrap="none" lIns="0" tIns="0" rIns="0" bIns="0" anchor="t">
            <a:noAutofit/>
          </a:bodyPr>
          <a:lstStyle/>
          <a:p>
            <a:pPr algn="r">
              <a:lnSpc>
                <a:spcPts val="3600"/>
              </a:lnSpc>
            </a:pPr>
            <a:r>
              <a:rPr sz="3600" b="0" i="0">
                <a:solidFill>
                  <a:srgbClr val="0B6E8F"/>
                </a:solidFill>
                <a:latin typeface="DM Serif Display"/>
              </a:rPr>
              <a:t>9 u</a:t>
            </a:r>
          </a:p>
        </p:txBody>
      </p:sp>
      <p:sp>
        <p:nvSpPr>
          <p:cNvPr id="10" name="Rectangle 9"/>
          <p:cNvSpPr/>
          <p:nvPr/>
        </p:nvSpPr>
        <p:spPr>
          <a:xfrm>
            <a:off x="812800" y="358001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2800" y="3915271"/>
            <a:ext cx="2209800" cy="307340"/>
          </a:xfrm>
          <a:prstGeom prst="rect">
            <a:avLst/>
          </a:prstGeom>
          <a:noFill/>
        </p:spPr>
        <p:txBody>
          <a:bodyPr wrap="none" lIns="0" tIns="0" rIns="0" bIns="0" anchor="t">
            <a:noAutofit/>
          </a:bodyPr>
          <a:lstStyle/>
          <a:p>
            <a:pPr algn="l">
              <a:lnSpc>
                <a:spcPts val="2420"/>
              </a:lnSpc>
            </a:pPr>
            <a:r>
              <a:rPr sz="2200" b="0" i="0">
                <a:solidFill>
                  <a:srgbClr val="0A2540"/>
                </a:solidFill>
                <a:latin typeface="DM Serif Display"/>
              </a:rPr>
              <a:t>Per centrum</a:t>
            </a:r>
          </a:p>
        </p:txBody>
      </p:sp>
      <p:sp>
        <p:nvSpPr>
          <p:cNvPr id="12" name="TextBox 11"/>
          <p:cNvSpPr txBox="1"/>
          <p:nvPr/>
        </p:nvSpPr>
        <p:spPr>
          <a:xfrm>
            <a:off x="3225800" y="3948906"/>
            <a:ext cx="64262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Twaalf patiënten in elke arm, samen.</a:t>
            </a:r>
          </a:p>
        </p:txBody>
      </p:sp>
      <p:sp>
        <p:nvSpPr>
          <p:cNvPr id="13" name="TextBox 12"/>
          <p:cNvSpPr txBox="1"/>
          <p:nvPr/>
        </p:nvSpPr>
        <p:spPr>
          <a:xfrm>
            <a:off x="9804400" y="3840361"/>
            <a:ext cx="1574800" cy="457200"/>
          </a:xfrm>
          <a:prstGeom prst="rect">
            <a:avLst/>
          </a:prstGeom>
          <a:noFill/>
        </p:spPr>
        <p:txBody>
          <a:bodyPr wrap="none" lIns="0" tIns="0" rIns="0" bIns="0" anchor="t">
            <a:noAutofit/>
          </a:bodyPr>
          <a:lstStyle/>
          <a:p>
            <a:pPr algn="r">
              <a:lnSpc>
                <a:spcPts val="3600"/>
              </a:lnSpc>
            </a:pPr>
            <a:r>
              <a:rPr sz="3600" b="0" i="0">
                <a:solidFill>
                  <a:srgbClr val="0B6E8F"/>
                </a:solidFill>
                <a:latin typeface="DM Serif Display"/>
              </a:rPr>
              <a:t>300 u</a:t>
            </a:r>
          </a:p>
        </p:txBody>
      </p:sp>
      <p:sp>
        <p:nvSpPr>
          <p:cNvPr id="14" name="Rectangle 13"/>
          <p:cNvSpPr/>
          <p:nvPr/>
        </p:nvSpPr>
        <p:spPr>
          <a:xfrm>
            <a:off x="812800" y="455156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2800" y="4886821"/>
            <a:ext cx="2209800" cy="307340"/>
          </a:xfrm>
          <a:prstGeom prst="rect">
            <a:avLst/>
          </a:prstGeom>
          <a:noFill/>
        </p:spPr>
        <p:txBody>
          <a:bodyPr wrap="none" lIns="0" tIns="0" rIns="0" bIns="0" anchor="t">
            <a:noAutofit/>
          </a:bodyPr>
          <a:lstStyle/>
          <a:p>
            <a:pPr algn="l">
              <a:lnSpc>
                <a:spcPts val="2420"/>
              </a:lnSpc>
            </a:pPr>
            <a:r>
              <a:rPr sz="2200" b="0" i="0">
                <a:solidFill>
                  <a:srgbClr val="0A2540"/>
                </a:solidFill>
                <a:latin typeface="DM Serif Display"/>
              </a:rPr>
              <a:t>Per maand</a:t>
            </a:r>
          </a:p>
        </p:txBody>
      </p:sp>
      <p:sp>
        <p:nvSpPr>
          <p:cNvPr id="16" name="TextBox 15"/>
          <p:cNvSpPr txBox="1"/>
          <p:nvPr/>
        </p:nvSpPr>
        <p:spPr>
          <a:xfrm>
            <a:off x="3225800" y="4920456"/>
            <a:ext cx="64262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Aan drie inclusies per maand, zolang de inclusie loopt.</a:t>
            </a:r>
          </a:p>
        </p:txBody>
      </p:sp>
      <p:sp>
        <p:nvSpPr>
          <p:cNvPr id="17" name="TextBox 16"/>
          <p:cNvSpPr txBox="1"/>
          <p:nvPr/>
        </p:nvSpPr>
        <p:spPr>
          <a:xfrm>
            <a:off x="9804400" y="4811911"/>
            <a:ext cx="1574800" cy="457200"/>
          </a:xfrm>
          <a:prstGeom prst="rect">
            <a:avLst/>
          </a:prstGeom>
          <a:noFill/>
        </p:spPr>
        <p:txBody>
          <a:bodyPr wrap="none" lIns="0" tIns="0" rIns="0" bIns="0" anchor="t">
            <a:noAutofit/>
          </a:bodyPr>
          <a:lstStyle/>
          <a:p>
            <a:pPr algn="r">
              <a:lnSpc>
                <a:spcPts val="3600"/>
              </a:lnSpc>
            </a:pPr>
            <a:r>
              <a:rPr sz="3600" b="0" i="0">
                <a:solidFill>
                  <a:srgbClr val="0B6E8F"/>
                </a:solidFill>
                <a:latin typeface="DM Serif Display"/>
              </a:rPr>
              <a:t>± 14 u</a:t>
            </a:r>
          </a:p>
        </p:txBody>
      </p:sp>
      <p:pic>
        <p:nvPicPr>
          <p:cNvPr id="18" name="Picture 17"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19" name="TextBox 18"/>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Tijd</a:t>
            </a:r>
          </a:p>
        </p:txBody>
      </p:sp>
      <p:sp>
        <p:nvSpPr>
          <p:cNvPr id="20" name="TextBox 19"/>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Bron: consortiummeeting 1 april 2026, dia 71 · opleidingsplanning, 8 oktober 2026</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Vier dingen, concreet</a:t>
            </a:r>
          </a:p>
        </p:txBody>
      </p:sp>
      <p:sp>
        <p:nvSpPr>
          <p:cNvPr id="3" name="TextBox 2"/>
          <p:cNvSpPr txBox="1"/>
          <p:nvPr/>
        </p:nvSpPr>
        <p:spPr>
          <a:xfrm>
            <a:off x="812800" y="1671241"/>
            <a:ext cx="1447800" cy="558800"/>
          </a:xfrm>
          <a:prstGeom prst="rect">
            <a:avLst/>
          </a:prstGeom>
          <a:noFill/>
        </p:spPr>
        <p:txBody>
          <a:bodyPr wrap="none" lIns="0" tIns="0" rIns="0" bIns="0" anchor="t">
            <a:noAutofit/>
          </a:bodyPr>
          <a:lstStyle/>
          <a:p>
            <a:pPr algn="l">
              <a:lnSpc>
                <a:spcPts val="4400"/>
              </a:lnSpc>
            </a:pPr>
            <a:r>
              <a:rPr sz="4400" b="0" i="0">
                <a:solidFill>
                  <a:srgbClr val="E06A00"/>
                </a:solidFill>
                <a:latin typeface="DM Serif Display"/>
              </a:rPr>
              <a:t>2</a:t>
            </a:r>
          </a:p>
        </p:txBody>
      </p:sp>
      <p:sp>
        <p:nvSpPr>
          <p:cNvPr id="4" name="TextBox 3"/>
          <p:cNvSpPr txBox="1"/>
          <p:nvPr/>
        </p:nvSpPr>
        <p:spPr>
          <a:xfrm>
            <a:off x="2463800" y="1682055"/>
            <a:ext cx="8966200" cy="259080"/>
          </a:xfrm>
          <a:prstGeom prst="rect">
            <a:avLst/>
          </a:prstGeom>
          <a:noFill/>
        </p:spPr>
        <p:txBody>
          <a:bodyPr wrap="none" lIns="0" tIns="0" rIns="0" bIns="0" anchor="t">
            <a:noAutofit/>
          </a:bodyPr>
          <a:lstStyle/>
          <a:p>
            <a:pPr algn="l">
              <a:lnSpc>
                <a:spcPts val="2039"/>
              </a:lnSpc>
            </a:pPr>
            <a:r>
              <a:rPr sz="1700" b="1" i="0">
                <a:solidFill>
                  <a:srgbClr val="0A2540"/>
                </a:solidFill>
                <a:latin typeface="DM Sans"/>
              </a:rPr>
              <a:t>Twee zorgverleners</a:t>
            </a:r>
          </a:p>
        </p:txBody>
      </p:sp>
      <p:sp>
        <p:nvSpPr>
          <p:cNvPr id="5" name="TextBox 4"/>
          <p:cNvSpPr txBox="1"/>
          <p:nvPr/>
        </p:nvSpPr>
        <p:spPr>
          <a:xfrm>
            <a:off x="2463800" y="1979216"/>
            <a:ext cx="89662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Podoloog en pedorthist, met een arts die screent en de toestemming vraagt. Allebei gecertificeerd.</a:t>
            </a:r>
          </a:p>
        </p:txBody>
      </p:sp>
      <p:sp>
        <p:nvSpPr>
          <p:cNvPr id="6" name="Rectangle 5"/>
          <p:cNvSpPr/>
          <p:nvPr/>
        </p:nvSpPr>
        <p:spPr>
          <a:xfrm>
            <a:off x="812800" y="238244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2800" y="2541191"/>
            <a:ext cx="1447800" cy="558800"/>
          </a:xfrm>
          <a:prstGeom prst="rect">
            <a:avLst/>
          </a:prstGeom>
          <a:noFill/>
        </p:spPr>
        <p:txBody>
          <a:bodyPr wrap="none" lIns="0" tIns="0" rIns="0" bIns="0" anchor="t">
            <a:noAutofit/>
          </a:bodyPr>
          <a:lstStyle/>
          <a:p>
            <a:pPr algn="l">
              <a:lnSpc>
                <a:spcPts val="4400"/>
              </a:lnSpc>
            </a:pPr>
            <a:r>
              <a:rPr sz="4400" b="0" i="0">
                <a:solidFill>
                  <a:srgbClr val="E06A00"/>
                </a:solidFill>
                <a:latin typeface="DM Serif Display"/>
              </a:rPr>
              <a:t>3</a:t>
            </a:r>
          </a:p>
        </p:txBody>
      </p:sp>
      <p:sp>
        <p:nvSpPr>
          <p:cNvPr id="8" name="TextBox 7"/>
          <p:cNvSpPr txBox="1"/>
          <p:nvPr/>
        </p:nvSpPr>
        <p:spPr>
          <a:xfrm>
            <a:off x="2463800" y="2552005"/>
            <a:ext cx="8966200" cy="259080"/>
          </a:xfrm>
          <a:prstGeom prst="rect">
            <a:avLst/>
          </a:prstGeom>
          <a:noFill/>
        </p:spPr>
        <p:txBody>
          <a:bodyPr wrap="none" lIns="0" tIns="0" rIns="0" bIns="0" anchor="t">
            <a:noAutofit/>
          </a:bodyPr>
          <a:lstStyle/>
          <a:p>
            <a:pPr algn="l">
              <a:lnSpc>
                <a:spcPts val="2039"/>
              </a:lnSpc>
            </a:pPr>
            <a:r>
              <a:rPr sz="1700" b="1" i="0">
                <a:solidFill>
                  <a:srgbClr val="0A2540"/>
                </a:solidFill>
                <a:latin typeface="DM Sans"/>
              </a:rPr>
              <a:t>Drie per maand</a:t>
            </a:r>
          </a:p>
        </p:txBody>
      </p:sp>
      <p:sp>
        <p:nvSpPr>
          <p:cNvPr id="9" name="TextBox 8"/>
          <p:cNvSpPr txBox="1"/>
          <p:nvPr/>
        </p:nvSpPr>
        <p:spPr>
          <a:xfrm>
            <a:off x="2463800" y="2849166"/>
            <a:ext cx="89662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24 deelnemers in twaalf maanden; de derde per maand is de marge.</a:t>
            </a:r>
          </a:p>
        </p:txBody>
      </p:sp>
      <p:sp>
        <p:nvSpPr>
          <p:cNvPr id="10" name="Rectangle 9"/>
          <p:cNvSpPr/>
          <p:nvPr/>
        </p:nvSpPr>
        <p:spPr>
          <a:xfrm>
            <a:off x="812800" y="325239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2800" y="3411141"/>
            <a:ext cx="1447800" cy="558800"/>
          </a:xfrm>
          <a:prstGeom prst="rect">
            <a:avLst/>
          </a:prstGeom>
          <a:noFill/>
        </p:spPr>
        <p:txBody>
          <a:bodyPr wrap="none" lIns="0" tIns="0" rIns="0" bIns="0" anchor="t">
            <a:noAutofit/>
          </a:bodyPr>
          <a:lstStyle/>
          <a:p>
            <a:pPr algn="l">
              <a:lnSpc>
                <a:spcPts val="4400"/>
              </a:lnSpc>
            </a:pPr>
            <a:r>
              <a:rPr sz="4400" b="0" i="0">
                <a:solidFill>
                  <a:srgbClr val="E06A00"/>
                </a:solidFill>
                <a:latin typeface="DM Serif Display"/>
              </a:rPr>
              <a:t>10 m</a:t>
            </a:r>
          </a:p>
        </p:txBody>
      </p:sp>
      <p:sp>
        <p:nvSpPr>
          <p:cNvPr id="12" name="TextBox 11"/>
          <p:cNvSpPr txBox="1"/>
          <p:nvPr/>
        </p:nvSpPr>
        <p:spPr>
          <a:xfrm>
            <a:off x="2463800" y="3421955"/>
            <a:ext cx="8966200" cy="259080"/>
          </a:xfrm>
          <a:prstGeom prst="rect">
            <a:avLst/>
          </a:prstGeom>
          <a:noFill/>
        </p:spPr>
        <p:txBody>
          <a:bodyPr wrap="none" lIns="0" tIns="0" rIns="0" bIns="0" anchor="t">
            <a:noAutofit/>
          </a:bodyPr>
          <a:lstStyle/>
          <a:p>
            <a:pPr algn="l">
              <a:lnSpc>
                <a:spcPts val="2039"/>
              </a:lnSpc>
            </a:pPr>
            <a:r>
              <a:rPr sz="1700" b="1" i="0">
                <a:solidFill>
                  <a:srgbClr val="0A2540"/>
                </a:solidFill>
                <a:latin typeface="DM Sans"/>
              </a:rPr>
              <a:t>Een looppad</a:t>
            </a:r>
          </a:p>
        </p:txBody>
      </p:sp>
      <p:sp>
        <p:nvSpPr>
          <p:cNvPr id="13" name="TextBox 12"/>
          <p:cNvSpPr txBox="1"/>
          <p:nvPr/>
        </p:nvSpPr>
        <p:spPr>
          <a:xfrm>
            <a:off x="2463800" y="3719116"/>
            <a:ext cx="89662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Tien meter volstaat. Extra apparatuur is niet nodig.</a:t>
            </a:r>
          </a:p>
        </p:txBody>
      </p:sp>
      <p:sp>
        <p:nvSpPr>
          <p:cNvPr id="14" name="Rectangle 13"/>
          <p:cNvSpPr/>
          <p:nvPr/>
        </p:nvSpPr>
        <p:spPr>
          <a:xfrm>
            <a:off x="812800" y="412234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2800" y="4281091"/>
            <a:ext cx="1447800" cy="558800"/>
          </a:xfrm>
          <a:prstGeom prst="rect">
            <a:avLst/>
          </a:prstGeom>
          <a:noFill/>
        </p:spPr>
        <p:txBody>
          <a:bodyPr wrap="none" lIns="0" tIns="0" rIns="0" bIns="0" anchor="t">
            <a:noAutofit/>
          </a:bodyPr>
          <a:lstStyle/>
          <a:p>
            <a:pPr algn="l">
              <a:lnSpc>
                <a:spcPts val="4400"/>
              </a:lnSpc>
            </a:pPr>
            <a:r>
              <a:rPr sz="4400" b="0" i="0">
                <a:solidFill>
                  <a:srgbClr val="E06A00"/>
                </a:solidFill>
                <a:latin typeface="DM Serif Display"/>
              </a:rPr>
              <a:t>1</a:t>
            </a:r>
          </a:p>
        </p:txBody>
      </p:sp>
      <p:sp>
        <p:nvSpPr>
          <p:cNvPr id="16" name="TextBox 15"/>
          <p:cNvSpPr txBox="1"/>
          <p:nvPr/>
        </p:nvSpPr>
        <p:spPr>
          <a:xfrm>
            <a:off x="2463800" y="4291905"/>
            <a:ext cx="8966200" cy="259080"/>
          </a:xfrm>
          <a:prstGeom prst="rect">
            <a:avLst/>
          </a:prstGeom>
          <a:noFill/>
        </p:spPr>
        <p:txBody>
          <a:bodyPr wrap="none" lIns="0" tIns="0" rIns="0" bIns="0" anchor="t">
            <a:noAutofit/>
          </a:bodyPr>
          <a:lstStyle/>
          <a:p>
            <a:pPr algn="l">
              <a:lnSpc>
                <a:spcPts val="2039"/>
              </a:lnSpc>
            </a:pPr>
            <a:r>
              <a:rPr sz="1700" b="1" i="0">
                <a:solidFill>
                  <a:srgbClr val="0A2540"/>
                </a:solidFill>
                <a:latin typeface="DM Sans"/>
              </a:rPr>
              <a:t>Een back-up</a:t>
            </a:r>
          </a:p>
        </p:txBody>
      </p:sp>
      <p:sp>
        <p:nvSpPr>
          <p:cNvPr id="17" name="TextBox 16"/>
          <p:cNvSpPr txBox="1"/>
          <p:nvPr/>
        </p:nvSpPr>
        <p:spPr>
          <a:xfrm>
            <a:off x="2463800" y="4589066"/>
            <a:ext cx="8966200" cy="240030"/>
          </a:xfrm>
          <a:prstGeom prst="rect">
            <a:avLst/>
          </a:prstGeom>
          <a:noFill/>
        </p:spPr>
        <p:txBody>
          <a:bodyPr wrap="none" lIns="0" tIns="0" rIns="0" bIns="0" anchor="t">
            <a:noAutofit/>
          </a:bodyPr>
          <a:lstStyle/>
          <a:p>
            <a:pPr algn="l">
              <a:lnSpc>
                <a:spcPts val="1889"/>
              </a:lnSpc>
            </a:pPr>
            <a:r>
              <a:rPr sz="1400" b="0" i="0">
                <a:solidFill>
                  <a:srgbClr val="3A4F63"/>
                </a:solidFill>
                <a:latin typeface="DM Sans"/>
              </a:rPr>
              <a:t>Eén zorgverlener die kan invallen, en die de droogloop meedoet.</a:t>
            </a:r>
          </a:p>
        </p:txBody>
      </p:sp>
      <p:pic>
        <p:nvPicPr>
          <p:cNvPr id="18" name="Picture 17"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19" name="TextBox 18"/>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Wat we van u nodig hebben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F2F8FC"/>
                </a:solidFill>
                <a:latin typeface="DM Serif Display"/>
              </a:rPr>
              <a:t>Voor als er iets misloopt</a:t>
            </a:r>
          </a:p>
        </p:txBody>
      </p:sp>
      <p:pic>
        <p:nvPicPr>
          <p:cNvPr id="3" name="Picture 2" descr="bcfd6f4716b1a30aa510f2e9fb4ea92e.png"/>
          <p:cNvPicPr>
            <a:picLocks noChangeAspect="1"/>
          </p:cNvPicPr>
          <p:nvPr/>
        </p:nvPicPr>
        <p:blipFill>
          <a:blip r:embed="rId3"/>
          <a:stretch>
            <a:fillRect/>
          </a:stretch>
        </p:blipFill>
        <p:spPr>
          <a:xfrm>
            <a:off x="812800" y="1620441"/>
            <a:ext cx="1905000" cy="2476500"/>
          </a:xfrm>
          <a:prstGeom prst="rect">
            <a:avLst/>
          </a:prstGeom>
        </p:spPr>
      </p:pic>
      <p:sp>
        <p:nvSpPr>
          <p:cNvPr id="4" name="TextBox 3"/>
          <p:cNvSpPr txBox="1"/>
          <p:nvPr/>
        </p:nvSpPr>
        <p:spPr>
          <a:xfrm>
            <a:off x="3175000" y="1620441"/>
            <a:ext cx="8255000" cy="346710"/>
          </a:xfrm>
          <a:prstGeom prst="rect">
            <a:avLst/>
          </a:prstGeom>
          <a:noFill/>
        </p:spPr>
        <p:txBody>
          <a:bodyPr wrap="none" lIns="0" tIns="0" rIns="0" bIns="0" anchor="t">
            <a:noAutofit/>
          </a:bodyPr>
          <a:lstStyle/>
          <a:p>
            <a:pPr algn="l">
              <a:lnSpc>
                <a:spcPts val="2730"/>
              </a:lnSpc>
            </a:pPr>
            <a:r>
              <a:rPr sz="2600" b="0" i="0">
                <a:solidFill>
                  <a:srgbClr val="F2F8FC"/>
                </a:solidFill>
                <a:latin typeface="DM Serif Display"/>
              </a:rPr>
              <a:t>Janou De Buyser</a:t>
            </a:r>
          </a:p>
        </p:txBody>
      </p:sp>
      <p:sp>
        <p:nvSpPr>
          <p:cNvPr id="5" name="TextBox 4"/>
          <p:cNvSpPr txBox="1"/>
          <p:nvPr/>
        </p:nvSpPr>
        <p:spPr>
          <a:xfrm>
            <a:off x="3175000" y="2043311"/>
            <a:ext cx="8255000" cy="205740"/>
          </a:xfrm>
          <a:prstGeom prst="rect">
            <a:avLst/>
          </a:prstGeom>
          <a:noFill/>
        </p:spPr>
        <p:txBody>
          <a:bodyPr wrap="none" lIns="0" tIns="0" rIns="0" bIns="0" anchor="t">
            <a:noAutofit/>
          </a:bodyPr>
          <a:lstStyle/>
          <a:p>
            <a:pPr algn="l">
              <a:lnSpc>
                <a:spcPts val="1620"/>
              </a:lnSpc>
            </a:pPr>
            <a:r>
              <a:rPr sz="1200" b="1" i="0">
                <a:solidFill>
                  <a:srgbClr val="52BDEC"/>
                </a:solidFill>
                <a:latin typeface="DM Sans"/>
              </a:rPr>
              <a:t>Doctoraatsonderzoeker · uw contactpersoon</a:t>
            </a:r>
          </a:p>
        </p:txBody>
      </p:sp>
      <p:sp>
        <p:nvSpPr>
          <p:cNvPr id="6" name="TextBox 5"/>
          <p:cNvSpPr txBox="1"/>
          <p:nvPr/>
        </p:nvSpPr>
        <p:spPr>
          <a:xfrm>
            <a:off x="3175000" y="2325191"/>
            <a:ext cx="8368284" cy="480020"/>
          </a:xfrm>
          <a:prstGeom prst="rect">
            <a:avLst/>
          </a:prstGeom>
          <a:noFill/>
        </p:spPr>
        <p:txBody>
          <a:bodyPr wrap="square" lIns="0" tIns="0" rIns="0" bIns="0" anchor="t">
            <a:noAutofit/>
          </a:bodyPr>
          <a:lstStyle/>
          <a:p>
            <a:pPr algn="l">
              <a:lnSpc>
                <a:spcPts val="1889"/>
              </a:lnSpc>
            </a:pPr>
            <a:r>
              <a:rPr sz="1400" b="0" i="0">
                <a:solidFill>
                  <a:srgbClr val="C5D8E8"/>
                </a:solidFill>
                <a:latin typeface="DM Sans"/>
              </a:rPr>
              <a:t>Uw eerste aanspreekpunt: inclusies, metingen, formulieren, sensoren en alles wat in de praktijk vastloopt.</a:t>
            </a:r>
          </a:p>
        </p:txBody>
      </p:sp>
      <p:sp>
        <p:nvSpPr>
          <p:cNvPr id="7" name="TextBox 6"/>
          <p:cNvSpPr txBox="1"/>
          <p:nvPr/>
        </p:nvSpPr>
        <p:spPr>
          <a:xfrm>
            <a:off x="3175000" y="2881412"/>
            <a:ext cx="8255000" cy="240030"/>
          </a:xfrm>
          <a:prstGeom prst="rect">
            <a:avLst/>
          </a:prstGeom>
          <a:noFill/>
        </p:spPr>
        <p:txBody>
          <a:bodyPr wrap="none" lIns="0" tIns="0" rIns="0" bIns="0" anchor="t">
            <a:noAutofit/>
          </a:bodyPr>
          <a:lstStyle/>
          <a:p>
            <a:pPr algn="l">
              <a:lnSpc>
                <a:spcPts val="1889"/>
              </a:lnSpc>
            </a:pPr>
            <a:r>
              <a:rPr sz="1400" b="1" i="0">
                <a:solidFill>
                  <a:srgbClr val="F2F8FC"/>
                </a:solidFill>
                <a:latin typeface="DM Sans"/>
              </a:rPr>
              <a:t>paradise-tbm@kuleuven.be · Spoorwegstraat 12 · Brugge</a:t>
            </a:r>
          </a:p>
        </p:txBody>
      </p:sp>
      <p:sp>
        <p:nvSpPr>
          <p:cNvPr id="8" name="Rectangle 7"/>
          <p:cNvSpPr/>
          <p:nvPr/>
        </p:nvSpPr>
        <p:spPr>
          <a:xfrm>
            <a:off x="3175000" y="3197622"/>
            <a:ext cx="82042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175000" y="3356372"/>
            <a:ext cx="8255000" cy="346710"/>
          </a:xfrm>
          <a:prstGeom prst="rect">
            <a:avLst/>
          </a:prstGeom>
          <a:noFill/>
        </p:spPr>
        <p:txBody>
          <a:bodyPr wrap="none" lIns="0" tIns="0" rIns="0" bIns="0" anchor="t">
            <a:noAutofit/>
          </a:bodyPr>
          <a:lstStyle/>
          <a:p>
            <a:pPr algn="l">
              <a:lnSpc>
                <a:spcPts val="2730"/>
              </a:lnSpc>
            </a:pPr>
            <a:r>
              <a:rPr sz="2600" b="0" i="0">
                <a:solidFill>
                  <a:srgbClr val="F2F8FC"/>
                </a:solidFill>
                <a:latin typeface="DM Serif Display"/>
              </a:rPr>
              <a:t>prof. dr. Kevin Deschamps</a:t>
            </a:r>
          </a:p>
        </p:txBody>
      </p:sp>
      <p:sp>
        <p:nvSpPr>
          <p:cNvPr id="10" name="TextBox 9"/>
          <p:cNvSpPr txBox="1"/>
          <p:nvPr/>
        </p:nvSpPr>
        <p:spPr>
          <a:xfrm>
            <a:off x="3175000" y="3779242"/>
            <a:ext cx="8255000" cy="205740"/>
          </a:xfrm>
          <a:prstGeom prst="rect">
            <a:avLst/>
          </a:prstGeom>
          <a:noFill/>
        </p:spPr>
        <p:txBody>
          <a:bodyPr wrap="none" lIns="0" tIns="0" rIns="0" bIns="0" anchor="t">
            <a:noAutofit/>
          </a:bodyPr>
          <a:lstStyle/>
          <a:p>
            <a:pPr algn="l">
              <a:lnSpc>
                <a:spcPts val="1620"/>
              </a:lnSpc>
            </a:pPr>
            <a:r>
              <a:rPr sz="1200" b="1" i="0">
                <a:solidFill>
                  <a:srgbClr val="52BDEC"/>
                </a:solidFill>
                <a:latin typeface="DM Sans"/>
              </a:rPr>
              <a:t>Promotor</a:t>
            </a:r>
          </a:p>
        </p:txBody>
      </p:sp>
      <p:sp>
        <p:nvSpPr>
          <p:cNvPr id="11" name="TextBox 10"/>
          <p:cNvSpPr txBox="1"/>
          <p:nvPr/>
        </p:nvSpPr>
        <p:spPr>
          <a:xfrm>
            <a:off x="3175000" y="4061123"/>
            <a:ext cx="8255000" cy="240030"/>
          </a:xfrm>
          <a:prstGeom prst="rect">
            <a:avLst/>
          </a:prstGeom>
          <a:noFill/>
        </p:spPr>
        <p:txBody>
          <a:bodyPr wrap="none" lIns="0" tIns="0" rIns="0" bIns="0" anchor="t">
            <a:noAutofit/>
          </a:bodyPr>
          <a:lstStyle/>
          <a:p>
            <a:pPr algn="l">
              <a:lnSpc>
                <a:spcPts val="1889"/>
              </a:lnSpc>
            </a:pPr>
            <a:r>
              <a:rPr sz="1400" b="0" i="0">
                <a:solidFill>
                  <a:srgbClr val="C5D8E8"/>
                </a:solidFill>
                <a:latin typeface="DM Sans"/>
              </a:rPr>
              <a:t>Wetenschappelijke vragen, de opzet van de studie en afspraken op het niveau van uw centrum.</a:t>
            </a:r>
          </a:p>
        </p:txBody>
      </p:sp>
      <p:sp>
        <p:nvSpPr>
          <p:cNvPr id="12" name="TextBox 11"/>
          <p:cNvSpPr txBox="1"/>
          <p:nvPr/>
        </p:nvSpPr>
        <p:spPr>
          <a:xfrm>
            <a:off x="3175000" y="4377333"/>
            <a:ext cx="8255000" cy="240030"/>
          </a:xfrm>
          <a:prstGeom prst="rect">
            <a:avLst/>
          </a:prstGeom>
          <a:noFill/>
        </p:spPr>
        <p:txBody>
          <a:bodyPr wrap="none" lIns="0" tIns="0" rIns="0" bIns="0" anchor="t">
            <a:noAutofit/>
          </a:bodyPr>
          <a:lstStyle/>
          <a:p>
            <a:pPr algn="l">
              <a:lnSpc>
                <a:spcPts val="1889"/>
              </a:lnSpc>
            </a:pPr>
            <a:r>
              <a:rPr sz="1400" b="1" i="0">
                <a:solidFill>
                  <a:srgbClr val="F2F8FC"/>
                </a:solidFill>
                <a:latin typeface="DM Sans"/>
              </a:rPr>
              <a:t>Revalidatiewetenschappen · KU Leuven · Campus Brugge</a:t>
            </a:r>
          </a:p>
        </p:txBody>
      </p:sp>
      <p:sp>
        <p:nvSpPr>
          <p:cNvPr id="13" name="TextBox 12"/>
          <p:cNvSpPr txBox="1"/>
          <p:nvPr/>
        </p:nvSpPr>
        <p:spPr>
          <a:xfrm>
            <a:off x="812800" y="4922143"/>
            <a:ext cx="10777728" cy="426641"/>
          </a:xfrm>
          <a:prstGeom prst="rect">
            <a:avLst/>
          </a:prstGeom>
          <a:noFill/>
        </p:spPr>
        <p:txBody>
          <a:bodyPr wrap="square" lIns="0" tIns="0" rIns="0" bIns="0" anchor="t">
            <a:noAutofit/>
          </a:bodyPr>
          <a:lstStyle/>
          <a:p>
            <a:pPr algn="l">
              <a:lnSpc>
                <a:spcPts val="1680"/>
              </a:lnSpc>
            </a:pPr>
            <a:r>
              <a:rPr sz="1200" b="0" i="0">
                <a:solidFill>
                  <a:srgbClr val="8FB0CA"/>
                </a:solidFill>
                <a:latin typeface="DM Sans"/>
              </a:rPr>
              <a:t>Consortium: KU Leuven — Revalidatiewetenschappen (Musculoskeletal Research Group) en Volksgezondheid en Eerstelijnszorg · Vrije Universiteit Brussel — Geneeskunde en Farmacie. Co-promotoren: Fabienne Dobbels, Maaike Fobelets en Koen Putman.</a:t>
            </a:r>
          </a:p>
        </p:txBody>
      </p:sp>
      <p:pic>
        <p:nvPicPr>
          <p:cNvPr id="14" name="Picture 13" descr="5d72d4b34cb4ecc0be35953d18b4aaa2.png"/>
          <p:cNvPicPr>
            <a:picLocks noChangeAspect="1"/>
          </p:cNvPicPr>
          <p:nvPr/>
        </p:nvPicPr>
        <p:blipFill>
          <a:blip r:embed="rId4"/>
          <a:stretch>
            <a:fillRect/>
          </a:stretch>
        </p:blipFill>
        <p:spPr>
          <a:xfrm>
            <a:off x="812967" y="6261100"/>
            <a:ext cx="171116" cy="203200"/>
          </a:xfrm>
          <a:prstGeom prst="rect">
            <a:avLst/>
          </a:prstGeom>
        </p:spPr>
      </p:pic>
      <p:sp>
        <p:nvSpPr>
          <p:cNvPr id="15" name="TextBox 14"/>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6F8FAA"/>
                </a:solidFill>
                <a:latin typeface="DM Sans"/>
              </a:rPr>
              <a:t>PARADISE · Wie u aanspreekt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TextBox 1"/>
          <p:cNvSpPr txBox="1"/>
          <p:nvPr/>
        </p:nvSpPr>
        <p:spPr>
          <a:xfrm>
            <a:off x="812800" y="812800"/>
            <a:ext cx="10617200" cy="502920"/>
          </a:xfrm>
          <a:prstGeom prst="rect">
            <a:avLst/>
          </a:prstGeom>
          <a:noFill/>
        </p:spPr>
        <p:txBody>
          <a:bodyPr wrap="none" lIns="0" tIns="0" rIns="0" bIns="0" anchor="t">
            <a:noAutofit/>
          </a:bodyPr>
          <a:lstStyle/>
          <a:p>
            <a:pPr algn="l">
              <a:lnSpc>
                <a:spcPts val="3960"/>
              </a:lnSpc>
            </a:pPr>
            <a:r>
              <a:rPr sz="3600" b="0" i="0" spc="-50">
                <a:solidFill>
                  <a:srgbClr val="0A2540"/>
                </a:solidFill>
                <a:latin typeface="DM Serif Display"/>
              </a:rPr>
              <a:t>Referenties</a:t>
            </a:r>
          </a:p>
        </p:txBody>
      </p:sp>
      <p:sp>
        <p:nvSpPr>
          <p:cNvPr id="3" name="TextBox 2"/>
          <p:cNvSpPr txBox="1"/>
          <p:nvPr/>
        </p:nvSpPr>
        <p:spPr>
          <a:xfrm>
            <a:off x="812800" y="1620441"/>
            <a:ext cx="355600" cy="215900"/>
          </a:xfrm>
          <a:prstGeom prst="rect">
            <a:avLst/>
          </a:prstGeom>
          <a:noFill/>
        </p:spPr>
        <p:txBody>
          <a:bodyPr wrap="none" lIns="0" tIns="0" rIns="0" bIns="0" anchor="t">
            <a:noAutofit/>
          </a:bodyPr>
          <a:lstStyle/>
          <a:p>
            <a:pPr algn="l"/>
            <a:r>
              <a:rPr sz="1300" b="1" i="0">
                <a:solidFill>
                  <a:srgbClr val="0B6E8F"/>
                </a:solidFill>
                <a:latin typeface="DM Sans"/>
              </a:rPr>
              <a:t>1</a:t>
            </a:r>
          </a:p>
        </p:txBody>
      </p:sp>
      <p:sp>
        <p:nvSpPr>
          <p:cNvPr id="4" name="TextBox 3"/>
          <p:cNvSpPr txBox="1"/>
          <p:nvPr/>
        </p:nvSpPr>
        <p:spPr>
          <a:xfrm>
            <a:off x="1244600" y="1620441"/>
            <a:ext cx="4343896"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Armstrong DG et al. N Engl J Med. 2017;376(24):2367–75.</a:t>
            </a:r>
          </a:p>
        </p:txBody>
      </p:sp>
      <p:sp>
        <p:nvSpPr>
          <p:cNvPr id="5" name="TextBox 4"/>
          <p:cNvSpPr txBox="1"/>
          <p:nvPr/>
        </p:nvSpPr>
        <p:spPr>
          <a:xfrm>
            <a:off x="812800" y="1970286"/>
            <a:ext cx="355600" cy="215900"/>
          </a:xfrm>
          <a:prstGeom prst="rect">
            <a:avLst/>
          </a:prstGeom>
          <a:noFill/>
        </p:spPr>
        <p:txBody>
          <a:bodyPr wrap="none" lIns="0" tIns="0" rIns="0" bIns="0" anchor="t">
            <a:noAutofit/>
          </a:bodyPr>
          <a:lstStyle/>
          <a:p>
            <a:pPr algn="l"/>
            <a:r>
              <a:rPr sz="1300" b="1" i="0">
                <a:solidFill>
                  <a:srgbClr val="0B6E8F"/>
                </a:solidFill>
                <a:latin typeface="DM Sans"/>
              </a:rPr>
              <a:t>6</a:t>
            </a:r>
          </a:p>
        </p:txBody>
      </p:sp>
      <p:sp>
        <p:nvSpPr>
          <p:cNvPr id="6" name="TextBox 5"/>
          <p:cNvSpPr txBox="1"/>
          <p:nvPr/>
        </p:nvSpPr>
        <p:spPr>
          <a:xfrm>
            <a:off x="1244600" y="1970286"/>
            <a:ext cx="3788073"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Bus SA et al. Diabetes Care. 2011;34(7):1595–600.</a:t>
            </a:r>
          </a:p>
        </p:txBody>
      </p:sp>
      <p:sp>
        <p:nvSpPr>
          <p:cNvPr id="7" name="TextBox 6"/>
          <p:cNvSpPr txBox="1"/>
          <p:nvPr/>
        </p:nvSpPr>
        <p:spPr>
          <a:xfrm>
            <a:off x="812800" y="2320131"/>
            <a:ext cx="355600" cy="215900"/>
          </a:xfrm>
          <a:prstGeom prst="rect">
            <a:avLst/>
          </a:prstGeom>
          <a:noFill/>
        </p:spPr>
        <p:txBody>
          <a:bodyPr wrap="none" lIns="0" tIns="0" rIns="0" bIns="0" anchor="t">
            <a:noAutofit/>
          </a:bodyPr>
          <a:lstStyle/>
          <a:p>
            <a:pPr algn="l"/>
            <a:r>
              <a:rPr sz="1300" b="1" i="0">
                <a:solidFill>
                  <a:srgbClr val="0B6E8F"/>
                </a:solidFill>
                <a:latin typeface="DM Sans"/>
              </a:rPr>
              <a:t>7</a:t>
            </a:r>
          </a:p>
        </p:txBody>
      </p:sp>
      <p:sp>
        <p:nvSpPr>
          <p:cNvPr id="8" name="TextBox 7"/>
          <p:cNvSpPr txBox="1"/>
          <p:nvPr/>
        </p:nvSpPr>
        <p:spPr>
          <a:xfrm>
            <a:off x="1244600" y="2320131"/>
            <a:ext cx="4375944"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Bus SA et al. Diabetes Metab Res Rev. 2020;36(S1):e3237.</a:t>
            </a:r>
          </a:p>
        </p:txBody>
      </p:sp>
      <p:sp>
        <p:nvSpPr>
          <p:cNvPr id="9" name="TextBox 8"/>
          <p:cNvSpPr txBox="1"/>
          <p:nvPr/>
        </p:nvSpPr>
        <p:spPr>
          <a:xfrm>
            <a:off x="812800" y="2669977"/>
            <a:ext cx="355600" cy="215900"/>
          </a:xfrm>
          <a:prstGeom prst="rect">
            <a:avLst/>
          </a:prstGeom>
          <a:noFill/>
        </p:spPr>
        <p:txBody>
          <a:bodyPr wrap="none" lIns="0" tIns="0" rIns="0" bIns="0" anchor="t">
            <a:noAutofit/>
          </a:bodyPr>
          <a:lstStyle/>
          <a:p>
            <a:pPr algn="l"/>
            <a:r>
              <a:rPr sz="1300" b="1" i="0">
                <a:solidFill>
                  <a:srgbClr val="0B6E8F"/>
                </a:solidFill>
                <a:latin typeface="DM Sans"/>
              </a:rPr>
              <a:t>8</a:t>
            </a:r>
          </a:p>
        </p:txBody>
      </p:sp>
      <p:sp>
        <p:nvSpPr>
          <p:cNvPr id="10" name="TextBox 9"/>
          <p:cNvSpPr txBox="1"/>
          <p:nvPr/>
        </p:nvSpPr>
        <p:spPr>
          <a:xfrm>
            <a:off x="1244600" y="2669977"/>
            <a:ext cx="4308773"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Bus SA et al. Diabetes Metab Res Rev. 2024;40(3):e3651.</a:t>
            </a:r>
          </a:p>
        </p:txBody>
      </p:sp>
      <p:sp>
        <p:nvSpPr>
          <p:cNvPr id="11" name="TextBox 10"/>
          <p:cNvSpPr txBox="1"/>
          <p:nvPr/>
        </p:nvSpPr>
        <p:spPr>
          <a:xfrm>
            <a:off x="812800" y="3019822"/>
            <a:ext cx="355600" cy="215900"/>
          </a:xfrm>
          <a:prstGeom prst="rect">
            <a:avLst/>
          </a:prstGeom>
          <a:noFill/>
        </p:spPr>
        <p:txBody>
          <a:bodyPr wrap="none" lIns="0" tIns="0" rIns="0" bIns="0" anchor="t">
            <a:noAutofit/>
          </a:bodyPr>
          <a:lstStyle/>
          <a:p>
            <a:pPr algn="l"/>
            <a:r>
              <a:rPr sz="1300" b="1" i="0">
                <a:solidFill>
                  <a:srgbClr val="0B6E8F"/>
                </a:solidFill>
                <a:latin typeface="DM Sans"/>
              </a:rPr>
              <a:t>9</a:t>
            </a:r>
          </a:p>
        </p:txBody>
      </p:sp>
      <p:sp>
        <p:nvSpPr>
          <p:cNvPr id="12" name="TextBox 11"/>
          <p:cNvSpPr txBox="1"/>
          <p:nvPr/>
        </p:nvSpPr>
        <p:spPr>
          <a:xfrm>
            <a:off x="1244600" y="3019822"/>
            <a:ext cx="3738364"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Bus SA et al. Diabetes Care. 2013;36(12):4109–16.</a:t>
            </a:r>
          </a:p>
        </p:txBody>
      </p:sp>
      <p:sp>
        <p:nvSpPr>
          <p:cNvPr id="13" name="TextBox 12"/>
          <p:cNvSpPr txBox="1"/>
          <p:nvPr/>
        </p:nvSpPr>
        <p:spPr>
          <a:xfrm>
            <a:off x="6324600" y="1620441"/>
            <a:ext cx="355600" cy="215900"/>
          </a:xfrm>
          <a:prstGeom prst="rect">
            <a:avLst/>
          </a:prstGeom>
          <a:noFill/>
        </p:spPr>
        <p:txBody>
          <a:bodyPr wrap="none" lIns="0" tIns="0" rIns="0" bIns="0" anchor="t">
            <a:noAutofit/>
          </a:bodyPr>
          <a:lstStyle/>
          <a:p>
            <a:pPr algn="l"/>
            <a:r>
              <a:rPr sz="1300" b="1" i="0">
                <a:solidFill>
                  <a:srgbClr val="0B6E8F"/>
                </a:solidFill>
                <a:latin typeface="DM Sans"/>
              </a:rPr>
              <a:t>13</a:t>
            </a:r>
          </a:p>
        </p:txBody>
      </p:sp>
      <p:sp>
        <p:nvSpPr>
          <p:cNvPr id="14" name="TextBox 13"/>
          <p:cNvSpPr txBox="1"/>
          <p:nvPr/>
        </p:nvSpPr>
        <p:spPr>
          <a:xfrm>
            <a:off x="6756400" y="1620441"/>
            <a:ext cx="3931543"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Waaijman R et al. Diabetes Care. 2013;36(6):1613–8.</a:t>
            </a:r>
          </a:p>
        </p:txBody>
      </p:sp>
      <p:sp>
        <p:nvSpPr>
          <p:cNvPr id="15" name="TextBox 14"/>
          <p:cNvSpPr txBox="1"/>
          <p:nvPr/>
        </p:nvSpPr>
        <p:spPr>
          <a:xfrm>
            <a:off x="6324600" y="1970286"/>
            <a:ext cx="355600" cy="215900"/>
          </a:xfrm>
          <a:prstGeom prst="rect">
            <a:avLst/>
          </a:prstGeom>
          <a:noFill/>
        </p:spPr>
        <p:txBody>
          <a:bodyPr wrap="none" lIns="0" tIns="0" rIns="0" bIns="0" anchor="t">
            <a:noAutofit/>
          </a:bodyPr>
          <a:lstStyle/>
          <a:p>
            <a:pPr algn="l"/>
            <a:r>
              <a:rPr sz="1300" b="1" i="0">
                <a:solidFill>
                  <a:srgbClr val="0B6E8F"/>
                </a:solidFill>
                <a:latin typeface="DM Sans"/>
              </a:rPr>
              <a:t>17</a:t>
            </a:r>
          </a:p>
        </p:txBody>
      </p:sp>
      <p:sp>
        <p:nvSpPr>
          <p:cNvPr id="16" name="TextBox 15"/>
          <p:cNvSpPr txBox="1"/>
          <p:nvPr/>
        </p:nvSpPr>
        <p:spPr>
          <a:xfrm>
            <a:off x="6756400" y="1970286"/>
            <a:ext cx="4134743"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Waaijman R et al. Diabetes Care. 2014;37(6):1697–705.</a:t>
            </a:r>
          </a:p>
        </p:txBody>
      </p:sp>
      <p:sp>
        <p:nvSpPr>
          <p:cNvPr id="17" name="TextBox 16"/>
          <p:cNvSpPr txBox="1"/>
          <p:nvPr/>
        </p:nvSpPr>
        <p:spPr>
          <a:xfrm>
            <a:off x="6324600" y="2320131"/>
            <a:ext cx="355600" cy="215900"/>
          </a:xfrm>
          <a:prstGeom prst="rect">
            <a:avLst/>
          </a:prstGeom>
          <a:noFill/>
        </p:spPr>
        <p:txBody>
          <a:bodyPr wrap="none" lIns="0" tIns="0" rIns="0" bIns="0" anchor="t">
            <a:noAutofit/>
          </a:bodyPr>
          <a:lstStyle/>
          <a:p>
            <a:pPr algn="l"/>
            <a:r>
              <a:rPr sz="1300" b="1" i="0">
                <a:solidFill>
                  <a:srgbClr val="0B6E8F"/>
                </a:solidFill>
                <a:latin typeface="DM Sans"/>
              </a:rPr>
              <a:t>18</a:t>
            </a:r>
          </a:p>
        </p:txBody>
      </p:sp>
      <p:sp>
        <p:nvSpPr>
          <p:cNvPr id="18" name="TextBox 17"/>
          <p:cNvSpPr txBox="1"/>
          <p:nvPr/>
        </p:nvSpPr>
        <p:spPr>
          <a:xfrm>
            <a:off x="6756400" y="2320131"/>
            <a:ext cx="3976787"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Lutjeboer T et al. J Rehabil Med. 2018;50(10):920–6.</a:t>
            </a:r>
          </a:p>
        </p:txBody>
      </p:sp>
      <p:sp>
        <p:nvSpPr>
          <p:cNvPr id="19" name="TextBox 18"/>
          <p:cNvSpPr txBox="1"/>
          <p:nvPr/>
        </p:nvSpPr>
        <p:spPr>
          <a:xfrm>
            <a:off x="6324600" y="2669977"/>
            <a:ext cx="355600" cy="215900"/>
          </a:xfrm>
          <a:prstGeom prst="rect">
            <a:avLst/>
          </a:prstGeom>
          <a:noFill/>
        </p:spPr>
        <p:txBody>
          <a:bodyPr wrap="none" lIns="0" tIns="0" rIns="0" bIns="0" anchor="t">
            <a:noAutofit/>
          </a:bodyPr>
          <a:lstStyle/>
          <a:p>
            <a:pPr algn="l"/>
            <a:r>
              <a:rPr sz="1300" b="1" i="0">
                <a:solidFill>
                  <a:srgbClr val="0B6E8F"/>
                </a:solidFill>
                <a:latin typeface="DM Sans"/>
              </a:rPr>
              <a:t>27</a:t>
            </a:r>
          </a:p>
        </p:txBody>
      </p:sp>
      <p:sp>
        <p:nvSpPr>
          <p:cNvPr id="20" name="TextBox 19"/>
          <p:cNvSpPr txBox="1"/>
          <p:nvPr/>
        </p:nvSpPr>
        <p:spPr>
          <a:xfrm>
            <a:off x="6756400" y="2669977"/>
            <a:ext cx="3469580" cy="222885"/>
          </a:xfrm>
          <a:prstGeom prst="rect">
            <a:avLst/>
          </a:prstGeom>
          <a:noFill/>
        </p:spPr>
        <p:txBody>
          <a:bodyPr wrap="none" lIns="0" tIns="0" rIns="0" bIns="0" anchor="t">
            <a:noAutofit/>
          </a:bodyPr>
          <a:lstStyle/>
          <a:p>
            <a:pPr algn="l">
              <a:lnSpc>
                <a:spcPts val="1755"/>
              </a:lnSpc>
            </a:pPr>
            <a:r>
              <a:rPr sz="1300" b="0" i="0">
                <a:solidFill>
                  <a:srgbClr val="3A4F63"/>
                </a:solidFill>
                <a:latin typeface="DM Sans"/>
              </a:rPr>
              <a:t>Zwaferink JBJ et al. Sensors. 2024;24(6):1795.</a:t>
            </a:r>
          </a:p>
        </p:txBody>
      </p:sp>
      <p:pic>
        <p:nvPicPr>
          <p:cNvPr id="21" name="Picture 20" descr="5d72d4b34cb4ecc0be35953d18b4aaa2.png"/>
          <p:cNvPicPr>
            <a:picLocks noChangeAspect="1"/>
          </p:cNvPicPr>
          <p:nvPr/>
        </p:nvPicPr>
        <p:blipFill>
          <a:blip r:embed="rId3"/>
          <a:stretch>
            <a:fillRect/>
          </a:stretch>
        </p:blipFill>
        <p:spPr>
          <a:xfrm>
            <a:off x="812967" y="6261100"/>
            <a:ext cx="171116" cy="203200"/>
          </a:xfrm>
          <a:prstGeom prst="rect">
            <a:avLst/>
          </a:prstGeom>
        </p:spPr>
      </p:pic>
      <p:sp>
        <p:nvSpPr>
          <p:cNvPr id="22" name="TextBox 21"/>
          <p:cNvSpPr txBox="1"/>
          <p:nvPr/>
        </p:nvSpPr>
        <p:spPr>
          <a:xfrm>
            <a:off x="1066800" y="6254750"/>
            <a:ext cx="3987800" cy="198120"/>
          </a:xfrm>
          <a:prstGeom prst="rect">
            <a:avLst/>
          </a:prstGeom>
          <a:noFill/>
        </p:spPr>
        <p:txBody>
          <a:bodyPr wrap="none" lIns="0" tIns="0" rIns="0" bIns="0" anchor="t">
            <a:noAutofit/>
          </a:bodyPr>
          <a:lstStyle/>
          <a:p>
            <a:pPr algn="l"/>
            <a:r>
              <a:rPr sz="1200" b="0" i="0">
                <a:solidFill>
                  <a:srgbClr val="5A6E80"/>
                </a:solidFill>
                <a:latin typeface="DM Sans"/>
              </a:rPr>
              <a:t>PARADISE · Waar de cijfers vandaan komen</a:t>
            </a:r>
          </a:p>
        </p:txBody>
      </p:sp>
      <p:sp>
        <p:nvSpPr>
          <p:cNvPr id="23" name="TextBox 22"/>
          <p:cNvSpPr txBox="1"/>
          <p:nvPr/>
        </p:nvSpPr>
        <p:spPr>
          <a:xfrm>
            <a:off x="4978400" y="6254750"/>
            <a:ext cx="6400800" cy="198120"/>
          </a:xfrm>
          <a:prstGeom prst="rect">
            <a:avLst/>
          </a:prstGeom>
          <a:noFill/>
        </p:spPr>
        <p:txBody>
          <a:bodyPr wrap="none" lIns="0" tIns="0" rIns="0" bIns="0" anchor="t">
            <a:noAutofit/>
          </a:bodyPr>
          <a:lstStyle/>
          <a:p>
            <a:pPr algn="r"/>
            <a:r>
              <a:rPr sz="1200" b="0" i="0">
                <a:solidFill>
                  <a:srgbClr val="5A6E80"/>
                </a:solidFill>
                <a:latin typeface="DM Sans"/>
              </a:rPr>
              <a:t>De nummering volgt die van het protocolmanuscript.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4367</Words>
  <Application>Microsoft Office PowerPoint</Application>
  <PresentationFormat>Breedbeeld</PresentationFormat>
  <Paragraphs>471</Paragraphs>
  <Slides>31</Slides>
  <Notes>31</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31</vt:i4>
      </vt:variant>
    </vt:vector>
  </HeadingPairs>
  <TitlesOfParts>
    <vt:vector size="36" baseType="lpstr">
      <vt:lpstr>Arial</vt:lpstr>
      <vt:lpstr>Calibri</vt:lpstr>
      <vt:lpstr>DM Sans</vt:lpstr>
      <vt:lpstr>DM Serif Display</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PARADISE — AZ Groeninge</dc:title>
  <dc:subject/>
  <dc:creator/>
  <cp:keywords/>
  <dc:description>generated using python-pptx</dc:description>
  <cp:lastModifiedBy>Janou De Buyser</cp:lastModifiedBy>
  <cp:revision>2</cp:revision>
  <dcterms:created xsi:type="dcterms:W3CDTF">2013-01-27T09:14:16Z</dcterms:created>
  <dcterms:modified xsi:type="dcterms:W3CDTF">2026-10-12T07:56:40Z</dcterms:modified>
  <cp:category/>
</cp:coreProperties>
</file>