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7A00"/>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1D8DB0"/>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7A00"/>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1D8DB0"/>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PARADISE staat voor Towards Pressure-Adherence and Education Driven Service in Diabetic Foot Disease: de druk, het dragen en de educatie. AZ Groeninge is één van de zes voetklinieken die meedoen. In een kwartier: waar de studie staat, de twee normen die de zorg sturen, wat er in uw kliniek verandert, en wat er gebeurt tot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een kwartier vier delen, elk met één vraag. Waar staan we vandaag? Wat stuurt de zorg? Wat doet uw team? En hoe geraken we tot de eerste patiënt, eind februari?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1: waar we staan. De studie in één beeld, wie u aanspreekt, en wat er vandaag al in AZ Groeninge staat.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per voetkliniek, twaalf in elke arm: Optimal Care, de PARADISE-zorg, en Usual Care, de gebruikelijke zorg. Elke deelnemer wordt achttien maanden gevolgd, met één primair eindpunt: het voetulcusrecidief over die achttien maanden. De PI loot per centrum met verzegelde enveloppen, na bevestigde geschiktheid en toestemming. Blijft één centrum achter, dan loopt de hele studie uit: vandaar het tempo dat we straks vragen. Op de kaart ook uw contactpersoon: Janou De Buyser, PhD A, voor Brugge, Gent en Kortrijk.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Wie u aanspreekt. Janou De Buyser, doctoraatsonderzoeker, PhD A: uw contactpersoon in Brugge, Gent en Kortrijk; hij doet de procesevaluatie in Leuven, Aalst en Antwerpen, en geeft de theorie, de technologie, de datacollectie en de droogloop. PhD B, nog te selecteren, wordt de contactpersoon in Aalst, Leuven en Antwerpen en doet de procesevaluatie in Brugge, Gent en Kortrijk. Zo evalueert nooit wie uw dagelijkse contactpersoon is. Gillian Debra is labmanager en neemt het trial master file, de ethische comités en het FAGG op zich.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vandaag in AZ Groeninge staat. De ethische goedkeuring: uw dossier is ingediend en volledig, en ligt bij de externe diensten voor feedback; centraal wachten de ethische commissie van UZ Leuven en het FAGG op de lokale CTC's. Geen inclusie vóór alle goedkeuringen binnen zijn; opleiden kan wel. Het materiaal staat bij u: de Novel pedar met laptop, router en twee zenders, vier MoveMonitors, en de Orthotimers met de uitleespen. De pedar installeren we vóór uw technologiesessie op 2 december. Dan de twee normen die de zorg sturen.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2: de twee normen.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2: de twee normen. Beide armen krijgen dezelfde zool; in Optimal Care sturen twee normen de zorg: één voor de druk en één voor het dragen.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dezelfde zool: een drukherverdelende maatzool met dezelfde opbouw, voetzorg en screening om de drie maanden, een draagsensor in de zool en één week MoveMonitor bij de start. Het verschil zit in wat er met de metingen gebeurt. In Optimal Care sturen twee normen de zorg. Eerst de druk. De pedar meet in elke sessie twee keer, zonder en mét de zool, op visite 2 en op maand 6, 12 en 18, op de doelregio's: de vorige ulcuslocatie, en per voet de twee voor- of middenvoetregio's met de hoogste piekdruk boven 200 kilopascal, zoals in de DIAFOS-studie van Bus en collega's. De norm: mét de zool onder 200 kilopascal, óf minstens 25 procent lager dan zonder zool in diezelfde sessie; één van beide volstaat. Zo niet, dan wordt de zool aangepast en opnieuw mét gemeten, tot drie keer; zodra de norm gehaald is, volgt een identiek tweede paar. In Usual Care wordt de druk alleen bij de start en op maand 6 gemeten, geblindeerd: het scherm wordt niet getoond, de waarden niet besproken, en de zool wordt er niet op aangepast.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CMFO die beide armen krijgen, laag per laag, van onder naar boven, de dikte is op schaal. Onderaan vijf millimeter microkurk, shore 55: die zit alleen in een volledig op maat gemaakte schoen. Daarop EVA, shore 35 tot 40: vijf millimeter in een maatschoen, zes millimeter zonder kurk in een confectieschoen en in semi-orthopedisch schoeisel. Op de EVA, in oranje, het deel dat de druk verplaatst: de metatarsaalbalk, negen tot tien millimeter hoog, in EVA, kurk of een gelijkwaardig materiaal van ongeveer shore 55, zes tot elf millimeter proximaal van de metatarsaalkopjes; ligt maar één regio hoog, of zat daar het vorige ulcus, dan volstaat een lokale pad, en waar nodig komen er bijkomende uitsparingen bij. Daarover de deklaag, over de volledige lengte: drie millimeter open-cellig dempend schuim, bijvoorbeeld PPT, en bovenaan, in goud, drie millimeter gesloten-cellig schuim, bijvoorbeeld Plastazote LD45. Andere materialen met vergelijkbare eigenschappen mogen, als ze op eCRF 23 staan. Samen is dat zestien millimeter in een maatschoen en twaalf in confectie of semi-orthopedisch schoeisel, plus de balk van negen tot tien millimeter: dat is veel voor een schoen. De schoen moet dus adequaat zijn, met voldoende diepte. De pasvorm wordt apart beoordeeld in het binnen- én het buitenschoeisel, met foto's. Hoe de zool gemaakt wordt, ziet u op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de zool en de balk doen, op één voet. Links de druk in de schoen, zonder zool: een rode piek onder de metatarsaalkopjes, en onder de hallux. Met zool 1, een zool met totaal contact, draagt de middenvoet mee en wordt de piek kleiner. Zool 2 krijgt een RCTB van 6 millimeter, zool 3 een van 9: bij elke aanpassing zakt de piek onder de kopjes verder, en de druk verschuift naar de balk erachter. Zo werkt het ook in de studie: meten zonder en mét de zool, en aanpassen waar de norm niet gehaald wordt, tot drie keer. Dan de tweede norm: het dragen.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draagnorm, met een voorbeeldpatiënt. Bij de start draagt de patiënt één week de MoveMonitor; daaruit halen we de slaaptijd en dus de waaktijd, hier 15,5 uur. De norm is tachtig procent daarvan, hier 12,4 uur per dag, alle zeven dagen; die zetten we in de Orthotimer, die meet hoeveel uur het schoeisel echt aan was en elk kwartaal wordt uitgelezen. Voor de patiënt is het één boodschap: u draagt uw schoenen altijd, van het moment dat u opstaat tot u gaat slapen. Nieuw: de meetweek op maand zes vervalt, en daarmee een contact per patiënt.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3: wat er in uw kliniek gebeurt.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3: in uw kliniek. Wie in aanmerking komt, hoe een patiënt de studie doorloopt in beide armen, het SEBIA-gesprek op elke visite, en wat er gebeurt bij een nieuwe wonde.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met een ezelsbruggetje: VOETEN. Vaten stabiel: PEDIS-graad 1 of 2, naar oordeel van de arts. Onlangs een voetwonde: IWGDF-risico 3, met een genezen plantair ulcus, een teen- of halluxamputatie, of een resectie van één of meer metatarsaalkopjes, tussen twee weken en achttien maanden geleden. Eigen stappen, zonder hulpmiddel. Type 1 of 2. Echt beschermend schoeisel, of bereid om over te schakelen: alle drie de schoeiselsituaties komen in aanmerking. Nederlands en volwassen. Rechts wie niet. Drie punten worden het vaakst gemist. Een resectie van de eerste metatarsaalkop komt wél in aanmerking; alleen een amputatie proximaal van de MTP-gewrichten sluit uit. Een enkel-voetorthese sluit uit, want de druksensoren passen er niet in. En wie de draagsensor weigert, valt af: zonder sensor geen draagtijd.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De arts screent en vraagt toestemming; op visite 0 wordt de geschiktheid bevestigd en loot de PI. Visite 1 is de baseline, visite 2 de aflevering van de zool, tussen 14 dagen en een maand later, en daarna elke drie maanden tot maand 18: het ritme van de controle die deze patiënten al krijgen. De drukmeting: op visite 1 alleen zonder zool; op visite 2 en op maand 6, 12 en 18 zonder en mét, binnen dezelfde sessie vergeleken. De MoveMonitor gaat één week mee bij de start. De Orthotimer gaat op visite 2 in de zool en wordt elke visite uitgelezen. Op visite 1 en vanaf visite 3 volgt de voet- en schoeiselscreening. De vragenlijsten vult de patiënt op papier in de wachtzaal in, en uw team kijkt ze na; welke wanneer, overlopen we in de sessie datacollectie op 12 januari. Het kostendagboek vragen wij telefonisch op. Dan hetzelfde traject in Usual Care.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Hetzelfde traject in Usual Care, met in oranje wat anders is. Dezelfde visites, dezelfde screening, dezelfde vragenlijsten en hetzelfde kostendagboek; ook de MoveMonitor bij de start en de Orthotimer in de zool. Drie verschillen. De druk wordt alleen gemeten op visite 1 en op maand 6, en geblindeerd: met een drempel van 50 kilopascal en de waarden uitgezet, zonder het scherm te tonen of de waarden te bespreken, en zonder de zool erop aan te passen. De Orthotimer wordt uitgelezen, maar zonder terugkoppeling aan de patiënt. En er is geen SEBIA: voetzorg en educatie zoals vandaag. Omdat dezelfde podologen in beide armen werken, is dat de belangrijkste afspraak.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SEBIA, de interventie in Optimal Care, zoals Fabienne Dobbels ze opbouwt, werkt op twee dingen. Links de voetzorg: educatie en vaardigheden, zodat de patiënt weet wat goede voetzorg is, ze zelf kan uitvoeren, en weet waarom aangepast schoeisel en zolen belangrijk zijn. Rechts de therapietrouw met dat schoeisel en die zolen: eerst monitoren, met de sensor in de zool, en dan verbeteren, door het belang en de motivatie te verhogen en barrières aan te pakken. Wat daarvan op welke visite aan bod komt, ziet u op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SEBIA per visite. Op de eerste twee visites ligt de focus op educatie: op visite 1 vult de patiënt vooraf de HLS-EU-6 en de NAFF in, en de podoloog legt de voetzorg uit, doet ze voor en laat de patiënt ze zelf doen, en legt uit waarvoor de MoveMonitor dient; op visite 2 evalueert de podoloog de kennis met de NAFF, legt opnieuw uit waar dat nodig is, en legt uit waarom zolen en schoenen altijd gedragen moeten worden, en wat de sensor doet. Op maand 3, 9 en 15 ligt de focus op therapietrouw: feedback op de uitdraai van de sensor en ondersteunende interventies op maat. Op maand 6 en 12 komen beide samen. Op maand 18 volgt een afrondend gesprek, zonder feedback of nieuwe interventies. En wat als er tussen twee visites een wonde ontstaat? Dat is ons eindpunt.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belangrijkste gegeven van de studie is het voetulcusrecidief, en dat stelt u vast. Wat telt: een nieuw ulcus, op dezelfde of een andere plek. Op elke visite worden beide voeten gescreend, plantair én dorsaal. Het team stelt het ulcus vast tegen vooraf vastgelegde criteria en op foto's, op dezelfde manier in beide armen, los van de toewijzing. Wat u doet. Eén: verwittig meteen de investigator. Twee: foto's, verzorgen, en klasseren met PEDIS en WIfI, eCRF 36 en 38. Drie: de investigator laadt alles geanonimiseerd op, en een aangeduide arts per centrum beoordeelt de foto's. Vier: bij elk vervolgcontact noteert u de genezing met eCRF 47, tot genezing, amputatie of overlijden. Vijf: een ernstig ongewenst voorval, zoals een opname, meldt u binnen 72 uur aan de sponsor, met eCRF 46. En het belangrijkste: het eindpunt is geen einde. De deelnemer blijft tot maand 18 in opvolging, in de arm waarin hij geloot werd; wie na een wonde uitvalt, ontbreekt in de analyse.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4: van nu tot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4: naar de eerste patiënt. Uw opleiding met de data voor AZ Groeninge, wat SEBIA van uw podologen vraagt, het tempo van de inclusie, en wat we van u vragen.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Uw opleiding, met de data voor AZ Groeninge; een bolletje is een sessie, en de kleur zegt waar. Online en opgenomen: het info draaiboek op dinsdag 10 en 24 november over de middag, gezondheidseconomie en procesevaluatie op dinsdag 8 december, en datacollectie en vragenlijsten op dinsdag 12 januari, na een zelftest in de week van 4 januari waarbij u de vragenlijsten eens zelf invult. Bij u: de technologie op woensdagvoormiddag 2 december, de droogloop op woensdag 20 januari, met maandagnamiddag 25 januari als inhaaldag, en SEBIA 5 op dinsdagvoormiddag 20 april. In groep, samen met de eerste podoloog van AZ Sint-Jan: SEBIA 1 en 2 op woensdag 6 januari, en SEBIA 3 en 4 op maandagnamiddag 1 maart, met maandag 8 maart als inhaalmoment. Past een datum niet, dan staat op uw fiche een optie B: de technologie op maandagnamiddag 30 november, SEBIA 1 en 2 op woensdag 16 december. In februari volgt de piloot, en op 23 februari beslist de Executive Board over Go of No-Go. Artsen volgen het info draaiboek en de gezondheidseconomie, online, en kunnen aansluiten bij de theorie van de technologie. Het grootste blok in die planning is SEBIA.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leren uw podologen SEBIA, in zes sessies van Fabienne Dobbels, van de groep naar de eigen praktijk. Sessie 1 en 2, in januari, gaan over kennis en vaardigheden: wat de educatie inhoudt, de principes van goede educatie, hoe u goede voetzorg voordoet en hoe u de vragenlijsten bij de educatie gebruikt, met oefeningen. Sessie 3 en 4, begin maart, gaan over therapietrouw bevorderen: feedback met de sensor, communicatieprincipes, de motivatie inschatten en bespreken, en de juiste interventie kiezen, weer met oefeningen. Ook wie al een opleiding in motiverende gespreksvoering volgde, heeft ze nodig: communicatie is maar een deel van een gedragsinterventie. Beide blokken duren vier uur, in groep. Daarna oefent elke podoloog SEBIA individueel in met het script, anderhalf uur in uw centrum op 20 april, en in het najaar van 2027 volgt een intervisie van een uur, online. Dan het tempo van de inclusie.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Waarom drie, als twee gemiddeld volstaat? Omdat patiënten niet op regelmatige tijdstippen binnenkomen. De curve toont de kans dat een centrum zijn 24 binnen twaalf maanden haalt. Aan twee per maand is dat een muntworp, 53 procent; aan drie per maand 99 procent: de derde patiënt is de marge. De studie is pas rond als het traagste centrum klaar is: dat alle zes het halen, is aan drie per maand 92 procent, aan twee per maand amper 2 procent. Het model rekent met een vast tempo vanaf de eerste maand; een trage start of een zomer aan halve kracht kost al snel een maand. Ook daarom drie, en niet twee. Wat we daarvoor van u vragen, ziet u op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we van AZ Groeninge vragen, in vier punten. Eén: drie inclusies per maand, vanaf de start na de Go/No-Go; de derde is de marge. Twee: wie deelneemt aan de opleidingen, met naam: de podologen, de verpleegkundigen en de artsen. Drie: de drukmeting geïnstalleerd vóór uw technologiesessie op 2 december. Vier: mail voor alles over PARADISE naar paradise-tbm@kuleuven.be.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wat nu volgt voor AZ Groeninge. Op dinsdag 10 november start het info draaiboek, online. Op woensdag 2 december komen we bij u voor de technologie, op woensdag 6 januari volgen SEBIA 1 en 2, en op woensdag 20 januari de droogloop, bij u. Op 23 februari beslist de Executive Board na de piloot over Go of No-Go, en dan volgt de eerste patiënt. Daarna drie inclusies per maand, en AZ Groeninge heeft zijn 24 deelnemers binnen het jaar. Dank 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8.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6.png"/><Relationship Id="rId5" Type="http://schemas.openxmlformats.org/officeDocument/2006/relationships/image" Target="../media/image1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24.png"/><Relationship Id="rId4" Type="http://schemas.openxmlformats.org/officeDocument/2006/relationships/image" Target="../media/image1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0" y="0"/>
            <a:ext cx="5588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14abb052316bca6838ae130b0aff4182.png"/>
          <p:cNvPicPr>
            <a:picLocks noChangeAspect="1"/>
          </p:cNvPicPr>
          <p:nvPr/>
        </p:nvPicPr>
        <p:blipFill>
          <a:blip r:embed="rId2"/>
          <a:stretch>
            <a:fillRect/>
          </a:stretch>
        </p:blipFill>
        <p:spPr>
          <a:xfrm>
            <a:off x="611790" y="508000"/>
            <a:ext cx="2408621" cy="889000"/>
          </a:xfrm>
          <a:prstGeom prst="rect">
            <a:avLst/>
          </a:prstGeom>
        </p:spPr>
      </p:pic>
      <p:pic>
        <p:nvPicPr>
          <p:cNvPr id="4" name="Picture 3" descr="0dbcd856d0c21c2d81b496cf3b8e7586.png"/>
          <p:cNvPicPr>
            <a:picLocks noChangeAspect="1"/>
          </p:cNvPicPr>
          <p:nvPr/>
        </p:nvPicPr>
        <p:blipFill>
          <a:blip r:embed="rId3"/>
          <a:stretch>
            <a:fillRect/>
          </a:stretch>
        </p:blipFill>
        <p:spPr>
          <a:xfrm>
            <a:off x="508000" y="1627505"/>
            <a:ext cx="4572000" cy="3577590"/>
          </a:xfrm>
          <a:prstGeom prst="rect">
            <a:avLst/>
          </a:prstGeom>
        </p:spPr>
      </p:pic>
      <p:sp>
        <p:nvSpPr>
          <p:cNvPr id="5" name="TextBox 4"/>
          <p:cNvSpPr txBox="1"/>
          <p:nvPr/>
        </p:nvSpPr>
        <p:spPr>
          <a:xfrm>
            <a:off x="609600" y="5588000"/>
            <a:ext cx="4495800" cy="198120"/>
          </a:xfrm>
          <a:prstGeom prst="rect">
            <a:avLst/>
          </a:prstGeom>
          <a:noFill/>
        </p:spPr>
        <p:txBody>
          <a:bodyPr wrap="none" lIns="0" rIns="0" tIns="0" bIns="0" anchor="t">
            <a:noAutofit/>
          </a:bodyPr>
          <a:lstStyle/>
          <a:p>
            <a:pPr algn="l"/>
            <a:r>
              <a:rPr sz="1200" b="1" i="0">
                <a:solidFill>
                  <a:srgbClr val="5A6E80"/>
                </a:solidFill>
                <a:latin typeface="DM Sans"/>
              </a:rPr>
              <a:t>McRoberts · Novel pedar · Orthotimer</a:t>
            </a:r>
          </a:p>
        </p:txBody>
      </p:sp>
      <p:sp>
        <p:nvSpPr>
          <p:cNvPr id="6" name="TextBox 5"/>
          <p:cNvSpPr txBox="1"/>
          <p:nvPr/>
        </p:nvSpPr>
        <p:spPr>
          <a:xfrm>
            <a:off x="6299200" y="812800"/>
            <a:ext cx="5130800" cy="198120"/>
          </a:xfrm>
          <a:prstGeom prst="rect">
            <a:avLst/>
          </a:prstGeom>
          <a:noFill/>
        </p:spPr>
        <p:txBody>
          <a:bodyPr wrap="none" lIns="0" rIns="0" tIns="0" bIns="0" anchor="t">
            <a:noAutofit/>
          </a:bodyPr>
          <a:lstStyle/>
          <a:p>
            <a:pPr algn="l"/>
            <a:r>
              <a:rPr sz="1200" b="1" i="0">
                <a:solidFill>
                  <a:srgbClr val="52BDEC"/>
                </a:solidFill>
                <a:latin typeface="DM Sans"/>
              </a:rPr>
              <a:t>AZ Groeninge Kortrijk · voetkliniek</a:t>
            </a:r>
          </a:p>
        </p:txBody>
      </p:sp>
      <p:sp>
        <p:nvSpPr>
          <p:cNvPr id="7" name="TextBox 6"/>
          <p:cNvSpPr txBox="1"/>
          <p:nvPr/>
        </p:nvSpPr>
        <p:spPr>
          <a:xfrm>
            <a:off x="6299200" y="1174750"/>
            <a:ext cx="5181600" cy="1320800"/>
          </a:xfrm>
          <a:prstGeom prst="rect">
            <a:avLst/>
          </a:prstGeom>
          <a:noFill/>
        </p:spPr>
        <p:txBody>
          <a:bodyPr wrap="square" lIns="0" rIns="0" tIns="0" bIns="0" anchor="t">
            <a:noAutofit/>
          </a:bodyPr>
          <a:lstStyle/>
          <a:p>
            <a:pPr algn="l">
              <a:lnSpc>
                <a:spcPts val="5200"/>
              </a:lnSpc>
            </a:pPr>
            <a:r>
              <a:rPr sz="5000" b="0" i="0" spc="-100">
                <a:solidFill>
                  <a:srgbClr val="F2F8FC"/>
                </a:solidFill>
                <a:latin typeface="DM Serif Display"/>
              </a:rPr>
              <a:t>PARADISE in uw </a:t>
            </a:r>
            <a:r>
              <a:rPr sz="5000" b="0" i="0" spc="-100">
                <a:solidFill>
                  <a:srgbClr val="52BDEC"/>
                </a:solidFill>
                <a:latin typeface="DM Serif Display"/>
              </a:rPr>
              <a:t>voetkliniek</a:t>
            </a:r>
          </a:p>
        </p:txBody>
      </p:sp>
      <p:sp>
        <p:nvSpPr>
          <p:cNvPr id="8" name="Rectangle 7"/>
          <p:cNvSpPr/>
          <p:nvPr/>
        </p:nvSpPr>
        <p:spPr>
          <a:xfrm>
            <a:off x="6299200" y="2660650"/>
            <a:ext cx="609600" cy="25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299200" y="2851150"/>
            <a:ext cx="5181600" cy="462161"/>
          </a:xfrm>
          <a:prstGeom prst="rect">
            <a:avLst/>
          </a:prstGeom>
          <a:noFill/>
        </p:spPr>
        <p:txBody>
          <a:bodyPr wrap="square" lIns="0" rIns="0" tIns="0" bIns="0" anchor="t">
            <a:noAutofit/>
          </a:bodyPr>
          <a:lstStyle/>
          <a:p>
            <a:pPr algn="l">
              <a:lnSpc>
                <a:spcPts val="1820"/>
              </a:lnSpc>
            </a:pPr>
            <a:r>
              <a:rPr sz="1300" b="0" i="0">
                <a:solidFill>
                  <a:srgbClr val="8FB0CA"/>
                </a:solidFill>
                <a:latin typeface="DM Sans"/>
              </a:rPr>
              <a:t>Towards Pressure-Adherence &amp; Education Driven Service in Diabetic Foot Disease</a:t>
            </a:r>
          </a:p>
        </p:txBody>
      </p:sp>
      <p:sp>
        <p:nvSpPr>
          <p:cNvPr id="10" name="TextBox 9"/>
          <p:cNvSpPr txBox="1"/>
          <p:nvPr/>
        </p:nvSpPr>
        <p:spPr>
          <a:xfrm>
            <a:off x="6299200" y="5026720"/>
            <a:ext cx="5130800" cy="243840"/>
          </a:xfrm>
          <a:prstGeom prst="rect">
            <a:avLst/>
          </a:prstGeom>
          <a:noFill/>
        </p:spPr>
        <p:txBody>
          <a:bodyPr wrap="none" lIns="0" rIns="0" tIns="0" bIns="0" anchor="t">
            <a:noAutofit/>
          </a:bodyPr>
          <a:lstStyle/>
          <a:p>
            <a:pPr algn="l">
              <a:lnSpc>
                <a:spcPts val="1920"/>
              </a:lnSpc>
            </a:pPr>
            <a:r>
              <a:rPr sz="1200" b="0" i="0">
                <a:solidFill>
                  <a:srgbClr val="8FB0CA"/>
                </a:solidFill>
                <a:latin typeface="DM Sans"/>
              </a:rPr>
              <a:t>Toelichting en stand van zaken, oktober 2026</a:t>
            </a:r>
          </a:p>
        </p:txBody>
      </p:sp>
      <p:sp>
        <p:nvSpPr>
          <p:cNvPr id="11" name="Rounded Rectangle 10"/>
          <p:cNvSpPr/>
          <p:nvPr/>
        </p:nvSpPr>
        <p:spPr>
          <a:xfrm>
            <a:off x="6299200" y="5435600"/>
            <a:ext cx="2794000" cy="609600"/>
          </a:xfrm>
          <a:prstGeom prst="roundRect">
            <a:avLst>
              <a:gd name="adj" fmla="val 145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75504389baacf5fb07e89c0ba89ea558.png"/>
          <p:cNvPicPr>
            <a:picLocks noChangeAspect="1"/>
          </p:cNvPicPr>
          <p:nvPr/>
        </p:nvPicPr>
        <p:blipFill>
          <a:blip r:embed="rId4"/>
          <a:stretch>
            <a:fillRect/>
          </a:stretch>
        </p:blipFill>
        <p:spPr>
          <a:xfrm>
            <a:off x="6530975" y="5568950"/>
            <a:ext cx="1200150" cy="342900"/>
          </a:xfrm>
          <a:prstGeom prst="rect">
            <a:avLst/>
          </a:prstGeom>
        </p:spPr>
      </p:pic>
      <p:pic>
        <p:nvPicPr>
          <p:cNvPr id="13" name="Picture 12" descr="228c2b11ec878f28c18f6d8655b98aa7.png"/>
          <p:cNvPicPr>
            <a:picLocks noChangeAspect="1"/>
          </p:cNvPicPr>
          <p:nvPr/>
        </p:nvPicPr>
        <p:blipFill>
          <a:blip r:embed="rId5"/>
          <a:stretch>
            <a:fillRect/>
          </a:stretch>
        </p:blipFill>
        <p:spPr>
          <a:xfrm>
            <a:off x="7927606" y="5575300"/>
            <a:ext cx="921488" cy="330200"/>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pic>
        <p:nvPicPr>
          <p:cNvPr id="2" name="Picture 1" descr="4e287ae005ab9f8997461f000820af22.png"/>
          <p:cNvPicPr>
            <a:picLocks noChangeAspect="1"/>
          </p:cNvPicPr>
          <p:nvPr/>
        </p:nvPicPr>
        <p:blipFill>
          <a:blip r:embed="rId2"/>
          <a:stretch>
            <a:fillRect/>
          </a:stretch>
        </p:blipFill>
        <p:spPr>
          <a:xfrm>
            <a:off x="7874000" y="0"/>
            <a:ext cx="6388100" cy="7302500"/>
          </a:xfrm>
          <a:prstGeom prst="rect">
            <a:avLst/>
          </a:prstGeom>
        </p:spPr>
      </p:pic>
      <p:pic>
        <p:nvPicPr>
          <p:cNvPr id="3" name="Picture 2" descr="17444fc736046dce855915c152f1244d.png"/>
          <p:cNvPicPr>
            <a:picLocks noChangeAspect="1"/>
          </p:cNvPicPr>
          <p:nvPr/>
        </p:nvPicPr>
        <p:blipFill>
          <a:blip r:embed="rId3"/>
          <a:stretch>
            <a:fillRect/>
          </a:stretch>
        </p:blipFill>
        <p:spPr>
          <a:xfrm>
            <a:off x="990600" y="2616200"/>
            <a:ext cx="2133600" cy="1200150"/>
          </a:xfrm>
          <a:prstGeom prst="rect">
            <a:avLst/>
          </a:prstGeom>
        </p:spPr>
      </p:pic>
      <p:pic>
        <p:nvPicPr>
          <p:cNvPr id="4" name="Picture 3" descr="9374a5d284f37796ab1731acb98bdde0.png"/>
          <p:cNvPicPr>
            <a:picLocks noChangeAspect="1"/>
          </p:cNvPicPr>
          <p:nvPr/>
        </p:nvPicPr>
        <p:blipFill>
          <a:blip r:embed="rId4"/>
          <a:stretch>
            <a:fillRect/>
          </a:stretch>
        </p:blipFill>
        <p:spPr>
          <a:xfrm>
            <a:off x="901700" y="2705100"/>
            <a:ext cx="2311400" cy="1301750"/>
          </a:xfrm>
          <a:prstGeom prst="rect">
            <a:avLst/>
          </a:prstGeom>
        </p:spPr>
      </p:pic>
      <p:sp>
        <p:nvSpPr>
          <p:cNvPr id="5" name="Rounded Rectangle 4"/>
          <p:cNvSpPr/>
          <p:nvPr/>
        </p:nvSpPr>
        <p:spPr>
          <a:xfrm>
            <a:off x="812800" y="27940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8f5a364bd78bb1a03e64718e5c9b51ca.png"/>
          <p:cNvPicPr>
            <a:picLocks noChangeAspect="1"/>
          </p:cNvPicPr>
          <p:nvPr/>
        </p:nvPicPr>
        <p:blipFill>
          <a:blip r:embed="rId5"/>
          <a:stretch>
            <a:fillRect/>
          </a:stretch>
        </p:blipFill>
        <p:spPr>
          <a:xfrm>
            <a:off x="831850" y="2813050"/>
            <a:ext cx="2451100" cy="1378744"/>
          </a:xfrm>
          <a:prstGeom prst="rect">
            <a:avLst/>
          </a:prstGeom>
        </p:spPr>
      </p:pic>
      <p:sp>
        <p:nvSpPr>
          <p:cNvPr id="7" name="TextBox 6"/>
          <p:cNvSpPr txBox="1"/>
          <p:nvPr/>
        </p:nvSpPr>
        <p:spPr>
          <a:xfrm>
            <a:off x="812800" y="4279900"/>
            <a:ext cx="2540000" cy="213360"/>
          </a:xfrm>
          <a:prstGeom prst="rect">
            <a:avLst/>
          </a:prstGeom>
          <a:noFill/>
        </p:spPr>
        <p:txBody>
          <a:bodyPr wrap="none" lIns="0" rIns="0" tIns="0" bIns="0" anchor="t">
            <a:noAutofit/>
          </a:bodyPr>
          <a:lstStyle/>
          <a:p>
            <a:pPr algn="l">
              <a:lnSpc>
                <a:spcPts val="1680"/>
              </a:lnSpc>
            </a:pPr>
            <a:r>
              <a:rPr sz="1400" b="0" i="0">
                <a:solidFill>
                  <a:srgbClr val="A34A00"/>
                </a:solidFill>
                <a:latin typeface="DM Sans"/>
              </a:rPr>
              <a:t>1 Waar we staan</a:t>
            </a:r>
          </a:p>
        </p:txBody>
      </p:sp>
      <p:pic>
        <p:nvPicPr>
          <p:cNvPr id="8" name="Picture 7" descr="6065f46649de790bfd2c66bd4e0bc395.png"/>
          <p:cNvPicPr>
            <a:picLocks noChangeAspect="1"/>
          </p:cNvPicPr>
          <p:nvPr/>
        </p:nvPicPr>
        <p:blipFill>
          <a:blip r:embed="rId6"/>
          <a:stretch>
            <a:fillRect/>
          </a:stretch>
        </p:blipFill>
        <p:spPr>
          <a:xfrm>
            <a:off x="3683000" y="2616200"/>
            <a:ext cx="2133600" cy="1200150"/>
          </a:xfrm>
          <a:prstGeom prst="rect">
            <a:avLst/>
          </a:prstGeom>
        </p:spPr>
      </p:pic>
      <p:pic>
        <p:nvPicPr>
          <p:cNvPr id="9" name="Picture 8" descr="a4cbeb2a007ac1feafda7680c7f0aa56.png"/>
          <p:cNvPicPr>
            <a:picLocks noChangeAspect="1"/>
          </p:cNvPicPr>
          <p:nvPr/>
        </p:nvPicPr>
        <p:blipFill>
          <a:blip r:embed="rId7"/>
          <a:stretch>
            <a:fillRect/>
          </a:stretch>
        </p:blipFill>
        <p:spPr>
          <a:xfrm>
            <a:off x="3594100" y="2705100"/>
            <a:ext cx="2311400" cy="1301750"/>
          </a:xfrm>
          <a:prstGeom prst="rect">
            <a:avLst/>
          </a:prstGeom>
        </p:spPr>
      </p:pic>
      <p:sp>
        <p:nvSpPr>
          <p:cNvPr id="10" name="Rounded Rectangle 9"/>
          <p:cNvSpPr/>
          <p:nvPr/>
        </p:nvSpPr>
        <p:spPr>
          <a:xfrm>
            <a:off x="35052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e626ffe89d287ff5eaf9111d59a37c71.png"/>
          <p:cNvPicPr>
            <a:picLocks noChangeAspect="1"/>
          </p:cNvPicPr>
          <p:nvPr/>
        </p:nvPicPr>
        <p:blipFill>
          <a:blip r:embed="rId8"/>
          <a:stretch>
            <a:fillRect/>
          </a:stretch>
        </p:blipFill>
        <p:spPr>
          <a:xfrm>
            <a:off x="3511550" y="2800350"/>
            <a:ext cx="2476500" cy="1393031"/>
          </a:xfrm>
          <a:prstGeom prst="rect">
            <a:avLst/>
          </a:prstGeom>
        </p:spPr>
      </p:pic>
      <p:sp>
        <p:nvSpPr>
          <p:cNvPr id="12" name="TextBox 11"/>
          <p:cNvSpPr txBox="1"/>
          <p:nvPr/>
        </p:nvSpPr>
        <p:spPr>
          <a:xfrm>
            <a:off x="35052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2 De twee normen</a:t>
            </a:r>
          </a:p>
        </p:txBody>
      </p:sp>
      <p:pic>
        <p:nvPicPr>
          <p:cNvPr id="13" name="Picture 12" descr="d637644dfb17d408b1612e6ce29a4c90.png"/>
          <p:cNvPicPr>
            <a:picLocks noChangeAspect="1"/>
          </p:cNvPicPr>
          <p:nvPr/>
        </p:nvPicPr>
        <p:blipFill>
          <a:blip r:embed="rId9"/>
          <a:stretch>
            <a:fillRect/>
          </a:stretch>
        </p:blipFill>
        <p:spPr>
          <a:xfrm>
            <a:off x="6375400" y="2616200"/>
            <a:ext cx="2133600" cy="1200150"/>
          </a:xfrm>
          <a:prstGeom prst="rect">
            <a:avLst/>
          </a:prstGeom>
        </p:spPr>
      </p:pic>
      <p:pic>
        <p:nvPicPr>
          <p:cNvPr id="14" name="Picture 13" descr="044714e05088d05ecc779bea37a6d2a3.png"/>
          <p:cNvPicPr>
            <a:picLocks noChangeAspect="1"/>
          </p:cNvPicPr>
          <p:nvPr/>
        </p:nvPicPr>
        <p:blipFill>
          <a:blip r:embed="rId10"/>
          <a:stretch>
            <a:fillRect/>
          </a:stretch>
        </p:blipFill>
        <p:spPr>
          <a:xfrm>
            <a:off x="6286500" y="2705100"/>
            <a:ext cx="2311400" cy="1301750"/>
          </a:xfrm>
          <a:prstGeom prst="rect">
            <a:avLst/>
          </a:prstGeom>
        </p:spPr>
      </p:pic>
      <p:sp>
        <p:nvSpPr>
          <p:cNvPr id="15" name="Rounded Rectangle 14"/>
          <p:cNvSpPr/>
          <p:nvPr/>
        </p:nvSpPr>
        <p:spPr>
          <a:xfrm>
            <a:off x="61976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f2004349ab66d8e00dcd64e773bea7e.png"/>
          <p:cNvPicPr>
            <a:picLocks noChangeAspect="1"/>
          </p:cNvPicPr>
          <p:nvPr/>
        </p:nvPicPr>
        <p:blipFill>
          <a:blip r:embed="rId11"/>
          <a:stretch>
            <a:fillRect/>
          </a:stretch>
        </p:blipFill>
        <p:spPr>
          <a:xfrm>
            <a:off x="6203950" y="2800350"/>
            <a:ext cx="2476500" cy="1393031"/>
          </a:xfrm>
          <a:prstGeom prst="rect">
            <a:avLst/>
          </a:prstGeom>
        </p:spPr>
      </p:pic>
      <p:sp>
        <p:nvSpPr>
          <p:cNvPr id="17" name="TextBox 16"/>
          <p:cNvSpPr txBox="1"/>
          <p:nvPr/>
        </p:nvSpPr>
        <p:spPr>
          <a:xfrm>
            <a:off x="61976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3 In uw kliniek</a:t>
            </a:r>
          </a:p>
        </p:txBody>
      </p:sp>
      <p:pic>
        <p:nvPicPr>
          <p:cNvPr id="18" name="Picture 17" descr="f47b2c5d55fdfa1b7561ac418fc51cae.png"/>
          <p:cNvPicPr>
            <a:picLocks noChangeAspect="1"/>
          </p:cNvPicPr>
          <p:nvPr/>
        </p:nvPicPr>
        <p:blipFill>
          <a:blip r:embed="rId12"/>
          <a:stretch>
            <a:fillRect/>
          </a:stretch>
        </p:blipFill>
        <p:spPr>
          <a:xfrm>
            <a:off x="9067800" y="2616200"/>
            <a:ext cx="2133600" cy="1200150"/>
          </a:xfrm>
          <a:prstGeom prst="rect">
            <a:avLst/>
          </a:prstGeom>
        </p:spPr>
      </p:pic>
      <p:pic>
        <p:nvPicPr>
          <p:cNvPr id="19" name="Picture 18" descr="3037ecb82de3ed48eb6cda2a03246223.png"/>
          <p:cNvPicPr>
            <a:picLocks noChangeAspect="1"/>
          </p:cNvPicPr>
          <p:nvPr/>
        </p:nvPicPr>
        <p:blipFill>
          <a:blip r:embed="rId13"/>
          <a:stretch>
            <a:fillRect/>
          </a:stretch>
        </p:blipFill>
        <p:spPr>
          <a:xfrm>
            <a:off x="8978900" y="2705100"/>
            <a:ext cx="2311400" cy="1301750"/>
          </a:xfrm>
          <a:prstGeom prst="rect">
            <a:avLst/>
          </a:prstGeom>
        </p:spPr>
      </p:pic>
      <p:sp>
        <p:nvSpPr>
          <p:cNvPr id="20" name="Rounded Rectangle 19"/>
          <p:cNvSpPr/>
          <p:nvPr/>
        </p:nvSpPr>
        <p:spPr>
          <a:xfrm>
            <a:off x="88900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688beb89a3727568ae3896cb19de0e02.png"/>
          <p:cNvPicPr>
            <a:picLocks noChangeAspect="1"/>
          </p:cNvPicPr>
          <p:nvPr/>
        </p:nvPicPr>
        <p:blipFill>
          <a:blip r:embed="rId14"/>
          <a:stretch>
            <a:fillRect/>
          </a:stretch>
        </p:blipFill>
        <p:spPr>
          <a:xfrm>
            <a:off x="8896350" y="2800350"/>
            <a:ext cx="2476500" cy="1393031"/>
          </a:xfrm>
          <a:prstGeom prst="rect">
            <a:avLst/>
          </a:prstGeom>
        </p:spPr>
      </p:pic>
      <p:sp>
        <p:nvSpPr>
          <p:cNvPr id="22" name="TextBox 21"/>
          <p:cNvSpPr txBox="1"/>
          <p:nvPr/>
        </p:nvSpPr>
        <p:spPr>
          <a:xfrm>
            <a:off x="88900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4 Naar de eerste patiënt</a:t>
            </a:r>
          </a:p>
        </p:txBody>
      </p:sp>
      <p:sp>
        <p:nvSpPr>
          <p:cNvPr id="23" name="TextBox 22"/>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pic>
        <p:nvPicPr>
          <p:cNvPr id="24" name="Picture 23"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25" name="TextBox 24"/>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5A6E80"/>
                </a:solidFill>
                <a:latin typeface="DM Sans"/>
              </a:rPr>
              <a:t>PARADISE · AZ Groeninge Kortrijk</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955800" cy="5029200"/>
          </a:xfrm>
          <a:prstGeom prst="rect">
            <a:avLst/>
          </a:prstGeom>
          <a:noFill/>
        </p:spPr>
        <p:txBody>
          <a:bodyPr wrap="square" lIns="0" rIns="0" tIns="0" bIns="0" anchor="t">
            <a:noAutofit/>
          </a:bodyPr>
          <a:lstStyle/>
          <a:p>
            <a:pPr algn="l">
              <a:lnSpc>
                <a:spcPts val="16200"/>
              </a:lnSpc>
            </a:pPr>
            <a:r>
              <a:rPr sz="18000" b="0" i="0">
                <a:solidFill>
                  <a:srgbClr val="FF9A3D"/>
                </a:solidFill>
                <a:latin typeface="DM Serif Display"/>
              </a:rPr>
              <a:t>1</a:t>
            </a:r>
          </a:p>
        </p:txBody>
      </p:sp>
      <p:sp>
        <p:nvSpPr>
          <p:cNvPr id="4" name="TextBox 3"/>
          <p:cNvSpPr txBox="1"/>
          <p:nvPr/>
        </p:nvSpPr>
        <p:spPr>
          <a:xfrm>
            <a:off x="3327400" y="812800"/>
            <a:ext cx="8102600" cy="215900"/>
          </a:xfrm>
          <a:prstGeom prst="rect">
            <a:avLst/>
          </a:prstGeom>
          <a:noFill/>
        </p:spPr>
        <p:txBody>
          <a:bodyPr wrap="none" lIns="0" rIns="0" tIns="0" bIns="0" anchor="t">
            <a:noAutofit/>
          </a:bodyPr>
          <a:lstStyle/>
          <a:p>
            <a:pPr algn="l"/>
            <a:r>
              <a:rPr sz="1300" b="1" i="0">
                <a:solidFill>
                  <a:srgbClr val="52BDEC"/>
                </a:solidFill>
                <a:latin typeface="DM Sans"/>
              </a:rPr>
              <a:t>Deel 1 van 4</a:t>
            </a:r>
          </a:p>
        </p:txBody>
      </p:sp>
      <p:sp>
        <p:nvSpPr>
          <p:cNvPr id="5" name="TextBox 4"/>
          <p:cNvSpPr txBox="1"/>
          <p:nvPr/>
        </p:nvSpPr>
        <p:spPr>
          <a:xfrm>
            <a:off x="3327400" y="1206500"/>
            <a:ext cx="8102600" cy="586740"/>
          </a:xfrm>
          <a:prstGeom prst="rect">
            <a:avLst/>
          </a:prstGeom>
          <a:noFill/>
        </p:spPr>
        <p:txBody>
          <a:bodyPr wrap="none" lIns="0" rIns="0" tIns="0" bIns="0" anchor="t">
            <a:noAutofit/>
          </a:bodyPr>
          <a:lstStyle/>
          <a:p>
            <a:pPr algn="l">
              <a:lnSpc>
                <a:spcPts val="4620"/>
              </a:lnSpc>
            </a:pPr>
            <a:r>
              <a:rPr sz="4400" b="0" i="0" spc="-50">
                <a:solidFill>
                  <a:srgbClr val="F2F8FC"/>
                </a:solidFill>
                <a:latin typeface="DM Serif Display"/>
              </a:rPr>
              <a:t>Waar we staan</a:t>
            </a:r>
          </a:p>
        </p:txBody>
      </p:sp>
      <p:sp>
        <p:nvSpPr>
          <p:cNvPr id="6" name="TextBox 5"/>
          <p:cNvSpPr txBox="1"/>
          <p:nvPr/>
        </p:nvSpPr>
        <p:spPr>
          <a:xfrm>
            <a:off x="3327400" y="1970980"/>
            <a:ext cx="8102600" cy="335280"/>
          </a:xfrm>
          <a:prstGeom prst="rect">
            <a:avLst/>
          </a:prstGeom>
          <a:noFill/>
        </p:spPr>
        <p:txBody>
          <a:bodyPr wrap="none" lIns="0" rIns="0" tIns="0" bIns="0" anchor="t">
            <a:noAutofit/>
          </a:bodyPr>
          <a:lstStyle/>
          <a:p>
            <a:pPr algn="l">
              <a:lnSpc>
                <a:spcPts val="2640"/>
              </a:lnSpc>
            </a:pPr>
            <a:r>
              <a:rPr sz="2200" b="0" i="1">
                <a:solidFill>
                  <a:srgbClr val="52BDEC"/>
                </a:solidFill>
                <a:latin typeface="DM Serif Display"/>
              </a:rPr>
              <a:t>Wat staat er al klaar?</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27400" y="459243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144 deelnemers in zes voetklinieken</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27400" y="504070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wie u aanspreekt</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7400" y="5488980"/>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AZ Groeninge vandaag</a:t>
            </a:r>
          </a:p>
        </p:txBody>
      </p:sp>
      <p:pic>
        <p:nvPicPr>
          <p:cNvPr id="13" name="Picture 1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6F8FAA"/>
                </a:solidFill>
                <a:latin typeface="DM Sans"/>
              </a:rPr>
              <a:t>PARADISE · Waar we staan</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pic>
        <p:nvPicPr>
          <p:cNvPr id="2" name="Picture 1" descr="bca0e7442a2bdffe745679463c941007.png"/>
          <p:cNvPicPr>
            <a:picLocks noChangeAspect="1"/>
          </p:cNvPicPr>
          <p:nvPr/>
        </p:nvPicPr>
        <p:blipFill>
          <a:blip r:embed="rId2"/>
          <a:stretch>
            <a:fillRect/>
          </a:stretch>
        </p:blipFill>
        <p:spPr>
          <a:xfrm>
            <a:off x="5282605" y="1693072"/>
            <a:ext cx="6420545" cy="3611556"/>
          </a:xfrm>
          <a:prstGeom prst="rect">
            <a:avLst/>
          </a:prstGeom>
        </p:spPr>
      </p:pic>
      <p:sp>
        <p:nvSpPr>
          <p:cNvPr id="3" name="Rounded Rectangle 2"/>
          <p:cNvSpPr/>
          <p:nvPr/>
        </p:nvSpPr>
        <p:spPr>
          <a:xfrm>
            <a:off x="5797550" y="2743200"/>
            <a:ext cx="1295400" cy="1181100"/>
          </a:xfrm>
          <a:prstGeom prst="roundRect">
            <a:avLst>
              <a:gd name="adj" fmla="val 752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797550" y="3987800"/>
            <a:ext cx="2717800" cy="182880"/>
          </a:xfrm>
          <a:prstGeom prst="rect">
            <a:avLst/>
          </a:prstGeom>
          <a:noFill/>
        </p:spPr>
        <p:txBody>
          <a:bodyPr wrap="none" lIns="0" rIns="0" tIns="0" bIns="0" anchor="t">
            <a:noAutofit/>
          </a:bodyPr>
          <a:lstStyle/>
          <a:p>
            <a:pPr algn="l">
              <a:lnSpc>
                <a:spcPts val="1440"/>
              </a:lnSpc>
            </a:pPr>
            <a:r>
              <a:rPr sz="1200" b="1" i="0">
                <a:solidFill>
                  <a:srgbClr val="0B6E8F"/>
                </a:solidFill>
                <a:latin typeface="DM Sans"/>
              </a:rPr>
              <a:t>contact: PhD A · Janou De Buyser</a:t>
            </a:r>
          </a:p>
        </p:txBody>
      </p:sp>
      <p:sp>
        <p:nvSpPr>
          <p:cNvPr id="5" name="Rounded Rectangle 4"/>
          <p:cNvSpPr/>
          <p:nvPr/>
        </p:nvSpPr>
        <p:spPr>
          <a:xfrm>
            <a:off x="10096500" y="2508250"/>
            <a:ext cx="1308100" cy="1358900"/>
          </a:xfrm>
          <a:prstGeom prst="roundRect">
            <a:avLst>
              <a:gd name="adj" fmla="val 679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64700" y="3930650"/>
            <a:ext cx="1739900" cy="182880"/>
          </a:xfrm>
          <a:prstGeom prst="rect">
            <a:avLst/>
          </a:prstGeom>
          <a:noFill/>
        </p:spPr>
        <p:txBody>
          <a:bodyPr wrap="none" lIns="0" rIns="0" tIns="0" bIns="0" anchor="t">
            <a:noAutofit/>
          </a:bodyPr>
          <a:lstStyle/>
          <a:p>
            <a:pPr algn="r">
              <a:lnSpc>
                <a:spcPts val="1440"/>
              </a:lnSpc>
            </a:pPr>
            <a:r>
              <a:rPr sz="1200" b="1" i="0">
                <a:solidFill>
                  <a:srgbClr val="A34A00"/>
                </a:solidFill>
                <a:latin typeface="DM Sans"/>
              </a:rPr>
              <a:t>contact: PhD B</a:t>
            </a:r>
          </a:p>
        </p:txBody>
      </p:sp>
      <p:pic>
        <p:nvPicPr>
          <p:cNvPr id="7" name="Picture 6"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8" name="TextBox 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Waar we staan</a:t>
            </a:r>
          </a:p>
        </p:txBody>
      </p:sp>
      <p:sp>
        <p:nvSpPr>
          <p:cNvPr id="9" name="TextBox 8"/>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S71769</a:t>
            </a:r>
          </a:p>
        </p:txBody>
      </p:sp>
      <p:sp>
        <p:nvSpPr>
          <p:cNvPr id="10" name="TextBox 9"/>
          <p:cNvSpPr txBox="1"/>
          <p:nvPr/>
        </p:nvSpPr>
        <p:spPr>
          <a:xfrm>
            <a:off x="812800" y="81280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11" name="TextBox 10"/>
          <p:cNvSpPr txBox="1"/>
          <p:nvPr/>
        </p:nvSpPr>
        <p:spPr>
          <a:xfrm>
            <a:off x="812800" y="2501900"/>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12" name="TextBox 11"/>
          <p:cNvSpPr txBox="1"/>
          <p:nvPr/>
        </p:nvSpPr>
        <p:spPr>
          <a:xfrm>
            <a:off x="1778000" y="2755900"/>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Optimal Care, 12 in Usual Care</a:t>
            </a:r>
          </a:p>
        </p:txBody>
      </p:sp>
      <p:sp>
        <p:nvSpPr>
          <p:cNvPr id="13" name="Rectangle 12"/>
          <p:cNvSpPr/>
          <p:nvPr/>
        </p:nvSpPr>
        <p:spPr>
          <a:xfrm>
            <a:off x="812800" y="335022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470870"/>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15" name="TextBox 14"/>
          <p:cNvSpPr txBox="1"/>
          <p:nvPr/>
        </p:nvSpPr>
        <p:spPr>
          <a:xfrm>
            <a:off x="1778000" y="3724870"/>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16" name="Rectangle 15"/>
          <p:cNvSpPr/>
          <p:nvPr/>
        </p:nvSpPr>
        <p:spPr>
          <a:xfrm>
            <a:off x="812800" y="409317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213820"/>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8" name="TextBox 17"/>
          <p:cNvSpPr txBox="1"/>
          <p:nvPr/>
        </p:nvSpPr>
        <p:spPr>
          <a:xfrm>
            <a:off x="1778000" y="4467820"/>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9" name="TextBox 18"/>
          <p:cNvSpPr txBox="1"/>
          <p:nvPr/>
        </p:nvSpPr>
        <p:spPr>
          <a:xfrm>
            <a:off x="812800" y="5346898"/>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randomiseert, met verzegelde enveloppen.</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Wie u aanspreekt</a:t>
            </a:r>
          </a:p>
        </p:txBody>
      </p:sp>
      <p:pic>
        <p:nvPicPr>
          <p:cNvPr id="3" name="Picture 2" descr="a6c090e5bb20bd65f24d045ad3a5b4b9.png"/>
          <p:cNvPicPr>
            <a:picLocks noChangeAspect="1"/>
          </p:cNvPicPr>
          <p:nvPr/>
        </p:nvPicPr>
        <p:blipFill>
          <a:blip r:embed="rId2"/>
          <a:stretch>
            <a:fillRect/>
          </a:stretch>
        </p:blipFill>
        <p:spPr>
          <a:xfrm>
            <a:off x="812800" y="1671241"/>
            <a:ext cx="1397000" cy="1397000"/>
          </a:xfrm>
          <a:prstGeom prst="rect">
            <a:avLst/>
          </a:prstGeom>
        </p:spPr>
      </p:pic>
      <p:sp>
        <p:nvSpPr>
          <p:cNvPr id="4" name="TextBox 3"/>
          <p:cNvSpPr txBox="1"/>
          <p:nvPr/>
        </p:nvSpPr>
        <p:spPr>
          <a:xfrm>
            <a:off x="812800" y="3233341"/>
            <a:ext cx="3268067" cy="198120"/>
          </a:xfrm>
          <a:prstGeom prst="rect">
            <a:avLst/>
          </a:prstGeom>
          <a:noFill/>
        </p:spPr>
        <p:txBody>
          <a:bodyPr wrap="none" lIns="0" rIns="0" tIns="0" bIns="0" anchor="t">
            <a:noAutofit/>
          </a:bodyPr>
          <a:lstStyle/>
          <a:p>
            <a:pPr algn="l"/>
            <a:r>
              <a:rPr sz="1200" b="1" i="0">
                <a:solidFill>
                  <a:srgbClr val="0B6E8F"/>
                </a:solidFill>
                <a:latin typeface="DM Sans"/>
              </a:rPr>
              <a:t>PhD A</a:t>
            </a:r>
          </a:p>
        </p:txBody>
      </p:sp>
      <p:sp>
        <p:nvSpPr>
          <p:cNvPr id="5" name="TextBox 4"/>
          <p:cNvSpPr txBox="1"/>
          <p:nvPr/>
        </p:nvSpPr>
        <p:spPr>
          <a:xfrm>
            <a:off x="812800" y="3506391"/>
            <a:ext cx="3268067" cy="306705"/>
          </a:xfrm>
          <a:prstGeom prst="rect">
            <a:avLst/>
          </a:prstGeom>
          <a:noFill/>
        </p:spPr>
        <p:txBody>
          <a:bodyPr wrap="none" lIns="0" rIns="0" tIns="0" bIns="0" anchor="t">
            <a:noAutofit/>
          </a:bodyPr>
          <a:lstStyle/>
          <a:p>
            <a:pPr algn="l">
              <a:lnSpc>
                <a:spcPts val="2415"/>
              </a:lnSpc>
            </a:pPr>
            <a:r>
              <a:rPr sz="2300" b="0" i="0">
                <a:solidFill>
                  <a:srgbClr val="0A2540"/>
                </a:solidFill>
                <a:latin typeface="DM Serif Display"/>
              </a:rPr>
              <a:t>Janou De Buyser</a:t>
            </a:r>
          </a:p>
        </p:txBody>
      </p:sp>
      <p:sp>
        <p:nvSpPr>
          <p:cNvPr id="6" name="Rectangle 5"/>
          <p:cNvSpPr/>
          <p:nvPr/>
        </p:nvSpPr>
        <p:spPr>
          <a:xfrm>
            <a:off x="812800" y="4176216"/>
            <a:ext cx="321726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889276"/>
            <a:ext cx="3268067"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doctoraatsonderzoeker</a:t>
            </a:r>
          </a:p>
        </p:txBody>
      </p:sp>
      <p:sp>
        <p:nvSpPr>
          <p:cNvPr id="8" name="TextBox 7"/>
          <p:cNvSpPr txBox="1"/>
          <p:nvPr/>
        </p:nvSpPr>
        <p:spPr>
          <a:xfrm>
            <a:off x="812800" y="4258766"/>
            <a:ext cx="3281613" cy="445691"/>
          </a:xfrm>
          <a:prstGeom prst="rect">
            <a:avLst/>
          </a:prstGeom>
          <a:noFill/>
        </p:spPr>
        <p:txBody>
          <a:bodyPr wrap="square" lIns="0" rIns="0" t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Brugge, Gent en Kortrijk</a:t>
            </a:r>
          </a:p>
        </p:txBody>
      </p:sp>
      <p:sp>
        <p:nvSpPr>
          <p:cNvPr id="9" name="TextBox 8"/>
          <p:cNvSpPr txBox="1"/>
          <p:nvPr/>
        </p:nvSpPr>
        <p:spPr>
          <a:xfrm>
            <a:off x="812800" y="4780657"/>
            <a:ext cx="3281613" cy="445691"/>
          </a:xfrm>
          <a:prstGeom prst="rect">
            <a:avLst/>
          </a:prstGeom>
          <a:noFill/>
        </p:spPr>
        <p:txBody>
          <a:bodyPr wrap="square" lIns="0" rIns="0" t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Leuven, Aalst en Antwerpen</a:t>
            </a:r>
          </a:p>
        </p:txBody>
      </p:sp>
      <p:sp>
        <p:nvSpPr>
          <p:cNvPr id="10" name="TextBox 9"/>
          <p:cNvSpPr txBox="1"/>
          <p:nvPr/>
        </p:nvSpPr>
        <p:spPr>
          <a:xfrm>
            <a:off x="812800" y="5302548"/>
            <a:ext cx="3281613" cy="445691"/>
          </a:xfrm>
          <a:prstGeom prst="rect">
            <a:avLst/>
          </a:prstGeom>
          <a:noFill/>
        </p:spPr>
        <p:txBody>
          <a:bodyPr wrap="square" lIns="0" rIns="0" tIns="0" bIns="0" anchor="t">
            <a:noAutofit/>
          </a:bodyPr>
          <a:lstStyle/>
          <a:p>
            <a:pPr algn="l">
              <a:lnSpc>
                <a:spcPts val="1755"/>
              </a:lnSpc>
            </a:pPr>
            <a:r>
              <a:rPr sz="1350" b="1" i="0">
                <a:solidFill>
                  <a:srgbClr val="0A2540"/>
                </a:solidFill>
                <a:latin typeface="DM Sans"/>
              </a:rPr>
              <a:t>Opleiding</a:t>
            </a:r>
            <a:r>
              <a:rPr sz="1350" b="0" i="0">
                <a:solidFill>
                  <a:srgbClr val="0A2540"/>
                </a:solidFill>
                <a:latin typeface="DM Sans"/>
              </a:rPr>
              <a:t>: theorie, technologie, datacollectie en droogloop</a:t>
            </a:r>
          </a:p>
        </p:txBody>
      </p:sp>
      <p:sp>
        <p:nvSpPr>
          <p:cNvPr id="11" name="Rounded Rectangle 10"/>
          <p:cNvSpPr/>
          <p:nvPr/>
        </p:nvSpPr>
        <p:spPr>
          <a:xfrm>
            <a:off x="4487267" y="1671241"/>
            <a:ext cx="1397000" cy="1397000"/>
          </a:xfrm>
          <a:prstGeom prst="roundRect">
            <a:avLst>
              <a:gd name="adj" fmla="val 50000"/>
            </a:avLst>
          </a:prstGeom>
          <a:solidFill>
            <a:srgbClr val="FFFFFF"/>
          </a:solidFill>
          <a:ln w="254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87267" y="3233341"/>
            <a:ext cx="3268166" cy="198120"/>
          </a:xfrm>
          <a:prstGeom prst="rect">
            <a:avLst/>
          </a:prstGeom>
          <a:noFill/>
        </p:spPr>
        <p:txBody>
          <a:bodyPr wrap="none" lIns="0" rIns="0" tIns="0" bIns="0" anchor="t">
            <a:noAutofit/>
          </a:bodyPr>
          <a:lstStyle/>
          <a:p>
            <a:pPr algn="l"/>
            <a:r>
              <a:rPr sz="1200" b="1" i="0">
                <a:solidFill>
                  <a:srgbClr val="A34A00"/>
                </a:solidFill>
                <a:latin typeface="DM Sans"/>
              </a:rPr>
              <a:t>PhD B</a:t>
            </a:r>
          </a:p>
        </p:txBody>
      </p:sp>
      <p:sp>
        <p:nvSpPr>
          <p:cNvPr id="13" name="TextBox 12"/>
          <p:cNvSpPr txBox="1"/>
          <p:nvPr/>
        </p:nvSpPr>
        <p:spPr>
          <a:xfrm>
            <a:off x="4487267" y="3506391"/>
            <a:ext cx="3268166" cy="306705"/>
          </a:xfrm>
          <a:prstGeom prst="rect">
            <a:avLst/>
          </a:prstGeom>
          <a:noFill/>
        </p:spPr>
        <p:txBody>
          <a:bodyPr wrap="none" lIns="0" rIns="0" tIns="0" bIns="0" anchor="t">
            <a:noAutofit/>
          </a:bodyPr>
          <a:lstStyle/>
          <a:p>
            <a:pPr algn="l">
              <a:lnSpc>
                <a:spcPts val="2415"/>
              </a:lnSpc>
            </a:pPr>
            <a:r>
              <a:rPr sz="2300" b="0" i="0">
                <a:solidFill>
                  <a:srgbClr val="0A2540"/>
                </a:solidFill>
                <a:latin typeface="DM Serif Display"/>
              </a:rPr>
              <a:t>nog te selecteren</a:t>
            </a:r>
          </a:p>
        </p:txBody>
      </p:sp>
      <p:sp>
        <p:nvSpPr>
          <p:cNvPr id="14" name="Rectangle 13"/>
          <p:cNvSpPr/>
          <p:nvPr/>
        </p:nvSpPr>
        <p:spPr>
          <a:xfrm>
            <a:off x="4487267"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7267" y="3889276"/>
            <a:ext cx="3268166"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doctoraatsonderzoeker</a:t>
            </a:r>
          </a:p>
        </p:txBody>
      </p:sp>
      <p:sp>
        <p:nvSpPr>
          <p:cNvPr id="16" name="TextBox 15"/>
          <p:cNvSpPr txBox="1"/>
          <p:nvPr/>
        </p:nvSpPr>
        <p:spPr>
          <a:xfrm>
            <a:off x="4487267" y="4258766"/>
            <a:ext cx="3281714" cy="445691"/>
          </a:xfrm>
          <a:prstGeom prst="rect">
            <a:avLst/>
          </a:prstGeom>
          <a:noFill/>
        </p:spPr>
        <p:txBody>
          <a:bodyPr wrap="square" lIns="0" rIns="0" t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Aalst, Leuven en Antwerpen</a:t>
            </a:r>
          </a:p>
        </p:txBody>
      </p:sp>
      <p:sp>
        <p:nvSpPr>
          <p:cNvPr id="17" name="TextBox 16"/>
          <p:cNvSpPr txBox="1"/>
          <p:nvPr/>
        </p:nvSpPr>
        <p:spPr>
          <a:xfrm>
            <a:off x="4487267" y="4780657"/>
            <a:ext cx="3281714" cy="445691"/>
          </a:xfrm>
          <a:prstGeom prst="rect">
            <a:avLst/>
          </a:prstGeom>
          <a:noFill/>
        </p:spPr>
        <p:txBody>
          <a:bodyPr wrap="square" lIns="0" rIns="0" t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Brugge, Gent en Kortrijk</a:t>
            </a:r>
          </a:p>
        </p:txBody>
      </p:sp>
      <p:pic>
        <p:nvPicPr>
          <p:cNvPr id="18" name="Picture 17" descr="12e6f0653de5aa4c76ee29f03afe4abc.png"/>
          <p:cNvPicPr>
            <a:picLocks noChangeAspect="1"/>
          </p:cNvPicPr>
          <p:nvPr/>
        </p:nvPicPr>
        <p:blipFill>
          <a:blip r:embed="rId3"/>
          <a:stretch>
            <a:fillRect/>
          </a:stretch>
        </p:blipFill>
        <p:spPr>
          <a:xfrm>
            <a:off x="8161834" y="1671241"/>
            <a:ext cx="1397000" cy="1397000"/>
          </a:xfrm>
          <a:prstGeom prst="rect">
            <a:avLst/>
          </a:prstGeom>
        </p:spPr>
      </p:pic>
      <p:sp>
        <p:nvSpPr>
          <p:cNvPr id="19" name="TextBox 18"/>
          <p:cNvSpPr txBox="1"/>
          <p:nvPr/>
        </p:nvSpPr>
        <p:spPr>
          <a:xfrm>
            <a:off x="8161834" y="3233341"/>
            <a:ext cx="3268166" cy="198120"/>
          </a:xfrm>
          <a:prstGeom prst="rect">
            <a:avLst/>
          </a:prstGeom>
          <a:noFill/>
        </p:spPr>
        <p:txBody>
          <a:bodyPr wrap="none" lIns="0" rIns="0" tIns="0" bIns="0" anchor="t">
            <a:noAutofit/>
          </a:bodyPr>
          <a:lstStyle/>
          <a:p>
            <a:pPr algn="l"/>
            <a:r>
              <a:rPr sz="1200" b="1" i="0">
                <a:solidFill>
                  <a:srgbClr val="00407A"/>
                </a:solidFill>
                <a:latin typeface="DM Sans"/>
              </a:rPr>
              <a:t>Labmanager</a:t>
            </a:r>
          </a:p>
        </p:txBody>
      </p:sp>
      <p:sp>
        <p:nvSpPr>
          <p:cNvPr id="20" name="TextBox 19"/>
          <p:cNvSpPr txBox="1"/>
          <p:nvPr/>
        </p:nvSpPr>
        <p:spPr>
          <a:xfrm>
            <a:off x="8161834" y="3506391"/>
            <a:ext cx="3268166" cy="306705"/>
          </a:xfrm>
          <a:prstGeom prst="rect">
            <a:avLst/>
          </a:prstGeom>
          <a:noFill/>
        </p:spPr>
        <p:txBody>
          <a:bodyPr wrap="none" lIns="0" rIns="0" tIns="0" bIns="0" anchor="t">
            <a:noAutofit/>
          </a:bodyPr>
          <a:lstStyle/>
          <a:p>
            <a:pPr algn="l">
              <a:lnSpc>
                <a:spcPts val="2415"/>
              </a:lnSpc>
            </a:pPr>
            <a:r>
              <a:rPr sz="2300" b="0" i="0">
                <a:solidFill>
                  <a:srgbClr val="0A2540"/>
                </a:solidFill>
                <a:latin typeface="DM Serif Display"/>
              </a:rPr>
              <a:t>Gillian Debra</a:t>
            </a:r>
          </a:p>
        </p:txBody>
      </p:sp>
      <p:sp>
        <p:nvSpPr>
          <p:cNvPr id="21" name="Rectangle 20"/>
          <p:cNvSpPr/>
          <p:nvPr/>
        </p:nvSpPr>
        <p:spPr>
          <a:xfrm>
            <a:off x="8161834"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834" y="3889276"/>
            <a:ext cx="3268166"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regelgeving en studiedossier</a:t>
            </a:r>
          </a:p>
        </p:txBody>
      </p:sp>
      <p:sp>
        <p:nvSpPr>
          <p:cNvPr id="23" name="TextBox 22"/>
          <p:cNvSpPr txBox="1"/>
          <p:nvPr/>
        </p:nvSpPr>
        <p:spPr>
          <a:xfrm>
            <a:off x="8161834" y="4258766"/>
            <a:ext cx="3268166" cy="222885"/>
          </a:xfrm>
          <a:prstGeom prst="rect">
            <a:avLst/>
          </a:prstGeom>
          <a:noFill/>
        </p:spPr>
        <p:txBody>
          <a:bodyPr wrap="none" lIns="0" rIns="0" tIns="0" bIns="0" anchor="t">
            <a:noAutofit/>
          </a:bodyPr>
          <a:lstStyle/>
          <a:p>
            <a:pPr algn="l">
              <a:lnSpc>
                <a:spcPts val="1755"/>
              </a:lnSpc>
            </a:pPr>
            <a:r>
              <a:rPr sz="1350" b="1" i="0">
                <a:solidFill>
                  <a:srgbClr val="0A2540"/>
                </a:solidFill>
                <a:latin typeface="DM Sans"/>
              </a:rPr>
              <a:t>Trial master file</a:t>
            </a:r>
            <a:r>
              <a:rPr sz="1350" b="0" i="0">
                <a:solidFill>
                  <a:srgbClr val="0A2540"/>
                </a:solidFill>
                <a:latin typeface="DM Sans"/>
              </a:rPr>
              <a:t> (TMF)</a:t>
            </a:r>
          </a:p>
        </p:txBody>
      </p:sp>
      <p:sp>
        <p:nvSpPr>
          <p:cNvPr id="24" name="TextBox 23"/>
          <p:cNvSpPr txBox="1"/>
          <p:nvPr/>
        </p:nvSpPr>
        <p:spPr>
          <a:xfrm>
            <a:off x="8161834" y="4557812"/>
            <a:ext cx="3268166" cy="222885"/>
          </a:xfrm>
          <a:prstGeom prst="rect">
            <a:avLst/>
          </a:prstGeom>
          <a:noFill/>
        </p:spPr>
        <p:txBody>
          <a:bodyPr wrap="none" lIns="0" rIns="0" tIns="0" bIns="0" anchor="t">
            <a:noAutofit/>
          </a:bodyPr>
          <a:lstStyle/>
          <a:p>
            <a:pPr algn="l">
              <a:lnSpc>
                <a:spcPts val="1755"/>
              </a:lnSpc>
            </a:pPr>
            <a:r>
              <a:rPr sz="1350" b="1" i="0">
                <a:solidFill>
                  <a:srgbClr val="0A2540"/>
                </a:solidFill>
                <a:latin typeface="DM Sans"/>
              </a:rPr>
              <a:t>Ethische comités</a:t>
            </a:r>
            <a:r>
              <a:rPr sz="1350" b="0" i="0">
                <a:solidFill>
                  <a:srgbClr val="0A2540"/>
                </a:solidFill>
                <a:latin typeface="DM Sans"/>
              </a:rPr>
              <a:t> (EC)</a:t>
            </a:r>
          </a:p>
        </p:txBody>
      </p:sp>
      <p:sp>
        <p:nvSpPr>
          <p:cNvPr id="25" name="TextBox 24"/>
          <p:cNvSpPr txBox="1"/>
          <p:nvPr/>
        </p:nvSpPr>
        <p:spPr>
          <a:xfrm>
            <a:off x="8161834" y="4856857"/>
            <a:ext cx="3268166" cy="222885"/>
          </a:xfrm>
          <a:prstGeom prst="rect">
            <a:avLst/>
          </a:prstGeom>
          <a:noFill/>
        </p:spPr>
        <p:txBody>
          <a:bodyPr wrap="none" lIns="0" rIns="0" tIns="0" bIns="0" anchor="t">
            <a:noAutofit/>
          </a:bodyPr>
          <a:lstStyle/>
          <a:p>
            <a:pPr algn="l">
              <a:lnSpc>
                <a:spcPts val="1755"/>
              </a:lnSpc>
            </a:pPr>
            <a:r>
              <a:rPr sz="1350" b="1" i="0">
                <a:solidFill>
                  <a:srgbClr val="0A2540"/>
                </a:solidFill>
                <a:latin typeface="DM Sans"/>
              </a:rPr>
              <a:t>FAGG</a:t>
            </a:r>
          </a:p>
        </p:txBody>
      </p:sp>
      <p:pic>
        <p:nvPicPr>
          <p:cNvPr id="26" name="Picture 25"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Waar we staan</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studieteam, 8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AZ Groeninge vandaag</a:t>
            </a:r>
          </a:p>
        </p:txBody>
      </p:sp>
      <p:sp>
        <p:nvSpPr>
          <p:cNvPr id="4" name="Rectangle 3"/>
          <p:cNvSpPr/>
          <p:nvPr/>
        </p:nvSpPr>
        <p:spPr>
          <a:xfrm>
            <a:off x="812800" y="156964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791891"/>
            <a:ext cx="2146300" cy="215900"/>
          </a:xfrm>
          <a:prstGeom prst="rect">
            <a:avLst/>
          </a:prstGeom>
          <a:noFill/>
        </p:spPr>
        <p:txBody>
          <a:bodyPr wrap="none" lIns="0" rIns="0" tIns="0" bIns="0" anchor="t">
            <a:noAutofit/>
          </a:bodyPr>
          <a:lstStyle/>
          <a:p>
            <a:pPr algn="l"/>
            <a:r>
              <a:rPr sz="1300" b="1" i="0">
                <a:solidFill>
                  <a:srgbClr val="0B6E8F"/>
                </a:solidFill>
                <a:latin typeface="DM Sans"/>
              </a:rPr>
              <a:t>Ethische goedkeuring</a:t>
            </a:r>
          </a:p>
        </p:txBody>
      </p:sp>
      <p:sp>
        <p:nvSpPr>
          <p:cNvPr id="6" name="TextBox 5"/>
          <p:cNvSpPr txBox="1"/>
          <p:nvPr/>
        </p:nvSpPr>
        <p:spPr>
          <a:xfrm>
            <a:off x="3213100" y="1702991"/>
            <a:ext cx="8216900" cy="321310"/>
          </a:xfrm>
          <a:prstGeom prst="rect">
            <a:avLst/>
          </a:prstGeom>
          <a:noFill/>
        </p:spPr>
        <p:txBody>
          <a:bodyPr wrap="none" lIns="0" rIns="0" tIns="0" bIns="0" anchor="t">
            <a:noAutofit/>
          </a:bodyPr>
          <a:lstStyle/>
          <a:p>
            <a:pPr algn="l">
              <a:lnSpc>
                <a:spcPts val="2530"/>
              </a:lnSpc>
            </a:pPr>
            <a:r>
              <a:rPr sz="2200" b="0" i="0">
                <a:solidFill>
                  <a:srgbClr val="0A2540"/>
                </a:solidFill>
                <a:latin typeface="DM Serif Display"/>
              </a:rPr>
              <a:t>Ingediend en volledig</a:t>
            </a:r>
          </a:p>
        </p:txBody>
      </p:sp>
      <p:sp>
        <p:nvSpPr>
          <p:cNvPr id="7" name="TextBox 6"/>
          <p:cNvSpPr txBox="1"/>
          <p:nvPr/>
        </p:nvSpPr>
        <p:spPr>
          <a:xfrm>
            <a:off x="3213100" y="2075061"/>
            <a:ext cx="8329422"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bij de externe diensten voor feedback · centraal wachten de EC van UZ Leuven en het FAGG op de lokale CTC's</a:t>
            </a:r>
          </a:p>
        </p:txBody>
      </p:sp>
      <p:pic>
        <p:nvPicPr>
          <p:cNvPr id="8" name="Picture 7" descr="7006ea103c3e8fa9006c500fec1a0272.png"/>
          <p:cNvPicPr>
            <a:picLocks noChangeAspect="1"/>
          </p:cNvPicPr>
          <p:nvPr/>
        </p:nvPicPr>
        <p:blipFill>
          <a:blip r:embed="rId2"/>
          <a:stretch>
            <a:fillRect/>
          </a:stretch>
        </p:blipFill>
        <p:spPr>
          <a:xfrm>
            <a:off x="1266825" y="2774752"/>
            <a:ext cx="2444750" cy="1778000"/>
          </a:xfrm>
          <a:prstGeom prst="rect">
            <a:avLst/>
          </a:prstGeom>
        </p:spPr>
      </p:pic>
      <p:sp>
        <p:nvSpPr>
          <p:cNvPr id="9" name="TextBox 8"/>
          <p:cNvSpPr txBox="1"/>
          <p:nvPr/>
        </p:nvSpPr>
        <p:spPr>
          <a:xfrm>
            <a:off x="812800" y="4667052"/>
            <a:ext cx="3403600" cy="266700"/>
          </a:xfrm>
          <a:prstGeom prst="rect">
            <a:avLst/>
          </a:prstGeom>
          <a:noFill/>
        </p:spPr>
        <p:txBody>
          <a:bodyPr wrap="none" lIns="0" rIns="0" tIns="0" bIns="0" anchor="t">
            <a:noAutofit/>
          </a:bodyPr>
          <a:lstStyle/>
          <a:p>
            <a:pPr algn="l"/>
            <a:r>
              <a:rPr sz="1600" b="1" i="0">
                <a:solidFill>
                  <a:srgbClr val="0A2540"/>
                </a:solidFill>
                <a:latin typeface="DM Sans"/>
              </a:rPr>
              <a:t>Novel pedar</a:t>
            </a:r>
          </a:p>
        </p:txBody>
      </p:sp>
      <p:sp>
        <p:nvSpPr>
          <p:cNvPr id="10" name="TextBox 9"/>
          <p:cNvSpPr txBox="1"/>
          <p:nvPr/>
        </p:nvSpPr>
        <p:spPr>
          <a:xfrm>
            <a:off x="812800" y="5009952"/>
            <a:ext cx="3403600"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aanwezig · </a:t>
            </a:r>
            <a:r>
              <a:rPr sz="1300" b="0" i="0">
                <a:solidFill>
                  <a:srgbClr val="A34A00"/>
                </a:solidFill>
                <a:latin typeface="DM Sans"/>
              </a:rPr>
              <a:t>installatie vóór 2 december</a:t>
            </a:r>
          </a:p>
        </p:txBody>
      </p:sp>
      <p:pic>
        <p:nvPicPr>
          <p:cNvPr id="11" name="Picture 10" descr="c3433b372cfc1d99d6ab11119954a595.png"/>
          <p:cNvPicPr>
            <a:picLocks noChangeAspect="1"/>
          </p:cNvPicPr>
          <p:nvPr/>
        </p:nvPicPr>
        <p:blipFill>
          <a:blip r:embed="rId3"/>
          <a:stretch>
            <a:fillRect/>
          </a:stretch>
        </p:blipFill>
        <p:spPr>
          <a:xfrm>
            <a:off x="4873625" y="2774752"/>
            <a:ext cx="2444750" cy="1778000"/>
          </a:xfrm>
          <a:prstGeom prst="rect">
            <a:avLst/>
          </a:prstGeom>
        </p:spPr>
      </p:pic>
      <p:sp>
        <p:nvSpPr>
          <p:cNvPr id="12" name="TextBox 11"/>
          <p:cNvSpPr txBox="1"/>
          <p:nvPr/>
        </p:nvSpPr>
        <p:spPr>
          <a:xfrm>
            <a:off x="4419600" y="4667052"/>
            <a:ext cx="3403600" cy="266700"/>
          </a:xfrm>
          <a:prstGeom prst="rect">
            <a:avLst/>
          </a:prstGeom>
          <a:noFill/>
        </p:spPr>
        <p:txBody>
          <a:bodyPr wrap="none" lIns="0" rIns="0" tIns="0" bIns="0" anchor="t">
            <a:noAutofit/>
          </a:bodyPr>
          <a:lstStyle/>
          <a:p>
            <a:pPr algn="l"/>
            <a:r>
              <a:rPr sz="1600" b="1" i="0">
                <a:solidFill>
                  <a:srgbClr val="0A2540"/>
                </a:solidFill>
                <a:latin typeface="DM Sans"/>
              </a:rPr>
              <a:t>MoveMonitor</a:t>
            </a:r>
          </a:p>
        </p:txBody>
      </p:sp>
      <p:sp>
        <p:nvSpPr>
          <p:cNvPr id="13" name="TextBox 12"/>
          <p:cNvSpPr txBox="1"/>
          <p:nvPr/>
        </p:nvSpPr>
        <p:spPr>
          <a:xfrm>
            <a:off x="4419600" y="5009952"/>
            <a:ext cx="3403600"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aanwezig · vier stuks</a:t>
            </a:r>
          </a:p>
        </p:txBody>
      </p:sp>
      <p:pic>
        <p:nvPicPr>
          <p:cNvPr id="14" name="Picture 13" descr="fd222c2b5b39e2cb237c513a9738b5ab.png"/>
          <p:cNvPicPr>
            <a:picLocks noChangeAspect="1"/>
          </p:cNvPicPr>
          <p:nvPr/>
        </p:nvPicPr>
        <p:blipFill>
          <a:blip r:embed="rId4"/>
          <a:stretch>
            <a:fillRect/>
          </a:stretch>
        </p:blipFill>
        <p:spPr>
          <a:xfrm>
            <a:off x="8026400" y="2774752"/>
            <a:ext cx="3352800" cy="1778000"/>
          </a:xfrm>
          <a:prstGeom prst="rect">
            <a:avLst/>
          </a:prstGeom>
        </p:spPr>
      </p:pic>
      <p:sp>
        <p:nvSpPr>
          <p:cNvPr id="15" name="TextBox 14"/>
          <p:cNvSpPr txBox="1"/>
          <p:nvPr/>
        </p:nvSpPr>
        <p:spPr>
          <a:xfrm>
            <a:off x="8026400" y="4667052"/>
            <a:ext cx="3403600" cy="266700"/>
          </a:xfrm>
          <a:prstGeom prst="rect">
            <a:avLst/>
          </a:prstGeom>
          <a:noFill/>
        </p:spPr>
        <p:txBody>
          <a:bodyPr wrap="none" lIns="0" rIns="0" tIns="0" bIns="0" anchor="t">
            <a:noAutofit/>
          </a:bodyPr>
          <a:lstStyle/>
          <a:p>
            <a:pPr algn="l"/>
            <a:r>
              <a:rPr sz="1600" b="1" i="0">
                <a:solidFill>
                  <a:srgbClr val="0A2540"/>
                </a:solidFill>
                <a:latin typeface="DM Sans"/>
              </a:rPr>
              <a:t>Orthotimer</a:t>
            </a:r>
          </a:p>
        </p:txBody>
      </p:sp>
      <p:sp>
        <p:nvSpPr>
          <p:cNvPr id="16" name="TextBox 15"/>
          <p:cNvSpPr txBox="1"/>
          <p:nvPr/>
        </p:nvSpPr>
        <p:spPr>
          <a:xfrm>
            <a:off x="8026400" y="5009952"/>
            <a:ext cx="3403600"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aanwezig · sensoren en uitleespen</a:t>
            </a:r>
          </a:p>
        </p:txBody>
      </p:sp>
      <p:pic>
        <p:nvPicPr>
          <p:cNvPr id="17" name="Picture 1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8" name="TextBox 1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Waar we staan</a:t>
            </a:r>
          </a:p>
        </p:txBody>
      </p:sp>
      <p:sp>
        <p:nvSpPr>
          <p:cNvPr id="19" name="TextBox 1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pic>
        <p:nvPicPr>
          <p:cNvPr id="2" name="Picture 1" descr="4e287ae005ab9f8997461f000820af22.png"/>
          <p:cNvPicPr>
            <a:picLocks noChangeAspect="1"/>
          </p:cNvPicPr>
          <p:nvPr/>
        </p:nvPicPr>
        <p:blipFill>
          <a:blip r:embed="rId2"/>
          <a:stretch>
            <a:fillRect/>
          </a:stretch>
        </p:blipFill>
        <p:spPr>
          <a:xfrm>
            <a:off x="7874000" y="0"/>
            <a:ext cx="6388100" cy="7302500"/>
          </a:xfrm>
          <a:prstGeom prst="rect">
            <a:avLst/>
          </a:prstGeom>
        </p:spPr>
      </p:pic>
      <p:sp>
        <p:nvSpPr>
          <p:cNvPr id="3" name="Rounded Rectangle 2"/>
          <p:cNvSpPr/>
          <p:nvPr/>
        </p:nvSpPr>
        <p:spPr>
          <a:xfrm>
            <a:off x="8128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8f5a364bd78bb1a03e64718e5c9b51ca.png"/>
          <p:cNvPicPr>
            <a:picLocks noChangeAspect="1"/>
          </p:cNvPicPr>
          <p:nvPr/>
        </p:nvPicPr>
        <p:blipFill>
          <a:blip r:embed="rId3"/>
          <a:stretch>
            <a:fillRect/>
          </a:stretch>
        </p:blipFill>
        <p:spPr>
          <a:xfrm>
            <a:off x="819150" y="2800350"/>
            <a:ext cx="2476500" cy="1393031"/>
          </a:xfrm>
          <a:prstGeom prst="rect">
            <a:avLst/>
          </a:prstGeom>
        </p:spPr>
      </p:pic>
      <p:sp>
        <p:nvSpPr>
          <p:cNvPr id="5" name="Rounded Rectangle 4"/>
          <p:cNvSpPr/>
          <p:nvPr/>
        </p:nvSpPr>
        <p:spPr>
          <a:xfrm>
            <a:off x="8128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128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1 Waar we staan</a:t>
            </a:r>
          </a:p>
        </p:txBody>
      </p:sp>
      <p:pic>
        <p:nvPicPr>
          <p:cNvPr id="7" name="Picture 6" descr="6065f46649de790bfd2c66bd4e0bc395.png"/>
          <p:cNvPicPr>
            <a:picLocks noChangeAspect="1"/>
          </p:cNvPicPr>
          <p:nvPr/>
        </p:nvPicPr>
        <p:blipFill>
          <a:blip r:embed="rId4"/>
          <a:stretch>
            <a:fillRect/>
          </a:stretch>
        </p:blipFill>
        <p:spPr>
          <a:xfrm>
            <a:off x="3683000" y="2616200"/>
            <a:ext cx="2133600" cy="1200150"/>
          </a:xfrm>
          <a:prstGeom prst="rect">
            <a:avLst/>
          </a:prstGeom>
        </p:spPr>
      </p:pic>
      <p:pic>
        <p:nvPicPr>
          <p:cNvPr id="8" name="Picture 7" descr="a4cbeb2a007ac1feafda7680c7f0aa56.png"/>
          <p:cNvPicPr>
            <a:picLocks noChangeAspect="1"/>
          </p:cNvPicPr>
          <p:nvPr/>
        </p:nvPicPr>
        <p:blipFill>
          <a:blip r:embed="rId5"/>
          <a:stretch>
            <a:fillRect/>
          </a:stretch>
        </p:blipFill>
        <p:spPr>
          <a:xfrm>
            <a:off x="3594100" y="2705100"/>
            <a:ext cx="2311400" cy="1301750"/>
          </a:xfrm>
          <a:prstGeom prst="rect">
            <a:avLst/>
          </a:prstGeom>
        </p:spPr>
      </p:pic>
      <p:sp>
        <p:nvSpPr>
          <p:cNvPr id="9" name="Rounded Rectangle 8"/>
          <p:cNvSpPr/>
          <p:nvPr/>
        </p:nvSpPr>
        <p:spPr>
          <a:xfrm>
            <a:off x="3505200" y="27940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626ffe89d287ff5eaf9111d59a37c71.png"/>
          <p:cNvPicPr>
            <a:picLocks noChangeAspect="1"/>
          </p:cNvPicPr>
          <p:nvPr/>
        </p:nvPicPr>
        <p:blipFill>
          <a:blip r:embed="rId6"/>
          <a:stretch>
            <a:fillRect/>
          </a:stretch>
        </p:blipFill>
        <p:spPr>
          <a:xfrm>
            <a:off x="3524250" y="2813050"/>
            <a:ext cx="2451100" cy="1378744"/>
          </a:xfrm>
          <a:prstGeom prst="rect">
            <a:avLst/>
          </a:prstGeom>
        </p:spPr>
      </p:pic>
      <p:sp>
        <p:nvSpPr>
          <p:cNvPr id="11" name="TextBox 10"/>
          <p:cNvSpPr txBox="1"/>
          <p:nvPr/>
        </p:nvSpPr>
        <p:spPr>
          <a:xfrm>
            <a:off x="3505200" y="4279900"/>
            <a:ext cx="2540000" cy="213360"/>
          </a:xfrm>
          <a:prstGeom prst="rect">
            <a:avLst/>
          </a:prstGeom>
          <a:noFill/>
        </p:spPr>
        <p:txBody>
          <a:bodyPr wrap="none" lIns="0" rIns="0" tIns="0" bIns="0" anchor="t">
            <a:noAutofit/>
          </a:bodyPr>
          <a:lstStyle/>
          <a:p>
            <a:pPr algn="l">
              <a:lnSpc>
                <a:spcPts val="1680"/>
              </a:lnSpc>
            </a:pPr>
            <a:r>
              <a:rPr sz="1400" b="0" i="0">
                <a:solidFill>
                  <a:srgbClr val="A34A00"/>
                </a:solidFill>
                <a:latin typeface="DM Sans"/>
              </a:rPr>
              <a:t>2 De twee normen</a:t>
            </a:r>
          </a:p>
        </p:txBody>
      </p:sp>
      <p:pic>
        <p:nvPicPr>
          <p:cNvPr id="12" name="Picture 11" descr="d637644dfb17d408b1612e6ce29a4c90.png"/>
          <p:cNvPicPr>
            <a:picLocks noChangeAspect="1"/>
          </p:cNvPicPr>
          <p:nvPr/>
        </p:nvPicPr>
        <p:blipFill>
          <a:blip r:embed="rId7"/>
          <a:stretch>
            <a:fillRect/>
          </a:stretch>
        </p:blipFill>
        <p:spPr>
          <a:xfrm>
            <a:off x="6375400" y="2616200"/>
            <a:ext cx="2133600" cy="1200150"/>
          </a:xfrm>
          <a:prstGeom prst="rect">
            <a:avLst/>
          </a:prstGeom>
        </p:spPr>
      </p:pic>
      <p:pic>
        <p:nvPicPr>
          <p:cNvPr id="13" name="Picture 12" descr="044714e05088d05ecc779bea37a6d2a3.png"/>
          <p:cNvPicPr>
            <a:picLocks noChangeAspect="1"/>
          </p:cNvPicPr>
          <p:nvPr/>
        </p:nvPicPr>
        <p:blipFill>
          <a:blip r:embed="rId8"/>
          <a:stretch>
            <a:fillRect/>
          </a:stretch>
        </p:blipFill>
        <p:spPr>
          <a:xfrm>
            <a:off x="6286500" y="2705100"/>
            <a:ext cx="2311400" cy="1301750"/>
          </a:xfrm>
          <a:prstGeom prst="rect">
            <a:avLst/>
          </a:prstGeom>
        </p:spPr>
      </p:pic>
      <p:sp>
        <p:nvSpPr>
          <p:cNvPr id="14" name="Rounded Rectangle 13"/>
          <p:cNvSpPr/>
          <p:nvPr/>
        </p:nvSpPr>
        <p:spPr>
          <a:xfrm>
            <a:off x="61976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ef2004349ab66d8e00dcd64e773bea7e.png"/>
          <p:cNvPicPr>
            <a:picLocks noChangeAspect="1"/>
          </p:cNvPicPr>
          <p:nvPr/>
        </p:nvPicPr>
        <p:blipFill>
          <a:blip r:embed="rId9"/>
          <a:stretch>
            <a:fillRect/>
          </a:stretch>
        </p:blipFill>
        <p:spPr>
          <a:xfrm>
            <a:off x="6203950" y="2800350"/>
            <a:ext cx="2476500" cy="1393031"/>
          </a:xfrm>
          <a:prstGeom prst="rect">
            <a:avLst/>
          </a:prstGeom>
        </p:spPr>
      </p:pic>
      <p:sp>
        <p:nvSpPr>
          <p:cNvPr id="16" name="TextBox 15"/>
          <p:cNvSpPr txBox="1"/>
          <p:nvPr/>
        </p:nvSpPr>
        <p:spPr>
          <a:xfrm>
            <a:off x="61976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3 In uw kliniek</a:t>
            </a:r>
          </a:p>
        </p:txBody>
      </p:sp>
      <p:pic>
        <p:nvPicPr>
          <p:cNvPr id="17" name="Picture 16" descr="f47b2c5d55fdfa1b7561ac418fc51cae.png"/>
          <p:cNvPicPr>
            <a:picLocks noChangeAspect="1"/>
          </p:cNvPicPr>
          <p:nvPr/>
        </p:nvPicPr>
        <p:blipFill>
          <a:blip r:embed="rId10"/>
          <a:stretch>
            <a:fillRect/>
          </a:stretch>
        </p:blipFill>
        <p:spPr>
          <a:xfrm>
            <a:off x="9067800" y="2616200"/>
            <a:ext cx="2133600" cy="1200150"/>
          </a:xfrm>
          <a:prstGeom prst="rect">
            <a:avLst/>
          </a:prstGeom>
        </p:spPr>
      </p:pic>
      <p:pic>
        <p:nvPicPr>
          <p:cNvPr id="18" name="Picture 17" descr="3037ecb82de3ed48eb6cda2a03246223.png"/>
          <p:cNvPicPr>
            <a:picLocks noChangeAspect="1"/>
          </p:cNvPicPr>
          <p:nvPr/>
        </p:nvPicPr>
        <p:blipFill>
          <a:blip r:embed="rId11"/>
          <a:stretch>
            <a:fillRect/>
          </a:stretch>
        </p:blipFill>
        <p:spPr>
          <a:xfrm>
            <a:off x="8978900" y="2705100"/>
            <a:ext cx="2311400" cy="1301750"/>
          </a:xfrm>
          <a:prstGeom prst="rect">
            <a:avLst/>
          </a:prstGeom>
        </p:spPr>
      </p:pic>
      <p:sp>
        <p:nvSpPr>
          <p:cNvPr id="19" name="Rounded Rectangle 18"/>
          <p:cNvSpPr/>
          <p:nvPr/>
        </p:nvSpPr>
        <p:spPr>
          <a:xfrm>
            <a:off x="88900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688beb89a3727568ae3896cb19de0e02.png"/>
          <p:cNvPicPr>
            <a:picLocks noChangeAspect="1"/>
          </p:cNvPicPr>
          <p:nvPr/>
        </p:nvPicPr>
        <p:blipFill>
          <a:blip r:embed="rId12"/>
          <a:stretch>
            <a:fillRect/>
          </a:stretch>
        </p:blipFill>
        <p:spPr>
          <a:xfrm>
            <a:off x="8896350" y="2800350"/>
            <a:ext cx="2476500" cy="1393031"/>
          </a:xfrm>
          <a:prstGeom prst="rect">
            <a:avLst/>
          </a:prstGeom>
        </p:spPr>
      </p:pic>
      <p:sp>
        <p:nvSpPr>
          <p:cNvPr id="21" name="TextBox 20"/>
          <p:cNvSpPr txBox="1"/>
          <p:nvPr/>
        </p:nvSpPr>
        <p:spPr>
          <a:xfrm>
            <a:off x="88900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4 Naar de eerste patiënt</a:t>
            </a:r>
          </a:p>
        </p:txBody>
      </p:sp>
      <p:sp>
        <p:nvSpPr>
          <p:cNvPr id="22" name="TextBox 2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pic>
        <p:nvPicPr>
          <p:cNvPr id="23" name="Picture 22" descr="ec5c93e6f83f209b4e97ddfdecd480c8.png"/>
          <p:cNvPicPr>
            <a:picLocks noChangeAspect="1"/>
          </p:cNvPicPr>
          <p:nvPr/>
        </p:nvPicPr>
        <p:blipFill>
          <a:blip r:embed="rId13"/>
          <a:stretch>
            <a:fillRect/>
          </a:stretch>
        </p:blipFill>
        <p:spPr>
          <a:xfrm>
            <a:off x="812967" y="6261100"/>
            <a:ext cx="171116" cy="203200"/>
          </a:xfrm>
          <a:prstGeom prst="rect">
            <a:avLst/>
          </a:prstGeom>
        </p:spPr>
      </p:pic>
      <p:sp>
        <p:nvSpPr>
          <p:cNvPr id="24" name="TextBox 23"/>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5A6E80"/>
                </a:solidFill>
                <a:latin typeface="DM Sans"/>
              </a:rPr>
              <a:t>PARADISE · AZ Groeninge Kortrijk</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955800" cy="5029200"/>
          </a:xfrm>
          <a:prstGeom prst="rect">
            <a:avLst/>
          </a:prstGeom>
          <a:noFill/>
        </p:spPr>
        <p:txBody>
          <a:bodyPr wrap="square" lIns="0" rIns="0" tIns="0" bIns="0" anchor="t">
            <a:noAutofit/>
          </a:bodyPr>
          <a:lstStyle/>
          <a:p>
            <a:pPr algn="l">
              <a:lnSpc>
                <a:spcPts val="16200"/>
              </a:lnSpc>
            </a:pPr>
            <a:r>
              <a:rPr sz="18000" b="0" i="0">
                <a:solidFill>
                  <a:srgbClr val="FF9A3D"/>
                </a:solidFill>
                <a:latin typeface="DM Serif Display"/>
              </a:rPr>
              <a:t>2</a:t>
            </a:r>
          </a:p>
        </p:txBody>
      </p:sp>
      <p:sp>
        <p:nvSpPr>
          <p:cNvPr id="4" name="TextBox 3"/>
          <p:cNvSpPr txBox="1"/>
          <p:nvPr/>
        </p:nvSpPr>
        <p:spPr>
          <a:xfrm>
            <a:off x="3327400" y="812800"/>
            <a:ext cx="8102600" cy="215900"/>
          </a:xfrm>
          <a:prstGeom prst="rect">
            <a:avLst/>
          </a:prstGeom>
          <a:noFill/>
        </p:spPr>
        <p:txBody>
          <a:bodyPr wrap="none" lIns="0" rIns="0" tIns="0" bIns="0" anchor="t">
            <a:noAutofit/>
          </a:bodyPr>
          <a:lstStyle/>
          <a:p>
            <a:pPr algn="l"/>
            <a:r>
              <a:rPr sz="1300" b="1" i="0">
                <a:solidFill>
                  <a:srgbClr val="52BDEC"/>
                </a:solidFill>
                <a:latin typeface="DM Sans"/>
              </a:rPr>
              <a:t>Deel 2 van 4</a:t>
            </a:r>
          </a:p>
        </p:txBody>
      </p:sp>
      <p:sp>
        <p:nvSpPr>
          <p:cNvPr id="5" name="TextBox 4"/>
          <p:cNvSpPr txBox="1"/>
          <p:nvPr/>
        </p:nvSpPr>
        <p:spPr>
          <a:xfrm>
            <a:off x="3327400" y="1206500"/>
            <a:ext cx="8102600" cy="586740"/>
          </a:xfrm>
          <a:prstGeom prst="rect">
            <a:avLst/>
          </a:prstGeom>
          <a:noFill/>
        </p:spPr>
        <p:txBody>
          <a:bodyPr wrap="none" lIns="0" rIns="0" tIns="0" bIns="0" anchor="t">
            <a:noAutofit/>
          </a:bodyPr>
          <a:lstStyle/>
          <a:p>
            <a:pPr algn="l">
              <a:lnSpc>
                <a:spcPts val="4620"/>
              </a:lnSpc>
            </a:pPr>
            <a:r>
              <a:rPr sz="4400" b="0" i="0" spc="-50">
                <a:solidFill>
                  <a:srgbClr val="F2F8FC"/>
                </a:solidFill>
                <a:latin typeface="DM Serif Display"/>
              </a:rPr>
              <a:t>De twee normen</a:t>
            </a:r>
          </a:p>
        </p:txBody>
      </p:sp>
      <p:sp>
        <p:nvSpPr>
          <p:cNvPr id="6" name="TextBox 5"/>
          <p:cNvSpPr txBox="1"/>
          <p:nvPr/>
        </p:nvSpPr>
        <p:spPr>
          <a:xfrm>
            <a:off x="3327400" y="1970980"/>
            <a:ext cx="8102600" cy="335280"/>
          </a:xfrm>
          <a:prstGeom prst="rect">
            <a:avLst/>
          </a:prstGeom>
          <a:noFill/>
        </p:spPr>
        <p:txBody>
          <a:bodyPr wrap="none" lIns="0" rIns="0" tIns="0" bIns="0" anchor="t">
            <a:noAutofit/>
          </a:bodyPr>
          <a:lstStyle/>
          <a:p>
            <a:pPr algn="l">
              <a:lnSpc>
                <a:spcPts val="2640"/>
              </a:lnSpc>
            </a:pPr>
            <a:r>
              <a:rPr sz="2200" b="0" i="1">
                <a:solidFill>
                  <a:srgbClr val="52BDEC"/>
                </a:solidFill>
                <a:latin typeface="DM Serif Display"/>
              </a:rPr>
              <a:t>Wat stuurt de zorg in Optimal Care?</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27400" y="459243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zelfde zool, ander gebruik</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27400" y="504070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de CMFO, laag per laag, en wat ze doet</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7400" y="5488980"/>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een draagnorm op maat</a:t>
            </a:r>
          </a:p>
        </p:txBody>
      </p:sp>
      <p:pic>
        <p:nvPicPr>
          <p:cNvPr id="13" name="Picture 1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6F8FAA"/>
                </a:solidFill>
                <a:latin typeface="DM Sans"/>
              </a:rPr>
              <a:t>PARADISE · De twee normen</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De twee normen</a:t>
            </a:r>
          </a:p>
        </p:txBody>
      </p:sp>
      <p:sp>
        <p:nvSpPr>
          <p:cNvPr id="5" name="TextBox 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protocol §5.4 · Bus e.a. 2011, 2013 · beslissingen 6 en 8 oktober 2026</a:t>
            </a:r>
          </a:p>
        </p:txBody>
      </p:sp>
      <p:sp>
        <p:nvSpPr>
          <p:cNvPr id="6" name="TextBox 5"/>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1879600"/>
            <a:ext cx="1574800" cy="198120"/>
          </a:xfrm>
          <a:prstGeom prst="rect">
            <a:avLst/>
          </a:prstGeom>
          <a:noFill/>
        </p:spPr>
        <p:txBody>
          <a:bodyPr wrap="none" lIns="0" rIns="0" t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7900" y="2324100"/>
            <a:ext cx="1285478" cy="247650"/>
          </a:xfrm>
          <a:prstGeom prst="rect">
            <a:avLst/>
          </a:prstGeom>
          <a:noFill/>
        </p:spPr>
        <p:txBody>
          <a:bodyPr wrap="none" lIns="0" rIns="0" t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rIns="0" t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7006ea103c3e8fa9006c500fec1a0272.png"/>
          <p:cNvPicPr>
            <a:picLocks noChangeAspect="1"/>
          </p:cNvPicPr>
          <p:nvPr/>
        </p:nvPicPr>
        <p:blipFill>
          <a:blip r:embed="rId3"/>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rIns="0" t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rIns="0" t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48075" y="2781300"/>
            <a:ext cx="2251075" cy="198120"/>
          </a:xfrm>
          <a:prstGeom prst="rect">
            <a:avLst/>
          </a:prstGeom>
          <a:noFill/>
        </p:spPr>
        <p:txBody>
          <a:bodyPr wrap="none" lIns="0" rIns="0" t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rIns="0" t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50000" y="2774950"/>
            <a:ext cx="2251075" cy="198120"/>
          </a:xfrm>
          <a:prstGeom prst="rect">
            <a:avLst/>
          </a:prstGeom>
          <a:noFill/>
        </p:spPr>
        <p:txBody>
          <a:bodyPr wrap="none" lIns="0" rIns="0" t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rIns="0" t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045575" y="2774950"/>
            <a:ext cx="2251075" cy="198120"/>
          </a:xfrm>
          <a:prstGeom prst="rect">
            <a:avLst/>
          </a:prstGeom>
          <a:noFill/>
        </p:spPr>
        <p:txBody>
          <a:bodyPr wrap="none" lIns="0" rIns="0" t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een identiek tweede paar</a:t>
            </a:r>
          </a:p>
        </p:txBody>
      </p:sp>
      <p:sp>
        <p:nvSpPr>
          <p:cNvPr id="30" name="TextBox 29"/>
          <p:cNvSpPr txBox="1"/>
          <p:nvPr/>
        </p:nvSpPr>
        <p:spPr>
          <a:xfrm>
            <a:off x="812800" y="3962400"/>
            <a:ext cx="10617200" cy="240030"/>
          </a:xfrm>
          <a:prstGeom prst="rect">
            <a:avLst/>
          </a:prstGeom>
          <a:noFill/>
        </p:spPr>
        <p:txBody>
          <a:bodyPr wrap="none" lIns="0" rIns="0" tIns="0" bIns="0" anchor="t">
            <a:noAutofit/>
          </a:bodyPr>
          <a:lstStyle/>
          <a:p>
            <a:pPr algn="l">
              <a:lnSpc>
                <a:spcPts val="1889"/>
              </a:lnSpc>
            </a:pPr>
            <a:r>
              <a:rPr sz="1400" b="1" i="0">
                <a:solidFill>
                  <a:srgbClr val="3A4F63"/>
                </a:solidFill>
                <a:latin typeface="DM Sans"/>
              </a:rPr>
              <a:t>Doelregio's</a:t>
            </a:r>
            <a:r>
              <a:rPr sz="1400" b="0" i="0">
                <a:solidFill>
                  <a:srgbClr val="3A4F63"/>
                </a:solidFill>
                <a:latin typeface="DM Sans"/>
              </a:rPr>
              <a:t>: de vorige ulcuslocatie, plus per voet de twee voor- of middenvoetregio's met de hoogste piekdruk boven 200 kPa</a:t>
            </a:r>
          </a:p>
        </p:txBody>
      </p:sp>
      <p:sp>
        <p:nvSpPr>
          <p:cNvPr id="31" name="Rectangle 30"/>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7900" y="5384800"/>
            <a:ext cx="1050429" cy="247650"/>
          </a:xfrm>
          <a:prstGeom prst="rect">
            <a:avLst/>
          </a:prstGeom>
          <a:noFill/>
        </p:spPr>
        <p:txBody>
          <a:bodyPr wrap="none" lIns="0" rIns="0" tIns="0" bIns="0" anchor="t">
            <a:noAutofit/>
          </a:bodyPr>
          <a:lstStyle/>
          <a:p>
            <a:pPr algn="l"/>
            <a:r>
              <a:rPr sz="1500" b="1" i="0">
                <a:solidFill>
                  <a:srgbClr val="F2F8FC"/>
                </a:solidFill>
                <a:latin typeface="DM Sans"/>
              </a:rPr>
              <a:t>Usual Care</a:t>
            </a:r>
          </a:p>
        </p:txBody>
      </p:sp>
      <p:sp>
        <p:nvSpPr>
          <p:cNvPr id="34" name="TextBox 33"/>
          <p:cNvSpPr txBox="1"/>
          <p:nvPr/>
        </p:nvSpPr>
        <p:spPr>
          <a:xfrm>
            <a:off x="2269629" y="5346700"/>
            <a:ext cx="9291763" cy="495300"/>
          </a:xfrm>
          <a:prstGeom prst="rect">
            <a:avLst/>
          </a:prstGeom>
          <a:noFill/>
        </p:spPr>
        <p:txBody>
          <a:bodyPr wrap="square" lIns="0" rIns="0" tIns="0" bIns="0" anchor="t">
            <a:noAutofit/>
          </a:bodyPr>
          <a:lstStyle/>
          <a:p>
            <a:pPr algn="l">
              <a:lnSpc>
                <a:spcPts val="1950"/>
              </a:lnSpc>
            </a:pPr>
            <a:r>
              <a:rPr sz="1500" b="0" i="0">
                <a:solidFill>
                  <a:srgbClr val="0A2540"/>
                </a:solidFill>
                <a:latin typeface="DM Sans"/>
              </a:rPr>
              <a:t>drukmeting alleen bij de start en op maand 6, geblindeerd: niet getoond, niet besproken, de zool wordt er niet op aangepast</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z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35d9458366f21742d58c68885f5e26b0.png"/>
          <p:cNvPicPr>
            <a:picLocks noChangeAspect="1"/>
          </p:cNvPicPr>
          <p:nvPr/>
        </p:nvPicPr>
        <p:blipFill>
          <a:blip r:embed="rId3"/>
          <a:stretch>
            <a:fillRect/>
          </a:stretch>
        </p:blipFill>
        <p:spPr>
          <a:xfrm>
            <a:off x="812800" y="1435654"/>
            <a:ext cx="5594350" cy="4291492"/>
          </a:xfrm>
          <a:prstGeom prst="rect">
            <a:avLst/>
          </a:prstGeom>
        </p:spPr>
      </p:pic>
      <p:pic>
        <p:nvPicPr>
          <p:cNvPr id="5" name="Picture 4" descr="263adf933d018f658a3f794787bae901.png"/>
          <p:cNvPicPr>
            <a:picLocks noChangeAspect="1"/>
          </p:cNvPicPr>
          <p:nvPr/>
        </p:nvPicPr>
        <p:blipFill>
          <a:blip r:embed="rId4"/>
          <a:stretch>
            <a:fillRect/>
          </a:stretch>
        </p:blipFill>
        <p:spPr>
          <a:xfrm>
            <a:off x="812800" y="1435654"/>
            <a:ext cx="5594350" cy="4291492"/>
          </a:xfrm>
          <a:prstGeom prst="rect">
            <a:avLst/>
          </a:prstGeom>
        </p:spPr>
      </p:pic>
      <p:pic>
        <p:nvPicPr>
          <p:cNvPr id="6" name="Picture 5" descr="ff2be040825968f74e167f3f017192d8.png"/>
          <p:cNvPicPr>
            <a:picLocks noChangeAspect="1"/>
          </p:cNvPicPr>
          <p:nvPr/>
        </p:nvPicPr>
        <p:blipFill>
          <a:blip r:embed="rId5"/>
          <a:stretch>
            <a:fillRect/>
          </a:stretch>
        </p:blipFill>
        <p:spPr>
          <a:xfrm>
            <a:off x="812800" y="1435654"/>
            <a:ext cx="5594350" cy="4291492"/>
          </a:xfrm>
          <a:prstGeom prst="rect">
            <a:avLst/>
          </a:prstGeom>
        </p:spPr>
      </p:pic>
      <p:pic>
        <p:nvPicPr>
          <p:cNvPr id="7" name="Picture 6" descr="2d13919730587cd6927f343698bc45b8.png"/>
          <p:cNvPicPr>
            <a:picLocks noChangeAspect="1"/>
          </p:cNvPicPr>
          <p:nvPr/>
        </p:nvPicPr>
        <p:blipFill>
          <a:blip r:embed="rId6"/>
          <a:stretch>
            <a:fillRect/>
          </a:stretch>
        </p:blipFill>
        <p:spPr>
          <a:xfrm>
            <a:off x="812800" y="1435654"/>
            <a:ext cx="5594350" cy="4291492"/>
          </a:xfrm>
          <a:prstGeom prst="rect">
            <a:avLst/>
          </a:prstGeom>
        </p:spPr>
      </p:pic>
      <p:pic>
        <p:nvPicPr>
          <p:cNvPr id="8" name="Picture 7" descr="f1f719f7a9890072b66877132b7c74e1.png"/>
          <p:cNvPicPr>
            <a:picLocks noChangeAspect="1"/>
          </p:cNvPicPr>
          <p:nvPr/>
        </p:nvPicPr>
        <p:blipFill>
          <a:blip r:embed="rId7"/>
          <a:stretch>
            <a:fillRect/>
          </a:stretch>
        </p:blipFill>
        <p:spPr>
          <a:xfrm>
            <a:off x="812800" y="1435654"/>
            <a:ext cx="5594350" cy="4291492"/>
          </a:xfrm>
          <a:prstGeom prst="rect">
            <a:avLst/>
          </a:prstGeom>
        </p:spPr>
      </p:pic>
      <p:sp>
        <p:nvSpPr>
          <p:cNvPr id="9" name="TextBox 8"/>
          <p:cNvSpPr txBox="1"/>
          <p:nvPr/>
        </p:nvSpPr>
        <p:spPr>
          <a:xfrm>
            <a:off x="6858000" y="2203450"/>
            <a:ext cx="45720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Gesloten-cellig · 3 mm</a:t>
            </a:r>
          </a:p>
        </p:txBody>
      </p:sp>
      <p:sp>
        <p:nvSpPr>
          <p:cNvPr id="10" name="TextBox 9"/>
          <p:cNvSpPr txBox="1"/>
          <p:nvPr/>
        </p:nvSpPr>
        <p:spPr>
          <a:xfrm>
            <a:off x="6858000" y="2444750"/>
            <a:ext cx="45720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bv. Plastazote LD45 · volledige lengte</a:t>
            </a:r>
          </a:p>
        </p:txBody>
      </p:sp>
      <p:sp>
        <p:nvSpPr>
          <p:cNvPr id="11" name="TextBox 10"/>
          <p:cNvSpPr txBox="1"/>
          <p:nvPr/>
        </p:nvSpPr>
        <p:spPr>
          <a:xfrm>
            <a:off x="6858000" y="2838450"/>
            <a:ext cx="45720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Open-cellig, dempend · 3 mm</a:t>
            </a:r>
          </a:p>
        </p:txBody>
      </p:sp>
      <p:sp>
        <p:nvSpPr>
          <p:cNvPr id="12" name="TextBox 11"/>
          <p:cNvSpPr txBox="1"/>
          <p:nvPr/>
        </p:nvSpPr>
        <p:spPr>
          <a:xfrm>
            <a:off x="6858000" y="3079750"/>
            <a:ext cx="45720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bv. PPT · volledige lengte</a:t>
            </a:r>
          </a:p>
        </p:txBody>
      </p:sp>
      <p:sp>
        <p:nvSpPr>
          <p:cNvPr id="13" name="TextBox 12"/>
          <p:cNvSpPr txBox="1"/>
          <p:nvPr/>
        </p:nvSpPr>
        <p:spPr>
          <a:xfrm>
            <a:off x="6858000" y="3473450"/>
            <a:ext cx="4572000" cy="228600"/>
          </a:xfrm>
          <a:prstGeom prst="rect">
            <a:avLst/>
          </a:prstGeom>
          <a:noFill/>
        </p:spPr>
        <p:txBody>
          <a:bodyPr wrap="none" lIns="0" rIns="0" tIns="0" bIns="0" anchor="t">
            <a:noAutofit/>
          </a:bodyPr>
          <a:lstStyle/>
          <a:p>
            <a:pPr algn="l">
              <a:lnSpc>
                <a:spcPts val="1800"/>
              </a:lnSpc>
            </a:pPr>
            <a:r>
              <a:rPr sz="1500" b="1" i="0">
                <a:solidFill>
                  <a:srgbClr val="A34A00"/>
                </a:solidFill>
                <a:latin typeface="DM Sans"/>
              </a:rPr>
              <a:t>Metatarsaalbalk · 9–10 mm</a:t>
            </a:r>
          </a:p>
        </p:txBody>
      </p:sp>
      <p:sp>
        <p:nvSpPr>
          <p:cNvPr id="14" name="TextBox 13"/>
          <p:cNvSpPr txBox="1"/>
          <p:nvPr/>
        </p:nvSpPr>
        <p:spPr>
          <a:xfrm>
            <a:off x="6858000" y="3714750"/>
            <a:ext cx="4572000" cy="198120"/>
          </a:xfrm>
          <a:prstGeom prst="rect">
            <a:avLst/>
          </a:prstGeom>
          <a:noFill/>
        </p:spPr>
        <p:txBody>
          <a:bodyPr wrap="none" lIns="0" rIns="0" tIns="0" bIns="0" anchor="t">
            <a:noAutofit/>
          </a:bodyPr>
          <a:lstStyle/>
          <a:p>
            <a:pPr algn="l">
              <a:lnSpc>
                <a:spcPts val="1560"/>
              </a:lnSpc>
            </a:pPr>
            <a:r>
              <a:rPr sz="1300" b="1" i="0">
                <a:solidFill>
                  <a:srgbClr val="A34A00"/>
                </a:solidFill>
                <a:latin typeface="DM Sans"/>
              </a:rPr>
              <a:t>+ bijkomende uitsparingen volgens nood</a:t>
            </a:r>
          </a:p>
        </p:txBody>
      </p:sp>
      <p:sp>
        <p:nvSpPr>
          <p:cNvPr id="15" name="TextBox 14"/>
          <p:cNvSpPr txBox="1"/>
          <p:nvPr/>
        </p:nvSpPr>
        <p:spPr>
          <a:xfrm>
            <a:off x="6858000" y="3925491"/>
            <a:ext cx="45720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shore ~55 · 6–11 mm proximaal van de kopjes · of een lokale pad</a:t>
            </a:r>
          </a:p>
        </p:txBody>
      </p:sp>
      <p:sp>
        <p:nvSpPr>
          <p:cNvPr id="16" name="TextBox 15"/>
          <p:cNvSpPr txBox="1"/>
          <p:nvPr/>
        </p:nvSpPr>
        <p:spPr>
          <a:xfrm>
            <a:off x="6858000" y="4311650"/>
            <a:ext cx="45720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EVA · shore 35–40</a:t>
            </a:r>
          </a:p>
        </p:txBody>
      </p:sp>
      <p:sp>
        <p:nvSpPr>
          <p:cNvPr id="17" name="TextBox 16"/>
          <p:cNvSpPr txBox="1"/>
          <p:nvPr/>
        </p:nvSpPr>
        <p:spPr>
          <a:xfrm>
            <a:off x="6858000" y="4552950"/>
            <a:ext cx="45720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5 mm; 6 mm zonder kurk in confectie of semi-orthopedisch</a:t>
            </a:r>
          </a:p>
        </p:txBody>
      </p:sp>
      <p:sp>
        <p:nvSpPr>
          <p:cNvPr id="18" name="TextBox 17"/>
          <p:cNvSpPr txBox="1"/>
          <p:nvPr/>
        </p:nvSpPr>
        <p:spPr>
          <a:xfrm>
            <a:off x="6858000" y="4946650"/>
            <a:ext cx="45720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Microkurk · 5 mm · shore 55</a:t>
            </a:r>
          </a:p>
        </p:txBody>
      </p:sp>
      <p:sp>
        <p:nvSpPr>
          <p:cNvPr id="19" name="TextBox 18"/>
          <p:cNvSpPr txBox="1"/>
          <p:nvPr/>
        </p:nvSpPr>
        <p:spPr>
          <a:xfrm>
            <a:off x="6858000" y="5187950"/>
            <a:ext cx="45720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alleen in een volledig op maat gemaakte schoen</a:t>
            </a:r>
          </a:p>
        </p:txBody>
      </p:sp>
      <p:sp>
        <p:nvSpPr>
          <p:cNvPr id="20" name="Rounded Rectangle 19"/>
          <p:cNvSpPr/>
          <p:nvPr/>
        </p:nvSpPr>
        <p:spPr>
          <a:xfrm>
            <a:off x="812800" y="5588000"/>
            <a:ext cx="10566400" cy="533400"/>
          </a:xfrm>
          <a:prstGeom prst="roundRect">
            <a:avLst>
              <a:gd name="adj" fmla="val 19047"/>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03300" y="5708650"/>
            <a:ext cx="880368" cy="292100"/>
          </a:xfrm>
          <a:prstGeom prst="rect">
            <a:avLst/>
          </a:prstGeom>
          <a:noFill/>
        </p:spPr>
        <p:txBody>
          <a:bodyPr wrap="none" lIns="0" rIns="0" tIns="0" bIns="0" anchor="t">
            <a:noAutofit/>
          </a:bodyPr>
          <a:lstStyle/>
          <a:p>
            <a:pPr algn="l">
              <a:lnSpc>
                <a:spcPts val="2300"/>
              </a:lnSpc>
            </a:pPr>
            <a:r>
              <a:rPr sz="2300" b="0" i="0">
                <a:solidFill>
                  <a:srgbClr val="0A2540"/>
                </a:solidFill>
                <a:latin typeface="DM Serif Display"/>
              </a:rPr>
              <a:t>16 mm</a:t>
            </a:r>
          </a:p>
        </p:txBody>
      </p:sp>
      <p:sp>
        <p:nvSpPr>
          <p:cNvPr id="22" name="TextBox 21"/>
          <p:cNvSpPr txBox="1"/>
          <p:nvPr/>
        </p:nvSpPr>
        <p:spPr>
          <a:xfrm>
            <a:off x="1972568" y="5763220"/>
            <a:ext cx="92581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maatschoen</a:t>
            </a:r>
          </a:p>
        </p:txBody>
      </p:sp>
      <p:sp>
        <p:nvSpPr>
          <p:cNvPr id="23" name="TextBox 22"/>
          <p:cNvSpPr txBox="1"/>
          <p:nvPr/>
        </p:nvSpPr>
        <p:spPr>
          <a:xfrm>
            <a:off x="2987278" y="5730875"/>
            <a:ext cx="88602" cy="247650"/>
          </a:xfrm>
          <a:prstGeom prst="rect">
            <a:avLst/>
          </a:prstGeom>
          <a:noFill/>
        </p:spPr>
        <p:txBody>
          <a:bodyPr wrap="none" lIns="0" rIns="0" tIns="0" bIns="0" anchor="t">
            <a:noAutofit/>
          </a:bodyPr>
          <a:lstStyle/>
          <a:p>
            <a:pPr algn="l"/>
            <a:r>
              <a:rPr sz="1500" b="0" i="0">
                <a:solidFill>
                  <a:srgbClr val="9FB3C6"/>
                </a:solidFill>
                <a:latin typeface="DM Sans"/>
              </a:rPr>
              <a:t>·</a:t>
            </a:r>
          </a:p>
        </p:txBody>
      </p:sp>
      <p:sp>
        <p:nvSpPr>
          <p:cNvPr id="24" name="TextBox 23"/>
          <p:cNvSpPr txBox="1"/>
          <p:nvPr/>
        </p:nvSpPr>
        <p:spPr>
          <a:xfrm>
            <a:off x="3164780" y="5708650"/>
            <a:ext cx="880963" cy="292100"/>
          </a:xfrm>
          <a:prstGeom prst="rect">
            <a:avLst/>
          </a:prstGeom>
          <a:noFill/>
        </p:spPr>
        <p:txBody>
          <a:bodyPr wrap="none" lIns="0" rIns="0" tIns="0" bIns="0" anchor="t">
            <a:noAutofit/>
          </a:bodyPr>
          <a:lstStyle/>
          <a:p>
            <a:pPr algn="l">
              <a:lnSpc>
                <a:spcPts val="2300"/>
              </a:lnSpc>
            </a:pPr>
            <a:r>
              <a:rPr sz="2300" b="0" i="0">
                <a:solidFill>
                  <a:srgbClr val="0A2540"/>
                </a:solidFill>
                <a:latin typeface="DM Serif Display"/>
              </a:rPr>
              <a:t>12 mm</a:t>
            </a:r>
          </a:p>
        </p:txBody>
      </p:sp>
      <p:sp>
        <p:nvSpPr>
          <p:cNvPr id="25" name="TextBox 24"/>
          <p:cNvSpPr txBox="1"/>
          <p:nvPr/>
        </p:nvSpPr>
        <p:spPr>
          <a:xfrm>
            <a:off x="4134644" y="5763220"/>
            <a:ext cx="2310209"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confectie of semi-orthopedisch</a:t>
            </a:r>
          </a:p>
        </p:txBody>
      </p:sp>
      <p:sp>
        <p:nvSpPr>
          <p:cNvPr id="26" name="TextBox 25"/>
          <p:cNvSpPr txBox="1"/>
          <p:nvPr/>
        </p:nvSpPr>
        <p:spPr>
          <a:xfrm>
            <a:off x="6533753" y="5708650"/>
            <a:ext cx="1404739" cy="292100"/>
          </a:xfrm>
          <a:prstGeom prst="rect">
            <a:avLst/>
          </a:prstGeom>
          <a:noFill/>
        </p:spPr>
        <p:txBody>
          <a:bodyPr wrap="none" lIns="0" rIns="0" tIns="0" bIns="0" anchor="t">
            <a:noAutofit/>
          </a:bodyPr>
          <a:lstStyle/>
          <a:p>
            <a:pPr algn="l">
              <a:lnSpc>
                <a:spcPts val="2300"/>
              </a:lnSpc>
            </a:pPr>
            <a:r>
              <a:rPr sz="2300" b="0" i="0">
                <a:solidFill>
                  <a:srgbClr val="A34A00"/>
                </a:solidFill>
                <a:latin typeface="DM Serif Display"/>
              </a:rPr>
              <a:t>+ 9–10 mm</a:t>
            </a:r>
          </a:p>
        </p:txBody>
      </p:sp>
      <p:sp>
        <p:nvSpPr>
          <p:cNvPr id="27" name="TextBox 26"/>
          <p:cNvSpPr txBox="1"/>
          <p:nvPr/>
        </p:nvSpPr>
        <p:spPr>
          <a:xfrm>
            <a:off x="8027392" y="5763220"/>
            <a:ext cx="339923"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balk</a:t>
            </a:r>
          </a:p>
        </p:txBody>
      </p:sp>
      <p:sp>
        <p:nvSpPr>
          <p:cNvPr id="28" name="TextBox 27"/>
          <p:cNvSpPr txBox="1"/>
          <p:nvPr/>
        </p:nvSpPr>
        <p:spPr>
          <a:xfrm>
            <a:off x="8405416" y="5748040"/>
            <a:ext cx="2783284" cy="213360"/>
          </a:xfrm>
          <a:prstGeom prst="rect">
            <a:avLst/>
          </a:prstGeom>
          <a:noFill/>
        </p:spPr>
        <p:txBody>
          <a:bodyPr wrap="none" lIns="0" rIns="0" tIns="0" bIns="0" anchor="t">
            <a:noAutofit/>
          </a:bodyPr>
          <a:lstStyle/>
          <a:p>
            <a:pPr algn="r">
              <a:lnSpc>
                <a:spcPts val="1680"/>
              </a:lnSpc>
            </a:pPr>
            <a:r>
              <a:rPr sz="1400" b="1" i="0">
                <a:solidFill>
                  <a:srgbClr val="A34A00"/>
                </a:solidFill>
                <a:latin typeface="DM Sans"/>
              </a:rPr>
              <a:t>De schoen moet adequaat zijn</a:t>
            </a:r>
          </a:p>
        </p:txBody>
      </p:sp>
      <p:sp>
        <p:nvSpPr>
          <p:cNvPr id="29" name="TextBox 28"/>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CMFO, laag per laag</a:t>
            </a:r>
          </a:p>
        </p:txBody>
      </p:sp>
      <p:pic>
        <p:nvPicPr>
          <p:cNvPr id="30" name="Picture 29"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De twee normen</a:t>
            </a:r>
          </a:p>
        </p:txBody>
      </p:sp>
      <p:sp>
        <p:nvSpPr>
          <p:cNvPr id="32" name="TextBox 3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§5.4.1 · eCRF 23 · beslissing 6 oktober 2026</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druk.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Eén voet, vier zolen</a:t>
            </a:r>
          </a:p>
        </p:txBody>
      </p:sp>
      <p:sp>
        <p:nvSpPr>
          <p:cNvPr id="4" name="TextBox 3"/>
          <p:cNvSpPr txBox="1"/>
          <p:nvPr/>
        </p:nvSpPr>
        <p:spPr>
          <a:xfrm>
            <a:off x="812800" y="1549400"/>
            <a:ext cx="18288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Zonder zool</a:t>
            </a:r>
          </a:p>
        </p:txBody>
      </p:sp>
      <p:sp>
        <p:nvSpPr>
          <p:cNvPr id="5" name="TextBox 4"/>
          <p:cNvSpPr txBox="1"/>
          <p:nvPr/>
        </p:nvSpPr>
        <p:spPr>
          <a:xfrm>
            <a:off x="812800" y="1803400"/>
            <a:ext cx="18288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in de schoen</a:t>
            </a:r>
          </a:p>
        </p:txBody>
      </p:sp>
      <p:pic>
        <p:nvPicPr>
          <p:cNvPr id="6" name="Picture 5" descr="3825b6387d3c764508758626beea4ba8.png"/>
          <p:cNvPicPr>
            <a:picLocks noChangeAspect="1"/>
          </p:cNvPicPr>
          <p:nvPr/>
        </p:nvPicPr>
        <p:blipFill>
          <a:blip r:embed="rId3"/>
          <a:stretch>
            <a:fillRect/>
          </a:stretch>
        </p:blipFill>
        <p:spPr>
          <a:xfrm>
            <a:off x="812800" y="2121835"/>
            <a:ext cx="1384300" cy="3808131"/>
          </a:xfrm>
          <a:prstGeom prst="rect">
            <a:avLst/>
          </a:prstGeom>
        </p:spPr>
      </p:pic>
      <p:sp>
        <p:nvSpPr>
          <p:cNvPr id="7" name="TextBox 6"/>
          <p:cNvSpPr txBox="1"/>
          <p:nvPr/>
        </p:nvSpPr>
        <p:spPr>
          <a:xfrm>
            <a:off x="2781300" y="1549400"/>
            <a:ext cx="18288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Zool 1</a:t>
            </a:r>
          </a:p>
        </p:txBody>
      </p:sp>
      <p:sp>
        <p:nvSpPr>
          <p:cNvPr id="8" name="TextBox 7"/>
          <p:cNvSpPr txBox="1"/>
          <p:nvPr/>
        </p:nvSpPr>
        <p:spPr>
          <a:xfrm>
            <a:off x="2781300" y="1803400"/>
            <a:ext cx="1828800" cy="190500"/>
          </a:xfrm>
          <a:prstGeom prst="rect">
            <a:avLst/>
          </a:prstGeom>
          <a:noFill/>
        </p:spPr>
        <p:txBody>
          <a:bodyPr wrap="none" lIns="0" rIns="0" tIns="0" bIns="0" anchor="t">
            <a:noAutofit/>
          </a:bodyPr>
          <a:lstStyle/>
          <a:p>
            <a:pPr algn="l">
              <a:lnSpc>
                <a:spcPts val="1500"/>
              </a:lnSpc>
            </a:pPr>
            <a:r>
              <a:rPr sz="1200" b="0" i="0">
                <a:solidFill>
                  <a:srgbClr val="5A6E80"/>
                </a:solidFill>
                <a:latin typeface="DM Sans"/>
              </a:rPr>
              <a:t>totaal contact</a:t>
            </a:r>
          </a:p>
        </p:txBody>
      </p:sp>
      <p:pic>
        <p:nvPicPr>
          <p:cNvPr id="9" name="Picture 8" descr="c36ccd7ce0562c1fa427d104ab1b836f.png"/>
          <p:cNvPicPr>
            <a:picLocks noChangeAspect="1"/>
          </p:cNvPicPr>
          <p:nvPr/>
        </p:nvPicPr>
        <p:blipFill>
          <a:blip r:embed="rId4"/>
          <a:stretch>
            <a:fillRect/>
          </a:stretch>
        </p:blipFill>
        <p:spPr>
          <a:xfrm>
            <a:off x="2781300" y="2121835"/>
            <a:ext cx="1384300" cy="3808131"/>
          </a:xfrm>
          <a:prstGeom prst="rect">
            <a:avLst/>
          </a:prstGeom>
        </p:spPr>
      </p:pic>
      <p:sp>
        <p:nvSpPr>
          <p:cNvPr id="10" name="TextBox 9"/>
          <p:cNvSpPr txBox="1"/>
          <p:nvPr/>
        </p:nvSpPr>
        <p:spPr>
          <a:xfrm>
            <a:off x="4749800" y="1549400"/>
            <a:ext cx="18288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Zool 2</a:t>
            </a:r>
          </a:p>
        </p:txBody>
      </p:sp>
      <p:sp>
        <p:nvSpPr>
          <p:cNvPr id="11" name="TextBox 10"/>
          <p:cNvSpPr txBox="1"/>
          <p:nvPr/>
        </p:nvSpPr>
        <p:spPr>
          <a:xfrm>
            <a:off x="4749800" y="1803400"/>
            <a:ext cx="1828800" cy="190500"/>
          </a:xfrm>
          <a:prstGeom prst="rect">
            <a:avLst/>
          </a:prstGeom>
          <a:noFill/>
        </p:spPr>
        <p:txBody>
          <a:bodyPr wrap="none" lIns="0" rIns="0" tIns="0" bIns="0" anchor="t">
            <a:noAutofit/>
          </a:bodyPr>
          <a:lstStyle/>
          <a:p>
            <a:pPr algn="l">
              <a:lnSpc>
                <a:spcPts val="1500"/>
              </a:lnSpc>
            </a:pPr>
            <a:r>
              <a:rPr sz="1200" b="1" i="0">
                <a:solidFill>
                  <a:srgbClr val="A34A00"/>
                </a:solidFill>
                <a:latin typeface="DM Sans"/>
              </a:rPr>
              <a:t>+ RCTB 6 mm</a:t>
            </a:r>
          </a:p>
        </p:txBody>
      </p:sp>
      <p:pic>
        <p:nvPicPr>
          <p:cNvPr id="12" name="Picture 11" descr="e8c34085a070149383e812b143052985.png"/>
          <p:cNvPicPr>
            <a:picLocks noChangeAspect="1"/>
          </p:cNvPicPr>
          <p:nvPr/>
        </p:nvPicPr>
        <p:blipFill>
          <a:blip r:embed="rId5"/>
          <a:stretch>
            <a:fillRect/>
          </a:stretch>
        </p:blipFill>
        <p:spPr>
          <a:xfrm>
            <a:off x="4749800" y="2121835"/>
            <a:ext cx="1384300" cy="3808131"/>
          </a:xfrm>
          <a:prstGeom prst="rect">
            <a:avLst/>
          </a:prstGeom>
        </p:spPr>
      </p:pic>
      <p:sp>
        <p:nvSpPr>
          <p:cNvPr id="13" name="TextBox 12"/>
          <p:cNvSpPr txBox="1"/>
          <p:nvPr/>
        </p:nvSpPr>
        <p:spPr>
          <a:xfrm>
            <a:off x="6718300" y="1549400"/>
            <a:ext cx="182880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Zool 3</a:t>
            </a:r>
          </a:p>
        </p:txBody>
      </p:sp>
      <p:sp>
        <p:nvSpPr>
          <p:cNvPr id="14" name="TextBox 13"/>
          <p:cNvSpPr txBox="1"/>
          <p:nvPr/>
        </p:nvSpPr>
        <p:spPr>
          <a:xfrm>
            <a:off x="6718300" y="1803400"/>
            <a:ext cx="1828800" cy="190500"/>
          </a:xfrm>
          <a:prstGeom prst="rect">
            <a:avLst/>
          </a:prstGeom>
          <a:noFill/>
        </p:spPr>
        <p:txBody>
          <a:bodyPr wrap="none" lIns="0" rIns="0" tIns="0" bIns="0" anchor="t">
            <a:noAutofit/>
          </a:bodyPr>
          <a:lstStyle/>
          <a:p>
            <a:pPr algn="l">
              <a:lnSpc>
                <a:spcPts val="1500"/>
              </a:lnSpc>
            </a:pPr>
            <a:r>
              <a:rPr sz="1200" b="1" i="0">
                <a:solidFill>
                  <a:srgbClr val="A34A00"/>
                </a:solidFill>
                <a:latin typeface="DM Sans"/>
              </a:rPr>
              <a:t>+ RCTB 9 mm</a:t>
            </a:r>
          </a:p>
        </p:txBody>
      </p:sp>
      <p:pic>
        <p:nvPicPr>
          <p:cNvPr id="15" name="Picture 14" descr="a74b22459579f436b9f1c45a3ef23fcd.png"/>
          <p:cNvPicPr>
            <a:picLocks noChangeAspect="1"/>
          </p:cNvPicPr>
          <p:nvPr/>
        </p:nvPicPr>
        <p:blipFill>
          <a:blip r:embed="rId6"/>
          <a:stretch>
            <a:fillRect/>
          </a:stretch>
        </p:blipFill>
        <p:spPr>
          <a:xfrm>
            <a:off x="6718300" y="2121835"/>
            <a:ext cx="1384300" cy="3808131"/>
          </a:xfrm>
          <a:prstGeom prst="rect">
            <a:avLst/>
          </a:prstGeom>
        </p:spPr>
      </p:pic>
      <p:sp>
        <p:nvSpPr>
          <p:cNvPr id="16" name="TextBox 15"/>
          <p:cNvSpPr txBox="1"/>
          <p:nvPr/>
        </p:nvSpPr>
        <p:spPr>
          <a:xfrm>
            <a:off x="8890000" y="2120900"/>
            <a:ext cx="2540000" cy="198120"/>
          </a:xfrm>
          <a:prstGeom prst="rect">
            <a:avLst/>
          </a:prstGeom>
          <a:noFill/>
        </p:spPr>
        <p:txBody>
          <a:bodyPr wrap="none" lIns="0" rIns="0" tIns="0" bIns="0" anchor="t">
            <a:noAutofit/>
          </a:bodyPr>
          <a:lstStyle/>
          <a:p>
            <a:pPr algn="l"/>
            <a:r>
              <a:rPr sz="1200" b="1" i="0">
                <a:solidFill>
                  <a:srgbClr val="5A6E80"/>
                </a:solidFill>
                <a:latin typeface="DM Sans"/>
              </a:rPr>
              <a:t>kPa</a:t>
            </a:r>
          </a:p>
        </p:txBody>
      </p:sp>
      <p:sp>
        <p:nvSpPr>
          <p:cNvPr id="17" name="Rectangle 16"/>
          <p:cNvSpPr/>
          <p:nvPr/>
        </p:nvSpPr>
        <p:spPr>
          <a:xfrm>
            <a:off x="8890000" y="2374900"/>
            <a:ext cx="228600" cy="1651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890000" y="2540000"/>
            <a:ext cx="228600" cy="165100"/>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90000" y="2705100"/>
            <a:ext cx="228600" cy="165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890000" y="2870200"/>
            <a:ext cx="228600" cy="165100"/>
          </a:xfrm>
          <a:prstGeom prst="rect">
            <a:avLst/>
          </a:prstGeom>
          <a:solidFill>
            <a:srgbClr val="FFCC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890000" y="3035300"/>
            <a:ext cx="228600" cy="165100"/>
          </a:xfrm>
          <a:prstGeom prst="rect">
            <a:avLst/>
          </a:prstGeom>
          <a:solidFill>
            <a:srgbClr val="FF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890000" y="3200400"/>
            <a:ext cx="228600" cy="165100"/>
          </a:xfrm>
          <a:prstGeom prst="rect">
            <a:avLst/>
          </a:prstGeom>
          <a:solidFill>
            <a:srgbClr val="CC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890000" y="3365500"/>
            <a:ext cx="228600" cy="165100"/>
          </a:xfrm>
          <a:prstGeom prst="rect">
            <a:avLst/>
          </a:prstGeom>
          <a:solidFill>
            <a:srgbClr val="99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890000" y="3530600"/>
            <a:ext cx="228600" cy="165100"/>
          </a:xfrm>
          <a:prstGeom prst="rect">
            <a:avLst/>
          </a:prstGeom>
          <a:solidFill>
            <a:srgbClr val="00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890000" y="3695700"/>
            <a:ext cx="228600" cy="165100"/>
          </a:xfrm>
          <a:prstGeom prst="rect">
            <a:avLst/>
          </a:prstGeom>
          <a:solidFill>
            <a:srgbClr val="33FF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890000" y="3860800"/>
            <a:ext cx="228600" cy="165100"/>
          </a:xfrm>
          <a:prstGeom prst="rect">
            <a:avLst/>
          </a:prstGeom>
          <a:solidFill>
            <a:srgbClr val="00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890000" y="4025900"/>
            <a:ext cx="228600" cy="165100"/>
          </a:xfrm>
          <a:prstGeom prst="rect">
            <a:avLst/>
          </a:prstGeom>
          <a:solidFill>
            <a:srgbClr val="00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890000" y="4191000"/>
            <a:ext cx="228600" cy="165100"/>
          </a:xfrm>
          <a:prstGeom prst="rect">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890000" y="4356100"/>
            <a:ext cx="228600" cy="165100"/>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890000" y="4521200"/>
            <a:ext cx="228600" cy="165100"/>
          </a:xfrm>
          <a:prstGeom prst="rect">
            <a:avLst/>
          </a:prstGeom>
          <a:solidFill>
            <a:srgbClr val="003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890000" y="4686300"/>
            <a:ext cx="228600" cy="165100"/>
          </a:xfrm>
          <a:prstGeom prst="rect">
            <a:avLst/>
          </a:prstGeom>
          <a:solidFill>
            <a:srgbClr val="000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890000" y="4851400"/>
            <a:ext cx="228600" cy="165100"/>
          </a:xfrm>
          <a:prstGeom prst="rect">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220200" y="2362200"/>
            <a:ext cx="132080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 563</a:t>
            </a:r>
          </a:p>
        </p:txBody>
      </p:sp>
      <p:sp>
        <p:nvSpPr>
          <p:cNvPr id="34" name="TextBox 33"/>
          <p:cNvSpPr txBox="1"/>
          <p:nvPr/>
        </p:nvSpPr>
        <p:spPr>
          <a:xfrm>
            <a:off x="9220200" y="2857500"/>
            <a:ext cx="132080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450</a:t>
            </a:r>
          </a:p>
        </p:txBody>
      </p:sp>
      <p:sp>
        <p:nvSpPr>
          <p:cNvPr id="35" name="TextBox 34"/>
          <p:cNvSpPr txBox="1"/>
          <p:nvPr/>
        </p:nvSpPr>
        <p:spPr>
          <a:xfrm>
            <a:off x="9220200" y="3517900"/>
            <a:ext cx="132080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300</a:t>
            </a:r>
          </a:p>
        </p:txBody>
      </p:sp>
      <p:sp>
        <p:nvSpPr>
          <p:cNvPr id="36" name="TextBox 35"/>
          <p:cNvSpPr txBox="1"/>
          <p:nvPr/>
        </p:nvSpPr>
        <p:spPr>
          <a:xfrm>
            <a:off x="9220200" y="4178300"/>
            <a:ext cx="132080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150</a:t>
            </a:r>
          </a:p>
        </p:txBody>
      </p:sp>
      <p:sp>
        <p:nvSpPr>
          <p:cNvPr id="37" name="TextBox 36"/>
          <p:cNvSpPr txBox="1"/>
          <p:nvPr/>
        </p:nvSpPr>
        <p:spPr>
          <a:xfrm>
            <a:off x="9220200" y="4838700"/>
            <a:ext cx="1320800"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0</a:t>
            </a:r>
          </a:p>
        </p:txBody>
      </p:sp>
      <p:sp>
        <p:nvSpPr>
          <p:cNvPr id="38" name="TextBox 37"/>
          <p:cNvSpPr txBox="1"/>
          <p:nvPr/>
        </p:nvSpPr>
        <p:spPr>
          <a:xfrm>
            <a:off x="8890000" y="5270500"/>
            <a:ext cx="2540000" cy="742950"/>
          </a:xfrm>
          <a:prstGeom prst="rect">
            <a:avLst/>
          </a:prstGeom>
          <a:noFill/>
        </p:spPr>
        <p:txBody>
          <a:bodyPr wrap="square" lIns="0" rIns="0" tIns="0" bIns="0" anchor="t">
            <a:noAutofit/>
          </a:bodyPr>
          <a:lstStyle/>
          <a:p>
            <a:pPr algn="l">
              <a:lnSpc>
                <a:spcPts val="1950"/>
              </a:lnSpc>
            </a:pPr>
            <a:r>
              <a:rPr sz="1500" b="0" i="0">
                <a:solidFill>
                  <a:srgbClr val="0A2540"/>
                </a:solidFill>
                <a:latin typeface="DM Sans"/>
              </a:rPr>
              <a:t>Elke aanpassing haalt de piek onder de voorvoet verder omlaag.</a:t>
            </a:r>
          </a:p>
        </p:txBody>
      </p:sp>
      <p:pic>
        <p:nvPicPr>
          <p:cNvPr id="39" name="Picture 38" descr="ec5c93e6f83f209b4e97ddfdecd480c8.png"/>
          <p:cNvPicPr>
            <a:picLocks noChangeAspect="1"/>
          </p:cNvPicPr>
          <p:nvPr/>
        </p:nvPicPr>
        <p:blipFill>
          <a:blip r:embed="rId7"/>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De twee normen</a:t>
            </a:r>
          </a:p>
        </p:txBody>
      </p:sp>
      <p:sp>
        <p:nvSpPr>
          <p:cNvPr id="41" name="TextBox 4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Voorbeeld: rechtervoet, in de schoen, gemiddelde van zes stappen</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De twee normen</a:t>
            </a:r>
          </a:p>
        </p:txBody>
      </p:sp>
      <p:sp>
        <p:nvSpPr>
          <p:cNvPr id="5" name="TextBox 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beslissing 30 september 2026 · eCRF 25b, 28</a:t>
            </a:r>
          </a:p>
        </p:txBody>
      </p:sp>
      <p:sp>
        <p:nvSpPr>
          <p:cNvPr id="6" name="TextBox 5"/>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Eén week MoveMonitor, een norm op maat</a:t>
            </a:r>
          </a:p>
        </p:txBody>
      </p:sp>
      <p:pic>
        <p:nvPicPr>
          <p:cNvPr id="7" name="Picture 6" descr="c3433b372cfc1d99d6ab11119954a595.png"/>
          <p:cNvPicPr>
            <a:picLocks noChangeAspect="1"/>
          </p:cNvPicPr>
          <p:nvPr/>
        </p:nvPicPr>
        <p:blipFill>
          <a:blip r:embed="rId3"/>
          <a:stretch>
            <a:fillRect/>
          </a:stretch>
        </p:blipFill>
        <p:spPr>
          <a:xfrm>
            <a:off x="812800" y="1847850"/>
            <a:ext cx="254000" cy="184150"/>
          </a:xfrm>
          <a:prstGeom prst="rect">
            <a:avLst/>
          </a:prstGeom>
        </p:spPr>
      </p:pic>
      <p:sp>
        <p:nvSpPr>
          <p:cNvPr id="8" name="TextBox 7"/>
          <p:cNvSpPr txBox="1"/>
          <p:nvPr/>
        </p:nvSpPr>
        <p:spPr>
          <a:xfrm>
            <a:off x="1130300" y="1847850"/>
            <a:ext cx="2690812" cy="184150"/>
          </a:xfrm>
          <a:prstGeom prst="rect">
            <a:avLst/>
          </a:prstGeom>
          <a:noFill/>
        </p:spPr>
        <p:txBody>
          <a:bodyPr wrap="none" lIns="0" rIns="0" tIns="0" bIns="0" anchor="t">
            <a:noAutofit/>
          </a:bodyPr>
          <a:lstStyle/>
          <a:p>
            <a:pPr algn="l"/>
            <a:r>
              <a:rPr sz="1100" b="1" i="0">
                <a:solidFill>
                  <a:srgbClr val="0B6E8F"/>
                </a:solidFill>
                <a:latin typeface="DM Sans"/>
              </a:rPr>
              <a:t>01 · Bij de start: één week MoveMonitor</a:t>
            </a:r>
          </a:p>
        </p:txBody>
      </p:sp>
      <p:sp>
        <p:nvSpPr>
          <p:cNvPr id="9" name="Rectangle 8"/>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2500" y="2277070"/>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11" name="Rectangle 10"/>
          <p:cNvSpPr/>
          <p:nvPr/>
        </p:nvSpPr>
        <p:spPr>
          <a:xfrm>
            <a:off x="7639050" y="2108200"/>
            <a:ext cx="3740150" cy="5334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8750" y="2277070"/>
            <a:ext cx="977404" cy="195580"/>
          </a:xfrm>
          <a:prstGeom prst="rect">
            <a:avLst/>
          </a:prstGeom>
          <a:noFill/>
        </p:spPr>
        <p:txBody>
          <a:bodyPr wrap="none" lIns="0" rIns="0" tIns="0" bIns="0" anchor="t">
            <a:noAutofit/>
          </a:bodyPr>
          <a:lstStyle/>
          <a:p>
            <a:pPr algn="l">
              <a:lnSpc>
                <a:spcPts val="1540"/>
              </a:lnSpc>
            </a:pPr>
            <a:r>
              <a:rPr sz="1400" b="1" i="0">
                <a:solidFill>
                  <a:srgbClr val="3A4F63"/>
                </a:solidFill>
                <a:latin typeface="DM Sans"/>
              </a:rPr>
              <a:t>slaap 8,5 u</a:t>
            </a:r>
          </a:p>
        </p:txBody>
      </p:sp>
      <p:sp>
        <p:nvSpPr>
          <p:cNvPr id="13" name="TextBox 12"/>
          <p:cNvSpPr txBox="1"/>
          <p:nvPr/>
        </p:nvSpPr>
        <p:spPr>
          <a:xfrm>
            <a:off x="812800" y="2717800"/>
            <a:ext cx="575171" cy="184150"/>
          </a:xfrm>
          <a:prstGeom prst="rect">
            <a:avLst/>
          </a:prstGeom>
          <a:noFill/>
        </p:spPr>
        <p:txBody>
          <a:bodyPr wrap="none" lIns="0" rIns="0" tIns="0" bIns="0" anchor="t">
            <a:noAutofit/>
          </a:bodyPr>
          <a:lstStyle/>
          <a:p>
            <a:pPr algn="l"/>
            <a:r>
              <a:rPr sz="1100" b="0" i="0">
                <a:solidFill>
                  <a:srgbClr val="5A6E80"/>
                </a:solidFill>
                <a:latin typeface="DM Sans"/>
              </a:rPr>
              <a:t>opstaan</a:t>
            </a:r>
          </a:p>
        </p:txBody>
      </p:sp>
      <p:sp>
        <p:nvSpPr>
          <p:cNvPr id="14" name="TextBox 13"/>
          <p:cNvSpPr txBox="1"/>
          <p:nvPr/>
        </p:nvSpPr>
        <p:spPr>
          <a:xfrm>
            <a:off x="6904633" y="2717800"/>
            <a:ext cx="785217" cy="184150"/>
          </a:xfrm>
          <a:prstGeom prst="rect">
            <a:avLst/>
          </a:prstGeom>
          <a:noFill/>
        </p:spPr>
        <p:txBody>
          <a:bodyPr wrap="none" lIns="0" rIns="0" tIns="0" bIns="0" anchor="t">
            <a:noAutofit/>
          </a:bodyPr>
          <a:lstStyle/>
          <a:p>
            <a:pPr algn="l"/>
            <a:r>
              <a:rPr sz="1100" b="0" i="0">
                <a:solidFill>
                  <a:srgbClr val="5A6E80"/>
                </a:solidFill>
                <a:latin typeface="DM Sans"/>
              </a:rPr>
              <a:t>slapengaan</a:t>
            </a:r>
          </a:p>
        </p:txBody>
      </p:sp>
      <p:sp>
        <p:nvSpPr>
          <p:cNvPr id="15" name="TextBox 14"/>
          <p:cNvSpPr txBox="1"/>
          <p:nvPr/>
        </p:nvSpPr>
        <p:spPr>
          <a:xfrm>
            <a:off x="812800" y="3136900"/>
            <a:ext cx="10617200" cy="184150"/>
          </a:xfrm>
          <a:prstGeom prst="rect">
            <a:avLst/>
          </a:prstGeom>
          <a:noFill/>
        </p:spPr>
        <p:txBody>
          <a:bodyPr wrap="none" lIns="0" rIns="0" tIns="0" bIns="0" anchor="t">
            <a:noAutofit/>
          </a:bodyPr>
          <a:lstStyle/>
          <a:p>
            <a:pPr algn="l"/>
            <a:r>
              <a:rPr sz="1100" b="1" i="0">
                <a:solidFill>
                  <a:srgbClr val="0B6E8F"/>
                </a:solidFill>
                <a:latin typeface="DM Sans"/>
              </a:rPr>
              <a:t>02 · De norm: 80% van die waaktijd, zeven dagen per week</a:t>
            </a:r>
          </a:p>
        </p:txBody>
      </p:sp>
      <p:sp>
        <p:nvSpPr>
          <p:cNvPr id="16" name="Rectangle 15"/>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2500" y="3566120"/>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8" name="Rectangle 17"/>
          <p:cNvSpPr/>
          <p:nvPr/>
        </p:nvSpPr>
        <p:spPr>
          <a:xfrm>
            <a:off x="6273800" y="33972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26350" y="33972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3800" y="3917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2800" y="41592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5753100"/>
            <a:ext cx="1955800" cy="292100"/>
          </a:xfrm>
          <a:prstGeom prst="rect">
            <a:avLst/>
          </a:prstGeom>
          <a:noFill/>
        </p:spPr>
        <p:txBody>
          <a:bodyPr wrap="none" lIns="0" rIns="0" tIns="0" bIns="0" anchor="t">
            <a:noAutofit/>
          </a:bodyPr>
          <a:lstStyle/>
          <a:p>
            <a:pPr algn="l"/>
            <a:r>
              <a:rPr sz="1750" b="1" i="0">
                <a:solidFill>
                  <a:srgbClr val="A34A00"/>
                </a:solidFill>
                <a:latin typeface="DM Sans"/>
              </a:rPr>
              <a:t>Wat verandert</a:t>
            </a:r>
          </a:p>
        </p:txBody>
      </p:sp>
      <p:sp>
        <p:nvSpPr>
          <p:cNvPr id="23" name="TextBox 22"/>
          <p:cNvSpPr txBox="1"/>
          <p:nvPr/>
        </p:nvSpPr>
        <p:spPr>
          <a:xfrm>
            <a:off x="2535436" y="5734050"/>
            <a:ext cx="8534400" cy="300038"/>
          </a:xfrm>
          <a:prstGeom prst="rect">
            <a:avLst/>
          </a:prstGeom>
          <a:noFill/>
        </p:spPr>
        <p:txBody>
          <a:bodyPr wrap="none" lIns="0" rIns="0" tIns="0" bIns="0" anchor="t">
            <a:noAutofit/>
          </a:bodyPr>
          <a:lstStyle/>
          <a:p>
            <a:pPr algn="l">
              <a:lnSpc>
                <a:spcPts val="2362"/>
              </a:lnSpc>
            </a:pPr>
            <a:r>
              <a:rPr sz="1750" b="0" i="0">
                <a:solidFill>
                  <a:srgbClr val="0A2540"/>
                </a:solidFill>
                <a:latin typeface="DM Sans"/>
              </a:rPr>
              <a:t>De meetweek op maand 6 vervalt: minder werk voor uw team.</a:t>
            </a:r>
          </a:p>
        </p:txBody>
      </p:sp>
      <p:pic>
        <p:nvPicPr>
          <p:cNvPr id="24" name="Picture 23" descr="c3433b372cfc1d99d6ab11119954a595.png"/>
          <p:cNvPicPr>
            <a:picLocks noChangeAspect="1"/>
          </p:cNvPicPr>
          <p:nvPr/>
        </p:nvPicPr>
        <p:blipFill>
          <a:blip r:embed="rId3"/>
          <a:stretch>
            <a:fillRect/>
          </a:stretch>
        </p:blipFill>
        <p:spPr>
          <a:xfrm>
            <a:off x="9627592" y="391517"/>
            <a:ext cx="2205236" cy="1642467"/>
          </a:xfrm>
          <a:prstGeom prst="rect">
            <a:avLst/>
          </a:prstGeom>
        </p:spPr>
      </p:pic>
      <p:sp>
        <p:nvSpPr>
          <p:cNvPr id="25" name="Rectangle 24"/>
          <p:cNvSpPr/>
          <p:nvPr/>
        </p:nvSpPr>
        <p:spPr>
          <a:xfrm>
            <a:off x="6273800" y="3409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26350" y="34099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73800" y="39306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4993084"/>
            <a:ext cx="1955800" cy="184150"/>
          </a:xfrm>
          <a:prstGeom prst="rect">
            <a:avLst/>
          </a:prstGeom>
          <a:noFill/>
        </p:spPr>
        <p:txBody>
          <a:bodyPr wrap="none" lIns="0" rIns="0" tIns="0" bIns="0" anchor="t">
            <a:noAutofit/>
          </a:bodyPr>
          <a:lstStyle/>
          <a:p>
            <a:pPr algn="l"/>
            <a:r>
              <a:rPr sz="1100" b="1" i="0">
                <a:solidFill>
                  <a:srgbClr val="0B6E8F"/>
                </a:solidFill>
                <a:latin typeface="DM Sans"/>
              </a:rPr>
              <a:t>03 · De boodschap</a:t>
            </a:r>
          </a:p>
        </p:txBody>
      </p:sp>
      <p:sp>
        <p:nvSpPr>
          <p:cNvPr id="29" name="TextBox 28"/>
          <p:cNvSpPr txBox="1"/>
          <p:nvPr/>
        </p:nvSpPr>
        <p:spPr>
          <a:xfrm>
            <a:off x="2269034" y="4894957"/>
            <a:ext cx="10617200" cy="317500"/>
          </a:xfrm>
          <a:prstGeom prst="rect">
            <a:avLst/>
          </a:prstGeom>
          <a:noFill/>
        </p:spPr>
        <p:txBody>
          <a:bodyPr wrap="none" lIns="0" rIns="0" tIns="0" bIns="0" anchor="t">
            <a:noAutofit/>
          </a:bodyPr>
          <a:lstStyle/>
          <a:p>
            <a:pPr algn="l">
              <a:lnSpc>
                <a:spcPts val="2500"/>
              </a:lnSpc>
            </a:pPr>
            <a:r>
              <a:rPr sz="2000" b="0" i="1">
                <a:solidFill>
                  <a:srgbClr val="0A2540"/>
                </a:solidFill>
                <a:latin typeface="DM Serif Display"/>
              </a:rPr>
              <a:t>“U draagt uw schoenen altijd, van het moment dat u opstaat tot u gaat slapen.”</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pic>
        <p:nvPicPr>
          <p:cNvPr id="2" name="Picture 1" descr="4e287ae005ab9f8997461f000820af22.png"/>
          <p:cNvPicPr>
            <a:picLocks noChangeAspect="1"/>
          </p:cNvPicPr>
          <p:nvPr/>
        </p:nvPicPr>
        <p:blipFill>
          <a:blip r:embed="rId2"/>
          <a:stretch>
            <a:fillRect/>
          </a:stretch>
        </p:blipFill>
        <p:spPr>
          <a:xfrm>
            <a:off x="7874000" y="0"/>
            <a:ext cx="6388100" cy="7302500"/>
          </a:xfrm>
          <a:prstGeom prst="rect">
            <a:avLst/>
          </a:prstGeom>
        </p:spPr>
      </p:pic>
      <p:sp>
        <p:nvSpPr>
          <p:cNvPr id="3" name="Rounded Rectangle 2"/>
          <p:cNvSpPr/>
          <p:nvPr/>
        </p:nvSpPr>
        <p:spPr>
          <a:xfrm>
            <a:off x="8128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8f5a364bd78bb1a03e64718e5c9b51ca.png"/>
          <p:cNvPicPr>
            <a:picLocks noChangeAspect="1"/>
          </p:cNvPicPr>
          <p:nvPr/>
        </p:nvPicPr>
        <p:blipFill>
          <a:blip r:embed="rId3"/>
          <a:stretch>
            <a:fillRect/>
          </a:stretch>
        </p:blipFill>
        <p:spPr>
          <a:xfrm>
            <a:off x="819150" y="2800350"/>
            <a:ext cx="2476500" cy="1393031"/>
          </a:xfrm>
          <a:prstGeom prst="rect">
            <a:avLst/>
          </a:prstGeom>
        </p:spPr>
      </p:pic>
      <p:sp>
        <p:nvSpPr>
          <p:cNvPr id="5" name="Rounded Rectangle 4"/>
          <p:cNvSpPr/>
          <p:nvPr/>
        </p:nvSpPr>
        <p:spPr>
          <a:xfrm>
            <a:off x="8128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128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1 Waar we staan</a:t>
            </a:r>
          </a:p>
        </p:txBody>
      </p:sp>
      <p:sp>
        <p:nvSpPr>
          <p:cNvPr id="7" name="Rounded Rectangle 6"/>
          <p:cNvSpPr/>
          <p:nvPr/>
        </p:nvSpPr>
        <p:spPr>
          <a:xfrm>
            <a:off x="35052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626ffe89d287ff5eaf9111d59a37c71.png"/>
          <p:cNvPicPr>
            <a:picLocks noChangeAspect="1"/>
          </p:cNvPicPr>
          <p:nvPr/>
        </p:nvPicPr>
        <p:blipFill>
          <a:blip r:embed="rId4"/>
          <a:stretch>
            <a:fillRect/>
          </a:stretch>
        </p:blipFill>
        <p:spPr>
          <a:xfrm>
            <a:off x="3511550" y="2800350"/>
            <a:ext cx="2476500" cy="1393031"/>
          </a:xfrm>
          <a:prstGeom prst="rect">
            <a:avLst/>
          </a:prstGeom>
        </p:spPr>
      </p:pic>
      <p:sp>
        <p:nvSpPr>
          <p:cNvPr id="9" name="Rounded Rectangle 8"/>
          <p:cNvSpPr/>
          <p:nvPr/>
        </p:nvSpPr>
        <p:spPr>
          <a:xfrm>
            <a:off x="35052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052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2 De twee normen</a:t>
            </a:r>
          </a:p>
        </p:txBody>
      </p:sp>
      <p:pic>
        <p:nvPicPr>
          <p:cNvPr id="11" name="Picture 10" descr="d637644dfb17d408b1612e6ce29a4c90.png"/>
          <p:cNvPicPr>
            <a:picLocks noChangeAspect="1"/>
          </p:cNvPicPr>
          <p:nvPr/>
        </p:nvPicPr>
        <p:blipFill>
          <a:blip r:embed="rId5"/>
          <a:stretch>
            <a:fillRect/>
          </a:stretch>
        </p:blipFill>
        <p:spPr>
          <a:xfrm>
            <a:off x="6375400" y="2616200"/>
            <a:ext cx="2133600" cy="1200150"/>
          </a:xfrm>
          <a:prstGeom prst="rect">
            <a:avLst/>
          </a:prstGeom>
        </p:spPr>
      </p:pic>
      <p:pic>
        <p:nvPicPr>
          <p:cNvPr id="12" name="Picture 11" descr="044714e05088d05ecc779bea37a6d2a3.png"/>
          <p:cNvPicPr>
            <a:picLocks noChangeAspect="1"/>
          </p:cNvPicPr>
          <p:nvPr/>
        </p:nvPicPr>
        <p:blipFill>
          <a:blip r:embed="rId6"/>
          <a:stretch>
            <a:fillRect/>
          </a:stretch>
        </p:blipFill>
        <p:spPr>
          <a:xfrm>
            <a:off x="6286500" y="2705100"/>
            <a:ext cx="2311400" cy="1301750"/>
          </a:xfrm>
          <a:prstGeom prst="rect">
            <a:avLst/>
          </a:prstGeom>
        </p:spPr>
      </p:pic>
      <p:sp>
        <p:nvSpPr>
          <p:cNvPr id="13" name="Rounded Rectangle 12"/>
          <p:cNvSpPr/>
          <p:nvPr/>
        </p:nvSpPr>
        <p:spPr>
          <a:xfrm>
            <a:off x="6197600" y="27940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ef2004349ab66d8e00dcd64e773bea7e.png"/>
          <p:cNvPicPr>
            <a:picLocks noChangeAspect="1"/>
          </p:cNvPicPr>
          <p:nvPr/>
        </p:nvPicPr>
        <p:blipFill>
          <a:blip r:embed="rId7"/>
          <a:stretch>
            <a:fillRect/>
          </a:stretch>
        </p:blipFill>
        <p:spPr>
          <a:xfrm>
            <a:off x="6216650" y="2813050"/>
            <a:ext cx="2451100" cy="1378744"/>
          </a:xfrm>
          <a:prstGeom prst="rect">
            <a:avLst/>
          </a:prstGeom>
        </p:spPr>
      </p:pic>
      <p:sp>
        <p:nvSpPr>
          <p:cNvPr id="15" name="TextBox 14"/>
          <p:cNvSpPr txBox="1"/>
          <p:nvPr/>
        </p:nvSpPr>
        <p:spPr>
          <a:xfrm>
            <a:off x="6197600" y="4279900"/>
            <a:ext cx="2540000" cy="213360"/>
          </a:xfrm>
          <a:prstGeom prst="rect">
            <a:avLst/>
          </a:prstGeom>
          <a:noFill/>
        </p:spPr>
        <p:txBody>
          <a:bodyPr wrap="none" lIns="0" rIns="0" tIns="0" bIns="0" anchor="t">
            <a:noAutofit/>
          </a:bodyPr>
          <a:lstStyle/>
          <a:p>
            <a:pPr algn="l">
              <a:lnSpc>
                <a:spcPts val="1680"/>
              </a:lnSpc>
            </a:pPr>
            <a:r>
              <a:rPr sz="1400" b="0" i="0">
                <a:solidFill>
                  <a:srgbClr val="A34A00"/>
                </a:solidFill>
                <a:latin typeface="DM Sans"/>
              </a:rPr>
              <a:t>3 In uw kliniek</a:t>
            </a:r>
          </a:p>
        </p:txBody>
      </p:sp>
      <p:pic>
        <p:nvPicPr>
          <p:cNvPr id="16" name="Picture 15" descr="f47b2c5d55fdfa1b7561ac418fc51cae.png"/>
          <p:cNvPicPr>
            <a:picLocks noChangeAspect="1"/>
          </p:cNvPicPr>
          <p:nvPr/>
        </p:nvPicPr>
        <p:blipFill>
          <a:blip r:embed="rId8"/>
          <a:stretch>
            <a:fillRect/>
          </a:stretch>
        </p:blipFill>
        <p:spPr>
          <a:xfrm>
            <a:off x="9067800" y="2616200"/>
            <a:ext cx="2133600" cy="1200150"/>
          </a:xfrm>
          <a:prstGeom prst="rect">
            <a:avLst/>
          </a:prstGeom>
        </p:spPr>
      </p:pic>
      <p:pic>
        <p:nvPicPr>
          <p:cNvPr id="17" name="Picture 16" descr="3037ecb82de3ed48eb6cda2a03246223.png"/>
          <p:cNvPicPr>
            <a:picLocks noChangeAspect="1"/>
          </p:cNvPicPr>
          <p:nvPr/>
        </p:nvPicPr>
        <p:blipFill>
          <a:blip r:embed="rId9"/>
          <a:stretch>
            <a:fillRect/>
          </a:stretch>
        </p:blipFill>
        <p:spPr>
          <a:xfrm>
            <a:off x="8978900" y="2705100"/>
            <a:ext cx="2311400" cy="1301750"/>
          </a:xfrm>
          <a:prstGeom prst="rect">
            <a:avLst/>
          </a:prstGeom>
        </p:spPr>
      </p:pic>
      <p:sp>
        <p:nvSpPr>
          <p:cNvPr id="18" name="Rounded Rectangle 17"/>
          <p:cNvSpPr/>
          <p:nvPr/>
        </p:nvSpPr>
        <p:spPr>
          <a:xfrm>
            <a:off x="88900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688beb89a3727568ae3896cb19de0e02.png"/>
          <p:cNvPicPr>
            <a:picLocks noChangeAspect="1"/>
          </p:cNvPicPr>
          <p:nvPr/>
        </p:nvPicPr>
        <p:blipFill>
          <a:blip r:embed="rId10"/>
          <a:stretch>
            <a:fillRect/>
          </a:stretch>
        </p:blipFill>
        <p:spPr>
          <a:xfrm>
            <a:off x="8896350" y="2800350"/>
            <a:ext cx="2476500" cy="1393031"/>
          </a:xfrm>
          <a:prstGeom prst="rect">
            <a:avLst/>
          </a:prstGeom>
        </p:spPr>
      </p:pic>
      <p:sp>
        <p:nvSpPr>
          <p:cNvPr id="20" name="TextBox 19"/>
          <p:cNvSpPr txBox="1"/>
          <p:nvPr/>
        </p:nvSpPr>
        <p:spPr>
          <a:xfrm>
            <a:off x="8890000" y="4279900"/>
            <a:ext cx="2540000" cy="213360"/>
          </a:xfrm>
          <a:prstGeom prst="rect">
            <a:avLst/>
          </a:prstGeom>
          <a:noFill/>
        </p:spPr>
        <p:txBody>
          <a:bodyPr wrap="none" lIns="0" rIns="0" tIns="0" bIns="0" anchor="t">
            <a:noAutofit/>
          </a:bodyPr>
          <a:lstStyle/>
          <a:p>
            <a:pPr algn="l">
              <a:lnSpc>
                <a:spcPts val="1680"/>
              </a:lnSpc>
            </a:pPr>
            <a:r>
              <a:rPr sz="1400" b="0" i="0">
                <a:solidFill>
                  <a:srgbClr val="0A2540"/>
                </a:solidFill>
                <a:latin typeface="DM Sans"/>
              </a:rPr>
              <a:t>4 Naar de eerste patiënt</a:t>
            </a:r>
          </a:p>
        </p:txBody>
      </p:sp>
      <p:sp>
        <p:nvSpPr>
          <p:cNvPr id="21" name="TextBox 20"/>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pic>
        <p:nvPicPr>
          <p:cNvPr id="22" name="Picture 21" descr="ec5c93e6f83f209b4e97ddfdecd480c8.png"/>
          <p:cNvPicPr>
            <a:picLocks noChangeAspect="1"/>
          </p:cNvPicPr>
          <p:nvPr/>
        </p:nvPicPr>
        <p:blipFill>
          <a:blip r:embed="rId11"/>
          <a:stretch>
            <a:fillRect/>
          </a:stretch>
        </p:blipFill>
        <p:spPr>
          <a:xfrm>
            <a:off x="812967" y="6261100"/>
            <a:ext cx="171116" cy="203200"/>
          </a:xfrm>
          <a:prstGeom prst="rect">
            <a:avLst/>
          </a:prstGeom>
        </p:spPr>
      </p:pic>
      <p:sp>
        <p:nvSpPr>
          <p:cNvPr id="23" name="TextBox 22"/>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5A6E80"/>
                </a:solidFill>
                <a:latin typeface="DM Sans"/>
              </a:rPr>
              <a:t>PARADISE · AZ Groeninge Kortrijk</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955800" cy="5029200"/>
          </a:xfrm>
          <a:prstGeom prst="rect">
            <a:avLst/>
          </a:prstGeom>
          <a:noFill/>
        </p:spPr>
        <p:txBody>
          <a:bodyPr wrap="square" lIns="0" rIns="0" tIns="0" bIns="0" anchor="t">
            <a:noAutofit/>
          </a:bodyPr>
          <a:lstStyle/>
          <a:p>
            <a:pPr algn="l">
              <a:lnSpc>
                <a:spcPts val="16200"/>
              </a:lnSpc>
            </a:pPr>
            <a:r>
              <a:rPr sz="18000" b="0" i="0">
                <a:solidFill>
                  <a:srgbClr val="FF9A3D"/>
                </a:solidFill>
                <a:latin typeface="DM Serif Display"/>
              </a:rPr>
              <a:t>3</a:t>
            </a:r>
          </a:p>
        </p:txBody>
      </p:sp>
      <p:sp>
        <p:nvSpPr>
          <p:cNvPr id="4" name="TextBox 3"/>
          <p:cNvSpPr txBox="1"/>
          <p:nvPr/>
        </p:nvSpPr>
        <p:spPr>
          <a:xfrm>
            <a:off x="3327400" y="812800"/>
            <a:ext cx="8102600" cy="215900"/>
          </a:xfrm>
          <a:prstGeom prst="rect">
            <a:avLst/>
          </a:prstGeom>
          <a:noFill/>
        </p:spPr>
        <p:txBody>
          <a:bodyPr wrap="none" lIns="0" rIns="0" tIns="0" bIns="0" anchor="t">
            <a:noAutofit/>
          </a:bodyPr>
          <a:lstStyle/>
          <a:p>
            <a:pPr algn="l"/>
            <a:r>
              <a:rPr sz="1300" b="1" i="0">
                <a:solidFill>
                  <a:srgbClr val="52BDEC"/>
                </a:solidFill>
                <a:latin typeface="DM Sans"/>
              </a:rPr>
              <a:t>Deel 3 van 4</a:t>
            </a:r>
          </a:p>
        </p:txBody>
      </p:sp>
      <p:sp>
        <p:nvSpPr>
          <p:cNvPr id="5" name="TextBox 4"/>
          <p:cNvSpPr txBox="1"/>
          <p:nvPr/>
        </p:nvSpPr>
        <p:spPr>
          <a:xfrm>
            <a:off x="3327400" y="1206500"/>
            <a:ext cx="8102600" cy="586740"/>
          </a:xfrm>
          <a:prstGeom prst="rect">
            <a:avLst/>
          </a:prstGeom>
          <a:noFill/>
        </p:spPr>
        <p:txBody>
          <a:bodyPr wrap="none" lIns="0" rIns="0" tIns="0" bIns="0" anchor="t">
            <a:noAutofit/>
          </a:bodyPr>
          <a:lstStyle/>
          <a:p>
            <a:pPr algn="l">
              <a:lnSpc>
                <a:spcPts val="4620"/>
              </a:lnSpc>
            </a:pPr>
            <a:r>
              <a:rPr sz="4400" b="0" i="0" spc="-50">
                <a:solidFill>
                  <a:srgbClr val="F2F8FC"/>
                </a:solidFill>
                <a:latin typeface="DM Serif Display"/>
              </a:rPr>
              <a:t>In uw kliniek</a:t>
            </a:r>
          </a:p>
        </p:txBody>
      </p:sp>
      <p:sp>
        <p:nvSpPr>
          <p:cNvPr id="6" name="TextBox 5"/>
          <p:cNvSpPr txBox="1"/>
          <p:nvPr/>
        </p:nvSpPr>
        <p:spPr>
          <a:xfrm>
            <a:off x="3327400" y="1970980"/>
            <a:ext cx="8102600" cy="335280"/>
          </a:xfrm>
          <a:prstGeom prst="rect">
            <a:avLst/>
          </a:prstGeom>
          <a:noFill/>
        </p:spPr>
        <p:txBody>
          <a:bodyPr wrap="none" lIns="0" rIns="0" tIns="0" bIns="0" anchor="t">
            <a:noAutofit/>
          </a:bodyPr>
          <a:lstStyle/>
          <a:p>
            <a:pPr algn="l">
              <a:lnSpc>
                <a:spcPts val="2640"/>
              </a:lnSpc>
            </a:pPr>
            <a:r>
              <a:rPr sz="2200" b="0" i="1">
                <a:solidFill>
                  <a:srgbClr val="52BDEC"/>
                </a:solidFill>
                <a:latin typeface="DM Serif Display"/>
              </a:rPr>
              <a:t>Wat doet uw team?</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27400" y="414416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wie in aanmerking komt</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27400" y="459243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het traject, in beide armen</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7400" y="504070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SEBIA op elke visite</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27400" y="5488980"/>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bij een nieuwe wonde</a:t>
            </a:r>
          </a:p>
        </p:txBody>
      </p:sp>
      <p:pic>
        <p:nvPicPr>
          <p:cNvPr id="15" name="Picture 1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6F8FAA"/>
                </a:solidFill>
                <a:latin typeface="DM Sans"/>
              </a:rPr>
              <a:t>PARADISE · In uw kliniek</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Wie komt in aanmerking</a:t>
            </a:r>
          </a:p>
        </p:txBody>
      </p:sp>
      <p:sp>
        <p:nvSpPr>
          <p:cNvPr id="3" name="TextBox 2"/>
          <p:cNvSpPr txBox="1"/>
          <p:nvPr/>
        </p:nvSpPr>
        <p:spPr>
          <a:xfrm>
            <a:off x="812800" y="1544241"/>
            <a:ext cx="5130800" cy="228600"/>
          </a:xfrm>
          <a:prstGeom prst="rect">
            <a:avLst/>
          </a:prstGeom>
          <a:noFill/>
        </p:spPr>
        <p:txBody>
          <a:bodyPr wrap="none" lIns="0" rIns="0" tIns="0" bIns="0" anchor="t">
            <a:noAutofit/>
          </a:bodyPr>
          <a:lstStyle/>
          <a:p>
            <a:pPr algn="l">
              <a:lnSpc>
                <a:spcPts val="1800"/>
              </a:lnSpc>
            </a:pPr>
            <a:r>
              <a:rPr sz="1500" b="1" i="0">
                <a:solidFill>
                  <a:srgbClr val="0B6E8F"/>
                </a:solidFill>
                <a:latin typeface="DM Sans"/>
              </a:rPr>
              <a:t>Wel</a:t>
            </a:r>
            <a:r>
              <a:rPr sz="1200" b="0" i="0">
                <a:solidFill>
                  <a:srgbClr val="5A6E80"/>
                </a:solidFill>
                <a:latin typeface="DM Sans"/>
              </a:rPr>
              <a:t> · onthoud VOETEN</a:t>
            </a:r>
          </a:p>
        </p:txBody>
      </p:sp>
      <p:sp>
        <p:nvSpPr>
          <p:cNvPr id="4" name="Rounded Rectangle 3"/>
          <p:cNvSpPr/>
          <p:nvPr/>
        </p:nvSpPr>
        <p:spPr>
          <a:xfrm>
            <a:off x="812800" y="187444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7674" y="1944291"/>
            <a:ext cx="171252"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V</a:t>
            </a:r>
          </a:p>
        </p:txBody>
      </p:sp>
      <p:sp>
        <p:nvSpPr>
          <p:cNvPr id="6" name="TextBox 5"/>
          <p:cNvSpPr txBox="1"/>
          <p:nvPr/>
        </p:nvSpPr>
        <p:spPr>
          <a:xfrm>
            <a:off x="1282700" y="1874441"/>
            <a:ext cx="2876054"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V</a:t>
            </a:r>
            <a:r>
              <a:rPr sz="1350" b="1" i="0">
                <a:solidFill>
                  <a:srgbClr val="0A2540"/>
                </a:solidFill>
                <a:latin typeface="DM Sans"/>
              </a:rPr>
              <a:t>aten stabiel</a:t>
            </a:r>
          </a:p>
        </p:txBody>
      </p:sp>
      <p:sp>
        <p:nvSpPr>
          <p:cNvPr id="7" name="TextBox 6"/>
          <p:cNvSpPr txBox="1"/>
          <p:nvPr/>
        </p:nvSpPr>
        <p:spPr>
          <a:xfrm>
            <a:off x="1282700" y="2101453"/>
            <a:ext cx="2876054" cy="189865"/>
          </a:xfrm>
          <a:prstGeom prst="rect">
            <a:avLst/>
          </a:prstGeom>
          <a:noFill/>
        </p:spPr>
        <p:txBody>
          <a:bodyPr wrap="none" lIns="0" rIns="0" tIns="0" bIns="0" anchor="t">
            <a:noAutofit/>
          </a:bodyPr>
          <a:lstStyle/>
          <a:p>
            <a:pPr algn="l">
              <a:lnSpc>
                <a:spcPts val="1495"/>
              </a:lnSpc>
            </a:pPr>
            <a:r>
              <a:rPr sz="1150" b="0" i="0">
                <a:solidFill>
                  <a:srgbClr val="3A4F63"/>
                </a:solidFill>
                <a:latin typeface="DM Sans"/>
              </a:rPr>
              <a:t>PEDIS-graad 1–2, naar oordeel van de arts</a:t>
            </a:r>
          </a:p>
        </p:txBody>
      </p:sp>
      <p:sp>
        <p:nvSpPr>
          <p:cNvPr id="8" name="Rounded Rectangle 7"/>
          <p:cNvSpPr/>
          <p:nvPr/>
        </p:nvSpPr>
        <p:spPr>
          <a:xfrm>
            <a:off x="812800" y="239285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003" y="2462709"/>
            <a:ext cx="178495"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O</a:t>
            </a:r>
          </a:p>
        </p:txBody>
      </p:sp>
      <p:sp>
        <p:nvSpPr>
          <p:cNvPr id="10" name="TextBox 9"/>
          <p:cNvSpPr txBox="1"/>
          <p:nvPr/>
        </p:nvSpPr>
        <p:spPr>
          <a:xfrm>
            <a:off x="1282700" y="2392859"/>
            <a:ext cx="4660900"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O</a:t>
            </a:r>
            <a:r>
              <a:rPr sz="1350" b="1" i="0">
                <a:solidFill>
                  <a:srgbClr val="0A2540"/>
                </a:solidFill>
                <a:latin typeface="DM Sans"/>
              </a:rPr>
              <a:t>nlangs een voetwonde</a:t>
            </a:r>
          </a:p>
        </p:txBody>
      </p:sp>
      <p:sp>
        <p:nvSpPr>
          <p:cNvPr id="11" name="TextBox 10"/>
          <p:cNvSpPr txBox="1"/>
          <p:nvPr/>
        </p:nvSpPr>
        <p:spPr>
          <a:xfrm>
            <a:off x="1282700" y="2619871"/>
            <a:ext cx="4702302" cy="569416"/>
          </a:xfrm>
          <a:prstGeom prst="rect">
            <a:avLst/>
          </a:prstGeom>
          <a:noFill/>
        </p:spPr>
        <p:txBody>
          <a:bodyPr wrap="square" lIns="0" rIns="0" tIns="0" bIns="0" anchor="t">
            <a:noAutofit/>
          </a:bodyPr>
          <a:lstStyle/>
          <a:p>
            <a:pPr algn="l">
              <a:lnSpc>
                <a:spcPts val="1495"/>
              </a:lnSpc>
            </a:pPr>
            <a:r>
              <a:rPr sz="1150" b="0" i="0">
                <a:solidFill>
                  <a:srgbClr val="3A4F63"/>
                </a:solidFill>
                <a:latin typeface="DM Sans"/>
              </a:rPr>
              <a:t>IWGDF-risico 3: genezen plantair ulcus, teen- of halluxamputatie, of resectie van één of meer metatarsaalkopjes (ook de eerste), 2 weken tot 18 maanden geleden</a:t>
            </a:r>
          </a:p>
        </p:txBody>
      </p:sp>
      <p:sp>
        <p:nvSpPr>
          <p:cNvPr id="12" name="Rounded Rectangle 11"/>
          <p:cNvSpPr/>
          <p:nvPr/>
        </p:nvSpPr>
        <p:spPr>
          <a:xfrm>
            <a:off x="812800" y="329088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016" y="3360738"/>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14" name="TextBox 13"/>
          <p:cNvSpPr txBox="1"/>
          <p:nvPr/>
        </p:nvSpPr>
        <p:spPr>
          <a:xfrm>
            <a:off x="1282700" y="3290888"/>
            <a:ext cx="3341390"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igen stappen</a:t>
            </a:r>
          </a:p>
        </p:txBody>
      </p:sp>
      <p:sp>
        <p:nvSpPr>
          <p:cNvPr id="15" name="TextBox 14"/>
          <p:cNvSpPr txBox="1"/>
          <p:nvPr/>
        </p:nvSpPr>
        <p:spPr>
          <a:xfrm>
            <a:off x="1282700" y="3517900"/>
            <a:ext cx="3341390" cy="189865"/>
          </a:xfrm>
          <a:prstGeom prst="rect">
            <a:avLst/>
          </a:prstGeom>
          <a:noFill/>
        </p:spPr>
        <p:txBody>
          <a:bodyPr wrap="none" lIns="0" rIns="0" tIns="0" bIns="0" anchor="t">
            <a:noAutofit/>
          </a:bodyPr>
          <a:lstStyle/>
          <a:p>
            <a:pPr algn="l">
              <a:lnSpc>
                <a:spcPts val="1495"/>
              </a:lnSpc>
            </a:pPr>
            <a:r>
              <a:rPr sz="1150" b="0" i="0">
                <a:solidFill>
                  <a:srgbClr val="3A4F63"/>
                </a:solidFill>
                <a:latin typeface="DM Sans"/>
              </a:rPr>
              <a:t>Stapt zelfstandig blootsvoets, zonder hulpmiddel</a:t>
            </a:r>
          </a:p>
        </p:txBody>
      </p:sp>
      <p:sp>
        <p:nvSpPr>
          <p:cNvPr id="16" name="Rounded Rectangle 15"/>
          <p:cNvSpPr/>
          <p:nvPr/>
        </p:nvSpPr>
        <p:spPr>
          <a:xfrm>
            <a:off x="812800" y="38093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170" y="3879155"/>
            <a:ext cx="170259"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T</a:t>
            </a:r>
          </a:p>
        </p:txBody>
      </p:sp>
      <p:sp>
        <p:nvSpPr>
          <p:cNvPr id="18" name="TextBox 17"/>
          <p:cNvSpPr txBox="1"/>
          <p:nvPr/>
        </p:nvSpPr>
        <p:spPr>
          <a:xfrm>
            <a:off x="1282700" y="3809305"/>
            <a:ext cx="914499"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T</a:t>
            </a:r>
            <a:r>
              <a:rPr sz="1350" b="1" i="0">
                <a:solidFill>
                  <a:srgbClr val="0A2540"/>
                </a:solidFill>
                <a:latin typeface="DM Sans"/>
              </a:rPr>
              <a:t>ype 1 of 2</a:t>
            </a:r>
          </a:p>
        </p:txBody>
      </p:sp>
      <p:sp>
        <p:nvSpPr>
          <p:cNvPr id="19" name="Rounded Rectangle 18"/>
          <p:cNvSpPr/>
          <p:nvPr/>
        </p:nvSpPr>
        <p:spPr>
          <a:xfrm>
            <a:off x="812800" y="42411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25016" y="4310955"/>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21" name="TextBox 20"/>
          <p:cNvSpPr txBox="1"/>
          <p:nvPr/>
        </p:nvSpPr>
        <p:spPr>
          <a:xfrm>
            <a:off x="1282700" y="4241105"/>
            <a:ext cx="2484338"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E</a:t>
            </a:r>
            <a:r>
              <a:rPr sz="1350" b="1" i="0">
                <a:solidFill>
                  <a:srgbClr val="0A2540"/>
                </a:solidFill>
                <a:latin typeface="DM Sans"/>
              </a:rPr>
              <a:t>cht beschermend schoeisel</a:t>
            </a:r>
          </a:p>
        </p:txBody>
      </p:sp>
      <p:sp>
        <p:nvSpPr>
          <p:cNvPr id="22" name="TextBox 21"/>
          <p:cNvSpPr txBox="1"/>
          <p:nvPr/>
        </p:nvSpPr>
        <p:spPr>
          <a:xfrm>
            <a:off x="1282700" y="4468118"/>
            <a:ext cx="2484338" cy="189865"/>
          </a:xfrm>
          <a:prstGeom prst="rect">
            <a:avLst/>
          </a:prstGeom>
          <a:noFill/>
        </p:spPr>
        <p:txBody>
          <a:bodyPr wrap="none" lIns="0" rIns="0" tIns="0" bIns="0" anchor="t">
            <a:noAutofit/>
          </a:bodyPr>
          <a:lstStyle/>
          <a:p>
            <a:pPr algn="l">
              <a:lnSpc>
                <a:spcPts val="1495"/>
              </a:lnSpc>
            </a:pPr>
            <a:r>
              <a:rPr sz="1150" b="0" i="0">
                <a:solidFill>
                  <a:srgbClr val="3A4F63"/>
                </a:solidFill>
                <a:latin typeface="DM Sans"/>
              </a:rPr>
              <a:t>of bereid om over te schakelen</a:t>
            </a:r>
          </a:p>
        </p:txBody>
      </p:sp>
      <p:sp>
        <p:nvSpPr>
          <p:cNvPr id="23" name="Rounded Rectangle 22"/>
          <p:cNvSpPr/>
          <p:nvPr/>
        </p:nvSpPr>
        <p:spPr>
          <a:xfrm>
            <a:off x="812800" y="475952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5690" y="4829373"/>
            <a:ext cx="175220"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N</a:t>
            </a:r>
          </a:p>
        </p:txBody>
      </p:sp>
      <p:sp>
        <p:nvSpPr>
          <p:cNvPr id="25" name="TextBox 24"/>
          <p:cNvSpPr txBox="1"/>
          <p:nvPr/>
        </p:nvSpPr>
        <p:spPr>
          <a:xfrm>
            <a:off x="1282700" y="4759523"/>
            <a:ext cx="2484041" cy="214312"/>
          </a:xfrm>
          <a:prstGeom prst="rect">
            <a:avLst/>
          </a:prstGeom>
          <a:noFill/>
        </p:spPr>
        <p:txBody>
          <a:bodyPr wrap="none" lIns="0" rIns="0" tIns="0" bIns="0" anchor="t">
            <a:noAutofit/>
          </a:bodyPr>
          <a:lstStyle/>
          <a:p>
            <a:pPr algn="l">
              <a:lnSpc>
                <a:spcPts val="1687"/>
              </a:lnSpc>
            </a:pPr>
            <a:r>
              <a:rPr sz="1350" b="1" i="0">
                <a:solidFill>
                  <a:srgbClr val="0B6E8F"/>
                </a:solidFill>
                <a:latin typeface="DM Sans"/>
              </a:rPr>
              <a:t>N</a:t>
            </a:r>
            <a:r>
              <a:rPr sz="1350" b="1" i="0">
                <a:solidFill>
                  <a:srgbClr val="0A2540"/>
                </a:solidFill>
                <a:latin typeface="DM Sans"/>
              </a:rPr>
              <a:t>ederlands en volwassen</a:t>
            </a:r>
          </a:p>
        </p:txBody>
      </p:sp>
      <p:sp>
        <p:nvSpPr>
          <p:cNvPr id="26" name="TextBox 25"/>
          <p:cNvSpPr txBox="1"/>
          <p:nvPr/>
        </p:nvSpPr>
        <p:spPr>
          <a:xfrm>
            <a:off x="1282700" y="4986536"/>
            <a:ext cx="2484041" cy="189865"/>
          </a:xfrm>
          <a:prstGeom prst="rect">
            <a:avLst/>
          </a:prstGeom>
          <a:noFill/>
        </p:spPr>
        <p:txBody>
          <a:bodyPr wrap="none" lIns="0" rIns="0" tIns="0" bIns="0" anchor="t">
            <a:noAutofit/>
          </a:bodyPr>
          <a:lstStyle/>
          <a:p>
            <a:pPr algn="l">
              <a:lnSpc>
                <a:spcPts val="1495"/>
              </a:lnSpc>
            </a:pPr>
            <a:r>
              <a:rPr sz="1150" b="0" i="0">
                <a:solidFill>
                  <a:srgbClr val="3A4F63"/>
                </a:solidFill>
                <a:latin typeface="DM Sans"/>
              </a:rPr>
              <a:t>18 jaar of ouder, begrijpt Nederlands</a:t>
            </a:r>
          </a:p>
        </p:txBody>
      </p:sp>
      <p:sp>
        <p:nvSpPr>
          <p:cNvPr id="27" name="TextBox 26"/>
          <p:cNvSpPr txBox="1"/>
          <p:nvPr/>
        </p:nvSpPr>
        <p:spPr>
          <a:xfrm>
            <a:off x="6299200" y="1544241"/>
            <a:ext cx="5130800" cy="228600"/>
          </a:xfrm>
          <a:prstGeom prst="rect">
            <a:avLst/>
          </a:prstGeom>
          <a:noFill/>
        </p:spPr>
        <p:txBody>
          <a:bodyPr wrap="none" lIns="0" rIns="0" tIns="0" bIns="0" anchor="t">
            <a:noAutofit/>
          </a:bodyPr>
          <a:lstStyle/>
          <a:p>
            <a:pPr algn="l">
              <a:lnSpc>
                <a:spcPts val="1800"/>
              </a:lnSpc>
            </a:pPr>
            <a:r>
              <a:rPr sz="1500" b="1" i="0">
                <a:solidFill>
                  <a:srgbClr val="A34A00"/>
                </a:solidFill>
                <a:latin typeface="DM Sans"/>
              </a:rPr>
              <a:t>Niet</a:t>
            </a:r>
          </a:p>
        </p:txBody>
      </p:sp>
      <p:sp>
        <p:nvSpPr>
          <p:cNvPr id="28" name="TextBox 27"/>
          <p:cNvSpPr txBox="1"/>
          <p:nvPr/>
        </p:nvSpPr>
        <p:spPr>
          <a:xfrm>
            <a:off x="6299200" y="1849041"/>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29" name="TextBox 28"/>
          <p:cNvSpPr txBox="1"/>
          <p:nvPr/>
        </p:nvSpPr>
        <p:spPr>
          <a:xfrm>
            <a:off x="6483747" y="1849041"/>
            <a:ext cx="3499941"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Amputatie proximaal van de MTP-gewrichten</a:t>
            </a:r>
          </a:p>
        </p:txBody>
      </p:sp>
      <p:sp>
        <p:nvSpPr>
          <p:cNvPr id="30" name="TextBox 29"/>
          <p:cNvSpPr txBox="1"/>
          <p:nvPr/>
        </p:nvSpPr>
        <p:spPr>
          <a:xfrm>
            <a:off x="6299200" y="2139851"/>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31" name="TextBox 30"/>
          <p:cNvSpPr txBox="1"/>
          <p:nvPr/>
        </p:nvSpPr>
        <p:spPr>
          <a:xfrm>
            <a:off x="6483747" y="2139851"/>
            <a:ext cx="3088481"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Actief voetulcus of Charcot-deformiteit</a:t>
            </a:r>
          </a:p>
        </p:txBody>
      </p:sp>
      <p:sp>
        <p:nvSpPr>
          <p:cNvPr id="32" name="TextBox 31"/>
          <p:cNvSpPr txBox="1"/>
          <p:nvPr/>
        </p:nvSpPr>
        <p:spPr>
          <a:xfrm>
            <a:off x="6299200" y="2430661"/>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33" name="TextBox 32"/>
          <p:cNvSpPr txBox="1"/>
          <p:nvPr/>
        </p:nvSpPr>
        <p:spPr>
          <a:xfrm>
            <a:off x="6483747" y="2430661"/>
            <a:ext cx="4993362" cy="429220"/>
          </a:xfrm>
          <a:prstGeom prst="rect">
            <a:avLst/>
          </a:prstGeom>
          <a:noFill/>
        </p:spPr>
        <p:txBody>
          <a:bodyPr wrap="square" lIns="0" rIns="0" tIns="0" bIns="0" anchor="t">
            <a:noAutofit/>
          </a:bodyPr>
          <a:lstStyle/>
          <a:p>
            <a:pPr algn="l">
              <a:lnSpc>
                <a:spcPts val="1689"/>
              </a:lnSpc>
            </a:pPr>
            <a:r>
              <a:rPr sz="1300" b="0" i="0">
                <a:solidFill>
                  <a:srgbClr val="3A4F63"/>
                </a:solidFill>
                <a:latin typeface="DM Sans"/>
              </a:rPr>
              <a:t>Kritische ischemie (PEDIS 3: enkeldruk &lt; 50, teendruk &lt; 30 of TcpO₂ &lt; 30 mmHg)</a:t>
            </a:r>
          </a:p>
        </p:txBody>
      </p:sp>
      <p:sp>
        <p:nvSpPr>
          <p:cNvPr id="34" name="TextBox 33"/>
          <p:cNvSpPr txBox="1"/>
          <p:nvPr/>
        </p:nvSpPr>
        <p:spPr>
          <a:xfrm>
            <a:off x="6299200" y="2936081"/>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35" name="TextBox 34"/>
          <p:cNvSpPr txBox="1"/>
          <p:nvPr/>
        </p:nvSpPr>
        <p:spPr>
          <a:xfrm>
            <a:off x="6483747" y="2936081"/>
            <a:ext cx="4428133"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Nierfunctievervangende of immunosuppressieve therapie</a:t>
            </a:r>
          </a:p>
        </p:txBody>
      </p:sp>
      <p:sp>
        <p:nvSpPr>
          <p:cNvPr id="36" name="TextBox 35"/>
          <p:cNvSpPr txBox="1"/>
          <p:nvPr/>
        </p:nvSpPr>
        <p:spPr>
          <a:xfrm>
            <a:off x="6299200" y="3226891"/>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37" name="TextBox 36"/>
          <p:cNvSpPr txBox="1"/>
          <p:nvPr/>
        </p:nvSpPr>
        <p:spPr>
          <a:xfrm>
            <a:off x="6483747" y="3226891"/>
            <a:ext cx="2768104"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Verwachte overleving &lt; 18 maanden</a:t>
            </a:r>
          </a:p>
        </p:txBody>
      </p:sp>
      <p:sp>
        <p:nvSpPr>
          <p:cNvPr id="38" name="TextBox 37"/>
          <p:cNvSpPr txBox="1"/>
          <p:nvPr/>
        </p:nvSpPr>
        <p:spPr>
          <a:xfrm>
            <a:off x="6299200" y="3517702"/>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39" name="TextBox 38"/>
          <p:cNvSpPr txBox="1"/>
          <p:nvPr/>
        </p:nvSpPr>
        <p:spPr>
          <a:xfrm>
            <a:off x="6483747" y="3517702"/>
            <a:ext cx="3841552"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Kan niet toestemmen of de instructies niet volgen</a:t>
            </a:r>
          </a:p>
        </p:txBody>
      </p:sp>
      <p:sp>
        <p:nvSpPr>
          <p:cNvPr id="40" name="TextBox 39"/>
          <p:cNvSpPr txBox="1"/>
          <p:nvPr/>
        </p:nvSpPr>
        <p:spPr>
          <a:xfrm>
            <a:off x="6299200" y="3808512"/>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41" name="TextBox 40"/>
          <p:cNvSpPr txBox="1"/>
          <p:nvPr/>
        </p:nvSpPr>
        <p:spPr>
          <a:xfrm>
            <a:off x="6483747" y="3808512"/>
            <a:ext cx="4993362" cy="429220"/>
          </a:xfrm>
          <a:prstGeom prst="rect">
            <a:avLst/>
          </a:prstGeom>
          <a:noFill/>
        </p:spPr>
        <p:txBody>
          <a:bodyPr wrap="square" lIns="0" rIns="0" tIns="0" bIns="0" anchor="t">
            <a:noAutofit/>
          </a:bodyPr>
          <a:lstStyle/>
          <a:p>
            <a:pPr algn="l">
              <a:lnSpc>
                <a:spcPts val="1689"/>
              </a:lnSpc>
            </a:pPr>
            <a:r>
              <a:rPr sz="1300" b="0" i="0">
                <a:solidFill>
                  <a:srgbClr val="3A4F63"/>
                </a:solidFill>
                <a:latin typeface="DM Sans"/>
              </a:rPr>
              <a:t>Enkel-voetorthese of ander hulpmiddel dat de sensoren belemmert</a:t>
            </a:r>
          </a:p>
        </p:txBody>
      </p:sp>
      <p:sp>
        <p:nvSpPr>
          <p:cNvPr id="42" name="TextBox 41"/>
          <p:cNvSpPr txBox="1"/>
          <p:nvPr/>
        </p:nvSpPr>
        <p:spPr>
          <a:xfrm>
            <a:off x="6299200" y="4313932"/>
            <a:ext cx="146447" cy="214630"/>
          </a:xfrm>
          <a:prstGeom prst="rect">
            <a:avLst/>
          </a:prstGeom>
          <a:noFill/>
        </p:spPr>
        <p:txBody>
          <a:bodyPr wrap="none" lIns="0" rIns="0" tIns="0" bIns="0" anchor="t">
            <a:noAutofit/>
          </a:bodyPr>
          <a:lstStyle/>
          <a:p>
            <a:pPr algn="l">
              <a:lnSpc>
                <a:spcPts val="1689"/>
              </a:lnSpc>
            </a:pPr>
            <a:r>
              <a:rPr sz="1300" b="1" i="0">
                <a:solidFill>
                  <a:srgbClr val="A34A00"/>
                </a:solidFill>
                <a:latin typeface="DM Sans"/>
              </a:rPr>
              <a:t>×</a:t>
            </a:r>
          </a:p>
        </p:txBody>
      </p:sp>
      <p:sp>
        <p:nvSpPr>
          <p:cNvPr id="43" name="TextBox 42"/>
          <p:cNvSpPr txBox="1"/>
          <p:nvPr/>
        </p:nvSpPr>
        <p:spPr>
          <a:xfrm>
            <a:off x="6483747" y="4313932"/>
            <a:ext cx="313223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Weigert het schoeisel of de draagsensor</a:t>
            </a:r>
          </a:p>
        </p:txBody>
      </p:sp>
      <p:pic>
        <p:nvPicPr>
          <p:cNvPr id="44" name="Picture 4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5" name="TextBox 4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46" name="TextBox 4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§4.1 · IWGDF 2023</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94800" y="952500"/>
            <a:ext cx="2209800" cy="285750"/>
          </a:xfrm>
          <a:prstGeom prst="rect">
            <a:avLst/>
          </a:prstGeom>
          <a:noFill/>
        </p:spPr>
        <p:txBody>
          <a:bodyPr wrap="none" lIns="0" rIns="0" tIns="0" bIns="0" anchor="t">
            <a:noAutofit/>
          </a:bodyPr>
          <a:lstStyle/>
          <a:p>
            <a:pPr algn="ctr"/>
            <a:r>
              <a:rPr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5" name="Rectangle 4"/>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Scr</a:t>
            </a:r>
          </a:p>
        </p:txBody>
      </p:sp>
      <p:sp>
        <p:nvSpPr>
          <p:cNvPr id="7" name="TextBox 6"/>
          <p:cNvSpPr txBox="1"/>
          <p:nvPr/>
        </p:nvSpPr>
        <p:spPr>
          <a:xfrm>
            <a:off x="81280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8" name="Rectangle 7"/>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23330"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V0</a:t>
            </a:r>
          </a:p>
        </p:txBody>
      </p:sp>
      <p:sp>
        <p:nvSpPr>
          <p:cNvPr id="10" name="TextBox 9"/>
          <p:cNvSpPr txBox="1"/>
          <p:nvPr/>
        </p:nvSpPr>
        <p:spPr>
          <a:xfrm>
            <a:off x="1723330"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1" name="Rectangle 10"/>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3396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V1</a:t>
            </a:r>
          </a:p>
        </p:txBody>
      </p:sp>
      <p:sp>
        <p:nvSpPr>
          <p:cNvPr id="13" name="TextBox 12"/>
          <p:cNvSpPr txBox="1"/>
          <p:nvPr/>
        </p:nvSpPr>
        <p:spPr>
          <a:xfrm>
            <a:off x="263396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4" name="Rectangle 13"/>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449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V2</a:t>
            </a:r>
          </a:p>
        </p:txBody>
      </p:sp>
      <p:sp>
        <p:nvSpPr>
          <p:cNvPr id="16" name="TextBox 15"/>
          <p:cNvSpPr txBox="1"/>
          <p:nvPr/>
        </p:nvSpPr>
        <p:spPr>
          <a:xfrm>
            <a:off x="354449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7" name="Rectangle 16"/>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512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V3</a:t>
            </a:r>
          </a:p>
        </p:txBody>
      </p:sp>
      <p:sp>
        <p:nvSpPr>
          <p:cNvPr id="19" name="TextBox 18"/>
          <p:cNvSpPr txBox="1"/>
          <p:nvPr/>
        </p:nvSpPr>
        <p:spPr>
          <a:xfrm>
            <a:off x="445512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20" name="Rectangle 19"/>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6565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V4</a:t>
            </a:r>
          </a:p>
        </p:txBody>
      </p:sp>
      <p:sp>
        <p:nvSpPr>
          <p:cNvPr id="22" name="TextBox 21"/>
          <p:cNvSpPr txBox="1"/>
          <p:nvPr/>
        </p:nvSpPr>
        <p:spPr>
          <a:xfrm>
            <a:off x="536565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3" name="Rectangle 22"/>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6280"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V5</a:t>
            </a:r>
          </a:p>
        </p:txBody>
      </p:sp>
      <p:sp>
        <p:nvSpPr>
          <p:cNvPr id="25" name="TextBox 24"/>
          <p:cNvSpPr txBox="1"/>
          <p:nvPr/>
        </p:nvSpPr>
        <p:spPr>
          <a:xfrm>
            <a:off x="6276280"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6" name="Rectangle 25"/>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8691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V6</a:t>
            </a:r>
          </a:p>
        </p:txBody>
      </p:sp>
      <p:sp>
        <p:nvSpPr>
          <p:cNvPr id="28" name="TextBox 27"/>
          <p:cNvSpPr txBox="1"/>
          <p:nvPr/>
        </p:nvSpPr>
        <p:spPr>
          <a:xfrm>
            <a:off x="718691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9" name="Rectangle 28"/>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9744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V7</a:t>
            </a:r>
          </a:p>
        </p:txBody>
      </p:sp>
      <p:sp>
        <p:nvSpPr>
          <p:cNvPr id="31" name="TextBox 30"/>
          <p:cNvSpPr txBox="1"/>
          <p:nvPr/>
        </p:nvSpPr>
        <p:spPr>
          <a:xfrm>
            <a:off x="809744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2" name="Rectangle 31"/>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807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V8</a:t>
            </a:r>
          </a:p>
        </p:txBody>
      </p:sp>
      <p:sp>
        <p:nvSpPr>
          <p:cNvPr id="34" name="TextBox 33"/>
          <p:cNvSpPr txBox="1"/>
          <p:nvPr/>
        </p:nvSpPr>
        <p:spPr>
          <a:xfrm>
            <a:off x="900807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5" name="TextBox 34"/>
          <p:cNvSpPr txBox="1"/>
          <p:nvPr/>
        </p:nvSpPr>
        <p:spPr>
          <a:xfrm>
            <a:off x="10020201" y="1785541"/>
            <a:ext cx="1409700" cy="165100"/>
          </a:xfrm>
          <a:prstGeom prst="rect">
            <a:avLst/>
          </a:prstGeom>
          <a:noFill/>
        </p:spPr>
        <p:txBody>
          <a:bodyPr wrap="none" lIns="0" rIns="0" tIns="0" bIns="0" anchor="t">
            <a:noAutofit/>
          </a:bodyPr>
          <a:lstStyle/>
          <a:p>
            <a:pPr algn="l"/>
            <a:r>
              <a:rPr sz="1000" b="1" i="0">
                <a:solidFill>
                  <a:srgbClr val="5A6E80"/>
                </a:solidFill>
                <a:latin typeface="DM Sans"/>
              </a:rPr>
              <a:t>Wat · toestel</a:t>
            </a:r>
          </a:p>
        </p:txBody>
      </p:sp>
      <p:sp>
        <p:nvSpPr>
          <p:cNvPr id="36" name="Rectangle 35"/>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12800" y="2283321"/>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9" name="Rectangle 38"/>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723330" y="2283321"/>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2" name="Rectangle 41"/>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20201" y="2105620"/>
            <a:ext cx="1409700" cy="379611"/>
          </a:xfrm>
          <a:prstGeom prst="rect">
            <a:avLst/>
          </a:prstGeom>
          <a:noFill/>
        </p:spPr>
        <p:txBody>
          <a:bodyPr wrap="square" lIns="0" rIns="0" tIns="0" bIns="0" anchor="t">
            <a:noAutofit/>
          </a:bodyPr>
          <a:lstStyle/>
          <a:p>
            <a:pPr algn="l">
              <a:lnSpc>
                <a:spcPts val="1495"/>
              </a:lnSpc>
            </a:pPr>
            <a:r>
              <a:rPr sz="1300" b="1" i="0">
                <a:solidFill>
                  <a:srgbClr val="0A2540"/>
                </a:solidFill>
                <a:latin typeface="DM Sans"/>
              </a:rPr>
              <a:t>Toestemming en loting</a:t>
            </a:r>
          </a:p>
        </p:txBody>
      </p:sp>
      <p:sp>
        <p:nvSpPr>
          <p:cNvPr id="52" name="TextBox 51"/>
          <p:cNvSpPr txBox="1"/>
          <p:nvPr/>
        </p:nvSpPr>
        <p:spPr>
          <a:xfrm>
            <a:off x="10020201" y="2497931"/>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arts, dan PI</a:t>
            </a:r>
          </a:p>
        </p:txBody>
      </p:sp>
      <p:sp>
        <p:nvSpPr>
          <p:cNvPr id="53" name="Rectangle 52"/>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263396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2633960" y="2923480"/>
            <a:ext cx="8470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8" name="Rectangle 57"/>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354449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3544491" y="292348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1" name="Rectangle 60"/>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36565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5365651" y="292348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5" name="Rectangle 64"/>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718691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186910" y="292348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9" name="Rectangle 68"/>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00807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008070" y="292348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3" name="Rectangle 72"/>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7006ea103c3e8fa9006c500fec1a0272.png"/>
          <p:cNvPicPr>
            <a:picLocks noChangeAspect="1"/>
          </p:cNvPicPr>
          <p:nvPr/>
        </p:nvPicPr>
        <p:blipFill>
          <a:blip r:embed="rId2"/>
          <a:stretch>
            <a:fillRect/>
          </a:stretch>
        </p:blipFill>
        <p:spPr>
          <a:xfrm>
            <a:off x="9994801" y="2913955"/>
            <a:ext cx="292100" cy="215900"/>
          </a:xfrm>
          <a:prstGeom prst="rect">
            <a:avLst/>
          </a:prstGeom>
        </p:spPr>
      </p:pic>
      <p:sp>
        <p:nvSpPr>
          <p:cNvPr id="75" name="TextBox 74"/>
          <p:cNvSpPr txBox="1"/>
          <p:nvPr/>
        </p:nvSpPr>
        <p:spPr>
          <a:xfrm>
            <a:off x="10350401" y="2840633"/>
            <a:ext cx="1002804"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Drukmeting</a:t>
            </a:r>
          </a:p>
        </p:txBody>
      </p:sp>
      <p:sp>
        <p:nvSpPr>
          <p:cNvPr id="76" name="TextBox 75"/>
          <p:cNvSpPr txBox="1"/>
          <p:nvPr/>
        </p:nvSpPr>
        <p:spPr>
          <a:xfrm>
            <a:off x="10350401" y="3043138"/>
            <a:ext cx="1002804"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Novel pedar</a:t>
            </a:r>
          </a:p>
        </p:txBody>
      </p:sp>
      <p:sp>
        <p:nvSpPr>
          <p:cNvPr id="77" name="Rectangle 76"/>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2633960" y="3563541"/>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82" name="Rectangle 81"/>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3433b372cfc1d99d6ab11119954a595.png"/>
          <p:cNvPicPr>
            <a:picLocks noChangeAspect="1"/>
          </p:cNvPicPr>
          <p:nvPr/>
        </p:nvPicPr>
        <p:blipFill>
          <a:blip r:embed="rId3"/>
          <a:stretch>
            <a:fillRect/>
          </a:stretch>
        </p:blipFill>
        <p:spPr>
          <a:xfrm>
            <a:off x="9994801" y="3554016"/>
            <a:ext cx="292100" cy="215900"/>
          </a:xfrm>
          <a:prstGeom prst="rect">
            <a:avLst/>
          </a:prstGeom>
        </p:spPr>
      </p:pic>
      <p:sp>
        <p:nvSpPr>
          <p:cNvPr id="91" name="TextBox 90"/>
          <p:cNvSpPr txBox="1"/>
          <p:nvPr/>
        </p:nvSpPr>
        <p:spPr>
          <a:xfrm>
            <a:off x="10350401" y="3480792"/>
            <a:ext cx="860028"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Waaktijd</a:t>
            </a:r>
          </a:p>
        </p:txBody>
      </p:sp>
      <p:sp>
        <p:nvSpPr>
          <p:cNvPr id="92" name="TextBox 91"/>
          <p:cNvSpPr txBox="1"/>
          <p:nvPr/>
        </p:nvSpPr>
        <p:spPr>
          <a:xfrm>
            <a:off x="10350401" y="3683298"/>
            <a:ext cx="860028"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MoveMonitor</a:t>
            </a:r>
          </a:p>
        </p:txBody>
      </p:sp>
      <p:sp>
        <p:nvSpPr>
          <p:cNvPr id="93" name="Rectangle 92"/>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54449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9" name="Rectangle 98"/>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445512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536565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276280"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Rectangle 107"/>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718691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1" name="Rectangle 110"/>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809744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4" name="Rectangle 113"/>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900807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7" name="Rectangle 116"/>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8" name="Picture 117" descr="08f3416e444e7f76df034ad715d9910f.png"/>
          <p:cNvPicPr>
            <a:picLocks noChangeAspect="1"/>
          </p:cNvPicPr>
          <p:nvPr/>
        </p:nvPicPr>
        <p:blipFill>
          <a:blip r:embed="rId4"/>
          <a:stretch>
            <a:fillRect/>
          </a:stretch>
        </p:blipFill>
        <p:spPr>
          <a:xfrm>
            <a:off x="9994801" y="4194175"/>
            <a:ext cx="292100" cy="215900"/>
          </a:xfrm>
          <a:prstGeom prst="rect">
            <a:avLst/>
          </a:prstGeom>
        </p:spPr>
      </p:pic>
      <p:sp>
        <p:nvSpPr>
          <p:cNvPr id="119" name="TextBox 118"/>
          <p:cNvSpPr txBox="1"/>
          <p:nvPr/>
        </p:nvSpPr>
        <p:spPr>
          <a:xfrm>
            <a:off x="10350401" y="4120852"/>
            <a:ext cx="797223"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Draagtijd</a:t>
            </a:r>
          </a:p>
        </p:txBody>
      </p:sp>
      <p:sp>
        <p:nvSpPr>
          <p:cNvPr id="120" name="TextBox 119"/>
          <p:cNvSpPr txBox="1"/>
          <p:nvPr/>
        </p:nvSpPr>
        <p:spPr>
          <a:xfrm>
            <a:off x="10350401" y="4323358"/>
            <a:ext cx="797223"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Orthotimer</a:t>
            </a:r>
          </a:p>
        </p:txBody>
      </p:sp>
      <p:sp>
        <p:nvSpPr>
          <p:cNvPr id="121" name="Rectangle 120"/>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2633960" y="4793059"/>
            <a:ext cx="7221141"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33960" y="4843859"/>
            <a:ext cx="7221141" cy="198120"/>
          </a:xfrm>
          <a:prstGeom prst="rect">
            <a:avLst/>
          </a:prstGeom>
          <a:noFill/>
        </p:spPr>
        <p:txBody>
          <a:bodyPr wrap="none" lIns="0" rIns="0" tIns="0" bIns="0" anchor="t">
            <a:noAutofit/>
          </a:bodyPr>
          <a:lstStyle/>
          <a:p>
            <a:pPr algn="ctr"/>
            <a:r>
              <a:rPr sz="1200" b="0" i="0">
                <a:solidFill>
                  <a:srgbClr val="F2F8FC"/>
                </a:solidFill>
                <a:latin typeface="DM Sans"/>
              </a:rPr>
              <a:t>een gesprek op elke visite, telkens met een eigen doel</a:t>
            </a:r>
          </a:p>
        </p:txBody>
      </p:sp>
      <p:sp>
        <p:nvSpPr>
          <p:cNvPr id="126" name="Rectangle 125"/>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0020201" y="4761012"/>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SEBIA-gesprek</a:t>
            </a:r>
          </a:p>
        </p:txBody>
      </p:sp>
      <p:sp>
        <p:nvSpPr>
          <p:cNvPr id="128" name="TextBox 127"/>
          <p:cNvSpPr txBox="1"/>
          <p:nvPr/>
        </p:nvSpPr>
        <p:spPr>
          <a:xfrm>
            <a:off x="10020201" y="4963517"/>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alleen Optimal Care</a:t>
            </a:r>
          </a:p>
        </p:txBody>
      </p:sp>
      <p:sp>
        <p:nvSpPr>
          <p:cNvPr id="129" name="TextBox 128"/>
          <p:cNvSpPr txBox="1"/>
          <p:nvPr/>
        </p:nvSpPr>
        <p:spPr>
          <a:xfrm>
            <a:off x="812800" y="5430639"/>
            <a:ext cx="10777728" cy="411361"/>
          </a:xfrm>
          <a:prstGeom prst="rect">
            <a:avLst/>
          </a:prstGeom>
          <a:noFill/>
        </p:spPr>
        <p:txBody>
          <a:bodyPr wrap="square" lIns="0" rIns="0" tIns="0" bIns="0" anchor="t">
            <a:noAutofit/>
          </a:bodyPr>
          <a:lstStyle/>
          <a:p>
            <a:pPr algn="l">
              <a:lnSpc>
                <a:spcPts val="1620"/>
              </a:lnSpc>
            </a:pPr>
            <a:r>
              <a:rPr sz="1200" b="0" i="0">
                <a:solidFill>
                  <a:srgbClr val="5A6E80"/>
                </a:solidFill>
                <a:latin typeface="DM Sans"/>
              </a:rPr>
              <a:t>A = in de schoen, zónder de CMFO · B = mét de CMFO, telkens vergeleken met A van dezelfde sessie</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30" name="Picture 129"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31" name="TextBox 13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132" name="TextBox 131"/>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§5.5 · SEBIA-script (eCRF 17)</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traject-uc.png"/>
          <p:cNvPicPr>
            <a:picLocks noChangeAspect="1"/>
          </p:cNvPicPr>
          <p:nvPr/>
        </p:nvPicPr>
        <p:blipFill>
          <a:blip r:embed="rId2"/>
          <a:stretch>
            <a:fillRect/>
          </a:stretch>
        </p:blipFill>
        <p:spPr>
          <a:xfrm>
            <a:off x="0" y="0"/>
            <a:ext cx="12192000" cy="6858000"/>
          </a:xfrm>
          <a:prstGeom prst="rect">
            <a:avLst/>
          </a:prstGeom>
        </p:spPr>
      </p:pic>
      <p:sp>
        <p:nvSpPr>
          <p:cNvPr id="3" name="Rounded Rectangle 2"/>
          <p:cNvSpPr/>
          <p:nvPr/>
        </p:nvSpPr>
        <p:spPr>
          <a:xfrm>
            <a:off x="9220200" y="889000"/>
            <a:ext cx="2159000" cy="4127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94800" y="952500"/>
            <a:ext cx="2209800" cy="285750"/>
          </a:xfrm>
          <a:prstGeom prst="rect">
            <a:avLst/>
          </a:prstGeom>
          <a:noFill/>
        </p:spPr>
        <p:txBody>
          <a:bodyPr wrap="none" lIns="0" rIns="0" tIns="0" bIns="0" anchor="t">
            <a:noAutofit/>
          </a:bodyPr>
          <a:lstStyle/>
          <a:p>
            <a:pPr algn="ctr"/>
            <a:r>
              <a:rPr sz="1700" b="1" i="0">
                <a:solidFill>
                  <a:srgbClr val="F2F8FC"/>
                </a:solidFill>
                <a:latin typeface="DM Sans"/>
              </a:rPr>
              <a:t>Usual Care</a:t>
            </a:r>
          </a:p>
        </p:txBody>
      </p:sp>
      <p:sp>
        <p:nvSpPr>
          <p:cNvPr id="5" name="TextBox 4"/>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23330"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3396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449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5512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6565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6280"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8691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97441" y="1518841"/>
            <a:ext cx="897930" cy="198120"/>
          </a:xfrm>
          <a:prstGeom prst="rect">
            <a:avLst/>
          </a:prstGeom>
          <a:noFill/>
        </p:spPr>
        <p:txBody>
          <a:bodyPr wrap="none" lIns="0" rIns="0" t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08070" y="1518841"/>
            <a:ext cx="897830" cy="198120"/>
          </a:xfrm>
          <a:prstGeom prst="rect">
            <a:avLst/>
          </a:prstGeom>
          <a:noFill/>
        </p:spPr>
        <p:txBody>
          <a:bodyPr wrap="none" lIns="0" rIns="0" t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rIns="0" t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12800" y="2283321"/>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723330" y="2283321"/>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20201" y="2105620"/>
            <a:ext cx="1409700" cy="379611"/>
          </a:xfrm>
          <a:prstGeom prst="rect">
            <a:avLst/>
          </a:prstGeom>
          <a:noFill/>
        </p:spPr>
        <p:txBody>
          <a:bodyPr wrap="square" lIns="0" rIns="0" t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633960" y="2891730"/>
            <a:ext cx="8470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121124" y="2923480"/>
            <a:ext cx="152003" cy="198120"/>
          </a:xfrm>
          <a:prstGeom prst="rect">
            <a:avLst/>
          </a:prstGeom>
          <a:noFill/>
        </p:spPr>
        <p:txBody>
          <a:bodyPr wrap="none" lIns="0" rIns="0" tIns="0" bIns="0" anchor="t">
            <a:noAutofit/>
          </a:bodyPr>
          <a:lstStyle/>
          <a:p>
            <a:pPr algn="l"/>
            <a:r>
              <a:rPr sz="1200" b="0" i="0">
                <a:solidFill>
                  <a:srgbClr val="0A2540"/>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5365651" y="2891730"/>
            <a:ext cx="8471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724426" y="2923480"/>
            <a:ext cx="408880" cy="198120"/>
          </a:xfrm>
          <a:prstGeom prst="rect">
            <a:avLst/>
          </a:prstGeom>
          <a:noFill/>
        </p:spPr>
        <p:txBody>
          <a:bodyPr wrap="none" lIns="0" rIns="0" tIns="0" bIns="0" anchor="t">
            <a:noAutofit/>
          </a:bodyPr>
          <a:lstStyle/>
          <a:p>
            <a:pPr algn="l"/>
            <a:r>
              <a:rPr sz="1200" b="0" i="0">
                <a:solidFill>
                  <a:srgbClr val="0A2540"/>
                </a:solidFill>
                <a:latin typeface="DM Sans"/>
              </a:rPr>
              <a:t>A + B</a:t>
            </a:r>
          </a:p>
        </p:txBody>
      </p:sp>
      <p:sp>
        <p:nvSpPr>
          <p:cNvPr id="64" name="Rectangle 63"/>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7006ea103c3e8fa9006c500fec1a0272.png"/>
          <p:cNvPicPr>
            <a:picLocks noChangeAspect="1"/>
          </p:cNvPicPr>
          <p:nvPr/>
        </p:nvPicPr>
        <p:blipFill>
          <a:blip r:embed="rId3"/>
          <a:stretch>
            <a:fillRect/>
          </a:stretch>
        </p:blipFill>
        <p:spPr>
          <a:xfrm>
            <a:off x="9994801" y="2913955"/>
            <a:ext cx="292100" cy="215900"/>
          </a:xfrm>
          <a:prstGeom prst="rect">
            <a:avLst/>
          </a:prstGeom>
        </p:spPr>
      </p:pic>
      <p:sp>
        <p:nvSpPr>
          <p:cNvPr id="70" name="TextBox 69"/>
          <p:cNvSpPr txBox="1"/>
          <p:nvPr/>
        </p:nvSpPr>
        <p:spPr>
          <a:xfrm>
            <a:off x="10350401" y="2840633"/>
            <a:ext cx="1002804"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350401" y="3043138"/>
            <a:ext cx="1002804" cy="160020"/>
          </a:xfrm>
          <a:prstGeom prst="rect">
            <a:avLst/>
          </a:prstGeom>
          <a:noFill/>
        </p:spPr>
        <p:txBody>
          <a:bodyPr wrap="none" lIns="0" rIns="0" tIns="0" bIns="0" anchor="t">
            <a:noAutofit/>
          </a:bodyPr>
          <a:lstStyle/>
          <a:p>
            <a:pPr algn="l">
              <a:lnSpc>
                <a:spcPts val="1260"/>
              </a:lnSpc>
            </a:pPr>
            <a:r>
              <a:rPr sz="1050" b="1" i="0">
                <a:solidFill>
                  <a:srgbClr val="A34A00"/>
                </a:solidFill>
                <a:latin typeface="DM Sans"/>
              </a:rPr>
              <a:t>geblindeerd</a:t>
            </a:r>
          </a:p>
        </p:txBody>
      </p:sp>
      <p:sp>
        <p:nvSpPr>
          <p:cNvPr id="72" name="Rectangle 71"/>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33960" y="3563541"/>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7" name="Rectangle 76"/>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c3433b372cfc1d99d6ab11119954a595.png"/>
          <p:cNvPicPr>
            <a:picLocks noChangeAspect="1"/>
          </p:cNvPicPr>
          <p:nvPr/>
        </p:nvPicPr>
        <p:blipFill>
          <a:blip r:embed="rId4"/>
          <a:stretch>
            <a:fillRect/>
          </a:stretch>
        </p:blipFill>
        <p:spPr>
          <a:xfrm>
            <a:off x="9994801" y="3554016"/>
            <a:ext cx="292100" cy="215900"/>
          </a:xfrm>
          <a:prstGeom prst="rect">
            <a:avLst/>
          </a:prstGeom>
        </p:spPr>
      </p:pic>
      <p:sp>
        <p:nvSpPr>
          <p:cNvPr id="86" name="TextBox 85"/>
          <p:cNvSpPr txBox="1"/>
          <p:nvPr/>
        </p:nvSpPr>
        <p:spPr>
          <a:xfrm>
            <a:off x="10350401" y="3480792"/>
            <a:ext cx="860028"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Waaktijd</a:t>
            </a:r>
          </a:p>
        </p:txBody>
      </p:sp>
      <p:sp>
        <p:nvSpPr>
          <p:cNvPr id="87" name="TextBox 86"/>
          <p:cNvSpPr txBox="1"/>
          <p:nvPr/>
        </p:nvSpPr>
        <p:spPr>
          <a:xfrm>
            <a:off x="10350401" y="3683298"/>
            <a:ext cx="860028"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MoveMonitor</a:t>
            </a:r>
          </a:p>
        </p:txBody>
      </p:sp>
      <p:sp>
        <p:nvSpPr>
          <p:cNvPr id="88" name="Rectangle 87"/>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54449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4" name="Rectangle 93"/>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ounded Rectangle 94"/>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445512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7" name="Rectangle 96"/>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ounded Rectangle 97"/>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536565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0" name="Rectangle 99"/>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6276280"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3" name="Rectangle 102"/>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718691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6" name="Rectangle 105"/>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097441" y="4203700"/>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9" name="Rectangle 108"/>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008070" y="4203700"/>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2" name="Rectangle 111"/>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3" name="Picture 112" descr="08f3416e444e7f76df034ad715d9910f.png"/>
          <p:cNvPicPr>
            <a:picLocks noChangeAspect="1"/>
          </p:cNvPicPr>
          <p:nvPr/>
        </p:nvPicPr>
        <p:blipFill>
          <a:blip r:embed="rId5"/>
          <a:stretch>
            <a:fillRect/>
          </a:stretch>
        </p:blipFill>
        <p:spPr>
          <a:xfrm>
            <a:off x="9994801" y="4194175"/>
            <a:ext cx="292100" cy="215900"/>
          </a:xfrm>
          <a:prstGeom prst="rect">
            <a:avLst/>
          </a:prstGeom>
        </p:spPr>
      </p:pic>
      <p:sp>
        <p:nvSpPr>
          <p:cNvPr id="114" name="TextBox 113"/>
          <p:cNvSpPr txBox="1"/>
          <p:nvPr/>
        </p:nvSpPr>
        <p:spPr>
          <a:xfrm>
            <a:off x="10350401" y="4040882"/>
            <a:ext cx="10795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Draagtijd</a:t>
            </a:r>
          </a:p>
        </p:txBody>
      </p:sp>
      <p:sp>
        <p:nvSpPr>
          <p:cNvPr id="115" name="TextBox 114"/>
          <p:cNvSpPr txBox="1"/>
          <p:nvPr/>
        </p:nvSpPr>
        <p:spPr>
          <a:xfrm>
            <a:off x="10350401" y="4243388"/>
            <a:ext cx="1079500" cy="319881"/>
          </a:xfrm>
          <a:prstGeom prst="rect">
            <a:avLst/>
          </a:prstGeom>
          <a:noFill/>
        </p:spPr>
        <p:txBody>
          <a:bodyPr wrap="square" lIns="0" rIns="0" tIns="0" bIns="0" anchor="t">
            <a:noAutofit/>
          </a:bodyPr>
          <a:lstStyle/>
          <a:p>
            <a:pPr algn="l">
              <a:lnSpc>
                <a:spcPts val="1260"/>
              </a:lnSpc>
            </a:pPr>
            <a:r>
              <a:rPr sz="1050" b="1" i="0">
                <a:solidFill>
                  <a:srgbClr val="A34A00"/>
                </a:solidFill>
                <a:latin typeface="DM Sans"/>
              </a:rPr>
              <a:t>zonder feedback</a:t>
            </a:r>
          </a:p>
        </p:txBody>
      </p:sp>
      <p:sp>
        <p:nvSpPr>
          <p:cNvPr id="116" name="Rectangle 115"/>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2633960" y="4793059"/>
            <a:ext cx="7221141" cy="2984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2633960" y="4843859"/>
            <a:ext cx="7221141" cy="198120"/>
          </a:xfrm>
          <a:prstGeom prst="rect">
            <a:avLst/>
          </a:prstGeom>
          <a:noFill/>
        </p:spPr>
        <p:txBody>
          <a:bodyPr wrap="none" lIns="0" rIns="0" tIns="0" bIns="0" anchor="t">
            <a:noAutofit/>
          </a:bodyPr>
          <a:lstStyle/>
          <a:p>
            <a:pPr algn="ctr"/>
            <a:r>
              <a:rPr sz="1200" b="0" i="0">
                <a:solidFill>
                  <a:srgbClr val="0A2540"/>
                </a:solidFill>
                <a:latin typeface="DM Sans"/>
              </a:rPr>
              <a:t>geen SEBIA: voetzorg en educatie zoals vandaag</a:t>
            </a:r>
          </a:p>
        </p:txBody>
      </p:sp>
      <p:sp>
        <p:nvSpPr>
          <p:cNvPr id="121" name="Rectangle 120"/>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0020201" y="4761012"/>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Educatie</a:t>
            </a:r>
          </a:p>
        </p:txBody>
      </p:sp>
      <p:sp>
        <p:nvSpPr>
          <p:cNvPr id="123" name="TextBox 122"/>
          <p:cNvSpPr txBox="1"/>
          <p:nvPr/>
        </p:nvSpPr>
        <p:spPr>
          <a:xfrm>
            <a:off x="10020201" y="4963517"/>
            <a:ext cx="1409700" cy="160020"/>
          </a:xfrm>
          <a:prstGeom prst="rect">
            <a:avLst/>
          </a:prstGeom>
          <a:noFill/>
        </p:spPr>
        <p:txBody>
          <a:bodyPr wrap="none" lIns="0" rIns="0" tIns="0" bIns="0" anchor="t">
            <a:noAutofit/>
          </a:bodyPr>
          <a:lstStyle/>
          <a:p>
            <a:pPr algn="l">
              <a:lnSpc>
                <a:spcPts val="1260"/>
              </a:lnSpc>
            </a:pPr>
            <a:r>
              <a:rPr sz="1050" b="1" i="0">
                <a:solidFill>
                  <a:srgbClr val="A34A00"/>
                </a:solidFill>
                <a:latin typeface="DM Sans"/>
              </a:rPr>
              <a:t>zoals vandaag</a:t>
            </a:r>
          </a:p>
        </p:txBody>
      </p:sp>
      <p:sp>
        <p:nvSpPr>
          <p:cNvPr id="124" name="TextBox 123"/>
          <p:cNvSpPr txBox="1"/>
          <p:nvPr/>
        </p:nvSpPr>
        <p:spPr>
          <a:xfrm>
            <a:off x="812800" y="5430639"/>
            <a:ext cx="10777728" cy="411361"/>
          </a:xfrm>
          <a:prstGeom prst="rect">
            <a:avLst/>
          </a:prstGeom>
          <a:noFill/>
        </p:spPr>
        <p:txBody>
          <a:bodyPr wrap="square" lIns="0" rIns="0" tIns="0" bIns="0" anchor="t">
            <a:noAutofit/>
          </a:bodyPr>
          <a:lstStyle/>
          <a:p>
            <a:pPr algn="l">
              <a:lnSpc>
                <a:spcPts val="1620"/>
              </a:lnSpc>
            </a:pPr>
            <a:r>
              <a:rPr sz="1200" b="0" i="0">
                <a:solidFill>
                  <a:srgbClr val="5A6E80"/>
                </a:solidFill>
                <a:latin typeface="DM Sans"/>
              </a:rPr>
              <a:t>In oranje wat anders is dan in Optimal Care · de drukmeting met het slot is geblindeerd: drempel 50 kPa, waarden uit, niet getoond of besproken</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25" name="Picture 124"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26" name="TextBox 12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127" name="TextBox 126"/>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§5.5 · SEBIA-script (eCRF 17)</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94800" y="952500"/>
            <a:ext cx="2209800" cy="285750"/>
          </a:xfrm>
          <a:prstGeom prst="rect">
            <a:avLst/>
          </a:prstGeom>
          <a:noFill/>
        </p:spPr>
        <p:txBody>
          <a:bodyPr wrap="none" lIns="0" rIns="0" tIns="0" bIns="0" anchor="t">
            <a:noAutofit/>
          </a:bodyPr>
          <a:lstStyle/>
          <a:p>
            <a:pPr algn="ctr"/>
            <a:r>
              <a:rPr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SEBIA: voetzorg en therapietrouw</a:t>
            </a:r>
          </a:p>
        </p:txBody>
      </p:sp>
      <p:sp>
        <p:nvSpPr>
          <p:cNvPr id="5" name="TextBox 4"/>
          <p:cNvSpPr txBox="1"/>
          <p:nvPr/>
        </p:nvSpPr>
        <p:spPr>
          <a:xfrm>
            <a:off x="812800" y="1391841"/>
            <a:ext cx="10617200" cy="234950"/>
          </a:xfrm>
          <a:prstGeom prst="rect">
            <a:avLst/>
          </a:prstGeom>
          <a:noFill/>
        </p:spPr>
        <p:txBody>
          <a:bodyPr wrap="none" lIns="0" rIns="0" tIns="0" bIns="0" anchor="t">
            <a:noAutofit/>
          </a:bodyPr>
          <a:lstStyle/>
          <a:p>
            <a:pPr algn="l"/>
            <a:r>
              <a:rPr sz="1400" b="0" i="0">
                <a:solidFill>
                  <a:srgbClr val="5A6E80"/>
                </a:solidFill>
                <a:latin typeface="DM Sans"/>
              </a:rPr>
              <a:t>Structured Education and Behavioural Intervention Approach</a:t>
            </a:r>
          </a:p>
        </p:txBody>
      </p:sp>
      <p:pic>
        <p:nvPicPr>
          <p:cNvPr id="6" name="Picture 5" descr="6de44dba357a7686ab4958f527799b90.png"/>
          <p:cNvPicPr>
            <a:picLocks noChangeAspect="1"/>
          </p:cNvPicPr>
          <p:nvPr/>
        </p:nvPicPr>
        <p:blipFill>
          <a:blip r:embed="rId2"/>
          <a:stretch>
            <a:fillRect/>
          </a:stretch>
        </p:blipFill>
        <p:spPr>
          <a:xfrm>
            <a:off x="812800" y="1930400"/>
            <a:ext cx="5130800" cy="2984500"/>
          </a:xfrm>
          <a:prstGeom prst="rect">
            <a:avLst/>
          </a:prstGeom>
        </p:spPr>
      </p:pic>
      <p:pic>
        <p:nvPicPr>
          <p:cNvPr id="7" name="Picture 6" descr="fd222c2b5b39e2cb237c513a9738b5ab.png"/>
          <p:cNvPicPr>
            <a:picLocks noChangeAspect="1"/>
          </p:cNvPicPr>
          <p:nvPr/>
        </p:nvPicPr>
        <p:blipFill>
          <a:blip r:embed="rId3"/>
          <a:stretch>
            <a:fillRect/>
          </a:stretch>
        </p:blipFill>
        <p:spPr>
          <a:xfrm>
            <a:off x="6248400" y="1930400"/>
            <a:ext cx="5130800" cy="2984500"/>
          </a:xfrm>
          <a:prstGeom prst="rect">
            <a:avLst/>
          </a:prstGeom>
        </p:spPr>
      </p:pic>
      <p:sp>
        <p:nvSpPr>
          <p:cNvPr id="8" name="TextBox 7"/>
          <p:cNvSpPr txBox="1"/>
          <p:nvPr/>
        </p:nvSpPr>
        <p:spPr>
          <a:xfrm>
            <a:off x="812800" y="5092700"/>
            <a:ext cx="5181600" cy="355600"/>
          </a:xfrm>
          <a:prstGeom prst="rect">
            <a:avLst/>
          </a:prstGeom>
          <a:noFill/>
        </p:spPr>
        <p:txBody>
          <a:bodyPr wrap="none" lIns="0" rIns="0" tIns="0" bIns="0" anchor="t">
            <a:noAutofit/>
          </a:bodyPr>
          <a:lstStyle/>
          <a:p>
            <a:pPr algn="l">
              <a:lnSpc>
                <a:spcPts val="2800"/>
              </a:lnSpc>
            </a:pPr>
            <a:r>
              <a:rPr sz="2800" b="0" i="0">
                <a:solidFill>
                  <a:srgbClr val="00407A"/>
                </a:solidFill>
                <a:latin typeface="DM Serif Display"/>
              </a:rPr>
              <a:t>Voetzorg</a:t>
            </a:r>
          </a:p>
        </p:txBody>
      </p:sp>
      <p:sp>
        <p:nvSpPr>
          <p:cNvPr id="9" name="TextBox 8"/>
          <p:cNvSpPr txBox="1"/>
          <p:nvPr/>
        </p:nvSpPr>
        <p:spPr>
          <a:xfrm>
            <a:off x="812800" y="5537200"/>
            <a:ext cx="5052060" cy="462161"/>
          </a:xfrm>
          <a:prstGeom prst="rect">
            <a:avLst/>
          </a:prstGeom>
          <a:noFill/>
        </p:spPr>
        <p:txBody>
          <a:bodyPr wrap="square" lIns="0" rIns="0" tIns="0" bIns="0" anchor="t">
            <a:noAutofit/>
          </a:bodyPr>
          <a:lstStyle/>
          <a:p>
            <a:pPr algn="l">
              <a:lnSpc>
                <a:spcPts val="1820"/>
              </a:lnSpc>
            </a:pPr>
            <a:r>
              <a:rPr sz="1400" b="0" i="0">
                <a:solidFill>
                  <a:srgbClr val="3A4F63"/>
                </a:solidFill>
                <a:latin typeface="DM Sans"/>
              </a:rPr>
              <a:t>weten wat goede voetzorg is, ze zelf doen, en weten waarom de schoen en de zool tellen</a:t>
            </a:r>
          </a:p>
        </p:txBody>
      </p:sp>
      <p:sp>
        <p:nvSpPr>
          <p:cNvPr id="10" name="TextBox 9"/>
          <p:cNvSpPr txBox="1"/>
          <p:nvPr/>
        </p:nvSpPr>
        <p:spPr>
          <a:xfrm>
            <a:off x="6248400" y="5092700"/>
            <a:ext cx="5181600" cy="355600"/>
          </a:xfrm>
          <a:prstGeom prst="rect">
            <a:avLst/>
          </a:prstGeom>
          <a:noFill/>
        </p:spPr>
        <p:txBody>
          <a:bodyPr wrap="none" lIns="0" rIns="0" tIns="0" bIns="0" anchor="t">
            <a:noAutofit/>
          </a:bodyPr>
          <a:lstStyle/>
          <a:p>
            <a:pPr algn="l">
              <a:lnSpc>
                <a:spcPts val="2800"/>
              </a:lnSpc>
            </a:pPr>
            <a:r>
              <a:rPr sz="2800" b="0" i="0">
                <a:solidFill>
                  <a:srgbClr val="0B6E8F"/>
                </a:solidFill>
                <a:latin typeface="DM Serif Display"/>
              </a:rPr>
              <a:t>Therapietrouw</a:t>
            </a:r>
          </a:p>
        </p:txBody>
      </p:sp>
      <p:sp>
        <p:nvSpPr>
          <p:cNvPr id="11" name="TextBox 10"/>
          <p:cNvSpPr txBox="1"/>
          <p:nvPr/>
        </p:nvSpPr>
        <p:spPr>
          <a:xfrm>
            <a:off x="6248400" y="5537200"/>
            <a:ext cx="5052060" cy="462161"/>
          </a:xfrm>
          <a:prstGeom prst="rect">
            <a:avLst/>
          </a:prstGeom>
          <a:noFill/>
        </p:spPr>
        <p:txBody>
          <a:bodyPr wrap="square" lIns="0" rIns="0" tIns="0" bIns="0" anchor="t">
            <a:noAutofit/>
          </a:bodyPr>
          <a:lstStyle/>
          <a:p>
            <a:pPr algn="l">
              <a:lnSpc>
                <a:spcPts val="1820"/>
              </a:lnSpc>
            </a:pPr>
            <a:r>
              <a:rPr sz="1400" b="0" i="0">
                <a:solidFill>
                  <a:srgbClr val="3A4F63"/>
                </a:solidFill>
                <a:latin typeface="DM Sans"/>
              </a:rPr>
              <a:t>meten met de sensor in de zool, de motivatie verhogen en barrières aanpakken</a:t>
            </a:r>
          </a:p>
        </p:txBody>
      </p:sp>
      <p:pic>
        <p:nvPicPr>
          <p:cNvPr id="12" name="Picture 1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3" name="TextBox 1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14" name="TextBox 1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Elke visite een gesprek, met een eigen focus</a:t>
            </a:r>
          </a:p>
        </p:txBody>
      </p:sp>
      <p:sp>
        <p:nvSpPr>
          <p:cNvPr id="3" name="TextBox 2"/>
          <p:cNvSpPr txBox="1"/>
          <p:nvPr/>
        </p:nvSpPr>
        <p:spPr>
          <a:xfrm>
            <a:off x="812800"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V1</a:t>
            </a:r>
            <a:r>
              <a:rPr sz="1200" b="0" i="0">
                <a:solidFill>
                  <a:srgbClr val="0A2540"/>
                </a:solidFill>
                <a:latin typeface="DM Sans"/>
              </a:rPr>
              <a:t> </a:t>
            </a:r>
            <a:r>
              <a:rPr sz="1200" b="0" i="0">
                <a:solidFill>
                  <a:srgbClr val="5A6E80"/>
                </a:solidFill>
                <a:latin typeface="DM Sans"/>
              </a:rPr>
              <a:t>baseline</a:t>
            </a:r>
          </a:p>
        </p:txBody>
      </p:sp>
      <p:sp>
        <p:nvSpPr>
          <p:cNvPr id="4" name="Rounded Rectangle 3"/>
          <p:cNvSpPr/>
          <p:nvPr/>
        </p:nvSpPr>
        <p:spPr>
          <a:xfrm>
            <a:off x="812800"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2143125"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V2</a:t>
            </a:r>
            <a:r>
              <a:rPr sz="1200" b="0" i="0">
                <a:solidFill>
                  <a:srgbClr val="0A2540"/>
                </a:solidFill>
                <a:latin typeface="DM Sans"/>
              </a:rPr>
              <a:t> </a:t>
            </a:r>
            <a:r>
              <a:rPr sz="1200" b="0" i="0">
                <a:solidFill>
                  <a:srgbClr val="5A6E80"/>
                </a:solidFill>
                <a:latin typeface="DM Sans"/>
              </a:rPr>
              <a:t>aflevering</a:t>
            </a:r>
          </a:p>
        </p:txBody>
      </p:sp>
      <p:sp>
        <p:nvSpPr>
          <p:cNvPr id="6" name="Rounded Rectangle 5"/>
          <p:cNvSpPr/>
          <p:nvPr/>
        </p:nvSpPr>
        <p:spPr>
          <a:xfrm>
            <a:off x="2143125"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473450"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V3</a:t>
            </a:r>
            <a:r>
              <a:rPr sz="1200" b="0" i="0">
                <a:solidFill>
                  <a:srgbClr val="0A2540"/>
                </a:solidFill>
                <a:latin typeface="DM Sans"/>
              </a:rPr>
              <a:t> </a:t>
            </a:r>
            <a:r>
              <a:rPr sz="1200" b="0" i="0">
                <a:solidFill>
                  <a:srgbClr val="5A6E80"/>
                </a:solidFill>
                <a:latin typeface="DM Sans"/>
              </a:rPr>
              <a:t>m 3</a:t>
            </a:r>
          </a:p>
        </p:txBody>
      </p:sp>
      <p:sp>
        <p:nvSpPr>
          <p:cNvPr id="8" name="Rounded Rectangle 7"/>
          <p:cNvSpPr/>
          <p:nvPr/>
        </p:nvSpPr>
        <p:spPr>
          <a:xfrm>
            <a:off x="34734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03775"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V4</a:t>
            </a:r>
            <a:r>
              <a:rPr sz="1200" b="0" i="0">
                <a:solidFill>
                  <a:srgbClr val="0A2540"/>
                </a:solidFill>
                <a:latin typeface="DM Sans"/>
              </a:rPr>
              <a:t> </a:t>
            </a:r>
            <a:r>
              <a:rPr sz="1200" b="0" i="0">
                <a:solidFill>
                  <a:srgbClr val="5A6E80"/>
                </a:solidFill>
                <a:latin typeface="DM Sans"/>
              </a:rPr>
              <a:t>m 6</a:t>
            </a:r>
          </a:p>
        </p:txBody>
      </p:sp>
      <p:sp>
        <p:nvSpPr>
          <p:cNvPr id="10" name="Rounded Rectangle 9"/>
          <p:cNvSpPr/>
          <p:nvPr/>
        </p:nvSpPr>
        <p:spPr>
          <a:xfrm>
            <a:off x="480377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34100"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V5</a:t>
            </a:r>
            <a:r>
              <a:rPr sz="1200" b="0" i="0">
                <a:solidFill>
                  <a:srgbClr val="0A2540"/>
                </a:solidFill>
                <a:latin typeface="DM Sans"/>
              </a:rPr>
              <a:t> </a:t>
            </a:r>
            <a:r>
              <a:rPr sz="1200" b="0" i="0">
                <a:solidFill>
                  <a:srgbClr val="5A6E80"/>
                </a:solidFill>
                <a:latin typeface="DM Sans"/>
              </a:rPr>
              <a:t>m 9</a:t>
            </a:r>
          </a:p>
        </p:txBody>
      </p:sp>
      <p:sp>
        <p:nvSpPr>
          <p:cNvPr id="12" name="Rounded Rectangle 11"/>
          <p:cNvSpPr/>
          <p:nvPr/>
        </p:nvSpPr>
        <p:spPr>
          <a:xfrm>
            <a:off x="613410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64425"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V6</a:t>
            </a:r>
            <a:r>
              <a:rPr sz="1200" b="0" i="0">
                <a:solidFill>
                  <a:srgbClr val="0A2540"/>
                </a:solidFill>
                <a:latin typeface="DM Sans"/>
              </a:rPr>
              <a:t> </a:t>
            </a:r>
            <a:r>
              <a:rPr sz="1200" b="0" i="0">
                <a:solidFill>
                  <a:srgbClr val="5A6E80"/>
                </a:solidFill>
                <a:latin typeface="DM Sans"/>
              </a:rPr>
              <a:t>m 12</a:t>
            </a:r>
          </a:p>
        </p:txBody>
      </p:sp>
      <p:sp>
        <p:nvSpPr>
          <p:cNvPr id="14" name="Rounded Rectangle 13"/>
          <p:cNvSpPr/>
          <p:nvPr/>
        </p:nvSpPr>
        <p:spPr>
          <a:xfrm>
            <a:off x="746442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794750"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V7</a:t>
            </a:r>
            <a:r>
              <a:rPr sz="1200" b="0" i="0">
                <a:solidFill>
                  <a:srgbClr val="0A2540"/>
                </a:solidFill>
                <a:latin typeface="DM Sans"/>
              </a:rPr>
              <a:t> </a:t>
            </a:r>
            <a:r>
              <a:rPr sz="1200" b="0" i="0">
                <a:solidFill>
                  <a:srgbClr val="5A6E80"/>
                </a:solidFill>
                <a:latin typeface="DM Sans"/>
              </a:rPr>
              <a:t>m 15</a:t>
            </a:r>
          </a:p>
        </p:txBody>
      </p:sp>
      <p:sp>
        <p:nvSpPr>
          <p:cNvPr id="16" name="Rounded Rectangle 15"/>
          <p:cNvSpPr/>
          <p:nvPr/>
        </p:nvSpPr>
        <p:spPr>
          <a:xfrm>
            <a:off x="87947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125075" y="1569641"/>
            <a:ext cx="1304925" cy="198120"/>
          </a:xfrm>
          <a:prstGeom prst="rect">
            <a:avLst/>
          </a:prstGeom>
          <a:noFill/>
        </p:spPr>
        <p:txBody>
          <a:bodyPr wrap="none" lIns="0" rIns="0" tIns="0" bIns="0" anchor="t">
            <a:noAutofit/>
          </a:bodyPr>
          <a:lstStyle/>
          <a:p>
            <a:pPr algn="l"/>
            <a:r>
              <a:rPr sz="1200" b="1" i="0">
                <a:solidFill>
                  <a:srgbClr val="0A2540"/>
                </a:solidFill>
                <a:latin typeface="DM Sans"/>
              </a:rPr>
              <a:t>V8</a:t>
            </a:r>
            <a:r>
              <a:rPr sz="1200" b="0" i="0">
                <a:solidFill>
                  <a:srgbClr val="0A2540"/>
                </a:solidFill>
                <a:latin typeface="DM Sans"/>
              </a:rPr>
              <a:t> </a:t>
            </a:r>
            <a:r>
              <a:rPr sz="1200" b="0" i="0">
                <a:solidFill>
                  <a:srgbClr val="5A6E80"/>
                </a:solidFill>
                <a:latin typeface="DM Sans"/>
              </a:rPr>
              <a:t>m 18</a:t>
            </a:r>
          </a:p>
        </p:txBody>
      </p:sp>
      <p:sp>
        <p:nvSpPr>
          <p:cNvPr id="18" name="Rounded Rectangle 17"/>
          <p:cNvSpPr/>
          <p:nvPr/>
        </p:nvSpPr>
        <p:spPr>
          <a:xfrm>
            <a:off x="10125075" y="1829991"/>
            <a:ext cx="1254125" cy="8890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12800" y="2087166"/>
            <a:ext cx="177800"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4100" y="2033191"/>
            <a:ext cx="1328142" cy="198120"/>
          </a:xfrm>
          <a:prstGeom prst="rect">
            <a:avLst/>
          </a:prstGeom>
          <a:noFill/>
        </p:spPr>
        <p:txBody>
          <a:bodyPr wrap="none" lIns="0" rIns="0" tIns="0" bIns="0" anchor="t">
            <a:noAutofit/>
          </a:bodyPr>
          <a:lstStyle/>
          <a:p>
            <a:pPr algn="l"/>
            <a:r>
              <a:rPr sz="1200" b="0" i="0">
                <a:solidFill>
                  <a:srgbClr val="3A4F63"/>
                </a:solidFill>
                <a:latin typeface="DM Sans"/>
              </a:rPr>
              <a:t>focus op educatie</a:t>
            </a:r>
          </a:p>
        </p:txBody>
      </p:sp>
      <p:sp>
        <p:nvSpPr>
          <p:cNvPr id="21" name="Rounded Rectangle 20"/>
          <p:cNvSpPr/>
          <p:nvPr/>
        </p:nvSpPr>
        <p:spPr>
          <a:xfrm>
            <a:off x="2585442" y="2087166"/>
            <a:ext cx="177800"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826742" y="2033191"/>
            <a:ext cx="1704280" cy="198120"/>
          </a:xfrm>
          <a:prstGeom prst="rect">
            <a:avLst/>
          </a:prstGeom>
          <a:noFill/>
        </p:spPr>
        <p:txBody>
          <a:bodyPr wrap="none" lIns="0" rIns="0" tIns="0" bIns="0" anchor="t">
            <a:noAutofit/>
          </a:bodyPr>
          <a:lstStyle/>
          <a:p>
            <a:pPr algn="l"/>
            <a:r>
              <a:rPr sz="1200" b="0" i="0">
                <a:solidFill>
                  <a:srgbClr val="3A4F63"/>
                </a:solidFill>
                <a:latin typeface="DM Sans"/>
              </a:rPr>
              <a:t>focus op therapietrouw</a:t>
            </a:r>
          </a:p>
        </p:txBody>
      </p:sp>
      <p:sp>
        <p:nvSpPr>
          <p:cNvPr id="23" name="Rounded Rectangle 22"/>
          <p:cNvSpPr/>
          <p:nvPr/>
        </p:nvSpPr>
        <p:spPr>
          <a:xfrm>
            <a:off x="4734223" y="2087166"/>
            <a:ext cx="177800"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975523" y="2033191"/>
            <a:ext cx="1832372" cy="198120"/>
          </a:xfrm>
          <a:prstGeom prst="rect">
            <a:avLst/>
          </a:prstGeom>
          <a:noFill/>
        </p:spPr>
        <p:txBody>
          <a:bodyPr wrap="none" lIns="0" rIns="0" tIns="0" bIns="0" anchor="t">
            <a:noAutofit/>
          </a:bodyPr>
          <a:lstStyle/>
          <a:p>
            <a:pPr algn="l"/>
            <a:r>
              <a:rPr sz="1200" b="0" i="0">
                <a:solidFill>
                  <a:srgbClr val="3A4F63"/>
                </a:solidFill>
                <a:latin typeface="DM Sans"/>
              </a:rPr>
              <a:t>educatie + therapietrouw</a:t>
            </a:r>
          </a:p>
        </p:txBody>
      </p:sp>
      <p:sp>
        <p:nvSpPr>
          <p:cNvPr id="25" name="Rounded Rectangle 24"/>
          <p:cNvSpPr/>
          <p:nvPr/>
        </p:nvSpPr>
        <p:spPr>
          <a:xfrm>
            <a:off x="7011095" y="2087166"/>
            <a:ext cx="177800" cy="8890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252395" y="2033191"/>
            <a:ext cx="721519" cy="198120"/>
          </a:xfrm>
          <a:prstGeom prst="rect">
            <a:avLst/>
          </a:prstGeom>
          <a:noFill/>
        </p:spPr>
        <p:txBody>
          <a:bodyPr wrap="none" lIns="0" rIns="0" tIns="0" bIns="0" anchor="t">
            <a:noAutofit/>
          </a:bodyPr>
          <a:lstStyle/>
          <a:p>
            <a:pPr algn="l"/>
            <a:r>
              <a:rPr sz="1200" b="0" i="0">
                <a:solidFill>
                  <a:srgbClr val="3A4F63"/>
                </a:solidFill>
                <a:latin typeface="DM Sans"/>
              </a:rPr>
              <a:t>afronding</a:t>
            </a:r>
          </a:p>
        </p:txBody>
      </p:sp>
      <p:sp>
        <p:nvSpPr>
          <p:cNvPr id="27" name="Rectangle 26"/>
          <p:cNvSpPr/>
          <p:nvPr/>
        </p:nvSpPr>
        <p:spPr>
          <a:xfrm>
            <a:off x="812800" y="2484041"/>
            <a:ext cx="1910060" cy="381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2636441"/>
            <a:ext cx="1960860" cy="198120"/>
          </a:xfrm>
          <a:prstGeom prst="rect">
            <a:avLst/>
          </a:prstGeom>
          <a:noFill/>
        </p:spPr>
        <p:txBody>
          <a:bodyPr wrap="none" lIns="0" rIns="0" tIns="0" bIns="0" anchor="t">
            <a:noAutofit/>
          </a:bodyPr>
          <a:lstStyle/>
          <a:p>
            <a:pPr algn="l"/>
            <a:r>
              <a:rPr sz="1200" b="1" i="0">
                <a:solidFill>
                  <a:srgbClr val="0B6E8F"/>
                </a:solidFill>
                <a:latin typeface="DM Sans"/>
              </a:rPr>
              <a:t>V1 · baseline</a:t>
            </a:r>
          </a:p>
        </p:txBody>
      </p:sp>
      <p:sp>
        <p:nvSpPr>
          <p:cNvPr id="29" name="TextBox 28"/>
          <p:cNvSpPr txBox="1"/>
          <p:nvPr/>
        </p:nvSpPr>
        <p:spPr>
          <a:xfrm>
            <a:off x="812800" y="2896791"/>
            <a:ext cx="1960860" cy="457200"/>
          </a:xfrm>
          <a:prstGeom prst="rect">
            <a:avLst/>
          </a:prstGeom>
          <a:noFill/>
        </p:spPr>
        <p:txBody>
          <a:bodyPr wrap="square" lIns="0" rIns="0" tIns="0" bIns="0" anchor="t">
            <a:noAutofit/>
          </a:bodyPr>
          <a:lstStyle/>
          <a:p>
            <a:pPr algn="l">
              <a:lnSpc>
                <a:spcPts val="1800"/>
              </a:lnSpc>
            </a:pPr>
            <a:r>
              <a:rPr sz="1500" b="1" i="0">
                <a:solidFill>
                  <a:srgbClr val="0A2540"/>
                </a:solidFill>
                <a:latin typeface="DM Sans"/>
              </a:rPr>
              <a:t>Educatie en demonstratie</a:t>
            </a:r>
          </a:p>
        </p:txBody>
      </p:sp>
      <p:sp>
        <p:nvSpPr>
          <p:cNvPr id="30" name="TextBox 29"/>
          <p:cNvSpPr txBox="1"/>
          <p:nvPr/>
        </p:nvSpPr>
        <p:spPr>
          <a:xfrm>
            <a:off x="812800" y="3417491"/>
            <a:ext cx="1960860" cy="198120"/>
          </a:xfrm>
          <a:prstGeom prst="rect">
            <a:avLst/>
          </a:prstGeom>
          <a:noFill/>
        </p:spPr>
        <p:txBody>
          <a:bodyPr wrap="none" lIns="0" rIns="0" tIns="0" bIns="0" anchor="t">
            <a:noAutofit/>
          </a:bodyPr>
          <a:lstStyle/>
          <a:p>
            <a:pPr algn="l">
              <a:lnSpc>
                <a:spcPts val="1560"/>
              </a:lnSpc>
            </a:pPr>
            <a:r>
              <a:rPr sz="1200" b="0" i="0">
                <a:solidFill>
                  <a:srgbClr val="3A4F63"/>
                </a:solidFill>
                <a:latin typeface="DM Sans"/>
              </a:rPr>
              <a:t>vooraf HLS-EU-6 en NAFF</a:t>
            </a:r>
          </a:p>
        </p:txBody>
      </p:sp>
      <p:sp>
        <p:nvSpPr>
          <p:cNvPr id="31" name="TextBox 30"/>
          <p:cNvSpPr txBox="1"/>
          <p:nvPr/>
        </p:nvSpPr>
        <p:spPr>
          <a:xfrm>
            <a:off x="812800" y="3666331"/>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mondelinge educatie voetzorg</a:t>
            </a:r>
          </a:p>
        </p:txBody>
      </p:sp>
      <p:sp>
        <p:nvSpPr>
          <p:cNvPr id="32" name="TextBox 31"/>
          <p:cNvSpPr txBox="1"/>
          <p:nvPr/>
        </p:nvSpPr>
        <p:spPr>
          <a:xfrm>
            <a:off x="812800" y="4113212"/>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voetzorg voordoen en zelf laten doen</a:t>
            </a:r>
          </a:p>
        </p:txBody>
      </p:sp>
      <p:sp>
        <p:nvSpPr>
          <p:cNvPr id="33" name="TextBox 32"/>
          <p:cNvSpPr txBox="1"/>
          <p:nvPr/>
        </p:nvSpPr>
        <p:spPr>
          <a:xfrm>
            <a:off x="812800" y="4560094"/>
            <a:ext cx="1960860" cy="198120"/>
          </a:xfrm>
          <a:prstGeom prst="rect">
            <a:avLst/>
          </a:prstGeom>
          <a:noFill/>
        </p:spPr>
        <p:txBody>
          <a:bodyPr wrap="none" lIns="0" rIns="0" tIns="0" bIns="0" anchor="t">
            <a:noAutofit/>
          </a:bodyPr>
          <a:lstStyle/>
          <a:p>
            <a:pPr algn="l">
              <a:lnSpc>
                <a:spcPts val="1560"/>
              </a:lnSpc>
            </a:pPr>
            <a:r>
              <a:rPr sz="1200" b="0" i="0">
                <a:solidFill>
                  <a:srgbClr val="3A4F63"/>
                </a:solidFill>
                <a:latin typeface="DM Sans"/>
              </a:rPr>
              <a:t>blad met voetzorg mee</a:t>
            </a:r>
          </a:p>
        </p:txBody>
      </p:sp>
      <p:sp>
        <p:nvSpPr>
          <p:cNvPr id="34" name="TextBox 33"/>
          <p:cNvSpPr txBox="1"/>
          <p:nvPr/>
        </p:nvSpPr>
        <p:spPr>
          <a:xfrm>
            <a:off x="812800" y="4808934"/>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uitleg over de MoveMonitor</a:t>
            </a:r>
          </a:p>
        </p:txBody>
      </p:sp>
      <p:sp>
        <p:nvSpPr>
          <p:cNvPr id="35" name="Rectangle 34"/>
          <p:cNvSpPr/>
          <p:nvPr/>
        </p:nvSpPr>
        <p:spPr>
          <a:xfrm>
            <a:off x="2976860" y="2484041"/>
            <a:ext cx="1910060" cy="381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76860" y="2636441"/>
            <a:ext cx="1960860" cy="198120"/>
          </a:xfrm>
          <a:prstGeom prst="rect">
            <a:avLst/>
          </a:prstGeom>
          <a:noFill/>
        </p:spPr>
        <p:txBody>
          <a:bodyPr wrap="none" lIns="0" rIns="0" tIns="0" bIns="0" anchor="t">
            <a:noAutofit/>
          </a:bodyPr>
          <a:lstStyle/>
          <a:p>
            <a:pPr algn="l"/>
            <a:r>
              <a:rPr sz="1200" b="1" i="0">
                <a:solidFill>
                  <a:srgbClr val="0B6E8F"/>
                </a:solidFill>
                <a:latin typeface="DM Sans"/>
              </a:rPr>
              <a:t>V2 · aflevering</a:t>
            </a:r>
          </a:p>
        </p:txBody>
      </p:sp>
      <p:sp>
        <p:nvSpPr>
          <p:cNvPr id="37" name="TextBox 36"/>
          <p:cNvSpPr txBox="1"/>
          <p:nvPr/>
        </p:nvSpPr>
        <p:spPr>
          <a:xfrm>
            <a:off x="2976860" y="2896791"/>
            <a:ext cx="1960860" cy="457200"/>
          </a:xfrm>
          <a:prstGeom prst="rect">
            <a:avLst/>
          </a:prstGeom>
          <a:noFill/>
        </p:spPr>
        <p:txBody>
          <a:bodyPr wrap="square" lIns="0" rIns="0" tIns="0" bIns="0" anchor="t">
            <a:noAutofit/>
          </a:bodyPr>
          <a:lstStyle/>
          <a:p>
            <a:pPr algn="l">
              <a:lnSpc>
                <a:spcPts val="1800"/>
              </a:lnSpc>
            </a:pPr>
            <a:r>
              <a:rPr sz="1500" b="1" i="0">
                <a:solidFill>
                  <a:srgbClr val="0A2540"/>
                </a:solidFill>
                <a:latin typeface="DM Sans"/>
              </a:rPr>
              <a:t>Kennis en het belang van de zolen</a:t>
            </a:r>
          </a:p>
        </p:txBody>
      </p:sp>
      <p:sp>
        <p:nvSpPr>
          <p:cNvPr id="38" name="TextBox 37"/>
          <p:cNvSpPr txBox="1"/>
          <p:nvPr/>
        </p:nvSpPr>
        <p:spPr>
          <a:xfrm>
            <a:off x="2976860" y="3417491"/>
            <a:ext cx="1960860" cy="594122"/>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kennis voetzorg evalueren met de NAFF, en opnieuw uitleggen</a:t>
            </a:r>
          </a:p>
        </p:txBody>
      </p:sp>
      <p:sp>
        <p:nvSpPr>
          <p:cNvPr id="39" name="TextBox 38"/>
          <p:cNvSpPr txBox="1"/>
          <p:nvPr/>
        </p:nvSpPr>
        <p:spPr>
          <a:xfrm>
            <a:off x="2976860" y="4062412"/>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waarom zolen en schoenen altijd dragen</a:t>
            </a:r>
          </a:p>
        </p:txBody>
      </p:sp>
      <p:sp>
        <p:nvSpPr>
          <p:cNvPr id="40" name="TextBox 39"/>
          <p:cNvSpPr txBox="1"/>
          <p:nvPr/>
        </p:nvSpPr>
        <p:spPr>
          <a:xfrm>
            <a:off x="2976860" y="4509294"/>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doel van de sensor in de zool</a:t>
            </a:r>
          </a:p>
        </p:txBody>
      </p:sp>
      <p:sp>
        <p:nvSpPr>
          <p:cNvPr id="41" name="Rectangle 40"/>
          <p:cNvSpPr/>
          <p:nvPr/>
        </p:nvSpPr>
        <p:spPr>
          <a:xfrm>
            <a:off x="5140920" y="2484041"/>
            <a:ext cx="1910060" cy="381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40920" y="2636441"/>
            <a:ext cx="1960860" cy="198120"/>
          </a:xfrm>
          <a:prstGeom prst="rect">
            <a:avLst/>
          </a:prstGeom>
          <a:noFill/>
        </p:spPr>
        <p:txBody>
          <a:bodyPr wrap="none" lIns="0" rIns="0" tIns="0" bIns="0" anchor="t">
            <a:noAutofit/>
          </a:bodyPr>
          <a:lstStyle/>
          <a:p>
            <a:pPr algn="l"/>
            <a:r>
              <a:rPr sz="1200" b="1" i="0">
                <a:solidFill>
                  <a:srgbClr val="0B6E8F"/>
                </a:solidFill>
                <a:latin typeface="DM Sans"/>
              </a:rPr>
              <a:t>V3 · V5 · V7</a:t>
            </a:r>
          </a:p>
        </p:txBody>
      </p:sp>
      <p:sp>
        <p:nvSpPr>
          <p:cNvPr id="43" name="TextBox 42"/>
          <p:cNvSpPr txBox="1"/>
          <p:nvPr/>
        </p:nvSpPr>
        <p:spPr>
          <a:xfrm>
            <a:off x="5140920" y="2896791"/>
            <a:ext cx="1960860" cy="457200"/>
          </a:xfrm>
          <a:prstGeom prst="rect">
            <a:avLst/>
          </a:prstGeom>
          <a:noFill/>
        </p:spPr>
        <p:txBody>
          <a:bodyPr wrap="square" lIns="0" rIns="0" tIns="0" bIns="0" anchor="t">
            <a:noAutofit/>
          </a:bodyPr>
          <a:lstStyle/>
          <a:p>
            <a:pPr algn="l">
              <a:lnSpc>
                <a:spcPts val="1800"/>
              </a:lnSpc>
            </a:pPr>
            <a:r>
              <a:rPr sz="1500" b="1" i="0">
                <a:solidFill>
                  <a:srgbClr val="0A2540"/>
                </a:solidFill>
                <a:latin typeface="DM Sans"/>
              </a:rPr>
              <a:t>Therapietrouw ondersteunen</a:t>
            </a:r>
          </a:p>
        </p:txBody>
      </p:sp>
      <p:sp>
        <p:nvSpPr>
          <p:cNvPr id="44" name="TextBox 43"/>
          <p:cNvSpPr txBox="1"/>
          <p:nvPr/>
        </p:nvSpPr>
        <p:spPr>
          <a:xfrm>
            <a:off x="5140920" y="3417491"/>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feedback op de uitdraai van de sensor</a:t>
            </a:r>
          </a:p>
        </p:txBody>
      </p:sp>
      <p:sp>
        <p:nvSpPr>
          <p:cNvPr id="45" name="TextBox 44"/>
          <p:cNvSpPr txBox="1"/>
          <p:nvPr/>
        </p:nvSpPr>
        <p:spPr>
          <a:xfrm>
            <a:off x="5140920" y="3864372"/>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ondersteunende interventies op maat</a:t>
            </a:r>
          </a:p>
        </p:txBody>
      </p:sp>
      <p:sp>
        <p:nvSpPr>
          <p:cNvPr id="46" name="Rectangle 45"/>
          <p:cNvSpPr/>
          <p:nvPr/>
        </p:nvSpPr>
        <p:spPr>
          <a:xfrm>
            <a:off x="7304980" y="2484041"/>
            <a:ext cx="1910060" cy="381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04980" y="2636441"/>
            <a:ext cx="1960860" cy="198120"/>
          </a:xfrm>
          <a:prstGeom prst="rect">
            <a:avLst/>
          </a:prstGeom>
          <a:noFill/>
        </p:spPr>
        <p:txBody>
          <a:bodyPr wrap="none" lIns="0" rIns="0" tIns="0" bIns="0" anchor="t">
            <a:noAutofit/>
          </a:bodyPr>
          <a:lstStyle/>
          <a:p>
            <a:pPr algn="l"/>
            <a:r>
              <a:rPr sz="1200" b="1" i="0">
                <a:solidFill>
                  <a:srgbClr val="0B6E8F"/>
                </a:solidFill>
                <a:latin typeface="DM Sans"/>
              </a:rPr>
              <a:t>V4 · V6</a:t>
            </a:r>
          </a:p>
        </p:txBody>
      </p:sp>
      <p:sp>
        <p:nvSpPr>
          <p:cNvPr id="48" name="TextBox 47"/>
          <p:cNvSpPr txBox="1"/>
          <p:nvPr/>
        </p:nvSpPr>
        <p:spPr>
          <a:xfrm>
            <a:off x="7304980" y="2896791"/>
            <a:ext cx="1960860" cy="457200"/>
          </a:xfrm>
          <a:prstGeom prst="rect">
            <a:avLst/>
          </a:prstGeom>
          <a:noFill/>
        </p:spPr>
        <p:txBody>
          <a:bodyPr wrap="square" lIns="0" rIns="0" tIns="0" bIns="0" anchor="t">
            <a:noAutofit/>
          </a:bodyPr>
          <a:lstStyle/>
          <a:p>
            <a:pPr algn="l">
              <a:lnSpc>
                <a:spcPts val="1800"/>
              </a:lnSpc>
            </a:pPr>
            <a:r>
              <a:rPr sz="1500" b="1" i="0">
                <a:solidFill>
                  <a:srgbClr val="0A2540"/>
                </a:solidFill>
                <a:latin typeface="DM Sans"/>
              </a:rPr>
              <a:t>Evalueren en ondersteunen</a:t>
            </a:r>
          </a:p>
        </p:txBody>
      </p:sp>
      <p:sp>
        <p:nvSpPr>
          <p:cNvPr id="49" name="TextBox 48"/>
          <p:cNvSpPr txBox="1"/>
          <p:nvPr/>
        </p:nvSpPr>
        <p:spPr>
          <a:xfrm>
            <a:off x="7304980" y="3417491"/>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vaardigheden voetzorg evalueren</a:t>
            </a:r>
          </a:p>
        </p:txBody>
      </p:sp>
      <p:sp>
        <p:nvSpPr>
          <p:cNvPr id="50" name="TextBox 49"/>
          <p:cNvSpPr txBox="1"/>
          <p:nvPr/>
        </p:nvSpPr>
        <p:spPr>
          <a:xfrm>
            <a:off x="7304980" y="3864372"/>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bijkomende kennis met de NAFF</a:t>
            </a:r>
          </a:p>
        </p:txBody>
      </p:sp>
      <p:sp>
        <p:nvSpPr>
          <p:cNvPr id="51" name="TextBox 50"/>
          <p:cNvSpPr txBox="1"/>
          <p:nvPr/>
        </p:nvSpPr>
        <p:spPr>
          <a:xfrm>
            <a:off x="7304980" y="4311253"/>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feedback op de therapietrouw</a:t>
            </a:r>
          </a:p>
        </p:txBody>
      </p:sp>
      <p:sp>
        <p:nvSpPr>
          <p:cNvPr id="52" name="TextBox 51"/>
          <p:cNvSpPr txBox="1"/>
          <p:nvPr/>
        </p:nvSpPr>
        <p:spPr>
          <a:xfrm>
            <a:off x="7304980" y="4758134"/>
            <a:ext cx="1960860" cy="198120"/>
          </a:xfrm>
          <a:prstGeom prst="rect">
            <a:avLst/>
          </a:prstGeom>
          <a:noFill/>
        </p:spPr>
        <p:txBody>
          <a:bodyPr wrap="none" lIns="0" rIns="0" tIns="0" bIns="0" anchor="t">
            <a:noAutofit/>
          </a:bodyPr>
          <a:lstStyle/>
          <a:p>
            <a:pPr algn="l">
              <a:lnSpc>
                <a:spcPts val="1560"/>
              </a:lnSpc>
            </a:pPr>
            <a:r>
              <a:rPr sz="1200" b="0" i="0">
                <a:solidFill>
                  <a:srgbClr val="3A4F63"/>
                </a:solidFill>
                <a:latin typeface="DM Sans"/>
              </a:rPr>
              <a:t>interventies op maat</a:t>
            </a:r>
          </a:p>
        </p:txBody>
      </p:sp>
      <p:sp>
        <p:nvSpPr>
          <p:cNvPr id="53" name="Rectangle 52"/>
          <p:cNvSpPr/>
          <p:nvPr/>
        </p:nvSpPr>
        <p:spPr>
          <a:xfrm>
            <a:off x="9469041" y="2484041"/>
            <a:ext cx="1910060" cy="38100"/>
          </a:xfrm>
          <a:prstGeom prst="rect">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469041" y="2636441"/>
            <a:ext cx="1960860" cy="198120"/>
          </a:xfrm>
          <a:prstGeom prst="rect">
            <a:avLst/>
          </a:prstGeom>
          <a:noFill/>
        </p:spPr>
        <p:txBody>
          <a:bodyPr wrap="none" lIns="0" rIns="0" tIns="0" bIns="0" anchor="t">
            <a:noAutofit/>
          </a:bodyPr>
          <a:lstStyle/>
          <a:p>
            <a:pPr algn="l"/>
            <a:r>
              <a:rPr sz="1200" b="1" i="0">
                <a:solidFill>
                  <a:srgbClr val="0B6E8F"/>
                </a:solidFill>
                <a:latin typeface="DM Sans"/>
              </a:rPr>
              <a:t>V8 · maand 18</a:t>
            </a:r>
          </a:p>
        </p:txBody>
      </p:sp>
      <p:sp>
        <p:nvSpPr>
          <p:cNvPr id="55" name="TextBox 54"/>
          <p:cNvSpPr txBox="1"/>
          <p:nvPr/>
        </p:nvSpPr>
        <p:spPr>
          <a:xfrm>
            <a:off x="9469041" y="2896791"/>
            <a:ext cx="1960860" cy="228600"/>
          </a:xfrm>
          <a:prstGeom prst="rect">
            <a:avLst/>
          </a:prstGeom>
          <a:noFill/>
        </p:spPr>
        <p:txBody>
          <a:bodyPr wrap="none" lIns="0" rIns="0" tIns="0" bIns="0" anchor="t">
            <a:noAutofit/>
          </a:bodyPr>
          <a:lstStyle/>
          <a:p>
            <a:pPr algn="l">
              <a:lnSpc>
                <a:spcPts val="1800"/>
              </a:lnSpc>
            </a:pPr>
            <a:r>
              <a:rPr sz="1500" b="1" i="0">
                <a:solidFill>
                  <a:srgbClr val="0A2540"/>
                </a:solidFill>
                <a:latin typeface="DM Sans"/>
              </a:rPr>
              <a:t>Afrondend gesprek</a:t>
            </a:r>
          </a:p>
        </p:txBody>
      </p:sp>
      <p:sp>
        <p:nvSpPr>
          <p:cNvPr id="56" name="TextBox 55"/>
          <p:cNvSpPr txBox="1"/>
          <p:nvPr/>
        </p:nvSpPr>
        <p:spPr>
          <a:xfrm>
            <a:off x="9469041" y="3188891"/>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geen feedback of nieuwe interventies meer</a:t>
            </a:r>
          </a:p>
        </p:txBody>
      </p:sp>
      <p:sp>
        <p:nvSpPr>
          <p:cNvPr id="57" name="TextBox 56"/>
          <p:cNvSpPr txBox="1"/>
          <p:nvPr/>
        </p:nvSpPr>
        <p:spPr>
          <a:xfrm>
            <a:off x="9469041" y="3635772"/>
            <a:ext cx="1960860" cy="396081"/>
          </a:xfrm>
          <a:prstGeom prst="rect">
            <a:avLst/>
          </a:prstGeom>
          <a:noFill/>
        </p:spPr>
        <p:txBody>
          <a:bodyPr wrap="square" lIns="0" rIns="0" tIns="0" bIns="0" anchor="t">
            <a:noAutofit/>
          </a:bodyPr>
          <a:lstStyle/>
          <a:p>
            <a:pPr algn="l">
              <a:lnSpc>
                <a:spcPts val="1560"/>
              </a:lnSpc>
            </a:pPr>
            <a:r>
              <a:rPr sz="1200" b="0" i="0">
                <a:solidFill>
                  <a:srgbClr val="3A4F63"/>
                </a:solidFill>
                <a:latin typeface="DM Sans"/>
              </a:rPr>
              <a:t>NAFF, therapietrouwvragen en MOS-revised</a:t>
            </a:r>
          </a:p>
        </p:txBody>
      </p:sp>
      <p:pic>
        <p:nvPicPr>
          <p:cNvPr id="58" name="Picture 5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59" name="TextBox 5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60" name="TextBox 59"/>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SEBIA-overzicht voor de voetklinieken, F. Dobbels, 12 oktober 2026 · eCRF 17</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Bij een nieuwe wonde</a:t>
            </a:r>
          </a:p>
        </p:txBody>
      </p:sp>
      <p:sp>
        <p:nvSpPr>
          <p:cNvPr id="4" name="Rectangle 3"/>
          <p:cNvSpPr/>
          <p:nvPr/>
        </p:nvSpPr>
        <p:spPr>
          <a:xfrm>
            <a:off x="812800" y="1493441"/>
            <a:ext cx="33020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633141"/>
            <a:ext cx="3352800" cy="198120"/>
          </a:xfrm>
          <a:prstGeom prst="rect">
            <a:avLst/>
          </a:prstGeom>
          <a:noFill/>
        </p:spPr>
        <p:txBody>
          <a:bodyPr wrap="none" lIns="0" rIns="0" tIns="0" bIns="0" anchor="t">
            <a:noAutofit/>
          </a:bodyPr>
          <a:lstStyle/>
          <a:p>
            <a:pPr algn="l"/>
            <a:r>
              <a:rPr sz="1200" b="1" i="0">
                <a:solidFill>
                  <a:srgbClr val="0B6E8F"/>
                </a:solidFill>
                <a:latin typeface="DM Sans"/>
              </a:rPr>
              <a:t>Wat telt</a:t>
            </a:r>
          </a:p>
        </p:txBody>
      </p:sp>
      <p:sp>
        <p:nvSpPr>
          <p:cNvPr id="6" name="TextBox 5"/>
          <p:cNvSpPr txBox="1"/>
          <p:nvPr/>
        </p:nvSpPr>
        <p:spPr>
          <a:xfrm>
            <a:off x="812800" y="1931591"/>
            <a:ext cx="3368040" cy="584200"/>
          </a:xfrm>
          <a:prstGeom prst="rect">
            <a:avLst/>
          </a:prstGeom>
          <a:noFill/>
        </p:spPr>
        <p:txBody>
          <a:bodyPr wrap="square" lIns="0" rIns="0" tIns="0" bIns="0" anchor="t">
            <a:noAutofit/>
          </a:bodyPr>
          <a:lstStyle/>
          <a:p>
            <a:pPr algn="l">
              <a:lnSpc>
                <a:spcPts val="2300"/>
              </a:lnSpc>
            </a:pPr>
            <a:r>
              <a:rPr sz="2000" b="0" i="0">
                <a:solidFill>
                  <a:srgbClr val="0A2540"/>
                </a:solidFill>
                <a:latin typeface="DM Serif Display"/>
              </a:rPr>
              <a:t>Een nieuw ulcus, op dezelfde of een andere plek</a:t>
            </a:r>
          </a:p>
        </p:txBody>
      </p:sp>
      <p:sp>
        <p:nvSpPr>
          <p:cNvPr id="7" name="Rectangle 6"/>
          <p:cNvSpPr/>
          <p:nvPr/>
        </p:nvSpPr>
        <p:spPr>
          <a:xfrm>
            <a:off x="812800" y="261739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25341"/>
            <a:ext cx="336804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Beide voeten, plantair én dorsaal, op elke visite gescreend</a:t>
            </a:r>
          </a:p>
        </p:txBody>
      </p:sp>
      <p:sp>
        <p:nvSpPr>
          <p:cNvPr id="9" name="Rectangle 8"/>
          <p:cNvSpPr/>
          <p:nvPr/>
        </p:nvSpPr>
        <p:spPr>
          <a:xfrm>
            <a:off x="812800" y="327263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3380581"/>
            <a:ext cx="336804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Vastgesteld door het team, met foto's, op dezelfde manier in beide armen</a:t>
            </a:r>
          </a:p>
        </p:txBody>
      </p:sp>
      <p:sp>
        <p:nvSpPr>
          <p:cNvPr id="11" name="TextBox 10"/>
          <p:cNvSpPr txBox="1"/>
          <p:nvPr/>
        </p:nvSpPr>
        <p:spPr>
          <a:xfrm>
            <a:off x="4470400" y="1493441"/>
            <a:ext cx="6959600" cy="198120"/>
          </a:xfrm>
          <a:prstGeom prst="rect">
            <a:avLst/>
          </a:prstGeom>
          <a:noFill/>
        </p:spPr>
        <p:txBody>
          <a:bodyPr wrap="none" lIns="0" rIns="0" tIns="0" bIns="0" anchor="t">
            <a:noAutofit/>
          </a:bodyPr>
          <a:lstStyle/>
          <a:p>
            <a:pPr algn="l"/>
            <a:r>
              <a:rPr sz="1200" b="1" i="0">
                <a:solidFill>
                  <a:srgbClr val="0B6E8F"/>
                </a:solidFill>
                <a:latin typeface="DM Sans"/>
              </a:rPr>
              <a:t>Wat u doet</a:t>
            </a:r>
          </a:p>
        </p:txBody>
      </p:sp>
      <p:sp>
        <p:nvSpPr>
          <p:cNvPr id="12" name="TextBox 11"/>
          <p:cNvSpPr txBox="1"/>
          <p:nvPr/>
        </p:nvSpPr>
        <p:spPr>
          <a:xfrm>
            <a:off x="4470400" y="1836341"/>
            <a:ext cx="330200" cy="215900"/>
          </a:xfrm>
          <a:prstGeom prst="rect">
            <a:avLst/>
          </a:prstGeom>
          <a:noFill/>
        </p:spPr>
        <p:txBody>
          <a:bodyPr wrap="none" lIns="0" rIns="0" tIns="0" bIns="0" anchor="t">
            <a:noAutofit/>
          </a:bodyPr>
          <a:lstStyle/>
          <a:p>
            <a:pPr algn="l"/>
            <a:r>
              <a:rPr sz="1300" b="0" i="0">
                <a:solidFill>
                  <a:srgbClr val="0B6E8F"/>
                </a:solidFill>
                <a:latin typeface="DM Sans"/>
              </a:rPr>
              <a:t>01</a:t>
            </a:r>
          </a:p>
        </p:txBody>
      </p:sp>
      <p:sp>
        <p:nvSpPr>
          <p:cNvPr id="13" name="TextBox 12"/>
          <p:cNvSpPr txBox="1"/>
          <p:nvPr/>
        </p:nvSpPr>
        <p:spPr>
          <a:xfrm>
            <a:off x="4902200" y="1829991"/>
            <a:ext cx="46609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De investigator meteen verwittigen</a:t>
            </a:r>
          </a:p>
        </p:txBody>
      </p:sp>
      <p:sp>
        <p:nvSpPr>
          <p:cNvPr id="14" name="TextBox 13"/>
          <p:cNvSpPr txBox="1"/>
          <p:nvPr/>
        </p:nvSpPr>
        <p:spPr>
          <a:xfrm>
            <a:off x="9613900" y="1849041"/>
            <a:ext cx="1765300" cy="198120"/>
          </a:xfrm>
          <a:prstGeom prst="rect">
            <a:avLst/>
          </a:prstGeom>
          <a:noFill/>
        </p:spPr>
        <p:txBody>
          <a:bodyPr wrap="none" lIns="0" rIns="0" tIns="0" bIns="0" anchor="t">
            <a:noAutofit/>
          </a:bodyPr>
          <a:lstStyle/>
          <a:p>
            <a:pPr algn="r"/>
            <a:r>
              <a:rPr sz="1200" b="0" i="0">
                <a:solidFill>
                  <a:srgbClr val="A34A00"/>
                </a:solidFill>
                <a:latin typeface="DM Sans"/>
              </a:rPr>
              <a:t>onmiddellijk</a:t>
            </a:r>
          </a:p>
        </p:txBody>
      </p:sp>
      <p:sp>
        <p:nvSpPr>
          <p:cNvPr id="15" name="Rectangle 14"/>
          <p:cNvSpPr/>
          <p:nvPr/>
        </p:nvSpPr>
        <p:spPr>
          <a:xfrm>
            <a:off x="4470400" y="2149971"/>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0400" y="2251571"/>
            <a:ext cx="330200" cy="215900"/>
          </a:xfrm>
          <a:prstGeom prst="rect">
            <a:avLst/>
          </a:prstGeom>
          <a:noFill/>
        </p:spPr>
        <p:txBody>
          <a:bodyPr wrap="none" lIns="0" rIns="0" tIns="0" bIns="0" anchor="t">
            <a:noAutofit/>
          </a:bodyPr>
          <a:lstStyle/>
          <a:p>
            <a:pPr algn="l"/>
            <a:r>
              <a:rPr sz="1300" b="0" i="0">
                <a:solidFill>
                  <a:srgbClr val="0B6E8F"/>
                </a:solidFill>
                <a:latin typeface="DM Sans"/>
              </a:rPr>
              <a:t>02</a:t>
            </a:r>
          </a:p>
        </p:txBody>
      </p:sp>
      <p:sp>
        <p:nvSpPr>
          <p:cNvPr id="17" name="TextBox 16"/>
          <p:cNvSpPr txBox="1"/>
          <p:nvPr/>
        </p:nvSpPr>
        <p:spPr>
          <a:xfrm>
            <a:off x="4902200" y="2245221"/>
            <a:ext cx="46609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Foto's, klasseren met PEDIS en WIfI, verzorgen</a:t>
            </a:r>
          </a:p>
        </p:txBody>
      </p:sp>
      <p:sp>
        <p:nvSpPr>
          <p:cNvPr id="18" name="TextBox 17"/>
          <p:cNvSpPr txBox="1"/>
          <p:nvPr/>
        </p:nvSpPr>
        <p:spPr>
          <a:xfrm>
            <a:off x="9613900" y="2264271"/>
            <a:ext cx="1765300" cy="198120"/>
          </a:xfrm>
          <a:prstGeom prst="rect">
            <a:avLst/>
          </a:prstGeom>
          <a:noFill/>
        </p:spPr>
        <p:txBody>
          <a:bodyPr wrap="none" lIns="0" rIns="0" tIns="0" bIns="0" anchor="t">
            <a:noAutofit/>
          </a:bodyPr>
          <a:lstStyle/>
          <a:p>
            <a:pPr algn="r"/>
            <a:r>
              <a:rPr sz="1200" b="0" i="0">
                <a:solidFill>
                  <a:srgbClr val="A34A00"/>
                </a:solidFill>
                <a:latin typeface="DM Sans"/>
              </a:rPr>
              <a:t>eCRF 36 · 38</a:t>
            </a:r>
          </a:p>
        </p:txBody>
      </p:sp>
      <p:sp>
        <p:nvSpPr>
          <p:cNvPr id="19" name="Rectangle 18"/>
          <p:cNvSpPr/>
          <p:nvPr/>
        </p:nvSpPr>
        <p:spPr>
          <a:xfrm>
            <a:off x="4470400" y="256520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0400" y="2666802"/>
            <a:ext cx="330200" cy="215900"/>
          </a:xfrm>
          <a:prstGeom prst="rect">
            <a:avLst/>
          </a:prstGeom>
          <a:noFill/>
        </p:spPr>
        <p:txBody>
          <a:bodyPr wrap="none" lIns="0" rIns="0" tIns="0" bIns="0" anchor="t">
            <a:noAutofit/>
          </a:bodyPr>
          <a:lstStyle/>
          <a:p>
            <a:pPr algn="l"/>
            <a:r>
              <a:rPr sz="1300" b="0" i="0">
                <a:solidFill>
                  <a:srgbClr val="0B6E8F"/>
                </a:solidFill>
                <a:latin typeface="DM Sans"/>
              </a:rPr>
              <a:t>03</a:t>
            </a:r>
          </a:p>
        </p:txBody>
      </p:sp>
      <p:sp>
        <p:nvSpPr>
          <p:cNvPr id="21" name="TextBox 20"/>
          <p:cNvSpPr txBox="1"/>
          <p:nvPr/>
        </p:nvSpPr>
        <p:spPr>
          <a:xfrm>
            <a:off x="4902200" y="2660452"/>
            <a:ext cx="46609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Foto's geanonimiseerd opladen.</a:t>
            </a:r>
          </a:p>
        </p:txBody>
      </p:sp>
      <p:sp>
        <p:nvSpPr>
          <p:cNvPr id="22" name="TextBox 21"/>
          <p:cNvSpPr txBox="1"/>
          <p:nvPr/>
        </p:nvSpPr>
        <p:spPr>
          <a:xfrm>
            <a:off x="9613900" y="2679502"/>
            <a:ext cx="1765300" cy="198120"/>
          </a:xfrm>
          <a:prstGeom prst="rect">
            <a:avLst/>
          </a:prstGeom>
          <a:noFill/>
        </p:spPr>
        <p:txBody>
          <a:bodyPr wrap="none" lIns="0" rIns="0" tIns="0" bIns="0" anchor="t">
            <a:noAutofit/>
          </a:bodyPr>
          <a:lstStyle/>
          <a:p>
            <a:pPr algn="r"/>
            <a:r>
              <a:rPr sz="1200" b="0" i="0">
                <a:solidFill>
                  <a:srgbClr val="A34A00"/>
                </a:solidFill>
                <a:latin typeface="DM Sans"/>
              </a:rPr>
              <a:t>ManGO</a:t>
            </a:r>
          </a:p>
        </p:txBody>
      </p:sp>
      <p:sp>
        <p:nvSpPr>
          <p:cNvPr id="23" name="Rectangle 22"/>
          <p:cNvSpPr/>
          <p:nvPr/>
        </p:nvSpPr>
        <p:spPr>
          <a:xfrm>
            <a:off x="4470400" y="298043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70400" y="3082032"/>
            <a:ext cx="330200" cy="215900"/>
          </a:xfrm>
          <a:prstGeom prst="rect">
            <a:avLst/>
          </a:prstGeom>
          <a:noFill/>
        </p:spPr>
        <p:txBody>
          <a:bodyPr wrap="none" lIns="0" rIns="0" tIns="0" bIns="0" anchor="t">
            <a:noAutofit/>
          </a:bodyPr>
          <a:lstStyle/>
          <a:p>
            <a:pPr algn="l"/>
            <a:r>
              <a:rPr sz="1300" b="0" i="0">
                <a:solidFill>
                  <a:srgbClr val="0B6E8F"/>
                </a:solidFill>
                <a:latin typeface="DM Sans"/>
              </a:rPr>
              <a:t>04</a:t>
            </a:r>
          </a:p>
        </p:txBody>
      </p:sp>
      <p:sp>
        <p:nvSpPr>
          <p:cNvPr id="25" name="TextBox 24"/>
          <p:cNvSpPr txBox="1"/>
          <p:nvPr/>
        </p:nvSpPr>
        <p:spPr>
          <a:xfrm>
            <a:off x="4902200" y="3075682"/>
            <a:ext cx="4702302" cy="462161"/>
          </a:xfrm>
          <a:prstGeom prst="rect">
            <a:avLst/>
          </a:prstGeom>
          <a:noFill/>
        </p:spPr>
        <p:txBody>
          <a:bodyPr wrap="square" lIns="0" rIns="0" tIns="0" bIns="0" anchor="t">
            <a:noAutofit/>
          </a:bodyPr>
          <a:lstStyle/>
          <a:p>
            <a:pPr algn="l">
              <a:lnSpc>
                <a:spcPts val="1820"/>
              </a:lnSpc>
            </a:pPr>
            <a:r>
              <a:rPr sz="1400" b="0" i="0">
                <a:solidFill>
                  <a:srgbClr val="0A2540"/>
                </a:solidFill>
                <a:latin typeface="DM Sans"/>
              </a:rPr>
              <a:t>Bij elk vervolgcontact de genezing noteren, tot genezing, amputatie of overlijden</a:t>
            </a:r>
          </a:p>
        </p:txBody>
      </p:sp>
      <p:sp>
        <p:nvSpPr>
          <p:cNvPr id="26" name="TextBox 25"/>
          <p:cNvSpPr txBox="1"/>
          <p:nvPr/>
        </p:nvSpPr>
        <p:spPr>
          <a:xfrm>
            <a:off x="9613900" y="3094732"/>
            <a:ext cx="1765300" cy="198120"/>
          </a:xfrm>
          <a:prstGeom prst="rect">
            <a:avLst/>
          </a:prstGeom>
          <a:noFill/>
        </p:spPr>
        <p:txBody>
          <a:bodyPr wrap="none" lIns="0" rIns="0" tIns="0" bIns="0" anchor="t">
            <a:noAutofit/>
          </a:bodyPr>
          <a:lstStyle/>
          <a:p>
            <a:pPr algn="r"/>
            <a:r>
              <a:rPr sz="1200" b="0" i="0">
                <a:solidFill>
                  <a:srgbClr val="A34A00"/>
                </a:solidFill>
                <a:latin typeface="DM Sans"/>
              </a:rPr>
              <a:t>eCRF 47</a:t>
            </a:r>
          </a:p>
        </p:txBody>
      </p:sp>
      <p:sp>
        <p:nvSpPr>
          <p:cNvPr id="27" name="Rectangle 26"/>
          <p:cNvSpPr/>
          <p:nvPr/>
        </p:nvSpPr>
        <p:spPr>
          <a:xfrm>
            <a:off x="4470400" y="3626743"/>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70400" y="3728343"/>
            <a:ext cx="330200" cy="215900"/>
          </a:xfrm>
          <a:prstGeom prst="rect">
            <a:avLst/>
          </a:prstGeom>
          <a:noFill/>
        </p:spPr>
        <p:txBody>
          <a:bodyPr wrap="none" lIns="0" rIns="0" tIns="0" bIns="0" anchor="t">
            <a:noAutofit/>
          </a:bodyPr>
          <a:lstStyle/>
          <a:p>
            <a:pPr algn="l"/>
            <a:r>
              <a:rPr sz="1300" b="0" i="0">
                <a:solidFill>
                  <a:srgbClr val="0B6E8F"/>
                </a:solidFill>
                <a:latin typeface="DM Sans"/>
              </a:rPr>
              <a:t>05</a:t>
            </a:r>
          </a:p>
        </p:txBody>
      </p:sp>
      <p:sp>
        <p:nvSpPr>
          <p:cNvPr id="29" name="TextBox 28"/>
          <p:cNvSpPr txBox="1"/>
          <p:nvPr/>
        </p:nvSpPr>
        <p:spPr>
          <a:xfrm>
            <a:off x="4902200" y="3721993"/>
            <a:ext cx="4702302" cy="462161"/>
          </a:xfrm>
          <a:prstGeom prst="rect">
            <a:avLst/>
          </a:prstGeom>
          <a:noFill/>
        </p:spPr>
        <p:txBody>
          <a:bodyPr wrap="square" lIns="0" rIns="0" tIns="0" bIns="0" anchor="t">
            <a:noAutofit/>
          </a:bodyPr>
          <a:lstStyle/>
          <a:p>
            <a:pPr algn="l">
              <a:lnSpc>
                <a:spcPts val="1820"/>
              </a:lnSpc>
            </a:pPr>
            <a:r>
              <a:rPr sz="1400" b="0" i="0">
                <a:solidFill>
                  <a:srgbClr val="0A2540"/>
                </a:solidFill>
                <a:latin typeface="DM Sans"/>
              </a:rPr>
              <a:t>Ernstig voorval, zoals een opname: melden aan de studieverantwoordelijke</a:t>
            </a:r>
          </a:p>
        </p:txBody>
      </p:sp>
      <p:sp>
        <p:nvSpPr>
          <p:cNvPr id="30" name="TextBox 29"/>
          <p:cNvSpPr txBox="1"/>
          <p:nvPr/>
        </p:nvSpPr>
        <p:spPr>
          <a:xfrm>
            <a:off x="9613900" y="3741043"/>
            <a:ext cx="1765300" cy="198120"/>
          </a:xfrm>
          <a:prstGeom prst="rect">
            <a:avLst/>
          </a:prstGeom>
          <a:noFill/>
        </p:spPr>
        <p:txBody>
          <a:bodyPr wrap="none" lIns="0" rIns="0" tIns="0" bIns="0" anchor="t">
            <a:noAutofit/>
          </a:bodyPr>
          <a:lstStyle/>
          <a:p>
            <a:pPr algn="r"/>
            <a:r>
              <a:rPr sz="1200" b="0" i="0">
                <a:solidFill>
                  <a:srgbClr val="A34A00"/>
                </a:solidFill>
                <a:latin typeface="DM Sans"/>
              </a:rPr>
              <a:t>72 uur · eCRF 46</a:t>
            </a:r>
          </a:p>
        </p:txBody>
      </p:sp>
      <p:sp>
        <p:nvSpPr>
          <p:cNvPr id="31" name="Rectangle 30"/>
          <p:cNvSpPr/>
          <p:nvPr/>
        </p:nvSpPr>
        <p:spPr>
          <a:xfrm>
            <a:off x="812800" y="4450854"/>
            <a:ext cx="105664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800" y="4590554"/>
            <a:ext cx="10617200" cy="257175"/>
          </a:xfrm>
          <a:prstGeom prst="rect">
            <a:avLst/>
          </a:prstGeom>
          <a:noFill/>
        </p:spPr>
        <p:txBody>
          <a:bodyPr wrap="none" lIns="0" rIns="0" tIns="0" bIns="0" anchor="t">
            <a:noAutofit/>
          </a:bodyPr>
          <a:lstStyle/>
          <a:p>
            <a:pPr algn="l">
              <a:lnSpc>
                <a:spcPts val="2025"/>
              </a:lnSpc>
            </a:pPr>
            <a:r>
              <a:rPr sz="1500" b="1" i="0">
                <a:solidFill>
                  <a:srgbClr val="0A2540"/>
                </a:solidFill>
                <a:latin typeface="DM Sans"/>
              </a:rPr>
              <a:t>Het eindpunt is geen einde:</a:t>
            </a:r>
            <a:r>
              <a:rPr sz="1500" b="0" i="0">
                <a:solidFill>
                  <a:srgbClr val="0A2540"/>
                </a:solidFill>
                <a:latin typeface="DM Sans"/>
              </a:rPr>
              <a:t> de deelnemer blijft tot maand 18 in opvolging.</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In uw kliniek</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studieprotocol §5.5 (ongepland bezoek), §6 · eCRF 36, 38, 46, 47</a:t>
            </a:r>
          </a:p>
        </p:txBody>
      </p:sp>
    </p:spTree>
  </p:cSld>
  <p:clrMapOvr>
    <a:masterClrMapping/>
  </p:clrMapOvr>
  <p:transition xmlns:p14="http://schemas.microsoft.com/office/powerpoint/2010/main" spd="med" p14:dur="700">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pic>
        <p:nvPicPr>
          <p:cNvPr id="2" name="Picture 1" descr="4e287ae005ab9f8997461f000820af22.png"/>
          <p:cNvPicPr>
            <a:picLocks noChangeAspect="1"/>
          </p:cNvPicPr>
          <p:nvPr/>
        </p:nvPicPr>
        <p:blipFill>
          <a:blip r:embed="rId2"/>
          <a:stretch>
            <a:fillRect/>
          </a:stretch>
        </p:blipFill>
        <p:spPr>
          <a:xfrm>
            <a:off x="7874000" y="0"/>
            <a:ext cx="6388100" cy="7302500"/>
          </a:xfrm>
          <a:prstGeom prst="rect">
            <a:avLst/>
          </a:prstGeom>
        </p:spPr>
      </p:pic>
      <p:sp>
        <p:nvSpPr>
          <p:cNvPr id="3" name="Rounded Rectangle 2"/>
          <p:cNvSpPr/>
          <p:nvPr/>
        </p:nvSpPr>
        <p:spPr>
          <a:xfrm>
            <a:off x="8128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8f5a364bd78bb1a03e64718e5c9b51ca.png"/>
          <p:cNvPicPr>
            <a:picLocks noChangeAspect="1"/>
          </p:cNvPicPr>
          <p:nvPr/>
        </p:nvPicPr>
        <p:blipFill>
          <a:blip r:embed="rId3"/>
          <a:stretch>
            <a:fillRect/>
          </a:stretch>
        </p:blipFill>
        <p:spPr>
          <a:xfrm>
            <a:off x="819150" y="2800350"/>
            <a:ext cx="2476500" cy="1393031"/>
          </a:xfrm>
          <a:prstGeom prst="rect">
            <a:avLst/>
          </a:prstGeom>
        </p:spPr>
      </p:pic>
      <p:sp>
        <p:nvSpPr>
          <p:cNvPr id="5" name="Rounded Rectangle 4"/>
          <p:cNvSpPr/>
          <p:nvPr/>
        </p:nvSpPr>
        <p:spPr>
          <a:xfrm>
            <a:off x="8128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128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1 Waar we staan</a:t>
            </a:r>
          </a:p>
        </p:txBody>
      </p:sp>
      <p:sp>
        <p:nvSpPr>
          <p:cNvPr id="7" name="Rounded Rectangle 6"/>
          <p:cNvSpPr/>
          <p:nvPr/>
        </p:nvSpPr>
        <p:spPr>
          <a:xfrm>
            <a:off x="35052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626ffe89d287ff5eaf9111d59a37c71.png"/>
          <p:cNvPicPr>
            <a:picLocks noChangeAspect="1"/>
          </p:cNvPicPr>
          <p:nvPr/>
        </p:nvPicPr>
        <p:blipFill>
          <a:blip r:embed="rId4"/>
          <a:stretch>
            <a:fillRect/>
          </a:stretch>
        </p:blipFill>
        <p:spPr>
          <a:xfrm>
            <a:off x="3511550" y="2800350"/>
            <a:ext cx="2476500" cy="1393031"/>
          </a:xfrm>
          <a:prstGeom prst="rect">
            <a:avLst/>
          </a:prstGeom>
        </p:spPr>
      </p:pic>
      <p:sp>
        <p:nvSpPr>
          <p:cNvPr id="9" name="Rounded Rectangle 8"/>
          <p:cNvSpPr/>
          <p:nvPr/>
        </p:nvSpPr>
        <p:spPr>
          <a:xfrm>
            <a:off x="35052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052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2 De twee normen</a:t>
            </a:r>
          </a:p>
        </p:txBody>
      </p:sp>
      <p:sp>
        <p:nvSpPr>
          <p:cNvPr id="11" name="Rounded Rectangle 10"/>
          <p:cNvSpPr/>
          <p:nvPr/>
        </p:nvSpPr>
        <p:spPr>
          <a:xfrm>
            <a:off x="6197600" y="27940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f2004349ab66d8e00dcd64e773bea7e.png"/>
          <p:cNvPicPr>
            <a:picLocks noChangeAspect="1"/>
          </p:cNvPicPr>
          <p:nvPr/>
        </p:nvPicPr>
        <p:blipFill>
          <a:blip r:embed="rId5"/>
          <a:stretch>
            <a:fillRect/>
          </a:stretch>
        </p:blipFill>
        <p:spPr>
          <a:xfrm>
            <a:off x="6203950" y="2800350"/>
            <a:ext cx="2476500" cy="1393031"/>
          </a:xfrm>
          <a:prstGeom prst="rect">
            <a:avLst/>
          </a:prstGeom>
        </p:spPr>
      </p:pic>
      <p:sp>
        <p:nvSpPr>
          <p:cNvPr id="13" name="Rounded Rectangle 12"/>
          <p:cNvSpPr/>
          <p:nvPr/>
        </p:nvSpPr>
        <p:spPr>
          <a:xfrm>
            <a:off x="6197600" y="27940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97600" y="4279900"/>
            <a:ext cx="2540000" cy="213360"/>
          </a:xfrm>
          <a:prstGeom prst="rect">
            <a:avLst/>
          </a:prstGeom>
          <a:noFill/>
        </p:spPr>
        <p:txBody>
          <a:bodyPr wrap="none" lIns="0" rIns="0" tIns="0" bIns="0" anchor="t">
            <a:noAutofit/>
          </a:bodyPr>
          <a:lstStyle/>
          <a:p>
            <a:pPr algn="l">
              <a:lnSpc>
                <a:spcPts val="1680"/>
              </a:lnSpc>
            </a:pPr>
            <a:r>
              <a:rPr sz="1400" b="0" i="0">
                <a:solidFill>
                  <a:srgbClr val="9FB3C6"/>
                </a:solidFill>
                <a:latin typeface="DM Sans"/>
              </a:rPr>
              <a:t>3 In uw kliniek</a:t>
            </a:r>
          </a:p>
        </p:txBody>
      </p:sp>
      <p:pic>
        <p:nvPicPr>
          <p:cNvPr id="15" name="Picture 14" descr="f47b2c5d55fdfa1b7561ac418fc51cae.png"/>
          <p:cNvPicPr>
            <a:picLocks noChangeAspect="1"/>
          </p:cNvPicPr>
          <p:nvPr/>
        </p:nvPicPr>
        <p:blipFill>
          <a:blip r:embed="rId6"/>
          <a:stretch>
            <a:fillRect/>
          </a:stretch>
        </p:blipFill>
        <p:spPr>
          <a:xfrm>
            <a:off x="9067800" y="2616200"/>
            <a:ext cx="2133600" cy="1200150"/>
          </a:xfrm>
          <a:prstGeom prst="rect">
            <a:avLst/>
          </a:prstGeom>
        </p:spPr>
      </p:pic>
      <p:pic>
        <p:nvPicPr>
          <p:cNvPr id="16" name="Picture 15" descr="3037ecb82de3ed48eb6cda2a03246223.png"/>
          <p:cNvPicPr>
            <a:picLocks noChangeAspect="1"/>
          </p:cNvPicPr>
          <p:nvPr/>
        </p:nvPicPr>
        <p:blipFill>
          <a:blip r:embed="rId7"/>
          <a:stretch>
            <a:fillRect/>
          </a:stretch>
        </p:blipFill>
        <p:spPr>
          <a:xfrm>
            <a:off x="8978900" y="2705100"/>
            <a:ext cx="2311400" cy="1301750"/>
          </a:xfrm>
          <a:prstGeom prst="rect">
            <a:avLst/>
          </a:prstGeom>
        </p:spPr>
      </p:pic>
      <p:sp>
        <p:nvSpPr>
          <p:cNvPr id="17" name="Rounded Rectangle 16"/>
          <p:cNvSpPr/>
          <p:nvPr/>
        </p:nvSpPr>
        <p:spPr>
          <a:xfrm>
            <a:off x="8890000" y="27940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688beb89a3727568ae3896cb19de0e02.png"/>
          <p:cNvPicPr>
            <a:picLocks noChangeAspect="1"/>
          </p:cNvPicPr>
          <p:nvPr/>
        </p:nvPicPr>
        <p:blipFill>
          <a:blip r:embed="rId8"/>
          <a:stretch>
            <a:fillRect/>
          </a:stretch>
        </p:blipFill>
        <p:spPr>
          <a:xfrm>
            <a:off x="8909050" y="2813050"/>
            <a:ext cx="2451100" cy="1378744"/>
          </a:xfrm>
          <a:prstGeom prst="rect">
            <a:avLst/>
          </a:prstGeom>
        </p:spPr>
      </p:pic>
      <p:sp>
        <p:nvSpPr>
          <p:cNvPr id="19" name="TextBox 18"/>
          <p:cNvSpPr txBox="1"/>
          <p:nvPr/>
        </p:nvSpPr>
        <p:spPr>
          <a:xfrm>
            <a:off x="8890000" y="4279900"/>
            <a:ext cx="2540000" cy="213360"/>
          </a:xfrm>
          <a:prstGeom prst="rect">
            <a:avLst/>
          </a:prstGeom>
          <a:noFill/>
        </p:spPr>
        <p:txBody>
          <a:bodyPr wrap="none" lIns="0" rIns="0" tIns="0" bIns="0" anchor="t">
            <a:noAutofit/>
          </a:bodyPr>
          <a:lstStyle/>
          <a:p>
            <a:pPr algn="l">
              <a:lnSpc>
                <a:spcPts val="1680"/>
              </a:lnSpc>
            </a:pPr>
            <a:r>
              <a:rPr sz="1400" b="0" i="0">
                <a:solidFill>
                  <a:srgbClr val="A34A00"/>
                </a:solidFill>
                <a:latin typeface="DM Sans"/>
              </a:rPr>
              <a:t>4 Naar de eerste patiënt</a:t>
            </a:r>
          </a:p>
        </p:txBody>
      </p:sp>
      <p:sp>
        <p:nvSpPr>
          <p:cNvPr id="20" name="TextBox 19"/>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pic>
        <p:nvPicPr>
          <p:cNvPr id="21" name="Picture 20" descr="ec5c93e6f83f209b4e97ddfdecd480c8.png"/>
          <p:cNvPicPr>
            <a:picLocks noChangeAspect="1"/>
          </p:cNvPicPr>
          <p:nvPr/>
        </p:nvPicPr>
        <p:blipFill>
          <a:blip r:embed="rId9"/>
          <a:stretch>
            <a:fillRect/>
          </a:stretch>
        </p:blipFill>
        <p:spPr>
          <a:xfrm>
            <a:off x="812967" y="6261100"/>
            <a:ext cx="171116" cy="203200"/>
          </a:xfrm>
          <a:prstGeom prst="rect">
            <a:avLst/>
          </a:prstGeom>
        </p:spPr>
      </p:pic>
      <p:sp>
        <p:nvSpPr>
          <p:cNvPr id="22" name="TextBox 21"/>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5A6E80"/>
                </a:solidFill>
                <a:latin typeface="DM Sans"/>
              </a:rPr>
              <a:t>PARADISE · AZ Groeninge Kortrijk</a:t>
            </a:r>
          </a:p>
        </p:txBody>
      </p:sp>
    </p:spTree>
  </p:cSld>
  <p:clrMapOvr>
    <a:masterClrMapping/>
  </p:clrMapOvr>
  <p:transition xmlns:p14="http://schemas.microsoft.com/office/powerpoint/2010/main" spd="med" p14:dur="700">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12800" y="812800"/>
            <a:ext cx="1955800" cy="5029200"/>
          </a:xfrm>
          <a:prstGeom prst="rect">
            <a:avLst/>
          </a:prstGeom>
          <a:noFill/>
        </p:spPr>
        <p:txBody>
          <a:bodyPr wrap="square" lIns="0" rIns="0" tIns="0" bIns="0" anchor="t">
            <a:noAutofit/>
          </a:bodyPr>
          <a:lstStyle/>
          <a:p>
            <a:pPr algn="l">
              <a:lnSpc>
                <a:spcPts val="16200"/>
              </a:lnSpc>
            </a:pPr>
            <a:r>
              <a:rPr sz="18000" b="0" i="0">
                <a:solidFill>
                  <a:srgbClr val="FF9A3D"/>
                </a:solidFill>
                <a:latin typeface="DM Serif Display"/>
              </a:rPr>
              <a:t>4</a:t>
            </a:r>
          </a:p>
        </p:txBody>
      </p:sp>
      <p:sp>
        <p:nvSpPr>
          <p:cNvPr id="4" name="TextBox 3"/>
          <p:cNvSpPr txBox="1"/>
          <p:nvPr/>
        </p:nvSpPr>
        <p:spPr>
          <a:xfrm>
            <a:off x="3327400" y="812800"/>
            <a:ext cx="8102600" cy="215900"/>
          </a:xfrm>
          <a:prstGeom prst="rect">
            <a:avLst/>
          </a:prstGeom>
          <a:noFill/>
        </p:spPr>
        <p:txBody>
          <a:bodyPr wrap="none" lIns="0" rIns="0" tIns="0" bIns="0" anchor="t">
            <a:noAutofit/>
          </a:bodyPr>
          <a:lstStyle/>
          <a:p>
            <a:pPr algn="l"/>
            <a:r>
              <a:rPr sz="1300" b="1" i="0">
                <a:solidFill>
                  <a:srgbClr val="52BDEC"/>
                </a:solidFill>
                <a:latin typeface="DM Sans"/>
              </a:rPr>
              <a:t>Deel 4 van 4</a:t>
            </a:r>
          </a:p>
        </p:txBody>
      </p:sp>
      <p:sp>
        <p:nvSpPr>
          <p:cNvPr id="5" name="TextBox 4"/>
          <p:cNvSpPr txBox="1"/>
          <p:nvPr/>
        </p:nvSpPr>
        <p:spPr>
          <a:xfrm>
            <a:off x="3327400" y="1206500"/>
            <a:ext cx="8102600" cy="586740"/>
          </a:xfrm>
          <a:prstGeom prst="rect">
            <a:avLst/>
          </a:prstGeom>
          <a:noFill/>
        </p:spPr>
        <p:txBody>
          <a:bodyPr wrap="none" lIns="0" rIns="0" tIns="0" bIns="0" anchor="t">
            <a:noAutofit/>
          </a:bodyPr>
          <a:lstStyle/>
          <a:p>
            <a:pPr algn="l">
              <a:lnSpc>
                <a:spcPts val="4620"/>
              </a:lnSpc>
            </a:pPr>
            <a:r>
              <a:rPr sz="4400" b="0" i="0" spc="-50">
                <a:solidFill>
                  <a:srgbClr val="F2F8FC"/>
                </a:solidFill>
                <a:latin typeface="DM Serif Display"/>
              </a:rPr>
              <a:t>Naar de eerste patiënt</a:t>
            </a:r>
          </a:p>
        </p:txBody>
      </p:sp>
      <p:sp>
        <p:nvSpPr>
          <p:cNvPr id="6" name="TextBox 5"/>
          <p:cNvSpPr txBox="1"/>
          <p:nvPr/>
        </p:nvSpPr>
        <p:spPr>
          <a:xfrm>
            <a:off x="3327400" y="1970980"/>
            <a:ext cx="8102600" cy="335280"/>
          </a:xfrm>
          <a:prstGeom prst="rect">
            <a:avLst/>
          </a:prstGeom>
          <a:noFill/>
        </p:spPr>
        <p:txBody>
          <a:bodyPr wrap="none" lIns="0" rIns="0" tIns="0" bIns="0" anchor="t">
            <a:noAutofit/>
          </a:bodyPr>
          <a:lstStyle/>
          <a:p>
            <a:pPr algn="l">
              <a:lnSpc>
                <a:spcPts val="2640"/>
              </a:lnSpc>
            </a:pPr>
            <a:r>
              <a:rPr sz="2200" b="0" i="1">
                <a:solidFill>
                  <a:srgbClr val="52BDEC"/>
                </a:solidFill>
                <a:latin typeface="DM Serif Display"/>
              </a:rPr>
              <a:t>Wanneer, en wat vragen we?</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27400" y="414416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uw opleiding, van november tot april</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27400" y="459243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SEBIA, van groep naar eigen praktijk</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7400" y="5040709"/>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het tempo van de inclusie</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27400" y="5488980"/>
            <a:ext cx="8102600" cy="264160"/>
          </a:xfrm>
          <a:prstGeom prst="rect">
            <a:avLst/>
          </a:prstGeom>
          <a:noFill/>
        </p:spPr>
        <p:txBody>
          <a:bodyPr wrap="none" lIns="0" rIns="0" tIns="0" bIns="0" anchor="t">
            <a:noAutofit/>
          </a:bodyPr>
          <a:lstStyle/>
          <a:p>
            <a:pPr algn="l">
              <a:lnSpc>
                <a:spcPts val="2080"/>
              </a:lnSpc>
            </a:pPr>
            <a:r>
              <a:rPr sz="1600" b="0" i="0">
                <a:solidFill>
                  <a:srgbClr val="C5D8E8"/>
                </a:solidFill>
                <a:latin typeface="DM Sans"/>
              </a:rPr>
              <a:t>wat we van u vragen</a:t>
            </a:r>
          </a:p>
        </p:txBody>
      </p:sp>
      <p:pic>
        <p:nvPicPr>
          <p:cNvPr id="15" name="Picture 1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rIns="0" tIns="0" bIns="0" anchor="t">
            <a:noAutofit/>
          </a:bodyPr>
          <a:lstStyle/>
          <a:p>
            <a:pPr algn="l"/>
            <a:r>
              <a:rPr sz="1200" b="0" i="0">
                <a:solidFill>
                  <a:srgbClr val="6F8FAA"/>
                </a:solidFill>
                <a:latin typeface="DM Sans"/>
              </a:rPr>
              <a:t>PARADISE · Naar de eerste patiënt</a:t>
            </a:r>
          </a:p>
        </p:txBody>
      </p:sp>
    </p:spTree>
  </p:cSld>
  <p:clrMapOvr>
    <a:masterClrMapping/>
  </p:clrMapOvr>
  <p:transition xmlns:p14="http://schemas.microsoft.com/office/powerpoint/2010/main" spd="med" p14:dur="700">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Uw opleiding, van november tot april</a:t>
            </a:r>
          </a:p>
        </p:txBody>
      </p:sp>
      <p:sp>
        <p:nvSpPr>
          <p:cNvPr id="3" name="Rounded Rectangle 2"/>
          <p:cNvSpPr/>
          <p:nvPr/>
        </p:nvSpPr>
        <p:spPr>
          <a:xfrm>
            <a:off x="7165777"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56277" y="1498600"/>
            <a:ext cx="1380430" cy="198120"/>
          </a:xfrm>
          <a:prstGeom prst="rect">
            <a:avLst/>
          </a:prstGeom>
          <a:noFill/>
        </p:spPr>
        <p:txBody>
          <a:bodyPr wrap="none" lIns="0" rIns="0" tIns="0" bIns="0" anchor="t">
            <a:noAutofit/>
          </a:bodyPr>
          <a:lstStyle/>
          <a:p>
            <a:pPr algn="l"/>
            <a:r>
              <a:rPr sz="1200" b="0" i="0">
                <a:solidFill>
                  <a:srgbClr val="3A4F63"/>
                </a:solidFill>
                <a:latin typeface="DM Sans"/>
              </a:rPr>
              <a:t>online, opgenomen</a:t>
            </a:r>
          </a:p>
        </p:txBody>
      </p:sp>
      <p:sp>
        <p:nvSpPr>
          <p:cNvPr id="5" name="Rounded Rectangle 4"/>
          <p:cNvSpPr/>
          <p:nvPr/>
        </p:nvSpPr>
        <p:spPr>
          <a:xfrm>
            <a:off x="8889107" y="1533525"/>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79607" y="1498600"/>
            <a:ext cx="347762" cy="198120"/>
          </a:xfrm>
          <a:prstGeom prst="rect">
            <a:avLst/>
          </a:prstGeom>
          <a:noFill/>
        </p:spPr>
        <p:txBody>
          <a:bodyPr wrap="none" lIns="0" rIns="0" tIns="0" bIns="0" anchor="t">
            <a:noAutofit/>
          </a:bodyPr>
          <a:lstStyle/>
          <a:p>
            <a:pPr algn="l"/>
            <a:r>
              <a:rPr sz="1200" b="0" i="0">
                <a:solidFill>
                  <a:srgbClr val="3A4F63"/>
                </a:solidFill>
                <a:latin typeface="DM Sans"/>
              </a:rPr>
              <a:t>bij u</a:t>
            </a:r>
          </a:p>
        </p:txBody>
      </p:sp>
      <p:sp>
        <p:nvSpPr>
          <p:cNvPr id="7" name="Rounded Rectangle 6"/>
          <p:cNvSpPr/>
          <p:nvPr/>
        </p:nvSpPr>
        <p:spPr>
          <a:xfrm>
            <a:off x="9579769" y="1533525"/>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70269" y="1498600"/>
            <a:ext cx="626269" cy="198120"/>
          </a:xfrm>
          <a:prstGeom prst="rect">
            <a:avLst/>
          </a:prstGeom>
          <a:noFill/>
        </p:spPr>
        <p:txBody>
          <a:bodyPr wrap="none" lIns="0" rIns="0" tIns="0" bIns="0" anchor="t">
            <a:noAutofit/>
          </a:bodyPr>
          <a:lstStyle/>
          <a:p>
            <a:pPr algn="l"/>
            <a:r>
              <a:rPr sz="1200" b="0" i="0">
                <a:solidFill>
                  <a:srgbClr val="3A4F63"/>
                </a:solidFill>
                <a:latin typeface="DM Sans"/>
              </a:rPr>
              <a:t>in groep</a:t>
            </a:r>
          </a:p>
        </p:txBody>
      </p:sp>
      <p:sp>
        <p:nvSpPr>
          <p:cNvPr id="9" name="Rectangle 8"/>
          <p:cNvSpPr/>
          <p:nvPr/>
        </p:nvSpPr>
        <p:spPr>
          <a:xfrm>
            <a:off x="10548938" y="1508125"/>
            <a:ext cx="177800" cy="177800"/>
          </a:xfrm>
          <a:prstGeom prst="rect">
            <a:avLst/>
          </a:prstGeom>
          <a:solidFill>
            <a:srgbClr val="E2EBF2"/>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3A4F63"/>
                </a:solidFill>
                <a:latin typeface="DM Sans"/>
              </a:rPr>
              <a:t>vakantie</a:t>
            </a:r>
          </a:p>
        </p:txBody>
      </p:sp>
      <p:sp>
        <p:nvSpPr>
          <p:cNvPr id="11" name="Rectangle 10"/>
          <p:cNvSpPr/>
          <p:nvPr/>
        </p:nvSpPr>
        <p:spPr>
          <a:xfrm>
            <a:off x="427990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030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14705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007745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2418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305300" y="2120900"/>
            <a:ext cx="1130300" cy="198120"/>
          </a:xfrm>
          <a:prstGeom prst="rect">
            <a:avLst/>
          </a:prstGeom>
          <a:noFill/>
        </p:spPr>
        <p:txBody>
          <a:bodyPr wrap="none" lIns="0" rIns="0" tIns="0" bIns="0" anchor="t">
            <a:noAutofit/>
          </a:bodyPr>
          <a:lstStyle/>
          <a:p>
            <a:pPr algn="l"/>
            <a:r>
              <a:rPr sz="1200" b="0" i="0">
                <a:solidFill>
                  <a:srgbClr val="5A6E80"/>
                </a:solidFill>
                <a:latin typeface="DM Sans"/>
              </a:rPr>
              <a:t>november</a:t>
            </a:r>
          </a:p>
        </p:txBody>
      </p:sp>
      <p:sp>
        <p:nvSpPr>
          <p:cNvPr id="17" name="Rectangle 16"/>
          <p:cNvSpPr/>
          <p:nvPr/>
        </p:nvSpPr>
        <p:spPr>
          <a:xfrm>
            <a:off x="54229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0" y="2120900"/>
            <a:ext cx="1193800" cy="198120"/>
          </a:xfrm>
          <a:prstGeom prst="rect">
            <a:avLst/>
          </a:prstGeom>
          <a:noFill/>
        </p:spPr>
        <p:txBody>
          <a:bodyPr wrap="none" lIns="0" rIns="0" tIns="0" bIns="0" anchor="t">
            <a:noAutofit/>
          </a:bodyPr>
          <a:lstStyle/>
          <a:p>
            <a:pPr algn="l"/>
            <a:r>
              <a:rPr sz="1200" b="0" i="0">
                <a:solidFill>
                  <a:srgbClr val="5A6E80"/>
                </a:solidFill>
                <a:latin typeface="DM Sans"/>
              </a:rPr>
              <a:t>december</a:t>
            </a:r>
          </a:p>
        </p:txBody>
      </p:sp>
      <p:sp>
        <p:nvSpPr>
          <p:cNvPr id="19" name="Rectangle 18"/>
          <p:cNvSpPr/>
          <p:nvPr/>
        </p:nvSpPr>
        <p:spPr>
          <a:xfrm>
            <a:off x="66484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711950" y="2120900"/>
            <a:ext cx="1193800" cy="198120"/>
          </a:xfrm>
          <a:prstGeom prst="rect">
            <a:avLst/>
          </a:prstGeom>
          <a:noFill/>
        </p:spPr>
        <p:txBody>
          <a:bodyPr wrap="none" lIns="0" rIns="0" tIns="0" bIns="0" anchor="t">
            <a:noAutofit/>
          </a:bodyPr>
          <a:lstStyle/>
          <a:p>
            <a:pPr algn="l"/>
            <a:r>
              <a:rPr sz="1200" b="0" i="0">
                <a:solidFill>
                  <a:srgbClr val="5A6E80"/>
                </a:solidFill>
                <a:latin typeface="DM Sans"/>
              </a:rPr>
              <a:t>januari</a:t>
            </a:r>
          </a:p>
        </p:txBody>
      </p:sp>
      <p:sp>
        <p:nvSpPr>
          <p:cNvPr id="21" name="Rectangle 20"/>
          <p:cNvSpPr/>
          <p:nvPr/>
        </p:nvSpPr>
        <p:spPr>
          <a:xfrm>
            <a:off x="78676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931150" y="2120900"/>
            <a:ext cx="1066800" cy="198120"/>
          </a:xfrm>
          <a:prstGeom prst="rect">
            <a:avLst/>
          </a:prstGeom>
          <a:noFill/>
        </p:spPr>
        <p:txBody>
          <a:bodyPr wrap="none" lIns="0" rIns="0" tIns="0" bIns="0" anchor="t">
            <a:noAutofit/>
          </a:bodyPr>
          <a:lstStyle/>
          <a:p>
            <a:pPr algn="l"/>
            <a:r>
              <a:rPr sz="1200" b="0" i="0">
                <a:solidFill>
                  <a:srgbClr val="5A6E80"/>
                </a:solidFill>
                <a:latin typeface="DM Sans"/>
              </a:rPr>
              <a:t>februari</a:t>
            </a:r>
          </a:p>
        </p:txBody>
      </p:sp>
      <p:sp>
        <p:nvSpPr>
          <p:cNvPr id="23" name="Rectangle 22"/>
          <p:cNvSpPr/>
          <p:nvPr/>
        </p:nvSpPr>
        <p:spPr>
          <a:xfrm>
            <a:off x="89725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036050" y="2120900"/>
            <a:ext cx="1193800" cy="198120"/>
          </a:xfrm>
          <a:prstGeom prst="rect">
            <a:avLst/>
          </a:prstGeom>
          <a:noFill/>
        </p:spPr>
        <p:txBody>
          <a:bodyPr wrap="none" lIns="0" rIns="0" tIns="0" bIns="0" anchor="t">
            <a:noAutofit/>
          </a:bodyPr>
          <a:lstStyle/>
          <a:p>
            <a:pPr algn="l"/>
            <a:r>
              <a:rPr sz="1200" b="0" i="0">
                <a:solidFill>
                  <a:srgbClr val="5A6E80"/>
                </a:solidFill>
                <a:latin typeface="DM Sans"/>
              </a:rPr>
              <a:t>maart</a:t>
            </a:r>
          </a:p>
        </p:txBody>
      </p:sp>
      <p:sp>
        <p:nvSpPr>
          <p:cNvPr id="25" name="Rectangle 24"/>
          <p:cNvSpPr/>
          <p:nvPr/>
        </p:nvSpPr>
        <p:spPr>
          <a:xfrm>
            <a:off x="101981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61600" y="2120900"/>
            <a:ext cx="1130300" cy="198120"/>
          </a:xfrm>
          <a:prstGeom prst="rect">
            <a:avLst/>
          </a:prstGeom>
          <a:noFill/>
        </p:spPr>
        <p:txBody>
          <a:bodyPr wrap="none" lIns="0" rIns="0" tIns="0" bIns="0" anchor="t">
            <a:noAutofit/>
          </a:bodyPr>
          <a:lstStyle/>
          <a:p>
            <a:pPr algn="l"/>
            <a:r>
              <a:rPr sz="1200" b="0" i="0">
                <a:solidFill>
                  <a:srgbClr val="5A6E80"/>
                </a:solidFill>
                <a:latin typeface="DM Sans"/>
              </a:rPr>
              <a:t>april</a:t>
            </a:r>
          </a:p>
        </p:txBody>
      </p:sp>
      <p:sp>
        <p:nvSpPr>
          <p:cNvPr id="27" name="Rectangle 26"/>
          <p:cNvSpPr/>
          <p:nvPr/>
        </p:nvSpPr>
        <p:spPr>
          <a:xfrm>
            <a:off x="812800" y="23685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Info draaiboek</a:t>
            </a:r>
          </a:p>
        </p:txBody>
      </p:sp>
      <p:sp>
        <p:nvSpPr>
          <p:cNvPr id="29" name="Rounded Rectangle 28"/>
          <p:cNvSpPr/>
          <p:nvPr/>
        </p:nvSpPr>
        <p:spPr>
          <a:xfrm>
            <a:off x="45529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10540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359400" y="2432050"/>
            <a:ext cx="2590800" cy="198120"/>
          </a:xfrm>
          <a:prstGeom prst="rect">
            <a:avLst/>
          </a:prstGeom>
          <a:noFill/>
        </p:spPr>
        <p:txBody>
          <a:bodyPr wrap="none" lIns="0" rIns="0" tIns="0" bIns="0" anchor="t">
            <a:noAutofit/>
          </a:bodyPr>
          <a:lstStyle/>
          <a:p>
            <a:pPr algn="l"/>
            <a:r>
              <a:rPr sz="1200" b="0" i="0">
                <a:solidFill>
                  <a:srgbClr val="3A4F63"/>
                </a:solidFill>
                <a:latin typeface="DM Sans"/>
              </a:rPr>
              <a:t>di 10 en 24 nov, 12u30–14u</a:t>
            </a:r>
          </a:p>
        </p:txBody>
      </p:sp>
      <p:sp>
        <p:nvSpPr>
          <p:cNvPr id="32" name="Rectangle 31"/>
          <p:cNvSpPr/>
          <p:nvPr/>
        </p:nvSpPr>
        <p:spPr>
          <a:xfrm>
            <a:off x="812800" y="2705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Technologie</a:t>
            </a:r>
          </a:p>
        </p:txBody>
      </p:sp>
      <p:sp>
        <p:nvSpPr>
          <p:cNvPr id="34" name="Rounded Rectangle 33"/>
          <p:cNvSpPr/>
          <p:nvPr/>
        </p:nvSpPr>
        <p:spPr>
          <a:xfrm>
            <a:off x="5416550" y="2806700"/>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670550" y="2762250"/>
            <a:ext cx="2590800" cy="198120"/>
          </a:xfrm>
          <a:prstGeom prst="rect">
            <a:avLst/>
          </a:prstGeom>
          <a:noFill/>
        </p:spPr>
        <p:txBody>
          <a:bodyPr wrap="none" lIns="0" rIns="0" tIns="0" bIns="0" anchor="t">
            <a:noAutofit/>
          </a:bodyPr>
          <a:lstStyle/>
          <a:p>
            <a:pPr algn="l"/>
            <a:r>
              <a:rPr sz="1200" b="0" i="0">
                <a:solidFill>
                  <a:srgbClr val="3A4F63"/>
                </a:solidFill>
                <a:latin typeface="DM Sans"/>
              </a:rPr>
              <a:t>wo 2 dec, voormiddag</a:t>
            </a:r>
          </a:p>
        </p:txBody>
      </p:sp>
      <p:sp>
        <p:nvSpPr>
          <p:cNvPr id="36" name="Rectangle 35"/>
          <p:cNvSpPr/>
          <p:nvPr/>
        </p:nvSpPr>
        <p:spPr>
          <a:xfrm>
            <a:off x="812800" y="3035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Gezondheidseconomie en procesevaluatie</a:t>
            </a:r>
          </a:p>
        </p:txBody>
      </p:sp>
      <p:sp>
        <p:nvSpPr>
          <p:cNvPr id="38" name="Rounded Rectangle 37"/>
          <p:cNvSpPr/>
          <p:nvPr/>
        </p:nvSpPr>
        <p:spPr>
          <a:xfrm>
            <a:off x="5657850" y="31369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911850" y="3092450"/>
            <a:ext cx="2590800" cy="198120"/>
          </a:xfrm>
          <a:prstGeom prst="rect">
            <a:avLst/>
          </a:prstGeom>
          <a:noFill/>
        </p:spPr>
        <p:txBody>
          <a:bodyPr wrap="none" lIns="0" rIns="0" tIns="0" bIns="0" anchor="t">
            <a:noAutofit/>
          </a:bodyPr>
          <a:lstStyle/>
          <a:p>
            <a:pPr algn="l"/>
            <a:r>
              <a:rPr sz="1200" b="0" i="0">
                <a:solidFill>
                  <a:srgbClr val="3A4F63"/>
                </a:solidFill>
                <a:latin typeface="DM Sans"/>
              </a:rPr>
              <a:t>di 8 dec, 12u30–14u</a:t>
            </a:r>
          </a:p>
        </p:txBody>
      </p:sp>
      <p:sp>
        <p:nvSpPr>
          <p:cNvPr id="40" name="Rectangle 39"/>
          <p:cNvSpPr/>
          <p:nvPr/>
        </p:nvSpPr>
        <p:spPr>
          <a:xfrm>
            <a:off x="812800" y="3365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SEBIA 1–2: kennis en vaardigheden</a:t>
            </a:r>
          </a:p>
        </p:txBody>
      </p:sp>
      <p:sp>
        <p:nvSpPr>
          <p:cNvPr id="42" name="Rounded Rectangle 41"/>
          <p:cNvSpPr/>
          <p:nvPr/>
        </p:nvSpPr>
        <p:spPr>
          <a:xfrm>
            <a:off x="6800850" y="34671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054850" y="3422650"/>
            <a:ext cx="2590800" cy="198120"/>
          </a:xfrm>
          <a:prstGeom prst="rect">
            <a:avLst/>
          </a:prstGeom>
          <a:noFill/>
        </p:spPr>
        <p:txBody>
          <a:bodyPr wrap="none" lIns="0" rIns="0" tIns="0" bIns="0" anchor="t">
            <a:noAutofit/>
          </a:bodyPr>
          <a:lstStyle/>
          <a:p>
            <a:pPr algn="l"/>
            <a:r>
              <a:rPr sz="1200" b="0" i="0">
                <a:solidFill>
                  <a:srgbClr val="3A4F63"/>
                </a:solidFill>
                <a:latin typeface="DM Sans"/>
              </a:rPr>
              <a:t>wo 6 jan, 13u–17u</a:t>
            </a:r>
          </a:p>
        </p:txBody>
      </p:sp>
      <p:sp>
        <p:nvSpPr>
          <p:cNvPr id="44" name="Rectangle 43"/>
          <p:cNvSpPr/>
          <p:nvPr/>
        </p:nvSpPr>
        <p:spPr>
          <a:xfrm>
            <a:off x="812800" y="36957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Datacollectie en vragenlijsten</a:t>
            </a:r>
          </a:p>
        </p:txBody>
      </p:sp>
      <p:sp>
        <p:nvSpPr>
          <p:cNvPr id="46" name="Rounded Rectangle 45"/>
          <p:cNvSpPr/>
          <p:nvPr/>
        </p:nvSpPr>
        <p:spPr>
          <a:xfrm>
            <a:off x="7035800" y="37973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289800" y="3752850"/>
            <a:ext cx="2590800" cy="198120"/>
          </a:xfrm>
          <a:prstGeom prst="rect">
            <a:avLst/>
          </a:prstGeom>
          <a:noFill/>
        </p:spPr>
        <p:txBody>
          <a:bodyPr wrap="none" lIns="0" rIns="0" tIns="0" bIns="0" anchor="t">
            <a:noAutofit/>
          </a:bodyPr>
          <a:lstStyle/>
          <a:p>
            <a:pPr algn="l"/>
            <a:r>
              <a:rPr sz="1200" b="0" i="0">
                <a:solidFill>
                  <a:srgbClr val="3A4F63"/>
                </a:solidFill>
                <a:latin typeface="DM Sans"/>
              </a:rPr>
              <a:t>di 12 jan, 9u–11u</a:t>
            </a:r>
          </a:p>
        </p:txBody>
      </p:sp>
      <p:sp>
        <p:nvSpPr>
          <p:cNvPr id="48" name="Rectangle 47"/>
          <p:cNvSpPr/>
          <p:nvPr/>
        </p:nvSpPr>
        <p:spPr>
          <a:xfrm>
            <a:off x="812800" y="40259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Droogloop, vier visites</a:t>
            </a:r>
          </a:p>
        </p:txBody>
      </p:sp>
      <p:sp>
        <p:nvSpPr>
          <p:cNvPr id="50" name="Rounded Rectangle 49"/>
          <p:cNvSpPr/>
          <p:nvPr/>
        </p:nvSpPr>
        <p:spPr>
          <a:xfrm>
            <a:off x="7353300" y="4127500"/>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7550150" y="4127500"/>
            <a:ext cx="101600" cy="101600"/>
          </a:xfrm>
          <a:prstGeom prst="roundRect">
            <a:avLst>
              <a:gd name="adj" fmla="val 50000"/>
            </a:avLst>
          </a:prstGeom>
          <a:solidFill>
            <a:srgbClr val="F2F6F9"/>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804150" y="4083050"/>
            <a:ext cx="2590800" cy="198120"/>
          </a:xfrm>
          <a:prstGeom prst="rect">
            <a:avLst/>
          </a:prstGeom>
          <a:noFill/>
        </p:spPr>
        <p:txBody>
          <a:bodyPr wrap="none" lIns="0" rIns="0" tIns="0" bIns="0" anchor="t">
            <a:noAutofit/>
          </a:bodyPr>
          <a:lstStyle/>
          <a:p>
            <a:pPr algn="l"/>
            <a:r>
              <a:rPr sz="1200" b="0" i="0">
                <a:solidFill>
                  <a:srgbClr val="3A4F63"/>
                </a:solidFill>
                <a:latin typeface="DM Sans"/>
              </a:rPr>
              <a:t>wo 20 jan · inhaal ma 25 jan</a:t>
            </a:r>
          </a:p>
        </p:txBody>
      </p:sp>
      <p:sp>
        <p:nvSpPr>
          <p:cNvPr id="53" name="Rectangle 52"/>
          <p:cNvSpPr/>
          <p:nvPr/>
        </p:nvSpPr>
        <p:spPr>
          <a:xfrm>
            <a:off x="812800" y="4356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Piloot en Go/No-Go</a:t>
            </a:r>
          </a:p>
        </p:txBody>
      </p:sp>
      <p:sp>
        <p:nvSpPr>
          <p:cNvPr id="55" name="Rounded Rectangle 54"/>
          <p:cNvSpPr/>
          <p:nvPr/>
        </p:nvSpPr>
        <p:spPr>
          <a:xfrm>
            <a:off x="786765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842010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869315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947150" y="4413250"/>
            <a:ext cx="2463800" cy="198120"/>
          </a:xfrm>
          <a:prstGeom prst="rect">
            <a:avLst/>
          </a:prstGeom>
          <a:noFill/>
        </p:spPr>
        <p:txBody>
          <a:bodyPr wrap="none" lIns="0" rIns="0" tIns="0" bIns="0" anchor="t">
            <a:noAutofit/>
          </a:bodyPr>
          <a:lstStyle/>
          <a:p>
            <a:pPr algn="l"/>
            <a:r>
              <a:rPr sz="1200" b="0" i="0">
                <a:solidFill>
                  <a:srgbClr val="3A4F63"/>
                </a:solidFill>
                <a:latin typeface="DM Sans"/>
              </a:rPr>
              <a:t>Go/No-Go 23 feb</a:t>
            </a:r>
          </a:p>
        </p:txBody>
      </p:sp>
      <p:sp>
        <p:nvSpPr>
          <p:cNvPr id="59" name="Rectangle 58"/>
          <p:cNvSpPr/>
          <p:nvPr/>
        </p:nvSpPr>
        <p:spPr>
          <a:xfrm>
            <a:off x="812800" y="4686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SEBIA 3–4: therapietrouw bevorderen</a:t>
            </a:r>
          </a:p>
        </p:txBody>
      </p:sp>
      <p:sp>
        <p:nvSpPr>
          <p:cNvPr id="61" name="Rounded Rectangle 60"/>
          <p:cNvSpPr/>
          <p:nvPr/>
        </p:nvSpPr>
        <p:spPr>
          <a:xfrm>
            <a:off x="8928100" y="47879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9201150" y="4800600"/>
            <a:ext cx="101600" cy="101600"/>
          </a:xfrm>
          <a:prstGeom prst="roundRect">
            <a:avLst>
              <a:gd name="adj" fmla="val 50000"/>
            </a:avLst>
          </a:prstGeom>
          <a:solidFill>
            <a:srgbClr val="F2F6F9"/>
          </a:solidFill>
          <a:ln w="12700">
            <a:solidFill>
              <a:srgbClr val="0A25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4940300" y="4743450"/>
            <a:ext cx="3860800" cy="198120"/>
          </a:xfrm>
          <a:prstGeom prst="rect">
            <a:avLst/>
          </a:prstGeom>
          <a:noFill/>
        </p:spPr>
        <p:txBody>
          <a:bodyPr wrap="none" lIns="0" rIns="0" tIns="0" bIns="0" anchor="t">
            <a:noAutofit/>
          </a:bodyPr>
          <a:lstStyle/>
          <a:p>
            <a:pPr algn="r"/>
            <a:r>
              <a:rPr sz="1200" b="0" i="0">
                <a:solidFill>
                  <a:srgbClr val="3A4F63"/>
                </a:solidFill>
                <a:latin typeface="DM Sans"/>
              </a:rPr>
              <a:t>ma 1 mrt, namiddag · inhaal ma 8 mrt</a:t>
            </a:r>
          </a:p>
        </p:txBody>
      </p:sp>
      <p:sp>
        <p:nvSpPr>
          <p:cNvPr id="64" name="Rectangle 63"/>
          <p:cNvSpPr/>
          <p:nvPr/>
        </p:nvSpPr>
        <p:spPr>
          <a:xfrm>
            <a:off x="812800" y="5016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SEBIA 5: inoefenen</a:t>
            </a:r>
          </a:p>
        </p:txBody>
      </p:sp>
      <p:sp>
        <p:nvSpPr>
          <p:cNvPr id="66" name="Rounded Rectangle 65"/>
          <p:cNvSpPr/>
          <p:nvPr/>
        </p:nvSpPr>
        <p:spPr>
          <a:xfrm>
            <a:off x="10902950" y="5118100"/>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915150" y="5073650"/>
            <a:ext cx="3860800" cy="198120"/>
          </a:xfrm>
          <a:prstGeom prst="rect">
            <a:avLst/>
          </a:prstGeom>
          <a:noFill/>
        </p:spPr>
        <p:txBody>
          <a:bodyPr wrap="none" lIns="0" rIns="0" tIns="0" bIns="0" anchor="t">
            <a:noAutofit/>
          </a:bodyPr>
          <a:lstStyle/>
          <a:p>
            <a:pPr algn="r"/>
            <a:r>
              <a:rPr sz="1200" b="0" i="0">
                <a:solidFill>
                  <a:srgbClr val="3A4F63"/>
                </a:solidFill>
                <a:latin typeface="DM Sans"/>
              </a:rPr>
              <a:t>di 20 apr, voormiddag</a:t>
            </a:r>
          </a:p>
        </p:txBody>
      </p:sp>
      <p:sp>
        <p:nvSpPr>
          <p:cNvPr id="68" name="TextBox 67"/>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0A2540"/>
                </a:solidFill>
                <a:latin typeface="DM Sans"/>
              </a:rPr>
              <a:t>Optie B op uw fiche: technologie ma 30 nov, namiddag · SEBIA 1–2 wo 16 dec · SEBIA 6: online, sep–nov 2027</a:t>
            </a:r>
          </a:p>
        </p:txBody>
      </p:sp>
      <p:pic>
        <p:nvPicPr>
          <p:cNvPr id="69" name="Picture 6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0" name="TextBox 6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Naar de eerste patiënt</a:t>
            </a:r>
          </a:p>
        </p:txBody>
      </p:sp>
      <p:sp>
        <p:nvSpPr>
          <p:cNvPr id="71" name="TextBox 70"/>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5A6E80"/>
                </a:solidFill>
                <a:latin typeface="DM Sans"/>
              </a:rPr>
              <a:t>Bron: opleidingsplanning, 8 oktober 2026 · fiche AZ Groeninge</a:t>
            </a:r>
          </a:p>
        </p:txBody>
      </p:sp>
    </p:spTree>
  </p:cSld>
  <p:clrMapOvr>
    <a:masterClrMapping/>
  </p:clrMapOvr>
  <p:transition xmlns:p14="http://schemas.microsoft.com/office/powerpoint/2010/main" spd="med" p14:dur="700">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SEBIA-opleiding: van groep naar eigen praktijk</a:t>
            </a:r>
          </a:p>
        </p:txBody>
      </p:sp>
      <p:sp>
        <p:nvSpPr>
          <p:cNvPr id="3" name="TextBox 2"/>
          <p:cNvSpPr txBox="1"/>
          <p:nvPr/>
        </p:nvSpPr>
        <p:spPr>
          <a:xfrm>
            <a:off x="812800" y="1854200"/>
            <a:ext cx="4927600" cy="198120"/>
          </a:xfrm>
          <a:prstGeom prst="rect">
            <a:avLst/>
          </a:prstGeom>
          <a:noFill/>
        </p:spPr>
        <p:txBody>
          <a:bodyPr wrap="none" lIns="0" rIns="0" tIns="0" bIns="0" anchor="t">
            <a:noAutofit/>
          </a:bodyPr>
          <a:lstStyle/>
          <a:p>
            <a:pPr algn="l"/>
            <a:r>
              <a:rPr sz="1200" b="1" i="0">
                <a:solidFill>
                  <a:srgbClr val="5A6E80"/>
                </a:solidFill>
                <a:latin typeface="DM Sans"/>
              </a:rPr>
              <a:t>in groep · 4 u per blok</a:t>
            </a:r>
          </a:p>
        </p:txBody>
      </p:sp>
      <p:sp>
        <p:nvSpPr>
          <p:cNvPr id="4" name="Rectangle 3"/>
          <p:cNvSpPr/>
          <p:nvPr/>
        </p:nvSpPr>
        <p:spPr>
          <a:xfrm>
            <a:off x="812800" y="2133600"/>
            <a:ext cx="48768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96000" y="1854200"/>
            <a:ext cx="5334000" cy="198120"/>
          </a:xfrm>
          <a:prstGeom prst="rect">
            <a:avLst/>
          </a:prstGeom>
          <a:noFill/>
        </p:spPr>
        <p:txBody>
          <a:bodyPr wrap="none" lIns="0" rIns="0" tIns="0" bIns="0" anchor="t">
            <a:noAutofit/>
          </a:bodyPr>
          <a:lstStyle/>
          <a:p>
            <a:pPr algn="l"/>
            <a:r>
              <a:rPr sz="1200" b="1" i="0">
                <a:solidFill>
                  <a:srgbClr val="5A6E80"/>
                </a:solidFill>
                <a:latin typeface="DM Sans"/>
              </a:rPr>
              <a:t>individueel</a:t>
            </a:r>
          </a:p>
        </p:txBody>
      </p:sp>
      <p:sp>
        <p:nvSpPr>
          <p:cNvPr id="6" name="Rectangle 5"/>
          <p:cNvSpPr/>
          <p:nvPr/>
        </p:nvSpPr>
        <p:spPr>
          <a:xfrm>
            <a:off x="6096000" y="2133600"/>
            <a:ext cx="52832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2800" y="2362200"/>
            <a:ext cx="2590800" cy="660400"/>
          </a:xfrm>
          <a:prstGeom prst="rect">
            <a:avLst/>
          </a:prstGeom>
          <a:noFill/>
        </p:spPr>
        <p:txBody>
          <a:bodyPr wrap="none" lIns="0" rIns="0" tIns="0" bIns="0" anchor="t">
            <a:noAutofit/>
          </a:bodyPr>
          <a:lstStyle/>
          <a:p>
            <a:pPr algn="l">
              <a:lnSpc>
                <a:spcPts val="5200"/>
              </a:lnSpc>
            </a:pPr>
            <a:r>
              <a:rPr sz="5200" b="0" i="0">
                <a:solidFill>
                  <a:srgbClr val="00407A"/>
                </a:solidFill>
                <a:latin typeface="DM Serif Display"/>
              </a:rPr>
              <a:t>1–2</a:t>
            </a:r>
          </a:p>
        </p:txBody>
      </p:sp>
      <p:sp>
        <p:nvSpPr>
          <p:cNvPr id="8" name="TextBox 7"/>
          <p:cNvSpPr txBox="1"/>
          <p:nvPr/>
        </p:nvSpPr>
        <p:spPr>
          <a:xfrm>
            <a:off x="3454400" y="2362200"/>
            <a:ext cx="2590800" cy="660400"/>
          </a:xfrm>
          <a:prstGeom prst="rect">
            <a:avLst/>
          </a:prstGeom>
          <a:noFill/>
        </p:spPr>
        <p:txBody>
          <a:bodyPr wrap="none" lIns="0" rIns="0" tIns="0" bIns="0" anchor="t">
            <a:noAutofit/>
          </a:bodyPr>
          <a:lstStyle/>
          <a:p>
            <a:pPr algn="l">
              <a:lnSpc>
                <a:spcPts val="5200"/>
              </a:lnSpc>
            </a:pPr>
            <a:r>
              <a:rPr sz="5200" b="0" i="0">
                <a:solidFill>
                  <a:srgbClr val="0B6E8F"/>
                </a:solidFill>
                <a:latin typeface="DM Serif Display"/>
              </a:rPr>
              <a:t>3–4</a:t>
            </a:r>
          </a:p>
        </p:txBody>
      </p:sp>
      <p:sp>
        <p:nvSpPr>
          <p:cNvPr id="9" name="TextBox 8"/>
          <p:cNvSpPr txBox="1"/>
          <p:nvPr/>
        </p:nvSpPr>
        <p:spPr>
          <a:xfrm>
            <a:off x="6096000" y="2362200"/>
            <a:ext cx="2590800" cy="660400"/>
          </a:xfrm>
          <a:prstGeom prst="rect">
            <a:avLst/>
          </a:prstGeom>
          <a:noFill/>
        </p:spPr>
        <p:txBody>
          <a:bodyPr wrap="none" lIns="0" rIns="0" tIns="0" bIns="0" anchor="t">
            <a:noAutofit/>
          </a:bodyPr>
          <a:lstStyle/>
          <a:p>
            <a:pPr algn="l">
              <a:lnSpc>
                <a:spcPts val="5200"/>
              </a:lnSpc>
            </a:pPr>
            <a:r>
              <a:rPr sz="5200" b="0" i="0">
                <a:solidFill>
                  <a:srgbClr val="1D8DB0"/>
                </a:solidFill>
                <a:latin typeface="DM Serif Display"/>
              </a:rPr>
              <a:t>5</a:t>
            </a:r>
          </a:p>
        </p:txBody>
      </p:sp>
      <p:sp>
        <p:nvSpPr>
          <p:cNvPr id="10" name="TextBox 9"/>
          <p:cNvSpPr txBox="1"/>
          <p:nvPr/>
        </p:nvSpPr>
        <p:spPr>
          <a:xfrm>
            <a:off x="8737600" y="2362200"/>
            <a:ext cx="2590800" cy="660400"/>
          </a:xfrm>
          <a:prstGeom prst="rect">
            <a:avLst/>
          </a:prstGeom>
          <a:noFill/>
        </p:spPr>
        <p:txBody>
          <a:bodyPr wrap="none" lIns="0" rIns="0" tIns="0" bIns="0" anchor="t">
            <a:noAutofit/>
          </a:bodyPr>
          <a:lstStyle/>
          <a:p>
            <a:pPr algn="l">
              <a:lnSpc>
                <a:spcPts val="5200"/>
              </a:lnSpc>
            </a:pPr>
            <a:r>
              <a:rPr sz="5200" b="0" i="0">
                <a:solidFill>
                  <a:srgbClr val="1D8DB0"/>
                </a:solidFill>
                <a:latin typeface="DM Serif Display"/>
              </a:rPr>
              <a:t>6</a:t>
            </a:r>
          </a:p>
        </p:txBody>
      </p:sp>
      <p:sp>
        <p:nvSpPr>
          <p:cNvPr id="11" name="Rectangle 10"/>
          <p:cNvSpPr/>
          <p:nvPr/>
        </p:nvSpPr>
        <p:spPr>
          <a:xfrm>
            <a:off x="812800" y="329565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12800" y="3225800"/>
            <a:ext cx="152400" cy="152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454400" y="3225800"/>
            <a:ext cx="152400" cy="152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096000" y="32258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737600" y="32258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2800" y="3530600"/>
            <a:ext cx="2400300" cy="198120"/>
          </a:xfrm>
          <a:prstGeom prst="rect">
            <a:avLst/>
          </a:prstGeom>
          <a:noFill/>
        </p:spPr>
        <p:txBody>
          <a:bodyPr wrap="none" lIns="0" rIns="0" tIns="0" bIns="0" anchor="t">
            <a:noAutofit/>
          </a:bodyPr>
          <a:lstStyle/>
          <a:p>
            <a:pPr algn="l"/>
            <a:r>
              <a:rPr sz="1200" b="1" i="0">
                <a:solidFill>
                  <a:srgbClr val="00407A"/>
                </a:solidFill>
                <a:latin typeface="DM Sans"/>
              </a:rPr>
              <a:t>januari</a:t>
            </a:r>
          </a:p>
        </p:txBody>
      </p:sp>
      <p:sp>
        <p:nvSpPr>
          <p:cNvPr id="17" name="TextBox 16"/>
          <p:cNvSpPr txBox="1"/>
          <p:nvPr/>
        </p:nvSpPr>
        <p:spPr>
          <a:xfrm>
            <a:off x="812800" y="3778250"/>
            <a:ext cx="2400300" cy="487561"/>
          </a:xfrm>
          <a:prstGeom prst="rect">
            <a:avLst/>
          </a:prstGeom>
          <a:noFill/>
        </p:spPr>
        <p:txBody>
          <a:bodyPr wrap="square" lIns="0" rIns="0" tIns="0" bIns="0" anchor="t">
            <a:noAutofit/>
          </a:bodyPr>
          <a:lstStyle/>
          <a:p>
            <a:pPr algn="l">
              <a:lnSpc>
                <a:spcPts val="1920"/>
              </a:lnSpc>
            </a:pPr>
            <a:r>
              <a:rPr sz="1600" b="1" i="0">
                <a:solidFill>
                  <a:srgbClr val="0A2540"/>
                </a:solidFill>
                <a:latin typeface="DM Sans"/>
              </a:rPr>
              <a:t>Kennis en vaardigheden</a:t>
            </a:r>
          </a:p>
        </p:txBody>
      </p:sp>
      <p:sp>
        <p:nvSpPr>
          <p:cNvPr id="18" name="TextBox 17"/>
          <p:cNvSpPr txBox="1"/>
          <p:nvPr/>
        </p:nvSpPr>
        <p:spPr>
          <a:xfrm>
            <a:off x="812800" y="4316611"/>
            <a:ext cx="240030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educatie geven, voetzorg voordoen, de vragenlijsten gebruiken</a:t>
            </a:r>
          </a:p>
        </p:txBody>
      </p:sp>
      <p:sp>
        <p:nvSpPr>
          <p:cNvPr id="19" name="TextBox 18"/>
          <p:cNvSpPr txBox="1"/>
          <p:nvPr/>
        </p:nvSpPr>
        <p:spPr>
          <a:xfrm>
            <a:off x="3454400" y="3530600"/>
            <a:ext cx="2400300" cy="198120"/>
          </a:xfrm>
          <a:prstGeom prst="rect">
            <a:avLst/>
          </a:prstGeom>
          <a:noFill/>
        </p:spPr>
        <p:txBody>
          <a:bodyPr wrap="none" lIns="0" rIns="0" tIns="0" bIns="0" anchor="t">
            <a:noAutofit/>
          </a:bodyPr>
          <a:lstStyle/>
          <a:p>
            <a:pPr algn="l"/>
            <a:r>
              <a:rPr sz="1200" b="1" i="0">
                <a:solidFill>
                  <a:srgbClr val="0B6E8F"/>
                </a:solidFill>
                <a:latin typeface="DM Sans"/>
              </a:rPr>
              <a:t>maart</a:t>
            </a:r>
          </a:p>
        </p:txBody>
      </p:sp>
      <p:sp>
        <p:nvSpPr>
          <p:cNvPr id="20" name="TextBox 19"/>
          <p:cNvSpPr txBox="1"/>
          <p:nvPr/>
        </p:nvSpPr>
        <p:spPr>
          <a:xfrm>
            <a:off x="3454400" y="3778250"/>
            <a:ext cx="2400300" cy="487561"/>
          </a:xfrm>
          <a:prstGeom prst="rect">
            <a:avLst/>
          </a:prstGeom>
          <a:noFill/>
        </p:spPr>
        <p:txBody>
          <a:bodyPr wrap="square" lIns="0" rIns="0" tIns="0" bIns="0" anchor="t">
            <a:noAutofit/>
          </a:bodyPr>
          <a:lstStyle/>
          <a:p>
            <a:pPr algn="l">
              <a:lnSpc>
                <a:spcPts val="1920"/>
              </a:lnSpc>
            </a:pPr>
            <a:r>
              <a:rPr sz="1600" b="1" i="0">
                <a:solidFill>
                  <a:srgbClr val="0A2540"/>
                </a:solidFill>
                <a:latin typeface="DM Sans"/>
              </a:rPr>
              <a:t>Therapietrouw bevorderen</a:t>
            </a:r>
          </a:p>
        </p:txBody>
      </p:sp>
      <p:sp>
        <p:nvSpPr>
          <p:cNvPr id="21" name="TextBox 20"/>
          <p:cNvSpPr txBox="1"/>
          <p:nvPr/>
        </p:nvSpPr>
        <p:spPr>
          <a:xfrm>
            <a:off x="3454400" y="4316611"/>
            <a:ext cx="240030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feedback met de sensor, motivatie inschatten, de juiste interventie kiezen</a:t>
            </a:r>
          </a:p>
        </p:txBody>
      </p:sp>
      <p:sp>
        <p:nvSpPr>
          <p:cNvPr id="22" name="TextBox 21"/>
          <p:cNvSpPr txBox="1"/>
          <p:nvPr/>
        </p:nvSpPr>
        <p:spPr>
          <a:xfrm>
            <a:off x="6096000" y="3530600"/>
            <a:ext cx="2400300" cy="198120"/>
          </a:xfrm>
          <a:prstGeom prst="rect">
            <a:avLst/>
          </a:prstGeom>
          <a:noFill/>
        </p:spPr>
        <p:txBody>
          <a:bodyPr wrap="none" lIns="0" rIns="0" tIns="0" bIns="0" anchor="t">
            <a:noAutofit/>
          </a:bodyPr>
          <a:lstStyle/>
          <a:p>
            <a:pPr algn="l"/>
            <a:r>
              <a:rPr sz="1200" b="1" i="0">
                <a:solidFill>
                  <a:srgbClr val="1D8DB0"/>
                </a:solidFill>
                <a:latin typeface="DM Sans"/>
              </a:rPr>
              <a:t>april</a:t>
            </a:r>
          </a:p>
        </p:txBody>
      </p:sp>
      <p:sp>
        <p:nvSpPr>
          <p:cNvPr id="23" name="TextBox 22"/>
          <p:cNvSpPr txBox="1"/>
          <p:nvPr/>
        </p:nvSpPr>
        <p:spPr>
          <a:xfrm>
            <a:off x="6096000" y="3778250"/>
            <a:ext cx="2400300" cy="487561"/>
          </a:xfrm>
          <a:prstGeom prst="rect">
            <a:avLst/>
          </a:prstGeom>
          <a:noFill/>
        </p:spPr>
        <p:txBody>
          <a:bodyPr wrap="square" lIns="0" rIns="0" tIns="0" bIns="0" anchor="t">
            <a:noAutofit/>
          </a:bodyPr>
          <a:lstStyle/>
          <a:p>
            <a:pPr algn="l">
              <a:lnSpc>
                <a:spcPts val="1920"/>
              </a:lnSpc>
            </a:pPr>
            <a:r>
              <a:rPr sz="1600" b="1" i="0">
                <a:solidFill>
                  <a:srgbClr val="0A2540"/>
                </a:solidFill>
                <a:latin typeface="DM Sans"/>
              </a:rPr>
              <a:t>Inoefenen met het script</a:t>
            </a:r>
          </a:p>
        </p:txBody>
      </p:sp>
      <p:sp>
        <p:nvSpPr>
          <p:cNvPr id="24" name="TextBox 23"/>
          <p:cNvSpPr txBox="1"/>
          <p:nvPr/>
        </p:nvSpPr>
        <p:spPr>
          <a:xfrm>
            <a:off x="6096000" y="4316611"/>
            <a:ext cx="2400300"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in uw centrum, 1,5 u</a:t>
            </a:r>
          </a:p>
        </p:txBody>
      </p:sp>
      <p:sp>
        <p:nvSpPr>
          <p:cNvPr id="25" name="TextBox 24"/>
          <p:cNvSpPr txBox="1"/>
          <p:nvPr/>
        </p:nvSpPr>
        <p:spPr>
          <a:xfrm>
            <a:off x="8737600" y="3530600"/>
            <a:ext cx="2400300" cy="198120"/>
          </a:xfrm>
          <a:prstGeom prst="rect">
            <a:avLst/>
          </a:prstGeom>
          <a:noFill/>
        </p:spPr>
        <p:txBody>
          <a:bodyPr wrap="none" lIns="0" rIns="0" tIns="0" bIns="0" anchor="t">
            <a:noAutofit/>
          </a:bodyPr>
          <a:lstStyle/>
          <a:p>
            <a:pPr algn="l"/>
            <a:r>
              <a:rPr sz="1200" b="1" i="0">
                <a:solidFill>
                  <a:srgbClr val="1D8DB0"/>
                </a:solidFill>
                <a:latin typeface="DM Sans"/>
              </a:rPr>
              <a:t>najaar 2027</a:t>
            </a:r>
          </a:p>
        </p:txBody>
      </p:sp>
      <p:sp>
        <p:nvSpPr>
          <p:cNvPr id="26" name="TextBox 25"/>
          <p:cNvSpPr txBox="1"/>
          <p:nvPr/>
        </p:nvSpPr>
        <p:spPr>
          <a:xfrm>
            <a:off x="8737600" y="3778250"/>
            <a:ext cx="2400300"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Intervisie</a:t>
            </a:r>
          </a:p>
        </p:txBody>
      </p:sp>
      <p:sp>
        <p:nvSpPr>
          <p:cNvPr id="27" name="TextBox 26"/>
          <p:cNvSpPr txBox="1"/>
          <p:nvPr/>
        </p:nvSpPr>
        <p:spPr>
          <a:xfrm>
            <a:off x="8737600" y="4072830"/>
            <a:ext cx="2400300"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online, 1 u</a:t>
            </a:r>
          </a:p>
        </p:txBody>
      </p:sp>
      <p:pic>
        <p:nvPicPr>
          <p:cNvPr id="28" name="Picture 27" descr="f055eff792d589e333f6a047432b107d.png"/>
          <p:cNvPicPr>
            <a:picLocks noChangeAspect="1"/>
          </p:cNvPicPr>
          <p:nvPr/>
        </p:nvPicPr>
        <p:blipFill>
          <a:blip r:embed="rId2"/>
          <a:stretch>
            <a:fillRect/>
          </a:stretch>
        </p:blipFill>
        <p:spPr>
          <a:xfrm>
            <a:off x="812800" y="5308600"/>
            <a:ext cx="609600" cy="609600"/>
          </a:xfrm>
          <a:prstGeom prst="rect">
            <a:avLst/>
          </a:prstGeom>
        </p:spPr>
      </p:pic>
      <p:sp>
        <p:nvSpPr>
          <p:cNvPr id="29" name="TextBox 28"/>
          <p:cNvSpPr txBox="1"/>
          <p:nvPr/>
        </p:nvSpPr>
        <p:spPr>
          <a:xfrm>
            <a:off x="1574800" y="5499100"/>
            <a:ext cx="5765800" cy="234950"/>
          </a:xfrm>
          <a:prstGeom prst="rect">
            <a:avLst/>
          </a:prstGeom>
          <a:noFill/>
        </p:spPr>
        <p:txBody>
          <a:bodyPr wrap="none" lIns="0" rIns="0" tIns="0" bIns="0" anchor="t">
            <a:noAutofit/>
          </a:bodyPr>
          <a:lstStyle/>
          <a:p>
            <a:pPr algn="l"/>
            <a:r>
              <a:rPr sz="1400" b="0" i="0">
                <a:solidFill>
                  <a:srgbClr val="0A2540"/>
                </a:solidFill>
                <a:latin typeface="DM Sans"/>
              </a:rPr>
              <a:t>Alle sessies: prof. Fabienne Dobbels</a:t>
            </a:r>
          </a:p>
        </p:txBody>
      </p:sp>
      <p:pic>
        <p:nvPicPr>
          <p:cNvPr id="30" name="Picture 29"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Naar de eerste patiënt</a:t>
            </a:r>
          </a:p>
        </p:txBody>
      </p:sp>
      <p:sp>
        <p:nvSpPr>
          <p:cNvPr id="32" name="TextBox 3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p:transition xmlns:p14="http://schemas.microsoft.com/office/powerpoint/2010/main" spd="med" p14:dur="700">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Twee per maand is een muntworp</a:t>
            </a:r>
          </a:p>
        </p:txBody>
      </p:sp>
      <p:graphicFrame>
        <p:nvGraphicFramePr>
          <p:cNvPr id="3" name="Chart 2"/>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4" name="TextBox 3"/>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5" name="TextBox 4"/>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6" name="TextBox 5"/>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7" name="TextBox 6"/>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8" name="TextBox 7"/>
          <p:cNvSpPr txBox="1"/>
          <p:nvPr/>
        </p:nvSpPr>
        <p:spPr>
          <a:xfrm>
            <a:off x="6731000" y="2095500"/>
            <a:ext cx="4699000" cy="198120"/>
          </a:xfrm>
          <a:prstGeom prst="rect">
            <a:avLst/>
          </a:prstGeom>
          <a:noFill/>
        </p:spPr>
        <p:txBody>
          <a:bodyPr wrap="none" lIns="0" rIns="0" tIns="0" bIns="0" anchor="t">
            <a:noAutofit/>
          </a:bodyPr>
          <a:lstStyle/>
          <a:p>
            <a:pPr algn="l"/>
            <a:r>
              <a:rPr sz="1200" b="1" i="0">
                <a:solidFill>
                  <a:srgbClr val="0B6E8F"/>
                </a:solidFill>
                <a:latin typeface="DM Sans"/>
              </a:rPr>
              <a:t>Aan drie per maand</a:t>
            </a:r>
          </a:p>
        </p:txBody>
      </p:sp>
      <p:sp>
        <p:nvSpPr>
          <p:cNvPr id="9" name="TextBox 8"/>
          <p:cNvSpPr txBox="1"/>
          <p:nvPr/>
        </p:nvSpPr>
        <p:spPr>
          <a:xfrm>
            <a:off x="6731000" y="2406650"/>
            <a:ext cx="1257300" cy="457200"/>
          </a:xfrm>
          <a:prstGeom prst="rect">
            <a:avLst/>
          </a:prstGeom>
          <a:noFill/>
        </p:spPr>
        <p:txBody>
          <a:bodyPr wrap="none" lIns="0" rIns="0" tIns="0" bIns="0" anchor="t">
            <a:noAutofit/>
          </a:bodyPr>
          <a:lstStyle/>
          <a:p>
            <a:pPr algn="l">
              <a:lnSpc>
                <a:spcPts val="3600"/>
              </a:lnSpc>
            </a:pPr>
            <a:r>
              <a:rPr sz="3600" b="0" i="0">
                <a:solidFill>
                  <a:srgbClr val="0B6E8F"/>
                </a:solidFill>
                <a:latin typeface="DM Serif Display"/>
              </a:rPr>
              <a:t>99%</a:t>
            </a:r>
          </a:p>
        </p:txBody>
      </p:sp>
      <p:sp>
        <p:nvSpPr>
          <p:cNvPr id="10" name="TextBox 9"/>
          <p:cNvSpPr txBox="1"/>
          <p:nvPr/>
        </p:nvSpPr>
        <p:spPr>
          <a:xfrm>
            <a:off x="8115300" y="2616200"/>
            <a:ext cx="3329178"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kans dat een centrum zijn 24 haalt binnen 12 maanden</a:t>
            </a:r>
          </a:p>
        </p:txBody>
      </p:sp>
      <p:sp>
        <p:nvSpPr>
          <p:cNvPr id="11" name="Rectangle 10"/>
          <p:cNvSpPr/>
          <p:nvPr/>
        </p:nvSpPr>
        <p:spPr>
          <a:xfrm>
            <a:off x="6731000" y="3235920"/>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381970"/>
            <a:ext cx="1257300" cy="457200"/>
          </a:xfrm>
          <a:prstGeom prst="rect">
            <a:avLst/>
          </a:prstGeom>
          <a:noFill/>
        </p:spPr>
        <p:txBody>
          <a:bodyPr wrap="none" lIns="0" rIns="0" tIns="0" bIns="0" anchor="t">
            <a:noAutofit/>
          </a:bodyPr>
          <a:lstStyle/>
          <a:p>
            <a:pPr algn="l">
              <a:lnSpc>
                <a:spcPts val="3600"/>
              </a:lnSpc>
            </a:pPr>
            <a:r>
              <a:rPr sz="3600" b="0" i="0">
                <a:solidFill>
                  <a:srgbClr val="0B6E8F"/>
                </a:solidFill>
                <a:latin typeface="DM Serif Display"/>
              </a:rPr>
              <a:t>92%</a:t>
            </a:r>
          </a:p>
        </p:txBody>
      </p:sp>
      <p:sp>
        <p:nvSpPr>
          <p:cNvPr id="13" name="TextBox 12"/>
          <p:cNvSpPr txBox="1"/>
          <p:nvPr/>
        </p:nvSpPr>
        <p:spPr>
          <a:xfrm>
            <a:off x="8115300" y="3591520"/>
            <a:ext cx="3329178"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kans dat alle zes het halen binnen 12 maanden</a:t>
            </a:r>
          </a:p>
        </p:txBody>
      </p:sp>
      <p:sp>
        <p:nvSpPr>
          <p:cNvPr id="14" name="Rectangle 13"/>
          <p:cNvSpPr/>
          <p:nvPr/>
        </p:nvSpPr>
        <p:spPr>
          <a:xfrm>
            <a:off x="6731000" y="4211241"/>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357291"/>
            <a:ext cx="1257300" cy="457200"/>
          </a:xfrm>
          <a:prstGeom prst="rect">
            <a:avLst/>
          </a:prstGeom>
          <a:noFill/>
        </p:spPr>
        <p:txBody>
          <a:bodyPr wrap="none" lIns="0" rIns="0" tIns="0" bIns="0" anchor="t">
            <a:noAutofit/>
          </a:bodyPr>
          <a:lstStyle/>
          <a:p>
            <a:pPr algn="l">
              <a:lnSpc>
                <a:spcPts val="3600"/>
              </a:lnSpc>
            </a:pPr>
            <a:r>
              <a:rPr sz="3600" b="0" i="0">
                <a:solidFill>
                  <a:srgbClr val="0A2540"/>
                </a:solidFill>
                <a:latin typeface="DM Serif Display"/>
              </a:rPr>
              <a:t>7,9</a:t>
            </a:r>
          </a:p>
        </p:txBody>
      </p:sp>
      <p:sp>
        <p:nvSpPr>
          <p:cNvPr id="16" name="TextBox 15"/>
          <p:cNvSpPr txBox="1"/>
          <p:nvPr/>
        </p:nvSpPr>
        <p:spPr>
          <a:xfrm>
            <a:off x="8115300" y="4566841"/>
            <a:ext cx="3329178"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maanden tot 24 inclusies, mediaan per centrum</a:t>
            </a:r>
          </a:p>
        </p:txBody>
      </p:sp>
      <p:sp>
        <p:nvSpPr>
          <p:cNvPr id="17" name="TextBox 16"/>
          <p:cNvSpPr txBox="1"/>
          <p:nvPr/>
        </p:nvSpPr>
        <p:spPr>
          <a:xfrm>
            <a:off x="6731000" y="5029200"/>
            <a:ext cx="4741164" cy="480020"/>
          </a:xfrm>
          <a:prstGeom prst="rect">
            <a:avLst/>
          </a:prstGeom>
          <a:noFill/>
        </p:spPr>
        <p:txBody>
          <a:bodyPr wrap="square" lIns="0" rIns="0" tIns="0" bIns="0" anchor="t">
            <a:noAutofit/>
          </a:bodyPr>
          <a:lstStyle/>
          <a:p>
            <a:pPr algn="l">
              <a:lnSpc>
                <a:spcPts val="1889"/>
              </a:lnSpc>
            </a:pPr>
            <a:r>
              <a:rPr sz="1400" b="0" i="0">
                <a:solidFill>
                  <a:srgbClr val="0A2540"/>
                </a:solidFill>
                <a:latin typeface="DM Sans"/>
              </a:rPr>
              <a:t>Gerekend met een vast tempo vanaf de eerste maand. Een trage start of een zomerdip vraagt die marge.</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Naar de eerste patiënt</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5A6E80"/>
                </a:solidFill>
                <a:latin typeface="DM Sans"/>
              </a:rPr>
              <a:t>Bron: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wipe(right)">
                                      <p:cBhvr>
                                        <p:cTn id="6" dur="1400"/>
                                        <p:tgtEl>
                                          <p:spTgt spid="3"/>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4" grpId="0" animBg="1"/>
      <p:bldP spid="5"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 u vragen</a:t>
            </a:r>
          </a:p>
        </p:txBody>
      </p:sp>
      <p:sp>
        <p:nvSpPr>
          <p:cNvPr id="3" name="TextBox 2"/>
          <p:cNvSpPr txBox="1"/>
          <p:nvPr/>
        </p:nvSpPr>
        <p:spPr>
          <a:xfrm>
            <a:off x="812800" y="1683941"/>
            <a:ext cx="355600" cy="279400"/>
          </a:xfrm>
          <a:prstGeom prst="rect">
            <a:avLst/>
          </a:prstGeom>
          <a:noFill/>
        </p:spPr>
        <p:txBody>
          <a:bodyPr wrap="none" lIns="0" rIns="0" tIns="0" bIns="0" anchor="t">
            <a:noAutofit/>
          </a:bodyPr>
          <a:lstStyle/>
          <a:p>
            <a:pPr algn="l">
              <a:lnSpc>
                <a:spcPts val="2200"/>
              </a:lnSpc>
            </a:pPr>
            <a:r>
              <a:rPr sz="2200" b="0" i="0">
                <a:solidFill>
                  <a:srgbClr val="0B6E8F"/>
                </a:solidFill>
                <a:latin typeface="DM Serif Display"/>
              </a:rPr>
              <a:t>1</a:t>
            </a:r>
          </a:p>
        </p:txBody>
      </p:sp>
      <p:sp>
        <p:nvSpPr>
          <p:cNvPr id="4" name="TextBox 3"/>
          <p:cNvSpPr txBox="1"/>
          <p:nvPr/>
        </p:nvSpPr>
        <p:spPr>
          <a:xfrm>
            <a:off x="1320800" y="1696641"/>
            <a:ext cx="7797800" cy="297180"/>
          </a:xfrm>
          <a:prstGeom prst="rect">
            <a:avLst/>
          </a:prstGeom>
          <a:noFill/>
        </p:spPr>
        <p:txBody>
          <a:bodyPr wrap="none" lIns="0" rIns="0" tIns="0" bIns="0" anchor="t">
            <a:noAutofit/>
          </a:bodyPr>
          <a:lstStyle/>
          <a:p>
            <a:pPr algn="l">
              <a:lnSpc>
                <a:spcPts val="2340"/>
              </a:lnSpc>
            </a:pPr>
            <a:r>
              <a:rPr sz="1800" b="1" i="0">
                <a:solidFill>
                  <a:srgbClr val="0A2540"/>
                </a:solidFill>
                <a:latin typeface="DM Sans"/>
              </a:rPr>
              <a:t>Drie inclusies per maand</a:t>
            </a:r>
            <a:r>
              <a:rPr sz="1800" b="0" i="0">
                <a:solidFill>
                  <a:srgbClr val="0A2540"/>
                </a:solidFill>
                <a:latin typeface="DM Sans"/>
              </a:rPr>
              <a:t> </a:t>
            </a:r>
            <a:r>
              <a:rPr sz="1800" b="0" i="0">
                <a:solidFill>
                  <a:srgbClr val="5A6E80"/>
                </a:solidFill>
                <a:latin typeface="DM Sans"/>
              </a:rPr>
              <a:t>vanaf de start na de Go/No-Go</a:t>
            </a:r>
          </a:p>
        </p:txBody>
      </p:sp>
      <p:sp>
        <p:nvSpPr>
          <p:cNvPr id="5" name="Rectangle 4"/>
          <p:cNvSpPr/>
          <p:nvPr/>
        </p:nvSpPr>
        <p:spPr>
          <a:xfrm>
            <a:off x="812800" y="213350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79551"/>
            <a:ext cx="355600" cy="279400"/>
          </a:xfrm>
          <a:prstGeom prst="rect">
            <a:avLst/>
          </a:prstGeom>
          <a:noFill/>
        </p:spPr>
        <p:txBody>
          <a:bodyPr wrap="none" lIns="0" rIns="0" tIns="0" bIns="0" anchor="t">
            <a:noAutofit/>
          </a:bodyPr>
          <a:lstStyle/>
          <a:p>
            <a:pPr algn="l">
              <a:lnSpc>
                <a:spcPts val="2200"/>
              </a:lnSpc>
            </a:pPr>
            <a:r>
              <a:rPr sz="2200" b="0" i="0">
                <a:solidFill>
                  <a:srgbClr val="0B6E8F"/>
                </a:solidFill>
                <a:latin typeface="DM Serif Display"/>
              </a:rPr>
              <a:t>2</a:t>
            </a:r>
          </a:p>
        </p:txBody>
      </p:sp>
      <p:sp>
        <p:nvSpPr>
          <p:cNvPr id="7" name="TextBox 6"/>
          <p:cNvSpPr txBox="1"/>
          <p:nvPr/>
        </p:nvSpPr>
        <p:spPr>
          <a:xfrm>
            <a:off x="1320800" y="2292251"/>
            <a:ext cx="7901940" cy="594320"/>
          </a:xfrm>
          <a:prstGeom prst="rect">
            <a:avLst/>
          </a:prstGeom>
          <a:noFill/>
        </p:spPr>
        <p:txBody>
          <a:bodyPr wrap="square" lIns="0" rIns="0" tIns="0" bIns="0" anchor="t">
            <a:noAutofit/>
          </a:bodyPr>
          <a:lstStyle/>
          <a:p>
            <a:pPr algn="l">
              <a:lnSpc>
                <a:spcPts val="2340"/>
              </a:lnSpc>
            </a:pPr>
            <a:r>
              <a:rPr sz="1800" b="1" i="0">
                <a:solidFill>
                  <a:srgbClr val="0A2540"/>
                </a:solidFill>
                <a:latin typeface="DM Sans"/>
              </a:rPr>
              <a:t>Wie deelneemt</a:t>
            </a:r>
            <a:r>
              <a:rPr sz="1800" b="0" i="0">
                <a:solidFill>
                  <a:srgbClr val="0A2540"/>
                </a:solidFill>
                <a:latin typeface="DM Sans"/>
              </a:rPr>
              <a:t> </a:t>
            </a:r>
            <a:r>
              <a:rPr sz="1800" b="0" i="0">
                <a:solidFill>
                  <a:srgbClr val="5A6E80"/>
                </a:solidFill>
                <a:latin typeface="DM Sans"/>
              </a:rPr>
              <a:t>de namen van de podologen, verpleegkundigen en artsen</a:t>
            </a:r>
          </a:p>
        </p:txBody>
      </p:sp>
      <p:sp>
        <p:nvSpPr>
          <p:cNvPr id="8" name="Rectangle 7"/>
          <p:cNvSpPr/>
          <p:nvPr/>
        </p:nvSpPr>
        <p:spPr>
          <a:xfrm>
            <a:off x="812800" y="302627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3172321"/>
            <a:ext cx="355600" cy="279400"/>
          </a:xfrm>
          <a:prstGeom prst="rect">
            <a:avLst/>
          </a:prstGeom>
          <a:noFill/>
        </p:spPr>
        <p:txBody>
          <a:bodyPr wrap="none" lIns="0" rIns="0" tIns="0" bIns="0" anchor="t">
            <a:noAutofit/>
          </a:bodyPr>
          <a:lstStyle/>
          <a:p>
            <a:pPr algn="l">
              <a:lnSpc>
                <a:spcPts val="2200"/>
              </a:lnSpc>
            </a:pPr>
            <a:r>
              <a:rPr sz="2200" b="0" i="0">
                <a:solidFill>
                  <a:srgbClr val="0B6E8F"/>
                </a:solidFill>
                <a:latin typeface="DM Serif Display"/>
              </a:rPr>
              <a:t>3</a:t>
            </a:r>
          </a:p>
        </p:txBody>
      </p:sp>
      <p:sp>
        <p:nvSpPr>
          <p:cNvPr id="10" name="TextBox 9"/>
          <p:cNvSpPr txBox="1"/>
          <p:nvPr/>
        </p:nvSpPr>
        <p:spPr>
          <a:xfrm>
            <a:off x="1320800" y="3185021"/>
            <a:ext cx="7797800" cy="297180"/>
          </a:xfrm>
          <a:prstGeom prst="rect">
            <a:avLst/>
          </a:prstGeom>
          <a:noFill/>
        </p:spPr>
        <p:txBody>
          <a:bodyPr wrap="none" lIns="0" rIns="0" tIns="0" bIns="0" anchor="t">
            <a:noAutofit/>
          </a:bodyPr>
          <a:lstStyle/>
          <a:p>
            <a:pPr algn="l">
              <a:lnSpc>
                <a:spcPts val="2340"/>
              </a:lnSpc>
            </a:pPr>
            <a:r>
              <a:rPr sz="1800" b="1" i="0">
                <a:solidFill>
                  <a:srgbClr val="0A2540"/>
                </a:solidFill>
                <a:latin typeface="DM Sans"/>
              </a:rPr>
              <a:t>De drukmeting geïnstalleerd</a:t>
            </a:r>
            <a:r>
              <a:rPr sz="1800" b="0" i="0">
                <a:solidFill>
                  <a:srgbClr val="0A2540"/>
                </a:solidFill>
                <a:latin typeface="DM Sans"/>
              </a:rPr>
              <a:t> </a:t>
            </a:r>
            <a:r>
              <a:rPr sz="1800" b="0" i="0">
                <a:solidFill>
                  <a:srgbClr val="5A6E80"/>
                </a:solidFill>
                <a:latin typeface="DM Sans"/>
              </a:rPr>
              <a:t>vóór uw technologiesessie op 2 december</a:t>
            </a:r>
          </a:p>
        </p:txBody>
      </p:sp>
      <p:sp>
        <p:nvSpPr>
          <p:cNvPr id="11" name="Rectangle 10"/>
          <p:cNvSpPr/>
          <p:nvPr/>
        </p:nvSpPr>
        <p:spPr>
          <a:xfrm>
            <a:off x="812800" y="362188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767931"/>
            <a:ext cx="355600" cy="279400"/>
          </a:xfrm>
          <a:prstGeom prst="rect">
            <a:avLst/>
          </a:prstGeom>
          <a:noFill/>
        </p:spPr>
        <p:txBody>
          <a:bodyPr wrap="none" lIns="0" rIns="0" tIns="0" bIns="0" anchor="t">
            <a:noAutofit/>
          </a:bodyPr>
          <a:lstStyle/>
          <a:p>
            <a:pPr algn="l">
              <a:lnSpc>
                <a:spcPts val="2200"/>
              </a:lnSpc>
            </a:pPr>
            <a:r>
              <a:rPr sz="2200" b="0" i="0">
                <a:solidFill>
                  <a:srgbClr val="0B6E8F"/>
                </a:solidFill>
                <a:latin typeface="DM Serif Display"/>
              </a:rPr>
              <a:t>4</a:t>
            </a:r>
          </a:p>
        </p:txBody>
      </p:sp>
      <p:sp>
        <p:nvSpPr>
          <p:cNvPr id="13" name="TextBox 12"/>
          <p:cNvSpPr txBox="1"/>
          <p:nvPr/>
        </p:nvSpPr>
        <p:spPr>
          <a:xfrm>
            <a:off x="1320800" y="3780631"/>
            <a:ext cx="7797800" cy="297180"/>
          </a:xfrm>
          <a:prstGeom prst="rect">
            <a:avLst/>
          </a:prstGeom>
          <a:noFill/>
        </p:spPr>
        <p:txBody>
          <a:bodyPr wrap="none" lIns="0" rIns="0" tIns="0" bIns="0" anchor="t">
            <a:noAutofit/>
          </a:bodyPr>
          <a:lstStyle/>
          <a:p>
            <a:pPr algn="l">
              <a:lnSpc>
                <a:spcPts val="2340"/>
              </a:lnSpc>
            </a:pPr>
            <a:r>
              <a:rPr sz="1800" b="1" i="0">
                <a:solidFill>
                  <a:srgbClr val="0A2540"/>
                </a:solidFill>
                <a:latin typeface="DM Sans"/>
              </a:rPr>
              <a:t>paradise-tbm@kuleuven.be</a:t>
            </a:r>
            <a:r>
              <a:rPr sz="1800" b="0" i="0">
                <a:solidFill>
                  <a:srgbClr val="0A2540"/>
                </a:solidFill>
                <a:latin typeface="DM Sans"/>
              </a:rPr>
              <a:t> </a:t>
            </a:r>
            <a:r>
              <a:rPr sz="1800" b="0" i="0">
                <a:solidFill>
                  <a:srgbClr val="5A6E80"/>
                </a:solidFill>
                <a:latin typeface="DM Sans"/>
              </a:rPr>
              <a:t>voor alle mails over PARADISE</a:t>
            </a:r>
          </a:p>
        </p:txBody>
      </p:sp>
      <p:pic>
        <p:nvPicPr>
          <p:cNvPr id="14" name="Picture 1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DM Sans"/>
              </a:rPr>
              <a:t>PARADISE · Naar de eerste patiënt</a:t>
            </a:r>
          </a:p>
        </p:txBody>
      </p:sp>
      <p:sp>
        <p:nvSpPr>
          <p:cNvPr id="16" name="TextBox 1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DM Sans"/>
              </a:rPr>
              <a:t>paradise-tbm@kuleuven.be</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Rectangle 1"/>
          <p:cNvSpPr/>
          <p:nvPr/>
        </p:nvSpPr>
        <p:spPr>
          <a:xfrm>
            <a:off x="812800" y="2978150"/>
            <a:ext cx="10566400" cy="127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8128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12800" y="2463800"/>
            <a:ext cx="2012950" cy="234950"/>
          </a:xfrm>
          <a:prstGeom prst="rect">
            <a:avLst/>
          </a:prstGeom>
          <a:noFill/>
        </p:spPr>
        <p:txBody>
          <a:bodyPr wrap="none" lIns="0" rIns="0" tIns="0" bIns="0" anchor="t">
            <a:noAutofit/>
          </a:bodyPr>
          <a:lstStyle/>
          <a:p>
            <a:pPr algn="l"/>
            <a:r>
              <a:rPr sz="1400" b="1" i="0">
                <a:solidFill>
                  <a:srgbClr val="52BDEC"/>
                </a:solidFill>
                <a:latin typeface="DM Sans"/>
              </a:rPr>
              <a:t>di 10 november</a:t>
            </a:r>
          </a:p>
        </p:txBody>
      </p:sp>
      <p:sp>
        <p:nvSpPr>
          <p:cNvPr id="5" name="TextBox 4"/>
          <p:cNvSpPr txBox="1"/>
          <p:nvPr/>
        </p:nvSpPr>
        <p:spPr>
          <a:xfrm>
            <a:off x="812800" y="3263900"/>
            <a:ext cx="1962150" cy="247650"/>
          </a:xfrm>
          <a:prstGeom prst="rect">
            <a:avLst/>
          </a:prstGeom>
          <a:noFill/>
        </p:spPr>
        <p:txBody>
          <a:bodyPr wrap="none" lIns="0" rIns="0" tIns="0" bIns="0" anchor="t">
            <a:noAutofit/>
          </a:bodyPr>
          <a:lstStyle/>
          <a:p>
            <a:pPr algn="l">
              <a:lnSpc>
                <a:spcPts val="1950"/>
              </a:lnSpc>
            </a:pPr>
            <a:r>
              <a:rPr sz="1500" b="0" i="0">
                <a:solidFill>
                  <a:srgbClr val="F2F8FC"/>
                </a:solidFill>
                <a:latin typeface="DM Sans"/>
              </a:rPr>
              <a:t>Info draaiboek, online</a:t>
            </a:r>
          </a:p>
        </p:txBody>
      </p:sp>
      <p:sp>
        <p:nvSpPr>
          <p:cNvPr id="6" name="Rounded Rectangle 5"/>
          <p:cNvSpPr/>
          <p:nvPr/>
        </p:nvSpPr>
        <p:spPr>
          <a:xfrm>
            <a:off x="292735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927350" y="2463800"/>
            <a:ext cx="2012950" cy="234950"/>
          </a:xfrm>
          <a:prstGeom prst="rect">
            <a:avLst/>
          </a:prstGeom>
          <a:noFill/>
        </p:spPr>
        <p:txBody>
          <a:bodyPr wrap="none" lIns="0" rIns="0" tIns="0" bIns="0" anchor="t">
            <a:noAutofit/>
          </a:bodyPr>
          <a:lstStyle/>
          <a:p>
            <a:pPr algn="l"/>
            <a:r>
              <a:rPr sz="1400" b="1" i="0">
                <a:solidFill>
                  <a:srgbClr val="52BDEC"/>
                </a:solidFill>
                <a:latin typeface="DM Sans"/>
              </a:rPr>
              <a:t>wo 2 december</a:t>
            </a:r>
          </a:p>
        </p:txBody>
      </p:sp>
      <p:sp>
        <p:nvSpPr>
          <p:cNvPr id="8" name="TextBox 7"/>
          <p:cNvSpPr txBox="1"/>
          <p:nvPr/>
        </p:nvSpPr>
        <p:spPr>
          <a:xfrm>
            <a:off x="2927350" y="3263900"/>
            <a:ext cx="1962150" cy="247650"/>
          </a:xfrm>
          <a:prstGeom prst="rect">
            <a:avLst/>
          </a:prstGeom>
          <a:noFill/>
        </p:spPr>
        <p:txBody>
          <a:bodyPr wrap="none" lIns="0" rIns="0" tIns="0" bIns="0" anchor="t">
            <a:noAutofit/>
          </a:bodyPr>
          <a:lstStyle/>
          <a:p>
            <a:pPr algn="l">
              <a:lnSpc>
                <a:spcPts val="1950"/>
              </a:lnSpc>
            </a:pPr>
            <a:r>
              <a:rPr sz="1500" b="0" i="0">
                <a:solidFill>
                  <a:srgbClr val="F2F8FC"/>
                </a:solidFill>
                <a:latin typeface="DM Sans"/>
              </a:rPr>
              <a:t>Technologie, bij u</a:t>
            </a:r>
          </a:p>
        </p:txBody>
      </p:sp>
      <p:sp>
        <p:nvSpPr>
          <p:cNvPr id="9" name="Rounded Rectangle 8"/>
          <p:cNvSpPr/>
          <p:nvPr/>
        </p:nvSpPr>
        <p:spPr>
          <a:xfrm>
            <a:off x="50419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041900" y="2463800"/>
            <a:ext cx="2012950" cy="234950"/>
          </a:xfrm>
          <a:prstGeom prst="rect">
            <a:avLst/>
          </a:prstGeom>
          <a:noFill/>
        </p:spPr>
        <p:txBody>
          <a:bodyPr wrap="none" lIns="0" rIns="0" tIns="0" bIns="0" anchor="t">
            <a:noAutofit/>
          </a:bodyPr>
          <a:lstStyle/>
          <a:p>
            <a:pPr algn="l"/>
            <a:r>
              <a:rPr sz="1400" b="1" i="0">
                <a:solidFill>
                  <a:srgbClr val="52BDEC"/>
                </a:solidFill>
                <a:latin typeface="DM Sans"/>
              </a:rPr>
              <a:t>wo 6 januari</a:t>
            </a:r>
          </a:p>
        </p:txBody>
      </p:sp>
      <p:sp>
        <p:nvSpPr>
          <p:cNvPr id="11" name="TextBox 10"/>
          <p:cNvSpPr txBox="1"/>
          <p:nvPr/>
        </p:nvSpPr>
        <p:spPr>
          <a:xfrm>
            <a:off x="5041900" y="3263900"/>
            <a:ext cx="1962150" cy="247650"/>
          </a:xfrm>
          <a:prstGeom prst="rect">
            <a:avLst/>
          </a:prstGeom>
          <a:noFill/>
        </p:spPr>
        <p:txBody>
          <a:bodyPr wrap="none" lIns="0" rIns="0" tIns="0" bIns="0" anchor="t">
            <a:noAutofit/>
          </a:bodyPr>
          <a:lstStyle/>
          <a:p>
            <a:pPr algn="l">
              <a:lnSpc>
                <a:spcPts val="1950"/>
              </a:lnSpc>
            </a:pPr>
            <a:r>
              <a:rPr sz="1500" b="0" i="0">
                <a:solidFill>
                  <a:srgbClr val="F2F8FC"/>
                </a:solidFill>
                <a:latin typeface="DM Sans"/>
              </a:rPr>
              <a:t>SEBIA 1 en 2</a:t>
            </a:r>
          </a:p>
        </p:txBody>
      </p:sp>
      <p:sp>
        <p:nvSpPr>
          <p:cNvPr id="12" name="Rounded Rectangle 11"/>
          <p:cNvSpPr/>
          <p:nvPr/>
        </p:nvSpPr>
        <p:spPr>
          <a:xfrm>
            <a:off x="71501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150100" y="2463800"/>
            <a:ext cx="2012950" cy="234950"/>
          </a:xfrm>
          <a:prstGeom prst="rect">
            <a:avLst/>
          </a:prstGeom>
          <a:noFill/>
        </p:spPr>
        <p:txBody>
          <a:bodyPr wrap="none" lIns="0" rIns="0" tIns="0" bIns="0" anchor="t">
            <a:noAutofit/>
          </a:bodyPr>
          <a:lstStyle/>
          <a:p>
            <a:pPr algn="l"/>
            <a:r>
              <a:rPr sz="1400" b="1" i="0">
                <a:solidFill>
                  <a:srgbClr val="52BDEC"/>
                </a:solidFill>
                <a:latin typeface="DM Sans"/>
              </a:rPr>
              <a:t>wo 20 januari</a:t>
            </a:r>
          </a:p>
        </p:txBody>
      </p:sp>
      <p:sp>
        <p:nvSpPr>
          <p:cNvPr id="14" name="TextBox 13"/>
          <p:cNvSpPr txBox="1"/>
          <p:nvPr/>
        </p:nvSpPr>
        <p:spPr>
          <a:xfrm>
            <a:off x="7150100" y="3263900"/>
            <a:ext cx="1962150" cy="247650"/>
          </a:xfrm>
          <a:prstGeom prst="rect">
            <a:avLst/>
          </a:prstGeom>
          <a:noFill/>
        </p:spPr>
        <p:txBody>
          <a:bodyPr wrap="none" lIns="0" rIns="0" tIns="0" bIns="0" anchor="t">
            <a:noAutofit/>
          </a:bodyPr>
          <a:lstStyle/>
          <a:p>
            <a:pPr algn="l">
              <a:lnSpc>
                <a:spcPts val="1950"/>
              </a:lnSpc>
            </a:pPr>
            <a:r>
              <a:rPr sz="1500" b="0" i="0">
                <a:solidFill>
                  <a:srgbClr val="F2F8FC"/>
                </a:solidFill>
                <a:latin typeface="DM Sans"/>
              </a:rPr>
              <a:t>Droogloop, bij u</a:t>
            </a:r>
          </a:p>
        </p:txBody>
      </p:sp>
      <p:sp>
        <p:nvSpPr>
          <p:cNvPr id="15" name="Rounded Rectangle 14"/>
          <p:cNvSpPr/>
          <p:nvPr/>
        </p:nvSpPr>
        <p:spPr>
          <a:xfrm>
            <a:off x="9264650" y="2882900"/>
            <a:ext cx="203200" cy="203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64650" y="2463800"/>
            <a:ext cx="2012950" cy="234950"/>
          </a:xfrm>
          <a:prstGeom prst="rect">
            <a:avLst/>
          </a:prstGeom>
          <a:noFill/>
        </p:spPr>
        <p:txBody>
          <a:bodyPr wrap="none" lIns="0" rIns="0" tIns="0" bIns="0" anchor="t">
            <a:noAutofit/>
          </a:bodyPr>
          <a:lstStyle/>
          <a:p>
            <a:pPr algn="l"/>
            <a:r>
              <a:rPr sz="1400" b="1" i="0">
                <a:solidFill>
                  <a:srgbClr val="FF9A3D"/>
                </a:solidFill>
                <a:latin typeface="DM Sans"/>
              </a:rPr>
              <a:t>23 februari 2027</a:t>
            </a:r>
          </a:p>
        </p:txBody>
      </p:sp>
      <p:sp>
        <p:nvSpPr>
          <p:cNvPr id="17" name="TextBox 16"/>
          <p:cNvSpPr txBox="1"/>
          <p:nvPr/>
        </p:nvSpPr>
        <p:spPr>
          <a:xfrm>
            <a:off x="9264650" y="3263900"/>
            <a:ext cx="1962150" cy="495300"/>
          </a:xfrm>
          <a:prstGeom prst="rect">
            <a:avLst/>
          </a:prstGeom>
          <a:noFill/>
        </p:spPr>
        <p:txBody>
          <a:bodyPr wrap="square" lIns="0" rIns="0" tIns="0" bIns="0" anchor="t">
            <a:noAutofit/>
          </a:bodyPr>
          <a:lstStyle/>
          <a:p>
            <a:pPr algn="l">
              <a:lnSpc>
                <a:spcPts val="1950"/>
              </a:lnSpc>
            </a:pPr>
            <a:r>
              <a:rPr sz="1500" b="0" i="0">
                <a:solidFill>
                  <a:srgbClr val="F2F8FC"/>
                </a:solidFill>
                <a:latin typeface="DM Sans"/>
              </a:rPr>
              <a:t>Go/No-Go, dan de eerste patiënt</a:t>
            </a:r>
          </a:p>
        </p:txBody>
      </p:sp>
      <p:sp>
        <p:nvSpPr>
          <p:cNvPr id="18" name="Rectangle 17"/>
          <p:cNvSpPr/>
          <p:nvPr/>
        </p:nvSpPr>
        <p:spPr>
          <a:xfrm>
            <a:off x="812800" y="492760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5137150"/>
            <a:ext cx="10617200" cy="333375"/>
          </a:xfrm>
          <a:prstGeom prst="rect">
            <a:avLst/>
          </a:prstGeom>
          <a:noFill/>
        </p:spPr>
        <p:txBody>
          <a:bodyPr wrap="none" lIns="0" rIns="0" tIns="0" bIns="0" anchor="t">
            <a:noAutofit/>
          </a:bodyPr>
          <a:lstStyle/>
          <a:p>
            <a:pPr algn="l">
              <a:lnSpc>
                <a:spcPts val="2625"/>
              </a:lnSpc>
            </a:pPr>
            <a:r>
              <a:rPr sz="2100" b="0" i="1">
                <a:solidFill>
                  <a:srgbClr val="F2F8FC"/>
                </a:solidFill>
                <a:latin typeface="DM Serif Display"/>
              </a:rPr>
              <a:t>Daarna drie inclusies per maand: dan heeft AZ Groeninge zijn 24 binnen het jaar.</a:t>
            </a:r>
          </a:p>
        </p:txBody>
      </p:sp>
      <p:sp>
        <p:nvSpPr>
          <p:cNvPr id="20" name="TextBox 19"/>
          <p:cNvSpPr txBox="1"/>
          <p:nvPr/>
        </p:nvSpPr>
        <p:spPr>
          <a:xfrm>
            <a:off x="812800" y="81280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nu volgt</a:t>
            </a:r>
          </a:p>
        </p:txBody>
      </p:sp>
      <p:pic>
        <p:nvPicPr>
          <p:cNvPr id="21" name="Picture 2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DM Sans"/>
              </a:rPr>
              <a:t>PARADISE · AZ Groeninge Kortrijk</a:t>
            </a:r>
          </a:p>
        </p:txBody>
      </p:sp>
      <p:sp>
        <p:nvSpPr>
          <p:cNvPr id="23" name="TextBox 2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DM Sans"/>
              </a:rPr>
              <a:t>paradise-tbm@kuleuven.be</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AZ Groeninge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